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528" r:id="rId3"/>
    <p:sldId id="529" r:id="rId4"/>
    <p:sldId id="530" r:id="rId5"/>
    <p:sldId id="531" r:id="rId7"/>
    <p:sldId id="588" r:id="rId8"/>
    <p:sldId id="532" r:id="rId9"/>
    <p:sldId id="533" r:id="rId10"/>
    <p:sldId id="534" r:id="rId11"/>
    <p:sldId id="535" r:id="rId12"/>
    <p:sldId id="536" r:id="rId13"/>
    <p:sldId id="537" r:id="rId14"/>
    <p:sldId id="538" r:id="rId15"/>
    <p:sldId id="539" r:id="rId16"/>
    <p:sldId id="540" r:id="rId17"/>
    <p:sldId id="541" r:id="rId18"/>
    <p:sldId id="645" r:id="rId19"/>
    <p:sldId id="542" r:id="rId20"/>
    <p:sldId id="543" r:id="rId21"/>
    <p:sldId id="544" r:id="rId22"/>
    <p:sldId id="646" r:id="rId23"/>
    <p:sldId id="546" r:id="rId24"/>
    <p:sldId id="547" r:id="rId25"/>
    <p:sldId id="548" r:id="rId26"/>
    <p:sldId id="549" r:id="rId27"/>
    <p:sldId id="550" r:id="rId28"/>
    <p:sldId id="551" r:id="rId29"/>
    <p:sldId id="552" r:id="rId30"/>
    <p:sldId id="553" r:id="rId31"/>
    <p:sldId id="554" r:id="rId32"/>
    <p:sldId id="555" r:id="rId33"/>
    <p:sldId id="556" r:id="rId34"/>
    <p:sldId id="557" r:id="rId35"/>
    <p:sldId id="558" r:id="rId36"/>
    <p:sldId id="559" r:id="rId37"/>
    <p:sldId id="560" r:id="rId38"/>
    <p:sldId id="561" r:id="rId39"/>
    <p:sldId id="562" r:id="rId40"/>
    <p:sldId id="563" r:id="rId41"/>
    <p:sldId id="564" r:id="rId42"/>
    <p:sldId id="565" r:id="rId43"/>
    <p:sldId id="566" r:id="rId44"/>
    <p:sldId id="567" r:id="rId45"/>
    <p:sldId id="568" r:id="rId46"/>
    <p:sldId id="569" r:id="rId47"/>
    <p:sldId id="570" r:id="rId48"/>
    <p:sldId id="571" r:id="rId49"/>
    <p:sldId id="572" r:id="rId50"/>
    <p:sldId id="573" r:id="rId51"/>
    <p:sldId id="648" r:id="rId52"/>
    <p:sldId id="649" r:id="rId53"/>
    <p:sldId id="650" r:id="rId54"/>
    <p:sldId id="574" r:id="rId55"/>
    <p:sldId id="575" r:id="rId56"/>
    <p:sldId id="576" r:id="rId57"/>
    <p:sldId id="577" r:id="rId58"/>
    <p:sldId id="578" r:id="rId59"/>
    <p:sldId id="579" r:id="rId60"/>
    <p:sldId id="580" r:id="rId61"/>
    <p:sldId id="581" r:id="rId62"/>
    <p:sldId id="582" r:id="rId63"/>
    <p:sldId id="583" r:id="rId64"/>
    <p:sldId id="584" r:id="rId65"/>
    <p:sldId id="585" r:id="rId66"/>
    <p:sldId id="586" r:id="rId67"/>
    <p:sldId id="587" r:id="rId68"/>
    <p:sldId id="651" r:id="rId69"/>
    <p:sldId id="696" r:id="rId70"/>
  </p:sldIdLst>
  <p:sldSz cx="9144000" cy="5143500"/>
  <p:notesSz cx="6858000" cy="9144000"/>
  <p:custDataLst>
    <p:tags r:id="rId75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000" b="0" i="0" u="none" kern="1200" baseline="0">
        <a:solidFill>
          <a:srgbClr val="FFFF00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50" userDrawn="1">
          <p15:clr>
            <a:srgbClr val="A4A3A4"/>
          </p15:clr>
        </p15:guide>
        <p15:guide id="2" pos="28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u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0066"/>
    <a:srgbClr val="0000FF"/>
    <a:srgbClr val="008000"/>
    <a:srgbClr val="339933"/>
    <a:srgbClr val="00CC00"/>
    <a:srgbClr val="FF9900"/>
    <a:srgbClr val="996633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5254"/>
    <p:restoredTop sz="94553"/>
  </p:normalViewPr>
  <p:slideViewPr>
    <p:cSldViewPr showGuides="1">
      <p:cViewPr varScale="1">
        <p:scale>
          <a:sx n="98" d="100"/>
          <a:sy n="98" d="100"/>
        </p:scale>
        <p:origin x="576" y="72"/>
      </p:cViewPr>
      <p:guideLst>
        <p:guide orient="horz" pos="1450"/>
        <p:guide pos="28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 showFormatting="0">
    <p:cViewPr>
      <p:scale>
        <a:sx n="66" d="100"/>
        <a:sy n="66" d="100"/>
      </p:scale>
      <p:origin x="0" y="438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5" Type="http://schemas.openxmlformats.org/officeDocument/2006/relationships/tags" Target="tags/tag9.xml"/><Relationship Id="rId74" Type="http://schemas.openxmlformats.org/officeDocument/2006/relationships/commentAuthors" Target="commentAuthors.xml"/><Relationship Id="rId73" Type="http://schemas.openxmlformats.org/officeDocument/2006/relationships/tableStyles" Target="tableStyles.xml"/><Relationship Id="rId72" Type="http://schemas.openxmlformats.org/officeDocument/2006/relationships/viewProps" Target="viewProps.xml"/><Relationship Id="rId71" Type="http://schemas.openxmlformats.org/officeDocument/2006/relationships/presProps" Target="presProps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notesMaster" Target="notesMasters/notesMaster1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65250FD-B401-4BE5-BA19-F98E15D474B6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buFont typeface="Arial" panose="020B0604020202020204" pitchFamily="34" charset="0"/>
              <a:buNone/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40389D0-F3DB-4D06-97D0-EDDF170717C3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本教材及课程中所讲的数制特指各种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进位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计数制！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/>
            <a:endParaRPr lang="zh-CN" altLang="en-US" dirty="0"/>
          </a:p>
        </p:txBody>
      </p:sp>
      <p:sp>
        <p:nvSpPr>
          <p:cNvPr id="194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计算机中的</a:t>
            </a:r>
            <a:r>
              <a:rPr lang="en-US" altLang="zh-CN"/>
              <a:t>K=1024</a:t>
            </a:r>
            <a:r>
              <a:rPr lang="zh-CN" altLang="en-US"/>
              <a:t>；通信速度的</a:t>
            </a:r>
            <a:r>
              <a:rPr lang="en-US" altLang="zh-CN"/>
              <a:t>K=1000</a:t>
            </a:r>
            <a:r>
              <a:rPr lang="zh-CN" altLang="en-US"/>
              <a:t>。产生差异的原因是，一个用</a:t>
            </a:r>
            <a:r>
              <a:rPr lang="en-US" altLang="zh-CN"/>
              <a:t>2</a:t>
            </a:r>
            <a:r>
              <a:rPr lang="zh-CN" altLang="en-US"/>
              <a:t>的幂次方表示的，另一个是用</a:t>
            </a:r>
            <a:r>
              <a:rPr lang="en-US" altLang="zh-CN"/>
              <a:t>10</a:t>
            </a:r>
            <a:r>
              <a:rPr lang="zh-CN" altLang="en-US"/>
              <a:t>的幂次方表示的值。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40963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p>
            <a:pPr lvl="0" eaLnBrk="1" hangingPunct="1"/>
            <a:endParaRPr lang="en-US" altLang="zh-CN" dirty="0"/>
          </a:p>
        </p:txBody>
      </p:sp>
      <p:sp>
        <p:nvSpPr>
          <p:cNvPr id="409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p>
            <a:pPr lvl="0" algn="r" eaLnBrk="1" hangingPunct="1"/>
            <a:fld id="{9A0DB2DC-4C9A-4742-B13C-FB6460FD3503}" type="slidenum"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实现原码加运算的电路，必须具有判断加数判断符号、绝对值大小和加减运算的能力。这种电路较复杂。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876"/>
            <a:ext cx="6858000" cy="1790921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862"/>
            <a:ext cx="6858000" cy="124197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2D34E77-AA51-48F0-935B-1AD49497690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CD884019-65C5-4BD0-A72D-0126FE998E62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69388"/>
            <a:ext cx="7886700" cy="3263906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0E1AE41-DD0B-4FD5-A96D-D271362E9809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D1346BB-C7E2-48E0-B2BF-F25D225E9F56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462"/>
            <a:ext cx="7886700" cy="213981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522"/>
            <a:ext cx="7886700" cy="112527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DA842D7-BDBF-4F6C-90E5-BAAC9594A780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D5DB32F-60FA-4F7F-9EB6-8AEECFDEFB1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4F12277-9DDA-4399-837A-FC87E0D56B75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75A90D3-568F-4D9B-9D99-E11B79E6B3B2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图片 9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78"/>
            <a:ext cx="7886700" cy="99429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261028"/>
            <a:ext cx="3868340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1879038"/>
            <a:ext cx="3868340" cy="2763782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261028"/>
            <a:ext cx="3887391" cy="618010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879038"/>
            <a:ext cx="3887391" cy="2763782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1" name="日期占位符 6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20C5439-BE69-442F-8A10-0B1B3CBBB5A1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8498F71-2861-499A-AF03-C6EABDEA5460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0D6B8F3-6BCC-4B6C-966D-29D1BE0A073D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3451F29-6C2B-459D-9A19-F92A4163ED9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图片 8" descr="电路幻灯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71437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4DBA22D-A7DF-4A92-A429-83253D70D991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42A65FA-5C73-4B24-AC4C-9B653B0A73BF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FD9C11F-8B2D-45EA-9B15-B57566C87A7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3679501-035F-464E-B7E5-E55831B5F94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2949178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660"/>
            <a:ext cx="4629150" cy="365567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2949178" cy="285904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FD9C11F-8B2D-45EA-9B15-B57566C87A7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3679501-035F-464E-B7E5-E55831B5F94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369388"/>
            <a:ext cx="7886700" cy="3263906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FD9C11F-8B2D-45EA-9B15-B57566C87A7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3679501-035F-464E-B7E5-E55831B5F94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78"/>
            <a:ext cx="1971675" cy="4359417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78"/>
            <a:ext cx="5800725" cy="4359417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FD9C11F-8B2D-45EA-9B15-B57566C87A7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3679501-035F-464E-B7E5-E55831B5F94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78"/>
            <a:ext cx="7886700" cy="4359417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FD9C11F-8B2D-45EA-9B15-B57566C87A7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3679501-035F-464E-B7E5-E55831B5F94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5800" y="1485900"/>
            <a:ext cx="7772400" cy="30861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774662B-7174-4D52-91AE-CF69F553F599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0B9624C-65E3-479D-85C4-69285262E7B1}" type="slidenum">
              <a: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 advTm="25000"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3.jpeg"/><Relationship Id="rId14" Type="http://schemas.openxmlformats.org/officeDocument/2006/relationships/image" Target="../media/image2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图片 10" descr="电路幻灯片11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-36512" y="-20637"/>
            <a:ext cx="9175750" cy="5168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buFont typeface="Arial" panose="020B0604020202020204" pitchFamily="34" charset="0"/>
              <a:buNone/>
              <a:defRPr sz="900" noProof="1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FD9C11F-8B2D-45EA-9B15-B57566C87A7F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900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900">
                <a:solidFill>
                  <a:srgbClr val="898989"/>
                </a:solidFill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3679501-035F-464E-B7E5-E55831B5F94D}" type="slidenum">
              <a: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30" name="组合 9"/>
          <p:cNvGrpSpPr/>
          <p:nvPr userDrawn="1"/>
        </p:nvGrpSpPr>
        <p:grpSpPr>
          <a:xfrm>
            <a:off x="539750" y="52388"/>
            <a:ext cx="1628775" cy="487362"/>
            <a:chOff x="2077" y="3004"/>
            <a:chExt cx="5804" cy="1740"/>
          </a:xfrm>
        </p:grpSpPr>
        <p:pic>
          <p:nvPicPr>
            <p:cNvPr id="1031" name="图片 7" descr="交大矢量logo"/>
            <p:cNvPicPr>
              <a:picLocks noChangeAspect="1"/>
            </p:cNvPicPr>
            <p:nvPr userDrawn="1"/>
          </p:nvPicPr>
          <p:blipFill>
            <a:blip r:embed="rId15"/>
            <a:srcRect l="-1437" t="-9560" r="41219" b="-10179"/>
            <a:stretch>
              <a:fillRect/>
            </a:stretch>
          </p:blipFill>
          <p:spPr>
            <a:xfrm>
              <a:off x="2077" y="3004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" name="矩形 8"/>
            <p:cNvSpPr/>
            <p:nvPr/>
          </p:nvSpPr>
          <p:spPr>
            <a:xfrm>
              <a:off x="7542" y="4166"/>
              <a:ext cx="339" cy="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0815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日期占位符 2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EDE099B-DB91-4533-B26E-407866867896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1267" name="灯片编号占位符 4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1708150"/>
            <a:ext cx="9156700" cy="16430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269" name="标题 1"/>
          <p:cNvSpPr>
            <a:spLocks noGrp="1"/>
          </p:cNvSpPr>
          <p:nvPr>
            <p:ph type="title"/>
          </p:nvPr>
        </p:nvSpPr>
        <p:spPr>
          <a:xfrm>
            <a:off x="2566988" y="2020888"/>
            <a:ext cx="3852862" cy="97155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/>
          </a:ln>
        </p:spPr>
        <p:txBody>
          <a:bodyPr/>
          <a:p>
            <a:pPr eaLnBrk="1" hangingPunct="1"/>
            <a:r>
              <a:rPr lang="en-US" altLang="en-US" sz="3600" dirty="0">
                <a:latin typeface="方正综艺简体" charset="-122"/>
                <a:ea typeface="方正综艺简体" charset="-122"/>
              </a:rPr>
              <a:t>数 字 逻 辑 电 路</a:t>
            </a:r>
            <a:endParaRPr lang="en-US" altLang="en-US" sz="3600" dirty="0">
              <a:latin typeface="方正综艺简体" charset="-122"/>
              <a:ea typeface="方正综艺简体" charset="-122"/>
            </a:endParaRPr>
          </a:p>
        </p:txBody>
      </p:sp>
      <p:sp>
        <p:nvSpPr>
          <p:cNvPr id="11270" name="文本框 2"/>
          <p:cNvSpPr txBox="1"/>
          <p:nvPr/>
        </p:nvSpPr>
        <p:spPr>
          <a:xfrm>
            <a:off x="3703638" y="2646363"/>
            <a:ext cx="1073150" cy="398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朱正东</a:t>
            </a:r>
            <a:endParaRPr lang="zh-CN" altLang="en-US" dirty="0">
              <a:solidFill>
                <a:schemeClr val="tx1"/>
              </a:solidFill>
              <a:latin typeface="方正综艺简体" charset="-122"/>
              <a:ea typeface="方正综艺简体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-19050"/>
            <a:ext cx="9166225" cy="51641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1563688"/>
            <a:ext cx="9169400" cy="16462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273" name="标题 1"/>
          <p:cNvSpPr/>
          <p:nvPr/>
        </p:nvSpPr>
        <p:spPr>
          <a:xfrm>
            <a:off x="2486025" y="1711325"/>
            <a:ext cx="6916738" cy="119062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eaLnBrk="1" hangingPunct="1">
              <a:lnSpc>
                <a:spcPct val="90000"/>
              </a:lnSpc>
              <a:buFont typeface="Arial" panose="020B0604020202020204" pitchFamily="34" charset="0"/>
            </a:pPr>
            <a:r>
              <a:rPr lang="zh-CN" altLang="en-US" sz="4400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数 字 逻 辑 电 路</a:t>
            </a:r>
            <a:endParaRPr lang="zh-CN" altLang="en-US" sz="4400" dirty="0">
              <a:solidFill>
                <a:schemeClr val="tx1"/>
              </a:solidFill>
              <a:latin typeface="方正综艺简体" charset="-122"/>
              <a:ea typeface="方正综艺简体" charset="-122"/>
            </a:endParaRPr>
          </a:p>
        </p:txBody>
      </p:sp>
      <p:sp>
        <p:nvSpPr>
          <p:cNvPr id="11274" name="文本框 11"/>
          <p:cNvSpPr txBox="1"/>
          <p:nvPr/>
        </p:nvSpPr>
        <p:spPr>
          <a:xfrm>
            <a:off x="4165600" y="2692400"/>
            <a:ext cx="10541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方正综艺简体" charset="-122"/>
                <a:ea typeface="方正综艺简体" charset="-122"/>
              </a:rPr>
              <a:t>伍卫国</a:t>
            </a:r>
            <a:endParaRPr lang="zh-CN" altLang="en-US" dirty="0">
              <a:solidFill>
                <a:schemeClr val="tx1"/>
              </a:solidFill>
              <a:latin typeface="方正综艺简体" charset="-122"/>
              <a:ea typeface="方正综艺简体" charset="-122"/>
            </a:endParaRPr>
          </a:p>
        </p:txBody>
      </p:sp>
      <p:grpSp>
        <p:nvGrpSpPr>
          <p:cNvPr id="11275" name="组合 12"/>
          <p:cNvGrpSpPr/>
          <p:nvPr/>
        </p:nvGrpSpPr>
        <p:grpSpPr>
          <a:xfrm>
            <a:off x="466725" y="268288"/>
            <a:ext cx="2322513" cy="696912"/>
            <a:chOff x="2077" y="3004"/>
            <a:chExt cx="5804" cy="1740"/>
          </a:xfrm>
        </p:grpSpPr>
        <p:pic>
          <p:nvPicPr>
            <p:cNvPr id="11276" name="图片 13" descr="交大矢量logo"/>
            <p:cNvPicPr>
              <a:picLocks noChangeAspect="1"/>
            </p:cNvPicPr>
            <p:nvPr/>
          </p:nvPicPr>
          <p:blipFill>
            <a:blip r:embed="rId1"/>
            <a:srcRect l="-1437" t="-9560" r="41219" b="-10179"/>
            <a:stretch>
              <a:fillRect/>
            </a:stretch>
          </p:blipFill>
          <p:spPr>
            <a:xfrm>
              <a:off x="2077" y="3004"/>
              <a:ext cx="5616" cy="174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5" name="矩形 14"/>
            <p:cNvSpPr/>
            <p:nvPr/>
          </p:nvSpPr>
          <p:spPr>
            <a:xfrm>
              <a:off x="7540" y="4165"/>
              <a:ext cx="341" cy="3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2291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2" name="Text Box 10"/>
          <p:cNvSpPr txBox="1"/>
          <p:nvPr/>
        </p:nvSpPr>
        <p:spPr>
          <a:xfrm>
            <a:off x="715963" y="981075"/>
            <a:ext cx="7885112" cy="39458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514350" indent="-514350" eaLnBrk="1" hangingPunct="1">
              <a:spcBef>
                <a:spcPts val="6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1.2.1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.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数制及其相互转换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十进位计数制的特点、表示法，任意十进制数表示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任意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进位计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数制的特点、表示法、运算规则及相互关系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多项式替代法，基数乘除法，桥梁法、直接转换法，小数位置的确定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spcBef>
                <a:spcPts val="6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1.2.2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.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数的表示及其运算</a:t>
            </a:r>
            <a:endParaRPr lang="en-US" altLang="zh-CN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数的小数点的表示：定点数、浮点数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514350" indent="-514350" eaLnBrk="1" hangingPunct="1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u="sng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带符号数的代码表示及其运算：原码、反码和补码</a:t>
            </a:r>
            <a:endParaRPr lang="zh-CN" altLang="en-US" sz="1800" u="sng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1.2.3  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十进制数的代码表示及其运算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514350" indent="-514350" algn="l" eaLnBrk="1" hangingPunct="1">
              <a:spcBef>
                <a:spcPts val="60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BCD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2421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、余三码等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algn="l" eaLnBrk="1" hangingPunct="1">
              <a:spcBef>
                <a:spcPts val="600"/>
              </a:spcBef>
              <a:buClrTx/>
              <a:buSzTx/>
              <a:buFont typeface="Arial" panose="020B0604020202020204" pitchFamily="34" charset="0"/>
            </a:pP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1.2.4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宋体" panose="02010600030101010101" pitchFamily="2" charset="-122"/>
              </a:rPr>
              <a:t>可靠性编码</a:t>
            </a:r>
            <a:endParaRPr lang="en-US" altLang="zh-CN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格雷码、奇偶校验码、海明码、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RS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码等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293" name="Rectangle 13"/>
          <p:cNvSpPr>
            <a:spLocks noGrp="1"/>
          </p:cNvSpPr>
          <p:nvPr>
            <p:ph type="title"/>
          </p:nvPr>
        </p:nvSpPr>
        <p:spPr>
          <a:xfrm>
            <a:off x="644525" y="566738"/>
            <a:ext cx="3927475" cy="5143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1.2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数制与编码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294" name="Rectangle 2"/>
          <p:cNvSpPr txBox="1"/>
          <p:nvPr/>
        </p:nvSpPr>
        <p:spPr>
          <a:xfrm>
            <a:off x="5550535" y="52705"/>
            <a:ext cx="3078480" cy="44386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  <a:endParaRPr lang="zh-CN" altLang="en-US" sz="1800" i="1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</p:spTree>
  </p:cSld>
  <p:clrMapOvr>
    <a:masterClrMapping/>
  </p:clrMapOvr>
  <p:transition advTm="6287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3315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6" name="Text Box 9"/>
          <p:cNvSpPr txBox="1"/>
          <p:nvPr/>
        </p:nvSpPr>
        <p:spPr>
          <a:xfrm>
            <a:off x="869950" y="1991995"/>
            <a:ext cx="8226425" cy="1198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514350" indent="-514350"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在日常生活中通常采用的是</a:t>
            </a:r>
            <a:r>
              <a:rPr lang="zh-CN" altLang="en-US" sz="1800" b="1" u="sng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十进位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计数制（简称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十进制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计数规则“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逢十进一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”，</a:t>
            </a:r>
            <a:endParaRPr lang="zh-CN" altLang="en-US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例：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0,1,2,3,4,5,6,7,8,9,10,11, 12,…,99,100, …,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zh-CN" altLang="en-US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317" name="Text Box 10"/>
          <p:cNvSpPr txBox="1"/>
          <p:nvPr/>
        </p:nvSpPr>
        <p:spPr>
          <a:xfrm>
            <a:off x="869950" y="1177925"/>
            <a:ext cx="803973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所谓“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”，即一种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用固定的符号和统一的规则来表示数值的方法。</a:t>
            </a:r>
            <a:endParaRPr lang="zh-CN" altLang="en-US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318" name="Text Box 14"/>
          <p:cNvSpPr txBox="1"/>
          <p:nvPr/>
        </p:nvSpPr>
        <p:spPr>
          <a:xfrm>
            <a:off x="869950" y="3343910"/>
            <a:ext cx="7743825" cy="1198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在计算机（数字系统）中用的是</a:t>
            </a:r>
            <a:r>
              <a:rPr lang="zh-CN" altLang="en-US" sz="1800" b="1" u="sng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二进位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计数制（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简称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二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进制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），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计数规则“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逢二进一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0,1,10,11,100,101,110,111,…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319" name="Rectangle 2"/>
          <p:cNvSpPr txBox="1"/>
          <p:nvPr/>
        </p:nvSpPr>
        <p:spPr>
          <a:xfrm>
            <a:off x="5508625" y="52705"/>
            <a:ext cx="3111500" cy="38608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  <a:endParaRPr lang="zh-CN" altLang="en-US" sz="1800" i="1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  <p:sp>
        <p:nvSpPr>
          <p:cNvPr id="14344" name="Rectangle 11"/>
          <p:cNvSpPr>
            <a:spLocks noGrp="1"/>
          </p:cNvSpPr>
          <p:nvPr/>
        </p:nvSpPr>
        <p:spPr>
          <a:xfrm>
            <a:off x="606425" y="641033"/>
            <a:ext cx="5511800" cy="4667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defTabSz="685800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defTabSz="685800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1.2.1 </a:t>
            </a:r>
            <a:r>
              <a:rPr lang="en-US" altLang="zh-CN"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数制及其相互转换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1856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4339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40" name="Text Box 4"/>
          <p:cNvSpPr txBox="1"/>
          <p:nvPr/>
        </p:nvSpPr>
        <p:spPr>
          <a:xfrm>
            <a:off x="658813" y="1319213"/>
            <a:ext cx="8915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）特点 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：⑴ 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个有序的数字符号：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0,1,2,3,4,5,6,7,8,9 </a:t>
            </a:r>
            <a:endParaRPr lang="en-US" altLang="zh-CN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341" name="Text Box 7"/>
          <p:cNvSpPr txBox="1"/>
          <p:nvPr/>
        </p:nvSpPr>
        <p:spPr>
          <a:xfrm>
            <a:off x="1009650" y="2760663"/>
            <a:ext cx="6910388" cy="860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其中：“十”或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“10”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称为进位基数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，简称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基数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342" name="Text Box 8"/>
          <p:cNvSpPr txBox="1"/>
          <p:nvPr/>
        </p:nvSpPr>
        <p:spPr>
          <a:xfrm>
            <a:off x="1908175" y="2211388"/>
            <a:ext cx="481171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⑶ “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逢十进一”的计数规则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343" name="Text Box 10"/>
          <p:cNvSpPr txBox="1"/>
          <p:nvPr/>
        </p:nvSpPr>
        <p:spPr>
          <a:xfrm>
            <a:off x="1805305" y="1767205"/>
            <a:ext cx="713295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⑵ 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小数点及正负数符号三个特殊符号：“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.”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，“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+”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，“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-”</a:t>
            </a:r>
            <a:endParaRPr lang="en-US" altLang="zh-CN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344" name="Rectangle 11"/>
          <p:cNvSpPr>
            <a:spLocks noGrp="1"/>
          </p:cNvSpPr>
          <p:nvPr>
            <p:ph type="title"/>
          </p:nvPr>
        </p:nvSpPr>
        <p:spPr>
          <a:xfrm>
            <a:off x="606425" y="712788"/>
            <a:ext cx="5511800" cy="4667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1.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十进位计数制的特点、表示法</a:t>
            </a: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345" name="Rectangle 12"/>
          <p:cNvSpPr/>
          <p:nvPr/>
        </p:nvSpPr>
        <p:spPr>
          <a:xfrm>
            <a:off x="658813" y="3432175"/>
            <a:ext cx="8610600" cy="6858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eaLnBrk="1" hangingPunct="1">
              <a:lnSpc>
                <a:spcPct val="130000"/>
              </a:lnSpc>
              <a:buFont typeface="Arial" panose="020B0604020202020204" pitchFamily="34" charset="0"/>
            </a:pP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）表示法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：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并列表示法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30000"/>
              </a:lnSpc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    	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多项式表示</a:t>
            </a:r>
            <a:r>
              <a:rPr lang="zh-CN" altLang="en-US" b="1" dirty="0">
                <a:solidFill>
                  <a:schemeClr val="tx1"/>
                </a:solidFill>
                <a:latin typeface="Calibri" panose="020F0502020204030204" pitchFamily="34" charset="0"/>
              </a:rPr>
              <a:t>法</a:t>
            </a:r>
            <a:endParaRPr lang="zh-CN" altLang="en-US" b="1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14346" name="Text Box 15"/>
          <p:cNvSpPr txBox="1"/>
          <p:nvPr/>
        </p:nvSpPr>
        <p:spPr>
          <a:xfrm>
            <a:off x="1860550" y="3159125"/>
            <a:ext cx="4648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347" name="Rectangle 2"/>
          <p:cNvSpPr txBox="1"/>
          <p:nvPr/>
        </p:nvSpPr>
        <p:spPr>
          <a:xfrm>
            <a:off x="5508625" y="52705"/>
            <a:ext cx="3111500" cy="3524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  <a:endParaRPr lang="zh-CN" altLang="en-US" sz="1800" i="1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</p:spTree>
  </p:cSld>
  <p:clrMapOvr>
    <a:masterClrMapping/>
  </p:clrMapOvr>
  <p:transition advTm="230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/>
      <p:bldP spid="14341" grpId="0"/>
      <p:bldP spid="14342" grpId="0"/>
      <p:bldP spid="14343" grpId="0"/>
      <p:bldP spid="1434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5363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4" name="Text Box 5"/>
          <p:cNvSpPr txBox="1"/>
          <p:nvPr/>
        </p:nvSpPr>
        <p:spPr>
          <a:xfrm>
            <a:off x="706438" y="2157413"/>
            <a:ext cx="81534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例：十进制数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1   2   3   1   5  .  6   1   8   0   9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365" name="Text Box 7"/>
          <p:cNvSpPr txBox="1"/>
          <p:nvPr/>
        </p:nvSpPr>
        <p:spPr>
          <a:xfrm>
            <a:off x="2163763" y="1893888"/>
            <a:ext cx="588645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b="1" baseline="30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b="1" baseline="30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b="1" baseline="30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 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b="1" baseline="30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b="1" baseline="30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10</a:t>
            </a:r>
            <a:r>
              <a:rPr lang="en-US" altLang="zh-CN" sz="1800" b="1" baseline="30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b="1" baseline="30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b="1" baseline="30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-3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b="1" baseline="30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-4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b="1" baseline="30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-5</a:t>
            </a:r>
            <a:endParaRPr lang="en-US" altLang="zh-CN" sz="1800" b="1" baseline="300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366" name="Text Box 8"/>
          <p:cNvSpPr txBox="1"/>
          <p:nvPr/>
        </p:nvSpPr>
        <p:spPr>
          <a:xfrm>
            <a:off x="229235" y="3427095"/>
            <a:ext cx="8016875" cy="646430"/>
          </a:xfrm>
          <a:prstGeom prst="rect">
            <a:avLst/>
          </a:prstGeom>
          <a:noFill/>
          <a:ln w="9525">
            <a:noFill/>
          </a:ln>
        </p:spPr>
        <p:txBody>
          <a:bodyPr>
            <a:no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如上所示，处在小数点左右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不同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位置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的数字具有不同的“</a:t>
            </a:r>
            <a:r>
              <a:rPr lang="zh-CN" altLang="en-US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权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1800" b="1" i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Weight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endParaRPr lang="zh-CN" altLang="en-US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endParaRPr lang="zh-CN" altLang="en-US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并列表示法，也称</a:t>
            </a:r>
            <a:r>
              <a:rPr lang="zh-CN" altLang="en-US" sz="1800" b="1" u="sng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位置计数法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endParaRPr lang="zh-CN" altLang="en-US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367" name="Text Box 10"/>
          <p:cNvSpPr txBox="1"/>
          <p:nvPr/>
        </p:nvSpPr>
        <p:spPr>
          <a:xfrm>
            <a:off x="2163763" y="1016000"/>
            <a:ext cx="2392362" cy="784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万  千  百  十  个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  位  位  位  位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15368" name="Group 13"/>
          <p:cNvGrpSpPr/>
          <p:nvPr/>
        </p:nvGrpSpPr>
        <p:grpSpPr>
          <a:xfrm>
            <a:off x="4013200" y="2497138"/>
            <a:ext cx="1447800" cy="593725"/>
            <a:chOff x="2888" y="912"/>
            <a:chExt cx="912" cy="499"/>
          </a:xfrm>
        </p:grpSpPr>
        <p:sp>
          <p:nvSpPr>
            <p:cNvPr id="15372" name="Text Box 11"/>
            <p:cNvSpPr txBox="1"/>
            <p:nvPr/>
          </p:nvSpPr>
          <p:spPr>
            <a:xfrm>
              <a:off x="2888" y="1104"/>
              <a:ext cx="91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小数点</a:t>
              </a:r>
              <a:endPara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5373" name="Line 12"/>
            <p:cNvSpPr/>
            <p:nvPr/>
          </p:nvSpPr>
          <p:spPr>
            <a:xfrm flipH="1" flipV="1">
              <a:off x="3216" y="912"/>
              <a:ext cx="0" cy="192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15369" name="Text Box 15"/>
          <p:cNvSpPr txBox="1"/>
          <p:nvPr/>
        </p:nvSpPr>
        <p:spPr>
          <a:xfrm>
            <a:off x="4665980" y="1009650"/>
            <a:ext cx="264287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十  百  千  万  十万分  分  分  分  分  位  位  位  位  位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370" name="Rectangle 16"/>
          <p:cNvSpPr>
            <a:spLocks noGrp="1"/>
          </p:cNvSpPr>
          <p:nvPr>
            <p:ph type="title"/>
          </p:nvPr>
        </p:nvSpPr>
        <p:spPr>
          <a:xfrm>
            <a:off x="575310" y="677545"/>
            <a:ext cx="2743200" cy="52451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①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并列（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式）表示法：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371" name="Rectangle 2"/>
          <p:cNvSpPr txBox="1"/>
          <p:nvPr/>
        </p:nvSpPr>
        <p:spPr>
          <a:xfrm>
            <a:off x="5508625" y="52705"/>
            <a:ext cx="3111500" cy="4032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  <a:endParaRPr lang="zh-CN" altLang="en-US" sz="1800" i="1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311015" y="2194560"/>
            <a:ext cx="43688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</a:rPr>
              <a:t>·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3" name="Text Box 5"/>
          <p:cNvSpPr txBox="1"/>
          <p:nvPr/>
        </p:nvSpPr>
        <p:spPr>
          <a:xfrm>
            <a:off x="3359150" y="647700"/>
            <a:ext cx="487489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以数字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“12315.61809”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为例展开</a:t>
            </a:r>
            <a:endParaRPr lang="zh-CN" altLang="en-US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3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3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/>
      <p:bldP spid="15365" grpId="0"/>
      <p:bldP spid="2" grpId="0"/>
      <p:bldP spid="15367" grpId="0"/>
      <p:bldP spid="15369" grpId="0"/>
      <p:bldP spid="15364" grpId="1"/>
      <p:bldP spid="15365" grpId="1"/>
      <p:bldP spid="2" grpId="1"/>
      <p:bldP spid="15367" grpId="1"/>
      <p:bldP spid="15369" grpId="1"/>
      <p:bldP spid="15366" grpId="0"/>
      <p:bldP spid="15366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6387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8" name="Text Box 6"/>
          <p:cNvSpPr txBox="1"/>
          <p:nvPr/>
        </p:nvSpPr>
        <p:spPr>
          <a:xfrm>
            <a:off x="604520" y="839788"/>
            <a:ext cx="8064500" cy="8655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4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②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多项式表示法： 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将并列式按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“权”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展开为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按权展开式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，称为多项式表示法。如下例： </a:t>
            </a:r>
            <a:endParaRPr lang="zh-CN" altLang="en-US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389" name="Text Box 17"/>
          <p:cNvSpPr txBox="1"/>
          <p:nvPr/>
        </p:nvSpPr>
        <p:spPr>
          <a:xfrm>
            <a:off x="684213" y="1924050"/>
            <a:ext cx="7967662" cy="784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12345.67809  = 1×10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+ 2×10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+ 3×10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+ 4×10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+ 5×10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1800" b="1" baseline="30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+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6×10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+ 7×10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+ 8×10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-3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+ 0 ×10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-4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+ 9×10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-5</a:t>
            </a:r>
            <a:endParaRPr lang="en-US" altLang="zh-CN" sz="1800" b="1" baseline="30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6390" name="Rectangle 2"/>
          <p:cNvSpPr txBox="1"/>
          <p:nvPr/>
        </p:nvSpPr>
        <p:spPr>
          <a:xfrm>
            <a:off x="5508625" y="52705"/>
            <a:ext cx="3111500" cy="4032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  <a:endParaRPr lang="zh-CN" altLang="en-US" sz="1800" i="1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</p:spTree>
  </p:cSld>
  <p:clrMapOvr>
    <a:masterClrMapping/>
  </p:clrMapOvr>
  <p:transition advTm="2500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B610CD7-486A-4020-95FE-34D37A018AC8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7411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2" name="Rectangle 2"/>
          <p:cNvSpPr>
            <a:spLocks noGrp="1"/>
          </p:cNvSpPr>
          <p:nvPr>
            <p:ph type="title"/>
          </p:nvPr>
        </p:nvSpPr>
        <p:spPr>
          <a:xfrm>
            <a:off x="1252538" y="534988"/>
            <a:ext cx="7389812" cy="571500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由此推出，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任意一个十进制数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可以表示成：</a:t>
            </a: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413" name="Rectangle 3"/>
          <p:cNvSpPr>
            <a:spLocks noGrp="1"/>
          </p:cNvSpPr>
          <p:nvPr>
            <p:ph idx="1"/>
          </p:nvPr>
        </p:nvSpPr>
        <p:spPr>
          <a:xfrm>
            <a:off x="430213" y="944563"/>
            <a:ext cx="9144000" cy="981075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①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并列表示法：</a:t>
            </a:r>
            <a:endParaRPr lang="zh-CN" altLang="en-US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( K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n-1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K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n-2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…K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K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K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K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-2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K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-m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10      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( 0 ≤ K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≤ 9 ) </a:t>
            </a:r>
            <a:endParaRPr lang="en-US" altLang="zh-CN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414" name="Text Box 9"/>
          <p:cNvSpPr txBox="1"/>
          <p:nvPr/>
        </p:nvSpPr>
        <p:spPr>
          <a:xfrm>
            <a:off x="468313" y="2066925"/>
            <a:ext cx="9202737" cy="1492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40000"/>
              </a:lnSpc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 K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K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 + K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1800" b="1" baseline="30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40000"/>
              </a:lnSpc>
              <a:buFont typeface="Arial" panose="020B0604020202020204" pitchFamily="34" charset="0"/>
            </a:pP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	          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K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1800" b="1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40000"/>
              </a:lnSpc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        +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= (∑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K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     </a:t>
            </a:r>
            <a:endParaRPr lang="en-US" altLang="zh-CN" sz="1800" b="1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40000"/>
              </a:lnSpc>
              <a:buFont typeface="Arial" panose="020B0604020202020204" pitchFamily="34" charset="0"/>
            </a:pP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                                                                   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415" name="Text Box 11"/>
          <p:cNvSpPr txBox="1"/>
          <p:nvPr/>
        </p:nvSpPr>
        <p:spPr>
          <a:xfrm>
            <a:off x="430213" y="1630363"/>
            <a:ext cx="5638800" cy="506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50000"/>
              </a:lnSpc>
              <a:buFont typeface="Arial" panose="020B0604020202020204" pitchFamily="34" charset="0"/>
            </a:pP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②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多项式表示法：</a:t>
            </a:r>
            <a:endParaRPr lang="zh-CN" altLang="en-US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416" name="Text Box 13"/>
          <p:cNvSpPr txBox="1"/>
          <p:nvPr/>
        </p:nvSpPr>
        <p:spPr>
          <a:xfrm>
            <a:off x="310833" y="3630930"/>
            <a:ext cx="8832850" cy="10318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我们将这两种表示法记作：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读作：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的十进制表示。</a:t>
            </a:r>
            <a:endParaRPr lang="zh-CN" altLang="en-US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如：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N=8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时，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 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读作：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的十进制表示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(8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。同时：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(N) 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读作：十进制的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N(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表示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(8) 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读作：十进制的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8(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表示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417" name="Text Box 14"/>
          <p:cNvSpPr txBox="1"/>
          <p:nvPr/>
        </p:nvSpPr>
        <p:spPr>
          <a:xfrm>
            <a:off x="4929188" y="2716213"/>
            <a:ext cx="588962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418" name="Rectangle 2"/>
          <p:cNvSpPr txBox="1"/>
          <p:nvPr/>
        </p:nvSpPr>
        <p:spPr>
          <a:xfrm>
            <a:off x="5508625" y="52705"/>
            <a:ext cx="3111500" cy="39497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  <a:endParaRPr lang="zh-CN" altLang="en-US" sz="1800" i="1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  <p:sp>
        <p:nvSpPr>
          <p:cNvPr id="17419" name="Text Box 7"/>
          <p:cNvSpPr txBox="1"/>
          <p:nvPr/>
        </p:nvSpPr>
        <p:spPr>
          <a:xfrm>
            <a:off x="4837113" y="3076575"/>
            <a:ext cx="1506537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=-m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420" name="文本框 7"/>
          <p:cNvSpPr txBox="1"/>
          <p:nvPr/>
        </p:nvSpPr>
        <p:spPr>
          <a:xfrm>
            <a:off x="5651500" y="3178175"/>
            <a:ext cx="2160588" cy="4746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lnSpc>
                <a:spcPct val="140000"/>
              </a:lnSpc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( 0 ≤ K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i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Arial" panose="020B0604020202020204" pitchFamily="34" charset="0"/>
              </a:rPr>
              <a:t>≤ 9 ) </a:t>
            </a:r>
            <a:endParaRPr lang="zh-CN" altLang="en-US" sz="18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D44B935-348E-4893-A994-E9C90F0C604D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8435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6" name="Rectangle 2"/>
          <p:cNvSpPr>
            <a:spLocks noGrp="1"/>
          </p:cNvSpPr>
          <p:nvPr>
            <p:ph type="title"/>
          </p:nvPr>
        </p:nvSpPr>
        <p:spPr>
          <a:xfrm>
            <a:off x="949325" y="1171575"/>
            <a:ext cx="7410450" cy="487363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对于一个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R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进位计数制（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进制）的数，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为任意进制数，有：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437" name="Rectangle 3"/>
          <p:cNvSpPr>
            <a:spLocks noGrp="1"/>
          </p:cNvSpPr>
          <p:nvPr>
            <p:ph idx="1"/>
          </p:nvPr>
        </p:nvSpPr>
        <p:spPr>
          <a:xfrm>
            <a:off x="990283" y="1609725"/>
            <a:ext cx="7640637" cy="2057400"/>
          </a:xfrm>
          <a:noFill/>
          <a:ln>
            <a:noFill/>
          </a:ln>
        </p:spPr>
        <p:txBody>
          <a:bodyPr/>
          <a:p>
            <a:pPr eaLnBrk="1" hangingPunct="1">
              <a:spcBef>
                <a:spcPct val="5000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）特点：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宋体" panose="02010600030101010101" pitchFamily="2" charset="-122"/>
              <a:buAutoNum type="circleNumDbPlain"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R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个有序的数字符号：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、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R-1 ;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宋体" panose="02010600030101010101" pitchFamily="2" charset="-122"/>
              <a:buAutoNum type="circleNumDbPlain"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个特殊符号：“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.”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“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+”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“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-”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宋体" panose="02010600030101010101" pitchFamily="2" charset="-122"/>
              <a:buAutoNum type="circleNumDbPlain"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逢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进一”的计数规则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其中：“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R”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为进位基数或基数。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438" name="Text Box 5"/>
          <p:cNvSpPr txBox="1"/>
          <p:nvPr/>
        </p:nvSpPr>
        <p:spPr>
          <a:xfrm>
            <a:off x="304800" y="3751263"/>
            <a:ext cx="8610600" cy="11922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R=2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 二进制，数字符号有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，逢二进一；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R=10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，十进制，数字符号有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0,1,2,3,4,5,6,7,8,9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，逢十进一；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 …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439" name="矩形 5"/>
          <p:cNvSpPr/>
          <p:nvPr/>
        </p:nvSpPr>
        <p:spPr>
          <a:xfrm>
            <a:off x="322263" y="623888"/>
            <a:ext cx="8074025" cy="460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Arial" panose="020B0604020202020204" pitchFamily="34" charset="0"/>
            </a:pP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（续）</a:t>
            </a:r>
            <a:r>
              <a:rPr lang="en-US" altLang="zh-CN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.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任意进位计数制的特点、表示法和运算规则</a:t>
            </a:r>
            <a:endParaRPr lang="zh-CN" altLang="en-US" sz="24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440" name="Rectangle 2"/>
          <p:cNvSpPr txBox="1"/>
          <p:nvPr/>
        </p:nvSpPr>
        <p:spPr>
          <a:xfrm>
            <a:off x="5508625" y="52705"/>
            <a:ext cx="3111500" cy="39433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  <a:endParaRPr lang="zh-CN" altLang="en-US" sz="1800" i="1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charRg st="6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charRg st="30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charRg st="48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charRg st="60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6" grpId="0"/>
      <p:bldP spid="18437" grpId="0" build="p"/>
      <p:bldP spid="1843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Rectangle 4"/>
          <p:cNvSpPr txBox="1">
            <a:spLocks noGrp="1" noChangeArrowheads="1"/>
          </p:cNvSpPr>
          <p:nvPr>
            <p:ph type="dt" sz="half" idx="2"/>
          </p:nvPr>
        </p:nvSpPr>
        <p:spPr>
          <a:xfrm>
            <a:off x="915670" y="4767263"/>
            <a:ext cx="2057400" cy="274638"/>
          </a:xfrm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9C4AB4D-1CA3-4063-B38C-664CC06FAA74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19459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74497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4" name="Rectangle 2"/>
          <p:cNvSpPr>
            <a:spLocks noGrp="1"/>
          </p:cNvSpPr>
          <p:nvPr>
            <p:ph type="title"/>
          </p:nvPr>
        </p:nvSpPr>
        <p:spPr>
          <a:xfrm>
            <a:off x="572770" y="554038"/>
            <a:ext cx="8020050" cy="361950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）表示法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485" name="Rectangle 3"/>
          <p:cNvSpPr>
            <a:spLocks noGrp="1"/>
          </p:cNvSpPr>
          <p:nvPr>
            <p:ph idx="1"/>
          </p:nvPr>
        </p:nvSpPr>
        <p:spPr>
          <a:xfrm>
            <a:off x="488633" y="787400"/>
            <a:ext cx="8716962" cy="950913"/>
          </a:xfrm>
          <a:noFill/>
          <a:ln>
            <a:noFill/>
          </a:ln>
        </p:spPr>
        <p:txBody>
          <a:bodyPr/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①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并列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式表示法 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 (A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n-1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n-2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…A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-2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-m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R     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(0≤A 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≤R-1)</a:t>
            </a:r>
            <a:endParaRPr lang="en-US" altLang="zh-CN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486" name="Text Box 13"/>
          <p:cNvSpPr txBox="1"/>
          <p:nvPr/>
        </p:nvSpPr>
        <p:spPr>
          <a:xfrm>
            <a:off x="477520" y="1684338"/>
            <a:ext cx="5164138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②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多项式表示法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487" name="Rectangle 20"/>
          <p:cNvSpPr/>
          <p:nvPr/>
        </p:nvSpPr>
        <p:spPr>
          <a:xfrm>
            <a:off x="525145" y="2076450"/>
            <a:ext cx="8905875" cy="10287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(A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A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 + A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endParaRPr lang="en-US" altLang="zh-CN" sz="1800" b="1" baseline="30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Arial" panose="020B0604020202020204" pitchFamily="34" charset="0"/>
            </a:pP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A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+A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 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488" name="Text Box 22"/>
          <p:cNvSpPr txBox="1"/>
          <p:nvPr/>
        </p:nvSpPr>
        <p:spPr>
          <a:xfrm>
            <a:off x="5654358" y="3036888"/>
            <a:ext cx="135255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= -m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489" name="Text Box 23"/>
          <p:cNvSpPr txBox="1"/>
          <p:nvPr/>
        </p:nvSpPr>
        <p:spPr>
          <a:xfrm>
            <a:off x="5757545" y="2481263"/>
            <a:ext cx="830263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 -1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490" name="Text Box 24"/>
          <p:cNvSpPr txBox="1"/>
          <p:nvPr/>
        </p:nvSpPr>
        <p:spPr>
          <a:xfrm>
            <a:off x="5397183" y="2716213"/>
            <a:ext cx="28194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( ∑ A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 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467" name="Text Box 25"/>
          <p:cNvSpPr txBox="1"/>
          <p:nvPr/>
        </p:nvSpPr>
        <p:spPr>
          <a:xfrm>
            <a:off x="466408" y="3435350"/>
            <a:ext cx="7631112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其中：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代表整数位数，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代表小数位数 ，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0≤A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≤R-1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为进位基数。当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R=10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，则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括号及括号外的基数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可以省略。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9468" name="Text Box 28"/>
          <p:cNvSpPr txBox="1"/>
          <p:nvPr/>
        </p:nvSpPr>
        <p:spPr>
          <a:xfrm>
            <a:off x="515620" y="4141788"/>
            <a:ext cx="8915400" cy="777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我们将这两种表示法记作：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读作：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进制表示（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为十进制数）。</a:t>
            </a:r>
            <a:endParaRPr lang="zh-CN" altLang="en-US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如：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N=2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R=8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时，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读作：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的八进制表示，即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(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2)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493" name="Rectangle 2"/>
          <p:cNvSpPr txBox="1"/>
          <p:nvPr/>
        </p:nvSpPr>
        <p:spPr>
          <a:xfrm>
            <a:off x="5795645" y="52705"/>
            <a:ext cx="3111500" cy="39497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  <a:endParaRPr lang="zh-CN" altLang="en-US" sz="1800" i="1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/>
      <p:bldP spid="19467" grpId="0"/>
      <p:bldP spid="1946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0E9BF36-3819-421B-9532-B2D68F1CA220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21507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08" name="Rectangle 3"/>
          <p:cNvSpPr>
            <a:spLocks noGrp="1"/>
          </p:cNvSpPr>
          <p:nvPr>
            <p:ph type="title"/>
          </p:nvPr>
        </p:nvSpPr>
        <p:spPr>
          <a:xfrm>
            <a:off x="613093" y="690245"/>
            <a:ext cx="7412037" cy="1514475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10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不同进位计数制的数值具有等值表示关系：</a:t>
            </a:r>
            <a:b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b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  =  N</a:t>
            </a:r>
            <a:r>
              <a:rPr lang="en-US" altLang="zh-CN" sz="20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0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  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  N </a:t>
            </a:r>
            <a:r>
              <a:rPr lang="en-US" altLang="zh-CN" sz="20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20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20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br>
              <a:rPr lang="en-US" altLang="zh-CN" sz="20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为十进制数）</a:t>
            </a:r>
            <a:endParaRPr lang="zh-CN" altLang="en-US" sz="2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485" name="Rectangle 21"/>
          <p:cNvSpPr>
            <a:spLocks noGrp="1"/>
          </p:cNvSpPr>
          <p:nvPr>
            <p:ph idx="1"/>
          </p:nvPr>
        </p:nvSpPr>
        <p:spPr>
          <a:xfrm>
            <a:off x="446088" y="2289175"/>
            <a:ext cx="8382000" cy="2405063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110000"/>
              </a:lnSpc>
              <a:spcBef>
                <a:spcPct val="50000"/>
              </a:spcBef>
              <a:buNone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参见书 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P5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表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1.1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（见下页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PPT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）。如十进制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13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可查表得其八进制和二进制表示：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          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13  = (13) </a:t>
            </a:r>
            <a:r>
              <a:rPr lang="en-US" altLang="zh-CN" sz="20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 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= 13</a:t>
            </a:r>
            <a:r>
              <a:rPr lang="en-US" altLang="zh-CN" sz="20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= (15) </a:t>
            </a:r>
            <a:r>
              <a:rPr lang="en-US" altLang="zh-CN" sz="20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= (1101) </a:t>
            </a:r>
            <a:r>
              <a:rPr lang="en-US" altLang="zh-CN" sz="20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3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运算规则：</a:t>
            </a:r>
            <a:endParaRPr lang="zh-CN" altLang="en-US" sz="2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eaLnBrk="1" hangingPunct="1">
              <a:lnSpc>
                <a:spcPct val="120000"/>
              </a:lnSpc>
              <a:spcBef>
                <a:spcPts val="1200"/>
              </a:spcBef>
              <a:buNone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在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R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进制中，相应的运算（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+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，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-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，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X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，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/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）规则与十进制一样。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必须特别注意：逢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R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进一。</a:t>
            </a:r>
            <a:endParaRPr lang="zh-CN" altLang="en-US" sz="2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21510" name="Rectangle 2"/>
          <p:cNvSpPr txBox="1"/>
          <p:nvPr/>
        </p:nvSpPr>
        <p:spPr>
          <a:xfrm>
            <a:off x="5508625" y="52705"/>
            <a:ext cx="3111500" cy="43624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  <a:endParaRPr lang="zh-CN" altLang="en-US" sz="1800" i="1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9880" y="675640"/>
            <a:ext cx="2101215" cy="1613535"/>
          </a:xfrm>
          <a:prstGeom prst="rect">
            <a:avLst/>
          </a:prstGeom>
        </p:spPr>
      </p:pic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4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4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22531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3824" name="Group 32"/>
          <p:cNvGraphicFramePr>
            <a:graphicFrameLocks noGrp="1"/>
          </p:cNvGraphicFramePr>
          <p:nvPr/>
        </p:nvGraphicFramePr>
        <p:xfrm>
          <a:off x="609600" y="700088"/>
          <a:ext cx="7046913" cy="3971925"/>
        </p:xfrm>
        <a:graphic>
          <a:graphicData uri="http://schemas.openxmlformats.org/drawingml/2006/table">
            <a:tbl>
              <a:tblPr/>
              <a:tblGrid>
                <a:gridCol w="1132789"/>
                <a:gridCol w="1115645"/>
                <a:gridCol w="1197556"/>
                <a:gridCol w="1123899"/>
                <a:gridCol w="1123899"/>
                <a:gridCol w="1353124"/>
              </a:tblGrid>
              <a:tr h="2514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R=10</a:t>
                      </a:r>
                      <a:endParaRPr kumimoji="1" lang="en-US" altLang="zh-CN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34286" marB="342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R=2</a:t>
                      </a:r>
                      <a:endParaRPr kumimoji="1" lang="en-US" altLang="zh-CN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R=3</a:t>
                      </a:r>
                      <a:endParaRPr kumimoji="1" lang="en-US" altLang="zh-CN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R=4</a:t>
                      </a:r>
                      <a:endParaRPr kumimoji="1" lang="en-US" altLang="zh-CN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R=8</a:t>
                      </a:r>
                      <a:endParaRPr kumimoji="1" lang="en-US" altLang="zh-CN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2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R=16</a:t>
                      </a:r>
                      <a:endParaRPr kumimoji="1" lang="en-US" altLang="zh-CN" sz="12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204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34286" marB="342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1100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1101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1110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1111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10000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10001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22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102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112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122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22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23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32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33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…</a:t>
                      </a:r>
                      <a:endParaRPr kumimoji="1" lang="en-US" altLang="zh-CN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6" marR="91436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2555" name="Rectangle 2"/>
          <p:cNvSpPr txBox="1"/>
          <p:nvPr/>
        </p:nvSpPr>
        <p:spPr>
          <a:xfrm>
            <a:off x="5508625" y="52705"/>
            <a:ext cx="3111500" cy="4032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  <a:endParaRPr lang="zh-CN" altLang="en-US" sz="1800" i="1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V="1">
            <a:off x="556895" y="3515995"/>
            <a:ext cx="7152005" cy="2667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769F2E2-48C6-4FEC-804E-4AF7F7DC7CE2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23555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6" name="Rectangle 2"/>
          <p:cNvSpPr>
            <a:spLocks noGrp="1"/>
          </p:cNvSpPr>
          <p:nvPr>
            <p:ph type="title"/>
          </p:nvPr>
        </p:nvSpPr>
        <p:spPr>
          <a:xfrm>
            <a:off x="391160" y="601980"/>
            <a:ext cx="8228965" cy="400050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2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特例：二进制数为计算机中的表示和运算的基础，特予以关注：</a:t>
            </a:r>
            <a:endParaRPr lang="zh-CN" altLang="en-US" sz="20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3557" name="Rectangle 67"/>
          <p:cNvSpPr>
            <a:spLocks noGrp="1"/>
          </p:cNvSpPr>
          <p:nvPr>
            <p:ph idx="1"/>
          </p:nvPr>
        </p:nvSpPr>
        <p:spPr>
          <a:xfrm>
            <a:off x="301625" y="1049338"/>
            <a:ext cx="8556625" cy="1874837"/>
          </a:xfrm>
          <a:noFill/>
          <a:ln>
            <a:noFill/>
          </a:ln>
        </p:spPr>
        <p:txBody>
          <a:bodyPr/>
          <a:p>
            <a:pPr marL="514350" indent="-514350" eaLnBrk="1" hangingPunct="1">
              <a:lnSpc>
                <a:spcPct val="80000"/>
              </a:lnSpc>
              <a:spcBef>
                <a:spcPct val="50000"/>
              </a:spcBef>
              <a:buFont typeface="宋体" panose="02010600030101010101" pitchFamily="2" charset="-122"/>
              <a:buAutoNum type="circleNumDbPlain"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运算规则：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 、－、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÷</a:t>
            </a:r>
            <a:endParaRPr lang="en-US" altLang="zh-CN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（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×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、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÷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运算可以由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、 －运算来实现）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加法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规则：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+ 0 = 0   0 + 1= 1+ 0 =1    1 + 1= 10</a:t>
            </a:r>
            <a:endParaRPr lang="en-US" altLang="zh-CN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lnSpc>
                <a:spcPct val="80000"/>
              </a:lnSpc>
              <a:spcBef>
                <a:spcPct val="500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乘法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规则：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×0 = 0   0×1 = 1×0 =0    1×1 = 1</a:t>
            </a:r>
            <a:endParaRPr lang="en-US" altLang="zh-CN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lnSpc>
                <a:spcPct val="80000"/>
              </a:lnSpc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②  常用的二进制常数要记住相应的十进制值（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注意数值缩写时与</a:t>
            </a:r>
            <a:r>
              <a:rPr lang="zh-CN" altLang="en-US" sz="1800" u="sng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通信速度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表述的数值差异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）。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8798" name="Group 12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338388" y="2890838"/>
          <a:ext cx="5882005" cy="2101850"/>
        </p:xfrm>
        <a:graphic>
          <a:graphicData uri="http://schemas.openxmlformats.org/drawingml/2006/table">
            <a:tbl>
              <a:tblPr/>
              <a:tblGrid>
                <a:gridCol w="515620"/>
                <a:gridCol w="1158177"/>
                <a:gridCol w="978482"/>
                <a:gridCol w="1066742"/>
                <a:gridCol w="1082040"/>
                <a:gridCol w="1080770"/>
              </a:tblGrid>
              <a:tr h="3288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5" marR="91435" marT="34286" marB="342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r>
                        <a:rPr kumimoji="1" lang="en-US" altLang="zh-CN" sz="16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1600" b="0" i="0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5" marR="91435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5" marR="91435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r>
                        <a:rPr kumimoji="1" lang="en-US" altLang="zh-CN" sz="16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1600" b="0" i="0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5" marR="91435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5" marR="91435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r>
                        <a:rPr kumimoji="1" lang="en-US" altLang="zh-CN" sz="16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</a:t>
                      </a:r>
                      <a:endParaRPr kumimoji="1" lang="en-US" altLang="zh-CN" sz="1600" b="0" i="0" u="none" strike="noStrike" cap="none" normalizeH="0" baseline="30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5" marR="91435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7730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-7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-6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-5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-4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-3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-2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5" marR="91435" marT="34286" marB="3428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0.0078125</a:t>
                      </a:r>
                      <a:endParaRPr kumimoji="1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0.015625</a:t>
                      </a:r>
                      <a:endParaRPr kumimoji="1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0.03125</a:t>
                      </a:r>
                      <a:endParaRPr kumimoji="1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0.0625</a:t>
                      </a:r>
                      <a:endParaRPr kumimoji="1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0.125</a:t>
                      </a:r>
                      <a:endParaRPr kumimoji="1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0.25</a:t>
                      </a:r>
                      <a:endParaRPr kumimoji="1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0.5</a:t>
                      </a:r>
                      <a:endParaRPr kumimoji="1" lang="en-US" altLang="zh-CN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5" marR="91435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5" marR="91435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 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32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64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5" marR="91435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5" marR="91435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128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256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512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1024(K)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2048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4096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8192</a:t>
                      </a:r>
                      <a:endParaRPr kumimoji="1" lang="en-US" altLang="zh-CN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1435" marR="91435" marT="34286" marB="3428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3581" name="Rectangle 2"/>
          <p:cNvSpPr txBox="1"/>
          <p:nvPr/>
        </p:nvSpPr>
        <p:spPr>
          <a:xfrm>
            <a:off x="5508625" y="52705"/>
            <a:ext cx="3111500" cy="42799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  <a:endParaRPr lang="zh-CN" altLang="en-US" sz="1800" i="1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A42AD94-A963-4298-81E7-0EFB784E0427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24579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0" name="Rectangle 2"/>
          <p:cNvSpPr>
            <a:spLocks noGrp="1"/>
          </p:cNvSpPr>
          <p:nvPr>
            <p:ph type="title"/>
          </p:nvPr>
        </p:nvSpPr>
        <p:spPr>
          <a:xfrm>
            <a:off x="515938" y="974725"/>
            <a:ext cx="6005512" cy="606425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2. 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进位计数制的相互转换</a:t>
            </a:r>
            <a:endParaRPr lang="zh-CN" altLang="en-US" sz="2400" b="1" i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4581" name="Rectangle 3"/>
          <p:cNvSpPr>
            <a:spLocks noGrp="1"/>
          </p:cNvSpPr>
          <p:nvPr>
            <p:ph idx="1"/>
          </p:nvPr>
        </p:nvSpPr>
        <p:spPr>
          <a:xfrm>
            <a:off x="788988" y="2830513"/>
            <a:ext cx="8686800" cy="400050"/>
          </a:xfrm>
          <a:noFill/>
          <a:ln>
            <a:noFill/>
          </a:ln>
        </p:spPr>
        <p:txBody>
          <a:bodyPr/>
          <a:p>
            <a:pPr marL="609600" indent="-609600" eaLnBrk="1" hangingPunct="1"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）多项式替代法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4582" name="Group 11"/>
          <p:cNvGrpSpPr/>
          <p:nvPr/>
        </p:nvGrpSpPr>
        <p:grpSpPr>
          <a:xfrm>
            <a:off x="1222375" y="1665288"/>
            <a:ext cx="6405563" cy="955637"/>
            <a:chOff x="611" y="956"/>
            <a:chExt cx="4608" cy="802"/>
          </a:xfrm>
        </p:grpSpPr>
        <p:sp>
          <p:nvSpPr>
            <p:cNvPr id="24585" name="Text Box 5"/>
            <p:cNvSpPr txBox="1"/>
            <p:nvPr/>
          </p:nvSpPr>
          <p:spPr>
            <a:xfrm>
              <a:off x="611" y="956"/>
              <a:ext cx="4608" cy="80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7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数值转换：       </a:t>
              </a: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N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α </a:t>
              </a: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Wingdings" panose="05000000000000000000" pitchFamily="2" charset="2"/>
                </a:rPr>
                <a:t>→</a:t>
              </a: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N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β </a:t>
              </a:r>
              <a:b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</a:br>
              <a:endPara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7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转换是等值的：</a:t>
              </a: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</a:t>
              </a:r>
              <a:r>
                <a: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即 </a:t>
              </a: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N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α</a:t>
              </a: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 N</a:t>
              </a:r>
              <a: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β </a:t>
              </a:r>
              <a:br>
                <a:rPr lang="en-US" altLang="zh-CN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</a:br>
              <a:endPara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4586" name="Text Box 7"/>
            <p:cNvSpPr txBox="1"/>
            <p:nvPr/>
          </p:nvSpPr>
          <p:spPr>
            <a:xfrm>
              <a:off x="2736" y="1104"/>
              <a:ext cx="432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endPara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4587" name="Text Box 9"/>
            <p:cNvSpPr txBox="1"/>
            <p:nvPr/>
          </p:nvSpPr>
          <p:spPr>
            <a:xfrm>
              <a:off x="3792" y="1104"/>
              <a:ext cx="480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4583" name="Text Box 31"/>
          <p:cNvSpPr txBox="1"/>
          <p:nvPr/>
        </p:nvSpPr>
        <p:spPr>
          <a:xfrm>
            <a:off x="1158875" y="3288030"/>
            <a:ext cx="773303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要点：在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进制下完成 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 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N</a:t>
            </a:r>
            <a:r>
              <a: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β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的转换运算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 </a:t>
            </a:r>
            <a:endParaRPr lang="en-US" altLang="zh-CN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24584" name="Rectangle 2"/>
          <p:cNvSpPr txBox="1"/>
          <p:nvPr/>
        </p:nvSpPr>
        <p:spPr>
          <a:xfrm>
            <a:off x="5508625" y="52705"/>
            <a:ext cx="3111500" cy="39497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  <a:endParaRPr lang="zh-CN" altLang="en-US" sz="1800" i="1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</p:spTree>
  </p:cSld>
  <p:clrMapOvr>
    <a:masterClrMapping/>
  </p:clrMapOvr>
  <p:transition advTm="2500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2CD8C88-6123-48F2-BA7D-4B05510110C6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25603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4" name="Rectangle 4"/>
          <p:cNvSpPr>
            <a:spLocks noGrp="1"/>
          </p:cNvSpPr>
          <p:nvPr>
            <p:ph idx="1"/>
          </p:nvPr>
        </p:nvSpPr>
        <p:spPr>
          <a:xfrm>
            <a:off x="371475" y="844550"/>
            <a:ext cx="7543800" cy="742950"/>
          </a:xfrm>
          <a:noFill/>
          <a:ln>
            <a:noFill/>
          </a:ln>
        </p:spPr>
        <p:txBody>
          <a:bodyPr/>
          <a:p>
            <a:pPr marL="609600" indent="-609600" eaLnBrk="1" hangingPunct="1"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20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(A 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n-1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n-2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…A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.A 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-2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A 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-m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05" name="Text Box 22"/>
          <p:cNvSpPr txBox="1"/>
          <p:nvPr/>
        </p:nvSpPr>
        <p:spPr>
          <a:xfrm>
            <a:off x="900113" y="1346200"/>
            <a:ext cx="7110412" cy="1281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 = (A 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n-1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×10 </a:t>
            </a:r>
            <a:r>
              <a:rPr lang="en-US" altLang="zh-CN" b="1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n-1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+ A 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n-2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×10 </a:t>
            </a:r>
            <a:r>
              <a:rPr lang="en-US" altLang="zh-CN" b="1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n-2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… + A 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×10 </a:t>
            </a:r>
            <a:r>
              <a:rPr lang="en-US" altLang="zh-CN" b="1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1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A 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0  </a:t>
            </a:r>
            <a:endParaRPr lang="en-US" altLang="zh-CN" b="1" baseline="-2500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40000"/>
              </a:lnSpc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    ×10 </a:t>
            </a:r>
            <a:r>
              <a:rPr lang="en-US" altLang="zh-CN" b="1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+ A 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-1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×10 </a:t>
            </a:r>
            <a:r>
              <a:rPr lang="en-US" altLang="zh-CN" b="1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-1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A 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-2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×10 </a:t>
            </a:r>
            <a:r>
              <a:rPr lang="en-US" altLang="zh-CN" b="1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-2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…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+A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-m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×10 </a:t>
            </a:r>
            <a:r>
              <a:rPr lang="en-US" altLang="zh-CN" b="1" baseline="30000" dirty="0">
                <a:solidFill>
                  <a:schemeClr val="tx1"/>
                </a:solidFill>
                <a:latin typeface="Times New Roman" panose="02020603050405020304" pitchFamily="18" charset="0"/>
              </a:rPr>
              <a:t>-m </a:t>
            </a:r>
            <a:r>
              <a:rPr lang="en-US" altLang="zh-CN" b="1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) 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40000"/>
              </a:lnSpc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 =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6" name="Rectangle 3"/>
          <p:cNvSpPr>
            <a:spLocks noGrp="1"/>
          </p:cNvSpPr>
          <p:nvPr>
            <p:ph type="title"/>
          </p:nvPr>
        </p:nvSpPr>
        <p:spPr>
          <a:xfrm>
            <a:off x="228600" y="586423"/>
            <a:ext cx="8686800" cy="628650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20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多项式替代法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的转换步骤，归纳如下，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07" name="Text Box 11"/>
          <p:cNvSpPr txBox="1"/>
          <p:nvPr/>
        </p:nvSpPr>
        <p:spPr>
          <a:xfrm>
            <a:off x="5470525" y="996950"/>
            <a:ext cx="6858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α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8" name="Text Box 12"/>
          <p:cNvSpPr txBox="1"/>
          <p:nvPr/>
        </p:nvSpPr>
        <p:spPr>
          <a:xfrm>
            <a:off x="6380163" y="1906588"/>
            <a:ext cx="5334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Times New Roman" panose="02020603050405020304" pitchFamily="18" charset="0"/>
              </a:rPr>
              <a:t>α</a:t>
            </a:r>
            <a:endParaRPr lang="en-US" altLang="zh-CN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4585" name="Group 17"/>
          <p:cNvGrpSpPr/>
          <p:nvPr/>
        </p:nvGrpSpPr>
        <p:grpSpPr>
          <a:xfrm>
            <a:off x="58738" y="1958975"/>
            <a:ext cx="1111250" cy="2082856"/>
            <a:chOff x="192" y="2016"/>
            <a:chExt cx="700" cy="1749"/>
          </a:xfrm>
        </p:grpSpPr>
        <p:sp>
          <p:nvSpPr>
            <p:cNvPr id="25615" name="Text Box 14"/>
            <p:cNvSpPr txBox="1"/>
            <p:nvPr/>
          </p:nvSpPr>
          <p:spPr>
            <a:xfrm>
              <a:off x="192" y="2448"/>
              <a:ext cx="700" cy="1317"/>
            </a:xfrm>
            <a:prstGeom prst="rect">
              <a:avLst/>
            </a:prstGeom>
            <a:noFill/>
            <a:ln w="28575" cap="flat" cmpd="sng">
              <a:solidFill>
                <a:srgbClr val="C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6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将</a:t>
              </a:r>
              <a:r>
                <a:rPr lang="en-US" altLang="zh-CN" sz="16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α</a:t>
              </a:r>
              <a:r>
                <a:rPr lang="zh-CN" altLang="en-US" sz="16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进制下的</a:t>
              </a:r>
              <a:r>
                <a:rPr lang="en-US" altLang="zh-CN" sz="16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A</a:t>
              </a:r>
              <a:r>
                <a:rPr lang="en-US" altLang="zh-CN" sz="1600" b="1" baseline="-25000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i</a:t>
              </a:r>
              <a:r>
                <a:rPr lang="zh-CN" altLang="en-US" sz="16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、</a:t>
              </a:r>
              <a:r>
                <a:rPr lang="en-US" altLang="zh-CN" sz="16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10 </a:t>
              </a:r>
              <a:r>
                <a:rPr lang="zh-CN" altLang="en-US" sz="16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等值转换成</a:t>
              </a:r>
              <a:r>
                <a:rPr lang="en-US" altLang="zh-CN" sz="16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β</a:t>
              </a:r>
              <a:r>
                <a:rPr lang="zh-CN" altLang="en-US" sz="16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进制下</a:t>
              </a:r>
              <a:r>
                <a:rPr lang="zh-CN" altLang="en-US" sz="16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对应的数</a:t>
              </a:r>
              <a:r>
                <a:rPr lang="zh-CN" altLang="en-US" sz="16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值</a:t>
              </a:r>
              <a:endParaRPr lang="zh-CN" altLang="en-US" sz="1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5616" name="Line 15"/>
            <p:cNvSpPr/>
            <p:nvPr/>
          </p:nvSpPr>
          <p:spPr>
            <a:xfrm flipV="1">
              <a:off x="576" y="2016"/>
              <a:ext cx="192" cy="432"/>
            </a:xfrm>
            <a:prstGeom prst="line">
              <a:avLst/>
            </a:prstGeom>
            <a:ln w="28575" cap="flat" cmpd="sng">
              <a:solidFill>
                <a:srgbClr val="C0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25610" name="Text Box 16"/>
          <p:cNvSpPr txBox="1"/>
          <p:nvPr/>
        </p:nvSpPr>
        <p:spPr>
          <a:xfrm>
            <a:off x="1260475" y="2209800"/>
            <a:ext cx="6716713" cy="1098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10000"/>
              </a:lnSpc>
              <a:buFont typeface="Arial" panose="020B0604020202020204" pitchFamily="34" charset="0"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(B 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n-1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× 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γ 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n-1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 B 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n-2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× γ 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n-2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… + B 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× γ 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1 </a:t>
            </a:r>
            <a:endParaRPr lang="en-US" altLang="zh-CN" b="1" baseline="30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buFont typeface="Arial" panose="020B0604020202020204" pitchFamily="34" charset="0"/>
            </a:pP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  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B 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× γ 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 B 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-1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× γ 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-1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B 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-2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× γ 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-2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…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US" altLang="zh-CN" b="1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buFont typeface="Arial" panose="020B0604020202020204" pitchFamily="34" charset="0"/>
            </a:pP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          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+ B 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-m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× γ </a:t>
            </a:r>
            <a:r>
              <a:rPr lang="en-US" altLang="zh-CN" b="1" baseline="30000" dirty="0">
                <a:solidFill>
                  <a:srgbClr val="FF0000"/>
                </a:solidFill>
                <a:latin typeface="Times New Roman" panose="02020603050405020304" pitchFamily="18" charset="0"/>
              </a:rPr>
              <a:t>-m 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     = N</a:t>
            </a:r>
            <a:r>
              <a:rPr lang="en-US" altLang="zh-CN" b="1" baseline="-25000" dirty="0">
                <a:solidFill>
                  <a:srgbClr val="FF0000"/>
                </a:solidFill>
                <a:latin typeface="Times New Roman" panose="02020603050405020304" pitchFamily="18" charset="0"/>
              </a:rPr>
              <a:t> β</a:t>
            </a:r>
            <a:endParaRPr lang="en-US" altLang="zh-CN" b="1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11" name="Text Box 18"/>
          <p:cNvSpPr txBox="1"/>
          <p:nvPr/>
        </p:nvSpPr>
        <p:spPr>
          <a:xfrm>
            <a:off x="3278188" y="3025775"/>
            <a:ext cx="5746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</a:rPr>
              <a:t>β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12" name="Text Box 20"/>
          <p:cNvSpPr txBox="1"/>
          <p:nvPr/>
        </p:nvSpPr>
        <p:spPr>
          <a:xfrm>
            <a:off x="528638" y="4156075"/>
            <a:ext cx="7754937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注意：多项式替代法是在</a:t>
            </a:r>
            <a:r>
              <a:rPr lang="en-US" altLang="zh-CN" sz="18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进制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下完成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的转换的，因此，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要求熟悉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进制的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四则算术运算规则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13" name="Text Box 27"/>
          <p:cNvSpPr txBox="1"/>
          <p:nvPr/>
        </p:nvSpPr>
        <p:spPr>
          <a:xfrm>
            <a:off x="1260475" y="3549650"/>
            <a:ext cx="5564188" cy="3603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10000"/>
              </a:lnSpc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其中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( A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) 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=(B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β  ,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( 10 ) 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=(γ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β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14" name="Rectangle 2"/>
          <p:cNvSpPr txBox="1"/>
          <p:nvPr/>
        </p:nvSpPr>
        <p:spPr>
          <a:xfrm>
            <a:off x="5508625" y="52705"/>
            <a:ext cx="3111500" cy="4032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  <a:endParaRPr lang="zh-CN" altLang="en-US" sz="1800" i="1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6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12" grpId="0"/>
      <p:bldP spid="25612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705233F-50A7-4920-9774-08FB4287CBB6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26627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28" name="Text Box 14"/>
          <p:cNvSpPr txBox="1"/>
          <p:nvPr/>
        </p:nvSpPr>
        <p:spPr>
          <a:xfrm>
            <a:off x="381000" y="228600"/>
            <a:ext cx="83820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5" name="Text Box 15"/>
          <p:cNvSpPr txBox="1"/>
          <p:nvPr/>
        </p:nvSpPr>
        <p:spPr>
          <a:xfrm>
            <a:off x="1439863" y="1697038"/>
            <a:ext cx="6599237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= (1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×16 </a:t>
            </a:r>
            <a:r>
              <a:rPr lang="en-US" altLang="zh-CN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+12×16 </a:t>
            </a:r>
            <a:r>
              <a:rPr lang="en-US" altLang="zh-CN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+ 14×16 </a:t>
            </a:r>
            <a:r>
              <a:rPr lang="en-US" altLang="zh-CN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8×16 </a:t>
            </a:r>
            <a:r>
              <a:rPr lang="en-US" altLang="zh-CN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b="1" baseline="-25000" dirty="0">
                <a:solidFill>
                  <a:schemeClr val="tx1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endParaRPr lang="en-US" altLang="zh-CN" b="1" baseline="-25000" dirty="0">
              <a:solidFill>
                <a:schemeClr val="tx1"/>
              </a:solidFill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06" name="Text Box 16"/>
          <p:cNvSpPr txBox="1"/>
          <p:nvPr/>
        </p:nvSpPr>
        <p:spPr>
          <a:xfrm>
            <a:off x="1439863" y="2211388"/>
            <a:ext cx="42672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= (4096</a:t>
            </a:r>
            <a:r>
              <a:rPr lang="en-US" altLang="zh-CN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+3072</a:t>
            </a:r>
            <a:r>
              <a:rPr lang="en-US" altLang="zh-CN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+ 224</a:t>
            </a:r>
            <a:r>
              <a:rPr lang="en-US" altLang="zh-CN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8)</a:t>
            </a:r>
            <a:r>
              <a:rPr lang="en-US" altLang="zh-CN" b="1" baseline="-25000" dirty="0">
                <a:solidFill>
                  <a:schemeClr val="tx1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endParaRPr lang="en-US" altLang="zh-CN" b="1" baseline="-25000" dirty="0">
              <a:solidFill>
                <a:schemeClr val="tx1"/>
              </a:solidFill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07" name="Text Box 17"/>
          <p:cNvSpPr txBox="1"/>
          <p:nvPr/>
        </p:nvSpPr>
        <p:spPr>
          <a:xfrm>
            <a:off x="1439863" y="2703513"/>
            <a:ext cx="7123112" cy="395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= (7400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(</a:t>
            </a:r>
            <a:r>
              <a:rPr lang="zh-CN" alt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计算是按</a:t>
            </a:r>
            <a:r>
              <a:rPr lang="zh-CN" alt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十</a:t>
            </a:r>
            <a:r>
              <a:rPr lang="zh-CN" alt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进制计算规则进行的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08" name="Text Box 18"/>
          <p:cNvSpPr txBox="1"/>
          <p:nvPr/>
        </p:nvSpPr>
        <p:spPr>
          <a:xfrm>
            <a:off x="1439863" y="3189288"/>
            <a:ext cx="65405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= 7400           </a:t>
            </a:r>
            <a:r>
              <a:rPr lang="en-US" altLang="zh-CN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(</a:t>
            </a:r>
            <a:r>
              <a:rPr lang="zh-CN" altLang="en-US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十进制的</a:t>
            </a:r>
            <a:r>
              <a:rPr lang="en-US" altLang="zh-CN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R</a:t>
            </a:r>
            <a:r>
              <a:rPr lang="zh-CN" altLang="en-US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即“</a:t>
            </a:r>
            <a:r>
              <a:rPr lang="en-US" altLang="zh-CN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10</a:t>
            </a:r>
            <a:r>
              <a:rPr lang="zh-CN" altLang="en-US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”</a:t>
            </a:r>
            <a:r>
              <a:rPr lang="en-US" altLang="zh-CN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</a:t>
            </a:r>
            <a:r>
              <a:rPr lang="zh-CN" altLang="en-US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可以省略</a:t>
            </a:r>
            <a:r>
              <a:rPr lang="en-US" altLang="zh-CN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)</a:t>
            </a:r>
            <a:endParaRPr lang="en-US" altLang="zh-CN" b="1" dirty="0">
              <a:solidFill>
                <a:srgbClr val="FF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5609" name="Text Box 19"/>
          <p:cNvSpPr txBox="1"/>
          <p:nvPr/>
        </p:nvSpPr>
        <p:spPr>
          <a:xfrm>
            <a:off x="648335" y="1223963"/>
            <a:ext cx="72802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(1CE8)</a:t>
            </a:r>
            <a:r>
              <a:rPr lang="en-US" altLang="zh-CN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16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= (1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+C×10 </a:t>
            </a:r>
            <a:r>
              <a:rPr lang="en-US" altLang="zh-CN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E×10 </a:t>
            </a:r>
            <a:r>
              <a:rPr lang="en-US" altLang="zh-CN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8×10 </a:t>
            </a:r>
            <a:r>
              <a:rPr lang="en-US" altLang="zh-CN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endParaRPr lang="en-US" altLang="zh-CN" b="1" baseline="-25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634" name="Text Box 20"/>
          <p:cNvSpPr txBox="1"/>
          <p:nvPr/>
        </p:nvSpPr>
        <p:spPr>
          <a:xfrm>
            <a:off x="76200" y="746125"/>
            <a:ext cx="8382000" cy="395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：将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(1CE8)</a:t>
            </a:r>
            <a:r>
              <a:rPr lang="en-US" altLang="zh-CN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16</a:t>
            </a:r>
            <a:r>
              <a:rPr lang="zh-CN" alt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转换为十进制。</a:t>
            </a:r>
            <a:endParaRPr lang="zh-CN" altLang="en-US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26635" name="Rectangle 2"/>
          <p:cNvSpPr txBox="1"/>
          <p:nvPr/>
        </p:nvSpPr>
        <p:spPr>
          <a:xfrm>
            <a:off x="5508625" y="52705"/>
            <a:ext cx="3111500" cy="45339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  <a:endParaRPr lang="zh-CN" altLang="en-US" sz="1800" i="1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5" grpId="0"/>
      <p:bldP spid="25606" grpId="0"/>
      <p:bldP spid="25607" grpId="0"/>
      <p:bldP spid="25608" grpId="0"/>
      <p:bldP spid="2560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114C531-840C-43B8-AFBF-4A7248D34C8B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27651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2" name="Rectangle 2"/>
          <p:cNvSpPr>
            <a:spLocks noGrp="1"/>
          </p:cNvSpPr>
          <p:nvPr>
            <p:ph type="title"/>
          </p:nvPr>
        </p:nvSpPr>
        <p:spPr>
          <a:xfrm>
            <a:off x="358775" y="893763"/>
            <a:ext cx="8458200" cy="571500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：将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(121.2)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3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转换为二进制。</a:t>
            </a:r>
            <a:endParaRPr lang="zh-CN" alt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629" name="Rectangle 3"/>
          <p:cNvSpPr>
            <a:spLocks noGrp="1"/>
          </p:cNvSpPr>
          <p:nvPr>
            <p:ph idx="1"/>
          </p:nvPr>
        </p:nvSpPr>
        <p:spPr>
          <a:xfrm>
            <a:off x="904875" y="1593850"/>
            <a:ext cx="7715250" cy="1924685"/>
          </a:xfrm>
          <a:noFill/>
          <a:ln>
            <a:noFill/>
          </a:ln>
        </p:spPr>
        <p:txBody>
          <a:bodyPr/>
          <a:p>
            <a:pPr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(121.2)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3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= (1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2000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+ 2×10 </a:t>
            </a:r>
            <a:r>
              <a:rPr lang="en-US" altLang="zh-CN" sz="2000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1×10 </a:t>
            </a:r>
            <a:r>
              <a:rPr lang="en-US" altLang="zh-CN" sz="2000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+ 2×10 </a:t>
            </a:r>
            <a:r>
              <a:rPr lang="en-US" altLang="zh-CN" sz="2000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2000" b="1" baseline="-25000" dirty="0">
                <a:solidFill>
                  <a:srgbClr val="FF0000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en-US" altLang="zh-CN" sz="2000" b="1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            = (1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×11 </a:t>
            </a:r>
            <a:r>
              <a:rPr lang="en-US" altLang="zh-CN" sz="2000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+10×11 </a:t>
            </a:r>
            <a:r>
              <a:rPr lang="en-US" altLang="zh-CN" sz="2000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+ 1×11 </a:t>
            </a:r>
            <a:r>
              <a:rPr lang="en-US" altLang="zh-CN" sz="2000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10×11 </a:t>
            </a:r>
            <a:r>
              <a:rPr lang="en-US" altLang="zh-CN" sz="2000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20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20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en-US" altLang="zh-CN" sz="2000" b="1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None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= (1001 + 110 + 1 + 0.101010…)</a:t>
            </a:r>
            <a:r>
              <a:rPr lang="en-US" altLang="zh-CN" sz="20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en-US" altLang="zh-CN" sz="2000" b="1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None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= ( 10000.101010 …)</a:t>
            </a:r>
            <a:r>
              <a:rPr lang="en-US" altLang="zh-CN" sz="20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en-US" altLang="zh-CN" sz="2000" b="1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None/>
            </a:pPr>
            <a:endParaRPr lang="en-US" altLang="zh-CN" sz="2000" b="1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None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None/>
            </a:pPr>
            <a:endParaRPr lang="en-US" altLang="zh-CN" sz="2000" b="1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655" name="Text Box 14"/>
          <p:cNvSpPr txBox="1"/>
          <p:nvPr/>
        </p:nvSpPr>
        <p:spPr>
          <a:xfrm>
            <a:off x="381000" y="228600"/>
            <a:ext cx="83820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endParaRPr lang="zh-CN" altLang="en-US" sz="2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6" name="Rectangle 2"/>
          <p:cNvSpPr txBox="1"/>
          <p:nvPr/>
        </p:nvSpPr>
        <p:spPr>
          <a:xfrm>
            <a:off x="5508625" y="52705"/>
            <a:ext cx="3111500" cy="44386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  <a:endParaRPr lang="zh-CN" altLang="en-US" sz="1800" i="1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99285" y="3884295"/>
            <a:ext cx="4909820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</a:t>
            </a:r>
            <a:r>
              <a:rPr lang="en-US" altLang="zh-CN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(</a:t>
            </a:r>
            <a:r>
              <a:rPr lang="zh-CN" altLang="en-US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计算是按二进制计算规则进行的。</a:t>
            </a:r>
            <a:r>
              <a:rPr lang="en-US" altLang="zh-CN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)</a:t>
            </a:r>
            <a:endParaRPr lang="en-US" altLang="zh-CN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charRg st="0" end="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charRg st="51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charRg st="109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>
                                            <p:txEl>
                                              <p:charRg st="155" end="1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1C4ED09-00BE-457F-88FA-58E64250AF56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28675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76" name="Rectangle 3"/>
          <p:cNvSpPr>
            <a:spLocks noGrp="1"/>
          </p:cNvSpPr>
          <p:nvPr>
            <p:ph type="title"/>
          </p:nvPr>
        </p:nvSpPr>
        <p:spPr>
          <a:xfrm>
            <a:off x="309563" y="544513"/>
            <a:ext cx="7772400" cy="571500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基数乘除法</a:t>
            </a:r>
            <a:endParaRPr lang="zh-CN" altLang="en-US" sz="1800" b="1" i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677" name="Rectangle 4"/>
          <p:cNvSpPr>
            <a:spLocks noGrp="1"/>
          </p:cNvSpPr>
          <p:nvPr>
            <p:ph idx="1"/>
          </p:nvPr>
        </p:nvSpPr>
        <p:spPr>
          <a:xfrm>
            <a:off x="228600" y="887413"/>
            <a:ext cx="7669213" cy="1257300"/>
          </a:xfrm>
          <a:noFill/>
          <a:ln>
            <a:noFill/>
          </a:ln>
        </p:spPr>
        <p:txBody>
          <a:bodyPr/>
          <a:p>
            <a:pPr eaLnBrk="1" hangingPunct="1">
              <a:spcBef>
                <a:spcPct val="50000"/>
              </a:spcBef>
              <a:buNone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要点：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在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进制下完成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N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β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的转换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运算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     ⑴ 整数部分转换用基数除法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     ⑵ 小数部分转换用基数乘法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27654" name="Text Box 9"/>
          <p:cNvSpPr txBox="1"/>
          <p:nvPr/>
        </p:nvSpPr>
        <p:spPr>
          <a:xfrm>
            <a:off x="-411162" y="2374900"/>
            <a:ext cx="8050212" cy="7835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: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=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N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β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=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(b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  (0≤b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≤ β- 1)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=  (b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 + 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655" name="Text Box 10"/>
          <p:cNvSpPr txBox="1"/>
          <p:nvPr/>
        </p:nvSpPr>
        <p:spPr>
          <a:xfrm>
            <a:off x="325438" y="3228975"/>
            <a:ext cx="5173662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转换成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进制下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对应的数，则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8680" name="Group 20"/>
          <p:cNvGrpSpPr/>
          <p:nvPr/>
        </p:nvGrpSpPr>
        <p:grpSpPr>
          <a:xfrm>
            <a:off x="4724400" y="857250"/>
            <a:ext cx="2133600" cy="365125"/>
            <a:chOff x="2976" y="720"/>
            <a:chExt cx="1344" cy="307"/>
          </a:xfrm>
        </p:grpSpPr>
        <p:sp>
          <p:nvSpPr>
            <p:cNvPr id="28689" name="Text Box 5"/>
            <p:cNvSpPr txBox="1"/>
            <p:nvPr/>
          </p:nvSpPr>
          <p:spPr>
            <a:xfrm>
              <a:off x="2976" y="720"/>
              <a:ext cx="43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690" name="Text Box 13"/>
            <p:cNvSpPr txBox="1"/>
            <p:nvPr/>
          </p:nvSpPr>
          <p:spPr>
            <a:xfrm>
              <a:off x="4032" y="720"/>
              <a:ext cx="288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0976" name="Text Box 16"/>
          <p:cNvSpPr txBox="1"/>
          <p:nvPr/>
        </p:nvSpPr>
        <p:spPr>
          <a:xfrm>
            <a:off x="7218363" y="2887663"/>
            <a:ext cx="4572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β</a:t>
            </a:r>
            <a:endParaRPr lang="en-US" altLang="zh-CN" sz="1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77" name="Text Box 17"/>
          <p:cNvSpPr txBox="1"/>
          <p:nvPr/>
        </p:nvSpPr>
        <p:spPr>
          <a:xfrm>
            <a:off x="4302125" y="2489200"/>
            <a:ext cx="4572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β</a:t>
            </a:r>
            <a:endParaRPr lang="en-US" altLang="zh-CN" sz="18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7659" name="Group 22"/>
          <p:cNvGrpSpPr/>
          <p:nvPr/>
        </p:nvGrpSpPr>
        <p:grpSpPr>
          <a:xfrm>
            <a:off x="393700" y="3697288"/>
            <a:ext cx="8445500" cy="1057830"/>
            <a:chOff x="183" y="3408"/>
            <a:chExt cx="3173" cy="1252"/>
          </a:xfrm>
        </p:grpSpPr>
        <p:sp>
          <p:nvSpPr>
            <p:cNvPr id="28686" name="Text Box 18"/>
            <p:cNvSpPr txBox="1"/>
            <p:nvPr/>
          </p:nvSpPr>
          <p:spPr>
            <a:xfrm>
              <a:off x="183" y="3408"/>
              <a:ext cx="3173" cy="125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4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N </a:t>
              </a:r>
              <a:r>
                <a:rPr lang="en-US" altLang="zh-CN" sz="1800" b="1" baseline="-250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α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 (c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n-1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× γ</a:t>
              </a:r>
              <a:r>
                <a:rPr lang="en-US" altLang="zh-CN" sz="1800" b="1" baseline="30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n-1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 c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n-2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× γ</a:t>
              </a:r>
              <a:r>
                <a:rPr lang="en-US" altLang="zh-CN" sz="1800" b="1" baseline="30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n-2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… + c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× γ</a:t>
              </a:r>
              <a:r>
                <a:rPr lang="en-US" altLang="zh-CN" sz="1800" b="1" baseline="30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+c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×γ</a:t>
              </a:r>
              <a:r>
                <a:rPr lang="en-US" altLang="zh-CN" sz="1800" b="1" baseline="30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4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</a:t>
              </a:r>
              <a:endParaRPr lang="en-US" altLang="zh-CN" sz="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4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(0≤c 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i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≤ α-1)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(x)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40000"/>
                </a:lnSpc>
                <a:spcBef>
                  <a:spcPct val="50000"/>
                </a:spcBef>
                <a:buFont typeface="Arial" panose="020B0604020202020204" pitchFamily="34" charset="0"/>
              </a:pP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4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其中：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 b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i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)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β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 (c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i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α  ,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( 10 )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β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=(γ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α ,</a:t>
              </a:r>
              <a:r>
                <a:rPr lang="zh-CN" altLang="en-US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则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: γ =β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α</a:t>
              </a:r>
              <a:endPara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8687" name="Text Box 6"/>
            <p:cNvSpPr txBox="1"/>
            <p:nvPr/>
          </p:nvSpPr>
          <p:spPr>
            <a:xfrm>
              <a:off x="2456" y="3493"/>
              <a:ext cx="336" cy="23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4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α</a:t>
              </a:r>
              <a:endPara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688" name="Text Box 19"/>
            <p:cNvSpPr txBox="1"/>
            <p:nvPr/>
          </p:nvSpPr>
          <p:spPr>
            <a:xfrm>
              <a:off x="432" y="3560"/>
              <a:ext cx="432" cy="2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40000"/>
                </a:lnSpc>
                <a:spcBef>
                  <a:spcPct val="50000"/>
                </a:spcBef>
                <a:buFont typeface="Arial" panose="020B0604020202020204" pitchFamily="34" charset="0"/>
              </a:pPr>
              <a:endParaRPr lang="zh-CN" altLang="en-US" sz="1800" b="1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7660" name="Text Box 23"/>
          <p:cNvSpPr txBox="1"/>
          <p:nvPr/>
        </p:nvSpPr>
        <p:spPr>
          <a:xfrm>
            <a:off x="228600" y="2000250"/>
            <a:ext cx="86106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① 整数转换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基数除法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685" name="Rectangle 2"/>
          <p:cNvSpPr txBox="1"/>
          <p:nvPr/>
        </p:nvSpPr>
        <p:spPr>
          <a:xfrm>
            <a:off x="5508625" y="52705"/>
            <a:ext cx="3111500" cy="3778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  <a:endParaRPr lang="zh-CN" altLang="en-US" sz="1800" i="1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000365" y="3129915"/>
            <a:ext cx="88011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注意：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c</a:t>
            </a:r>
            <a:r>
              <a:rPr lang="en-US" altLang="zh-CN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i</a:t>
            </a:r>
            <a:r>
              <a:rPr lang="zh-CN" altLang="en-US" sz="16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和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γ</a:t>
            </a:r>
            <a:r>
              <a:rPr lang="zh-CN" altLang="en-US" sz="16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不一定只是一个数字符号！</a:t>
            </a:r>
            <a:endParaRPr lang="zh-CN" altLang="en-US" sz="16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4" grpId="0"/>
      <p:bldP spid="27655" grpId="0"/>
      <p:bldP spid="40976" grpId="0"/>
      <p:bldP spid="40977" grpId="0"/>
      <p:bldP spid="27660" grpId="0"/>
      <p:bldP spid="2" grpId="0"/>
      <p:bldP spid="2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503F3E5-7C9B-456C-89E7-2CF8E7266990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29699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00" name="Rectangle 4"/>
          <p:cNvSpPr>
            <a:spLocks noGrp="1"/>
          </p:cNvSpPr>
          <p:nvPr>
            <p:ph idx="1"/>
          </p:nvPr>
        </p:nvSpPr>
        <p:spPr>
          <a:xfrm>
            <a:off x="312420" y="640080"/>
            <a:ext cx="8494395" cy="1160145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 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= (((…((c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) γ</a:t>
            </a:r>
            <a:r>
              <a:rPr lang="en-US" altLang="zh-CN" sz="18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+ c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n-2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…)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+ c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+c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) 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endParaRPr lang="en-US" altLang="zh-CN" sz="1800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进制下，将该数依次除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直至商为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“0”</a:t>
            </a:r>
            <a:r>
              <a:rPr lang="en-US" altLang="zh-CN" sz="18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则余数分别为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: c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… , c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  <a:endParaRPr lang="en-US" altLang="zh-CN" sz="1800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再将得到的余数转化为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进制下的并列表示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: 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None/>
            </a:pPr>
            <a:endParaRPr lang="en-US" altLang="zh-CN" sz="1800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701" name="Rectangle 42"/>
          <p:cNvSpPr/>
          <p:nvPr/>
        </p:nvSpPr>
        <p:spPr>
          <a:xfrm>
            <a:off x="231775" y="1654175"/>
            <a:ext cx="8686800" cy="5715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eaLnBrk="1" hangingPunct="1">
              <a:lnSpc>
                <a:spcPct val="70000"/>
              </a:lnSpc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将十进制的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179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转换成二进制数。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γ=2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（？）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678" name="Rectangle 43"/>
          <p:cNvSpPr/>
          <p:nvPr/>
        </p:nvSpPr>
        <p:spPr>
          <a:xfrm>
            <a:off x="374650" y="2076450"/>
            <a:ext cx="5810885" cy="31210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algn="r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179÷2 = 89          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1… …c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algn="r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89÷2 = 44          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1… …c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algn="r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44÷2 = 22          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0… …c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algn="r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22÷2 = 11          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0… …c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algn="r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11÷2 = 5            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1… …c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algn="r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5÷2 = 2            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1… …c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algn="r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2÷2 = 1            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0… …c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algn="r" eaLnBrk="1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1÷2 = 0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1… …c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679" name="Text Box 44"/>
          <p:cNvSpPr txBox="1"/>
          <p:nvPr/>
        </p:nvSpPr>
        <p:spPr>
          <a:xfrm>
            <a:off x="684213" y="4446588"/>
            <a:ext cx="5334000" cy="3429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7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	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(179)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 (10110011)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en-US" altLang="zh-CN" sz="1800" b="1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704" name="Rectangle 2"/>
          <p:cNvSpPr txBox="1"/>
          <p:nvPr/>
        </p:nvSpPr>
        <p:spPr>
          <a:xfrm>
            <a:off x="5508625" y="52705"/>
            <a:ext cx="3111500" cy="40259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  <a:endParaRPr lang="zh-CN" altLang="en-US" sz="1800" i="1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  <p:sp>
        <p:nvSpPr>
          <p:cNvPr id="29705" name="文本框 1"/>
          <p:cNvSpPr txBox="1"/>
          <p:nvPr/>
        </p:nvSpPr>
        <p:spPr>
          <a:xfrm>
            <a:off x="6457950" y="3917950"/>
            <a:ext cx="2517140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一定要记得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运算进展到商为零这一步！</a:t>
            </a:r>
            <a:endParaRPr lang="zh-CN" altLang="en-US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charRg st="0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charRg st="39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charRg st="79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charRg st="119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charRg st="159" end="20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charRg st="200" end="2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charRg st="242" end="2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>
                                            <p:txEl>
                                              <p:charRg st="284" end="3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97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7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9" grpId="0"/>
      <p:bldP spid="29705" grpId="0"/>
      <p:bldP spid="29705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BB3DBC6-39DA-4356-8F19-019ECBD142B1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0723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4" name="Rectangle 3"/>
          <p:cNvSpPr>
            <a:spLocks noGrp="1"/>
          </p:cNvSpPr>
          <p:nvPr>
            <p:ph type="title"/>
          </p:nvPr>
        </p:nvSpPr>
        <p:spPr>
          <a:xfrm>
            <a:off x="179388" y="554038"/>
            <a:ext cx="8534400" cy="571500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 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将十进制的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3417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转换成十六进制数。 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=16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725" name="Text Box 4"/>
          <p:cNvSpPr txBox="1"/>
          <p:nvPr/>
        </p:nvSpPr>
        <p:spPr>
          <a:xfrm>
            <a:off x="228600" y="2334260"/>
            <a:ext cx="89154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(3417)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 (D59)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注意：次序</a:t>
            </a:r>
            <a:endParaRPr lang="zh-CN" altLang="en-US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726" name="Rectangle 5"/>
          <p:cNvSpPr>
            <a:spLocks noGrp="1"/>
          </p:cNvSpPr>
          <p:nvPr>
            <p:ph idx="1"/>
          </p:nvPr>
        </p:nvSpPr>
        <p:spPr>
          <a:xfrm>
            <a:off x="684213" y="985838"/>
            <a:ext cx="7924800" cy="1485900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110000"/>
              </a:lnSpc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16  3417                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9 … … c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1800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16  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213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  </a:t>
            </a:r>
            <a:r>
              <a:rPr lang="zh-CN" altLang="en-US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5 … … c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1800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16   </a:t>
            </a:r>
            <a:r>
              <a:rPr lang="en-US" altLang="zh-CN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13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13  …  c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… … D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Line 6"/>
          <p:cNvSpPr/>
          <p:nvPr/>
        </p:nvSpPr>
        <p:spPr>
          <a:xfrm>
            <a:off x="1287463" y="1104900"/>
            <a:ext cx="0" cy="2857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Line 7"/>
          <p:cNvSpPr/>
          <p:nvPr/>
        </p:nvSpPr>
        <p:spPr>
          <a:xfrm>
            <a:off x="1304925" y="1373188"/>
            <a:ext cx="76200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Line 8"/>
          <p:cNvSpPr/>
          <p:nvPr/>
        </p:nvSpPr>
        <p:spPr>
          <a:xfrm>
            <a:off x="1439863" y="1487488"/>
            <a:ext cx="0" cy="2857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679" name="Line 9"/>
          <p:cNvSpPr/>
          <p:nvPr/>
        </p:nvSpPr>
        <p:spPr>
          <a:xfrm flipV="1">
            <a:off x="1457325" y="1768475"/>
            <a:ext cx="604838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680" name="Line 10"/>
          <p:cNvSpPr/>
          <p:nvPr/>
        </p:nvSpPr>
        <p:spPr>
          <a:xfrm>
            <a:off x="1592263" y="1887538"/>
            <a:ext cx="0" cy="2857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681" name="Line 11"/>
          <p:cNvSpPr/>
          <p:nvPr/>
        </p:nvSpPr>
        <p:spPr>
          <a:xfrm flipV="1">
            <a:off x="1609725" y="2168525"/>
            <a:ext cx="460375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709" name="Text Box 14"/>
          <p:cNvSpPr txBox="1"/>
          <p:nvPr/>
        </p:nvSpPr>
        <p:spPr>
          <a:xfrm>
            <a:off x="252095" y="2932430"/>
            <a:ext cx="8686800" cy="14471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将二进制的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1011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转换成三进制数。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=11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11   1011                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    … 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 … 2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11  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</a:t>
            </a:r>
            <a:r>
              <a:rPr lang="zh-CN" altLang="en-US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 … … 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… 0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11  </a:t>
            </a:r>
            <a:r>
              <a:rPr lang="en-US" altLang="zh-CN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1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… … 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→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… 1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683" name="Line 15"/>
          <p:cNvSpPr/>
          <p:nvPr/>
        </p:nvSpPr>
        <p:spPr>
          <a:xfrm>
            <a:off x="835025" y="3265805"/>
            <a:ext cx="0" cy="2857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684" name="Line 16"/>
          <p:cNvSpPr/>
          <p:nvPr/>
        </p:nvSpPr>
        <p:spPr>
          <a:xfrm>
            <a:off x="842963" y="3573463"/>
            <a:ext cx="76200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Line 17"/>
          <p:cNvSpPr/>
          <p:nvPr/>
        </p:nvSpPr>
        <p:spPr>
          <a:xfrm>
            <a:off x="977900" y="3617913"/>
            <a:ext cx="0" cy="2857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686" name="Line 18"/>
          <p:cNvSpPr/>
          <p:nvPr/>
        </p:nvSpPr>
        <p:spPr>
          <a:xfrm flipV="1">
            <a:off x="995363" y="3898900"/>
            <a:ext cx="604838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687" name="Line 19"/>
          <p:cNvSpPr/>
          <p:nvPr/>
        </p:nvSpPr>
        <p:spPr>
          <a:xfrm>
            <a:off x="1130300" y="4017963"/>
            <a:ext cx="0" cy="28575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688" name="Line 20"/>
          <p:cNvSpPr/>
          <p:nvPr/>
        </p:nvSpPr>
        <p:spPr>
          <a:xfrm flipV="1">
            <a:off x="1147763" y="4298950"/>
            <a:ext cx="460375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716" name="Text Box 22"/>
          <p:cNvSpPr txBox="1"/>
          <p:nvPr/>
        </p:nvSpPr>
        <p:spPr>
          <a:xfrm>
            <a:off x="318135" y="4470400"/>
            <a:ext cx="54102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即：	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(1011)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 (102)</a:t>
            </a:r>
            <a:r>
              <a:rPr lang="en-US" altLang="zh-CN" sz="1800" baseline="-25000" dirty="0">
                <a:solidFill>
                  <a:schemeClr val="tx1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endParaRPr lang="en-US" altLang="zh-CN" sz="1800" b="1" baseline="-25000" dirty="0">
              <a:solidFill>
                <a:schemeClr val="tx1"/>
              </a:solidFill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741" name="Rectangle 2"/>
          <p:cNvSpPr txBox="1"/>
          <p:nvPr/>
        </p:nvSpPr>
        <p:spPr>
          <a:xfrm>
            <a:off x="5508625" y="52705"/>
            <a:ext cx="3111500" cy="43624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buFont typeface="Arial" panose="020B0604020202020204" pitchFamily="34" charset="0"/>
            </a:pP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第</a:t>
            </a:r>
            <a:r>
              <a:rPr lang="en-US" altLang="zh-CN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1</a:t>
            </a:r>
            <a:r>
              <a:rPr lang="zh-CN" altLang="en-US" sz="1800" i="1" dirty="0">
                <a:solidFill>
                  <a:schemeClr val="tx1"/>
                </a:solidFill>
                <a:latin typeface="Calibri Light" panose="020F0302020204030204" pitchFamily="34" charset="0"/>
              </a:rPr>
              <a:t>章 数字逻辑基础</a:t>
            </a:r>
            <a:endParaRPr lang="zh-CN" altLang="en-US" sz="1800" i="1" dirty="0">
              <a:solidFill>
                <a:schemeClr val="tx1"/>
              </a:solidFill>
              <a:latin typeface="Calibri Light" panose="020F0302020204030204" pitchFamily="34" charset="0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9" grpId="0"/>
      <p:bldP spid="29716" grpId="0"/>
      <p:bldP spid="30725" grpId="0"/>
      <p:bldP spid="30725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日期占位符 3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93E9378-BC9D-4A92-8572-B9FC42B12432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1747" name="灯片编号占位符 5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48" name="Rectangle 3"/>
          <p:cNvSpPr>
            <a:spLocks noGrp="1"/>
          </p:cNvSpPr>
          <p:nvPr/>
        </p:nvSpPr>
        <p:spPr>
          <a:xfrm>
            <a:off x="481013" y="434975"/>
            <a:ext cx="8458200" cy="762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eaLnBrk="1" hangingPunct="1"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②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小数转换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基数乘法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1800" b="1" i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749" name="Rectangle 4"/>
          <p:cNvSpPr>
            <a:spLocks noGrp="1"/>
          </p:cNvSpPr>
          <p:nvPr/>
        </p:nvSpPr>
        <p:spPr>
          <a:xfrm>
            <a:off x="630238" y="1074738"/>
            <a:ext cx="8610600" cy="16954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1" hangingPunct="1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：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 =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N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β</a:t>
            </a:r>
            <a:b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  =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( 0 . C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…C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=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(C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C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 + C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×10 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1" hangingPunct="1">
              <a:lnSpc>
                <a:spcPct val="12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(0≤C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≤β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1)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750" name="Text Box 6"/>
          <p:cNvSpPr txBox="1"/>
          <p:nvPr/>
        </p:nvSpPr>
        <p:spPr>
          <a:xfrm>
            <a:off x="755015" y="2859405"/>
            <a:ext cx="688149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转换成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进制下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对应的数，则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751" name="Text Box 17"/>
          <p:cNvSpPr txBox="1"/>
          <p:nvPr/>
        </p:nvSpPr>
        <p:spPr>
          <a:xfrm>
            <a:off x="1146175" y="3305175"/>
            <a:ext cx="7578725" cy="11988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N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( D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×γ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… + D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b="1" baseline="30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α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其中：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 C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)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β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=(D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  ,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( 10 )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β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=(γ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α ,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γ =β 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  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(0≤D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≤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1)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1752" name="Text Box 13"/>
          <p:cNvSpPr txBox="1"/>
          <p:nvPr/>
        </p:nvSpPr>
        <p:spPr>
          <a:xfrm>
            <a:off x="3924300" y="1490663"/>
            <a:ext cx="5365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β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53" name="Text Box 13"/>
          <p:cNvSpPr txBox="1"/>
          <p:nvPr/>
        </p:nvSpPr>
        <p:spPr>
          <a:xfrm>
            <a:off x="6157913" y="1995488"/>
            <a:ext cx="534987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</a:rPr>
              <a:t>β</a:t>
            </a:r>
            <a:endParaRPr lang="en-US" altLang="zh-CN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FA905B8-A63A-4A18-81F5-77AAEA06DEE5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2771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5" name="Rectangle 25"/>
          <p:cNvSpPr/>
          <p:nvPr/>
        </p:nvSpPr>
        <p:spPr>
          <a:xfrm>
            <a:off x="1044575" y="1303338"/>
            <a:ext cx="511175" cy="342900"/>
          </a:xfrm>
          <a:prstGeom prst="rect">
            <a:avLst/>
          </a:prstGeom>
          <a:ln w="2857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730" name="Rectangle 21"/>
          <p:cNvSpPr/>
          <p:nvPr/>
        </p:nvSpPr>
        <p:spPr>
          <a:xfrm>
            <a:off x="2862263" y="2817813"/>
            <a:ext cx="542925" cy="354013"/>
          </a:xfrm>
          <a:prstGeom prst="rect">
            <a:avLst/>
          </a:prstGeom>
          <a:ln w="28575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774" name="Rectangle 3"/>
          <p:cNvSpPr>
            <a:spLocks noGrp="1"/>
          </p:cNvSpPr>
          <p:nvPr>
            <p:ph type="title"/>
          </p:nvPr>
        </p:nvSpPr>
        <p:spPr>
          <a:xfrm>
            <a:off x="811213" y="760413"/>
            <a:ext cx="5638800" cy="571500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进制下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,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将该数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乘以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γ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得：</a:t>
            </a: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775" name="Text Box 17"/>
          <p:cNvSpPr txBox="1"/>
          <p:nvPr/>
        </p:nvSpPr>
        <p:spPr>
          <a:xfrm>
            <a:off x="887413" y="1301750"/>
            <a:ext cx="70866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 D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γ</a:t>
            </a:r>
            <a:r>
              <a:rPr lang="en-US" altLang="zh-CN" sz="1800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 + D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-m+1</a:t>
            </a:r>
            <a:endParaRPr lang="en-US" altLang="zh-CN" sz="1800" baseline="30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776" name="Text Box 23"/>
          <p:cNvSpPr txBox="1"/>
          <p:nvPr/>
        </p:nvSpPr>
        <p:spPr>
          <a:xfrm>
            <a:off x="887413" y="2101850"/>
            <a:ext cx="84582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整数部分即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再转化为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进制下的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724" name="Line 24"/>
          <p:cNvSpPr/>
          <p:nvPr/>
        </p:nvSpPr>
        <p:spPr>
          <a:xfrm flipV="1">
            <a:off x="1233488" y="1693863"/>
            <a:ext cx="12700" cy="436563"/>
          </a:xfrm>
          <a:prstGeom prst="line">
            <a:avLst/>
          </a:prstGeom>
          <a:ln w="28575">
            <a:solidFill>
              <a:srgbClr val="C00000"/>
            </a:solidFill>
            <a:headEnd type="triangle" w="med" len="med"/>
            <a:tailEnd type="none" w="lg" len="lg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778" name="Rectangle 4"/>
          <p:cNvSpPr txBox="1"/>
          <p:nvPr/>
        </p:nvSpPr>
        <p:spPr>
          <a:xfrm>
            <a:off x="965200" y="2676525"/>
            <a:ext cx="5257800" cy="5143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再乘以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得：</a:t>
            </a:r>
            <a:endParaRPr lang="zh-CN" altLang="en-US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779" name="Text Box 15"/>
          <p:cNvSpPr txBox="1"/>
          <p:nvPr/>
        </p:nvSpPr>
        <p:spPr>
          <a:xfrm>
            <a:off x="1117600" y="2828925"/>
            <a:ext cx="70866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              D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 </a:t>
            </a:r>
            <a:r>
              <a:rPr lang="en-US" altLang="zh-CN" sz="1800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 D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-3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 + D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×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-m+2</a:t>
            </a:r>
            <a:endParaRPr lang="en-US" altLang="zh-CN" sz="1800" baseline="30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780" name="Text Box 16"/>
          <p:cNvSpPr txBox="1"/>
          <p:nvPr/>
        </p:nvSpPr>
        <p:spPr>
          <a:xfrm>
            <a:off x="1041400" y="3570288"/>
            <a:ext cx="6335713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整数部分即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再转化为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进制下的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0729" name="Line 20"/>
          <p:cNvSpPr/>
          <p:nvPr/>
        </p:nvSpPr>
        <p:spPr>
          <a:xfrm flipV="1">
            <a:off x="3128963" y="3217863"/>
            <a:ext cx="0" cy="400050"/>
          </a:xfrm>
          <a:prstGeom prst="line">
            <a:avLst/>
          </a:prstGeom>
          <a:ln w="28575">
            <a:solidFill>
              <a:srgbClr val="C00000"/>
            </a:solidFill>
            <a:headEnd type="none" w="med" len="med"/>
            <a:tailEnd type="triangle" w="lg" len="lg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advTm="25000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179113C-5FB4-41AF-9287-77E963B5BC8D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3795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796" name="Rectangle 2"/>
          <p:cNvSpPr>
            <a:spLocks noGrp="1"/>
          </p:cNvSpPr>
          <p:nvPr>
            <p:ph type="title"/>
          </p:nvPr>
        </p:nvSpPr>
        <p:spPr>
          <a:xfrm>
            <a:off x="663575" y="330200"/>
            <a:ext cx="7772400" cy="742950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b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直至最后，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-m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×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b="1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–1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时，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再乘以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γ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得：</a:t>
            </a:r>
            <a:b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797" name="Rectangle 3"/>
          <p:cNvSpPr>
            <a:spLocks noGrp="1"/>
          </p:cNvSpPr>
          <p:nvPr>
            <p:ph idx="1"/>
          </p:nvPr>
        </p:nvSpPr>
        <p:spPr>
          <a:xfrm>
            <a:off x="1062355" y="1016000"/>
            <a:ext cx="5715000" cy="1028700"/>
          </a:xfrm>
          <a:noFill/>
          <a:ln>
            <a:noFill/>
          </a:ln>
        </p:spPr>
        <p:txBody>
          <a:bodyPr/>
          <a:p>
            <a:pPr eaLnBrk="1" hangingPunct="1"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则为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     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D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-m</a:t>
            </a:r>
            <a:endParaRPr lang="en-US" altLang="zh-CN" sz="1800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798" name="Text Box 25"/>
          <p:cNvSpPr txBox="1"/>
          <p:nvPr/>
        </p:nvSpPr>
        <p:spPr>
          <a:xfrm>
            <a:off x="1044575" y="1385888"/>
            <a:ext cx="8153400" cy="7835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得到第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再将其转化为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进制下的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 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-m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则转换结束。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775" name="Rectangle 3"/>
          <p:cNvSpPr txBox="1"/>
          <p:nvPr/>
        </p:nvSpPr>
        <p:spPr>
          <a:xfrm>
            <a:off x="820738" y="2211388"/>
            <a:ext cx="7354887" cy="427037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eaLnBrk="1" hangingPunct="1"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(0.4321)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转换成十六进制数。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=16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776" name="Rectangle 4"/>
          <p:cNvSpPr txBox="1"/>
          <p:nvPr/>
        </p:nvSpPr>
        <p:spPr>
          <a:xfrm>
            <a:off x="860425" y="2714625"/>
            <a:ext cx="8229600" cy="21145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1" hangingPunct="1">
              <a:lnSpc>
                <a:spcPct val="7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N = 0.4321    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1" hangingPunct="1">
              <a:lnSpc>
                <a:spcPct val="7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0.4321×16 = 6.9136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得：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 6  (6) 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1" hangingPunct="1">
              <a:lnSpc>
                <a:spcPct val="7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0.9136×16 =14.6176     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D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-2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 14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(E) 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1" hangingPunct="1">
              <a:lnSpc>
                <a:spcPct val="7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0.6176×16 = 9.8816             D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-3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 9  (9) 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1" hangingPunct="1">
              <a:lnSpc>
                <a:spcPct val="7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0.8816×16 =14.1056      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D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-4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 14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(E) 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777" name="Text Box 9"/>
          <p:cNvSpPr txBox="1"/>
          <p:nvPr/>
        </p:nvSpPr>
        <p:spPr>
          <a:xfrm>
            <a:off x="1171575" y="4378325"/>
            <a:ext cx="51054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 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(0.4321)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 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≈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(0.6E9E)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5" grpId="0"/>
      <p:bldP spid="32776" grpId="0"/>
      <p:bldP spid="3277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61AAF3A-A53F-4FB0-A244-EBD8697FCD03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4819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20" name="Rectangle 3"/>
          <p:cNvSpPr>
            <a:spLocks noGrp="1"/>
          </p:cNvSpPr>
          <p:nvPr>
            <p:ph type="title"/>
          </p:nvPr>
        </p:nvSpPr>
        <p:spPr>
          <a:xfrm>
            <a:off x="520700" y="885825"/>
            <a:ext cx="8001000" cy="525463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将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(0.375)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10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转换成二进制数。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γ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=2 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3797" name="Rectangle 4"/>
          <p:cNvSpPr>
            <a:spLocks noGrp="1"/>
          </p:cNvSpPr>
          <p:nvPr>
            <p:ph idx="1"/>
          </p:nvPr>
        </p:nvSpPr>
        <p:spPr>
          <a:xfrm>
            <a:off x="1435100" y="1374775"/>
            <a:ext cx="7212013" cy="2800350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0   .  3 7 5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×          2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[0] . 7 5 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	… …  D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-1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= 0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转化为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进制下的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C 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-1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×          2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[1] . 5 0 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	… …  D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-2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= 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转化为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进制下的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C 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-2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×          2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[1] . 0 0 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	… …  D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-3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= 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转化为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进制下的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C 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-3</a:t>
            </a:r>
            <a:endParaRPr lang="en-US" altLang="zh-CN" sz="1800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3798" name="Group 19"/>
          <p:cNvGrpSpPr/>
          <p:nvPr/>
        </p:nvGrpSpPr>
        <p:grpSpPr>
          <a:xfrm>
            <a:off x="1358900" y="1989138"/>
            <a:ext cx="1854200" cy="1309687"/>
            <a:chOff x="720" y="1248"/>
            <a:chExt cx="1152" cy="1296"/>
          </a:xfrm>
        </p:grpSpPr>
        <p:sp>
          <p:nvSpPr>
            <p:cNvPr id="34824" name="Line 16"/>
            <p:cNvSpPr/>
            <p:nvPr/>
          </p:nvSpPr>
          <p:spPr>
            <a:xfrm>
              <a:off x="720" y="1248"/>
              <a:ext cx="1152" cy="0"/>
            </a:xfrm>
            <a:prstGeom prst="line">
              <a:avLst/>
            </a:prstGeom>
            <a:ln w="28575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25" name="Line 17"/>
            <p:cNvSpPr/>
            <p:nvPr/>
          </p:nvSpPr>
          <p:spPr>
            <a:xfrm>
              <a:off x="720" y="1872"/>
              <a:ext cx="1152" cy="0"/>
            </a:xfrm>
            <a:prstGeom prst="line">
              <a:avLst/>
            </a:prstGeom>
            <a:ln w="28575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4826" name="Line 18"/>
            <p:cNvSpPr/>
            <p:nvPr/>
          </p:nvSpPr>
          <p:spPr>
            <a:xfrm>
              <a:off x="720" y="2544"/>
              <a:ext cx="1152" cy="0"/>
            </a:xfrm>
            <a:prstGeom prst="line">
              <a:avLst/>
            </a:prstGeom>
            <a:ln w="28575" cap="flat" cmpd="sng">
              <a:solidFill>
                <a:srgbClr val="C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3799" name="Text Box 20"/>
          <p:cNvSpPr txBox="1"/>
          <p:nvPr/>
        </p:nvSpPr>
        <p:spPr>
          <a:xfrm>
            <a:off x="673100" y="3971925"/>
            <a:ext cx="7849235" cy="783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(0.375)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(0.011)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  </a:t>
            </a:r>
            <a:r>
              <a:rPr lang="zh-CN" altLang="en-US" sz="18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注意：每次运算都产生结果；   </a:t>
            </a:r>
            <a:endParaRPr lang="zh-CN" altLang="en-US" sz="1800" b="1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        不能搞错</a:t>
            </a:r>
            <a:r>
              <a:rPr lang="zh-CN" altLang="en-US" sz="1800" b="1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结果的排放次序。</a:t>
            </a:r>
            <a:endParaRPr lang="zh-CN" altLang="en-US" sz="1800" b="1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charRg st="13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charRg st="26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charRg st="66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charRg st="79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charRg st="119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>
                                            <p:txEl>
                                              <p:charRg st="132" end="1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7" grpId="0" build="p"/>
      <p:bldP spid="3379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4EE26E1-F1BE-423C-A63C-706818EF9F47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5843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44" name="Rectangle 3"/>
          <p:cNvSpPr>
            <a:spLocks noGrp="1"/>
          </p:cNvSpPr>
          <p:nvPr>
            <p:ph type="title"/>
          </p:nvPr>
        </p:nvSpPr>
        <p:spPr>
          <a:xfrm>
            <a:off x="376238" y="688975"/>
            <a:ext cx="8610600" cy="742950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任意两种进制之间的转换总结 </a:t>
            </a:r>
            <a:endParaRPr lang="zh-CN" altLang="en-US" sz="1800" b="1" baseline="30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4821" name="Rectangle 4"/>
          <p:cNvSpPr>
            <a:spLocks noGrp="1"/>
          </p:cNvSpPr>
          <p:nvPr>
            <p:ph idx="1"/>
          </p:nvPr>
        </p:nvSpPr>
        <p:spPr>
          <a:xfrm>
            <a:off x="301625" y="1601788"/>
            <a:ext cx="8591550" cy="3175000"/>
          </a:xfrm>
          <a:noFill/>
          <a:ln>
            <a:noFill/>
          </a:ln>
        </p:spPr>
        <p:txBody>
          <a:bodyPr/>
          <a:p>
            <a:pPr marL="514350" indent="-514350" eaLnBrk="1" hangingPunct="1">
              <a:lnSpc>
                <a:spcPct val="110000"/>
              </a:lnSpc>
              <a:spcBef>
                <a:spcPct val="50000"/>
              </a:spcBef>
              <a:buFont typeface="宋体" panose="02010600030101010101" pitchFamily="2" charset="-122"/>
              <a:buAutoNum type="circleNumDbPlain"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若熟悉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进制的运算规则，则采用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多项式替代法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完成转换。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要求熟悉单个数字字符的转换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spcBef>
                <a:spcPct val="50000"/>
              </a:spcBef>
              <a:buFont typeface="宋体" panose="02010600030101010101" pitchFamily="2" charset="-122"/>
              <a:buAutoNum type="circleNumDbPlain"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若熟悉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进制的运算规则，则采用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基数乘除法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完成转换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 ：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a. γ =β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α;    </a:t>
            </a:r>
            <a:endParaRPr lang="en-US" altLang="zh-CN" sz="1800" b="1" baseline="-25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spcBef>
                <a:spcPct val="50000"/>
              </a:spcBef>
              <a:buNone/>
            </a:pPr>
            <a:r>
              <a:rPr lang="zh-CN" altLang="en-US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 </a:t>
            </a:r>
            <a:r>
              <a:rPr lang="zh-CN" altLang="en-US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b.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整数（部分）除以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得余数，小数（部分）乘以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γ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取整数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;   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spcBef>
                <a:spcPct val="50000"/>
              </a:spcBef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c.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再将“余数”及“整数”从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进制转换为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进制；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spcBef>
                <a:spcPct val="50000"/>
              </a:spcBef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d.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转换结果用位置计数法书写时，要注意小数点及字符的次序。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1" hangingPunct="1"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③  若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不熟悉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进制的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四则运算规则，</a:t>
            </a:r>
            <a:r>
              <a:rPr lang="zh-CN" altLang="en-US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则可</a:t>
            </a:r>
            <a:r>
              <a:rPr lang="zh-CN" altLang="en-US" sz="1800" u="sng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利用十进制</a:t>
            </a:r>
            <a:r>
              <a:rPr lang="zh-CN" altLang="en-US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作为转换桥梁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5846" name="Group 11"/>
          <p:cNvGrpSpPr/>
          <p:nvPr/>
        </p:nvGrpSpPr>
        <p:grpSpPr>
          <a:xfrm>
            <a:off x="1824038" y="1125538"/>
            <a:ext cx="3962400" cy="523875"/>
            <a:chOff x="2160" y="683"/>
            <a:chExt cx="1920" cy="440"/>
          </a:xfrm>
        </p:grpSpPr>
        <p:sp>
          <p:nvSpPr>
            <p:cNvPr id="35847" name="Text Box 8"/>
            <p:cNvSpPr txBox="1"/>
            <p:nvPr/>
          </p:nvSpPr>
          <p:spPr>
            <a:xfrm>
              <a:off x="2160" y="683"/>
              <a:ext cx="1776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N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α 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  <a:sym typeface="Wingdings" panose="05000000000000000000" pitchFamily="2" charset="2"/>
                </a:rPr>
                <a:t>→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N</a:t>
              </a:r>
              <a:r>
                <a:rPr lang="en-US" altLang="zh-CN" sz="1800" b="1" baseline="-250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β 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5848" name="Text Box 9"/>
            <p:cNvSpPr txBox="1"/>
            <p:nvPr/>
          </p:nvSpPr>
          <p:spPr>
            <a:xfrm>
              <a:off x="2544" y="816"/>
              <a:ext cx="43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5849" name="Text Box 10"/>
            <p:cNvSpPr txBox="1"/>
            <p:nvPr/>
          </p:nvSpPr>
          <p:spPr>
            <a:xfrm>
              <a:off x="3600" y="816"/>
              <a:ext cx="480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charRg st="0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charRg st="42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charRg st="67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charRg st="90" end="1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charRg st="144" end="1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charRg st="182" end="2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>
                                            <p:txEl>
                                              <p:charRg st="225" end="2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726532C-53D3-4BD6-B390-DE0271F125FA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6867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68" name="Rectangle 3"/>
          <p:cNvSpPr>
            <a:spLocks noGrp="1"/>
          </p:cNvSpPr>
          <p:nvPr>
            <p:ph type="title"/>
          </p:nvPr>
        </p:nvSpPr>
        <p:spPr>
          <a:xfrm>
            <a:off x="592138" y="860425"/>
            <a:ext cx="8839200" cy="800100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4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）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直接转换法 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6869" name="Rectangle 4"/>
          <p:cNvSpPr>
            <a:spLocks noGrp="1"/>
          </p:cNvSpPr>
          <p:nvPr>
            <p:ph idx="1"/>
          </p:nvPr>
        </p:nvSpPr>
        <p:spPr>
          <a:xfrm>
            <a:off x="900430" y="1373505"/>
            <a:ext cx="7304405" cy="958850"/>
          </a:xfrm>
          <a:noFill/>
          <a:ln>
            <a:noFill/>
          </a:ln>
        </p:spPr>
        <p:txBody>
          <a:bodyPr/>
          <a:p>
            <a:pPr eaLnBrk="1" hangingPunct="1">
              <a:spcBef>
                <a:spcPct val="50000"/>
              </a:spcBef>
              <a:buNone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二进制数是计算机内部真正使用的数，但由于它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的表示既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易出错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也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不易交流（</a:t>
            </a:r>
            <a:r>
              <a:rPr lang="zh-CN" altLang="en-US" sz="20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位数太长！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，故书写文档（或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程序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时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常常用八进制或十六</a:t>
            </a:r>
            <a:r>
              <a:rPr lang="zh-CN" altLang="en-US" sz="2000" b="1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进制的形式表示。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</a:t>
            </a:r>
            <a:endParaRPr lang="zh-CN" altLang="en-US" sz="20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        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36870" name="Text Box 48"/>
          <p:cNvSpPr txBox="1"/>
          <p:nvPr/>
        </p:nvSpPr>
        <p:spPr>
          <a:xfrm>
            <a:off x="897255" y="2844800"/>
            <a:ext cx="6711315" cy="13220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二进制</a:t>
            </a:r>
            <a:r>
              <a:rPr lang="en-US" altLang="zh-CN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en-US" altLang="zh-CN" b="1" i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inary</a:t>
            </a: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简称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，如 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(10)</a:t>
            </a:r>
            <a:r>
              <a: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(10)</a:t>
            </a:r>
            <a:r>
              <a: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endParaRPr lang="zh-CN" altLang="en-US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八进制</a:t>
            </a:r>
            <a:r>
              <a:rPr lang="en-US" altLang="zh-CN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</a:t>
            </a:r>
            <a:r>
              <a:rPr lang="en-US" altLang="zh-CN" b="1" i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ctal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 简称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 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，如 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(10)</a:t>
            </a:r>
            <a:r>
              <a: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 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(10)</a:t>
            </a:r>
            <a:r>
              <a: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O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endParaRPr lang="zh-CN" altLang="en-US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十六进制</a:t>
            </a:r>
            <a:r>
              <a:rPr lang="en-US" altLang="zh-CN" b="1" i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</a:t>
            </a:r>
            <a:r>
              <a:rPr lang="en-US" altLang="zh-CN" b="1" i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exadecimal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，简称</a:t>
            </a:r>
            <a:r>
              <a:rPr lang="en-US" altLang="zh-CN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 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，如 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(10)</a:t>
            </a:r>
            <a:r>
              <a: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16 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= (10)</a:t>
            </a:r>
            <a:r>
              <a:rPr lang="en-US" altLang="zh-CN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H</a:t>
            </a:r>
            <a:r>
              <a:rPr lang="en-US" altLang="zh-CN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525520" y="4729480"/>
            <a:ext cx="304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ransition advTm="25000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70C4604-9963-46E2-B7D2-251CE3073BAB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7891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2" name="Rectangle 3"/>
          <p:cNvSpPr>
            <a:spLocks noGrp="1"/>
          </p:cNvSpPr>
          <p:nvPr>
            <p:ph type="title"/>
          </p:nvPr>
        </p:nvSpPr>
        <p:spPr>
          <a:xfrm>
            <a:off x="447675" y="746125"/>
            <a:ext cx="3048000" cy="685800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转换 ：      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893" name="Rectangle 4"/>
          <p:cNvSpPr>
            <a:spLocks noGrp="1"/>
          </p:cNvSpPr>
          <p:nvPr>
            <p:ph idx="1"/>
          </p:nvPr>
        </p:nvSpPr>
        <p:spPr>
          <a:xfrm>
            <a:off x="295275" y="1373188"/>
            <a:ext cx="8915400" cy="457200"/>
          </a:xfrm>
          <a:noFill/>
          <a:ln>
            <a:noFill/>
          </a:ln>
        </p:spPr>
        <p:txBody>
          <a:bodyPr/>
          <a:p>
            <a:pPr eaLnBrk="1" hangingPunct="1">
              <a:spcBef>
                <a:spcPct val="50000"/>
              </a:spcBef>
              <a:buNone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       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当基数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α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均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是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2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的</a:t>
            </a:r>
            <a:r>
              <a:rPr lang="zh-CN" altLang="en-US" sz="2000" u="sng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幂次方（指数）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时，可以进行直接转换。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  <a:sym typeface="Wingdings" panose="05000000000000000000" pitchFamily="2" charset="2"/>
            </a:endParaRPr>
          </a:p>
        </p:txBody>
      </p:sp>
      <p:sp>
        <p:nvSpPr>
          <p:cNvPr id="37894" name="Text Box 26"/>
          <p:cNvSpPr txBox="1"/>
          <p:nvPr/>
        </p:nvSpPr>
        <p:spPr>
          <a:xfrm>
            <a:off x="449263" y="1944688"/>
            <a:ext cx="9163050" cy="860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基数为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k 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的进位制是将</a:t>
            </a:r>
            <a:r>
              <a:rPr lang="zh-CN" alt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二进制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字符串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位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数字字符表示，如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(5)</a:t>
            </a:r>
            <a:r>
              <a: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(101)</a:t>
            </a:r>
            <a:r>
              <a: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 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(5)</a:t>
            </a:r>
            <a:r>
              <a: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(0101)</a:t>
            </a:r>
            <a:r>
              <a:rPr lang="en-US" altLang="zh-CN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endParaRPr lang="en-US" altLang="zh-CN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7895" name="Group 28"/>
          <p:cNvGrpSpPr/>
          <p:nvPr/>
        </p:nvGrpSpPr>
        <p:grpSpPr>
          <a:xfrm>
            <a:off x="2352675" y="715963"/>
            <a:ext cx="3810000" cy="636587"/>
            <a:chOff x="2160" y="720"/>
            <a:chExt cx="1920" cy="535"/>
          </a:xfrm>
        </p:grpSpPr>
        <p:sp>
          <p:nvSpPr>
            <p:cNvPr id="37897" name="Text Box 29"/>
            <p:cNvSpPr txBox="1"/>
            <p:nvPr/>
          </p:nvSpPr>
          <p:spPr>
            <a:xfrm>
              <a:off x="2160" y="720"/>
              <a:ext cx="1776" cy="49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3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zh-CN" sz="32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α</a:t>
              </a:r>
              <a:r>
                <a:rPr lang="en-US" altLang="zh-CN" sz="32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3200" b="1" dirty="0">
                  <a:solidFill>
                    <a:srgbClr val="FF0000"/>
                  </a:solidFill>
                  <a:latin typeface="Times New Roman" panose="02020603050405020304" pitchFamily="18" charset="0"/>
                  <a:sym typeface="Wingdings" panose="05000000000000000000" pitchFamily="2" charset="2"/>
                </a:rPr>
                <a:t>→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N</a:t>
              </a:r>
              <a:r>
                <a:rPr lang="en-US" altLang="zh-CN" sz="3200" b="1" baseline="-25000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 β</a:t>
              </a:r>
              <a:endParaRPr lang="en-US" altLang="zh-CN" sz="3200" b="1" baseline="-25000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898" name="Text Box 30"/>
            <p:cNvSpPr txBox="1"/>
            <p:nvPr/>
          </p:nvSpPr>
          <p:spPr>
            <a:xfrm>
              <a:off x="2544" y="816"/>
              <a:ext cx="432" cy="439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endPara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899" name="Text Box 31"/>
            <p:cNvSpPr txBox="1"/>
            <p:nvPr/>
          </p:nvSpPr>
          <p:spPr>
            <a:xfrm>
              <a:off x="3600" y="816"/>
              <a:ext cx="480" cy="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endPara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6872" name="Text Box 32"/>
          <p:cNvSpPr txBox="1"/>
          <p:nvPr/>
        </p:nvSpPr>
        <p:spPr>
          <a:xfrm>
            <a:off x="447675" y="3219450"/>
            <a:ext cx="8610600" cy="16300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因此，用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划分相应字符串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的方法实现基数为 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k</a:t>
            </a:r>
            <a:r>
              <a:rPr lang="en-US" altLang="zh-CN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Wingdings" panose="05000000000000000000" pitchFamily="2" charset="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进位制与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二进制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之间的直接转换。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注意：以小数点位置为基准向左右划分，不足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位补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，但千万要注意</a:t>
            </a:r>
            <a:r>
              <a:rPr lang="en-US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“0”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添加的位置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（只能在空挡处）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及个数</a:t>
            </a:r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1F8E9A3A-2181-4678-A342-885CC935A20F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8915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16" name="Text Box 16"/>
          <p:cNvSpPr txBox="1"/>
          <p:nvPr/>
        </p:nvSpPr>
        <p:spPr>
          <a:xfrm>
            <a:off x="1476375" y="1293813"/>
            <a:ext cx="60198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二进制数 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11 111 010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011 1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8917" name="Rectangle 2"/>
          <p:cNvSpPr>
            <a:spLocks noGrp="1"/>
          </p:cNvSpPr>
          <p:nvPr>
            <p:ph type="title"/>
          </p:nvPr>
        </p:nvSpPr>
        <p:spPr>
          <a:xfrm>
            <a:off x="333375" y="836613"/>
            <a:ext cx="7772400" cy="514350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将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(11111010.0111) 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转换为八进制数。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8918" name="Group 24"/>
          <p:cNvGrpSpPr/>
          <p:nvPr/>
        </p:nvGrpSpPr>
        <p:grpSpPr>
          <a:xfrm>
            <a:off x="2717800" y="1576705"/>
            <a:ext cx="2433955" cy="76200"/>
            <a:chOff x="1584" y="3648"/>
            <a:chExt cx="1750" cy="0"/>
          </a:xfrm>
        </p:grpSpPr>
        <p:sp>
          <p:nvSpPr>
            <p:cNvPr id="2" name="Line 17"/>
            <p:cNvSpPr/>
            <p:nvPr/>
          </p:nvSpPr>
          <p:spPr>
            <a:xfrm>
              <a:off x="2278" y="3648"/>
              <a:ext cx="288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Line 18"/>
            <p:cNvSpPr/>
            <p:nvPr/>
          </p:nvSpPr>
          <p:spPr>
            <a:xfrm>
              <a:off x="1920" y="3648"/>
              <a:ext cx="289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19"/>
            <p:cNvSpPr/>
            <p:nvPr/>
          </p:nvSpPr>
          <p:spPr>
            <a:xfrm>
              <a:off x="1584" y="3648"/>
              <a:ext cx="288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Line 20"/>
            <p:cNvSpPr/>
            <p:nvPr/>
          </p:nvSpPr>
          <p:spPr>
            <a:xfrm>
              <a:off x="3046" y="3648"/>
              <a:ext cx="288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Line 21"/>
            <p:cNvSpPr/>
            <p:nvPr/>
          </p:nvSpPr>
          <p:spPr>
            <a:xfrm>
              <a:off x="2709" y="3648"/>
              <a:ext cx="289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8919" name="Text Box 22"/>
          <p:cNvSpPr txBox="1"/>
          <p:nvPr/>
        </p:nvSpPr>
        <p:spPr>
          <a:xfrm>
            <a:off x="1476375" y="1651000"/>
            <a:ext cx="60198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八进制数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3   7   2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3   4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8920" name="Text Box 23"/>
          <p:cNvSpPr txBox="1"/>
          <p:nvPr/>
        </p:nvSpPr>
        <p:spPr>
          <a:xfrm>
            <a:off x="1028065" y="2020888"/>
            <a:ext cx="5562600" cy="384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(11111010.0111) 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(372.34)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897" name="Text Box 37"/>
          <p:cNvSpPr txBox="1"/>
          <p:nvPr/>
        </p:nvSpPr>
        <p:spPr>
          <a:xfrm>
            <a:off x="314325" y="2459038"/>
            <a:ext cx="6172200" cy="3841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rgbClr val="FF0000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(AF.16C) 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转换为八进制数。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7898" name="Text Box 38"/>
          <p:cNvSpPr txBox="1"/>
          <p:nvPr/>
        </p:nvSpPr>
        <p:spPr>
          <a:xfrm>
            <a:off x="1628775" y="2913063"/>
            <a:ext cx="69342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十六进制数    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        F 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1       6       C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215" y="2914650"/>
            <a:ext cx="8413750" cy="1939925"/>
          </a:xfrm>
          <a:prstGeom prst="rect">
            <a:avLst/>
          </a:prstGeom>
        </p:spPr>
      </p:pic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7" grpId="0"/>
      <p:bldP spid="3789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E4507E3-6E30-4630-8E24-2DAD1200E7FD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39939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40" name="Rectangle 2"/>
          <p:cNvSpPr>
            <a:spLocks noGrp="1"/>
          </p:cNvSpPr>
          <p:nvPr>
            <p:ph type="title"/>
          </p:nvPr>
        </p:nvSpPr>
        <p:spPr>
          <a:xfrm>
            <a:off x="466725" y="627063"/>
            <a:ext cx="7772400" cy="514350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）数制转换时小数位数的确定（有效位数的确定）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941" name="Rectangle 3"/>
          <p:cNvSpPr>
            <a:spLocks noGrp="1"/>
          </p:cNvSpPr>
          <p:nvPr>
            <p:ph idx="1"/>
          </p:nvPr>
        </p:nvSpPr>
        <p:spPr>
          <a:xfrm>
            <a:off x="466725" y="1060450"/>
            <a:ext cx="7900035" cy="660400"/>
          </a:xfrm>
          <a:noFill/>
          <a:ln>
            <a:noFill/>
          </a:ln>
        </p:spPr>
        <p:txBody>
          <a:bodyPr/>
          <a:p>
            <a:pPr>
              <a:buNone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 α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进制的小数有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位有效位，转换成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进制后，至少具有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相同精度的小数</a:t>
            </a:r>
            <a:endParaRPr lang="zh-CN" altLang="en-US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None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位，则</a:t>
            </a:r>
            <a:endParaRPr lang="zh-CN" altLang="en-US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942" name="Rectangle 8"/>
          <p:cNvSpPr/>
          <p:nvPr/>
        </p:nvSpPr>
        <p:spPr>
          <a:xfrm>
            <a:off x="3347720" y="1492250"/>
            <a:ext cx="509524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0.1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&gt;=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0.1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确保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最少的有效位数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943" name="Text Box 9"/>
          <p:cNvSpPr txBox="1"/>
          <p:nvPr/>
        </p:nvSpPr>
        <p:spPr>
          <a:xfrm>
            <a:off x="466725" y="1779588"/>
            <a:ext cx="38100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在十进制中可表示为：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9944" name="Group 10"/>
          <p:cNvGrpSpPr/>
          <p:nvPr/>
        </p:nvGrpSpPr>
        <p:grpSpPr>
          <a:xfrm>
            <a:off x="4408488" y="1301750"/>
            <a:ext cx="655637" cy="615950"/>
            <a:chOff x="1536" y="846"/>
            <a:chExt cx="413" cy="517"/>
          </a:xfrm>
        </p:grpSpPr>
        <p:sp>
          <p:nvSpPr>
            <p:cNvPr id="39972" name="Text Box 11"/>
            <p:cNvSpPr txBox="1"/>
            <p:nvPr/>
          </p:nvSpPr>
          <p:spPr>
            <a:xfrm>
              <a:off x="1536" y="1056"/>
              <a:ext cx="384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α</a:t>
              </a:r>
              <a:endPara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73" name="Text Box 12"/>
            <p:cNvSpPr txBox="1"/>
            <p:nvPr/>
          </p:nvSpPr>
          <p:spPr>
            <a:xfrm>
              <a:off x="1565" y="846"/>
              <a:ext cx="384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k</a:t>
              </a:r>
              <a:endParaRPr lang="en-US" altLang="zh-CN" sz="1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39945" name="Group 13"/>
          <p:cNvGrpSpPr/>
          <p:nvPr/>
        </p:nvGrpSpPr>
        <p:grpSpPr>
          <a:xfrm>
            <a:off x="5672138" y="1352550"/>
            <a:ext cx="473075" cy="642938"/>
            <a:chOff x="3151" y="823"/>
            <a:chExt cx="396" cy="540"/>
          </a:xfrm>
        </p:grpSpPr>
        <p:sp>
          <p:nvSpPr>
            <p:cNvPr id="39970" name="Text Box 14"/>
            <p:cNvSpPr txBox="1"/>
            <p:nvPr/>
          </p:nvSpPr>
          <p:spPr>
            <a:xfrm>
              <a:off x="3151" y="1056"/>
              <a:ext cx="384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β</a:t>
              </a:r>
              <a:endParaRPr lang="en-US" altLang="zh-CN" sz="18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71" name="Text Box 15"/>
            <p:cNvSpPr txBox="1"/>
            <p:nvPr/>
          </p:nvSpPr>
          <p:spPr>
            <a:xfrm>
              <a:off x="3163" y="823"/>
              <a:ext cx="384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j</a:t>
              </a:r>
              <a:endPara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39946" name="Group 16"/>
          <p:cNvGrpSpPr/>
          <p:nvPr/>
        </p:nvGrpSpPr>
        <p:grpSpPr>
          <a:xfrm>
            <a:off x="4238625" y="2025650"/>
            <a:ext cx="1143000" cy="687388"/>
            <a:chOff x="1008" y="2666"/>
            <a:chExt cx="720" cy="577"/>
          </a:xfrm>
        </p:grpSpPr>
        <p:sp>
          <p:nvSpPr>
            <p:cNvPr id="39966" name="Text Box 17"/>
            <p:cNvSpPr txBox="1"/>
            <p:nvPr/>
          </p:nvSpPr>
          <p:spPr>
            <a:xfrm>
              <a:off x="1126" y="2666"/>
              <a:ext cx="19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9967" name="Text Box 18"/>
            <p:cNvSpPr txBox="1"/>
            <p:nvPr/>
          </p:nvSpPr>
          <p:spPr>
            <a:xfrm>
              <a:off x="1125" y="2936"/>
              <a:ext cx="365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C00000"/>
                  </a:solidFill>
                  <a:latin typeface="Times New Roman" panose="02020603050405020304" pitchFamily="18" charset="0"/>
                </a:rPr>
                <a:t>α</a:t>
              </a:r>
              <a:endPara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68" name="Text Box 19"/>
            <p:cNvSpPr txBox="1"/>
            <p:nvPr/>
          </p:nvSpPr>
          <p:spPr>
            <a:xfrm>
              <a:off x="1008" y="2784"/>
              <a:ext cx="720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</a:t>
              </a: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—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9969" name="Text Box 20"/>
            <p:cNvSpPr txBox="1"/>
            <p:nvPr/>
          </p:nvSpPr>
          <p:spPr>
            <a:xfrm>
              <a:off x="1392" y="2678"/>
              <a:ext cx="240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k</a:t>
              </a:r>
              <a:endParaRPr lang="en-US" altLang="zh-CN" sz="1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39947" name="Text Box 21"/>
          <p:cNvSpPr txBox="1"/>
          <p:nvPr/>
        </p:nvSpPr>
        <p:spPr>
          <a:xfrm>
            <a:off x="5364163" y="2211388"/>
            <a:ext cx="720725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&gt;=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9948" name="Group 22"/>
          <p:cNvGrpSpPr/>
          <p:nvPr/>
        </p:nvGrpSpPr>
        <p:grpSpPr>
          <a:xfrm>
            <a:off x="6146800" y="2070100"/>
            <a:ext cx="1143000" cy="636698"/>
            <a:chOff x="1008" y="2666"/>
            <a:chExt cx="720" cy="477"/>
          </a:xfrm>
        </p:grpSpPr>
        <p:sp>
          <p:nvSpPr>
            <p:cNvPr id="39962" name="Text Box 25"/>
            <p:cNvSpPr txBox="1"/>
            <p:nvPr/>
          </p:nvSpPr>
          <p:spPr>
            <a:xfrm>
              <a:off x="1008" y="2784"/>
              <a:ext cx="720" cy="2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</a:t>
              </a: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—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)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9963" name="Text Box 23"/>
            <p:cNvSpPr txBox="1"/>
            <p:nvPr/>
          </p:nvSpPr>
          <p:spPr>
            <a:xfrm>
              <a:off x="1126" y="2666"/>
              <a:ext cx="192" cy="27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9964" name="Text Box 24"/>
            <p:cNvSpPr txBox="1"/>
            <p:nvPr/>
          </p:nvSpPr>
          <p:spPr>
            <a:xfrm>
              <a:off x="1116" y="2867"/>
              <a:ext cx="288" cy="27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β</a:t>
              </a:r>
              <a:endParaRPr lang="en-US" altLang="zh-CN" sz="1800" b="1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65" name="Text Box 26"/>
            <p:cNvSpPr txBox="1"/>
            <p:nvPr/>
          </p:nvSpPr>
          <p:spPr>
            <a:xfrm>
              <a:off x="1392" y="2678"/>
              <a:ext cx="240" cy="27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j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39949" name="Text Box 27"/>
          <p:cNvSpPr txBox="1"/>
          <p:nvPr/>
        </p:nvSpPr>
        <p:spPr>
          <a:xfrm>
            <a:off x="692150" y="2711450"/>
            <a:ext cx="5391150" cy="1049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                        </a:t>
            </a:r>
            <a:r>
              <a:rPr lang="en-US" altLang="zh-CN" sz="1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1800" baseline="30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=&lt;  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</a:t>
            </a:r>
            <a:endParaRPr lang="en-US" altLang="zh-CN" sz="1800" b="1" baseline="30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两边取对数                ㏒</a:t>
            </a:r>
            <a:r>
              <a:rPr lang="zh-CN" altLang="en-US" sz="1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1800" baseline="300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=&lt; ㏒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en-US" altLang="zh-CN" sz="1800" b="1" baseline="30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    </a:t>
            </a:r>
            <a:endParaRPr lang="en-US" altLang="zh-CN" sz="1800" b="1" baseline="30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                        </a:t>
            </a:r>
            <a:r>
              <a:rPr lang="en-US" altLang="zh-CN" sz="1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㏒ </a:t>
            </a:r>
            <a:r>
              <a:rPr lang="en-US" altLang="zh-CN" sz="1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α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=&lt;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㏒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β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                           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950" name="Text Box 28"/>
          <p:cNvSpPr txBox="1"/>
          <p:nvPr/>
        </p:nvSpPr>
        <p:spPr>
          <a:xfrm>
            <a:off x="396240" y="4445000"/>
            <a:ext cx="44958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应满足不等式的整数：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39951" name="Group 29"/>
          <p:cNvGrpSpPr/>
          <p:nvPr/>
        </p:nvGrpSpPr>
        <p:grpSpPr>
          <a:xfrm>
            <a:off x="1600200" y="3600450"/>
            <a:ext cx="2514600" cy="719138"/>
            <a:chOff x="1344" y="2688"/>
            <a:chExt cx="1200" cy="604"/>
          </a:xfrm>
        </p:grpSpPr>
        <p:sp>
          <p:nvSpPr>
            <p:cNvPr id="39959" name="Text Box 32"/>
            <p:cNvSpPr txBox="1"/>
            <p:nvPr/>
          </p:nvSpPr>
          <p:spPr>
            <a:xfrm>
              <a:off x="1344" y="2784"/>
              <a:ext cx="1200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j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&gt;= k </a:t>
              </a: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——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9960" name="Text Box 30"/>
            <p:cNvSpPr txBox="1"/>
            <p:nvPr/>
          </p:nvSpPr>
          <p:spPr>
            <a:xfrm>
              <a:off x="1824" y="2688"/>
              <a:ext cx="67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㏒ </a:t>
              </a:r>
              <a:r>
                <a:rPr lang="en-US" altLang="zh-CN" sz="18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α</a:t>
              </a:r>
              <a:endParaRPr lang="en-US" altLang="zh-CN" sz="1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9961" name="Text Box 31"/>
            <p:cNvSpPr txBox="1"/>
            <p:nvPr/>
          </p:nvSpPr>
          <p:spPr>
            <a:xfrm>
              <a:off x="1824" y="2985"/>
              <a:ext cx="67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㏒ </a:t>
              </a:r>
              <a:r>
                <a:rPr lang="en-US" altLang="zh-CN" sz="18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β</a:t>
              </a:r>
              <a:endParaRPr lang="en-US" altLang="zh-CN" sz="1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39952" name="Group 33"/>
          <p:cNvGrpSpPr/>
          <p:nvPr/>
        </p:nvGrpSpPr>
        <p:grpSpPr>
          <a:xfrm>
            <a:off x="3347613" y="4300538"/>
            <a:ext cx="4076278" cy="719137"/>
            <a:chOff x="3025" y="3600"/>
            <a:chExt cx="2666" cy="604"/>
          </a:xfrm>
        </p:grpSpPr>
        <p:sp>
          <p:nvSpPr>
            <p:cNvPr id="39954" name="Text Box 36"/>
            <p:cNvSpPr txBox="1"/>
            <p:nvPr/>
          </p:nvSpPr>
          <p:spPr>
            <a:xfrm>
              <a:off x="3025" y="3745"/>
              <a:ext cx="2666" cy="30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k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——</a:t>
              </a:r>
              <a:r>
                <a:rPr lang="en-US" altLang="zh-CN" sz="18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≤ </a:t>
              </a:r>
              <a:r>
                <a:rPr lang="en-US" altLang="zh-CN" sz="1800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j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&lt; k </a:t>
              </a:r>
              <a:r>
                <a:rPr lang="en-US" altLang="zh-CN" sz="1800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——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+ 1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9955" name="Text Box 34"/>
            <p:cNvSpPr txBox="1"/>
            <p:nvPr/>
          </p:nvSpPr>
          <p:spPr>
            <a:xfrm>
              <a:off x="3120" y="3600"/>
              <a:ext cx="67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㏒ </a:t>
              </a:r>
              <a:r>
                <a:rPr lang="en-US" altLang="zh-CN" sz="18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α</a:t>
              </a:r>
              <a:endParaRPr lang="en-US" altLang="zh-CN" sz="1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9956" name="Text Box 35"/>
            <p:cNvSpPr txBox="1"/>
            <p:nvPr/>
          </p:nvSpPr>
          <p:spPr>
            <a:xfrm>
              <a:off x="3120" y="3897"/>
              <a:ext cx="67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㏒ </a:t>
              </a:r>
              <a:r>
                <a:rPr lang="en-US" altLang="zh-CN" sz="18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β</a:t>
              </a:r>
              <a:endParaRPr lang="en-US" altLang="zh-CN" sz="1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9957" name="Text Box 37"/>
            <p:cNvSpPr txBox="1"/>
            <p:nvPr/>
          </p:nvSpPr>
          <p:spPr>
            <a:xfrm>
              <a:off x="4320" y="3600"/>
              <a:ext cx="67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㏒ </a:t>
              </a:r>
              <a:r>
                <a:rPr lang="en-US" altLang="zh-CN" sz="18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α</a:t>
              </a:r>
              <a:endParaRPr lang="en-US" altLang="zh-CN" sz="1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9958" name="Text Box 38"/>
            <p:cNvSpPr txBox="1"/>
            <p:nvPr/>
          </p:nvSpPr>
          <p:spPr>
            <a:xfrm>
              <a:off x="4320" y="3897"/>
              <a:ext cx="67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㏒ </a:t>
              </a:r>
              <a:r>
                <a:rPr lang="en-US" altLang="zh-CN" sz="18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β</a:t>
              </a:r>
              <a:endParaRPr lang="en-US" altLang="zh-CN" sz="1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39953" name="Text Box 39"/>
          <p:cNvSpPr txBox="1"/>
          <p:nvPr/>
        </p:nvSpPr>
        <p:spPr>
          <a:xfrm>
            <a:off x="4276725" y="3819525"/>
            <a:ext cx="42672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取最小的整数）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E03F77CE-EE68-4434-9ACF-BCDCD1855309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1987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88" name="Rectangle 3"/>
          <p:cNvSpPr>
            <a:spLocks noGrp="1"/>
          </p:cNvSpPr>
          <p:nvPr>
            <p:ph type="title"/>
          </p:nvPr>
        </p:nvSpPr>
        <p:spPr>
          <a:xfrm>
            <a:off x="645795" y="741680"/>
            <a:ext cx="8170545" cy="742950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12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例：将</a:t>
            </a: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(0.4321)</a:t>
            </a:r>
            <a:r>
              <a:rPr lang="en-US" altLang="zh-CN" sz="20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转换成十六进制时，小数位数应取几位？</a:t>
            </a:r>
            <a:endParaRPr lang="zh-CN" altLang="en-US" sz="2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41989" name="Group 38"/>
          <p:cNvGrpSpPr/>
          <p:nvPr/>
        </p:nvGrpSpPr>
        <p:grpSpPr>
          <a:xfrm>
            <a:off x="2720975" y="1985963"/>
            <a:ext cx="5495925" cy="750887"/>
            <a:chOff x="1488" y="1427"/>
            <a:chExt cx="3513" cy="630"/>
          </a:xfrm>
        </p:grpSpPr>
        <p:sp>
          <p:nvSpPr>
            <p:cNvPr id="41993" name="Text Box 30"/>
            <p:cNvSpPr txBox="1"/>
            <p:nvPr/>
          </p:nvSpPr>
          <p:spPr>
            <a:xfrm>
              <a:off x="1776" y="1427"/>
              <a:ext cx="703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㏒ 10</a:t>
              </a:r>
              <a:endPara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1994" name="Text Box 31"/>
            <p:cNvSpPr txBox="1"/>
            <p:nvPr/>
          </p:nvSpPr>
          <p:spPr>
            <a:xfrm>
              <a:off x="1776" y="1724"/>
              <a:ext cx="703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㏒ 16</a:t>
              </a:r>
              <a:endPara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1995" name="Text Box 32"/>
            <p:cNvSpPr txBox="1"/>
            <p:nvPr/>
          </p:nvSpPr>
          <p:spPr>
            <a:xfrm>
              <a:off x="1488" y="1545"/>
              <a:ext cx="3513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———</a:t>
              </a: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≤ </a:t>
              </a:r>
              <a:r>
                <a:rPr lang="en-US" altLang="zh-CN" b="1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j</a:t>
              </a: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&lt;  4  </a:t>
              </a:r>
              <a:r>
                <a: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———</a:t>
              </a: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+ 1</a:t>
              </a:r>
              <a:endPara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1996" name="Text Box 33"/>
            <p:cNvSpPr txBox="1"/>
            <p:nvPr/>
          </p:nvSpPr>
          <p:spPr>
            <a:xfrm>
              <a:off x="3401" y="1427"/>
              <a:ext cx="703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㏒ </a:t>
              </a:r>
              <a:r>
                <a:rPr lang="en-US" altLang="zh-CN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10</a:t>
              </a:r>
              <a:endPara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1997" name="Text Box 34"/>
            <p:cNvSpPr txBox="1"/>
            <p:nvPr/>
          </p:nvSpPr>
          <p:spPr>
            <a:xfrm>
              <a:off x="3401" y="1724"/>
              <a:ext cx="703" cy="33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㏒ </a:t>
              </a:r>
              <a:r>
                <a:rPr lang="en-US" altLang="zh-CN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16</a:t>
              </a:r>
              <a:endPara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41990" name="Rectangle 35"/>
          <p:cNvSpPr>
            <a:spLocks noGrp="1"/>
          </p:cNvSpPr>
          <p:nvPr>
            <p:ph idx="1"/>
          </p:nvPr>
        </p:nvSpPr>
        <p:spPr>
          <a:xfrm>
            <a:off x="1196975" y="1573213"/>
            <a:ext cx="7332663" cy="392112"/>
          </a:xfrm>
          <a:noFill/>
          <a:ln>
            <a:noFill/>
          </a:ln>
        </p:spPr>
        <p:txBody>
          <a:bodyPr/>
          <a:p>
            <a:pPr eaLnBrk="1" hangingPunct="1">
              <a:spcBef>
                <a:spcPct val="50000"/>
              </a:spcBef>
              <a:buNone/>
            </a:pPr>
            <a:r>
              <a:rPr lang="en-US" altLang="zh-CN" sz="2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应满足下列不等式：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991" name="Text Box 36"/>
          <p:cNvSpPr txBox="1"/>
          <p:nvPr/>
        </p:nvSpPr>
        <p:spPr>
          <a:xfrm>
            <a:off x="1196975" y="2798763"/>
            <a:ext cx="517842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             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3.320 ≤ </a:t>
            </a:r>
            <a:r>
              <a:rPr lang="en-US" altLang="zh-CN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</a:t>
            </a:r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&lt;  4.320</a:t>
            </a:r>
            <a:endParaRPr lang="en-US" altLang="zh-CN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992" name="Text Box 37"/>
          <p:cNvSpPr txBox="1"/>
          <p:nvPr/>
        </p:nvSpPr>
        <p:spPr>
          <a:xfrm>
            <a:off x="1196975" y="3341688"/>
            <a:ext cx="4670425" cy="3952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所以，小数位数应取</a:t>
            </a:r>
            <a:r>
              <a:rPr lang="en-US" altLang="zh-CN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位。</a:t>
            </a:r>
            <a:endParaRPr lang="zh-CN" altLang="en-US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Text Box 37"/>
          <p:cNvSpPr txBox="1"/>
          <p:nvPr/>
        </p:nvSpPr>
        <p:spPr>
          <a:xfrm>
            <a:off x="1180465" y="4186238"/>
            <a:ext cx="4670425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数制转换总是会考试的，请大家掌握好。</a:t>
            </a:r>
            <a:endParaRPr lang="zh-CN" altLang="en-US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build="allAtOnce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D08ABD4-BDB3-4D88-953F-C142E95A8E50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3011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2" name="Rectangle 3"/>
          <p:cNvSpPr>
            <a:spLocks noGrp="1"/>
          </p:cNvSpPr>
          <p:nvPr>
            <p:ph type="title"/>
          </p:nvPr>
        </p:nvSpPr>
        <p:spPr>
          <a:xfrm>
            <a:off x="165100" y="658813"/>
            <a:ext cx="7620000" cy="628650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1.2.2  </a:t>
            </a:r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数的表示及其运算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013" name="Rectangle 10"/>
          <p:cNvSpPr>
            <a:spLocks noGrp="1"/>
          </p:cNvSpPr>
          <p:nvPr>
            <p:ph idx="1"/>
          </p:nvPr>
        </p:nvSpPr>
        <p:spPr>
          <a:xfrm>
            <a:off x="532130" y="1135380"/>
            <a:ext cx="7850505" cy="1887220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100000"/>
              </a:lnSpc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数的小数点的表示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小数点的位置在计算机中是怎样表示的呢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?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实际上，小数点在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计算机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中并不存在，它只是人们约定的一个位置。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计算机中表示小数点位置的方法通常有两种：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一种是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定点表示法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；另一种是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浮点表示法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1990" name="Rectangle 85"/>
          <p:cNvSpPr/>
          <p:nvPr/>
        </p:nvSpPr>
        <p:spPr>
          <a:xfrm>
            <a:off x="478155" y="3022600"/>
            <a:ext cx="8345805" cy="175387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宋体" panose="02010600030101010101" pitchFamily="2" charset="-122"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1) 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数的定点表示法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所谓定点表示法，在计算机中数的小数点位置是固定的，一般固定在数的最高（有效）位之前或数的最低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（有效）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位之后。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即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采用定点小数表示法；或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定点整数表示法。</a:t>
            </a:r>
            <a:endParaRPr lang="zh-CN" altLang="en-US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1" hangingPunct="1">
              <a:lnSpc>
                <a:spcPct val="110000"/>
              </a:lnSpc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通常将小数点约定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在符号位之后、最高有效位之前，即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定点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小数表示法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2AFFEC0-F4B8-45E5-9221-E58A4F1246D0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4035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2" name="Rectangle 3"/>
          <p:cNvSpPr>
            <a:spLocks noGrp="1"/>
          </p:cNvSpPr>
          <p:nvPr>
            <p:ph idx="1"/>
          </p:nvPr>
        </p:nvSpPr>
        <p:spPr>
          <a:xfrm>
            <a:off x="190500" y="498475"/>
            <a:ext cx="8042275" cy="2159000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但实际处理的数可能既有整数部分，又有小数部分。这就需要选取比例因子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对数值进行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规格化处理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。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 eaLnBrk="1" hangingPunct="1">
              <a:lnSpc>
                <a:spcPct val="120000"/>
              </a:lnSpc>
              <a:spcBef>
                <a:spcPts val="600"/>
              </a:spcBef>
              <a:buClrTx/>
              <a:buSzTx/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假设某计算机的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字长（Word）为8个二进制位（简称8位）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，规定最高位用来表示数的正、负号，其余7位表示数值。现有一组二进制数：1101.01、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 eaLnBrk="1" hangingPunct="1">
              <a:lnSpc>
                <a:spcPct val="120000"/>
              </a:lnSpc>
              <a:spcBef>
                <a:spcPts val="600"/>
              </a:spcBef>
              <a:buClrTx/>
              <a:buSzTx/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-100.111和1110.1，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若用定点整数表示，可选取比例因子2</a:t>
            </a:r>
            <a:r>
              <a:rPr lang="zh-CN" altLang="en-US" sz="1800" baseline="30000" dirty="0">
                <a:solidFill>
                  <a:srgbClr val="FF0000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，并用该比例因子乘上述各数，可得：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3013" name="Rectangle 4"/>
          <p:cNvSpPr/>
          <p:nvPr/>
        </p:nvSpPr>
        <p:spPr>
          <a:xfrm>
            <a:off x="1143953" y="2637790"/>
            <a:ext cx="6562725" cy="22891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1101.01×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baseline="40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 1101010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-100.111×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baseline="40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 -0100111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1110.1×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2</a:t>
            </a:r>
            <a:r>
              <a:rPr lang="en-US" altLang="zh-CN" sz="1800" baseline="40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= 1110100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它们在机器中的表示形式为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原码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符号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二进制数值形式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：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1    1    0    1    0    1    0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0    l    0    0    1    1    1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1" hangingPunct="1">
              <a:spcBef>
                <a:spcPct val="2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1    1    1    0    1    0    0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0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30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3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30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3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30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30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30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30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30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30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30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0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0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30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30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8E5F7D1-48E6-4FE9-AD06-2F9601DD049D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5059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36" name="Rectangle 3"/>
          <p:cNvSpPr>
            <a:spLocks noGrp="1"/>
          </p:cNvSpPr>
          <p:nvPr>
            <p:ph idx="1"/>
          </p:nvPr>
        </p:nvSpPr>
        <p:spPr>
          <a:xfrm>
            <a:off x="542925" y="515938"/>
            <a:ext cx="7569200" cy="4203700"/>
          </a:xfrm>
          <a:noFill/>
          <a:ln>
            <a:noFill/>
          </a:ln>
        </p:spPr>
        <p:txBody>
          <a:bodyPr/>
          <a:p>
            <a:pPr eaLnBrk="1" hangingPunct="1">
              <a:buNone/>
            </a:pP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buNone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若要用定点小数表示，则可选取比例因子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baseline="40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-4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，可得</a:t>
            </a:r>
            <a:endParaRPr lang="zh-CN" altLang="en-US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buNone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1101.01 × 2</a:t>
            </a:r>
            <a:r>
              <a:rPr lang="en-US" altLang="zh-CN" sz="1800" baseline="40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-4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 0.110101           </a:t>
            </a:r>
            <a:endParaRPr lang="en-US" altLang="zh-CN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-100.111 × 2</a:t>
            </a:r>
            <a:r>
              <a:rPr lang="en-US" altLang="zh-CN" sz="1800" baseline="40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-4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 -0.</a:t>
            </a:r>
            <a:r>
              <a:rPr lang="en-US" altLang="zh-CN" sz="1800" dirty="0">
                <a:solidFill>
                  <a:srgbClr val="FF0000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100111</a:t>
            </a:r>
            <a:endParaRPr lang="en-US" altLang="zh-CN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buNone/>
            </a:pP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1110.1 × 2</a:t>
            </a:r>
            <a:r>
              <a:rPr lang="en-US" altLang="zh-CN" sz="1800" baseline="40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-4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 0.11101</a:t>
            </a:r>
            <a:endParaRPr lang="en-US" altLang="zh-CN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若采用原码方式，它们在机器中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</a:t>
            </a:r>
            <a:r>
              <a:rPr lang="zh-CN" altLang="en-US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假设字长为</a:t>
            </a:r>
            <a:r>
              <a:rPr lang="en-US" altLang="zh-CN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8</a:t>
            </a:r>
            <a:r>
              <a:rPr lang="zh-CN" altLang="en-US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位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）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的表示形式为</a:t>
            </a:r>
            <a:r>
              <a:rPr lang="zh-CN" altLang="en-US" dirty="0"/>
              <a:t>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1    1    0    1    0    l    0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0    1    0    0    l    1    1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1    1    1    0    l    0    0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0" hangingPunct="1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 数的浮点表示法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所谓浮点表示法，就是计算机中数的小数点位置不是固定的，而是浮动的。因而，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必须在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计算机中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表示出小数点位置的浮动情况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40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0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40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40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0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0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0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0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40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40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40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40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40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40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40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40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40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40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403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403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CDB6E9F-B052-4E15-9A1B-06F8FA0E42FB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6083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60" name="Rectangle 3"/>
          <p:cNvSpPr>
            <a:spLocks noGrp="1"/>
          </p:cNvSpPr>
          <p:nvPr>
            <p:ph idx="1"/>
          </p:nvPr>
        </p:nvSpPr>
        <p:spPr>
          <a:xfrm>
            <a:off x="395605" y="278765"/>
            <a:ext cx="8547735" cy="4766310"/>
          </a:xfrm>
          <a:noFill/>
          <a:ln>
            <a:noFill/>
          </a:ln>
        </p:spPr>
        <p:txBody>
          <a:bodyPr/>
          <a:p>
            <a:pPr eaLnBrk="1" hangingPunct="1">
              <a:buNone/>
            </a:pP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在数学中，我们学过数值的“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记阶表示法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也称“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科学表示法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科学计数法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一般说来，十进制数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可表示为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N=10</a:t>
            </a:r>
            <a:r>
              <a:rPr lang="en-US" altLang="zh-CN" sz="18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J</a:t>
            </a:r>
            <a:r>
              <a:rPr lang="zh-CN" altLang="zh-CN" sz="18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x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其中，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J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是整数，称为阶码；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为小数，称为尾数。显然，</a:t>
            </a:r>
            <a:r>
              <a:rPr lang="zh-CN" altLang="en-US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只要有</a:t>
            </a:r>
            <a:r>
              <a:rPr lang="en-US" altLang="zh-CN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J</a:t>
            </a:r>
            <a:r>
              <a:rPr lang="zh-CN" altLang="en-US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，即可表示出</a:t>
            </a:r>
            <a:r>
              <a:rPr lang="en-US" altLang="zh-CN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的值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None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例如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，十进制数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2.537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可表示为：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2.537 = </a:t>
            </a:r>
            <a:r>
              <a:rPr lang="en-US" altLang="zh-CN" sz="18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baseline="300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lang="en-US" altLang="zh-CN" sz="18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×</a:t>
            </a:r>
            <a:r>
              <a:rPr lang="en-US" altLang="zh-CN" sz="1800" baseline="300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0.2537</a:t>
            </a:r>
            <a:endParaRPr lang="en-US" altLang="zh-CN" sz="1800" dirty="0"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        = 10</a:t>
            </a:r>
            <a:r>
              <a:rPr lang="en-US" altLang="zh-CN" sz="18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2 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×</a:t>
            </a:r>
            <a:r>
              <a:rPr lang="en-US" altLang="zh-CN" sz="18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0.02537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而数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0.002 537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也可表示为：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0.002 537 = 10</a:t>
            </a:r>
            <a:r>
              <a:rPr lang="en-US" altLang="zh-CN" sz="18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-1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×</a:t>
            </a:r>
            <a:r>
              <a:rPr lang="en-US" altLang="zh-CN" sz="18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0.02537    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        = </a:t>
            </a:r>
            <a:r>
              <a:rPr lang="en-US" altLang="zh-CN" sz="18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en-US" altLang="zh-CN" sz="1800" baseline="300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-2 </a:t>
            </a:r>
            <a:r>
              <a:rPr lang="en-US" altLang="zh-CN" sz="18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×</a:t>
            </a:r>
            <a:r>
              <a:rPr lang="en-US" altLang="zh-CN" sz="1800" baseline="300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0.2537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同样，二进制数也可用这种方法表示，其中的基数“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10”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是十进制中的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，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0" hangingPunct="1"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(10)</a:t>
            </a:r>
            <a:r>
              <a:rPr lang="en-US" altLang="zh-CN" sz="1800" baseline="-10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=(2)</a:t>
            </a:r>
            <a:r>
              <a:rPr lang="en-US" altLang="zh-CN" sz="1800" baseline="-10000" dirty="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    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0" hangingPunct="1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例如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，二进制数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101.1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10.11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可表示为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101.1=(10)</a:t>
            </a:r>
            <a:r>
              <a:rPr lang="en-US" altLang="zh-CN" sz="1800" baseline="20000" dirty="0">
                <a:latin typeface="黑体" panose="02010609060101010101" pitchFamily="49" charset="-122"/>
                <a:ea typeface="黑体" panose="02010609060101010101" pitchFamily="49" charset="-122"/>
              </a:rPr>
              <a:t>11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× 0.101l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和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10.11=(10)</a:t>
            </a:r>
            <a:r>
              <a:rPr lang="en-US" altLang="zh-CN" sz="1800" baseline="20000" dirty="0">
                <a:latin typeface="黑体" panose="02010609060101010101" pitchFamily="49" charset="-122"/>
                <a:ea typeface="黑体" panose="02010609060101010101" pitchFamily="49" charset="-122"/>
              </a:rPr>
              <a:t>10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× 0.1011   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50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5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50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50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50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50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50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50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50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50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50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50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50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50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50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25B0CC7C-48DD-4131-AACE-05B5F85A11CB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7107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84" name="Rectangle 4"/>
          <p:cNvSpPr>
            <a:spLocks noGrp="1"/>
          </p:cNvSpPr>
          <p:nvPr>
            <p:ph idx="1"/>
          </p:nvPr>
        </p:nvSpPr>
        <p:spPr>
          <a:xfrm>
            <a:off x="532130" y="509270"/>
            <a:ext cx="8049260" cy="4640580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因此，这两个二进制数可用阶码和尾数分开表示为：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101.1  —&gt;  11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 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0.1011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10.11  —&gt;  10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 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0.1011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不难看出，其尾数完全相同，仅阶码不同。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这种用阶码和尾数表示数（值）的方法就是数的浮点表示法。</a:t>
            </a:r>
            <a:endParaRPr lang="zh-CN" altLang="en-US" sz="1800" dirty="0">
              <a:solidFill>
                <a:srgbClr val="FF00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0" hangingPunct="1">
              <a:lnSpc>
                <a:spcPct val="100000"/>
              </a:lnSpc>
              <a:spcBef>
                <a:spcPts val="700"/>
              </a:spcBef>
              <a:spcAft>
                <a:spcPts val="600"/>
              </a:spcAft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表示浮点数时，需将计算机中的一个字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（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Word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）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划分为两部分，其中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一部分表示阶码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另一部分表示尾数，其最高位都定为符号位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latinLnBrk="0" hangingPunct="1">
              <a:lnSpc>
                <a:spcPct val="100000"/>
              </a:lnSpc>
              <a:spcBef>
                <a:spcPts val="700"/>
              </a:spcBef>
              <a:spcAft>
                <a:spcPts val="600"/>
              </a:spcAft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例如，假定计算机的字长为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16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位，字的前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位表示阶码的符号及数值，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后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位表示尾数的符号及数值，如下所示：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按此规定，数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101.1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10.11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的实际表示形式为：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 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0011   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1011000000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寄存器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中：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0011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1011000000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 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0010   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1011000000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；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寄存器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R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中：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0010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1011000000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charRg st="119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charRg st="173" end="2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charRg st="201" end="2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charRg st="228" end="2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charRg st="256" end="2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>
                                            <p:txEl>
                                              <p:charRg st="297" end="3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950AC81-C4DB-4BBC-8970-A3ECFB827A33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8131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32" name="Rectangle 2"/>
          <p:cNvSpPr>
            <a:spLocks noGrp="1"/>
          </p:cNvSpPr>
          <p:nvPr>
            <p:ph type="title"/>
          </p:nvPr>
        </p:nvSpPr>
        <p:spPr>
          <a:xfrm>
            <a:off x="395288" y="626745"/>
            <a:ext cx="7620000" cy="530225"/>
          </a:xfrm>
          <a:noFill/>
          <a:ln>
            <a:noFill/>
          </a:ln>
        </p:spPr>
        <p:txBody>
          <a:bodyPr/>
          <a:p>
            <a:pPr eaLnBrk="1" latinLnBrk="0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zh-CN" sz="1800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带符号数的代码表示及其运算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1800" b="1" i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7109" name="Rectangle 3"/>
          <p:cNvSpPr>
            <a:spLocks noGrp="1"/>
          </p:cNvSpPr>
          <p:nvPr>
            <p:ph idx="1"/>
          </p:nvPr>
        </p:nvSpPr>
        <p:spPr>
          <a:xfrm>
            <a:off x="461963" y="3443288"/>
            <a:ext cx="8305800" cy="1428750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带符号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二进制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的代码表示是指（在计算机中）：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带符号数的数值位和符号位都用统一的代码（编码）形式，即仅取 </a:t>
            </a:r>
            <a:r>
              <a:rPr lang="en-US" altLang="zh-CN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zh-CN" altLang="en-US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和 </a:t>
            </a:r>
            <a:r>
              <a:rPr lang="en-US" altLang="zh-CN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zh-CN" altLang="en-US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两种数字符号表示，并且数值位为二进制数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 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有三种代码表示：原码、反码和补码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61796" name="Group 4"/>
          <p:cNvGraphicFramePr>
            <a:graphicFrameLocks noGrp="1"/>
          </p:cNvGraphicFramePr>
          <p:nvPr/>
        </p:nvGraphicFramePr>
        <p:xfrm>
          <a:off x="497205" y="1171575"/>
          <a:ext cx="6324600" cy="1054735"/>
        </p:xfrm>
        <a:graphic>
          <a:graphicData uri="http://schemas.openxmlformats.org/drawingml/2006/table">
            <a:tbl>
              <a:tblPr/>
              <a:tblGrid>
                <a:gridCol w="1695450"/>
                <a:gridCol w="1123950"/>
                <a:gridCol w="1371600"/>
                <a:gridCol w="2133600"/>
              </a:tblGrid>
              <a:tr h="34798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带符号数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真值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符号位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数值位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675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x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y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</a:t>
                      </a: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－</a:t>
                      </a: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－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2" marB="34282" horzOverflow="overflow">
                    <a:lnL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CC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7127" name="Line 21"/>
          <p:cNvSpPr/>
          <p:nvPr/>
        </p:nvSpPr>
        <p:spPr>
          <a:xfrm flipV="1">
            <a:off x="2711450" y="2228215"/>
            <a:ext cx="0" cy="400050"/>
          </a:xfrm>
          <a:prstGeom prst="line">
            <a:avLst/>
          </a:prstGeom>
          <a:ln w="28575" cap="flat" cmpd="sng">
            <a:solidFill>
              <a:srgbClr val="0D0D0D"/>
            </a:solidFill>
            <a:prstDash val="sysDot"/>
            <a:headEnd type="none" w="med" len="med"/>
            <a:tailEnd type="triangle" w="lg" len="lg"/>
          </a:ln>
        </p:spPr>
      </p:sp>
      <p:sp>
        <p:nvSpPr>
          <p:cNvPr id="47128" name="Text Box 22"/>
          <p:cNvSpPr txBox="1"/>
          <p:nvPr/>
        </p:nvSpPr>
        <p:spPr>
          <a:xfrm>
            <a:off x="723900" y="2616200"/>
            <a:ext cx="7696200" cy="755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带符号（进位计数制）数的真值表示：      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如：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(-111)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是带符号（二进制）数的真值表示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charRg st="0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>
                                            <p:txEl>
                                              <p:charRg st="27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9" grpId="0" uiExpand="1" build="p"/>
      <p:bldP spid="4712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5D87EF0-3502-4F2B-B07F-4ED21827627C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49155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156" name="Rectangle 3"/>
          <p:cNvSpPr>
            <a:spLocks noGrp="1"/>
          </p:cNvSpPr>
          <p:nvPr>
            <p:ph type="title"/>
          </p:nvPr>
        </p:nvSpPr>
        <p:spPr>
          <a:xfrm>
            <a:off x="381000" y="658813"/>
            <a:ext cx="8534400" cy="628650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①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原码（</a:t>
            </a:r>
            <a:r>
              <a:rPr lang="en-US" altLang="zh-CN" sz="18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Ture form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），又称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符号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数值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表示法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157" name="Rectangle 4"/>
          <p:cNvSpPr>
            <a:spLocks noGrp="1"/>
          </p:cNvSpPr>
          <p:nvPr>
            <p:ph idx="1"/>
          </p:nvPr>
        </p:nvSpPr>
        <p:spPr>
          <a:xfrm>
            <a:off x="706438" y="1023938"/>
            <a:ext cx="2655887" cy="419100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130000"/>
              </a:lnSpc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原码的形成规则：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134" name="Text Box 13"/>
          <p:cNvSpPr txBox="1"/>
          <p:nvPr/>
        </p:nvSpPr>
        <p:spPr>
          <a:xfrm>
            <a:off x="609600" y="2565400"/>
            <a:ext cx="8138795" cy="783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二进制代码表示的原码（数据寄存器为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位，或存储器为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位）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 =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     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0000101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y =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     [y]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0000111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135" name="Text Box 28"/>
          <p:cNvSpPr txBox="1"/>
          <p:nvPr/>
        </p:nvSpPr>
        <p:spPr>
          <a:xfrm>
            <a:off x="641350" y="3600450"/>
            <a:ext cx="7675563" cy="1060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由原码写出所对应的十进制数值：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01010101  x =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85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  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11010101  x =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85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01111111  x =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127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 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11111111  x =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127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00000000  x =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   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10000000  x =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8852" name="Group 24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628900" y="1058863"/>
          <a:ext cx="3670300" cy="1220788"/>
        </p:xfrm>
        <a:graphic>
          <a:graphicData uri="http://schemas.openxmlformats.org/drawingml/2006/table">
            <a:tbl>
              <a:tblPr/>
              <a:tblGrid>
                <a:gridCol w="831850"/>
                <a:gridCol w="1419225"/>
                <a:gridCol w="1419225"/>
              </a:tblGrid>
              <a:tr h="58737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真值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x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56" marR="91456" marT="34299" marB="34299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符号位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56" marR="91456" marT="34299" marB="34299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数值位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</a:t>
                      </a: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二进制数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56" marR="91456" marT="34299" marB="34299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33412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原码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[x]</a:t>
                      </a:r>
                      <a:r>
                        <a:rPr kumimoji="1" lang="zh-CN" altLang="en-US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原</a:t>
                      </a:r>
                      <a:endParaRPr kumimoji="1" lang="zh-CN" altLang="en-US" sz="1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56" marR="91456" marT="34299" marB="34299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 →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－ →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 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56" marR="91456" marT="34299" marB="34299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不变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不变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56" marR="91456" marT="34299" marB="34299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2" name="直接连接符 1"/>
          <p:cNvCxnSpPr/>
          <p:nvPr/>
        </p:nvCxnSpPr>
        <p:spPr>
          <a:xfrm flipV="1">
            <a:off x="755015" y="4660265"/>
            <a:ext cx="6337300" cy="82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圆角矩形标注 4"/>
          <p:cNvSpPr/>
          <p:nvPr/>
        </p:nvSpPr>
        <p:spPr>
          <a:xfrm rot="10800000" flipV="1">
            <a:off x="7163435" y="2861945"/>
            <a:ext cx="1715770" cy="845185"/>
          </a:xfrm>
          <a:prstGeom prst="wedgeRoundRectCallout">
            <a:avLst>
              <a:gd name="adj1" fmla="val 63619"/>
              <a:gd name="adj2" fmla="val 162246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注意</a:t>
            </a:r>
            <a:r>
              <a:rPr lang="en-US" altLang="zh-CN">
                <a:solidFill>
                  <a:srgbClr val="FF0000"/>
                </a:solidFill>
              </a:rPr>
              <a:t>“0”</a:t>
            </a:r>
            <a:r>
              <a:rPr lang="zh-CN" altLang="en-US">
                <a:solidFill>
                  <a:srgbClr val="FF0000"/>
                </a:solidFill>
              </a:rPr>
              <a:t>有两种表示法</a:t>
            </a:r>
            <a:r>
              <a:rPr lang="zh-CN" altLang="en-US">
                <a:solidFill>
                  <a:srgbClr val="FF0000"/>
                </a:solidFill>
              </a:rPr>
              <a:t>！</a:t>
            </a:r>
            <a:endParaRPr lang="zh-CN" altLang="en-US"/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4" grpId="0"/>
      <p:bldP spid="48135" grpId="0"/>
      <p:bldP spid="5" grpId="0" bldLvl="0" animBg="1"/>
      <p:bldP spid="5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44E86D9-E115-44E2-A141-074FC27A740A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0179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80" name="Text Box 6"/>
          <p:cNvSpPr txBox="1"/>
          <p:nvPr/>
        </p:nvSpPr>
        <p:spPr>
          <a:xfrm>
            <a:off x="169863" y="712153"/>
            <a:ext cx="8686800" cy="31242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原码的加减法运算规则：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[z]</a:t>
            </a:r>
            <a:r>
              <a:rPr lang="zh-CN" altLang="en-US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 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[y]</a:t>
            </a:r>
            <a:r>
              <a:rPr lang="zh-CN" altLang="en-US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</a:t>
            </a:r>
            <a:endParaRPr lang="zh-CN" altLang="en-US" sz="1800" baseline="-25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181" name="Text Box 25"/>
          <p:cNvSpPr txBox="1"/>
          <p:nvPr/>
        </p:nvSpPr>
        <p:spPr>
          <a:xfrm>
            <a:off x="334010" y="1184275"/>
            <a:ext cx="8252460" cy="7556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、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[y]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符号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相同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时，则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[z]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的符号同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的符号，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[z]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的数值为两加数的数值之和；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182" name="Text Box 26"/>
          <p:cNvSpPr txBox="1"/>
          <p:nvPr/>
        </p:nvSpPr>
        <p:spPr>
          <a:xfrm>
            <a:off x="311150" y="1990725"/>
            <a:ext cx="8313420" cy="7556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、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[y]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符号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不同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，先判断两加数真值的绝对值的大小，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[z]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的符号同绝对值大的数的原码符号，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[z]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的数值为用大数减去小数的差。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159" name="Rectangle 3"/>
          <p:cNvSpPr>
            <a:spLocks noGrp="1"/>
          </p:cNvSpPr>
          <p:nvPr>
            <p:ph type="title"/>
          </p:nvPr>
        </p:nvSpPr>
        <p:spPr>
          <a:xfrm>
            <a:off x="0" y="2874010"/>
            <a:ext cx="6821805" cy="457200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② 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反码（</a:t>
            </a:r>
            <a:r>
              <a:rPr lang="en-US" altLang="zh-CN" sz="18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Negative Number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），又称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的补码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9160" name="Rectangle 4"/>
          <p:cNvSpPr txBox="1"/>
          <p:nvPr/>
        </p:nvSpPr>
        <p:spPr>
          <a:xfrm>
            <a:off x="628650" y="3545840"/>
            <a:ext cx="2798763" cy="4540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1" hangingPunct="1">
              <a:lnSpc>
                <a:spcPct val="13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反码的形成规则：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2" name="Group 4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287395" y="3505200"/>
          <a:ext cx="4885055" cy="1206500"/>
        </p:xfrm>
        <a:graphic>
          <a:graphicData uri="http://schemas.openxmlformats.org/drawingml/2006/table">
            <a:tbl>
              <a:tblPr/>
              <a:tblGrid>
                <a:gridCol w="1270000"/>
                <a:gridCol w="1725930"/>
                <a:gridCol w="1889125"/>
              </a:tblGrid>
              <a:tr h="58801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真值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X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符号位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数值位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</a:t>
                      </a: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二进制数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1849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反码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[x]</a:t>
                      </a:r>
                      <a:r>
                        <a:rPr kumimoji="0" lang="zh-CN" altLang="en-US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反</a:t>
                      </a:r>
                      <a:endParaRPr kumimoji="0" lang="zh-CN" altLang="en-US" sz="18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 →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－ →</a:t>
                      </a: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0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不变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kumimoji="0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按位变反</a:t>
                      </a:r>
                      <a:endParaRPr kumimoji="0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9" grpId="0"/>
      <p:bldP spid="4916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ctangle 4"/>
          <p:cNvSpPr txBox="1">
            <a:spLocks noGrp="1" noChangeArrowheads="1"/>
          </p:cNvSpPr>
          <p:nvPr>
            <p:ph type="dt" sz="half" idx="2"/>
          </p:nvPr>
        </p:nvSpPr>
        <p:spPr>
          <a:xfrm>
            <a:off x="628650" y="4839018"/>
            <a:ext cx="2057400" cy="274638"/>
          </a:xfrm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21A1D3B-957F-4425-A0BA-276E2C7FF055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1203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839018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04" name="Text Box 5"/>
          <p:cNvSpPr txBox="1"/>
          <p:nvPr/>
        </p:nvSpPr>
        <p:spPr>
          <a:xfrm>
            <a:off x="592773" y="555625"/>
            <a:ext cx="7696200" cy="165036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 用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位二进制代码表示的原码、反码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 =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     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0000101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0000101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y =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     [y]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0000111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[y]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1111000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z = 0   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[z]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0000000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[z]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1111111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205" name="Text Box 15"/>
          <p:cNvSpPr txBox="1"/>
          <p:nvPr/>
        </p:nvSpPr>
        <p:spPr>
          <a:xfrm>
            <a:off x="552450" y="2580005"/>
            <a:ext cx="83058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endParaRPr lang="zh-CN" altLang="en-US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182" name="Text Box 16"/>
          <p:cNvSpPr txBox="1"/>
          <p:nvPr/>
        </p:nvSpPr>
        <p:spPr>
          <a:xfrm>
            <a:off x="543878" y="2651443"/>
            <a:ext cx="64008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反码的运算规则：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[z]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[y]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</a:t>
            </a:r>
            <a:endParaRPr lang="zh-CN" altLang="en-US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183" name="Text Box 17"/>
          <p:cNvSpPr txBox="1"/>
          <p:nvPr/>
        </p:nvSpPr>
        <p:spPr>
          <a:xfrm>
            <a:off x="544195" y="3271838"/>
            <a:ext cx="8455025" cy="7556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把符号位看作一位数值位参与运算，一律按加法规则来处理，所得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结果的符号位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也就是正确结果的符号（不出现进位）。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0184" name="Text Box 18"/>
          <p:cNvSpPr txBox="1"/>
          <p:nvPr/>
        </p:nvSpPr>
        <p:spPr>
          <a:xfrm>
            <a:off x="544195" y="4228465"/>
            <a:ext cx="6925310" cy="4235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当符号位产生进位时，将产生的进位加到数值位的最低位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圆角矩形标注 4"/>
          <p:cNvSpPr/>
          <p:nvPr/>
        </p:nvSpPr>
        <p:spPr>
          <a:xfrm>
            <a:off x="7839075" y="807085"/>
            <a:ext cx="1000125" cy="1628775"/>
          </a:xfrm>
          <a:prstGeom prst="wedgeRoundRectCallout">
            <a:avLst>
              <a:gd name="adj1" fmla="val -207460"/>
              <a:gd name="adj2" fmla="val -25906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注意符号要占用一位！</a:t>
            </a:r>
            <a:endParaRPr lang="zh-CN" altLang="en-US"/>
          </a:p>
        </p:txBody>
      </p:sp>
      <p:cxnSp>
        <p:nvCxnSpPr>
          <p:cNvPr id="2" name="直接连接符 1"/>
          <p:cNvCxnSpPr/>
          <p:nvPr/>
        </p:nvCxnSpPr>
        <p:spPr>
          <a:xfrm flipV="1">
            <a:off x="1586865" y="2211705"/>
            <a:ext cx="5864860" cy="431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圆角矩形标注 2"/>
          <p:cNvSpPr/>
          <p:nvPr/>
        </p:nvSpPr>
        <p:spPr>
          <a:xfrm rot="10800000" flipV="1">
            <a:off x="5905500" y="2445385"/>
            <a:ext cx="1857375" cy="702945"/>
          </a:xfrm>
          <a:prstGeom prst="wedgeRoundRectCallout">
            <a:avLst>
              <a:gd name="adj1" fmla="val 11025"/>
              <a:gd name="adj2" fmla="val -82881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FF0000"/>
                </a:solidFill>
              </a:rPr>
              <a:t>“0”</a:t>
            </a:r>
            <a:r>
              <a:rPr lang="zh-CN" altLang="en-US">
                <a:solidFill>
                  <a:srgbClr val="FF0000"/>
                </a:solidFill>
              </a:rPr>
              <a:t>也</a:t>
            </a:r>
            <a:r>
              <a:rPr lang="zh-CN" altLang="en-US">
                <a:solidFill>
                  <a:srgbClr val="FF0000"/>
                </a:solidFill>
              </a:rPr>
              <a:t>有两种表示法</a:t>
            </a:r>
            <a:r>
              <a:rPr lang="zh-CN" altLang="en-US">
                <a:solidFill>
                  <a:srgbClr val="FF0000"/>
                </a:solidFill>
              </a:rPr>
              <a:t>！</a:t>
            </a:r>
            <a:endParaRPr lang="zh-CN" altLang="en-US"/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2" grpId="0"/>
      <p:bldP spid="50183" grpId="0"/>
      <p:bldP spid="50184" grpId="0"/>
      <p:bldP spid="5" grpId="0" bldLvl="0" animBg="1"/>
      <p:bldP spid="5" grpId="1" animBg="1"/>
      <p:bldP spid="3" grpId="0" bldLvl="0" animBg="1"/>
      <p:bldP spid="3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Rectangle 4"/>
          <p:cNvSpPr txBox="1">
            <a:spLocks noGrp="1" noChangeArrowheads="1"/>
          </p:cNvSpPr>
          <p:nvPr>
            <p:ph type="dt" sz="half" idx="2"/>
          </p:nvPr>
        </p:nvSpPr>
        <p:spPr>
          <a:xfrm>
            <a:off x="915670" y="4767263"/>
            <a:ext cx="2057400" cy="274638"/>
          </a:xfrm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4ED0DD7-42FF-46DB-96AE-98FEED34F21B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2227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74497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28" name="Rectangle 3"/>
          <p:cNvSpPr>
            <a:spLocks noGrp="1"/>
          </p:cNvSpPr>
          <p:nvPr>
            <p:ph type="title"/>
          </p:nvPr>
        </p:nvSpPr>
        <p:spPr>
          <a:xfrm>
            <a:off x="549275" y="659765"/>
            <a:ext cx="8534400" cy="628650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③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补码（</a:t>
            </a:r>
            <a:r>
              <a:rPr lang="en-US" altLang="zh-CN" sz="20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complement number</a:t>
            </a:r>
            <a:r>
              <a:rPr lang="zh-CN" altLang="en-US" sz="20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），又称</a:t>
            </a:r>
            <a:r>
              <a:rPr lang="en-US" altLang="zh-CN" sz="20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en-US" sz="20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en-US" altLang="zh-CN" sz="20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的补码</a:t>
            </a:r>
            <a:r>
              <a:rPr lang="en-US" altLang="zh-CN" sz="20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endParaRPr lang="en-US" altLang="zh-CN" sz="2000" b="1" i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2229" name="Rectangle 4"/>
          <p:cNvSpPr>
            <a:spLocks noGrp="1"/>
          </p:cNvSpPr>
          <p:nvPr>
            <p:ph idx="1"/>
          </p:nvPr>
        </p:nvSpPr>
        <p:spPr>
          <a:xfrm>
            <a:off x="515620" y="1228725"/>
            <a:ext cx="2859088" cy="455613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130000"/>
              </a:lnSpc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补码的形成规则：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206" name="Text Box 5"/>
          <p:cNvSpPr txBox="1"/>
          <p:nvPr/>
        </p:nvSpPr>
        <p:spPr>
          <a:xfrm>
            <a:off x="466408" y="3027363"/>
            <a:ext cx="7696200" cy="16135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7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 用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位二进制代码表示的原码、补码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 = 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     [x]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0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0000101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[x]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0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0000101</a:t>
            </a:r>
            <a:endParaRPr lang="en-US" altLang="zh-CN" sz="1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y = 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     [y]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0000111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[y]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1111001</a:t>
            </a:r>
            <a:endParaRPr lang="en-US" altLang="zh-CN" sz="1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z = 0       [y]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0000000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[z]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00000000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Z=-128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[z]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10000000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2735" name="Group 3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087370" y="1428750"/>
          <a:ext cx="4638675" cy="1428750"/>
        </p:xfrm>
        <a:graphic>
          <a:graphicData uri="http://schemas.openxmlformats.org/drawingml/2006/table">
            <a:tbl>
              <a:tblPr/>
              <a:tblGrid>
                <a:gridCol w="1052513"/>
                <a:gridCol w="1793875"/>
                <a:gridCol w="1792287"/>
              </a:tblGrid>
              <a:tr h="71437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真值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x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27" marR="91427" marT="34290" marB="3429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符号位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27" marR="91427" marT="34290" marB="3429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数值位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</a:t>
                      </a: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二进制数</a:t>
                      </a: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27" marR="91427" marT="34290" marB="3429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1437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补码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[x]</a:t>
                      </a:r>
                      <a:r>
                        <a:rPr kumimoji="1" lang="zh-CN" altLang="en-US" sz="18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补</a:t>
                      </a:r>
                      <a:endParaRPr kumimoji="1" lang="zh-CN" altLang="en-US" sz="18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27" marR="91427" marT="34290" marB="3429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 →</a:t>
                      </a: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－ →</a:t>
                      </a: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27" marR="91427" marT="34290" marB="3429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不变</a:t>
                      </a:r>
                      <a:endParaRPr kumimoji="1" lang="zh-C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按位变反</a:t>
                      </a:r>
                      <a:r>
                        <a:rPr kumimoji="1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+1</a:t>
                      </a:r>
                      <a:endParaRPr kumimoji="1" lang="en-US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27" marR="91427" marT="34290" marB="34290" horzOverflow="overflow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圆角矩形标注 2"/>
          <p:cNvSpPr/>
          <p:nvPr/>
        </p:nvSpPr>
        <p:spPr>
          <a:xfrm rot="10800000" flipV="1">
            <a:off x="7087870" y="3992880"/>
            <a:ext cx="1610995" cy="702945"/>
          </a:xfrm>
          <a:prstGeom prst="wedgeRoundRectCallout">
            <a:avLst>
              <a:gd name="adj1" fmla="val 70512"/>
              <a:gd name="adj2" fmla="val -22990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rgbClr val="FF0000"/>
                </a:solidFill>
              </a:rPr>
              <a:t>“0”</a:t>
            </a:r>
            <a:r>
              <a:rPr lang="zh-CN" altLang="en-US">
                <a:solidFill>
                  <a:srgbClr val="FF0000"/>
                </a:solidFill>
              </a:rPr>
              <a:t>只有一种</a:t>
            </a:r>
            <a:r>
              <a:rPr lang="zh-CN" altLang="en-US">
                <a:solidFill>
                  <a:srgbClr val="FF0000"/>
                </a:solidFill>
              </a:rPr>
              <a:t>表示法</a:t>
            </a:r>
            <a:r>
              <a:rPr lang="zh-CN" altLang="en-US">
                <a:solidFill>
                  <a:srgbClr val="FF0000"/>
                </a:solidFill>
              </a:rPr>
              <a:t>！</a:t>
            </a:r>
            <a:endParaRPr lang="zh-CN" altLang="en-US"/>
          </a:p>
        </p:txBody>
      </p:sp>
      <p:sp>
        <p:nvSpPr>
          <p:cNvPr id="2" name="圆角矩形标注 1"/>
          <p:cNvSpPr/>
          <p:nvPr/>
        </p:nvSpPr>
        <p:spPr>
          <a:xfrm rot="10800000" flipV="1">
            <a:off x="2434590" y="4351655"/>
            <a:ext cx="2131695" cy="614680"/>
          </a:xfrm>
          <a:prstGeom prst="wedgeRoundRectCallout">
            <a:avLst>
              <a:gd name="adj1" fmla="val 103685"/>
              <a:gd name="adj2" fmla="val -22990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多出的</a:t>
            </a:r>
            <a:r>
              <a:rPr lang="en-US" altLang="zh-CN">
                <a:solidFill>
                  <a:srgbClr val="FF0000"/>
                </a:solidFill>
              </a:rPr>
              <a:t>“0”</a:t>
            </a:r>
            <a:r>
              <a:rPr lang="zh-CN" altLang="en-US">
                <a:solidFill>
                  <a:srgbClr val="FF0000"/>
                </a:solidFill>
              </a:rPr>
              <a:t>表示法用于表示</a:t>
            </a:r>
            <a:r>
              <a:rPr lang="en-US" altLang="zh-CN">
                <a:solidFill>
                  <a:srgbClr val="FF0000"/>
                </a:solidFill>
              </a:rPr>
              <a:t>-128</a:t>
            </a:r>
            <a:r>
              <a:rPr lang="zh-CN" altLang="en-US">
                <a:solidFill>
                  <a:srgbClr val="FF0000"/>
                </a:solidFill>
              </a:rPr>
              <a:t>！</a:t>
            </a:r>
            <a:endParaRPr lang="zh-CN" altLang="en-US"/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6" grpId="0"/>
      <p:bldP spid="3" grpId="0" bldLvl="0" animBg="1"/>
      <p:bldP spid="3" grpId="1" animBg="1"/>
      <p:bldP spid="2" grpId="0" bldLvl="0" animBg="1"/>
      <p:bldP spid="2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ctangle 4"/>
          <p:cNvSpPr txBox="1">
            <a:spLocks noGrp="1" noChangeArrowheads="1"/>
          </p:cNvSpPr>
          <p:nvPr>
            <p:ph type="dt" sz="half" idx="2"/>
          </p:nvPr>
        </p:nvSpPr>
        <p:spPr>
          <a:xfrm>
            <a:off x="773113" y="4767263"/>
            <a:ext cx="2057400" cy="274638"/>
          </a:xfrm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002A9D7-47FD-4EFE-B72C-7F1AE7964C45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3251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602413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52" name="Text Box 19"/>
          <p:cNvSpPr txBox="1"/>
          <p:nvPr/>
        </p:nvSpPr>
        <p:spPr>
          <a:xfrm>
            <a:off x="736600" y="598170"/>
            <a:ext cx="6400800" cy="3413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补码的运算规则：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[z]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[y]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endParaRPr lang="zh-CN" altLang="en-US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3253" name="Text Box 20"/>
          <p:cNvSpPr txBox="1"/>
          <p:nvPr/>
        </p:nvSpPr>
        <p:spPr>
          <a:xfrm>
            <a:off x="890905" y="1054100"/>
            <a:ext cx="7840980" cy="6654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把符号位看作一位数值位，一律按加法规则来处理，所得结果的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符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号位也就是正确结果的符号。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3254" name="Text Box 21"/>
          <p:cNvSpPr txBox="1"/>
          <p:nvPr/>
        </p:nvSpPr>
        <p:spPr>
          <a:xfrm>
            <a:off x="890588" y="1771333"/>
            <a:ext cx="6583362" cy="339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当符号位产生进位时，将产生的进位丢掉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2231" name="Rectangle 2"/>
          <p:cNvSpPr>
            <a:spLocks noGrp="1"/>
          </p:cNvSpPr>
          <p:nvPr>
            <p:ph type="title"/>
          </p:nvPr>
        </p:nvSpPr>
        <p:spPr>
          <a:xfrm>
            <a:off x="709295" y="2141538"/>
            <a:ext cx="3451225" cy="430212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补码的概念：</a:t>
            </a:r>
            <a:endParaRPr lang="zh-CN" altLang="en-US" sz="2400" b="1" i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2232" name="矩形 16"/>
          <p:cNvSpPr/>
          <p:nvPr/>
        </p:nvSpPr>
        <p:spPr>
          <a:xfrm>
            <a:off x="685800" y="2646998"/>
            <a:ext cx="8278813" cy="22942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由于补码加、减运算的简便性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，导致了它在计算机中被广泛应用，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为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了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理解补码，有必要对补码的本质做进一步的说明。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800" u="sng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从数学上讲，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补码与其真值</a:t>
            </a:r>
            <a:r>
              <a:rPr lang="zh-CN" altLang="en-US" sz="1800" u="sng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构成了一个以某一值</a:t>
            </a:r>
            <a:r>
              <a:rPr lang="en-US" altLang="zh-CN" sz="1800" u="sng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u="sng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由计算机字长或其</a:t>
            </a:r>
            <a:endParaRPr lang="zh-CN" altLang="en-US" sz="1800" u="sng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zh-CN" altLang="en-US" sz="1800" u="sng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他规定所决定</a:t>
            </a:r>
            <a:r>
              <a:rPr lang="en-US" altLang="zh-CN" sz="1800" u="sng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1800" u="sng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为模的“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模数系统</a:t>
            </a:r>
            <a:r>
              <a:rPr lang="zh-CN" altLang="en-US" sz="1800" u="sng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”，或者说构成了一个“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同余</a:t>
            </a:r>
            <a:r>
              <a:rPr lang="zh-CN" altLang="en-US" sz="1800" u="sng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”结构的</a:t>
            </a:r>
            <a:endParaRPr lang="zh-CN" altLang="en-US" sz="1800" u="sng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zh-CN" altLang="en-US" sz="1800" u="sng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代数系统。</a:t>
            </a:r>
            <a:endParaRPr lang="en-US" altLang="zh-CN" sz="1800" u="sng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在此基础上，不仅能容易地构成二进制数的各种不同模数的补码，而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且能很容易地构成十进制或任何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进制中的补码。 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1" grpId="0"/>
      <p:bldP spid="5223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3A90896-693F-4F28-AB7C-7EC13739B318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4275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252" name="Rectangle 3"/>
          <p:cNvSpPr>
            <a:spLocks noGrp="1"/>
          </p:cNvSpPr>
          <p:nvPr>
            <p:ph idx="1"/>
          </p:nvPr>
        </p:nvSpPr>
        <p:spPr>
          <a:xfrm>
            <a:off x="450850" y="608330"/>
            <a:ext cx="8064500" cy="4086225"/>
          </a:xfrm>
          <a:noFill/>
          <a:ln>
            <a:noFill/>
          </a:ln>
        </p:spPr>
        <p:txBody>
          <a:bodyPr/>
          <a:p>
            <a:pPr marL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模”或称为“模数”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，就好比一个计量器具的容量，一个计量器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具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就构成了一个模数系统。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例如：我们的指针盘手表可显示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12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个小时，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“12”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就是这个手表的模数，手表也构成一个模为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12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的模数系统。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在模数系统中，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模数减去一个数的值等于该数的补，或称这两个数互补。</a:t>
            </a:r>
            <a:endParaRPr lang="zh-CN" altLang="en-US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例如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12-1=11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我们将</a:t>
            </a:r>
            <a:r>
              <a:rPr lang="en-US" altLang="zh-CN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</a:t>
            </a:r>
            <a:r>
              <a:rPr lang="zh-CN" altLang="en-US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称为</a:t>
            </a:r>
            <a:r>
              <a:rPr lang="en-US" altLang="zh-CN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的补，或称</a:t>
            </a:r>
            <a:r>
              <a:rPr lang="en-US" altLang="zh-CN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</a:t>
            </a:r>
            <a:r>
              <a:rPr lang="zh-CN" altLang="en-US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互补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在模数系统中，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减去一个数就等于加上这个数的补。</a:t>
            </a:r>
            <a:endParaRPr lang="zh-CN" altLang="en-US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例如在手表中，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X-1=X+11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，假如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X=3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，则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X-1=2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而且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X+11=14,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在手表上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14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就是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lang="zh-CN" altLang="en-US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在这里我们也把</a:t>
            </a:r>
            <a:r>
              <a:rPr lang="en-US" altLang="zh-CN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14</a:t>
            </a:r>
            <a:r>
              <a:rPr lang="zh-CN" altLang="en-US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称为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同余数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3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3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3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3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32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32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2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25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32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325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B9CC180B-504B-485A-B5E9-15A8B47E10E3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5299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76" name="Rectangle 3"/>
          <p:cNvSpPr>
            <a:spLocks noGrp="1"/>
          </p:cNvSpPr>
          <p:nvPr>
            <p:ph idx="1"/>
          </p:nvPr>
        </p:nvSpPr>
        <p:spPr>
          <a:xfrm>
            <a:off x="463550" y="546100"/>
            <a:ext cx="8051800" cy="4327525"/>
          </a:xfrm>
          <a:noFill/>
          <a:ln>
            <a:noFill/>
          </a:ln>
        </p:spPr>
        <p:txBody>
          <a:bodyPr/>
          <a:p>
            <a:pPr marL="71755" indent="-172085">
              <a:lnSpc>
                <a:spcPct val="140000"/>
              </a:lnSpc>
              <a:spcBef>
                <a:spcPts val="1200"/>
              </a:spcBef>
              <a:buFontTx/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在二进制的计算机系统中，对于字长为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的机器，它表示正整数的容量是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256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，因为减去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等于加上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255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，所以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255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与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互补，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255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的补，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255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的补，通常称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“-1”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的补码就是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255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，也就是说减去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等于加上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“-1”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的补码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255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。实际上，这是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256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求补。如果对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255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求补，则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的补就是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254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，但是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en-US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这里往往不将</a:t>
            </a:r>
            <a:r>
              <a:rPr lang="en-US" altLang="zh-CN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254</a:t>
            </a:r>
            <a:r>
              <a:rPr lang="zh-CN" altLang="en-US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称为</a:t>
            </a:r>
            <a:r>
              <a:rPr lang="en-US" altLang="zh-CN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“-1”</a:t>
            </a:r>
            <a:r>
              <a:rPr lang="zh-CN" altLang="en-US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的补码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1755" indent="-172085">
              <a:lnSpc>
                <a:spcPct val="140000"/>
              </a:lnSpc>
              <a:spcBef>
                <a:spcPts val="1200"/>
              </a:spcBef>
              <a:buFontTx/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800" u="sng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补码</a:t>
            </a:r>
            <a:r>
              <a:rPr lang="zh-CN" altLang="en-US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是二进制数字系统中带符号数的一种表示方式。</a:t>
            </a:r>
            <a:endParaRPr lang="zh-CN" altLang="en-US" sz="1800" u="sng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1755" indent="-172085">
              <a:lnSpc>
                <a:spcPct val="140000"/>
              </a:lnSpc>
              <a:spcBef>
                <a:spcPts val="1200"/>
              </a:spcBef>
              <a:buFontTx/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在书中，常常也说，</a:t>
            </a:r>
            <a:r>
              <a:rPr lang="en-US" altLang="zh-CN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en-US" altLang="zh-CN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求补是</a:t>
            </a:r>
            <a:r>
              <a:rPr lang="en-US" altLang="zh-CN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1,1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en-US" altLang="zh-CN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求补是</a:t>
            </a:r>
            <a:r>
              <a:rPr lang="en-US" altLang="zh-CN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800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，实际上是求反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对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于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自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补码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求补是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7,7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求补是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，也是求反。所以书中常把求反称为求补就是这个原因。</a:t>
            </a:r>
            <a:r>
              <a:rPr lang="zh-CN" altLang="en-US" sz="1800" u="sng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求补是针对某个模数来说的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lang="zh-CN" altLang="en-US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但</a:t>
            </a:r>
            <a:r>
              <a:rPr lang="zh-CN" altLang="en-US" sz="1800" u="sng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补码</a:t>
            </a:r>
            <a:r>
              <a:rPr lang="zh-CN" altLang="en-US" sz="1800" u="sng" dirty="0">
                <a:latin typeface="黑体" panose="02010609060101010101" pitchFamily="49" charset="-122"/>
                <a:ea typeface="黑体" panose="02010609060101010101" pitchFamily="49" charset="-122"/>
              </a:rPr>
              <a:t>针对的数是二进制系统字长所表示的带符号数的模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42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2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Rectangle 4"/>
          <p:cNvSpPr txBox="1">
            <a:spLocks noGrp="1" noChangeArrowheads="1"/>
          </p:cNvSpPr>
          <p:nvPr>
            <p:ph type="dt" sz="half" idx="2"/>
          </p:nvPr>
        </p:nvSpPr>
        <p:spPr>
          <a:xfrm>
            <a:off x="628650" y="4767580"/>
            <a:ext cx="2057400" cy="274955"/>
          </a:xfrm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1D21C9B-4BA6-4109-98A9-F667BFE4A46E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6323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60146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6324" name="Group 18"/>
          <p:cNvGrpSpPr/>
          <p:nvPr/>
        </p:nvGrpSpPr>
        <p:grpSpPr>
          <a:xfrm>
            <a:off x="3998595" y="2857500"/>
            <a:ext cx="4267200" cy="1028700"/>
            <a:chOff x="3024" y="1008"/>
            <a:chExt cx="2688" cy="864"/>
          </a:xfrm>
        </p:grpSpPr>
        <p:sp>
          <p:nvSpPr>
            <p:cNvPr id="56339" name="Line 19"/>
            <p:cNvSpPr/>
            <p:nvPr/>
          </p:nvSpPr>
          <p:spPr>
            <a:xfrm>
              <a:off x="3606" y="1008"/>
              <a:ext cx="0" cy="86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56340" name="Text Box 20"/>
            <p:cNvSpPr txBox="1"/>
            <p:nvPr/>
          </p:nvSpPr>
          <p:spPr>
            <a:xfrm>
              <a:off x="3024" y="1267"/>
              <a:ext cx="187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 </a:t>
              </a: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不变，数值位</a:t>
              </a: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" name="AutoShape 21"/>
            <p:cNvSpPr/>
            <p:nvPr/>
          </p:nvSpPr>
          <p:spPr>
            <a:xfrm>
              <a:off x="4368" y="1200"/>
              <a:ext cx="96" cy="432"/>
            </a:xfrm>
            <a:prstGeom prst="leftBrace">
              <a:avLst>
                <a:gd name="adj1" fmla="val 37500"/>
                <a:gd name="adj2" fmla="val 50000"/>
              </a:avLst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6342" name="Text Box 22"/>
            <p:cNvSpPr txBox="1"/>
            <p:nvPr/>
          </p:nvSpPr>
          <p:spPr>
            <a:xfrm>
              <a:off x="4512" y="1104"/>
              <a:ext cx="1200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不变</a:t>
              </a: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(S=0)</a:t>
              </a:r>
              <a:endPara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43" name="Text Box 23"/>
            <p:cNvSpPr txBox="1"/>
            <p:nvPr/>
          </p:nvSpPr>
          <p:spPr>
            <a:xfrm>
              <a:off x="4512" y="1440"/>
              <a:ext cx="1200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变反加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1(S=1)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6325" name="Rectangle 2"/>
          <p:cNvSpPr>
            <a:spLocks noGrp="1"/>
          </p:cNvSpPr>
          <p:nvPr>
            <p:ph type="title"/>
          </p:nvPr>
        </p:nvSpPr>
        <p:spPr>
          <a:xfrm>
            <a:off x="613410" y="679133"/>
            <a:ext cx="7772400" cy="685800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原码、反码和补码之间的关系如下图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326" name="Text Box 5"/>
          <p:cNvSpPr txBox="1"/>
          <p:nvPr/>
        </p:nvSpPr>
        <p:spPr>
          <a:xfrm>
            <a:off x="452120" y="2514600"/>
            <a:ext cx="1143000" cy="365125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真值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327" name="Text Box 6"/>
          <p:cNvSpPr txBox="1"/>
          <p:nvPr/>
        </p:nvSpPr>
        <p:spPr>
          <a:xfrm>
            <a:off x="4458970" y="2508250"/>
            <a:ext cx="1066800" cy="3683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[x]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</a:t>
            </a:r>
            <a:endParaRPr lang="zh-CN" altLang="en-US" sz="1800" b="1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328" name="Text Box 7"/>
          <p:cNvSpPr txBox="1"/>
          <p:nvPr/>
        </p:nvSpPr>
        <p:spPr>
          <a:xfrm>
            <a:off x="4387533" y="1143000"/>
            <a:ext cx="1066800" cy="3683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[x]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</a:t>
            </a:r>
            <a:endParaRPr lang="zh-CN" altLang="en-US" sz="1800" b="1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329" name="Text Box 8"/>
          <p:cNvSpPr txBox="1"/>
          <p:nvPr/>
        </p:nvSpPr>
        <p:spPr>
          <a:xfrm>
            <a:off x="4458970" y="3879850"/>
            <a:ext cx="1066800" cy="3683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[x]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endParaRPr lang="zh-CN" altLang="en-US" sz="1800" b="1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6330" name="Group 16"/>
          <p:cNvGrpSpPr/>
          <p:nvPr/>
        </p:nvGrpSpPr>
        <p:grpSpPr>
          <a:xfrm>
            <a:off x="1620520" y="2373630"/>
            <a:ext cx="2838450" cy="783896"/>
            <a:chOff x="1104" y="1728"/>
            <a:chExt cx="2256" cy="660"/>
          </a:xfrm>
        </p:grpSpPr>
        <p:sp>
          <p:nvSpPr>
            <p:cNvPr id="56337" name="Line 9"/>
            <p:cNvSpPr/>
            <p:nvPr/>
          </p:nvSpPr>
          <p:spPr>
            <a:xfrm>
              <a:off x="1104" y="2016"/>
              <a:ext cx="225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56338" name="Text Box 10"/>
            <p:cNvSpPr txBox="1"/>
            <p:nvPr/>
          </p:nvSpPr>
          <p:spPr>
            <a:xfrm>
              <a:off x="1200" y="1728"/>
              <a:ext cx="2064" cy="6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符号＋、－←→</a:t>
              </a: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 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0</a:t>
              </a: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、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数值位不变</a:t>
              </a: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56331" name="Group 17"/>
          <p:cNvGrpSpPr/>
          <p:nvPr/>
        </p:nvGrpSpPr>
        <p:grpSpPr>
          <a:xfrm>
            <a:off x="3998595" y="1485900"/>
            <a:ext cx="4267200" cy="1028700"/>
            <a:chOff x="3024" y="1008"/>
            <a:chExt cx="2688" cy="864"/>
          </a:xfrm>
        </p:grpSpPr>
        <p:sp>
          <p:nvSpPr>
            <p:cNvPr id="56332" name="Text Box 12"/>
            <p:cNvSpPr txBox="1"/>
            <p:nvPr/>
          </p:nvSpPr>
          <p:spPr>
            <a:xfrm>
              <a:off x="3024" y="1267"/>
              <a:ext cx="1872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 </a:t>
              </a: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不变，数值位</a:t>
              </a: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33" name="Line 11"/>
            <p:cNvSpPr/>
            <p:nvPr/>
          </p:nvSpPr>
          <p:spPr>
            <a:xfrm>
              <a:off x="3606" y="1008"/>
              <a:ext cx="0" cy="864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triangle" w="med" len="med"/>
              <a:tailEnd type="triangle" w="med" len="med"/>
            </a:ln>
          </p:spPr>
        </p:sp>
        <p:sp>
          <p:nvSpPr>
            <p:cNvPr id="2" name="AutoShape 13"/>
            <p:cNvSpPr/>
            <p:nvPr/>
          </p:nvSpPr>
          <p:spPr>
            <a:xfrm>
              <a:off x="4368" y="1200"/>
              <a:ext cx="96" cy="432"/>
            </a:xfrm>
            <a:prstGeom prst="leftBrace">
              <a:avLst>
                <a:gd name="adj1" fmla="val 37500"/>
                <a:gd name="adj2" fmla="val 50000"/>
              </a:avLst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56335" name="Text Box 14"/>
            <p:cNvSpPr txBox="1"/>
            <p:nvPr/>
          </p:nvSpPr>
          <p:spPr>
            <a:xfrm>
              <a:off x="4512" y="1104"/>
              <a:ext cx="1200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不变</a:t>
              </a: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(S=0)</a:t>
              </a:r>
              <a:endPara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6336" name="Text Box 15"/>
            <p:cNvSpPr txBox="1"/>
            <p:nvPr/>
          </p:nvSpPr>
          <p:spPr>
            <a:xfrm>
              <a:off x="4512" y="1440"/>
              <a:ext cx="1200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变反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(S=1)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 advTm="25000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6341B354-4A68-47BD-89ED-E971B7B08779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7347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124075" y="4083050"/>
            <a:ext cx="1727200" cy="793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0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7349" name="Rectangle 2"/>
          <p:cNvSpPr>
            <a:spLocks noGrp="1"/>
          </p:cNvSpPr>
          <p:nvPr>
            <p:ph type="title"/>
          </p:nvPr>
        </p:nvSpPr>
        <p:spPr>
          <a:xfrm>
            <a:off x="304800" y="587375"/>
            <a:ext cx="8153400" cy="608013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④带符号数的加、减运算举例</a:t>
            </a:r>
            <a:endParaRPr lang="zh-CN" altLang="en-US" sz="1800" b="1" i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350" name="Rectangle 8"/>
          <p:cNvSpPr>
            <a:spLocks noGrp="1"/>
          </p:cNvSpPr>
          <p:nvPr>
            <p:ph idx="1"/>
          </p:nvPr>
        </p:nvSpPr>
        <p:spPr>
          <a:xfrm>
            <a:off x="685800" y="971550"/>
            <a:ext cx="8153400" cy="571500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120000"/>
              </a:lnSpc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求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z = x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y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 其中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x =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1010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y =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0011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327" name="Text Box 9"/>
          <p:cNvSpPr txBox="1"/>
          <p:nvPr/>
        </p:nvSpPr>
        <p:spPr>
          <a:xfrm>
            <a:off x="685800" y="1431925"/>
            <a:ext cx="7848600" cy="1114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⑴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原码运算：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1010            [y]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0011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∵  x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绝对值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 y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绝对值 </a:t>
            </a:r>
            <a:r>
              <a:rPr lang="en-US" altLang="zh-CN" sz="1800" b="1" i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b="1" i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假如</a:t>
            </a:r>
            <a:r>
              <a:rPr lang="en-US" altLang="zh-CN" sz="1800" b="1" i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x=+0011</a:t>
            </a:r>
            <a:r>
              <a:rPr lang="zh-CN" altLang="en-US" sz="1800" b="1" i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1800" b="1" i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y=-1010</a:t>
            </a:r>
            <a:r>
              <a:rPr lang="zh-CN" altLang="en-US" sz="1800" b="1" i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？</a:t>
            </a:r>
            <a:r>
              <a:rPr lang="en-US" altLang="zh-CN" sz="1800" b="1" i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1800" b="1" i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∴ 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[z]</a:t>
            </a:r>
            <a:r>
              <a:rPr lang="zh-CN" altLang="en-US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=[ 01010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00011]</a:t>
            </a:r>
            <a:r>
              <a:rPr lang="zh-CN" altLang="en-US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00111       z =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0111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6328" name="Text Box 10"/>
          <p:cNvSpPr txBox="1"/>
          <p:nvPr/>
        </p:nvSpPr>
        <p:spPr>
          <a:xfrm>
            <a:off x="685800" y="2830513"/>
            <a:ext cx="8001000" cy="7254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⑵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补码运算：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1010 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       [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[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0011 ]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1101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6329" name="Group 11"/>
          <p:cNvGrpSpPr/>
          <p:nvPr/>
        </p:nvGrpSpPr>
        <p:grpSpPr>
          <a:xfrm>
            <a:off x="989013" y="3587750"/>
            <a:ext cx="4114800" cy="1049338"/>
            <a:chOff x="1008" y="3120"/>
            <a:chExt cx="2592" cy="881"/>
          </a:xfrm>
        </p:grpSpPr>
        <p:sp>
          <p:nvSpPr>
            <p:cNvPr id="57355" name="Text Box 12"/>
            <p:cNvSpPr txBox="1"/>
            <p:nvPr/>
          </p:nvSpPr>
          <p:spPr>
            <a:xfrm>
              <a:off x="1008" y="3120"/>
              <a:ext cx="2592" cy="88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∵           </a:t>
              </a: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1010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      </a:t>
              </a:r>
              <a:r>
                <a:rPr lang="zh-CN" altLang="en-US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＋</a:t>
              </a: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1101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      1 </a:t>
              </a:r>
              <a:r>
                <a:rPr lang="en-US" altLang="zh-CN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0111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" name="Line 13"/>
            <p:cNvSpPr/>
            <p:nvPr/>
          </p:nvSpPr>
          <p:spPr>
            <a:xfrm>
              <a:off x="1581" y="3684"/>
              <a:ext cx="960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20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357" name="Rectangle 14"/>
            <p:cNvSpPr/>
            <p:nvPr/>
          </p:nvSpPr>
          <p:spPr>
            <a:xfrm>
              <a:off x="1812" y="3720"/>
              <a:ext cx="240" cy="240"/>
            </a:xfrm>
            <a:prstGeom prst="rect">
              <a:avLst/>
            </a:prstGeom>
            <a:noFill/>
            <a:ln w="38100" cap="rnd" cmpd="sng">
              <a:solidFill>
                <a:schemeClr val="tx1"/>
              </a:solidFill>
              <a:prstDash val="sysDot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7358" name="Text Box 15"/>
            <p:cNvSpPr txBox="1"/>
            <p:nvPr/>
          </p:nvSpPr>
          <p:spPr>
            <a:xfrm>
              <a:off x="1188" y="3672"/>
              <a:ext cx="768" cy="30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丢掉←</a:t>
              </a:r>
              <a:endPara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56330" name="Text Box 16"/>
          <p:cNvSpPr txBox="1"/>
          <p:nvPr/>
        </p:nvSpPr>
        <p:spPr>
          <a:xfrm>
            <a:off x="4876800" y="3771900"/>
            <a:ext cx="3124200" cy="777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∴ [z]</a:t>
            </a:r>
            <a:r>
              <a:rPr lang="zh-CN" altLang="en-US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补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00111 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z =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0111</a:t>
            </a:r>
            <a:endParaRPr lang="en-US" altLang="zh-CN" sz="1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圆角矩形标注 3"/>
          <p:cNvSpPr/>
          <p:nvPr/>
        </p:nvSpPr>
        <p:spPr>
          <a:xfrm>
            <a:off x="6657975" y="807085"/>
            <a:ext cx="1000125" cy="1628775"/>
          </a:xfrm>
          <a:prstGeom prst="wedgeRoundRectCallout">
            <a:avLst>
              <a:gd name="adj1" fmla="val -384793"/>
              <a:gd name="adj2" fmla="val -2241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注意符号要占用一位！</a:t>
            </a:r>
            <a:endParaRPr lang="zh-CN" altLang="en-US"/>
          </a:p>
        </p:txBody>
      </p:sp>
      <p:sp>
        <p:nvSpPr>
          <p:cNvPr id="5" name="圆角矩形标注 4"/>
          <p:cNvSpPr/>
          <p:nvPr/>
        </p:nvSpPr>
        <p:spPr>
          <a:xfrm>
            <a:off x="7839075" y="807085"/>
            <a:ext cx="1000125" cy="1628775"/>
          </a:xfrm>
          <a:prstGeom prst="wedgeRoundRectCallout">
            <a:avLst>
              <a:gd name="adj1" fmla="val -240222"/>
              <a:gd name="adj2" fmla="val -4035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rgbClr val="FF0000"/>
                </a:solidFill>
              </a:rPr>
              <a:t>注意符号要占用一位！</a:t>
            </a:r>
            <a:endParaRPr lang="zh-CN" altLang="en-US"/>
          </a:p>
        </p:txBody>
      </p:sp>
    </p:spTree>
  </p:cSld>
  <p:clrMapOvr>
    <a:masterClrMapping/>
  </p:clrMapOvr>
  <p:transition advTm="2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6327" grpId="0"/>
      <p:bldP spid="56328" grpId="0"/>
      <p:bldP spid="56330" grpId="0"/>
      <p:bldP spid="4" grpId="0" bldLvl="0" animBg="1"/>
      <p:bldP spid="4" grpId="1" animBg="1"/>
      <p:bldP spid="5" grpId="0" bldLvl="0" animBg="1"/>
      <p:bldP spid="5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0830357-65DF-4024-985C-9C6604333CB6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8371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72" name="Rectangle 4"/>
          <p:cNvSpPr>
            <a:spLocks noGrp="1"/>
          </p:cNvSpPr>
          <p:nvPr>
            <p:ph idx="1"/>
          </p:nvPr>
        </p:nvSpPr>
        <p:spPr>
          <a:xfrm>
            <a:off x="566738" y="700088"/>
            <a:ext cx="8153400" cy="571500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120000"/>
              </a:lnSpc>
              <a:buNone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（续）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求 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z = x-y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， 其中 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x =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1010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y =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0011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349" name="Text Box 6"/>
          <p:cNvSpPr txBox="1"/>
          <p:nvPr/>
        </p:nvSpPr>
        <p:spPr>
          <a:xfrm>
            <a:off x="685800" y="1314450"/>
            <a:ext cx="8001000" cy="854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⑶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反码运算：  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[x]</a:t>
            </a:r>
            <a:r>
              <a:rPr lang="zh-CN" altLang="en-US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01010 </a:t>
            </a:r>
            <a:endParaRPr lang="en-US" altLang="zh-CN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[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y]</a:t>
            </a:r>
            <a:r>
              <a:rPr lang="zh-CN" altLang="en-US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[</a:t>
            </a: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 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0011 ]</a:t>
            </a:r>
            <a:r>
              <a:rPr lang="zh-CN" altLang="en-US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11100</a:t>
            </a:r>
            <a:endParaRPr lang="en-US" altLang="zh-CN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350" name="Text Box 12"/>
          <p:cNvSpPr txBox="1"/>
          <p:nvPr/>
        </p:nvSpPr>
        <p:spPr>
          <a:xfrm>
            <a:off x="5029200" y="2527300"/>
            <a:ext cx="3124200" cy="854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∴ [z]</a:t>
            </a:r>
            <a:r>
              <a:rPr lang="zh-CN" altLang="en-US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反</a:t>
            </a: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00111 </a:t>
            </a:r>
            <a:endParaRPr lang="en-US" altLang="zh-CN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z = 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＋ 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0111</a:t>
            </a:r>
            <a:endParaRPr lang="en-US" altLang="zh-CN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7351" name="Group 16"/>
          <p:cNvGrpSpPr/>
          <p:nvPr/>
        </p:nvGrpSpPr>
        <p:grpSpPr>
          <a:xfrm>
            <a:off x="1214438" y="2408238"/>
            <a:ext cx="4221162" cy="1924050"/>
            <a:chOff x="765" y="2023"/>
            <a:chExt cx="2659" cy="1616"/>
          </a:xfrm>
        </p:grpSpPr>
        <p:sp>
          <p:nvSpPr>
            <p:cNvPr id="58376" name="Text Box 8"/>
            <p:cNvSpPr txBox="1"/>
            <p:nvPr/>
          </p:nvSpPr>
          <p:spPr>
            <a:xfrm>
              <a:off x="765" y="2023"/>
              <a:ext cx="2659" cy="1616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∵           </a:t>
              </a:r>
              <a:r>
                <a:rPr lang="en-US" altLang="zh-CN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1010</a:t>
              </a:r>
              <a:endPara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     </a:t>
              </a:r>
              <a:r>
                <a: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＋ </a:t>
              </a:r>
              <a:r>
                <a:rPr lang="en-US" altLang="zh-CN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1100</a:t>
              </a:r>
              <a:endPara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      </a:t>
              </a:r>
              <a:r>
                <a:rPr lang="en-US" altLang="zh-CN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00110</a:t>
              </a:r>
              <a:endPara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   </a:t>
              </a:r>
              <a:r>
                <a:rPr lang="zh-CN" altLang="en-US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＋       </a:t>
              </a:r>
              <a:r>
                <a:rPr lang="en-US" altLang="zh-CN" dirty="0">
                  <a:solidFill>
                    <a:srgbClr val="00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endPara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80000"/>
                </a:lnSpc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             </a:t>
              </a:r>
              <a:r>
                <a:rPr lang="en-US" altLang="zh-CN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en-US" altLang="zh-CN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0111</a:t>
              </a:r>
              <a:endParaRPr lang="en-US" altLang="zh-CN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8377" name="Line 9"/>
            <p:cNvSpPr/>
            <p:nvPr/>
          </p:nvSpPr>
          <p:spPr>
            <a:xfrm>
              <a:off x="1248" y="2651"/>
              <a:ext cx="960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8378" name="Rectangle 10"/>
            <p:cNvSpPr/>
            <p:nvPr/>
          </p:nvSpPr>
          <p:spPr>
            <a:xfrm>
              <a:off x="1659" y="2687"/>
              <a:ext cx="240" cy="240"/>
            </a:xfrm>
            <a:prstGeom prst="rect">
              <a:avLst/>
            </a:prstGeom>
            <a:noFill/>
            <a:ln w="28575" cap="rnd" cmpd="sng">
              <a:solidFill>
                <a:srgbClr val="C00000"/>
              </a:solidFill>
              <a:prstDash val="sysDot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eaLnBrk="1" hangingPunct="1">
                <a:buFont typeface="Arial" panose="020B0604020202020204" pitchFamily="34" charset="0"/>
              </a:pPr>
              <a:endPara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8379" name="Line 13"/>
            <p:cNvSpPr/>
            <p:nvPr/>
          </p:nvSpPr>
          <p:spPr>
            <a:xfrm>
              <a:off x="1488" y="2976"/>
              <a:ext cx="0" cy="240"/>
            </a:xfrm>
            <a:prstGeom prst="line">
              <a:avLst/>
            </a:prstGeom>
            <a:ln w="9525" cap="rnd" cmpd="sng">
              <a:solidFill>
                <a:srgbClr val="FFFF00"/>
              </a:solidFill>
              <a:prstDash val="sysDot"/>
              <a:headEnd type="none" w="med" len="med"/>
              <a:tailEnd type="none" w="med" len="med"/>
            </a:ln>
          </p:spPr>
        </p:sp>
        <p:sp>
          <p:nvSpPr>
            <p:cNvPr id="58380" name="Line 14"/>
            <p:cNvSpPr/>
            <p:nvPr/>
          </p:nvSpPr>
          <p:spPr>
            <a:xfrm>
              <a:off x="1803" y="3156"/>
              <a:ext cx="480" cy="0"/>
            </a:xfrm>
            <a:prstGeom prst="line">
              <a:avLst/>
            </a:prstGeom>
            <a:ln w="28575" cap="rnd" cmpd="sng">
              <a:solidFill>
                <a:srgbClr val="C00000"/>
              </a:solidFill>
              <a:prstDash val="sysDot"/>
              <a:headEnd type="none" w="med" len="med"/>
              <a:tailEnd type="triangle" w="med" len="med"/>
            </a:ln>
          </p:spPr>
        </p:sp>
        <p:sp>
          <p:nvSpPr>
            <p:cNvPr id="58381" name="Line 15"/>
            <p:cNvSpPr/>
            <p:nvPr/>
          </p:nvSpPr>
          <p:spPr>
            <a:xfrm>
              <a:off x="1248" y="3360"/>
              <a:ext cx="960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1992" name="Text Box 37"/>
          <p:cNvSpPr txBox="1"/>
          <p:nvPr/>
        </p:nvSpPr>
        <p:spPr>
          <a:xfrm>
            <a:off x="1062990" y="4371975"/>
            <a:ext cx="740918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啥是数字系统中的二进制数的代码表示？其加减运算有何特点？</a:t>
            </a:r>
            <a:endParaRPr lang="zh-CN" altLang="en-US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9" grpId="0"/>
      <p:bldP spid="5735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F8A018EC-F4AE-41F2-9A2A-C67D23EF6F78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59395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59396" name="Rectangle 2"/>
          <p:cNvSpPr>
            <a:spLocks noGrp="1"/>
          </p:cNvSpPr>
          <p:nvPr>
            <p:ph type="title"/>
          </p:nvPr>
        </p:nvSpPr>
        <p:spPr>
          <a:xfrm>
            <a:off x="371475" y="673100"/>
            <a:ext cx="8086725" cy="406400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1.2.3  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十进制数的编码（代码）表示及其运算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1800" b="1" i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9397" name="Rectangle 3"/>
          <p:cNvSpPr>
            <a:spLocks noGrp="1"/>
          </p:cNvSpPr>
          <p:nvPr>
            <p:ph idx="1"/>
          </p:nvPr>
        </p:nvSpPr>
        <p:spPr>
          <a:xfrm>
            <a:off x="343535" y="1214755"/>
            <a:ext cx="8455025" cy="3427730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110000"/>
              </a:lnSpc>
              <a:buNone/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十进制数的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编码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表示：</a:t>
            </a:r>
            <a:endParaRPr lang="en-US" altLang="zh-CN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既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具有二进制数的形式，又具有十进制数的特点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，即用四位二进制数表示一位十进制数；</a:t>
            </a: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可按位直接相互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转换（某种规则）；如，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12.35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，编码成：</a:t>
            </a:r>
            <a:r>
              <a:rPr lang="en-US" altLang="zh-CN" sz="18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000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1 0010.0011 0101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可按位直接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运算（要修正）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</a:pPr>
            <a:endParaRPr lang="zh-CN" altLang="en-US" sz="1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主要有：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8421”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码，常称为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BCD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码（ </a:t>
            </a:r>
            <a:r>
              <a:rPr lang="en-US" altLang="zh-CN" sz="18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Binary coded decimal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）或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nBCD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码；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“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2421”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码；</a:t>
            </a:r>
            <a:endParaRPr lang="zh-CN" altLang="en-US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余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3”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 </a:t>
            </a:r>
            <a:r>
              <a:rPr lang="en-US" altLang="zh-CN" sz="18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(Excess-3)等</a:t>
            </a:r>
            <a:r>
              <a:rPr lang="zh-CN" altLang="en-US" sz="1800" b="1" i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1800" b="1" i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圆角矩形标注 2"/>
          <p:cNvSpPr/>
          <p:nvPr/>
        </p:nvSpPr>
        <p:spPr>
          <a:xfrm rot="10800000" flipV="1">
            <a:off x="5397500" y="3939540"/>
            <a:ext cx="2967990" cy="702945"/>
          </a:xfrm>
          <a:prstGeom prst="wedgeRoundRectCallout">
            <a:avLst>
              <a:gd name="adj1" fmla="val 96893"/>
              <a:gd name="adj2" fmla="val -52981"/>
              <a:gd name="adj3" fmla="val 16667"/>
            </a:avLst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>
                <a:solidFill>
                  <a:srgbClr val="0000FF"/>
                </a:solidFill>
              </a:rPr>
              <a:t>前两种有权码或加权码（</a:t>
            </a:r>
            <a:r>
              <a:rPr lang="en-US" altLang="zh-CN">
                <a:solidFill>
                  <a:srgbClr val="0000FF"/>
                </a:solidFill>
              </a:rPr>
              <a:t>weighted  code</a:t>
            </a:r>
            <a:r>
              <a:rPr lang="zh-CN">
                <a:solidFill>
                  <a:srgbClr val="0000FF"/>
                </a:solidFill>
              </a:rPr>
              <a:t>）</a:t>
            </a:r>
            <a:r>
              <a:rPr lang="zh-CN" altLang="en-US">
                <a:solidFill>
                  <a:srgbClr val="0000FF"/>
                </a:solidFill>
              </a:rPr>
              <a:t>！</a:t>
            </a:r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75175" y="4629150"/>
            <a:ext cx="309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0419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20" name="Rectangle 3"/>
          <p:cNvSpPr>
            <a:spLocks noGrp="1"/>
          </p:cNvSpPr>
          <p:nvPr>
            <p:ph type="title"/>
          </p:nvPr>
        </p:nvSpPr>
        <p:spPr>
          <a:xfrm>
            <a:off x="2263775" y="587375"/>
            <a:ext cx="7772400" cy="5143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表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1—3 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三种经典的十进制数的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编码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表示法</a:t>
            </a: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1187" name="Group 5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95045" y="1074738"/>
          <a:ext cx="7162800" cy="3582988"/>
        </p:xfrm>
        <a:graphic>
          <a:graphicData uri="http://schemas.openxmlformats.org/drawingml/2006/table">
            <a:tbl>
              <a:tblPr/>
              <a:tblGrid>
                <a:gridCol w="2056765"/>
                <a:gridCol w="1871980"/>
                <a:gridCol w="1680210"/>
                <a:gridCol w="1553845"/>
              </a:tblGrid>
              <a:tr h="457216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十进制整数（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2#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  <a:endParaRPr kumimoji="1" lang="zh-CN" altLang="en-US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1" marB="3426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8421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码</a:t>
                      </a:r>
                      <a:endParaRPr kumimoji="1" lang="zh-CN" altLang="en-US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1" marB="3426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2421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码</a:t>
                      </a:r>
                      <a:endParaRPr kumimoji="1" lang="zh-CN" altLang="en-US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1" marB="3426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余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码</a:t>
                      </a:r>
                      <a:endParaRPr kumimoji="1" lang="zh-CN" altLang="en-US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1" marB="3426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125771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kumimoji="1" lang="en-US" altLang="zh-CN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0000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）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（</a:t>
                      </a:r>
                      <a:r>
                        <a:rPr kumimoji="1" lang="en-US" altLang="zh-CN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0001</a:t>
                      </a:r>
                      <a:r>
                        <a:rPr kumimoji="1" lang="zh-CN" altLang="en-US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）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r>
                        <a:rPr kumimoji="1" lang="zh-CN" altLang="en-US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（</a:t>
                      </a:r>
                      <a:r>
                        <a:rPr kumimoji="1" lang="en-US" altLang="zh-CN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0010</a:t>
                      </a:r>
                      <a:r>
                        <a:rPr kumimoji="1" lang="zh-CN" altLang="en-US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）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zh-CN" altLang="en-US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（</a:t>
                      </a:r>
                      <a:r>
                        <a:rPr kumimoji="1" lang="en-US" altLang="zh-CN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0011</a:t>
                      </a:r>
                      <a:r>
                        <a:rPr kumimoji="1" lang="zh-CN" altLang="en-US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）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r>
                        <a:rPr kumimoji="1" lang="zh-CN" altLang="en-US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（</a:t>
                      </a:r>
                      <a:r>
                        <a:rPr kumimoji="1" lang="en-US" altLang="zh-CN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0100</a:t>
                      </a:r>
                      <a:r>
                        <a:rPr kumimoji="1" lang="zh-CN" altLang="en-US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）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r>
                        <a:rPr kumimoji="1" lang="zh-CN" altLang="en-US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（</a:t>
                      </a:r>
                      <a:r>
                        <a:rPr kumimoji="1" lang="en-US" altLang="zh-CN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0101</a:t>
                      </a:r>
                      <a:r>
                        <a:rPr kumimoji="1" lang="zh-CN" altLang="en-US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）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r>
                        <a:rPr kumimoji="1" lang="zh-CN" altLang="en-US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（</a:t>
                      </a:r>
                      <a:r>
                        <a:rPr kumimoji="1" lang="en-US" altLang="zh-CN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0110</a:t>
                      </a:r>
                      <a:r>
                        <a:rPr kumimoji="1" lang="zh-CN" altLang="en-US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）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r>
                        <a:rPr kumimoji="1" lang="zh-CN" altLang="en-US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（</a:t>
                      </a:r>
                      <a:r>
                        <a:rPr kumimoji="1" lang="en-US" altLang="zh-CN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0111</a:t>
                      </a:r>
                      <a:r>
                        <a:rPr kumimoji="1" lang="zh-CN" altLang="en-US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）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r>
                        <a:rPr kumimoji="1" lang="zh-CN" altLang="en-US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（</a:t>
                      </a:r>
                      <a:r>
                        <a:rPr kumimoji="1" lang="en-US" altLang="zh-CN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1</a:t>
                      </a:r>
                      <a:r>
                        <a:rPr kumimoji="1" lang="en-US" altLang="zh-CN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000</a:t>
                      </a:r>
                      <a:r>
                        <a:rPr kumimoji="1" lang="zh-CN" altLang="en-US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）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r>
                        <a:rPr kumimoji="1" lang="zh-CN" altLang="en-US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（</a:t>
                      </a:r>
                      <a:r>
                        <a:rPr kumimoji="1" lang="en-US" altLang="zh-CN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1</a:t>
                      </a:r>
                      <a:r>
                        <a:rPr kumimoji="1" lang="en-US" altLang="zh-CN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001</a:t>
                      </a:r>
                      <a:r>
                        <a:rPr kumimoji="1" lang="zh-CN" altLang="en-US" sz="1700" b="1" smtClean="0">
                          <a:ln>
                            <a:noFill/>
                          </a:ln>
                          <a:effectLst/>
                          <a:latin typeface="Times New Roman" panose="02020603050405020304" pitchFamily="18" charset="0"/>
                          <a:sym typeface="+mn-ea"/>
                        </a:rPr>
                        <a:t>）</a:t>
                      </a:r>
                      <a:endParaRPr kumimoji="1" lang="zh-CN" altLang="en-US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1" marB="34261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1" marB="3426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0001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1100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1101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1110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1111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1" marB="3426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0011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0101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0111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1011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1100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61" marB="34261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advTm="25000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1443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44" name="Rectangle 3"/>
          <p:cNvSpPr>
            <a:spLocks noGrp="1"/>
          </p:cNvSpPr>
          <p:nvPr>
            <p:ph type="title"/>
          </p:nvPr>
        </p:nvSpPr>
        <p:spPr>
          <a:xfrm>
            <a:off x="295910" y="600393"/>
            <a:ext cx="7772400" cy="5143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设：编码的码字形式为 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1800" b="1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5311" name="Group 7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40373" y="1022350"/>
          <a:ext cx="7724775" cy="3194051"/>
        </p:xfrm>
        <a:graphic>
          <a:graphicData uri="http://schemas.openxmlformats.org/drawingml/2006/table">
            <a:tbl>
              <a:tblPr/>
              <a:tblGrid>
                <a:gridCol w="998537"/>
                <a:gridCol w="2930525"/>
                <a:gridCol w="3795713"/>
              </a:tblGrid>
              <a:tr h="720689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代码</a:t>
                      </a:r>
                      <a:endParaRPr kumimoji="1" lang="zh-CN" altLang="en-US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3" marB="3428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对应的十进制数值</a:t>
                      </a:r>
                      <a:endParaRPr kumimoji="1" lang="zh-CN" altLang="en-US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3" marB="3428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编码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直接按位转换</a:t>
                      </a:r>
                      <a:endParaRPr kumimoji="1" lang="zh-CN" altLang="en-US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3" marB="3428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61962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8421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码</a:t>
                      </a:r>
                      <a:endParaRPr kumimoji="1" lang="zh-CN" altLang="en-US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3" marB="3428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有权码 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</a:t>
                      </a:r>
                      <a:r>
                        <a:rPr kumimoji="1" lang="en-US" altLang="zh-CN" sz="17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Weighted code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 A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 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 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endParaRPr kumimoji="1" lang="en-US" altLang="zh-CN" sz="17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3" marB="3428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(1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 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= (0001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0011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 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BCD</a:t>
                      </a:r>
                      <a:endParaRPr kumimoji="1" lang="en-US" altLang="zh-CN" sz="17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(0001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0111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0101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0000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 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BCD 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= (1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  <a:endParaRPr kumimoji="1" lang="en-US" altLang="zh-CN" sz="17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3" marB="3428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61962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2421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码</a:t>
                      </a:r>
                      <a:endParaRPr kumimoji="1" lang="zh-CN" altLang="en-US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3" marB="3428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有权码、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对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自补码</a:t>
                      </a:r>
                      <a:endParaRPr kumimoji="1" lang="zh-CN" altLang="en-US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 A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 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 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 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endParaRPr kumimoji="1" lang="en-US" altLang="zh-CN" sz="17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3" marB="3428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(1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 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= (0001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0011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 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2421</a:t>
                      </a:r>
                      <a:endParaRPr kumimoji="1" lang="en-US" altLang="zh-CN" sz="17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(0001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1101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1011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0000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 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2421 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= (1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  <a:endParaRPr kumimoji="1" lang="en-US" altLang="zh-CN" sz="17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3" marB="3428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94943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余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码</a:t>
                      </a:r>
                      <a:endParaRPr kumimoji="1" lang="zh-CN" altLang="en-US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3" marB="3428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无权码、对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自补码</a:t>
                      </a:r>
                      <a:endParaRPr kumimoji="1" lang="zh-CN" altLang="en-US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 A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 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 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 </a:t>
                      </a: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＋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</a:t>
                      </a:r>
                      <a:endParaRPr kumimoji="1" lang="en-US" altLang="zh-CN" sz="17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－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0011 (?)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3" marB="3428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(1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 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= (0100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0110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 </a:t>
                      </a:r>
                      <a:r>
                        <a:rPr kumimoji="1" lang="zh-CN" altLang="en-US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余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endParaRPr kumimoji="1" lang="en-US" altLang="zh-CN" sz="17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(0100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1010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1000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0011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 </a:t>
                      </a:r>
                      <a:r>
                        <a:rPr kumimoji="1" lang="zh-CN" altLang="en-US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余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 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= (1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CC6600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  <a:r>
                        <a:rPr kumimoji="1" lang="en-US" altLang="zh-CN" sz="17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  <a:endParaRPr kumimoji="1" lang="en-US" altLang="zh-CN" sz="1700" b="1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T="34283" marB="3428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1467" name="Rectangle 78"/>
          <p:cNvSpPr/>
          <p:nvPr/>
        </p:nvSpPr>
        <p:spPr>
          <a:xfrm>
            <a:off x="304800" y="4257675"/>
            <a:ext cx="8686800" cy="51435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eaLnBrk="1" hangingPunct="1"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代码运算若直接按</a:t>
            </a: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二进制数运算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，则运算</a:t>
            </a:r>
            <a:r>
              <a:rPr lang="zh-CN" altLang="en-US" sz="1800" b="1" u="sng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结果要修正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lang="zh-CN" altLang="en-US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如何进行修正课后认真思考？</a:t>
            </a:r>
            <a:endParaRPr lang="zh-CN" altLang="en-US" sz="1800" b="1" baseline="-250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日期占位符 3"/>
          <p:cNvSpPr txBox="1">
            <a:spLocks noGrp="1"/>
          </p:cNvSpPr>
          <p:nvPr/>
        </p:nvSpPr>
        <p:spPr>
          <a:xfrm>
            <a:off x="0" y="-7937"/>
            <a:ext cx="827088" cy="185737"/>
          </a:xfrm>
          <a:prstGeom prst="rect">
            <a:avLst/>
          </a:prstGeom>
          <a:noFill/>
          <a:ln w="9525" cap="flat" cmpd="sng">
            <a:solidFill>
              <a:srgbClr val="FF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>
            <a:spAutoFit/>
          </a:bodyPr>
          <a:p>
            <a:pPr eaLnBrk="1" hangingPunct="1">
              <a:buFont typeface="Arial" panose="020B0604020202020204" pitchFamily="34" charset="0"/>
            </a:pPr>
            <a:fld id="{BB962C8B-B14F-4D97-AF65-F5344CB8AC3E}" type="datetime1"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zh-CN" altLang="en-US" sz="12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67" name="灯片编号占位符 4"/>
          <p:cNvSpPr txBox="1">
            <a:spLocks noGrp="1"/>
          </p:cNvSpPr>
          <p:nvPr/>
        </p:nvSpPr>
        <p:spPr>
          <a:xfrm>
            <a:off x="8785225" y="4894263"/>
            <a:ext cx="395288" cy="249237"/>
          </a:xfrm>
          <a:prstGeom prst="rect">
            <a:avLst/>
          </a:prstGeom>
          <a:solidFill>
            <a:srgbClr val="CC99FF"/>
          </a:solidFill>
          <a:ln w="9525">
            <a:noFill/>
          </a:ln>
        </p:spPr>
        <p:txBody>
          <a:bodyPr/>
          <a:p>
            <a:pPr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altLang="zh-CN" sz="1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2468" name="Picture 4"/>
          <p:cNvPicPr>
            <a:picLocks noChangeAspect="1"/>
          </p:cNvPicPr>
          <p:nvPr>
            <p:ph type="body"/>
          </p:nvPr>
        </p:nvPicPr>
        <p:blipFill>
          <a:blip r:embed="rId1"/>
          <a:stretch>
            <a:fillRect/>
          </a:stretch>
        </p:blipFill>
        <p:spPr>
          <a:xfrm>
            <a:off x="323850" y="1222375"/>
            <a:ext cx="8496300" cy="2914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5908040" y="1302385"/>
            <a:ext cx="1256030" cy="398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41992" name="Text Box 37"/>
          <p:cNvSpPr txBox="1"/>
          <p:nvPr/>
        </p:nvSpPr>
        <p:spPr>
          <a:xfrm>
            <a:off x="1995805" y="4300220"/>
            <a:ext cx="428625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nBCD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8421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）码是一种对九互补码吗？</a:t>
            </a:r>
            <a:endParaRPr lang="zh-CN" altLang="en-US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日期占位符 3"/>
          <p:cNvSpPr txBox="1">
            <a:spLocks noGrp="1"/>
          </p:cNvSpPr>
          <p:nvPr/>
        </p:nvSpPr>
        <p:spPr>
          <a:xfrm>
            <a:off x="0" y="-7937"/>
            <a:ext cx="827088" cy="185737"/>
          </a:xfrm>
          <a:prstGeom prst="rect">
            <a:avLst/>
          </a:prstGeom>
          <a:noFill/>
          <a:ln w="9525" cap="flat" cmpd="sng">
            <a:solidFill>
              <a:srgbClr val="FF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>
            <a:spAutoFit/>
          </a:bodyPr>
          <a:p>
            <a:pPr eaLnBrk="1" hangingPunct="1">
              <a:buFont typeface="Arial" panose="020B0604020202020204" pitchFamily="34" charset="0"/>
            </a:pPr>
            <a:fld id="{BB962C8B-B14F-4D97-AF65-F5344CB8AC3E}" type="datetime1"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zh-CN" altLang="en-US" sz="12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491" name="灯片编号占位符 4"/>
          <p:cNvSpPr txBox="1">
            <a:spLocks noGrp="1"/>
          </p:cNvSpPr>
          <p:nvPr/>
        </p:nvSpPr>
        <p:spPr>
          <a:xfrm>
            <a:off x="8785225" y="4894263"/>
            <a:ext cx="395288" cy="249237"/>
          </a:xfrm>
          <a:prstGeom prst="rect">
            <a:avLst/>
          </a:prstGeom>
          <a:solidFill>
            <a:srgbClr val="CC99FF"/>
          </a:solidFill>
          <a:ln w="9525">
            <a:noFill/>
          </a:ln>
        </p:spPr>
        <p:txBody>
          <a:bodyPr/>
          <a:p>
            <a:pPr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altLang="zh-CN" sz="1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492" name="Rectangle 3"/>
          <p:cNvSpPr>
            <a:spLocks noGrp="1"/>
          </p:cNvSpPr>
          <p:nvPr>
            <p:ph type="body"/>
          </p:nvPr>
        </p:nvSpPr>
        <p:spPr>
          <a:xfrm>
            <a:off x="323850" y="555625"/>
            <a:ext cx="8569325" cy="417671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>
              <a:lnSpc>
                <a:spcPct val="115000"/>
              </a:lnSpc>
            </a:pP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常见的有权码编码方法：</a:t>
            </a:r>
            <a:r>
              <a:rPr lang="en-US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8421</a:t>
            </a:r>
            <a:r>
              <a:rPr lang="zh-CN" altLang="en-US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码，</a:t>
            </a:r>
            <a:r>
              <a:rPr lang="en-US" altLang="zh-CN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2421</a:t>
            </a:r>
            <a:r>
              <a:rPr lang="zh-CN" altLang="en-US" sz="20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5211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码、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4311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码和</a:t>
            </a:r>
            <a:r>
              <a:rPr lang="en-US" altLang="zh-CN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84-2-1</a:t>
            </a:r>
            <a:r>
              <a:rPr lang="zh-CN" altLang="en-US" sz="20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码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( 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四位二进制位的位权分别为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8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-2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-1)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等。</a:t>
            </a:r>
            <a:endParaRPr lang="en-US" altLang="zh-CN" sz="2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r>
              <a:rPr lang="zh-CN" altLang="en-US" sz="2000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其最方便使用的共同特点为：</a:t>
            </a:r>
            <a:br>
              <a:rPr lang="zh-CN" altLang="en-US" sz="2000" dirty="0">
                <a:solidFill>
                  <a:schemeClr val="bg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(1) 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对于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2421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码、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5211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码、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4311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码，任何两个十进制数位，采用这三种编码的任何一种编码，它们相加之和等于或大于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10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时，其结果的最高位向左产生进位，小于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10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时则不产生进位。</a:t>
            </a:r>
            <a:r>
              <a:rPr lang="zh-CN" altLang="en-US" sz="2000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这一特点有利于实现</a:t>
            </a:r>
            <a:r>
              <a:rPr lang="zh-CN" altLang="en-US" sz="2000" dirty="0">
                <a:solidFill>
                  <a:srgbClr val="FF0066"/>
                </a:solidFill>
                <a:ea typeface="华文新魏" panose="02010800040101010101" pitchFamily="2" charset="-122"/>
              </a:rPr>
              <a:t>“</a:t>
            </a:r>
            <a:r>
              <a:rPr lang="zh-CN" altLang="en-US" sz="2000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逢十进位</a:t>
            </a:r>
            <a:r>
              <a:rPr lang="zh-CN" altLang="en-US" sz="2000" dirty="0">
                <a:solidFill>
                  <a:srgbClr val="FF0066"/>
                </a:solidFill>
                <a:ea typeface="华文新魏" panose="02010800040101010101" pitchFamily="2" charset="-122"/>
              </a:rPr>
              <a:t>”</a:t>
            </a:r>
            <a:r>
              <a:rPr lang="zh-CN" altLang="en-US" sz="2000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的计数和加法规则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2000" dirty="0">
              <a:solidFill>
                <a:schemeClr val="bg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lnSpc>
                <a:spcPct val="115000"/>
              </a:lnSpc>
            </a:pP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(2) 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对于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2421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码、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5211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码、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4311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码和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84-2-1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码，任何两个十进制数位，采用这四种编码的任何一种编码，它们相加其和等于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9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时，即它们的二进制编码位互为反码，则其结果的四个二进制位一定是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1111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zh-CN" altLang="en-US" sz="2000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能较好地体现十进制的按</a:t>
            </a:r>
            <a:r>
              <a:rPr lang="en-US" altLang="zh-CN" sz="2000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9</a:t>
            </a:r>
            <a:r>
              <a:rPr lang="zh-CN" altLang="en-US" sz="2000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取补与二进制的按</a:t>
            </a:r>
            <a:r>
              <a:rPr lang="en-US" altLang="zh-CN" sz="2000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2000" dirty="0">
                <a:solidFill>
                  <a:srgbClr val="FF0066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取补的对应关系，这对减法操作很有价值</a:t>
            </a:r>
            <a:r>
              <a:rPr lang="zh-CN" altLang="en-US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20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日期占位符 3"/>
          <p:cNvSpPr txBox="1">
            <a:spLocks noGrp="1"/>
          </p:cNvSpPr>
          <p:nvPr/>
        </p:nvSpPr>
        <p:spPr>
          <a:xfrm>
            <a:off x="0" y="-7937"/>
            <a:ext cx="827088" cy="185737"/>
          </a:xfrm>
          <a:prstGeom prst="rect">
            <a:avLst/>
          </a:prstGeom>
          <a:noFill/>
          <a:ln w="9525" cap="flat" cmpd="sng">
            <a:solidFill>
              <a:srgbClr val="FF0066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0" tIns="0" rIns="0" bIns="0">
            <a:spAutoFit/>
          </a:bodyPr>
          <a:p>
            <a:pPr eaLnBrk="1" hangingPunct="1">
              <a:buFont typeface="Arial" panose="020B0604020202020204" pitchFamily="34" charset="0"/>
            </a:pPr>
            <a:fld id="{BB962C8B-B14F-4D97-AF65-F5344CB8AC3E}" type="datetime1"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zh-CN" altLang="en-US" sz="12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15" name="灯片编号占位符 4"/>
          <p:cNvSpPr txBox="1">
            <a:spLocks noGrp="1"/>
          </p:cNvSpPr>
          <p:nvPr/>
        </p:nvSpPr>
        <p:spPr>
          <a:xfrm>
            <a:off x="8820150" y="4894263"/>
            <a:ext cx="396875" cy="250825"/>
          </a:xfrm>
          <a:prstGeom prst="rect">
            <a:avLst/>
          </a:prstGeom>
          <a:solidFill>
            <a:srgbClr val="CC99FF"/>
          </a:solidFill>
          <a:ln w="9525">
            <a:noFill/>
          </a:ln>
        </p:spPr>
        <p:txBody>
          <a:bodyPr/>
          <a:p>
            <a:pPr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1400" b="1" dirty="0">
                <a:solidFill>
                  <a:schemeClr val="tx1"/>
                </a:solidFill>
                <a:latin typeface="Times New Roman" panose="02020603050405020304" pitchFamily="18" charset="0"/>
              </a:rPr>
            </a:fld>
            <a:endParaRPr lang="en-US" altLang="zh-CN" sz="14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16" name="Rectangle 2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8572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r>
              <a:rPr lang="en-US" altLang="zh-CN" b="1" dirty="0">
                <a:solidFill>
                  <a:srgbClr val="FF0066"/>
                </a:solidFill>
              </a:rPr>
              <a:t>M</a:t>
            </a:r>
            <a:r>
              <a:rPr lang="zh-CN" altLang="en-US" b="1" dirty="0">
                <a:solidFill>
                  <a:srgbClr val="FF0066"/>
                </a:solidFill>
              </a:rPr>
              <a:t>中取</a:t>
            </a:r>
            <a:r>
              <a:rPr lang="en-US" altLang="zh-CN" b="1" dirty="0">
                <a:solidFill>
                  <a:srgbClr val="FF0066"/>
                </a:solidFill>
              </a:rPr>
              <a:t>N</a:t>
            </a:r>
            <a:r>
              <a:rPr lang="zh-CN" altLang="en-US" b="1" dirty="0">
                <a:solidFill>
                  <a:srgbClr val="FF0066"/>
                </a:solidFill>
              </a:rPr>
              <a:t>码</a:t>
            </a:r>
            <a:endParaRPr lang="zh-CN" altLang="en-US" b="1" dirty="0">
              <a:solidFill>
                <a:srgbClr val="FF0066"/>
              </a:solidFill>
            </a:endParaRPr>
          </a:p>
        </p:txBody>
      </p:sp>
      <p:pic>
        <p:nvPicPr>
          <p:cNvPr id="86021" name="Picture 4" descr="1-9"/>
          <p:cNvPicPr>
            <a:picLocks noChangeAspect="1"/>
          </p:cNvPicPr>
          <p:nvPr>
            <p:ph type="body"/>
          </p:nvPr>
        </p:nvPicPr>
        <p:blipFill>
          <a:blip r:embed="rId1"/>
          <a:stretch>
            <a:fillRect/>
          </a:stretch>
        </p:blipFill>
        <p:spPr>
          <a:xfrm>
            <a:off x="750888" y="1485900"/>
            <a:ext cx="7642225" cy="30861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992" name="Text Box 37"/>
          <p:cNvSpPr txBox="1"/>
          <p:nvPr/>
        </p:nvSpPr>
        <p:spPr>
          <a:xfrm>
            <a:off x="3491865" y="555308"/>
            <a:ext cx="4670425" cy="70675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记住十进制数的最常用三种代码表示，了解其作用！</a:t>
            </a:r>
            <a:endParaRPr lang="zh-CN" altLang="en-US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60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60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2000"/>
                                        <p:tgtEl>
                                          <p:spTgt spid="41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ea"/>
            </a:endParaRPr>
          </a:p>
        </p:txBody>
      </p:sp>
      <p:sp>
        <p:nvSpPr>
          <p:cNvPr id="65539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zh-CN" altLang="en-US" sz="900" dirty="0">
              <a:solidFill>
                <a:srgbClr val="898989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5540" name="Text Box 6"/>
          <p:cNvSpPr txBox="1"/>
          <p:nvPr/>
        </p:nvSpPr>
        <p:spPr>
          <a:xfrm>
            <a:off x="892175" y="1446213"/>
            <a:ext cx="83058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目的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：解决代码在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形成（运算）或传输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过程中可能会发生</a:t>
            </a: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5541" name="Text Box 8"/>
          <p:cNvSpPr txBox="1"/>
          <p:nvPr/>
        </p:nvSpPr>
        <p:spPr>
          <a:xfrm>
            <a:off x="1680845" y="1903413"/>
            <a:ext cx="64770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的错误，提高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数字系统的可靠性</a:t>
            </a: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5542" name="Text Box 9"/>
          <p:cNvSpPr txBox="1"/>
          <p:nvPr/>
        </p:nvSpPr>
        <p:spPr>
          <a:xfrm>
            <a:off x="892175" y="2439988"/>
            <a:ext cx="86106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方法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：使代码自身具有某种</a:t>
            </a:r>
            <a:r>
              <a:rPr lang="zh-CN" altLang="en-US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特征或抗破坏能力</a:t>
            </a:r>
            <a:endParaRPr lang="zh-CN" altLang="en-US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5543" name="Text Box 10"/>
          <p:cNvSpPr txBox="1"/>
          <p:nvPr/>
        </p:nvSpPr>
        <p:spPr>
          <a:xfrm>
            <a:off x="892175" y="2989263"/>
            <a:ext cx="4114800" cy="8604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作用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：      达到如下三个层次</a:t>
            </a: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1. 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不易出错；</a:t>
            </a: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5544" name="Text Box 11"/>
          <p:cNvSpPr txBox="1"/>
          <p:nvPr/>
        </p:nvSpPr>
        <p:spPr>
          <a:xfrm>
            <a:off x="2035175" y="3833178"/>
            <a:ext cx="47244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2. 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若出错时易发现错误；</a:t>
            </a: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5545" name="Text Box 12"/>
          <p:cNvSpPr txBox="1"/>
          <p:nvPr/>
        </p:nvSpPr>
        <p:spPr>
          <a:xfrm>
            <a:off x="2035175" y="4247833"/>
            <a:ext cx="62484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 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出错时易查错且易纠错。</a:t>
            </a:r>
            <a:endParaRPr lang="zh-CN" altLang="en-US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5546" name="Rectangle 15"/>
          <p:cNvSpPr>
            <a:spLocks noGrp="1"/>
          </p:cNvSpPr>
          <p:nvPr>
            <p:ph type="title"/>
          </p:nvPr>
        </p:nvSpPr>
        <p:spPr>
          <a:xfrm>
            <a:off x="739775" y="768033"/>
            <a:ext cx="8458200" cy="8572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r>
              <a:rPr lang="en-US" altLang="zh-CN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1.2.4  </a:t>
            </a:r>
            <a:r>
              <a:rPr lang="zh-CN" altLang="en-US" sz="24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可靠性编码（一种特殊的编码技术，使用广泛）	</a:t>
            </a:r>
            <a:endParaRPr lang="zh-CN" altLang="en-US" sz="24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advTm="25000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06519616-D2AC-4045-8484-604F71821478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+mn-ea"/>
            </a:endParaRPr>
          </a:p>
        </p:txBody>
      </p:sp>
      <p:sp>
        <p:nvSpPr>
          <p:cNvPr id="66563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fld>
            <a:endParaRPr lang="en-US" altLang="zh-CN" sz="900" dirty="0">
              <a:solidFill>
                <a:srgbClr val="898989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5540" name="Oval 22"/>
          <p:cNvSpPr/>
          <p:nvPr/>
        </p:nvSpPr>
        <p:spPr>
          <a:xfrm>
            <a:off x="1120775" y="3200400"/>
            <a:ext cx="4267200" cy="628650"/>
          </a:xfrm>
          <a:prstGeom prst="ellipse">
            <a:avLst/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eaLnBrk="1" hangingPunct="1">
              <a:buFont typeface="Arial" panose="020B0604020202020204" pitchFamily="34" charset="0"/>
            </a:pPr>
            <a:endParaRPr lang="zh-CN" altLang="en-US" sz="18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5541" name="Text Box 27"/>
          <p:cNvSpPr txBox="1"/>
          <p:nvPr/>
        </p:nvSpPr>
        <p:spPr>
          <a:xfrm>
            <a:off x="3940175" y="2817813"/>
            <a:ext cx="1981200" cy="369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状态先变化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5542" name="Text Box 26"/>
          <p:cNvSpPr txBox="1"/>
          <p:nvPr/>
        </p:nvSpPr>
        <p:spPr>
          <a:xfrm>
            <a:off x="1120775" y="2828925"/>
            <a:ext cx="1981200" cy="369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1800" b="1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状态先变化</a:t>
            </a:r>
            <a:endParaRPr lang="zh-CN" altLang="en-US" sz="1800" b="1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6567" name="Rectangle 2"/>
          <p:cNvSpPr>
            <a:spLocks noGrp="1"/>
          </p:cNvSpPr>
          <p:nvPr>
            <p:ph type="title"/>
          </p:nvPr>
        </p:nvSpPr>
        <p:spPr>
          <a:xfrm>
            <a:off x="533400" y="574675"/>
            <a:ext cx="7772400" cy="857250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1)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格雷码（</a:t>
            </a:r>
            <a:r>
              <a:rPr lang="en-US" altLang="zh-CN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Gray)</a:t>
            </a:r>
            <a:endParaRPr lang="en-US" altLang="zh-CN" sz="18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6568" name="Rectangle 3"/>
          <p:cNvSpPr>
            <a:spLocks noGrp="1"/>
          </p:cNvSpPr>
          <p:nvPr>
            <p:ph idx="1"/>
          </p:nvPr>
        </p:nvSpPr>
        <p:spPr>
          <a:xfrm>
            <a:off x="654050" y="1030288"/>
            <a:ext cx="8763000" cy="1657350"/>
          </a:xfrm>
          <a:noFill/>
          <a:ln>
            <a:noFill/>
          </a:ln>
        </p:spPr>
        <p:txBody>
          <a:bodyPr/>
          <a:p>
            <a:pPr eaLnBrk="1" hangingPunct="1">
              <a:spcBef>
                <a:spcPct val="50000"/>
              </a:spcBef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特点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：任意两个相邻数的代码（码字）只有一个二进制数位不同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目的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：</a:t>
            </a:r>
            <a:r>
              <a:rPr lang="zh-CN" altLang="en-US" sz="1800" b="1" u="sng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减少代码生成时发生错误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spcBef>
                <a:spcPct val="50000"/>
              </a:spcBef>
              <a:buNone/>
            </a:pP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例：某种四位二进制加</a:t>
            </a:r>
            <a:r>
              <a:rPr lang="en-US" altLang="zh-CN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计数器电路，工作时有如下情况出现</a:t>
            </a:r>
            <a:endParaRPr lang="zh-CN" altLang="en-US" sz="1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65545" name="Group 5"/>
          <p:cNvGrpSpPr/>
          <p:nvPr/>
        </p:nvGrpSpPr>
        <p:grpSpPr>
          <a:xfrm>
            <a:off x="2111375" y="3143250"/>
            <a:ext cx="914400" cy="589758"/>
            <a:chOff x="1872" y="2496"/>
            <a:chExt cx="576" cy="495"/>
          </a:xfrm>
        </p:grpSpPr>
        <p:sp>
          <p:nvSpPr>
            <p:cNvPr id="66592" name="Line 6"/>
            <p:cNvSpPr/>
            <p:nvPr/>
          </p:nvSpPr>
          <p:spPr>
            <a:xfrm flipH="1">
              <a:off x="2160" y="2496"/>
              <a:ext cx="144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6593" name="Text Box 7"/>
            <p:cNvSpPr txBox="1"/>
            <p:nvPr/>
          </p:nvSpPr>
          <p:spPr>
            <a:xfrm>
              <a:off x="1872" y="2682"/>
              <a:ext cx="576" cy="309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0 0 0 0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65546" name="Group 8"/>
          <p:cNvGrpSpPr/>
          <p:nvPr/>
        </p:nvGrpSpPr>
        <p:grpSpPr>
          <a:xfrm>
            <a:off x="2797175" y="2571750"/>
            <a:ext cx="914400" cy="589758"/>
            <a:chOff x="2304" y="2016"/>
            <a:chExt cx="576" cy="495"/>
          </a:xfrm>
        </p:grpSpPr>
        <p:sp>
          <p:nvSpPr>
            <p:cNvPr id="66590" name="Line 9"/>
            <p:cNvSpPr/>
            <p:nvPr/>
          </p:nvSpPr>
          <p:spPr>
            <a:xfrm>
              <a:off x="2592" y="2016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6591" name="Text Box 10"/>
            <p:cNvSpPr txBox="1"/>
            <p:nvPr/>
          </p:nvSpPr>
          <p:spPr>
            <a:xfrm>
              <a:off x="2304" y="2202"/>
              <a:ext cx="576" cy="309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0 0 0 1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65547" name="Group 11"/>
          <p:cNvGrpSpPr/>
          <p:nvPr/>
        </p:nvGrpSpPr>
        <p:grpSpPr>
          <a:xfrm>
            <a:off x="3556000" y="3143250"/>
            <a:ext cx="917575" cy="800100"/>
            <a:chOff x="2782" y="2496"/>
            <a:chExt cx="578" cy="672"/>
          </a:xfrm>
        </p:grpSpPr>
        <p:sp>
          <p:nvSpPr>
            <p:cNvPr id="66585" name="Text Box 13"/>
            <p:cNvSpPr txBox="1"/>
            <p:nvPr/>
          </p:nvSpPr>
          <p:spPr>
            <a:xfrm>
              <a:off x="2784" y="2682"/>
              <a:ext cx="576" cy="310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0011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6586" name="Line 12"/>
            <p:cNvSpPr/>
            <p:nvPr/>
          </p:nvSpPr>
          <p:spPr>
            <a:xfrm>
              <a:off x="2880" y="2496"/>
              <a:ext cx="192" cy="192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6587" name="Line 14"/>
            <p:cNvSpPr/>
            <p:nvPr/>
          </p:nvSpPr>
          <p:spPr>
            <a:xfrm flipH="1">
              <a:off x="2880" y="2976"/>
              <a:ext cx="144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6588" name="Text Box 13"/>
            <p:cNvSpPr txBox="1"/>
            <p:nvPr/>
          </p:nvSpPr>
          <p:spPr>
            <a:xfrm>
              <a:off x="2782" y="2686"/>
              <a:ext cx="576" cy="309"/>
            </a:xfrm>
            <a:prstGeom prst="rect">
              <a:avLst/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0 0 1 1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6589" name="Line 12"/>
            <p:cNvSpPr/>
            <p:nvPr/>
          </p:nvSpPr>
          <p:spPr>
            <a:xfrm>
              <a:off x="2878" y="2500"/>
              <a:ext cx="192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5548" name="Group 15"/>
          <p:cNvGrpSpPr/>
          <p:nvPr/>
        </p:nvGrpSpPr>
        <p:grpSpPr>
          <a:xfrm>
            <a:off x="2568575" y="3714750"/>
            <a:ext cx="1143000" cy="589758"/>
            <a:chOff x="2160" y="2976"/>
            <a:chExt cx="720" cy="495"/>
          </a:xfrm>
        </p:grpSpPr>
        <p:sp>
          <p:nvSpPr>
            <p:cNvPr id="66583" name="Line 16"/>
            <p:cNvSpPr/>
            <p:nvPr/>
          </p:nvSpPr>
          <p:spPr>
            <a:xfrm>
              <a:off x="2160" y="2976"/>
              <a:ext cx="144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6584" name="Text Box 17"/>
            <p:cNvSpPr txBox="1"/>
            <p:nvPr/>
          </p:nvSpPr>
          <p:spPr>
            <a:xfrm>
              <a:off x="2304" y="3162"/>
              <a:ext cx="576" cy="309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0 0 1 0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65549" name="Group 18"/>
          <p:cNvGrpSpPr/>
          <p:nvPr/>
        </p:nvGrpSpPr>
        <p:grpSpPr>
          <a:xfrm>
            <a:off x="2797175" y="4286250"/>
            <a:ext cx="914400" cy="800100"/>
            <a:chOff x="2304" y="3456"/>
            <a:chExt cx="576" cy="672"/>
          </a:xfrm>
        </p:grpSpPr>
        <p:sp>
          <p:nvSpPr>
            <p:cNvPr id="66580" name="Line 19"/>
            <p:cNvSpPr/>
            <p:nvPr/>
          </p:nvSpPr>
          <p:spPr>
            <a:xfrm>
              <a:off x="2592" y="3456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6581" name="Text Box 20"/>
            <p:cNvSpPr txBox="1"/>
            <p:nvPr/>
          </p:nvSpPr>
          <p:spPr>
            <a:xfrm>
              <a:off x="2304" y="3642"/>
              <a:ext cx="576" cy="309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0 0 1 1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6582" name="Line 21"/>
            <p:cNvSpPr/>
            <p:nvPr/>
          </p:nvSpPr>
          <p:spPr>
            <a:xfrm>
              <a:off x="2592" y="3936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5550" name="Group 23"/>
          <p:cNvGrpSpPr/>
          <p:nvPr/>
        </p:nvGrpSpPr>
        <p:grpSpPr>
          <a:xfrm>
            <a:off x="1273175" y="2171700"/>
            <a:ext cx="2438400" cy="425450"/>
            <a:chOff x="1344" y="1680"/>
            <a:chExt cx="1536" cy="358"/>
          </a:xfrm>
        </p:grpSpPr>
        <p:sp>
          <p:nvSpPr>
            <p:cNvPr id="66578" name="Text Box 24"/>
            <p:cNvSpPr txBox="1"/>
            <p:nvPr/>
          </p:nvSpPr>
          <p:spPr>
            <a:xfrm>
              <a:off x="2304" y="1728"/>
              <a:ext cx="576" cy="310"/>
            </a:xfrm>
            <a:prstGeom prst="rect">
              <a:avLst/>
            </a:prstGeom>
            <a:solidFill>
              <a:srgbClr val="FFFF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0 0 0 0</a:t>
              </a:r>
              <a:endParaRPr lang="en-US" altLang="zh-CN" sz="18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6579" name="Text Box 25"/>
            <p:cNvSpPr txBox="1"/>
            <p:nvPr/>
          </p:nvSpPr>
          <p:spPr>
            <a:xfrm>
              <a:off x="1344" y="1680"/>
              <a:ext cx="1104" cy="31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3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2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1</a:t>
              </a:r>
              <a:r>
                <a:rPr lang="en-US" altLang="zh-CN" sz="18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r>
                <a:rPr lang="en-US" altLang="zh-CN" sz="1800" baseline="-25000" dirty="0">
                  <a:solidFill>
                    <a:schemeClr val="tx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0</a:t>
              </a:r>
              <a:endParaRPr lang="en-US" altLang="zh-CN" sz="180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65551" name="Group 28"/>
          <p:cNvGrpSpPr/>
          <p:nvPr/>
        </p:nvGrpSpPr>
        <p:grpSpPr>
          <a:xfrm>
            <a:off x="5387975" y="3257550"/>
            <a:ext cx="2057400" cy="645314"/>
            <a:chOff x="3936" y="2554"/>
            <a:chExt cx="1488" cy="541"/>
          </a:xfrm>
        </p:grpSpPr>
        <p:sp>
          <p:nvSpPr>
            <p:cNvPr id="66576" name="Text Box 29"/>
            <p:cNvSpPr txBox="1"/>
            <p:nvPr/>
          </p:nvSpPr>
          <p:spPr>
            <a:xfrm>
              <a:off x="4224" y="2554"/>
              <a:ext cx="1200" cy="541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zh-CN" altLang="en-US" sz="1800" b="1" dirty="0">
                  <a:solidFill>
                    <a:srgbClr val="FF0000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不应当出现的暂态！</a:t>
              </a:r>
              <a:endPara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6577" name="Line 30"/>
            <p:cNvSpPr/>
            <p:nvPr/>
          </p:nvSpPr>
          <p:spPr>
            <a:xfrm>
              <a:off x="3936" y="2794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</p:grp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0" grpId="0" animBg="1"/>
      <p:bldP spid="65541" grpId="0"/>
      <p:bldP spid="6554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7587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588" name="Rectangle 3"/>
          <p:cNvSpPr>
            <a:spLocks noGrp="1"/>
          </p:cNvSpPr>
          <p:nvPr>
            <p:ph type="title"/>
          </p:nvPr>
        </p:nvSpPr>
        <p:spPr>
          <a:xfrm>
            <a:off x="228600" y="546100"/>
            <a:ext cx="8763000" cy="5127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表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4  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几种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Gray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码、步进码和二进制码对照表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8345" name="Group 4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93700" y="1054100"/>
          <a:ext cx="7781925" cy="3654425"/>
        </p:xfrm>
        <a:graphic>
          <a:graphicData uri="http://schemas.openxmlformats.org/drawingml/2006/table">
            <a:tbl>
              <a:tblPr/>
              <a:tblGrid>
                <a:gridCol w="1295400"/>
                <a:gridCol w="1298575"/>
                <a:gridCol w="1263650"/>
                <a:gridCol w="1330325"/>
                <a:gridCol w="1295400"/>
                <a:gridCol w="1298575"/>
              </a:tblGrid>
              <a:tr h="51117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十进制数</a:t>
                      </a:r>
                      <a:endParaRPr kumimoji="1" lang="zh-CN" alt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7" marR="91447" marT="34292" marB="3429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二进制数</a:t>
                      </a:r>
                      <a:endParaRPr kumimoji="1" lang="zh-CN" alt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7" marR="91447" marT="34292" marB="3429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典型</a:t>
                      </a: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Gray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7" marR="91447" marT="34292" marB="3429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十进制</a:t>
                      </a:r>
                      <a:endParaRPr kumimoji="1" lang="zh-CN" alt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Gray</a:t>
                      </a:r>
                      <a:r>
                        <a:rPr kumimoji="1" lang="zh-CN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码⑴ </a:t>
                      </a:r>
                      <a:endParaRPr kumimoji="1" lang="zh-CN" alt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7" marR="91447" marT="34292" marB="3429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十进制</a:t>
                      </a:r>
                      <a:endParaRPr kumimoji="1" lang="zh-CN" alt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Gray</a:t>
                      </a:r>
                      <a:r>
                        <a:rPr kumimoji="1" lang="zh-CN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码⑵</a:t>
                      </a:r>
                      <a:endParaRPr kumimoji="1" lang="zh-CN" alt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7" marR="91447" marT="34292" marB="3429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步进码</a:t>
                      </a:r>
                      <a:endParaRPr kumimoji="1" lang="zh-CN" altLang="en-US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7" marR="91447" marT="34292" marB="3429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143250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13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14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15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7" marR="91447" marT="34292" marB="34292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0100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0101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0110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0111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1000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1001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1010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1011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1100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1101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1110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1111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7" marR="91447" marT="34292" marB="3429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0110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0111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0101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0100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1100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1101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1111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1110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1010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1011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1001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1000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7" marR="91447" marT="34292" marB="3429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0110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1110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1010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1011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1001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1000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7" marR="91447" marT="34292" marB="3429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0110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0111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0101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0100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1100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1000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7" marR="91447" marT="34292" marB="3429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00000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00001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00011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00111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01111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11111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11110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11100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11000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10000</a:t>
                      </a: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en-US" altLang="zh-CN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7" marR="91447" marT="34292" marB="34292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2" name="直接连接符 1"/>
          <p:cNvCxnSpPr/>
          <p:nvPr/>
        </p:nvCxnSpPr>
        <p:spPr>
          <a:xfrm flipV="1">
            <a:off x="1700530" y="3507105"/>
            <a:ext cx="6475095" cy="1587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8611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12" name="Text Box 6"/>
          <p:cNvSpPr txBox="1"/>
          <p:nvPr/>
        </p:nvSpPr>
        <p:spPr>
          <a:xfrm>
            <a:off x="827088" y="1563688"/>
            <a:ext cx="72390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设：二进制码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  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613" name="Text Box 8"/>
          <p:cNvSpPr txBox="1"/>
          <p:nvPr/>
        </p:nvSpPr>
        <p:spPr>
          <a:xfrm>
            <a:off x="1282700" y="2503488"/>
            <a:ext cx="27432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典型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Gray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8614" name="Group 64"/>
          <p:cNvGrpSpPr/>
          <p:nvPr/>
        </p:nvGrpSpPr>
        <p:grpSpPr>
          <a:xfrm>
            <a:off x="5051425" y="1866900"/>
            <a:ext cx="398463" cy="704850"/>
            <a:chOff x="4704" y="1056"/>
            <a:chExt cx="384" cy="768"/>
          </a:xfrm>
        </p:grpSpPr>
        <p:sp>
          <p:nvSpPr>
            <p:cNvPr id="68665" name="Text Box 10"/>
            <p:cNvSpPr txBox="1"/>
            <p:nvPr/>
          </p:nvSpPr>
          <p:spPr>
            <a:xfrm>
              <a:off x="4707" y="1248"/>
              <a:ext cx="288" cy="39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66" name="Line 11"/>
            <p:cNvSpPr/>
            <p:nvPr/>
          </p:nvSpPr>
          <p:spPr>
            <a:xfrm flipH="1">
              <a:off x="4944" y="1056"/>
              <a:ext cx="144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67" name="Line 12"/>
            <p:cNvSpPr/>
            <p:nvPr/>
          </p:nvSpPr>
          <p:spPr>
            <a:xfrm>
              <a:off x="4704" y="1056"/>
              <a:ext cx="192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68" name="Line 13"/>
            <p:cNvSpPr/>
            <p:nvPr/>
          </p:nvSpPr>
          <p:spPr>
            <a:xfrm>
              <a:off x="4944" y="153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68615" name="Text Box 30"/>
          <p:cNvSpPr txBox="1"/>
          <p:nvPr/>
        </p:nvSpPr>
        <p:spPr>
          <a:xfrm>
            <a:off x="3517900" y="1563688"/>
            <a:ext cx="6096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616" name="Text Box 31"/>
          <p:cNvSpPr txBox="1"/>
          <p:nvPr/>
        </p:nvSpPr>
        <p:spPr>
          <a:xfrm>
            <a:off x="798830" y="2997200"/>
            <a:ext cx="793686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二进制码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1     1    1    0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617" name="Text Box 32"/>
          <p:cNvSpPr txBox="1"/>
          <p:nvPr/>
        </p:nvSpPr>
        <p:spPr>
          <a:xfrm>
            <a:off x="1282700" y="4044950"/>
            <a:ext cx="3048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典型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Gray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618" name="Text Box 54"/>
          <p:cNvSpPr txBox="1"/>
          <p:nvPr/>
        </p:nvSpPr>
        <p:spPr>
          <a:xfrm>
            <a:off x="3348355" y="2997200"/>
            <a:ext cx="89789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619" name="Text Box 56"/>
          <p:cNvSpPr txBox="1"/>
          <p:nvPr/>
        </p:nvSpPr>
        <p:spPr>
          <a:xfrm>
            <a:off x="5172075" y="2514600"/>
            <a:ext cx="7620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620" name="Text Box 57"/>
          <p:cNvSpPr txBox="1"/>
          <p:nvPr/>
        </p:nvSpPr>
        <p:spPr>
          <a:xfrm>
            <a:off x="4092575" y="2514600"/>
            <a:ext cx="9144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621" name="Text Box 58"/>
          <p:cNvSpPr txBox="1"/>
          <p:nvPr/>
        </p:nvSpPr>
        <p:spPr>
          <a:xfrm>
            <a:off x="3689350" y="2514600"/>
            <a:ext cx="9144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622" name="Text Box 59"/>
          <p:cNvSpPr txBox="1"/>
          <p:nvPr/>
        </p:nvSpPr>
        <p:spPr>
          <a:xfrm>
            <a:off x="4246563" y="4078288"/>
            <a:ext cx="6096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623" name="Text Box 60"/>
          <p:cNvSpPr txBox="1"/>
          <p:nvPr/>
        </p:nvSpPr>
        <p:spPr>
          <a:xfrm>
            <a:off x="4884738" y="4078288"/>
            <a:ext cx="6096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624" name="Text Box 61"/>
          <p:cNvSpPr txBox="1"/>
          <p:nvPr/>
        </p:nvSpPr>
        <p:spPr>
          <a:xfrm>
            <a:off x="5422900" y="4078288"/>
            <a:ext cx="6096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625" name="Text Box 62"/>
          <p:cNvSpPr txBox="1"/>
          <p:nvPr/>
        </p:nvSpPr>
        <p:spPr>
          <a:xfrm>
            <a:off x="3613150" y="4078288"/>
            <a:ext cx="6096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8626" name="Group 65"/>
          <p:cNvGrpSpPr/>
          <p:nvPr/>
        </p:nvGrpSpPr>
        <p:grpSpPr>
          <a:xfrm>
            <a:off x="5518150" y="1866900"/>
            <a:ext cx="398463" cy="704850"/>
            <a:chOff x="4704" y="1056"/>
            <a:chExt cx="384" cy="768"/>
          </a:xfrm>
        </p:grpSpPr>
        <p:sp>
          <p:nvSpPr>
            <p:cNvPr id="68661" name="Text Box 66"/>
            <p:cNvSpPr txBox="1"/>
            <p:nvPr/>
          </p:nvSpPr>
          <p:spPr>
            <a:xfrm>
              <a:off x="4707" y="1248"/>
              <a:ext cx="288" cy="39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62" name="Line 67"/>
            <p:cNvSpPr/>
            <p:nvPr/>
          </p:nvSpPr>
          <p:spPr>
            <a:xfrm flipH="1">
              <a:off x="4944" y="1056"/>
              <a:ext cx="144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63" name="Line 68"/>
            <p:cNvSpPr/>
            <p:nvPr/>
          </p:nvSpPr>
          <p:spPr>
            <a:xfrm>
              <a:off x="4704" y="1056"/>
              <a:ext cx="192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64" name="Line 69"/>
            <p:cNvSpPr/>
            <p:nvPr/>
          </p:nvSpPr>
          <p:spPr>
            <a:xfrm>
              <a:off x="4944" y="153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8627" name="Group 70"/>
          <p:cNvGrpSpPr/>
          <p:nvPr/>
        </p:nvGrpSpPr>
        <p:grpSpPr>
          <a:xfrm>
            <a:off x="4156075" y="1866900"/>
            <a:ext cx="396875" cy="704850"/>
            <a:chOff x="4704" y="1056"/>
            <a:chExt cx="384" cy="768"/>
          </a:xfrm>
        </p:grpSpPr>
        <p:sp>
          <p:nvSpPr>
            <p:cNvPr id="68657" name="Text Box 71"/>
            <p:cNvSpPr txBox="1"/>
            <p:nvPr/>
          </p:nvSpPr>
          <p:spPr>
            <a:xfrm>
              <a:off x="4707" y="1248"/>
              <a:ext cx="288" cy="39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58" name="Line 72"/>
            <p:cNvSpPr/>
            <p:nvPr/>
          </p:nvSpPr>
          <p:spPr>
            <a:xfrm flipH="1">
              <a:off x="4944" y="1056"/>
              <a:ext cx="144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59" name="Line 73"/>
            <p:cNvSpPr/>
            <p:nvPr/>
          </p:nvSpPr>
          <p:spPr>
            <a:xfrm>
              <a:off x="4704" y="1056"/>
              <a:ext cx="192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60" name="Line 74"/>
            <p:cNvSpPr/>
            <p:nvPr/>
          </p:nvSpPr>
          <p:spPr>
            <a:xfrm>
              <a:off x="4944" y="153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8628" name="Group 75"/>
          <p:cNvGrpSpPr/>
          <p:nvPr/>
        </p:nvGrpSpPr>
        <p:grpSpPr>
          <a:xfrm>
            <a:off x="3679825" y="1866900"/>
            <a:ext cx="398463" cy="704850"/>
            <a:chOff x="4704" y="1056"/>
            <a:chExt cx="384" cy="768"/>
          </a:xfrm>
        </p:grpSpPr>
        <p:sp>
          <p:nvSpPr>
            <p:cNvPr id="68653" name="Text Box 76"/>
            <p:cNvSpPr txBox="1"/>
            <p:nvPr/>
          </p:nvSpPr>
          <p:spPr>
            <a:xfrm>
              <a:off x="4707" y="1291"/>
              <a:ext cx="318" cy="39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54" name="Line 77"/>
            <p:cNvSpPr/>
            <p:nvPr/>
          </p:nvSpPr>
          <p:spPr>
            <a:xfrm flipH="1">
              <a:off x="4944" y="1056"/>
              <a:ext cx="144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55" name="Line 78"/>
            <p:cNvSpPr/>
            <p:nvPr/>
          </p:nvSpPr>
          <p:spPr>
            <a:xfrm>
              <a:off x="4704" y="1056"/>
              <a:ext cx="192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56" name="Line 79"/>
            <p:cNvSpPr/>
            <p:nvPr/>
          </p:nvSpPr>
          <p:spPr>
            <a:xfrm>
              <a:off x="4944" y="153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8629" name="Group 80"/>
          <p:cNvGrpSpPr/>
          <p:nvPr/>
        </p:nvGrpSpPr>
        <p:grpSpPr>
          <a:xfrm>
            <a:off x="5307013" y="3408363"/>
            <a:ext cx="398462" cy="704850"/>
            <a:chOff x="4704" y="1056"/>
            <a:chExt cx="384" cy="768"/>
          </a:xfrm>
        </p:grpSpPr>
        <p:sp>
          <p:nvSpPr>
            <p:cNvPr id="68649" name="Text Box 81"/>
            <p:cNvSpPr txBox="1"/>
            <p:nvPr/>
          </p:nvSpPr>
          <p:spPr>
            <a:xfrm>
              <a:off x="4707" y="1248"/>
              <a:ext cx="288" cy="39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50" name="Line 82"/>
            <p:cNvSpPr/>
            <p:nvPr/>
          </p:nvSpPr>
          <p:spPr>
            <a:xfrm flipH="1">
              <a:off x="4944" y="1056"/>
              <a:ext cx="144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51" name="Line 83"/>
            <p:cNvSpPr/>
            <p:nvPr/>
          </p:nvSpPr>
          <p:spPr>
            <a:xfrm>
              <a:off x="4704" y="1056"/>
              <a:ext cx="192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52" name="Line 84"/>
            <p:cNvSpPr/>
            <p:nvPr/>
          </p:nvSpPr>
          <p:spPr>
            <a:xfrm>
              <a:off x="4944" y="153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8630" name="Group 85"/>
          <p:cNvGrpSpPr/>
          <p:nvPr/>
        </p:nvGrpSpPr>
        <p:grpSpPr>
          <a:xfrm>
            <a:off x="4765675" y="3408363"/>
            <a:ext cx="396875" cy="704850"/>
            <a:chOff x="4704" y="1056"/>
            <a:chExt cx="384" cy="768"/>
          </a:xfrm>
        </p:grpSpPr>
        <p:sp>
          <p:nvSpPr>
            <p:cNvPr id="68645" name="Text Box 86"/>
            <p:cNvSpPr txBox="1"/>
            <p:nvPr/>
          </p:nvSpPr>
          <p:spPr>
            <a:xfrm>
              <a:off x="4707" y="1248"/>
              <a:ext cx="288" cy="39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46" name="Line 87"/>
            <p:cNvSpPr/>
            <p:nvPr/>
          </p:nvSpPr>
          <p:spPr>
            <a:xfrm flipH="1">
              <a:off x="4944" y="1056"/>
              <a:ext cx="144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47" name="Line 88"/>
            <p:cNvSpPr/>
            <p:nvPr/>
          </p:nvSpPr>
          <p:spPr>
            <a:xfrm>
              <a:off x="4704" y="1056"/>
              <a:ext cx="192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48" name="Line 89"/>
            <p:cNvSpPr/>
            <p:nvPr/>
          </p:nvSpPr>
          <p:spPr>
            <a:xfrm>
              <a:off x="4944" y="153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8631" name="Group 90"/>
          <p:cNvGrpSpPr/>
          <p:nvPr/>
        </p:nvGrpSpPr>
        <p:grpSpPr>
          <a:xfrm>
            <a:off x="4151313" y="3408363"/>
            <a:ext cx="398462" cy="704850"/>
            <a:chOff x="4704" y="1056"/>
            <a:chExt cx="384" cy="768"/>
          </a:xfrm>
        </p:grpSpPr>
        <p:sp>
          <p:nvSpPr>
            <p:cNvPr id="68641" name="Text Box 91"/>
            <p:cNvSpPr txBox="1"/>
            <p:nvPr/>
          </p:nvSpPr>
          <p:spPr>
            <a:xfrm>
              <a:off x="4707" y="1248"/>
              <a:ext cx="288" cy="39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42" name="Line 92"/>
            <p:cNvSpPr/>
            <p:nvPr/>
          </p:nvSpPr>
          <p:spPr>
            <a:xfrm flipH="1">
              <a:off x="4944" y="1056"/>
              <a:ext cx="144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43" name="Line 93"/>
            <p:cNvSpPr/>
            <p:nvPr/>
          </p:nvSpPr>
          <p:spPr>
            <a:xfrm>
              <a:off x="4704" y="1056"/>
              <a:ext cx="192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44" name="Line 94"/>
            <p:cNvSpPr/>
            <p:nvPr/>
          </p:nvSpPr>
          <p:spPr>
            <a:xfrm>
              <a:off x="4944" y="153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68632" name="Group 95"/>
          <p:cNvGrpSpPr/>
          <p:nvPr/>
        </p:nvGrpSpPr>
        <p:grpSpPr>
          <a:xfrm>
            <a:off x="3536950" y="3408363"/>
            <a:ext cx="398463" cy="704850"/>
            <a:chOff x="4704" y="1056"/>
            <a:chExt cx="384" cy="768"/>
          </a:xfrm>
        </p:grpSpPr>
        <p:sp>
          <p:nvSpPr>
            <p:cNvPr id="68637" name="Text Box 96"/>
            <p:cNvSpPr txBox="1"/>
            <p:nvPr/>
          </p:nvSpPr>
          <p:spPr>
            <a:xfrm>
              <a:off x="4707" y="1248"/>
              <a:ext cx="288" cy="399"/>
            </a:xfrm>
            <a:prstGeom prst="rect">
              <a:avLst/>
            </a:prstGeom>
            <a:noFill/>
            <a:ln w="19050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endPara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8638" name="Line 97"/>
            <p:cNvSpPr/>
            <p:nvPr/>
          </p:nvSpPr>
          <p:spPr>
            <a:xfrm flipH="1">
              <a:off x="4944" y="1056"/>
              <a:ext cx="144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39" name="Line 98"/>
            <p:cNvSpPr/>
            <p:nvPr/>
          </p:nvSpPr>
          <p:spPr>
            <a:xfrm>
              <a:off x="4704" y="1056"/>
              <a:ext cx="192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68640" name="Line 99"/>
            <p:cNvSpPr/>
            <p:nvPr/>
          </p:nvSpPr>
          <p:spPr>
            <a:xfrm>
              <a:off x="4944" y="1536"/>
              <a:ext cx="0" cy="2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68633" name="Text Box 100"/>
          <p:cNvSpPr txBox="1"/>
          <p:nvPr/>
        </p:nvSpPr>
        <p:spPr>
          <a:xfrm>
            <a:off x="925830" y="1087438"/>
            <a:ext cx="67818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通过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异或运算（运算符⊕）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完成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i+1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,</a:t>
            </a:r>
            <a:endParaRPr lang="en-US" altLang="zh-CN" sz="1800" b="1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634" name="Text Box 101"/>
          <p:cNvSpPr txBox="1"/>
          <p:nvPr/>
        </p:nvSpPr>
        <p:spPr>
          <a:xfrm>
            <a:off x="4638675" y="2457450"/>
            <a:ext cx="6858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…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635" name="Rectangle 102"/>
          <p:cNvSpPr>
            <a:spLocks noGrp="1"/>
          </p:cNvSpPr>
          <p:nvPr>
            <p:ph type="title"/>
          </p:nvPr>
        </p:nvSpPr>
        <p:spPr>
          <a:xfrm>
            <a:off x="628650" y="658813"/>
            <a:ext cx="7772400" cy="5715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典型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Gray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码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是由二进制码生成的。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8636" name="Text Box 55"/>
          <p:cNvSpPr txBox="1"/>
          <p:nvPr/>
        </p:nvSpPr>
        <p:spPr>
          <a:xfrm>
            <a:off x="5634038" y="2503488"/>
            <a:ext cx="7620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Text Box 32"/>
          <p:cNvSpPr txBox="1"/>
          <p:nvPr/>
        </p:nvSpPr>
        <p:spPr>
          <a:xfrm>
            <a:off x="6659880" y="2628900"/>
            <a:ext cx="2009775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注意：标红的数字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en-US" altLang="zh-CN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都不是原有的数字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符号！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69635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636" name="Text Box 5"/>
          <p:cNvSpPr txBox="1"/>
          <p:nvPr/>
        </p:nvSpPr>
        <p:spPr>
          <a:xfrm>
            <a:off x="2187575" y="1933575"/>
            <a:ext cx="54864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i+1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endParaRPr lang="en-US" altLang="zh-CN" sz="1800" b="1" baseline="-250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9637" name="Text Box 6"/>
          <p:cNvSpPr txBox="1"/>
          <p:nvPr/>
        </p:nvSpPr>
        <p:spPr>
          <a:xfrm>
            <a:off x="1751648" y="1933575"/>
            <a:ext cx="7620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∵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9638" name="Text Box 7"/>
          <p:cNvSpPr txBox="1"/>
          <p:nvPr/>
        </p:nvSpPr>
        <p:spPr>
          <a:xfrm>
            <a:off x="1779588" y="3175000"/>
            <a:ext cx="6858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∴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9639" name="Text Box 9"/>
          <p:cNvSpPr txBox="1"/>
          <p:nvPr/>
        </p:nvSpPr>
        <p:spPr>
          <a:xfrm>
            <a:off x="1196975" y="3571875"/>
            <a:ext cx="42672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故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  <a:endParaRPr lang="en-US" altLang="zh-CN" sz="1800" b="1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9640" name="Text Box 10"/>
          <p:cNvSpPr txBox="1"/>
          <p:nvPr/>
        </p:nvSpPr>
        <p:spPr>
          <a:xfrm>
            <a:off x="1273175" y="2332038"/>
            <a:ext cx="554355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则等式两边同时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i+1 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zh-CN" altLang="en-US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9641" name="Text Box 11"/>
          <p:cNvSpPr txBox="1"/>
          <p:nvPr/>
        </p:nvSpPr>
        <p:spPr>
          <a:xfrm>
            <a:off x="2263775" y="2776538"/>
            <a:ext cx="51054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i+1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i+1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i+1</a:t>
            </a:r>
            <a:endParaRPr lang="en-US" altLang="zh-CN" sz="1800" b="1" baseline="-250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9642" name="Text Box 13"/>
          <p:cNvSpPr txBox="1"/>
          <p:nvPr/>
        </p:nvSpPr>
        <p:spPr>
          <a:xfrm>
            <a:off x="1492250" y="1089025"/>
            <a:ext cx="7696200" cy="7835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设：典型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Gray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…  G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endParaRPr lang="en-US" altLang="zh-CN" sz="1800" b="1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∵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0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∴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  <a:endParaRPr lang="en-US" altLang="zh-CN" sz="1800" b="1" baseline="-25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9643" name="Text Box 14"/>
          <p:cNvSpPr txBox="1"/>
          <p:nvPr/>
        </p:nvSpPr>
        <p:spPr>
          <a:xfrm>
            <a:off x="2263775" y="3175000"/>
            <a:ext cx="485330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="1" baseline="-250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 +1      </a:t>
            </a:r>
            <a:r>
              <a:rPr lang="en-US" altLang="zh-CN" sz="1800" b="1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1800" b="1" baseline="-25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9644" name="Text Box 23"/>
          <p:cNvSpPr txBox="1"/>
          <p:nvPr/>
        </p:nvSpPr>
        <p:spPr>
          <a:xfrm>
            <a:off x="2326640" y="4345305"/>
            <a:ext cx="28194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1800" b="1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65546" name="Group 122"/>
          <p:cNvGrpSpPr/>
          <p:nvPr/>
        </p:nvGrpSpPr>
        <p:grpSpPr>
          <a:xfrm>
            <a:off x="2949575" y="3999230"/>
            <a:ext cx="76200" cy="285750"/>
            <a:chOff x="1632" y="3456"/>
            <a:chExt cx="48" cy="240"/>
          </a:xfrm>
          <a:solidFill>
            <a:schemeClr val="tx1"/>
          </a:solidFill>
        </p:grpSpPr>
        <p:sp>
          <p:nvSpPr>
            <p:cNvPr id="65547" name="Oval 118"/>
            <p:cNvSpPr/>
            <p:nvPr/>
          </p:nvSpPr>
          <p:spPr>
            <a:xfrm>
              <a:off x="1632" y="3456"/>
              <a:ext cx="48" cy="48"/>
            </a:xfrm>
            <a:prstGeom prst="ellipse">
              <a:avLst/>
            </a:prstGeom>
            <a:grpFill/>
            <a:ln w="2857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5548" name="Oval 119"/>
            <p:cNvSpPr/>
            <p:nvPr/>
          </p:nvSpPr>
          <p:spPr>
            <a:xfrm>
              <a:off x="1632" y="3552"/>
              <a:ext cx="48" cy="48"/>
            </a:xfrm>
            <a:prstGeom prst="ellipse">
              <a:avLst/>
            </a:prstGeom>
            <a:grpFill/>
            <a:ln w="2857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5549" name="Oval 120"/>
            <p:cNvSpPr/>
            <p:nvPr/>
          </p:nvSpPr>
          <p:spPr>
            <a:xfrm>
              <a:off x="1632" y="3648"/>
              <a:ext cx="48" cy="48"/>
            </a:xfrm>
            <a:prstGeom prst="ellipse">
              <a:avLst/>
            </a:prstGeom>
            <a:grpFill/>
            <a:ln w="2857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defRPr/>
              </a:pPr>
              <a:endParaRPr kumimoji="0" lang="zh-CN" altLang="en-US" sz="18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69646" name="Rectangle 121"/>
          <p:cNvSpPr>
            <a:spLocks noGrp="1"/>
          </p:cNvSpPr>
          <p:nvPr>
            <p:ph type="title"/>
          </p:nvPr>
        </p:nvSpPr>
        <p:spPr>
          <a:xfrm>
            <a:off x="803275" y="715963"/>
            <a:ext cx="84582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反之，由典型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Gray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码也可以得到二进制码，如下：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70659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70660" name="Group 4"/>
          <p:cNvGrpSpPr/>
          <p:nvPr/>
        </p:nvGrpSpPr>
        <p:grpSpPr>
          <a:xfrm>
            <a:off x="5010150" y="2840038"/>
            <a:ext cx="495300" cy="714375"/>
            <a:chOff x="2784" y="624"/>
            <a:chExt cx="432" cy="768"/>
          </a:xfrm>
        </p:grpSpPr>
        <p:sp>
          <p:nvSpPr>
            <p:cNvPr id="70702" name="Text Box 5"/>
            <p:cNvSpPr txBox="1"/>
            <p:nvPr/>
          </p:nvSpPr>
          <p:spPr>
            <a:xfrm>
              <a:off x="2832" y="816"/>
              <a:ext cx="288" cy="39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703" name="Line 6"/>
            <p:cNvSpPr/>
            <p:nvPr/>
          </p:nvSpPr>
          <p:spPr>
            <a:xfrm flipH="1">
              <a:off x="3024" y="624"/>
              <a:ext cx="144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704" name="Line 7"/>
            <p:cNvSpPr/>
            <p:nvPr/>
          </p:nvSpPr>
          <p:spPr>
            <a:xfrm>
              <a:off x="3024" y="1104"/>
              <a:ext cx="192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705" name="Line 8"/>
            <p:cNvSpPr/>
            <p:nvPr/>
          </p:nvSpPr>
          <p:spPr>
            <a:xfrm flipV="1">
              <a:off x="2784" y="1056"/>
              <a:ext cx="192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70661" name="Group 9"/>
          <p:cNvGrpSpPr/>
          <p:nvPr/>
        </p:nvGrpSpPr>
        <p:grpSpPr>
          <a:xfrm>
            <a:off x="4248150" y="2840038"/>
            <a:ext cx="495300" cy="714375"/>
            <a:chOff x="2784" y="624"/>
            <a:chExt cx="432" cy="768"/>
          </a:xfrm>
        </p:grpSpPr>
        <p:sp>
          <p:nvSpPr>
            <p:cNvPr id="70698" name="Text Box 10"/>
            <p:cNvSpPr txBox="1"/>
            <p:nvPr/>
          </p:nvSpPr>
          <p:spPr>
            <a:xfrm>
              <a:off x="2832" y="816"/>
              <a:ext cx="288" cy="39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99" name="Line 11"/>
            <p:cNvSpPr/>
            <p:nvPr/>
          </p:nvSpPr>
          <p:spPr>
            <a:xfrm flipH="1">
              <a:off x="3024" y="624"/>
              <a:ext cx="144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700" name="Line 12"/>
            <p:cNvSpPr/>
            <p:nvPr/>
          </p:nvSpPr>
          <p:spPr>
            <a:xfrm>
              <a:off x="3024" y="1104"/>
              <a:ext cx="192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701" name="Line 13"/>
            <p:cNvSpPr/>
            <p:nvPr/>
          </p:nvSpPr>
          <p:spPr>
            <a:xfrm flipV="1">
              <a:off x="2784" y="1056"/>
              <a:ext cx="192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70662" name="Group 14"/>
          <p:cNvGrpSpPr/>
          <p:nvPr/>
        </p:nvGrpSpPr>
        <p:grpSpPr>
          <a:xfrm>
            <a:off x="3486150" y="2840038"/>
            <a:ext cx="495300" cy="714375"/>
            <a:chOff x="2784" y="624"/>
            <a:chExt cx="432" cy="768"/>
          </a:xfrm>
        </p:grpSpPr>
        <p:sp>
          <p:nvSpPr>
            <p:cNvPr id="70694" name="Text Box 15"/>
            <p:cNvSpPr txBox="1"/>
            <p:nvPr/>
          </p:nvSpPr>
          <p:spPr>
            <a:xfrm>
              <a:off x="2832" y="816"/>
              <a:ext cx="288" cy="393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95" name="Line 16"/>
            <p:cNvSpPr/>
            <p:nvPr/>
          </p:nvSpPr>
          <p:spPr>
            <a:xfrm flipH="1">
              <a:off x="3024" y="624"/>
              <a:ext cx="144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696" name="Line 17"/>
            <p:cNvSpPr/>
            <p:nvPr/>
          </p:nvSpPr>
          <p:spPr>
            <a:xfrm>
              <a:off x="3024" y="1104"/>
              <a:ext cx="192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697" name="Line 18"/>
            <p:cNvSpPr/>
            <p:nvPr/>
          </p:nvSpPr>
          <p:spPr>
            <a:xfrm flipV="1">
              <a:off x="2784" y="1056"/>
              <a:ext cx="192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70663" name="Line 19"/>
          <p:cNvSpPr/>
          <p:nvPr/>
        </p:nvSpPr>
        <p:spPr>
          <a:xfrm>
            <a:off x="3487738" y="2795588"/>
            <a:ext cx="0" cy="75882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0664" name="Text Box 20"/>
          <p:cNvSpPr txBox="1"/>
          <p:nvPr/>
        </p:nvSpPr>
        <p:spPr>
          <a:xfrm>
            <a:off x="1156335" y="3541713"/>
            <a:ext cx="25908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二进制码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 </a:t>
            </a:r>
            <a:endParaRPr lang="en-US" altLang="zh-CN" sz="1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0665" name="Text Box 21"/>
          <p:cNvSpPr txBox="1"/>
          <p:nvPr/>
        </p:nvSpPr>
        <p:spPr>
          <a:xfrm>
            <a:off x="4016375" y="3519488"/>
            <a:ext cx="6096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0666" name="Text Box 22"/>
          <p:cNvSpPr txBox="1"/>
          <p:nvPr/>
        </p:nvSpPr>
        <p:spPr>
          <a:xfrm>
            <a:off x="4778375" y="3519488"/>
            <a:ext cx="6096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0667" name="Text Box 23"/>
          <p:cNvSpPr txBox="1"/>
          <p:nvPr/>
        </p:nvSpPr>
        <p:spPr>
          <a:xfrm>
            <a:off x="5540375" y="3519488"/>
            <a:ext cx="6096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0668" name="Text Box 24"/>
          <p:cNvSpPr txBox="1"/>
          <p:nvPr/>
        </p:nvSpPr>
        <p:spPr>
          <a:xfrm>
            <a:off x="3254375" y="3519488"/>
            <a:ext cx="609600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0669" name="Text Box 25"/>
          <p:cNvSpPr txBox="1"/>
          <p:nvPr/>
        </p:nvSpPr>
        <p:spPr>
          <a:xfrm>
            <a:off x="658813" y="2484438"/>
            <a:ext cx="73152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例：典型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Gray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1   1      1     0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70670" name="Group 26"/>
          <p:cNvGrpSpPr/>
          <p:nvPr/>
        </p:nvGrpSpPr>
        <p:grpSpPr>
          <a:xfrm>
            <a:off x="5483225" y="1220788"/>
            <a:ext cx="374650" cy="652462"/>
            <a:chOff x="2784" y="624"/>
            <a:chExt cx="432" cy="768"/>
          </a:xfrm>
        </p:grpSpPr>
        <p:sp>
          <p:nvSpPr>
            <p:cNvPr id="70690" name="Text Box 27"/>
            <p:cNvSpPr txBox="1"/>
            <p:nvPr/>
          </p:nvSpPr>
          <p:spPr>
            <a:xfrm>
              <a:off x="2832" y="816"/>
              <a:ext cx="288" cy="4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91" name="Line 28"/>
            <p:cNvSpPr/>
            <p:nvPr/>
          </p:nvSpPr>
          <p:spPr>
            <a:xfrm flipH="1">
              <a:off x="3024" y="624"/>
              <a:ext cx="144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692" name="Line 29"/>
            <p:cNvSpPr/>
            <p:nvPr/>
          </p:nvSpPr>
          <p:spPr>
            <a:xfrm>
              <a:off x="3024" y="1104"/>
              <a:ext cx="192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693" name="Line 30"/>
            <p:cNvSpPr/>
            <p:nvPr/>
          </p:nvSpPr>
          <p:spPr>
            <a:xfrm flipV="1">
              <a:off x="2784" y="1056"/>
              <a:ext cx="192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70671" name="Group 31"/>
          <p:cNvGrpSpPr/>
          <p:nvPr/>
        </p:nvGrpSpPr>
        <p:grpSpPr>
          <a:xfrm>
            <a:off x="4721225" y="1220788"/>
            <a:ext cx="374650" cy="652462"/>
            <a:chOff x="2784" y="624"/>
            <a:chExt cx="432" cy="768"/>
          </a:xfrm>
        </p:grpSpPr>
        <p:sp>
          <p:nvSpPr>
            <p:cNvPr id="70686" name="Text Box 32"/>
            <p:cNvSpPr txBox="1"/>
            <p:nvPr/>
          </p:nvSpPr>
          <p:spPr>
            <a:xfrm>
              <a:off x="2832" y="816"/>
              <a:ext cx="288" cy="4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87" name="Line 33"/>
            <p:cNvSpPr/>
            <p:nvPr/>
          </p:nvSpPr>
          <p:spPr>
            <a:xfrm flipH="1">
              <a:off x="3024" y="624"/>
              <a:ext cx="144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688" name="Line 34"/>
            <p:cNvSpPr/>
            <p:nvPr/>
          </p:nvSpPr>
          <p:spPr>
            <a:xfrm>
              <a:off x="3024" y="1104"/>
              <a:ext cx="192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689" name="Line 35"/>
            <p:cNvSpPr/>
            <p:nvPr/>
          </p:nvSpPr>
          <p:spPr>
            <a:xfrm flipV="1">
              <a:off x="2784" y="1056"/>
              <a:ext cx="192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grpSp>
        <p:nvGrpSpPr>
          <p:cNvPr id="70672" name="Group 36"/>
          <p:cNvGrpSpPr/>
          <p:nvPr/>
        </p:nvGrpSpPr>
        <p:grpSpPr>
          <a:xfrm>
            <a:off x="3344863" y="1220788"/>
            <a:ext cx="374650" cy="652462"/>
            <a:chOff x="2784" y="624"/>
            <a:chExt cx="432" cy="768"/>
          </a:xfrm>
        </p:grpSpPr>
        <p:sp>
          <p:nvSpPr>
            <p:cNvPr id="70682" name="Text Box 37"/>
            <p:cNvSpPr txBox="1"/>
            <p:nvPr/>
          </p:nvSpPr>
          <p:spPr>
            <a:xfrm>
              <a:off x="2832" y="816"/>
              <a:ext cx="288" cy="43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</a:pPr>
              <a:r>
                <a:rPr lang="en-US" altLang="zh-CN" sz="1800" b="1" dirty="0">
                  <a:solidFill>
                    <a:schemeClr val="tx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⊕</a:t>
              </a:r>
              <a:endPara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70683" name="Line 38"/>
            <p:cNvSpPr/>
            <p:nvPr/>
          </p:nvSpPr>
          <p:spPr>
            <a:xfrm flipH="1">
              <a:off x="3024" y="624"/>
              <a:ext cx="144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684" name="Line 39"/>
            <p:cNvSpPr/>
            <p:nvPr/>
          </p:nvSpPr>
          <p:spPr>
            <a:xfrm>
              <a:off x="3024" y="1104"/>
              <a:ext cx="192" cy="2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70685" name="Line 40"/>
            <p:cNvSpPr/>
            <p:nvPr/>
          </p:nvSpPr>
          <p:spPr>
            <a:xfrm flipV="1">
              <a:off x="2784" y="1056"/>
              <a:ext cx="192" cy="33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70673" name="Line 41"/>
          <p:cNvSpPr/>
          <p:nvPr/>
        </p:nvSpPr>
        <p:spPr>
          <a:xfrm>
            <a:off x="3268663" y="1179513"/>
            <a:ext cx="1587" cy="69373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0674" name="Text Box 42"/>
          <p:cNvSpPr txBox="1"/>
          <p:nvPr/>
        </p:nvSpPr>
        <p:spPr>
          <a:xfrm>
            <a:off x="1165225" y="1944688"/>
            <a:ext cx="24384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二进制码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1800" b="1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0675" name="Text Box 43"/>
          <p:cNvSpPr txBox="1"/>
          <p:nvPr/>
        </p:nvSpPr>
        <p:spPr>
          <a:xfrm>
            <a:off x="6086475" y="1920875"/>
            <a:ext cx="7620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0676" name="Text Box 44"/>
          <p:cNvSpPr txBox="1"/>
          <p:nvPr/>
        </p:nvSpPr>
        <p:spPr>
          <a:xfrm>
            <a:off x="5400675" y="1933575"/>
            <a:ext cx="7620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0677" name="Text Box 45"/>
          <p:cNvSpPr txBox="1"/>
          <p:nvPr/>
        </p:nvSpPr>
        <p:spPr>
          <a:xfrm>
            <a:off x="3800475" y="1933575"/>
            <a:ext cx="9144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</a:t>
            </a:r>
            <a:endParaRPr lang="en-US" altLang="zh-CN" sz="1800" b="1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0678" name="Text Box 46"/>
          <p:cNvSpPr txBox="1"/>
          <p:nvPr/>
        </p:nvSpPr>
        <p:spPr>
          <a:xfrm>
            <a:off x="3038475" y="1933575"/>
            <a:ext cx="10668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  <a:endParaRPr lang="en-US" altLang="zh-CN" sz="1800" b="1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0679" name="Text Box 47"/>
          <p:cNvSpPr txBox="1"/>
          <p:nvPr/>
        </p:nvSpPr>
        <p:spPr>
          <a:xfrm>
            <a:off x="4562475" y="1887538"/>
            <a:ext cx="685800" cy="3651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…</a:t>
            </a:r>
            <a:endParaRPr lang="en-US" altLang="zh-CN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0680" name="Text Box 48"/>
          <p:cNvSpPr txBox="1"/>
          <p:nvPr/>
        </p:nvSpPr>
        <p:spPr>
          <a:xfrm>
            <a:off x="3059113" y="744538"/>
            <a:ext cx="4465637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n-1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n-2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1800" b="1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…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G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G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1800" b="1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0681" name="Rectangle 49"/>
          <p:cNvSpPr>
            <a:spLocks noGrp="1"/>
          </p:cNvSpPr>
          <p:nvPr>
            <p:ph type="title"/>
          </p:nvPr>
        </p:nvSpPr>
        <p:spPr>
          <a:xfrm>
            <a:off x="587375" y="860425"/>
            <a:ext cx="3733800" cy="8572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设：典型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Gray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码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1EAAB41-636D-4C28-8BDC-C23F7590A7EE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71683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60" name="Rectangle 3"/>
          <p:cNvSpPr>
            <a:spLocks noGrp="1"/>
          </p:cNvSpPr>
          <p:nvPr>
            <p:ph idx="1"/>
          </p:nvPr>
        </p:nvSpPr>
        <p:spPr>
          <a:xfrm>
            <a:off x="822325" y="700088"/>
            <a:ext cx="7853363" cy="4067175"/>
          </a:xfrm>
          <a:noFill/>
          <a:ln>
            <a:noFill/>
          </a:ln>
        </p:spPr>
        <p:txBody>
          <a:bodyPr/>
          <a:p>
            <a:pPr eaLnBrk="1" hangingPunct="1"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这种典型格雷码还有一个特点：</a:t>
            </a: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所有对应于十进制数</a:t>
            </a:r>
            <a:r>
              <a:rPr lang="en-US" altLang="zh-CN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2 </a:t>
            </a:r>
            <a:r>
              <a:rPr lang="en-US" altLang="zh-CN" sz="1800" baseline="30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 </a:t>
            </a:r>
            <a:r>
              <a:rPr lang="en-US" altLang="zh-CN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-1 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(m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为正整数）的格雷码，都仅在</a:t>
            </a:r>
            <a:r>
              <a:rPr lang="en-US" altLang="zh-CN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位上有 </a:t>
            </a:r>
            <a:r>
              <a:rPr lang="en-US" altLang="zh-CN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endParaRPr lang="en-US" altLang="zh-CN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其他位都为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例：</a:t>
            </a: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m = 1 ,  2 </a:t>
            </a:r>
            <a:r>
              <a:rPr lang="en-US" altLang="zh-CN" sz="1800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-1 = 1,       1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的典型格雷码是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0001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m = 2 ,  2 </a:t>
            </a:r>
            <a:r>
              <a:rPr lang="en-US" altLang="zh-CN" sz="1800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-1 = 3,       3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的典型格雷码是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0010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m = 3 ,  2 </a:t>
            </a:r>
            <a:r>
              <a:rPr lang="en-US" altLang="zh-CN" sz="1800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-1 = 7,       7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的典型格雷码是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0100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；</a:t>
            </a: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m = 4 ,  2 </a:t>
            </a:r>
            <a:r>
              <a:rPr lang="en-US" altLang="zh-CN" sz="1800" baseline="30000" dirty="0">
                <a:latin typeface="华文新魏" panose="02010800040101010101" pitchFamily="2" charset="-122"/>
                <a:ea typeface="华文新魏" panose="02010800040101010101" pitchFamily="2" charset="-122"/>
              </a:rPr>
              <a:t>m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-1 = 15,      15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的典型格雷码是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1000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</a:t>
            </a:r>
            <a:endParaRPr lang="en-US" altLang="zh-CN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这些数与 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0 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之间只有一位的差别，回到 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0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仍能保持一位差别的特点，</a:t>
            </a:r>
            <a:endParaRPr lang="en-US" altLang="zh-CN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所以称作</a:t>
            </a:r>
            <a:r>
              <a:rPr lang="zh-CN" altLang="en-US" sz="18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循环码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，</a:t>
            </a:r>
            <a:r>
              <a:rPr lang="zh-CN" altLang="en-US" sz="1800" b="1" u="sng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特别适用做二进制码计数器的编码</a:t>
            </a:r>
            <a:r>
              <a:rPr lang="zh-CN" altLang="en-US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。</a:t>
            </a:r>
            <a:endParaRPr lang="zh-CN" altLang="en-US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eaLnBrk="1" hangingPunct="1">
              <a:buNone/>
            </a:pPr>
            <a:endParaRPr lang="en-US" altLang="zh-CN" sz="1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charRg st="70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charRg st="73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charRg st="118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charRg st="161" end="2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charRg st="204" end="2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charRg st="248" end="2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charRg st="259" end="3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>
                                            <p:txEl>
                                              <p:charRg st="301" end="3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514469E7-86DF-42DB-9967-93334B0B5AFE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72707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08" name="Rectangle 2"/>
          <p:cNvSpPr>
            <a:spLocks noGrp="1"/>
          </p:cNvSpPr>
          <p:nvPr>
            <p:ph type="title"/>
          </p:nvPr>
        </p:nvSpPr>
        <p:spPr>
          <a:xfrm>
            <a:off x="917575" y="949325"/>
            <a:ext cx="7031990" cy="491490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十进制</a:t>
            </a: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Gray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码：代码特征应符合</a:t>
            </a:r>
            <a:r>
              <a:rPr lang="en-US" altLang="zh-CN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Gray</a:t>
            </a:r>
            <a:r>
              <a:rPr lang="zh-CN" altLang="en-US" sz="20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码的要求，且十六选十。</a:t>
            </a:r>
            <a:endParaRPr lang="zh-CN" altLang="en-US" sz="20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2709" name="Rectangle 6"/>
          <p:cNvSpPr>
            <a:spLocks noGrp="1"/>
          </p:cNvSpPr>
          <p:nvPr>
            <p:ph idx="1"/>
          </p:nvPr>
        </p:nvSpPr>
        <p:spPr>
          <a:xfrm>
            <a:off x="1019810" y="1681480"/>
            <a:ext cx="7772400" cy="2845435"/>
          </a:xfrm>
          <a:noFill/>
          <a:ln>
            <a:noFill/>
          </a:ln>
        </p:spPr>
        <p:txBody>
          <a:bodyPr/>
          <a:p>
            <a:pPr eaLnBrk="1" hangingPunct="1">
              <a:buNone/>
            </a:pP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使得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9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回到 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也只有一位差别，并保持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None/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循环码的特色，表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1-4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中已列出了其中二种（教材中只给出了一种）：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None/>
            </a:pP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十进制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Gray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码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(1)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kumimoji="1" lang="en-US" altLang="zh-CN" sz="2000" b="1" smtClean="0">
                <a:ln>
                  <a:noFill/>
                </a:ln>
                <a:effectLst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0000,</a:t>
            </a:r>
            <a:r>
              <a:rPr kumimoji="1" lang="en-US" altLang="zh-CN" sz="2000" b="1" smtClean="0">
                <a:ln>
                  <a:noFill/>
                </a:ln>
                <a:effectLst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0001,0011,0010,0110,</a:t>
            </a:r>
            <a:endParaRPr kumimoji="1" lang="en-US" altLang="zh-CN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000" b="1" smtClean="0">
                <a:ln>
                  <a:noFill/>
                </a:ln>
                <a:effectLst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         1110,1010,1011,1001,1000</a:t>
            </a:r>
            <a:endParaRPr kumimoji="1" lang="en-US" altLang="zh-CN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十进制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Gray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码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(2)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：</a:t>
            </a:r>
            <a:r>
              <a:rPr kumimoji="1" lang="en-US" altLang="zh-CN" sz="2000" b="1" smtClean="0">
                <a:ln>
                  <a:noFill/>
                </a:ln>
                <a:effectLst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0000</a:t>
            </a:r>
            <a:r>
              <a:rPr kumimoji="1" lang="en-US" altLang="zh-CN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en-US" altLang="zh-CN" sz="2000" b="1" smtClean="0">
                <a:ln>
                  <a:noFill/>
                </a:ln>
                <a:effectLst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0001,0011</a:t>
            </a:r>
            <a:r>
              <a:rPr kumimoji="1" lang="en-US" altLang="zh-CN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en-US" altLang="zh-CN" sz="2000" b="1" smtClean="0">
                <a:ln>
                  <a:noFill/>
                </a:ln>
                <a:effectLst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0010</a:t>
            </a:r>
            <a:r>
              <a:rPr kumimoji="1" lang="en-US" altLang="zh-CN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en-US" altLang="zh-CN" sz="2000" b="1" smtClean="0">
                <a:ln>
                  <a:noFill/>
                </a:ln>
                <a:effectLst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0110,</a:t>
            </a:r>
            <a:endParaRPr kumimoji="1" lang="en-US" altLang="zh-CN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000" b="1" smtClean="0">
                <a:ln>
                  <a:noFill/>
                </a:ln>
                <a:effectLst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                 0111</a:t>
            </a:r>
            <a:r>
              <a:rPr kumimoji="1" lang="en-US" altLang="zh-CN" sz="20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kumimoji="1" lang="en-US" altLang="zh-CN" sz="2000" b="1" smtClean="0">
                <a:ln>
                  <a:noFill/>
                </a:ln>
                <a:effectLst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0101,0100,1100,1000</a:t>
            </a:r>
            <a:endParaRPr kumimoji="1" lang="en-US" altLang="zh-CN" sz="20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buNone/>
            </a:pP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3B81B4FA-CC3C-4BBE-B998-15C345DF7FF2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73731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732" name="Rectangle 2"/>
          <p:cNvSpPr>
            <a:spLocks noGrp="1"/>
          </p:cNvSpPr>
          <p:nvPr>
            <p:ph type="title"/>
          </p:nvPr>
        </p:nvSpPr>
        <p:spPr>
          <a:xfrm>
            <a:off x="684213" y="771525"/>
            <a:ext cx="7772400" cy="685800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2)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奇偶校验码（</a:t>
            </a:r>
            <a:r>
              <a:rPr lang="en-US" altLang="zh-CN" sz="18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Parity Code</a:t>
            </a:r>
            <a:r>
              <a:rPr lang="zh-CN" altLang="en-US" sz="18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1800" b="1" i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2709" name="Rectangle 3"/>
          <p:cNvSpPr>
            <a:spLocks noGrp="1"/>
          </p:cNvSpPr>
          <p:nvPr>
            <p:ph idx="1"/>
          </p:nvPr>
        </p:nvSpPr>
        <p:spPr>
          <a:xfrm>
            <a:off x="654050" y="1987550"/>
            <a:ext cx="8915400" cy="3086100"/>
          </a:xfrm>
          <a:noFill/>
          <a:ln>
            <a:noFill/>
          </a:ln>
        </p:spPr>
        <p:txBody>
          <a:bodyPr/>
          <a:p>
            <a:pPr eaLnBrk="1" hangingPunct="1">
              <a:lnSpc>
                <a:spcPct val="100000"/>
              </a:lnSpc>
            </a:pPr>
            <a:r>
              <a:rPr lang="zh-CN" altLang="en-US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偶校验编码：</a:t>
            </a: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    校验位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的取值使得整个</a:t>
            </a:r>
            <a:r>
              <a:rPr lang="zh-CN" altLang="en-US" sz="1800" b="1" u="sng" dirty="0">
                <a:latin typeface="黑体" panose="02010609060101010101" pitchFamily="49" charset="-122"/>
                <a:ea typeface="黑体" panose="02010609060101010101" pitchFamily="49" charset="-122"/>
              </a:rPr>
              <a:t>校验码</a:t>
            </a:r>
            <a:r>
              <a:rPr lang="zh-CN" altLang="en-US" sz="1800" b="1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码字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中“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1”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的个数是偶数；</a:t>
            </a: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    则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校验位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P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的产生规则为：</a:t>
            </a:r>
            <a:r>
              <a:rPr lang="en-US" altLang="zh-CN" sz="1800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1800" b="1" baseline="-250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偶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= B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⊕ B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⊕ …⊕ B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⊕ B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endParaRPr lang="en-US" altLang="zh-CN" sz="1800" b="1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</a:pPr>
            <a:r>
              <a:rPr lang="zh-CN" altLang="en-US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奇校验编码：</a:t>
            </a: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    校验位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的取值使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得整个</a:t>
            </a:r>
            <a:r>
              <a:rPr lang="zh-CN" altLang="en-US" sz="1800" b="1" u="sng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校验码</a:t>
            </a:r>
            <a:r>
              <a:rPr lang="zh-CN" altLang="en-US" sz="1800" b="1" u="sng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码字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中“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1”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的个数是奇数；</a:t>
            </a: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00000"/>
              </a:lnSpc>
              <a:buNone/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则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校验位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P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的产生规则为：</a:t>
            </a:r>
            <a:r>
              <a:rPr lang="en-US" altLang="zh-CN" sz="1800" b="1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zh-CN" altLang="en-US" sz="1800" b="1" baseline="-250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奇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= B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⊕ B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⊕ …⊕ B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⊕ B</a:t>
            </a:r>
            <a:r>
              <a:rPr lang="en-US" altLang="zh-CN" sz="1800" b="1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en-US" altLang="zh-CN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1800" b="1" baseline="-25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3734" name="Text Box 6"/>
          <p:cNvSpPr txBox="1"/>
          <p:nvPr/>
        </p:nvSpPr>
        <p:spPr>
          <a:xfrm>
            <a:off x="3048000" y="1387475"/>
            <a:ext cx="2821940" cy="368300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en-US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－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  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～ </a:t>
            </a:r>
            <a:r>
              <a:rPr lang="zh-CN" altLang="en-US" sz="1800" b="1" dirty="0">
                <a:solidFill>
                  <a:schemeClr val="tx1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B</a:t>
            </a:r>
            <a:r>
              <a:rPr lang="en-US" altLang="zh-CN" sz="1800" b="1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endParaRPr lang="en-US" altLang="zh-CN" sz="1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3735" name="Line 8"/>
          <p:cNvSpPr/>
          <p:nvPr/>
        </p:nvSpPr>
        <p:spPr>
          <a:xfrm rot="120000">
            <a:off x="5528945" y="1387475"/>
            <a:ext cx="13335" cy="368300"/>
          </a:xfrm>
          <a:prstGeom prst="line">
            <a:avLst/>
          </a:prstGeom>
          <a:ln w="28575" cap="flat" cmpd="sng">
            <a:solidFill>
              <a:schemeClr val="accent1">
                <a:shade val="50000"/>
              </a:schemeClr>
            </a:solidFill>
            <a:prstDash val="sysDash"/>
            <a:headEnd type="none" w="med" len="med"/>
            <a:tailEnd type="none" w="med" len="med"/>
          </a:ln>
        </p:spPr>
      </p:sp>
      <p:sp>
        <p:nvSpPr>
          <p:cNvPr id="73736" name="Text Box 9"/>
          <p:cNvSpPr txBox="1"/>
          <p:nvPr/>
        </p:nvSpPr>
        <p:spPr>
          <a:xfrm>
            <a:off x="721360" y="1387475"/>
            <a:ext cx="231521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奇偶校验码码字模式：</a:t>
            </a:r>
            <a:endParaRPr lang="zh-CN" altLang="en-US" sz="1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716655" y="1726565"/>
            <a:ext cx="118237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n</a:t>
            </a:r>
            <a:r>
              <a:rPr lang="zh-CN" altLang="en-US" sz="16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位信息位</a:t>
            </a:r>
            <a:endParaRPr lang="zh-CN" altLang="en-US" sz="16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45735" y="1798320"/>
            <a:ext cx="98933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1</a:t>
            </a:r>
            <a:r>
              <a:rPr lang="zh-CN" altLang="en-US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位</a:t>
            </a:r>
            <a:r>
              <a:rPr lang="zh-CN" altLang="en-US" sz="1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校验位</a:t>
            </a:r>
            <a:endParaRPr lang="zh-CN" altLang="en-US" sz="14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>
                                            <p:txEl>
                                              <p:charRg st="5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>
                                            <p:txEl>
                                              <p:charRg st="33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>
                                            <p:txEl>
                                              <p:charRg st="76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>
                                            <p:txEl>
                                              <p:charRg st="81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9">
                                            <p:txEl>
                                              <p:charRg st="110" end="1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8E22470B-E46A-4196-A9DA-E4435BB09F9C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74755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756" name="Rectangle 2"/>
          <p:cNvSpPr>
            <a:spLocks noGrp="1"/>
          </p:cNvSpPr>
          <p:nvPr>
            <p:ph type="title"/>
          </p:nvPr>
        </p:nvSpPr>
        <p:spPr>
          <a:xfrm>
            <a:off x="744538" y="957263"/>
            <a:ext cx="8686800" cy="857250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问题：① 奇偶校验码</a:t>
            </a:r>
            <a:r>
              <a:rPr lang="zh-CN" altLang="en-US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能发现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单错，但不能对单错定位；</a:t>
            </a:r>
            <a:b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② 奇偶校验码</a:t>
            </a:r>
            <a:r>
              <a:rPr lang="zh-CN" altLang="en-US" sz="1800" dirty="0">
                <a:solidFill>
                  <a:srgbClr val="FF00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不能发现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双错。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4757" name="Rectangle 3"/>
          <p:cNvSpPr>
            <a:spLocks noGrp="1"/>
          </p:cNvSpPr>
          <p:nvPr>
            <p:ph idx="1"/>
          </p:nvPr>
        </p:nvSpPr>
        <p:spPr>
          <a:xfrm>
            <a:off x="730250" y="1929130"/>
            <a:ext cx="7957185" cy="1257300"/>
          </a:xfrm>
          <a:noFill/>
          <a:ln>
            <a:noFill/>
          </a:ln>
        </p:spPr>
        <p:txBody>
          <a:bodyPr/>
          <a:p>
            <a:pPr eaLnBrk="1" hangingPunct="1"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对于问题① ，或要求通信对方重新再发；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     或通信双方约定在信息传送中采用横向和纵向奇偶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             校验方式，即可对单错定位（按组为单位进行纵向编码）。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4758" name="Text Box 6"/>
          <p:cNvSpPr txBox="1"/>
          <p:nvPr/>
        </p:nvSpPr>
        <p:spPr>
          <a:xfrm>
            <a:off x="730250" y="3228975"/>
            <a:ext cx="8308975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对于问题② ，试想：为什么奇偶校验码不能发现双错？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66315" y="4011930"/>
            <a:ext cx="3048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 dirty="0">
                <a:highlight>
                  <a:srgbClr val="000000"/>
                </a:highlight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奇偶校验码的使用场景？</a:t>
            </a:r>
            <a:endParaRPr lang="zh-CN" altLang="en-US" b="1" dirty="0">
              <a:highlight>
                <a:srgbClr val="000000"/>
              </a:highlight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837C8F5-D43E-4915-B5FC-EF279A27CCF6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75779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780" name="Rectangle 2"/>
          <p:cNvSpPr>
            <a:spLocks noGrp="1"/>
          </p:cNvSpPr>
          <p:nvPr>
            <p:ph type="title"/>
          </p:nvPr>
        </p:nvSpPr>
        <p:spPr>
          <a:xfrm>
            <a:off x="533400" y="688975"/>
            <a:ext cx="7772400" cy="628650"/>
          </a:xfrm>
          <a:noFill/>
          <a:ln>
            <a:noFill/>
          </a:ln>
        </p:spPr>
        <p:txBody>
          <a:bodyPr/>
          <a:p>
            <a:pPr eaLnBrk="1" hangingPunct="1"/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3)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海明校验码（</a:t>
            </a:r>
            <a:r>
              <a:rPr lang="en-US" altLang="zh-CN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Hamming codes</a:t>
            </a:r>
            <a:r>
              <a:rPr lang="zh-CN" altLang="en-US" sz="2400" b="1" i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en-US" sz="2400" b="1" i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5781" name="Rectangle 3"/>
          <p:cNvSpPr>
            <a:spLocks noGrp="1"/>
          </p:cNvSpPr>
          <p:nvPr>
            <p:ph idx="1"/>
          </p:nvPr>
        </p:nvSpPr>
        <p:spPr>
          <a:xfrm>
            <a:off x="685800" y="1030288"/>
            <a:ext cx="7772400" cy="971550"/>
          </a:xfrm>
          <a:noFill/>
          <a:ln>
            <a:noFill/>
          </a:ln>
        </p:spPr>
        <p:txBody>
          <a:bodyPr/>
          <a:p>
            <a:pPr eaLnBrk="1" hangingPunct="1"/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目的：不仅能检测出单错，还能校正单错</a:t>
            </a: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方法（</a:t>
            </a:r>
            <a:r>
              <a:rPr lang="zh-CN" altLang="en-US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代价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）：增加校验位及相应的异或运算逻辑</a:t>
            </a: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5782" name="Text Box 5"/>
          <p:cNvSpPr txBox="1"/>
          <p:nvPr/>
        </p:nvSpPr>
        <p:spPr>
          <a:xfrm>
            <a:off x="-107950" y="2211705"/>
            <a:ext cx="8580755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以四位数据信息位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为例，在数据传输前生成它的海明校验码：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⑴  位</a:t>
            </a:r>
            <a:r>
              <a:rPr lang="en-US" altLang="zh-CN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序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7   6   5   4   3 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 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</a:t>
            </a:r>
            <a:r>
              <a:rPr lang="zh-CN" altLang="en-US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海明码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  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1800" baseline="-25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1800" baseline="-25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5783" name="Text Box 6"/>
          <p:cNvSpPr txBox="1"/>
          <p:nvPr/>
        </p:nvSpPr>
        <p:spPr>
          <a:xfrm>
            <a:off x="659130" y="3507105"/>
            <a:ext cx="816356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⑵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校验位的</a:t>
            </a:r>
            <a:r>
              <a:rPr lang="zh-CN" altLang="en-US" sz="1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生成公式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P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＝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   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＝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        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＝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⊕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                  </a:t>
            </a:r>
            <a:r>
              <a:rPr lang="zh-CN" altLang="en-US" sz="1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偶校验？</a:t>
            </a:r>
            <a:endParaRPr lang="zh-CN" altLang="en-US" sz="1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advTm="25000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76803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6804" name="Rectangle 3"/>
          <p:cNvSpPr>
            <a:spLocks noGrp="1"/>
          </p:cNvSpPr>
          <p:nvPr>
            <p:ph type="title"/>
          </p:nvPr>
        </p:nvSpPr>
        <p:spPr>
          <a:xfrm>
            <a:off x="398463" y="458788"/>
            <a:ext cx="7772400" cy="3143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algn="ctr" eaLnBrk="1" hangingPunct="1"/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表</a:t>
            </a: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1-6  “8421”</a:t>
            </a:r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海明码</a:t>
            </a:r>
            <a:endParaRPr lang="zh-CN" alt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09703" name="Group 135"/>
          <p:cNvGraphicFramePr>
            <a:graphicFrameLocks noGrp="1"/>
          </p:cNvGraphicFramePr>
          <p:nvPr/>
        </p:nvGraphicFramePr>
        <p:xfrm>
          <a:off x="712788" y="744538"/>
          <a:ext cx="7239000" cy="4070645"/>
        </p:xfrm>
        <a:graphic>
          <a:graphicData uri="http://schemas.openxmlformats.org/drawingml/2006/table">
            <a:tbl>
              <a:tblPr/>
              <a:tblGrid>
                <a:gridCol w="904875"/>
                <a:gridCol w="904875"/>
                <a:gridCol w="904875"/>
                <a:gridCol w="904875"/>
                <a:gridCol w="904875"/>
                <a:gridCol w="904875"/>
                <a:gridCol w="904875"/>
                <a:gridCol w="904875"/>
              </a:tblGrid>
              <a:tr h="3517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位序</a:t>
                      </a:r>
                      <a:endParaRPr kumimoji="1" lang="zh-CN" altLang="en-US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419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N     .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21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1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1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21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2100" b="1" i="0" u="none" strike="noStrike" cap="none" normalizeH="0" baseline="-2500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r>
                        <a:rPr kumimoji="1" lang="en-US" altLang="zh-CN" sz="21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21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21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2100" b="1" i="0" u="none" strike="noStrike" cap="none" normalizeH="0" baseline="-2500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1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</a:t>
                      </a:r>
                      <a:r>
                        <a:rPr kumimoji="1" lang="en-US" altLang="zh-CN" sz="21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76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76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76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76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76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76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76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76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76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76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1" lang="en-US" altLang="zh-CN" sz="17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7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  <a:endParaRPr kumimoji="1" lang="en-US" altLang="zh-CN" sz="17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34286" marB="34286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6924" name="Line 125"/>
          <p:cNvSpPr/>
          <p:nvPr/>
        </p:nvSpPr>
        <p:spPr>
          <a:xfrm>
            <a:off x="1143000" y="1058863"/>
            <a:ext cx="914400" cy="0"/>
          </a:xfrm>
          <a:prstGeom prst="line">
            <a:avLst/>
          </a:prstGeom>
          <a:ln w="9525" cap="flat" cmpd="sng">
            <a:solidFill>
              <a:schemeClr val="bg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6925" name="Line 126"/>
          <p:cNvSpPr/>
          <p:nvPr/>
        </p:nvSpPr>
        <p:spPr>
          <a:xfrm>
            <a:off x="713105" y="744855"/>
            <a:ext cx="848995" cy="7524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 advTm="25000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A4039009-4750-47B7-A32F-CC457F09A79D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77827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7828" name="Rectangle 3"/>
          <p:cNvSpPr>
            <a:spLocks noGrp="1"/>
          </p:cNvSpPr>
          <p:nvPr>
            <p:ph type="title"/>
          </p:nvPr>
        </p:nvSpPr>
        <p:spPr>
          <a:xfrm>
            <a:off x="533400" y="615950"/>
            <a:ext cx="7772400" cy="514350"/>
          </a:xfrm>
          <a:noFill/>
          <a:ln>
            <a:noFill/>
          </a:ln>
        </p:spPr>
        <p:txBody>
          <a:bodyPr/>
          <a:p>
            <a:pPr eaLnBrk="1" hangingPunct="1"/>
            <a:r>
              <a:rPr lang="zh-CN" altLang="en-US" sz="1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对传输后的海明码进行检查错误和校正错误：</a:t>
            </a:r>
            <a:endParaRPr lang="zh-CN" altLang="en-US" sz="18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7829" name="Rectangle 4"/>
          <p:cNvSpPr>
            <a:spLocks noGrp="1"/>
          </p:cNvSpPr>
          <p:nvPr>
            <p:ph idx="1"/>
          </p:nvPr>
        </p:nvSpPr>
        <p:spPr>
          <a:xfrm>
            <a:off x="533400" y="1146175"/>
            <a:ext cx="7772400" cy="954088"/>
          </a:xfrm>
          <a:noFill/>
          <a:ln>
            <a:noFill/>
          </a:ln>
        </p:spPr>
        <p:txBody>
          <a:bodyPr/>
          <a:p>
            <a:pPr>
              <a:buNone/>
            </a:pP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⑶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校验和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＝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⊕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⊕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b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＝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⊕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⊕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b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＝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4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⊕ 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2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⊕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⊕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1800" baseline="-25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1800" baseline="-25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7830" name="Text Box 5"/>
          <p:cNvSpPr txBox="1"/>
          <p:nvPr/>
        </p:nvSpPr>
        <p:spPr>
          <a:xfrm>
            <a:off x="533400" y="2100263"/>
            <a:ext cx="8382000" cy="11890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①  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当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S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S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0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时，接收到的信息是正确的；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②  当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1≤S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S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S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≤7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时，则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S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S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所表示的二进制值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便是出错的那一位的位序值。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6807" name="Text Box 7"/>
          <p:cNvSpPr txBox="1"/>
          <p:nvPr/>
        </p:nvSpPr>
        <p:spPr>
          <a:xfrm>
            <a:off x="539750" y="3363278"/>
            <a:ext cx="8382000" cy="10493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例：接收到的海明码为：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7   6   5   4  3   2   1 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4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  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1800" baseline="-25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             0   0   0   1  0   1   0</a:t>
            </a:r>
            <a:endParaRPr lang="en-US" altLang="zh-CN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6808" name="Text Box 10"/>
          <p:cNvSpPr txBox="1"/>
          <p:nvPr/>
        </p:nvSpPr>
        <p:spPr>
          <a:xfrm>
            <a:off x="1066800" y="4630738"/>
            <a:ext cx="7772400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80000"/>
              </a:lnSpc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则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S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S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=110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，表示第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(B</a:t>
            </a:r>
            <a:r>
              <a:rPr lang="en-US" altLang="zh-CN" sz="1800" baseline="-250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出错，改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1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3734" name="Rectangle 11"/>
          <p:cNvSpPr/>
          <p:nvPr/>
        </p:nvSpPr>
        <p:spPr>
          <a:xfrm>
            <a:off x="3727450" y="4011930"/>
            <a:ext cx="376555" cy="40005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9525" cap="flat" cmpd="sng">
            <a:solidFill>
              <a:srgbClr val="00336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altLang="zh-CN" b="1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0</a:t>
            </a:r>
            <a:endParaRPr kumimoji="0" altLang="zh-CN" b="1" i="0" u="none" strike="noStrike" kern="1200" cap="none" spc="0" normalizeH="0" baseline="0" noProof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  <p:sp>
        <p:nvSpPr>
          <p:cNvPr id="107529" name="Text Box 9"/>
          <p:cNvSpPr txBox="1"/>
          <p:nvPr/>
        </p:nvSpPr>
        <p:spPr>
          <a:xfrm>
            <a:off x="3756343" y="4075113"/>
            <a:ext cx="301625" cy="2746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noFill/>
            <a:miter/>
          </a:ln>
        </p:spPr>
        <p:txBody>
          <a:bodyPr tIns="0" bIns="0">
            <a:spAutoFit/>
          </a:bodyPr>
          <a:lstStyle>
            <a:lvl1pPr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00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altLang="zh-CN" sz="1800" b="1" i="0" u="none" strike="noStrike" kern="120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宋体" panose="02010600030101010101" pitchFamily="2" charset="-122"/>
              </a:rPr>
              <a:t>1</a:t>
            </a:r>
            <a:endParaRPr kumimoji="0" altLang="zh-CN" sz="1800" b="1" i="0" u="none" strike="noStrike" kern="1200" cap="none" spc="0" normalizeH="0" baseline="0" noProof="1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7" grpId="0"/>
      <p:bldP spid="76808" grpId="0"/>
      <p:bldP spid="73734" grpId="0" bldLvl="0" animBg="1"/>
      <p:bldP spid="107529" grpId="0" bldLvl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Rectangle 4"/>
          <p:cNvSpPr txBox="1">
            <a:spLocks noGrp="1" noChangeArrowheads="1"/>
          </p:cNvSpPr>
          <p:nvPr>
            <p:ph type="dt" sz="half" idx="2"/>
          </p:nvPr>
        </p:nvSpPr>
        <p:spPr>
          <a:noFill/>
        </p:spPr>
        <p:txBody>
          <a:bodyPr wrap="square" lIns="91440" tIns="45720" rIns="91440" bIns="45720" numCol="1" rtlCol="0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94C347C1-5C4C-44B4-94F5-D1EF769B2E2C}" type="datetime1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en-US" altLang="zh-CN" sz="9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78851" name="Rectangle 6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en-US" altLang="zh-CN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en-US" altLang="zh-CN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852" name="Rectangle 2"/>
          <p:cNvSpPr>
            <a:spLocks noGrp="1"/>
          </p:cNvSpPr>
          <p:nvPr>
            <p:ph type="title"/>
          </p:nvPr>
        </p:nvSpPr>
        <p:spPr>
          <a:xfrm>
            <a:off x="685800" y="487363"/>
            <a:ext cx="7772400" cy="457200"/>
          </a:xfrm>
          <a:noFill/>
          <a:ln>
            <a:noFill/>
          </a:ln>
        </p:spPr>
        <p:txBody>
          <a:bodyPr/>
          <a:p>
            <a:pPr algn="ctr" eaLnBrk="1" hangingPunct="1"/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表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1-7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出错表的确定</a:t>
            </a:r>
            <a:endParaRPr lang="zh-CN" altLang="en-US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7829" name="Rectangle 3"/>
          <p:cNvSpPr>
            <a:spLocks noGrp="1"/>
          </p:cNvSpPr>
          <p:nvPr>
            <p:ph idx="1"/>
          </p:nvPr>
        </p:nvSpPr>
        <p:spPr>
          <a:xfrm>
            <a:off x="381000" y="3246438"/>
            <a:ext cx="8534400" cy="415925"/>
          </a:xfrm>
          <a:noFill/>
          <a:ln>
            <a:noFill/>
          </a:ln>
        </p:spPr>
        <p:txBody>
          <a:bodyPr/>
          <a:p>
            <a:pPr marL="609600" indent="-609600" eaLnBrk="1" hangingPunct="1">
              <a:lnSpc>
                <a:spcPct val="70000"/>
              </a:lnSpc>
              <a:spcBef>
                <a:spcPct val="50000"/>
              </a:spcBef>
              <a:buNone/>
            </a:pP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设：信息位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位，校验位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位 则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(2</a:t>
            </a:r>
            <a:r>
              <a:rPr lang="en-US" altLang="zh-CN" sz="18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1)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k ≥ n 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(2</a:t>
            </a:r>
            <a:r>
              <a:rPr lang="en-US" altLang="zh-CN" sz="1800" baseline="30000" dirty="0"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1) ≥ n</a:t>
            </a:r>
            <a:r>
              <a:rPr lang="zh-CN" altLang="en-US" sz="1800" dirty="0">
                <a:latin typeface="黑体" panose="02010609060101010101" pitchFamily="49" charset="-122"/>
                <a:ea typeface="黑体" panose="02010609060101010101" pitchFamily="49" charset="-122"/>
              </a:rPr>
              <a:t>＋</a:t>
            </a:r>
            <a:r>
              <a:rPr lang="en-US" altLang="zh-CN" sz="1800" dirty="0">
                <a:latin typeface="黑体" panose="02010609060101010101" pitchFamily="49" charset="-122"/>
                <a:ea typeface="黑体" panose="02010609060101010101" pitchFamily="49" charset="-122"/>
              </a:rPr>
              <a:t>k  (?? n=5)</a:t>
            </a:r>
            <a:endParaRPr lang="en-US" altLang="zh-CN" sz="1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10643" name="Group 5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81000" y="873125"/>
          <a:ext cx="7932738" cy="2212976"/>
        </p:xfrm>
        <a:graphic>
          <a:graphicData uri="http://schemas.openxmlformats.org/drawingml/2006/table">
            <a:tbl>
              <a:tblPr/>
              <a:tblGrid>
                <a:gridCol w="1700213"/>
                <a:gridCol w="6232525"/>
              </a:tblGrid>
              <a:tr h="106838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＝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 </a:t>
                      </a: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＝ 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 </a:t>
                      </a: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＝</a:t>
                      </a:r>
                      <a:endParaRPr kumimoji="1" lang="zh-CN" altLang="en-US" sz="1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5005" marB="3500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 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⊕   B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 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⊕ 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 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⊕ 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endParaRPr kumimoji="1" lang="en-US" altLang="zh-CN" sz="1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 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⊕   B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                       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⊕ 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 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⊕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  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 </a:t>
                      </a:r>
                      <a:endParaRPr kumimoji="1" lang="en-US" altLang="zh-CN" sz="1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             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⊕  B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             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⊕ 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            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⊕ 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1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5005" marB="350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5083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S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S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S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1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5005" marB="3500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111    110    101    100    011     010   001   000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5005" marB="350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687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出错位序列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5005" marB="3500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7      6      5      4      3       2     1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5005" marB="350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96875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出错位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5005" marB="3500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B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    B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    B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   P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       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     P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      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P</a:t>
                      </a:r>
                      <a:r>
                        <a:rPr kumimoji="1" lang="en-US" altLang="zh-CN" sz="1800" b="0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1800" b="0" i="0" u="none" strike="noStrike" cap="none" normalizeH="0" baseline="-2500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36" marR="91436" marT="35005" marB="350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0645" name="Group 53"/>
          <p:cNvGraphicFramePr>
            <a:graphicFrameLocks noGrp="1"/>
          </p:cNvGraphicFramePr>
          <p:nvPr/>
        </p:nvGraphicFramePr>
        <p:xfrm>
          <a:off x="363538" y="3571875"/>
          <a:ext cx="7964488" cy="1460500"/>
        </p:xfrm>
        <a:graphic>
          <a:graphicData uri="http://schemas.openxmlformats.org/drawingml/2006/table">
            <a:tbl>
              <a:tblPr/>
              <a:tblGrid>
                <a:gridCol w="1768475"/>
                <a:gridCol w="790575"/>
                <a:gridCol w="746125"/>
                <a:gridCol w="744537"/>
                <a:gridCol w="742950"/>
                <a:gridCol w="768350"/>
                <a:gridCol w="814388"/>
                <a:gridCol w="803275"/>
                <a:gridCol w="785812"/>
              </a:tblGrid>
              <a:tr h="399804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校验位数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k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8869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最大信息位数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n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0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4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11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26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57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120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247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71998"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海明码位数</a:t>
                      </a:r>
                      <a:endParaRPr kumimoji="1" lang="zh-CN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(2</a:t>
                      </a:r>
                      <a:r>
                        <a:rPr kumimoji="1" lang="en-US" altLang="zh-CN" sz="1800" b="0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k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kumimoji="1" lang="zh-CN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－</a:t>
                      </a: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1) 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15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31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63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127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>
                        <a:lnSpc>
                          <a:spcPct val="90000"/>
                        </a:lnSpc>
                        <a:spcBef>
                          <a:spcPts val="750"/>
                        </a:spcBef>
                        <a:buFont typeface="Arial" panose="020B0604020202020204" pitchFamily="34" charset="0"/>
                        <a:defRPr sz="19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3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lnSpc>
                          <a:spcPct val="90000"/>
                        </a:lnSpc>
                        <a:spcBef>
                          <a:spcPts val="375"/>
                        </a:spcBef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375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1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255</a:t>
                      </a:r>
                      <a:endParaRPr kumimoji="1" lang="en-US" altLang="zh-CN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marL="91444" marR="91444" marT="34249" marB="34249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8624570" y="541020"/>
            <a:ext cx="411480" cy="452310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r>
              <a:rPr lang="zh-CN" altLang="en-US" sz="1800">
                <a:solidFill>
                  <a:srgbClr val="FF006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仿宋" panose="02010600040101010101" charset="-122"/>
                <a:ea typeface="华文仿宋" panose="02010600040101010101" charset="-122"/>
              </a:rPr>
              <a:t>可靠性编码</a:t>
            </a:r>
            <a:endParaRPr lang="zh-CN" altLang="en-US" sz="1800">
              <a:solidFill>
                <a:srgbClr val="FF006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仿宋" panose="02010600040101010101" charset="-122"/>
              <a:ea typeface="华文仿宋" panose="02010600040101010101" charset="-122"/>
            </a:endParaRPr>
          </a:p>
          <a:p>
            <a:r>
              <a:rPr lang="zh-CN" altLang="en-US" sz="1800">
                <a:solidFill>
                  <a:srgbClr val="FF0066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华文仿宋" panose="02010600040101010101" charset="-122"/>
                <a:ea typeface="华文仿宋" panose="02010600040101010101" charset="-122"/>
              </a:rPr>
              <a:t>类型很多、使用无处不在</a:t>
            </a:r>
            <a:endParaRPr lang="zh-CN" altLang="en-US" sz="1800">
              <a:solidFill>
                <a:srgbClr val="FF006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华文仿宋" panose="02010600040101010101" charset="-122"/>
              <a:ea typeface="华文仿宋" panose="02010600040101010101" charset="-122"/>
            </a:endParaRPr>
          </a:p>
        </p:txBody>
      </p:sp>
    </p:spTree>
  </p:cSld>
  <p:clrMapOvr>
    <a:masterClrMapping/>
  </p:clrMapOvr>
  <p:transition advTm="25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>
                                            <p:txEl>
                                              <p:charRg st="0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9" grpId="0" build="p"/>
      <p:bldP spid="2" grpId="0" bldLvl="0" animBg="1"/>
      <p:bldP spid="2" grpId="1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日期占位符 1"/>
          <p:cNvSpPr txBox="1">
            <a:spLocks noGrp="1"/>
          </p:cNvSpPr>
          <p:nvPr>
            <p:ph type="dt" sz="half" idx="2"/>
          </p:nvPr>
        </p:nvSpPr>
        <p:spPr>
          <a:noFill/>
        </p:spPr>
        <p:txBody>
          <a:bodyPr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4105A22A-BE47-4644-99A4-8C4DEEB8EDAC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79875" name="灯片编号占位符 3"/>
          <p:cNvSpPr txBox="1"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noFill/>
          <a:ln>
            <a:noFill/>
          </a:ln>
        </p:spPr>
        <p:txBody>
          <a:bodyPr anchor="ctr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i="0" u="none" kern="1200" baseline="0">
                <a:solidFill>
                  <a:srgbClr val="FFFF00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>
              <a:buFont typeface="Arial" panose="020B0604020202020204" pitchFamily="34" charset="0"/>
            </a:pPr>
            <a:fld id="{9A0DB2DC-4C9A-4742-B13C-FB6460FD3503}" type="slidenum">
              <a:rPr lang="zh-CN" altLang="en-US" sz="900" dirty="0">
                <a:solidFill>
                  <a:srgbClr val="898989"/>
                </a:solidFill>
                <a:latin typeface="Times New Roman" panose="02020603050405020304" pitchFamily="18" charset="0"/>
              </a:rPr>
            </a:fld>
            <a:endParaRPr lang="zh-CN" altLang="en-US" sz="900" dirty="0">
              <a:solidFill>
                <a:srgbClr val="898989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20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555625"/>
            <a:ext cx="8229600" cy="50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6858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华文新魏" panose="02010800040101010101" pitchFamily="2" charset="-122"/>
                <a:cs typeface="+mj-cs"/>
              </a:rPr>
              <a:t>作业</a:t>
            </a:r>
            <a:endParaRPr kumimoji="0" lang="zh-CN" altLang="en-US" sz="2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华文新魏" panose="02010800040101010101" pitchFamily="2" charset="-122"/>
              <a:cs typeface="+mj-cs"/>
            </a:endParaRPr>
          </a:p>
        </p:txBody>
      </p:sp>
      <p:sp>
        <p:nvSpPr>
          <p:cNvPr id="60421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915988"/>
            <a:ext cx="8229600" cy="385127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171450" marR="0" lvl="0" indent="-171450" algn="l" defTabSz="685800" rtl="0" eaLnBrk="0" fontAlgn="base" latinLnBrk="0" hangingPunct="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1.2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：  （</a:t>
            </a: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1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）、（</a:t>
            </a: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3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）、（</a:t>
            </a: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5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</a:t>
            </a:r>
            <a:endParaRPr kumimoji="0" lang="zh-CN" altLang="en-US" sz="19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  <a:p>
            <a:pPr marL="171450" marR="0" lvl="0" indent="-171450" algn="l" defTabSz="685800" rtl="0" eaLnBrk="0" fontAlgn="base" latinLnBrk="0" hangingPunct="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1.3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：  （</a:t>
            </a: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2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）、（</a:t>
            </a: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3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</a:t>
            </a:r>
            <a:endParaRPr kumimoji="0" lang="zh-CN" altLang="en-US" sz="19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  <a:p>
            <a:pPr marL="171450" marR="0" lvl="0" indent="-171450" algn="l" defTabSz="685800" rtl="0" eaLnBrk="0" fontAlgn="base" latinLnBrk="0" hangingPunct="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1.4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：  （</a:t>
            </a: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1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）、（</a:t>
            </a: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3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</a:t>
            </a:r>
            <a:endParaRPr kumimoji="0" lang="zh-CN" altLang="en-US" sz="19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  <a:p>
            <a:pPr marL="171450" marR="0" lvl="0" indent="-171450" algn="l" defTabSz="685800" rtl="0" eaLnBrk="0" fontAlgn="base" latinLnBrk="0" hangingPunct="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1.5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：  （</a:t>
            </a: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1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）、（</a:t>
            </a: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3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）、（</a:t>
            </a: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5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</a:t>
            </a:r>
            <a:endParaRPr kumimoji="0" lang="zh-CN" altLang="en-US" sz="19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  <a:p>
            <a:pPr marL="171450" marR="0" lvl="0" indent="-171450" algn="l" defTabSz="685800" rtl="0" eaLnBrk="0" fontAlgn="base" latinLnBrk="0" hangingPunct="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1.7: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     （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1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）、（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3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）、（</a:t>
            </a:r>
            <a:r>
              <a:rPr kumimoji="0" lang="en-US" altLang="zh-CN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5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</a:t>
            </a:r>
            <a:endParaRPr kumimoji="0" lang="en-US" altLang="zh-CN" sz="19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  <a:p>
            <a:pPr marL="171450" marR="0" lvl="0" indent="-171450" algn="l" defTabSz="685800" rtl="0" eaLnBrk="0" fontAlgn="base" latinLnBrk="0" hangingPunct="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1.8: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     （</a:t>
            </a: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2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、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（</a:t>
            </a: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4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</a:t>
            </a:r>
            <a:r>
              <a:rPr kumimoji="0" lang="zh-CN" alt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、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（</a:t>
            </a: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6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</a:t>
            </a:r>
            <a:endParaRPr kumimoji="0" lang="en-US" altLang="zh-CN" sz="19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  <a:p>
            <a:pPr marL="171450" marR="0" lvl="0" indent="-171450" algn="l" defTabSz="685800" rtl="0" eaLnBrk="0" fontAlgn="base" latinLnBrk="0" hangingPunct="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1.9:         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改为计算 </a:t>
            </a: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z=</a:t>
            </a:r>
            <a:r>
              <a:rPr kumimoji="0" lang="en-US" altLang="zh-CN" sz="19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x+y</a:t>
            </a:r>
            <a:r>
              <a:rPr kumimoji="0" lang="zh-CN" altLang="en-US" sz="19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（老版教材有错误）</a:t>
            </a:r>
            <a:endParaRPr kumimoji="0" lang="en-US" altLang="zh-CN" sz="1900" b="0" i="0" u="none" strike="noStrike" kern="1200" cap="none" spc="0" normalizeH="0" baseline="0" noProof="0" dirty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  <a:p>
            <a:pPr marL="171450" marR="0" lvl="0" indent="-171450" algn="l" defTabSz="685800" rtl="0" eaLnBrk="0" fontAlgn="base" latinLnBrk="0" hangingPunct="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1.10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：（</a:t>
            </a: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2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）、（</a:t>
            </a: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4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）、（</a:t>
            </a: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6</a:t>
            </a:r>
            <a:r>
              <a:rPr kumimoji="0" lang="zh-CN" altLang="en-US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anose="05000000000000000000" pitchFamily="2" charset="2"/>
              </a:rPr>
              <a:t>）</a:t>
            </a:r>
            <a:endParaRPr kumimoji="0" lang="zh-CN" altLang="en-US" sz="19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  <a:p>
            <a:pPr marL="171450" marR="0" lvl="0" indent="-171450" algn="l" defTabSz="685800" rtl="0" eaLnBrk="0" fontAlgn="base" latinLnBrk="0" hangingPunct="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1.11</a:t>
            </a:r>
            <a:endParaRPr kumimoji="0" lang="zh-CN" altLang="en-US" sz="1900" b="0" i="0" u="none" strike="noStrike" kern="1200" cap="none" spc="0" normalizeH="0" baseline="0" noProof="0" dirty="0" smtClean="0">
              <a:ln>
                <a:noFill/>
              </a:ln>
              <a:solidFill>
                <a:srgbClr val="FF0066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  <a:p>
            <a:pPr marL="171450" marR="0" lvl="0" indent="-171450" algn="l" defTabSz="685800" rtl="0" eaLnBrk="0" fontAlgn="base" latinLnBrk="0" hangingPunct="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1.12</a:t>
            </a:r>
            <a:endParaRPr kumimoji="0" lang="zh-CN" altLang="en-US" sz="19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  <a:p>
            <a:pPr marL="171450" marR="0" lvl="0" indent="-171450" algn="l" defTabSz="685800" rtl="0" eaLnBrk="0" fontAlgn="base" latinLnBrk="0" hangingPunct="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1.13</a:t>
            </a:r>
            <a:endParaRPr kumimoji="0" lang="zh-CN" altLang="en-US" sz="19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  <a:p>
            <a:pPr marL="171450" marR="0" lvl="0" indent="-171450" algn="l" defTabSz="685800" rtl="0" eaLnBrk="0" fontAlgn="base" latinLnBrk="0" hangingPunct="0">
              <a:lnSpc>
                <a:spcPct val="8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19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1.14</a:t>
            </a:r>
            <a:endParaRPr kumimoji="0" lang="zh-CN" altLang="en-US" sz="19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Wingdings" panose="05000000000000000000" pitchFamily="2" charset="2"/>
            </a:endParaRPr>
          </a:p>
        </p:txBody>
      </p:sp>
      <p:sp>
        <p:nvSpPr>
          <p:cNvPr id="41992" name="Text Box 37"/>
          <p:cNvSpPr txBox="1"/>
          <p:nvPr/>
        </p:nvSpPr>
        <p:spPr>
          <a:xfrm>
            <a:off x="3924300" y="4442143"/>
            <a:ext cx="4670425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  <a:buFont typeface="Arial" panose="020B0604020202020204" pitchFamily="34" charset="0"/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了解三种可靠性编码的作用及编码原理</a:t>
            </a:r>
            <a:endParaRPr lang="zh-CN" altLang="en-US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419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sz="half" idx="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74DBA22D-A7DF-4A92-A429-83253D70D991}" type="datetimeFigureOut">
              <a:rPr kumimoji="0" lang="zh-CN" altLang="en-US" sz="9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ea"/>
              </a:rPr>
            </a:fld>
            <a:endParaRPr kumimoji="0" lang="zh-CN" altLang="en-US" sz="900" b="0" i="0" u="none" strike="noStrike" kern="1200" cap="none" spc="0" normalizeH="0" baseline="0" noProof="1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0955"/>
            <a:ext cx="9144635" cy="517715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d3a51a1a-d11b-4986-b260-35083f4c22c7}"/>
</p:tagLst>
</file>

<file path=ppt/tags/tag2.xml><?xml version="1.0" encoding="utf-8"?>
<p:tagLst xmlns:p="http://schemas.openxmlformats.org/presentationml/2006/main">
  <p:tag name="KSO_WM_UNIT_TABLE_BEAUTIFY" val="smartTable{97eb3eff-06e7-4d83-8c9f-488ec5d6f5fd}"/>
</p:tagLst>
</file>

<file path=ppt/tags/tag3.xml><?xml version="1.0" encoding="utf-8"?>
<p:tagLst xmlns:p="http://schemas.openxmlformats.org/presentationml/2006/main">
  <p:tag name="KSO_WM_UNIT_TABLE_BEAUTIFY" val="smartTable{afd349ca-39af-4a45-b78f-3ed3ca8d5c36}"/>
  <p:tag name="TABLE_ENDDRAG_ORIGIN_RECT" val="384*95"/>
  <p:tag name="TABLE_ENDDRAG_RECT" val="258*276*384*95"/>
</p:tagLst>
</file>

<file path=ppt/tags/tag4.xml><?xml version="1.0" encoding="utf-8"?>
<p:tagLst xmlns:p="http://schemas.openxmlformats.org/presentationml/2006/main">
  <p:tag name="KSO_WM_UNIT_TABLE_BEAUTIFY" val="smartTable{992a2bdb-7469-4f34-86ef-49139dd9d5b6}"/>
</p:tagLst>
</file>

<file path=ppt/tags/tag5.xml><?xml version="1.0" encoding="utf-8"?>
<p:tagLst xmlns:p="http://schemas.openxmlformats.org/presentationml/2006/main">
  <p:tag name="KSO_WM_UNIT_TABLE_BEAUTIFY" val="smartTable{3b9c50da-89e9-4fc9-8f63-6f2ca57f95d4}"/>
</p:tagLst>
</file>

<file path=ppt/tags/tag6.xml><?xml version="1.0" encoding="utf-8"?>
<p:tagLst xmlns:p="http://schemas.openxmlformats.org/presentationml/2006/main">
  <p:tag name="KSO_WM_UNIT_TABLE_BEAUTIFY" val="smartTable{e8272d05-63d1-4eac-b44e-7e229faa5aa9}"/>
</p:tagLst>
</file>

<file path=ppt/tags/tag7.xml><?xml version="1.0" encoding="utf-8"?>
<p:tagLst xmlns:p="http://schemas.openxmlformats.org/presentationml/2006/main">
  <p:tag name="KSO_WM_UNIT_TABLE_BEAUTIFY" val="smartTable{b04cd0fd-efaf-401a-bb3c-c03913cfd4ad}"/>
</p:tagLst>
</file>

<file path=ppt/tags/tag8.xml><?xml version="1.0" encoding="utf-8"?>
<p:tagLst xmlns:p="http://schemas.openxmlformats.org/presentationml/2006/main">
  <p:tag name="KSO_WM_UNIT_TABLE_BEAUTIFY" val="smartTable{59e189f2-a1da-4511-9ee3-18ce1e4c7900}"/>
</p:tagLst>
</file>

<file path=ppt/tags/tag9.xml><?xml version="1.0" encoding="utf-8"?>
<p:tagLst xmlns:p="http://schemas.openxmlformats.org/presentationml/2006/main">
  <p:tag name="KSO_WPP_MARK_KEY" val="a330e4c1-978a-4e9a-a690-808d8a7f277e"/>
  <p:tag name="COMMONDATA" val="eyJoZGlkIjoiNDhiNjIzYzU1ZGEzZTY4YzZjM2Q5NDg5MTNkOWY5NmYifQ=="/>
  <p:tag name="commondata" val="eyJoZGlkIjoiNWM3NDI0YjMzMTI2Y2UyY2IzNzVhYTc5MGY3OTVlOTM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17954</Words>
  <Application>WPS 演示</Application>
  <PresentationFormat>全屏显示(16:9)</PresentationFormat>
  <Paragraphs>1994</Paragraphs>
  <Slides>67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67</vt:i4>
      </vt:variant>
    </vt:vector>
  </HeadingPairs>
  <TitlesOfParts>
    <vt:vector size="82" baseType="lpstr">
      <vt:lpstr>Arial</vt:lpstr>
      <vt:lpstr>宋体</vt:lpstr>
      <vt:lpstr>Wingdings</vt:lpstr>
      <vt:lpstr>Calibri</vt:lpstr>
      <vt:lpstr>Times New Roman</vt:lpstr>
      <vt:lpstr>Calibri Light</vt:lpstr>
      <vt:lpstr>方正综艺简体</vt:lpstr>
      <vt:lpstr>微软雅黑</vt:lpstr>
      <vt:lpstr>黑体</vt:lpstr>
      <vt:lpstr>Arial Unicode MS</vt:lpstr>
      <vt:lpstr>楷体_GB2312</vt:lpstr>
      <vt:lpstr>新宋体</vt:lpstr>
      <vt:lpstr>华文新魏</vt:lpstr>
      <vt:lpstr>华文仿宋</vt:lpstr>
      <vt:lpstr>自定义设计方案</vt:lpstr>
      <vt:lpstr>数 字 逻 辑 电 路</vt:lpstr>
      <vt:lpstr>1.2   数制与编码</vt:lpstr>
      <vt:lpstr>PowerPoint 演示文稿</vt:lpstr>
      <vt:lpstr>1. 十进位计数制的特点、表示法</vt:lpstr>
      <vt:lpstr>①并列（式）表示法：</vt:lpstr>
      <vt:lpstr>PowerPoint 演示文稿</vt:lpstr>
      <vt:lpstr>由此推出，任意一个十进制数 N 可以表示成：</vt:lpstr>
      <vt:lpstr>对于一个R进位计数制（R进制）的数，R为任意进制数，有：</vt:lpstr>
      <vt:lpstr>2）表示法</vt:lpstr>
      <vt:lpstr>不同进位计数制的数值具有等值表示关系：        N  =  N10=（N）10  =   N R =（M）R                           （N为十进制数）</vt:lpstr>
      <vt:lpstr>PowerPoint 演示文稿</vt:lpstr>
      <vt:lpstr>特例：二进制数为计算机中的表示和运算的基础，特予以关注：</vt:lpstr>
      <vt:lpstr>2. 进位计数制的相互转换</vt:lpstr>
      <vt:lpstr>多项式替代法的转换步骤，归纳如下，</vt:lpstr>
      <vt:lpstr>PowerPoint 演示文稿</vt:lpstr>
      <vt:lpstr>  例2：将(121.2)3转换为二进制。</vt:lpstr>
      <vt:lpstr>2） 基数乘除法</vt:lpstr>
      <vt:lpstr>PowerPoint 演示文稿</vt:lpstr>
      <vt:lpstr>例2  将十进制的3417 转换成十六进制数。 γ =16</vt:lpstr>
      <vt:lpstr>PowerPoint 演示文稿</vt:lpstr>
      <vt:lpstr>在α进制下, 将该数乘以 γ 得：</vt:lpstr>
      <vt:lpstr>    直至最后，D-m × γ–1 时，再乘以 γ 得： </vt:lpstr>
      <vt:lpstr>例2  将 (0.375)10 转换成二进制数。 γ=2 </vt:lpstr>
      <vt:lpstr>3） 任意两种进制之间的转换总结 </vt:lpstr>
      <vt:lpstr>4）  直接转换法 </vt:lpstr>
      <vt:lpstr>转换 ：        </vt:lpstr>
      <vt:lpstr>例1  将(11111010.0111) 2转换为八进制数。</vt:lpstr>
      <vt:lpstr>5）数制转换时小数位数的确定（有效位数的确定）</vt:lpstr>
      <vt:lpstr>例：将(0.4321)10转换成十六进制时，小数位数应取几位？</vt:lpstr>
      <vt:lpstr>1.2.2  数的表示及其运算 </vt:lpstr>
      <vt:lpstr>PowerPoint 演示文稿</vt:lpstr>
      <vt:lpstr>PowerPoint 演示文稿</vt:lpstr>
      <vt:lpstr>PowerPoint 演示文稿</vt:lpstr>
      <vt:lpstr>PowerPoint 演示文稿</vt:lpstr>
      <vt:lpstr>2 带符号数的代码表示及其运算 </vt:lpstr>
      <vt:lpstr>① 原码（Ture form ），又称“符号-数值”表示法</vt:lpstr>
      <vt:lpstr>  ②  反码（Negative Number），又称“对1的补码”</vt:lpstr>
      <vt:lpstr>PowerPoint 演示文稿</vt:lpstr>
      <vt:lpstr>③补码（complement number），又称“对2的补码”</vt:lpstr>
      <vt:lpstr>补码的概念：</vt:lpstr>
      <vt:lpstr>PowerPoint 演示文稿</vt:lpstr>
      <vt:lpstr>PowerPoint 演示文稿</vt:lpstr>
      <vt:lpstr>原码、反码和补码之间的关系如下图</vt:lpstr>
      <vt:lpstr>④带符号数的加、减运算举例</vt:lpstr>
      <vt:lpstr>PowerPoint 演示文稿</vt:lpstr>
      <vt:lpstr>1.2.3  十进制数的编码（代码）表示及其运算 </vt:lpstr>
      <vt:lpstr>表1—3  三种经典的十进制数的编码表示法</vt:lpstr>
      <vt:lpstr>设：编码的码字形式为  A3 A2 A1 A0</vt:lpstr>
      <vt:lpstr>PowerPoint 演示文稿</vt:lpstr>
      <vt:lpstr>PowerPoint 演示文稿</vt:lpstr>
      <vt:lpstr>M中取N码</vt:lpstr>
      <vt:lpstr>1.2.4  可靠性编码（一种特殊的编码技术，使用广泛）	</vt:lpstr>
      <vt:lpstr>1) 格雷码（Gray)</vt:lpstr>
      <vt:lpstr>表1－4   几种Gray码、步进码和二进制码对照表</vt:lpstr>
      <vt:lpstr>典型Gray码是由二进制码生成的。</vt:lpstr>
      <vt:lpstr>反之，由典型Gray码也可以得到二进制码，如下：</vt:lpstr>
      <vt:lpstr>设：典型Gray码 G</vt:lpstr>
      <vt:lpstr>PowerPoint 演示文稿</vt:lpstr>
      <vt:lpstr>十进制Gray码：代码特征应符合Gray码的要求，且十六选十。</vt:lpstr>
      <vt:lpstr>2) 奇偶校验码（Parity Code）</vt:lpstr>
      <vt:lpstr>问题：① 奇偶校验码能发现单错，但不能对单错定位；       ② 奇偶校验码不能发现双错。</vt:lpstr>
      <vt:lpstr>3) 海明校验码（Hamming codes）</vt:lpstr>
      <vt:lpstr>表1-6  “8421”海明码</vt:lpstr>
      <vt:lpstr>对传输后的海明码进行检查错误和校正错误：</vt:lpstr>
      <vt:lpstr>表1-7 出错表的确定</vt:lpstr>
      <vt:lpstr>作业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 字 逻 辑 电 路</dc:title>
  <dc:creator>Microsoft Office 用户</dc:creator>
  <cp:lastModifiedBy>老伍</cp:lastModifiedBy>
  <cp:revision>246</cp:revision>
  <dcterms:created xsi:type="dcterms:W3CDTF">2017-02-22T12:28:00Z</dcterms:created>
  <dcterms:modified xsi:type="dcterms:W3CDTF">2026-03-04T09:50:10Z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2052-12.1.0.16250</vt:lpwstr>
  </property>
  <property fmtid="{D5CDD505-2E9C-101B-9397-08002B2CF9AE}" pid="3" name="ICV">
    <vt:lpwstr>BD2B4FAE9D874798A660163EBAA045F0_13</vt:lpwstr>
  </property>
</Properties>
</file>