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28" r:id="rId3"/>
    <p:sldId id="530" r:id="rId5"/>
    <p:sldId id="626" r:id="rId6"/>
    <p:sldId id="627" r:id="rId7"/>
    <p:sldId id="628" r:id="rId8"/>
    <p:sldId id="629" r:id="rId9"/>
    <p:sldId id="631" r:id="rId10"/>
    <p:sldId id="632" r:id="rId11"/>
    <p:sldId id="633" r:id="rId12"/>
    <p:sldId id="634" r:id="rId13"/>
    <p:sldId id="635" r:id="rId14"/>
    <p:sldId id="636" r:id="rId15"/>
    <p:sldId id="637" r:id="rId16"/>
    <p:sldId id="638" r:id="rId17"/>
    <p:sldId id="639" r:id="rId18"/>
    <p:sldId id="640" r:id="rId19"/>
    <p:sldId id="641" r:id="rId20"/>
    <p:sldId id="642" r:id="rId21"/>
    <p:sldId id="643" r:id="rId22"/>
    <p:sldId id="644" r:id="rId23"/>
    <p:sldId id="625" r:id="rId24"/>
    <p:sldId id="646" r:id="rId25"/>
    <p:sldId id="647" r:id="rId26"/>
    <p:sldId id="648" r:id="rId27"/>
    <p:sldId id="649" r:id="rId28"/>
    <p:sldId id="650" r:id="rId29"/>
    <p:sldId id="651" r:id="rId30"/>
    <p:sldId id="652" r:id="rId31"/>
    <p:sldId id="653" r:id="rId32"/>
    <p:sldId id="654" r:id="rId33"/>
    <p:sldId id="655" r:id="rId34"/>
    <p:sldId id="656" r:id="rId35"/>
    <p:sldId id="657" r:id="rId36"/>
    <p:sldId id="658" r:id="rId37"/>
    <p:sldId id="659" r:id="rId38"/>
    <p:sldId id="660" r:id="rId39"/>
    <p:sldId id="661" r:id="rId40"/>
    <p:sldId id="662" r:id="rId41"/>
    <p:sldId id="663" r:id="rId42"/>
    <p:sldId id="666" r:id="rId43"/>
    <p:sldId id="667" r:id="rId44"/>
    <p:sldId id="668" r:id="rId45"/>
    <p:sldId id="669" r:id="rId46"/>
    <p:sldId id="670" r:id="rId47"/>
    <p:sldId id="671" r:id="rId48"/>
    <p:sldId id="672" r:id="rId49"/>
    <p:sldId id="673" r:id="rId50"/>
    <p:sldId id="716" r:id="rId51"/>
    <p:sldId id="674" r:id="rId52"/>
    <p:sldId id="717" r:id="rId53"/>
    <p:sldId id="675" r:id="rId54"/>
    <p:sldId id="676" r:id="rId55"/>
    <p:sldId id="677" r:id="rId56"/>
    <p:sldId id="678" r:id="rId57"/>
    <p:sldId id="679" r:id="rId58"/>
    <p:sldId id="682" r:id="rId59"/>
    <p:sldId id="680" r:id="rId60"/>
    <p:sldId id="699" r:id="rId61"/>
    <p:sldId id="683" r:id="rId62"/>
    <p:sldId id="685" r:id="rId63"/>
    <p:sldId id="689" r:id="rId64"/>
    <p:sldId id="690" r:id="rId65"/>
    <p:sldId id="684" r:id="rId66"/>
    <p:sldId id="686" r:id="rId67"/>
    <p:sldId id="687" r:id="rId68"/>
    <p:sldId id="688" r:id="rId69"/>
    <p:sldId id="691" r:id="rId70"/>
    <p:sldId id="692" r:id="rId71"/>
    <p:sldId id="693" r:id="rId72"/>
    <p:sldId id="694" r:id="rId73"/>
    <p:sldId id="695" r:id="rId74"/>
    <p:sldId id="696" r:id="rId75"/>
    <p:sldId id="697" r:id="rId76"/>
    <p:sldId id="698" r:id="rId77"/>
  </p:sldIdLst>
  <p:sldSz cx="9144000" cy="5143500" type="screen16x9"/>
  <p:notesSz cx="6858000" cy="9144000"/>
  <p:custDataLst>
    <p:tags r:id="rId8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000" kern="120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000" kern="120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000" kern="120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000" kern="120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000" kern="120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8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jinyu" initials="w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339933"/>
    <a:srgbClr val="FFFF00"/>
    <a:srgbClr val="0000FF"/>
    <a:srgbClr val="800000"/>
    <a:srgbClr val="CC3399"/>
    <a:srgbClr val="008000"/>
    <a:srgbClr val="00CC00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86" autoAdjust="0"/>
    <p:restoredTop sz="75937" autoAdjust="0"/>
  </p:normalViewPr>
  <p:slideViewPr>
    <p:cSldViewPr showGuides="1">
      <p:cViewPr varScale="1">
        <p:scale>
          <a:sx n="161" d="100"/>
          <a:sy n="161" d="100"/>
        </p:scale>
        <p:origin x="1758" y="138"/>
      </p:cViewPr>
      <p:guideLst>
        <p:guide orient="horz" pos="1618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81" d="100"/>
          <a:sy n="81" d="100"/>
        </p:scale>
        <p:origin x="-3876" y="-78"/>
      </p:cViewPr>
      <p:guideLst>
        <p:guide orient="horz" pos="2880"/>
        <p:guide pos="21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2" Type="http://schemas.openxmlformats.org/officeDocument/2006/relationships/tags" Target="tags/tag1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slide" Target="slides/slide5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3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ACAE5A90-D411-4DFB-AA21-D3319E9DA89F}" type="datetimeFigureOut">
              <a:rPr lang="zh-CN" altLang="en-US"/>
            </a:fld>
            <a:endParaRPr lang="zh-CN" altLang="en-US"/>
          </a:p>
        </p:txBody>
      </p:sp>
      <p:sp>
        <p:nvSpPr>
          <p:cNvPr id="14746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5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0246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7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DE225221-D99D-473E-8E66-2E33BE90A42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225221-D99D-473E-8E66-2E33BE90A4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大家好，我们先回忆一下：数字电路功能的描述方法都有哪些：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回答：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可以采用：电路原理图、真值表、波形图、逻辑表达式等方式进行描述。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但是随着数字电路复杂程度的增加，以及超高速集成电路技术的发展，使用图、表等方式描述电路的局限性越来越明显，既不便阅读、存储，也不便于计算机模拟和处理。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在这种情况下，硬件描述语言，</a:t>
            </a:r>
            <a:r>
              <a:rPr lang="en-US" altLang="zh-CN" dirty="0"/>
              <a:t>Hardware Description Language </a:t>
            </a:r>
            <a:r>
              <a:rPr lang="zh-CN" altLang="en-US" dirty="0"/>
              <a:t>应运而生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HDL</a:t>
            </a:r>
            <a:r>
              <a:rPr lang="zh-CN" altLang="en-US" dirty="0"/>
              <a:t>起源于美国国防部的超高速集成电路研究计划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2</a:t>
            </a:r>
            <a:r>
              <a:rPr lang="zh-CN" altLang="en-US" dirty="0"/>
              <a:t>、目的在于：。。。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3</a:t>
            </a:r>
            <a:r>
              <a:rPr lang="zh-CN" altLang="en-US" dirty="0"/>
              <a:t>、开始时间</a:t>
            </a: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70</a:t>
            </a:r>
            <a:r>
              <a:rPr lang="zh-CN" altLang="en-US" dirty="0"/>
              <a:t>年代，经过了</a:t>
            </a:r>
            <a:r>
              <a:rPr lang="en-US" altLang="zh-CN" dirty="0"/>
              <a:t>50</a:t>
            </a:r>
            <a:r>
              <a:rPr lang="zh-CN" altLang="en-US" dirty="0"/>
              <a:t>多年的发展，</a:t>
            </a:r>
            <a:r>
              <a:rPr lang="en-US" altLang="zh-CN" dirty="0"/>
              <a:t>HDL</a:t>
            </a:r>
            <a:r>
              <a:rPr lang="zh-CN" altLang="en-US" dirty="0"/>
              <a:t>成功地应用于。。。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80</a:t>
            </a:r>
            <a:r>
              <a:rPr lang="zh-CN" altLang="en-US" dirty="0"/>
              <a:t>年代出现了上百种硬件描述语言，对于电路设计自动化，起到了极大地促进和推动作用，但是这些语言，一般面向特定的设计领域和层次，而且数量众多的语言，使用户无所适从，因此，急需一种面向设计的，多领域，多层次，并得到普遍认同的标准硬件描述语言， 在</a:t>
            </a:r>
            <a:r>
              <a:rPr lang="en-US" altLang="zh-CN" dirty="0"/>
              <a:t>80</a:t>
            </a:r>
            <a:r>
              <a:rPr lang="zh-CN" altLang="en-US" dirty="0"/>
              <a:t>年代后期，</a:t>
            </a:r>
            <a:r>
              <a:rPr lang="en-US" altLang="zh-CN" dirty="0"/>
              <a:t>VHDL</a:t>
            </a:r>
            <a:r>
              <a:rPr lang="zh-CN" altLang="en-US" dirty="0"/>
              <a:t>和</a:t>
            </a:r>
            <a:r>
              <a:rPr lang="en-US" altLang="zh-CN" dirty="0"/>
              <a:t>Verilog HDL</a:t>
            </a:r>
            <a:r>
              <a:rPr lang="zh-CN" altLang="en-US" dirty="0"/>
              <a:t>语言，适应了这种趋势的要求，先后成为</a:t>
            </a:r>
            <a:r>
              <a:rPr lang="en-US" altLang="zh-CN" dirty="0"/>
              <a:t>IEEE</a:t>
            </a:r>
            <a:r>
              <a:rPr lang="zh-CN" altLang="en-US" dirty="0"/>
              <a:t>标准，是目前最流行的两种硬件描述语言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电气电子工程师学会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dirty="0"/>
              <a:t>IEEE Std 1076-2019：这是</a:t>
            </a:r>
            <a:r>
              <a:rPr lang="en-US" dirty="0"/>
              <a:t>VHDL</a:t>
            </a:r>
            <a:r>
              <a:rPr dirty="0"/>
              <a:t>最新的版本，于2019年发布。Verilog HDL标准是IEEE Std 1800-2017，也就是所谓的IEEE 1800-2017标准</a:t>
            </a:r>
            <a:r>
              <a:rPr lang="en-US" dirty="0"/>
              <a:t>.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除了上述两种硬件描述语言之外，还有其它很多种</a:t>
            </a:r>
            <a:r>
              <a:rPr lang="en-US" altLang="zh-CN" dirty="0"/>
              <a:t>HDL</a:t>
            </a:r>
            <a:r>
              <a:rPr lang="zh-CN" altLang="en-US" dirty="0"/>
              <a:t>，其中比较著名的有</a:t>
            </a:r>
            <a:r>
              <a:rPr lang="en-US" altLang="zh-CN" dirty="0"/>
              <a:t>;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那么，到底什么是硬件描述语言</a:t>
            </a:r>
            <a:r>
              <a:rPr lang="en-US" altLang="zh-CN" dirty="0"/>
              <a:t>HDL</a:t>
            </a:r>
            <a:r>
              <a:rPr lang="zh-CN" altLang="en-US" dirty="0"/>
              <a:t>呢？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1</a:t>
            </a:r>
            <a:r>
              <a:rPr lang="zh-CN" altLang="en-US" dirty="0"/>
              <a:t>、硬件描述语言的定义：文本形式描述数字系统硬件的结构和行为，是设计硬件时使用的语言，类似于高级程序设计语言，可以用来表示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，还可以用来编写</a:t>
            </a:r>
            <a:r>
              <a:rPr lang="en-US" altLang="zh-CN" dirty="0"/>
              <a:t>4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2</a:t>
            </a:r>
            <a:r>
              <a:rPr lang="zh-CN" altLang="en-US" dirty="0"/>
              <a:t>、其优点是：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计算机对于硬件描述语言描述的数字电路，可以进行哪些处理呢？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通用计算机</a:t>
            </a:r>
            <a:r>
              <a:rPr lang="en-US" altLang="zh-CN" dirty="0"/>
              <a:t>HDL</a:t>
            </a:r>
            <a:r>
              <a:rPr lang="zh-CN" altLang="en-US" dirty="0"/>
              <a:t>工具对于</a:t>
            </a:r>
            <a:r>
              <a:rPr lang="en-US" altLang="zh-CN" dirty="0"/>
              <a:t>HDL</a:t>
            </a:r>
            <a:r>
              <a:rPr lang="zh-CN" altLang="en-US" dirty="0"/>
              <a:t>语言文档的处理包括：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逻辑仿真、逻辑综合</a:t>
            </a:r>
            <a:endParaRPr lang="en-US" altLang="zh-CN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逻辑仿真：指用计算机仿真软件，对数字逻辑电路的结构和行为进行预测，仿真器对</a:t>
            </a:r>
            <a:r>
              <a:rPr lang="en-US" altLang="zh-CN" dirty="0"/>
              <a:t>HDL</a:t>
            </a:r>
            <a:r>
              <a:rPr lang="zh-CN" altLang="en-US" dirty="0"/>
              <a:t>的描述进行解释，以文本形式或时序波形图形式给出电路的输出。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在仿真期间如果发现电路错误，就要对</a:t>
            </a:r>
            <a:r>
              <a:rPr lang="en-US" altLang="zh-CN" sz="2000" dirty="0"/>
              <a:t>HDL</a:t>
            </a:r>
            <a:r>
              <a:rPr lang="zh-CN" altLang="en-US" sz="2000" dirty="0"/>
              <a:t>的描述进行及时修改。</a:t>
            </a:r>
            <a:endParaRPr lang="zh-CN" altLang="en-US" sz="2000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逻辑综合：从</a:t>
            </a:r>
            <a:r>
              <a:rPr lang="en-US" altLang="zh-CN" dirty="0"/>
              <a:t>HDL</a:t>
            </a:r>
            <a:r>
              <a:rPr lang="zh-CN" altLang="en-US" dirty="0"/>
              <a:t>描述的数字逻辑电路模型之中，导出电路基本元件列表、以及元件之间的连接关系。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该过程称为：生成门级网表的过程。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逻辑综合的结果：生成门级元件及其连接关系。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根据其可以制作出集成电路或印刷电路板</a:t>
            </a:r>
            <a:r>
              <a:rPr lang="en-US" altLang="zh-CN" dirty="0"/>
              <a:t>PCB</a:t>
            </a:r>
            <a:endParaRPr lang="en-US" altLang="zh-CN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硬件描述语言用形式化方法描述数字电路和系统，利用这种语言，数字电路的设计可以从上层，到下层，即：从抽象到具体，逐层描述自己的设计思想，用一系列的分层次模块，逐层来表示极其复杂的数字系统。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然后利用电子设计自动化工具</a:t>
            </a:r>
            <a:r>
              <a:rPr lang="en-US" altLang="zh-CN" dirty="0"/>
              <a:t>EDA</a:t>
            </a:r>
            <a:r>
              <a:rPr lang="zh-CN" altLang="en-US" dirty="0"/>
              <a:t>，逐层进行仿真验证，通过自动综合工具转换到门级电路网表。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因此，掌握一种硬件描述语言，是设计现代数字系统必备的一项技能。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VHDL</a:t>
            </a:r>
            <a:r>
              <a:rPr lang="zh-CN" altLang="en-US" dirty="0"/>
              <a:t>和</a:t>
            </a:r>
            <a:r>
              <a:rPr lang="en-US" altLang="zh-CN" dirty="0"/>
              <a:t>Verilog HDL</a:t>
            </a:r>
            <a:r>
              <a:rPr lang="zh-CN" altLang="en-US" dirty="0"/>
              <a:t>两种语言都是符合</a:t>
            </a:r>
            <a:r>
              <a:rPr lang="en-US" altLang="zh-CN" dirty="0"/>
              <a:t>IEEE</a:t>
            </a:r>
            <a:r>
              <a:rPr lang="zh-CN" altLang="en-US" dirty="0"/>
              <a:t>标准，两种语言功能都很强大，设计者可以使用任何一种语言都能完成任务。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数据类型方面：</a:t>
            </a:r>
            <a:endParaRPr lang="en-US" altLang="zh-CN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VHDL</a:t>
            </a:r>
            <a:r>
              <a:rPr lang="zh-CN" altLang="en-US" dirty="0"/>
              <a:t>和</a:t>
            </a:r>
            <a:r>
              <a:rPr lang="en-US" altLang="zh-CN" dirty="0"/>
              <a:t>Verilog HDL</a:t>
            </a:r>
            <a:r>
              <a:rPr lang="zh-CN" altLang="en-US" dirty="0"/>
              <a:t>两种语言都是符合</a:t>
            </a:r>
            <a:r>
              <a:rPr lang="en-US" altLang="zh-CN" dirty="0"/>
              <a:t>IEEE</a:t>
            </a:r>
            <a:r>
              <a:rPr lang="zh-CN" altLang="en-US" dirty="0"/>
              <a:t>标准，两种语言功能都很强大，设计者可以使用任何一种语言都能完成任务。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易学性的方面：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同学们，到此，我们了解了什么是硬件描述语言，以及其功能，也了解到硬件描述语言在</a:t>
            </a:r>
            <a:r>
              <a:rPr lang="en-US" altLang="zh-CN" dirty="0"/>
              <a:t>EDA</a:t>
            </a:r>
            <a:r>
              <a:rPr lang="zh-CN" altLang="en-US" dirty="0"/>
              <a:t>数字系统设计中的重要作用。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硬件描述语言其目的是描述硬件电路结构，作为一种能被计算机处理的语言，首先我们需要了解他的程序结构。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Verilog</a:t>
            </a:r>
            <a:r>
              <a:rPr lang="zh-CN" altLang="en-US" sz="1600" dirty="0"/>
              <a:t>基本语法如下：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1</a:t>
            </a:r>
            <a:r>
              <a:rPr lang="zh-CN" altLang="en-US" sz="1600" dirty="0"/>
              <a:t>、每个模块的内容，都是嵌在关键词 </a:t>
            </a:r>
            <a:r>
              <a:rPr lang="en-US" altLang="zh-CN" sz="1600" dirty="0"/>
              <a:t>module </a:t>
            </a:r>
            <a:r>
              <a:rPr lang="zh-CN" altLang="en-US" sz="1600" dirty="0"/>
              <a:t>和 </a:t>
            </a:r>
            <a:r>
              <a:rPr lang="en-US" altLang="zh-CN" sz="1600" dirty="0" err="1"/>
              <a:t>endmodule</a:t>
            </a:r>
            <a:r>
              <a:rPr lang="en-US" altLang="zh-CN" sz="1600" dirty="0"/>
              <a:t> </a:t>
            </a:r>
            <a:r>
              <a:rPr lang="zh-CN" altLang="en-US" sz="1600" dirty="0"/>
              <a:t>之间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2</a:t>
            </a:r>
            <a:r>
              <a:rPr lang="zh-CN" altLang="en-US" sz="1600" dirty="0"/>
              <a:t>、模块名，是模块唯一的标识符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3</a:t>
            </a:r>
            <a:r>
              <a:rPr lang="zh-CN" altLang="en-US" sz="1600" dirty="0"/>
              <a:t>、圆括号中，以逗号分隔的端口名，是该模块输入和输出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4</a:t>
            </a:r>
            <a:r>
              <a:rPr lang="zh-CN" altLang="en-US" sz="1600" dirty="0"/>
              <a:t>、接着是模块的说明部分，端口类型说明为：</a:t>
            </a:r>
            <a:r>
              <a:rPr lang="en-US" altLang="zh-CN" sz="1600" dirty="0"/>
              <a:t>input</a:t>
            </a:r>
            <a:r>
              <a:rPr lang="zh-CN" altLang="en-US" sz="1600" dirty="0"/>
              <a:t>输入，</a:t>
            </a:r>
            <a:r>
              <a:rPr lang="en-US" altLang="zh-CN" sz="1600" dirty="0"/>
              <a:t>output</a:t>
            </a:r>
            <a:r>
              <a:rPr lang="zh-CN" altLang="en-US" sz="1600" dirty="0"/>
              <a:t>输出，</a:t>
            </a:r>
            <a:r>
              <a:rPr lang="en-US" altLang="zh-CN" sz="1600" dirty="0" err="1"/>
              <a:t>inout</a:t>
            </a:r>
            <a:r>
              <a:rPr lang="zh-CN" altLang="en-US" sz="1600" dirty="0"/>
              <a:t>双向，三者之一。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5</a:t>
            </a:r>
            <a:r>
              <a:rPr lang="zh-CN" altLang="en-US" sz="1600" dirty="0"/>
              <a:t>、凡是在模块名后面圆括号中出现的端口名，都要说明其端口类型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6</a:t>
            </a:r>
            <a:r>
              <a:rPr lang="zh-CN" altLang="en-US" sz="1600" dirty="0"/>
              <a:t>、参数定义，是将常量用符号常量进行代替，以增加程序可读性和可修改性，符号常量常用于指定延迟、变量的位宽和状态机状态值，类似于</a:t>
            </a:r>
            <a:r>
              <a:rPr lang="en-US" altLang="zh-CN" sz="1600" dirty="0"/>
              <a:t>C</a:t>
            </a:r>
            <a:r>
              <a:rPr lang="zh-CN" altLang="en-US" sz="1600" dirty="0"/>
              <a:t>中的</a:t>
            </a:r>
            <a:r>
              <a:rPr lang="en-US" altLang="zh-CN" sz="1600" dirty="0"/>
              <a:t>#define N 100</a:t>
            </a:r>
            <a:endParaRPr lang="zh-CN" altLang="en-US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7</a:t>
            </a:r>
            <a:r>
              <a:rPr lang="zh-CN" altLang="en-US" sz="1600" dirty="0"/>
              <a:t>、数据类型定义，用来指定模块内所用的数据对象，是寄存器类型，还是连线类型等（系统：整数、实数、简单、数组、结构体、联合、特殊。用户定义：枚举、参数化和自定义。）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8</a:t>
            </a:r>
            <a:r>
              <a:rPr lang="zh-CN" altLang="en-US" sz="1600" dirty="0"/>
              <a:t>、接下来是对该模块的逻辑功能描述：可使用三种不同风格，描述电路功能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8.1</a:t>
            </a:r>
            <a:r>
              <a:rPr lang="zh-CN" altLang="en-US" sz="1600" dirty="0"/>
              <a:t>、实例，引用低层次模块和基本门级原件。即：引用其它已经定义的低层次模块对整个电路功能进行描述，或者使用</a:t>
            </a:r>
            <a:r>
              <a:rPr lang="en-US" altLang="zh-CN" sz="1600" dirty="0"/>
              <a:t>Verilog</a:t>
            </a:r>
            <a:r>
              <a:rPr lang="zh-CN" altLang="en-US" sz="1600" dirty="0"/>
              <a:t>内部预先定义的逻辑门描述电路的结构，称为结构级描述，仅使用基本门级元件的方式也称为门级描述方式。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8.2</a:t>
            </a:r>
            <a:r>
              <a:rPr lang="zh-CN" altLang="en-US" sz="1600" dirty="0"/>
              <a:t>、连续赋值语句，对电路功能进行描述，称之为数据流描述方式，该方式对组合逻辑建模非常方便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en-US" altLang="zh-CN" sz="1600" dirty="0"/>
              <a:t>8.3</a:t>
            </a:r>
            <a:r>
              <a:rPr lang="zh-CN" altLang="en-US" sz="1600" dirty="0"/>
              <a:t>、过程块结构方式，包括</a:t>
            </a:r>
            <a:r>
              <a:rPr lang="en-US" altLang="zh-CN" sz="1600" dirty="0"/>
              <a:t>initial</a:t>
            </a:r>
            <a:r>
              <a:rPr lang="zh-CN" altLang="en-US" sz="1600" dirty="0"/>
              <a:t>语句和</a:t>
            </a:r>
            <a:r>
              <a:rPr lang="en-US" altLang="zh-CN" sz="1600" dirty="0"/>
              <a:t>always</a:t>
            </a:r>
            <a:r>
              <a:rPr lang="zh-CN" altLang="en-US" sz="1600" dirty="0"/>
              <a:t>语句，使用比较抽象的高级程序语句对电路的逻辑功能进行描述，称之为功能行为描述方式。</a:t>
            </a:r>
            <a:endParaRPr lang="en-US" altLang="zh-CN" sz="1600" dirty="0"/>
          </a:p>
          <a:p>
            <a:pPr eaLnBrk="1" hangingPunct="1">
              <a:spcBef>
                <a:spcPct val="0"/>
              </a:spcBef>
            </a:pPr>
            <a:r>
              <a:rPr lang="zh-CN" altLang="en-US" sz="1600" dirty="0"/>
              <a:t>可以选用任何一种，混合使用几种方式</a:t>
            </a:r>
            <a:endParaRPr lang="zh-CN" altLang="en-US" sz="1600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也就是说，在一个模块中。。。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注释可以增强程序的可读性和可维护性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Module </a:t>
            </a:r>
            <a:r>
              <a:rPr lang="zh-CN" altLang="en-US" dirty="0"/>
              <a:t>后为模块名称，括号内为该模块所有的输入输出端口名称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对端口类型进行说明，其中</a:t>
            </a:r>
            <a:r>
              <a:rPr lang="en-US" altLang="zh-CN" dirty="0"/>
              <a:t>A,B</a:t>
            </a:r>
            <a:r>
              <a:rPr lang="zh-CN" altLang="en-US" dirty="0"/>
              <a:t>为输入端口，</a:t>
            </a:r>
            <a:r>
              <a:rPr lang="en-US" altLang="zh-CN" dirty="0"/>
              <a:t>Sum</a:t>
            </a:r>
            <a:r>
              <a:rPr lang="zh-CN" altLang="en-US" dirty="0"/>
              <a:t>，</a:t>
            </a:r>
            <a:r>
              <a:rPr lang="en-US" altLang="zh-CN" dirty="0"/>
              <a:t>Carry</a:t>
            </a:r>
            <a:r>
              <a:rPr lang="zh-CN" altLang="en-US" dirty="0"/>
              <a:t>为输出端口。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然后是数据类型说明，所有端口都为</a:t>
            </a:r>
            <a:r>
              <a:rPr lang="en-US" altLang="zh-CN" dirty="0"/>
              <a:t>wire</a:t>
            </a:r>
            <a:r>
              <a:rPr lang="zh-CN" altLang="en-US" dirty="0"/>
              <a:t>类型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最后根据半加器电路，采用门级原语</a:t>
            </a:r>
            <a:r>
              <a:rPr lang="en-US" altLang="zh-CN" dirty="0"/>
              <a:t>primitive</a:t>
            </a:r>
            <a:r>
              <a:rPr lang="zh-CN" altLang="en-US" dirty="0"/>
              <a:t>描述半加器电路结构。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下面再看一下用数据流描述方式，和行为描述方式的半加器模块。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同样都是输入输出端口定义，然后是端口数据类型定义，数据流下，端口数据类型为</a:t>
            </a:r>
            <a:r>
              <a:rPr lang="en-US" altLang="zh-CN" dirty="0"/>
              <a:t>wire</a:t>
            </a:r>
            <a:r>
              <a:rPr lang="zh-CN" altLang="en-US" dirty="0"/>
              <a:t>类型，而行为描述方式下，输出端口数据类型为</a:t>
            </a:r>
            <a:r>
              <a:rPr lang="en-US" altLang="zh-CN" dirty="0"/>
              <a:t>register</a:t>
            </a:r>
            <a:r>
              <a:rPr lang="zh-CN" altLang="en-US" dirty="0"/>
              <a:t>寄存器类型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1</a:t>
            </a:r>
            <a:r>
              <a:rPr lang="zh-CN" altLang="en-US" dirty="0"/>
              <a:t>、紧接着是逻辑功能描述：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数据流采用</a:t>
            </a:r>
            <a:r>
              <a:rPr lang="en-US" altLang="zh-CN" dirty="0"/>
              <a:t>assign </a:t>
            </a:r>
            <a:r>
              <a:rPr lang="zh-CN" altLang="en-US" dirty="0"/>
              <a:t>连续赋值语句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行为描述方式采用</a:t>
            </a:r>
            <a:r>
              <a:rPr lang="en-US" altLang="zh-CN" dirty="0"/>
              <a:t>always</a:t>
            </a:r>
            <a:r>
              <a:rPr lang="zh-CN" altLang="en-US" dirty="0"/>
              <a:t>过程赋值语句块，当具有多个语句时，采用，</a:t>
            </a:r>
            <a:r>
              <a:rPr lang="en-US" altLang="zh-CN" dirty="0"/>
              <a:t>begin end</a:t>
            </a:r>
            <a:r>
              <a:rPr lang="zh-CN" altLang="en-US" dirty="0"/>
              <a:t>关键词，表示过程赋值语句块的起始和终止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2</a:t>
            </a:r>
            <a:r>
              <a:rPr lang="zh-CN" altLang="en-US" dirty="0"/>
              <a:t>、由此可知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至此，我们学习了</a:t>
            </a:r>
            <a:r>
              <a:rPr lang="en-US" altLang="zh-CN" dirty="0"/>
              <a:t>Verilog HDL</a:t>
            </a:r>
            <a:r>
              <a:rPr lang="zh-CN" altLang="en-US" dirty="0"/>
              <a:t>语言定义模块的基本方法、以及电路逻辑功能描述的三种不同方法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1</a:t>
            </a:r>
            <a:r>
              <a:rPr lang="zh-CN" altLang="en-US" dirty="0"/>
              <a:t>、同时，我们也发现在这些模块的描述中，使用了很多关键词，也遵循了一些基本规则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那么，我们就来看看</a:t>
            </a:r>
            <a:r>
              <a:rPr lang="en-US" altLang="zh-CN" dirty="0"/>
              <a:t>Verilog HDL</a:t>
            </a:r>
            <a:r>
              <a:rPr lang="zh-CN" altLang="en-US" dirty="0"/>
              <a:t>的具体语法规则。</a:t>
            </a:r>
            <a:endParaRPr lang="en-US" altLang="zh-CN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为了对数字电路进行完整的描述，</a:t>
            </a:r>
            <a:r>
              <a:rPr lang="en-US" altLang="zh-CN" dirty="0"/>
              <a:t>Verilog HDL</a:t>
            </a:r>
            <a:r>
              <a:rPr lang="zh-CN" altLang="en-US" dirty="0"/>
              <a:t>规定了一套完整的语法结构，主要有：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词法规定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逻辑值集合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常量及其表示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数据类型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为了对数字电路进行完整的描述，</a:t>
            </a:r>
            <a:r>
              <a:rPr lang="en-US" altLang="zh-CN" dirty="0"/>
              <a:t>Verilog HDL</a:t>
            </a:r>
            <a:r>
              <a:rPr lang="zh-CN" altLang="en-US" dirty="0"/>
              <a:t>规定了一套完整的语法结构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为了对数字电路进行完整的描述，</a:t>
            </a:r>
            <a:r>
              <a:rPr lang="en-US" altLang="zh-CN" dirty="0"/>
              <a:t>Verilog HDL</a:t>
            </a:r>
            <a:r>
              <a:rPr lang="zh-CN" altLang="en-US" dirty="0"/>
              <a:t>规定了一套完整的语法结构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为了对数字电路进行完整的描述，</a:t>
            </a:r>
            <a:r>
              <a:rPr lang="en-US" altLang="zh-CN" dirty="0"/>
              <a:t>Verilog HDL</a:t>
            </a:r>
            <a:r>
              <a:rPr lang="zh-CN" altLang="en-US" dirty="0"/>
              <a:t>规定了一套完整的语法结构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+/-</a:t>
            </a:r>
            <a:r>
              <a:rPr lang="zh-CN" altLang="en-US" dirty="0"/>
              <a:t>为表示常量是正整数还是负整数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Size</a:t>
            </a:r>
            <a:r>
              <a:rPr lang="zh-CN" altLang="en-US" dirty="0"/>
              <a:t>表示十进制数下该常数对应二进制数的宽度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’是固有字符，不可省略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Signed </a:t>
            </a:r>
            <a:r>
              <a:rPr lang="zh-CN" altLang="en-US" dirty="0"/>
              <a:t>有符号数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Base format </a:t>
            </a:r>
            <a:r>
              <a:rPr lang="zh-CN" altLang="en-US" dirty="0"/>
              <a:t>表示为</a:t>
            </a:r>
            <a:r>
              <a:rPr lang="en-US" altLang="zh-CN" dirty="0"/>
              <a:t>number</a:t>
            </a:r>
            <a:r>
              <a:rPr lang="zh-CN" altLang="en-US" dirty="0"/>
              <a:t>的进制格式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number</a:t>
            </a:r>
            <a:r>
              <a:rPr lang="zh-CN" altLang="en-US" dirty="0"/>
              <a:t>值不区分大小写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定义一个</a:t>
            </a:r>
            <a:r>
              <a:rPr lang="en-US" altLang="zh-CN" dirty="0"/>
              <a:t>12</a:t>
            </a:r>
            <a:r>
              <a:rPr lang="zh-CN" altLang="en-US" dirty="0"/>
              <a:t>*</a:t>
            </a:r>
            <a:r>
              <a:rPr lang="en-US" altLang="zh-CN" dirty="0"/>
              <a:t>8</a:t>
            </a:r>
            <a:r>
              <a:rPr lang="zh-CN" altLang="en-US" dirty="0"/>
              <a:t>的变量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en-US" altLang="zh-CN" sz="12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Databus</a:t>
            </a:r>
            <a:r>
              <a:rPr lang="en-US" altLang="zh-CN" sz="12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8</a:t>
            </a:r>
            <a:r>
              <a:rPr lang="zh-CN" altLang="en-US" sz="12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 向量型变量</a:t>
            </a:r>
            <a:endParaRPr lang="en-US" altLang="zh-CN" sz="12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12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Haddr</a:t>
            </a:r>
            <a:r>
              <a:rPr lang="en-US" altLang="zh-CN" sz="12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3</a:t>
            </a:r>
            <a:r>
              <a:rPr lang="zh-CN" altLang="en-US" sz="12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 线与型线网变量</a:t>
            </a:r>
            <a:endParaRPr lang="en-US" altLang="zh-CN" sz="12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使用参数定义语句，定义的两个</a:t>
            </a:r>
            <a:r>
              <a:rPr lang="en-US" altLang="zh-CN" dirty="0"/>
              <a:t>16</a:t>
            </a:r>
            <a:r>
              <a:rPr lang="zh-CN" altLang="en-US" dirty="0"/>
              <a:t>位线网型变量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Logic_0</a:t>
            </a:r>
            <a:r>
              <a:rPr lang="zh-CN" altLang="en-US" dirty="0"/>
              <a:t>用于对地建模，即低电平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Logic_1</a:t>
            </a:r>
            <a:r>
              <a:rPr lang="zh-CN" altLang="en-US" dirty="0"/>
              <a:t>用于对正电源线建模，即高电平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线网</a:t>
            </a:r>
            <a:r>
              <a:rPr lang="en-US" altLang="zh-CN" dirty="0"/>
              <a:t>L</a:t>
            </a:r>
            <a:r>
              <a:rPr lang="zh-CN" altLang="en-US" dirty="0"/>
              <a:t>的值由与门驱动信号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的值决定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当</a:t>
            </a:r>
            <a:r>
              <a:rPr lang="en-US" altLang="zh-CN" dirty="0"/>
              <a:t>A</a:t>
            </a:r>
            <a:r>
              <a:rPr lang="zh-CN" altLang="en-US" dirty="0"/>
              <a:t>或</a:t>
            </a:r>
            <a:r>
              <a:rPr lang="en-US" altLang="zh-CN" dirty="0"/>
              <a:t>B</a:t>
            </a:r>
            <a:r>
              <a:rPr lang="zh-CN" altLang="en-US" dirty="0"/>
              <a:t>发生变化，线网</a:t>
            </a:r>
            <a:r>
              <a:rPr lang="en-US" altLang="zh-CN" dirty="0"/>
              <a:t>L</a:t>
            </a:r>
            <a:r>
              <a:rPr lang="zh-CN" altLang="en-US" dirty="0"/>
              <a:t>的值立即发生变化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三个内部信号同时连接到一个输出端</a:t>
            </a:r>
            <a:r>
              <a:rPr lang="en-US" altLang="zh-CN" dirty="0"/>
              <a:t>L</a:t>
            </a:r>
            <a:r>
              <a:rPr lang="zh-CN" altLang="en-US" dirty="0"/>
              <a:t>，此时</a:t>
            </a:r>
            <a:r>
              <a:rPr lang="en-US" altLang="zh-CN" dirty="0"/>
              <a:t>L</a:t>
            </a:r>
            <a:r>
              <a:rPr lang="zh-CN" altLang="en-US" dirty="0"/>
              <a:t>同时被三个输出端所驱动，此时，</a:t>
            </a:r>
            <a:r>
              <a:rPr lang="en-US" altLang="zh-CN" dirty="0"/>
              <a:t>L</a:t>
            </a:r>
            <a:r>
              <a:rPr lang="zh-CN" altLang="en-US" dirty="0"/>
              <a:t>的值可能无法确定。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其他三种的位宽是固定的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至此，我们把</a:t>
            </a:r>
            <a:r>
              <a:rPr lang="en-US" altLang="zh-CN" dirty="0"/>
              <a:t>Verilog</a:t>
            </a:r>
            <a:r>
              <a:rPr lang="zh-CN" altLang="en-US" dirty="0"/>
              <a:t>中有关词法、逻辑值、常量、数据类型等基本语法规则介绍完了，下来我们再看看逻辑功能描述部分。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三种逻辑功能描述方法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多输入门：只允许一个输出、允许有多个输入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多输出门</a:t>
            </a:r>
            <a:r>
              <a:rPr lang="zh-CN" altLang="en-US" dirty="0"/>
              <a:t>：只允许有一个输入、允许有多个输出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1</a:t>
            </a:r>
            <a:r>
              <a:rPr lang="zh-CN" altLang="en-US" dirty="0"/>
              <a:t>、给出电路图中每个输入输出引脚，附以端口名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2</a:t>
            </a:r>
            <a:r>
              <a:rPr lang="zh-CN" altLang="en-US" dirty="0"/>
              <a:t>、电路图中每条内部连线取名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3</a:t>
            </a:r>
            <a:r>
              <a:rPr lang="zh-CN" altLang="en-US" dirty="0"/>
              <a:t>、给电路图中的每个逻辑元件取编号 （实例化</a:t>
            </a:r>
            <a:r>
              <a:rPr lang="zh-CN" altLang="en-US" dirty="0"/>
              <a:t>名称）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4</a:t>
            </a:r>
            <a:r>
              <a:rPr lang="zh-CN" altLang="en-US" dirty="0"/>
              <a:t>、给电路模块确定模块名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算术运算符中，若某个操作数的某一位为</a:t>
            </a:r>
            <a:r>
              <a:rPr lang="en-US" altLang="zh-CN" dirty="0"/>
              <a:t>X</a:t>
            </a:r>
            <a:r>
              <a:rPr lang="zh-CN" altLang="en-US" dirty="0"/>
              <a:t>，或</a:t>
            </a:r>
            <a:r>
              <a:rPr lang="en-US" altLang="zh-CN" dirty="0"/>
              <a:t>Z</a:t>
            </a:r>
            <a:r>
              <a:rPr lang="zh-CN" altLang="en-US" dirty="0"/>
              <a:t>，则整个表达式结果为</a:t>
            </a:r>
            <a:r>
              <a:rPr lang="en-US" altLang="zh-CN" dirty="0"/>
              <a:t>X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'b101x+'b0111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关系运算符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两个操作数为有符号数，位数不同，则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将位数较小操作数的位数按符号位补齐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相等运算符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逻辑运算符：非、与、或。向量中含有</a:t>
            </a:r>
            <a:r>
              <a:rPr lang="en-US" altLang="zh-CN" dirty="0"/>
              <a:t>“1”</a:t>
            </a:r>
            <a:r>
              <a:rPr lang="zh-CN" altLang="en-US" dirty="0"/>
              <a:t>则为逻辑则以逻辑</a:t>
            </a:r>
            <a:r>
              <a:rPr lang="en-US" altLang="zh-CN" dirty="0"/>
              <a:t>“1”</a:t>
            </a:r>
            <a:r>
              <a:rPr lang="zh-CN" altLang="en-US" dirty="0"/>
              <a:t>参与</a:t>
            </a:r>
            <a:r>
              <a:rPr lang="zh-CN" altLang="en-US" dirty="0"/>
              <a:t>运算。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按位运算符：波浪线</a:t>
            </a:r>
            <a:r>
              <a:rPr lang="en-US" altLang="zh-CN" dirty="0"/>
              <a:t>“~”</a:t>
            </a:r>
            <a:r>
              <a:rPr lang="zh-CN" altLang="en-US" dirty="0"/>
              <a:t>（tilde）、竖线</a:t>
            </a:r>
            <a:r>
              <a:rPr lang="en-US" altLang="zh-CN" dirty="0"/>
              <a:t>“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 |”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（vertical bar）。^，中文尚无通用名称，可以是乘方、插入符号、插入符、脱字符号等；英文称为caret (英语发音：/ˈkærət/)，是个倒 V 形的字素。简单来说，^ 就是 ASCII 码位 5Ehex 或其他字符集称为 帽子(hat)、控制符(control)或 上箭头(uparrow) 的移格字符。</a:t>
            </a:r>
            <a:endParaRPr lang="zh-CN" altLang="en-US" dirty="0">
              <a:solidFill>
                <a:schemeClr val="dk1"/>
              </a:solidFill>
              <a:latin typeface="+mn-lt"/>
              <a:ea typeface="+mn-ea"/>
              <a:sym typeface="+mn-ea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本语言中，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~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（一元非）、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&amp;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（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二元与）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|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（二元或）、^ （二元异或）、^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~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 （二元异或非）、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 ~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^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（二元异或非）。</a:t>
            </a:r>
            <a:endParaRPr lang="zh-CN" altLang="en-US" b="0" i="0" u="none" strike="noStrike" kern="1200" baseline="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zh-CN" altLang="en-US" dirty="0">
              <a:solidFill>
                <a:schemeClr val="dk1"/>
              </a:solidFill>
              <a:latin typeface="+mn-lt"/>
              <a:ea typeface="+mn-ea"/>
              <a:sym typeface="+mn-ea"/>
            </a:endParaRPr>
          </a:p>
          <a:p>
            <a:pPr eaLnBrk="1" hangingPunct="1">
              <a:spcBef>
                <a:spcPct val="0"/>
              </a:spcBef>
            </a:pPr>
            <a:endParaRPr lang="zh-CN" altLang="en-US" dirty="0">
              <a:solidFill>
                <a:schemeClr val="dk1"/>
              </a:solidFill>
              <a:latin typeface="+mn-lt"/>
              <a:ea typeface="+mn-ea"/>
              <a:sym typeface="+mn-ea"/>
            </a:endParaRPr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缩位运算符、也称归约运算符。</a:t>
            </a:r>
            <a:r>
              <a:rPr lang="zh-CN" altLang="en-US" dirty="0">
                <a:sym typeface="+mn-ea"/>
              </a:rPr>
              <a:t>缩减运算符的操作数只有一个,即单目运算,对操作数的所有位依次进行位运算,结果只有一位,可以是0或1。方便实现奇偶校验</a:t>
            </a:r>
            <a:r>
              <a:rPr lang="zh-CN" altLang="en-US" dirty="0">
                <a:sym typeface="+mn-ea"/>
              </a:rPr>
              <a:t>操作。</a:t>
            </a:r>
            <a:endParaRPr lang="zh-CN" altLang="en-US" dirty="0">
              <a:sym typeface="+mn-ea"/>
            </a:endParaRPr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移位运算符：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&lt;&lt;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（左移）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, &gt;&gt;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（</a:t>
            </a:r>
            <a:r>
              <a:rPr lang="zh-CN" altLang="en-US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右移）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sym typeface="+mn-ea"/>
              </a:rPr>
              <a:t>, &lt;&lt;&lt;, &gt;&gt;&gt;</a:t>
            </a:r>
            <a:endParaRPr lang="en-US" altLang="zh-CN" b="0" i="0" u="none" strike="noStrike" kern="1200" baseline="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条件运算符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拼接和复制运算符：对非定长常数，因长度未知，不能用于拼接</a:t>
            </a:r>
            <a:r>
              <a:rPr lang="zh-CN" altLang="en-US" dirty="0"/>
              <a:t>操作。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多数入门：只允许一个输出、允许有多个输入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多数出门：只允许有一个输入、允许有多个输出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通过一个</a:t>
            </a:r>
            <a:r>
              <a:rPr lang="en-US" altLang="zh-CN" dirty="0"/>
              <a:t>assign</a:t>
            </a:r>
            <a:r>
              <a:rPr lang="zh-CN" altLang="en-US" dirty="0"/>
              <a:t>语句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用位拼接运算符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事件控制表达式为空，总为真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ym typeface="+mn-ea"/>
              </a:rPr>
              <a:t>事件控制表达式为空，总为真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三种逻辑功能描述方法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自底向上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四位全加器由四个</a:t>
            </a:r>
            <a:r>
              <a:rPr lang="en-US" altLang="zh-CN" dirty="0"/>
              <a:t>1</a:t>
            </a:r>
            <a:r>
              <a:rPr lang="zh-CN" altLang="en-US" dirty="0"/>
              <a:t>位全加器组成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1</a:t>
            </a:r>
            <a:r>
              <a:rPr lang="zh-CN" altLang="en-US" dirty="0"/>
              <a:t>位全加器又由</a:t>
            </a:r>
            <a:r>
              <a:rPr lang="en-US" altLang="zh-CN" dirty="0"/>
              <a:t>1</a:t>
            </a:r>
            <a:r>
              <a:rPr lang="zh-CN" altLang="en-US" dirty="0"/>
              <a:t>个半加器和或门组成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两个半加器组成一个全加器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自底向上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自底向上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自底向上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只有模块名，没有输入输出端口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Reg</a:t>
            </a:r>
            <a:r>
              <a:rPr lang="zh-CN" altLang="en-US" dirty="0"/>
              <a:t>为输入信号，以便保持输入的激励值不变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Wire</a:t>
            </a:r>
            <a:r>
              <a:rPr lang="zh-CN" altLang="en-US" dirty="0"/>
              <a:t>为输出信号，以便能随时跟踪激励信号变化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实例引用待测试模块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然后产生待测电路所需要的激励信号，即：给输入信号不同的组合值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最后是观察待测模块在这些激励信号下的输出，响应信号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sz="1200" dirty="0">
                <a:solidFill>
                  <a:schemeClr val="tx1"/>
                </a:solidFill>
              </a:rPr>
              <a:t>编译指令：所有延迟单位为</a:t>
            </a:r>
            <a:r>
              <a:rPr lang="en-US" altLang="zh-CN" sz="1200" dirty="0">
                <a:solidFill>
                  <a:schemeClr val="tx1"/>
                </a:solidFill>
              </a:rPr>
              <a:t>10ns</a:t>
            </a:r>
            <a:r>
              <a:rPr lang="zh-CN" altLang="en-US" sz="1200" dirty="0">
                <a:solidFill>
                  <a:schemeClr val="tx1"/>
                </a:solidFill>
              </a:rPr>
              <a:t>，时间精度：</a:t>
            </a:r>
            <a:r>
              <a:rPr lang="en-US" altLang="zh-CN" sz="1200" dirty="0">
                <a:solidFill>
                  <a:schemeClr val="tx1"/>
                </a:solidFill>
              </a:rPr>
              <a:t>1ns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#5</a:t>
            </a:r>
            <a:r>
              <a:rPr lang="zh-CN" altLang="en-US" dirty="0"/>
              <a:t>，表示延迟时间为</a:t>
            </a:r>
            <a:r>
              <a:rPr lang="en-US" altLang="zh-CN" dirty="0"/>
              <a:t>50ns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F5CCA8E-32B7-4E58-BF95-EE492D7233F8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7B108-DE76-466A-8E60-F4BE3B1E0BA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C36821-FAC9-43CB-9178-6FAE7D03824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2000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3.png"/><Relationship Id="rId5" Type="http://schemas.openxmlformats.org/officeDocument/2006/relationships/hyperlink" Target="http://www.xjtu.edu.cn/index.htm" TargetMode="External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10" descr="电路幻灯片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-20638"/>
            <a:ext cx="9175751" cy="516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9" descr="logo_pic001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195512" cy="557213"/>
          </a:xfrm>
          <a:prstGeom prst="rect">
            <a:avLst/>
          </a:prstGeom>
          <a:solidFill>
            <a:srgbClr val="0000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图片 10" descr="电路幻灯片1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-20638"/>
            <a:ext cx="9175751" cy="516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emf"/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emf"/><Relationship Id="rId8" Type="http://schemas.openxmlformats.org/officeDocument/2006/relationships/image" Target="../media/image22.emf"/><Relationship Id="rId7" Type="http://schemas.openxmlformats.org/officeDocument/2006/relationships/image" Target="../media/image21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7" Type="http://schemas.openxmlformats.org/officeDocument/2006/relationships/notesSlide" Target="../notesSlides/notesSlide15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29.emf"/><Relationship Id="rId14" Type="http://schemas.openxmlformats.org/officeDocument/2006/relationships/image" Target="../media/image28.emf"/><Relationship Id="rId13" Type="http://schemas.openxmlformats.org/officeDocument/2006/relationships/image" Target="../media/image27.emf"/><Relationship Id="rId12" Type="http://schemas.openxmlformats.org/officeDocument/2006/relationships/image" Target="../media/image26.emf"/><Relationship Id="rId11" Type="http://schemas.openxmlformats.org/officeDocument/2006/relationships/image" Target="../media/image25.emf"/><Relationship Id="rId10" Type="http://schemas.openxmlformats.org/officeDocument/2006/relationships/image" Target="../media/image24.emf"/><Relationship Id="rId1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7.emf"/><Relationship Id="rId7" Type="http://schemas.openxmlformats.org/officeDocument/2006/relationships/image" Target="../media/image36.emf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30.emf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4.emf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4.emf"/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image" Target="../media/image21.emf"/><Relationship Id="rId7" Type="http://schemas.openxmlformats.org/officeDocument/2006/relationships/image" Target="../media/image58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7" Type="http://schemas.openxmlformats.org/officeDocument/2006/relationships/notesSlide" Target="../notesSlides/notesSlide37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28.emf"/><Relationship Id="rId14" Type="http://schemas.openxmlformats.org/officeDocument/2006/relationships/image" Target="../media/image27.emf"/><Relationship Id="rId13" Type="http://schemas.openxmlformats.org/officeDocument/2006/relationships/image" Target="../media/image26.emf"/><Relationship Id="rId12" Type="http://schemas.openxmlformats.org/officeDocument/2006/relationships/image" Target="../media/image25.emf"/><Relationship Id="rId11" Type="http://schemas.openxmlformats.org/officeDocument/2006/relationships/image" Target="../media/image24.emf"/><Relationship Id="rId10" Type="http://schemas.openxmlformats.org/officeDocument/2006/relationships/image" Target="../media/image23.emf"/><Relationship Id="rId1" Type="http://schemas.openxmlformats.org/officeDocument/2006/relationships/image" Target="../media/image15.emf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9.png"/><Relationship Id="rId1" Type="http://schemas.openxmlformats.org/officeDocument/2006/relationships/image" Target="../media/image2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0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image" Target="../media/image21.emf"/><Relationship Id="rId7" Type="http://schemas.openxmlformats.org/officeDocument/2006/relationships/image" Target="../media/image58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7" Type="http://schemas.openxmlformats.org/officeDocument/2006/relationships/notesSlide" Target="../notesSlides/notesSlide58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28.emf"/><Relationship Id="rId14" Type="http://schemas.openxmlformats.org/officeDocument/2006/relationships/image" Target="../media/image27.emf"/><Relationship Id="rId13" Type="http://schemas.openxmlformats.org/officeDocument/2006/relationships/image" Target="../media/image26.emf"/><Relationship Id="rId12" Type="http://schemas.openxmlformats.org/officeDocument/2006/relationships/image" Target="../media/image25.emf"/><Relationship Id="rId11" Type="http://schemas.openxmlformats.org/officeDocument/2006/relationships/image" Target="../media/image24.emf"/><Relationship Id="rId10" Type="http://schemas.openxmlformats.org/officeDocument/2006/relationships/image" Target="../media/image23.emf"/><Relationship Id="rId1" Type="http://schemas.openxmlformats.org/officeDocument/2006/relationships/image" Target="../media/image15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矩形 3"/>
          <p:cNvSpPr>
            <a:spLocks noChangeArrowheads="1"/>
          </p:cNvSpPr>
          <p:nvPr/>
        </p:nvSpPr>
        <p:spPr bwMode="auto">
          <a:xfrm>
            <a:off x="0" y="1708150"/>
            <a:ext cx="9156700" cy="1643063"/>
          </a:xfrm>
          <a:prstGeom prst="rect">
            <a:avLst/>
          </a:prstGeom>
          <a:solidFill>
            <a:srgbClr val="BDD7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noProof="1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0355" name="标题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2020888"/>
            <a:ext cx="3852863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600" noProof="1">
                <a:latin typeface="黑体" panose="02010609060101010101" pitchFamily="49" charset="-122"/>
                <a:ea typeface="黑体" panose="02010609060101010101" pitchFamily="49" charset="-122"/>
              </a:rPr>
              <a:t>数 字 逻 辑 电 路</a:t>
            </a:r>
            <a:endParaRPr lang="zh-CN" altLang="en-US" sz="3600" noProof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0356" name="文本框 2"/>
          <p:cNvSpPr txBox="1">
            <a:spLocks noChangeArrowheads="1"/>
          </p:cNvSpPr>
          <p:nvPr/>
        </p:nvSpPr>
        <p:spPr bwMode="auto">
          <a:xfrm>
            <a:off x="3703638" y="2646363"/>
            <a:ext cx="1073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  <a:latin typeface="方正综艺简体" charset="-122"/>
                <a:ea typeface="黑体" panose="02010609060101010101" pitchFamily="49" charset="-122"/>
              </a:rPr>
              <a:t>朱正东</a:t>
            </a:r>
            <a:endParaRPr lang="zh-CN" altLang="en-US">
              <a:solidFill>
                <a:schemeClr val="tx1"/>
              </a:solidFill>
              <a:latin typeface="方正综艺简体" charset="-122"/>
              <a:ea typeface="黑体" panose="02010609060101010101" pitchFamily="49" charset="-122"/>
            </a:endParaRPr>
          </a:p>
        </p:txBody>
      </p:sp>
      <p:sp>
        <p:nvSpPr>
          <p:cNvPr id="100357" name="矩形 8"/>
          <p:cNvSpPr>
            <a:spLocks noChangeArrowheads="1"/>
          </p:cNvSpPr>
          <p:nvPr/>
        </p:nvSpPr>
        <p:spPr bwMode="auto"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noProof="1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0358" name="矩形 9"/>
          <p:cNvSpPr>
            <a:spLocks noChangeArrowheads="1"/>
          </p:cNvSpPr>
          <p:nvPr/>
        </p:nvSpPr>
        <p:spPr bwMode="auto">
          <a:xfrm>
            <a:off x="0" y="1563688"/>
            <a:ext cx="9169400" cy="1646237"/>
          </a:xfrm>
          <a:prstGeom prst="rect">
            <a:avLst/>
          </a:prstGeom>
          <a:solidFill>
            <a:srgbClr val="BDD7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noProof="1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/>
            <a:r>
              <a:rPr lang="en-US" altLang="zh-CN" noProof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noProof="1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0359" name="标题 1"/>
          <p:cNvSpPr>
            <a:spLocks noChangeArrowheads="1"/>
          </p:cNvSpPr>
          <p:nvPr/>
        </p:nvSpPr>
        <p:spPr bwMode="auto">
          <a:xfrm>
            <a:off x="1139190" y="1711325"/>
            <a:ext cx="688848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4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4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 字 逻 辑 电 路</a:t>
            </a:r>
            <a:r>
              <a:rPr lang="en-US" altLang="zh-CN" sz="4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节（新）</a:t>
            </a:r>
            <a:endParaRPr lang="zh-CN" altLang="en-US" sz="24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18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zh-CN" altLang="en-US" sz="1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王今雨</a:t>
            </a: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endParaRPr lang="en-US" altLang="zh-CN" sz="18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0361" name="组合 12"/>
          <p:cNvGrpSpPr/>
          <p:nvPr/>
        </p:nvGrpSpPr>
        <p:grpSpPr bwMode="auto">
          <a:xfrm>
            <a:off x="466725" y="268288"/>
            <a:ext cx="2322513" cy="696912"/>
            <a:chOff x="0" y="0"/>
            <a:chExt cx="5804" cy="1740"/>
          </a:xfrm>
        </p:grpSpPr>
        <p:pic>
          <p:nvPicPr>
            <p:cNvPr id="100362" name="图片 13" descr="交大矢量logo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37" t="-9560" r="41219" b="-10179"/>
            <a:stretch>
              <a:fillRect/>
            </a:stretch>
          </p:blipFill>
          <p:spPr bwMode="auto">
            <a:xfrm>
              <a:off x="0" y="0"/>
              <a:ext cx="5616" cy="1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0363" name="矩形 14"/>
            <p:cNvSpPr>
              <a:spLocks noChangeArrowheads="1"/>
            </p:cNvSpPr>
            <p:nvPr/>
          </p:nvSpPr>
          <p:spPr bwMode="auto">
            <a:xfrm>
              <a:off x="5463" y="1161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noProof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4.1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概述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数字电路功能的描述方法？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931" y="2283718"/>
            <a:ext cx="3289789" cy="8848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491630"/>
            <a:ext cx="2060017" cy="18409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410087"/>
            <a:ext cx="2459175" cy="13994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300" y="4011910"/>
            <a:ext cx="1479972" cy="367169"/>
          </a:xfrm>
          <a:prstGeom prst="rect">
            <a:avLst/>
          </a:prstGeom>
        </p:spPr>
      </p:pic>
      <p:sp>
        <p:nvSpPr>
          <p:cNvPr id="8" name="内容占位符 2"/>
          <p:cNvSpPr txBox="1">
            <a:spLocks noChangeArrowheads="1"/>
          </p:cNvSpPr>
          <p:nvPr/>
        </p:nvSpPr>
        <p:spPr bwMode="auto">
          <a:xfrm>
            <a:off x="2367726" y="2895446"/>
            <a:ext cx="792088" cy="331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原理图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内容占位符 2"/>
          <p:cNvSpPr txBox="1">
            <a:spLocks noChangeArrowheads="1"/>
          </p:cNvSpPr>
          <p:nvPr/>
        </p:nvSpPr>
        <p:spPr bwMode="auto">
          <a:xfrm>
            <a:off x="755576" y="4502244"/>
            <a:ext cx="792088" cy="331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波形图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内容占位符 2"/>
          <p:cNvSpPr txBox="1">
            <a:spLocks noChangeArrowheads="1"/>
          </p:cNvSpPr>
          <p:nvPr/>
        </p:nvSpPr>
        <p:spPr bwMode="auto">
          <a:xfrm>
            <a:off x="7194272" y="4077247"/>
            <a:ext cx="1194152" cy="331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逻辑表达式</a:t>
            </a:r>
            <a:endParaRPr lang="en-US" altLang="zh-CN" sz="1800" b="1" dirty="0">
              <a:solidFill>
                <a:sysClr val="windowText" lastClr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硬件描述语言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HDL(Hardware Description Language)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目的：将电子电路的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设计意义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文字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文件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的形式保存下来，以便其他人能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轻易地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了解电路的设计意义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成功地应用于设计的各个阶段：建模（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Modeling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）、仿真（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Simulation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）、验证（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Verification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）和综合（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Synthesis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）等。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世纪</a:t>
            </a: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80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年代，出现了上百种硬件描述语言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6352762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27784" y="3531374"/>
            <a:ext cx="1728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VHDL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87888" y="3363838"/>
            <a:ext cx="17281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52020" y="3747398"/>
            <a:ext cx="1728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IEEE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标准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88765" y="4465955"/>
            <a:ext cx="5019675" cy="407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b="0" i="0" dirty="0">
                <a:solidFill>
                  <a:srgbClr val="FF0000"/>
                </a:solidFill>
                <a:effectLst/>
                <a:latin typeface="PingFang SC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nstitute of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PingFang SC"/>
              </a:rPr>
              <a:t>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lectrical and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PingFang SC"/>
              </a:rPr>
              <a:t>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lectronics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PingFang SC"/>
              </a:rPr>
              <a:t>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ngineers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VHDL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1987</a:t>
            </a:r>
            <a:r>
              <a:rPr lang="zh-CN" alt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年，</a:t>
            </a:r>
            <a:r>
              <a:rPr lang="en-US" altLang="zh-CN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IEEE STD 1076-1987</a:t>
            </a:r>
            <a:r>
              <a:rPr lang="zh-CN" alt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标准</a:t>
            </a:r>
            <a:endParaRPr lang="en-US" altLang="zh-CN" sz="1800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1993</a:t>
            </a:r>
            <a:r>
              <a:rPr lang="zh-CN" alt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年，</a:t>
            </a:r>
            <a:r>
              <a:rPr lang="en-US" altLang="zh-CN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ANSI/IEEE STD 1076-1993</a:t>
            </a:r>
            <a:r>
              <a:rPr lang="zh-CN" alt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标准</a:t>
            </a:r>
            <a:endParaRPr lang="en-US" altLang="zh-CN" sz="1800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......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 HDL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1995</a:t>
            </a:r>
            <a:r>
              <a:rPr lang="zh-CN" alt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年，</a:t>
            </a:r>
            <a:r>
              <a:rPr lang="en-US" altLang="zh-CN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1364-1995</a:t>
            </a:r>
            <a:r>
              <a:rPr lang="zh-CN" alt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标准</a:t>
            </a:r>
            <a:endParaRPr lang="en-US" altLang="zh-CN" sz="1800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2001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年，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1364-2001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标准</a:t>
            </a: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noProof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2005</a:t>
            </a:r>
            <a:r>
              <a:rPr lang="zh-CN" altLang="en-US" sz="1800" noProof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年，</a:t>
            </a:r>
            <a:r>
              <a:rPr lang="en-US" altLang="zh-CN" sz="1800" noProof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1364-2005</a:t>
            </a:r>
            <a:r>
              <a:rPr lang="zh-CN" altLang="en-US" sz="1800" noProof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标准</a:t>
            </a:r>
            <a:endParaRPr lang="zh-CN" altLang="en-US" sz="1800" noProof="0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noProof="0" dirty="0">
                <a:solidFill>
                  <a:srgbClr val="FF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......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kumimoji="0" lang="en-US" altLang="zh-CN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95502" y="699542"/>
            <a:ext cx="6352762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ABEL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OO-VHDL</a:t>
            </a:r>
            <a:endParaRPr lang="en-US" altLang="zh-CN" sz="20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DE-VHDL</a:t>
            </a:r>
            <a:endParaRPr lang="en-US" altLang="zh-CN" sz="20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System</a:t>
            </a:r>
            <a:r>
              <a:rPr kumimoji="0" lang="en-US" altLang="zh-CN" sz="20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Verilog</a:t>
            </a:r>
            <a:endParaRPr kumimoji="0" lang="en-US" altLang="zh-CN" sz="2000" b="1" i="0" u="none" strike="noStrike" kern="1200" cap="none" spc="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1" baseline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System</a:t>
            </a: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C</a:t>
            </a:r>
            <a:endParaRPr lang="zh-CN" altLang="en-US" sz="20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OpenCL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HLS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95502" y="699542"/>
            <a:ext cx="6352762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79511" y="1275353"/>
          <a:ext cx="8784977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707"/>
                <a:gridCol w="1171330"/>
                <a:gridCol w="1244538"/>
                <a:gridCol w="1317746"/>
                <a:gridCol w="1390955"/>
                <a:gridCol w="1340549"/>
                <a:gridCol w="1368152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zh-CN" altLang="en-US" b="1" dirty="0">
                          <a:solidFill>
                            <a:srgbClr val="F5F5F5"/>
                          </a:solidFill>
                          <a:effectLst/>
                        </a:rPr>
                        <a:t>描述语言</a:t>
                      </a:r>
                      <a:endParaRPr lang="zh-CN" altLang="en-US" b="1" dirty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b="1" dirty="0">
                          <a:solidFill>
                            <a:srgbClr val="F5F5F5"/>
                          </a:solidFill>
                          <a:effectLst/>
                        </a:rPr>
                        <a:t>ABEL</a:t>
                      </a:r>
                      <a:endParaRPr lang="en-US" b="1" dirty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b="1" dirty="0">
                          <a:solidFill>
                            <a:srgbClr val="F5F5F5"/>
                          </a:solidFill>
                          <a:effectLst/>
                        </a:rPr>
                        <a:t>OO-VHDL</a:t>
                      </a:r>
                      <a:endParaRPr lang="en-US" b="1" dirty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b="1" dirty="0">
                          <a:solidFill>
                            <a:srgbClr val="F5F5F5"/>
                          </a:solidFill>
                          <a:effectLst/>
                        </a:rPr>
                        <a:t>System Verilog</a:t>
                      </a:r>
                      <a:endParaRPr lang="en-US" b="1" dirty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b="1" dirty="0" err="1">
                          <a:solidFill>
                            <a:srgbClr val="F5F5F5"/>
                          </a:solidFill>
                          <a:effectLst/>
                        </a:rPr>
                        <a:t>System C</a:t>
                      </a:r>
                      <a:endParaRPr lang="en-US" b="1" dirty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b="1" dirty="0">
                          <a:solidFill>
                            <a:srgbClr val="F5F5F5"/>
                          </a:solidFill>
                          <a:effectLst/>
                        </a:rPr>
                        <a:t>OpenCL/HLS</a:t>
                      </a:r>
                      <a:endParaRPr lang="en-US" b="1" dirty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b="1" dirty="0">
                          <a:solidFill>
                            <a:srgbClr val="F5F5F5"/>
                          </a:solidFill>
                          <a:effectLst/>
                        </a:rPr>
                        <a:t>VHDL/Verilog</a:t>
                      </a:r>
                      <a:endParaRPr lang="en-US" b="1" dirty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95250" marR="95250" marT="95250" marB="95250" anchor="ctr"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抽象层级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低（门级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布尔逻辑）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中高（扩展面向对象）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中高（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RTL+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验证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系统级）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高（事务级建模 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极高（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C/C++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算法级）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中（</a:t>
                      </a:r>
                      <a:r>
                        <a:rPr lang="en-US" sz="1100" b="0" dirty="0">
                          <a:effectLst/>
                          <a:latin typeface="+mn-ea"/>
                          <a:ea typeface="+mn-ea"/>
                        </a:rPr>
                        <a:t>RTL）</a:t>
                      </a:r>
                      <a:endParaRPr 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zh-CN" altLang="en-US" sz="1100" b="0">
                          <a:effectLst/>
                          <a:latin typeface="+mn-ea"/>
                          <a:ea typeface="+mn-ea"/>
                        </a:rPr>
                        <a:t>核心用途</a:t>
                      </a:r>
                      <a:endParaRPr lang="zh-CN" altLang="en-US" sz="1100" b="0">
                        <a:effectLst/>
                        <a:latin typeface="+mn-ea"/>
                        <a:ea typeface="+mn-ea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简单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PLD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设计（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PAL/GAL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提高代码复用（继承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多态）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设计 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+ 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验证（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UVM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标准）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系统架构探索 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虚拟原型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算法加速（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FPGA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异构计算）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通用硬件设计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zh-CN" altLang="en-US" sz="1100" b="0">
                          <a:effectLst/>
                          <a:latin typeface="+mn-ea"/>
                          <a:ea typeface="+mn-ea"/>
                        </a:rPr>
                        <a:t>语法范式</a:t>
                      </a:r>
                      <a:endParaRPr lang="zh-CN" altLang="en-US" sz="1100" b="0">
                        <a:effectLst/>
                        <a:latin typeface="+mn-ea"/>
                        <a:ea typeface="+mn-ea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布尔方程 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真值表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VHDL + 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类、封装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Verilog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超集 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类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接口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约束随机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C++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库（事件驱动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硬件数据类型）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sz="1100" b="0" dirty="0">
                          <a:effectLst/>
                          <a:latin typeface="+mn-ea"/>
                          <a:ea typeface="+mn-ea"/>
                        </a:rPr>
                        <a:t>C/C++ + 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并行扩展（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#</a:t>
                      </a:r>
                      <a:r>
                        <a:rPr lang="en-US" sz="1100" b="0" dirty="0">
                          <a:effectLst/>
                          <a:latin typeface="+mn-ea"/>
                          <a:ea typeface="+mn-ea"/>
                        </a:rPr>
                        <a:t>pragma）</a:t>
                      </a:r>
                      <a:endParaRPr 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硬件描述语法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设计效率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仅适合小规模组合逻辑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 提升模块复用率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 大幅提升（结构体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枚举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接口）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 快速算法建模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 革命性提升（软件工程师可参与）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需硬件专业知识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zh-CN" altLang="en-US" sz="1100" b="0">
                          <a:effectLst/>
                          <a:latin typeface="+mn-ea"/>
                          <a:ea typeface="+mn-ea"/>
                        </a:rPr>
                        <a:t>验证能力</a:t>
                      </a:r>
                      <a:endParaRPr lang="zh-CN" altLang="en-US" sz="1100" b="0">
                        <a:effectLst/>
                        <a:latin typeface="+mn-ea"/>
                        <a:ea typeface="+mn-ea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基础测试向量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支持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OOP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验证结构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断言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/SVA/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功能覆盖率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软硬件协同仿真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软件仿真 → </a:t>
                      </a:r>
                      <a:r>
                        <a:rPr lang="en-US" sz="1100" b="0" dirty="0">
                          <a:effectLst/>
                          <a:latin typeface="+mn-ea"/>
                          <a:ea typeface="+mn-ea"/>
                        </a:rPr>
                        <a:t>HLS → 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生成</a:t>
                      </a:r>
                      <a:r>
                        <a:rPr lang="en-US" sz="1100" b="0" dirty="0">
                          <a:effectLst/>
                          <a:latin typeface="+mn-ea"/>
                          <a:ea typeface="+mn-ea"/>
                        </a:rPr>
                        <a:t>RTL</a:t>
                      </a:r>
                      <a:endParaRPr 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直接</a:t>
                      </a:r>
                      <a:r>
                        <a:rPr lang="en-US" sz="1100" b="0" dirty="0">
                          <a:effectLst/>
                          <a:latin typeface="+mn-ea"/>
                          <a:ea typeface="+mn-ea"/>
                        </a:rPr>
                        <a:t>RTL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仿真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现状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 仅维护旧系统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学术原型（未大规模商用）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工业事实标准（</a:t>
                      </a:r>
                      <a:r>
                        <a:rPr lang="en-US" sz="1100" b="0" dirty="0">
                          <a:effectLst/>
                          <a:latin typeface="+mn-ea"/>
                          <a:ea typeface="+mn-ea"/>
                        </a:rPr>
                        <a:t>ASIC/FPGA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全流程）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系统级建模主流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FPGA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加速器主流</a:t>
                      </a:r>
                      <a:endParaRPr 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基础</a:t>
                      </a:r>
                      <a:r>
                        <a:rPr lang="en-US" altLang="zh-CN" sz="1100" b="0" dirty="0">
                          <a:effectLst/>
                          <a:latin typeface="+mn-ea"/>
                          <a:ea typeface="+mn-ea"/>
                        </a:rPr>
                        <a:t>RTL</a:t>
                      </a:r>
                      <a:r>
                        <a:rPr lang="zh-CN" altLang="en-US" sz="1100" b="0" dirty="0">
                          <a:effectLst/>
                          <a:latin typeface="+mn-ea"/>
                          <a:ea typeface="+mn-ea"/>
                        </a:rPr>
                        <a:t>设计</a:t>
                      </a:r>
                      <a:endParaRPr lang="zh-CN" altLang="en-US" sz="11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95250" marB="952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文本形式描述数字系统硬件的结构和行为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逻辑电路图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逻辑表达式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复杂数字逻辑系统的逻辑功能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编写设计说明文档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高层次自动化设计的起点和基础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易于存储和修改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适用于不同设计人员之间交流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易被计算机识别与处理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5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95502" y="699542"/>
            <a:ext cx="6352762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应用于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逻辑仿真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逻辑综合</a:t>
            </a:r>
            <a:endParaRPr lang="en-US" altLang="zh-CN" sz="20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95502" y="699542"/>
            <a:ext cx="6352762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工具功能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逻辑仿真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 rot="10800000">
            <a:off x="2555776" y="2017752"/>
            <a:ext cx="4519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2843808" y="1882733"/>
            <a:ext cx="5616624" cy="124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对数字逻辑电路的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行为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进行预测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仿真器对</a:t>
            </a: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的描述进行解释，以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文本形式或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时序波形图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形式给出电路的输出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696" y="3075806"/>
            <a:ext cx="5049259" cy="1956841"/>
          </a:xfrm>
          <a:prstGeom prst="rect">
            <a:avLst/>
          </a:prstGeom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95502" y="699542"/>
            <a:ext cx="6352762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工具功能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buClrTx/>
              <a:buSzTx/>
              <a:buChar char="•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逻辑综合：从HDL描述的数字逻辑电路模型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导出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结果：生成门级网表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后续流程：制作集成电路、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PC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PLD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布局布线输入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 rot="10800000">
            <a:off x="2175792" y="2327849"/>
            <a:ext cx="4519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2411760" y="2211710"/>
            <a:ext cx="5616624" cy="124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电路基本原件列表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元件之间的连接关系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95502" y="699542"/>
            <a:ext cx="6352762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071" y="3291830"/>
            <a:ext cx="3867561" cy="1676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4.2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设计流程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形式化方法描述电路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上层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底层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抽象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具体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逐层描述复杂数字系统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088" y="1563638"/>
            <a:ext cx="2757376" cy="338437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264" y="2355726"/>
            <a:ext cx="1584176" cy="37076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3228936"/>
            <a:ext cx="1584176" cy="37076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745" y="3599700"/>
            <a:ext cx="864096" cy="3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4.3 VHDL vs Verilog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VHDL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数据类型性极强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支持用户定义的数据类型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严格规定只有类型、字位相同的数据才能进行传递和作用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能利用数据类型检查编程错误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数据类型简单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数据类型语言本身定义，不能由用户定义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易学性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VHDL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欠直观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需要一定学习时间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语法直观</a:t>
            </a: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4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约</a:t>
            </a:r>
            <a:r>
              <a:rPr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50%</a:t>
            </a: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的结构来自</a:t>
            </a:r>
            <a:r>
              <a:rPr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语言</a:t>
            </a:r>
            <a:endParaRPr lang="zh-CN" altLang="en-US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28886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VHDL vs Verilog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硬件描述语言中，有一部分语句专门用来仿真分析，不能进行逻辑综合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另一部分语句描述的电路，可以通过逻辑综合，得到具体硬件电路，称为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可综合语句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95502" y="699542"/>
            <a:ext cx="728886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VHDL vs Verilog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4.4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程序的基本结构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 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基本描述单位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一个模块可以包含整个设计模型或者设计模型的一部分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每个模块实现特定功能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使用一个或多个模块对数字电路建模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836898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基本结构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720" y="1138124"/>
            <a:ext cx="4584954" cy="391439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808" y="1203598"/>
            <a:ext cx="3880866" cy="42748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51" y="1855921"/>
            <a:ext cx="1609344" cy="42748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2144627"/>
            <a:ext cx="2531364" cy="42748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037" y="1696554"/>
            <a:ext cx="402336" cy="80467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674" y="1916109"/>
            <a:ext cx="1441704" cy="38557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1766" y="3291830"/>
            <a:ext cx="2112264" cy="427482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760" y="3964276"/>
            <a:ext cx="2564892" cy="69570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8037" y="2739217"/>
            <a:ext cx="402336" cy="1701546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6385" y="3321050"/>
            <a:ext cx="1844040" cy="43053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432" y="2571750"/>
            <a:ext cx="1542288" cy="39395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432" y="3207309"/>
            <a:ext cx="1542288" cy="393954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432" y="3918175"/>
            <a:ext cx="1542288" cy="393954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28923" y="1576706"/>
            <a:ext cx="3227070" cy="42748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12001" y="2666420"/>
            <a:ext cx="3101340" cy="427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在一个模块中可以使用包含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连续赋值语句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结构化描述方式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，并且这些描述方式在程序中排列的先后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顺序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模块定义语句中，除了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语句外，每个语句后必须有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分号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注释：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//…    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单行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/*…*/       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多行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95502" y="699542"/>
            <a:ext cx="836898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基本结构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/*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半加器的门级电路描述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*/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347614"/>
            <a:ext cx="2400300" cy="1685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2139883"/>
            <a:ext cx="5229225" cy="2971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2190576"/>
            <a:ext cx="3038475" cy="4857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719" y="2515393"/>
            <a:ext cx="3657600" cy="7905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3719" y="3180393"/>
            <a:ext cx="5676900" cy="5524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9814" y="3818376"/>
            <a:ext cx="2133600" cy="7620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131" y="2602164"/>
            <a:ext cx="457200" cy="60007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6125" y="2571750"/>
            <a:ext cx="2047875" cy="447675"/>
          </a:xfrm>
          <a:prstGeom prst="rect">
            <a:avLst/>
          </a:prstGeom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595502" y="699542"/>
            <a:ext cx="836898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基本结构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3632"/>
            <a:ext cx="4575048" cy="270138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570203"/>
            <a:ext cx="4227576" cy="270481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730729"/>
            <a:ext cx="1911287" cy="38376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1635646"/>
            <a:ext cx="3511391" cy="354616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2099633"/>
            <a:ext cx="4364355" cy="60198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27" y="3147814"/>
            <a:ext cx="2905125" cy="1685925"/>
          </a:xfrm>
          <a:prstGeom prst="rect">
            <a:avLst/>
          </a:prstGeom>
        </p:spPr>
      </p:pic>
      <p:sp>
        <p:nvSpPr>
          <p:cNvPr id="35" name="内容占位符 2"/>
          <p:cNvSpPr txBox="1">
            <a:spLocks noChangeArrowheads="1"/>
          </p:cNvSpPr>
          <p:nvPr/>
        </p:nvSpPr>
        <p:spPr bwMode="auto">
          <a:xfrm>
            <a:off x="3641897" y="3563771"/>
            <a:ext cx="5184576" cy="123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同一电路，尤其是组合逻辑电路可以采用多种不同的方式描述电路结构，其逻辑功能不变。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048" y="2030343"/>
            <a:ext cx="3845147" cy="973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520061"/>
            <a:ext cx="3679127" cy="233972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2859782"/>
            <a:ext cx="3679127" cy="23481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520061"/>
            <a:ext cx="4133850" cy="31146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519874"/>
            <a:ext cx="1093565" cy="228885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92" y="2859782"/>
            <a:ext cx="1093565" cy="228885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395" y="520864"/>
            <a:ext cx="1228725" cy="3114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间隔符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注释符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标识符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关键词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内容占位符 2"/>
          <p:cNvSpPr txBox="1">
            <a:spLocks noChangeArrowheads="1"/>
          </p:cNvSpPr>
          <p:nvPr/>
        </p:nvSpPr>
        <p:spPr bwMode="auto">
          <a:xfrm>
            <a:off x="3059832" y="1707654"/>
            <a:ext cx="4940578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主要是分隔文本的作用，使文本错落有致，便于阅读与修改。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编写程序时，代码可以跨多行书写，也可以在一行内书写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空格符，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TAB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键，换行符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4208" y="2671093"/>
            <a:ext cx="2664296" cy="2453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间隔符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注释符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标识符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关键词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563888" y="1707654"/>
            <a:ext cx="494057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给对象（模块名、电路的输入与输出端口、变量等）取名所用的字符串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由英文字母、数字、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$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符和下划线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“_”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组成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以英文字母或下划线开头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不能以数字或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$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符开头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区分大小写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 txBox="1">
            <a:spLocks noChangeArrowheads="1"/>
          </p:cNvSpPr>
          <p:nvPr/>
        </p:nvSpPr>
        <p:spPr bwMode="auto">
          <a:xfrm>
            <a:off x="4860032" y="3363838"/>
            <a:ext cx="4176464" cy="69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 ≠ a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counter8     _net8     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bus_A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 bwMode="auto">
          <a:xfrm>
            <a:off x="4932040" y="4163294"/>
            <a:ext cx="3240360" cy="41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2cp       $later      a*b   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间隔符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注释符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标识符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关键词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563888" y="1707654"/>
            <a:ext cx="494057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语言本身规定的特殊字符串，用来定义语言结构。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关键词一般是小写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，关键词不可作为标识符使用！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 txBox="1">
            <a:spLocks noChangeArrowheads="1"/>
          </p:cNvSpPr>
          <p:nvPr/>
        </p:nvSpPr>
        <p:spPr bwMode="auto">
          <a:xfrm>
            <a:off x="3707904" y="3363838"/>
            <a:ext cx="5328592" cy="69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input  output 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wire       reg        and   </a:t>
            </a:r>
            <a:r>
              <a:rPr kumimoji="0" lang="en-US" altLang="zh-CN" sz="18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….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563888" y="1707654"/>
            <a:ext cx="494057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表示数字逻辑电路的逻辑状态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         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逻辑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、逻辑假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      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逻辑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、逻辑真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      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不确定的值（未知状态）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         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高阻态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整数型常量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实数型常量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563888" y="1707654"/>
            <a:ext cx="494057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十进制数形式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16        -15    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带基数形式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6626" y="2653456"/>
            <a:ext cx="4695825" cy="24288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351" y="3572544"/>
            <a:ext cx="1076245" cy="47085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351" y="4041098"/>
            <a:ext cx="1076245" cy="47085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650" y="4491633"/>
            <a:ext cx="1533645" cy="470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整数型常量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实数型常量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563888" y="1707654"/>
            <a:ext cx="494057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十进制数形式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0.1        2.0         6.67    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科学计数法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      5E-4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0.0005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整数型常量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实数型常量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字符串型常量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563888" y="1707654"/>
            <a:ext cx="494057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双引号括入的字符序列，不能多行书写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“hello world!”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一个字符对应一个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ASCII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值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转义字符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6752" y="3579862"/>
            <a:ext cx="3774750" cy="1176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整数型常量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实数型常量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符号常量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563888" y="1707654"/>
            <a:ext cx="5256584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参数定义语句定义一个标识符代表一个常量，称为符号常量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parameter 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参数名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1=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常量表达式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，参数名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2=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常量表达式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 …</a:t>
            </a:r>
            <a:r>
              <a:rPr lang="en-US" altLang="zh-CN" sz="14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parameter</a:t>
            </a:r>
            <a:r>
              <a:rPr kumimoji="0" lang="en-US" altLang="zh-CN" sz="14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BIT=1, PI=3.14;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整数型常量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实数型常量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字符串型常量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符号常量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995936" y="1923678"/>
            <a:ext cx="4896544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parameter &lt;name&gt; = &lt;value&gt;;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位于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内部，常用于指定</a:t>
            </a:r>
            <a:r>
              <a:rPr kumimoji="0" lang="zh-CN" altLang="en-US" sz="18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延迟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18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变量的位宽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zh-CN" altLang="en-US" sz="18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状态机状态值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`define &lt;name&gt; &lt;string&gt;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位于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外部，全局变量，作用范围为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从定义点开始到整个程序结束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269240" y="1275715"/>
            <a:ext cx="8407400" cy="338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buClrTx/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（系统、简单和用户定义）</a:t>
            </a:r>
            <a:endParaRPr lang="zh-CN" altLang="en-US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线网类型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寄存器类型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723101" y="1767915"/>
            <a:ext cx="5256584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表示硬件电路中元件之间实际存在的</a:t>
            </a:r>
            <a:r>
              <a:rPr lang="zh-CN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物理连线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6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线网类型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&lt;signed&gt;&lt;[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msb:lsb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]&gt;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变量名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1,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变量名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2…;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常用的线网类型为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wire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signed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缺省时，为无符号数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位宽</a:t>
            </a:r>
            <a:r>
              <a:rPr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msb:lsb</a:t>
            </a:r>
            <a:r>
              <a:rPr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缺省时，位宽值为</a:t>
            </a:r>
            <a:r>
              <a:rPr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en-US" altLang="zh-CN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buClrTx/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线网类型</a:t>
            </a:r>
            <a:endParaRPr lang="zh-CN" alt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寄存器类型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3851920" y="1635646"/>
          <a:ext cx="5040560" cy="346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014"/>
                <a:gridCol w="3854546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线网类型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功能说明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wire, tri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表示元件之间的连线，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wire</a:t>
                      </a: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为一般连线；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</a:t>
                      </a: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描述由多个信号源驱动的线网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wor, </a:t>
                      </a:r>
                      <a:r>
                        <a:rPr lang="en-US" altLang="zh-CN" sz="135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trior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具有线或特性的线网</a:t>
                      </a:r>
                      <a:endParaRPr lang="zh-CN" altLang="en-US" sz="1350" b="1" i="0" u="none" strike="noStrike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wand, </a:t>
                      </a:r>
                      <a:r>
                        <a:rPr lang="en-US" altLang="zh-CN" sz="135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triand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具有线与特性的线网</a:t>
                      </a:r>
                      <a:endParaRPr lang="zh-CN" altLang="en-US" sz="1350" b="1" i="0" u="none" strike="noStrike" kern="1200" baseline="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trireg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具有电荷保持特性的线网类型，用于开关级建模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tri1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上拉电阻，用于开关级建模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tri0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下拉电阻，用于开关级建模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supply1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用于对电源建模，高电平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supply0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用于对地建模，低电平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线网类型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寄存器类型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436080" y="1839670"/>
            <a:ext cx="5600415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wire [7:0]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Databus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wand [2:0]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Haddr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parameter DATA_W = 16;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wire signed [DATA_W - 1 : 0]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PWdata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PRdata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线网类型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寄存器类型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435985" y="1635760"/>
            <a:ext cx="5600700" cy="314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 eaLnBrk="1" latinLnBrk="0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线网型变量的值，由其驱动元件的值决定；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 eaLnBrk="1" latinLnBrk="0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若无驱动元件连接到线网，则线网缺省值为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 eaLnBrk="1" latinLnBrk="0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trireg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的默认值为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 eaLnBrk="1" latinLnBrk="0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input,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inout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端口只能被定义为线网型变量；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 eaLnBrk="1" latinLnBrk="0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output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端口可以为线网、寄存器类型变量；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 eaLnBrk="1" latinLnBrk="0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b="1" dirty="0">
                <a:solidFill>
                  <a:srgbClr val="FF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线网型变量不可在</a:t>
            </a:r>
            <a:r>
              <a:rPr lang="en-US" altLang="zh-CN" sz="1800" b="1" dirty="0">
                <a:solidFill>
                  <a:srgbClr val="FF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</a:t>
            </a:r>
            <a:r>
              <a:rPr lang="zh-CN" altLang="en-US" sz="1800" b="1" dirty="0">
                <a:solidFill>
                  <a:srgbClr val="FF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模块中被赋值。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 eaLnBrk="1" latinLnBrk="0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如左图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所示：如果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发生变化，线网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的值立即发生变化。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" y="4011930"/>
            <a:ext cx="2040890" cy="1009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线网类型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寄存器类型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436080" y="1839670"/>
            <a:ext cx="5600415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避免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“多重驱动”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048" y="2787774"/>
            <a:ext cx="1800200" cy="11829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线网类型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寄存器类型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436080" y="1839670"/>
            <a:ext cx="5600415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表示一个抽象的数据存储单元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只能在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内部被赋值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并且该值从一条赋值语句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保持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到下一条赋值语句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2"/>
          <p:cNvGraphicFramePr>
            <a:graphicFrameLocks noGrp="1"/>
          </p:cNvGraphicFramePr>
          <p:nvPr/>
        </p:nvGraphicFramePr>
        <p:xfrm>
          <a:off x="3923928" y="3075806"/>
          <a:ext cx="42484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  <a:gridCol w="3096344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寄存器类型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含义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寄存器型变量，默认值为</a:t>
                      </a: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位带符号的整数型变量，默认值为</a:t>
                      </a: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real/</a:t>
                      </a:r>
                      <a:r>
                        <a:rPr lang="en-US" altLang="zh-CN" sz="135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realtime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位带符号的实数型变量，默认值为</a:t>
                      </a: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zh-CN" altLang="en-US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位无符号的时间型变量，默认值为</a:t>
                      </a:r>
                      <a:r>
                        <a:rPr lang="en-US" altLang="zh-CN" sz="135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4.5 Verilog HDL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的基本语法规则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词法规定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逻辑值集合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常量及其表示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数据类型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线网类型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3" algn="just">
              <a:lnSpc>
                <a:spcPct val="12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寄存器类型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3419872" y="1671650"/>
            <a:ext cx="5600415" cy="327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800" dirty="0">
                <a:solidFill>
                  <a:srgbClr val="FF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线网变量与寄存器型变量的区别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、硬件模型区别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线网变量可以理解为数字电路中元件的连线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寄存器变量并不与触发器、锁存器等存储元件对应，只表示一个抽象的数据存储单元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、仿真过程区别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线网变量仿真不占仿真内存，值由驱动的其他变量决定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寄存器变量占用内存，值不变，直到再次赋值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836898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基本结构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720" y="1138124"/>
            <a:ext cx="4584954" cy="391439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808" y="1203598"/>
            <a:ext cx="3880866" cy="42748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51" y="1855921"/>
            <a:ext cx="1609344" cy="42748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2144627"/>
            <a:ext cx="2531364" cy="42748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037" y="1696554"/>
            <a:ext cx="402336" cy="80467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674" y="1916109"/>
            <a:ext cx="1441704" cy="38557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1760" y="2682469"/>
            <a:ext cx="3101340" cy="42748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766" y="3291830"/>
            <a:ext cx="2112264" cy="427482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1760" y="3964276"/>
            <a:ext cx="2564892" cy="69570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8037" y="2739217"/>
            <a:ext cx="402336" cy="1701546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6674" y="3397204"/>
            <a:ext cx="1844040" cy="38557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432" y="2571750"/>
            <a:ext cx="1542288" cy="39395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432" y="3207309"/>
            <a:ext cx="1542288" cy="393954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9432" y="3918175"/>
            <a:ext cx="1542288" cy="393954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28923" y="1576706"/>
            <a:ext cx="3227070" cy="427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4.6 Verilog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结构级建模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根据逻辑电路的结构（逻辑图），实例引用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 HDL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中内置的基本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门级元件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、用户定义的元件或其他模块，来描述电路结构图中的元件以及元件之间的连接关系。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个基本门级元件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门级建模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3275857" y="2544427"/>
            <a:ext cx="402336" cy="1269498"/>
          </a:xfrm>
          <a:prstGeom prst="rect">
            <a:avLst/>
          </a:prstGeom>
        </p:spPr>
      </p:pic>
      <p:sp>
        <p:nvSpPr>
          <p:cNvPr id="7" name="内容占位符 2"/>
          <p:cNvSpPr txBox="1">
            <a:spLocks noChangeArrowheads="1"/>
          </p:cNvSpPr>
          <p:nvPr/>
        </p:nvSpPr>
        <p:spPr bwMode="auto">
          <a:xfrm>
            <a:off x="3275856" y="2641004"/>
            <a:ext cx="1783992" cy="114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多输入门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多输出门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三态门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内容占位符 2"/>
          <p:cNvSpPr txBox="1">
            <a:spLocks noChangeArrowheads="1"/>
          </p:cNvSpPr>
          <p:nvPr/>
        </p:nvSpPr>
        <p:spPr bwMode="auto">
          <a:xfrm>
            <a:off x="4167852" y="3933030"/>
            <a:ext cx="4536504" cy="3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4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Gate_name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&lt;instance&gt;(</a:t>
            </a:r>
            <a:r>
              <a:rPr lang="en-US" altLang="zh-CN" sz="14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OutputA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input1, input2,…</a:t>
            </a:r>
            <a:r>
              <a:rPr lang="en-US" altLang="zh-CN" sz="14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inputN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936" y="4451076"/>
            <a:ext cx="2152381" cy="390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692882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结构级建模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内容占位符 2"/>
          <p:cNvSpPr txBox="1">
            <a:spLocks noChangeArrowheads="1"/>
          </p:cNvSpPr>
          <p:nvPr/>
        </p:nvSpPr>
        <p:spPr bwMode="auto">
          <a:xfrm>
            <a:off x="503548" y="1270995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/*1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位全加器的结构级建模描述步骤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*/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局限：电路复杂度↑，工作效率↓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1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需要知道电路原理图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840" y="1707654"/>
            <a:ext cx="3613075" cy="215113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860032" y="1563638"/>
            <a:ext cx="3953857" cy="249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module Adder(a, b, ci, sum, co);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//端口类型定义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input a, b, ci;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output sum, co;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//数据类型定义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wire a, b, ci, co, n1, n2, n3, sum;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//结构级逻辑描述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xor u0(n1, a, b),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u1(sum, n1, ci);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and u2(n2, a, b),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u3(n3, n1, ci);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or u4(co, n3, n2);</a:t>
            </a:r>
            <a:endParaRPr lang="zh-CN" altLang="en-US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endmodule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4.7 Verilog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数据流建模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根据逻辑电路的逻辑表达式，从较高的抽象级别描述电路逻辑功能。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连续赋值语句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assign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变量名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表达式；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变量名为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wire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323528" y="1347614"/>
          <a:ext cx="36724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201"/>
                <a:gridCol w="2116207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运算符类型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所含运算符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  <a:endParaRPr lang="zh-CN" altLang="en-US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+, -, *, /, %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&lt;, &gt;, &lt;=, &gt;=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相等运算符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zh-CN" altLang="en-US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 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!=, ===, !==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!, &amp;&amp;, ||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~, &amp;, |, ^, ^~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缩位运算符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&amp;, ~&amp;, |, ~|, ^, ^~ 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&lt;&lt;, &gt;&gt;, &lt;&lt;&lt;, &gt;&gt;&gt;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拼接和复制运算符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{}, {{,}}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207665" y="1707654"/>
            <a:ext cx="458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'b101x+'b0111= '</a:t>
            </a:r>
            <a:r>
              <a:rPr lang="en-US" altLang="zh-CN" sz="20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bxxxx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323528" y="1347614"/>
          <a:ext cx="36724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201"/>
                <a:gridCol w="2116207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运算符类型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所含运算符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+, -, *, /, %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关系运算符</a:t>
                      </a:r>
                      <a:endParaRPr lang="zh-CN" altLang="en-US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&lt;, &gt;, &lt;=, &gt;=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相等运算符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zh-CN" altLang="en-US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 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!=, ===, !==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!, &amp;&amp;, ||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~, &amp;, |, ^, ^~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缩位运算符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&amp;, ~&amp;, |, ~|, ^, ^~ 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&lt;&lt;, &gt;&gt;, &lt;&lt;&lt;, &gt;&gt;&gt;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拼接和复制运算符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{}, {{,}}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67944" y="2067694"/>
            <a:ext cx="45898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真（值为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）或者假（值为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）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操作数中有一位为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或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，则结果为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将位数较小操作数的位数按符号位补齐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有一个操作数为无符号数，则该表达式的其余操作数均被当作无符号数处理</a:t>
            </a:r>
            <a:endParaRPr lang="zh-CN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323528" y="1347614"/>
          <a:ext cx="36724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201"/>
                <a:gridCol w="2116207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运算符类型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所含运算符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+, -, *, /, %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&lt;, &gt;, &lt;=, &gt;=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相等运算符</a:t>
                      </a:r>
                      <a:endParaRPr lang="zh-CN" altLang="en-US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zh-CN" altLang="en-US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 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!=, ===, !==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!, &amp;&amp;, ||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~, &amp;, |, ^, ^~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缩位运算符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&amp;, ~&amp;, |, ~|, ^, ^~ 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&lt;&lt;, &gt;&gt;, &lt;&lt;&lt;, &gt;&gt;&gt;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拼接和复制运算符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{}, {{,}}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67944" y="1448365"/>
            <a:ext cx="4968552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逻辑等 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==  !=   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逐位比较，返回值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某位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，结果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全等 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===   !==  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逐位比较，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可允许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endParaRPr lang="zh-CN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8024" y="3082045"/>
            <a:ext cx="28083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c</a:t>
            </a:r>
            <a:r>
              <a:rPr lang="zh-CN" altLang="en-US" sz="2000" b="1" i="0" dirty="0">
                <a:solidFill>
                  <a:srgbClr val="000066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 </a:t>
            </a:r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d</a:t>
            </a:r>
            <a:r>
              <a:rPr lang="zh-CN" altLang="en-US" sz="2000" b="1" i="0" dirty="0">
                <a:solidFill>
                  <a:srgbClr val="000066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同为</a:t>
            </a:r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4’b10x0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445101" y="3643766"/>
          <a:ext cx="4214237" cy="914400"/>
        </p:xfrm>
        <a:graphic>
          <a:graphicData uri="http://schemas.openxmlformats.org/drawingml/2006/table">
            <a:tbl>
              <a:tblPr/>
              <a:tblGrid>
                <a:gridCol w="977116"/>
                <a:gridCol w="936104"/>
                <a:gridCol w="1152128"/>
                <a:gridCol w="114888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c==d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c!=d 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c===d 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c!==d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1 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211960" y="364376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323528" y="1347614"/>
          <a:ext cx="36724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201"/>
                <a:gridCol w="2116207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运算符类型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所含运算符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+, -, *, /, %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&lt;, &gt;, &lt;=, &gt;=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相等运算符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zh-CN" altLang="en-US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 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!=, ===, !==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  <a:endParaRPr lang="zh-CN" altLang="en-US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rgbClr val="FF0066"/>
                          </a:solidFill>
                          <a:latin typeface="+mn-lt"/>
                          <a:ea typeface="+mn-ea"/>
                          <a:cs typeface="+mn-cs"/>
                        </a:rPr>
                        <a:t>!, &amp;&amp;, ||</a:t>
                      </a:r>
                      <a:endParaRPr lang="en-US" altLang="zh-CN" sz="1350" b="0" i="0" u="none" strike="noStrike" kern="1200" baseline="0" dirty="0">
                        <a:solidFill>
                          <a:srgbClr val="FF00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~, &amp;, |, ^, ^~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缩位运算符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&amp;, ~&amp;, |, ~|, ^, ^~ 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&lt;&lt;, &gt;&gt;, &lt;&lt;&lt;, &gt;&gt;&gt;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拼接和复制运算符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{}, {{,}}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67944" y="2064553"/>
            <a:ext cx="4968552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66"/>
                </a:solidFill>
                <a:latin typeface="Courier New" panose="02070309020205020404" pitchFamily="49" charset="0"/>
              </a:rPr>
              <a:t>标量和向量的逻辑运算结果为</a:t>
            </a:r>
            <a:r>
              <a:rPr lang="en-US" altLang="zh-CN" b="1" dirty="0">
                <a:solidFill>
                  <a:srgbClr val="FF0066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b="1" dirty="0">
                <a:solidFill>
                  <a:srgbClr val="FF0066"/>
                </a:solidFill>
                <a:latin typeface="Courier New" panose="02070309020205020404" pitchFamily="49" charset="0"/>
              </a:rPr>
              <a:t>位</a:t>
            </a:r>
            <a:endParaRPr lang="en-US" altLang="zh-CN" b="1" dirty="0">
              <a:solidFill>
                <a:srgbClr val="FF0066"/>
              </a:solidFill>
              <a:latin typeface="Courier New" panose="02070309020205020404" pitchFamily="49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若操作数有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或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，则运算结果为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211960" y="364376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323528" y="1347614"/>
          <a:ext cx="36724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201"/>
                <a:gridCol w="2116207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运算符类型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所含运算符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+, -, *, /, %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&lt;, &gt;, &lt;=, &gt;=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相等运算符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zh-CN" altLang="en-US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 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!=, ===, !==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!, &amp;&amp;, ||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按位运算符</a:t>
                      </a:r>
                      <a:endParaRPr lang="zh-CN" altLang="en-US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~, &amp;, |, ^, ^~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缩位运算符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&amp;, ~&amp;, |, ~|, ^, ^~ 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&lt;&lt;, &gt;&gt;, &lt;&lt;&lt;, &gt;&gt;&gt;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拼接和复制运算符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{}, {{,}}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67944" y="2063918"/>
            <a:ext cx="4968552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对操作数中每一位按位操作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运算结果与操作数相同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FF0066"/>
                </a:solidFill>
                <a:latin typeface="Courier New" panose="02070309020205020404" pitchFamily="49" charset="0"/>
              </a:rPr>
              <a:t>不同位数的</a:t>
            </a:r>
            <a:r>
              <a:rPr lang="en-US" altLang="zh-CN" b="1" dirty="0">
                <a:solidFill>
                  <a:srgbClr val="FF0066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b="1" dirty="0">
                <a:solidFill>
                  <a:srgbClr val="FF0066"/>
                </a:solidFill>
                <a:latin typeface="Courier New" panose="02070309020205020404" pitchFamily="49" charset="0"/>
              </a:rPr>
              <a:t>数运算时的补足操作：</a:t>
            </a:r>
            <a:endParaRPr lang="zh-CN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左端高位补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若短操作数最高位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，则用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补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323528" y="1347614"/>
          <a:ext cx="36724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201"/>
                <a:gridCol w="2116207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运算符类型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所含运算符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+, -, *, /, %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&lt;, &gt;, &lt;=, &gt;=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相等运算符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zh-CN" altLang="en-US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 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!=, ===, !==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!, &amp;&amp;, ||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按位运算符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~, &amp;, |, ^, ^~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缩位运算符</a:t>
                      </a:r>
                      <a:endParaRPr lang="zh-CN" altLang="en-US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&amp;, ~&amp;, |, ~|, ^, ^~ 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移位运算符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&lt;&lt;, &gt;&gt;, &lt;&lt;&lt;, &gt;&gt;&gt;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拼接和复制运算符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{}, {{,}}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67944" y="2139702"/>
            <a:ext cx="4968552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只有一个操作数；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按照从右向左的顺序依次运算；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操作数中存在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，则结果为不定态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。</a:t>
            </a:r>
            <a:endParaRPr lang="zh-CN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83951" y="3222527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 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4’b1010   B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 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4’b1111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508104" y="3643632"/>
            <a:ext cx="25922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A&amp;B=1010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220072" y="4156943"/>
            <a:ext cx="2448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&amp;A=1&amp;0&amp;1&amp;0=0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323528" y="1347614"/>
          <a:ext cx="36724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201"/>
                <a:gridCol w="2116207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运算符类型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所含运算符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+, -, *, /, %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&lt;, &gt;, &lt;=, &gt;=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相等运算符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zh-CN" altLang="en-US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 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!=, ===, !===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!, &amp;&amp;, ||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按位运算符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~, &amp;, |, ^, ^~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缩位运算符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&amp;, ~&amp;, |, ~|, ^, ^~ 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移位运算符</a:t>
                      </a:r>
                      <a:endParaRPr lang="zh-CN" altLang="en-US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&lt;&lt;, &gt;&gt;, &lt;&lt;&lt;, &gt;&gt;&gt;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拼接和复制运算符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{}, {{,}}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67944" y="2139067"/>
            <a:ext cx="4968552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移位位数由右侧操作数确定</a:t>
            </a:r>
            <a:endParaRPr lang="en-US" altLang="zh-CN" b="1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右侧操作数为</a:t>
            </a:r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，移位结果为</a:t>
            </a:r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x</a:t>
            </a:r>
            <a:endParaRPr lang="en-US" altLang="zh-CN" b="1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endParaRPr lang="en-US" altLang="zh-CN" b="1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逻辑移位 </a:t>
            </a:r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&lt;&lt;, &gt;&gt;  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用</a:t>
            </a:r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填充</a:t>
            </a:r>
            <a:endParaRPr lang="en-US" altLang="zh-CN" b="1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算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术左移 </a:t>
            </a:r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&lt;&lt;&lt; 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符号位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保持、用</a:t>
            </a:r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填充</a:t>
            </a:r>
            <a:endParaRPr lang="en-US" altLang="zh-CN" b="1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算术右移</a:t>
            </a:r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&gt;&gt;&gt; 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：</a:t>
            </a:r>
            <a:endParaRPr lang="en-US" altLang="zh-CN" b="1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              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无符号数，用</a:t>
            </a:r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填充</a:t>
            </a:r>
            <a:endParaRPr lang="en-US" altLang="zh-CN" b="1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              </a:t>
            </a:r>
            <a:r>
              <a:rPr lang="zh-CN" altLang="en-US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有符号数，用符号位填充</a:t>
            </a:r>
            <a:endParaRPr lang="en-US" altLang="zh-CN" b="1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28465" y="1419860"/>
            <a:ext cx="48082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66"/>
                </a:solidFill>
              </a:rPr>
              <a:t>logical （</a:t>
            </a:r>
            <a:r>
              <a:rPr lang="en-US" altLang="zh-CN">
                <a:solidFill>
                  <a:srgbClr val="FF0066"/>
                </a:solidFill>
              </a:rPr>
              <a:t>arithmetic</a:t>
            </a:r>
            <a:r>
              <a:rPr lang="zh-CN" altLang="en-US">
                <a:solidFill>
                  <a:srgbClr val="FF0066"/>
                </a:solidFill>
              </a:rPr>
              <a:t>）</a:t>
            </a:r>
            <a:r>
              <a:rPr lang="en-US" altLang="zh-CN">
                <a:solidFill>
                  <a:srgbClr val="FF0066"/>
                </a:solidFill>
              </a:rPr>
              <a:t>left </a:t>
            </a:r>
            <a:r>
              <a:rPr lang="zh-CN" altLang="en-US">
                <a:solidFill>
                  <a:srgbClr val="FF0066"/>
                </a:solidFill>
              </a:rPr>
              <a:t>shift</a:t>
            </a:r>
            <a:r>
              <a:rPr lang="en-US" altLang="zh-CN">
                <a:solidFill>
                  <a:srgbClr val="FF0066"/>
                </a:solidFill>
              </a:rPr>
              <a:t>  </a:t>
            </a:r>
            <a:r>
              <a:rPr lang="en-US" altLang="zh-CN" dirty="0">
                <a:solidFill>
                  <a:srgbClr val="FF0066"/>
                </a:solidFill>
                <a:latin typeface="+mn-lt"/>
                <a:ea typeface="+mn-ea"/>
                <a:sym typeface="+mn-ea"/>
              </a:rPr>
              <a:t>&lt;&lt;</a:t>
            </a:r>
            <a:r>
              <a:rPr lang="zh-CN" altLang="en-US" dirty="0">
                <a:solidFill>
                  <a:srgbClr val="FF0066"/>
                </a:solidFill>
                <a:latin typeface="+mn-lt"/>
                <a:ea typeface="+mn-ea"/>
                <a:sym typeface="+mn-ea"/>
              </a:rPr>
              <a:t>（</a:t>
            </a:r>
            <a:r>
              <a:rPr lang="zh-CN" altLang="en-US" dirty="0">
                <a:solidFill>
                  <a:srgbClr val="FF0066"/>
                </a:solidFill>
                <a:latin typeface="+mn-lt"/>
                <a:ea typeface="+mn-ea"/>
                <a:sym typeface="+mn-ea"/>
              </a:rPr>
              <a:t>&lt;&lt;&lt;</a:t>
            </a:r>
            <a:r>
              <a:rPr lang="zh-CN" altLang="en-US">
                <a:solidFill>
                  <a:srgbClr val="FF0066"/>
                </a:solidFill>
              </a:rPr>
              <a:t>）</a:t>
            </a:r>
            <a:endParaRPr lang="zh-CN" altLang="en-US">
              <a:solidFill>
                <a:srgbClr val="FF0066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11955" y="1618615"/>
            <a:ext cx="47167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66"/>
                </a:solidFill>
              </a:rPr>
              <a:t>logical</a:t>
            </a:r>
            <a:r>
              <a:rPr lang="zh-CN" altLang="en-US">
                <a:solidFill>
                  <a:srgbClr val="FF0066"/>
                </a:solidFill>
                <a:sym typeface="+mn-ea"/>
              </a:rPr>
              <a:t>（</a:t>
            </a:r>
            <a:r>
              <a:rPr lang="en-US" altLang="zh-CN">
                <a:solidFill>
                  <a:srgbClr val="FF0066"/>
                </a:solidFill>
                <a:sym typeface="+mn-ea"/>
              </a:rPr>
              <a:t>arithmetic</a:t>
            </a:r>
            <a:r>
              <a:rPr lang="zh-CN" altLang="en-US">
                <a:solidFill>
                  <a:srgbClr val="FF0066"/>
                </a:solidFill>
                <a:sym typeface="+mn-ea"/>
              </a:rPr>
              <a:t>）</a:t>
            </a:r>
            <a:r>
              <a:rPr lang="zh-CN" altLang="en-US">
                <a:solidFill>
                  <a:srgbClr val="FF0066"/>
                </a:solidFill>
              </a:rPr>
              <a:t> </a:t>
            </a:r>
            <a:r>
              <a:rPr lang="en-US" altLang="zh-CN">
                <a:solidFill>
                  <a:srgbClr val="FF0066"/>
                </a:solidFill>
              </a:rPr>
              <a:t>right </a:t>
            </a:r>
            <a:r>
              <a:rPr lang="zh-CN" altLang="en-US">
                <a:solidFill>
                  <a:srgbClr val="FF0066"/>
                </a:solidFill>
              </a:rPr>
              <a:t>shift</a:t>
            </a:r>
            <a:r>
              <a:rPr lang="en-US" altLang="zh-CN">
                <a:solidFill>
                  <a:srgbClr val="FF0066"/>
                </a:solidFill>
              </a:rPr>
              <a:t>&gt;&gt;</a:t>
            </a:r>
            <a:r>
              <a:rPr lang="zh-CN" altLang="en-US" dirty="0">
                <a:solidFill>
                  <a:srgbClr val="FF0066"/>
                </a:solidFill>
                <a:latin typeface="+mn-lt"/>
                <a:ea typeface="+mn-ea"/>
                <a:sym typeface="+mn-ea"/>
              </a:rPr>
              <a:t>（</a:t>
            </a:r>
            <a:r>
              <a:rPr lang="en-US" altLang="zh-CN" dirty="0">
                <a:solidFill>
                  <a:srgbClr val="FF0066"/>
                </a:solidFill>
                <a:latin typeface="+mn-lt"/>
                <a:ea typeface="+mn-ea"/>
                <a:sym typeface="+mn-ea"/>
              </a:rPr>
              <a:t>&gt;&gt;&gt;</a:t>
            </a:r>
            <a:r>
              <a:rPr lang="zh-CN" altLang="en-US">
                <a:solidFill>
                  <a:srgbClr val="FF0066"/>
                </a:solidFill>
                <a:sym typeface="+mn-ea"/>
              </a:rPr>
              <a:t>）</a:t>
            </a:r>
            <a:endParaRPr lang="zh-CN" altLang="en-US" b="1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2" grpId="1"/>
      <p:bldP spid="3" grpId="0"/>
      <p:bldP spid="3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2180" y="2324735"/>
            <a:ext cx="2205990" cy="2252980"/>
          </a:xfrm>
        </p:spPr>
        <p:txBody>
          <a:bodyPr/>
          <a:p>
            <a:r>
              <a:rPr lang="zh-CN" altLang="en-US" sz="24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在这个例子中，a初始化为1011，执行左移两位后，b变为1100。</a:t>
            </a:r>
            <a:endParaRPr lang="zh-CN" altLang="en-US" sz="240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844550"/>
            <a:ext cx="482028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>
                <a:solidFill>
                  <a:schemeClr val="tx1"/>
                </a:solidFill>
              </a:rPr>
              <a:t>module left_shift_example;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reg [3:0] a; // 4-bit register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wire [3:0] b; // 4-bit wire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// 逻辑左移2位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assign b = a &lt;&lt; 2;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initial begin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  a = 4'b1011; // 初始值为1011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  #10; // 等待10个单位时间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  $display("After left shift: %b", b); // 显示结果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  #10; // 等待10个单位时间结束仿真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  $finish; // 结束仿真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  end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endmodule</a:t>
            </a:r>
            <a:endParaRPr lang="zh-CN" altLang="en-US" sz="18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Tm="2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180018" y="1347614"/>
          <a:ext cx="3672205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201"/>
                <a:gridCol w="211582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运算符类型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所含运算符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+, -, *, /, %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&lt;, &gt;, &lt;=, &gt;=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相等运算符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zh-CN" altLang="en-US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 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!=, ===, !===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!, &amp;&amp;, ||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按位运算符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~, &amp;, |, ^, ^~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缩位运算符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&amp;, ~&amp;, |, ~|, ^, ^~ 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移位运算符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&lt;&lt;, &gt;&gt;, &lt;&lt;&lt;, &gt;&gt;&gt;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条件运算符</a:t>
                      </a:r>
                      <a:endParaRPr lang="zh-CN" altLang="en-US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拼接和复制运算符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{}, {{,}}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67944" y="2139702"/>
            <a:ext cx="496855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三目运算符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49370" y="2603500"/>
            <a:ext cx="51841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6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condition_expr</a:t>
            </a:r>
            <a:r>
              <a:rPr lang="en-US" altLang="fr-FR" sz="16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fr-FR" altLang="zh-CN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?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fr-FR" altLang="zh-CN" sz="16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true_expr</a:t>
            </a:r>
            <a:r>
              <a:rPr lang="en-US" altLang="fr-FR" sz="16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：</a:t>
            </a:r>
            <a:r>
              <a:rPr lang="fr-FR" altLang="zh-CN" sz="16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false_expr</a:t>
            </a:r>
            <a:r>
              <a:rPr lang="en-US" altLang="fr-FR" sz="16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fr-FR" altLang="zh-CN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fr-FR" altLang="zh-CN" sz="1600" dirty="0"/>
              <a:t> </a:t>
            </a:r>
            <a:br>
              <a:rPr lang="fr-FR" altLang="zh-CN" dirty="0"/>
            </a:b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2095" y="1059815"/>
            <a:ext cx="525399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条件运算符的运算从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条件表达式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的真假判断开始。</a:t>
            </a:r>
            <a:endParaRPr lang="zh-CN" altLang="en-US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如果值为 false (0)，则求值表达式</a:t>
            </a:r>
            <a:r>
              <a:rPr lang="en-US" altLang="zh-CN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并将其作为条件表达式的结果。</a:t>
            </a:r>
            <a:endParaRPr lang="zh-CN" altLang="en-US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en-US" altLang="zh-CN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如果值为 true (1)，</a:t>
            </a:r>
            <a:r>
              <a:rPr lang="en-US" altLang="zh-CN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则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求值表达式</a:t>
            </a:r>
            <a:r>
              <a:rPr lang="en-US" altLang="zh-CN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并将其作为结果使用。</a:t>
            </a:r>
            <a:endParaRPr lang="zh-CN" altLang="en-US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</a:t>
            </a:r>
            <a:r>
              <a:rPr lang="zh-CN" altLang="en-US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如果值为模糊值（x 或 z）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，则同时求值</a:t>
            </a:r>
            <a:r>
              <a:rPr lang="en-US" altLang="zh-CN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个表达式，并使用右表逐位合并它们的结果，计算最终结果，假若有一个表达式为实数，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则结果应为0。如果</a:t>
            </a:r>
            <a:r>
              <a:rPr lang="en-US" altLang="zh-CN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个表达式长度不同，较短的操作数位宽将被加长以匹配较长的操作数，并从左侧（高阶端）开始填充零。</a:t>
            </a:r>
            <a:endParaRPr lang="zh-CN" altLang="en-US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9595" y="1347470"/>
            <a:ext cx="3429000" cy="2914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44370" y="554990"/>
            <a:ext cx="565531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fr-FR" altLang="zh-CN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condition_expr</a:t>
            </a:r>
            <a:r>
              <a:rPr lang="en-US" altLang="fr-FR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fr-FR" altLang="zh-CN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?</a:t>
            </a:r>
            <a:r>
              <a:rPr lang="en-US" altLang="fr-FR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fr-FR" altLang="zh-CN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true_expr</a:t>
            </a:r>
            <a:r>
              <a:rPr lang="en-US" altLang="fr-FR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：</a:t>
            </a:r>
            <a:r>
              <a:rPr lang="fr-FR" altLang="zh-CN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false_expr</a:t>
            </a:r>
            <a:r>
              <a:rPr lang="en-US" altLang="fr-FR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fr-FR" altLang="zh-CN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zh-CN" altLang="en-US" dirty="0"/>
          </a:p>
        </p:txBody>
      </p:sp>
    </p:spTree>
  </p:cSld>
  <p:clrMapOvr>
    <a:masterClrMapping/>
  </p:clrMapOvr>
  <p:transition advTm="2000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323528" y="1347614"/>
          <a:ext cx="36724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201"/>
                <a:gridCol w="2116207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运算符类型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35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所含运算符</a:t>
                      </a:r>
                      <a:endParaRPr lang="zh-CN" altLang="en-US" sz="135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  <a:endParaRPr lang="zh-CN" altLang="en-US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+, -, *, /, %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&lt;, &gt;, &lt;=, &gt;=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相等运算符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zh-CN" altLang="en-US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 </a:t>
                      </a: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!=, ===, !===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!, &amp;&amp;, ||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按位运算符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~, &amp;, |, ^, ^~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缩位运算符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&amp;, ~&amp;, |, ~|, ^, ^~ </a:t>
                      </a:r>
                      <a:endParaRPr lang="zh-CN" altLang="en-US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移位运算符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&lt;&lt;, &gt;&gt;, &lt;&lt;&lt;, &gt;&gt;&gt;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条件运算符</a:t>
                      </a:r>
                      <a:endParaRPr lang="zh-CN" altLang="en-US" sz="13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?: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拼接和复制运算符</a:t>
                      </a:r>
                      <a:endParaRPr lang="zh-CN" altLang="en-US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{}, {{,}}</a:t>
                      </a:r>
                      <a:endParaRPr lang="en-US" altLang="zh-CN" sz="13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67944" y="1408732"/>
            <a:ext cx="4968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多个信号中的某些位，拼接</a:t>
            </a:r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57314" y="1808842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A=1’b1</a:t>
            </a:r>
            <a:r>
              <a:rPr lang="zh-CN" altLang="en-US" sz="2000" b="0" i="0" dirty="0">
                <a:solidFill>
                  <a:srgbClr val="000066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， </a:t>
            </a:r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B=2’b10</a:t>
            </a:r>
            <a:r>
              <a:rPr lang="zh-CN" altLang="en-US" sz="2000" b="0" i="0" dirty="0">
                <a:solidFill>
                  <a:srgbClr val="000066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， </a:t>
            </a:r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C=2’b00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257314" y="2162785"/>
            <a:ext cx="45898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{B,C}</a:t>
            </a:r>
            <a:r>
              <a:rPr lang="zh-CN" altLang="en-US" sz="2000" b="0" i="0" dirty="0">
                <a:solidFill>
                  <a:srgbClr val="000066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4’b1000</a:t>
            </a:r>
            <a:b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{A,B[1],C[0]}</a:t>
            </a:r>
            <a:r>
              <a:rPr lang="zh-CN" altLang="en-US" sz="2000" b="0" i="0" dirty="0">
                <a:solidFill>
                  <a:srgbClr val="000066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＝</a:t>
            </a:r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3’b110</a:t>
            </a:r>
            <a:b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2000" b="1" i="0" dirty="0">
                <a:solidFill>
                  <a:srgbClr val="000066"/>
                </a:solidFill>
                <a:effectLst/>
                <a:latin typeface="Courier New" panose="02070309020205020404" pitchFamily="49" charset="0"/>
              </a:rPr>
              <a:t>{A,B,C,3’b101}=8’b11000101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067944" y="3305350"/>
            <a:ext cx="496855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</a:pP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重复拼接</a:t>
            </a:r>
            <a:endParaRPr lang="zh-CN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56200" y="3305175"/>
            <a:ext cx="351155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{n{A}</a:t>
            </a:r>
            <a:r>
              <a:rPr lang="en-US" altLang="zh-CN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b="1" dirty="0">
                <a:solidFill>
                  <a:schemeClr val="tx1"/>
                </a:solidFill>
              </a:rPr>
              <a:t>n</a:t>
            </a:r>
            <a:r>
              <a:rPr lang="zh-CN" altLang="en-US" b="1" dirty="0">
                <a:solidFill>
                  <a:schemeClr val="tx1"/>
                </a:solidFill>
              </a:rPr>
              <a:t>为重复次数</a:t>
            </a:r>
            <a:br>
              <a:rPr lang="en-US" altLang="zh-CN" b="1" dirty="0">
                <a:solidFill>
                  <a:schemeClr val="tx1"/>
                </a:solidFill>
              </a:rPr>
            </a:br>
            <a:endParaRPr lang="en-US" altLang="zh-C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根据逻辑电路的逻辑表达式，从较高的抽象级别描述电路逻辑功能。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连续赋值语句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assign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变量名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表达式；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变量名为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wire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型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 noChangeArrowheads="1"/>
          </p:cNvSpPr>
          <p:nvPr/>
        </p:nvSpPr>
        <p:spPr bwMode="auto">
          <a:xfrm>
            <a:off x="503548" y="1270995"/>
            <a:ext cx="8136904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/*4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位全加器的数据流建模描述步骤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*/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局限：赋值语句左边为线网类型，仅适合于组合逻辑电路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1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并且也要求开发人员熟悉：原理图或逻辑表达式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95502" y="699542"/>
            <a:ext cx="7576898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02" y="1851670"/>
            <a:ext cx="2857143" cy="180952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644008" y="1809021"/>
            <a:ext cx="3528392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</a:rPr>
              <a:t>module _4Adder(a, b, cin, sum, co</a:t>
            </a:r>
            <a:r>
              <a:rPr lang="en-US" altLang="zh-CN" sz="1600" dirty="0">
                <a:solidFill>
                  <a:schemeClr val="tx1"/>
                </a:solidFill>
              </a:rPr>
              <a:t>ut);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//</a:t>
            </a:r>
            <a:r>
              <a:rPr lang="zh-CN" altLang="en-US" sz="1600" dirty="0">
                <a:solidFill>
                  <a:schemeClr val="tx1"/>
                </a:solidFill>
              </a:rPr>
              <a:t>端口类型定义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>
                <a:solidFill>
                  <a:schemeClr val="tx1"/>
                </a:solidFill>
              </a:rPr>
              <a:t>input[3:0] a, b;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input ci</a:t>
            </a:r>
            <a:r>
              <a:rPr lang="en-US" altLang="zh-CN" sz="1600" dirty="0">
                <a:solidFill>
                  <a:schemeClr val="tx1"/>
                </a:solidFill>
              </a:rPr>
              <a:t>n;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output[3:0] sum;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output co</a:t>
            </a:r>
            <a:r>
              <a:rPr lang="en-US" altLang="zh-CN" sz="1600" dirty="0">
                <a:solidFill>
                  <a:schemeClr val="tx1"/>
                </a:solidFill>
              </a:rPr>
              <a:t>ut;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//</a:t>
            </a:r>
            <a:r>
              <a:rPr lang="zh-CN" altLang="en-US" sz="1600" dirty="0">
                <a:solidFill>
                  <a:schemeClr val="tx1"/>
                </a:solidFill>
              </a:rPr>
              <a:t>数据流描述逻辑电路功能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>
                <a:solidFill>
                  <a:schemeClr val="tx1"/>
                </a:solidFill>
              </a:rPr>
              <a:t>assign</a:t>
            </a:r>
            <a:r>
              <a:rPr lang="en-US" altLang="zh-CN" sz="1600" dirty="0">
                <a:solidFill>
                  <a:srgbClr val="FF0066"/>
                </a:solidFill>
              </a:rPr>
              <a:t> {</a:t>
            </a:r>
            <a:r>
              <a:rPr lang="en-US" altLang="zh-CN" sz="1600" dirty="0" err="1">
                <a:solidFill>
                  <a:srgbClr val="FF0066"/>
                </a:solidFill>
              </a:rPr>
              <a:t>cout,sum</a:t>
            </a:r>
            <a:r>
              <a:rPr lang="en-US" altLang="zh-CN" sz="1600" dirty="0">
                <a:solidFill>
                  <a:srgbClr val="FF0066"/>
                </a:solidFill>
              </a:rPr>
              <a:t>} = </a:t>
            </a:r>
            <a:r>
              <a:rPr lang="en-US" altLang="zh-CN" sz="1600" dirty="0" err="1">
                <a:solidFill>
                  <a:srgbClr val="FF0066"/>
                </a:solidFill>
              </a:rPr>
              <a:t>a+b+ci</a:t>
            </a:r>
            <a:r>
              <a:rPr lang="en-US" altLang="zh-CN" sz="1600" dirty="0">
                <a:solidFill>
                  <a:schemeClr val="tx1"/>
                </a:solidFill>
              </a:rPr>
              <a:t>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 err="1">
                <a:solidFill>
                  <a:schemeClr val="tx1"/>
                </a:solidFill>
              </a:rPr>
              <a:t>endmodule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4.8 Verilog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行为级建模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描述数字逻辑电路的</a:t>
            </a:r>
            <a:r>
              <a:rPr lang="zh-CN" altLang="en-US" sz="1800" b="1" dirty="0">
                <a:solidFill>
                  <a:srgbClr val="FF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功能和算法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  (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逻辑仿真，</a:t>
            </a:r>
            <a:r>
              <a:rPr lang="zh-CN" altLang="en-US" sz="1800" b="1" dirty="0">
                <a:solidFill>
                  <a:srgbClr val="FF006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不能描述电路功能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3399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always@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事件控制表达式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3399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begin</a:t>
            </a:r>
            <a:endParaRPr lang="en-US" altLang="zh-CN" sz="1800" b="1" dirty="0">
              <a:solidFill>
                <a:srgbClr val="339933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块内局部变量定义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过程赋值语句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过程赋值语句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3399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</a:t>
            </a:r>
            <a:endParaRPr lang="en-US" altLang="zh-CN" sz="1800" b="1" dirty="0">
              <a:solidFill>
                <a:srgbClr val="339933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6489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行为级建模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644008" y="1275606"/>
          <a:ext cx="2448272" cy="365760"/>
        </p:xfrm>
        <a:graphic>
          <a:graphicData uri="http://schemas.openxmlformats.org/drawingml/2006/table">
            <a:tbl>
              <a:tblPr/>
              <a:tblGrid>
                <a:gridCol w="2448272"/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always @(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 or </a:t>
                      </a:r>
                      <a:r>
                        <a:rPr lang="en-US" sz="1400" b="1" i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367088" y="2681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400425" y="2817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644008" y="1693448"/>
          <a:ext cx="2448272" cy="365760"/>
        </p:xfrm>
        <a:graphic>
          <a:graphicData uri="http://schemas.openxmlformats.org/drawingml/2006/table">
            <a:tbl>
              <a:tblPr/>
              <a:tblGrid>
                <a:gridCol w="2448272"/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always @(</a:t>
                      </a:r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3400425" y="2360613"/>
          <a:ext cx="1728192" cy="914400"/>
        </p:xfrm>
        <a:graphic>
          <a:graphicData uri="http://schemas.openxmlformats.org/drawingml/2006/table">
            <a:tbl>
              <a:tblPr/>
              <a:tblGrid>
                <a:gridCol w="1728192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赋值语句左边必须为</a:t>
                      </a:r>
                      <a:r>
                        <a:rPr lang="en-US" altLang="zh-CN" sz="1800" b="1" i="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reg</a:t>
                      </a:r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类型变量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>
            <a:spLocks noChangeArrowheads="1"/>
          </p:cNvSpPr>
          <p:nvPr/>
        </p:nvSpPr>
        <p:spPr bwMode="auto">
          <a:xfrm>
            <a:off x="503555" y="1160780"/>
            <a:ext cx="8136890" cy="349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/*4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数据选择器的行为级建模描述步骤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*/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95502" y="699542"/>
            <a:ext cx="76489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行为级建模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9592" y="1718568"/>
            <a:ext cx="367240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module mux4to1(D, S, Y);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input[3:0] D;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input[1:0] S;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output reg Y;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always@(D, S)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begin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    if (S == 2'b00)          </a:t>
            </a:r>
            <a:r>
              <a:rPr lang="en-US" altLang="zh-CN" sz="1600" dirty="0">
                <a:solidFill>
                  <a:schemeClr val="tx1"/>
                </a:solidFill>
              </a:rPr>
              <a:t>              </a:t>
            </a:r>
            <a:r>
              <a:rPr lang="zh-CN" altLang="en-US" sz="1600" dirty="0">
                <a:solidFill>
                  <a:schemeClr val="tx1"/>
                </a:solidFill>
              </a:rPr>
              <a:t>  Y = D[0];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          else if (S == 2'b01)            Y = D[1];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          else if (S == 2'b10)    </a:t>
            </a: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zh-CN" altLang="en-US" sz="1600" dirty="0">
                <a:solidFill>
                  <a:schemeClr val="tx1"/>
                </a:solidFill>
              </a:rPr>
              <a:t>     Y = D[2];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          else if (S == 2'b11)            Y = D[3];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end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endmodule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2209" y="1061606"/>
            <a:ext cx="3384376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</a:rPr>
              <a:t>module mux4to1(D, S, Y, EN);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input[3:0] D;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input[1:0] S;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input EN;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output reg Y;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always@(D, S, EN)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begin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    if(EN == 1) Y = 0;       //EN=1,输出为0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    else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    case(S)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        2'b00: Y= D[0];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        2'b01: Y= D[1];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        2'b10: Y= D[2];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        2'b11: Y= D[3];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        endcase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    end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endmodule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39552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3399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always@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事件控制表达式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3399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begin</a:t>
            </a:r>
            <a:endParaRPr lang="en-US" altLang="zh-CN" sz="1800" b="1" dirty="0">
              <a:solidFill>
                <a:srgbClr val="339933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块内局部变量定义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过程赋值语句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过程赋值语句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3399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</a:t>
            </a:r>
            <a:endParaRPr lang="en-US" altLang="zh-CN" sz="1800" b="1" dirty="0">
              <a:solidFill>
                <a:srgbClr val="339933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rgbClr val="339933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行为级：无需熟悉电路原理图和逻辑表达式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 </a:t>
            </a: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仅需根据电路功能，进行描述。</a:t>
            </a:r>
            <a:endParaRPr lang="en-US" altLang="zh-CN" sz="1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6489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行为级建模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644008" y="1275606"/>
          <a:ext cx="2448272" cy="365760"/>
        </p:xfrm>
        <a:graphic>
          <a:graphicData uri="http://schemas.openxmlformats.org/drawingml/2006/table">
            <a:tbl>
              <a:tblPr/>
              <a:tblGrid>
                <a:gridCol w="2448272"/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always @(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 or </a:t>
                      </a:r>
                      <a:r>
                        <a:rPr lang="en-US" sz="1400" b="1" i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367088" y="2681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400425" y="2817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644008" y="1693448"/>
          <a:ext cx="2448272" cy="365760"/>
        </p:xfrm>
        <a:graphic>
          <a:graphicData uri="http://schemas.openxmlformats.org/drawingml/2006/table">
            <a:tbl>
              <a:tblPr/>
              <a:tblGrid>
                <a:gridCol w="2448272"/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always @(</a:t>
                      </a:r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3400425" y="2360613"/>
          <a:ext cx="1728192" cy="914400"/>
        </p:xfrm>
        <a:graphic>
          <a:graphicData uri="http://schemas.openxmlformats.org/drawingml/2006/table">
            <a:tbl>
              <a:tblPr/>
              <a:tblGrid>
                <a:gridCol w="1728192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赋值语句左边必须为</a:t>
                      </a:r>
                      <a:r>
                        <a:rPr lang="en-US" altLang="zh-CN" sz="1800" b="1" i="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reg</a:t>
                      </a:r>
                      <a:r>
                        <a:rPr lang="zh-CN" altLang="en-US" sz="1800" b="1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类型变量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507990" y="3003550"/>
            <a:ext cx="348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FF0066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事件控制表达式为空，总为真</a:t>
            </a:r>
            <a:endParaRPr lang="zh-CN" altLang="en-US" dirty="0">
              <a:solidFill>
                <a:srgbClr val="FF0066"/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836898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HDL-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基本结构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720" y="1138124"/>
            <a:ext cx="4584954" cy="391439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808" y="1203598"/>
            <a:ext cx="3880866" cy="42748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51" y="1855921"/>
            <a:ext cx="1609344" cy="42748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2144627"/>
            <a:ext cx="2531364" cy="42748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037" y="1696554"/>
            <a:ext cx="402336" cy="80467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674" y="1916109"/>
            <a:ext cx="1441704" cy="38557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1760" y="2682469"/>
            <a:ext cx="3101340" cy="42748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766" y="3291830"/>
            <a:ext cx="2112264" cy="427482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1760" y="3964276"/>
            <a:ext cx="2564892" cy="69570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8037" y="2739217"/>
            <a:ext cx="402336" cy="1701546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6674" y="3397204"/>
            <a:ext cx="1844040" cy="38557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432" y="2571750"/>
            <a:ext cx="1542288" cy="39395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432" y="3207309"/>
            <a:ext cx="1542288" cy="393954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9432" y="3918175"/>
            <a:ext cx="1542288" cy="393954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28923" y="1576706"/>
            <a:ext cx="3227070" cy="427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4.9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分层次的电路设计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在面对复杂电路时，如何将多个模块组合？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自顶向下（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top-down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先将最终设计目标定义成顶层模块，再按一定方法将顶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层模块划分成各个子模块，然后对子模块进行逻辑设计。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自底向上（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bottom-up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由基本元件构成的各个子模块首先被确定下来，然后将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这些子模块组合起来构成顶层模块，最后得到满足设计要求的电路。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409560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位二进制数加法器：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+B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792922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2184974"/>
            <a:ext cx="6084168" cy="17974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792922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1635646"/>
            <a:ext cx="6889588" cy="2147930"/>
          </a:xfrm>
          <a:prstGeom prst="rect">
            <a:avLst/>
          </a:prstGeom>
        </p:spPr>
      </p:pic>
      <p:sp>
        <p:nvSpPr>
          <p:cNvPr id="6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模块引用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27787"/>
            <a:ext cx="7792922" cy="43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467988" y="1203851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2400" b="1" dirty="0">
                <a:solidFill>
                  <a:sysClr val="windowText" lastClr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模块引用</a:t>
            </a:r>
            <a:endParaRPr lang="en-US" altLang="zh-CN" sz="2400" b="1" dirty="0">
              <a:solidFill>
                <a:sysClr val="windowText" lastClr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 err="1">
                <a:solidFill>
                  <a:sysClr val="windowText" lastClr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module_name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instance_name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（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port_associations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）；</a:t>
            </a:r>
            <a:endParaRPr lang="en-US" altLang="zh-CN" sz="1800" b="1" dirty="0">
              <a:solidFill>
                <a:sysClr val="windowText" lastClr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31640" y="2083519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子模块名</a:t>
            </a:r>
            <a:r>
              <a:rPr lang="zh-CN" altLang="en-US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br>
              <a:rPr lang="zh-CN" altLang="en-US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</a:br>
            <a:endParaRPr lang="zh-CN" altLang="en-US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27784" y="2083519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实例引用名</a:t>
            </a:r>
            <a:r>
              <a:rPr lang="zh-CN" altLang="en-US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br>
              <a:rPr lang="zh-CN" altLang="en-US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</a:br>
            <a:endParaRPr lang="zh-CN" altLang="en-US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39748" y="2080481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父、子模块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端口的关联方式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br>
              <a:rPr lang="zh-CN" altLang="en-US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</a:br>
            <a:endParaRPr lang="zh-CN" altLang="en-US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43000" y="2664460"/>
            <a:ext cx="7760335" cy="239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C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端口位置关联法</a:t>
            </a:r>
            <a:r>
              <a:rPr lang="en-US" altLang="zh-CN" sz="2000" b="0" i="0" dirty="0">
                <a:solidFill>
                  <a:srgbClr val="C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: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父子模块的端口按照位置（即端口排列次序）</a:t>
            </a:r>
            <a:endParaRPr lang="zh-CN" altLang="en-US" sz="2000" b="0" i="0" dirty="0">
              <a:solidFill>
                <a:srgbClr val="000000"/>
              </a:solidFill>
              <a:effectLst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对应关联。</a:t>
            </a:r>
            <a:endParaRPr lang="en-US" altLang="zh-CN" sz="2000" b="0" i="0" dirty="0">
              <a:solidFill>
                <a:srgbClr val="000000"/>
              </a:solidFill>
              <a:effectLst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eaLnBrk="1" latinLnBrk="0" hangingPunct="1">
              <a:spcBef>
                <a:spcPts val="600"/>
              </a:spcBef>
            </a:pPr>
            <a:r>
              <a:rPr lang="pl-PL" altLang="zh-CN" sz="2000" b="0" i="0" dirty="0">
                <a:solidFill>
                  <a:srgbClr val="0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fulladder U0_FA (S[0],C0,A[0],B[0],C_1);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</a:br>
            <a:endParaRPr lang="en-US" altLang="zh-CN" sz="2000" b="0" i="0" dirty="0">
              <a:solidFill>
                <a:srgbClr val="000000"/>
              </a:solidFill>
              <a:effectLst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端口</a:t>
            </a:r>
            <a:r>
              <a:rPr lang="zh-CN" altLang="en-US" sz="2000" b="0" i="0" dirty="0">
                <a:solidFill>
                  <a:srgbClr val="C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名称关联法</a:t>
            </a:r>
            <a:r>
              <a:rPr lang="en-US" altLang="zh-CN" sz="2000" b="0" i="0" dirty="0">
                <a:solidFill>
                  <a:srgbClr val="C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: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父子模块端口直接通过名称建立连接关系，</a:t>
            </a:r>
            <a:endParaRPr lang="zh-CN" altLang="en-US" sz="2000" b="0" i="0" dirty="0">
              <a:solidFill>
                <a:srgbClr val="000000"/>
              </a:solidFill>
              <a:effectLst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不需要考虑端口的排列次序。</a:t>
            </a:r>
            <a:endParaRPr lang="en-US" altLang="zh-CN" sz="2000" b="0" i="0" dirty="0">
              <a:solidFill>
                <a:srgbClr val="000000"/>
              </a:solidFill>
              <a:effectLst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eaLnBrk="1" latinLnBrk="0" hangingPunct="1">
              <a:spcBef>
                <a:spcPts val="600"/>
              </a:spcBef>
            </a:pPr>
            <a:r>
              <a:rPr lang="zh-CN" altLang="en-US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r>
              <a:rPr lang="en-US" altLang="zh-CN" dirty="0" err="1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halfadder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HA1 (.A(A),.B(B),.S(S1),.C(D1))</a:t>
            </a:r>
            <a:endParaRPr lang="zh-CN" altLang="en-US" dirty="0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半加器与全加器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792922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281" y="1786360"/>
            <a:ext cx="2105875" cy="11845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60" y="3733005"/>
            <a:ext cx="1963316" cy="926977"/>
          </a:xfrm>
          <a:prstGeom prst="rect">
            <a:avLst/>
          </a:prstGeom>
        </p:spPr>
      </p:pic>
      <p:sp>
        <p:nvSpPr>
          <p:cNvPr id="7" name="箭头: 下 6"/>
          <p:cNvSpPr/>
          <p:nvPr/>
        </p:nvSpPr>
        <p:spPr>
          <a:xfrm>
            <a:off x="1283206" y="3185564"/>
            <a:ext cx="216024" cy="3271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804159"/>
            <a:ext cx="3506471" cy="11845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801" y="3604215"/>
            <a:ext cx="2192804" cy="1184555"/>
          </a:xfrm>
          <a:prstGeom prst="rect">
            <a:avLst/>
          </a:prstGeom>
        </p:spPr>
      </p:pic>
      <p:sp>
        <p:nvSpPr>
          <p:cNvPr id="12" name="箭头: 下 11"/>
          <p:cNvSpPr/>
          <p:nvPr/>
        </p:nvSpPr>
        <p:spPr>
          <a:xfrm>
            <a:off x="5929191" y="3121839"/>
            <a:ext cx="216024" cy="3271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/>
          <p:cNvSpPr/>
          <p:nvPr/>
        </p:nvSpPr>
        <p:spPr>
          <a:xfrm rot="20035100">
            <a:off x="3106531" y="3215986"/>
            <a:ext cx="504056" cy="327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2915816" y="1278727"/>
            <a:ext cx="540060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//*******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一位半加器 ********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halfadder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(S,C,A,B);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input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A,B; //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输入端口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output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S,C; //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输出端口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xor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(S,A,B); //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实例引用逻辑门原语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and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(C,A,B);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en-US" altLang="zh-CN" sz="18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792922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281" y="1786360"/>
            <a:ext cx="2105875" cy="118455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2850515" y="1275715"/>
            <a:ext cx="6302375" cy="338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//*******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一位全加器 ********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fulladder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S,Co,A,B,Ci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input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A,B,Ci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output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S,Co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wire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S1,D1,D2; //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内部节点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实例引用子模块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halfadder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，端口采用名称关联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halfadder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HA1 (.A(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),.B(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),.S(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S1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),.C(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D1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));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halfadder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HA2 (.A(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S1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),.B(</a:t>
            </a:r>
            <a:r>
              <a:rPr lang="en-US" altLang="zh-CN" sz="1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Cin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),.S(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Sum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),.C(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D2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));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or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g1(Co,D2,D1);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en-US" altLang="zh-CN" sz="18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792922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635646"/>
            <a:ext cx="3506471" cy="118455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72845" y="1650365"/>
            <a:ext cx="49022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rgbClr val="FF0000"/>
                </a:solidFill>
              </a:rPr>
              <a:t>S1</a:t>
            </a:r>
            <a:endParaRPr lang="en-US" altLang="zh-CN" sz="140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79195" y="2061210"/>
            <a:ext cx="49022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rgbClr val="FF0000"/>
                </a:solidFill>
              </a:rPr>
              <a:t>D1</a:t>
            </a:r>
            <a:endParaRPr lang="en-US" altLang="zh-CN" sz="140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32660" y="2053590"/>
            <a:ext cx="748030" cy="219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rgbClr val="FF0000"/>
                </a:solidFill>
              </a:rPr>
              <a:t>D2</a:t>
            </a:r>
            <a:endParaRPr lang="en-US" altLang="zh-CN" sz="1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3" grpId="0" bldLvl="0" animBg="1"/>
      <p:bldP spid="3" grpId="1" animBg="1"/>
      <p:bldP spid="4" grpId="0" bldLvl="0" animBg="1"/>
      <p:bldP spid="4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2123728" y="992709"/>
            <a:ext cx="7488832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//************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四位全加器 ************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_4bit_adder (S,C3,A,B,C_1);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input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[3:0] A,B;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input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C_1;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output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[3:0] S;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output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C3;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wire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C0,C1,C2; //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声明模块内部的连接线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fulladder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U0_FA (S[0],C0,A[0],B[0],C_1);//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实例引用模块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fulladder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U1_FA (S[1],C1,A[1],B[1],C0); //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端口位置关联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fulladder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U2_FA (S[2],C2,A[2],B[2],C1);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fulladder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U3_FA (S[3],C3,A[3],B[3],C2);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en-US" altLang="zh-CN" sz="18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792922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851671"/>
            <a:ext cx="3412275" cy="100811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792922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179512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模块引用的注意事项：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5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模块只能以实例引用的方式嵌套在其他模块内，嵌套的层次是没有限制的。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5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不能在一个模块内部使用关键词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去定义另一个模块，也不能以循环方式嵌套模块，即不能在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语句内部引用子模块。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5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实例引用的子模块可以是一个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 HDL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设计文件，也可以是用别的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语言设计的元件， 或者是 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核模块。（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Intellectual Property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，知识产权）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792922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179512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模块引用的注意事项：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5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•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在一条实例引用子模块的语句中，不能一部分端口用位置关联，另一部分端口用名称关联，即不能混合使用这两种方式建立端口之间的连接。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5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 HDL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中允许父模块、子模块的端口宽度不同，但仿真器会给出警告信息，以便提醒用户注意。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792922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分层次的电路设计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179512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模块端口数据类型规定：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5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164" y="1995686"/>
            <a:ext cx="4715597" cy="236468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457200" algn="just" defTabSz="6858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4.10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测试电路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test bench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功能仿真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也称为前仿真。它的主要目的是测试电路的逻辑功能是否正确，并不考虑硬件实现的技术细节。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时序仿真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也称为门级仿真。需要使用逻辑综合工具，并根据使用的工艺库，将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HDL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描述转换成最终能够实现的门级网表文件，这个门级网表文件中含有电路实现时元器件及连线的延迟信息，对它进行仿真，就能检查电路的时序是否满足要求。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512862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时序仿真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需考虑相关工艺库中元器件的元器件延迟与连线延迟。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开发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FPGA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时，选定特定芯片时，元器件延迟确定，因此，可以直接做时序仿真，时序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仿真结果更加逼近实际电路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6489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测试电路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测试模块的基本功能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6489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测试电路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24" y="2455537"/>
            <a:ext cx="4678508" cy="1887641"/>
          </a:xfrm>
          <a:prstGeom prst="rect">
            <a:avLst/>
          </a:prstGeom>
        </p:spPr>
      </p:pic>
      <p:sp>
        <p:nvSpPr>
          <p:cNvPr id="5" name="内容占位符 2"/>
          <p:cNvSpPr txBox="1">
            <a:spLocks noChangeArrowheads="1"/>
          </p:cNvSpPr>
          <p:nvPr/>
        </p:nvSpPr>
        <p:spPr bwMode="auto">
          <a:xfrm>
            <a:off x="4355976" y="1851670"/>
            <a:ext cx="4392488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产生待测模块所需要的测试信号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这些信号通过待测设计模块功能之后，产生监测响应，用于监测。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监测方法：波形图、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文件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测试模块的基本写法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测试模块名（）；</a:t>
            </a:r>
            <a:endParaRPr lang="zh-CN" altLang="en-US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reg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输入信号名；</a:t>
            </a:r>
            <a:endParaRPr lang="zh-CN" altLang="en-US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…</a:t>
            </a:r>
            <a:endParaRPr lang="en-US" altLang="zh-CN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wire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输出信号名；</a:t>
            </a:r>
            <a:endParaRPr lang="zh-CN" altLang="en-US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…</a:t>
            </a:r>
            <a:endParaRPr lang="en-US" altLang="zh-CN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实例引用待测试模块；</a:t>
            </a:r>
            <a:endParaRPr lang="zh-CN" altLang="en-US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 begin</a:t>
            </a:r>
            <a:endParaRPr lang="en-US" altLang="zh-CN" sz="14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… //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在这里添加激励（可以有多个这样的结构）</a:t>
            </a:r>
            <a:endParaRPr lang="zh-CN" altLang="en-US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</a:t>
            </a:r>
            <a:endParaRPr lang="en-US" altLang="zh-CN" sz="14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 begin</a:t>
            </a:r>
            <a:endParaRPr lang="en-US" altLang="zh-CN" sz="14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… //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在这里添加时钟信号</a:t>
            </a:r>
            <a:endParaRPr lang="zh-CN" altLang="en-US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</a:t>
            </a:r>
            <a:endParaRPr lang="en-US" altLang="zh-CN" sz="14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 begin</a:t>
            </a:r>
            <a:endParaRPr lang="en-US" altLang="zh-CN" sz="14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… //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在这里添加输出语句（在屏幕上显示仿真结果）</a:t>
            </a:r>
            <a:endParaRPr lang="zh-CN" altLang="en-US" sz="14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</a:t>
            </a:r>
            <a:endParaRPr lang="en-US" altLang="zh-CN" sz="14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0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4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6489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测试电路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 noChangeArrowheads="1"/>
          </p:cNvSpPr>
          <p:nvPr/>
        </p:nvSpPr>
        <p:spPr bwMode="auto">
          <a:xfrm>
            <a:off x="503548" y="1275606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待测试：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位二进制加法器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95502" y="699542"/>
            <a:ext cx="76489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四、硬件描述语言 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HDL-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测试电路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504" y="1813632"/>
            <a:ext cx="3528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</a:rPr>
              <a:t>module _4Adder(a, b, ci, sum, co);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//</a:t>
            </a:r>
            <a:r>
              <a:rPr lang="zh-CN" altLang="en-US" sz="1600" dirty="0">
                <a:solidFill>
                  <a:schemeClr val="tx1"/>
                </a:solidFill>
              </a:rPr>
              <a:t>端口类型定义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>
                <a:solidFill>
                  <a:schemeClr val="tx1"/>
                </a:solidFill>
              </a:rPr>
              <a:t>input[3:0] a, b;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input ci;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output[3:0] sum;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output co;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//</a:t>
            </a:r>
            <a:r>
              <a:rPr lang="zh-CN" altLang="en-US" sz="1600" dirty="0">
                <a:solidFill>
                  <a:schemeClr val="tx1"/>
                </a:solidFill>
              </a:rPr>
              <a:t>数据流描述逻辑电路功能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    </a:t>
            </a:r>
            <a:r>
              <a:rPr lang="en-US" altLang="zh-CN" sz="1600" dirty="0">
                <a:solidFill>
                  <a:schemeClr val="tx1"/>
                </a:solidFill>
              </a:rPr>
              <a:t>assign {</a:t>
            </a:r>
            <a:r>
              <a:rPr lang="en-US" altLang="zh-CN" sz="1600" dirty="0" err="1">
                <a:solidFill>
                  <a:schemeClr val="tx1"/>
                </a:solidFill>
              </a:rPr>
              <a:t>co,sum</a:t>
            </a:r>
            <a:r>
              <a:rPr lang="en-US" altLang="zh-CN" sz="1600" dirty="0">
                <a:solidFill>
                  <a:schemeClr val="tx1"/>
                </a:solidFill>
              </a:rPr>
              <a:t>} = </a:t>
            </a:r>
            <a:r>
              <a:rPr lang="en-US" altLang="zh-CN" sz="1600" dirty="0" err="1">
                <a:solidFill>
                  <a:schemeClr val="tx1"/>
                </a:solidFill>
              </a:rPr>
              <a:t>a+b+ci</a:t>
            </a:r>
            <a:r>
              <a:rPr lang="en-US" altLang="zh-CN" sz="1600" dirty="0">
                <a:solidFill>
                  <a:schemeClr val="tx1"/>
                </a:solidFill>
              </a:rPr>
              <a:t>;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 err="1">
                <a:solidFill>
                  <a:schemeClr val="tx1"/>
                </a:solidFill>
              </a:rPr>
              <a:t>endmodule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19872" y="1635646"/>
            <a:ext cx="442849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`timescale 10ns/1ns  //</a:t>
            </a:r>
            <a:r>
              <a:rPr lang="zh-CN" altLang="en-US" sz="1400" dirty="0">
                <a:solidFill>
                  <a:schemeClr val="tx1"/>
                </a:solidFill>
              </a:rPr>
              <a:t>编译指令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module Test_Fadder4;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reg </a:t>
            </a:r>
            <a:r>
              <a:rPr lang="en-US" altLang="zh-CN" sz="1400" dirty="0" err="1">
                <a:solidFill>
                  <a:schemeClr val="tx1"/>
                </a:solidFill>
              </a:rPr>
              <a:t>Cin</a:t>
            </a:r>
            <a:r>
              <a:rPr lang="en-US" altLang="zh-CN" sz="1400" dirty="0">
                <a:solidFill>
                  <a:schemeClr val="tx1"/>
                </a:solidFill>
              </a:rPr>
              <a:t>; //</a:t>
            </a:r>
            <a:r>
              <a:rPr lang="zh-CN" altLang="en-US" sz="1400" dirty="0">
                <a:solidFill>
                  <a:schemeClr val="tx1"/>
                </a:solidFill>
              </a:rPr>
              <a:t>声明输入信号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reg [3:0] A,B;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wire[3:0] Sum;//</a:t>
            </a:r>
            <a:r>
              <a:rPr lang="zh-CN" altLang="en-US" sz="1400" dirty="0">
                <a:solidFill>
                  <a:schemeClr val="tx1"/>
                </a:solidFill>
              </a:rPr>
              <a:t>声明输出信号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wire </a:t>
            </a:r>
            <a:r>
              <a:rPr lang="en-US" altLang="zh-CN" sz="1400" dirty="0" err="1">
                <a:solidFill>
                  <a:schemeClr val="tx1"/>
                </a:solidFill>
              </a:rPr>
              <a:t>Cout</a:t>
            </a:r>
            <a:r>
              <a:rPr lang="en-US" altLang="zh-CN" sz="1400" dirty="0">
                <a:solidFill>
                  <a:schemeClr val="tx1"/>
                </a:solidFill>
              </a:rPr>
              <a:t>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//</a:t>
            </a:r>
            <a:r>
              <a:rPr lang="zh-CN" altLang="en-US" sz="1400" dirty="0">
                <a:solidFill>
                  <a:schemeClr val="tx1"/>
                </a:solidFill>
              </a:rPr>
              <a:t>实例引用设计块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_4Adder U0(</a:t>
            </a:r>
            <a:r>
              <a:rPr lang="en-US" altLang="zh-CN" sz="1400" dirty="0" err="1">
                <a:solidFill>
                  <a:schemeClr val="tx1"/>
                </a:solidFill>
              </a:rPr>
              <a:t>A,B,Cin,Sum,Cout</a:t>
            </a:r>
            <a:r>
              <a:rPr lang="en-US" altLang="zh-CN" sz="1400" dirty="0">
                <a:solidFill>
                  <a:schemeClr val="tx1"/>
                </a:solidFill>
              </a:rPr>
              <a:t>);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initial begin //</a:t>
            </a:r>
            <a:r>
              <a:rPr lang="zh-CN" altLang="en-US" sz="1400" dirty="0">
                <a:solidFill>
                  <a:schemeClr val="tx1"/>
                </a:solidFill>
              </a:rPr>
              <a:t>生成输入信号的数据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         </a:t>
            </a:r>
            <a:r>
              <a:rPr lang="en-US" altLang="zh-CN" sz="1400" dirty="0" err="1">
                <a:solidFill>
                  <a:schemeClr val="tx1"/>
                </a:solidFill>
              </a:rPr>
              <a:t>Cin</a:t>
            </a:r>
            <a:r>
              <a:rPr lang="en-US" altLang="zh-CN" sz="1400" dirty="0">
                <a:solidFill>
                  <a:schemeClr val="tx1"/>
                </a:solidFill>
              </a:rPr>
              <a:t>=0; A=7; B=3;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         #5 A=9;B=6;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         #5 A=9;B=7;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         #5 </a:t>
            </a:r>
            <a:r>
              <a:rPr lang="en-US" altLang="zh-CN" sz="1400" dirty="0" err="1">
                <a:solidFill>
                  <a:schemeClr val="tx1"/>
                </a:solidFill>
              </a:rPr>
              <a:t>Cin</a:t>
            </a:r>
            <a:r>
              <a:rPr lang="en-US" altLang="zh-CN" sz="1400" dirty="0">
                <a:solidFill>
                  <a:schemeClr val="tx1"/>
                </a:solidFill>
              </a:rPr>
              <a:t>=1; A=7; B=3;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         #5 A=9;B=6;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         #5 A=9;B=7;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             #5 $stop; //</a:t>
            </a:r>
            <a:r>
              <a:rPr lang="zh-CN" altLang="en-US" sz="1400" dirty="0">
                <a:solidFill>
                  <a:schemeClr val="tx1"/>
                </a:solidFill>
              </a:rPr>
              <a:t>暂停模拟仿真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30162" y="1570354"/>
            <a:ext cx="44284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end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// </a:t>
            </a:r>
            <a:r>
              <a:rPr lang="zh-CN" altLang="en-US" sz="1400" dirty="0">
                <a:solidFill>
                  <a:schemeClr val="tx1"/>
                </a:solidFill>
              </a:rPr>
              <a:t>将结果输出到屏幕上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initial //</a:t>
            </a:r>
            <a:r>
              <a:rPr lang="zh-CN" altLang="en-US" sz="1400" dirty="0">
                <a:solidFill>
                  <a:schemeClr val="tx1"/>
                </a:solidFill>
              </a:rPr>
              <a:t>监视系统任务</a:t>
            </a:r>
            <a:endParaRPr lang="zh-CN" altLang="en-US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$monitor($time,":\</a:t>
            </a:r>
            <a:r>
              <a:rPr lang="en-US" altLang="zh-CN" sz="1400" dirty="0" err="1">
                <a:solidFill>
                  <a:schemeClr val="tx1"/>
                </a:solidFill>
              </a:rPr>
              <a:t>tA</a:t>
            </a:r>
            <a:r>
              <a:rPr lang="en-US" altLang="zh-CN" sz="1400" dirty="0">
                <a:solidFill>
                  <a:schemeClr val="tx1"/>
                </a:solidFill>
              </a:rPr>
              <a:t>=%</a:t>
            </a:r>
            <a:r>
              <a:rPr lang="en-US" altLang="zh-CN" sz="1400" dirty="0" err="1">
                <a:solidFill>
                  <a:schemeClr val="tx1"/>
                </a:solidFill>
              </a:rPr>
              <a:t>b,B</a:t>
            </a:r>
            <a:r>
              <a:rPr lang="en-US" altLang="zh-CN" sz="1400" dirty="0">
                <a:solidFill>
                  <a:schemeClr val="tx1"/>
                </a:solidFill>
              </a:rPr>
              <a:t>=%</a:t>
            </a:r>
            <a:r>
              <a:rPr lang="en-US" altLang="zh-CN" sz="1400" dirty="0" err="1">
                <a:solidFill>
                  <a:schemeClr val="tx1"/>
                </a:solidFill>
              </a:rPr>
              <a:t>b,Sum</a:t>
            </a:r>
            <a:r>
              <a:rPr lang="en-US" altLang="zh-CN" sz="1400" dirty="0">
                <a:solidFill>
                  <a:schemeClr val="tx1"/>
                </a:solidFill>
              </a:rPr>
              <a:t>=%b,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 err="1">
                <a:solidFill>
                  <a:schemeClr val="tx1"/>
                </a:solidFill>
              </a:rPr>
              <a:t>Cout</a:t>
            </a:r>
            <a:r>
              <a:rPr lang="en-US" altLang="zh-CN" sz="1400" dirty="0">
                <a:solidFill>
                  <a:schemeClr val="tx1"/>
                </a:solidFill>
              </a:rPr>
              <a:t>=%b\n",</a:t>
            </a:r>
            <a:r>
              <a:rPr lang="en-US" altLang="zh-CN" sz="1400" dirty="0" err="1">
                <a:solidFill>
                  <a:schemeClr val="tx1"/>
                </a:solidFill>
              </a:rPr>
              <a:t>A,B,Sum,Cout</a:t>
            </a:r>
            <a:r>
              <a:rPr lang="en-US" altLang="zh-CN" sz="1400" dirty="0">
                <a:solidFill>
                  <a:schemeClr val="tx1"/>
                </a:solidFill>
              </a:rPr>
              <a:t>);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 err="1">
                <a:solidFill>
                  <a:schemeClr val="tx1"/>
                </a:solidFill>
              </a:rPr>
              <a:t>endmodule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ags/tag1.xml><?xml version="1.0" encoding="utf-8"?>
<p:tagLst xmlns:p="http://schemas.openxmlformats.org/presentationml/2006/main">
  <p:tag name="commondata" val="eyJoZGlkIjoiNWM3NDI0YjMzMTI2Y2UyY2IzNzVhYTc5MGY3OTVlOTMifQ=="/>
</p:tagLst>
</file>

<file path=ppt/theme/theme1.xml><?xml version="1.0" encoding="utf-8"?>
<a:theme xmlns:a="http://schemas.openxmlformats.org/drawingml/2006/main" name="3_主题1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13618</Words>
  <Application>WPS 演示</Application>
  <PresentationFormat>全屏显示(16:9)</PresentationFormat>
  <Paragraphs>1530</Paragraphs>
  <Slides>74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97" baseType="lpstr">
      <vt:lpstr>Arial</vt:lpstr>
      <vt:lpstr>宋体</vt:lpstr>
      <vt:lpstr>Wingdings</vt:lpstr>
      <vt:lpstr>Calibri</vt:lpstr>
      <vt:lpstr>Calibri Light</vt:lpstr>
      <vt:lpstr>黑体</vt:lpstr>
      <vt:lpstr>方正综艺简体</vt:lpstr>
      <vt:lpstr>Arial Unicode MS</vt:lpstr>
      <vt:lpstr>Times New Roman</vt:lpstr>
      <vt:lpstr>楷体</vt:lpstr>
      <vt:lpstr>PingFang SC</vt:lpstr>
      <vt:lpstr>微软雅黑</vt:lpstr>
      <vt:lpstr>Cambria Math</vt:lpstr>
      <vt:lpstr>Courier New</vt:lpstr>
      <vt:lpstr>华文楷体</vt:lpstr>
      <vt:lpstr>华文新魏</vt:lpstr>
      <vt:lpstr>新宋体</vt:lpstr>
      <vt:lpstr>PingFang SC</vt:lpstr>
      <vt:lpstr>Wingdings</vt:lpstr>
      <vt:lpstr>方正综艺简体</vt:lpstr>
      <vt:lpstr>KSOF28334203</vt:lpstr>
      <vt:lpstr>方正小标宋简体</vt:lpstr>
      <vt:lpstr>3_主题1</vt:lpstr>
      <vt:lpstr>数 字 逻 辑 电 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老伍</cp:lastModifiedBy>
  <cp:revision>311</cp:revision>
  <dcterms:created xsi:type="dcterms:W3CDTF">2002-09-09T07:46:00Z</dcterms:created>
  <dcterms:modified xsi:type="dcterms:W3CDTF">2026-06-08T06:47:25Z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8818ABAADB2744718E329B429741D3CA_13</vt:lpwstr>
  </property>
</Properties>
</file>