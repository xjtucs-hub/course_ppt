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Lst>
  <p:notesMasterIdLst>
    <p:notesMasterId r:id="rId14"/>
  </p:notesMasterIdLst>
  <p:sldIdLst>
    <p:sldId id="528" r:id="rId11"/>
    <p:sldId id="529" r:id="rId12"/>
    <p:sldId id="530" r:id="rId13"/>
    <p:sldId id="531" r:id="rId15"/>
    <p:sldId id="532" r:id="rId16"/>
    <p:sldId id="533" r:id="rId17"/>
    <p:sldId id="534" r:id="rId18"/>
    <p:sldId id="535" r:id="rId19"/>
    <p:sldId id="536" r:id="rId20"/>
    <p:sldId id="537" r:id="rId21"/>
    <p:sldId id="538" r:id="rId22"/>
    <p:sldId id="539" r:id="rId23"/>
    <p:sldId id="540" r:id="rId24"/>
    <p:sldId id="541" r:id="rId25"/>
    <p:sldId id="542" r:id="rId26"/>
    <p:sldId id="543" r:id="rId27"/>
    <p:sldId id="544" r:id="rId28"/>
    <p:sldId id="545" r:id="rId29"/>
    <p:sldId id="546" r:id="rId30"/>
    <p:sldId id="547" r:id="rId31"/>
    <p:sldId id="548" r:id="rId32"/>
    <p:sldId id="549" r:id="rId33"/>
    <p:sldId id="550" r:id="rId34"/>
    <p:sldId id="551" r:id="rId35"/>
    <p:sldId id="552" r:id="rId36"/>
    <p:sldId id="553" r:id="rId37"/>
    <p:sldId id="554" r:id="rId38"/>
    <p:sldId id="882" r:id="rId39"/>
    <p:sldId id="555" r:id="rId40"/>
    <p:sldId id="824" r:id="rId41"/>
    <p:sldId id="556" r:id="rId42"/>
    <p:sldId id="557" r:id="rId43"/>
    <p:sldId id="558" r:id="rId44"/>
    <p:sldId id="559" r:id="rId45"/>
    <p:sldId id="560" r:id="rId46"/>
    <p:sldId id="561" r:id="rId47"/>
    <p:sldId id="562" r:id="rId48"/>
    <p:sldId id="563" r:id="rId49"/>
    <p:sldId id="564" r:id="rId50"/>
    <p:sldId id="565" r:id="rId51"/>
    <p:sldId id="566" r:id="rId52"/>
    <p:sldId id="567" r:id="rId53"/>
    <p:sldId id="568" r:id="rId54"/>
    <p:sldId id="569" r:id="rId55"/>
    <p:sldId id="570" r:id="rId56"/>
    <p:sldId id="571" r:id="rId57"/>
    <p:sldId id="572" r:id="rId58"/>
    <p:sldId id="573" r:id="rId59"/>
    <p:sldId id="574" r:id="rId60"/>
    <p:sldId id="575" r:id="rId61"/>
    <p:sldId id="576" r:id="rId62"/>
    <p:sldId id="577" r:id="rId63"/>
    <p:sldId id="578" r:id="rId64"/>
    <p:sldId id="579" r:id="rId65"/>
    <p:sldId id="580" r:id="rId66"/>
    <p:sldId id="581" r:id="rId67"/>
    <p:sldId id="582" r:id="rId68"/>
    <p:sldId id="583" r:id="rId69"/>
    <p:sldId id="584" r:id="rId70"/>
    <p:sldId id="585" r:id="rId71"/>
    <p:sldId id="586" r:id="rId72"/>
    <p:sldId id="587" r:id="rId73"/>
    <p:sldId id="588" r:id="rId74"/>
    <p:sldId id="589" r:id="rId75"/>
    <p:sldId id="590" r:id="rId76"/>
    <p:sldId id="591" r:id="rId77"/>
    <p:sldId id="592" r:id="rId78"/>
    <p:sldId id="593" r:id="rId79"/>
    <p:sldId id="594" r:id="rId80"/>
    <p:sldId id="595" r:id="rId81"/>
    <p:sldId id="596" r:id="rId82"/>
    <p:sldId id="597" r:id="rId83"/>
    <p:sldId id="598" r:id="rId84"/>
    <p:sldId id="599" r:id="rId85"/>
    <p:sldId id="601" r:id="rId86"/>
    <p:sldId id="602" r:id="rId87"/>
    <p:sldId id="603" r:id="rId88"/>
    <p:sldId id="604" r:id="rId89"/>
    <p:sldId id="605" r:id="rId90"/>
    <p:sldId id="606" r:id="rId91"/>
    <p:sldId id="607" r:id="rId92"/>
    <p:sldId id="608" r:id="rId93"/>
    <p:sldId id="665" r:id="rId94"/>
  </p:sldIdLst>
  <p:sldSz cx="9144000" cy="5143500"/>
  <p:notesSz cx="6858000" cy="9144000"/>
  <p:custDataLst>
    <p:tags r:id="rId99"/>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39" userDrawn="1">
          <p15:clr>
            <a:srgbClr val="A4A3A4"/>
          </p15:clr>
        </p15:guide>
        <p15:guide id="2" pos="29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u"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0000FF"/>
    <a:srgbClr val="FF0066"/>
    <a:srgbClr val="FFFF00"/>
    <a:srgbClr val="008000"/>
    <a:srgbClr val="339933"/>
    <a:srgbClr val="00CC00"/>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5254"/>
    <p:restoredTop sz="95331"/>
  </p:normalViewPr>
  <p:slideViewPr>
    <p:cSldViewPr showGuides="1">
      <p:cViewPr>
        <p:scale>
          <a:sx n="117" d="100"/>
          <a:sy n="117" d="100"/>
        </p:scale>
        <p:origin x="96" y="-58"/>
      </p:cViewPr>
      <p:guideLst>
        <p:guide orient="horz" pos="1539"/>
        <p:guide pos="2925"/>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gs" Target="tags/tag10.xml"/><Relationship Id="rId98" Type="http://schemas.openxmlformats.org/officeDocument/2006/relationships/commentAuthors" Target="commentAuthors.xml"/><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slide" Target="slides/slide83.xml"/><Relationship Id="rId93" Type="http://schemas.openxmlformats.org/officeDocument/2006/relationships/slide" Target="slides/slide82.xml"/><Relationship Id="rId92" Type="http://schemas.openxmlformats.org/officeDocument/2006/relationships/slide" Target="slides/slide81.xml"/><Relationship Id="rId91" Type="http://schemas.openxmlformats.org/officeDocument/2006/relationships/slide" Target="slides/slide80.xml"/><Relationship Id="rId90" Type="http://schemas.openxmlformats.org/officeDocument/2006/relationships/slide" Target="slides/slide79.xml"/><Relationship Id="rId9" Type="http://schemas.openxmlformats.org/officeDocument/2006/relationships/slideMaster" Target="slideMasters/slideMaster8.xml"/><Relationship Id="rId89" Type="http://schemas.openxmlformats.org/officeDocument/2006/relationships/slide" Target="slides/slide78.xml"/><Relationship Id="rId88" Type="http://schemas.openxmlformats.org/officeDocument/2006/relationships/slide" Target="slides/slide77.xml"/><Relationship Id="rId87" Type="http://schemas.openxmlformats.org/officeDocument/2006/relationships/slide" Target="slides/slide76.xml"/><Relationship Id="rId86" Type="http://schemas.openxmlformats.org/officeDocument/2006/relationships/slide" Target="slides/slide75.xml"/><Relationship Id="rId85" Type="http://schemas.openxmlformats.org/officeDocument/2006/relationships/slide" Target="slides/slide74.xml"/><Relationship Id="rId84" Type="http://schemas.openxmlformats.org/officeDocument/2006/relationships/slide" Target="slides/slide73.xml"/><Relationship Id="rId83" Type="http://schemas.openxmlformats.org/officeDocument/2006/relationships/slide" Target="slides/slide72.xml"/><Relationship Id="rId82" Type="http://schemas.openxmlformats.org/officeDocument/2006/relationships/slide" Target="slides/slide71.xml"/><Relationship Id="rId81" Type="http://schemas.openxmlformats.org/officeDocument/2006/relationships/slide" Target="slides/slide70.xml"/><Relationship Id="rId80" Type="http://schemas.openxmlformats.org/officeDocument/2006/relationships/slide" Target="slides/slide69.xml"/><Relationship Id="rId8" Type="http://schemas.openxmlformats.org/officeDocument/2006/relationships/slideMaster" Target="slideMasters/slideMaster7.xml"/><Relationship Id="rId79" Type="http://schemas.openxmlformats.org/officeDocument/2006/relationships/slide" Target="slides/slide68.xml"/><Relationship Id="rId78" Type="http://schemas.openxmlformats.org/officeDocument/2006/relationships/slide" Target="slides/slide67.xml"/><Relationship Id="rId77" Type="http://schemas.openxmlformats.org/officeDocument/2006/relationships/slide" Target="slides/slide66.xml"/><Relationship Id="rId76" Type="http://schemas.openxmlformats.org/officeDocument/2006/relationships/slide" Target="slides/slide65.xml"/><Relationship Id="rId75" Type="http://schemas.openxmlformats.org/officeDocument/2006/relationships/slide" Target="slides/slide64.xml"/><Relationship Id="rId74" Type="http://schemas.openxmlformats.org/officeDocument/2006/relationships/slide" Target="slides/slide63.xml"/><Relationship Id="rId73" Type="http://schemas.openxmlformats.org/officeDocument/2006/relationships/slide" Target="slides/slide62.xml"/><Relationship Id="rId72" Type="http://schemas.openxmlformats.org/officeDocument/2006/relationships/slide" Target="slides/slide61.xml"/><Relationship Id="rId71" Type="http://schemas.openxmlformats.org/officeDocument/2006/relationships/slide" Target="slides/slide60.xml"/><Relationship Id="rId70" Type="http://schemas.openxmlformats.org/officeDocument/2006/relationships/slide" Target="slides/slide59.xml"/><Relationship Id="rId7" Type="http://schemas.openxmlformats.org/officeDocument/2006/relationships/slideMaster" Target="slideMasters/slideMaster6.xml"/><Relationship Id="rId69" Type="http://schemas.openxmlformats.org/officeDocument/2006/relationships/slide" Target="slides/slide58.xml"/><Relationship Id="rId68" Type="http://schemas.openxmlformats.org/officeDocument/2006/relationships/slide" Target="slides/slide57.xml"/><Relationship Id="rId67" Type="http://schemas.openxmlformats.org/officeDocument/2006/relationships/slide" Target="slides/slide56.xml"/><Relationship Id="rId66" Type="http://schemas.openxmlformats.org/officeDocument/2006/relationships/slide" Target="slides/slide55.xml"/><Relationship Id="rId65" Type="http://schemas.openxmlformats.org/officeDocument/2006/relationships/slide" Target="slides/slide54.xml"/><Relationship Id="rId64" Type="http://schemas.openxmlformats.org/officeDocument/2006/relationships/slide" Target="slides/slide53.xml"/><Relationship Id="rId63" Type="http://schemas.openxmlformats.org/officeDocument/2006/relationships/slide" Target="slides/slide52.xml"/><Relationship Id="rId62" Type="http://schemas.openxmlformats.org/officeDocument/2006/relationships/slide" Target="slides/slide51.xml"/><Relationship Id="rId61" Type="http://schemas.openxmlformats.org/officeDocument/2006/relationships/slide" Target="slides/slide50.xml"/><Relationship Id="rId60" Type="http://schemas.openxmlformats.org/officeDocument/2006/relationships/slide" Target="slides/slide49.xml"/><Relationship Id="rId6" Type="http://schemas.openxmlformats.org/officeDocument/2006/relationships/slideMaster" Target="slideMasters/slideMaster5.xml"/><Relationship Id="rId59" Type="http://schemas.openxmlformats.org/officeDocument/2006/relationships/slide" Target="slides/slide48.xml"/><Relationship Id="rId58" Type="http://schemas.openxmlformats.org/officeDocument/2006/relationships/slide" Target="slides/slide47.xml"/><Relationship Id="rId57" Type="http://schemas.openxmlformats.org/officeDocument/2006/relationships/slide" Target="slides/slide46.xml"/><Relationship Id="rId56" Type="http://schemas.openxmlformats.org/officeDocument/2006/relationships/slide" Target="slides/slide45.xml"/><Relationship Id="rId55" Type="http://schemas.openxmlformats.org/officeDocument/2006/relationships/slide" Target="slides/slide44.xml"/><Relationship Id="rId54" Type="http://schemas.openxmlformats.org/officeDocument/2006/relationships/slide" Target="slides/slide43.xml"/><Relationship Id="rId53" Type="http://schemas.openxmlformats.org/officeDocument/2006/relationships/slide" Target="slides/slide42.xml"/><Relationship Id="rId52" Type="http://schemas.openxmlformats.org/officeDocument/2006/relationships/slide" Target="slides/slide41.xml"/><Relationship Id="rId51" Type="http://schemas.openxmlformats.org/officeDocument/2006/relationships/slide" Target="slides/slide40.xml"/><Relationship Id="rId50" Type="http://schemas.openxmlformats.org/officeDocument/2006/relationships/slide" Target="slides/slide39.xml"/><Relationship Id="rId5" Type="http://schemas.openxmlformats.org/officeDocument/2006/relationships/slideMaster" Target="slideMasters/slideMaster4.xml"/><Relationship Id="rId49" Type="http://schemas.openxmlformats.org/officeDocument/2006/relationships/slide" Target="slides/slide38.xml"/><Relationship Id="rId48" Type="http://schemas.openxmlformats.org/officeDocument/2006/relationships/slide" Target="slides/slide37.xml"/><Relationship Id="rId47" Type="http://schemas.openxmlformats.org/officeDocument/2006/relationships/slide" Target="slides/slide36.xml"/><Relationship Id="rId46" Type="http://schemas.openxmlformats.org/officeDocument/2006/relationships/slide" Target="slides/slide35.xml"/><Relationship Id="rId45" Type="http://schemas.openxmlformats.org/officeDocument/2006/relationships/slide" Target="slides/slide34.xml"/><Relationship Id="rId44" Type="http://schemas.openxmlformats.org/officeDocument/2006/relationships/slide" Target="slides/slide33.xml"/><Relationship Id="rId43" Type="http://schemas.openxmlformats.org/officeDocument/2006/relationships/slide" Target="slides/slide32.xml"/><Relationship Id="rId42" Type="http://schemas.openxmlformats.org/officeDocument/2006/relationships/slide" Target="slides/slide31.xml"/><Relationship Id="rId41" Type="http://schemas.openxmlformats.org/officeDocument/2006/relationships/slide" Target="slides/slide30.xml"/><Relationship Id="rId40" Type="http://schemas.openxmlformats.org/officeDocument/2006/relationships/slide" Target="slides/slide29.xml"/><Relationship Id="rId4" Type="http://schemas.openxmlformats.org/officeDocument/2006/relationships/slideMaster" Target="slideMasters/slideMaster3.xml"/><Relationship Id="rId39" Type="http://schemas.openxmlformats.org/officeDocument/2006/relationships/slide" Target="slides/slide28.xml"/><Relationship Id="rId38" Type="http://schemas.openxmlformats.org/officeDocument/2006/relationships/slide" Target="slides/slide27.xml"/><Relationship Id="rId37" Type="http://schemas.openxmlformats.org/officeDocument/2006/relationships/slide" Target="slides/slide26.xml"/><Relationship Id="rId36" Type="http://schemas.openxmlformats.org/officeDocument/2006/relationships/slide" Target="slides/slide25.xml"/><Relationship Id="rId35" Type="http://schemas.openxmlformats.org/officeDocument/2006/relationships/slide" Target="slides/slide24.xml"/><Relationship Id="rId34" Type="http://schemas.openxmlformats.org/officeDocument/2006/relationships/slide" Target="slides/slide23.xml"/><Relationship Id="rId33" Type="http://schemas.openxmlformats.org/officeDocument/2006/relationships/slide" Target="slides/slide22.xml"/><Relationship Id="rId32" Type="http://schemas.openxmlformats.org/officeDocument/2006/relationships/slide" Target="slides/slide21.xml"/><Relationship Id="rId31" Type="http://schemas.openxmlformats.org/officeDocument/2006/relationships/slide" Target="slides/slide20.xml"/><Relationship Id="rId30" Type="http://schemas.openxmlformats.org/officeDocument/2006/relationships/slide" Target="slides/slide19.xml"/><Relationship Id="rId3" Type="http://schemas.openxmlformats.org/officeDocument/2006/relationships/slideMaster" Target="slideMasters/slideMaster2.xml"/><Relationship Id="rId29" Type="http://schemas.openxmlformats.org/officeDocument/2006/relationships/slide" Target="slides/slide18.xml"/><Relationship Id="rId28" Type="http://schemas.openxmlformats.org/officeDocument/2006/relationships/slide" Target="slides/slide17.xml"/><Relationship Id="rId27" Type="http://schemas.openxmlformats.org/officeDocument/2006/relationships/slide" Target="slides/slide16.xml"/><Relationship Id="rId26" Type="http://schemas.openxmlformats.org/officeDocument/2006/relationships/slide" Target="slides/slide15.xml"/><Relationship Id="rId25" Type="http://schemas.openxmlformats.org/officeDocument/2006/relationships/slide" Target="slides/slide14.xml"/><Relationship Id="rId24" Type="http://schemas.openxmlformats.org/officeDocument/2006/relationships/slide" Target="slides/slide13.xml"/><Relationship Id="rId23" Type="http://schemas.openxmlformats.org/officeDocument/2006/relationships/slide" Target="slides/slide12.xml"/><Relationship Id="rId22" Type="http://schemas.openxmlformats.org/officeDocument/2006/relationships/slide" Target="slides/slide11.xml"/><Relationship Id="rId21" Type="http://schemas.openxmlformats.org/officeDocument/2006/relationships/slide" Target="slides/slide10.xml"/><Relationship Id="rId20" Type="http://schemas.openxmlformats.org/officeDocument/2006/relationships/slide" Target="slides/slide9.xml"/><Relationship Id="rId2" Type="http://schemas.openxmlformats.org/officeDocument/2006/relationships/theme" Target="theme/theme1.xml"/><Relationship Id="rId19" Type="http://schemas.openxmlformats.org/officeDocument/2006/relationships/slide" Target="slides/slide8.xml"/><Relationship Id="rId18" Type="http://schemas.openxmlformats.org/officeDocument/2006/relationships/slide" Target="slides/slide7.xml"/><Relationship Id="rId17" Type="http://schemas.openxmlformats.org/officeDocument/2006/relationships/slide" Target="slides/slide6.xml"/><Relationship Id="rId16" Type="http://schemas.openxmlformats.org/officeDocument/2006/relationships/slide" Target="slides/slide5.xml"/><Relationship Id="rId15" Type="http://schemas.openxmlformats.org/officeDocument/2006/relationships/slide" Target="slides/slide4.xml"/><Relationship Id="rId14" Type="http://schemas.openxmlformats.org/officeDocument/2006/relationships/notesMaster" Target="notesMasters/notesMaster1.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3-03T12:21:31.598" idx="1">
    <p:pos x="10" y="10"/>
    <p:text/>
  </p:cm>
</p:cmLst>
</file>

<file path=ppt/drawings/_rels/vmlDrawing1.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42"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3"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12ACFD-FA1B-4A18-A8D3-BD7EA4F8FC70}"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4" name="幻灯片图像占位符 3"/>
          <p:cNvSpPr>
            <a:spLocks noGrp="1"/>
          </p:cNvSpPr>
          <p:nvPr>
            <p:ph type="sldImg" idx="2"/>
          </p:nvPr>
        </p:nvSpPr>
        <p:spPr>
          <a:xfrm>
            <a:off x="381000" y="685800"/>
            <a:ext cx="6096000" cy="3429000"/>
          </a:xfrm>
          <a:prstGeom prst="rect">
            <a:avLst/>
          </a:prstGeom>
          <a:noFill/>
          <a:ln w="12700">
            <a:noFill/>
          </a:ln>
        </p:spPr>
      </p:sp>
      <p:sp>
        <p:nvSpPr>
          <p:cNvPr id="10245"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10246"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7"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632E03-02E8-461A-A8E1-C94E1FF1D59B}"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4338"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
        <p:nvSpPr>
          <p:cNvPr id="14339" name="Rectangle 2"/>
          <p:cNvSpPr>
            <a:spLocks noTextEdit="1"/>
          </p:cNvSpPr>
          <p:nvPr>
            <p:ph type="sldImg"/>
          </p:nvPr>
        </p:nvSpPr>
        <p:spPr>
          <a:ln>
            <a:solidFill>
              <a:srgbClr val="000000">
                <a:alpha val="100000"/>
              </a:srgbClr>
            </a:solidFill>
            <a:miter lim="800000"/>
          </a:ln>
        </p:spPr>
      </p:sp>
      <p:sp>
        <p:nvSpPr>
          <p:cNvPr id="14340" name="Rectangle 3"/>
          <p:cNvSpPr>
            <a:spLocks noGrp="1"/>
          </p:cNvSpPr>
          <p:nvPr>
            <p:ph type="body"/>
          </p:nvPr>
        </p:nvSpPr>
        <p:spPr>
          <a:ln w="12700"/>
        </p:spPr>
        <p:txBody>
          <a:bodyPr wrap="square" lIns="91440" tIns="45720" rIns="91440" bIns="45720" anchor="t"/>
          <a:p>
            <a:pPr lvl="0" eaLnBrk="1" hangingPunct="1">
              <a:spcBef>
                <a:spcPct val="0"/>
              </a:spcBef>
            </a:pPr>
            <a:r>
              <a:rPr lang="zh-CN" altLang="en-US" dirty="0"/>
              <a:t>布尔（</a:t>
            </a:r>
            <a:r>
              <a:rPr lang="en-US" altLang="zh-CN" dirty="0"/>
              <a:t>George Boole</a:t>
            </a:r>
            <a:r>
              <a:rPr lang="zh-CN" altLang="en-US" dirty="0"/>
              <a:t>）认为人的思维不是随意的，而是按一定规则进行的，这一规则被称为计算（</a:t>
            </a:r>
            <a:r>
              <a:rPr lang="en-US" altLang="zh-CN" dirty="0"/>
              <a:t>computation</a:t>
            </a:r>
            <a:r>
              <a:rPr lang="zh-CN" altLang="en-US" dirty="0"/>
              <a:t>）。他的基本目的是描述人脑的逻辑思维的规律，</a:t>
            </a:r>
            <a:r>
              <a:rPr lang="en-US" altLang="zh-CN" dirty="0"/>
              <a:t>1854</a:t>
            </a:r>
            <a:r>
              <a:rPr lang="zh-CN" altLang="en-US" dirty="0"/>
              <a:t>年布尔发表了一篇论文</a:t>
            </a:r>
            <a:r>
              <a:rPr lang="en-US" altLang="zh-CN" dirty="0"/>
              <a:t>《</a:t>
            </a:r>
            <a:r>
              <a:rPr lang="zh-CN" altLang="en-US" dirty="0"/>
              <a:t>思维规律的研究</a:t>
            </a:r>
            <a:r>
              <a:rPr lang="en-US" altLang="zh-CN" dirty="0"/>
              <a:t>》</a:t>
            </a:r>
            <a:r>
              <a:rPr lang="zh-CN" altLang="en-US" dirty="0"/>
              <a:t>（</a:t>
            </a:r>
            <a:r>
              <a:rPr lang="en-US" altLang="zh-CN" dirty="0"/>
              <a:t>A investigation of the law of thought</a:t>
            </a:r>
            <a:r>
              <a:rPr lang="zh-CN" altLang="en-US" dirty="0"/>
              <a:t>），建立了计算机中的逻辑计算数学。他在该文中说：“本论文的目的是研究推理过程中，研究控制大脑各种操作的基本规律，用计算的符号语言去表示它们，去建立它们。在这些基础上，逻辑科学建立起描述其特性的方法</a:t>
            </a:r>
            <a:r>
              <a:rPr lang="en-US" altLang="zh-CN" dirty="0"/>
              <a:t>……</a:t>
            </a:r>
            <a:r>
              <a:rPr lang="zh-CN" altLang="en-US" dirty="0"/>
              <a:t>以揭示可能的征兆，并把它看为人脑的本质和组织结构。”他用代数型的运算方法建立了人思维的演绎过程。这是逻辑学的一个转折点，他给逻辑建立了形式，并认为按照这一共同的推理方法，其结论就是正确的。它与推理内容无关，也不因各人解释而异，这种方法符合西方科学要求的“客观性”。这样他把逻辑真理的判断从内容含义转变到形式符号和连接符、转变到关系运算和抽象法则，使逻辑句法重于语义，从而创立了形式逻辑的发展方向。他认为，他的逻辑学“完全对应”人思维时所使用的逻辑。他的长远目的是从逻辑和概率这些数学理论中找到思维规律，并确定人的思维规律。他的理论为计算机的发展起了重要作用。然而现在人们普遍明白了人脑思维过程远比这几种逻辑复杂得多。</a:t>
            </a:r>
            <a:r>
              <a:rPr lang="zh-CN" altLang="en-US" i="1" dirty="0">
                <a:solidFill>
                  <a:schemeClr val="tx1"/>
                </a:solidFill>
                <a:uFillTx/>
              </a:rPr>
              <a:t>人脑逻辑思维过程包括这些逻辑元素，但是人脑还包括许多非逻辑的思维过程，例如探索尝试性思维，临场发挥的想法，人脑的遗忘，思维的跳跃，因人而异的触景生情，思维出错后的修正，情绪对思维的支配，等等。不能把全部思维过程仅仅简化成这几种逻辑运算。 </a:t>
            </a:r>
            <a:endParaRPr lang="zh-CN" altLang="en-US" i="1" dirty="0">
              <a:solidFill>
                <a:schemeClr val="tx1"/>
              </a:solidFill>
              <a:uFillTx/>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6386"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
        <p:nvSpPr>
          <p:cNvPr id="16387" name="Rectangle 2"/>
          <p:cNvSpPr>
            <a:spLocks noTextEdit="1"/>
          </p:cNvSpPr>
          <p:nvPr>
            <p:ph type="sldImg"/>
          </p:nvPr>
        </p:nvSpPr>
        <p:spPr>
          <a:solidFill>
            <a:srgbClr val="FFFFFF">
              <a:alpha val="100000"/>
            </a:srgbClr>
          </a:solidFill>
          <a:ln>
            <a:solidFill>
              <a:srgbClr val="000000">
                <a:alpha val="100000"/>
              </a:srgbClr>
            </a:solidFill>
            <a:miter lim="800000"/>
          </a:ln>
        </p:spPr>
      </p:sp>
      <p:sp>
        <p:nvSpPr>
          <p:cNvPr id="16388" name="Rectangle 3"/>
          <p:cNvSpPr/>
          <p:nvPr>
            <p:ph type="body"/>
          </p:nvPr>
        </p:nvSpPr>
        <p:spPr>
          <a:solidFill>
            <a:srgbClr val="FFFFFF">
              <a:alpha val="100000"/>
            </a:srgbClr>
          </a:solidFill>
          <a:ln w="12700">
            <a:solidFill>
              <a:srgbClr val="000000">
                <a:alpha val="100000"/>
              </a:srgbClr>
            </a:solidFill>
            <a:miter lim="800000"/>
          </a:ln>
        </p:spPr>
        <p:txBody>
          <a:bodyPr wrap="square" lIns="91440" tIns="45720" rIns="91440" bIns="45720" anchor="t"/>
          <a:p>
            <a:pPr lvl="0" eaLnBrk="1" hangingPunct="1">
              <a:spcBef>
                <a:spcPct val="0"/>
              </a:spcBef>
            </a:pPr>
            <a:r>
              <a:rPr lang="zh-CN" altLang="en-US" dirty="0"/>
              <a:t>布尔（</a:t>
            </a:r>
            <a:r>
              <a:rPr lang="en-US" altLang="zh-CN" dirty="0"/>
              <a:t>George Boole</a:t>
            </a:r>
            <a:r>
              <a:rPr lang="zh-CN" altLang="en-US" dirty="0"/>
              <a:t>）认为人的思维不是随意的，而是按一定规则进行的，这一规则被称为计算（</a:t>
            </a:r>
            <a:r>
              <a:rPr lang="en-US" altLang="zh-CN" dirty="0"/>
              <a:t>computation</a:t>
            </a:r>
            <a:r>
              <a:rPr lang="zh-CN" altLang="en-US" dirty="0"/>
              <a:t>）。他的基本目的是描述人脑的逻辑思维的规律，</a:t>
            </a:r>
            <a:r>
              <a:rPr lang="en-US" altLang="zh-CN" dirty="0"/>
              <a:t>1854</a:t>
            </a:r>
            <a:r>
              <a:rPr lang="zh-CN" altLang="en-US" dirty="0"/>
              <a:t>年布尔发表了一篇论文</a:t>
            </a:r>
            <a:r>
              <a:rPr lang="en-US" altLang="zh-CN" dirty="0"/>
              <a:t>《</a:t>
            </a:r>
            <a:r>
              <a:rPr lang="zh-CN" altLang="en-US" dirty="0"/>
              <a:t>思维规律的研究</a:t>
            </a:r>
            <a:r>
              <a:rPr lang="en-US" altLang="zh-CN" dirty="0"/>
              <a:t>》</a:t>
            </a:r>
            <a:r>
              <a:rPr lang="zh-CN" altLang="en-US" dirty="0"/>
              <a:t>（</a:t>
            </a:r>
            <a:r>
              <a:rPr lang="en-US" altLang="zh-CN" dirty="0"/>
              <a:t>A investigation of the law of thought</a:t>
            </a:r>
            <a:r>
              <a:rPr lang="zh-CN" altLang="en-US" dirty="0"/>
              <a:t>），建立了计算机中使用的逻辑计算数学。他在该文中说：“本论文的目的是研究推理过程中，控制大脑各种操作的基本规律，用计算的符号语言去表示它们，去建立它们。在这些基础上，逻辑科学建立起描述其特性的方法</a:t>
            </a:r>
            <a:r>
              <a:rPr lang="en-US" altLang="zh-CN" dirty="0"/>
              <a:t>……</a:t>
            </a:r>
            <a:r>
              <a:rPr lang="zh-CN" altLang="en-US" dirty="0"/>
              <a:t>以揭示可能的征兆，并把它看为人脑的本质和组织结构。”他用代数型的运算方法建立了人思维的演绎过程。这是逻辑学的一个转折点，他给逻辑建立了形式，并认为按照这一共同的推理方法，其结论就是正确的。它与推理内容无关，也不因各人解释而异，这种方法符合西方科学要求的“客观性”。这样他把逻辑真理的判断从内容含义转变到形式符号和连接符、转变到关系运算和抽象法则，使逻辑句法重于语义，从而创立了形式逻辑的发展方向。他认为，他的逻辑学“完全对应”人思维时所使用的逻辑。他的长远目的是从</a:t>
            </a:r>
            <a:r>
              <a:rPr lang="zh-CN" altLang="en-US" u="sng" dirty="0"/>
              <a:t>逻辑和概率这些数学理论中找到思维规律，并确定人的思维规律</a:t>
            </a:r>
            <a:r>
              <a:rPr lang="zh-CN" altLang="en-US" dirty="0"/>
              <a:t>。</a:t>
            </a:r>
            <a:r>
              <a:rPr lang="zh-CN" altLang="en-US" u="sng" dirty="0">
                <a:solidFill>
                  <a:srgbClr val="FF0000"/>
                </a:solidFill>
              </a:rPr>
              <a:t>他的理论为计算机的发展起了重要作用</a:t>
            </a:r>
            <a:r>
              <a:rPr lang="zh-CN" altLang="en-US" dirty="0"/>
              <a:t>。然而当今人们普遍明白了人脑思维过程远比这几种逻辑运算复杂得多。人脑逻辑思维过程包括这些逻辑元素，但是人脑还包括许多非逻辑的思维过程，例如探索尝试性思维，临场发挥的想法，人脑的遗忘，思维的跳跃，因人而异的触景生情，思维出错后的修正，情绪对思维的支配，等等。不能把全部思维过程仅仅简化成这几种逻辑运算。 </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smtClean="0">
                <a:ln>
                  <a:noFill/>
                </a:ln>
                <a:effectLst/>
                <a:latin typeface="华文新魏" panose="02010800040101010101" pitchFamily="2" charset="-122"/>
                <a:ea typeface="华文新魏" panose="02010800040101010101" pitchFamily="2" charset="-122"/>
                <a:sym typeface="+mn-ea"/>
              </a:rPr>
              <a:t>今天很多</a:t>
            </a:r>
            <a:r>
              <a:rPr lang="en-US" altLang="zh-CN" b="1" smtClean="0">
                <a:ln>
                  <a:noFill/>
                </a:ln>
                <a:effectLst/>
                <a:latin typeface="华文新魏" panose="02010800040101010101" pitchFamily="2" charset="-122"/>
                <a:ea typeface="华文新魏" panose="02010800040101010101" pitchFamily="2" charset="-122"/>
                <a:sym typeface="+mn-ea"/>
              </a:rPr>
              <a:t>CMOS</a:t>
            </a:r>
            <a:r>
              <a:rPr lang="zh-CN" altLang="en-US" b="1" smtClean="0">
                <a:ln>
                  <a:noFill/>
                </a:ln>
                <a:effectLst/>
                <a:latin typeface="华文新魏" panose="02010800040101010101" pitchFamily="2" charset="-122"/>
                <a:ea typeface="华文新魏" panose="02010800040101010101" pitchFamily="2" charset="-122"/>
                <a:sym typeface="+mn-ea"/>
              </a:rPr>
              <a:t>电路工作电压远低于</a:t>
            </a:r>
            <a:r>
              <a:rPr lang="en-US" altLang="zh-CN" b="1" smtClean="0">
                <a:ln>
                  <a:noFill/>
                </a:ln>
                <a:effectLst/>
                <a:latin typeface="华文新魏" panose="02010800040101010101" pitchFamily="2" charset="-122"/>
                <a:ea typeface="华文新魏" panose="02010800040101010101" pitchFamily="2" charset="-122"/>
                <a:sym typeface="+mn-ea"/>
              </a:rPr>
              <a:t>5V</a:t>
            </a:r>
            <a:r>
              <a:rPr lang="zh-CN" altLang="en-US" b="1" smtClean="0">
                <a:ln>
                  <a:noFill/>
                </a:ln>
                <a:effectLst/>
                <a:latin typeface="华文新魏" panose="02010800040101010101" pitchFamily="2" charset="-122"/>
                <a:ea typeface="华文新魏" panose="02010800040101010101" pitchFamily="2" charset="-122"/>
                <a:sym typeface="+mn-ea"/>
              </a:rPr>
              <a:t>。</a:t>
            </a:r>
            <a:endParaRPr lang="zh-CN" altLang="en-US" b="1" smtClean="0">
              <a:ln>
                <a:noFill/>
              </a:ln>
              <a:effectLst/>
              <a:latin typeface="华文新魏" panose="02010800040101010101" pitchFamily="2" charset="-122"/>
              <a:ea typeface="华文新魏" panose="02010800040101010101" pitchFamily="2" charset="-122"/>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逻辑电路图！</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a:ln w="12700"/>
        </p:spPr>
        <p:txBody>
          <a:bodyPr wrap="square" lIns="91440" tIns="45720" rIns="91440" bIns="45720" anchor="ctr"/>
          <a:p>
            <a:pPr lvl="0"/>
            <a:endParaRPr lang="zh-CN" altLang="en-US" dirty="0"/>
          </a:p>
        </p:txBody>
      </p:sp>
      <p:sp>
        <p:nvSpPr>
          <p:cNvPr id="27652"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p:sp>
      <p:sp>
        <p:nvSpPr>
          <p:cNvPr id="72707" name="备注占位符 2"/>
          <p:cNvSpPr>
            <a:spLocks noGrp="1"/>
          </p:cNvSpPr>
          <p:nvPr>
            <p:ph type="body" idx="1"/>
          </p:nvPr>
        </p:nvSpPr>
        <p:spPr>
          <a:ln w="12700"/>
        </p:spPr>
        <p:txBody>
          <a:bodyPr wrap="square" lIns="91440" tIns="45720" rIns="91440" bIns="45720" anchor="ctr"/>
          <a:p>
            <a:pPr lvl="0"/>
            <a:endParaRPr lang="zh-CN" altLang="en-US" dirty="0"/>
          </a:p>
        </p:txBody>
      </p:sp>
      <p:sp>
        <p:nvSpPr>
          <p:cNvPr id="72708"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严格说这是三个不同的概念。</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olidFill>
                  <a:srgbClr val="0000FF"/>
                </a:solidFill>
                <a:latin typeface="黑体" panose="02010609060101010101" pitchFamily="49" charset="-122"/>
                <a:ea typeface="黑体" panose="02010609060101010101" pitchFamily="49" charset="-122"/>
                <a:sym typeface="+mn-ea"/>
              </a:rPr>
              <a:t>1</a:t>
            </a:r>
            <a:r>
              <a:rPr lang="zh-CN" altLang="en-US" dirty="0">
                <a:solidFill>
                  <a:srgbClr val="0000FF"/>
                </a:solidFill>
                <a:latin typeface="黑体" panose="02010609060101010101" pitchFamily="49" charset="-122"/>
                <a:ea typeface="黑体" panose="02010609060101010101" pitchFamily="49" charset="-122"/>
                <a:sym typeface="+mn-ea"/>
              </a:rPr>
              <a:t>位</a:t>
            </a:r>
            <a:r>
              <a:rPr lang="en-US" altLang="zh-CN" u="sng" dirty="0">
                <a:solidFill>
                  <a:srgbClr val="0000FF"/>
                </a:solidFill>
                <a:latin typeface="黑体" panose="02010609060101010101" pitchFamily="49" charset="-122"/>
                <a:ea typeface="黑体" panose="02010609060101010101" pitchFamily="49" charset="-122"/>
                <a:sym typeface="+mn-ea"/>
              </a:rPr>
              <a:t>2421</a:t>
            </a:r>
            <a:r>
              <a:rPr lang="zh-CN" altLang="en-US" u="sng" dirty="0">
                <a:solidFill>
                  <a:srgbClr val="0000FF"/>
                </a:solidFill>
                <a:latin typeface="黑体" panose="02010609060101010101" pitchFamily="49" charset="-122"/>
                <a:ea typeface="黑体" panose="02010609060101010101" pitchFamily="49" charset="-122"/>
                <a:sym typeface="+mn-ea"/>
              </a:rPr>
              <a:t>码或余三码输入质数</a:t>
            </a:r>
            <a:r>
              <a:rPr lang="zh-CN" altLang="en-US" dirty="0">
                <a:latin typeface="黑体" panose="02010609060101010101" pitchFamily="49" charset="-122"/>
                <a:ea typeface="黑体" panose="02010609060101010101" pitchFamily="49" charset="-122"/>
                <a:sym typeface="+mn-ea"/>
              </a:rPr>
              <a:t>检测器？</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4" Type="http://schemas.openxmlformats.org/officeDocument/2006/relationships/theme" Target="../theme/theme9.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409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512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614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717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819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921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3"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222" name="Rectangle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Rectangle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4" name="Rectangle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advTm="20000"/>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5.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95.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95.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vmlDrawing" Target="../drawings/vmlDrawing1.vml"/><Relationship Id="rId6" Type="http://schemas.openxmlformats.org/officeDocument/2006/relationships/slideLayout" Target="../slideLayouts/slideLayout95.xml"/><Relationship Id="rId5" Type="http://schemas.openxmlformats.org/officeDocument/2006/relationships/image" Target="../media/image9.png"/><Relationship Id="rId4" Type="http://schemas.openxmlformats.org/officeDocument/2006/relationships/oleObject" Target="../embeddings/oleObject2.bin"/><Relationship Id="rId3" Type="http://schemas.openxmlformats.org/officeDocument/2006/relationships/image" Target="../media/image8.png"/><Relationship Id="rId2" Type="http://schemas.openxmlformats.org/officeDocument/2006/relationships/oleObject" Target="../embeddings/oleObject1.bin"/><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5.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5.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6.png"/><Relationship Id="rId7" Type="http://schemas.openxmlformats.org/officeDocument/2006/relationships/oleObject" Target="../embeddings/oleObject4.bin"/><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oleObject" Target="../embeddings/oleObject3.bin"/><Relationship Id="rId12" Type="http://schemas.openxmlformats.org/officeDocument/2006/relationships/vmlDrawing" Target="../drawings/vmlDrawing2.vml"/><Relationship Id="rId11" Type="http://schemas.openxmlformats.org/officeDocument/2006/relationships/slideLayout" Target="../slideLayouts/slideLayout95.xml"/><Relationship Id="rId10" Type="http://schemas.openxmlformats.org/officeDocument/2006/relationships/image" Target="../media/image17.png"/><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95.xml"/><Relationship Id="rId4" Type="http://schemas.openxmlformats.org/officeDocument/2006/relationships/image" Target="../media/image22.jpe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95.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95.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95.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tags" Target="../tags/tag5.xml"/><Relationship Id="rId2" Type="http://schemas.openxmlformats.org/officeDocument/2006/relationships/image" Target="../media/image29.png"/><Relationship Id="rId1" Type="http://schemas.openxmlformats.org/officeDocument/2006/relationships/tags" Target="../tags/tag4.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95.xml"/><Relationship Id="rId2" Type="http://schemas.openxmlformats.org/officeDocument/2006/relationships/image" Target="../media/image33.png"/><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95.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tags" Target="../tags/tag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5.xml"/><Relationship Id="rId1"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5.xml"/><Relationship Id="rId1" Type="http://schemas.openxmlformats.org/officeDocument/2006/relationships/image" Target="../media/image3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5.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44.png"/><Relationship Id="rId1" Type="http://schemas.openxmlformats.org/officeDocument/2006/relationships/tags" Target="../tags/tag8.xml"/></Relationships>
</file>

<file path=ppt/slides/_rels/slide59.xml.rels><?xml version="1.0" encoding="UTF-8" standalone="yes"?>
<Relationships xmlns="http://schemas.openxmlformats.org/package/2006/relationships"><Relationship Id="rId4" Type="http://schemas.openxmlformats.org/officeDocument/2006/relationships/comments" Target="../comments/comment1.xml"/><Relationship Id="rId3" Type="http://schemas.openxmlformats.org/officeDocument/2006/relationships/slideLayout" Target="../slideLayouts/slideLayout95.xml"/><Relationship Id="rId2" Type="http://schemas.openxmlformats.org/officeDocument/2006/relationships/image" Target="../media/image46.png"/><Relationship Id="rId1" Type="http://schemas.openxmlformats.org/officeDocument/2006/relationships/image" Target="../media/image4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0.png"/><Relationship Id="rId1" Type="http://schemas.openxmlformats.org/officeDocument/2006/relationships/image" Target="../media/image49.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2.png"/><Relationship Id="rId1" Type="http://schemas.openxmlformats.org/officeDocument/2006/relationships/image" Target="../media/image51.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5.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4.png"/><Relationship Id="rId1" Type="http://schemas.openxmlformats.org/officeDocument/2006/relationships/image" Target="../media/image53.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5.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6.png"/><Relationship Id="rId1" Type="http://schemas.openxmlformats.org/officeDocument/2006/relationships/image" Target="../media/image55.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7.png"/><Relationship Id="rId1" Type="http://schemas.openxmlformats.org/officeDocument/2006/relationships/tags" Target="../tags/tag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58.png"/></Relationships>
</file>

<file path=ppt/slides/_rels/slide82.xml.rels><?xml version="1.0" encoding="UTF-8" standalone="yes"?>
<Relationships xmlns="http://schemas.openxmlformats.org/package/2006/relationships"><Relationship Id="rId6" Type="http://schemas.openxmlformats.org/officeDocument/2006/relationships/slideLayout" Target="../slideLayouts/slideLayout95.xml"/><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日期占位符 2"/>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1267" name="灯片编号占位符 4"/>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sp>
        <p:nvSpPr>
          <p:cNvPr id="11268" name="矩形 3"/>
          <p:cNvSpPr/>
          <p:nvPr/>
        </p:nvSpPr>
        <p:spPr>
          <a:xfrm>
            <a:off x="0" y="1708150"/>
            <a:ext cx="9156700" cy="1643063"/>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1269" name="标题 1"/>
          <p:cNvSpPr>
            <a:spLocks noGrp="1"/>
          </p:cNvSpPr>
          <p:nvPr>
            <p:ph type="title"/>
          </p:nvPr>
        </p:nvSpPr>
        <p:spPr>
          <a:xfrm>
            <a:off x="2566988" y="2020888"/>
            <a:ext cx="3852862" cy="97155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1270" name="文本框 2"/>
          <p:cNvSpPr txBox="1"/>
          <p:nvPr/>
        </p:nvSpPr>
        <p:spPr>
          <a:xfrm>
            <a:off x="3703638" y="2646363"/>
            <a:ext cx="1073150" cy="398462"/>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11271" name="矩形 8"/>
          <p:cNvSpPr/>
          <p:nvPr/>
        </p:nvSpPr>
        <p:spPr>
          <a:xfrm>
            <a:off x="0" y="-19050"/>
            <a:ext cx="9166225" cy="5164138"/>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1272" name="矩形 9"/>
          <p:cNvSpPr/>
          <p:nvPr/>
        </p:nvSpPr>
        <p:spPr>
          <a:xfrm>
            <a:off x="0" y="1563688"/>
            <a:ext cx="9169400" cy="1646237"/>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1273" name="标题 1"/>
          <p:cNvSpPr/>
          <p:nvPr/>
        </p:nvSpPr>
        <p:spPr>
          <a:xfrm>
            <a:off x="2486025" y="1711325"/>
            <a:ext cx="6916738" cy="1190625"/>
          </a:xfrm>
          <a:prstGeom prst="rect">
            <a:avLst/>
          </a:prstGeom>
          <a:noFill/>
          <a:ln w="9525">
            <a:noFill/>
          </a:ln>
        </p:spPr>
        <p:txBody>
          <a:bodyPr anchor="ctr"/>
          <a:p>
            <a:pPr eaLnBrk="1" hangingPunct="1">
              <a:lnSpc>
                <a:spcPct val="90000"/>
              </a:lnSpc>
              <a:buFont typeface="Arial" panose="020B0604020202020204" pitchFamily="34" charset="0"/>
            </a:pPr>
            <a:r>
              <a:rPr lang="zh-CN" altLang="en-US" sz="4400" dirty="0">
                <a:solidFill>
                  <a:schemeClr val="tx1"/>
                </a:solidFill>
                <a:latin typeface="方正综艺简体" charset="-122"/>
                <a:ea typeface="方正综艺简体" charset="-122"/>
              </a:rPr>
              <a:t>数 字 逻 辑 电 路</a:t>
            </a:r>
            <a:endParaRPr lang="zh-CN" altLang="en-US" sz="4400" dirty="0">
              <a:solidFill>
                <a:schemeClr val="tx1"/>
              </a:solidFill>
              <a:latin typeface="方正综艺简体" charset="-122"/>
              <a:ea typeface="方正综艺简体" charset="-122"/>
            </a:endParaRPr>
          </a:p>
        </p:txBody>
      </p:sp>
      <p:sp>
        <p:nvSpPr>
          <p:cNvPr id="11274" name="文本框 11"/>
          <p:cNvSpPr txBox="1"/>
          <p:nvPr/>
        </p:nvSpPr>
        <p:spPr>
          <a:xfrm>
            <a:off x="4165600" y="2692400"/>
            <a:ext cx="1428750" cy="396875"/>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伍卫国</a:t>
            </a:r>
            <a:endParaRPr lang="zh-CN" altLang="en-US" dirty="0">
              <a:solidFill>
                <a:schemeClr val="tx1"/>
              </a:solidFill>
              <a:latin typeface="方正综艺简体" charset="-122"/>
              <a:ea typeface="方正综艺简体" charset="-122"/>
            </a:endParaRPr>
          </a:p>
        </p:txBody>
      </p:sp>
      <p:grpSp>
        <p:nvGrpSpPr>
          <p:cNvPr id="11275" name="组合 12"/>
          <p:cNvGrpSpPr/>
          <p:nvPr/>
        </p:nvGrpSpPr>
        <p:grpSpPr>
          <a:xfrm>
            <a:off x="466725" y="268288"/>
            <a:ext cx="2322513" cy="696912"/>
            <a:chOff x="0" y="0"/>
            <a:chExt cx="5804" cy="1740"/>
          </a:xfrm>
        </p:grpSpPr>
        <p:pic>
          <p:nvPicPr>
            <p:cNvPr id="11276" name="图片 13" descr="交大矢量logo"/>
            <p:cNvPicPr>
              <a:picLocks noChangeAspect="1"/>
            </p:cNvPicPr>
            <p:nvPr/>
          </p:nvPicPr>
          <p:blipFill>
            <a:blip r:embed="rId1"/>
            <a:srcRect l="-1437" t="-9560" r="41219" b="-10179"/>
            <a:stretch>
              <a:fillRect/>
            </a:stretch>
          </p:blipFill>
          <p:spPr>
            <a:xfrm>
              <a:off x="0" y="0"/>
              <a:ext cx="5616" cy="1741"/>
            </a:xfrm>
            <a:prstGeom prst="rect">
              <a:avLst/>
            </a:prstGeom>
            <a:noFill/>
            <a:ln w="9525">
              <a:noFill/>
            </a:ln>
          </p:spPr>
        </p:pic>
        <p:sp>
          <p:nvSpPr>
            <p:cNvPr id="11277" name="矩形 14"/>
            <p:cNvSpPr/>
            <p:nvPr/>
          </p:nvSpPr>
          <p:spPr>
            <a:xfrm>
              <a:off x="5463" y="1161"/>
              <a:ext cx="341" cy="337"/>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229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2292" name="Rectangle 2"/>
          <p:cNvSpPr>
            <a:spLocks noGrp="1"/>
          </p:cNvSpPr>
          <p:nvPr>
            <p:ph type="title"/>
          </p:nvPr>
        </p:nvSpPr>
        <p:spPr>
          <a:xfrm>
            <a:off x="484188" y="599758"/>
            <a:ext cx="3960812" cy="522287"/>
          </a:xfrm>
          <a:prstGeom prst="rect">
            <a:avLst/>
          </a:prstGeom>
          <a:noFill/>
          <a:ln w="9525">
            <a:noFill/>
          </a:ln>
        </p:spPr>
        <p:txBody>
          <a:bodyPr/>
          <a:p>
            <a:pPr eaLnBrk="1" hangingPunct="1"/>
            <a:r>
              <a:rPr lang="en-US" altLang="zh-CN" sz="2400" b="1" dirty="0">
                <a:latin typeface="黑体" panose="02010609060101010101" pitchFamily="49" charset="-122"/>
                <a:ea typeface="黑体" panose="02010609060101010101" pitchFamily="49" charset="-122"/>
              </a:rPr>
              <a:t>1.3</a:t>
            </a:r>
            <a:r>
              <a:rPr lang="zh-CN" altLang="en-US" sz="2400" b="1" dirty="0">
                <a:latin typeface="黑体" panose="02010609060101010101" pitchFamily="49" charset="-122"/>
                <a:ea typeface="黑体" panose="02010609060101010101" pitchFamily="49" charset="-122"/>
              </a:rPr>
              <a:t> 逻辑代数基础</a:t>
            </a:r>
            <a:endParaRPr lang="zh-CN" altLang="en-US" sz="2400" b="1" dirty="0">
              <a:latin typeface="黑体" panose="02010609060101010101" pitchFamily="49" charset="-122"/>
              <a:ea typeface="黑体" panose="02010609060101010101" pitchFamily="49" charset="-122"/>
            </a:endParaRPr>
          </a:p>
        </p:txBody>
      </p:sp>
      <p:sp>
        <p:nvSpPr>
          <p:cNvPr id="12293" name="Rectangle 3"/>
          <p:cNvSpPr>
            <a:spLocks noGrp="1"/>
          </p:cNvSpPr>
          <p:nvPr>
            <p:ph/>
          </p:nvPr>
        </p:nvSpPr>
        <p:spPr>
          <a:xfrm>
            <a:off x="500063" y="1203325"/>
            <a:ext cx="8247062" cy="3405188"/>
          </a:xfrm>
          <a:prstGeom prst="rect">
            <a:avLst/>
          </a:prstGeom>
          <a:noFill/>
          <a:ln w="9525">
            <a:noFill/>
          </a:ln>
        </p:spPr>
        <p:txBody>
          <a:bodyPr/>
          <a:p>
            <a:pPr eaLnBrk="1" hangingPunct="1">
              <a:buNone/>
            </a:pPr>
            <a:r>
              <a:rPr lang="en-US" altLang="zh-CN" sz="1600" dirty="0">
                <a:solidFill>
                  <a:srgbClr val="FF0000"/>
                </a:solidFill>
                <a:latin typeface="黑体" panose="02010609060101010101" pitchFamily="49" charset="-122"/>
                <a:ea typeface="黑体" panose="02010609060101010101" pitchFamily="49" charset="-122"/>
              </a:rPr>
              <a:t>1.3.1 </a:t>
            </a:r>
            <a:r>
              <a:rPr lang="zh-CN" altLang="en-US" sz="1600" dirty="0">
                <a:solidFill>
                  <a:srgbClr val="FF0000"/>
                </a:solidFill>
                <a:latin typeface="黑体" panose="02010609060101010101" pitchFamily="49" charset="-122"/>
                <a:ea typeface="黑体" panose="02010609060101010101" pitchFamily="49" charset="-122"/>
              </a:rPr>
              <a:t>逻辑代数中的概念</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布尔代数，逻辑代数</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逻辑变量，逻辑常量，逻辑运算，</a:t>
            </a:r>
            <a:r>
              <a:rPr lang="zh-CN" altLang="en-US" sz="1600" dirty="0">
                <a:latin typeface="黑体" panose="02010609060101010101" pitchFamily="49" charset="-122"/>
                <a:ea typeface="黑体" panose="02010609060101010101" pitchFamily="49" charset="-122"/>
                <a:sym typeface="+mn-ea"/>
              </a:rPr>
              <a:t>逻辑函数</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，逻辑状态，逻辑电平，逻辑约定，逻辑电路，</a:t>
            </a:r>
            <a:r>
              <a:rPr lang="zh-CN" altLang="en-US" sz="1600" dirty="0">
                <a:latin typeface="黑体" panose="02010609060101010101" pitchFamily="49" charset="-122"/>
                <a:ea typeface="黑体" panose="02010609060101010101" pitchFamily="49" charset="-122"/>
                <a:sym typeface="+mn-ea"/>
              </a:rPr>
              <a:t>逻辑函数各种</a:t>
            </a:r>
            <a:r>
              <a:rPr lang="zh-CN" altLang="en-US" sz="1600" dirty="0">
                <a:latin typeface="黑体" panose="02010609060101010101" pitchFamily="49" charset="-122"/>
                <a:ea typeface="黑体" panose="02010609060101010101" pitchFamily="49" charset="-122"/>
              </a:rPr>
              <a:t>表达形式</a:t>
            </a:r>
            <a:endParaRPr lang="zh-CN" altLang="en-US" sz="1600" dirty="0">
              <a:latin typeface="黑体" panose="02010609060101010101" pitchFamily="49" charset="-122"/>
              <a:ea typeface="黑体" panose="02010609060101010101" pitchFamily="49" charset="-122"/>
            </a:endParaRPr>
          </a:p>
          <a:p>
            <a:pPr eaLnBrk="1" hangingPunct="1">
              <a:buNone/>
            </a:pPr>
            <a:r>
              <a:rPr lang="en-US" altLang="zh-CN" sz="1600" dirty="0">
                <a:solidFill>
                  <a:srgbClr val="FF0000"/>
                </a:solidFill>
                <a:latin typeface="黑体" panose="02010609060101010101" pitchFamily="49" charset="-122"/>
                <a:ea typeface="黑体" panose="02010609060101010101" pitchFamily="49" charset="-122"/>
                <a:sym typeface="+mn-ea"/>
              </a:rPr>
              <a:t>1.3.2 </a:t>
            </a:r>
            <a:r>
              <a:rPr lang="zh-CN" altLang="en-US" sz="1600" dirty="0">
                <a:solidFill>
                  <a:srgbClr val="FF0000"/>
                </a:solidFill>
                <a:latin typeface="黑体" panose="02010609060101010101" pitchFamily="49" charset="-122"/>
                <a:ea typeface="黑体" panose="02010609060101010101" pitchFamily="49" charset="-122"/>
              </a:rPr>
              <a:t>逻辑代数的运算、定律、定理及规则</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逻辑代数的基本运算与复合运算</a:t>
            </a:r>
            <a:endParaRPr lang="en-US" altLang="zh-CN" sz="16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u="sng" dirty="0">
                <a:latin typeface="黑体" panose="02010609060101010101" pitchFamily="49" charset="-122"/>
                <a:ea typeface="黑体" panose="02010609060101010101" pitchFamily="49" charset="-122"/>
              </a:rPr>
              <a:t>逻辑代数的</a:t>
            </a:r>
            <a:r>
              <a:rPr lang="zh-CN" altLang="en-US" sz="1600" u="sng" dirty="0">
                <a:solidFill>
                  <a:srgbClr val="FF0000"/>
                </a:solidFill>
                <a:latin typeface="黑体" panose="02010609060101010101" pitchFamily="49" charset="-122"/>
                <a:ea typeface="黑体" panose="02010609060101010101" pitchFamily="49" charset="-122"/>
              </a:rPr>
              <a:t>定律</a:t>
            </a:r>
            <a:r>
              <a:rPr lang="zh-CN" altLang="en-US" sz="1600" u="sng" dirty="0">
                <a:latin typeface="黑体" panose="02010609060101010101" pitchFamily="49" charset="-122"/>
                <a:ea typeface="黑体" panose="02010609060101010101" pitchFamily="49" charset="-122"/>
              </a:rPr>
              <a:t>、</a:t>
            </a:r>
            <a:r>
              <a:rPr lang="zh-CN" altLang="en-US" sz="1600" u="sng" dirty="0">
                <a:solidFill>
                  <a:srgbClr val="FF0000"/>
                </a:solidFill>
                <a:latin typeface="黑体" panose="02010609060101010101" pitchFamily="49" charset="-122"/>
                <a:ea typeface="黑体" panose="02010609060101010101" pitchFamily="49" charset="-122"/>
              </a:rPr>
              <a:t>定理</a:t>
            </a:r>
            <a:r>
              <a:rPr lang="zh-CN" altLang="en-US" sz="1600" u="sng" dirty="0">
                <a:latin typeface="黑体" panose="02010609060101010101" pitchFamily="49" charset="-122"/>
                <a:ea typeface="黑体" panose="02010609060101010101" pitchFamily="49" charset="-122"/>
              </a:rPr>
              <a:t>及</a:t>
            </a:r>
            <a:r>
              <a:rPr lang="zh-CN" altLang="en-US" sz="1600" u="sng" dirty="0">
                <a:solidFill>
                  <a:srgbClr val="FF0000"/>
                </a:solidFill>
                <a:latin typeface="黑体" panose="02010609060101010101" pitchFamily="49" charset="-122"/>
                <a:ea typeface="黑体" panose="02010609060101010101" pitchFamily="49" charset="-122"/>
              </a:rPr>
              <a:t>规则</a:t>
            </a:r>
            <a:endParaRPr lang="en-US" altLang="zh-CN" sz="1600" u="sng" dirty="0">
              <a:latin typeface="黑体" panose="02010609060101010101" pitchFamily="49" charset="-122"/>
              <a:ea typeface="黑体" panose="02010609060101010101" pitchFamily="49" charset="-122"/>
            </a:endParaRPr>
          </a:p>
          <a:p>
            <a:pPr eaLnBrk="1" hangingPunct="1">
              <a:buNone/>
            </a:pPr>
            <a:r>
              <a:rPr lang="en-US" altLang="zh-CN" sz="1600" dirty="0">
                <a:solidFill>
                  <a:srgbClr val="FF0000"/>
                </a:solidFill>
                <a:latin typeface="黑体" panose="02010609060101010101" pitchFamily="49" charset="-122"/>
                <a:ea typeface="黑体" panose="02010609060101010101" pitchFamily="49" charset="-122"/>
                <a:sym typeface="+mn-ea"/>
              </a:rPr>
              <a:t>1.3.3 </a:t>
            </a:r>
            <a:r>
              <a:rPr lang="zh-CN" altLang="en-US" sz="1600" dirty="0">
                <a:solidFill>
                  <a:srgbClr val="FF0000"/>
                </a:solidFill>
                <a:latin typeface="黑体" panose="02010609060101010101" pitchFamily="49" charset="-122"/>
                <a:ea typeface="黑体" panose="02010609060101010101" pitchFamily="49" charset="-122"/>
              </a:rPr>
              <a:t>逻辑函数的表达形式</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逻辑函数的基本表达式</a:t>
            </a:r>
            <a:endParaRPr lang="en-US" altLang="zh-CN" sz="16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逻辑函数的标准形式（最小项，最大项及其关系）</a:t>
            </a:r>
            <a:endParaRPr lang="zh-CN" altLang="en-US" sz="1600" dirty="0">
              <a:latin typeface="黑体" panose="02010609060101010101" pitchFamily="49" charset="-122"/>
              <a:ea typeface="黑体" panose="02010609060101010101" pitchFamily="49" charset="-122"/>
            </a:endParaRPr>
          </a:p>
          <a:p>
            <a:pPr eaLnBrk="1" hangingPunct="1">
              <a:buNone/>
            </a:pPr>
            <a:r>
              <a:rPr lang="en-US" altLang="zh-CN" sz="1600" dirty="0">
                <a:solidFill>
                  <a:srgbClr val="FF0000"/>
                </a:solidFill>
                <a:latin typeface="黑体" panose="02010609060101010101" pitchFamily="49" charset="-122"/>
                <a:ea typeface="黑体" panose="02010609060101010101" pitchFamily="49" charset="-122"/>
                <a:sym typeface="+mn-ea"/>
              </a:rPr>
              <a:t>1.3.</a:t>
            </a:r>
            <a:r>
              <a:rPr lang="en-US" altLang="zh-CN" sz="1600" dirty="0">
                <a:solidFill>
                  <a:srgbClr val="FF0000"/>
                </a:solidFill>
                <a:latin typeface="黑体" panose="02010609060101010101" pitchFamily="49" charset="-122"/>
                <a:ea typeface="黑体" panose="02010609060101010101" pitchFamily="49" charset="-122"/>
              </a:rPr>
              <a:t>4 </a:t>
            </a:r>
            <a:r>
              <a:rPr lang="zh-CN" altLang="en-US" sz="1600" dirty="0">
                <a:solidFill>
                  <a:srgbClr val="FF0000"/>
                </a:solidFill>
                <a:latin typeface="黑体" panose="02010609060101010101" pitchFamily="49" charset="-122"/>
                <a:ea typeface="黑体" panose="02010609060101010101" pitchFamily="49" charset="-122"/>
              </a:rPr>
              <a:t>逻辑函数的化简（最简与或式、最简或与式、与非与非式）</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代数法（二次对偶法和二次求反法，</a:t>
            </a:r>
            <a:r>
              <a:rPr lang="zh-CN" altLang="en-US" sz="1600" dirty="0">
                <a:solidFill>
                  <a:srgbClr val="FF0000"/>
                </a:solidFill>
                <a:latin typeface="黑体" panose="02010609060101010101" pitchFamily="49" charset="-122"/>
                <a:ea typeface="黑体" panose="02010609060101010101" pitchFamily="49" charset="-122"/>
              </a:rPr>
              <a:t>替代尾因子法和禁止逻辑法</a:t>
            </a:r>
            <a:r>
              <a:rPr lang="zh-CN" altLang="en-US" sz="1600" dirty="0">
                <a:latin typeface="黑体" panose="02010609060101010101" pitchFamily="49" charset="-122"/>
                <a:ea typeface="黑体" panose="02010609060101010101" pitchFamily="49" charset="-122"/>
              </a:rPr>
              <a:t>）</a:t>
            </a:r>
            <a:endParaRPr lang="en-US" altLang="zh-CN" sz="16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卡诺图法（利用无关项化简、禁止逻辑法）</a:t>
            </a:r>
            <a:endParaRPr lang="en-US" altLang="zh-CN" sz="1600" dirty="0">
              <a:latin typeface="黑体" panose="02010609060101010101" pitchFamily="49" charset="-122"/>
              <a:ea typeface="黑体" panose="02010609060101010101" pitchFamily="49" charset="-122"/>
            </a:endParaRPr>
          </a:p>
        </p:txBody>
      </p:sp>
    </p:spTree>
  </p:cSld>
  <p:clrMapOvr>
    <a:masterClrMapping/>
  </p:clrMapOvr>
  <p:transition advTm="250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331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3316" name="Rectangle 3"/>
          <p:cNvSpPr>
            <a:spLocks noGrp="1"/>
          </p:cNvSpPr>
          <p:nvPr>
            <p:ph/>
          </p:nvPr>
        </p:nvSpPr>
        <p:spPr>
          <a:xfrm>
            <a:off x="467360" y="1019175"/>
            <a:ext cx="7993063" cy="3713163"/>
          </a:xfrm>
          <a:prstGeom prst="rect">
            <a:avLst/>
          </a:prstGeom>
          <a:noFill/>
          <a:ln w="9525">
            <a:noFill/>
          </a:ln>
        </p:spPr>
        <p:txBody>
          <a:bodyPr/>
          <a:p>
            <a:pPr eaLnBrk="1" hangingPunct="1">
              <a:lnSpc>
                <a:spcPct val="130000"/>
              </a:lnSpc>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布尔代数：</a:t>
            </a:r>
            <a:r>
              <a:rPr lang="zh-CN" altLang="en-US" sz="1800" dirty="0">
                <a:latin typeface="黑体" panose="02010609060101010101" pitchFamily="49" charset="-122"/>
                <a:ea typeface="黑体" panose="02010609060101010101" pitchFamily="49" charset="-122"/>
                <a:sym typeface="+mn-ea"/>
              </a:rPr>
              <a:t>一种</a:t>
            </a:r>
            <a:r>
              <a:rPr lang="zh-CN" altLang="en-US" sz="1800" dirty="0">
                <a:latin typeface="黑体" panose="02010609060101010101" pitchFamily="49" charset="-122"/>
                <a:ea typeface="黑体" panose="02010609060101010101" pitchFamily="49" charset="-122"/>
              </a:rPr>
              <a:t>用</a:t>
            </a:r>
            <a:r>
              <a:rPr lang="zh-CN" altLang="en-US" sz="1800" b="1" dirty="0">
                <a:solidFill>
                  <a:srgbClr val="0000FF"/>
                </a:solidFill>
                <a:latin typeface="黑体" panose="02010609060101010101" pitchFamily="49" charset="-122"/>
                <a:ea typeface="黑体" panose="02010609060101010101" pitchFamily="49" charset="-122"/>
              </a:rPr>
              <a:t>数学运算</a:t>
            </a:r>
            <a:r>
              <a:rPr lang="zh-CN" altLang="en-US" sz="1800" dirty="0">
                <a:latin typeface="黑体" panose="02010609060101010101" pitchFamily="49" charset="-122"/>
                <a:ea typeface="黑体" panose="02010609060101010101" pitchFamily="49" charset="-122"/>
              </a:rPr>
              <a:t>来描述</a:t>
            </a:r>
            <a:r>
              <a:rPr lang="zh-CN" altLang="en-US" sz="1800" b="1" dirty="0">
                <a:latin typeface="黑体" panose="02010609060101010101" pitchFamily="49" charset="-122"/>
                <a:ea typeface="黑体" panose="02010609060101010101" pitchFamily="49" charset="-122"/>
              </a:rPr>
              <a:t>人的</a:t>
            </a:r>
            <a:r>
              <a:rPr lang="zh-CN" altLang="en-US" sz="1800" dirty="0">
                <a:solidFill>
                  <a:srgbClr val="0000FF"/>
                </a:solidFill>
                <a:latin typeface="黑体" panose="02010609060101010101" pitchFamily="49" charset="-122"/>
                <a:ea typeface="黑体" panose="02010609060101010101" pitchFamily="49" charset="-122"/>
              </a:rPr>
              <a:t>逻辑思维规律和推理过程</a:t>
            </a:r>
            <a:r>
              <a:rPr lang="zh-CN" altLang="en-US" sz="1800" dirty="0">
                <a:latin typeface="黑体" panose="02010609060101010101" pitchFamily="49" charset="-122"/>
                <a:ea typeface="黑体" panose="02010609060101010101" pitchFamily="49" charset="-122"/>
              </a:rPr>
              <a:t>的代数系统</a:t>
            </a:r>
            <a:endParaRPr lang="en-US" altLang="zh-CN" sz="1800" dirty="0">
              <a:latin typeface="黑体" panose="02010609060101010101" pitchFamily="49" charset="-122"/>
              <a:ea typeface="黑体" panose="02010609060101010101" pitchFamily="49" charset="-122"/>
            </a:endParaRPr>
          </a:p>
          <a:p>
            <a:pPr eaLnBrk="1" hangingPunct="1">
              <a:lnSpc>
                <a:spcPct val="130000"/>
              </a:lnSpc>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逻辑代数：</a:t>
            </a:r>
            <a:r>
              <a:rPr lang="zh-CN" altLang="en-US" sz="1800" dirty="0">
                <a:latin typeface="黑体" panose="02010609060101010101" pitchFamily="49" charset="-122"/>
                <a:ea typeface="黑体" panose="02010609060101010101" pitchFamily="49" charset="-122"/>
              </a:rPr>
              <a:t>将布尔代数的基本前提和定理</a:t>
            </a:r>
            <a:r>
              <a:rPr lang="zh-CN" altLang="en-US" sz="1800" b="1" dirty="0">
                <a:latin typeface="黑体" panose="02010609060101010101" pitchFamily="49" charset="-122"/>
                <a:ea typeface="黑体" panose="02010609060101010101" pitchFamily="49" charset="-122"/>
              </a:rPr>
              <a:t>应用于继电器（开关、逻辑）电路</a:t>
            </a:r>
            <a:r>
              <a:rPr lang="zh-CN" altLang="en-US" sz="1800" dirty="0">
                <a:latin typeface="黑体" panose="02010609060101010101" pitchFamily="49" charset="-122"/>
                <a:ea typeface="黑体" panose="02010609060101010101" pitchFamily="49" charset="-122"/>
              </a:rPr>
              <a:t>的分析与描述。</a:t>
            </a:r>
            <a:r>
              <a:rPr lang="zh-CN" altLang="en-US" sz="1800" u="sng" dirty="0">
                <a:latin typeface="黑体" panose="02010609060101010101" pitchFamily="49" charset="-122"/>
                <a:ea typeface="黑体" panose="02010609060101010101" pitchFamily="49" charset="-122"/>
              </a:rPr>
              <a:t>也称开关代数，其本质就是二值布尔代数</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eaLnBrk="1" hangingPunct="1">
              <a:buNone/>
            </a:pPr>
            <a:endParaRPr lang="zh-CN" altLang="en-US" sz="1800" dirty="0">
              <a:latin typeface="黑体" panose="02010609060101010101" pitchFamily="49" charset="-122"/>
              <a:ea typeface="黑体" panose="02010609060101010101" pitchFamily="49" charset="-122"/>
            </a:endParaRPr>
          </a:p>
          <a:p>
            <a:pPr lvl="1" eaLnBrk="1" latinLnBrk="0" hangingPunct="1">
              <a:spcBef>
                <a:spcPts val="900"/>
              </a:spcBef>
              <a:spcAft>
                <a:spcPts val="600"/>
              </a:spcAft>
            </a:pPr>
            <a:r>
              <a:rPr lang="zh-CN" altLang="en-US" sz="2000" dirty="0">
                <a:latin typeface="黑体" panose="02010609060101010101" pitchFamily="49" charset="-122"/>
                <a:ea typeface="黑体" panose="02010609060101010101" pitchFamily="49" charset="-122"/>
              </a:rPr>
              <a:t>逻辑代数是二值逻辑运算中的基本数学工具。</a:t>
            </a:r>
            <a:endParaRPr lang="zh-CN" altLang="en-US" sz="2000" dirty="0">
              <a:latin typeface="黑体" panose="02010609060101010101" pitchFamily="49" charset="-122"/>
              <a:ea typeface="黑体" panose="02010609060101010101" pitchFamily="49" charset="-122"/>
            </a:endParaRPr>
          </a:p>
          <a:p>
            <a:pPr lvl="1" eaLnBrk="1" latinLnBrk="0" hangingPunct="1">
              <a:spcBef>
                <a:spcPts val="900"/>
              </a:spcBef>
              <a:spcAft>
                <a:spcPts val="600"/>
              </a:spcAft>
            </a:pPr>
            <a:r>
              <a:rPr lang="zh-CN" altLang="en-US" sz="2000" dirty="0">
                <a:latin typeface="黑体" panose="02010609060101010101" pitchFamily="49" charset="-122"/>
                <a:ea typeface="黑体" panose="02010609060101010101" pitchFamily="49" charset="-122"/>
              </a:rPr>
              <a:t>逻辑代数广泛应用于数字系统的分析和设计中。</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transition advTm="2000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53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5364" name="Rectangle 3"/>
          <p:cNvSpPr>
            <a:spLocks noGrp="1"/>
          </p:cNvSpPr>
          <p:nvPr>
            <p:ph type="title"/>
          </p:nvPr>
        </p:nvSpPr>
        <p:spPr>
          <a:xfrm>
            <a:off x="250825" y="559118"/>
            <a:ext cx="6035675" cy="571500"/>
          </a:xfrm>
          <a:prstGeom prst="rect">
            <a:avLst/>
          </a:prstGeom>
          <a:noFill/>
          <a:ln w="9525">
            <a:noFill/>
          </a:ln>
        </p:spPr>
        <p:txBody>
          <a:bodyPr/>
          <a:p>
            <a:pPr eaLnBrk="1" hangingPunct="1"/>
            <a:r>
              <a:rPr lang="en-US" altLang="zh-CN" sz="1800" b="1" dirty="0">
                <a:latin typeface="华文新魏" panose="02010800040101010101" pitchFamily="2" charset="-122"/>
                <a:ea typeface="华文新魏" panose="02010800040101010101" pitchFamily="2" charset="-122"/>
              </a:rPr>
              <a:t>1.3.1 </a:t>
            </a:r>
            <a:r>
              <a:rPr lang="zh-CN" altLang="en-US" sz="1800" b="1" dirty="0">
                <a:latin typeface="华文新魏" panose="02010800040101010101" pitchFamily="2" charset="-122"/>
                <a:ea typeface="华文新魏" panose="02010800040101010101" pitchFamily="2" charset="-122"/>
              </a:rPr>
              <a:t>逻辑代数中的几个概念</a:t>
            </a:r>
            <a:endParaRPr lang="zh-CN" altLang="en-US" sz="1800" b="1" dirty="0">
              <a:latin typeface="华文新魏" panose="02010800040101010101" pitchFamily="2" charset="-122"/>
              <a:ea typeface="华文新魏" panose="02010800040101010101" pitchFamily="2" charset="-122"/>
            </a:endParaRPr>
          </a:p>
        </p:txBody>
      </p:sp>
      <p:sp>
        <p:nvSpPr>
          <p:cNvPr id="15365" name="Rectangle 4"/>
          <p:cNvSpPr>
            <a:spLocks noGrp="1"/>
          </p:cNvSpPr>
          <p:nvPr>
            <p:ph/>
          </p:nvPr>
        </p:nvSpPr>
        <p:spPr>
          <a:xfrm>
            <a:off x="148590" y="936625"/>
            <a:ext cx="6723380" cy="3867150"/>
          </a:xfrm>
          <a:prstGeom prst="rect">
            <a:avLst/>
          </a:prstGeom>
          <a:noFill/>
          <a:ln w="9525">
            <a:noFill/>
          </a:ln>
        </p:spPr>
        <p:txBody>
          <a:bodyPr/>
          <a:p>
            <a:pPr eaLnBrk="1" hangingPunct="1">
              <a:lnSpc>
                <a:spcPct val="130000"/>
              </a:lnSpc>
              <a:buNone/>
            </a:pPr>
            <a:r>
              <a:rPr lang="en-US" altLang="zh-CN" sz="18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逻辑状态</a:t>
            </a:r>
            <a:endParaRPr lang="zh-CN" altLang="en-US" sz="1800" b="1" i="1" dirty="0">
              <a:latin typeface="华文新魏" panose="02010800040101010101" pitchFamily="2" charset="-122"/>
              <a:ea typeface="华文新魏" panose="02010800040101010101" pitchFamily="2" charset="-122"/>
            </a:endParaRPr>
          </a:p>
          <a:p>
            <a:pPr eaLnBrk="1" hangingPunct="1">
              <a:lnSpc>
                <a:spcPct val="140000"/>
              </a:lnSpc>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物体</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事件、器件</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的某些特性表现为</a:t>
            </a:r>
            <a:r>
              <a:rPr lang="zh-CN" altLang="en-US" sz="1800" b="1" dirty="0">
                <a:solidFill>
                  <a:srgbClr val="0000FF"/>
                </a:solidFill>
                <a:latin typeface="华文新魏" panose="02010800040101010101" pitchFamily="2" charset="-122"/>
                <a:ea typeface="华文新魏" panose="02010800040101010101" pitchFamily="2" charset="-122"/>
              </a:rPr>
              <a:t>两种互不相容</a:t>
            </a:r>
            <a:r>
              <a:rPr lang="zh-CN" altLang="en-US" sz="1800" dirty="0">
                <a:latin typeface="华文新魏" panose="02010800040101010101" pitchFamily="2" charset="-122"/>
                <a:ea typeface="华文新魏" panose="02010800040101010101" pitchFamily="2" charset="-122"/>
              </a:rPr>
              <a:t>的状态，即</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①</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任何时刻必出现且仅出现一种状态；</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 ②</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一种状态是另一种状态的反状态。</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则用符号</a:t>
            </a:r>
            <a:r>
              <a:rPr lang="en-US" altLang="zh-CN" sz="1800"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分别表示这两种状态，</a:t>
            </a:r>
            <a:r>
              <a:rPr lang="zh-CN" altLang="en-US" sz="1800" dirty="0">
                <a:solidFill>
                  <a:srgbClr val="0000FF"/>
                </a:solidFill>
                <a:latin typeface="华文新魏" panose="02010800040101010101" pitchFamily="2" charset="-122"/>
                <a:ea typeface="华文新魏" panose="02010800040101010101" pitchFamily="2" charset="-122"/>
              </a:rPr>
              <a:t>称逻辑状态</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   </a:t>
            </a:r>
            <a:endParaRPr lang="en-US" altLang="zh-CN" sz="1800" dirty="0">
              <a:latin typeface="华文新魏" panose="02010800040101010101" pitchFamily="2" charset="-122"/>
              <a:ea typeface="华文新魏" panose="02010800040101010101" pitchFamily="2" charset="-122"/>
            </a:endParaRPr>
          </a:p>
          <a:p>
            <a:pP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即：</a:t>
            </a:r>
            <a:r>
              <a:rPr lang="en-US" altLang="zh-CN" sz="1800" b="1" dirty="0">
                <a:solidFill>
                  <a:srgbClr val="FF0000"/>
                </a:solidFill>
                <a:latin typeface="华文新魏" panose="02010800040101010101" pitchFamily="2" charset="-122"/>
                <a:ea typeface="华文新魏" panose="02010800040101010101" pitchFamily="2" charset="-122"/>
              </a:rPr>
              <a:t>0</a:t>
            </a:r>
            <a:r>
              <a:rPr lang="zh-CN" altLang="en-US" sz="1800" b="1" dirty="0">
                <a:solidFill>
                  <a:srgbClr val="FF0000"/>
                </a:solidFill>
                <a:latin typeface="华文新魏" panose="02010800040101010101" pitchFamily="2" charset="-122"/>
                <a:ea typeface="华文新魏" panose="02010800040101010101" pitchFamily="2" charset="-122"/>
              </a:rPr>
              <a:t>状态</a:t>
            </a:r>
            <a:r>
              <a:rPr lang="en-US" altLang="zh-CN" sz="1800" b="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0</a:t>
            </a:r>
            <a:r>
              <a:rPr lang="zh-CN" altLang="en-US" sz="1800" b="1" i="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state</a:t>
            </a:r>
            <a:r>
              <a:rPr lang="en-US" altLang="zh-CN"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和</a:t>
            </a:r>
            <a:r>
              <a:rPr lang="en-US" altLang="zh-CN" sz="1800" b="1" dirty="0">
                <a:solidFill>
                  <a:srgbClr val="FF0000"/>
                </a:solidFill>
                <a:latin typeface="华文新魏" panose="02010800040101010101" pitchFamily="2" charset="-122"/>
                <a:ea typeface="华文新魏" panose="02010800040101010101" pitchFamily="2" charset="-122"/>
              </a:rPr>
              <a:t>1</a:t>
            </a:r>
            <a:r>
              <a:rPr lang="zh-CN" altLang="en-US" sz="1800" b="1" dirty="0">
                <a:solidFill>
                  <a:srgbClr val="FF0000"/>
                </a:solidFill>
                <a:latin typeface="华文新魏" panose="02010800040101010101" pitchFamily="2" charset="-122"/>
                <a:ea typeface="华文新魏" panose="02010800040101010101" pitchFamily="2" charset="-122"/>
              </a:rPr>
              <a:t>状态</a:t>
            </a:r>
            <a:r>
              <a:rPr lang="en-US" altLang="zh-CN" sz="1800" b="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1</a:t>
            </a:r>
            <a:r>
              <a:rPr lang="zh-CN" altLang="en-US" sz="1800" b="1" i="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state</a:t>
            </a:r>
            <a:r>
              <a:rPr lang="en-US" altLang="zh-CN" sz="1800" b="1"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一般，</a:t>
            </a:r>
            <a:r>
              <a:rPr lang="en-US" altLang="zh-CN" sz="1800"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状态</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逻辑条件的</a:t>
            </a:r>
            <a:r>
              <a:rPr lang="zh-CN" altLang="en-US" sz="1800" dirty="0">
                <a:solidFill>
                  <a:srgbClr val="0000FF"/>
                </a:solidFill>
                <a:latin typeface="华文新魏" panose="02010800040101010101" pitchFamily="2" charset="-122"/>
                <a:ea typeface="华文新魏" panose="02010800040101010101" pitchFamily="2" charset="-122"/>
              </a:rPr>
              <a:t>假</a:t>
            </a:r>
            <a:r>
              <a:rPr lang="zh-CN" altLang="en-US" sz="1800" dirty="0">
                <a:latin typeface="华文新魏" panose="02010800040101010101" pitchFamily="2" charset="-122"/>
                <a:ea typeface="华文新魏" panose="02010800040101010101" pitchFamily="2" charset="-122"/>
              </a:rPr>
              <a:t>或</a:t>
            </a:r>
            <a:r>
              <a:rPr lang="zh-CN" altLang="en-US" sz="1800" dirty="0">
                <a:solidFill>
                  <a:srgbClr val="0000FF"/>
                </a:solidFill>
                <a:latin typeface="华文新魏" panose="02010800040101010101" pitchFamily="2" charset="-122"/>
                <a:ea typeface="华文新魏" panose="02010800040101010101" pitchFamily="2" charset="-122"/>
              </a:rPr>
              <a:t>无效</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状态</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逻辑条件的</a:t>
            </a:r>
            <a:r>
              <a:rPr lang="zh-CN" altLang="en-US" sz="1800" dirty="0">
                <a:solidFill>
                  <a:srgbClr val="0000FF"/>
                </a:solidFill>
                <a:latin typeface="华文新魏" panose="02010800040101010101" pitchFamily="2" charset="-122"/>
                <a:ea typeface="华文新魏" panose="02010800040101010101" pitchFamily="2" charset="-122"/>
              </a:rPr>
              <a:t>真</a:t>
            </a:r>
            <a:r>
              <a:rPr lang="zh-CN" altLang="en-US" sz="1800" dirty="0">
                <a:latin typeface="华文新魏" panose="02010800040101010101" pitchFamily="2" charset="-122"/>
                <a:ea typeface="华文新魏" panose="02010800040101010101" pitchFamily="2" charset="-122"/>
              </a:rPr>
              <a:t>或</a:t>
            </a:r>
            <a:r>
              <a:rPr lang="zh-CN" altLang="en-US" sz="1800" dirty="0">
                <a:solidFill>
                  <a:srgbClr val="0000FF"/>
                </a:solidFill>
                <a:latin typeface="华文新魏" panose="02010800040101010101" pitchFamily="2" charset="-122"/>
                <a:ea typeface="华文新魏" panose="02010800040101010101" pitchFamily="2" charset="-122"/>
              </a:rPr>
              <a:t>有效</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两种状态无大小之分</a:t>
            </a:r>
            <a:r>
              <a:rPr lang="en-US" altLang="zh-CN" sz="1800" dirty="0">
                <a:latin typeface="华文新魏" panose="02010800040101010101" pitchFamily="2" charset="-122"/>
                <a:ea typeface="华文新魏" panose="02010800040101010101" pitchFamily="2" charset="-122"/>
              </a:rPr>
              <a:t>)</a:t>
            </a:r>
            <a:endParaRPr lang="en-US" altLang="zh-CN" sz="1800" dirty="0">
              <a:latin typeface="华文新魏" panose="02010800040101010101" pitchFamily="2" charset="-122"/>
              <a:ea typeface="华文新魏" panose="02010800040101010101" pitchFamily="2" charset="-122"/>
            </a:endParaRPr>
          </a:p>
        </p:txBody>
      </p:sp>
      <p:pic>
        <p:nvPicPr>
          <p:cNvPr id="15366" name="Picture 4" descr="P2_1拷貝"/>
          <p:cNvPicPr>
            <a:picLocks noChangeAspect="1"/>
          </p:cNvPicPr>
          <p:nvPr/>
        </p:nvPicPr>
        <p:blipFill>
          <a:blip r:embed="rId1"/>
          <a:stretch>
            <a:fillRect/>
          </a:stretch>
        </p:blipFill>
        <p:spPr>
          <a:xfrm>
            <a:off x="287020" y="4300538"/>
            <a:ext cx="3203575" cy="842962"/>
          </a:xfrm>
          <a:prstGeom prst="rect">
            <a:avLst/>
          </a:prstGeom>
          <a:noFill/>
          <a:ln w="9525">
            <a:noFill/>
          </a:ln>
        </p:spPr>
      </p:pic>
      <p:pic>
        <p:nvPicPr>
          <p:cNvPr id="15367" name="Picture 5" descr="0202"/>
          <p:cNvPicPr>
            <a:picLocks noChangeAspect="1"/>
          </p:cNvPicPr>
          <p:nvPr/>
        </p:nvPicPr>
        <p:blipFill>
          <a:blip r:embed="rId2"/>
          <a:stretch>
            <a:fillRect/>
          </a:stretch>
        </p:blipFill>
        <p:spPr>
          <a:xfrm>
            <a:off x="5655310" y="4075430"/>
            <a:ext cx="3416300" cy="1007110"/>
          </a:xfrm>
          <a:prstGeom prst="rect">
            <a:avLst/>
          </a:prstGeom>
          <a:noFill/>
          <a:ln w="9525">
            <a:noFill/>
          </a:ln>
        </p:spPr>
      </p:pic>
      <p:pic>
        <p:nvPicPr>
          <p:cNvPr id="15368" name="Picture 4"/>
          <p:cNvPicPr>
            <a:picLocks noChangeAspect="1" noChangeArrowheads="1"/>
          </p:cNvPicPr>
          <p:nvPr/>
        </p:nvPicPr>
        <p:blipFill>
          <a:blip r:embed="rId3"/>
          <a:srcRect/>
          <a:stretch>
            <a:fillRect/>
          </a:stretch>
        </p:blipFill>
        <p:spPr bwMode="auto">
          <a:xfrm>
            <a:off x="7235825" y="699135"/>
            <a:ext cx="1838960" cy="1922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6"/>
                                        </p:tgtEl>
                                        <p:attrNameLst>
                                          <p:attrName>style.visibility</p:attrName>
                                        </p:attrNameLst>
                                      </p:cBhvr>
                                      <p:to>
                                        <p:strVal val="visible"/>
                                      </p:to>
                                    </p:set>
                                    <p:anim calcmode="lin" valueType="num">
                                      <p:cBhvr additive="base">
                                        <p:cTn id="7" dur="500" fill="hold"/>
                                        <p:tgtEl>
                                          <p:spTgt spid="15366"/>
                                        </p:tgtEl>
                                        <p:attrNameLst>
                                          <p:attrName>ppt_x</p:attrName>
                                        </p:attrNameLst>
                                      </p:cBhvr>
                                      <p:tavLst>
                                        <p:tav tm="0">
                                          <p:val>
                                            <p:strVal val="#ppt_x"/>
                                          </p:val>
                                        </p:tav>
                                        <p:tav tm="100000">
                                          <p:val>
                                            <p:strVal val="#ppt_x"/>
                                          </p:val>
                                        </p:tav>
                                      </p:tavLst>
                                    </p:anim>
                                    <p:anim calcmode="lin" valueType="num">
                                      <p:cBhvr additive="base">
                                        <p:cTn id="8"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7"/>
                                        </p:tgtEl>
                                        <p:attrNameLst>
                                          <p:attrName>style.visibility</p:attrName>
                                        </p:attrNameLst>
                                      </p:cBhvr>
                                      <p:to>
                                        <p:strVal val="visible"/>
                                      </p:to>
                                    </p:set>
                                    <p:anim calcmode="lin" valueType="num">
                                      <p:cBhvr additive="base">
                                        <p:cTn id="13" dur="500" fill="hold"/>
                                        <p:tgtEl>
                                          <p:spTgt spid="15367"/>
                                        </p:tgtEl>
                                        <p:attrNameLst>
                                          <p:attrName>ppt_x</p:attrName>
                                        </p:attrNameLst>
                                      </p:cBhvr>
                                      <p:tavLst>
                                        <p:tav tm="0">
                                          <p:val>
                                            <p:strVal val="#ppt_x"/>
                                          </p:val>
                                        </p:tav>
                                        <p:tav tm="100000">
                                          <p:val>
                                            <p:strVal val="#ppt_x"/>
                                          </p:val>
                                        </p:tav>
                                      </p:tavLst>
                                    </p:anim>
                                    <p:anim calcmode="lin" valueType="num">
                                      <p:cBhvr additive="base">
                                        <p:cTn id="14"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5368"/>
                                        </p:tgtEl>
                                        <p:attrNameLst>
                                          <p:attrName>style.visibility</p:attrName>
                                        </p:attrNameLst>
                                      </p:cBhvr>
                                      <p:to>
                                        <p:strVal val="visible"/>
                                      </p:to>
                                    </p:set>
                                    <p:animEffect transition="in" filter="blinds(horizontal)">
                                      <p:cBhvr>
                                        <p:cTn id="19" dur="500"/>
                                        <p:tgtEl>
                                          <p:spTgt spid="15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741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7412" name="Rectangle 2"/>
          <p:cNvSpPr>
            <a:spLocks noGrp="1"/>
          </p:cNvSpPr>
          <p:nvPr>
            <p:ph type="title"/>
          </p:nvPr>
        </p:nvSpPr>
        <p:spPr>
          <a:xfrm>
            <a:off x="395288" y="531813"/>
            <a:ext cx="8064500" cy="887412"/>
          </a:xfrm>
          <a:prstGeom prst="rect">
            <a:avLst/>
          </a:prstGeom>
          <a:noFill/>
          <a:ln w="9525">
            <a:noFill/>
          </a:ln>
        </p:spPr>
        <p:txBody>
          <a:bodyPr/>
          <a:p>
            <a:pPr eaLnBrk="1" hangingPunct="1">
              <a:lnSpc>
                <a:spcPct val="110000"/>
              </a:lnSpc>
            </a:pPr>
            <a:r>
              <a:rPr lang="en-US" altLang="zh-CN" sz="1800" b="1" dirty="0">
                <a:latin typeface="华文新魏" panose="02010800040101010101" pitchFamily="2" charset="-122"/>
                <a:ea typeface="华文新魏" panose="02010800040101010101" pitchFamily="2" charset="-122"/>
              </a:rPr>
              <a:t> 2) </a:t>
            </a:r>
            <a:r>
              <a:rPr lang="zh-CN" altLang="en-US" sz="1800" b="1" dirty="0">
                <a:latin typeface="华文新魏" panose="02010800040101010101" pitchFamily="2" charset="-122"/>
                <a:ea typeface="华文新魏" panose="02010800040101010101" pitchFamily="2" charset="-122"/>
              </a:rPr>
              <a:t>逻辑常量和逻辑变量</a:t>
            </a:r>
            <a:br>
              <a:rPr lang="zh-CN" altLang="en-US" sz="1800" b="1" dirty="0">
                <a:latin typeface="华文新魏" panose="02010800040101010101" pitchFamily="2" charset="-122"/>
                <a:ea typeface="华文新魏" panose="02010800040101010101" pitchFamily="2" charset="-122"/>
              </a:rPr>
            </a:br>
            <a:r>
              <a:rPr lang="zh-CN" altLang="en-US" sz="1800" b="1"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sym typeface="+mn-ea"/>
              </a:rPr>
              <a:t>逻辑常量</a:t>
            </a:r>
            <a:r>
              <a:rPr lang="zh-CN" altLang="en-US" sz="1800" b="1" dirty="0">
                <a:latin typeface="华文新魏" panose="02010800040101010101" pitchFamily="2" charset="-122"/>
                <a:ea typeface="华文新魏" panose="02010800040101010101" pitchFamily="2" charset="-122"/>
                <a:sym typeface="+mn-ea"/>
              </a:rPr>
              <a:t>：</a:t>
            </a:r>
            <a:r>
              <a:rPr lang="zh-CN" altLang="en-US" sz="1800" dirty="0">
                <a:latin typeface="华文新魏" panose="02010800040101010101" pitchFamily="2" charset="-122"/>
                <a:ea typeface="华文新魏" panose="02010800040101010101" pitchFamily="2" charset="-122"/>
                <a:sym typeface="+mn-ea"/>
              </a:rPr>
              <a:t>逻辑状态保持不变，取值</a:t>
            </a:r>
            <a:r>
              <a:rPr lang="zh-CN" altLang="en-US" sz="1800" dirty="0">
                <a:latin typeface="黑体" panose="02010609060101010101" pitchFamily="49" charset="-122"/>
                <a:ea typeface="华文新魏" panose="02010800040101010101" pitchFamily="2" charset="-122"/>
                <a:sym typeface="+mn-ea"/>
              </a:rPr>
              <a:t>“</a:t>
            </a:r>
            <a:r>
              <a:rPr lang="en-US" altLang="zh-CN" sz="1800" dirty="0">
                <a:latin typeface="华文新魏" panose="02010800040101010101" pitchFamily="2" charset="-122"/>
                <a:ea typeface="华文新魏" panose="02010800040101010101" pitchFamily="2" charset="-122"/>
                <a:sym typeface="+mn-ea"/>
              </a:rPr>
              <a:t>0</a:t>
            </a:r>
            <a:r>
              <a:rPr lang="en-US" altLang="zh-CN" sz="1800" dirty="0">
                <a:latin typeface="黑体" panose="02010609060101010101" pitchFamily="49" charset="-122"/>
                <a:ea typeface="华文新魏" panose="02010800040101010101" pitchFamily="2" charset="-122"/>
                <a:sym typeface="+mn-ea"/>
              </a:rPr>
              <a:t>”</a:t>
            </a:r>
            <a:r>
              <a:rPr lang="en-US" altLang="zh-CN" sz="1800" dirty="0">
                <a:latin typeface="华文新魏" panose="02010800040101010101" pitchFamily="2" charset="-122"/>
                <a:ea typeface="华文新魏" panose="02010800040101010101" pitchFamily="2" charset="-122"/>
                <a:sym typeface="+mn-ea"/>
              </a:rPr>
              <a:t> </a:t>
            </a:r>
            <a:r>
              <a:rPr lang="zh-CN" altLang="en-US" sz="1800" dirty="0">
                <a:latin typeface="华文新魏" panose="02010800040101010101" pitchFamily="2" charset="-122"/>
                <a:ea typeface="华文新魏" panose="02010800040101010101" pitchFamily="2" charset="-122"/>
                <a:sym typeface="+mn-ea"/>
              </a:rPr>
              <a:t>或</a:t>
            </a:r>
            <a:r>
              <a:rPr lang="zh-CN" altLang="en-US" sz="1800" dirty="0">
                <a:latin typeface="黑体" panose="02010609060101010101" pitchFamily="49" charset="-122"/>
                <a:ea typeface="华文新魏" panose="02010800040101010101" pitchFamily="2" charset="-122"/>
                <a:sym typeface="+mn-ea"/>
              </a:rPr>
              <a:t>“</a:t>
            </a:r>
            <a:r>
              <a:rPr lang="en-US" altLang="zh-CN" sz="1800" dirty="0">
                <a:latin typeface="华文新魏" panose="02010800040101010101" pitchFamily="2" charset="-122"/>
                <a:ea typeface="华文新魏" panose="02010800040101010101" pitchFamily="2" charset="-122"/>
                <a:sym typeface="+mn-ea"/>
              </a:rPr>
              <a:t>1</a:t>
            </a:r>
            <a:r>
              <a:rPr lang="en-US" altLang="zh-CN" sz="1800" dirty="0">
                <a:latin typeface="黑体" panose="02010609060101010101" pitchFamily="49" charset="-122"/>
                <a:ea typeface="华文新魏" panose="02010800040101010101" pitchFamily="2" charset="-122"/>
                <a:sym typeface="+mn-ea"/>
              </a:rPr>
              <a:t>”</a:t>
            </a:r>
            <a:r>
              <a:rPr lang="zh-CN" altLang="en-US" sz="1800" dirty="0">
                <a:latin typeface="华文新魏" panose="02010800040101010101" pitchFamily="2" charset="-122"/>
                <a:ea typeface="华文新魏" panose="02010800040101010101" pitchFamily="2" charset="-122"/>
                <a:sym typeface="+mn-ea"/>
              </a:rPr>
              <a:t>。</a:t>
            </a:r>
            <a:br>
              <a:rPr lang="zh-CN" altLang="en-US" sz="1800" dirty="0">
                <a:latin typeface="华文新魏" panose="02010800040101010101" pitchFamily="2" charset="-122"/>
                <a:ea typeface="华文新魏" panose="02010800040101010101" pitchFamily="2" charset="-122"/>
                <a:sym typeface="+mn-ea"/>
              </a:rPr>
            </a:br>
            <a:r>
              <a:rPr lang="en-US" altLang="zh-CN" sz="1800" dirty="0">
                <a:latin typeface="华文新魏" panose="02010800040101010101" pitchFamily="2" charset="-122"/>
                <a:ea typeface="华文新魏" panose="02010800040101010101" pitchFamily="2" charset="-122"/>
                <a:sym typeface="+mn-ea"/>
              </a:rPr>
              <a:t>    </a:t>
            </a:r>
            <a:r>
              <a:rPr lang="zh-CN" altLang="en-US" sz="1800" b="1" dirty="0">
                <a:solidFill>
                  <a:srgbClr val="FF0000"/>
                </a:solidFill>
                <a:latin typeface="华文新魏" panose="02010800040101010101" pitchFamily="2" charset="-122"/>
                <a:ea typeface="华文新魏" panose="02010800040101010101" pitchFamily="2" charset="-122"/>
              </a:rPr>
              <a:t>逻辑变量</a:t>
            </a:r>
            <a:r>
              <a:rPr lang="zh-CN" altLang="en-US"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用于表示事物的逻辑状态随逻辑条件的变化而变化的量</a:t>
            </a:r>
            <a:br>
              <a:rPr lang="zh-CN" altLang="en-US" sz="1800" dirty="0">
                <a:latin typeface="华文新魏" panose="02010800040101010101" pitchFamily="2" charset="-122"/>
                <a:ea typeface="华文新魏" panose="02010800040101010101" pitchFamily="2" charset="-122"/>
              </a:rPr>
            </a:b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（一般用英文字符表示），取值：</a:t>
            </a:r>
            <a:r>
              <a:rPr lang="en-US" altLang="zh-CN" sz="1800" dirty="0">
                <a:latin typeface="华文新魏" panose="02010800040101010101" pitchFamily="2" charset="-122"/>
                <a:ea typeface="华文新魏" panose="02010800040101010101" pitchFamily="2" charset="-122"/>
              </a:rPr>
              <a:t>0 </a:t>
            </a:r>
            <a:r>
              <a:rPr lang="zh-CN" altLang="en-US" sz="1800" dirty="0">
                <a:latin typeface="华文新魏" panose="02010800040101010101" pitchFamily="2" charset="-122"/>
                <a:ea typeface="华文新魏" panose="02010800040101010101" pitchFamily="2" charset="-122"/>
              </a:rPr>
              <a:t>或</a:t>
            </a:r>
            <a:r>
              <a:rPr lang="en-US" altLang="zh-CN" sz="1800" dirty="0">
                <a:latin typeface="华文新魏" panose="02010800040101010101" pitchFamily="2" charset="-122"/>
                <a:ea typeface="华文新魏" panose="02010800040101010101" pitchFamily="2" charset="-122"/>
              </a:rPr>
              <a:t>1 </a:t>
            </a:r>
            <a:r>
              <a:rPr lang="zh-CN" altLang="en-US" sz="1800" dirty="0">
                <a:latin typeface="华文新魏" panose="02010800040101010101" pitchFamily="2" charset="-122"/>
                <a:ea typeface="华文新魏" panose="02010800040101010101" pitchFamily="2" charset="-122"/>
              </a:rPr>
              <a:t>。</a:t>
            </a:r>
            <a:br>
              <a:rPr lang="en-US" altLang="zh-CN" sz="1800" dirty="0">
                <a:latin typeface="华文新魏" panose="02010800040101010101" pitchFamily="2" charset="-122"/>
                <a:ea typeface="华文新魏" panose="02010800040101010101" pitchFamily="2" charset="-122"/>
              </a:rPr>
            </a:br>
            <a:r>
              <a:rPr lang="en-US" altLang="zh-CN" sz="1800" dirty="0">
                <a:latin typeface="华文新魏" panose="02010800040101010101" pitchFamily="2" charset="-122"/>
                <a:ea typeface="华文新魏" panose="02010800040101010101" pitchFamily="2" charset="-122"/>
              </a:rPr>
              <a:t>    </a:t>
            </a:r>
            <a:endParaRPr lang="zh-CN" altLang="en-US" sz="1800" dirty="0">
              <a:latin typeface="华文新魏" panose="02010800040101010101" pitchFamily="2" charset="-122"/>
              <a:ea typeface="华文新魏" panose="02010800040101010101" pitchFamily="2" charset="-122"/>
            </a:endParaRPr>
          </a:p>
        </p:txBody>
      </p:sp>
      <p:sp>
        <p:nvSpPr>
          <p:cNvPr id="17413" name="Rectangle 3"/>
          <p:cNvSpPr>
            <a:spLocks noGrp="1"/>
          </p:cNvSpPr>
          <p:nvPr>
            <p:ph/>
          </p:nvPr>
        </p:nvSpPr>
        <p:spPr>
          <a:xfrm>
            <a:off x="467995" y="1878965"/>
            <a:ext cx="8159115" cy="2664460"/>
          </a:xfrm>
          <a:prstGeom prst="rect">
            <a:avLst/>
          </a:prstGeom>
          <a:noFill/>
          <a:ln w="9525">
            <a:noFill/>
          </a:ln>
        </p:spPr>
        <p:txBody>
          <a:bodyPr/>
          <a:p>
            <a:pPr eaLnBrk="1" hangingPunct="1">
              <a:lnSpc>
                <a:spcPct val="110000"/>
              </a:lnSpc>
              <a:buNone/>
            </a:pPr>
            <a:r>
              <a:rPr lang="en-US" altLang="zh-CN" sz="1800" b="1" dirty="0">
                <a:latin typeface="华文新魏" panose="02010800040101010101" pitchFamily="2" charset="-122"/>
                <a:ea typeface="华文新魏" panose="02010800040101010101" pitchFamily="2" charset="-122"/>
              </a:rPr>
              <a:t>3) </a:t>
            </a:r>
            <a:r>
              <a:rPr lang="zh-CN" altLang="en-US" sz="1800" b="1" dirty="0">
                <a:latin typeface="华文新魏" panose="02010800040101010101" pitchFamily="2" charset="-122"/>
                <a:ea typeface="华文新魏" panose="02010800040101010101" pitchFamily="2" charset="-122"/>
              </a:rPr>
              <a:t>逻辑</a:t>
            </a:r>
            <a:r>
              <a:rPr lang="zh-CN" altLang="en-US" sz="1800" b="1" dirty="0">
                <a:solidFill>
                  <a:srgbClr val="0000FF"/>
                </a:solidFill>
                <a:latin typeface="华文新魏" panose="02010800040101010101" pitchFamily="2" charset="-122"/>
                <a:ea typeface="华文新魏" panose="02010800040101010101" pitchFamily="2" charset="-122"/>
              </a:rPr>
              <a:t>电平（</a:t>
            </a:r>
            <a:r>
              <a:rPr lang="zh-CN" altLang="en-US" sz="1800" b="1" dirty="0">
                <a:solidFill>
                  <a:srgbClr val="FF0066"/>
                </a:solidFill>
                <a:latin typeface="华文新魏" panose="02010800040101010101" pitchFamily="2" charset="-122"/>
                <a:ea typeface="华文新魏" panose="02010800040101010101" pitchFamily="2" charset="-122"/>
              </a:rPr>
              <a:t>logic level</a:t>
            </a:r>
            <a:r>
              <a:rPr lang="zh-CN" altLang="en-US" sz="1800" b="1" dirty="0">
                <a:solidFill>
                  <a:srgbClr val="0000FF"/>
                </a:solidFill>
                <a:latin typeface="华文新魏" panose="02010800040101010101" pitchFamily="2" charset="-122"/>
                <a:ea typeface="华文新魏" panose="02010800040101010101" pitchFamily="2" charset="-122"/>
              </a:rPr>
              <a:t>）（相似概念电压，Voltage，electric tension或electric pressure；电平是描述信号状态的概念，而电压是用来量化电位差的物理量）</a:t>
            </a:r>
            <a:endParaRPr lang="zh-CN" altLang="en-US" sz="1800" b="1" dirty="0">
              <a:latin typeface="华文新魏" panose="02010800040101010101" pitchFamily="2" charset="-122"/>
              <a:ea typeface="华文新魏" panose="02010800040101010101" pitchFamily="2" charset="-122"/>
            </a:endParaRPr>
          </a:p>
          <a:p>
            <a:pPr eaLnBrk="1" hangingPunct="1">
              <a:lnSpc>
                <a:spcPct val="110000"/>
              </a:lnSpc>
              <a:buNone/>
            </a:pPr>
            <a:r>
              <a:rPr lang="zh-CN" altLang="en-US" sz="1800" dirty="0">
                <a:latin typeface="华文新魏" panose="02010800040101010101" pitchFamily="2" charset="-122"/>
                <a:ea typeface="华文新魏" panose="02010800040101010101" pitchFamily="2" charset="-122"/>
              </a:rPr>
              <a:t>  在二值逻辑电路</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开关电路</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中，将实现逻辑运算的物理器件的电压物理量</a:t>
            </a:r>
            <a:r>
              <a:rPr lang="zh-CN" altLang="en-US" sz="1800" b="1" dirty="0">
                <a:latin typeface="华文新魏" panose="02010800040101010101" pitchFamily="2" charset="-122"/>
                <a:ea typeface="华文新魏" panose="02010800040101010101" pitchFamily="2" charset="-122"/>
              </a:rPr>
              <a:t>离散</a:t>
            </a:r>
            <a:r>
              <a:rPr lang="zh-CN" altLang="en-US" sz="1800" dirty="0">
                <a:latin typeface="华文新魏" panose="02010800040101010101" pitchFamily="2" charset="-122"/>
                <a:ea typeface="华文新魏" panose="02010800040101010101" pitchFamily="2" charset="-122"/>
              </a:rPr>
              <a:t>为两种电平状态：</a:t>
            </a:r>
            <a:r>
              <a:rPr lang="zh-CN" altLang="en-US" sz="1800" b="1" dirty="0">
                <a:latin typeface="华文新魏" panose="02010800040101010101" pitchFamily="2" charset="-122"/>
                <a:ea typeface="华文新魏" panose="02010800040101010101" pitchFamily="2" charset="-122"/>
              </a:rPr>
              <a:t>高电平</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用</a:t>
            </a:r>
            <a:r>
              <a:rPr lang="en-US" altLang="zh-CN" sz="1800" dirty="0">
                <a:latin typeface="华文新魏" panose="02010800040101010101" pitchFamily="2" charset="-122"/>
                <a:ea typeface="华文新魏" panose="02010800040101010101" pitchFamily="2" charset="-122"/>
              </a:rPr>
              <a:t>H</a:t>
            </a:r>
            <a:r>
              <a:rPr lang="zh-CN" altLang="en-US" sz="1800" dirty="0">
                <a:latin typeface="华文新魏" panose="02010800040101010101" pitchFamily="2" charset="-122"/>
                <a:ea typeface="华文新魏" panose="02010800040101010101" pitchFamily="2" charset="-122"/>
              </a:rPr>
              <a:t>表示</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低电平</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用</a:t>
            </a:r>
            <a:r>
              <a:rPr lang="en-US" altLang="zh-CN" sz="1800" dirty="0">
                <a:latin typeface="华文新魏" panose="02010800040101010101" pitchFamily="2" charset="-122"/>
                <a:ea typeface="华文新魏" panose="02010800040101010101" pitchFamily="2" charset="-122"/>
              </a:rPr>
              <a:t>L</a:t>
            </a:r>
            <a:r>
              <a:rPr lang="zh-CN" altLang="en-US" sz="1800" dirty="0">
                <a:latin typeface="华文新魏" panose="02010800040101010101" pitchFamily="2" charset="-122"/>
                <a:ea typeface="华文新魏" panose="02010800040101010101" pitchFamily="2" charset="-122"/>
              </a:rPr>
              <a:t>表示</a:t>
            </a:r>
            <a:r>
              <a:rPr lang="en-US" altLang="zh-CN" sz="1800" dirty="0">
                <a:latin typeface="华文新魏" panose="02010800040101010101" pitchFamily="2" charset="-122"/>
                <a:ea typeface="华文新魏" panose="02010800040101010101" pitchFamily="2" charset="-122"/>
              </a:rPr>
              <a:t>)</a:t>
            </a:r>
            <a:endParaRPr lang="en-US" altLang="zh-CN" sz="1800" dirty="0">
              <a:latin typeface="华文新魏" panose="02010800040101010101" pitchFamily="2" charset="-122"/>
              <a:ea typeface="华文新魏" panose="02010800040101010101" pitchFamily="2" charset="-122"/>
            </a:endParaRPr>
          </a:p>
          <a:p>
            <a:pPr eaLnBrk="1" hangingPunct="1">
              <a:lnSpc>
                <a:spcPct val="110000"/>
              </a:lnSpc>
              <a:buNone/>
            </a:pPr>
            <a:r>
              <a:rPr lang="zh-CN" altLang="en-US" sz="1800" dirty="0">
                <a:latin typeface="华文新魏" panose="02010800040101010101" pitchFamily="2" charset="-122"/>
                <a:ea typeface="华文新魏" panose="02010800040101010101" pitchFamily="2" charset="-122"/>
              </a:rPr>
              <a:t>  抽象化的高、低电平</a:t>
            </a:r>
            <a:r>
              <a:rPr lang="zh-CN" altLang="en-US" sz="1800" b="1" dirty="0">
                <a:latin typeface="华文新魏" panose="02010800040101010101" pitchFamily="2" charset="-122"/>
                <a:ea typeface="华文新魏" panose="02010800040101010101" pitchFamily="2" charset="-122"/>
              </a:rPr>
              <a:t>忽略</a:t>
            </a:r>
            <a:r>
              <a:rPr lang="zh-CN" altLang="en-US" sz="1800" dirty="0">
                <a:latin typeface="华文新魏" panose="02010800040101010101" pitchFamily="2" charset="-122"/>
                <a:ea typeface="华文新魏" panose="02010800040101010101" pitchFamily="2" charset="-122"/>
              </a:rPr>
              <a:t>其电压物理量值的实际含义，实际上它们是代表着</a:t>
            </a:r>
            <a:r>
              <a:rPr lang="zh-CN" altLang="en-US" sz="1800" b="1" dirty="0">
                <a:latin typeface="华文新魏" panose="02010800040101010101" pitchFamily="2" charset="-122"/>
                <a:ea typeface="华文新魏" panose="02010800040101010101" pitchFamily="2" charset="-122"/>
              </a:rPr>
              <a:t>一定范围</a:t>
            </a:r>
            <a:r>
              <a:rPr lang="zh-CN" altLang="en-US" sz="1800" dirty="0">
                <a:latin typeface="华文新魏" panose="02010800040101010101" pitchFamily="2" charset="-122"/>
                <a:ea typeface="华文新魏" panose="02010800040101010101" pitchFamily="2" charset="-122"/>
              </a:rPr>
              <a:t>的电压物理量。</a:t>
            </a:r>
            <a:r>
              <a:rPr lang="zh-CN" altLang="en-US" sz="1800" dirty="0">
                <a:solidFill>
                  <a:srgbClr val="FF0000"/>
                </a:solidFill>
                <a:latin typeface="华文新魏" panose="02010800040101010101" pitchFamily="2" charset="-122"/>
                <a:ea typeface="华文新魏" panose="02010800040101010101" pitchFamily="2" charset="-122"/>
              </a:rPr>
              <a:t>参见下页</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lnSpc>
                <a:spcPct val="110000"/>
              </a:lnSpc>
              <a:buNone/>
            </a:pPr>
            <a:r>
              <a:rPr lang="zh-CN" altLang="en-US" sz="1800" dirty="0">
                <a:latin typeface="华文新魏" panose="02010800040101010101" pitchFamily="2" charset="-122"/>
                <a:ea typeface="华文新魏" panose="02010800040101010101" pitchFamily="2" charset="-122"/>
              </a:rPr>
              <a:t>  </a:t>
            </a:r>
            <a:r>
              <a:rPr lang="zh-CN" altLang="en-US" sz="1800" u="sng" dirty="0">
                <a:latin typeface="华文新魏" panose="02010800040101010101" pitchFamily="2" charset="-122"/>
                <a:ea typeface="华文新魏" panose="02010800040101010101" pitchFamily="2" charset="-122"/>
              </a:rPr>
              <a:t>在高、低电平之间有一逻辑不确定区，称为</a:t>
            </a:r>
            <a:r>
              <a:rPr lang="zh-CN" altLang="en-US" sz="1800" u="sng" dirty="0">
                <a:latin typeface="黑体" panose="02010609060101010101" pitchFamily="49" charset="-122"/>
                <a:ea typeface="华文新魏" panose="02010800040101010101" pitchFamily="2" charset="-122"/>
              </a:rPr>
              <a:t>“</a:t>
            </a:r>
            <a:r>
              <a:rPr lang="zh-CN" altLang="en-US" sz="1800" u="sng" dirty="0">
                <a:latin typeface="华文新魏" panose="02010800040101010101" pitchFamily="2" charset="-122"/>
                <a:ea typeface="华文新魏" panose="02010800040101010101" pitchFamily="2" charset="-122"/>
              </a:rPr>
              <a:t>噪音区</a:t>
            </a:r>
            <a:r>
              <a:rPr lang="zh-CN" altLang="en-US" sz="1800" u="sng"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r>
              <a:rPr lang="zh-CN" altLang="en-US" sz="1800" u="sng" dirty="0">
                <a:latin typeface="华文新魏" panose="02010800040101010101" pitchFamily="2" charset="-122"/>
                <a:ea typeface="华文新魏" panose="02010800040101010101" pitchFamily="2" charset="-122"/>
              </a:rPr>
              <a:t>若电平稳定于噪音区称为逻辑模糊，这在逻辑电路中不允许，会造成运算</a:t>
            </a:r>
            <a:r>
              <a:rPr lang="zh-CN" altLang="en-US" sz="1800" u="sng" dirty="0">
                <a:solidFill>
                  <a:srgbClr val="FF0000"/>
                </a:solidFill>
                <a:latin typeface="华文新魏" panose="02010800040101010101" pitchFamily="2" charset="-122"/>
                <a:ea typeface="华文新魏" panose="02010800040101010101" pitchFamily="2" charset="-122"/>
              </a:rPr>
              <a:t>结果不可信</a:t>
            </a:r>
            <a:r>
              <a:rPr lang="zh-CN" altLang="en-US" sz="1800" u="sng" dirty="0">
                <a:latin typeface="华文新魏" panose="02010800040101010101" pitchFamily="2" charset="-122"/>
                <a:ea typeface="华文新魏" panose="02010800040101010101" pitchFamily="2" charset="-122"/>
              </a:rPr>
              <a:t>。</a:t>
            </a:r>
            <a:endParaRPr lang="zh-CN" altLang="en-US" sz="1800" u="sng" dirty="0">
              <a:latin typeface="华文新魏" panose="02010800040101010101" pitchFamily="2" charset="-122"/>
              <a:ea typeface="华文新魏" panose="02010800040101010101" pitchFamily="2" charset="-122"/>
            </a:endParaRPr>
          </a:p>
        </p:txBody>
      </p:sp>
      <p:pic>
        <p:nvPicPr>
          <p:cNvPr id="15366" name="Picture 4" descr="P2_1拷貝"/>
          <p:cNvPicPr>
            <a:picLocks noChangeAspect="1"/>
          </p:cNvPicPr>
          <p:nvPr/>
        </p:nvPicPr>
        <p:blipFill>
          <a:blip r:embed="rId1"/>
          <a:stretch>
            <a:fillRect/>
          </a:stretch>
        </p:blipFill>
        <p:spPr>
          <a:xfrm>
            <a:off x="7452360" y="1290320"/>
            <a:ext cx="1553845" cy="408940"/>
          </a:xfrm>
          <a:prstGeom prst="rect">
            <a:avLst/>
          </a:prstGeom>
          <a:noFill/>
          <a:ln w="9525">
            <a:noFill/>
          </a:ln>
        </p:spPr>
      </p:pic>
      <p:pic>
        <p:nvPicPr>
          <p:cNvPr id="15367" name="Picture 5" descr="0202"/>
          <p:cNvPicPr>
            <a:picLocks noChangeAspect="1"/>
          </p:cNvPicPr>
          <p:nvPr/>
        </p:nvPicPr>
        <p:blipFill>
          <a:blip r:embed="rId2"/>
          <a:stretch>
            <a:fillRect/>
          </a:stretch>
        </p:blipFill>
        <p:spPr>
          <a:xfrm>
            <a:off x="7452360" y="647700"/>
            <a:ext cx="1662430" cy="490220"/>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7"/>
                                        </p:tgtEl>
                                        <p:attrNameLst>
                                          <p:attrName>style.visibility</p:attrName>
                                        </p:attrNameLst>
                                      </p:cBhvr>
                                      <p:to>
                                        <p:strVal val="visible"/>
                                      </p:to>
                                    </p:set>
                                    <p:anim calcmode="lin" valueType="num">
                                      <p:cBhvr additive="base">
                                        <p:cTn id="7" dur="500" fill="hold"/>
                                        <p:tgtEl>
                                          <p:spTgt spid="15367"/>
                                        </p:tgtEl>
                                        <p:attrNameLst>
                                          <p:attrName>ppt_x</p:attrName>
                                        </p:attrNameLst>
                                      </p:cBhvr>
                                      <p:tavLst>
                                        <p:tav tm="0">
                                          <p:val>
                                            <p:strVal val="#ppt_x"/>
                                          </p:val>
                                        </p:tav>
                                        <p:tav tm="100000">
                                          <p:val>
                                            <p:strVal val="#ppt_x"/>
                                          </p:val>
                                        </p:tav>
                                      </p:tavLst>
                                    </p:anim>
                                    <p:anim calcmode="lin" valueType="num">
                                      <p:cBhvr additive="base">
                                        <p:cTn id="8"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6"/>
                                        </p:tgtEl>
                                        <p:attrNameLst>
                                          <p:attrName>style.visibility</p:attrName>
                                        </p:attrNameLst>
                                      </p:cBhvr>
                                      <p:to>
                                        <p:strVal val="visible"/>
                                      </p:to>
                                    </p:set>
                                    <p:anim calcmode="lin" valueType="num">
                                      <p:cBhvr additive="base">
                                        <p:cTn id="13" dur="500" fill="hold"/>
                                        <p:tgtEl>
                                          <p:spTgt spid="15366"/>
                                        </p:tgtEl>
                                        <p:attrNameLst>
                                          <p:attrName>ppt_x</p:attrName>
                                        </p:attrNameLst>
                                      </p:cBhvr>
                                      <p:tavLst>
                                        <p:tav tm="0">
                                          <p:val>
                                            <p:strVal val="#ppt_x"/>
                                          </p:val>
                                        </p:tav>
                                        <p:tav tm="100000">
                                          <p:val>
                                            <p:strVal val="#ppt_x"/>
                                          </p:val>
                                        </p:tav>
                                      </p:tavLst>
                                    </p:anim>
                                    <p:anim calcmode="lin" valueType="num">
                                      <p:cBhvr additive="base">
                                        <p:cTn id="14"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7413">
                                            <p:txEl>
                                              <p:pRg st="0" end="0"/>
                                            </p:txEl>
                                          </p:spTgt>
                                        </p:tgtEl>
                                        <p:attrNameLst>
                                          <p:attrName>style.visibility</p:attrName>
                                        </p:attrNameLst>
                                      </p:cBhvr>
                                      <p:to>
                                        <p:strVal val="visible"/>
                                      </p:to>
                                    </p:set>
                                    <p:animEffect transition="in" filter="blinds(horizontal)">
                                      <p:cBhvr>
                                        <p:cTn id="19" dur="500"/>
                                        <p:tgtEl>
                                          <p:spTgt spid="1741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7413">
                                            <p:txEl>
                                              <p:pRg st="1" end="1"/>
                                            </p:txEl>
                                          </p:spTgt>
                                        </p:tgtEl>
                                        <p:attrNameLst>
                                          <p:attrName>style.visibility</p:attrName>
                                        </p:attrNameLst>
                                      </p:cBhvr>
                                      <p:to>
                                        <p:strVal val="visible"/>
                                      </p:to>
                                    </p:set>
                                    <p:animEffect transition="in" filter="blinds(horizontal)">
                                      <p:cBhvr>
                                        <p:cTn id="24" dur="500"/>
                                        <p:tgtEl>
                                          <p:spTgt spid="1741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7413">
                                            <p:txEl>
                                              <p:pRg st="2" end="2"/>
                                            </p:txEl>
                                          </p:spTgt>
                                        </p:tgtEl>
                                        <p:attrNameLst>
                                          <p:attrName>style.visibility</p:attrName>
                                        </p:attrNameLst>
                                      </p:cBhvr>
                                      <p:to>
                                        <p:strVal val="visible"/>
                                      </p:to>
                                    </p:set>
                                    <p:animEffect transition="in" filter="blinds(horizontal)">
                                      <p:cBhvr>
                                        <p:cTn id="29" dur="500"/>
                                        <p:tgtEl>
                                          <p:spTgt spid="1741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7413">
                                            <p:txEl>
                                              <p:pRg st="3" end="3"/>
                                            </p:txEl>
                                          </p:spTgt>
                                        </p:tgtEl>
                                        <p:attrNameLst>
                                          <p:attrName>style.visibility</p:attrName>
                                        </p:attrNameLst>
                                      </p:cBhvr>
                                      <p:to>
                                        <p:strVal val="visible"/>
                                      </p:to>
                                    </p:set>
                                    <p:animEffect transition="in" filter="blinds(horizontal)">
                                      <p:cBhvr>
                                        <p:cTn id="34" dur="500"/>
                                        <p:tgtEl>
                                          <p:spTgt spid="174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build="p"/>
      <p:bldP spid="1741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843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8436" name="Rectangle 1027"/>
          <p:cNvSpPr>
            <a:spLocks noGrp="1"/>
          </p:cNvSpPr>
          <p:nvPr>
            <p:ph type="title"/>
          </p:nvPr>
        </p:nvSpPr>
        <p:spPr>
          <a:xfrm>
            <a:off x="228600" y="669290"/>
            <a:ext cx="8763000" cy="462915"/>
          </a:xfrm>
          <a:prstGeom prst="rect">
            <a:avLst/>
          </a:prstGeom>
          <a:noFill/>
          <a:ln w="9525">
            <a:noFill/>
          </a:ln>
        </p:spPr>
        <p:txBody>
          <a:bodyPr/>
          <a:p>
            <a:pPr algn="ctr" eaLnBrk="1" hangingPunct="1"/>
            <a:r>
              <a:rPr lang="zh-CN" altLang="en-US" sz="1800" b="1" dirty="0">
                <a:latin typeface="华文新魏" panose="02010800040101010101" pitchFamily="2" charset="-122"/>
                <a:ea typeface="华文新魏" panose="02010800040101010101" pitchFamily="2" charset="-122"/>
              </a:rPr>
              <a:t>表</a:t>
            </a:r>
            <a:r>
              <a:rPr lang="en-US" altLang="zh-CN" sz="1800" b="1" dirty="0">
                <a:latin typeface="华文新魏" panose="02010800040101010101" pitchFamily="2" charset="-122"/>
                <a:ea typeface="华文新魏" panose="02010800040101010101" pitchFamily="2" charset="-122"/>
              </a:rPr>
              <a:t>1.5 </a:t>
            </a:r>
            <a:r>
              <a:rPr lang="zh-CN" altLang="en-US" sz="1800" b="1" dirty="0">
                <a:latin typeface="华文新魏" panose="02010800040101010101" pitchFamily="2" charset="-122"/>
                <a:ea typeface="华文新魏" panose="02010800040101010101" pitchFamily="2" charset="-122"/>
              </a:rPr>
              <a:t>不同工艺半导体器件定义的逻辑电平（</a:t>
            </a:r>
            <a:r>
              <a:rPr lang="zh-CN" altLang="en-US" sz="1800" b="1" dirty="0">
                <a:solidFill>
                  <a:srgbClr val="FF0000"/>
                </a:solidFill>
                <a:latin typeface="华文新魏" panose="02010800040101010101" pitchFamily="2" charset="-122"/>
                <a:ea typeface="华文新魏" panose="02010800040101010101" pitchFamily="2" charset="-122"/>
              </a:rPr>
              <a:t>注意工作电压</a:t>
            </a:r>
            <a:r>
              <a:rPr lang="zh-CN" altLang="en-US" sz="1800" b="1" dirty="0">
                <a:latin typeface="华文新魏" panose="02010800040101010101" pitchFamily="2" charset="-122"/>
                <a:ea typeface="华文新魏" panose="02010800040101010101" pitchFamily="2" charset="-122"/>
              </a:rPr>
              <a:t>），两种传统工艺（新的</a:t>
            </a:r>
            <a:r>
              <a:rPr lang="en-US" altLang="zh-CN" sz="1800" b="1" dirty="0">
                <a:latin typeface="华文新魏" panose="02010800040101010101" pitchFamily="2" charset="-122"/>
                <a:ea typeface="华文新魏" panose="02010800040101010101" pitchFamily="2" charset="-122"/>
              </a:rPr>
              <a:t>CMOS</a:t>
            </a:r>
            <a:r>
              <a:rPr lang="zh-CN" altLang="en-US" sz="1800" b="1" dirty="0">
                <a:latin typeface="华文新魏" panose="02010800040101010101" pitchFamily="2" charset="-122"/>
                <a:ea typeface="华文新魏" panose="02010800040101010101" pitchFamily="2" charset="-122"/>
              </a:rPr>
              <a:t>工艺有很大变化，同学们一定要注意）</a:t>
            </a:r>
            <a:endParaRPr lang="zh-CN" altLang="en-US" sz="1800" b="1" dirty="0">
              <a:latin typeface="华文新魏" panose="02010800040101010101" pitchFamily="2" charset="-122"/>
              <a:ea typeface="华文新魏" panose="02010800040101010101" pitchFamily="2" charset="-122"/>
            </a:endParaRPr>
          </a:p>
        </p:txBody>
      </p:sp>
      <p:graphicFrame>
        <p:nvGraphicFramePr>
          <p:cNvPr id="18437" name="Group 5"/>
          <p:cNvGraphicFramePr>
            <a:graphicFrameLocks noGrp="1"/>
          </p:cNvGraphicFramePr>
          <p:nvPr>
            <p:custDataLst>
              <p:tags r:id="rId1"/>
            </p:custDataLst>
          </p:nvPr>
        </p:nvGraphicFramePr>
        <p:xfrm>
          <a:off x="762000" y="1217613"/>
          <a:ext cx="7772400" cy="1714500"/>
        </p:xfrm>
        <a:graphic>
          <a:graphicData uri="http://schemas.openxmlformats.org/drawingml/2006/table">
            <a:tbl>
              <a:tblPr/>
              <a:tblGrid>
                <a:gridCol w="1640840"/>
                <a:gridCol w="3540760"/>
                <a:gridCol w="2590800"/>
              </a:tblGrid>
              <a:tr h="428625">
                <a:tc row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传统制造工艺</a:t>
                      </a:r>
                      <a:endPar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逻辑电平（</a:t>
                      </a:r>
                      <a:r>
                        <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假定芯片电源电压为</a:t>
                      </a:r>
                      <a:r>
                        <a:rPr kumimoji="0" lang="en-US" altLang="zh-CN"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5V</a:t>
                      </a:r>
                      <a:r>
                        <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a:t>
                      </a:r>
                      <a:r>
                        <a:rPr kumimoji="0" lang="en-US" altLang="zh-CN"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TTL</a:t>
                      </a:r>
                      <a:r>
                        <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为</a:t>
                      </a:r>
                      <a:r>
                        <a:rPr lang="en-US" altLang="zh-CN" sz="1800" b="1" smtClean="0">
                          <a:ln>
                            <a:noFill/>
                          </a:ln>
                          <a:solidFill>
                            <a:srgbClr val="FF0000"/>
                          </a:solidFill>
                          <a:effectLst/>
                          <a:latin typeface="华文新魏" panose="02010800040101010101" pitchFamily="2" charset="-122"/>
                          <a:ea typeface="华文新魏" panose="02010800040101010101" pitchFamily="2" charset="-122"/>
                          <a:sym typeface="+mn-ea"/>
                        </a:rPr>
                        <a:t>5V</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a:tc>
              </a:tr>
              <a:tr h="428625">
                <a:tc vMerge="1">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L</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H</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86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TTL</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0</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0.40V</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3.0 </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5.0V</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86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CMOS</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0 </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0.80V</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2.0 </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5.0V</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8457" name="Rectangle 1054"/>
          <p:cNvSpPr>
            <a:spLocks noGrp="1"/>
          </p:cNvSpPr>
          <p:nvPr>
            <p:ph/>
          </p:nvPr>
        </p:nvSpPr>
        <p:spPr>
          <a:xfrm>
            <a:off x="755650" y="4491038"/>
            <a:ext cx="7772400" cy="457200"/>
          </a:xfrm>
          <a:prstGeom prst="rect">
            <a:avLst/>
          </a:prstGeom>
          <a:noFill/>
          <a:ln w="9525">
            <a:noFill/>
          </a:ln>
        </p:spPr>
        <p:txBody>
          <a:bodyPr/>
          <a:p>
            <a:pPr algn="ct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脉冲的逻辑电平表示</a:t>
            </a:r>
            <a:endParaRPr lang="zh-CN" altLang="en-US" sz="1800" b="1" dirty="0">
              <a:latin typeface="华文新魏" panose="02010800040101010101" pitchFamily="2" charset="-122"/>
              <a:ea typeface="华文新魏" panose="02010800040101010101" pitchFamily="2" charset="-122"/>
            </a:endParaRPr>
          </a:p>
        </p:txBody>
      </p:sp>
      <p:graphicFrame>
        <p:nvGraphicFramePr>
          <p:cNvPr id="18458" name="Object 1055"/>
          <p:cNvGraphicFramePr>
            <a:graphicFrameLocks noChangeAspect="1"/>
          </p:cNvGraphicFramePr>
          <p:nvPr/>
        </p:nvGraphicFramePr>
        <p:xfrm>
          <a:off x="803275" y="3040063"/>
          <a:ext cx="3311525" cy="1331912"/>
        </p:xfrm>
        <a:graphic>
          <a:graphicData uri="http://schemas.openxmlformats.org/presentationml/2006/ole">
            <mc:AlternateContent xmlns:mc="http://schemas.openxmlformats.org/markup-compatibility/2006">
              <mc:Choice xmlns:v="urn:schemas-microsoft-com:vml" Requires="v">
                <p:oleObj spid="_x0000_s3077" name="" r:id="rId2" imgW="2371725" imgH="2190750" progId="PBrush">
                  <p:embed/>
                </p:oleObj>
              </mc:Choice>
              <mc:Fallback>
                <p:oleObj name="" r:id="rId2" imgW="2371725" imgH="2190750" progId="PBrush">
                  <p:embed/>
                  <p:pic>
                    <p:nvPicPr>
                      <p:cNvPr id="0" name="图片 3076"/>
                      <p:cNvPicPr/>
                      <p:nvPr/>
                    </p:nvPicPr>
                    <p:blipFill>
                      <a:blip r:embed="rId3"/>
                      <a:stretch>
                        <a:fillRect/>
                      </a:stretch>
                    </p:blipFill>
                    <p:spPr>
                      <a:xfrm>
                        <a:off x="803275" y="3040063"/>
                        <a:ext cx="3311525" cy="1331912"/>
                      </a:xfrm>
                      <a:prstGeom prst="rect">
                        <a:avLst/>
                      </a:prstGeom>
                      <a:noFill/>
                      <a:ln w="38100">
                        <a:noFill/>
                        <a:miter/>
                      </a:ln>
                    </p:spPr>
                  </p:pic>
                </p:oleObj>
              </mc:Fallback>
            </mc:AlternateContent>
          </a:graphicData>
        </a:graphic>
      </p:graphicFrame>
      <p:graphicFrame>
        <p:nvGraphicFramePr>
          <p:cNvPr id="18459" name="Object 1056"/>
          <p:cNvGraphicFramePr>
            <a:graphicFrameLocks noChangeAspect="1"/>
          </p:cNvGraphicFramePr>
          <p:nvPr/>
        </p:nvGraphicFramePr>
        <p:xfrm>
          <a:off x="4648200" y="3017838"/>
          <a:ext cx="3933825" cy="1354137"/>
        </p:xfrm>
        <a:graphic>
          <a:graphicData uri="http://schemas.openxmlformats.org/presentationml/2006/ole">
            <mc:AlternateContent xmlns:mc="http://schemas.openxmlformats.org/markup-compatibility/2006">
              <mc:Choice xmlns:v="urn:schemas-microsoft-com:vml" Requires="v">
                <p:oleObj spid="_x0000_s3076" name="" r:id="rId4" imgW="2457450" imgH="1314450" progId="PBrush">
                  <p:embed/>
                </p:oleObj>
              </mc:Choice>
              <mc:Fallback>
                <p:oleObj name="" r:id="rId4" imgW="2457450" imgH="1314450" progId="PBrush">
                  <p:embed/>
                  <p:pic>
                    <p:nvPicPr>
                      <p:cNvPr id="0" name="图片 3075"/>
                      <p:cNvPicPr/>
                      <p:nvPr/>
                    </p:nvPicPr>
                    <p:blipFill>
                      <a:blip r:embed="rId5"/>
                      <a:stretch>
                        <a:fillRect/>
                      </a:stretch>
                    </p:blipFill>
                    <p:spPr>
                      <a:xfrm>
                        <a:off x="4648200" y="3017838"/>
                        <a:ext cx="3933825" cy="1354137"/>
                      </a:xfrm>
                      <a:prstGeom prst="rect">
                        <a:avLst/>
                      </a:prstGeom>
                      <a:noFill/>
                      <a:ln w="38100">
                        <a:noFill/>
                        <a:miter/>
                      </a:ln>
                    </p:spPr>
                  </p:pic>
                </p:oleObj>
              </mc:Fallback>
            </mc:AlternateContent>
          </a:graphicData>
        </a:graphic>
      </p:graphicFrame>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additive="base">
                                        <p:cTn id="7" dur="500" fill="hold"/>
                                        <p:tgtEl>
                                          <p:spTgt spid="18434"/>
                                        </p:tgtEl>
                                        <p:attrNameLst>
                                          <p:attrName>ppt_x</p:attrName>
                                        </p:attrNameLst>
                                      </p:cBhvr>
                                      <p:tavLst>
                                        <p:tav tm="0">
                                          <p:val>
                                            <p:strVal val="#ppt_x"/>
                                          </p:val>
                                        </p:tav>
                                        <p:tav tm="100000">
                                          <p:val>
                                            <p:strVal val="#ppt_x"/>
                                          </p:val>
                                        </p:tav>
                                      </p:tavLst>
                                    </p:anim>
                                    <p:anim calcmode="lin" valueType="num">
                                      <p:cBhvr additive="base">
                                        <p:cTn id="8" dur="500" fill="hold"/>
                                        <p:tgtEl>
                                          <p:spTgt spid="1843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435"/>
                                        </p:tgtEl>
                                        <p:attrNameLst>
                                          <p:attrName>style.visibility</p:attrName>
                                        </p:attrNameLst>
                                      </p:cBhvr>
                                      <p:to>
                                        <p:strVal val="visible"/>
                                      </p:to>
                                    </p:set>
                                    <p:anim calcmode="lin" valueType="num">
                                      <p:cBhvr additive="base">
                                        <p:cTn id="11" dur="500" fill="hold"/>
                                        <p:tgtEl>
                                          <p:spTgt spid="18435"/>
                                        </p:tgtEl>
                                        <p:attrNameLst>
                                          <p:attrName>ppt_x</p:attrName>
                                        </p:attrNameLst>
                                      </p:cBhvr>
                                      <p:tavLst>
                                        <p:tav tm="0">
                                          <p:val>
                                            <p:strVal val="#ppt_x"/>
                                          </p:val>
                                        </p:tav>
                                        <p:tav tm="100000">
                                          <p:val>
                                            <p:strVal val="#ppt_x"/>
                                          </p:val>
                                        </p:tav>
                                      </p:tavLst>
                                    </p:anim>
                                    <p:anim calcmode="lin" valueType="num">
                                      <p:cBhvr additive="base">
                                        <p:cTn id="12" dur="500" fill="hold"/>
                                        <p:tgtEl>
                                          <p:spTgt spid="1843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457">
                                            <p:txEl>
                                              <p:pRg st="0" end="0"/>
                                            </p:txEl>
                                          </p:spTgt>
                                        </p:tgtEl>
                                        <p:attrNameLst>
                                          <p:attrName>style.visibility</p:attrName>
                                        </p:attrNameLst>
                                      </p:cBhvr>
                                      <p:to>
                                        <p:strVal val="visible"/>
                                      </p:to>
                                    </p:set>
                                    <p:anim calcmode="lin" valueType="num">
                                      <p:cBhvr additive="base">
                                        <p:cTn id="15" dur="500" fill="hold"/>
                                        <p:tgtEl>
                                          <p:spTgt spid="18457">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457">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458"/>
                                        </p:tgtEl>
                                        <p:attrNameLst>
                                          <p:attrName>style.visibility</p:attrName>
                                        </p:attrNameLst>
                                      </p:cBhvr>
                                      <p:to>
                                        <p:strVal val="visible"/>
                                      </p:to>
                                    </p:set>
                                    <p:anim calcmode="lin" valueType="num">
                                      <p:cBhvr additive="base">
                                        <p:cTn id="19" dur="500" fill="hold"/>
                                        <p:tgtEl>
                                          <p:spTgt spid="18458"/>
                                        </p:tgtEl>
                                        <p:attrNameLst>
                                          <p:attrName>ppt_x</p:attrName>
                                        </p:attrNameLst>
                                      </p:cBhvr>
                                      <p:tavLst>
                                        <p:tav tm="0">
                                          <p:val>
                                            <p:strVal val="#ppt_x"/>
                                          </p:val>
                                        </p:tav>
                                        <p:tav tm="100000">
                                          <p:val>
                                            <p:strVal val="#ppt_x"/>
                                          </p:val>
                                        </p:tav>
                                      </p:tavLst>
                                    </p:anim>
                                    <p:anim calcmode="lin" valueType="num">
                                      <p:cBhvr additive="base">
                                        <p:cTn id="20" dur="500" fill="hold"/>
                                        <p:tgtEl>
                                          <p:spTgt spid="1845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459"/>
                                        </p:tgtEl>
                                        <p:attrNameLst>
                                          <p:attrName>style.visibility</p:attrName>
                                        </p:attrNameLst>
                                      </p:cBhvr>
                                      <p:to>
                                        <p:strVal val="visible"/>
                                      </p:to>
                                    </p:set>
                                    <p:anim calcmode="lin" valueType="num">
                                      <p:cBhvr additive="base">
                                        <p:cTn id="23" dur="500" fill="hold"/>
                                        <p:tgtEl>
                                          <p:spTgt spid="18459"/>
                                        </p:tgtEl>
                                        <p:attrNameLst>
                                          <p:attrName>ppt_x</p:attrName>
                                        </p:attrNameLst>
                                      </p:cBhvr>
                                      <p:tavLst>
                                        <p:tav tm="0">
                                          <p:val>
                                            <p:strVal val="#ppt_x"/>
                                          </p:val>
                                        </p:tav>
                                        <p:tav tm="100000">
                                          <p:val>
                                            <p:strVal val="#ppt_x"/>
                                          </p:val>
                                        </p:tav>
                                      </p:tavLst>
                                    </p:anim>
                                    <p:anim calcmode="lin" valueType="num">
                                      <p:cBhvr additive="base">
                                        <p:cTn id="24" dur="500" fill="hold"/>
                                        <p:tgtEl>
                                          <p:spTgt spid="18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5" grpId="0"/>
      <p:bldP spid="18457" grpId="0" build="p"/>
      <p:bldP spid="18434" grpId="1"/>
      <p:bldP spid="18435" grpId="1"/>
      <p:bldP spid="18457"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945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9460" name="Rectangle 3"/>
          <p:cNvSpPr>
            <a:spLocks noGrp="1"/>
          </p:cNvSpPr>
          <p:nvPr>
            <p:ph type="title"/>
          </p:nvPr>
        </p:nvSpPr>
        <p:spPr>
          <a:xfrm>
            <a:off x="346075" y="663575"/>
            <a:ext cx="8763000" cy="468313"/>
          </a:xfrm>
          <a:prstGeom prst="rect">
            <a:avLst/>
          </a:prstGeom>
          <a:noFill/>
          <a:ln w="9525">
            <a:noFill/>
          </a:ln>
        </p:spPr>
        <p:txBody>
          <a:bodyPr/>
          <a:p>
            <a:pPr eaLnBrk="1" hangingPunct="1">
              <a:lnSpc>
                <a:spcPct val="110000"/>
              </a:lnSpc>
            </a:pPr>
            <a:r>
              <a:rPr lang="en-US" altLang="zh-CN" sz="2000" b="1" dirty="0">
                <a:latin typeface="华文新魏" panose="02010800040101010101" pitchFamily="2" charset="-122"/>
                <a:ea typeface="华文新魏" panose="02010800040101010101" pitchFamily="2" charset="-122"/>
              </a:rPr>
              <a:t>   4) </a:t>
            </a:r>
            <a:r>
              <a:rPr lang="zh-CN" altLang="en-US" sz="2000" b="1" dirty="0">
                <a:latin typeface="华文新魏" panose="02010800040101010101" pitchFamily="2" charset="-122"/>
                <a:ea typeface="华文新魏" panose="02010800040101010101" pitchFamily="2" charset="-122"/>
              </a:rPr>
              <a:t>逻辑约定</a:t>
            </a:r>
            <a:endParaRPr lang="zh-CN" altLang="en-US" sz="2000" b="1" dirty="0">
              <a:latin typeface="华文新魏" panose="02010800040101010101" pitchFamily="2" charset="-122"/>
              <a:ea typeface="华文新魏" panose="02010800040101010101" pitchFamily="2" charset="-122"/>
            </a:endParaRPr>
          </a:p>
        </p:txBody>
      </p:sp>
      <p:sp>
        <p:nvSpPr>
          <p:cNvPr id="19461" name="Rectangle 4"/>
          <p:cNvSpPr>
            <a:spLocks noGrp="1"/>
          </p:cNvSpPr>
          <p:nvPr>
            <p:ph/>
          </p:nvPr>
        </p:nvSpPr>
        <p:spPr>
          <a:xfrm>
            <a:off x="203200" y="1138238"/>
            <a:ext cx="8310563" cy="2225675"/>
          </a:xfrm>
          <a:prstGeom prst="rect">
            <a:avLst/>
          </a:prstGeom>
          <a:noFill/>
          <a:ln w="9525">
            <a:noFill/>
          </a:ln>
        </p:spPr>
        <p:txBody>
          <a:bodyPr/>
          <a:p>
            <a:pPr eaLnBrk="1" hangingPunct="1">
              <a:buNone/>
            </a:pPr>
            <a:r>
              <a:rPr lang="en-US" altLang="zh-CN" sz="1800" b="1"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规定</a:t>
            </a: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逻辑电平</a:t>
            </a:r>
            <a:r>
              <a:rPr lang="zh-CN" altLang="en-US" sz="2000" dirty="0">
                <a:latin typeface="华文新魏" panose="02010800040101010101" pitchFamily="2" charset="-122"/>
                <a:ea typeface="华文新魏" panose="02010800040101010101" pitchFamily="2" charset="-122"/>
              </a:rPr>
              <a:t>（表示物理器件的电压物理量状态）与</a:t>
            </a:r>
            <a:r>
              <a:rPr lang="zh-CN" altLang="en-US" sz="2000" b="1" dirty="0">
                <a:solidFill>
                  <a:srgbClr val="FF0000"/>
                </a:solidFill>
                <a:latin typeface="华文新魏" panose="02010800040101010101" pitchFamily="2" charset="-122"/>
                <a:ea typeface="华文新魏" panose="02010800040101010101" pitchFamily="2" charset="-122"/>
              </a:rPr>
              <a:t> 逻辑状态</a:t>
            </a:r>
            <a:r>
              <a:rPr lang="zh-CN" altLang="en-US" sz="2000" dirty="0">
                <a:latin typeface="华文新魏" panose="02010800040101010101" pitchFamily="2" charset="-122"/>
                <a:ea typeface="华文新魏" panose="02010800040101010101" pitchFamily="2" charset="-122"/>
              </a:rPr>
              <a:t>（表示物理器件的功能）之间的</a:t>
            </a:r>
            <a:r>
              <a:rPr lang="zh-CN" altLang="en-US" sz="2000" b="1" dirty="0">
                <a:latin typeface="华文新魏" panose="02010800040101010101" pitchFamily="2" charset="-122"/>
                <a:ea typeface="华文新魏" panose="02010800040101010101" pitchFamily="2" charset="-122"/>
              </a:rPr>
              <a:t>关系，</a:t>
            </a:r>
            <a:r>
              <a:rPr lang="zh-CN" altLang="en-US" sz="2000" dirty="0">
                <a:latin typeface="华文新魏" panose="02010800040101010101" pitchFamily="2" charset="-122"/>
                <a:ea typeface="华文新魏" panose="02010800040101010101" pitchFamily="2" charset="-122"/>
              </a:rPr>
              <a:t>即 </a:t>
            </a:r>
            <a:r>
              <a:rPr lang="zh-CN" altLang="en-US" sz="2000" b="1" dirty="0">
                <a:latin typeface="华文新魏" panose="02010800040101010101" pitchFamily="2" charset="-122"/>
                <a:ea typeface="华文新魏" panose="02010800040101010101" pitchFamily="2" charset="-122"/>
              </a:rPr>
              <a:t>逻辑规定（约定）。</a:t>
            </a:r>
            <a:r>
              <a:rPr lang="zh-CN" altLang="en-US" sz="2000" dirty="0">
                <a:latin typeface="华文新魏" panose="02010800040101010101" pitchFamily="2" charset="-122"/>
                <a:ea typeface="华文新魏" panose="02010800040101010101" pitchFamily="2" charset="-122"/>
              </a:rPr>
              <a:t>这一规定过程称为</a:t>
            </a:r>
            <a:r>
              <a:rPr lang="zh-CN" altLang="en-US" sz="2000" b="1" dirty="0">
                <a:solidFill>
                  <a:srgbClr val="FF0000"/>
                </a:solidFill>
                <a:latin typeface="华文新魏" panose="02010800040101010101" pitchFamily="2" charset="-122"/>
                <a:ea typeface="华文新魏" panose="02010800040101010101" pitchFamily="2" charset="-122"/>
              </a:rPr>
              <a:t>逻辑化过程</a:t>
            </a:r>
            <a:r>
              <a:rPr lang="zh-CN" altLang="en-US" sz="2000" dirty="0">
                <a:latin typeface="华文新魏" panose="02010800040101010101" pitchFamily="2" charset="-122"/>
                <a:ea typeface="华文新魏" panose="02010800040101010101" pitchFamily="2" charset="-122"/>
              </a:rPr>
              <a:t>。        </a:t>
            </a:r>
            <a:endParaRPr lang="zh-CN" altLang="en-US" sz="2000" dirty="0">
              <a:latin typeface="华文新魏" panose="02010800040101010101" pitchFamily="2" charset="-122"/>
              <a:ea typeface="华文新魏" panose="02010800040101010101" pitchFamily="2" charset="-122"/>
            </a:endParaRPr>
          </a:p>
          <a:p>
            <a:pPr eaLnBrk="1" hangingPunct="1">
              <a:buNone/>
            </a:pPr>
            <a:r>
              <a:rPr lang="zh-CN" altLang="en-US" sz="2000" b="1" dirty="0">
                <a:latin typeface="华文新魏" panose="02010800040101010101" pitchFamily="2" charset="-122"/>
                <a:ea typeface="华文新魏" panose="02010800040101010101" pitchFamily="2" charset="-122"/>
              </a:rPr>
              <a:t>    逻辑规定</a:t>
            </a:r>
            <a:r>
              <a:rPr lang="zh-CN" altLang="en-US" sz="2000" dirty="0">
                <a:latin typeface="华文新魏" panose="02010800040101010101" pitchFamily="2" charset="-122"/>
                <a:ea typeface="华文新魏" panose="02010800040101010101" pitchFamily="2" charset="-122"/>
              </a:rPr>
              <a:t>有两种：</a:t>
            </a:r>
            <a:r>
              <a:rPr lang="zh-CN" altLang="en-US" sz="2000" b="1" dirty="0">
                <a:solidFill>
                  <a:srgbClr val="FF0000"/>
                </a:solidFill>
                <a:latin typeface="华文新魏" panose="02010800040101010101" pitchFamily="2" charset="-122"/>
                <a:ea typeface="华文新魏" panose="02010800040101010101" pitchFamily="2" charset="-122"/>
              </a:rPr>
              <a:t>正逻辑</a:t>
            </a:r>
            <a:r>
              <a:rPr lang="zh-CN" altLang="en-US" sz="2000" dirty="0">
                <a:solidFill>
                  <a:srgbClr val="FF0000"/>
                </a:solidFill>
                <a:latin typeface="华文新魏" panose="02010800040101010101" pitchFamily="2" charset="-122"/>
                <a:ea typeface="华文新魏" panose="02010800040101010101" pitchFamily="2" charset="-122"/>
              </a:rPr>
              <a:t>规定</a:t>
            </a:r>
            <a:r>
              <a:rPr lang="zh-CN" altLang="en-US" sz="2000" dirty="0">
                <a:latin typeface="华文新魏" panose="02010800040101010101" pitchFamily="2" charset="-122"/>
                <a:ea typeface="华文新魏" panose="02010800040101010101" pitchFamily="2" charset="-122"/>
              </a:rPr>
              <a:t>（约定）和</a:t>
            </a:r>
            <a:r>
              <a:rPr lang="zh-CN" altLang="en-US" sz="2000" b="1" dirty="0">
                <a:solidFill>
                  <a:srgbClr val="FF0000"/>
                </a:solidFill>
                <a:latin typeface="华文新魏" panose="02010800040101010101" pitchFamily="2" charset="-122"/>
                <a:ea typeface="华文新魏" panose="02010800040101010101" pitchFamily="2" charset="-122"/>
              </a:rPr>
              <a:t>负逻辑</a:t>
            </a:r>
            <a:r>
              <a:rPr lang="zh-CN" altLang="en-US" sz="2000" dirty="0">
                <a:solidFill>
                  <a:srgbClr val="FF0000"/>
                </a:solidFill>
                <a:latin typeface="华文新魏" panose="02010800040101010101" pitchFamily="2" charset="-122"/>
                <a:ea typeface="华文新魏" panose="02010800040101010101" pitchFamily="2" charset="-122"/>
              </a:rPr>
              <a:t>规定</a:t>
            </a:r>
            <a:r>
              <a:rPr lang="zh-CN" altLang="en-US" sz="2000" dirty="0">
                <a:latin typeface="华文新魏" panose="02010800040101010101" pitchFamily="2" charset="-122"/>
                <a:ea typeface="华文新魏" panose="02010800040101010101" pitchFamily="2" charset="-122"/>
              </a:rPr>
              <a:t>（约定），如下：</a:t>
            </a:r>
            <a:endParaRPr lang="zh-CN" altLang="en-US" sz="2000" dirty="0">
              <a:latin typeface="华文新魏" panose="02010800040101010101" pitchFamily="2" charset="-122"/>
              <a:ea typeface="华文新魏" panose="02010800040101010101" pitchFamily="2" charset="-122"/>
            </a:endParaRPr>
          </a:p>
        </p:txBody>
      </p:sp>
      <p:pic>
        <p:nvPicPr>
          <p:cNvPr id="19462" name="Group 67"/>
          <p:cNvPicPr/>
          <p:nvPr/>
        </p:nvPicPr>
        <p:blipFill>
          <a:blip r:embed="rId1"/>
          <a:stretch>
            <a:fillRect/>
          </a:stretch>
        </p:blipFill>
        <p:spPr>
          <a:xfrm>
            <a:off x="628650" y="2865120"/>
            <a:ext cx="7858125" cy="1665605"/>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048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0484" name="Rectangle 2"/>
          <p:cNvSpPr>
            <a:spLocks noGrp="1"/>
          </p:cNvSpPr>
          <p:nvPr>
            <p:ph type="title"/>
          </p:nvPr>
        </p:nvSpPr>
        <p:spPr>
          <a:xfrm>
            <a:off x="468313" y="2318703"/>
            <a:ext cx="7704137" cy="973137"/>
          </a:xfrm>
          <a:prstGeom prst="rect">
            <a:avLst/>
          </a:prstGeom>
          <a:noFill/>
          <a:ln w="9525">
            <a:noFill/>
          </a:ln>
        </p:spPr>
        <p:txBody>
          <a:bodyPr/>
          <a:p>
            <a:pPr eaLnBrk="1" hangingPunct="1">
              <a:lnSpc>
                <a:spcPct val="125000"/>
              </a:lnSpc>
              <a:spcBef>
                <a:spcPts val="0"/>
              </a:spcBef>
              <a:spcAft>
                <a:spcPts val="0"/>
              </a:spcAft>
            </a:pPr>
            <a:r>
              <a:rPr lang="en-US" altLang="zh-CN" sz="1800" dirty="0">
                <a:latin typeface="华文新魏" panose="02010800040101010101" pitchFamily="2" charset="-122"/>
                <a:ea typeface="华文新魏" panose="02010800040101010101" pitchFamily="2" charset="-122"/>
              </a:rPr>
              <a:t>5) </a:t>
            </a:r>
            <a:r>
              <a:rPr lang="zh-CN" altLang="en-US" sz="1800" b="1" dirty="0">
                <a:latin typeface="华文新魏" panose="02010800040101010101" pitchFamily="2" charset="-122"/>
                <a:ea typeface="华文新魏" panose="02010800040101010101" pitchFamily="2" charset="-122"/>
              </a:rPr>
              <a:t>逻辑电路：</a:t>
            </a:r>
            <a:br>
              <a:rPr lang="zh-CN" altLang="en-US" sz="1800" b="1" dirty="0">
                <a:latin typeface="华文新魏" panose="02010800040101010101" pitchFamily="2" charset="-122"/>
                <a:ea typeface="华文新魏" panose="02010800040101010101" pitchFamily="2" charset="-122"/>
              </a:rPr>
            </a:br>
            <a:r>
              <a:rPr lang="zh-CN" altLang="en-US" sz="1800" b="1"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由实现</a:t>
            </a:r>
            <a:r>
              <a:rPr lang="zh-CN" altLang="en-US" sz="1800" u="sng" dirty="0">
                <a:solidFill>
                  <a:srgbClr val="FF0000"/>
                </a:solidFill>
                <a:latin typeface="华文新魏" panose="02010800040101010101" pitchFamily="2" charset="-122"/>
                <a:ea typeface="华文新魏" panose="02010800040101010101" pitchFamily="2" charset="-122"/>
              </a:rPr>
              <a:t>逻辑变量</a:t>
            </a:r>
            <a:r>
              <a:rPr lang="zh-CN" altLang="en-US" sz="1800" dirty="0">
                <a:latin typeface="华文新魏" panose="02010800040101010101" pitchFamily="2" charset="-122"/>
                <a:ea typeface="华文新魏" panose="02010800040101010101" pitchFamily="2" charset="-122"/>
              </a:rPr>
              <a:t>之间逻辑关系的物理器件所构成的电路称为逻辑电路，</a:t>
            </a:r>
            <a:br>
              <a:rPr lang="en-US" altLang="zh-CN" sz="1800" dirty="0">
                <a:latin typeface="华文新魏" panose="02010800040101010101" pitchFamily="2" charset="-122"/>
                <a:ea typeface="华文新魏" panose="02010800040101010101" pitchFamily="2" charset="-122"/>
              </a:rPr>
            </a:br>
            <a:r>
              <a:rPr lang="zh-CN" altLang="en-US" sz="1800" dirty="0">
                <a:latin typeface="华文新魏" panose="02010800040101010101" pitchFamily="2" charset="-122"/>
                <a:ea typeface="华文新魏" panose="02010800040101010101" pitchFamily="2" charset="-122"/>
              </a:rPr>
              <a:t>即</a:t>
            </a:r>
            <a:r>
              <a:rPr lang="zh-CN" altLang="en-US" sz="1800" dirty="0">
                <a:latin typeface="华文新魏" panose="02010800040101010101" pitchFamily="2" charset="-122"/>
                <a:ea typeface="华文新魏" panose="02010800040101010101" pitchFamily="2" charset="-122"/>
              </a:rPr>
              <a:t>数字逻辑电路。</a:t>
            </a:r>
            <a:endParaRPr lang="zh-CN" altLang="en-US" sz="1800" dirty="0">
              <a:latin typeface="华文新魏" panose="02010800040101010101" pitchFamily="2" charset="-122"/>
              <a:ea typeface="华文新魏" panose="02010800040101010101" pitchFamily="2" charset="-122"/>
            </a:endParaRPr>
          </a:p>
        </p:txBody>
      </p:sp>
      <p:sp>
        <p:nvSpPr>
          <p:cNvPr id="20485" name="Rectangle 3"/>
          <p:cNvSpPr>
            <a:spLocks noGrp="1"/>
          </p:cNvSpPr>
          <p:nvPr>
            <p:ph/>
          </p:nvPr>
        </p:nvSpPr>
        <p:spPr>
          <a:xfrm>
            <a:off x="250825" y="3486150"/>
            <a:ext cx="7993380" cy="1210310"/>
          </a:xfrm>
          <a:prstGeom prst="rect">
            <a:avLst/>
          </a:prstGeom>
          <a:noFill/>
          <a:ln w="9525">
            <a:noFill/>
          </a:ln>
        </p:spPr>
        <p:txBody>
          <a:bodyPr/>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啥是逻辑代数？</a:t>
            </a:r>
            <a:r>
              <a:rPr lang="zh-CN" altLang="en-US" sz="1800" dirty="0">
                <a:latin typeface="华文新魏" panose="02010800040101010101" pitchFamily="2" charset="-122"/>
                <a:ea typeface="华文新魏" panose="02010800040101010101" pitchFamily="2" charset="-122"/>
              </a:rPr>
              <a:t>：用代数形式表现逻辑变量之间的因果关系</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 用代数运算对这些逻辑变量进行逻辑推理。因此，</a:t>
            </a:r>
            <a:r>
              <a:rPr lang="zh-CN" altLang="en-US" sz="1800" dirty="0">
                <a:solidFill>
                  <a:srgbClr val="0000FF"/>
                </a:solidFill>
                <a:latin typeface="华文新魏" panose="02010800040101010101" pitchFamily="2" charset="-122"/>
                <a:ea typeface="华文新魏" panose="02010800040101010101" pitchFamily="2" charset="-122"/>
              </a:rPr>
              <a:t>逻辑代数是</a:t>
            </a:r>
            <a:r>
              <a:rPr lang="zh-CN" altLang="en-US" sz="1800" b="1" dirty="0">
                <a:solidFill>
                  <a:srgbClr val="0000FF"/>
                </a:solidFill>
                <a:latin typeface="华文新魏" panose="02010800040101010101" pitchFamily="2" charset="-122"/>
                <a:ea typeface="华文新魏" panose="02010800040101010101" pitchFamily="2" charset="-122"/>
              </a:rPr>
              <a:t>一个集合</a:t>
            </a:r>
            <a:r>
              <a:rPr lang="zh-CN" altLang="en-US" sz="1800" dirty="0">
                <a:latin typeface="华文新魏" panose="02010800040101010101" pitchFamily="2" charset="-122"/>
                <a:ea typeface="华文新魏" panose="02010800040101010101" pitchFamily="2" charset="-122"/>
              </a:rPr>
              <a:t>：逻辑变量集，常量</a:t>
            </a:r>
            <a:r>
              <a:rPr lang="en-US" altLang="zh-CN" sz="1800"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和</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与</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或</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和</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非</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三种基本逻辑运算</a:t>
            </a:r>
            <a:r>
              <a:rPr lang="zh-CN" altLang="en-US" sz="1800" dirty="0">
                <a:latin typeface="华文新魏" panose="02010800040101010101" pitchFamily="2" charset="-122"/>
                <a:ea typeface="华文新魏" panose="02010800040101010101" pitchFamily="2" charset="-122"/>
              </a:rPr>
              <a:t>组成。逻辑运算的优先顺序是：</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非</a:t>
            </a:r>
            <a:r>
              <a:rPr lang="zh-CN" altLang="en-US" sz="1800" dirty="0">
                <a:latin typeface="黑体" panose="02010609060101010101" pitchFamily="49" charset="-122"/>
                <a:ea typeface="华文新魏" panose="02010800040101010101" pitchFamily="2" charset="-122"/>
              </a:rPr>
              <a:t>”运算</a:t>
            </a:r>
            <a:r>
              <a:rPr lang="zh-CN" altLang="en-US" sz="1800" dirty="0">
                <a:latin typeface="华文新魏" panose="02010800040101010101" pitchFamily="2" charset="-122"/>
                <a:ea typeface="华文新魏" panose="02010800040101010101" pitchFamily="2" charset="-122"/>
              </a:rPr>
              <a:t>最高，</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与</a:t>
            </a:r>
            <a:r>
              <a:rPr lang="zh-CN" altLang="en-US" sz="1800" dirty="0">
                <a:latin typeface="黑体" panose="02010609060101010101" pitchFamily="49" charset="-122"/>
                <a:ea typeface="华文新魏" panose="02010800040101010101" pitchFamily="2" charset="-122"/>
              </a:rPr>
              <a:t>”运算</a:t>
            </a:r>
            <a:r>
              <a:rPr lang="zh-CN" altLang="en-US" sz="1800" dirty="0">
                <a:latin typeface="华文新魏" panose="02010800040101010101" pitchFamily="2" charset="-122"/>
                <a:ea typeface="华文新魏" panose="02010800040101010101" pitchFamily="2" charset="-122"/>
              </a:rPr>
              <a:t>次之，</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或</a:t>
            </a:r>
            <a:r>
              <a:rPr lang="zh-CN" altLang="en-US" sz="1800" dirty="0">
                <a:latin typeface="黑体" panose="02010609060101010101" pitchFamily="49" charset="-122"/>
                <a:ea typeface="华文新魏" panose="02010800040101010101" pitchFamily="2" charset="-122"/>
              </a:rPr>
              <a:t>”运算</a:t>
            </a:r>
            <a:r>
              <a:rPr lang="zh-CN" altLang="en-US" sz="1800" dirty="0">
                <a:latin typeface="华文新魏" panose="02010800040101010101" pitchFamily="2" charset="-122"/>
                <a:ea typeface="华文新魏" panose="02010800040101010101" pitchFamily="2" charset="-122"/>
              </a:rPr>
              <a:t>最低。</a:t>
            </a:r>
            <a:endParaRPr lang="zh-CN" altLang="en-US" sz="1800" dirty="0">
              <a:latin typeface="华文新魏" panose="02010800040101010101" pitchFamily="2" charset="-122"/>
              <a:ea typeface="华文新魏" panose="02010800040101010101" pitchFamily="2" charset="-122"/>
            </a:endParaRPr>
          </a:p>
        </p:txBody>
      </p:sp>
      <p:grpSp>
        <p:nvGrpSpPr>
          <p:cNvPr id="20486" name="Group 27"/>
          <p:cNvGrpSpPr/>
          <p:nvPr/>
        </p:nvGrpSpPr>
        <p:grpSpPr>
          <a:xfrm>
            <a:off x="564902" y="731520"/>
            <a:ext cx="7512050" cy="1400175"/>
            <a:chOff x="18" y="0"/>
            <a:chExt cx="5376" cy="1440"/>
          </a:xfrm>
        </p:grpSpPr>
        <p:sp>
          <p:nvSpPr>
            <p:cNvPr id="20487" name="Rectangle 6"/>
            <p:cNvSpPr/>
            <p:nvPr/>
          </p:nvSpPr>
          <p:spPr>
            <a:xfrm>
              <a:off x="18" y="0"/>
              <a:ext cx="5376" cy="1440"/>
            </a:xfrm>
            <a:prstGeom prst="rect">
              <a:avLst/>
            </a:prstGeom>
            <a:solidFill>
              <a:srgbClr val="8FAADC"/>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488" name="Rectangle 7"/>
            <p:cNvSpPr/>
            <p:nvPr/>
          </p:nvSpPr>
          <p:spPr>
            <a:xfrm>
              <a:off x="1416" y="538"/>
              <a:ext cx="936" cy="520"/>
            </a:xfrm>
            <a:prstGeom prst="rect">
              <a:avLst/>
            </a:prstGeom>
            <a:solidFill>
              <a:schemeClr val="bg1"/>
            </a:solidFill>
            <a:ln w="9525">
              <a:noFill/>
            </a:ln>
          </p:spPr>
          <p:txBody>
            <a:bodyPr anchor="b" anchorCtr="1"/>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1</a:t>
              </a:r>
              <a:endParaRPr lang="en-US" altLang="zh-CN" sz="1800"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0</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0489" name="Rectangle 8"/>
            <p:cNvSpPr/>
            <p:nvPr/>
          </p:nvSpPr>
          <p:spPr>
            <a:xfrm>
              <a:off x="480" y="538"/>
              <a:ext cx="936" cy="520"/>
            </a:xfrm>
            <a:prstGeom prst="rect">
              <a:avLst/>
            </a:prstGeom>
            <a:solidFill>
              <a:schemeClr val="bg1"/>
            </a:solidFill>
            <a:ln w="9525">
              <a:noFill/>
            </a:ln>
          </p:spPr>
          <p:txBody>
            <a:bodyPr anchor="b" anchorCtr="1"/>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L</a:t>
              </a:r>
              <a:endParaRPr lang="en-US" altLang="zh-CN" sz="1800"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H</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0490" name="Rectangle 9"/>
            <p:cNvSpPr/>
            <p:nvPr/>
          </p:nvSpPr>
          <p:spPr>
            <a:xfrm>
              <a:off x="1416" y="218"/>
              <a:ext cx="936" cy="320"/>
            </a:xfrm>
            <a:prstGeom prst="rect">
              <a:avLst/>
            </a:prstGeom>
            <a:solidFill>
              <a:schemeClr val="bg1"/>
            </a:solidFill>
            <a:ln w="9525">
              <a:noFill/>
            </a:ln>
          </p:spPr>
          <p:txBody>
            <a:bodyPr anchor="b" anchorCtr="1"/>
            <a:p>
              <a:pPr eaLnBrk="1" hangingPunct="1">
                <a:lnSpc>
                  <a:spcPct val="60000"/>
                </a:lnSpc>
                <a:spcBef>
                  <a:spcPct val="2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逻辑状态</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491" name="Rectangle 10"/>
            <p:cNvSpPr/>
            <p:nvPr/>
          </p:nvSpPr>
          <p:spPr>
            <a:xfrm>
              <a:off x="480" y="218"/>
              <a:ext cx="936" cy="320"/>
            </a:xfrm>
            <a:prstGeom prst="rect">
              <a:avLst/>
            </a:prstGeom>
            <a:solidFill>
              <a:schemeClr val="bg1"/>
            </a:solidFill>
            <a:ln w="9525">
              <a:noFill/>
            </a:ln>
          </p:spPr>
          <p:txBody>
            <a:bodyPr anchor="b" anchorCtr="1"/>
            <a:p>
              <a:pPr eaLnBrk="1" hangingPunct="1">
                <a:lnSpc>
                  <a:spcPct val="60000"/>
                </a:lnSpc>
                <a:spcBef>
                  <a:spcPct val="2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逻辑电平</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492" name="Line 11"/>
            <p:cNvSpPr/>
            <p:nvPr/>
          </p:nvSpPr>
          <p:spPr>
            <a:xfrm>
              <a:off x="480" y="144"/>
              <a:ext cx="1872" cy="0"/>
            </a:xfrm>
            <a:prstGeom prst="line">
              <a:avLst/>
            </a:prstGeom>
            <a:ln w="28575" cap="sq" cmpd="sng">
              <a:solidFill>
                <a:schemeClr val="tx1"/>
              </a:solidFill>
              <a:prstDash val="solid"/>
              <a:headEnd type="none" w="med" len="med"/>
              <a:tailEnd type="none" w="med" len="med"/>
            </a:ln>
          </p:spPr>
        </p:sp>
        <p:sp>
          <p:nvSpPr>
            <p:cNvPr id="20493" name="Line 12"/>
            <p:cNvSpPr/>
            <p:nvPr/>
          </p:nvSpPr>
          <p:spPr>
            <a:xfrm>
              <a:off x="480" y="464"/>
              <a:ext cx="1872" cy="0"/>
            </a:xfrm>
            <a:prstGeom prst="line">
              <a:avLst/>
            </a:prstGeom>
            <a:ln w="12700" cap="flat" cmpd="sng">
              <a:solidFill>
                <a:schemeClr val="tx1"/>
              </a:solidFill>
              <a:prstDash val="solid"/>
              <a:headEnd type="none" w="med" len="med"/>
              <a:tailEnd type="none" w="med" len="med"/>
            </a:ln>
          </p:spPr>
        </p:sp>
        <p:sp>
          <p:nvSpPr>
            <p:cNvPr id="20494" name="Line 13"/>
            <p:cNvSpPr/>
            <p:nvPr/>
          </p:nvSpPr>
          <p:spPr>
            <a:xfrm>
              <a:off x="480" y="984"/>
              <a:ext cx="1872" cy="0"/>
            </a:xfrm>
            <a:prstGeom prst="line">
              <a:avLst/>
            </a:prstGeom>
            <a:ln w="28575" cap="sq" cmpd="sng">
              <a:solidFill>
                <a:schemeClr val="tx1"/>
              </a:solidFill>
              <a:prstDash val="solid"/>
              <a:headEnd type="none" w="med" len="med"/>
              <a:tailEnd type="none" w="med" len="med"/>
            </a:ln>
          </p:spPr>
        </p:sp>
        <p:sp>
          <p:nvSpPr>
            <p:cNvPr id="20495" name="Line 14"/>
            <p:cNvSpPr/>
            <p:nvPr/>
          </p:nvSpPr>
          <p:spPr>
            <a:xfrm>
              <a:off x="480" y="144"/>
              <a:ext cx="0" cy="840"/>
            </a:xfrm>
            <a:prstGeom prst="line">
              <a:avLst/>
            </a:prstGeom>
            <a:ln w="28575" cap="sq" cmpd="sng">
              <a:solidFill>
                <a:schemeClr val="tx1"/>
              </a:solidFill>
              <a:prstDash val="solid"/>
              <a:headEnd type="none" w="med" len="med"/>
              <a:tailEnd type="none" w="med" len="med"/>
            </a:ln>
          </p:spPr>
        </p:sp>
        <p:sp>
          <p:nvSpPr>
            <p:cNvPr id="20496" name="Line 15"/>
            <p:cNvSpPr/>
            <p:nvPr/>
          </p:nvSpPr>
          <p:spPr>
            <a:xfrm>
              <a:off x="1416" y="144"/>
              <a:ext cx="0" cy="840"/>
            </a:xfrm>
            <a:prstGeom prst="line">
              <a:avLst/>
            </a:prstGeom>
            <a:ln w="12700" cap="flat" cmpd="sng">
              <a:solidFill>
                <a:schemeClr val="tx1"/>
              </a:solidFill>
              <a:prstDash val="solid"/>
              <a:headEnd type="none" w="med" len="med"/>
              <a:tailEnd type="none" w="med" len="med"/>
            </a:ln>
          </p:spPr>
        </p:sp>
        <p:sp>
          <p:nvSpPr>
            <p:cNvPr id="20497" name="Line 16"/>
            <p:cNvSpPr/>
            <p:nvPr/>
          </p:nvSpPr>
          <p:spPr>
            <a:xfrm>
              <a:off x="2352" y="144"/>
              <a:ext cx="0" cy="840"/>
            </a:xfrm>
            <a:prstGeom prst="line">
              <a:avLst/>
            </a:prstGeom>
            <a:ln w="28575" cap="sq" cmpd="sng">
              <a:solidFill>
                <a:schemeClr val="tx1"/>
              </a:solidFill>
              <a:prstDash val="solid"/>
              <a:headEnd type="none" w="med" len="med"/>
              <a:tailEnd type="none" w="med" len="med"/>
            </a:ln>
          </p:spPr>
        </p:sp>
        <p:sp>
          <p:nvSpPr>
            <p:cNvPr id="20498" name="Text Box 17"/>
            <p:cNvSpPr txBox="1"/>
            <p:nvPr/>
          </p:nvSpPr>
          <p:spPr>
            <a:xfrm>
              <a:off x="774" y="1146"/>
              <a:ext cx="4080" cy="294"/>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r>
                <a:rPr lang="zh-CN" altLang="en-US" sz="1800" dirty="0">
                  <a:solidFill>
                    <a:schemeClr val="tx1"/>
                  </a:solidFill>
                  <a:latin typeface="华文新魏" panose="02010800040101010101" pitchFamily="2" charset="-122"/>
                  <a:ea typeface="华文新魏" panose="02010800040101010101" pitchFamily="2" charset="-122"/>
                </a:rPr>
                <a:t>负逻辑规定（约定）</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499" name="Line 18"/>
            <p:cNvSpPr/>
            <p:nvPr/>
          </p:nvSpPr>
          <p:spPr>
            <a:xfrm>
              <a:off x="3294" y="343"/>
              <a:ext cx="604" cy="0"/>
            </a:xfrm>
            <a:prstGeom prst="line">
              <a:avLst/>
            </a:prstGeom>
            <a:ln w="12700" cap="flat" cmpd="sng">
              <a:solidFill>
                <a:schemeClr val="tx1"/>
              </a:solidFill>
              <a:prstDash val="solid"/>
              <a:headEnd type="none" w="med" len="med"/>
              <a:tailEnd type="none" w="med" len="med"/>
            </a:ln>
          </p:spPr>
        </p:sp>
        <p:sp>
          <p:nvSpPr>
            <p:cNvPr id="20500" name="Line 19"/>
            <p:cNvSpPr/>
            <p:nvPr/>
          </p:nvSpPr>
          <p:spPr>
            <a:xfrm>
              <a:off x="3878" y="342"/>
              <a:ext cx="566" cy="3"/>
            </a:xfrm>
            <a:prstGeom prst="line">
              <a:avLst/>
            </a:prstGeom>
            <a:ln w="38100" cap="flat" cmpd="sng">
              <a:solidFill>
                <a:schemeClr val="tx1"/>
              </a:solidFill>
              <a:prstDash val="solid"/>
              <a:headEnd type="none" w="med" len="med"/>
              <a:tailEnd type="none" w="med" len="med"/>
            </a:ln>
          </p:spPr>
        </p:sp>
        <p:sp>
          <p:nvSpPr>
            <p:cNvPr id="20501" name="Line 20"/>
            <p:cNvSpPr/>
            <p:nvPr/>
          </p:nvSpPr>
          <p:spPr>
            <a:xfrm>
              <a:off x="3283" y="745"/>
              <a:ext cx="614" cy="0"/>
            </a:xfrm>
            <a:prstGeom prst="line">
              <a:avLst/>
            </a:prstGeom>
            <a:ln w="38100" cap="flat" cmpd="sng">
              <a:solidFill>
                <a:schemeClr val="tx1"/>
              </a:solidFill>
              <a:prstDash val="solid"/>
              <a:headEnd type="none" w="med" len="med"/>
              <a:tailEnd type="none" w="med" len="med"/>
            </a:ln>
          </p:spPr>
        </p:sp>
        <p:sp>
          <p:nvSpPr>
            <p:cNvPr id="20502" name="Line 21"/>
            <p:cNvSpPr/>
            <p:nvPr/>
          </p:nvSpPr>
          <p:spPr>
            <a:xfrm>
              <a:off x="3887" y="342"/>
              <a:ext cx="0" cy="394"/>
            </a:xfrm>
            <a:prstGeom prst="line">
              <a:avLst/>
            </a:prstGeom>
            <a:ln w="38100" cap="flat" cmpd="sng">
              <a:solidFill>
                <a:schemeClr val="tx1"/>
              </a:solidFill>
              <a:prstDash val="solid"/>
              <a:headEnd type="none" w="med" len="med"/>
              <a:tailEnd type="none" w="med" len="med"/>
            </a:ln>
          </p:spPr>
        </p:sp>
        <p:sp>
          <p:nvSpPr>
            <p:cNvPr id="20503" name="Line 22"/>
            <p:cNvSpPr/>
            <p:nvPr/>
          </p:nvSpPr>
          <p:spPr>
            <a:xfrm flipV="1">
              <a:off x="3904" y="744"/>
              <a:ext cx="550" cy="3"/>
            </a:xfrm>
            <a:prstGeom prst="line">
              <a:avLst/>
            </a:prstGeom>
            <a:ln w="12700" cap="flat" cmpd="sng">
              <a:solidFill>
                <a:schemeClr val="tx1"/>
              </a:solidFill>
              <a:prstDash val="solid"/>
              <a:headEnd type="none" w="med" len="med"/>
              <a:tailEnd type="none" w="med" len="med"/>
            </a:ln>
          </p:spPr>
        </p:sp>
        <p:sp>
          <p:nvSpPr>
            <p:cNvPr id="20504" name="Text Box 23"/>
            <p:cNvSpPr txBox="1"/>
            <p:nvPr/>
          </p:nvSpPr>
          <p:spPr>
            <a:xfrm>
              <a:off x="2651" y="207"/>
              <a:ext cx="710" cy="37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H</a:t>
              </a:r>
              <a:r>
                <a:rPr lang="zh-CN" altLang="en-US" sz="1800" dirty="0">
                  <a:solidFill>
                    <a:schemeClr val="tx1"/>
                  </a:solidFill>
                  <a:latin typeface="华文新魏" panose="02010800040101010101" pitchFamily="2" charset="-122"/>
                  <a:ea typeface="华文新魏" panose="02010800040101010101" pitchFamily="2" charset="-122"/>
                </a:rPr>
                <a:t>电平</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505" name="Text Box 24"/>
            <p:cNvSpPr txBox="1"/>
            <p:nvPr/>
          </p:nvSpPr>
          <p:spPr>
            <a:xfrm>
              <a:off x="2649" y="573"/>
              <a:ext cx="797" cy="37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L</a:t>
              </a:r>
              <a:r>
                <a:rPr lang="zh-CN" altLang="en-US" sz="1800" dirty="0">
                  <a:solidFill>
                    <a:schemeClr val="tx1"/>
                  </a:solidFill>
                  <a:latin typeface="华文新魏" panose="02010800040101010101" pitchFamily="2" charset="-122"/>
                  <a:ea typeface="华文新魏" panose="02010800040101010101" pitchFamily="2" charset="-122"/>
                </a:rPr>
                <a:t>电平</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506" name="Text Box 25"/>
            <p:cNvSpPr txBox="1"/>
            <p:nvPr/>
          </p:nvSpPr>
          <p:spPr>
            <a:xfrm>
              <a:off x="4453" y="188"/>
              <a:ext cx="779" cy="37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0</a:t>
              </a:r>
              <a:r>
                <a:rPr lang="zh-CN" altLang="en-US" sz="1800" dirty="0">
                  <a:solidFill>
                    <a:schemeClr val="tx1"/>
                  </a:solidFill>
                  <a:latin typeface="华文新魏" panose="02010800040101010101" pitchFamily="2" charset="-122"/>
                  <a:ea typeface="华文新魏" panose="02010800040101010101" pitchFamily="2" charset="-122"/>
                </a:rPr>
                <a:t>状态</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507" name="Text Box 26"/>
            <p:cNvSpPr txBox="1"/>
            <p:nvPr/>
          </p:nvSpPr>
          <p:spPr>
            <a:xfrm>
              <a:off x="4464" y="576"/>
              <a:ext cx="778" cy="37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状态</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5">
                                            <p:txEl>
                                              <p:pRg st="0" end="0"/>
                                            </p:txEl>
                                          </p:spTgt>
                                        </p:tgtEl>
                                        <p:attrNameLst>
                                          <p:attrName>style.visibility</p:attrName>
                                        </p:attrNameLst>
                                      </p:cBhvr>
                                      <p:to>
                                        <p:strVal val="visible"/>
                                      </p:to>
                                    </p:set>
                                    <p:anim calcmode="lin" valueType="num">
                                      <p:cBhvr additive="base">
                                        <p:cTn id="7" dur="500" fill="hold"/>
                                        <p:tgtEl>
                                          <p:spTgt spid="2048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build="p"/>
      <p:bldP spid="20485"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150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1508" name="Rectangle 3"/>
          <p:cNvSpPr>
            <a:spLocks noGrp="1"/>
          </p:cNvSpPr>
          <p:nvPr>
            <p:ph type="title"/>
          </p:nvPr>
        </p:nvSpPr>
        <p:spPr>
          <a:xfrm>
            <a:off x="314325" y="559118"/>
            <a:ext cx="6705600" cy="57150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6) </a:t>
            </a:r>
            <a:r>
              <a:rPr lang="zh-CN" altLang="en-US" sz="2000" b="1" dirty="0">
                <a:latin typeface="华文新魏" panose="02010800040101010101" pitchFamily="2" charset="-122"/>
                <a:ea typeface="华文新魏" panose="02010800040101010101" pitchFamily="2" charset="-122"/>
              </a:rPr>
              <a:t>逻辑函数</a:t>
            </a:r>
            <a:endParaRPr lang="zh-CN" altLang="en-US" sz="2000" b="1" dirty="0">
              <a:latin typeface="华文新魏" panose="02010800040101010101" pitchFamily="2" charset="-122"/>
              <a:ea typeface="华文新魏" panose="02010800040101010101" pitchFamily="2" charset="-122"/>
            </a:endParaRPr>
          </a:p>
        </p:txBody>
      </p:sp>
      <p:sp>
        <p:nvSpPr>
          <p:cNvPr id="21509" name="Rectangle 4"/>
          <p:cNvSpPr>
            <a:spLocks noGrp="1"/>
          </p:cNvSpPr>
          <p:nvPr>
            <p:ph/>
          </p:nvPr>
        </p:nvSpPr>
        <p:spPr>
          <a:xfrm>
            <a:off x="528320" y="922655"/>
            <a:ext cx="7799070" cy="1599565"/>
          </a:xfrm>
          <a:prstGeom prst="rect">
            <a:avLst/>
          </a:prstGeom>
          <a:noFill/>
          <a:ln w="9525">
            <a:noFill/>
          </a:ln>
        </p:spPr>
        <p:txBody>
          <a:bodyPr/>
          <a:p>
            <a:pPr eaLnBrk="1" hangingPunct="1">
              <a:buNone/>
            </a:pPr>
            <a:r>
              <a:rPr lang="zh-CN" altLang="en-US" sz="1800" dirty="0">
                <a:solidFill>
                  <a:srgbClr val="0000FF"/>
                </a:solidFill>
                <a:latin typeface="华文新魏" panose="02010800040101010101" pitchFamily="2" charset="-122"/>
                <a:ea typeface="华文新魏" panose="02010800040101010101" pitchFamily="2" charset="-122"/>
              </a:rPr>
              <a:t>逻辑函数定义：</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输入逻辑变量 </a:t>
            </a:r>
            <a:r>
              <a:rPr lang="en-US" altLang="zh-CN" sz="1800" dirty="0">
                <a:latin typeface="华文新魏" panose="02010800040101010101" pitchFamily="2" charset="-122"/>
                <a:ea typeface="华文新魏" panose="02010800040101010101" pitchFamily="2" charset="-122"/>
              </a:rPr>
              <a:t>A</a:t>
            </a:r>
            <a:r>
              <a:rPr lang="en-US" altLang="zh-CN" sz="1800" baseline="-250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A</a:t>
            </a:r>
            <a:r>
              <a:rPr lang="en-US" altLang="zh-CN" sz="1800" baseline="-250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 , A</a:t>
            </a:r>
            <a:r>
              <a:rPr lang="en-US" altLang="zh-CN" sz="1800" baseline="-25000" dirty="0">
                <a:latin typeface="华文新魏" panose="02010800040101010101" pitchFamily="2" charset="-122"/>
                <a:ea typeface="华文新魏" panose="02010800040101010101" pitchFamily="2" charset="-122"/>
              </a:rPr>
              <a:t>n</a:t>
            </a:r>
            <a:r>
              <a:rPr lang="zh-CN" altLang="en-US" sz="1800" dirty="0">
                <a:latin typeface="华文新魏" panose="02010800040101010101" pitchFamily="2" charset="-122"/>
                <a:ea typeface="华文新魏" panose="02010800040101010101" pitchFamily="2" charset="-122"/>
              </a:rPr>
              <a:t>；输出逻辑变量</a:t>
            </a:r>
            <a:r>
              <a:rPr lang="en-US" altLang="zh-CN" sz="1800" dirty="0">
                <a:latin typeface="华文新魏" panose="02010800040101010101" pitchFamily="2" charset="-122"/>
                <a:ea typeface="华文新魏" panose="02010800040101010101" pitchFamily="2" charset="-122"/>
              </a:rPr>
              <a:t>F</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记为：</a:t>
            </a:r>
            <a:r>
              <a:rPr lang="en-US" altLang="zh-CN" sz="1800" dirty="0">
                <a:latin typeface="华文新魏" panose="02010800040101010101" pitchFamily="2" charset="-122"/>
                <a:ea typeface="华文新魏" panose="02010800040101010101" pitchFamily="2" charset="-122"/>
              </a:rPr>
              <a:t>F = f(A</a:t>
            </a:r>
            <a:r>
              <a:rPr lang="en-US" altLang="zh-CN" sz="1800" baseline="-250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A</a:t>
            </a:r>
            <a:r>
              <a:rPr lang="en-US" altLang="zh-CN" sz="1800" baseline="-250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 , A</a:t>
            </a:r>
            <a:r>
              <a:rPr lang="en-US" altLang="zh-CN" sz="1800" baseline="-25000" dirty="0">
                <a:latin typeface="华文新魏" panose="02010800040101010101" pitchFamily="2" charset="-122"/>
                <a:ea typeface="华文新魏" panose="02010800040101010101" pitchFamily="2" charset="-122"/>
              </a:rPr>
              <a:t>n </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布尔代数法逻辑函数表示方式有“最小项之和”及“最大项之积”两种标准形式！</a:t>
            </a:r>
            <a:endParaRPr lang="zh-CN" altLang="en-US" sz="1800" dirty="0">
              <a:latin typeface="华文新魏" panose="02010800040101010101" pitchFamily="2" charset="-122"/>
              <a:ea typeface="华文新魏" panose="02010800040101010101" pitchFamily="2" charset="-122"/>
            </a:endParaRPr>
          </a:p>
        </p:txBody>
      </p:sp>
      <p:sp>
        <p:nvSpPr>
          <p:cNvPr id="21511" name="Rectangle 2"/>
          <p:cNvSpPr txBox="1"/>
          <p:nvPr/>
        </p:nvSpPr>
        <p:spPr>
          <a:xfrm>
            <a:off x="336550" y="2592388"/>
            <a:ext cx="8382000" cy="628650"/>
          </a:xfrm>
          <a:prstGeom prst="rect">
            <a:avLst/>
          </a:prstGeom>
          <a:noFill/>
          <a:ln w="9525">
            <a:noFill/>
          </a:ln>
        </p:spPr>
        <p:txBody>
          <a:bodyPr anchor="ctr"/>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逻辑函数的主要表示法</a:t>
            </a:r>
            <a:r>
              <a:rPr lang="zh-CN" altLang="en-US" sz="1800" b="1" i="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主要有五（六）种：</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21512" name="Rectangle 3"/>
          <p:cNvSpPr txBox="1"/>
          <p:nvPr/>
        </p:nvSpPr>
        <p:spPr>
          <a:xfrm>
            <a:off x="684213" y="3178493"/>
            <a:ext cx="7775575" cy="457200"/>
          </a:xfrm>
          <a:prstGeom prst="rect">
            <a:avLst/>
          </a:prstGeom>
          <a:noFill/>
          <a:ln w="9525">
            <a:noFill/>
          </a:ln>
        </p:spPr>
        <p:txBody>
          <a:bodyPr/>
          <a:p>
            <a:pPr marL="342900" indent="-342900" eaLnBrk="1" hangingPunct="1">
              <a:spcBef>
                <a:spcPct val="20000"/>
              </a:spcBef>
            </a:pPr>
            <a:r>
              <a:rPr lang="en-US" altLang="zh-CN" sz="1800" dirty="0">
                <a:solidFill>
                  <a:srgbClr val="FF0000"/>
                </a:solidFill>
                <a:latin typeface="华文新魏" panose="02010800040101010101" pitchFamily="2" charset="-122"/>
                <a:ea typeface="华文新魏" panose="02010800040101010101" pitchFamily="2" charset="-122"/>
              </a:rPr>
              <a:t>⑴ </a:t>
            </a:r>
            <a:r>
              <a:rPr lang="zh-CN" altLang="en-US" sz="1800" b="1" dirty="0">
                <a:solidFill>
                  <a:srgbClr val="FF0000"/>
                </a:solidFill>
                <a:latin typeface="华文新魏" panose="02010800040101010101" pitchFamily="2" charset="-122"/>
                <a:ea typeface="华文新魏" panose="02010800040101010101" pitchFamily="2" charset="-122"/>
              </a:rPr>
              <a:t>逻辑代数表达式</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21513" name="Text Box 42"/>
          <p:cNvSpPr txBox="1"/>
          <p:nvPr/>
        </p:nvSpPr>
        <p:spPr>
          <a:xfrm>
            <a:off x="684213" y="3546793"/>
            <a:ext cx="8534400" cy="368300"/>
          </a:xfrm>
          <a:prstGeom prst="rect">
            <a:avLst/>
          </a:prstGeom>
          <a:noFill/>
          <a:ln w="9525">
            <a:noFill/>
          </a:ln>
        </p:spPr>
        <p:txBody>
          <a:bodyPr>
            <a:spAutoFit/>
          </a:bodyPr>
          <a:p>
            <a:pPr eaLnBrk="1" hangingPunct="1">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⑵ </a:t>
            </a:r>
            <a:r>
              <a:rPr lang="zh-CN" altLang="en-US" sz="1800" b="1" dirty="0">
                <a:solidFill>
                  <a:schemeClr val="tx1"/>
                </a:solidFill>
                <a:latin typeface="华文新魏" panose="02010800040101010101" pitchFamily="2" charset="-122"/>
                <a:ea typeface="华文新魏" panose="02010800040101010101" pitchFamily="2" charset="-122"/>
              </a:rPr>
              <a:t>真值表（穷举法）</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1514" name="Text Box 43"/>
          <p:cNvSpPr txBox="1"/>
          <p:nvPr/>
        </p:nvSpPr>
        <p:spPr>
          <a:xfrm>
            <a:off x="684213" y="3914458"/>
            <a:ext cx="8229600" cy="368300"/>
          </a:xfrm>
          <a:prstGeom prst="rect">
            <a:avLst/>
          </a:prstGeom>
          <a:noFill/>
          <a:ln w="9525">
            <a:noFill/>
          </a:ln>
        </p:spPr>
        <p:txBody>
          <a:bodyPr>
            <a:spAutoFit/>
          </a:bodyPr>
          <a:p>
            <a:pPr eaLnBrk="1" hangingPunct="1">
              <a:spcBef>
                <a:spcPct val="20000"/>
              </a:spcBef>
            </a:pPr>
            <a:r>
              <a:rPr lang="en-US" altLang="zh-CN" sz="1800" dirty="0">
                <a:solidFill>
                  <a:schemeClr val="tx1"/>
                </a:solidFill>
                <a:latin typeface="华文新魏" panose="02010800040101010101" pitchFamily="2" charset="-122"/>
                <a:ea typeface="华文新魏" panose="02010800040101010101" pitchFamily="2" charset="-122"/>
              </a:rPr>
              <a:t>⑶ </a:t>
            </a:r>
            <a:r>
              <a:rPr lang="zh-CN" altLang="en-US" sz="1800" b="1" dirty="0">
                <a:solidFill>
                  <a:schemeClr val="tx1"/>
                </a:solidFill>
                <a:latin typeface="华文新魏" panose="02010800040101010101" pitchFamily="2" charset="-122"/>
                <a:ea typeface="华文新魏" panose="02010800040101010101" pitchFamily="2" charset="-122"/>
              </a:rPr>
              <a:t>卡诺图</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1515" name="Text Box 44"/>
          <p:cNvSpPr txBox="1"/>
          <p:nvPr/>
        </p:nvSpPr>
        <p:spPr>
          <a:xfrm>
            <a:off x="649923" y="4211320"/>
            <a:ext cx="7467600" cy="368300"/>
          </a:xfrm>
          <a:prstGeom prst="rect">
            <a:avLst/>
          </a:prstGeom>
          <a:noFill/>
          <a:ln w="9525">
            <a:noFill/>
          </a:ln>
        </p:spPr>
        <p:txBody>
          <a:bodyPr>
            <a:spAutoFit/>
          </a:bodyPr>
          <a:p>
            <a:pPr eaLnBrk="1" hangingPunct="1">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⑷ </a:t>
            </a:r>
            <a:r>
              <a:rPr lang="zh-CN" altLang="en-US" sz="1800" b="1" dirty="0">
                <a:solidFill>
                  <a:schemeClr val="tx1"/>
                </a:solidFill>
                <a:latin typeface="华文新魏" panose="02010800040101010101" pitchFamily="2" charset="-122"/>
                <a:ea typeface="华文新魏" panose="02010800040101010101" pitchFamily="2" charset="-122"/>
              </a:rPr>
              <a:t>时间图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信号波形图 </a:t>
            </a:r>
            <a:r>
              <a:rPr lang="en-US" altLang="zh-CN" sz="1800" b="1" dirty="0">
                <a:solidFill>
                  <a:schemeClr val="tx1"/>
                </a:solidFill>
                <a:latin typeface="华文新魏" panose="02010800040101010101" pitchFamily="2" charset="-122"/>
                <a:ea typeface="华文新魏" panose="02010800040101010101" pitchFamily="2" charset="-122"/>
              </a:rPr>
              <a:t>)  </a:t>
            </a:r>
            <a:endParaRPr lang="en-US" altLang="zh-CN" sz="1800" b="1" dirty="0">
              <a:solidFill>
                <a:srgbClr val="0000FF"/>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1"/>
          <a:stretch>
            <a:fillRect/>
          </a:stretch>
        </p:blipFill>
        <p:spPr>
          <a:xfrm>
            <a:off x="3996055" y="3138805"/>
            <a:ext cx="3192780" cy="480060"/>
          </a:xfrm>
          <a:prstGeom prst="rect">
            <a:avLst/>
          </a:prstGeom>
        </p:spPr>
      </p:pic>
      <p:sp>
        <p:nvSpPr>
          <p:cNvPr id="3" name="Text Box 44"/>
          <p:cNvSpPr txBox="1"/>
          <p:nvPr/>
        </p:nvSpPr>
        <p:spPr>
          <a:xfrm>
            <a:off x="633730" y="4553585"/>
            <a:ext cx="7901305" cy="368300"/>
          </a:xfrm>
          <a:prstGeom prst="rect">
            <a:avLst/>
          </a:prstGeom>
          <a:noFill/>
          <a:ln w="9525">
            <a:noFill/>
          </a:ln>
        </p:spPr>
        <p:txBody>
          <a:bodyPr wrap="square">
            <a:spAutoFit/>
          </a:bodyPr>
          <a:p>
            <a:pPr eaLnBrk="1" hangingPunct="1">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(5)</a:t>
            </a:r>
            <a:r>
              <a:rPr lang="zh-CN" altLang="en-US" sz="1800" dirty="0">
                <a:solidFill>
                  <a:schemeClr val="tx1"/>
                </a:solidFill>
                <a:latin typeface="华文新魏" panose="02010800040101010101" pitchFamily="2" charset="-122"/>
                <a:ea typeface="华文新魏" panose="02010800040101010101" pitchFamily="2" charset="-122"/>
              </a:rPr>
              <a:t>硬件描述语言：</a:t>
            </a:r>
            <a:r>
              <a:rPr lang="en-US" altLang="zh-CN" sz="1800" dirty="0">
                <a:solidFill>
                  <a:schemeClr val="tx1"/>
                </a:solidFill>
                <a:latin typeface="华文新魏" panose="02010800040101010101" pitchFamily="2" charset="-122"/>
                <a:ea typeface="华文新魏" panose="02010800040101010101" pitchFamily="2" charset="-122"/>
              </a:rPr>
              <a:t>VHDL</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Verilog</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a:t>
            </a:r>
            <a:r>
              <a:rPr sz="1800" b="1" dirty="0">
                <a:solidFill>
                  <a:schemeClr val="tx1"/>
                </a:solidFill>
                <a:latin typeface="华文新魏" panose="02010800040101010101" pitchFamily="2" charset="-122"/>
                <a:ea typeface="华文新魏" panose="02010800040101010101" pitchFamily="2" charset="-122"/>
              </a:rPr>
              <a:t>System</a:t>
            </a:r>
            <a:r>
              <a:rPr lang="en-US" sz="1800" b="1" dirty="0">
                <a:solidFill>
                  <a:schemeClr val="tx1"/>
                </a:solidFill>
                <a:latin typeface="华文新魏" panose="02010800040101010101" pitchFamily="2" charset="-122"/>
                <a:ea typeface="华文新魏" panose="02010800040101010101" pitchFamily="2" charset="-122"/>
              </a:rPr>
              <a:t> </a:t>
            </a:r>
            <a:r>
              <a:rPr sz="1800" b="1" dirty="0">
                <a:solidFill>
                  <a:schemeClr val="tx1"/>
                </a:solidFill>
                <a:latin typeface="华文新魏" panose="02010800040101010101" pitchFamily="2" charset="-122"/>
                <a:ea typeface="华文新魏" panose="02010800040101010101" pitchFamily="2" charset="-122"/>
              </a:rPr>
              <a:t>C</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Open CL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HLS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a:t>
            </a:r>
            <a:endParaRPr lang="en-US" altLang="zh-CN" sz="1800" b="1"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5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5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5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5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p:bldP spid="21512" grpId="0"/>
      <p:bldP spid="21513" grpId="0"/>
      <p:bldP spid="21514" grpId="0"/>
      <p:bldP spid="21515"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253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2532" name="Rectangle 2"/>
          <p:cNvSpPr>
            <a:spLocks noGrp="1"/>
          </p:cNvSpPr>
          <p:nvPr>
            <p:ph type="title"/>
          </p:nvPr>
        </p:nvSpPr>
        <p:spPr>
          <a:xfrm>
            <a:off x="239713" y="504825"/>
            <a:ext cx="8664575" cy="411163"/>
          </a:xfrm>
          <a:prstGeom prst="rect">
            <a:avLst/>
          </a:prstGeom>
          <a:noFill/>
          <a:ln w="9525">
            <a:noFill/>
          </a:ln>
        </p:spPr>
        <p:txBody>
          <a:bodyPr/>
          <a:p>
            <a:pPr eaLnBrk="1" hangingPunct="1"/>
            <a:r>
              <a:rPr lang="en-US" altLang="zh-CN" sz="1800" b="1" dirty="0">
                <a:latin typeface="华文新魏" panose="02010800040101010101" pitchFamily="2" charset="-122"/>
                <a:ea typeface="华文新魏" panose="02010800040101010101" pitchFamily="2" charset="-122"/>
              </a:rPr>
              <a:t>1.3.2  </a:t>
            </a:r>
            <a:r>
              <a:rPr lang="zh-CN" altLang="en-US" sz="1800" b="1" dirty="0">
                <a:latin typeface="华文新魏" panose="02010800040101010101" pitchFamily="2" charset="-122"/>
                <a:ea typeface="华文新魏" panose="02010800040101010101" pitchFamily="2" charset="-122"/>
              </a:rPr>
              <a:t>逻辑代数的基本运算、定律、定理、规则</a:t>
            </a:r>
            <a:r>
              <a:rPr lang="zh-CN" altLang="en-US" sz="1800" b="1" dirty="0">
                <a:latin typeface="华文新魏" panose="02010800040101010101" pitchFamily="2" charset="-122"/>
                <a:ea typeface="华文新魏" panose="02010800040101010101" pitchFamily="2" charset="-122"/>
                <a:sym typeface="+mn-ea"/>
              </a:rPr>
              <a:t>与复合运算</a:t>
            </a:r>
            <a:endParaRPr lang="en-US" altLang="zh-CN" sz="1800" b="1" i="1" dirty="0">
              <a:latin typeface="华文新魏" panose="02010800040101010101" pitchFamily="2" charset="-122"/>
              <a:ea typeface="华文新魏" panose="02010800040101010101" pitchFamily="2" charset="-122"/>
            </a:endParaRPr>
          </a:p>
        </p:txBody>
      </p:sp>
      <p:sp>
        <p:nvSpPr>
          <p:cNvPr id="22533" name="Rectangle 3"/>
          <p:cNvSpPr>
            <a:spLocks noGrp="1"/>
          </p:cNvSpPr>
          <p:nvPr>
            <p:ph/>
          </p:nvPr>
        </p:nvSpPr>
        <p:spPr>
          <a:xfrm>
            <a:off x="685800" y="1885950"/>
            <a:ext cx="8458200" cy="3257550"/>
          </a:xfrm>
          <a:prstGeom prst="rect">
            <a:avLst/>
          </a:prstGeom>
          <a:noFill/>
          <a:ln w="9525">
            <a:noFill/>
          </a:ln>
        </p:spPr>
        <p:txBody>
          <a:bodyPr/>
          <a:p>
            <a:pPr marL="609600" indent="-609600" eaLnBrk="1" hangingPunct="1">
              <a:buNone/>
            </a:pPr>
            <a:r>
              <a:rPr lang="zh-CN" altLang="en-US" sz="1800" dirty="0">
                <a:latin typeface="华文新魏" panose="02010800040101010101" pitchFamily="2" charset="-122"/>
                <a:ea typeface="华文新魏" panose="02010800040101010101" pitchFamily="2" charset="-122"/>
              </a:rPr>
              <a:t>（逻辑乘）</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      图</a:t>
            </a:r>
            <a:r>
              <a:rPr lang="en-US" altLang="zh-CN" sz="18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4</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a</a:t>
            </a:r>
            <a:r>
              <a:rPr lang="zh-CN" altLang="en-US" sz="1800" dirty="0">
                <a:latin typeface="华文新魏" panose="02010800040101010101" pitchFamily="2" charset="-122"/>
                <a:ea typeface="华文新魏" panose="02010800040101010101" pitchFamily="2" charset="-122"/>
              </a:rPr>
              <a:t>）的串联开关电路是与逻辑的一个实例。</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只有开关</a:t>
            </a:r>
            <a:r>
              <a:rPr lang="en-US" altLang="zh-CN" sz="1800" dirty="0">
                <a:latin typeface="华文新魏" panose="02010800040101010101" pitchFamily="2" charset="-122"/>
                <a:ea typeface="华文新魏" panose="02010800040101010101" pitchFamily="2" charset="-122"/>
              </a:rPr>
              <a:t>A</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r>
              <a:rPr lang="zh-CN" altLang="en-US" sz="1800" dirty="0">
                <a:latin typeface="华文新魏" panose="02010800040101010101" pitchFamily="2" charset="-122"/>
                <a:ea typeface="华文新魏" panose="02010800040101010101" pitchFamily="2" charset="-122"/>
              </a:rPr>
              <a:t>都闭合，灯</a:t>
            </a:r>
            <a:r>
              <a:rPr lang="en-US" altLang="zh-CN" sz="1800" dirty="0">
                <a:latin typeface="华文新魏" panose="02010800040101010101" pitchFamily="2" charset="-122"/>
                <a:ea typeface="华文新魏" panose="02010800040101010101" pitchFamily="2" charset="-122"/>
              </a:rPr>
              <a:t>F</a:t>
            </a:r>
            <a:r>
              <a:rPr lang="zh-CN" altLang="en-US" sz="1800" dirty="0">
                <a:latin typeface="华文新魏" panose="02010800040101010101" pitchFamily="2" charset="-122"/>
                <a:ea typeface="华文新魏" panose="02010800040101010101" pitchFamily="2" charset="-122"/>
              </a:rPr>
              <a:t>才会亮；开关</a:t>
            </a:r>
            <a:r>
              <a:rPr lang="en-US" altLang="zh-CN" sz="1800" dirty="0">
                <a:latin typeface="华文新魏" panose="02010800040101010101" pitchFamily="2" charset="-122"/>
                <a:ea typeface="华文新魏" panose="02010800040101010101" pitchFamily="2" charset="-122"/>
              </a:rPr>
              <a:t>A</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r>
              <a:rPr lang="zh-CN" altLang="en-US" sz="1800" dirty="0">
                <a:latin typeface="华文新魏" panose="02010800040101010101" pitchFamily="2" charset="-122"/>
                <a:ea typeface="华文新魏" panose="02010800040101010101" pitchFamily="2" charset="-122"/>
              </a:rPr>
              <a:t>只要有一</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个不闭合，则灯</a:t>
            </a:r>
            <a:r>
              <a:rPr lang="en-US" altLang="zh-CN" sz="1800" dirty="0">
                <a:latin typeface="华文新魏" panose="02010800040101010101" pitchFamily="2" charset="-122"/>
                <a:ea typeface="华文新魏" panose="02010800040101010101" pitchFamily="2" charset="-122"/>
              </a:rPr>
              <a:t>F</a:t>
            </a:r>
            <a:r>
              <a:rPr lang="zh-CN" altLang="en-US" sz="1800" dirty="0">
                <a:latin typeface="华文新魏" panose="02010800040101010101" pitchFamily="2" charset="-122"/>
                <a:ea typeface="华文新魏" panose="02010800040101010101" pitchFamily="2" charset="-122"/>
              </a:rPr>
              <a:t>就不会亮。</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       设开关闭合状态为</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，断开状态为</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0</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；灯亮状态为</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，灯灭状态为</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0</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。则可得到图</a:t>
            </a:r>
            <a:r>
              <a:rPr lang="en-US" altLang="zh-CN" sz="18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4</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r>
              <a:rPr lang="zh-CN" altLang="en-US" sz="1800" dirty="0">
                <a:latin typeface="华文新魏" panose="02010800040101010101" pitchFamily="2" charset="-122"/>
                <a:ea typeface="华文新魏" panose="02010800040101010101" pitchFamily="2" charset="-122"/>
              </a:rPr>
              <a:t>）的对应逻辑</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状态关系－－真值表表示。</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如用逻辑代数式表示，可记为</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endParaRPr lang="en-US" altLang="zh-CN" sz="1800" dirty="0">
              <a:latin typeface="华文新魏" panose="02010800040101010101" pitchFamily="2" charset="-122"/>
              <a:ea typeface="华文新魏" panose="02010800040101010101" pitchFamily="2" charset="-122"/>
            </a:endParaRPr>
          </a:p>
        </p:txBody>
      </p:sp>
      <p:graphicFrame>
        <p:nvGraphicFramePr>
          <p:cNvPr id="22534" name="Group 6"/>
          <p:cNvGraphicFramePr>
            <a:graphicFrameLocks noGrp="1"/>
          </p:cNvGraphicFramePr>
          <p:nvPr>
            <p:custDataLst>
              <p:tags r:id="rId1"/>
            </p:custDataLst>
          </p:nvPr>
        </p:nvGraphicFramePr>
        <p:xfrm>
          <a:off x="214313" y="842963"/>
          <a:ext cx="8461375" cy="4249738"/>
        </p:xfrm>
        <a:graphic>
          <a:graphicData uri="http://schemas.openxmlformats.org/drawingml/2006/table">
            <a:tbl>
              <a:tblPr/>
              <a:tblGrid>
                <a:gridCol w="612775"/>
                <a:gridCol w="2592387"/>
                <a:gridCol w="2592388"/>
                <a:gridCol w="2663825"/>
              </a:tblGrid>
              <a:tr h="5556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 latinLnBrk="0" hangingPunct="1">
                        <a:lnSpc>
                          <a:spcPct val="8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与</a:t>
                      </a:r>
                      <a:r>
                        <a:rPr kumimoji="0" lang="zh-CN" altLang="en-US"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6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逻辑乘</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Multiplication</a:t>
                      </a:r>
                      <a:endPar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或</a:t>
                      </a:r>
                      <a:r>
                        <a:rPr kumimoji="0" lang="zh-CN" altLang="en-US"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6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逻辑加</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Addition</a:t>
                      </a:r>
                      <a:endPar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非</a:t>
                      </a:r>
                      <a:r>
                        <a:rPr kumimoji="0" lang="zh-CN" altLang="en-US"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6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逻辑非</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Negation</a:t>
                      </a:r>
                      <a:endPar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498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运算结果</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逻辑积 </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Product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逻辑和 </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Sum</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求补</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Complement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50653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示意电路</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65258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真值表</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2561" name="Group 125"/>
          <p:cNvGrpSpPr/>
          <p:nvPr/>
        </p:nvGrpSpPr>
        <p:grpSpPr>
          <a:xfrm>
            <a:off x="900113" y="2005013"/>
            <a:ext cx="2446337" cy="1371600"/>
            <a:chOff x="0" y="0"/>
            <a:chExt cx="1541" cy="1152"/>
          </a:xfrm>
        </p:grpSpPr>
        <p:sp>
          <p:nvSpPr>
            <p:cNvPr id="22634" name="Rectangle 126"/>
            <p:cNvSpPr/>
            <p:nvPr/>
          </p:nvSpPr>
          <p:spPr>
            <a:xfrm>
              <a:off x="0" y="0"/>
              <a:ext cx="1541" cy="115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35" name="Line 127"/>
            <p:cNvSpPr/>
            <p:nvPr/>
          </p:nvSpPr>
          <p:spPr>
            <a:xfrm>
              <a:off x="299" y="288"/>
              <a:ext cx="0" cy="329"/>
            </a:xfrm>
            <a:prstGeom prst="line">
              <a:avLst/>
            </a:prstGeom>
            <a:ln w="38100" cap="flat" cmpd="sng">
              <a:solidFill>
                <a:schemeClr val="tx1"/>
              </a:solidFill>
              <a:prstDash val="solid"/>
              <a:headEnd type="none" w="med" len="med"/>
              <a:tailEnd type="none" w="med" len="med"/>
            </a:ln>
          </p:spPr>
        </p:sp>
        <p:sp>
          <p:nvSpPr>
            <p:cNvPr id="22636" name="Line 128"/>
            <p:cNvSpPr/>
            <p:nvPr/>
          </p:nvSpPr>
          <p:spPr>
            <a:xfrm>
              <a:off x="169" y="628"/>
              <a:ext cx="259" cy="0"/>
            </a:xfrm>
            <a:prstGeom prst="line">
              <a:avLst/>
            </a:prstGeom>
            <a:ln w="38100" cap="flat" cmpd="sng">
              <a:solidFill>
                <a:schemeClr val="tx1"/>
              </a:solidFill>
              <a:prstDash val="solid"/>
              <a:headEnd type="none" w="med" len="med"/>
              <a:tailEnd type="none" w="med" len="med"/>
            </a:ln>
          </p:spPr>
        </p:sp>
        <p:sp>
          <p:nvSpPr>
            <p:cNvPr id="22637" name="Line 129"/>
            <p:cNvSpPr/>
            <p:nvPr/>
          </p:nvSpPr>
          <p:spPr>
            <a:xfrm>
              <a:off x="201" y="699"/>
              <a:ext cx="195" cy="0"/>
            </a:xfrm>
            <a:prstGeom prst="line">
              <a:avLst/>
            </a:prstGeom>
            <a:ln w="38100" cap="flat" cmpd="sng">
              <a:solidFill>
                <a:schemeClr val="tx1"/>
              </a:solidFill>
              <a:prstDash val="solid"/>
              <a:headEnd type="none" w="med" len="med"/>
              <a:tailEnd type="none" w="med" len="med"/>
            </a:ln>
          </p:spPr>
        </p:sp>
        <p:sp>
          <p:nvSpPr>
            <p:cNvPr id="22638" name="Line 130"/>
            <p:cNvSpPr/>
            <p:nvPr/>
          </p:nvSpPr>
          <p:spPr>
            <a:xfrm>
              <a:off x="299" y="684"/>
              <a:ext cx="0" cy="303"/>
            </a:xfrm>
            <a:prstGeom prst="line">
              <a:avLst/>
            </a:prstGeom>
            <a:ln w="38100" cap="flat" cmpd="sng">
              <a:solidFill>
                <a:schemeClr val="tx1"/>
              </a:solidFill>
              <a:prstDash val="solid"/>
              <a:headEnd type="none" w="med" len="med"/>
              <a:tailEnd type="none" w="med" len="med"/>
            </a:ln>
          </p:spPr>
        </p:sp>
        <p:sp>
          <p:nvSpPr>
            <p:cNvPr id="22639" name="Line 131"/>
            <p:cNvSpPr/>
            <p:nvPr/>
          </p:nvSpPr>
          <p:spPr>
            <a:xfrm>
              <a:off x="299" y="987"/>
              <a:ext cx="855" cy="0"/>
            </a:xfrm>
            <a:prstGeom prst="line">
              <a:avLst/>
            </a:prstGeom>
            <a:ln w="38100" cap="flat" cmpd="sng">
              <a:solidFill>
                <a:schemeClr val="tx1"/>
              </a:solidFill>
              <a:prstDash val="solid"/>
              <a:headEnd type="none" w="med" len="med"/>
              <a:tailEnd type="none" w="med" len="med"/>
            </a:ln>
          </p:spPr>
        </p:sp>
        <p:sp>
          <p:nvSpPr>
            <p:cNvPr id="22640" name="Line 132"/>
            <p:cNvSpPr/>
            <p:nvPr/>
          </p:nvSpPr>
          <p:spPr>
            <a:xfrm>
              <a:off x="299" y="288"/>
              <a:ext cx="172" cy="0"/>
            </a:xfrm>
            <a:prstGeom prst="line">
              <a:avLst/>
            </a:prstGeom>
            <a:ln w="38100" cap="flat" cmpd="sng">
              <a:solidFill>
                <a:schemeClr val="tx1"/>
              </a:solidFill>
              <a:prstDash val="solid"/>
              <a:headEnd type="none" w="med" len="med"/>
              <a:tailEnd type="none" w="med" len="med"/>
            </a:ln>
          </p:spPr>
        </p:sp>
        <p:sp>
          <p:nvSpPr>
            <p:cNvPr id="22641" name="Line 133"/>
            <p:cNvSpPr/>
            <p:nvPr/>
          </p:nvSpPr>
          <p:spPr>
            <a:xfrm>
              <a:off x="599" y="288"/>
              <a:ext cx="171" cy="0"/>
            </a:xfrm>
            <a:prstGeom prst="line">
              <a:avLst/>
            </a:prstGeom>
            <a:ln w="38100" cap="flat" cmpd="sng">
              <a:solidFill>
                <a:schemeClr val="tx1"/>
              </a:solidFill>
              <a:prstDash val="solid"/>
              <a:headEnd type="none" w="med" len="med"/>
              <a:tailEnd type="none" w="med" len="med"/>
            </a:ln>
          </p:spPr>
        </p:sp>
        <p:sp>
          <p:nvSpPr>
            <p:cNvPr id="22642" name="Line 134"/>
            <p:cNvSpPr/>
            <p:nvPr/>
          </p:nvSpPr>
          <p:spPr>
            <a:xfrm>
              <a:off x="895" y="288"/>
              <a:ext cx="259" cy="0"/>
            </a:xfrm>
            <a:prstGeom prst="line">
              <a:avLst/>
            </a:prstGeom>
            <a:ln w="38100" cap="flat" cmpd="sng">
              <a:solidFill>
                <a:schemeClr val="tx1"/>
              </a:solidFill>
              <a:prstDash val="solid"/>
              <a:headEnd type="none" w="med" len="med"/>
              <a:tailEnd type="none" w="med" len="med"/>
            </a:ln>
          </p:spPr>
        </p:sp>
        <p:sp>
          <p:nvSpPr>
            <p:cNvPr id="22643" name="Line 135"/>
            <p:cNvSpPr/>
            <p:nvPr/>
          </p:nvSpPr>
          <p:spPr>
            <a:xfrm flipH="1">
              <a:off x="1154" y="288"/>
              <a:ext cx="2" cy="699"/>
            </a:xfrm>
            <a:prstGeom prst="line">
              <a:avLst/>
            </a:prstGeom>
            <a:ln w="38100" cap="flat" cmpd="sng">
              <a:solidFill>
                <a:schemeClr val="tx1"/>
              </a:solidFill>
              <a:prstDash val="solid"/>
              <a:headEnd type="none" w="med" len="med"/>
              <a:tailEnd type="none" w="med" len="med"/>
            </a:ln>
          </p:spPr>
        </p:sp>
        <p:sp>
          <p:nvSpPr>
            <p:cNvPr id="22644" name="Line 136"/>
            <p:cNvSpPr/>
            <p:nvPr/>
          </p:nvSpPr>
          <p:spPr>
            <a:xfrm flipV="1">
              <a:off x="770" y="206"/>
              <a:ext cx="129" cy="82"/>
            </a:xfrm>
            <a:prstGeom prst="line">
              <a:avLst/>
            </a:prstGeom>
            <a:ln w="38100" cap="flat" cmpd="sng">
              <a:solidFill>
                <a:schemeClr val="tx1"/>
              </a:solidFill>
              <a:prstDash val="solid"/>
              <a:headEnd type="none" w="med" len="med"/>
              <a:tailEnd type="none" w="med" len="med"/>
            </a:ln>
          </p:spPr>
        </p:sp>
        <p:sp>
          <p:nvSpPr>
            <p:cNvPr id="22645" name="Oval 137"/>
            <p:cNvSpPr/>
            <p:nvPr/>
          </p:nvSpPr>
          <p:spPr>
            <a:xfrm>
              <a:off x="1043" y="552"/>
              <a:ext cx="181" cy="18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46" name="Line 138"/>
            <p:cNvSpPr/>
            <p:nvPr/>
          </p:nvSpPr>
          <p:spPr>
            <a:xfrm>
              <a:off x="1059" y="571"/>
              <a:ext cx="161" cy="136"/>
            </a:xfrm>
            <a:prstGeom prst="line">
              <a:avLst/>
            </a:prstGeom>
            <a:ln w="9525" cap="flat" cmpd="sng">
              <a:solidFill>
                <a:schemeClr val="tx1"/>
              </a:solidFill>
              <a:prstDash val="solid"/>
              <a:headEnd type="none" w="med" len="med"/>
              <a:tailEnd type="none" w="med" len="med"/>
            </a:ln>
          </p:spPr>
        </p:sp>
        <p:sp>
          <p:nvSpPr>
            <p:cNvPr id="22647" name="Line 139"/>
            <p:cNvSpPr/>
            <p:nvPr/>
          </p:nvSpPr>
          <p:spPr>
            <a:xfrm flipH="1">
              <a:off x="1058" y="571"/>
              <a:ext cx="129" cy="136"/>
            </a:xfrm>
            <a:prstGeom prst="line">
              <a:avLst/>
            </a:prstGeom>
            <a:ln w="9525" cap="flat" cmpd="sng">
              <a:solidFill>
                <a:schemeClr val="tx1"/>
              </a:solidFill>
              <a:prstDash val="solid"/>
              <a:headEnd type="none" w="med" len="med"/>
              <a:tailEnd type="none" w="med" len="med"/>
            </a:ln>
          </p:spPr>
        </p:sp>
        <p:sp>
          <p:nvSpPr>
            <p:cNvPr id="22648" name="Text Box 140"/>
            <p:cNvSpPr txBox="1"/>
            <p:nvPr/>
          </p:nvSpPr>
          <p:spPr>
            <a:xfrm>
              <a:off x="1200" y="480"/>
              <a:ext cx="257"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49" name="Line 141"/>
            <p:cNvSpPr/>
            <p:nvPr/>
          </p:nvSpPr>
          <p:spPr>
            <a:xfrm flipV="1">
              <a:off x="471" y="206"/>
              <a:ext cx="128" cy="82"/>
            </a:xfrm>
            <a:prstGeom prst="line">
              <a:avLst/>
            </a:prstGeom>
            <a:ln w="38100" cap="flat" cmpd="sng">
              <a:solidFill>
                <a:schemeClr val="tx1"/>
              </a:solidFill>
              <a:prstDash val="solid"/>
              <a:headEnd type="none" w="med" len="med"/>
              <a:tailEnd type="none" w="med" len="med"/>
            </a:ln>
          </p:spPr>
        </p:sp>
        <p:sp>
          <p:nvSpPr>
            <p:cNvPr id="22650" name="Text Box 142"/>
            <p:cNvSpPr txBox="1"/>
            <p:nvPr/>
          </p:nvSpPr>
          <p:spPr>
            <a:xfrm>
              <a:off x="336" y="0"/>
              <a:ext cx="257"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51" name="Text Box 143"/>
            <p:cNvSpPr txBox="1"/>
            <p:nvPr/>
          </p:nvSpPr>
          <p:spPr>
            <a:xfrm>
              <a:off x="672" y="0"/>
              <a:ext cx="25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2562" name="Group 144"/>
          <p:cNvGrpSpPr/>
          <p:nvPr/>
        </p:nvGrpSpPr>
        <p:grpSpPr>
          <a:xfrm>
            <a:off x="3490913" y="1947863"/>
            <a:ext cx="2446337" cy="1428750"/>
            <a:chOff x="0" y="0"/>
            <a:chExt cx="1541" cy="1200"/>
          </a:xfrm>
        </p:grpSpPr>
        <p:sp>
          <p:nvSpPr>
            <p:cNvPr id="22615" name="Rectangle 145"/>
            <p:cNvSpPr/>
            <p:nvPr/>
          </p:nvSpPr>
          <p:spPr>
            <a:xfrm>
              <a:off x="0" y="48"/>
              <a:ext cx="1541" cy="115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16" name="Line 146"/>
            <p:cNvSpPr/>
            <p:nvPr/>
          </p:nvSpPr>
          <p:spPr>
            <a:xfrm>
              <a:off x="288" y="288"/>
              <a:ext cx="0" cy="384"/>
            </a:xfrm>
            <a:prstGeom prst="line">
              <a:avLst/>
            </a:prstGeom>
            <a:ln w="38100" cap="flat" cmpd="sng">
              <a:solidFill>
                <a:schemeClr val="tx1"/>
              </a:solidFill>
              <a:prstDash val="solid"/>
              <a:headEnd type="none" w="med" len="med"/>
              <a:tailEnd type="none" w="med" len="med"/>
            </a:ln>
          </p:spPr>
        </p:sp>
        <p:sp>
          <p:nvSpPr>
            <p:cNvPr id="22617" name="Line 147"/>
            <p:cNvSpPr/>
            <p:nvPr/>
          </p:nvSpPr>
          <p:spPr>
            <a:xfrm>
              <a:off x="169" y="676"/>
              <a:ext cx="259" cy="0"/>
            </a:xfrm>
            <a:prstGeom prst="line">
              <a:avLst/>
            </a:prstGeom>
            <a:ln w="38100" cap="flat" cmpd="sng">
              <a:solidFill>
                <a:schemeClr val="tx1"/>
              </a:solidFill>
              <a:prstDash val="solid"/>
              <a:headEnd type="none" w="med" len="med"/>
              <a:tailEnd type="none" w="med" len="med"/>
            </a:ln>
          </p:spPr>
        </p:sp>
        <p:sp>
          <p:nvSpPr>
            <p:cNvPr id="22618" name="Line 148"/>
            <p:cNvSpPr/>
            <p:nvPr/>
          </p:nvSpPr>
          <p:spPr>
            <a:xfrm>
              <a:off x="201" y="747"/>
              <a:ext cx="195" cy="0"/>
            </a:xfrm>
            <a:prstGeom prst="line">
              <a:avLst/>
            </a:prstGeom>
            <a:ln w="38100" cap="flat" cmpd="sng">
              <a:solidFill>
                <a:schemeClr val="tx1"/>
              </a:solidFill>
              <a:prstDash val="solid"/>
              <a:headEnd type="none" w="med" len="med"/>
              <a:tailEnd type="none" w="med" len="med"/>
            </a:ln>
          </p:spPr>
        </p:sp>
        <p:sp>
          <p:nvSpPr>
            <p:cNvPr id="22619" name="Line 149"/>
            <p:cNvSpPr/>
            <p:nvPr/>
          </p:nvSpPr>
          <p:spPr>
            <a:xfrm>
              <a:off x="299" y="732"/>
              <a:ext cx="0" cy="303"/>
            </a:xfrm>
            <a:prstGeom prst="line">
              <a:avLst/>
            </a:prstGeom>
            <a:ln w="38100" cap="flat" cmpd="sng">
              <a:solidFill>
                <a:schemeClr val="tx1"/>
              </a:solidFill>
              <a:prstDash val="solid"/>
              <a:headEnd type="none" w="med" len="med"/>
              <a:tailEnd type="none" w="med" len="med"/>
            </a:ln>
          </p:spPr>
        </p:sp>
        <p:sp>
          <p:nvSpPr>
            <p:cNvPr id="22620" name="Line 150"/>
            <p:cNvSpPr/>
            <p:nvPr/>
          </p:nvSpPr>
          <p:spPr>
            <a:xfrm>
              <a:off x="299" y="1035"/>
              <a:ext cx="855" cy="0"/>
            </a:xfrm>
            <a:prstGeom prst="line">
              <a:avLst/>
            </a:prstGeom>
            <a:ln w="38100" cap="flat" cmpd="sng">
              <a:solidFill>
                <a:schemeClr val="tx1"/>
              </a:solidFill>
              <a:prstDash val="solid"/>
              <a:headEnd type="none" w="med" len="med"/>
              <a:tailEnd type="none" w="med" len="med"/>
            </a:ln>
          </p:spPr>
        </p:sp>
        <p:sp>
          <p:nvSpPr>
            <p:cNvPr id="22621" name="Line 151"/>
            <p:cNvSpPr/>
            <p:nvPr/>
          </p:nvSpPr>
          <p:spPr>
            <a:xfrm>
              <a:off x="299" y="288"/>
              <a:ext cx="172" cy="0"/>
            </a:xfrm>
            <a:prstGeom prst="line">
              <a:avLst/>
            </a:prstGeom>
            <a:ln w="38100" cap="flat" cmpd="sng">
              <a:solidFill>
                <a:schemeClr val="tx1"/>
              </a:solidFill>
              <a:prstDash val="solid"/>
              <a:headEnd type="none" w="med" len="med"/>
              <a:tailEnd type="none" w="med" len="med"/>
            </a:ln>
          </p:spPr>
        </p:sp>
        <p:sp>
          <p:nvSpPr>
            <p:cNvPr id="22622" name="Line 152"/>
            <p:cNvSpPr/>
            <p:nvPr/>
          </p:nvSpPr>
          <p:spPr>
            <a:xfrm>
              <a:off x="288" y="528"/>
              <a:ext cx="482" cy="0"/>
            </a:xfrm>
            <a:prstGeom prst="line">
              <a:avLst/>
            </a:prstGeom>
            <a:ln w="38100" cap="flat" cmpd="sng">
              <a:solidFill>
                <a:schemeClr val="tx1"/>
              </a:solidFill>
              <a:prstDash val="solid"/>
              <a:headEnd type="none" w="med" len="med"/>
              <a:tailEnd type="none" w="med" len="med"/>
            </a:ln>
          </p:spPr>
        </p:sp>
        <p:sp>
          <p:nvSpPr>
            <p:cNvPr id="22623" name="Line 153"/>
            <p:cNvSpPr/>
            <p:nvPr/>
          </p:nvSpPr>
          <p:spPr>
            <a:xfrm>
              <a:off x="624" y="288"/>
              <a:ext cx="530" cy="0"/>
            </a:xfrm>
            <a:prstGeom prst="line">
              <a:avLst/>
            </a:prstGeom>
            <a:ln w="38100" cap="flat" cmpd="sng">
              <a:solidFill>
                <a:schemeClr val="tx1"/>
              </a:solidFill>
              <a:prstDash val="solid"/>
              <a:headEnd type="none" w="med" len="med"/>
              <a:tailEnd type="none" w="med" len="med"/>
            </a:ln>
          </p:spPr>
        </p:sp>
        <p:sp>
          <p:nvSpPr>
            <p:cNvPr id="22624" name="Line 154"/>
            <p:cNvSpPr/>
            <p:nvPr/>
          </p:nvSpPr>
          <p:spPr>
            <a:xfrm flipH="1">
              <a:off x="1152" y="288"/>
              <a:ext cx="4" cy="720"/>
            </a:xfrm>
            <a:prstGeom prst="line">
              <a:avLst/>
            </a:prstGeom>
            <a:ln w="38100" cap="flat" cmpd="sng">
              <a:solidFill>
                <a:schemeClr val="tx1"/>
              </a:solidFill>
              <a:prstDash val="solid"/>
              <a:headEnd type="none" w="med" len="med"/>
              <a:tailEnd type="none" w="med" len="med"/>
            </a:ln>
          </p:spPr>
        </p:sp>
        <p:sp>
          <p:nvSpPr>
            <p:cNvPr id="22625" name="Line 155"/>
            <p:cNvSpPr/>
            <p:nvPr/>
          </p:nvSpPr>
          <p:spPr>
            <a:xfrm flipV="1">
              <a:off x="770" y="446"/>
              <a:ext cx="129" cy="82"/>
            </a:xfrm>
            <a:prstGeom prst="line">
              <a:avLst/>
            </a:prstGeom>
            <a:ln w="38100" cap="flat" cmpd="sng">
              <a:solidFill>
                <a:schemeClr val="tx1"/>
              </a:solidFill>
              <a:prstDash val="solid"/>
              <a:headEnd type="none" w="med" len="med"/>
              <a:tailEnd type="none" w="med" len="med"/>
            </a:ln>
          </p:spPr>
        </p:sp>
        <p:sp>
          <p:nvSpPr>
            <p:cNvPr id="22626" name="Oval 156"/>
            <p:cNvSpPr/>
            <p:nvPr/>
          </p:nvSpPr>
          <p:spPr>
            <a:xfrm>
              <a:off x="1043" y="600"/>
              <a:ext cx="181" cy="18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27" name="Line 157"/>
            <p:cNvSpPr/>
            <p:nvPr/>
          </p:nvSpPr>
          <p:spPr>
            <a:xfrm>
              <a:off x="1059" y="619"/>
              <a:ext cx="161" cy="136"/>
            </a:xfrm>
            <a:prstGeom prst="line">
              <a:avLst/>
            </a:prstGeom>
            <a:ln w="9525" cap="flat" cmpd="sng">
              <a:solidFill>
                <a:schemeClr val="tx1"/>
              </a:solidFill>
              <a:prstDash val="solid"/>
              <a:headEnd type="none" w="med" len="med"/>
              <a:tailEnd type="none" w="med" len="med"/>
            </a:ln>
          </p:spPr>
        </p:sp>
        <p:sp>
          <p:nvSpPr>
            <p:cNvPr id="22628" name="Line 158"/>
            <p:cNvSpPr/>
            <p:nvPr/>
          </p:nvSpPr>
          <p:spPr>
            <a:xfrm flipH="1">
              <a:off x="1058" y="619"/>
              <a:ext cx="129" cy="136"/>
            </a:xfrm>
            <a:prstGeom prst="line">
              <a:avLst/>
            </a:prstGeom>
            <a:ln w="9525" cap="flat" cmpd="sng">
              <a:solidFill>
                <a:schemeClr val="tx1"/>
              </a:solidFill>
              <a:prstDash val="solid"/>
              <a:headEnd type="none" w="med" len="med"/>
              <a:tailEnd type="none" w="med" len="med"/>
            </a:ln>
          </p:spPr>
        </p:sp>
        <p:sp>
          <p:nvSpPr>
            <p:cNvPr id="22629" name="Text Box 159"/>
            <p:cNvSpPr txBox="1"/>
            <p:nvPr/>
          </p:nvSpPr>
          <p:spPr>
            <a:xfrm>
              <a:off x="1200" y="528"/>
              <a:ext cx="257"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30" name="Line 160"/>
            <p:cNvSpPr/>
            <p:nvPr/>
          </p:nvSpPr>
          <p:spPr>
            <a:xfrm flipV="1">
              <a:off x="471" y="206"/>
              <a:ext cx="128" cy="82"/>
            </a:xfrm>
            <a:prstGeom prst="line">
              <a:avLst/>
            </a:prstGeom>
            <a:ln w="38100" cap="flat" cmpd="sng">
              <a:solidFill>
                <a:schemeClr val="tx1"/>
              </a:solidFill>
              <a:prstDash val="solid"/>
              <a:headEnd type="none" w="med" len="med"/>
              <a:tailEnd type="none" w="med" len="med"/>
            </a:ln>
          </p:spPr>
        </p:sp>
        <p:sp>
          <p:nvSpPr>
            <p:cNvPr id="22631" name="Text Box 161"/>
            <p:cNvSpPr txBox="1"/>
            <p:nvPr/>
          </p:nvSpPr>
          <p:spPr>
            <a:xfrm>
              <a:off x="336" y="0"/>
              <a:ext cx="257"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32" name="Text Box 162"/>
            <p:cNvSpPr txBox="1"/>
            <p:nvPr/>
          </p:nvSpPr>
          <p:spPr>
            <a:xfrm>
              <a:off x="672" y="240"/>
              <a:ext cx="25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33" name="Line 163"/>
            <p:cNvSpPr/>
            <p:nvPr/>
          </p:nvSpPr>
          <p:spPr>
            <a:xfrm>
              <a:off x="912" y="528"/>
              <a:ext cx="240" cy="0"/>
            </a:xfrm>
            <a:prstGeom prst="line">
              <a:avLst/>
            </a:prstGeom>
            <a:ln w="38100" cap="flat" cmpd="sng">
              <a:solidFill>
                <a:schemeClr val="tx1"/>
              </a:solidFill>
              <a:prstDash val="solid"/>
              <a:headEnd type="none" w="med" len="med"/>
              <a:tailEnd type="none" w="med" len="med"/>
            </a:ln>
          </p:spPr>
        </p:sp>
      </p:grpSp>
      <p:grpSp>
        <p:nvGrpSpPr>
          <p:cNvPr id="22563" name="Group 165"/>
          <p:cNvGrpSpPr/>
          <p:nvPr/>
        </p:nvGrpSpPr>
        <p:grpSpPr>
          <a:xfrm>
            <a:off x="6157913" y="1971675"/>
            <a:ext cx="2446337" cy="1404938"/>
            <a:chOff x="0" y="0"/>
            <a:chExt cx="1541" cy="1181"/>
          </a:xfrm>
        </p:grpSpPr>
        <p:sp>
          <p:nvSpPr>
            <p:cNvPr id="22597" name="Rectangle 166"/>
            <p:cNvSpPr/>
            <p:nvPr/>
          </p:nvSpPr>
          <p:spPr>
            <a:xfrm>
              <a:off x="0" y="29"/>
              <a:ext cx="1541" cy="115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598" name="Line 167"/>
            <p:cNvSpPr/>
            <p:nvPr/>
          </p:nvSpPr>
          <p:spPr>
            <a:xfrm>
              <a:off x="288" y="269"/>
              <a:ext cx="0" cy="384"/>
            </a:xfrm>
            <a:prstGeom prst="line">
              <a:avLst/>
            </a:prstGeom>
            <a:ln w="38100" cap="flat" cmpd="sng">
              <a:solidFill>
                <a:schemeClr val="tx1"/>
              </a:solidFill>
              <a:prstDash val="solid"/>
              <a:headEnd type="none" w="med" len="med"/>
              <a:tailEnd type="none" w="med" len="med"/>
            </a:ln>
          </p:spPr>
        </p:sp>
        <p:sp>
          <p:nvSpPr>
            <p:cNvPr id="22599" name="Line 168"/>
            <p:cNvSpPr/>
            <p:nvPr/>
          </p:nvSpPr>
          <p:spPr>
            <a:xfrm>
              <a:off x="169" y="657"/>
              <a:ext cx="259" cy="0"/>
            </a:xfrm>
            <a:prstGeom prst="line">
              <a:avLst/>
            </a:prstGeom>
            <a:ln w="38100" cap="flat" cmpd="sng">
              <a:solidFill>
                <a:schemeClr val="tx1"/>
              </a:solidFill>
              <a:prstDash val="solid"/>
              <a:headEnd type="none" w="med" len="med"/>
              <a:tailEnd type="none" w="med" len="med"/>
            </a:ln>
          </p:spPr>
        </p:sp>
        <p:sp>
          <p:nvSpPr>
            <p:cNvPr id="22600" name="Line 169"/>
            <p:cNvSpPr/>
            <p:nvPr/>
          </p:nvSpPr>
          <p:spPr>
            <a:xfrm>
              <a:off x="201" y="728"/>
              <a:ext cx="195" cy="0"/>
            </a:xfrm>
            <a:prstGeom prst="line">
              <a:avLst/>
            </a:prstGeom>
            <a:ln w="38100" cap="flat" cmpd="sng">
              <a:solidFill>
                <a:schemeClr val="tx1"/>
              </a:solidFill>
              <a:prstDash val="solid"/>
              <a:headEnd type="none" w="med" len="med"/>
              <a:tailEnd type="none" w="med" len="med"/>
            </a:ln>
          </p:spPr>
        </p:sp>
        <p:sp>
          <p:nvSpPr>
            <p:cNvPr id="22601" name="Line 170"/>
            <p:cNvSpPr/>
            <p:nvPr/>
          </p:nvSpPr>
          <p:spPr>
            <a:xfrm>
              <a:off x="299" y="713"/>
              <a:ext cx="0" cy="303"/>
            </a:xfrm>
            <a:prstGeom prst="line">
              <a:avLst/>
            </a:prstGeom>
            <a:ln w="38100" cap="flat" cmpd="sng">
              <a:solidFill>
                <a:schemeClr val="tx1"/>
              </a:solidFill>
              <a:prstDash val="solid"/>
              <a:headEnd type="none" w="med" len="med"/>
              <a:tailEnd type="none" w="med" len="med"/>
            </a:ln>
          </p:spPr>
        </p:sp>
        <p:sp>
          <p:nvSpPr>
            <p:cNvPr id="22602" name="Line 171"/>
            <p:cNvSpPr/>
            <p:nvPr/>
          </p:nvSpPr>
          <p:spPr>
            <a:xfrm>
              <a:off x="299" y="1004"/>
              <a:ext cx="855" cy="0"/>
            </a:xfrm>
            <a:prstGeom prst="line">
              <a:avLst/>
            </a:prstGeom>
            <a:ln w="38100" cap="flat" cmpd="sng">
              <a:solidFill>
                <a:schemeClr val="tx1"/>
              </a:solidFill>
              <a:prstDash val="solid"/>
              <a:headEnd type="none" w="med" len="med"/>
              <a:tailEnd type="none" w="med" len="med"/>
            </a:ln>
          </p:spPr>
        </p:sp>
        <p:sp>
          <p:nvSpPr>
            <p:cNvPr id="22603" name="Line 172"/>
            <p:cNvSpPr/>
            <p:nvPr/>
          </p:nvSpPr>
          <p:spPr>
            <a:xfrm>
              <a:off x="816" y="509"/>
              <a:ext cx="96" cy="240"/>
            </a:xfrm>
            <a:prstGeom prst="line">
              <a:avLst/>
            </a:prstGeom>
            <a:ln w="38100" cap="flat" cmpd="sng">
              <a:solidFill>
                <a:schemeClr val="tx1"/>
              </a:solidFill>
              <a:prstDash val="solid"/>
              <a:headEnd type="none" w="med" len="med"/>
              <a:tailEnd type="none" w="med" len="med"/>
            </a:ln>
          </p:spPr>
        </p:sp>
        <p:sp>
          <p:nvSpPr>
            <p:cNvPr id="22604" name="Line 173"/>
            <p:cNvSpPr/>
            <p:nvPr/>
          </p:nvSpPr>
          <p:spPr>
            <a:xfrm>
              <a:off x="288" y="269"/>
              <a:ext cx="866" cy="0"/>
            </a:xfrm>
            <a:prstGeom prst="line">
              <a:avLst/>
            </a:prstGeom>
            <a:ln w="38100" cap="flat" cmpd="sng">
              <a:solidFill>
                <a:schemeClr val="tx1"/>
              </a:solidFill>
              <a:prstDash val="solid"/>
              <a:headEnd type="none" w="med" len="med"/>
              <a:tailEnd type="none" w="med" len="med"/>
            </a:ln>
          </p:spPr>
        </p:sp>
        <p:sp>
          <p:nvSpPr>
            <p:cNvPr id="22605" name="Line 174"/>
            <p:cNvSpPr/>
            <p:nvPr/>
          </p:nvSpPr>
          <p:spPr>
            <a:xfrm flipH="1">
              <a:off x="1152" y="269"/>
              <a:ext cx="4" cy="720"/>
            </a:xfrm>
            <a:prstGeom prst="line">
              <a:avLst/>
            </a:prstGeom>
            <a:ln w="38100" cap="flat" cmpd="sng">
              <a:solidFill>
                <a:schemeClr val="tx1"/>
              </a:solidFill>
              <a:prstDash val="solid"/>
              <a:headEnd type="none" w="med" len="med"/>
              <a:tailEnd type="none" w="med" len="med"/>
            </a:ln>
          </p:spPr>
        </p:sp>
        <p:sp>
          <p:nvSpPr>
            <p:cNvPr id="22606" name="Oval 175"/>
            <p:cNvSpPr/>
            <p:nvPr/>
          </p:nvSpPr>
          <p:spPr>
            <a:xfrm>
              <a:off x="1043" y="581"/>
              <a:ext cx="181" cy="18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07" name="Line 176"/>
            <p:cNvSpPr/>
            <p:nvPr/>
          </p:nvSpPr>
          <p:spPr>
            <a:xfrm>
              <a:off x="1059" y="600"/>
              <a:ext cx="161" cy="136"/>
            </a:xfrm>
            <a:prstGeom prst="line">
              <a:avLst/>
            </a:prstGeom>
            <a:ln w="9525" cap="flat" cmpd="sng">
              <a:solidFill>
                <a:schemeClr val="tx1"/>
              </a:solidFill>
              <a:prstDash val="solid"/>
              <a:headEnd type="none" w="med" len="med"/>
              <a:tailEnd type="none" w="med" len="med"/>
            </a:ln>
          </p:spPr>
        </p:sp>
        <p:sp>
          <p:nvSpPr>
            <p:cNvPr id="22608" name="Line 177"/>
            <p:cNvSpPr/>
            <p:nvPr/>
          </p:nvSpPr>
          <p:spPr>
            <a:xfrm flipH="1">
              <a:off x="1058" y="600"/>
              <a:ext cx="129" cy="136"/>
            </a:xfrm>
            <a:prstGeom prst="line">
              <a:avLst/>
            </a:prstGeom>
            <a:ln w="9525" cap="flat" cmpd="sng">
              <a:solidFill>
                <a:schemeClr val="tx1"/>
              </a:solidFill>
              <a:prstDash val="solid"/>
              <a:headEnd type="none" w="med" len="med"/>
              <a:tailEnd type="none" w="med" len="med"/>
            </a:ln>
          </p:spPr>
        </p:sp>
        <p:sp>
          <p:nvSpPr>
            <p:cNvPr id="22609" name="Text Box 178"/>
            <p:cNvSpPr txBox="1"/>
            <p:nvPr/>
          </p:nvSpPr>
          <p:spPr>
            <a:xfrm>
              <a:off x="1200" y="508"/>
              <a:ext cx="257"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10" name="Line 179"/>
            <p:cNvSpPr/>
            <p:nvPr/>
          </p:nvSpPr>
          <p:spPr>
            <a:xfrm flipV="1">
              <a:off x="912" y="749"/>
              <a:ext cx="0" cy="240"/>
            </a:xfrm>
            <a:prstGeom prst="line">
              <a:avLst/>
            </a:prstGeom>
            <a:ln w="38100" cap="flat" cmpd="sng">
              <a:solidFill>
                <a:schemeClr val="tx1"/>
              </a:solidFill>
              <a:prstDash val="solid"/>
              <a:headEnd type="none" w="med" len="med"/>
              <a:tailEnd type="none" w="med" len="med"/>
            </a:ln>
          </p:spPr>
        </p:sp>
        <p:sp>
          <p:nvSpPr>
            <p:cNvPr id="22611" name="Text Box 180"/>
            <p:cNvSpPr txBox="1"/>
            <p:nvPr/>
          </p:nvSpPr>
          <p:spPr>
            <a:xfrm>
              <a:off x="624" y="460"/>
              <a:ext cx="257"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12" name="Line 181"/>
            <p:cNvSpPr/>
            <p:nvPr/>
          </p:nvSpPr>
          <p:spPr>
            <a:xfrm flipV="1">
              <a:off x="912" y="269"/>
              <a:ext cx="0" cy="240"/>
            </a:xfrm>
            <a:prstGeom prst="line">
              <a:avLst/>
            </a:prstGeom>
            <a:ln w="38100" cap="flat" cmpd="sng">
              <a:solidFill>
                <a:schemeClr val="tx1"/>
              </a:solidFill>
              <a:prstDash val="solid"/>
              <a:headEnd type="none" w="med" len="med"/>
              <a:tailEnd type="none" w="med" len="med"/>
            </a:ln>
          </p:spPr>
        </p:sp>
        <p:sp>
          <p:nvSpPr>
            <p:cNvPr id="22613" name="Rectangle 182"/>
            <p:cNvSpPr/>
            <p:nvPr/>
          </p:nvSpPr>
          <p:spPr>
            <a:xfrm>
              <a:off x="384" y="221"/>
              <a:ext cx="240"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14" name="Text Box 183"/>
            <p:cNvSpPr txBox="1"/>
            <p:nvPr/>
          </p:nvSpPr>
          <p:spPr>
            <a:xfrm>
              <a:off x="384" y="0"/>
              <a:ext cx="28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R</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aphicFrame>
        <p:nvGraphicFramePr>
          <p:cNvPr id="2" name="Group 91"/>
          <p:cNvGraphicFramePr>
            <a:graphicFrameLocks noGrp="1"/>
          </p:cNvGraphicFramePr>
          <p:nvPr/>
        </p:nvGraphicFramePr>
        <p:xfrm>
          <a:off x="1181100" y="3495675"/>
          <a:ext cx="1981200" cy="1622425"/>
        </p:xfrm>
        <a:graphic>
          <a:graphicData uri="http://schemas.openxmlformats.org/drawingml/2006/table">
            <a:tbl>
              <a:tblPr/>
              <a:tblGrid>
                <a:gridCol w="1219200"/>
                <a:gridCol w="762000"/>
              </a:tblGrid>
              <a:tr h="409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  B</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705" marB="36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705" marB="36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121331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705" marB="36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705" marB="36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graphicFrame>
        <p:nvGraphicFramePr>
          <p:cNvPr id="3" name="Group 102"/>
          <p:cNvGraphicFramePr>
            <a:graphicFrameLocks noGrp="1"/>
          </p:cNvGraphicFramePr>
          <p:nvPr/>
        </p:nvGraphicFramePr>
        <p:xfrm>
          <a:off x="3824288" y="3495675"/>
          <a:ext cx="1981200" cy="1641475"/>
        </p:xfrm>
        <a:graphic>
          <a:graphicData uri="http://schemas.openxmlformats.org/drawingml/2006/table">
            <a:tbl>
              <a:tblPr/>
              <a:tblGrid>
                <a:gridCol w="1219200"/>
                <a:gridCol w="762000"/>
              </a:tblGrid>
              <a:tr h="42824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  B</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658" marB="3665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658" marB="366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121323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658" marB="3665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658" marB="366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graphicFrame>
        <p:nvGraphicFramePr>
          <p:cNvPr id="4" name="Group 113"/>
          <p:cNvGraphicFramePr>
            <a:graphicFrameLocks noGrp="1"/>
          </p:cNvGraphicFramePr>
          <p:nvPr/>
        </p:nvGraphicFramePr>
        <p:xfrm>
          <a:off x="6538913" y="3690938"/>
          <a:ext cx="1828800" cy="1228725"/>
        </p:xfrm>
        <a:graphic>
          <a:graphicData uri="http://schemas.openxmlformats.org/drawingml/2006/table">
            <a:tbl>
              <a:tblPr/>
              <a:tblGrid>
                <a:gridCol w="914400"/>
                <a:gridCol w="914400"/>
              </a:tblGrid>
              <a:tr h="4000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8286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advTm="2000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355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graphicFrame>
        <p:nvGraphicFramePr>
          <p:cNvPr id="23556" name="Group 4"/>
          <p:cNvGraphicFramePr>
            <a:graphicFrameLocks noGrp="1"/>
          </p:cNvGraphicFramePr>
          <p:nvPr>
            <p:custDataLst>
              <p:tags r:id="rId1"/>
            </p:custDataLst>
          </p:nvPr>
        </p:nvGraphicFramePr>
        <p:xfrm>
          <a:off x="228600" y="493713"/>
          <a:ext cx="8763000" cy="4598988"/>
        </p:xfrm>
        <a:graphic>
          <a:graphicData uri="http://schemas.openxmlformats.org/drawingml/2006/table">
            <a:tbl>
              <a:tblPr/>
              <a:tblGrid>
                <a:gridCol w="914400"/>
                <a:gridCol w="2590800"/>
                <a:gridCol w="2667000"/>
                <a:gridCol w="2590800"/>
              </a:tblGrid>
              <a:tr h="6286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 latinLnBrk="0" hangingPunct="1">
                        <a:lnSpc>
                          <a:spcPct val="9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与</a:t>
                      </a:r>
                      <a:r>
                        <a:rPr kumimoji="0" lang="zh-CN" altLang="en-US"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逻辑乘</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Multiplication</a:t>
                      </a:r>
                      <a:endPar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或</a:t>
                      </a:r>
                      <a:r>
                        <a:rPr kumimoji="0" lang="zh-CN" altLang="en-US"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逻辑加</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Addition</a:t>
                      </a:r>
                      <a:endPar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非</a:t>
                      </a:r>
                      <a:r>
                        <a:rPr kumimoji="0" lang="zh-CN" altLang="en-US"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逻辑非</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Negation</a:t>
                      </a:r>
                      <a:endPar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207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代数式</a:t>
                      </a:r>
                      <a:endPar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F = A × B =  A </a:t>
                      </a:r>
                      <a:r>
                        <a:rPr kumimoji="0" lang="en-US" altLang="zh-CN" sz="1700" b="0"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a:t>
                      </a:r>
                      <a:r>
                        <a:rPr kumimoji="0" lang="en-US" altLang="zh-CN" sz="17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 B</a:t>
                      </a:r>
                      <a:endParaRPr kumimoji="0" lang="en-US" altLang="zh-CN" sz="17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 = A</a:t>
                      </a:r>
                      <a:r>
                        <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B</a:t>
                      </a:r>
                      <a:endPar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 =  A</a:t>
                      </a:r>
                      <a:endPar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2509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逻辑门符号</a:t>
                      </a:r>
                      <a:endPar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endParaRP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19868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波形图</a:t>
                      </a:r>
                      <a:endPar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文氏图</a:t>
                      </a:r>
                      <a:endPar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r>
                        <a:rPr kumimoji="0" lang="zh-CN" altLang="en-US"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为</a:t>
                      </a:r>
                      <a:endParaRPr kumimoji="0" lang="zh-CN" altLang="en-US"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阴影</a:t>
                      </a:r>
                      <a:r>
                        <a:rPr kumimoji="0" lang="en-US" altLang="zh-CN"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3583" name="Line 126"/>
          <p:cNvSpPr/>
          <p:nvPr/>
        </p:nvSpPr>
        <p:spPr>
          <a:xfrm>
            <a:off x="7800975" y="1226185"/>
            <a:ext cx="228600" cy="0"/>
          </a:xfrm>
          <a:prstGeom prst="line">
            <a:avLst/>
          </a:prstGeom>
          <a:ln w="9525" cap="flat" cmpd="sng">
            <a:solidFill>
              <a:schemeClr val="tx1"/>
            </a:solidFill>
            <a:prstDash val="solid"/>
            <a:headEnd type="none" w="med" len="med"/>
            <a:tailEnd type="none" w="med" len="med"/>
          </a:ln>
        </p:spPr>
      </p:sp>
      <p:grpSp>
        <p:nvGrpSpPr>
          <p:cNvPr id="23584" name="Group 128"/>
          <p:cNvGrpSpPr/>
          <p:nvPr/>
        </p:nvGrpSpPr>
        <p:grpSpPr>
          <a:xfrm>
            <a:off x="1398588" y="1552575"/>
            <a:ext cx="2182812" cy="822325"/>
            <a:chOff x="0" y="0"/>
            <a:chExt cx="1375" cy="653"/>
          </a:xfrm>
        </p:grpSpPr>
        <p:sp>
          <p:nvSpPr>
            <p:cNvPr id="23657" name="Rectangle 129"/>
            <p:cNvSpPr/>
            <p:nvPr/>
          </p:nvSpPr>
          <p:spPr>
            <a:xfrm>
              <a:off x="461" y="77"/>
              <a:ext cx="381" cy="447"/>
            </a:xfrm>
            <a:prstGeom prst="rect">
              <a:avLst/>
            </a:prstGeom>
            <a:noFill/>
            <a:ln w="9525" cap="flat" cmpd="sng">
              <a:solidFill>
                <a:schemeClr val="tx1"/>
              </a:solidFill>
              <a:prstDash val="solid"/>
              <a:miter/>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3658" name="Line 130"/>
            <p:cNvSpPr/>
            <p:nvPr/>
          </p:nvSpPr>
          <p:spPr>
            <a:xfrm>
              <a:off x="187" y="372"/>
              <a:ext cx="275" cy="0"/>
            </a:xfrm>
            <a:prstGeom prst="line">
              <a:avLst/>
            </a:prstGeom>
            <a:ln w="9525" cap="flat" cmpd="sng">
              <a:solidFill>
                <a:schemeClr val="tx1"/>
              </a:solidFill>
              <a:prstDash val="solid"/>
              <a:headEnd type="none" w="med" len="med"/>
              <a:tailEnd type="none" w="med" len="med"/>
            </a:ln>
          </p:spPr>
        </p:sp>
        <p:sp>
          <p:nvSpPr>
            <p:cNvPr id="23659" name="Line 131"/>
            <p:cNvSpPr/>
            <p:nvPr/>
          </p:nvSpPr>
          <p:spPr>
            <a:xfrm>
              <a:off x="187" y="480"/>
              <a:ext cx="268" cy="0"/>
            </a:xfrm>
            <a:prstGeom prst="line">
              <a:avLst/>
            </a:prstGeom>
            <a:ln w="9525" cap="flat" cmpd="sng">
              <a:solidFill>
                <a:schemeClr val="tx1"/>
              </a:solidFill>
              <a:prstDash val="solid"/>
              <a:headEnd type="none" w="med" len="med"/>
              <a:tailEnd type="none" w="med" len="med"/>
            </a:ln>
          </p:spPr>
        </p:sp>
        <p:sp>
          <p:nvSpPr>
            <p:cNvPr id="23660" name="Line 132"/>
            <p:cNvSpPr/>
            <p:nvPr/>
          </p:nvSpPr>
          <p:spPr>
            <a:xfrm flipV="1">
              <a:off x="848" y="288"/>
              <a:ext cx="304" cy="4"/>
            </a:xfrm>
            <a:prstGeom prst="line">
              <a:avLst/>
            </a:prstGeom>
            <a:ln w="9525" cap="flat" cmpd="sng">
              <a:solidFill>
                <a:schemeClr val="tx1"/>
              </a:solidFill>
              <a:prstDash val="solid"/>
              <a:headEnd type="none" w="med" len="med"/>
              <a:tailEnd type="none" w="med" len="med"/>
            </a:ln>
          </p:spPr>
        </p:sp>
        <p:sp>
          <p:nvSpPr>
            <p:cNvPr id="23661" name="Text Box 133"/>
            <p:cNvSpPr txBox="1"/>
            <p:nvPr/>
          </p:nvSpPr>
          <p:spPr>
            <a:xfrm>
              <a:off x="0" y="360"/>
              <a:ext cx="223" cy="29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62" name="Line 134"/>
            <p:cNvSpPr/>
            <p:nvPr/>
          </p:nvSpPr>
          <p:spPr>
            <a:xfrm>
              <a:off x="192" y="144"/>
              <a:ext cx="275" cy="0"/>
            </a:xfrm>
            <a:prstGeom prst="line">
              <a:avLst/>
            </a:prstGeom>
            <a:ln w="9525" cap="flat" cmpd="sng">
              <a:solidFill>
                <a:schemeClr val="tx1"/>
              </a:solidFill>
              <a:prstDash val="solid"/>
              <a:headEnd type="none" w="med" len="med"/>
              <a:tailEnd type="none" w="med" len="med"/>
            </a:ln>
          </p:spPr>
        </p:sp>
        <p:sp>
          <p:nvSpPr>
            <p:cNvPr id="23663" name="Line 135"/>
            <p:cNvSpPr/>
            <p:nvPr/>
          </p:nvSpPr>
          <p:spPr>
            <a:xfrm>
              <a:off x="192" y="257"/>
              <a:ext cx="268" cy="0"/>
            </a:xfrm>
            <a:prstGeom prst="line">
              <a:avLst/>
            </a:prstGeom>
            <a:ln w="9525" cap="flat" cmpd="sng">
              <a:solidFill>
                <a:schemeClr val="tx1"/>
              </a:solidFill>
              <a:prstDash val="solid"/>
              <a:headEnd type="none" w="med" len="med"/>
              <a:tailEnd type="none" w="med" len="med"/>
            </a:ln>
          </p:spPr>
        </p:sp>
        <p:sp>
          <p:nvSpPr>
            <p:cNvPr id="23664" name="Text Box 136"/>
            <p:cNvSpPr txBox="1"/>
            <p:nvPr/>
          </p:nvSpPr>
          <p:spPr>
            <a:xfrm>
              <a:off x="0" y="0"/>
              <a:ext cx="223" cy="29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65" name="Text Box 137"/>
            <p:cNvSpPr txBox="1"/>
            <p:nvPr/>
          </p:nvSpPr>
          <p:spPr>
            <a:xfrm>
              <a:off x="0" y="120"/>
              <a:ext cx="223" cy="29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66" name="Text Box 138"/>
            <p:cNvSpPr txBox="1"/>
            <p:nvPr/>
          </p:nvSpPr>
          <p:spPr>
            <a:xfrm>
              <a:off x="0" y="240"/>
              <a:ext cx="223" cy="29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67" name="Text Box 139"/>
            <p:cNvSpPr txBox="1"/>
            <p:nvPr/>
          </p:nvSpPr>
          <p:spPr>
            <a:xfrm>
              <a:off x="1152" y="134"/>
              <a:ext cx="223" cy="29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grpSp>
        <p:nvGrpSpPr>
          <p:cNvPr id="23585" name="Group 140"/>
          <p:cNvGrpSpPr/>
          <p:nvPr/>
        </p:nvGrpSpPr>
        <p:grpSpPr>
          <a:xfrm>
            <a:off x="1474788" y="2224088"/>
            <a:ext cx="2182812" cy="796925"/>
            <a:chOff x="0" y="0"/>
            <a:chExt cx="1375" cy="670"/>
          </a:xfrm>
        </p:grpSpPr>
        <p:sp>
          <p:nvSpPr>
            <p:cNvPr id="23646" name="Line 141"/>
            <p:cNvSpPr/>
            <p:nvPr/>
          </p:nvSpPr>
          <p:spPr>
            <a:xfrm>
              <a:off x="187" y="372"/>
              <a:ext cx="275" cy="0"/>
            </a:xfrm>
            <a:prstGeom prst="line">
              <a:avLst/>
            </a:prstGeom>
            <a:ln w="9525" cap="flat" cmpd="sng">
              <a:solidFill>
                <a:schemeClr val="tx1"/>
              </a:solidFill>
              <a:prstDash val="solid"/>
              <a:headEnd type="none" w="med" len="med"/>
              <a:tailEnd type="none" w="med" len="med"/>
            </a:ln>
          </p:spPr>
        </p:sp>
        <p:sp>
          <p:nvSpPr>
            <p:cNvPr id="23647" name="Line 142"/>
            <p:cNvSpPr/>
            <p:nvPr/>
          </p:nvSpPr>
          <p:spPr>
            <a:xfrm>
              <a:off x="187" y="480"/>
              <a:ext cx="268" cy="0"/>
            </a:xfrm>
            <a:prstGeom prst="line">
              <a:avLst/>
            </a:prstGeom>
            <a:ln w="9525" cap="flat" cmpd="sng">
              <a:solidFill>
                <a:schemeClr val="tx1"/>
              </a:solidFill>
              <a:prstDash val="solid"/>
              <a:headEnd type="none" w="med" len="med"/>
              <a:tailEnd type="none" w="med" len="med"/>
            </a:ln>
          </p:spPr>
        </p:sp>
        <p:sp>
          <p:nvSpPr>
            <p:cNvPr id="23648" name="Line 143"/>
            <p:cNvSpPr/>
            <p:nvPr/>
          </p:nvSpPr>
          <p:spPr>
            <a:xfrm flipV="1">
              <a:off x="848" y="288"/>
              <a:ext cx="304" cy="4"/>
            </a:xfrm>
            <a:prstGeom prst="line">
              <a:avLst/>
            </a:prstGeom>
            <a:ln w="9525" cap="flat" cmpd="sng">
              <a:solidFill>
                <a:schemeClr val="tx1"/>
              </a:solidFill>
              <a:prstDash val="solid"/>
              <a:headEnd type="none" w="med" len="med"/>
              <a:tailEnd type="none" w="med" len="med"/>
            </a:ln>
          </p:spPr>
        </p:sp>
        <p:sp>
          <p:nvSpPr>
            <p:cNvPr id="23649" name="Text Box 144"/>
            <p:cNvSpPr txBox="1"/>
            <p:nvPr/>
          </p:nvSpPr>
          <p:spPr>
            <a:xfrm>
              <a:off x="0" y="36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0" name="Line 145"/>
            <p:cNvSpPr/>
            <p:nvPr/>
          </p:nvSpPr>
          <p:spPr>
            <a:xfrm>
              <a:off x="192" y="144"/>
              <a:ext cx="275" cy="0"/>
            </a:xfrm>
            <a:prstGeom prst="line">
              <a:avLst/>
            </a:prstGeom>
            <a:ln w="9525" cap="flat" cmpd="sng">
              <a:solidFill>
                <a:schemeClr val="tx1"/>
              </a:solidFill>
              <a:prstDash val="solid"/>
              <a:headEnd type="none" w="med" len="med"/>
              <a:tailEnd type="none" w="med" len="med"/>
            </a:ln>
          </p:spPr>
        </p:sp>
        <p:sp>
          <p:nvSpPr>
            <p:cNvPr id="23651" name="Line 146"/>
            <p:cNvSpPr/>
            <p:nvPr/>
          </p:nvSpPr>
          <p:spPr>
            <a:xfrm>
              <a:off x="192" y="257"/>
              <a:ext cx="268" cy="0"/>
            </a:xfrm>
            <a:prstGeom prst="line">
              <a:avLst/>
            </a:prstGeom>
            <a:ln w="9525" cap="flat" cmpd="sng">
              <a:solidFill>
                <a:schemeClr val="tx1"/>
              </a:solidFill>
              <a:prstDash val="solid"/>
              <a:headEnd type="none" w="med" len="med"/>
              <a:tailEnd type="none" w="med" len="med"/>
            </a:ln>
          </p:spPr>
        </p:sp>
        <p:sp>
          <p:nvSpPr>
            <p:cNvPr id="23652" name="Text Box 147"/>
            <p:cNvSpPr txBox="1"/>
            <p:nvPr/>
          </p:nvSpPr>
          <p:spPr>
            <a:xfrm>
              <a:off x="0" y="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3" name="Text Box 148"/>
            <p:cNvSpPr txBox="1"/>
            <p:nvPr/>
          </p:nvSpPr>
          <p:spPr>
            <a:xfrm>
              <a:off x="0" y="12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4" name="Text Box 149"/>
            <p:cNvSpPr txBox="1"/>
            <p:nvPr/>
          </p:nvSpPr>
          <p:spPr>
            <a:xfrm>
              <a:off x="0" y="24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5" name="Text Box 150"/>
            <p:cNvSpPr txBox="1"/>
            <p:nvPr/>
          </p:nvSpPr>
          <p:spPr>
            <a:xfrm>
              <a:off x="1152" y="133"/>
              <a:ext cx="223"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6" name="AutoShape 151"/>
            <p:cNvSpPr/>
            <p:nvPr/>
          </p:nvSpPr>
          <p:spPr>
            <a:xfrm>
              <a:off x="415" y="96"/>
              <a:ext cx="442" cy="432"/>
            </a:xfrm>
            <a:prstGeom prst="flowChartDelay">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23586" name="Group 153"/>
          <p:cNvGrpSpPr/>
          <p:nvPr/>
        </p:nvGrpSpPr>
        <p:grpSpPr>
          <a:xfrm>
            <a:off x="4065588" y="1595438"/>
            <a:ext cx="2182812" cy="796925"/>
            <a:chOff x="0" y="0"/>
            <a:chExt cx="1375" cy="670"/>
          </a:xfrm>
        </p:grpSpPr>
        <p:sp>
          <p:nvSpPr>
            <p:cNvPr id="23635" name="Rectangle 154"/>
            <p:cNvSpPr/>
            <p:nvPr/>
          </p:nvSpPr>
          <p:spPr>
            <a:xfrm>
              <a:off x="461" y="77"/>
              <a:ext cx="381" cy="44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3636" name="Line 155"/>
            <p:cNvSpPr/>
            <p:nvPr/>
          </p:nvSpPr>
          <p:spPr>
            <a:xfrm>
              <a:off x="187" y="372"/>
              <a:ext cx="275" cy="0"/>
            </a:xfrm>
            <a:prstGeom prst="line">
              <a:avLst/>
            </a:prstGeom>
            <a:ln w="9525" cap="flat" cmpd="sng">
              <a:solidFill>
                <a:schemeClr val="tx1"/>
              </a:solidFill>
              <a:prstDash val="solid"/>
              <a:headEnd type="none" w="med" len="med"/>
              <a:tailEnd type="none" w="med" len="med"/>
            </a:ln>
          </p:spPr>
        </p:sp>
        <p:sp>
          <p:nvSpPr>
            <p:cNvPr id="23637" name="Line 156"/>
            <p:cNvSpPr/>
            <p:nvPr/>
          </p:nvSpPr>
          <p:spPr>
            <a:xfrm>
              <a:off x="187" y="480"/>
              <a:ext cx="268" cy="0"/>
            </a:xfrm>
            <a:prstGeom prst="line">
              <a:avLst/>
            </a:prstGeom>
            <a:ln w="9525" cap="flat" cmpd="sng">
              <a:solidFill>
                <a:schemeClr val="tx1"/>
              </a:solidFill>
              <a:prstDash val="solid"/>
              <a:headEnd type="none" w="med" len="med"/>
              <a:tailEnd type="none" w="med" len="med"/>
            </a:ln>
          </p:spPr>
        </p:sp>
        <p:sp>
          <p:nvSpPr>
            <p:cNvPr id="23638" name="Line 157"/>
            <p:cNvSpPr/>
            <p:nvPr/>
          </p:nvSpPr>
          <p:spPr>
            <a:xfrm flipV="1">
              <a:off x="848" y="288"/>
              <a:ext cx="304" cy="4"/>
            </a:xfrm>
            <a:prstGeom prst="line">
              <a:avLst/>
            </a:prstGeom>
            <a:ln w="9525" cap="flat" cmpd="sng">
              <a:solidFill>
                <a:schemeClr val="tx1"/>
              </a:solidFill>
              <a:prstDash val="solid"/>
              <a:headEnd type="none" w="med" len="med"/>
              <a:tailEnd type="none" w="med" len="med"/>
            </a:ln>
          </p:spPr>
        </p:sp>
        <p:sp>
          <p:nvSpPr>
            <p:cNvPr id="23639" name="Text Box 158"/>
            <p:cNvSpPr txBox="1"/>
            <p:nvPr/>
          </p:nvSpPr>
          <p:spPr>
            <a:xfrm>
              <a:off x="0" y="36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40" name="Line 159"/>
            <p:cNvSpPr/>
            <p:nvPr/>
          </p:nvSpPr>
          <p:spPr>
            <a:xfrm>
              <a:off x="192" y="144"/>
              <a:ext cx="275" cy="0"/>
            </a:xfrm>
            <a:prstGeom prst="line">
              <a:avLst/>
            </a:prstGeom>
            <a:ln w="9525" cap="flat" cmpd="sng">
              <a:solidFill>
                <a:schemeClr val="tx1"/>
              </a:solidFill>
              <a:prstDash val="solid"/>
              <a:headEnd type="none" w="med" len="med"/>
              <a:tailEnd type="none" w="med" len="med"/>
            </a:ln>
          </p:spPr>
        </p:sp>
        <p:sp>
          <p:nvSpPr>
            <p:cNvPr id="23641" name="Line 160"/>
            <p:cNvSpPr/>
            <p:nvPr/>
          </p:nvSpPr>
          <p:spPr>
            <a:xfrm>
              <a:off x="192" y="257"/>
              <a:ext cx="268" cy="0"/>
            </a:xfrm>
            <a:prstGeom prst="line">
              <a:avLst/>
            </a:prstGeom>
            <a:ln w="9525" cap="flat" cmpd="sng">
              <a:solidFill>
                <a:schemeClr val="tx1"/>
              </a:solidFill>
              <a:prstDash val="solid"/>
              <a:headEnd type="none" w="med" len="med"/>
              <a:tailEnd type="none" w="med" len="med"/>
            </a:ln>
          </p:spPr>
        </p:sp>
        <p:sp>
          <p:nvSpPr>
            <p:cNvPr id="23642" name="Text Box 161"/>
            <p:cNvSpPr txBox="1"/>
            <p:nvPr/>
          </p:nvSpPr>
          <p:spPr>
            <a:xfrm>
              <a:off x="0" y="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43" name="Text Box 162"/>
            <p:cNvSpPr txBox="1"/>
            <p:nvPr/>
          </p:nvSpPr>
          <p:spPr>
            <a:xfrm>
              <a:off x="0" y="12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44" name="Text Box 163"/>
            <p:cNvSpPr txBox="1"/>
            <p:nvPr/>
          </p:nvSpPr>
          <p:spPr>
            <a:xfrm>
              <a:off x="0" y="24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45" name="Text Box 164"/>
            <p:cNvSpPr txBox="1"/>
            <p:nvPr/>
          </p:nvSpPr>
          <p:spPr>
            <a:xfrm>
              <a:off x="1152" y="133"/>
              <a:ext cx="223"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grpSp>
        <p:nvGrpSpPr>
          <p:cNvPr id="23587" name="Group 199"/>
          <p:cNvGrpSpPr/>
          <p:nvPr/>
        </p:nvGrpSpPr>
        <p:grpSpPr>
          <a:xfrm>
            <a:off x="4114800" y="2224088"/>
            <a:ext cx="2182813" cy="796925"/>
            <a:chOff x="0" y="0"/>
            <a:chExt cx="1375" cy="670"/>
          </a:xfrm>
        </p:grpSpPr>
        <p:sp>
          <p:nvSpPr>
            <p:cNvPr id="23624" name="Line 180"/>
            <p:cNvSpPr/>
            <p:nvPr/>
          </p:nvSpPr>
          <p:spPr>
            <a:xfrm flipV="1">
              <a:off x="860" y="300"/>
              <a:ext cx="304" cy="4"/>
            </a:xfrm>
            <a:prstGeom prst="line">
              <a:avLst/>
            </a:prstGeom>
            <a:ln w="9525" cap="flat" cmpd="sng">
              <a:solidFill>
                <a:schemeClr val="tx1"/>
              </a:solidFill>
              <a:prstDash val="solid"/>
              <a:headEnd type="none" w="med" len="med"/>
              <a:tailEnd type="none" w="med" len="med"/>
            </a:ln>
          </p:spPr>
        </p:sp>
        <p:sp>
          <p:nvSpPr>
            <p:cNvPr id="23625" name="Text Box 187"/>
            <p:cNvSpPr txBox="1"/>
            <p:nvPr/>
          </p:nvSpPr>
          <p:spPr>
            <a:xfrm>
              <a:off x="1152" y="133"/>
              <a:ext cx="223"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aphicFrame>
          <p:nvGraphicFramePr>
            <p:cNvPr id="23626" name="Object 198"/>
            <p:cNvGraphicFramePr>
              <a:graphicFrameLocks noChangeAspect="1"/>
            </p:cNvGraphicFramePr>
            <p:nvPr/>
          </p:nvGraphicFramePr>
          <p:xfrm>
            <a:off x="384" y="54"/>
            <a:ext cx="492" cy="498"/>
          </p:xfrm>
          <a:graphic>
            <a:graphicData uri="http://schemas.openxmlformats.org/presentationml/2006/ole">
              <mc:AlternateContent xmlns:mc="http://schemas.openxmlformats.org/markup-compatibility/2006">
                <mc:Choice xmlns:v="urn:schemas-microsoft-com:vml" Requires="v">
                  <p:oleObj spid="_x0000_s3076" name="" r:id="rId2" imgW="781050" imgH="790575" progId="PBrush">
                    <p:embed/>
                  </p:oleObj>
                </mc:Choice>
                <mc:Fallback>
                  <p:oleObj name="" r:id="rId2" imgW="781050" imgH="790575" progId="PBrush">
                    <p:embed/>
                    <p:pic>
                      <p:nvPicPr>
                        <p:cNvPr id="0" name="图片 3075"/>
                        <p:cNvPicPr/>
                        <p:nvPr/>
                      </p:nvPicPr>
                      <p:blipFill>
                        <a:blip r:embed="rId3"/>
                        <a:stretch>
                          <a:fillRect/>
                        </a:stretch>
                      </p:blipFill>
                      <p:spPr>
                        <a:xfrm>
                          <a:off x="384" y="54"/>
                          <a:ext cx="492" cy="498"/>
                        </a:xfrm>
                        <a:prstGeom prst="rect">
                          <a:avLst/>
                        </a:prstGeom>
                        <a:noFill/>
                        <a:ln w="38100">
                          <a:noFill/>
                          <a:miter/>
                        </a:ln>
                      </p:spPr>
                    </p:pic>
                  </p:oleObj>
                </mc:Fallback>
              </mc:AlternateContent>
            </a:graphicData>
          </a:graphic>
        </p:graphicFrame>
        <p:sp>
          <p:nvSpPr>
            <p:cNvPr id="23627" name="Text Box 181"/>
            <p:cNvSpPr txBox="1"/>
            <p:nvPr/>
          </p:nvSpPr>
          <p:spPr>
            <a:xfrm>
              <a:off x="0" y="36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28" name="Line 182"/>
            <p:cNvSpPr/>
            <p:nvPr/>
          </p:nvSpPr>
          <p:spPr>
            <a:xfrm>
              <a:off x="192" y="144"/>
              <a:ext cx="345" cy="0"/>
            </a:xfrm>
            <a:prstGeom prst="line">
              <a:avLst/>
            </a:prstGeom>
            <a:ln w="9525" cap="flat" cmpd="sng">
              <a:solidFill>
                <a:schemeClr val="tx1"/>
              </a:solidFill>
              <a:prstDash val="solid"/>
              <a:headEnd type="none" w="med" len="med"/>
              <a:tailEnd type="none" w="med" len="med"/>
            </a:ln>
          </p:spPr>
        </p:sp>
        <p:sp>
          <p:nvSpPr>
            <p:cNvPr id="23629" name="Line 183"/>
            <p:cNvSpPr/>
            <p:nvPr/>
          </p:nvSpPr>
          <p:spPr>
            <a:xfrm flipV="1">
              <a:off x="175" y="252"/>
              <a:ext cx="384" cy="0"/>
            </a:xfrm>
            <a:prstGeom prst="line">
              <a:avLst/>
            </a:prstGeom>
            <a:ln w="9525" cap="flat" cmpd="sng">
              <a:solidFill>
                <a:schemeClr val="tx1"/>
              </a:solidFill>
              <a:prstDash val="solid"/>
              <a:headEnd type="none" w="med" len="med"/>
              <a:tailEnd type="none" w="med" len="med"/>
            </a:ln>
          </p:spPr>
        </p:sp>
        <p:sp>
          <p:nvSpPr>
            <p:cNvPr id="23630" name="Text Box 184"/>
            <p:cNvSpPr txBox="1"/>
            <p:nvPr/>
          </p:nvSpPr>
          <p:spPr>
            <a:xfrm>
              <a:off x="0" y="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31" name="Text Box 185"/>
            <p:cNvSpPr txBox="1"/>
            <p:nvPr/>
          </p:nvSpPr>
          <p:spPr>
            <a:xfrm>
              <a:off x="0" y="12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32" name="Text Box 186"/>
            <p:cNvSpPr txBox="1"/>
            <p:nvPr/>
          </p:nvSpPr>
          <p:spPr>
            <a:xfrm>
              <a:off x="0" y="24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33" name="Line 188"/>
            <p:cNvSpPr/>
            <p:nvPr/>
          </p:nvSpPr>
          <p:spPr>
            <a:xfrm flipV="1">
              <a:off x="175" y="372"/>
              <a:ext cx="384" cy="0"/>
            </a:xfrm>
            <a:prstGeom prst="line">
              <a:avLst/>
            </a:prstGeom>
            <a:ln w="9525" cap="flat" cmpd="sng">
              <a:solidFill>
                <a:schemeClr val="tx1"/>
              </a:solidFill>
              <a:prstDash val="solid"/>
              <a:headEnd type="none" w="med" len="med"/>
              <a:tailEnd type="none" w="med" len="med"/>
            </a:ln>
          </p:spPr>
        </p:sp>
        <p:sp>
          <p:nvSpPr>
            <p:cNvPr id="23634" name="Line 189"/>
            <p:cNvSpPr/>
            <p:nvPr/>
          </p:nvSpPr>
          <p:spPr>
            <a:xfrm>
              <a:off x="182" y="480"/>
              <a:ext cx="322" cy="0"/>
            </a:xfrm>
            <a:prstGeom prst="line">
              <a:avLst/>
            </a:prstGeom>
            <a:ln w="9525" cap="flat" cmpd="sng">
              <a:solidFill>
                <a:schemeClr val="tx1"/>
              </a:solidFill>
              <a:prstDash val="solid"/>
              <a:headEnd type="none" w="med" len="med"/>
              <a:tailEnd type="none" w="med" len="med"/>
            </a:ln>
          </p:spPr>
        </p:sp>
      </p:grpSp>
      <p:grpSp>
        <p:nvGrpSpPr>
          <p:cNvPr id="23588" name="Group 208"/>
          <p:cNvGrpSpPr/>
          <p:nvPr/>
        </p:nvGrpSpPr>
        <p:grpSpPr>
          <a:xfrm>
            <a:off x="6692265" y="1737043"/>
            <a:ext cx="2057400" cy="400050"/>
            <a:chOff x="0" y="0"/>
            <a:chExt cx="1296" cy="336"/>
          </a:xfrm>
        </p:grpSpPr>
        <p:sp>
          <p:nvSpPr>
            <p:cNvPr id="23617" name="Rectangle 209"/>
            <p:cNvSpPr/>
            <p:nvPr/>
          </p:nvSpPr>
          <p:spPr>
            <a:xfrm>
              <a:off x="528" y="0"/>
              <a:ext cx="240"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8" name="Text Box 210"/>
            <p:cNvSpPr txBox="1"/>
            <p:nvPr/>
          </p:nvSpPr>
          <p:spPr>
            <a:xfrm>
              <a:off x="556" y="24"/>
              <a:ext cx="210" cy="309"/>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3619" name="Oval 211"/>
            <p:cNvSpPr/>
            <p:nvPr/>
          </p:nvSpPr>
          <p:spPr>
            <a:xfrm>
              <a:off x="780" y="144"/>
              <a:ext cx="48" cy="48"/>
            </a:xfrm>
            <a:prstGeom prst="ellipse">
              <a:avLst/>
            </a:prstGeom>
            <a:no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20" name="Line 212"/>
            <p:cNvSpPr/>
            <p:nvPr/>
          </p:nvSpPr>
          <p:spPr>
            <a:xfrm>
              <a:off x="192" y="156"/>
              <a:ext cx="336" cy="0"/>
            </a:xfrm>
            <a:prstGeom prst="line">
              <a:avLst/>
            </a:prstGeom>
            <a:ln w="9525" cap="flat" cmpd="sng">
              <a:solidFill>
                <a:schemeClr val="tx1"/>
              </a:solidFill>
              <a:prstDash val="solid"/>
              <a:headEnd type="none" w="med" len="med"/>
              <a:tailEnd type="none" w="med" len="med"/>
            </a:ln>
          </p:spPr>
        </p:sp>
        <p:sp>
          <p:nvSpPr>
            <p:cNvPr id="23621" name="Line 213"/>
            <p:cNvSpPr/>
            <p:nvPr/>
          </p:nvSpPr>
          <p:spPr>
            <a:xfrm>
              <a:off x="828" y="168"/>
              <a:ext cx="313" cy="0"/>
            </a:xfrm>
            <a:prstGeom prst="line">
              <a:avLst/>
            </a:prstGeom>
            <a:ln w="9525" cap="flat" cmpd="sng">
              <a:solidFill>
                <a:schemeClr val="tx1"/>
              </a:solidFill>
              <a:prstDash val="solid"/>
              <a:headEnd type="none" w="med" len="med"/>
              <a:tailEnd type="none" w="med" len="med"/>
            </a:ln>
          </p:spPr>
        </p:sp>
        <p:sp>
          <p:nvSpPr>
            <p:cNvPr id="23622" name="Text Box 214"/>
            <p:cNvSpPr txBox="1"/>
            <p:nvPr/>
          </p:nvSpPr>
          <p:spPr>
            <a:xfrm>
              <a:off x="0" y="0"/>
              <a:ext cx="192"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23" name="Text Box 215"/>
            <p:cNvSpPr txBox="1"/>
            <p:nvPr/>
          </p:nvSpPr>
          <p:spPr>
            <a:xfrm>
              <a:off x="1104" y="0"/>
              <a:ext cx="192"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grpSp>
        <p:nvGrpSpPr>
          <p:cNvPr id="23589" name="Group 216"/>
          <p:cNvGrpSpPr/>
          <p:nvPr/>
        </p:nvGrpSpPr>
        <p:grpSpPr>
          <a:xfrm>
            <a:off x="6629400" y="2389188"/>
            <a:ext cx="2209800" cy="368300"/>
            <a:chOff x="0" y="0"/>
            <a:chExt cx="1392" cy="311"/>
          </a:xfrm>
        </p:grpSpPr>
        <p:sp>
          <p:nvSpPr>
            <p:cNvPr id="23611" name="AutoShape 217"/>
            <p:cNvSpPr/>
            <p:nvPr/>
          </p:nvSpPr>
          <p:spPr>
            <a:xfrm rot="5279848">
              <a:off x="576" y="5"/>
              <a:ext cx="288" cy="288"/>
            </a:xfrm>
            <a:prstGeom prst="triangle">
              <a:avLst>
                <a:gd name="adj" fmla="val 50000"/>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2" name="Oval 218"/>
            <p:cNvSpPr/>
            <p:nvPr/>
          </p:nvSpPr>
          <p:spPr>
            <a:xfrm>
              <a:off x="876" y="125"/>
              <a:ext cx="48" cy="48"/>
            </a:xfrm>
            <a:prstGeom prst="ellipse">
              <a:avLst/>
            </a:prstGeom>
            <a:no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3" name="Line 219"/>
            <p:cNvSpPr/>
            <p:nvPr/>
          </p:nvSpPr>
          <p:spPr>
            <a:xfrm>
              <a:off x="240" y="137"/>
              <a:ext cx="336" cy="0"/>
            </a:xfrm>
            <a:prstGeom prst="line">
              <a:avLst/>
            </a:prstGeom>
            <a:ln w="9525" cap="flat" cmpd="sng">
              <a:solidFill>
                <a:schemeClr val="tx1"/>
              </a:solidFill>
              <a:prstDash val="solid"/>
              <a:headEnd type="none" w="med" len="med"/>
              <a:tailEnd type="none" w="med" len="med"/>
            </a:ln>
          </p:spPr>
        </p:sp>
        <p:sp>
          <p:nvSpPr>
            <p:cNvPr id="23614" name="Line 220"/>
            <p:cNvSpPr/>
            <p:nvPr/>
          </p:nvSpPr>
          <p:spPr>
            <a:xfrm>
              <a:off x="924" y="149"/>
              <a:ext cx="290" cy="0"/>
            </a:xfrm>
            <a:prstGeom prst="line">
              <a:avLst/>
            </a:prstGeom>
            <a:ln w="9525" cap="flat" cmpd="sng">
              <a:solidFill>
                <a:schemeClr val="tx1"/>
              </a:solidFill>
              <a:prstDash val="solid"/>
              <a:headEnd type="none" w="med" len="med"/>
              <a:tailEnd type="none" w="med" len="med"/>
            </a:ln>
          </p:spPr>
        </p:sp>
        <p:sp>
          <p:nvSpPr>
            <p:cNvPr id="23615" name="Text Box 221"/>
            <p:cNvSpPr txBox="1"/>
            <p:nvPr/>
          </p:nvSpPr>
          <p:spPr>
            <a:xfrm>
              <a:off x="0" y="0"/>
              <a:ext cx="192" cy="31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16" name="Text Box 222"/>
            <p:cNvSpPr txBox="1"/>
            <p:nvPr/>
          </p:nvSpPr>
          <p:spPr>
            <a:xfrm>
              <a:off x="1200" y="0"/>
              <a:ext cx="192" cy="31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pic>
        <p:nvPicPr>
          <p:cNvPr id="23590" name="Group 317"/>
          <p:cNvPicPr/>
          <p:nvPr/>
        </p:nvPicPr>
        <p:blipFill>
          <a:blip r:embed="rId4"/>
          <a:stretch>
            <a:fillRect/>
          </a:stretch>
        </p:blipFill>
        <p:spPr>
          <a:xfrm>
            <a:off x="3919538" y="2925763"/>
            <a:ext cx="2371725" cy="871537"/>
          </a:xfrm>
          <a:prstGeom prst="rect">
            <a:avLst/>
          </a:prstGeom>
          <a:noFill/>
          <a:ln w="9525">
            <a:noFill/>
          </a:ln>
        </p:spPr>
      </p:pic>
      <p:pic>
        <p:nvPicPr>
          <p:cNvPr id="23591" name="Group 353"/>
          <p:cNvPicPr/>
          <p:nvPr/>
        </p:nvPicPr>
        <p:blipFill>
          <a:blip r:embed="rId5"/>
          <a:stretch>
            <a:fillRect/>
          </a:stretch>
        </p:blipFill>
        <p:spPr>
          <a:xfrm>
            <a:off x="1212850" y="2944813"/>
            <a:ext cx="2378075" cy="865187"/>
          </a:xfrm>
          <a:prstGeom prst="rect">
            <a:avLst/>
          </a:prstGeom>
          <a:noFill/>
          <a:ln w="9525">
            <a:noFill/>
          </a:ln>
        </p:spPr>
      </p:pic>
      <p:sp>
        <p:nvSpPr>
          <p:cNvPr id="23592" name="Text Box 354"/>
          <p:cNvSpPr txBox="1"/>
          <p:nvPr/>
        </p:nvSpPr>
        <p:spPr>
          <a:xfrm>
            <a:off x="1166813" y="2994025"/>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3" name="Text Box 355"/>
          <p:cNvSpPr txBox="1"/>
          <p:nvPr/>
        </p:nvSpPr>
        <p:spPr>
          <a:xfrm>
            <a:off x="1166813" y="3219450"/>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4" name="Text Box 356"/>
          <p:cNvSpPr txBox="1"/>
          <p:nvPr/>
        </p:nvSpPr>
        <p:spPr>
          <a:xfrm>
            <a:off x="1166813" y="3498850"/>
            <a:ext cx="381000"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5" name="Text Box 357"/>
          <p:cNvSpPr txBox="1"/>
          <p:nvPr/>
        </p:nvSpPr>
        <p:spPr>
          <a:xfrm>
            <a:off x="3851275" y="2994025"/>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6" name="Text Box 358"/>
          <p:cNvSpPr txBox="1"/>
          <p:nvPr/>
        </p:nvSpPr>
        <p:spPr>
          <a:xfrm>
            <a:off x="3851275" y="3219450"/>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7" name="Text Box 359"/>
          <p:cNvSpPr txBox="1"/>
          <p:nvPr/>
        </p:nvSpPr>
        <p:spPr>
          <a:xfrm>
            <a:off x="3851275" y="3498850"/>
            <a:ext cx="381000"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pic>
        <p:nvPicPr>
          <p:cNvPr id="23598" name="Group 398"/>
          <p:cNvPicPr/>
          <p:nvPr/>
        </p:nvPicPr>
        <p:blipFill>
          <a:blip r:embed="rId6"/>
          <a:stretch>
            <a:fillRect/>
          </a:stretch>
        </p:blipFill>
        <p:spPr>
          <a:xfrm>
            <a:off x="6546850" y="2919413"/>
            <a:ext cx="2378075" cy="976312"/>
          </a:xfrm>
          <a:prstGeom prst="rect">
            <a:avLst/>
          </a:prstGeom>
          <a:noFill/>
          <a:ln w="9525">
            <a:noFill/>
          </a:ln>
        </p:spPr>
      </p:pic>
      <p:sp>
        <p:nvSpPr>
          <p:cNvPr id="23599" name="Line 399"/>
          <p:cNvSpPr/>
          <p:nvPr/>
        </p:nvSpPr>
        <p:spPr>
          <a:xfrm>
            <a:off x="250825" y="3867150"/>
            <a:ext cx="8713788" cy="0"/>
          </a:xfrm>
          <a:prstGeom prst="line">
            <a:avLst/>
          </a:prstGeom>
          <a:ln w="9525" cap="flat" cmpd="sng">
            <a:solidFill>
              <a:schemeClr val="tx1"/>
            </a:solidFill>
            <a:prstDash val="solid"/>
            <a:headEnd type="none" w="med" len="med"/>
            <a:tailEnd type="none" w="med" len="med"/>
          </a:ln>
        </p:spPr>
      </p:sp>
      <p:grpSp>
        <p:nvGrpSpPr>
          <p:cNvPr id="23600" name="Group 426"/>
          <p:cNvGrpSpPr/>
          <p:nvPr/>
        </p:nvGrpSpPr>
        <p:grpSpPr>
          <a:xfrm>
            <a:off x="1323975" y="4025900"/>
            <a:ext cx="2181225" cy="1014413"/>
            <a:chOff x="0" y="0"/>
            <a:chExt cx="1374" cy="852"/>
          </a:xfrm>
        </p:grpSpPr>
        <p:graphicFrame>
          <p:nvGraphicFramePr>
            <p:cNvPr id="23608" name="Object 412"/>
            <p:cNvGraphicFramePr>
              <a:graphicFrameLocks noChangeAspect="1"/>
            </p:cNvGraphicFramePr>
            <p:nvPr/>
          </p:nvGraphicFramePr>
          <p:xfrm>
            <a:off x="0" y="0"/>
            <a:ext cx="1374" cy="852"/>
          </p:xfrm>
          <a:graphic>
            <a:graphicData uri="http://schemas.openxmlformats.org/presentationml/2006/ole">
              <mc:AlternateContent xmlns:mc="http://schemas.openxmlformats.org/markup-compatibility/2006">
                <mc:Choice xmlns:v="urn:schemas-microsoft-com:vml" Requires="v">
                  <p:oleObj spid="_x0000_s3077" name="" r:id="rId7" imgW="2181225" imgH="1352550" progId="PBrush">
                    <p:embed/>
                  </p:oleObj>
                </mc:Choice>
                <mc:Fallback>
                  <p:oleObj name="" r:id="rId7" imgW="2181225" imgH="1352550" progId="PBrush">
                    <p:embed/>
                    <p:pic>
                      <p:nvPicPr>
                        <p:cNvPr id="0" name="图片 3076"/>
                        <p:cNvPicPr/>
                        <p:nvPr/>
                      </p:nvPicPr>
                      <p:blipFill>
                        <a:blip r:embed="rId8"/>
                        <a:stretch>
                          <a:fillRect/>
                        </a:stretch>
                      </p:blipFill>
                      <p:spPr>
                        <a:xfrm>
                          <a:off x="0" y="0"/>
                          <a:ext cx="1374" cy="852"/>
                        </a:xfrm>
                        <a:prstGeom prst="rect">
                          <a:avLst/>
                        </a:prstGeom>
                        <a:noFill/>
                        <a:ln w="38100">
                          <a:noFill/>
                          <a:miter/>
                        </a:ln>
                      </p:spPr>
                    </p:pic>
                  </p:oleObj>
                </mc:Fallback>
              </mc:AlternateContent>
            </a:graphicData>
          </a:graphic>
        </p:graphicFrame>
        <p:sp>
          <p:nvSpPr>
            <p:cNvPr id="23609" name="Oval 418"/>
            <p:cNvSpPr/>
            <p:nvPr/>
          </p:nvSpPr>
          <p:spPr>
            <a:xfrm>
              <a:off x="186" y="132"/>
              <a:ext cx="564" cy="528"/>
            </a:xfrm>
            <a:prstGeom prst="ellipse">
              <a:avLst/>
            </a:prstGeom>
            <a:noFill/>
            <a:ln w="9525" cap="flat" cmpd="sng">
              <a:solidFill>
                <a:schemeClr val="accent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0" name="Oval 419"/>
            <p:cNvSpPr/>
            <p:nvPr/>
          </p:nvSpPr>
          <p:spPr>
            <a:xfrm>
              <a:off x="474" y="132"/>
              <a:ext cx="564" cy="528"/>
            </a:xfrm>
            <a:prstGeom prst="ellipse">
              <a:avLst/>
            </a:prstGeom>
            <a:noFill/>
            <a:ln w="952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23601" name="Group 424"/>
          <p:cNvGrpSpPr/>
          <p:nvPr/>
        </p:nvGrpSpPr>
        <p:grpSpPr>
          <a:xfrm>
            <a:off x="3962400" y="4003675"/>
            <a:ext cx="2257425" cy="1036638"/>
            <a:chOff x="0" y="0"/>
            <a:chExt cx="1422" cy="870"/>
          </a:xfrm>
        </p:grpSpPr>
        <p:graphicFrame>
          <p:nvGraphicFramePr>
            <p:cNvPr id="23605" name="Object 414"/>
            <p:cNvGraphicFramePr>
              <a:graphicFrameLocks noChangeAspect="1"/>
            </p:cNvGraphicFramePr>
            <p:nvPr/>
          </p:nvGraphicFramePr>
          <p:xfrm>
            <a:off x="0" y="0"/>
            <a:ext cx="1422" cy="870"/>
          </p:xfrm>
          <a:graphic>
            <a:graphicData uri="http://schemas.openxmlformats.org/presentationml/2006/ole">
              <mc:AlternateContent xmlns:mc="http://schemas.openxmlformats.org/markup-compatibility/2006">
                <mc:Choice xmlns:v="urn:schemas-microsoft-com:vml" Requires="v">
                  <p:oleObj spid="_x0000_s3078" name="" r:id="rId9" imgW="2257425" imgH="1381125" progId="PBrush">
                    <p:embed/>
                  </p:oleObj>
                </mc:Choice>
                <mc:Fallback>
                  <p:oleObj name="" r:id="rId9" imgW="2257425" imgH="1381125" progId="PBrush">
                    <p:embed/>
                    <p:pic>
                      <p:nvPicPr>
                        <p:cNvPr id="0" name="图片 3077"/>
                        <p:cNvPicPr/>
                        <p:nvPr/>
                      </p:nvPicPr>
                      <p:blipFill>
                        <a:blip r:embed="rId10"/>
                        <a:stretch>
                          <a:fillRect/>
                        </a:stretch>
                      </p:blipFill>
                      <p:spPr>
                        <a:xfrm>
                          <a:off x="0" y="0"/>
                          <a:ext cx="1422" cy="870"/>
                        </a:xfrm>
                        <a:prstGeom prst="rect">
                          <a:avLst/>
                        </a:prstGeom>
                        <a:noFill/>
                        <a:ln w="38100">
                          <a:noFill/>
                          <a:miter/>
                        </a:ln>
                      </p:spPr>
                    </p:pic>
                  </p:oleObj>
                </mc:Fallback>
              </mc:AlternateContent>
            </a:graphicData>
          </a:graphic>
        </p:graphicFrame>
        <p:sp>
          <p:nvSpPr>
            <p:cNvPr id="23606" name="Oval 420"/>
            <p:cNvSpPr/>
            <p:nvPr/>
          </p:nvSpPr>
          <p:spPr>
            <a:xfrm>
              <a:off x="516" y="162"/>
              <a:ext cx="564" cy="528"/>
            </a:xfrm>
            <a:prstGeom prst="ellipse">
              <a:avLst/>
            </a:prstGeom>
            <a:noFill/>
            <a:ln w="952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07" name="Oval 421"/>
            <p:cNvSpPr/>
            <p:nvPr/>
          </p:nvSpPr>
          <p:spPr>
            <a:xfrm>
              <a:off x="228" y="162"/>
              <a:ext cx="564" cy="528"/>
            </a:xfrm>
            <a:prstGeom prst="ellipse">
              <a:avLst/>
            </a:prstGeom>
            <a:noFill/>
            <a:ln w="9525" cap="flat" cmpd="sng">
              <a:solidFill>
                <a:schemeClr val="accent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23602" name="Group 425"/>
          <p:cNvGrpSpPr/>
          <p:nvPr/>
        </p:nvGrpSpPr>
        <p:grpSpPr>
          <a:xfrm>
            <a:off x="6705600" y="4067175"/>
            <a:ext cx="2133600" cy="914400"/>
            <a:chOff x="0" y="0"/>
            <a:chExt cx="1344" cy="768"/>
          </a:xfrm>
        </p:grpSpPr>
        <p:sp>
          <p:nvSpPr>
            <p:cNvPr id="23603" name="Rectangle 416"/>
            <p:cNvSpPr/>
            <p:nvPr/>
          </p:nvSpPr>
          <p:spPr>
            <a:xfrm>
              <a:off x="0" y="0"/>
              <a:ext cx="1344" cy="768"/>
            </a:xfrm>
            <a:prstGeom prst="rect">
              <a:avLst/>
            </a:prstGeom>
            <a:solidFill>
              <a:srgbClr val="FFFF00"/>
            </a:solidFill>
            <a:ln w="9525" cap="flat" cmpd="sng">
              <a:solidFill>
                <a:schemeClr val="folHlink"/>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04" name="Oval 422"/>
            <p:cNvSpPr/>
            <p:nvPr/>
          </p:nvSpPr>
          <p:spPr>
            <a:xfrm>
              <a:off x="360" y="144"/>
              <a:ext cx="564" cy="528"/>
            </a:xfrm>
            <a:prstGeom prst="ellipse">
              <a:avLst/>
            </a:prstGeom>
            <a:solidFill>
              <a:srgbClr val="FFFFFF"/>
            </a:solidFill>
            <a:ln w="9525" cap="flat" cmpd="sng">
              <a:solidFill>
                <a:schemeClr val="accent1"/>
              </a:solidFill>
              <a:prstDash val="solid"/>
              <a:headEnd type="none" w="med" len="med"/>
              <a:tailEnd type="none" w="med" len="med"/>
            </a:ln>
          </p:spPr>
          <p:txBody>
            <a:bodyPr wrap="none" anchor="ct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8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8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8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59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59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59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59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59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59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59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59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59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60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60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92" grpId="0"/>
      <p:bldP spid="23593" grpId="0"/>
      <p:bldP spid="23594" grpId="0"/>
      <p:bldP spid="23595" grpId="0"/>
      <p:bldP spid="23596" grpId="0"/>
      <p:bldP spid="2359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457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pSp>
        <p:nvGrpSpPr>
          <p:cNvPr id="24580" name="Group 24"/>
          <p:cNvGrpSpPr/>
          <p:nvPr/>
        </p:nvGrpSpPr>
        <p:grpSpPr>
          <a:xfrm>
            <a:off x="457200" y="649288"/>
            <a:ext cx="8396288" cy="1433512"/>
            <a:chOff x="18" y="0"/>
            <a:chExt cx="5289" cy="1204"/>
          </a:xfrm>
        </p:grpSpPr>
        <p:sp>
          <p:nvSpPr>
            <p:cNvPr id="24586" name="Text Box 5"/>
            <p:cNvSpPr txBox="1"/>
            <p:nvPr/>
          </p:nvSpPr>
          <p:spPr>
            <a:xfrm>
              <a:off x="18" y="0"/>
              <a:ext cx="4896"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常量基本运算</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1  =  0		           0  =  1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4587" name="Line 6"/>
            <p:cNvSpPr/>
            <p:nvPr/>
          </p:nvSpPr>
          <p:spPr>
            <a:xfrm>
              <a:off x="1201" y="30"/>
              <a:ext cx="144" cy="0"/>
            </a:xfrm>
            <a:prstGeom prst="line">
              <a:avLst/>
            </a:prstGeom>
            <a:ln w="9525" cap="flat" cmpd="sng">
              <a:solidFill>
                <a:schemeClr val="bg1"/>
              </a:solidFill>
              <a:prstDash val="solid"/>
              <a:headEnd type="none" w="med" len="med"/>
              <a:tailEnd type="none" w="med" len="med"/>
            </a:ln>
          </p:spPr>
        </p:sp>
        <p:sp>
          <p:nvSpPr>
            <p:cNvPr id="24588" name="Line 7"/>
            <p:cNvSpPr/>
            <p:nvPr/>
          </p:nvSpPr>
          <p:spPr>
            <a:xfrm>
              <a:off x="3147" y="22"/>
              <a:ext cx="144" cy="0"/>
            </a:xfrm>
            <a:prstGeom prst="line">
              <a:avLst/>
            </a:prstGeom>
            <a:ln w="9525" cap="flat" cmpd="sng">
              <a:solidFill>
                <a:srgbClr val="FFFFFF"/>
              </a:solidFill>
              <a:prstDash val="solid"/>
              <a:headEnd type="none" w="med" len="med"/>
              <a:tailEnd type="none" w="med" len="med"/>
            </a:ln>
          </p:spPr>
        </p:sp>
        <p:sp>
          <p:nvSpPr>
            <p:cNvPr id="24589" name="Text Box 8"/>
            <p:cNvSpPr txBox="1"/>
            <p:nvPr/>
          </p:nvSpPr>
          <p:spPr>
            <a:xfrm>
              <a:off x="1179" y="288"/>
              <a:ext cx="3504"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 • 1  =  1		   0 + 0  =  0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4590" name="Text Box 9"/>
            <p:cNvSpPr txBox="1"/>
            <p:nvPr/>
          </p:nvSpPr>
          <p:spPr>
            <a:xfrm>
              <a:off x="1179" y="591"/>
              <a:ext cx="412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 • 1  = 1 • 0  = 0	   1 + 0  =  0 + 1 = 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4591" name="Text Box 10"/>
            <p:cNvSpPr txBox="1"/>
            <p:nvPr/>
          </p:nvSpPr>
          <p:spPr>
            <a:xfrm>
              <a:off x="1179" y="894"/>
              <a:ext cx="3984"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 • 0  =  0		   1 + 1  =  1 (</a:t>
              </a:r>
              <a:r>
                <a:rPr lang="en-US" altLang="zh-CN" sz="1800" dirty="0">
                  <a:solidFill>
                    <a:srgbClr val="FF0000"/>
                  </a:solidFill>
                  <a:latin typeface="黑体" panose="02010609060101010101" pitchFamily="49" charset="-122"/>
                  <a:ea typeface="黑体" panose="02010609060101010101" pitchFamily="49" charset="-122"/>
                </a:rPr>
                <a:t>≠10</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4581" name="Text Box 12"/>
          <p:cNvSpPr txBox="1"/>
          <p:nvPr/>
        </p:nvSpPr>
        <p:spPr>
          <a:xfrm>
            <a:off x="323850" y="2162175"/>
            <a:ext cx="7831138"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1</a:t>
            </a:r>
            <a:r>
              <a:rPr lang="zh-CN" altLang="en-US" sz="1800" b="1" dirty="0">
                <a:solidFill>
                  <a:schemeClr val="tx1"/>
                </a:solidFill>
                <a:latin typeface="黑体" panose="02010609060101010101" pitchFamily="49" charset="-122"/>
                <a:ea typeface="黑体" panose="02010609060101010101" pitchFamily="49" charset="-122"/>
              </a:rPr>
              <a:t>）逻辑代数的</a:t>
            </a:r>
            <a:r>
              <a:rPr lang="zh-CN" altLang="en-US" sz="1800" b="1" dirty="0">
                <a:solidFill>
                  <a:srgbClr val="FF0000"/>
                </a:solidFill>
                <a:latin typeface="黑体" panose="02010609060101010101" pitchFamily="49" charset="-122"/>
                <a:ea typeface="黑体" panose="02010609060101010101" pitchFamily="49" charset="-122"/>
              </a:rPr>
              <a:t>基本公理（假设）</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i="1" dirty="0">
                <a:solidFill>
                  <a:schemeClr val="tx1"/>
                </a:solidFill>
                <a:latin typeface="黑体" panose="02010609060101010101" pitchFamily="49" charset="-122"/>
                <a:ea typeface="黑体" panose="02010609060101010101" pitchFamily="49" charset="-122"/>
              </a:rPr>
              <a:t>Basic Postulates</a:t>
            </a:r>
            <a:endParaRPr lang="en-US" altLang="zh-CN" sz="1800" b="1" i="1" dirty="0">
              <a:solidFill>
                <a:schemeClr val="tx1"/>
              </a:solidFill>
              <a:latin typeface="黑体" panose="02010609060101010101" pitchFamily="49" charset="-122"/>
              <a:ea typeface="黑体" panose="02010609060101010101" pitchFamily="49" charset="-122"/>
            </a:endParaRPr>
          </a:p>
        </p:txBody>
      </p:sp>
      <p:sp>
        <p:nvSpPr>
          <p:cNvPr id="24582" name="Text Box 13"/>
          <p:cNvSpPr txBox="1"/>
          <p:nvPr/>
        </p:nvSpPr>
        <p:spPr>
          <a:xfrm>
            <a:off x="468630" y="2647950"/>
            <a:ext cx="7824470" cy="949325"/>
          </a:xfrm>
          <a:prstGeom prst="rect">
            <a:avLst/>
          </a:prstGeom>
          <a:noFill/>
          <a:ln w="9525">
            <a:noFill/>
          </a:ln>
        </p:spPr>
        <p:txBody>
          <a:bodyPr wrap="square">
            <a:spAutoFit/>
          </a:bodyPr>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公理是基本的假定，是客观存在，无需证明。可以用</a:t>
            </a:r>
            <a:r>
              <a:rPr lang="zh-CN" altLang="en-US" sz="1800" dirty="0">
                <a:solidFill>
                  <a:srgbClr val="0000FF"/>
                </a:solidFill>
                <a:latin typeface="黑体" panose="02010609060101010101" pitchFamily="49" charset="-122"/>
                <a:ea typeface="黑体" panose="02010609060101010101" pitchFamily="49" charset="-122"/>
              </a:rPr>
              <a:t>真值表</a:t>
            </a:r>
            <a:r>
              <a:rPr lang="zh-CN" altLang="en-US" sz="1800" dirty="0">
                <a:solidFill>
                  <a:schemeClr val="tx1"/>
                </a:solidFill>
                <a:latin typeface="黑体" panose="02010609060101010101" pitchFamily="49" charset="-122"/>
                <a:ea typeface="黑体" panose="02010609060101010101" pitchFamily="49" charset="-122"/>
              </a:rPr>
              <a:t>验证等式</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成立。</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u="sng" dirty="0">
                <a:solidFill>
                  <a:srgbClr val="FF0000"/>
                </a:solidFill>
                <a:latin typeface="黑体" panose="02010609060101010101" pitchFamily="49" charset="-122"/>
                <a:ea typeface="黑体" panose="02010609060101010101" pitchFamily="49" charset="-122"/>
              </a:rPr>
              <a:t>运算的优先顺序</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dirty="0">
                <a:solidFill>
                  <a:srgbClr val="FF0000"/>
                </a:solidFill>
                <a:latin typeface="黑体" panose="02010609060101010101" pitchFamily="49" charset="-122"/>
                <a:ea typeface="黑体" panose="02010609060101010101" pitchFamily="49" charset="-122"/>
              </a:rPr>
              <a:t>括号</a:t>
            </a:r>
            <a:r>
              <a:rPr lang="zh-CN" altLang="en-US" sz="1800" dirty="0">
                <a:solidFill>
                  <a:schemeClr val="tx1"/>
                </a:solidFill>
                <a:latin typeface="黑体" panose="02010609060101010101" pitchFamily="49" charset="-122"/>
                <a:ea typeface="黑体" panose="02010609060101010101" pitchFamily="49" charset="-122"/>
              </a:rPr>
              <a:t>、非、与、或。</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4583" name="Text Box 16"/>
          <p:cNvSpPr txBox="1"/>
          <p:nvPr/>
        </p:nvSpPr>
        <p:spPr>
          <a:xfrm>
            <a:off x="539750" y="3867150"/>
            <a:ext cx="8305800" cy="592138"/>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0</a:t>
            </a:r>
            <a:r>
              <a:rPr lang="zh-CN" altLang="en-US" sz="1800" b="1" dirty="0">
                <a:solidFill>
                  <a:srgbClr val="FF0000"/>
                </a:solidFill>
                <a:latin typeface="黑体" panose="02010609060101010101" pitchFamily="49" charset="-122"/>
                <a:ea typeface="黑体" panose="02010609060101010101" pitchFamily="49" charset="-122"/>
              </a:rPr>
              <a:t>－</a:t>
            </a:r>
            <a:r>
              <a:rPr lang="en-US" altLang="zh-CN" sz="1800" b="1" dirty="0">
                <a:solidFill>
                  <a:srgbClr val="FF0000"/>
                </a:solidFill>
                <a:latin typeface="黑体" panose="02010609060101010101" pitchFamily="49" charset="-122"/>
                <a:ea typeface="黑体" panose="02010609060101010101" pitchFamily="49" charset="-122"/>
              </a:rPr>
              <a:t>1 </a:t>
            </a:r>
            <a:r>
              <a:rPr lang="zh-CN" altLang="en-US" sz="1800" b="1" dirty="0">
                <a:solidFill>
                  <a:srgbClr val="FF0000"/>
                </a:solidFill>
                <a:latin typeface="黑体" panose="02010609060101010101" pitchFamily="49" charset="-122"/>
                <a:ea typeface="黑体" panose="02010609060101010101" pitchFamily="49" charset="-122"/>
              </a:rPr>
              <a:t>律</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+ 0 =  A                       A • 1  =  A</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6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+ 1 =  1                       A • 0  =  0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4584" name="Line 6"/>
          <p:cNvSpPr/>
          <p:nvPr/>
        </p:nvSpPr>
        <p:spPr>
          <a:xfrm>
            <a:off x="2297113" y="730250"/>
            <a:ext cx="228600" cy="0"/>
          </a:xfrm>
          <a:prstGeom prst="line">
            <a:avLst/>
          </a:prstGeom>
          <a:ln w="9525" cap="flat" cmpd="sng">
            <a:solidFill>
              <a:schemeClr val="tx1"/>
            </a:solidFill>
            <a:prstDash val="solid"/>
            <a:headEnd type="none" w="med" len="med"/>
            <a:tailEnd type="none" w="med" len="med"/>
          </a:ln>
        </p:spPr>
      </p:sp>
      <p:sp>
        <p:nvSpPr>
          <p:cNvPr id="24585" name="Line 6"/>
          <p:cNvSpPr/>
          <p:nvPr/>
        </p:nvSpPr>
        <p:spPr>
          <a:xfrm>
            <a:off x="5367338" y="715963"/>
            <a:ext cx="228600" cy="0"/>
          </a:xfrm>
          <a:prstGeom prst="line">
            <a:avLst/>
          </a:prstGeom>
          <a:ln w="9525" cap="flat" cmpd="sng">
            <a:solidFill>
              <a:schemeClr val="tx1"/>
            </a:solidFill>
            <a:prstDash val="solid"/>
            <a:headEnd type="none" w="med" len="med"/>
            <a:tailEnd type="none" w="med" len="med"/>
          </a:ln>
        </p:spPr>
      </p:sp>
    </p:spTree>
  </p:cSld>
  <p:clrMapOvr>
    <a:masterClrMapping/>
  </p:clrMapOvr>
  <p:transition advTm="2000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4"/>
          <p:cNvSpPr txBox="1">
            <a:spLocks noGrp="1"/>
          </p:cNvSpPr>
          <p:nvPr/>
        </p:nvSpPr>
        <p:spPr>
          <a:xfrm>
            <a:off x="48514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5603" name="Rectangle 6"/>
          <p:cNvSpPr txBox="1">
            <a:spLocks noGrp="1"/>
          </p:cNvSpPr>
          <p:nvPr/>
        </p:nvSpPr>
        <p:spPr>
          <a:xfrm>
            <a:off x="631444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5604" name="Text Box 16"/>
          <p:cNvSpPr txBox="1"/>
          <p:nvPr/>
        </p:nvSpPr>
        <p:spPr>
          <a:xfrm>
            <a:off x="396875" y="809308"/>
            <a:ext cx="84582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交换律</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B =  B </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A • B  =  B • 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05" name="Text Box 17"/>
          <p:cNvSpPr txBox="1"/>
          <p:nvPr/>
        </p:nvSpPr>
        <p:spPr>
          <a:xfrm>
            <a:off x="400050" y="1277620"/>
            <a:ext cx="8442960"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结合律</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A • ( B • C ) = ( A • B ) • 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06" name="Rectangle 19"/>
          <p:cNvSpPr/>
          <p:nvPr/>
        </p:nvSpPr>
        <p:spPr>
          <a:xfrm>
            <a:off x="301625" y="1707833"/>
            <a:ext cx="8496300" cy="1003300"/>
          </a:xfrm>
          <a:prstGeom prst="rect">
            <a:avLst/>
          </a:prstGeom>
          <a:noFill/>
          <a:ln w="9525">
            <a:noFill/>
          </a:ln>
        </p:spPr>
        <p:txBody>
          <a:bodyPr anchor="ctr"/>
          <a:p>
            <a:pPr eaLnBrk="1" hangingPunct="1">
              <a:lnSpc>
                <a:spcPct val="140000"/>
              </a:lnSpc>
            </a:pPr>
            <a:r>
              <a:rPr lang="zh-CN" altLang="en-US" sz="1800" b="1" dirty="0">
                <a:solidFill>
                  <a:srgbClr val="FF0000"/>
                </a:solidFill>
                <a:latin typeface="黑体" panose="02010609060101010101" pitchFamily="49" charset="-122"/>
                <a:ea typeface="黑体" panose="02010609060101010101" pitchFamily="49" charset="-122"/>
              </a:rPr>
              <a:t> 分配律</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B•C = (A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A • (B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A • 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A • 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14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07" name="Text Box 17"/>
          <p:cNvSpPr txBox="1"/>
          <p:nvPr/>
        </p:nvSpPr>
        <p:spPr>
          <a:xfrm>
            <a:off x="394653" y="3879215"/>
            <a:ext cx="83058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重叠律</a:t>
            </a:r>
            <a:r>
              <a:rPr lang="en-US" altLang="zh-CN" sz="1800" dirty="0">
                <a:solidFill>
                  <a:schemeClr val="tx1"/>
                </a:solidFill>
                <a:latin typeface="黑体" panose="02010609060101010101" pitchFamily="49" charset="-122"/>
                <a:ea typeface="黑体" panose="02010609060101010101" pitchFamily="49" charset="-122"/>
              </a:rPr>
              <a:t> A + A   =  A         A • A   = A        </a:t>
            </a:r>
            <a:r>
              <a:rPr lang="zh-CN" altLang="en-US" sz="1800" dirty="0">
                <a:solidFill>
                  <a:schemeClr val="tx1"/>
                </a:solidFill>
                <a:latin typeface="黑体" panose="02010609060101010101" pitchFamily="49" charset="-122"/>
                <a:ea typeface="黑体" panose="02010609060101010101" pitchFamily="49" charset="-122"/>
              </a:rPr>
              <a:t>；也叫重合律</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09" name="Text Box 16"/>
          <p:cNvSpPr txBox="1"/>
          <p:nvPr/>
        </p:nvSpPr>
        <p:spPr>
          <a:xfrm>
            <a:off x="394653" y="3412490"/>
            <a:ext cx="8534400" cy="369888"/>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互补律 </a:t>
            </a:r>
            <a:r>
              <a:rPr lang="en-US" altLang="zh-CN" sz="1800" dirty="0">
                <a:solidFill>
                  <a:schemeClr val="tx1"/>
                </a:solidFill>
                <a:latin typeface="黑体" panose="02010609060101010101" pitchFamily="49" charset="-122"/>
                <a:ea typeface="黑体" panose="02010609060101010101" pitchFamily="49" charset="-122"/>
              </a:rPr>
              <a:t>A +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A  = 1          A •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A  = 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10" name="Line 53"/>
          <p:cNvSpPr/>
          <p:nvPr/>
        </p:nvSpPr>
        <p:spPr>
          <a:xfrm>
            <a:off x="2255203" y="3455353"/>
            <a:ext cx="320675" cy="1587"/>
          </a:xfrm>
          <a:prstGeom prst="line">
            <a:avLst/>
          </a:prstGeom>
          <a:ln w="9525" cap="flat" cmpd="sng">
            <a:solidFill>
              <a:schemeClr val="bg1"/>
            </a:solidFill>
            <a:prstDash val="solid"/>
            <a:headEnd type="none" w="med" len="med"/>
            <a:tailEnd type="none" w="med" len="med"/>
          </a:ln>
        </p:spPr>
      </p:sp>
      <p:sp>
        <p:nvSpPr>
          <p:cNvPr id="25611" name="Line 53"/>
          <p:cNvSpPr/>
          <p:nvPr/>
        </p:nvSpPr>
        <p:spPr>
          <a:xfrm>
            <a:off x="4649153" y="3455353"/>
            <a:ext cx="320675" cy="1587"/>
          </a:xfrm>
          <a:prstGeom prst="line">
            <a:avLst/>
          </a:prstGeom>
          <a:ln w="9525" cap="flat" cmpd="sng">
            <a:solidFill>
              <a:schemeClr val="bg1"/>
            </a:solidFill>
            <a:prstDash val="solid"/>
            <a:headEnd type="none" w="med" len="med"/>
            <a:tailEnd type="none" w="med" len="med"/>
          </a:ln>
        </p:spPr>
      </p:sp>
      <p:sp>
        <p:nvSpPr>
          <p:cNvPr id="25612" name="矩形 1"/>
          <p:cNvSpPr/>
          <p:nvPr/>
        </p:nvSpPr>
        <p:spPr>
          <a:xfrm>
            <a:off x="377190" y="2613660"/>
            <a:ext cx="6264275" cy="366713"/>
          </a:xfrm>
          <a:prstGeom prst="rect">
            <a:avLst/>
          </a:prstGeom>
          <a:noFill/>
          <a:ln w="9525">
            <a:noFill/>
          </a:ln>
        </p:spPr>
        <p:txBody>
          <a:bodyPr>
            <a:spAutoFit/>
          </a:bodyPr>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上述三条基本公理可以用</a:t>
            </a:r>
            <a:r>
              <a:rPr lang="zh-CN" altLang="en-US" sz="1800" dirty="0">
                <a:solidFill>
                  <a:srgbClr val="FF0066"/>
                </a:solidFill>
                <a:latin typeface="黑体" panose="02010609060101010101" pitchFamily="49" charset="-122"/>
                <a:ea typeface="黑体" panose="02010609060101010101" pitchFamily="49" charset="-122"/>
              </a:rPr>
              <a:t>真值表</a:t>
            </a:r>
            <a:r>
              <a:rPr lang="zh-CN" altLang="en-US" sz="1800" dirty="0">
                <a:solidFill>
                  <a:schemeClr val="tx1"/>
                </a:solidFill>
                <a:latin typeface="黑体" panose="02010609060101010101" pitchFamily="49" charset="-122"/>
                <a:ea typeface="黑体" panose="02010609060101010101" pitchFamily="49" charset="-122"/>
              </a:rPr>
              <a:t>证明</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25616" name="Group 21"/>
          <p:cNvGrpSpPr/>
          <p:nvPr/>
        </p:nvGrpSpPr>
        <p:grpSpPr>
          <a:xfrm>
            <a:off x="394653" y="4363403"/>
            <a:ext cx="6019800" cy="368300"/>
            <a:chOff x="0" y="0"/>
            <a:chExt cx="3792" cy="232"/>
          </a:xfrm>
        </p:grpSpPr>
        <p:grpSp>
          <p:nvGrpSpPr>
            <p:cNvPr id="25615" name="Group 54"/>
            <p:cNvGrpSpPr/>
            <p:nvPr/>
          </p:nvGrpSpPr>
          <p:grpSpPr>
            <a:xfrm>
              <a:off x="0" y="0"/>
              <a:ext cx="3792" cy="232"/>
              <a:chOff x="0" y="0"/>
              <a:chExt cx="3792" cy="309"/>
            </a:xfrm>
          </p:grpSpPr>
          <p:sp>
            <p:nvSpPr>
              <p:cNvPr id="25618" name="Text Box 18"/>
              <p:cNvSpPr txBox="1"/>
              <p:nvPr/>
            </p:nvSpPr>
            <p:spPr>
              <a:xfrm>
                <a:off x="0" y="0"/>
                <a:ext cx="3792"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rgbClr val="FF0000"/>
                    </a:solidFill>
                    <a:latin typeface="黑体" panose="02010609060101010101" pitchFamily="49" charset="-122"/>
                    <a:ea typeface="黑体" panose="02010609060101010101" pitchFamily="49" charset="-122"/>
                  </a:rPr>
                  <a:t>对合律</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  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19" name="Line 24"/>
              <p:cNvSpPr/>
              <p:nvPr/>
            </p:nvSpPr>
            <p:spPr>
              <a:xfrm>
                <a:off x="808" y="54"/>
                <a:ext cx="202" cy="1"/>
              </a:xfrm>
              <a:prstGeom prst="line">
                <a:avLst/>
              </a:prstGeom>
              <a:ln w="9525" cap="flat" cmpd="sng">
                <a:solidFill>
                  <a:schemeClr val="bg1"/>
                </a:solidFill>
                <a:prstDash val="solid"/>
                <a:headEnd type="none" w="med" len="med"/>
                <a:tailEnd type="none" w="med" len="med"/>
              </a:ln>
            </p:spPr>
          </p:sp>
          <p:sp>
            <p:nvSpPr>
              <p:cNvPr id="25620" name="Line 53"/>
              <p:cNvSpPr/>
              <p:nvPr/>
            </p:nvSpPr>
            <p:spPr>
              <a:xfrm>
                <a:off x="806" y="0"/>
                <a:ext cx="202" cy="1"/>
              </a:xfrm>
              <a:prstGeom prst="line">
                <a:avLst/>
              </a:prstGeom>
              <a:ln w="9525" cap="flat" cmpd="sng">
                <a:solidFill>
                  <a:schemeClr val="bg1"/>
                </a:solidFill>
                <a:prstDash val="solid"/>
                <a:headEnd type="none" w="med" len="med"/>
                <a:tailEnd type="none" w="med" len="med"/>
              </a:ln>
            </p:spPr>
          </p:sp>
        </p:grpSp>
        <p:sp>
          <p:nvSpPr>
            <p:cNvPr id="22546" name="Line 19"/>
            <p:cNvSpPr>
              <a:spLocks noChangeShapeType="1"/>
            </p:cNvSpPr>
            <p:nvPr/>
          </p:nvSpPr>
          <p:spPr bwMode="auto">
            <a:xfrm flipV="1">
              <a:off x="557" y="19"/>
              <a:ext cx="9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2547" name="Line 20"/>
            <p:cNvSpPr>
              <a:spLocks noChangeShapeType="1"/>
            </p:cNvSpPr>
            <p:nvPr/>
          </p:nvSpPr>
          <p:spPr bwMode="auto">
            <a:xfrm flipV="1">
              <a:off x="557" y="64"/>
              <a:ext cx="9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60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P spid="25605" grpId="0"/>
      <p:bldP spid="25606" grpId="0"/>
      <p:bldP spid="25607" grpId="0"/>
      <p:bldP spid="25609" grpId="0"/>
      <p:bldP spid="256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日期占位符 1"/>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6627" name="灯片编号占位符 3"/>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sp>
        <p:nvSpPr>
          <p:cNvPr id="26628" name="Rectangle 62"/>
          <p:cNvSpPr>
            <a:spLocks noGrp="1"/>
          </p:cNvSpPr>
          <p:nvPr>
            <p:ph type="title"/>
          </p:nvPr>
        </p:nvSpPr>
        <p:spPr>
          <a:xfrm>
            <a:off x="304800" y="458788"/>
            <a:ext cx="8839200" cy="4572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2</a:t>
            </a:r>
            <a:r>
              <a:rPr lang="zh-CN" altLang="en-US" sz="1800" b="1" dirty="0">
                <a:latin typeface="黑体" panose="02010609060101010101" pitchFamily="49" charset="-122"/>
                <a:ea typeface="黑体" panose="02010609060101010101" pitchFamily="49" charset="-122"/>
              </a:rPr>
              <a:t>）布尔代数的</a:t>
            </a:r>
            <a:r>
              <a:rPr lang="zh-CN" altLang="en-US" sz="1800" b="1" dirty="0">
                <a:solidFill>
                  <a:srgbClr val="FF0000"/>
                </a:solidFill>
                <a:latin typeface="黑体" panose="02010609060101010101" pitchFamily="49" charset="-122"/>
                <a:ea typeface="黑体" panose="02010609060101010101" pitchFamily="49" charset="-122"/>
              </a:rPr>
              <a:t>基本定理</a:t>
            </a:r>
            <a:endParaRPr lang="zh-CN" altLang="en-US" sz="1800" b="1" i="1" dirty="0">
              <a:solidFill>
                <a:srgbClr val="FF0000"/>
              </a:solidFill>
              <a:latin typeface="黑体" panose="02010609060101010101" pitchFamily="49" charset="-122"/>
              <a:ea typeface="黑体" panose="02010609060101010101" pitchFamily="49" charset="-122"/>
            </a:endParaRPr>
          </a:p>
        </p:txBody>
      </p:sp>
      <p:grpSp>
        <p:nvGrpSpPr>
          <p:cNvPr id="26629" name="Group 71"/>
          <p:cNvGrpSpPr/>
          <p:nvPr/>
        </p:nvGrpSpPr>
        <p:grpSpPr>
          <a:xfrm>
            <a:off x="494983" y="2453958"/>
            <a:ext cx="8215312" cy="2402285"/>
            <a:chOff x="0" y="0"/>
            <a:chExt cx="5769" cy="2018"/>
          </a:xfrm>
        </p:grpSpPr>
        <p:sp>
          <p:nvSpPr>
            <p:cNvPr id="26647" name="Text Box 18"/>
            <p:cNvSpPr txBox="1"/>
            <p:nvPr/>
          </p:nvSpPr>
          <p:spPr>
            <a:xfrm>
              <a:off x="480" y="365"/>
              <a:ext cx="4080" cy="31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右边 </a:t>
              </a:r>
              <a:r>
                <a:rPr lang="en-US" altLang="zh-CN" sz="1800" dirty="0">
                  <a:solidFill>
                    <a:schemeClr val="tx1"/>
                  </a:solidFill>
                  <a:latin typeface="黑体" panose="02010609060101010101" pitchFamily="49" charset="-122"/>
                  <a:ea typeface="黑体" panose="02010609060101010101" pitchFamily="49" charset="-122"/>
                </a:rPr>
                <a:t>=  A + 1 • B                  </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0—1</a:t>
              </a:r>
              <a:r>
                <a:rPr lang="zh-CN" altLang="en-US" sz="1800" dirty="0">
                  <a:solidFill>
                    <a:schemeClr val="tx1"/>
                  </a:solidFill>
                  <a:latin typeface="黑体" panose="02010609060101010101" pitchFamily="49" charset="-122"/>
                  <a:ea typeface="黑体" panose="02010609060101010101" pitchFamily="49" charset="-122"/>
                </a:rPr>
                <a:t>律）</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26648" name="Group 68"/>
            <p:cNvGrpSpPr/>
            <p:nvPr/>
          </p:nvGrpSpPr>
          <p:grpSpPr>
            <a:xfrm>
              <a:off x="803" y="701"/>
              <a:ext cx="4141" cy="310"/>
              <a:chOff x="0" y="0"/>
              <a:chExt cx="4141" cy="310"/>
            </a:xfrm>
          </p:grpSpPr>
          <p:sp>
            <p:nvSpPr>
              <p:cNvPr id="26658" name="Text Box 32"/>
              <p:cNvSpPr txBox="1"/>
              <p:nvPr/>
            </p:nvSpPr>
            <p:spPr>
              <a:xfrm>
                <a:off x="0" y="0"/>
                <a:ext cx="4141"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 A ) • B          </a:t>
                </a:r>
                <a:r>
                  <a:rPr lang="zh-CN" altLang="en-US" sz="1800" dirty="0">
                    <a:solidFill>
                      <a:schemeClr val="tx1"/>
                    </a:solidFill>
                    <a:latin typeface="黑体" panose="02010609060101010101" pitchFamily="49" charset="-122"/>
                    <a:ea typeface="黑体" panose="02010609060101010101" pitchFamily="49" charset="-122"/>
                  </a:rPr>
                  <a:t>（互补律）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9" name="Line 34"/>
              <p:cNvSpPr/>
              <p:nvPr/>
            </p:nvSpPr>
            <p:spPr>
              <a:xfrm>
                <a:off x="1477" y="50"/>
                <a:ext cx="144" cy="0"/>
              </a:xfrm>
              <a:prstGeom prst="line">
                <a:avLst/>
              </a:prstGeom>
              <a:ln w="9525" cap="flat" cmpd="sng">
                <a:solidFill>
                  <a:srgbClr val="FFFFFF"/>
                </a:solidFill>
                <a:prstDash val="solid"/>
                <a:headEnd type="none" w="med" len="med"/>
                <a:tailEnd type="none" w="med" len="med"/>
              </a:ln>
            </p:spPr>
          </p:sp>
        </p:grpSp>
        <p:grpSp>
          <p:nvGrpSpPr>
            <p:cNvPr id="26649" name="Group 69"/>
            <p:cNvGrpSpPr/>
            <p:nvPr/>
          </p:nvGrpSpPr>
          <p:grpSpPr>
            <a:xfrm>
              <a:off x="803" y="1037"/>
              <a:ext cx="4189" cy="310"/>
              <a:chOff x="0" y="0"/>
              <a:chExt cx="4189" cy="310"/>
            </a:xfrm>
          </p:grpSpPr>
          <p:sp>
            <p:nvSpPr>
              <p:cNvPr id="26656" name="Text Box 33"/>
              <p:cNvSpPr txBox="1"/>
              <p:nvPr/>
            </p:nvSpPr>
            <p:spPr>
              <a:xfrm>
                <a:off x="0" y="0"/>
                <a:ext cx="4189"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 + AB + A B               </a:t>
                </a:r>
                <a:r>
                  <a:rPr lang="zh-CN" altLang="en-US" sz="1800" dirty="0">
                    <a:solidFill>
                      <a:schemeClr val="tx1"/>
                    </a:solidFill>
                    <a:latin typeface="黑体" panose="02010609060101010101" pitchFamily="49" charset="-122"/>
                    <a:ea typeface="黑体" panose="02010609060101010101" pitchFamily="49" charset="-122"/>
                  </a:rPr>
                  <a:t>（分配律）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7" name="Line 36"/>
              <p:cNvSpPr/>
              <p:nvPr/>
            </p:nvSpPr>
            <p:spPr>
              <a:xfrm>
                <a:off x="1421" y="39"/>
                <a:ext cx="141" cy="0"/>
              </a:xfrm>
              <a:prstGeom prst="line">
                <a:avLst/>
              </a:prstGeom>
              <a:ln w="9525" cap="flat" cmpd="sng">
                <a:solidFill>
                  <a:srgbClr val="FFFFFF"/>
                </a:solidFill>
                <a:prstDash val="solid"/>
                <a:headEnd type="none" w="med" len="med"/>
                <a:tailEnd type="none" w="med" len="med"/>
              </a:ln>
            </p:spPr>
          </p:sp>
        </p:grpSp>
        <p:grpSp>
          <p:nvGrpSpPr>
            <p:cNvPr id="26650" name="Group 70"/>
            <p:cNvGrpSpPr/>
            <p:nvPr/>
          </p:nvGrpSpPr>
          <p:grpSpPr>
            <a:xfrm>
              <a:off x="813" y="1364"/>
              <a:ext cx="3755" cy="310"/>
              <a:chOff x="0" y="0"/>
              <a:chExt cx="3755" cy="310"/>
            </a:xfrm>
          </p:grpSpPr>
          <p:sp>
            <p:nvSpPr>
              <p:cNvPr id="26654" name="Text Box 39"/>
              <p:cNvSpPr txBox="1"/>
              <p:nvPr/>
            </p:nvSpPr>
            <p:spPr>
              <a:xfrm>
                <a:off x="0" y="0"/>
                <a:ext cx="3755"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 + AB                    </a:t>
                </a:r>
                <a:r>
                  <a:rPr lang="zh-CN" altLang="en-US" sz="1800" dirty="0">
                    <a:solidFill>
                      <a:schemeClr val="tx1"/>
                    </a:solidFill>
                    <a:latin typeface="黑体" panose="02010609060101010101" pitchFamily="49" charset="-122"/>
                    <a:ea typeface="黑体" panose="02010609060101010101" pitchFamily="49" charset="-122"/>
                  </a:rPr>
                  <a:t>（吸收</a:t>
                </a:r>
                <a:r>
                  <a:rPr lang="zh-CN" altLang="en-US" sz="1800" b="1" dirty="0">
                    <a:solidFill>
                      <a:schemeClr val="tx1"/>
                    </a:solidFill>
                    <a:latin typeface="黑体" panose="02010609060101010101" pitchFamily="49" charset="-122"/>
                    <a:ea typeface="黑体" panose="02010609060101010101" pitchFamily="49" charset="-122"/>
                  </a:rPr>
                  <a:t>定理</a:t>
                </a:r>
                <a:r>
                  <a:rPr lang="zh-CN" altLang="en-US" sz="1800" dirty="0">
                    <a:solidFill>
                      <a:schemeClr val="tx1"/>
                    </a:solidFill>
                    <a:latin typeface="黑体" panose="02010609060101010101" pitchFamily="49" charset="-122"/>
                    <a:ea typeface="黑体" panose="02010609060101010101" pitchFamily="49" charset="-122"/>
                  </a:rPr>
                  <a:t>）  </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5" name="Line 40"/>
              <p:cNvSpPr/>
              <p:nvPr/>
            </p:nvSpPr>
            <p:spPr>
              <a:xfrm>
                <a:off x="843" y="48"/>
                <a:ext cx="141" cy="0"/>
              </a:xfrm>
              <a:prstGeom prst="line">
                <a:avLst/>
              </a:prstGeom>
              <a:ln w="9525" cap="flat" cmpd="sng">
                <a:solidFill>
                  <a:srgbClr val="FFFFFF"/>
                </a:solidFill>
                <a:prstDash val="solid"/>
                <a:headEnd type="none" w="med" len="med"/>
                <a:tailEnd type="none" w="med" len="med"/>
              </a:ln>
            </p:spPr>
          </p:sp>
        </p:grpSp>
        <p:sp>
          <p:nvSpPr>
            <p:cNvPr id="26651" name="Text Box 41"/>
            <p:cNvSpPr txBox="1"/>
            <p:nvPr/>
          </p:nvSpPr>
          <p:spPr>
            <a:xfrm>
              <a:off x="891" y="1709"/>
              <a:ext cx="3936"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左边                        证明成立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2" name="Text Box 29"/>
            <p:cNvSpPr txBox="1"/>
            <p:nvPr/>
          </p:nvSpPr>
          <p:spPr>
            <a:xfrm>
              <a:off x="0" y="0"/>
              <a:ext cx="5769"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 ：证明  </a:t>
              </a:r>
              <a:r>
                <a:rPr lang="en-US" altLang="zh-CN" sz="1800" dirty="0">
                  <a:solidFill>
                    <a:schemeClr val="tx1"/>
                  </a:solidFill>
                  <a:latin typeface="黑体" panose="02010609060101010101" pitchFamily="49" charset="-122"/>
                  <a:ea typeface="黑体" panose="02010609060101010101" pitchFamily="49" charset="-122"/>
                </a:rPr>
                <a:t>A + A • B =  A + B </a:t>
              </a:r>
              <a:r>
                <a:rPr lang="zh-CN" altLang="en-US" sz="1800" dirty="0">
                  <a:solidFill>
                    <a:schemeClr val="tx1"/>
                  </a:solidFill>
                  <a:latin typeface="黑体" panose="02010609060101010101" pitchFamily="49" charset="-122"/>
                  <a:ea typeface="黑体" panose="02010609060101010101" pitchFamily="49" charset="-122"/>
                </a:rPr>
                <a:t>，  可以用公理来证明。</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3" name="Line 28"/>
            <p:cNvSpPr/>
            <p:nvPr/>
          </p:nvSpPr>
          <p:spPr>
            <a:xfrm>
              <a:off x="1676" y="48"/>
              <a:ext cx="145" cy="0"/>
            </a:xfrm>
            <a:prstGeom prst="line">
              <a:avLst/>
            </a:prstGeom>
            <a:ln w="9525" cap="flat" cmpd="sng">
              <a:solidFill>
                <a:srgbClr val="FFFFFF"/>
              </a:solidFill>
              <a:prstDash val="solid"/>
              <a:headEnd type="none" w="med" len="med"/>
              <a:tailEnd type="none" w="med" len="med"/>
            </a:ln>
          </p:spPr>
        </p:sp>
      </p:grpSp>
      <p:grpSp>
        <p:nvGrpSpPr>
          <p:cNvPr id="26630" name="Group 66"/>
          <p:cNvGrpSpPr/>
          <p:nvPr/>
        </p:nvGrpSpPr>
        <p:grpSpPr>
          <a:xfrm>
            <a:off x="394970" y="782955"/>
            <a:ext cx="7737475" cy="1509698"/>
            <a:chOff x="0" y="0"/>
            <a:chExt cx="5024" cy="1267"/>
          </a:xfrm>
        </p:grpSpPr>
        <p:sp>
          <p:nvSpPr>
            <p:cNvPr id="26639" name="Text Box 5"/>
            <p:cNvSpPr txBox="1"/>
            <p:nvPr/>
          </p:nvSpPr>
          <p:spPr>
            <a:xfrm>
              <a:off x="0" y="0"/>
              <a:ext cx="3168" cy="309"/>
            </a:xfrm>
            <a:prstGeom prst="rect">
              <a:avLst/>
            </a:prstGeom>
            <a:noFill/>
            <a:ln w="9525">
              <a:noFill/>
            </a:ln>
          </p:spPr>
          <p:txBody>
            <a:bodyPr>
              <a:spAutoFit/>
            </a:bodyPr>
            <a:p>
              <a:pPr marL="457200" indent="-457200"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① </a:t>
              </a:r>
              <a:r>
                <a:rPr lang="zh-CN" altLang="en-US" sz="1800" b="1" dirty="0">
                  <a:solidFill>
                    <a:schemeClr val="tx1"/>
                  </a:solidFill>
                  <a:latin typeface="黑体" panose="02010609060101010101" pitchFamily="49" charset="-122"/>
                  <a:ea typeface="黑体" panose="02010609060101010101" pitchFamily="49" charset="-122"/>
                </a:rPr>
                <a:t>吸收定理  </a:t>
              </a:r>
              <a:endParaRPr lang="en-US" altLang="zh-CN" sz="1800" b="1" i="1" dirty="0">
                <a:solidFill>
                  <a:schemeClr val="tx1"/>
                </a:solidFill>
                <a:latin typeface="黑体" panose="02010609060101010101" pitchFamily="49" charset="-122"/>
                <a:ea typeface="黑体" panose="02010609060101010101" pitchFamily="49" charset="-122"/>
              </a:endParaRPr>
            </a:p>
          </p:txBody>
        </p:sp>
        <p:sp>
          <p:nvSpPr>
            <p:cNvPr id="26640" name="Line 6"/>
            <p:cNvSpPr/>
            <p:nvPr/>
          </p:nvSpPr>
          <p:spPr>
            <a:xfrm>
              <a:off x="932" y="676"/>
              <a:ext cx="144" cy="0"/>
            </a:xfrm>
            <a:prstGeom prst="line">
              <a:avLst/>
            </a:prstGeom>
            <a:ln w="9525" cap="flat" cmpd="sng">
              <a:solidFill>
                <a:schemeClr val="bg1"/>
              </a:solidFill>
              <a:prstDash val="solid"/>
              <a:headEnd type="none" w="med" len="med"/>
              <a:tailEnd type="none" w="med" len="med"/>
            </a:ln>
          </p:spPr>
        </p:sp>
        <p:sp>
          <p:nvSpPr>
            <p:cNvPr id="26641" name="Line 7"/>
            <p:cNvSpPr/>
            <p:nvPr/>
          </p:nvSpPr>
          <p:spPr>
            <a:xfrm>
              <a:off x="3250" y="676"/>
              <a:ext cx="144" cy="0"/>
            </a:xfrm>
            <a:prstGeom prst="line">
              <a:avLst/>
            </a:prstGeom>
            <a:ln w="9525" cap="flat" cmpd="sng">
              <a:solidFill>
                <a:schemeClr val="bg1"/>
              </a:solidFill>
              <a:prstDash val="solid"/>
              <a:headEnd type="none" w="med" len="med"/>
              <a:tailEnd type="none" w="med" len="med"/>
            </a:ln>
          </p:spPr>
        </p:sp>
        <p:sp>
          <p:nvSpPr>
            <p:cNvPr id="26642" name="Text Box 8"/>
            <p:cNvSpPr txBox="1"/>
            <p:nvPr/>
          </p:nvSpPr>
          <p:spPr>
            <a:xfrm>
              <a:off x="464" y="643"/>
              <a:ext cx="4560"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a:t>
              </a:r>
              <a:r>
                <a:rPr lang="en-US" altLang="zh-CN" sz="1800" dirty="0">
                  <a:solidFill>
                    <a:srgbClr val="FF0000"/>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 • B =  A + B             A • ( A + B )  =   A • 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6643" name="Text Box 9"/>
            <p:cNvSpPr txBox="1"/>
            <p:nvPr/>
          </p:nvSpPr>
          <p:spPr>
            <a:xfrm>
              <a:off x="464" y="958"/>
              <a:ext cx="4560"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a:t>
              </a:r>
              <a:r>
                <a:rPr lang="en-US" altLang="zh-CN" sz="1800" dirty="0">
                  <a:solidFill>
                    <a:srgbClr val="FF0000"/>
                  </a:solidFill>
                  <a:latin typeface="黑体" panose="02010609060101010101" pitchFamily="49" charset="-122"/>
                  <a:ea typeface="黑体" panose="02010609060101010101" pitchFamily="49" charset="-122"/>
                </a:rPr>
                <a:t>B</a:t>
              </a:r>
              <a:r>
                <a:rPr lang="en-US" altLang="zh-CN" sz="1800" dirty="0">
                  <a:solidFill>
                    <a:schemeClr val="tx1"/>
                  </a:solidFill>
                  <a:latin typeface="黑体" panose="02010609060101010101" pitchFamily="49" charset="-122"/>
                  <a:ea typeface="黑体" panose="02010609060101010101" pitchFamily="49" charset="-122"/>
                </a:rPr>
                <a:t> + A • </a:t>
              </a:r>
              <a:r>
                <a:rPr lang="en-US" altLang="zh-CN" sz="1800" dirty="0">
                  <a:solidFill>
                    <a:srgbClr val="FF0000"/>
                  </a:solidFill>
                  <a:latin typeface="黑体" panose="02010609060101010101" pitchFamily="49" charset="-122"/>
                  <a:ea typeface="黑体" panose="02010609060101010101" pitchFamily="49" charset="-122"/>
                </a:rPr>
                <a:t>B</a:t>
              </a:r>
              <a:r>
                <a:rPr lang="en-US" altLang="zh-CN" sz="1800" dirty="0">
                  <a:solidFill>
                    <a:schemeClr val="tx1"/>
                  </a:solidFill>
                  <a:latin typeface="黑体" panose="02010609060101010101" pitchFamily="49" charset="-122"/>
                  <a:ea typeface="黑体" panose="02010609060101010101" pitchFamily="49" charset="-122"/>
                </a:rPr>
                <a:t> = A             ( A + B )(A+B ) =   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6644" name="Line 23"/>
            <p:cNvSpPr/>
            <p:nvPr/>
          </p:nvSpPr>
          <p:spPr>
            <a:xfrm>
              <a:off x="1604" y="1012"/>
              <a:ext cx="170" cy="0"/>
            </a:xfrm>
            <a:prstGeom prst="line">
              <a:avLst/>
            </a:prstGeom>
            <a:ln w="9525" cap="flat" cmpd="sng">
              <a:solidFill>
                <a:srgbClr val="FFFFFF"/>
              </a:solidFill>
              <a:prstDash val="solid"/>
              <a:headEnd type="none" w="med" len="med"/>
              <a:tailEnd type="none" w="med" len="med"/>
            </a:ln>
          </p:spPr>
        </p:sp>
        <p:sp>
          <p:nvSpPr>
            <p:cNvPr id="26645" name="Line 24"/>
            <p:cNvSpPr/>
            <p:nvPr/>
          </p:nvSpPr>
          <p:spPr>
            <a:xfrm>
              <a:off x="3990" y="1012"/>
              <a:ext cx="170" cy="0"/>
            </a:xfrm>
            <a:prstGeom prst="line">
              <a:avLst/>
            </a:prstGeom>
            <a:ln w="9525" cap="flat" cmpd="sng">
              <a:solidFill>
                <a:srgbClr val="FFFFFF"/>
              </a:solidFill>
              <a:prstDash val="solid"/>
              <a:headEnd type="none" w="med" len="med"/>
              <a:tailEnd type="none" w="med" len="med"/>
            </a:ln>
          </p:spPr>
        </p:sp>
        <p:sp>
          <p:nvSpPr>
            <p:cNvPr id="26646" name="Text Box 63"/>
            <p:cNvSpPr txBox="1"/>
            <p:nvPr/>
          </p:nvSpPr>
          <p:spPr>
            <a:xfrm>
              <a:off x="464" y="301"/>
              <a:ext cx="4368"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A</a:t>
              </a:r>
              <a:r>
                <a:rPr lang="en-US" altLang="zh-CN" sz="1800" dirty="0">
                  <a:solidFill>
                    <a:schemeClr val="tx1"/>
                  </a:solidFill>
                  <a:latin typeface="黑体" panose="02010609060101010101" pitchFamily="49" charset="-122"/>
                  <a:ea typeface="黑体" panose="02010609060101010101" pitchFamily="49" charset="-122"/>
                  <a:sym typeface="+mn-ea"/>
                </a:rPr>
                <a:t>•</a:t>
              </a:r>
              <a:r>
                <a:rPr lang="en-US" altLang="zh-CN" sz="1800" dirty="0">
                  <a:solidFill>
                    <a:srgbClr val="FF0000"/>
                  </a:solidFill>
                  <a:latin typeface="黑体" panose="02010609060101010101" pitchFamily="49" charset="-122"/>
                  <a:ea typeface="黑体" panose="02010609060101010101" pitchFamily="49" charset="-122"/>
                </a:rPr>
                <a:t>B</a:t>
              </a:r>
              <a:r>
                <a:rPr lang="en-US" altLang="zh-CN" sz="1800" dirty="0">
                  <a:solidFill>
                    <a:schemeClr val="tx1"/>
                  </a:solidFill>
                  <a:latin typeface="黑体" panose="02010609060101010101" pitchFamily="49" charset="-122"/>
                  <a:ea typeface="黑体" panose="02010609060101010101" pitchFamily="49" charset="-122"/>
                </a:rPr>
                <a:t> =  A                   A • ( A + B )  =   A</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6631" name="Line 24"/>
          <p:cNvSpPr/>
          <p:nvPr/>
        </p:nvSpPr>
        <p:spPr>
          <a:xfrm>
            <a:off x="1638300" y="1601788"/>
            <a:ext cx="161925" cy="0"/>
          </a:xfrm>
          <a:prstGeom prst="line">
            <a:avLst/>
          </a:prstGeom>
          <a:ln w="12700" cap="flat" cmpd="sng">
            <a:solidFill>
              <a:schemeClr val="tx1"/>
            </a:solidFill>
            <a:prstDash val="solid"/>
            <a:headEnd type="none" w="med" len="med"/>
            <a:tailEnd type="none" w="med" len="med"/>
          </a:ln>
        </p:spPr>
      </p:sp>
      <p:sp>
        <p:nvSpPr>
          <p:cNvPr id="26632" name="Line 24"/>
          <p:cNvSpPr/>
          <p:nvPr/>
        </p:nvSpPr>
        <p:spPr>
          <a:xfrm>
            <a:off x="5322888" y="1572578"/>
            <a:ext cx="161925" cy="0"/>
          </a:xfrm>
          <a:prstGeom prst="line">
            <a:avLst/>
          </a:prstGeom>
          <a:ln w="12700" cap="flat" cmpd="sng">
            <a:solidFill>
              <a:schemeClr val="tx1"/>
            </a:solidFill>
            <a:prstDash val="solid"/>
            <a:headEnd type="none" w="med" len="med"/>
            <a:tailEnd type="none" w="med" len="med"/>
          </a:ln>
        </p:spPr>
      </p:sp>
      <p:sp>
        <p:nvSpPr>
          <p:cNvPr id="26633" name="Line 24"/>
          <p:cNvSpPr/>
          <p:nvPr/>
        </p:nvSpPr>
        <p:spPr>
          <a:xfrm>
            <a:off x="2462213" y="1972628"/>
            <a:ext cx="161925" cy="0"/>
          </a:xfrm>
          <a:prstGeom prst="line">
            <a:avLst/>
          </a:prstGeom>
          <a:ln w="12700" cap="flat" cmpd="sng">
            <a:solidFill>
              <a:schemeClr val="tx1"/>
            </a:solidFill>
            <a:prstDash val="solid"/>
            <a:headEnd type="none" w="med" len="med"/>
            <a:tailEnd type="none" w="med" len="med"/>
          </a:ln>
        </p:spPr>
      </p:sp>
      <p:sp>
        <p:nvSpPr>
          <p:cNvPr id="26634" name="Line 24"/>
          <p:cNvSpPr/>
          <p:nvPr/>
        </p:nvSpPr>
        <p:spPr>
          <a:xfrm>
            <a:off x="5882005" y="1987233"/>
            <a:ext cx="160338" cy="0"/>
          </a:xfrm>
          <a:prstGeom prst="line">
            <a:avLst/>
          </a:prstGeom>
          <a:ln w="12700" cap="flat" cmpd="sng">
            <a:solidFill>
              <a:schemeClr val="tx1"/>
            </a:solidFill>
            <a:prstDash val="solid"/>
            <a:headEnd type="none" w="med" len="med"/>
            <a:tailEnd type="none" w="med" len="med"/>
          </a:ln>
        </p:spPr>
      </p:sp>
      <p:sp>
        <p:nvSpPr>
          <p:cNvPr id="26635" name="Line 24"/>
          <p:cNvSpPr/>
          <p:nvPr/>
        </p:nvSpPr>
        <p:spPr>
          <a:xfrm>
            <a:off x="2268538" y="2519680"/>
            <a:ext cx="160337" cy="0"/>
          </a:xfrm>
          <a:prstGeom prst="line">
            <a:avLst/>
          </a:prstGeom>
          <a:ln w="12700" cap="flat" cmpd="sng">
            <a:solidFill>
              <a:schemeClr val="tx1"/>
            </a:solidFill>
            <a:prstDash val="solid"/>
            <a:headEnd type="none" w="med" len="med"/>
            <a:tailEnd type="none" w="med" len="med"/>
          </a:ln>
        </p:spPr>
      </p:sp>
      <p:sp>
        <p:nvSpPr>
          <p:cNvPr id="26636" name="Line 24"/>
          <p:cNvSpPr/>
          <p:nvPr/>
        </p:nvSpPr>
        <p:spPr>
          <a:xfrm>
            <a:off x="3309938" y="3374073"/>
            <a:ext cx="161925" cy="0"/>
          </a:xfrm>
          <a:prstGeom prst="line">
            <a:avLst/>
          </a:prstGeom>
          <a:ln w="12700" cap="flat" cmpd="sng">
            <a:solidFill>
              <a:schemeClr val="tx1"/>
            </a:solidFill>
            <a:prstDash val="solid"/>
            <a:headEnd type="none" w="med" len="med"/>
            <a:tailEnd type="none" w="med" len="med"/>
          </a:ln>
        </p:spPr>
      </p:sp>
      <p:sp>
        <p:nvSpPr>
          <p:cNvPr id="26637" name="Line 24"/>
          <p:cNvSpPr/>
          <p:nvPr/>
        </p:nvSpPr>
        <p:spPr>
          <a:xfrm>
            <a:off x="3186113" y="3785235"/>
            <a:ext cx="161925" cy="0"/>
          </a:xfrm>
          <a:prstGeom prst="line">
            <a:avLst/>
          </a:prstGeom>
          <a:ln w="12700" cap="flat" cmpd="sng">
            <a:solidFill>
              <a:schemeClr val="tx1"/>
            </a:solidFill>
            <a:prstDash val="solid"/>
            <a:headEnd type="none" w="med" len="med"/>
            <a:tailEnd type="none" w="med" len="med"/>
          </a:ln>
        </p:spPr>
      </p:sp>
      <p:sp>
        <p:nvSpPr>
          <p:cNvPr id="26638" name="Line 24"/>
          <p:cNvSpPr/>
          <p:nvPr/>
        </p:nvSpPr>
        <p:spPr>
          <a:xfrm>
            <a:off x="2635250" y="4166235"/>
            <a:ext cx="161925" cy="0"/>
          </a:xfrm>
          <a:prstGeom prst="line">
            <a:avLst/>
          </a:prstGeom>
          <a:ln w="12700" cap="flat" cmpd="sng">
            <a:solidFill>
              <a:schemeClr val="tx1"/>
            </a:solidFill>
            <a:prstDash val="solid"/>
            <a:headEnd type="none" w="med" len="med"/>
            <a:tailEnd type="none" w="med" len="med"/>
          </a:ln>
        </p:spPr>
      </p:sp>
      <p:sp>
        <p:nvSpPr>
          <p:cNvPr id="2" name="圆角矩形标注 1"/>
          <p:cNvSpPr/>
          <p:nvPr/>
        </p:nvSpPr>
        <p:spPr>
          <a:xfrm>
            <a:off x="6801485" y="3373755"/>
            <a:ext cx="1699260" cy="880745"/>
          </a:xfrm>
          <a:prstGeom prst="wedgeRoundRectCallout">
            <a:avLst>
              <a:gd name="adj1" fmla="val -243983"/>
              <a:gd name="adj2" fmla="val 28249"/>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与运算</a:t>
            </a:r>
            <a:r>
              <a:rPr kumimoji="0" lang="en-US" altLang="zh-CN"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a:t>
            </a:r>
            <a:r>
              <a:rPr lang="en-US" altLang="zh-CN" sz="2400" dirty="0">
                <a:solidFill>
                  <a:srgbClr val="FF0000"/>
                </a:solidFill>
                <a:latin typeface="黑体" panose="02010609060101010101" pitchFamily="49" charset="-122"/>
                <a:ea typeface="黑体" panose="02010609060101010101" pitchFamily="49" charset="-122"/>
                <a:sym typeface="+mn-ea"/>
              </a:rPr>
              <a:t>•</a:t>
            </a:r>
            <a:r>
              <a:rPr kumimoji="0" lang="en-US" altLang="zh-CN"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a:t>
            </a:r>
            <a:r>
              <a:rPr kumimoji="0" lang="zh-CN" altLang="en-US"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经常省略</a:t>
            </a:r>
            <a:endParaRPr kumimoji="0" lang="zh-CN" altLang="en-US"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日期占位符 1"/>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8675" name="灯片编号占位符 3"/>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grpSp>
        <p:nvGrpSpPr>
          <p:cNvPr id="28676" name="Group 42"/>
          <p:cNvGrpSpPr/>
          <p:nvPr/>
        </p:nvGrpSpPr>
        <p:grpSpPr>
          <a:xfrm>
            <a:off x="1422083" y="882015"/>
            <a:ext cx="6572250" cy="368300"/>
            <a:chOff x="61" y="0"/>
            <a:chExt cx="4224" cy="310"/>
          </a:xfrm>
        </p:grpSpPr>
        <p:sp>
          <p:nvSpPr>
            <p:cNvPr id="28703" name="Text Box 27"/>
            <p:cNvSpPr txBox="1"/>
            <p:nvPr/>
          </p:nvSpPr>
          <p:spPr>
            <a:xfrm>
              <a:off x="61" y="0"/>
              <a:ext cx="4224"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B =  A B             A • B  =   A + 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8704" name="Line 28"/>
            <p:cNvSpPr/>
            <p:nvPr/>
          </p:nvSpPr>
          <p:spPr>
            <a:xfrm flipV="1">
              <a:off x="72" y="48"/>
              <a:ext cx="438" cy="8"/>
            </a:xfrm>
            <a:prstGeom prst="line">
              <a:avLst/>
            </a:prstGeom>
            <a:ln w="9525" cap="flat" cmpd="sng">
              <a:solidFill>
                <a:schemeClr val="tx1"/>
              </a:solidFill>
              <a:prstDash val="solid"/>
              <a:headEnd type="none" w="med" len="med"/>
              <a:tailEnd type="none" w="med" len="med"/>
            </a:ln>
          </p:spPr>
        </p:sp>
        <p:sp>
          <p:nvSpPr>
            <p:cNvPr id="28705" name="Line 29"/>
            <p:cNvSpPr/>
            <p:nvPr/>
          </p:nvSpPr>
          <p:spPr>
            <a:xfrm>
              <a:off x="712" y="48"/>
              <a:ext cx="168" cy="0"/>
            </a:xfrm>
            <a:prstGeom prst="line">
              <a:avLst/>
            </a:prstGeom>
            <a:ln w="12700" cap="flat" cmpd="sng">
              <a:solidFill>
                <a:schemeClr val="tx1"/>
              </a:solidFill>
              <a:prstDash val="solid"/>
              <a:headEnd type="none" w="med" len="med"/>
              <a:tailEnd type="none" w="med" len="med"/>
            </a:ln>
          </p:spPr>
        </p:sp>
        <p:sp>
          <p:nvSpPr>
            <p:cNvPr id="28706" name="Line 30"/>
            <p:cNvSpPr/>
            <p:nvPr/>
          </p:nvSpPr>
          <p:spPr>
            <a:xfrm>
              <a:off x="901" y="48"/>
              <a:ext cx="168" cy="0"/>
            </a:xfrm>
            <a:prstGeom prst="line">
              <a:avLst/>
            </a:prstGeom>
            <a:ln w="9525" cap="flat" cmpd="sng">
              <a:solidFill>
                <a:schemeClr val="tx1"/>
              </a:solidFill>
              <a:prstDash val="solid"/>
              <a:headEnd type="none" w="med" len="med"/>
              <a:tailEnd type="none" w="med" len="med"/>
            </a:ln>
          </p:spPr>
        </p:sp>
        <p:sp>
          <p:nvSpPr>
            <p:cNvPr id="28707" name="Line 31"/>
            <p:cNvSpPr/>
            <p:nvPr/>
          </p:nvSpPr>
          <p:spPr>
            <a:xfrm>
              <a:off x="1898" y="48"/>
              <a:ext cx="474" cy="0"/>
            </a:xfrm>
            <a:prstGeom prst="line">
              <a:avLst/>
            </a:prstGeom>
            <a:ln w="9525" cap="flat" cmpd="sng">
              <a:solidFill>
                <a:schemeClr val="tx1"/>
              </a:solidFill>
              <a:prstDash val="solid"/>
              <a:headEnd type="none" w="med" len="med"/>
              <a:tailEnd type="none" w="med" len="med"/>
            </a:ln>
          </p:spPr>
        </p:sp>
        <p:sp>
          <p:nvSpPr>
            <p:cNvPr id="28708" name="Line 32"/>
            <p:cNvSpPr/>
            <p:nvPr/>
          </p:nvSpPr>
          <p:spPr>
            <a:xfrm>
              <a:off x="2981" y="42"/>
              <a:ext cx="168" cy="0"/>
            </a:xfrm>
            <a:prstGeom prst="line">
              <a:avLst/>
            </a:prstGeom>
            <a:ln w="9525" cap="flat" cmpd="sng">
              <a:solidFill>
                <a:schemeClr val="tx1"/>
              </a:solidFill>
              <a:prstDash val="solid"/>
              <a:headEnd type="none" w="med" len="med"/>
              <a:tailEnd type="none" w="med" len="med"/>
            </a:ln>
          </p:spPr>
        </p:sp>
        <p:sp>
          <p:nvSpPr>
            <p:cNvPr id="28709" name="Line 33"/>
            <p:cNvSpPr/>
            <p:nvPr/>
          </p:nvSpPr>
          <p:spPr>
            <a:xfrm>
              <a:off x="2668" y="48"/>
              <a:ext cx="168" cy="0"/>
            </a:xfrm>
            <a:prstGeom prst="line">
              <a:avLst/>
            </a:prstGeom>
            <a:ln w="9525" cap="flat" cmpd="sng">
              <a:solidFill>
                <a:schemeClr val="tx1"/>
              </a:solidFill>
              <a:prstDash val="solid"/>
              <a:headEnd type="none" w="med" len="med"/>
              <a:tailEnd type="none" w="med" len="med"/>
            </a:ln>
          </p:spPr>
        </p:sp>
      </p:grpSp>
      <p:sp>
        <p:nvSpPr>
          <p:cNvPr id="28677" name="Rectangle 40"/>
          <p:cNvSpPr>
            <a:spLocks noGrp="1"/>
          </p:cNvSpPr>
          <p:nvPr>
            <p:ph type="title"/>
          </p:nvPr>
        </p:nvSpPr>
        <p:spPr>
          <a:xfrm>
            <a:off x="395605" y="457200"/>
            <a:ext cx="4006850" cy="457200"/>
          </a:xfrm>
          <a:prstGeom prst="rect">
            <a:avLst/>
          </a:prstGeom>
          <a:noFill/>
          <a:ln w="9525">
            <a:noFill/>
          </a:ln>
        </p:spPr>
        <p:txBody>
          <a:bodyPr/>
          <a:p>
            <a:pPr marL="457200" indent="-457200" eaLnBrk="1" hangingPunct="1"/>
            <a:r>
              <a:rPr lang="en-US" altLang="zh-CN" sz="1800" b="1" dirty="0">
                <a:latin typeface="黑体" panose="02010609060101010101" pitchFamily="49" charset="-122"/>
                <a:ea typeface="黑体" panose="02010609060101010101" pitchFamily="49" charset="-122"/>
              </a:rPr>
              <a:t>② </a:t>
            </a:r>
            <a:r>
              <a:rPr lang="zh-CN" altLang="en-US" sz="1800" b="1" dirty="0">
                <a:latin typeface="黑体" panose="02010609060101010101" pitchFamily="49" charset="-122"/>
                <a:ea typeface="黑体" panose="02010609060101010101" pitchFamily="49" charset="-122"/>
              </a:rPr>
              <a:t>反演定理 </a:t>
            </a:r>
            <a:r>
              <a:rPr lang="en-US" altLang="zh-CN" sz="1800" b="1" i="1" dirty="0">
                <a:latin typeface="黑体" panose="02010609060101010101" pitchFamily="49" charset="-122"/>
                <a:ea typeface="黑体" panose="02010609060101010101" pitchFamily="49" charset="-122"/>
              </a:rPr>
              <a:t>(</a:t>
            </a:r>
            <a:r>
              <a:rPr lang="zh-CN" altLang="en-US" sz="1800" b="1" i="1" dirty="0">
                <a:latin typeface="黑体" panose="02010609060101010101" pitchFamily="49" charset="-122"/>
                <a:ea typeface="黑体" panose="02010609060101010101" pitchFamily="49" charset="-122"/>
              </a:rPr>
              <a:t>摩根定理</a:t>
            </a:r>
            <a:r>
              <a:rPr lang="en-US" altLang="zh-CN" sz="1800" b="1" i="1" dirty="0">
                <a:latin typeface="黑体" panose="02010609060101010101" pitchFamily="49" charset="-122"/>
                <a:ea typeface="黑体" panose="02010609060101010101" pitchFamily="49" charset="-122"/>
              </a:rPr>
              <a:t>)</a:t>
            </a:r>
            <a:endParaRPr lang="en-US" altLang="zh-CN" sz="1800" b="1" i="1" dirty="0">
              <a:latin typeface="黑体" panose="02010609060101010101" pitchFamily="49" charset="-122"/>
              <a:ea typeface="黑体" panose="02010609060101010101" pitchFamily="49" charset="-122"/>
            </a:endParaRPr>
          </a:p>
        </p:txBody>
      </p:sp>
      <p:grpSp>
        <p:nvGrpSpPr>
          <p:cNvPr id="28678" name="Group 73"/>
          <p:cNvGrpSpPr/>
          <p:nvPr/>
        </p:nvGrpSpPr>
        <p:grpSpPr>
          <a:xfrm>
            <a:off x="1422400" y="1797050"/>
            <a:ext cx="6883400" cy="368300"/>
            <a:chOff x="0" y="0"/>
            <a:chExt cx="4354" cy="310"/>
          </a:xfrm>
        </p:grpSpPr>
        <p:sp>
          <p:nvSpPr>
            <p:cNvPr id="28698" name="Text Box 28"/>
            <p:cNvSpPr txBox="1"/>
            <p:nvPr/>
          </p:nvSpPr>
          <p:spPr>
            <a:xfrm>
              <a:off x="28" y="0"/>
              <a:ext cx="432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8699" name="Line 29"/>
            <p:cNvSpPr/>
            <p:nvPr/>
          </p:nvSpPr>
          <p:spPr>
            <a:xfrm>
              <a:off x="0" y="0"/>
              <a:ext cx="1549" cy="0"/>
            </a:xfrm>
            <a:prstGeom prst="line">
              <a:avLst/>
            </a:prstGeom>
            <a:ln w="9525" cap="flat" cmpd="sng">
              <a:solidFill>
                <a:schemeClr val="tx1"/>
              </a:solidFill>
              <a:prstDash val="solid"/>
              <a:headEnd type="none" w="med" len="med"/>
              <a:tailEnd type="none" w="med" len="med"/>
            </a:ln>
          </p:spPr>
        </p:sp>
        <p:sp>
          <p:nvSpPr>
            <p:cNvPr id="28700" name="Line 30"/>
            <p:cNvSpPr/>
            <p:nvPr/>
          </p:nvSpPr>
          <p:spPr>
            <a:xfrm>
              <a:off x="2236" y="0"/>
              <a:ext cx="168" cy="0"/>
            </a:xfrm>
            <a:prstGeom prst="line">
              <a:avLst/>
            </a:prstGeom>
            <a:ln w="9525" cap="flat" cmpd="sng">
              <a:solidFill>
                <a:srgbClr val="FFFFFF"/>
              </a:solidFill>
              <a:prstDash val="solid"/>
              <a:headEnd type="none" w="med" len="med"/>
              <a:tailEnd type="none" w="med" len="med"/>
            </a:ln>
          </p:spPr>
        </p:sp>
        <p:sp>
          <p:nvSpPr>
            <p:cNvPr id="28701" name="Line 31"/>
            <p:cNvSpPr/>
            <p:nvPr/>
          </p:nvSpPr>
          <p:spPr>
            <a:xfrm>
              <a:off x="2747" y="0"/>
              <a:ext cx="168" cy="0"/>
            </a:xfrm>
            <a:prstGeom prst="line">
              <a:avLst/>
            </a:prstGeom>
            <a:ln w="9525" cap="flat" cmpd="sng">
              <a:solidFill>
                <a:schemeClr val="tx1"/>
              </a:solidFill>
              <a:prstDash val="solid"/>
              <a:headEnd type="none" w="med" len="med"/>
              <a:tailEnd type="none" w="med" len="med"/>
            </a:ln>
          </p:spPr>
        </p:sp>
        <p:sp>
          <p:nvSpPr>
            <p:cNvPr id="28702" name="Line 41"/>
            <p:cNvSpPr/>
            <p:nvPr/>
          </p:nvSpPr>
          <p:spPr>
            <a:xfrm>
              <a:off x="1776" y="0"/>
              <a:ext cx="168" cy="0"/>
            </a:xfrm>
            <a:prstGeom prst="line">
              <a:avLst/>
            </a:prstGeom>
            <a:ln w="9525" cap="flat" cmpd="sng">
              <a:solidFill>
                <a:schemeClr val="tx1"/>
              </a:solidFill>
              <a:prstDash val="solid"/>
              <a:headEnd type="none" w="med" len="med"/>
              <a:tailEnd type="none" w="med" len="med"/>
            </a:ln>
          </p:spPr>
        </p:sp>
      </p:grpSp>
      <p:grpSp>
        <p:nvGrpSpPr>
          <p:cNvPr id="28679" name="Group 74"/>
          <p:cNvGrpSpPr/>
          <p:nvPr/>
        </p:nvGrpSpPr>
        <p:grpSpPr>
          <a:xfrm>
            <a:off x="1476375" y="2378075"/>
            <a:ext cx="5943600" cy="368300"/>
            <a:chOff x="46" y="0"/>
            <a:chExt cx="3744" cy="309"/>
          </a:xfrm>
        </p:grpSpPr>
        <p:sp>
          <p:nvSpPr>
            <p:cNvPr id="28693" name="Text Box 4"/>
            <p:cNvSpPr txBox="1"/>
            <p:nvPr/>
          </p:nvSpPr>
          <p:spPr>
            <a:xfrm>
              <a:off x="46" y="0"/>
              <a:ext cx="3744"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8694" name="Line 32"/>
            <p:cNvSpPr/>
            <p:nvPr/>
          </p:nvSpPr>
          <p:spPr>
            <a:xfrm>
              <a:off x="46" y="32"/>
              <a:ext cx="1183" cy="8"/>
            </a:xfrm>
            <a:prstGeom prst="line">
              <a:avLst/>
            </a:prstGeom>
            <a:ln w="12700" cap="flat" cmpd="sng">
              <a:solidFill>
                <a:schemeClr val="tx1"/>
              </a:solidFill>
              <a:prstDash val="solid"/>
              <a:headEnd type="none" w="med" len="med"/>
              <a:tailEnd type="none" w="med" len="med"/>
            </a:ln>
          </p:spPr>
        </p:sp>
        <p:sp>
          <p:nvSpPr>
            <p:cNvPr id="28695" name="Line 33"/>
            <p:cNvSpPr/>
            <p:nvPr/>
          </p:nvSpPr>
          <p:spPr>
            <a:xfrm>
              <a:off x="1889" y="26"/>
              <a:ext cx="168" cy="0"/>
            </a:xfrm>
            <a:prstGeom prst="line">
              <a:avLst/>
            </a:prstGeom>
            <a:ln w="12700" cap="flat" cmpd="sng">
              <a:solidFill>
                <a:schemeClr val="tx1"/>
              </a:solidFill>
              <a:prstDash val="solid"/>
              <a:headEnd type="none" w="med" len="med"/>
              <a:tailEnd type="none" w="med" len="med"/>
            </a:ln>
          </p:spPr>
        </p:sp>
        <p:sp>
          <p:nvSpPr>
            <p:cNvPr id="28696" name="Line 34"/>
            <p:cNvSpPr/>
            <p:nvPr/>
          </p:nvSpPr>
          <p:spPr>
            <a:xfrm>
              <a:off x="2569" y="26"/>
              <a:ext cx="168" cy="0"/>
            </a:xfrm>
            <a:prstGeom prst="line">
              <a:avLst/>
            </a:prstGeom>
            <a:ln w="12700" cap="flat" cmpd="sng">
              <a:solidFill>
                <a:schemeClr val="tx1"/>
              </a:solidFill>
              <a:prstDash val="solid"/>
              <a:headEnd type="none" w="med" len="med"/>
              <a:tailEnd type="none" w="med" len="med"/>
            </a:ln>
          </p:spPr>
        </p:sp>
        <p:sp>
          <p:nvSpPr>
            <p:cNvPr id="28697" name="Line 42"/>
            <p:cNvSpPr/>
            <p:nvPr/>
          </p:nvSpPr>
          <p:spPr>
            <a:xfrm>
              <a:off x="3283" y="26"/>
              <a:ext cx="168" cy="0"/>
            </a:xfrm>
            <a:prstGeom prst="line">
              <a:avLst/>
            </a:prstGeom>
            <a:ln w="9525" cap="flat" cmpd="sng">
              <a:solidFill>
                <a:srgbClr val="FFFFFF"/>
              </a:solidFill>
              <a:prstDash val="solid"/>
              <a:headEnd type="none" w="med" len="med"/>
              <a:tailEnd type="none" w="med" len="med"/>
            </a:ln>
          </p:spPr>
        </p:sp>
      </p:grpSp>
      <p:sp>
        <p:nvSpPr>
          <p:cNvPr id="28680" name="Text Box 51"/>
          <p:cNvSpPr txBox="1"/>
          <p:nvPr/>
        </p:nvSpPr>
        <p:spPr>
          <a:xfrm>
            <a:off x="684530" y="2946400"/>
            <a:ext cx="532701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rgbClr val="FF0066"/>
                </a:solidFill>
                <a:latin typeface="黑体" panose="02010609060101010101" pitchFamily="49" charset="-122"/>
                <a:ea typeface="黑体" panose="02010609060101010101" pitchFamily="49" charset="-122"/>
              </a:rPr>
              <a:t>摩根定理的作用：进行逻辑函数化简和逻辑变换。</a:t>
            </a:r>
            <a:endParaRPr lang="zh-CN" altLang="en-US" sz="1800" dirty="0">
              <a:solidFill>
                <a:srgbClr val="FF0066"/>
              </a:solidFill>
              <a:latin typeface="黑体" panose="02010609060101010101" pitchFamily="49" charset="-122"/>
              <a:ea typeface="黑体" panose="02010609060101010101" pitchFamily="49" charset="-122"/>
            </a:endParaRPr>
          </a:p>
        </p:txBody>
      </p:sp>
      <p:sp>
        <p:nvSpPr>
          <p:cNvPr id="28681" name="Rectangle 72"/>
          <p:cNvSpPr txBox="1"/>
          <p:nvPr/>
        </p:nvSpPr>
        <p:spPr>
          <a:xfrm>
            <a:off x="533400" y="1168400"/>
            <a:ext cx="7772400" cy="628650"/>
          </a:xfrm>
          <a:prstGeom prst="rect">
            <a:avLst/>
          </a:prstGeom>
          <a:noFill/>
          <a:ln w="9525">
            <a:noFill/>
          </a:ln>
        </p:spPr>
        <p:txBody>
          <a:bodyPr anchor="ctr"/>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N</a:t>
            </a:r>
            <a:r>
              <a:rPr lang="zh-CN" altLang="en-US" sz="1800" b="1" dirty="0">
                <a:solidFill>
                  <a:schemeClr val="tx1"/>
                </a:solidFill>
                <a:latin typeface="黑体" panose="02010609060101010101" pitchFamily="49" charset="-122"/>
                <a:ea typeface="黑体" panose="02010609060101010101" pitchFamily="49" charset="-122"/>
              </a:rPr>
              <a:t>变量的摩根定理：</a:t>
            </a:r>
            <a:endParaRPr lang="zh-CN" altLang="en-US" sz="1800" b="1" dirty="0">
              <a:solidFill>
                <a:schemeClr val="tx1"/>
              </a:solidFill>
              <a:latin typeface="黑体" panose="02010609060101010101" pitchFamily="49" charset="-122"/>
              <a:ea typeface="黑体" panose="02010609060101010101" pitchFamily="49" charset="-122"/>
            </a:endParaRPr>
          </a:p>
        </p:txBody>
      </p:sp>
      <p:grpSp>
        <p:nvGrpSpPr>
          <p:cNvPr id="28682" name="Group 51"/>
          <p:cNvGrpSpPr/>
          <p:nvPr/>
        </p:nvGrpSpPr>
        <p:grpSpPr>
          <a:xfrm>
            <a:off x="1219200" y="4022725"/>
            <a:ext cx="6853238" cy="785813"/>
            <a:chOff x="0" y="0"/>
            <a:chExt cx="4407" cy="659"/>
          </a:xfrm>
        </p:grpSpPr>
        <p:sp>
          <p:nvSpPr>
            <p:cNvPr id="28688" name="Text Box 5"/>
            <p:cNvSpPr txBox="1"/>
            <p:nvPr/>
          </p:nvSpPr>
          <p:spPr>
            <a:xfrm>
              <a:off x="0" y="0"/>
              <a:ext cx="4407" cy="65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 AC + </a:t>
              </a:r>
              <a:r>
                <a:rPr lang="en-US" altLang="zh-CN" sz="1800" dirty="0">
                  <a:solidFill>
                    <a:srgbClr val="FF0000"/>
                  </a:solidFill>
                  <a:latin typeface="黑体" panose="02010609060101010101" pitchFamily="49" charset="-122"/>
                  <a:ea typeface="黑体" panose="02010609060101010101" pitchFamily="49" charset="-122"/>
                </a:rPr>
                <a:t>BC</a:t>
              </a:r>
              <a:r>
                <a:rPr lang="en-US" altLang="zh-CN" sz="1800" dirty="0">
                  <a:solidFill>
                    <a:schemeClr val="tx1"/>
                  </a:solidFill>
                  <a:latin typeface="黑体" panose="02010609060101010101" pitchFamily="49" charset="-122"/>
                  <a:ea typeface="黑体" panose="02010609060101010101" pitchFamily="49" charset="-122"/>
                </a:rPr>
                <a:t> =  AB + AC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 B) (A + C) </a:t>
              </a:r>
              <a:r>
                <a:rPr lang="en-US" altLang="zh-CN" sz="1800" dirty="0">
                  <a:solidFill>
                    <a:srgbClr val="FF0000"/>
                  </a:solidFill>
                  <a:latin typeface="黑体" panose="02010609060101010101" pitchFamily="49" charset="-122"/>
                  <a:ea typeface="黑体" panose="02010609060101010101" pitchFamily="49" charset="-122"/>
                </a:rPr>
                <a:t>(B + C)  </a:t>
              </a:r>
              <a:r>
                <a:rPr lang="en-US" altLang="zh-CN" sz="1800" dirty="0">
                  <a:solidFill>
                    <a:schemeClr val="tx1"/>
                  </a:solidFill>
                  <a:latin typeface="黑体" panose="02010609060101010101" pitchFamily="49" charset="-122"/>
                  <a:ea typeface="黑体" panose="02010609060101010101" pitchFamily="49" charset="-122"/>
                </a:rPr>
                <a:t>=   (A + B) (A + C)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8689" name="Line 6"/>
            <p:cNvSpPr/>
            <p:nvPr/>
          </p:nvSpPr>
          <p:spPr>
            <a:xfrm>
              <a:off x="556" y="63"/>
              <a:ext cx="104" cy="0"/>
            </a:xfrm>
            <a:prstGeom prst="line">
              <a:avLst/>
            </a:prstGeom>
            <a:ln w="9525" cap="flat" cmpd="sng">
              <a:solidFill>
                <a:schemeClr val="tx1"/>
              </a:solidFill>
              <a:prstDash val="solid"/>
              <a:headEnd type="none" w="med" len="med"/>
              <a:tailEnd type="none" w="med" len="med"/>
            </a:ln>
          </p:spPr>
        </p:sp>
        <p:sp>
          <p:nvSpPr>
            <p:cNvPr id="28690" name="Line 7"/>
            <p:cNvSpPr/>
            <p:nvPr/>
          </p:nvSpPr>
          <p:spPr>
            <a:xfrm>
              <a:off x="1714" y="63"/>
              <a:ext cx="118" cy="0"/>
            </a:xfrm>
            <a:prstGeom prst="line">
              <a:avLst/>
            </a:prstGeom>
            <a:ln w="9525" cap="flat" cmpd="sng">
              <a:solidFill>
                <a:schemeClr val="tx1"/>
              </a:solidFill>
              <a:prstDash val="solid"/>
              <a:headEnd type="none" w="med" len="med"/>
              <a:tailEnd type="none" w="med" len="med"/>
            </a:ln>
          </p:spPr>
        </p:sp>
        <p:sp>
          <p:nvSpPr>
            <p:cNvPr id="28691" name="Line 8"/>
            <p:cNvSpPr/>
            <p:nvPr/>
          </p:nvSpPr>
          <p:spPr>
            <a:xfrm>
              <a:off x="3528" y="432"/>
              <a:ext cx="168" cy="0"/>
            </a:xfrm>
            <a:prstGeom prst="line">
              <a:avLst/>
            </a:prstGeom>
            <a:ln w="9525" cap="flat" cmpd="sng">
              <a:solidFill>
                <a:srgbClr val="FFFFFF"/>
              </a:solidFill>
              <a:prstDash val="solid"/>
              <a:headEnd type="none" w="med" len="med"/>
              <a:tailEnd type="none" w="med" len="med"/>
            </a:ln>
          </p:spPr>
        </p:sp>
        <p:sp>
          <p:nvSpPr>
            <p:cNvPr id="28692" name="Line 9"/>
            <p:cNvSpPr/>
            <p:nvPr/>
          </p:nvSpPr>
          <p:spPr>
            <a:xfrm>
              <a:off x="936" y="432"/>
              <a:ext cx="168" cy="0"/>
            </a:xfrm>
            <a:prstGeom prst="line">
              <a:avLst/>
            </a:prstGeom>
            <a:ln w="9525" cap="flat" cmpd="sng">
              <a:solidFill>
                <a:srgbClr val="FFFFFF"/>
              </a:solidFill>
              <a:prstDash val="solid"/>
              <a:headEnd type="none" w="med" len="med"/>
              <a:tailEnd type="none" w="med" len="med"/>
            </a:ln>
          </p:spPr>
        </p:sp>
      </p:grpSp>
      <p:sp>
        <p:nvSpPr>
          <p:cNvPr id="28683" name="Rectangle 50"/>
          <p:cNvSpPr txBox="1"/>
          <p:nvPr/>
        </p:nvSpPr>
        <p:spPr>
          <a:xfrm>
            <a:off x="395288" y="3375025"/>
            <a:ext cx="6629400" cy="571500"/>
          </a:xfrm>
          <a:prstGeom prst="rect">
            <a:avLst/>
          </a:prstGeom>
          <a:noFill/>
          <a:ln w="9525">
            <a:noFill/>
          </a:ln>
        </p:spPr>
        <p:txBody>
          <a:bodyPr anchor="ctr"/>
          <a:p>
            <a:pPr marL="457200" indent="-457200"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③ </a:t>
            </a:r>
            <a:r>
              <a:rPr lang="zh-CN" altLang="en-US" sz="1800" b="1" dirty="0">
                <a:solidFill>
                  <a:schemeClr val="tx1"/>
                </a:solidFill>
                <a:latin typeface="黑体" panose="02010609060101010101" pitchFamily="49" charset="-122"/>
                <a:ea typeface="黑体" panose="02010609060101010101" pitchFamily="49" charset="-122"/>
              </a:rPr>
              <a:t>包含定理 </a:t>
            </a:r>
            <a:r>
              <a:rPr lang="en-US" altLang="zh-CN" sz="1800" b="1" i="1" dirty="0">
                <a:solidFill>
                  <a:schemeClr val="tx1"/>
                </a:solidFill>
                <a:latin typeface="黑体" panose="02010609060101010101" pitchFamily="49" charset="-122"/>
                <a:ea typeface="黑体" panose="02010609060101010101" pitchFamily="49" charset="-122"/>
              </a:rPr>
              <a:t>(</a:t>
            </a:r>
            <a:r>
              <a:rPr lang="zh-CN" altLang="en-US" sz="1800" b="1" i="1" dirty="0">
                <a:solidFill>
                  <a:srgbClr val="FF0000"/>
                </a:solidFill>
                <a:latin typeface="黑体" panose="02010609060101010101" pitchFamily="49" charset="-122"/>
                <a:ea typeface="黑体" panose="02010609060101010101" pitchFamily="49" charset="-122"/>
              </a:rPr>
              <a:t>多余项</a:t>
            </a:r>
            <a:r>
              <a:rPr lang="zh-CN" altLang="en-US" sz="1800" b="1" i="1" dirty="0">
                <a:solidFill>
                  <a:schemeClr val="tx1"/>
                </a:solidFill>
                <a:latin typeface="黑体" panose="02010609060101010101" pitchFamily="49" charset="-122"/>
                <a:ea typeface="黑体" panose="02010609060101010101" pitchFamily="49" charset="-122"/>
              </a:rPr>
              <a:t>定理）</a:t>
            </a:r>
            <a:endParaRPr lang="zh-CN" altLang="en-US" sz="1800" b="1" i="1" dirty="0">
              <a:solidFill>
                <a:schemeClr val="tx1"/>
              </a:solidFill>
              <a:latin typeface="黑体" panose="02010609060101010101" pitchFamily="49" charset="-122"/>
              <a:ea typeface="黑体" panose="02010609060101010101" pitchFamily="49" charset="-122"/>
            </a:endParaRPr>
          </a:p>
        </p:txBody>
      </p:sp>
      <p:sp>
        <p:nvSpPr>
          <p:cNvPr id="28684" name="Line 31"/>
          <p:cNvSpPr/>
          <p:nvPr/>
        </p:nvSpPr>
        <p:spPr>
          <a:xfrm>
            <a:off x="4643438" y="1797050"/>
            <a:ext cx="266700" cy="0"/>
          </a:xfrm>
          <a:prstGeom prst="line">
            <a:avLst/>
          </a:prstGeom>
          <a:ln w="9525" cap="flat" cmpd="sng">
            <a:solidFill>
              <a:schemeClr val="tx1"/>
            </a:solidFill>
            <a:prstDash val="solid"/>
            <a:headEnd type="none" w="med" len="med"/>
            <a:tailEnd type="none" w="med" len="med"/>
          </a:ln>
        </p:spPr>
      </p:sp>
      <p:sp>
        <p:nvSpPr>
          <p:cNvPr id="28685" name="Line 33"/>
          <p:cNvSpPr/>
          <p:nvPr/>
        </p:nvSpPr>
        <p:spPr>
          <a:xfrm>
            <a:off x="3838575" y="2427288"/>
            <a:ext cx="266700" cy="0"/>
          </a:xfrm>
          <a:prstGeom prst="line">
            <a:avLst/>
          </a:prstGeom>
          <a:ln w="12700" cap="flat" cmpd="sng">
            <a:solidFill>
              <a:schemeClr val="tx1"/>
            </a:solidFill>
            <a:prstDash val="solid"/>
            <a:headEnd type="none" w="med" len="med"/>
            <a:tailEnd type="none" w="med" len="med"/>
          </a:ln>
        </p:spPr>
      </p:sp>
      <p:sp>
        <p:nvSpPr>
          <p:cNvPr id="28686" name="Line 6"/>
          <p:cNvSpPr/>
          <p:nvPr/>
        </p:nvSpPr>
        <p:spPr>
          <a:xfrm>
            <a:off x="2411413" y="4502468"/>
            <a:ext cx="161925" cy="0"/>
          </a:xfrm>
          <a:prstGeom prst="line">
            <a:avLst/>
          </a:prstGeom>
          <a:ln w="12700" cap="flat" cmpd="sng">
            <a:solidFill>
              <a:schemeClr val="tx1"/>
            </a:solidFill>
            <a:prstDash val="solid"/>
            <a:headEnd type="none" w="med" len="med"/>
            <a:tailEnd type="none" w="med" len="med"/>
          </a:ln>
        </p:spPr>
      </p:sp>
      <p:sp>
        <p:nvSpPr>
          <p:cNvPr id="28687" name="Line 6"/>
          <p:cNvSpPr/>
          <p:nvPr/>
        </p:nvSpPr>
        <p:spPr>
          <a:xfrm>
            <a:off x="5727700" y="4505325"/>
            <a:ext cx="161925" cy="0"/>
          </a:xfrm>
          <a:prstGeom prst="line">
            <a:avLst/>
          </a:prstGeom>
          <a:ln w="9525" cap="flat" cmpd="sng">
            <a:solidFill>
              <a:schemeClr val="tx1"/>
            </a:solidFill>
            <a:prstDash val="solid"/>
            <a:headEnd type="none" w="med" len="med"/>
            <a:tailEnd type="none" w="med" len="med"/>
          </a:ln>
        </p:spPr>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8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8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日期占位符 1"/>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9699" name="灯片编号占位符 3"/>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sp>
        <p:nvSpPr>
          <p:cNvPr id="29700" name="Text Box 1028"/>
          <p:cNvSpPr txBox="1"/>
          <p:nvPr/>
        </p:nvSpPr>
        <p:spPr>
          <a:xfrm>
            <a:off x="395605" y="879475"/>
            <a:ext cx="236283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① </a:t>
            </a:r>
            <a:r>
              <a:rPr lang="zh-CN" altLang="en-US" sz="1800" b="1" dirty="0">
                <a:solidFill>
                  <a:srgbClr val="FF0000"/>
                </a:solidFill>
                <a:latin typeface="黑体" panose="02010609060101010101" pitchFamily="49" charset="-122"/>
                <a:ea typeface="黑体" panose="02010609060101010101" pitchFamily="49" charset="-122"/>
              </a:rPr>
              <a:t>代入规则</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29701" name="Text Box 1029"/>
          <p:cNvSpPr txBox="1"/>
          <p:nvPr/>
        </p:nvSpPr>
        <p:spPr>
          <a:xfrm>
            <a:off x="1116013" y="3508375"/>
            <a:ext cx="6351587"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又∵   逻辑函数 </a:t>
            </a:r>
            <a:r>
              <a:rPr lang="en-US" altLang="zh-CN" sz="1800" b="1" dirty="0">
                <a:solidFill>
                  <a:schemeClr val="tx1"/>
                </a:solidFill>
                <a:latin typeface="黑体" panose="02010609060101010101" pitchFamily="49" charset="-122"/>
                <a:ea typeface="黑体" panose="02010609060101010101" pitchFamily="49" charset="-122"/>
              </a:rPr>
              <a:t>h </a:t>
            </a:r>
            <a:r>
              <a:rPr lang="zh-CN" altLang="en-US" sz="1800" b="1" dirty="0">
                <a:solidFill>
                  <a:schemeClr val="tx1"/>
                </a:solidFill>
                <a:latin typeface="黑体" panose="02010609060101010101" pitchFamily="49" charset="-122"/>
                <a:ea typeface="黑体" panose="02010609060101010101" pitchFamily="49" charset="-122"/>
              </a:rPr>
              <a:t>取值</a:t>
            </a:r>
            <a:r>
              <a:rPr lang="zh-CN" altLang="en-US" sz="1800" dirty="0">
                <a:solidFill>
                  <a:schemeClr val="tx1"/>
                </a:solidFill>
                <a:latin typeface="黑体" panose="02010609060101010101" pitchFamily="49" charset="-122"/>
                <a:ea typeface="黑体" panose="02010609060101010101" pitchFamily="49" charset="-122"/>
              </a:rPr>
              <a:t>仅有 </a:t>
            </a:r>
            <a:r>
              <a:rPr lang="en-US" altLang="zh-CN" sz="1800" b="1" dirty="0">
                <a:solidFill>
                  <a:schemeClr val="tx1"/>
                </a:solidFill>
                <a:latin typeface="黑体" panose="02010609060101010101" pitchFamily="49" charset="-122"/>
                <a:ea typeface="黑体" panose="02010609060101010101" pitchFamily="49" charset="-122"/>
              </a:rPr>
              <a:t>0</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或 </a:t>
            </a: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02" name="Text Box 1033"/>
          <p:cNvSpPr txBox="1"/>
          <p:nvPr/>
        </p:nvSpPr>
        <p:spPr>
          <a:xfrm>
            <a:off x="152400" y="1287463"/>
            <a:ext cx="88392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已知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i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 g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i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03" name="Text Box 1035"/>
          <p:cNvSpPr txBox="1"/>
          <p:nvPr/>
        </p:nvSpPr>
        <p:spPr>
          <a:xfrm>
            <a:off x="395288" y="1755775"/>
            <a:ext cx="50292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有任意函数 </a:t>
            </a:r>
            <a:r>
              <a:rPr lang="en-US" altLang="zh-CN" sz="1800" b="1" dirty="0">
                <a:solidFill>
                  <a:schemeClr val="tx1"/>
                </a:solidFill>
                <a:latin typeface="黑体" panose="02010609060101010101" pitchFamily="49" charset="-122"/>
                <a:ea typeface="黑体" panose="02010609060101010101" pitchFamily="49" charset="-122"/>
              </a:rPr>
              <a:t>h </a:t>
            </a:r>
            <a:r>
              <a:rPr lang="zh-CN" altLang="en-US" sz="1800" dirty="0">
                <a:solidFill>
                  <a:schemeClr val="tx1"/>
                </a:solidFill>
                <a:latin typeface="黑体" panose="02010609060101010101" pitchFamily="49" charset="-122"/>
                <a:ea typeface="黑体" panose="02010609060101010101" pitchFamily="49" charset="-122"/>
              </a:rPr>
              <a:t>，令：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i</a:t>
            </a:r>
            <a:r>
              <a:rPr lang="en-US" altLang="zh-CN" sz="1800" b="1" dirty="0">
                <a:solidFill>
                  <a:schemeClr val="tx1"/>
                </a:solidFill>
                <a:latin typeface="黑体" panose="02010609060101010101" pitchFamily="49" charset="-122"/>
                <a:ea typeface="黑体" panose="02010609060101010101" pitchFamily="49" charset="-122"/>
              </a:rPr>
              <a:t> = h</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04" name="Text Box 1039"/>
          <p:cNvSpPr txBox="1"/>
          <p:nvPr/>
        </p:nvSpPr>
        <p:spPr>
          <a:xfrm>
            <a:off x="425450" y="2201863"/>
            <a:ext cx="8610600" cy="784225"/>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则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h</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 g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a:t>
            </a:r>
            <a:r>
              <a:rPr lang="en-US" altLang="zh-CN" sz="1800" b="1" dirty="0">
                <a:solidFill>
                  <a:schemeClr val="tx1"/>
                </a:solidFill>
                <a:latin typeface="黑体" panose="02010609060101010101" pitchFamily="49" charset="-122"/>
                <a:ea typeface="黑体" panose="02010609060101010101" pitchFamily="49" charset="-122"/>
              </a:rPr>
              <a:t>h</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依然成立。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5" name="Text Box 1042"/>
          <p:cNvSpPr txBox="1"/>
          <p:nvPr/>
        </p:nvSpPr>
        <p:spPr>
          <a:xfrm>
            <a:off x="468313" y="3003550"/>
            <a:ext cx="8305800" cy="369888"/>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证明： ∵     </a:t>
            </a:r>
            <a:r>
              <a:rPr lang="en-US" altLang="zh-CN" sz="1800" dirty="0">
                <a:solidFill>
                  <a:schemeClr val="tx1"/>
                </a:solidFill>
                <a:latin typeface="黑体" panose="02010609060101010101" pitchFamily="49" charset="-122"/>
                <a:ea typeface="黑体" panose="02010609060101010101" pitchFamily="49" charset="-122"/>
              </a:rPr>
              <a:t>x</a:t>
            </a:r>
            <a:r>
              <a:rPr lang="en-US" altLang="zh-CN" sz="1800" baseline="-25000" dirty="0">
                <a:solidFill>
                  <a:schemeClr val="tx1"/>
                </a:solidFill>
                <a:latin typeface="黑体" panose="02010609060101010101" pitchFamily="49" charset="-122"/>
                <a:ea typeface="黑体" panose="02010609060101010101" pitchFamily="49" charset="-122"/>
              </a:rPr>
              <a:t>i </a:t>
            </a:r>
            <a:r>
              <a:rPr lang="zh-CN" altLang="en-US" sz="1800" dirty="0">
                <a:solidFill>
                  <a:schemeClr val="tx1"/>
                </a:solidFill>
                <a:latin typeface="黑体" panose="02010609060101010101" pitchFamily="49" charset="-122"/>
                <a:ea typeface="黑体" panose="02010609060101010101" pitchFamily="49" charset="-122"/>
              </a:rPr>
              <a:t>取值只有 </a:t>
            </a:r>
            <a:r>
              <a:rPr lang="en-US" altLang="zh-CN" sz="1800" dirty="0">
                <a:solidFill>
                  <a:schemeClr val="tx1"/>
                </a:solidFill>
                <a:latin typeface="黑体" panose="02010609060101010101" pitchFamily="49" charset="-122"/>
                <a:ea typeface="黑体" panose="02010609060101010101" pitchFamily="49" charset="-122"/>
              </a:rPr>
              <a:t>0 </a:t>
            </a:r>
            <a:r>
              <a:rPr lang="zh-CN" altLang="en-US" sz="1800" dirty="0">
                <a:solidFill>
                  <a:schemeClr val="tx1"/>
                </a:solidFill>
                <a:latin typeface="黑体" panose="02010609060101010101" pitchFamily="49" charset="-122"/>
                <a:ea typeface="黑体" panose="02010609060101010101" pitchFamily="49" charset="-122"/>
              </a:rPr>
              <a:t>或 </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，使等式成立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6" name="Text Box 1045"/>
          <p:cNvSpPr txBox="1"/>
          <p:nvPr/>
        </p:nvSpPr>
        <p:spPr>
          <a:xfrm>
            <a:off x="1397000" y="4011613"/>
            <a:ext cx="40386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代入规则成立。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7" name="Text Box 1076"/>
          <p:cNvSpPr txBox="1"/>
          <p:nvPr/>
        </p:nvSpPr>
        <p:spPr>
          <a:xfrm>
            <a:off x="609600" y="4506913"/>
            <a:ext cx="72390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可用代入规则证明</a:t>
            </a:r>
            <a:r>
              <a:rPr lang="en-US" altLang="zh-CN" sz="18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变量的摩根定理：摩根定理</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代入规则</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8" name="Rectangle 1078"/>
          <p:cNvSpPr>
            <a:spLocks noGrp="1"/>
          </p:cNvSpPr>
          <p:nvPr>
            <p:ph type="title"/>
          </p:nvPr>
        </p:nvSpPr>
        <p:spPr>
          <a:xfrm>
            <a:off x="323850" y="500063"/>
            <a:ext cx="7772400" cy="3429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3</a:t>
            </a:r>
            <a:r>
              <a:rPr lang="zh-CN" altLang="en-US" sz="1800" b="1" dirty="0">
                <a:latin typeface="黑体" panose="02010609060101010101" pitchFamily="49" charset="-122"/>
                <a:ea typeface="黑体" panose="02010609060101010101" pitchFamily="49" charset="-122"/>
              </a:rPr>
              <a:t>）基本规则 </a:t>
            </a:r>
            <a:r>
              <a:rPr lang="en-US" altLang="zh-CN" sz="1800" b="1" i="1" dirty="0">
                <a:latin typeface="黑体" panose="02010609060101010101" pitchFamily="49" charset="-122"/>
                <a:ea typeface="黑体" panose="02010609060101010101" pitchFamily="49" charset="-122"/>
              </a:rPr>
              <a:t>Basic Formulas</a:t>
            </a:r>
            <a:endParaRPr lang="en-US" altLang="zh-CN" sz="1800" b="1" i="1" dirty="0">
              <a:latin typeface="黑体" panose="02010609060101010101" pitchFamily="49" charset="-122"/>
              <a:ea typeface="黑体" panose="02010609060101010101" pitchFamily="49" charset="-122"/>
            </a:endParaRPr>
          </a:p>
        </p:txBody>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5"/>
                                        </p:tgtEl>
                                        <p:attrNameLst>
                                          <p:attrName>style.visibility</p:attrName>
                                        </p:attrNameLst>
                                      </p:cBhvr>
                                      <p:to>
                                        <p:strVal val="visible"/>
                                      </p:to>
                                    </p:set>
                                    <p:animEffect transition="in" filter="blinds(horizontal)">
                                      <p:cBhvr>
                                        <p:cTn id="7" dur="500"/>
                                        <p:tgtEl>
                                          <p:spTgt spid="2970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701"/>
                                        </p:tgtEl>
                                        <p:attrNameLst>
                                          <p:attrName>style.visibility</p:attrName>
                                        </p:attrNameLst>
                                      </p:cBhvr>
                                      <p:to>
                                        <p:strVal val="visible"/>
                                      </p:to>
                                    </p:set>
                                    <p:animEffect transition="in" filter="blinds(horizontal)">
                                      <p:cBhvr>
                                        <p:cTn id="10" dur="500"/>
                                        <p:tgtEl>
                                          <p:spTgt spid="2970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9706"/>
                                        </p:tgtEl>
                                        <p:attrNameLst>
                                          <p:attrName>style.visibility</p:attrName>
                                        </p:attrNameLst>
                                      </p:cBhvr>
                                      <p:to>
                                        <p:strVal val="visible"/>
                                      </p:to>
                                    </p:set>
                                    <p:animEffect transition="in" filter="blinds(horizontal)">
                                      <p:cBhvr>
                                        <p:cTn id="13" dur="500"/>
                                        <p:tgtEl>
                                          <p:spTgt spid="2970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9707"/>
                                        </p:tgtEl>
                                        <p:attrNameLst>
                                          <p:attrName>style.visibility</p:attrName>
                                        </p:attrNameLst>
                                      </p:cBhvr>
                                      <p:to>
                                        <p:strVal val="visible"/>
                                      </p:to>
                                    </p:set>
                                    <p:animEffect transition="in" filter="blinds(horizontal)">
                                      <p:cBhvr>
                                        <p:cTn id="16" dur="500"/>
                                        <p:tgtEl>
                                          <p:spTgt spid="29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p:bldP spid="29701" grpId="0"/>
      <p:bldP spid="29706" grpId="0"/>
      <p:bldP spid="29707" grpId="0"/>
      <p:bldP spid="29705" grpId="1"/>
      <p:bldP spid="29701" grpId="1"/>
      <p:bldP spid="29706" grpId="1"/>
      <p:bldP spid="29707"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日期占位符 1"/>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0723" name="灯片编号占位符 3"/>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sp>
        <p:nvSpPr>
          <p:cNvPr id="30724" name="Text Box 22"/>
          <p:cNvSpPr txBox="1"/>
          <p:nvPr/>
        </p:nvSpPr>
        <p:spPr>
          <a:xfrm>
            <a:off x="611188" y="2193925"/>
            <a:ext cx="7891462" cy="755650"/>
          </a:xfrm>
          <a:prstGeom prst="rect">
            <a:avLst/>
          </a:prstGeom>
          <a:noFill/>
          <a:ln w="9525">
            <a:noFill/>
          </a:ln>
        </p:spPr>
        <p:txBody>
          <a:bodyPr>
            <a:spAutoFit/>
          </a:bodyPr>
          <a:p>
            <a:pPr eaLnBrk="1" hangingPunct="1">
              <a:lnSpc>
                <a:spcPct val="12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这是反演</a:t>
            </a:r>
            <a:r>
              <a:rPr lang="zh-CN" altLang="en-US" sz="1800" b="1" dirty="0">
                <a:solidFill>
                  <a:schemeClr val="tx1"/>
                </a:solidFill>
                <a:latin typeface="黑体" panose="02010609060101010101" pitchFamily="49" charset="-122"/>
                <a:ea typeface="黑体" panose="02010609060101010101" pitchFamily="49" charset="-122"/>
              </a:rPr>
              <a:t>定理（摩根</a:t>
            </a:r>
            <a:r>
              <a:rPr lang="zh-CN" altLang="en-US" sz="1800" b="1" dirty="0">
                <a:solidFill>
                  <a:schemeClr val="tx1"/>
                </a:solidFill>
                <a:latin typeface="黑体" panose="02010609060101010101" pitchFamily="49" charset="-122"/>
                <a:ea typeface="黑体" panose="02010609060101010101" pitchFamily="49" charset="-122"/>
              </a:rPr>
              <a:t>定理）</a:t>
            </a:r>
            <a:r>
              <a:rPr lang="zh-CN" altLang="en-US" sz="1800" dirty="0">
                <a:solidFill>
                  <a:schemeClr val="tx1"/>
                </a:solidFill>
                <a:latin typeface="黑体" panose="02010609060101010101" pitchFamily="49" charset="-122"/>
                <a:ea typeface="黑体" panose="02010609060101010101" pitchFamily="49" charset="-122"/>
              </a:rPr>
              <a:t>和代入规则的推广使用。是对互补函数的完善说明。注意：原有的运算次序要保持不变。</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30725" name="Group 38"/>
          <p:cNvGrpSpPr/>
          <p:nvPr/>
        </p:nvGrpSpPr>
        <p:grpSpPr>
          <a:xfrm>
            <a:off x="533400" y="914400"/>
            <a:ext cx="7681913" cy="1227534"/>
            <a:chOff x="0" y="0"/>
            <a:chExt cx="4608" cy="1031"/>
          </a:xfrm>
        </p:grpSpPr>
        <p:sp>
          <p:nvSpPr>
            <p:cNvPr id="30734" name="Text Box 6"/>
            <p:cNvSpPr txBox="1"/>
            <p:nvPr/>
          </p:nvSpPr>
          <p:spPr>
            <a:xfrm>
              <a:off x="0" y="0"/>
              <a:ext cx="4320" cy="31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已知原函数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35" name="Text Box 8"/>
            <p:cNvSpPr txBox="1"/>
            <p:nvPr/>
          </p:nvSpPr>
          <p:spPr>
            <a:xfrm>
              <a:off x="114" y="373"/>
              <a:ext cx="4494" cy="65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则反函数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1 , 0, </a:t>
              </a:r>
              <a:r>
                <a:rPr lang="en-US" altLang="zh-CN" sz="1800" dirty="0">
                  <a:solidFill>
                    <a:srgbClr val="FF0000"/>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00"/>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36" name="Line 23"/>
            <p:cNvSpPr/>
            <p:nvPr/>
          </p:nvSpPr>
          <p:spPr>
            <a:xfrm>
              <a:off x="1232" y="426"/>
              <a:ext cx="140" cy="0"/>
            </a:xfrm>
            <a:prstGeom prst="line">
              <a:avLst/>
            </a:prstGeom>
            <a:ln w="12700" cap="flat" cmpd="sng">
              <a:solidFill>
                <a:schemeClr val="tx1"/>
              </a:solidFill>
              <a:prstDash val="solid"/>
              <a:headEnd type="none" w="med" len="med"/>
              <a:tailEnd type="none" w="med" len="med"/>
            </a:ln>
          </p:spPr>
        </p:sp>
        <p:sp>
          <p:nvSpPr>
            <p:cNvPr id="30737" name="Line 24"/>
            <p:cNvSpPr/>
            <p:nvPr/>
          </p:nvSpPr>
          <p:spPr>
            <a:xfrm>
              <a:off x="1644" y="852"/>
              <a:ext cx="140" cy="0"/>
            </a:xfrm>
            <a:prstGeom prst="line">
              <a:avLst/>
            </a:prstGeom>
            <a:ln w="9525" cap="flat" cmpd="sng">
              <a:solidFill>
                <a:srgbClr val="FFFFFF"/>
              </a:solidFill>
              <a:prstDash val="solid"/>
              <a:headEnd type="none" w="med" len="med"/>
              <a:tailEnd type="none" w="med" len="med"/>
            </a:ln>
          </p:spPr>
        </p:sp>
        <p:sp>
          <p:nvSpPr>
            <p:cNvPr id="30738" name="Line 25"/>
            <p:cNvSpPr/>
            <p:nvPr/>
          </p:nvSpPr>
          <p:spPr>
            <a:xfrm>
              <a:off x="1985" y="852"/>
              <a:ext cx="140" cy="0"/>
            </a:xfrm>
            <a:prstGeom prst="line">
              <a:avLst/>
            </a:prstGeom>
            <a:ln w="9525" cap="flat" cmpd="sng">
              <a:solidFill>
                <a:srgbClr val="FFFFFF"/>
              </a:solidFill>
              <a:prstDash val="solid"/>
              <a:headEnd type="none" w="med" len="med"/>
              <a:tailEnd type="none" w="med" len="med"/>
            </a:ln>
          </p:spPr>
        </p:sp>
        <p:sp>
          <p:nvSpPr>
            <p:cNvPr id="30739" name="Line 26"/>
            <p:cNvSpPr/>
            <p:nvPr/>
          </p:nvSpPr>
          <p:spPr>
            <a:xfrm>
              <a:off x="2726" y="852"/>
              <a:ext cx="140" cy="0"/>
            </a:xfrm>
            <a:prstGeom prst="line">
              <a:avLst/>
            </a:prstGeom>
            <a:ln w="9525" cap="flat" cmpd="sng">
              <a:solidFill>
                <a:srgbClr val="FFFFFF"/>
              </a:solidFill>
              <a:prstDash val="solid"/>
              <a:headEnd type="none" w="med" len="med"/>
              <a:tailEnd type="none" w="med" len="med"/>
            </a:ln>
          </p:spPr>
        </p:sp>
      </p:grpSp>
      <p:sp>
        <p:nvSpPr>
          <p:cNvPr id="30726" name="Text Box 27"/>
          <p:cNvSpPr txBox="1"/>
          <p:nvPr/>
        </p:nvSpPr>
        <p:spPr>
          <a:xfrm>
            <a:off x="395288" y="3062288"/>
            <a:ext cx="2424112"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③ </a:t>
            </a:r>
            <a:r>
              <a:rPr lang="zh-CN" altLang="en-US" sz="1800" b="1" dirty="0">
                <a:solidFill>
                  <a:srgbClr val="FF0000"/>
                </a:solidFill>
                <a:latin typeface="黑体" panose="02010609060101010101" pitchFamily="49" charset="-122"/>
                <a:ea typeface="黑体" panose="02010609060101010101" pitchFamily="49" charset="-122"/>
              </a:rPr>
              <a:t>对偶规则</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30727" name="Text Box 28"/>
          <p:cNvSpPr txBox="1"/>
          <p:nvPr/>
        </p:nvSpPr>
        <p:spPr>
          <a:xfrm>
            <a:off x="685800" y="3405188"/>
            <a:ext cx="66294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已知原函数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28" name="Text Box 29"/>
          <p:cNvSpPr txBox="1"/>
          <p:nvPr/>
        </p:nvSpPr>
        <p:spPr>
          <a:xfrm>
            <a:off x="685800" y="3805238"/>
            <a:ext cx="7391400" cy="645160"/>
          </a:xfrm>
          <a:prstGeom prst="rect">
            <a:avLst/>
          </a:prstGeom>
          <a:noFill/>
          <a:ln w="9525">
            <a:noFill/>
          </a:ln>
        </p:spPr>
        <p:txBody>
          <a:bodyPr>
            <a:spAutoFit/>
          </a:bodyPr>
          <a:p>
            <a:pPr eaLnBrk="1" hangingPunct="1">
              <a:lnSpc>
                <a:spcPct val="75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则对偶函数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400" b="1" dirty="0">
                <a:solidFill>
                  <a:srgbClr val="FF0000"/>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5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1 , 0,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29" name="Text Box 35"/>
          <p:cNvSpPr txBox="1"/>
          <p:nvPr/>
        </p:nvSpPr>
        <p:spPr>
          <a:xfrm>
            <a:off x="250825" y="4443730"/>
            <a:ext cx="873188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u="sng" dirty="0">
                <a:solidFill>
                  <a:schemeClr val="tx1"/>
                </a:solidFill>
                <a:latin typeface="黑体" panose="02010609060101010101" pitchFamily="49" charset="-122"/>
                <a:ea typeface="黑体" panose="02010609060101010101" pitchFamily="49" charset="-122"/>
              </a:rPr>
              <a:t>如果原函数相等，则它门的对偶函数也相等。</a:t>
            </a:r>
            <a:r>
              <a:rPr lang="zh-CN" altLang="en-US" sz="1800" dirty="0">
                <a:solidFill>
                  <a:schemeClr val="tx1"/>
                </a:solidFill>
                <a:latin typeface="黑体" panose="02010609060101010101" pitchFamily="49" charset="-122"/>
                <a:ea typeface="黑体" panose="02010609060101010101" pitchFamily="49" charset="-122"/>
              </a:rPr>
              <a:t>（减少记忆公式的数目） </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30" name="Rectangle 37"/>
          <p:cNvSpPr>
            <a:spLocks noGrp="1"/>
          </p:cNvSpPr>
          <p:nvPr>
            <p:ph type="title"/>
          </p:nvPr>
        </p:nvSpPr>
        <p:spPr>
          <a:xfrm>
            <a:off x="381000" y="531813"/>
            <a:ext cx="7772400" cy="455612"/>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② </a:t>
            </a:r>
            <a:r>
              <a:rPr lang="zh-CN" altLang="en-US" sz="1800" b="1" dirty="0">
                <a:solidFill>
                  <a:srgbClr val="FF0000"/>
                </a:solidFill>
                <a:latin typeface="黑体" panose="02010609060101010101" pitchFamily="49" charset="-122"/>
                <a:ea typeface="黑体" panose="02010609060101010101" pitchFamily="49" charset="-122"/>
              </a:rPr>
              <a:t>反演规则</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香农定理</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由原函数得到其反函数</a:t>
            </a:r>
            <a:endParaRPr lang="zh-CN" altLang="en-US" sz="1800" b="1" i="1" dirty="0">
              <a:latin typeface="黑体" panose="02010609060101010101" pitchFamily="49" charset="-122"/>
              <a:ea typeface="黑体" panose="02010609060101010101" pitchFamily="49" charset="-122"/>
            </a:endParaRPr>
          </a:p>
        </p:txBody>
      </p:sp>
      <p:sp>
        <p:nvSpPr>
          <p:cNvPr id="30731" name="Line 23"/>
          <p:cNvSpPr/>
          <p:nvPr/>
        </p:nvSpPr>
        <p:spPr>
          <a:xfrm>
            <a:off x="3044508" y="1882775"/>
            <a:ext cx="233362" cy="0"/>
          </a:xfrm>
          <a:prstGeom prst="line">
            <a:avLst/>
          </a:prstGeom>
          <a:ln w="12700" cap="flat" cmpd="sng">
            <a:solidFill>
              <a:schemeClr val="tx1"/>
            </a:solidFill>
            <a:prstDash val="solid"/>
            <a:headEnd type="none" w="med" len="med"/>
            <a:tailEnd type="none" w="med" len="med"/>
          </a:ln>
        </p:spPr>
      </p:sp>
      <p:sp>
        <p:nvSpPr>
          <p:cNvPr id="30732" name="Line 23"/>
          <p:cNvSpPr/>
          <p:nvPr/>
        </p:nvSpPr>
        <p:spPr>
          <a:xfrm>
            <a:off x="3549333" y="1882775"/>
            <a:ext cx="233362" cy="0"/>
          </a:xfrm>
          <a:prstGeom prst="line">
            <a:avLst/>
          </a:prstGeom>
          <a:ln w="12700" cap="flat" cmpd="sng">
            <a:solidFill>
              <a:schemeClr val="tx1"/>
            </a:solidFill>
            <a:prstDash val="solid"/>
            <a:headEnd type="none" w="med" len="med"/>
            <a:tailEnd type="none" w="med" len="med"/>
          </a:ln>
        </p:spPr>
      </p:sp>
      <p:sp>
        <p:nvSpPr>
          <p:cNvPr id="30733" name="Line 23"/>
          <p:cNvSpPr/>
          <p:nvPr/>
        </p:nvSpPr>
        <p:spPr>
          <a:xfrm>
            <a:off x="4485323" y="1893888"/>
            <a:ext cx="233362" cy="0"/>
          </a:xfrm>
          <a:prstGeom prst="line">
            <a:avLst/>
          </a:prstGeom>
          <a:ln w="12700" cap="flat" cmpd="sng">
            <a:solidFill>
              <a:schemeClr val="tx1"/>
            </a:solidFill>
            <a:prstDash val="solid"/>
            <a:headEnd type="none" w="med" len="med"/>
            <a:tailEnd type="none" w="med" len="med"/>
          </a:ln>
        </p:spPr>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blinds(horizontal)">
                                      <p:cBhvr>
                                        <p:cTn id="7" dur="5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blinds(horizontal)">
                                      <p:cBhvr>
                                        <p:cTn id="12" dur="500"/>
                                        <p:tgtEl>
                                          <p:spTgt spid="3072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0727"/>
                                        </p:tgtEl>
                                        <p:attrNameLst>
                                          <p:attrName>style.visibility</p:attrName>
                                        </p:attrNameLst>
                                      </p:cBhvr>
                                      <p:to>
                                        <p:strVal val="visible"/>
                                      </p:to>
                                    </p:set>
                                    <p:animEffect transition="in" filter="blinds(horizontal)">
                                      <p:cBhvr>
                                        <p:cTn id="15" dur="500"/>
                                        <p:tgtEl>
                                          <p:spTgt spid="3072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0728"/>
                                        </p:tgtEl>
                                        <p:attrNameLst>
                                          <p:attrName>style.visibility</p:attrName>
                                        </p:attrNameLst>
                                      </p:cBhvr>
                                      <p:to>
                                        <p:strVal val="visible"/>
                                      </p:to>
                                    </p:set>
                                    <p:animEffect transition="in" filter="blinds(horizontal)">
                                      <p:cBhvr>
                                        <p:cTn id="18" dur="500"/>
                                        <p:tgtEl>
                                          <p:spTgt spid="3072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0729"/>
                                        </p:tgtEl>
                                        <p:attrNameLst>
                                          <p:attrName>style.visibility</p:attrName>
                                        </p:attrNameLst>
                                      </p:cBhvr>
                                      <p:to>
                                        <p:strVal val="visible"/>
                                      </p:to>
                                    </p:set>
                                    <p:animEffect transition="in" filter="blinds(horizontal)">
                                      <p:cBhvr>
                                        <p:cTn id="23" dur="500"/>
                                        <p:tgtEl>
                                          <p:spTgt spid="30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4" grpId="1"/>
      <p:bldP spid="30726" grpId="0"/>
      <p:bldP spid="30727" grpId="0"/>
      <p:bldP spid="30728" grpId="0"/>
      <p:bldP spid="30726" grpId="1"/>
      <p:bldP spid="30727" grpId="1"/>
      <p:bldP spid="30728" grpId="1"/>
      <p:bldP spid="30729" grpId="0"/>
      <p:bldP spid="30729"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174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1748" name="Rectangle 3"/>
          <p:cNvSpPr>
            <a:spLocks noGrp="1"/>
          </p:cNvSpPr>
          <p:nvPr>
            <p:ph/>
          </p:nvPr>
        </p:nvSpPr>
        <p:spPr>
          <a:xfrm>
            <a:off x="395605" y="570865"/>
            <a:ext cx="8266430" cy="4286885"/>
          </a:xfrm>
          <a:prstGeom prst="rect">
            <a:avLst/>
          </a:prstGeom>
          <a:noFill/>
          <a:ln w="9525">
            <a:noFill/>
          </a:ln>
        </p:spPr>
        <p:txBody>
          <a:bodyPr/>
          <a:p>
            <a:pPr marL="609600" indent="-609600" eaLnBrk="1" hangingPunct="1">
              <a:lnSpc>
                <a:spcPct val="150000"/>
              </a:lnSpc>
              <a:buNone/>
            </a:pPr>
            <a:r>
              <a:rPr lang="en-US" altLang="zh-CN" sz="1800" b="1" dirty="0">
                <a:latin typeface="华文新魏" panose="02010800040101010101" pitchFamily="2" charset="-122"/>
                <a:ea typeface="华文新魏" panose="02010800040101010101" pitchFamily="2" charset="-122"/>
              </a:rPr>
              <a:t>4</a:t>
            </a:r>
            <a:r>
              <a:rPr lang="zh-CN" altLang="en-US" sz="1800" b="1" dirty="0">
                <a:latin typeface="华文新魏" panose="02010800040101010101" pitchFamily="2" charset="-122"/>
                <a:ea typeface="华文新魏" panose="02010800040101010101" pitchFamily="2" charset="-122"/>
              </a:rPr>
              <a:t>）复合运算（逻辑）</a:t>
            </a:r>
            <a:endParaRPr lang="zh-CN" altLang="en-US" sz="1800" b="1" dirty="0">
              <a:latin typeface="华文新魏" panose="02010800040101010101" pitchFamily="2" charset="-122"/>
              <a:ea typeface="华文新魏" panose="02010800040101010101" pitchFamily="2" charset="-122"/>
            </a:endParaRPr>
          </a:p>
          <a:p>
            <a:pPr marL="609600" indent="-609600" eaLnBrk="1" hangingPunct="1">
              <a:lnSpc>
                <a:spcPct val="150000"/>
              </a:lnSpc>
              <a:buFont typeface="Wingdings" panose="05000000000000000000" pitchFamily="2" charset="2"/>
              <a:buChar char="Ø"/>
            </a:pPr>
            <a:r>
              <a:rPr lang="zh-CN" altLang="en-US" sz="1800" dirty="0">
                <a:latin typeface="华文新魏" panose="02010800040101010101" pitchFamily="2" charset="-122"/>
                <a:ea typeface="华文新魏" panose="02010800040101010101" pitchFamily="2" charset="-122"/>
              </a:rPr>
              <a:t>与、或、非三种基本逻辑运算组合起来可以实现任何逻辑函数，称与、或、非运算三种逻辑运算构成了一个</a:t>
            </a:r>
            <a:r>
              <a:rPr lang="zh-CN" altLang="en-US" sz="1800" dirty="0">
                <a:solidFill>
                  <a:srgbClr val="FF0000"/>
                </a:solidFill>
                <a:latin typeface="华文新魏" panose="02010800040101010101" pitchFamily="2" charset="-122"/>
                <a:ea typeface="华文新魏" panose="02010800040101010101" pitchFamily="2" charset="-122"/>
              </a:rPr>
              <a:t>逻辑运算完备组</a:t>
            </a:r>
            <a:r>
              <a:rPr lang="zh-CN" altLang="en-US" sz="1800" dirty="0">
                <a:latin typeface="华文新魏" panose="02010800040101010101" pitchFamily="2" charset="-122"/>
                <a:ea typeface="华文新魏" panose="02010800040101010101" pitchFamily="2" charset="-122"/>
              </a:rPr>
              <a:t>；在实际应用中还会使用一些复合的逻辑运算，如</a:t>
            </a:r>
            <a:r>
              <a:rPr lang="zh-CN" altLang="en-US" sz="1800" u="sng" dirty="0">
                <a:latin typeface="华文新魏" panose="02010800040101010101" pitchFamily="2" charset="-122"/>
                <a:ea typeface="华文新魏" panose="02010800040101010101" pitchFamily="2" charset="-122"/>
              </a:rPr>
              <a:t>与非运算</a:t>
            </a:r>
            <a:r>
              <a:rPr lang="zh-CN" altLang="en-US" sz="1800" dirty="0">
                <a:latin typeface="华文新魏" panose="02010800040101010101" pitchFamily="2" charset="-122"/>
                <a:ea typeface="华文新魏" panose="02010800040101010101" pitchFamily="2" charset="-122"/>
              </a:rPr>
              <a:t>、</a:t>
            </a:r>
            <a:r>
              <a:rPr lang="zh-CN" altLang="en-US" sz="1800" u="sng" dirty="0">
                <a:latin typeface="华文新魏" panose="02010800040101010101" pitchFamily="2" charset="-122"/>
                <a:ea typeface="华文新魏" panose="02010800040101010101" pitchFamily="2" charset="-122"/>
              </a:rPr>
              <a:t>或非运算</a:t>
            </a:r>
            <a:r>
              <a:rPr lang="zh-CN" altLang="en-US" sz="1800" dirty="0">
                <a:latin typeface="华文新魏" panose="02010800040101010101" pitchFamily="2" charset="-122"/>
                <a:ea typeface="华文新魏" panose="02010800040101010101" pitchFamily="2" charset="-122"/>
              </a:rPr>
              <a:t>和</a:t>
            </a:r>
            <a:r>
              <a:rPr lang="zh-CN" altLang="en-US" sz="1800" u="sng" dirty="0">
                <a:latin typeface="华文新魏" panose="02010800040101010101" pitchFamily="2" charset="-122"/>
                <a:ea typeface="华文新魏" panose="02010800040101010101" pitchFamily="2" charset="-122"/>
              </a:rPr>
              <a:t>异或运算</a:t>
            </a:r>
            <a:r>
              <a:rPr lang="zh-CN" altLang="en-US" sz="1800" dirty="0">
                <a:latin typeface="华文新魏" panose="02010800040101010101" pitchFamily="2" charset="-122"/>
                <a:ea typeface="华文新魏" panose="02010800040101010101" pitchFamily="2" charset="-122"/>
              </a:rPr>
              <a:t>等。</a:t>
            </a:r>
            <a:endParaRPr lang="zh-CN" altLang="en-US" sz="1800" dirty="0">
              <a:latin typeface="华文新魏" panose="02010800040101010101" pitchFamily="2" charset="-122"/>
              <a:ea typeface="华文新魏" panose="02010800040101010101" pitchFamily="2" charset="-122"/>
            </a:endParaRPr>
          </a:p>
          <a:p>
            <a:pPr marL="609600" indent="-609600" eaLnBrk="1" hangingPunct="1">
              <a:lnSpc>
                <a:spcPct val="150000"/>
              </a:lnSpc>
              <a:buFont typeface="Wingdings" panose="05000000000000000000" pitchFamily="2" charset="2"/>
              <a:buChar char="Ø"/>
            </a:pPr>
            <a:r>
              <a:rPr lang="zh-CN" altLang="en-US" sz="1800" dirty="0">
                <a:latin typeface="华文新魏" panose="02010800040101010101" pitchFamily="2" charset="-122"/>
                <a:ea typeface="华文新魏" panose="02010800040101010101" pitchFamily="2" charset="-122"/>
              </a:rPr>
              <a:t>在逻辑电路方面与门、或门、非门三种基本逻辑运算</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门</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组合起来可以实现任何逻辑功能的逻辑电路，</a:t>
            </a:r>
            <a:r>
              <a:rPr lang="zh-CN" altLang="en-US" sz="1800" dirty="0">
                <a:solidFill>
                  <a:srgbClr val="FF0066"/>
                </a:solidFill>
                <a:latin typeface="华文新魏" panose="02010800040101010101" pitchFamily="2" charset="-122"/>
                <a:ea typeface="华文新魏" panose="02010800040101010101" pitchFamily="2" charset="-122"/>
              </a:rPr>
              <a:t>称此三</a:t>
            </a:r>
            <a:r>
              <a:rPr lang="zh-CN" altLang="en-US" sz="1800" dirty="0">
                <a:solidFill>
                  <a:srgbClr val="FF0066"/>
                </a:solidFill>
                <a:latin typeface="华文新魏" panose="02010800040101010101" pitchFamily="2" charset="-122"/>
                <a:ea typeface="华文新魏" panose="02010800040101010101" pitchFamily="2" charset="-122"/>
              </a:rPr>
              <a:t>种门构成了一个逻辑（电路）完备组；</a:t>
            </a:r>
            <a:endParaRPr lang="zh-CN" altLang="en-US" sz="1800" dirty="0">
              <a:solidFill>
                <a:srgbClr val="FF0066"/>
              </a:solidFill>
              <a:latin typeface="华文新魏" panose="02010800040101010101" pitchFamily="2" charset="-122"/>
              <a:ea typeface="华文新魏" panose="02010800040101010101" pitchFamily="2" charset="-122"/>
            </a:endParaRPr>
          </a:p>
          <a:p>
            <a:pPr marL="609600" indent="-609600" eaLnBrk="1" hangingPunct="1">
              <a:lnSpc>
                <a:spcPct val="150000"/>
              </a:lnSpc>
              <a:buFont typeface="Wingdings" panose="05000000000000000000" pitchFamily="2" charset="2"/>
              <a:buChar char="Ø"/>
            </a:pPr>
            <a:r>
              <a:rPr lang="zh-CN" altLang="en-US" sz="1800" dirty="0">
                <a:latin typeface="华文新魏" panose="02010800040101010101" pitchFamily="2" charset="-122"/>
                <a:ea typeface="华文新魏" panose="02010800040101010101" pitchFamily="2" charset="-122"/>
              </a:rPr>
              <a:t>若实现一个较复杂的逻辑功能，此电路中这三个门的使用情况如何？尤其在大规模集成电路快速发展的今天（</a:t>
            </a:r>
            <a:r>
              <a:rPr lang="zh-CN" altLang="en-US" sz="1800" dirty="0">
                <a:solidFill>
                  <a:srgbClr val="FF0000"/>
                </a:solidFill>
                <a:latin typeface="华文新魏" panose="02010800040101010101" pitchFamily="2" charset="-122"/>
                <a:ea typeface="华文新魏" panose="02010800040101010101" pitchFamily="2" charset="-122"/>
              </a:rPr>
              <a:t>与非门、或非门用得更广泛？</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marL="609600" indent="-609600" eaLnBrk="1" hangingPunct="1">
              <a:lnSpc>
                <a:spcPct val="150000"/>
              </a:lnSpc>
              <a:buNone/>
            </a:pPr>
            <a:r>
              <a:rPr lang="zh-CN" altLang="en-US" sz="1800" dirty="0">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与非门</a:t>
            </a:r>
            <a:r>
              <a:rPr lang="zh-CN" altLang="en-US" sz="1800" dirty="0">
                <a:latin typeface="华文新魏" panose="02010800040101010101" pitchFamily="2" charset="-122"/>
                <a:ea typeface="华文新魏" panose="02010800040101010101" pitchFamily="2" charset="-122"/>
              </a:rPr>
              <a:t>，或非门，与或非门，异或门，同或门）</a:t>
            </a:r>
            <a:endParaRPr lang="zh-CN" altLang="en-US" sz="1800" dirty="0">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48">
                                            <p:txEl>
                                              <p:pRg st="2" end="2"/>
                                            </p:txEl>
                                          </p:spTgt>
                                        </p:tgtEl>
                                        <p:attrNameLst>
                                          <p:attrName>style.visibility</p:attrName>
                                        </p:attrNameLst>
                                      </p:cBhvr>
                                      <p:to>
                                        <p:strVal val="visible"/>
                                      </p:to>
                                    </p:set>
                                    <p:animEffect transition="in" filter="blinds(horizontal)">
                                      <p:cBhvr>
                                        <p:cTn id="7" dur="500"/>
                                        <p:tgtEl>
                                          <p:spTgt spid="3174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748">
                                            <p:txEl>
                                              <p:pRg st="3" end="3"/>
                                            </p:txEl>
                                          </p:spTgt>
                                        </p:tgtEl>
                                        <p:attrNameLst>
                                          <p:attrName>style.visibility</p:attrName>
                                        </p:attrNameLst>
                                      </p:cBhvr>
                                      <p:to>
                                        <p:strVal val="visible"/>
                                      </p:to>
                                    </p:set>
                                    <p:animEffect transition="in" filter="blinds(horizontal)">
                                      <p:cBhvr>
                                        <p:cTn id="12" dur="500"/>
                                        <p:tgtEl>
                                          <p:spTgt spid="31748">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1748">
                                            <p:txEl>
                                              <p:pRg st="4" end="4"/>
                                            </p:txEl>
                                          </p:spTgt>
                                        </p:tgtEl>
                                        <p:attrNameLst>
                                          <p:attrName>style.visibility</p:attrName>
                                        </p:attrNameLst>
                                      </p:cBhvr>
                                      <p:to>
                                        <p:strVal val="visible"/>
                                      </p:to>
                                    </p:set>
                                    <p:animEffect transition="in" filter="blinds(horizontal)">
                                      <p:cBhvr>
                                        <p:cTn id="15" dur="500"/>
                                        <p:tgtEl>
                                          <p:spTgt spid="317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277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2772" name="Rectangle 3"/>
          <p:cNvSpPr>
            <a:spLocks noGrp="1"/>
          </p:cNvSpPr>
          <p:nvPr>
            <p:ph type="title"/>
          </p:nvPr>
        </p:nvSpPr>
        <p:spPr>
          <a:xfrm>
            <a:off x="609600" y="459105"/>
            <a:ext cx="8136255" cy="457200"/>
          </a:xfrm>
          <a:prstGeom prst="rect">
            <a:avLst/>
          </a:prstGeom>
          <a:noFill/>
          <a:ln w="9525">
            <a:noFill/>
          </a:ln>
        </p:spPr>
        <p:txBody>
          <a:bodyPr/>
          <a:p>
            <a:pPr eaLnBrk="1" hangingPunct="1">
              <a:lnSpc>
                <a:spcPct val="120000"/>
              </a:lnSpc>
            </a:pPr>
            <a:r>
              <a:rPr lang="zh-CN" altLang="en-US" sz="1800" b="1" dirty="0">
                <a:latin typeface="黑体" panose="02010609060101010101" pitchFamily="49" charset="-122"/>
                <a:ea typeface="黑体" panose="02010609060101010101" pitchFamily="49" charset="-122"/>
              </a:rPr>
              <a:t>①与非逻辑</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逻辑（代数）表达式为</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A · B · C</a:t>
            </a:r>
            <a:endParaRPr lang="en-US" altLang="zh-CN" sz="1800" b="1" dirty="0">
              <a:latin typeface="黑体" panose="02010609060101010101" pitchFamily="49" charset="-122"/>
              <a:ea typeface="黑体" panose="02010609060101010101" pitchFamily="49" charset="-122"/>
            </a:endParaRPr>
          </a:p>
        </p:txBody>
      </p:sp>
      <p:sp>
        <p:nvSpPr>
          <p:cNvPr id="32773" name="Line 5"/>
          <p:cNvSpPr/>
          <p:nvPr/>
        </p:nvSpPr>
        <p:spPr>
          <a:xfrm>
            <a:off x="5289550" y="519113"/>
            <a:ext cx="1295400" cy="0"/>
          </a:xfrm>
          <a:prstGeom prst="line">
            <a:avLst/>
          </a:prstGeom>
          <a:ln w="12700" cap="flat" cmpd="sng">
            <a:solidFill>
              <a:schemeClr val="tx1"/>
            </a:solidFill>
            <a:prstDash val="solid"/>
            <a:headEnd type="none" w="med" len="med"/>
            <a:tailEnd type="none" w="med" len="med"/>
          </a:ln>
        </p:spPr>
      </p:sp>
      <p:graphicFrame>
        <p:nvGraphicFramePr>
          <p:cNvPr id="31750" name="Group 6"/>
          <p:cNvGraphicFramePr>
            <a:graphicFrameLocks noGrp="1"/>
          </p:cNvGraphicFramePr>
          <p:nvPr/>
        </p:nvGraphicFramePr>
        <p:xfrm>
          <a:off x="838200" y="1901825"/>
          <a:ext cx="2362200" cy="2867025"/>
        </p:xfrm>
        <a:graphic>
          <a:graphicData uri="http://schemas.openxmlformats.org/drawingml/2006/table">
            <a:tbl>
              <a:tblPr/>
              <a:tblGrid>
                <a:gridCol w="1676400"/>
                <a:gridCol w="685800"/>
              </a:tblGrid>
              <a:tr h="3492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 B C</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777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0 0 0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0 0 1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0 1 0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0 1 1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1 0 0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1 0 1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1 1 0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1 1 1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pic>
        <p:nvPicPr>
          <p:cNvPr id="32785" name="Group 66"/>
          <p:cNvPicPr/>
          <p:nvPr/>
        </p:nvPicPr>
        <p:blipFill>
          <a:blip r:embed="rId1"/>
          <a:stretch>
            <a:fillRect/>
          </a:stretch>
        </p:blipFill>
        <p:spPr>
          <a:xfrm>
            <a:off x="3883025" y="1878013"/>
            <a:ext cx="4432300" cy="2187575"/>
          </a:xfrm>
          <a:prstGeom prst="rect">
            <a:avLst/>
          </a:prstGeom>
          <a:noFill/>
          <a:ln w="9525">
            <a:noFill/>
          </a:ln>
        </p:spPr>
      </p:pic>
      <p:sp>
        <p:nvSpPr>
          <p:cNvPr id="32786" name="Rectangle 63"/>
          <p:cNvSpPr>
            <a:spLocks noGrp="1"/>
          </p:cNvSpPr>
          <p:nvPr>
            <p:ph/>
          </p:nvPr>
        </p:nvSpPr>
        <p:spPr>
          <a:xfrm>
            <a:off x="323850" y="1314450"/>
            <a:ext cx="8286750" cy="571500"/>
          </a:xfrm>
          <a:prstGeom prst="rect">
            <a:avLst/>
          </a:prstGeom>
          <a:noFill/>
          <a:ln w="9525">
            <a:noFill/>
          </a:ln>
        </p:spPr>
        <p:txBody>
          <a:bodyPr/>
          <a:p>
            <a:pPr eaLnBrk="1" hangingPunct="1">
              <a:spcBef>
                <a:spcPct val="0"/>
              </a:spcBef>
              <a:buNone/>
            </a:pPr>
            <a:r>
              <a:rPr lang="en-US" altLang="zh-CN" sz="1800"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与非逻辑真值表                   与非门的逻辑符号</a:t>
            </a:r>
            <a:endParaRPr lang="zh-CN" altLang="en-US" sz="1800" b="1" dirty="0">
              <a:latin typeface="黑体" panose="02010609060101010101" pitchFamily="49" charset="-122"/>
              <a:ea typeface="黑体" panose="02010609060101010101" pitchFamily="49" charset="-122"/>
            </a:endParaRPr>
          </a:p>
        </p:txBody>
      </p:sp>
      <p:sp>
        <p:nvSpPr>
          <p:cNvPr id="32787" name="Line 20"/>
          <p:cNvSpPr/>
          <p:nvPr/>
        </p:nvSpPr>
        <p:spPr>
          <a:xfrm>
            <a:off x="4816475" y="2749550"/>
            <a:ext cx="431800" cy="0"/>
          </a:xfrm>
          <a:prstGeom prst="line">
            <a:avLst/>
          </a:prstGeom>
          <a:ln w="15875" cap="flat" cmpd="sng">
            <a:solidFill>
              <a:schemeClr val="tx1"/>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8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3796" name="Rectangle 2"/>
          <p:cNvSpPr>
            <a:spLocks noGrp="1"/>
          </p:cNvSpPr>
          <p:nvPr>
            <p:ph type="title"/>
          </p:nvPr>
        </p:nvSpPr>
        <p:spPr>
          <a:xfrm>
            <a:off x="328613" y="498475"/>
            <a:ext cx="7772400" cy="417513"/>
          </a:xfrm>
          <a:prstGeom prst="rect">
            <a:avLst/>
          </a:prstGeom>
          <a:noFill/>
          <a:ln w="9525">
            <a:noFill/>
          </a:ln>
        </p:spPr>
        <p:txBody>
          <a:bodyPr/>
          <a:p>
            <a:pPr eaLnBrk="1" hangingPunct="1"/>
            <a:r>
              <a:rPr lang="zh-CN" altLang="en-US" sz="1800" b="1" dirty="0">
                <a:latin typeface="方正黑体简体" panose="02000000000000000000" charset="-122"/>
                <a:ea typeface="方正黑体简体" panose="02000000000000000000" charset="-122"/>
              </a:rPr>
              <a:t>可以用</a:t>
            </a:r>
            <a:r>
              <a:rPr lang="zh-CN" altLang="en-US" sz="1800" b="1" dirty="0">
                <a:solidFill>
                  <a:srgbClr val="FF0000"/>
                </a:solidFill>
                <a:latin typeface="方正黑体简体" panose="02000000000000000000" charset="-122"/>
                <a:ea typeface="方正黑体简体" panose="02000000000000000000" charset="-122"/>
              </a:rPr>
              <a:t>与非门</a:t>
            </a:r>
            <a:r>
              <a:rPr lang="zh-CN" altLang="en-US" sz="1800" b="1" dirty="0">
                <a:latin typeface="方正黑体简体" panose="02000000000000000000" charset="-122"/>
                <a:ea typeface="方正黑体简体" panose="02000000000000000000" charset="-122"/>
              </a:rPr>
              <a:t>实现三种基本逻辑运算：</a:t>
            </a:r>
            <a:endParaRPr lang="zh-CN" altLang="en-US" sz="1800" b="1" dirty="0">
              <a:latin typeface="方正黑体简体" panose="02000000000000000000" charset="-122"/>
              <a:ea typeface="方正黑体简体" panose="02000000000000000000" charset="-122"/>
            </a:endParaRPr>
          </a:p>
        </p:txBody>
      </p:sp>
      <p:sp>
        <p:nvSpPr>
          <p:cNvPr id="33797" name="Rectangle 3"/>
          <p:cNvSpPr>
            <a:spLocks noGrp="1"/>
          </p:cNvSpPr>
          <p:nvPr>
            <p:ph/>
          </p:nvPr>
        </p:nvSpPr>
        <p:spPr>
          <a:xfrm>
            <a:off x="323850" y="954088"/>
            <a:ext cx="4891088" cy="322262"/>
          </a:xfrm>
          <a:prstGeom prst="rect">
            <a:avLst/>
          </a:prstGeom>
          <a:noFill/>
          <a:ln w="9525">
            <a:noFill/>
          </a:ln>
        </p:spPr>
        <p:txBody>
          <a:bodyPr/>
          <a:p>
            <a:pPr eaLnBrk="1" hangingPunct="1">
              <a:lnSpc>
                <a:spcPct val="8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 与运算    </a:t>
            </a:r>
            <a:r>
              <a:rPr lang="en-US" altLang="zh-CN" sz="1800" dirty="0">
                <a:latin typeface="黑体" panose="02010609060101010101" pitchFamily="49" charset="-122"/>
                <a:ea typeface="黑体" panose="02010609060101010101" pitchFamily="49" charset="-122"/>
              </a:rPr>
              <a:t>F1 = A·B=A · B</a:t>
            </a:r>
            <a:endParaRPr lang="en-US" altLang="zh-CN" sz="1800" dirty="0">
              <a:latin typeface="黑体" panose="02010609060101010101" pitchFamily="49" charset="-122"/>
              <a:ea typeface="黑体" panose="02010609060101010101" pitchFamily="49" charset="-122"/>
            </a:endParaRPr>
          </a:p>
        </p:txBody>
      </p:sp>
      <p:pic>
        <p:nvPicPr>
          <p:cNvPr id="33800" name="Group 114"/>
          <p:cNvPicPr/>
          <p:nvPr/>
        </p:nvPicPr>
        <p:blipFill>
          <a:blip r:embed="rId1"/>
          <a:stretch>
            <a:fillRect/>
          </a:stretch>
        </p:blipFill>
        <p:spPr>
          <a:xfrm>
            <a:off x="438150" y="1219200"/>
            <a:ext cx="4352925" cy="1212850"/>
          </a:xfrm>
          <a:prstGeom prst="rect">
            <a:avLst/>
          </a:prstGeom>
          <a:noFill/>
          <a:ln w="9525">
            <a:noFill/>
          </a:ln>
        </p:spPr>
      </p:pic>
      <p:pic>
        <p:nvPicPr>
          <p:cNvPr id="33801" name="Group 119"/>
          <p:cNvPicPr/>
          <p:nvPr/>
        </p:nvPicPr>
        <p:blipFill>
          <a:blip r:embed="rId2"/>
          <a:stretch>
            <a:fillRect/>
          </a:stretch>
        </p:blipFill>
        <p:spPr>
          <a:xfrm>
            <a:off x="4895850" y="854075"/>
            <a:ext cx="4168775" cy="1577975"/>
          </a:xfrm>
          <a:prstGeom prst="rect">
            <a:avLst/>
          </a:prstGeom>
          <a:noFill/>
          <a:ln w="9525">
            <a:noFill/>
          </a:ln>
        </p:spPr>
      </p:pic>
      <p:grpSp>
        <p:nvGrpSpPr>
          <p:cNvPr id="2" name="组合 1"/>
          <p:cNvGrpSpPr/>
          <p:nvPr/>
        </p:nvGrpSpPr>
        <p:grpSpPr>
          <a:xfrm>
            <a:off x="354330" y="2494915"/>
            <a:ext cx="8131175" cy="2603500"/>
            <a:chOff x="558" y="3929"/>
            <a:chExt cx="12805" cy="4100"/>
          </a:xfrm>
        </p:grpSpPr>
        <p:sp>
          <p:nvSpPr>
            <p:cNvPr id="33794" name="Rectangle 4"/>
            <p:cNvSpPr txBox="1">
              <a:spLocks noGrp="1"/>
            </p:cNvSpPr>
            <p:nvPr/>
          </p:nvSpPr>
          <p:spPr>
            <a:xfrm>
              <a:off x="990" y="7508"/>
              <a:ext cx="3240" cy="432"/>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pic>
          <p:nvPicPr>
            <p:cNvPr id="33799" name="Group 120"/>
            <p:cNvPicPr/>
            <p:nvPr/>
          </p:nvPicPr>
          <p:blipFill>
            <a:blip r:embed="rId3"/>
            <a:stretch>
              <a:fillRect/>
            </a:stretch>
          </p:blipFill>
          <p:spPr>
            <a:xfrm>
              <a:off x="558" y="3929"/>
              <a:ext cx="12805" cy="4100"/>
            </a:xfrm>
            <a:prstGeom prst="rect">
              <a:avLst/>
            </a:prstGeom>
            <a:noFill/>
            <a:ln w="9525">
              <a:noFill/>
            </a:ln>
          </p:spPr>
        </p:pic>
        <p:sp>
          <p:nvSpPr>
            <p:cNvPr id="33802" name="Line 101"/>
            <p:cNvSpPr/>
            <p:nvPr/>
          </p:nvSpPr>
          <p:spPr>
            <a:xfrm>
              <a:off x="3870" y="4141"/>
              <a:ext cx="2310" cy="0"/>
            </a:xfrm>
            <a:prstGeom prst="line">
              <a:avLst/>
            </a:prstGeom>
            <a:ln w="12700" cap="flat" cmpd="sng">
              <a:solidFill>
                <a:schemeClr val="tx1"/>
              </a:solidFill>
              <a:prstDash val="solid"/>
              <a:headEnd type="none" w="med" len="med"/>
              <a:tailEnd type="none" w="med" len="med"/>
            </a:ln>
          </p:spPr>
        </p:sp>
        <p:sp>
          <p:nvSpPr>
            <p:cNvPr id="33803" name="Line 101"/>
            <p:cNvSpPr/>
            <p:nvPr/>
          </p:nvSpPr>
          <p:spPr>
            <a:xfrm>
              <a:off x="3923" y="4256"/>
              <a:ext cx="815" cy="0"/>
            </a:xfrm>
            <a:prstGeom prst="line">
              <a:avLst/>
            </a:prstGeom>
            <a:ln w="12700" cap="flat" cmpd="sng">
              <a:solidFill>
                <a:schemeClr val="tx1"/>
              </a:solidFill>
              <a:prstDash val="solid"/>
              <a:headEnd type="none" w="med" len="med"/>
              <a:tailEnd type="none" w="med" len="med"/>
            </a:ln>
          </p:spPr>
        </p:sp>
        <p:sp>
          <p:nvSpPr>
            <p:cNvPr id="33804" name="Line 101"/>
            <p:cNvSpPr/>
            <p:nvPr/>
          </p:nvSpPr>
          <p:spPr>
            <a:xfrm>
              <a:off x="5385" y="4259"/>
              <a:ext cx="815" cy="0"/>
            </a:xfrm>
            <a:prstGeom prst="line">
              <a:avLst/>
            </a:prstGeom>
            <a:ln w="12700" cap="flat" cmpd="sng">
              <a:solidFill>
                <a:schemeClr val="tx1"/>
              </a:solidFill>
              <a:prstDash val="solid"/>
              <a:headEnd type="none" w="med" len="med"/>
              <a:tailEnd type="none" w="med" len="med"/>
            </a:ln>
          </p:spPr>
        </p:sp>
        <p:sp>
          <p:nvSpPr>
            <p:cNvPr id="33805" name="Line 101"/>
            <p:cNvSpPr/>
            <p:nvPr/>
          </p:nvSpPr>
          <p:spPr>
            <a:xfrm flipV="1">
              <a:off x="7528" y="4141"/>
              <a:ext cx="1260" cy="15"/>
            </a:xfrm>
            <a:prstGeom prst="line">
              <a:avLst/>
            </a:prstGeom>
            <a:ln w="12700" cap="flat" cmpd="sng">
              <a:solidFill>
                <a:schemeClr val="tx1"/>
              </a:solidFill>
              <a:prstDash val="solid"/>
              <a:headEnd type="none" w="med" len="med"/>
              <a:tailEnd type="none" w="med" len="med"/>
            </a:ln>
          </p:spPr>
        </p:sp>
        <p:sp>
          <p:nvSpPr>
            <p:cNvPr id="33806" name="Line 118"/>
            <p:cNvSpPr/>
            <p:nvPr/>
          </p:nvSpPr>
          <p:spPr>
            <a:xfrm>
              <a:off x="7528" y="4256"/>
              <a:ext cx="327" cy="0"/>
            </a:xfrm>
            <a:prstGeom prst="line">
              <a:avLst/>
            </a:prstGeom>
            <a:ln w="12700" cap="flat" cmpd="sng">
              <a:solidFill>
                <a:schemeClr val="tx1"/>
              </a:solidFill>
              <a:prstDash val="solid"/>
              <a:headEnd type="none" w="med" len="med"/>
              <a:tailEnd type="none" w="med" len="med"/>
            </a:ln>
          </p:spPr>
        </p:sp>
        <p:sp>
          <p:nvSpPr>
            <p:cNvPr id="33807" name="Line 118"/>
            <p:cNvSpPr/>
            <p:nvPr/>
          </p:nvSpPr>
          <p:spPr>
            <a:xfrm>
              <a:off x="8425" y="4244"/>
              <a:ext cx="325" cy="0"/>
            </a:xfrm>
            <a:prstGeom prst="line">
              <a:avLst/>
            </a:prstGeom>
            <a:ln w="12700" cap="flat" cmpd="sng">
              <a:solidFill>
                <a:schemeClr val="tx1"/>
              </a:solidFill>
              <a:prstDash val="solid"/>
              <a:headEnd type="none" w="med" len="med"/>
              <a:tailEnd type="none" w="med" len="med"/>
            </a:ln>
          </p:spPr>
        </p:sp>
      </p:grpSp>
      <p:pic>
        <p:nvPicPr>
          <p:cNvPr id="32786" name="Picture 75" descr="d3d3LjgzOGR6LmNvbS9kL2ZpbGUvYWQvUENCLzIwMDktMDYtMjAvMDQwYzEwYjNkZWUxMDkzZTA3NmQxZWM1ZTM2YWUwYmMuanBn"/>
          <p:cNvPicPr>
            <a:picLocks noChangeAspect="1"/>
          </p:cNvPicPr>
          <p:nvPr/>
        </p:nvPicPr>
        <p:blipFill>
          <a:blip r:embed="rId4"/>
          <a:stretch>
            <a:fillRect/>
          </a:stretch>
        </p:blipFill>
        <p:spPr>
          <a:xfrm>
            <a:off x="6228080" y="3067685"/>
            <a:ext cx="2771775" cy="2059305"/>
          </a:xfrm>
          <a:prstGeom prst="rect">
            <a:avLst/>
          </a:prstGeom>
          <a:noFill/>
          <a:ln w="9525">
            <a:noFill/>
          </a:ln>
        </p:spPr>
      </p:pic>
      <p:sp>
        <p:nvSpPr>
          <p:cNvPr id="29713" name="Line 18"/>
          <p:cNvSpPr>
            <a:spLocks noChangeShapeType="1"/>
          </p:cNvSpPr>
          <p:nvPr/>
        </p:nvSpPr>
        <p:spPr bwMode="auto">
          <a:xfrm>
            <a:off x="2411413" y="915988"/>
            <a:ext cx="504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9714" name="Line 19"/>
          <p:cNvSpPr>
            <a:spLocks noChangeShapeType="1"/>
          </p:cNvSpPr>
          <p:nvPr/>
        </p:nvSpPr>
        <p:spPr bwMode="auto">
          <a:xfrm>
            <a:off x="2411413" y="987425"/>
            <a:ext cx="504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2786"/>
                                        </p:tgtEl>
                                        <p:attrNameLst>
                                          <p:attrName>style.visibility</p:attrName>
                                        </p:attrNameLst>
                                      </p:cBhvr>
                                      <p:to>
                                        <p:strVal val="visible"/>
                                      </p:to>
                                    </p:set>
                                    <p:animEffect transition="in" filter="checkerboard(across)">
                                      <p:cBhvr>
                                        <p:cTn id="7" dur="500"/>
                                        <p:tgtEl>
                                          <p:spTgt spid="32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4819" name="Rectangle 6"/>
          <p:cNvSpPr txBox="1">
            <a:spLocks noGrp="1"/>
          </p:cNvSpPr>
          <p:nvPr/>
        </p:nvSpPr>
        <p:spPr>
          <a:xfrm>
            <a:off x="6467475"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4820" name="Rectangle 3"/>
          <p:cNvSpPr>
            <a:spLocks noGrp="1"/>
          </p:cNvSpPr>
          <p:nvPr>
            <p:ph type="title"/>
          </p:nvPr>
        </p:nvSpPr>
        <p:spPr>
          <a:xfrm>
            <a:off x="609600" y="504825"/>
            <a:ext cx="7772400" cy="914400"/>
          </a:xfrm>
          <a:prstGeom prst="rect">
            <a:avLst/>
          </a:prstGeom>
          <a:noFill/>
          <a:ln w="9525">
            <a:noFill/>
          </a:ln>
        </p:spPr>
        <p:txBody>
          <a:bodyPr/>
          <a:p>
            <a:pPr eaLnBrk="1" hangingPunct="1">
              <a:lnSpc>
                <a:spcPct val="120000"/>
              </a:lnSpc>
            </a:pPr>
            <a:r>
              <a:rPr lang="en-US" altLang="zh-CN" sz="1800" b="1" dirty="0">
                <a:latin typeface="黑体" panose="02010609060101010101" pitchFamily="49" charset="-122"/>
                <a:ea typeface="黑体" panose="02010609060101010101" pitchFamily="49" charset="-122"/>
              </a:rPr>
              <a:t>②</a:t>
            </a:r>
            <a:r>
              <a:rPr lang="zh-CN" altLang="en-US" sz="1800" b="1" dirty="0">
                <a:latin typeface="黑体" panose="02010609060101010101" pitchFamily="49" charset="-122"/>
                <a:ea typeface="黑体" panose="02010609060101010101" pitchFamily="49" charset="-122"/>
              </a:rPr>
              <a:t>或非逻辑</a:t>
            </a:r>
            <a:r>
              <a:rPr lang="en-US" altLang="zh-CN" sz="1800" b="1" dirty="0">
                <a:latin typeface="黑体" panose="02010609060101010101" pitchFamily="49" charset="-122"/>
                <a:ea typeface="黑体" panose="02010609060101010101" pitchFamily="49" charset="-122"/>
              </a:rPr>
              <a:t>(NOR)</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逻辑表达式为</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A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B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C</a:t>
            </a:r>
            <a:endParaRPr lang="en-US" altLang="zh-CN" sz="1800" b="1" dirty="0">
              <a:latin typeface="黑体" panose="02010609060101010101" pitchFamily="49" charset="-122"/>
              <a:ea typeface="黑体" panose="02010609060101010101" pitchFamily="49" charset="-122"/>
            </a:endParaRPr>
          </a:p>
        </p:txBody>
      </p:sp>
      <p:sp>
        <p:nvSpPr>
          <p:cNvPr id="34821" name="Line 4"/>
          <p:cNvSpPr/>
          <p:nvPr/>
        </p:nvSpPr>
        <p:spPr>
          <a:xfrm>
            <a:off x="3732213" y="915988"/>
            <a:ext cx="1416050" cy="0"/>
          </a:xfrm>
          <a:prstGeom prst="line">
            <a:avLst/>
          </a:prstGeom>
          <a:ln w="12700" cap="flat" cmpd="sng">
            <a:solidFill>
              <a:schemeClr val="tx1"/>
            </a:solidFill>
            <a:prstDash val="solid"/>
            <a:headEnd type="none" w="med" len="med"/>
            <a:tailEnd type="none" w="med" len="med"/>
          </a:ln>
        </p:spPr>
      </p:sp>
      <p:graphicFrame>
        <p:nvGraphicFramePr>
          <p:cNvPr id="33798" name="Group 6"/>
          <p:cNvGraphicFramePr>
            <a:graphicFrameLocks noGrp="1"/>
          </p:cNvGraphicFramePr>
          <p:nvPr/>
        </p:nvGraphicFramePr>
        <p:xfrm>
          <a:off x="838200" y="1901825"/>
          <a:ext cx="2362200" cy="2867025"/>
        </p:xfrm>
        <a:graphic>
          <a:graphicData uri="http://schemas.openxmlformats.org/drawingml/2006/table">
            <a:tbl>
              <a:tblPr/>
              <a:tblGrid>
                <a:gridCol w="1676400"/>
                <a:gridCol w="685800"/>
              </a:tblGrid>
              <a:tr h="3492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 B C</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777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0 0 0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0 0 1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0 1 0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0 1 1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1 0 0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1 0 1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1 1 0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1 1 1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4833" name="Rectangle 42"/>
          <p:cNvSpPr>
            <a:spLocks noGrp="1"/>
          </p:cNvSpPr>
          <p:nvPr>
            <p:ph/>
          </p:nvPr>
        </p:nvSpPr>
        <p:spPr>
          <a:xfrm>
            <a:off x="827088" y="1314450"/>
            <a:ext cx="7561262" cy="457200"/>
          </a:xfrm>
          <a:prstGeom prst="rect">
            <a:avLst/>
          </a:prstGeom>
          <a:noFill/>
          <a:ln w="9525">
            <a:noFill/>
          </a:ln>
        </p:spPr>
        <p:txBody>
          <a:bodyPr/>
          <a:p>
            <a:pPr eaLnBrk="1" hangingPunct="1">
              <a:spcBef>
                <a:spcPct val="0"/>
              </a:spcBef>
              <a:buNone/>
            </a:pPr>
            <a:r>
              <a:rPr lang="zh-CN" altLang="en-US" sz="1800" dirty="0">
                <a:latin typeface="黑体" panose="02010609060101010101" pitchFamily="49" charset="-122"/>
                <a:ea typeface="黑体" panose="02010609060101010101" pitchFamily="49" charset="-122"/>
              </a:rPr>
              <a:t>或非逻辑真值表               或非门的逻辑符号</a:t>
            </a:r>
            <a:endParaRPr lang="zh-CN" altLang="en-US" sz="180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3779520" y="1901825"/>
            <a:ext cx="5126990" cy="2853690"/>
          </a:xfrm>
          <a:prstGeom prst="rect">
            <a:avLst/>
          </a:prstGeom>
        </p:spPr>
      </p:pic>
      <p:pic>
        <p:nvPicPr>
          <p:cNvPr id="3" name="图片 2"/>
          <p:cNvPicPr>
            <a:picLocks noChangeAspect="1"/>
          </p:cNvPicPr>
          <p:nvPr/>
        </p:nvPicPr>
        <p:blipFill>
          <a:blip r:embed="rId2"/>
          <a:stretch>
            <a:fillRect/>
          </a:stretch>
        </p:blipFill>
        <p:spPr>
          <a:xfrm>
            <a:off x="6299835" y="2860040"/>
            <a:ext cx="2170430" cy="1252220"/>
          </a:xfrm>
          <a:prstGeom prst="rect">
            <a:avLst/>
          </a:prstGeom>
        </p:spPr>
      </p:pic>
      <p:pic>
        <p:nvPicPr>
          <p:cNvPr id="7" name="图片 6"/>
          <p:cNvPicPr>
            <a:picLocks noChangeAspect="1"/>
          </p:cNvPicPr>
          <p:nvPr/>
        </p:nvPicPr>
        <p:blipFill>
          <a:blip r:embed="rId3"/>
          <a:stretch>
            <a:fillRect/>
          </a:stretch>
        </p:blipFill>
        <p:spPr>
          <a:xfrm>
            <a:off x="6516370" y="483235"/>
            <a:ext cx="2336800" cy="20764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584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5844" name="Rectangle 3"/>
          <p:cNvSpPr>
            <a:spLocks noGrp="1"/>
          </p:cNvSpPr>
          <p:nvPr>
            <p:ph type="title"/>
          </p:nvPr>
        </p:nvSpPr>
        <p:spPr>
          <a:xfrm>
            <a:off x="559435" y="473075"/>
            <a:ext cx="7746365" cy="514350"/>
          </a:xfrm>
          <a:prstGeom prst="rect">
            <a:avLst/>
          </a:prstGeom>
          <a:noFill/>
          <a:ln w="9525">
            <a:noFill/>
          </a:ln>
        </p:spPr>
        <p:txBody>
          <a:bodyPr/>
          <a:p>
            <a:pPr eaLnBrk="1" hangingPunct="1"/>
            <a:r>
              <a:rPr lang="zh-CN" altLang="en-US" sz="1800" b="1" dirty="0">
                <a:latin typeface="华文新魏" panose="02010800040101010101" pitchFamily="2" charset="-122"/>
                <a:ea typeface="华文新魏" panose="02010800040101010101" pitchFamily="2" charset="-122"/>
              </a:rPr>
              <a:t>可以用</a:t>
            </a:r>
            <a:r>
              <a:rPr lang="zh-CN" altLang="en-US" sz="1800" b="1" dirty="0">
                <a:solidFill>
                  <a:srgbClr val="FF0000"/>
                </a:solidFill>
                <a:latin typeface="华文新魏" panose="02010800040101010101" pitchFamily="2" charset="-122"/>
                <a:ea typeface="华文新魏" panose="02010800040101010101" pitchFamily="2" charset="-122"/>
              </a:rPr>
              <a:t>或非门</a:t>
            </a:r>
            <a:r>
              <a:rPr lang="zh-CN" altLang="en-US" sz="1800" b="1" dirty="0">
                <a:latin typeface="华文新魏" panose="02010800040101010101" pitchFamily="2" charset="-122"/>
                <a:ea typeface="华文新魏" panose="02010800040101010101" pitchFamily="2" charset="-122"/>
              </a:rPr>
              <a:t>实现三种基本运算：</a:t>
            </a:r>
            <a:endParaRPr lang="zh-CN" altLang="en-US" sz="1800" b="1" dirty="0">
              <a:latin typeface="华文新魏" panose="02010800040101010101" pitchFamily="2" charset="-122"/>
              <a:ea typeface="华文新魏" panose="02010800040101010101" pitchFamily="2" charset="-122"/>
            </a:endParaRPr>
          </a:p>
        </p:txBody>
      </p:sp>
      <p:sp>
        <p:nvSpPr>
          <p:cNvPr id="35845" name="Rectangle 4"/>
          <p:cNvSpPr>
            <a:spLocks noGrp="1"/>
          </p:cNvSpPr>
          <p:nvPr>
            <p:ph/>
          </p:nvPr>
        </p:nvSpPr>
        <p:spPr>
          <a:xfrm>
            <a:off x="762000" y="3335338"/>
            <a:ext cx="4648200" cy="457200"/>
          </a:xfrm>
          <a:prstGeom prst="rect">
            <a:avLst/>
          </a:prstGeom>
          <a:noFill/>
          <a:ln w="9525">
            <a:noFill/>
          </a:ln>
        </p:spPr>
        <p:txBody>
          <a:bodyPr/>
          <a:p>
            <a:pPr eaLnBrk="1" hangingPunct="1">
              <a:lnSpc>
                <a:spcPct val="80000"/>
              </a:lnSpc>
              <a:buFont typeface="Wingdings" panose="05000000000000000000" pitchFamily="2" charset="2"/>
              <a:buChar char="l"/>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或运算  </a:t>
            </a:r>
            <a:r>
              <a:rPr lang="en-US" altLang="zh-CN" sz="1800" dirty="0">
                <a:latin typeface="华文新魏" panose="02010800040101010101" pitchFamily="2" charset="-122"/>
                <a:ea typeface="华文新魏" panose="02010800040101010101" pitchFamily="2" charset="-122"/>
              </a:rPr>
              <a:t>F2 = A</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endParaRPr lang="en-US" altLang="zh-CN" sz="1800" dirty="0">
              <a:latin typeface="华文新魏" panose="02010800040101010101" pitchFamily="2" charset="-122"/>
              <a:ea typeface="华文新魏" panose="02010800040101010101" pitchFamily="2" charset="-122"/>
            </a:endParaRPr>
          </a:p>
        </p:txBody>
      </p:sp>
      <p:pic>
        <p:nvPicPr>
          <p:cNvPr id="35846" name="Group 87"/>
          <p:cNvPicPr/>
          <p:nvPr/>
        </p:nvPicPr>
        <p:blipFill>
          <a:blip r:embed="rId1"/>
          <a:stretch>
            <a:fillRect/>
          </a:stretch>
        </p:blipFill>
        <p:spPr>
          <a:xfrm>
            <a:off x="5175250" y="3249613"/>
            <a:ext cx="3895725" cy="1577975"/>
          </a:xfrm>
          <a:prstGeom prst="rect">
            <a:avLst/>
          </a:prstGeom>
          <a:noFill/>
          <a:ln w="9525">
            <a:noFill/>
          </a:ln>
        </p:spPr>
      </p:pic>
      <p:grpSp>
        <p:nvGrpSpPr>
          <p:cNvPr id="35847" name="Group 5"/>
          <p:cNvGrpSpPr/>
          <p:nvPr/>
        </p:nvGrpSpPr>
        <p:grpSpPr>
          <a:xfrm>
            <a:off x="3200400" y="3086100"/>
            <a:ext cx="838200" cy="57150"/>
            <a:chOff x="0" y="0"/>
            <a:chExt cx="336" cy="48"/>
          </a:xfrm>
        </p:grpSpPr>
        <p:sp>
          <p:nvSpPr>
            <p:cNvPr id="35898" name="Line 6"/>
            <p:cNvSpPr/>
            <p:nvPr/>
          </p:nvSpPr>
          <p:spPr>
            <a:xfrm>
              <a:off x="0" y="48"/>
              <a:ext cx="336" cy="0"/>
            </a:xfrm>
            <a:prstGeom prst="line">
              <a:avLst/>
            </a:prstGeom>
            <a:ln w="9525" cap="flat" cmpd="sng">
              <a:solidFill>
                <a:srgbClr val="FFFFFF"/>
              </a:solidFill>
              <a:prstDash val="solid"/>
              <a:headEnd type="none" w="med" len="med"/>
              <a:tailEnd type="none" w="med" len="med"/>
            </a:ln>
          </p:spPr>
        </p:sp>
        <p:sp>
          <p:nvSpPr>
            <p:cNvPr id="35899" name="Line 7"/>
            <p:cNvSpPr/>
            <p:nvPr/>
          </p:nvSpPr>
          <p:spPr>
            <a:xfrm>
              <a:off x="0" y="0"/>
              <a:ext cx="336" cy="0"/>
            </a:xfrm>
            <a:prstGeom prst="line">
              <a:avLst/>
            </a:prstGeom>
            <a:ln w="9525" cap="flat" cmpd="sng">
              <a:solidFill>
                <a:srgbClr val="FFFFFF"/>
              </a:solidFill>
              <a:prstDash val="solid"/>
              <a:headEnd type="none" w="med" len="med"/>
              <a:tailEnd type="none" w="med" len="med"/>
            </a:ln>
          </p:spPr>
        </p:sp>
      </p:grpSp>
      <p:sp>
        <p:nvSpPr>
          <p:cNvPr id="35848" name="Rectangle 9"/>
          <p:cNvSpPr/>
          <p:nvPr/>
        </p:nvSpPr>
        <p:spPr>
          <a:xfrm>
            <a:off x="457200" y="1085850"/>
            <a:ext cx="4800600" cy="21717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49" name="AutoShape 10"/>
          <p:cNvSpPr/>
          <p:nvPr/>
        </p:nvSpPr>
        <p:spPr>
          <a:xfrm>
            <a:off x="3290888" y="1714500"/>
            <a:ext cx="685800" cy="85725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0" name="Oval 12"/>
          <p:cNvSpPr/>
          <p:nvPr/>
        </p:nvSpPr>
        <p:spPr>
          <a:xfrm>
            <a:off x="2289175" y="1635125"/>
            <a:ext cx="122238" cy="92075"/>
          </a:xfrm>
          <a:prstGeom prst="ellipse">
            <a:avLst/>
          </a:prstGeom>
          <a:noFill/>
          <a:ln w="381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1" name="Line 13"/>
          <p:cNvSpPr/>
          <p:nvPr/>
        </p:nvSpPr>
        <p:spPr>
          <a:xfrm>
            <a:off x="1204913" y="1497013"/>
            <a:ext cx="417512" cy="0"/>
          </a:xfrm>
          <a:prstGeom prst="line">
            <a:avLst/>
          </a:prstGeom>
          <a:ln w="28575" cap="flat" cmpd="sng">
            <a:solidFill>
              <a:schemeClr val="tx1"/>
            </a:solidFill>
            <a:prstDash val="solid"/>
            <a:headEnd type="none" w="med" len="med"/>
            <a:tailEnd type="none" w="med" len="med"/>
          </a:ln>
        </p:spPr>
      </p:sp>
      <p:sp>
        <p:nvSpPr>
          <p:cNvPr id="35852" name="Line 14"/>
          <p:cNvSpPr/>
          <p:nvPr/>
        </p:nvSpPr>
        <p:spPr>
          <a:xfrm flipV="1">
            <a:off x="4086225" y="2114550"/>
            <a:ext cx="485775" cy="12700"/>
          </a:xfrm>
          <a:prstGeom prst="line">
            <a:avLst/>
          </a:prstGeom>
          <a:ln w="28575" cap="flat" cmpd="sng">
            <a:solidFill>
              <a:schemeClr val="tx1"/>
            </a:solidFill>
            <a:prstDash val="solid"/>
            <a:headEnd type="none" w="med" len="med"/>
            <a:tailEnd type="none" w="med" len="med"/>
          </a:ln>
        </p:spPr>
      </p:sp>
      <p:sp>
        <p:nvSpPr>
          <p:cNvPr id="35853" name="Text Box 15"/>
          <p:cNvSpPr txBox="1"/>
          <p:nvPr/>
        </p:nvSpPr>
        <p:spPr>
          <a:xfrm>
            <a:off x="685800" y="1257300"/>
            <a:ext cx="5334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5854" name="Text Box 16"/>
          <p:cNvSpPr txBox="1"/>
          <p:nvPr/>
        </p:nvSpPr>
        <p:spPr>
          <a:xfrm>
            <a:off x="4657725" y="1943100"/>
            <a:ext cx="395288" cy="366713"/>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F1</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5855" name="Oval 17"/>
          <p:cNvSpPr/>
          <p:nvPr/>
        </p:nvSpPr>
        <p:spPr>
          <a:xfrm>
            <a:off x="3976688" y="2085975"/>
            <a:ext cx="122237" cy="92075"/>
          </a:xfrm>
          <a:prstGeom prst="ellipse">
            <a:avLst/>
          </a:prstGeom>
          <a:noFill/>
          <a:ln w="381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6" name="Text Box 18"/>
          <p:cNvSpPr txBox="1"/>
          <p:nvPr/>
        </p:nvSpPr>
        <p:spPr>
          <a:xfrm>
            <a:off x="685800" y="22971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5857" name="Line 19"/>
          <p:cNvSpPr/>
          <p:nvPr/>
        </p:nvSpPr>
        <p:spPr>
          <a:xfrm>
            <a:off x="1204913" y="1885950"/>
            <a:ext cx="417512" cy="0"/>
          </a:xfrm>
          <a:prstGeom prst="line">
            <a:avLst/>
          </a:prstGeom>
          <a:ln w="28575" cap="flat" cmpd="sng">
            <a:solidFill>
              <a:schemeClr val="tx1"/>
            </a:solidFill>
            <a:prstDash val="solid"/>
            <a:headEnd type="none" w="med" len="med"/>
            <a:tailEnd type="none" w="med" len="med"/>
          </a:ln>
        </p:spPr>
      </p:sp>
      <p:sp>
        <p:nvSpPr>
          <p:cNvPr id="35858" name="AutoShape 20"/>
          <p:cNvSpPr/>
          <p:nvPr/>
        </p:nvSpPr>
        <p:spPr>
          <a:xfrm>
            <a:off x="1622425" y="1257300"/>
            <a:ext cx="685800" cy="85725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9" name="Text Box 21"/>
          <p:cNvSpPr txBox="1"/>
          <p:nvPr/>
        </p:nvSpPr>
        <p:spPr>
          <a:xfrm>
            <a:off x="1676400" y="1508125"/>
            <a:ext cx="503238" cy="366713"/>
          </a:xfrm>
          <a:prstGeom prst="rect">
            <a:avLst/>
          </a:prstGeom>
          <a:noFill/>
          <a:ln w="9525">
            <a:noFill/>
          </a:ln>
        </p:spPr>
        <p:txBody>
          <a:bodyPr wrap="none">
            <a:spAutoFit/>
          </a:bodyP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5860" name="Line 22"/>
          <p:cNvSpPr/>
          <p:nvPr/>
        </p:nvSpPr>
        <p:spPr>
          <a:xfrm>
            <a:off x="2397125" y="1671638"/>
            <a:ext cx="417513" cy="0"/>
          </a:xfrm>
          <a:prstGeom prst="line">
            <a:avLst/>
          </a:prstGeom>
          <a:ln w="28575" cap="flat" cmpd="sng">
            <a:solidFill>
              <a:schemeClr val="tx1"/>
            </a:solidFill>
            <a:prstDash val="solid"/>
            <a:headEnd type="none" w="med" len="med"/>
            <a:tailEnd type="none" w="med" len="med"/>
          </a:ln>
        </p:spPr>
      </p:sp>
      <p:sp>
        <p:nvSpPr>
          <p:cNvPr id="35861" name="Oval 23"/>
          <p:cNvSpPr/>
          <p:nvPr/>
        </p:nvSpPr>
        <p:spPr>
          <a:xfrm>
            <a:off x="2293938" y="2606675"/>
            <a:ext cx="122237" cy="92075"/>
          </a:xfrm>
          <a:prstGeom prst="ellipse">
            <a:avLst/>
          </a:prstGeom>
          <a:noFill/>
          <a:ln w="381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62" name="AutoShape 24"/>
          <p:cNvSpPr/>
          <p:nvPr/>
        </p:nvSpPr>
        <p:spPr>
          <a:xfrm>
            <a:off x="1627188" y="2228850"/>
            <a:ext cx="685800" cy="85725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63" name="Line 26"/>
          <p:cNvSpPr/>
          <p:nvPr/>
        </p:nvSpPr>
        <p:spPr>
          <a:xfrm>
            <a:off x="2401888" y="2643188"/>
            <a:ext cx="417512" cy="0"/>
          </a:xfrm>
          <a:prstGeom prst="line">
            <a:avLst/>
          </a:prstGeom>
          <a:ln w="28575" cap="flat" cmpd="sng">
            <a:solidFill>
              <a:schemeClr val="tx1"/>
            </a:solidFill>
            <a:prstDash val="solid"/>
            <a:headEnd type="none" w="med" len="med"/>
            <a:tailEnd type="none" w="med" len="med"/>
          </a:ln>
        </p:spPr>
      </p:sp>
      <p:sp>
        <p:nvSpPr>
          <p:cNvPr id="35864" name="Line 27"/>
          <p:cNvSpPr/>
          <p:nvPr/>
        </p:nvSpPr>
        <p:spPr>
          <a:xfrm>
            <a:off x="2819400" y="1657350"/>
            <a:ext cx="0" cy="342900"/>
          </a:xfrm>
          <a:prstGeom prst="line">
            <a:avLst/>
          </a:prstGeom>
          <a:ln w="38100" cap="flat" cmpd="sng">
            <a:solidFill>
              <a:schemeClr val="tx1"/>
            </a:solidFill>
            <a:prstDash val="solid"/>
            <a:headEnd type="none" w="med" len="med"/>
            <a:tailEnd type="none" w="med" len="med"/>
          </a:ln>
        </p:spPr>
      </p:sp>
      <p:sp>
        <p:nvSpPr>
          <p:cNvPr id="35865" name="Line 28"/>
          <p:cNvSpPr/>
          <p:nvPr/>
        </p:nvSpPr>
        <p:spPr>
          <a:xfrm>
            <a:off x="2819400" y="2286000"/>
            <a:ext cx="0" cy="342900"/>
          </a:xfrm>
          <a:prstGeom prst="line">
            <a:avLst/>
          </a:prstGeom>
          <a:ln w="38100" cap="flat" cmpd="sng">
            <a:solidFill>
              <a:schemeClr val="tx1"/>
            </a:solidFill>
            <a:prstDash val="solid"/>
            <a:headEnd type="none" w="med" len="med"/>
            <a:tailEnd type="none" w="med" len="med"/>
          </a:ln>
        </p:spPr>
      </p:sp>
      <p:sp>
        <p:nvSpPr>
          <p:cNvPr id="35866" name="Line 29"/>
          <p:cNvSpPr/>
          <p:nvPr/>
        </p:nvSpPr>
        <p:spPr>
          <a:xfrm>
            <a:off x="2819400" y="2000250"/>
            <a:ext cx="457200" cy="0"/>
          </a:xfrm>
          <a:prstGeom prst="line">
            <a:avLst/>
          </a:prstGeom>
          <a:ln w="38100" cap="flat" cmpd="sng">
            <a:solidFill>
              <a:schemeClr val="tx1"/>
            </a:solidFill>
            <a:prstDash val="solid"/>
            <a:headEnd type="none" w="med" len="med"/>
            <a:tailEnd type="none" w="med" len="med"/>
          </a:ln>
        </p:spPr>
      </p:sp>
      <p:sp>
        <p:nvSpPr>
          <p:cNvPr id="35867" name="Line 30"/>
          <p:cNvSpPr/>
          <p:nvPr/>
        </p:nvSpPr>
        <p:spPr>
          <a:xfrm>
            <a:off x="2819400" y="2286000"/>
            <a:ext cx="457200" cy="0"/>
          </a:xfrm>
          <a:prstGeom prst="line">
            <a:avLst/>
          </a:prstGeom>
          <a:ln w="38100" cap="flat" cmpd="sng">
            <a:solidFill>
              <a:schemeClr val="tx1"/>
            </a:solidFill>
            <a:prstDash val="solid"/>
            <a:headEnd type="none" w="med" len="med"/>
            <a:tailEnd type="none" w="med" len="med"/>
          </a:ln>
        </p:spPr>
      </p:sp>
      <p:sp>
        <p:nvSpPr>
          <p:cNvPr id="35868" name="Line 31"/>
          <p:cNvSpPr/>
          <p:nvPr/>
        </p:nvSpPr>
        <p:spPr>
          <a:xfrm>
            <a:off x="1200150" y="1485900"/>
            <a:ext cx="0" cy="400050"/>
          </a:xfrm>
          <a:prstGeom prst="line">
            <a:avLst/>
          </a:prstGeom>
          <a:ln w="38100" cap="flat" cmpd="sng">
            <a:solidFill>
              <a:schemeClr val="tx1"/>
            </a:solidFill>
            <a:prstDash val="solid"/>
            <a:headEnd type="none" w="med" len="med"/>
            <a:tailEnd type="none" w="med" len="med"/>
          </a:ln>
        </p:spPr>
      </p:sp>
      <p:sp>
        <p:nvSpPr>
          <p:cNvPr id="35869" name="Line 32"/>
          <p:cNvSpPr/>
          <p:nvPr/>
        </p:nvSpPr>
        <p:spPr>
          <a:xfrm>
            <a:off x="1182688" y="2468563"/>
            <a:ext cx="417512" cy="0"/>
          </a:xfrm>
          <a:prstGeom prst="line">
            <a:avLst/>
          </a:prstGeom>
          <a:ln w="28575" cap="flat" cmpd="sng">
            <a:solidFill>
              <a:schemeClr val="tx1"/>
            </a:solidFill>
            <a:prstDash val="solid"/>
            <a:headEnd type="none" w="med" len="med"/>
            <a:tailEnd type="none" w="med" len="med"/>
          </a:ln>
        </p:spPr>
      </p:sp>
      <p:sp>
        <p:nvSpPr>
          <p:cNvPr id="35870" name="Line 33"/>
          <p:cNvSpPr/>
          <p:nvPr/>
        </p:nvSpPr>
        <p:spPr>
          <a:xfrm>
            <a:off x="1182688" y="2857500"/>
            <a:ext cx="417512" cy="0"/>
          </a:xfrm>
          <a:prstGeom prst="line">
            <a:avLst/>
          </a:prstGeom>
          <a:ln w="28575" cap="flat" cmpd="sng">
            <a:solidFill>
              <a:schemeClr val="tx1"/>
            </a:solidFill>
            <a:prstDash val="solid"/>
            <a:headEnd type="none" w="med" len="med"/>
            <a:tailEnd type="none" w="med" len="med"/>
          </a:ln>
        </p:spPr>
      </p:sp>
      <p:sp>
        <p:nvSpPr>
          <p:cNvPr id="35871" name="Line 34"/>
          <p:cNvSpPr/>
          <p:nvPr/>
        </p:nvSpPr>
        <p:spPr>
          <a:xfrm>
            <a:off x="1177925" y="2457450"/>
            <a:ext cx="0" cy="400050"/>
          </a:xfrm>
          <a:prstGeom prst="line">
            <a:avLst/>
          </a:prstGeom>
          <a:ln w="38100" cap="flat" cmpd="sng">
            <a:solidFill>
              <a:schemeClr val="tx1"/>
            </a:solidFill>
            <a:prstDash val="solid"/>
            <a:headEnd type="none" w="med" len="med"/>
            <a:tailEnd type="none" w="med" len="med"/>
          </a:ln>
        </p:spPr>
      </p:sp>
      <p:sp>
        <p:nvSpPr>
          <p:cNvPr id="35872" name="Line 35"/>
          <p:cNvSpPr/>
          <p:nvPr/>
        </p:nvSpPr>
        <p:spPr>
          <a:xfrm flipH="1">
            <a:off x="762000" y="1685925"/>
            <a:ext cx="457200" cy="0"/>
          </a:xfrm>
          <a:prstGeom prst="line">
            <a:avLst/>
          </a:prstGeom>
          <a:ln w="38100" cap="flat" cmpd="sng">
            <a:solidFill>
              <a:schemeClr val="tx1"/>
            </a:solidFill>
            <a:prstDash val="solid"/>
            <a:headEnd type="none" w="med" len="med"/>
            <a:tailEnd type="none" w="med" len="med"/>
          </a:ln>
        </p:spPr>
      </p:sp>
      <p:sp>
        <p:nvSpPr>
          <p:cNvPr id="35873" name="Line 36"/>
          <p:cNvSpPr/>
          <p:nvPr/>
        </p:nvSpPr>
        <p:spPr>
          <a:xfrm flipH="1">
            <a:off x="742950" y="2671763"/>
            <a:ext cx="457200" cy="0"/>
          </a:xfrm>
          <a:prstGeom prst="line">
            <a:avLst/>
          </a:prstGeom>
          <a:ln w="38100" cap="flat" cmpd="sng">
            <a:solidFill>
              <a:schemeClr val="tx1"/>
            </a:solidFill>
            <a:prstDash val="solid"/>
            <a:headEnd type="none" w="med" len="med"/>
            <a:tailEnd type="none" w="med" len="med"/>
          </a:ln>
        </p:spPr>
      </p:sp>
      <p:sp>
        <p:nvSpPr>
          <p:cNvPr id="35874" name="Text Box 81"/>
          <p:cNvSpPr txBox="1"/>
          <p:nvPr/>
        </p:nvSpPr>
        <p:spPr>
          <a:xfrm>
            <a:off x="1676400" y="2479675"/>
            <a:ext cx="503238" cy="366713"/>
          </a:xfrm>
          <a:prstGeom prst="rect">
            <a:avLst/>
          </a:prstGeom>
          <a:noFill/>
          <a:ln w="9525">
            <a:noFill/>
          </a:ln>
        </p:spPr>
        <p:txBody>
          <a:bodyPr wrap="none">
            <a:spAutoFit/>
          </a:bodyP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5875" name="Text Box 82"/>
          <p:cNvSpPr txBox="1"/>
          <p:nvPr/>
        </p:nvSpPr>
        <p:spPr>
          <a:xfrm>
            <a:off x="3352800" y="1965325"/>
            <a:ext cx="503238" cy="366713"/>
          </a:xfrm>
          <a:prstGeom prst="rect">
            <a:avLst/>
          </a:prstGeom>
          <a:noFill/>
          <a:ln w="9525">
            <a:noFill/>
          </a:ln>
        </p:spPr>
        <p:txBody>
          <a:bodyPr wrap="none">
            <a:spAutoFit/>
          </a:bodyP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nvGrpSpPr>
          <p:cNvPr id="35876" name="Group 91"/>
          <p:cNvGrpSpPr/>
          <p:nvPr/>
        </p:nvGrpSpPr>
        <p:grpSpPr>
          <a:xfrm>
            <a:off x="685800" y="771525"/>
            <a:ext cx="7162800" cy="514350"/>
            <a:chOff x="0" y="0"/>
            <a:chExt cx="4512" cy="432"/>
          </a:xfrm>
        </p:grpSpPr>
        <p:sp>
          <p:nvSpPr>
            <p:cNvPr id="35891" name="Rectangle 37"/>
            <p:cNvSpPr/>
            <p:nvPr/>
          </p:nvSpPr>
          <p:spPr>
            <a:xfrm>
              <a:off x="0" y="48"/>
              <a:ext cx="4512" cy="384"/>
            </a:xfrm>
            <a:prstGeom prst="rect">
              <a:avLst/>
            </a:prstGeom>
            <a:noFill/>
            <a:ln w="9525">
              <a:noFill/>
            </a:ln>
          </p:spPr>
          <p:txBody>
            <a:bodyPr/>
            <a:p>
              <a:pPr marL="342900" indent="-342900" eaLnBrk="1" hangingPunct="1">
                <a:lnSpc>
                  <a:spcPct val="80000"/>
                </a:lnSpc>
                <a:spcBef>
                  <a:spcPct val="20000"/>
                </a:spcBef>
                <a:buFont typeface="Wingdings" panose="05000000000000000000" pitchFamily="2" charset="2"/>
                <a:buChar char="l"/>
              </a:pPr>
              <a:r>
                <a:rPr lang="zh-CN" altLang="en-US" sz="1800" dirty="0">
                  <a:solidFill>
                    <a:schemeClr val="tx1"/>
                  </a:solidFill>
                  <a:latin typeface="华文新魏" panose="02010800040101010101" pitchFamily="2" charset="-122"/>
                  <a:ea typeface="华文新魏" panose="02010800040101010101" pitchFamily="2" charset="-122"/>
                </a:rPr>
                <a:t> 与运算</a:t>
              </a:r>
              <a:r>
                <a:rPr lang="en-US" altLang="zh-CN" sz="1800" dirty="0">
                  <a:solidFill>
                    <a:schemeClr val="tx1"/>
                  </a:solidFill>
                  <a:latin typeface="华文新魏" panose="02010800040101010101" pitchFamily="2" charset="-122"/>
                  <a:ea typeface="华文新魏" panose="02010800040101010101" pitchFamily="2" charset="-122"/>
                </a:rPr>
                <a:t> F1 = A</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A</a:t>
              </a: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chemeClr val="tx1"/>
                  </a:solidFill>
                  <a:latin typeface="华文新魏" panose="02010800040101010101" pitchFamily="2" charset="-122"/>
                  <a:ea typeface="华文新魏" panose="02010800040101010101" pitchFamily="2" charset="-122"/>
                </a:rPr>
                <a:t>B</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B = A </a:t>
              </a:r>
              <a:r>
                <a:rPr lang="en-US" altLang="zh-CN" dirty="0">
                  <a:solidFill>
                    <a:schemeClr val="tx1"/>
                  </a:solidFill>
                  <a:latin typeface="Calibri" panose="020F0502020204030204" pitchFamily="34" charset="0"/>
                </a:rPr>
                <a:t>· </a:t>
              </a:r>
              <a:r>
                <a:rPr lang="en-US" altLang="zh-CN" sz="1800" dirty="0">
                  <a:solidFill>
                    <a:schemeClr val="tx1"/>
                  </a:solidFill>
                  <a:latin typeface="华文新魏" panose="02010800040101010101" pitchFamily="2" charset="-122"/>
                  <a:ea typeface="华文新魏" panose="02010800040101010101" pitchFamily="2" charset="-122"/>
                </a:rPr>
                <a:t>B = A</a:t>
              </a:r>
              <a:r>
                <a:rPr lang="en-US" altLang="zh-CN" sz="1800" dirty="0">
                  <a:solidFill>
                    <a:schemeClr val="tx1"/>
                  </a:solidFill>
                  <a:latin typeface="黑体" panose="02010609060101010101" pitchFamily="49"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5892" name="Line 38"/>
            <p:cNvSpPr/>
            <p:nvPr/>
          </p:nvSpPr>
          <p:spPr>
            <a:xfrm>
              <a:off x="1488" y="48"/>
              <a:ext cx="528" cy="0"/>
            </a:xfrm>
            <a:prstGeom prst="line">
              <a:avLst/>
            </a:prstGeom>
            <a:ln w="9525" cap="flat" cmpd="sng">
              <a:solidFill>
                <a:srgbClr val="FFFFFF"/>
              </a:solidFill>
              <a:prstDash val="solid"/>
              <a:headEnd type="none" w="med" len="med"/>
              <a:tailEnd type="none" w="med" len="med"/>
            </a:ln>
          </p:spPr>
        </p:sp>
        <p:sp>
          <p:nvSpPr>
            <p:cNvPr id="35893" name="Line 39"/>
            <p:cNvSpPr/>
            <p:nvPr/>
          </p:nvSpPr>
          <p:spPr>
            <a:xfrm>
              <a:off x="1488" y="0"/>
              <a:ext cx="1296" cy="0"/>
            </a:xfrm>
            <a:prstGeom prst="line">
              <a:avLst/>
            </a:prstGeom>
            <a:ln w="9525" cap="flat" cmpd="sng">
              <a:solidFill>
                <a:srgbClr val="FFFFFF"/>
              </a:solidFill>
              <a:prstDash val="solid"/>
              <a:headEnd type="none" w="med" len="med"/>
              <a:tailEnd type="none" w="med" len="med"/>
            </a:ln>
          </p:spPr>
        </p:sp>
        <p:sp>
          <p:nvSpPr>
            <p:cNvPr id="35894" name="Line 78"/>
            <p:cNvSpPr/>
            <p:nvPr/>
          </p:nvSpPr>
          <p:spPr>
            <a:xfrm>
              <a:off x="2244" y="48"/>
              <a:ext cx="528" cy="0"/>
            </a:xfrm>
            <a:prstGeom prst="line">
              <a:avLst/>
            </a:prstGeom>
            <a:ln w="9525" cap="flat" cmpd="sng">
              <a:solidFill>
                <a:srgbClr val="FFFFFF"/>
              </a:solidFill>
              <a:prstDash val="solid"/>
              <a:headEnd type="none" w="med" len="med"/>
              <a:tailEnd type="none" w="med" len="med"/>
            </a:ln>
          </p:spPr>
        </p:sp>
        <p:sp>
          <p:nvSpPr>
            <p:cNvPr id="35895" name="Line 79"/>
            <p:cNvSpPr/>
            <p:nvPr/>
          </p:nvSpPr>
          <p:spPr>
            <a:xfrm>
              <a:off x="3072" y="48"/>
              <a:ext cx="192" cy="0"/>
            </a:xfrm>
            <a:prstGeom prst="line">
              <a:avLst/>
            </a:prstGeom>
            <a:ln w="9525" cap="flat" cmpd="sng">
              <a:solidFill>
                <a:srgbClr val="FFFFFF"/>
              </a:solidFill>
              <a:prstDash val="solid"/>
              <a:headEnd type="none" w="med" len="med"/>
              <a:tailEnd type="none" w="med" len="med"/>
            </a:ln>
          </p:spPr>
        </p:sp>
        <p:sp>
          <p:nvSpPr>
            <p:cNvPr id="35896" name="Line 80"/>
            <p:cNvSpPr/>
            <p:nvPr/>
          </p:nvSpPr>
          <p:spPr>
            <a:xfrm>
              <a:off x="3072" y="0"/>
              <a:ext cx="528" cy="0"/>
            </a:xfrm>
            <a:prstGeom prst="line">
              <a:avLst/>
            </a:prstGeom>
            <a:ln w="9525" cap="flat" cmpd="sng">
              <a:solidFill>
                <a:srgbClr val="FFFFFF"/>
              </a:solidFill>
              <a:prstDash val="solid"/>
              <a:headEnd type="none" w="med" len="med"/>
              <a:tailEnd type="none" w="med" len="med"/>
            </a:ln>
          </p:spPr>
        </p:sp>
        <p:sp>
          <p:nvSpPr>
            <p:cNvPr id="35897" name="Line 84"/>
            <p:cNvSpPr/>
            <p:nvPr/>
          </p:nvSpPr>
          <p:spPr>
            <a:xfrm>
              <a:off x="3408" y="48"/>
              <a:ext cx="192" cy="0"/>
            </a:xfrm>
            <a:prstGeom prst="line">
              <a:avLst/>
            </a:prstGeom>
            <a:ln w="9525" cap="flat" cmpd="sng">
              <a:solidFill>
                <a:srgbClr val="FFFFFF"/>
              </a:solidFill>
              <a:prstDash val="solid"/>
              <a:headEnd type="none" w="med" len="med"/>
              <a:tailEnd type="none" w="med" len="med"/>
            </a:ln>
          </p:spPr>
        </p:sp>
      </p:grpSp>
      <p:pic>
        <p:nvPicPr>
          <p:cNvPr id="35877" name="Group 90"/>
          <p:cNvPicPr/>
          <p:nvPr/>
        </p:nvPicPr>
        <p:blipFill>
          <a:blip r:embed="rId2"/>
          <a:stretch>
            <a:fillRect/>
          </a:stretch>
        </p:blipFill>
        <p:spPr>
          <a:xfrm>
            <a:off x="450850" y="3273425"/>
            <a:ext cx="4359275" cy="1554163"/>
          </a:xfrm>
          <a:prstGeom prst="rect">
            <a:avLst/>
          </a:prstGeom>
          <a:noFill/>
          <a:ln w="9525">
            <a:noFill/>
          </a:ln>
        </p:spPr>
      </p:pic>
      <p:sp>
        <p:nvSpPr>
          <p:cNvPr id="35878" name="Line 48"/>
          <p:cNvSpPr/>
          <p:nvPr/>
        </p:nvSpPr>
        <p:spPr>
          <a:xfrm>
            <a:off x="2484438" y="842963"/>
            <a:ext cx="431800" cy="0"/>
          </a:xfrm>
          <a:prstGeom prst="line">
            <a:avLst/>
          </a:prstGeom>
          <a:ln w="15875" cap="flat" cmpd="sng">
            <a:solidFill>
              <a:schemeClr val="tx1"/>
            </a:solidFill>
            <a:prstDash val="solid"/>
            <a:headEnd type="none" w="med" len="med"/>
            <a:tailEnd type="none" w="med" len="med"/>
          </a:ln>
        </p:spPr>
      </p:sp>
      <p:sp>
        <p:nvSpPr>
          <p:cNvPr id="35879" name="Line 49"/>
          <p:cNvSpPr/>
          <p:nvPr/>
        </p:nvSpPr>
        <p:spPr>
          <a:xfrm>
            <a:off x="3276600" y="842963"/>
            <a:ext cx="431800" cy="0"/>
          </a:xfrm>
          <a:prstGeom prst="line">
            <a:avLst/>
          </a:prstGeom>
          <a:ln w="15875" cap="flat" cmpd="sng">
            <a:solidFill>
              <a:schemeClr val="tx1"/>
            </a:solidFill>
            <a:prstDash val="solid"/>
            <a:headEnd type="none" w="med" len="med"/>
            <a:tailEnd type="none" w="med" len="med"/>
          </a:ln>
        </p:spPr>
      </p:sp>
      <p:sp>
        <p:nvSpPr>
          <p:cNvPr id="35880" name="Line 50"/>
          <p:cNvSpPr/>
          <p:nvPr/>
        </p:nvSpPr>
        <p:spPr>
          <a:xfrm>
            <a:off x="2484438" y="771525"/>
            <a:ext cx="1223962" cy="0"/>
          </a:xfrm>
          <a:prstGeom prst="line">
            <a:avLst/>
          </a:prstGeom>
          <a:ln w="15875" cap="flat" cmpd="sng">
            <a:solidFill>
              <a:schemeClr val="tx1"/>
            </a:solidFill>
            <a:prstDash val="solid"/>
            <a:headEnd type="none" w="med" len="med"/>
            <a:tailEnd type="none" w="med" len="med"/>
          </a:ln>
        </p:spPr>
      </p:sp>
      <p:grpSp>
        <p:nvGrpSpPr>
          <p:cNvPr id="35881" name="Group 54"/>
          <p:cNvGrpSpPr/>
          <p:nvPr/>
        </p:nvGrpSpPr>
        <p:grpSpPr>
          <a:xfrm>
            <a:off x="4048125" y="771525"/>
            <a:ext cx="144463" cy="82550"/>
            <a:chOff x="3787" y="894"/>
            <a:chExt cx="91" cy="52"/>
          </a:xfrm>
        </p:grpSpPr>
        <p:sp>
          <p:nvSpPr>
            <p:cNvPr id="35889" name="Line 52"/>
            <p:cNvSpPr/>
            <p:nvPr/>
          </p:nvSpPr>
          <p:spPr>
            <a:xfrm>
              <a:off x="3787" y="894"/>
              <a:ext cx="91" cy="0"/>
            </a:xfrm>
            <a:prstGeom prst="line">
              <a:avLst/>
            </a:prstGeom>
            <a:ln w="15875" cap="flat" cmpd="sng">
              <a:solidFill>
                <a:schemeClr val="tx1"/>
              </a:solidFill>
              <a:prstDash val="solid"/>
              <a:headEnd type="none" w="med" len="med"/>
              <a:tailEnd type="none" w="med" len="med"/>
            </a:ln>
          </p:spPr>
        </p:sp>
        <p:sp>
          <p:nvSpPr>
            <p:cNvPr id="35890" name="Line 53"/>
            <p:cNvSpPr/>
            <p:nvPr/>
          </p:nvSpPr>
          <p:spPr>
            <a:xfrm>
              <a:off x="3787" y="946"/>
              <a:ext cx="91" cy="0"/>
            </a:xfrm>
            <a:prstGeom prst="line">
              <a:avLst/>
            </a:prstGeom>
            <a:ln w="15875" cap="flat" cmpd="sng">
              <a:solidFill>
                <a:schemeClr val="tx1"/>
              </a:solidFill>
              <a:prstDash val="solid"/>
              <a:headEnd type="none" w="med" len="med"/>
              <a:tailEnd type="none" w="med" len="med"/>
            </a:ln>
          </p:spPr>
        </p:sp>
      </p:grpSp>
      <p:grpSp>
        <p:nvGrpSpPr>
          <p:cNvPr id="35882" name="Group 55"/>
          <p:cNvGrpSpPr/>
          <p:nvPr/>
        </p:nvGrpSpPr>
        <p:grpSpPr>
          <a:xfrm>
            <a:off x="4356100" y="771525"/>
            <a:ext cx="144463" cy="82550"/>
            <a:chOff x="3787" y="894"/>
            <a:chExt cx="91" cy="52"/>
          </a:xfrm>
        </p:grpSpPr>
        <p:sp>
          <p:nvSpPr>
            <p:cNvPr id="35887" name="Line 56"/>
            <p:cNvSpPr/>
            <p:nvPr/>
          </p:nvSpPr>
          <p:spPr>
            <a:xfrm>
              <a:off x="3787" y="894"/>
              <a:ext cx="91" cy="0"/>
            </a:xfrm>
            <a:prstGeom prst="line">
              <a:avLst/>
            </a:prstGeom>
            <a:ln w="15875" cap="flat" cmpd="sng">
              <a:solidFill>
                <a:schemeClr val="tx1"/>
              </a:solidFill>
              <a:prstDash val="solid"/>
              <a:headEnd type="none" w="med" len="med"/>
              <a:tailEnd type="none" w="med" len="med"/>
            </a:ln>
          </p:spPr>
        </p:sp>
        <p:sp>
          <p:nvSpPr>
            <p:cNvPr id="35888" name="Line 57"/>
            <p:cNvSpPr/>
            <p:nvPr/>
          </p:nvSpPr>
          <p:spPr>
            <a:xfrm>
              <a:off x="3787" y="946"/>
              <a:ext cx="91" cy="0"/>
            </a:xfrm>
            <a:prstGeom prst="line">
              <a:avLst/>
            </a:prstGeom>
            <a:ln w="15875" cap="flat" cmpd="sng">
              <a:solidFill>
                <a:schemeClr val="tx1"/>
              </a:solidFill>
              <a:prstDash val="solid"/>
              <a:headEnd type="none" w="med" len="med"/>
              <a:tailEnd type="none" w="med" len="med"/>
            </a:ln>
          </p:spPr>
        </p:sp>
      </p:grpSp>
      <p:grpSp>
        <p:nvGrpSpPr>
          <p:cNvPr id="35883" name="Group 60"/>
          <p:cNvGrpSpPr/>
          <p:nvPr/>
        </p:nvGrpSpPr>
        <p:grpSpPr>
          <a:xfrm>
            <a:off x="2474913" y="3292475"/>
            <a:ext cx="431800" cy="66675"/>
            <a:chOff x="3560" y="1487"/>
            <a:chExt cx="272" cy="42"/>
          </a:xfrm>
        </p:grpSpPr>
        <p:sp>
          <p:nvSpPr>
            <p:cNvPr id="35885" name="Line 58"/>
            <p:cNvSpPr/>
            <p:nvPr/>
          </p:nvSpPr>
          <p:spPr>
            <a:xfrm>
              <a:off x="3560" y="1487"/>
              <a:ext cx="272" cy="0"/>
            </a:xfrm>
            <a:prstGeom prst="line">
              <a:avLst/>
            </a:prstGeom>
            <a:ln w="15875" cap="flat" cmpd="sng">
              <a:solidFill>
                <a:schemeClr val="tx1"/>
              </a:solidFill>
              <a:prstDash val="solid"/>
              <a:headEnd type="none" w="med" len="med"/>
              <a:tailEnd type="none" w="med" len="med"/>
            </a:ln>
          </p:spPr>
        </p:sp>
        <p:sp>
          <p:nvSpPr>
            <p:cNvPr id="35886" name="Line 59"/>
            <p:cNvSpPr/>
            <p:nvPr/>
          </p:nvSpPr>
          <p:spPr>
            <a:xfrm>
              <a:off x="3560" y="1529"/>
              <a:ext cx="272" cy="0"/>
            </a:xfrm>
            <a:prstGeom prst="line">
              <a:avLst/>
            </a:prstGeom>
            <a:ln w="15875" cap="flat" cmpd="sng">
              <a:solidFill>
                <a:schemeClr val="tx1"/>
              </a:solidFill>
              <a:prstDash val="solid"/>
              <a:headEnd type="none" w="med" len="med"/>
              <a:tailEnd type="none" w="med" len="med"/>
            </a:ln>
          </p:spPr>
        </p:sp>
      </p:grpSp>
      <p:sp>
        <p:nvSpPr>
          <p:cNvPr id="35884" name="Line 61"/>
          <p:cNvSpPr/>
          <p:nvPr/>
        </p:nvSpPr>
        <p:spPr>
          <a:xfrm>
            <a:off x="6813550" y="3340100"/>
            <a:ext cx="431800" cy="0"/>
          </a:xfrm>
          <a:prstGeom prst="line">
            <a:avLst/>
          </a:prstGeom>
          <a:ln w="12700" cap="flat" cmpd="sng">
            <a:solidFill>
              <a:srgbClr val="FF6600"/>
            </a:solidFill>
            <a:prstDash val="solid"/>
            <a:headEnd type="none" w="med" len="med"/>
            <a:tailEnd type="none" w="med" len="med"/>
          </a:ln>
        </p:spPr>
      </p:sp>
      <p:pic>
        <p:nvPicPr>
          <p:cNvPr id="2" name="图片 1"/>
          <p:cNvPicPr>
            <a:picLocks noChangeAspect="1"/>
          </p:cNvPicPr>
          <p:nvPr/>
        </p:nvPicPr>
        <p:blipFill>
          <a:blip r:embed="rId3"/>
          <a:stretch>
            <a:fillRect/>
          </a:stretch>
        </p:blipFill>
        <p:spPr>
          <a:xfrm>
            <a:off x="323850" y="473075"/>
            <a:ext cx="8472805" cy="4441825"/>
          </a:xfrm>
          <a:prstGeom prst="rect">
            <a:avLst/>
          </a:prstGeom>
        </p:spPr>
      </p:pic>
      <p:cxnSp>
        <p:nvCxnSpPr>
          <p:cNvPr id="3" name="直接连接符 2"/>
          <p:cNvCxnSpPr/>
          <p:nvPr/>
        </p:nvCxnSpPr>
        <p:spPr>
          <a:xfrm>
            <a:off x="1967865" y="1771650"/>
            <a:ext cx="2964180" cy="8255"/>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8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686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pSp>
        <p:nvGrpSpPr>
          <p:cNvPr id="35844" name="Group 5"/>
          <p:cNvGrpSpPr/>
          <p:nvPr/>
        </p:nvGrpSpPr>
        <p:grpSpPr>
          <a:xfrm>
            <a:off x="1764983" y="1182688"/>
            <a:ext cx="5761037" cy="3765550"/>
            <a:chOff x="0" y="0"/>
            <a:chExt cx="3792" cy="2688"/>
          </a:xfrm>
        </p:grpSpPr>
        <p:sp>
          <p:nvSpPr>
            <p:cNvPr id="32776" name="Rectangle 6"/>
            <p:cNvSpPr>
              <a:spLocks noChangeArrowheads="1"/>
            </p:cNvSpPr>
            <p:nvPr/>
          </p:nvSpPr>
          <p:spPr bwMode="auto">
            <a:xfrm>
              <a:off x="0" y="0"/>
              <a:ext cx="3792" cy="2688"/>
            </a:xfrm>
            <a:prstGeom prst="rect">
              <a:avLst/>
            </a:prstGeom>
            <a:solidFill>
              <a:srgbClr val="FFFFFF"/>
            </a:solidFill>
            <a:ln w="9525">
              <a:solidFill>
                <a:schemeClr va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36873" name="Group 7"/>
            <p:cNvGrpSpPr/>
            <p:nvPr/>
          </p:nvGrpSpPr>
          <p:grpSpPr>
            <a:xfrm>
              <a:off x="336" y="610"/>
              <a:ext cx="1072" cy="1520"/>
              <a:chOff x="0" y="0"/>
              <a:chExt cx="1072" cy="1520"/>
            </a:xfrm>
          </p:grpSpPr>
          <p:sp>
            <p:nvSpPr>
              <p:cNvPr id="32808" name="Rectangle 8"/>
              <p:cNvSpPr>
                <a:spLocks noChangeArrowheads="1"/>
              </p:cNvSpPr>
              <p:nvPr/>
            </p:nvSpPr>
            <p:spPr bwMode="auto">
              <a:xfrm>
                <a:off x="58" y="494"/>
                <a:ext cx="998" cy="47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809" name="Oval 9"/>
              <p:cNvSpPr>
                <a:spLocks noChangeArrowheads="1"/>
              </p:cNvSpPr>
              <p:nvPr/>
            </p:nvSpPr>
            <p:spPr bwMode="auto">
              <a:xfrm>
                <a:off x="556" y="427"/>
                <a:ext cx="59" cy="59"/>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2810" name="Line 10"/>
              <p:cNvSpPr>
                <a:spLocks noChangeShapeType="1"/>
              </p:cNvSpPr>
              <p:nvPr/>
            </p:nvSpPr>
            <p:spPr bwMode="auto">
              <a:xfrm>
                <a:off x="149" y="974"/>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1" name="Text Box 11"/>
              <p:cNvSpPr txBox="1">
                <a:spLocks noChangeArrowheads="1"/>
              </p:cNvSpPr>
              <p:nvPr/>
            </p:nvSpPr>
            <p:spPr bwMode="auto">
              <a:xfrm>
                <a:off x="240" y="482"/>
                <a:ext cx="399"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2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2812" name="Text Box 12"/>
              <p:cNvSpPr txBox="1">
                <a:spLocks noChangeArrowheads="1"/>
              </p:cNvSpPr>
              <p:nvPr/>
            </p:nvSpPr>
            <p:spPr bwMode="auto">
              <a:xfrm>
                <a:off x="480" y="0"/>
                <a:ext cx="23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a:t>
                </a:r>
                <a:endPar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13" name="Line 13"/>
              <p:cNvSpPr>
                <a:spLocks noChangeShapeType="1"/>
              </p:cNvSpPr>
              <p:nvPr/>
            </p:nvSpPr>
            <p:spPr bwMode="auto">
              <a:xfrm>
                <a:off x="584" y="230"/>
                <a:ext cx="0" cy="1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4" name="Text Box 14"/>
              <p:cNvSpPr txBox="1">
                <a:spLocks noChangeArrowheads="1"/>
              </p:cNvSpPr>
              <p:nvPr/>
            </p:nvSpPr>
            <p:spPr bwMode="auto">
              <a:xfrm>
                <a:off x="0" y="1217"/>
                <a:ext cx="25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15" name="Text Box 15"/>
              <p:cNvSpPr txBox="1">
                <a:spLocks noChangeArrowheads="1"/>
              </p:cNvSpPr>
              <p:nvPr/>
            </p:nvSpPr>
            <p:spPr bwMode="auto">
              <a:xfrm>
                <a:off x="151" y="1213"/>
                <a:ext cx="243"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B</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16" name="Line 16"/>
              <p:cNvSpPr>
                <a:spLocks noChangeShapeType="1"/>
              </p:cNvSpPr>
              <p:nvPr/>
            </p:nvSpPr>
            <p:spPr bwMode="auto">
              <a:xfrm>
                <a:off x="58" y="734"/>
                <a:ext cx="99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7" name="Line 17"/>
              <p:cNvSpPr>
                <a:spLocks noChangeShapeType="1"/>
              </p:cNvSpPr>
              <p:nvPr/>
            </p:nvSpPr>
            <p:spPr bwMode="auto">
              <a:xfrm>
                <a:off x="384" y="734"/>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8" name="Line 18"/>
              <p:cNvSpPr>
                <a:spLocks noChangeShapeType="1"/>
              </p:cNvSpPr>
              <p:nvPr/>
            </p:nvSpPr>
            <p:spPr bwMode="auto">
              <a:xfrm>
                <a:off x="718" y="734"/>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9" name="Line 19"/>
              <p:cNvSpPr>
                <a:spLocks noChangeShapeType="1"/>
              </p:cNvSpPr>
              <p:nvPr/>
            </p:nvSpPr>
            <p:spPr bwMode="auto">
              <a:xfrm>
                <a:off x="240" y="974"/>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0" name="Line 20"/>
              <p:cNvSpPr>
                <a:spLocks noChangeShapeType="1"/>
              </p:cNvSpPr>
              <p:nvPr/>
            </p:nvSpPr>
            <p:spPr bwMode="auto">
              <a:xfrm>
                <a:off x="503" y="974"/>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1" name="Text Box 21"/>
              <p:cNvSpPr txBox="1">
                <a:spLocks noChangeArrowheads="1"/>
              </p:cNvSpPr>
              <p:nvPr/>
            </p:nvSpPr>
            <p:spPr bwMode="auto">
              <a:xfrm>
                <a:off x="360" y="1217"/>
                <a:ext cx="24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22" name="Text Box 22"/>
              <p:cNvSpPr txBox="1">
                <a:spLocks noChangeArrowheads="1"/>
              </p:cNvSpPr>
              <p:nvPr/>
            </p:nvSpPr>
            <p:spPr bwMode="auto">
              <a:xfrm>
                <a:off x="511" y="1213"/>
                <a:ext cx="253"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D</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23" name="Line 23"/>
              <p:cNvSpPr>
                <a:spLocks noChangeShapeType="1"/>
              </p:cNvSpPr>
              <p:nvPr/>
            </p:nvSpPr>
            <p:spPr bwMode="auto">
              <a:xfrm>
                <a:off x="599" y="974"/>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4" name="Line 24"/>
              <p:cNvSpPr>
                <a:spLocks noChangeShapeType="1"/>
              </p:cNvSpPr>
              <p:nvPr/>
            </p:nvSpPr>
            <p:spPr bwMode="auto">
              <a:xfrm>
                <a:off x="832" y="974"/>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5" name="Text Box 25"/>
              <p:cNvSpPr txBox="1">
                <a:spLocks noChangeArrowheads="1"/>
              </p:cNvSpPr>
              <p:nvPr/>
            </p:nvSpPr>
            <p:spPr bwMode="auto">
              <a:xfrm>
                <a:off x="695" y="1217"/>
                <a:ext cx="22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E</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26" name="Text Box 26"/>
              <p:cNvSpPr txBox="1">
                <a:spLocks noChangeArrowheads="1"/>
              </p:cNvSpPr>
              <p:nvPr/>
            </p:nvSpPr>
            <p:spPr bwMode="auto">
              <a:xfrm>
                <a:off x="848" y="1217"/>
                <a:ext cx="22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27" name="Line 27"/>
              <p:cNvSpPr>
                <a:spLocks noChangeShapeType="1"/>
              </p:cNvSpPr>
              <p:nvPr/>
            </p:nvSpPr>
            <p:spPr bwMode="auto">
              <a:xfrm>
                <a:off x="935" y="974"/>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8" name="Text Box 28"/>
              <p:cNvSpPr txBox="1">
                <a:spLocks noChangeArrowheads="1"/>
              </p:cNvSpPr>
              <p:nvPr/>
            </p:nvSpPr>
            <p:spPr bwMode="auto">
              <a:xfrm>
                <a:off x="47" y="714"/>
                <a:ext cx="238"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&amp;</a:t>
                </a:r>
                <a:endParaRPr kumimoji="0" lang="en-US" altLang="zh-CN" sz="22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6874" name="Group 29"/>
            <p:cNvGrpSpPr/>
            <p:nvPr/>
          </p:nvGrpSpPr>
          <p:grpSpPr>
            <a:xfrm>
              <a:off x="1848" y="108"/>
              <a:ext cx="1605" cy="2521"/>
              <a:chOff x="0" y="0"/>
              <a:chExt cx="1605" cy="2521"/>
            </a:xfrm>
          </p:grpSpPr>
          <p:sp>
            <p:nvSpPr>
              <p:cNvPr id="32779" name="Text Box 30"/>
              <p:cNvSpPr txBox="1">
                <a:spLocks noChangeArrowheads="1"/>
              </p:cNvSpPr>
              <p:nvPr/>
            </p:nvSpPr>
            <p:spPr bwMode="auto">
              <a:xfrm>
                <a:off x="696" y="0"/>
                <a:ext cx="242"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6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a:t>
                </a:r>
                <a:endParaRPr kumimoji="0" lang="en-US" altLang="zh-CN" sz="26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876" name="Oval 31"/>
              <p:cNvSpPr/>
              <p:nvPr/>
            </p:nvSpPr>
            <p:spPr>
              <a:xfrm rot="-5400000">
                <a:off x="790" y="495"/>
                <a:ext cx="58" cy="62"/>
              </a:xfrm>
              <a:prstGeom prst="ellipse">
                <a:avLst/>
              </a:prstGeom>
              <a:noFill/>
              <a:ln w="28575" cap="flat" cmpd="sng">
                <a:solidFill>
                  <a:schemeClr val="tx1"/>
                </a:solidFill>
                <a:prstDash val="solid"/>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2781" name="Line 32"/>
              <p:cNvSpPr>
                <a:spLocks noChangeShapeType="1"/>
              </p:cNvSpPr>
              <p:nvPr/>
            </p:nvSpPr>
            <p:spPr bwMode="auto">
              <a:xfrm rot="16200000" flipV="1">
                <a:off x="701" y="375"/>
                <a:ext cx="24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82" name="Text Box 33"/>
              <p:cNvSpPr txBox="1">
                <a:spLocks noChangeArrowheads="1"/>
              </p:cNvSpPr>
              <p:nvPr/>
            </p:nvSpPr>
            <p:spPr bwMode="auto">
              <a:xfrm>
                <a:off x="221" y="2216"/>
                <a:ext cx="243"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B</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3" name="Text Box 34"/>
              <p:cNvSpPr txBox="1">
                <a:spLocks noChangeArrowheads="1"/>
              </p:cNvSpPr>
              <p:nvPr/>
            </p:nvSpPr>
            <p:spPr bwMode="auto">
              <a:xfrm>
                <a:off x="600" y="2216"/>
                <a:ext cx="25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4" name="Text Box 35"/>
              <p:cNvSpPr txBox="1">
                <a:spLocks noChangeArrowheads="1"/>
              </p:cNvSpPr>
              <p:nvPr/>
            </p:nvSpPr>
            <p:spPr bwMode="auto">
              <a:xfrm>
                <a:off x="36" y="2216"/>
                <a:ext cx="255"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881" name="AutoShape 36"/>
              <p:cNvSpPr>
                <a:spLocks noChangeArrowheads="1"/>
              </p:cNvSpPr>
              <p:nvPr/>
            </p:nvSpPr>
            <p:spPr bwMode="auto">
              <a:xfrm rot="5374188">
                <a:off x="755" y="834"/>
                <a:ext cx="95" cy="481"/>
              </a:xfrm>
              <a:prstGeom prst="moon">
                <a:avLst>
                  <a:gd name="adj" fmla="val 50000"/>
                </a:avLst>
              </a:prstGeom>
              <a:solidFill>
                <a:schemeClr val="hlink"/>
              </a:solidFill>
              <a:ln w="9525">
                <a:solidFill>
                  <a:schemeClr val="hlink"/>
                </a:solidFill>
                <a:miter lim="800000"/>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6882" name="AutoShape 37"/>
              <p:cNvSpPr/>
              <p:nvPr/>
            </p:nvSpPr>
            <p:spPr>
              <a:xfrm rot="-5400000">
                <a:off x="-31" y="1490"/>
                <a:ext cx="545" cy="468"/>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2787" name="Text Box 38"/>
              <p:cNvSpPr txBox="1">
                <a:spLocks noChangeArrowheads="1"/>
              </p:cNvSpPr>
              <p:nvPr/>
            </p:nvSpPr>
            <p:spPr bwMode="auto">
              <a:xfrm>
                <a:off x="1370" y="2216"/>
                <a:ext cx="22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8" name="Text Box 39"/>
              <p:cNvSpPr txBox="1">
                <a:spLocks noChangeArrowheads="1"/>
              </p:cNvSpPr>
              <p:nvPr/>
            </p:nvSpPr>
            <p:spPr bwMode="auto">
              <a:xfrm>
                <a:off x="804" y="2216"/>
                <a:ext cx="23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D</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9" name="Text Box 40"/>
              <p:cNvSpPr txBox="1">
                <a:spLocks noChangeArrowheads="1"/>
              </p:cNvSpPr>
              <p:nvPr/>
            </p:nvSpPr>
            <p:spPr bwMode="auto">
              <a:xfrm>
                <a:off x="1178" y="2216"/>
                <a:ext cx="23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E</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886" name="AutoShape 41"/>
              <p:cNvSpPr/>
              <p:nvPr/>
            </p:nvSpPr>
            <p:spPr>
              <a:xfrm rot="-5400000">
                <a:off x="537" y="1497"/>
                <a:ext cx="546" cy="468"/>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6887" name="AutoShape 42"/>
              <p:cNvSpPr/>
              <p:nvPr/>
            </p:nvSpPr>
            <p:spPr>
              <a:xfrm rot="-5400000">
                <a:off x="1098" y="1497"/>
                <a:ext cx="546" cy="468"/>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2792" name="Line 43"/>
              <p:cNvSpPr>
                <a:spLocks noChangeShapeType="1"/>
              </p:cNvSpPr>
              <p:nvPr/>
            </p:nvSpPr>
            <p:spPr bwMode="auto">
              <a:xfrm>
                <a:off x="228" y="1256"/>
                <a:ext cx="43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3" name="Line 44"/>
              <p:cNvSpPr>
                <a:spLocks noChangeShapeType="1"/>
              </p:cNvSpPr>
              <p:nvPr/>
            </p:nvSpPr>
            <p:spPr bwMode="auto">
              <a:xfrm>
                <a:off x="228" y="1256"/>
                <a:ext cx="0" cy="19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4" name="Line 45"/>
              <p:cNvSpPr>
                <a:spLocks noChangeShapeType="1"/>
              </p:cNvSpPr>
              <p:nvPr/>
            </p:nvSpPr>
            <p:spPr bwMode="auto">
              <a:xfrm>
                <a:off x="1385" y="1256"/>
                <a:ext cx="0" cy="19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5" name="Line 46"/>
              <p:cNvSpPr>
                <a:spLocks noChangeShapeType="1"/>
              </p:cNvSpPr>
              <p:nvPr/>
            </p:nvSpPr>
            <p:spPr bwMode="auto">
              <a:xfrm>
                <a:off x="132"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6" name="Line 47"/>
              <p:cNvSpPr>
                <a:spLocks noChangeShapeType="1"/>
              </p:cNvSpPr>
              <p:nvPr/>
            </p:nvSpPr>
            <p:spPr bwMode="auto">
              <a:xfrm>
                <a:off x="324"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7" name="Line 48"/>
              <p:cNvSpPr>
                <a:spLocks noChangeShapeType="1"/>
              </p:cNvSpPr>
              <p:nvPr/>
            </p:nvSpPr>
            <p:spPr bwMode="auto">
              <a:xfrm>
                <a:off x="710"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8" name="Line 49"/>
              <p:cNvSpPr>
                <a:spLocks noChangeShapeType="1"/>
              </p:cNvSpPr>
              <p:nvPr/>
            </p:nvSpPr>
            <p:spPr bwMode="auto">
              <a:xfrm>
                <a:off x="900"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9" name="Line 50"/>
              <p:cNvSpPr>
                <a:spLocks noChangeShapeType="1"/>
              </p:cNvSpPr>
              <p:nvPr/>
            </p:nvSpPr>
            <p:spPr bwMode="auto">
              <a:xfrm>
                <a:off x="1291"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0" name="Line 51"/>
              <p:cNvSpPr>
                <a:spLocks noChangeShapeType="1"/>
              </p:cNvSpPr>
              <p:nvPr/>
            </p:nvSpPr>
            <p:spPr bwMode="auto">
              <a:xfrm>
                <a:off x="1478"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36897" name="Group 52"/>
              <p:cNvGrpSpPr/>
              <p:nvPr/>
            </p:nvGrpSpPr>
            <p:grpSpPr>
              <a:xfrm>
                <a:off x="531" y="567"/>
                <a:ext cx="549" cy="628"/>
                <a:chOff x="0" y="0"/>
                <a:chExt cx="549" cy="628"/>
              </a:xfrm>
            </p:grpSpPr>
            <p:sp>
              <p:nvSpPr>
                <p:cNvPr id="36902" name="AutoShape 53"/>
                <p:cNvSpPr/>
                <p:nvPr/>
              </p:nvSpPr>
              <p:spPr>
                <a:xfrm rot="-5400000">
                  <a:off x="4" y="37"/>
                  <a:ext cx="551" cy="469"/>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6903" name="AutoShape 54"/>
                <p:cNvSpPr>
                  <a:spLocks noChangeArrowheads="1"/>
                </p:cNvSpPr>
                <p:nvPr/>
              </p:nvSpPr>
              <p:spPr bwMode="auto">
                <a:xfrm rot="5374188">
                  <a:off x="195" y="262"/>
                  <a:ext cx="165" cy="556"/>
                </a:xfrm>
                <a:prstGeom prst="moon">
                  <a:avLst>
                    <a:gd name="adj" fmla="val 50000"/>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32802" name="Line 55"/>
              <p:cNvSpPr>
                <a:spLocks noChangeShapeType="1"/>
              </p:cNvSpPr>
              <p:nvPr/>
            </p:nvSpPr>
            <p:spPr bwMode="auto">
              <a:xfrm rot="5400000" flipH="1">
                <a:off x="547" y="1143"/>
                <a:ext cx="2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3" name="Line 56"/>
              <p:cNvSpPr>
                <a:spLocks noChangeShapeType="1"/>
              </p:cNvSpPr>
              <p:nvPr/>
            </p:nvSpPr>
            <p:spPr bwMode="auto">
              <a:xfrm rot="5400000" flipH="1">
                <a:off x="834" y="1143"/>
                <a:ext cx="219"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4" name="Line 57"/>
              <p:cNvSpPr>
                <a:spLocks noChangeShapeType="1"/>
              </p:cNvSpPr>
              <p:nvPr/>
            </p:nvSpPr>
            <p:spPr bwMode="auto">
              <a:xfrm>
                <a:off x="948" y="1256"/>
                <a:ext cx="43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5" name="Line 58"/>
              <p:cNvSpPr>
                <a:spLocks noChangeShapeType="1"/>
              </p:cNvSpPr>
              <p:nvPr/>
            </p:nvSpPr>
            <p:spPr bwMode="auto">
              <a:xfrm rot="-5400000">
                <a:off x="588" y="1233"/>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grpSp>
      <p:sp>
        <p:nvSpPr>
          <p:cNvPr id="36869" name="Rectangle 3"/>
          <p:cNvSpPr>
            <a:spLocks noGrp="1"/>
          </p:cNvSpPr>
          <p:nvPr>
            <p:ph type="title"/>
          </p:nvPr>
        </p:nvSpPr>
        <p:spPr>
          <a:xfrm>
            <a:off x="831850" y="433388"/>
            <a:ext cx="7772400" cy="914400"/>
          </a:xfrm>
          <a:prstGeom prst="rect">
            <a:avLst/>
          </a:prstGeom>
          <a:noFill/>
          <a:ln w="9525">
            <a:noFill/>
          </a:ln>
        </p:spPr>
        <p:txBody>
          <a:bodyPr/>
          <a:p>
            <a:pPr eaLnBrk="1" hangingPunct="1">
              <a:lnSpc>
                <a:spcPct val="120000"/>
              </a:lnSpc>
            </a:pPr>
            <a:r>
              <a:rPr lang="en-US" altLang="zh-CN" sz="1800" b="1" dirty="0">
                <a:latin typeface="黑体" panose="02010609060101010101" pitchFamily="49" charset="-122"/>
                <a:ea typeface="黑体" panose="02010609060101010101" pitchFamily="49" charset="-122"/>
              </a:rPr>
              <a:t>③</a:t>
            </a:r>
            <a:r>
              <a:rPr lang="zh-CN" altLang="en-US" sz="1800" b="1" dirty="0">
                <a:latin typeface="黑体" panose="02010609060101010101" pitchFamily="49" charset="-122"/>
                <a:ea typeface="黑体" panose="02010609060101010101" pitchFamily="49" charset="-122"/>
              </a:rPr>
              <a:t>与或非逻辑</a:t>
            </a:r>
            <a:r>
              <a:rPr lang="en-US" altLang="zh-CN" sz="1800" b="1" dirty="0">
                <a:latin typeface="黑体" panose="02010609060101010101" pitchFamily="49" charset="-122"/>
                <a:ea typeface="黑体" panose="02010609060101010101" pitchFamily="49" charset="-122"/>
              </a:rPr>
              <a:t>(AOI)</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逻辑表达式为</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AB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CD </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EF</a:t>
            </a:r>
            <a:endParaRPr lang="en-US" altLang="zh-CN" sz="1800" b="1" dirty="0">
              <a:latin typeface="黑体" panose="02010609060101010101" pitchFamily="49" charset="-122"/>
              <a:ea typeface="黑体" panose="02010609060101010101" pitchFamily="49" charset="-122"/>
            </a:endParaRPr>
          </a:p>
        </p:txBody>
      </p:sp>
      <p:sp>
        <p:nvSpPr>
          <p:cNvPr id="36870" name="Line 4"/>
          <p:cNvSpPr/>
          <p:nvPr/>
        </p:nvSpPr>
        <p:spPr>
          <a:xfrm>
            <a:off x="4108450" y="854075"/>
            <a:ext cx="1513205" cy="8890"/>
          </a:xfrm>
          <a:prstGeom prst="line">
            <a:avLst/>
          </a:prstGeom>
          <a:ln w="12700" cap="flat" cmpd="sng">
            <a:solidFill>
              <a:schemeClr val="tx1"/>
            </a:solidFill>
            <a:prstDash val="solid"/>
            <a:headEnd type="none" w="med" len="med"/>
            <a:tailEnd type="none" w="med" len="med"/>
          </a:ln>
        </p:spPr>
      </p:sp>
      <p:sp>
        <p:nvSpPr>
          <p:cNvPr id="36871" name="Rectangle 16"/>
          <p:cNvSpPr>
            <a:spLocks noGrp="1"/>
          </p:cNvSpPr>
          <p:nvPr>
            <p:ph/>
          </p:nvPr>
        </p:nvSpPr>
        <p:spPr>
          <a:xfrm>
            <a:off x="1743075" y="1271905"/>
            <a:ext cx="4114800" cy="457200"/>
          </a:xfrm>
          <a:prstGeom prst="rect">
            <a:avLst/>
          </a:prstGeom>
          <a:noFill/>
          <a:ln w="9525">
            <a:noFill/>
          </a:ln>
        </p:spPr>
        <p:txBody>
          <a:bodyPr/>
          <a:p>
            <a:pPr eaLnBrk="1" hangingPunct="1">
              <a:spcBef>
                <a:spcPct val="0"/>
              </a:spcBef>
              <a:buNone/>
            </a:pPr>
            <a:r>
              <a:rPr lang="zh-CN" altLang="en-US" sz="1800" dirty="0">
                <a:solidFill>
                  <a:srgbClr val="0000FF"/>
                </a:solidFill>
                <a:latin typeface="黑体" panose="02010609060101010101" pitchFamily="49" charset="-122"/>
                <a:ea typeface="黑体" panose="02010609060101010101" pitchFamily="49" charset="-122"/>
              </a:rPr>
              <a:t>与或非门的逻辑符号？</a:t>
            </a:r>
            <a:endParaRPr lang="zh-CN" altLang="en-US" sz="1800"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71">
                                            <p:txEl>
                                              <p:pRg st="0" end="0"/>
                                            </p:txEl>
                                          </p:spTgt>
                                        </p:tgtEl>
                                        <p:attrNameLst>
                                          <p:attrName>style.visibility</p:attrName>
                                        </p:attrNameLst>
                                      </p:cBhvr>
                                      <p:to>
                                        <p:strVal val="visible"/>
                                      </p:to>
                                    </p:set>
                                    <p:anim calcmode="lin" valueType="num">
                                      <p:cBhvr additive="base">
                                        <p:cTn id="7" dur="500" fill="hold"/>
                                        <p:tgtEl>
                                          <p:spTgt spid="368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844"/>
                                        </p:tgtEl>
                                        <p:attrNameLst>
                                          <p:attrName>style.visibility</p:attrName>
                                        </p:attrNameLst>
                                      </p:cBhvr>
                                      <p:to>
                                        <p:strVal val="visible"/>
                                      </p:to>
                                    </p:set>
                                    <p:anim calcmode="lin" valueType="num">
                                      <p:cBhvr additive="base">
                                        <p:cTn id="13" dur="500" fill="hold"/>
                                        <p:tgtEl>
                                          <p:spTgt spid="35844"/>
                                        </p:tgtEl>
                                        <p:attrNameLst>
                                          <p:attrName>ppt_x</p:attrName>
                                        </p:attrNameLst>
                                      </p:cBhvr>
                                      <p:tavLst>
                                        <p:tav tm="0">
                                          <p:val>
                                            <p:strVal val="#ppt_x"/>
                                          </p:val>
                                        </p:tav>
                                        <p:tav tm="100000">
                                          <p:val>
                                            <p:strVal val="#ppt_x"/>
                                          </p:val>
                                        </p:tav>
                                      </p:tavLst>
                                    </p:anim>
                                    <p:anim calcmode="lin" valueType="num">
                                      <p:cBhvr additive="base">
                                        <p:cTn id="14" dur="500" fill="hold"/>
                                        <p:tgtEl>
                                          <p:spTgt spid="358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build="p"/>
      <p:bldP spid="36871" grpI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920" name="Group 17"/>
          <p:cNvGrpSpPr/>
          <p:nvPr/>
        </p:nvGrpSpPr>
        <p:grpSpPr>
          <a:xfrm>
            <a:off x="4528820" y="3402330"/>
            <a:ext cx="3883660" cy="1851025"/>
            <a:chOff x="0" y="0"/>
            <a:chExt cx="2784" cy="1860"/>
          </a:xfrm>
        </p:grpSpPr>
        <p:sp>
          <p:nvSpPr>
            <p:cNvPr id="33829" name="Rectangle 18"/>
            <p:cNvSpPr>
              <a:spLocks noChangeArrowheads="1"/>
            </p:cNvSpPr>
            <p:nvPr/>
          </p:nvSpPr>
          <p:spPr bwMode="auto">
            <a:xfrm>
              <a:off x="0" y="0"/>
              <a:ext cx="2784" cy="1824"/>
            </a:xfrm>
            <a:prstGeom prst="rect">
              <a:avLst/>
            </a:prstGeom>
            <a:solidFill>
              <a:srgbClr val="CCCCFF"/>
            </a:solidFill>
            <a:ln w="9525">
              <a:solidFill>
                <a:schemeClr va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37931" name="Group 19"/>
            <p:cNvGrpSpPr/>
            <p:nvPr/>
          </p:nvGrpSpPr>
          <p:grpSpPr>
            <a:xfrm>
              <a:off x="432" y="224"/>
              <a:ext cx="649" cy="1604"/>
              <a:chOff x="0" y="-2"/>
              <a:chExt cx="649" cy="1604"/>
            </a:xfrm>
          </p:grpSpPr>
          <p:sp>
            <p:nvSpPr>
              <p:cNvPr id="33852" name="Rectangle 20"/>
              <p:cNvSpPr>
                <a:spLocks noChangeArrowheads="1"/>
              </p:cNvSpPr>
              <p:nvPr/>
            </p:nvSpPr>
            <p:spPr bwMode="auto">
              <a:xfrm>
                <a:off x="0" y="502"/>
                <a:ext cx="624" cy="3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53" name="Oval 21"/>
              <p:cNvSpPr>
                <a:spLocks noChangeArrowheads="1"/>
              </p:cNvSpPr>
              <p:nvPr/>
            </p:nvSpPr>
            <p:spPr bwMode="auto">
              <a:xfrm>
                <a:off x="284" y="426"/>
                <a:ext cx="59" cy="58"/>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3854" name="Line 22"/>
              <p:cNvSpPr>
                <a:spLocks noChangeShapeType="1"/>
              </p:cNvSpPr>
              <p:nvPr/>
            </p:nvSpPr>
            <p:spPr bwMode="auto">
              <a:xfrm>
                <a:off x="191" y="892"/>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55" name="Line 23"/>
              <p:cNvSpPr>
                <a:spLocks noChangeShapeType="1"/>
              </p:cNvSpPr>
              <p:nvPr/>
            </p:nvSpPr>
            <p:spPr bwMode="auto">
              <a:xfrm>
                <a:off x="478" y="886"/>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56" name="Text Box 24"/>
              <p:cNvSpPr txBox="1">
                <a:spLocks noChangeArrowheads="1"/>
              </p:cNvSpPr>
              <p:nvPr/>
            </p:nvSpPr>
            <p:spPr bwMode="auto">
              <a:xfrm>
                <a:off x="144" y="513"/>
                <a:ext cx="419"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en-US" altLang="zh-CN"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1</a:t>
                </a:r>
                <a:endParaRPr kumimoji="0" lang="en-US" altLang="zh-CN"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57" name="Text Box 25"/>
              <p:cNvSpPr txBox="1">
                <a:spLocks noChangeArrowheads="1"/>
              </p:cNvSpPr>
              <p:nvPr/>
            </p:nvSpPr>
            <p:spPr bwMode="auto">
              <a:xfrm>
                <a:off x="206" y="-2"/>
                <a:ext cx="247"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smtClean="0">
                    <a:ln>
                      <a:noFill/>
                    </a:ln>
                    <a:solidFill>
                      <a:schemeClr val="tx1"/>
                    </a:solidFill>
                    <a:effectLst/>
                    <a:uLnTx/>
                    <a:uFillTx/>
                    <a:latin typeface="华文新魏" panose="02010800040101010101" pitchFamily="2" charset="-122"/>
                    <a:ea typeface="华文新魏" panose="02010800040101010101" pitchFamily="2" charset="-122"/>
                    <a:cs typeface="+mn-cs"/>
                  </a:rPr>
                  <a:t>F</a:t>
                </a:r>
                <a:endParaRPr kumimoji="0" lang="en-US" altLang="zh-CN" sz="2400" b="0" i="0" u="none" strike="noStrike" kern="1200" cap="none" spc="0" normalizeH="0" baseline="0" noProof="0" dirty="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58" name="Line 26"/>
              <p:cNvSpPr>
                <a:spLocks noChangeShapeType="1"/>
              </p:cNvSpPr>
              <p:nvPr/>
            </p:nvSpPr>
            <p:spPr bwMode="auto">
              <a:xfrm>
                <a:off x="310" y="230"/>
                <a:ext cx="0" cy="1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59" name="Text Box 27"/>
              <p:cNvSpPr txBox="1">
                <a:spLocks noChangeArrowheads="1"/>
              </p:cNvSpPr>
              <p:nvPr/>
            </p:nvSpPr>
            <p:spPr bwMode="auto">
              <a:xfrm>
                <a:off x="102" y="1122"/>
                <a:ext cx="28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60" name="Text Box 28"/>
              <p:cNvSpPr txBox="1">
                <a:spLocks noChangeArrowheads="1"/>
              </p:cNvSpPr>
              <p:nvPr/>
            </p:nvSpPr>
            <p:spPr bwMode="auto">
              <a:xfrm>
                <a:off x="388" y="1139"/>
                <a:ext cx="26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B</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grpSp>
        <p:grpSp>
          <p:nvGrpSpPr>
            <p:cNvPr id="37932" name="Group 29"/>
            <p:cNvGrpSpPr/>
            <p:nvPr/>
          </p:nvGrpSpPr>
          <p:grpSpPr>
            <a:xfrm>
              <a:off x="2060" y="82"/>
              <a:ext cx="504" cy="1778"/>
              <a:chOff x="-3" y="0"/>
              <a:chExt cx="504" cy="1778"/>
            </a:xfrm>
          </p:grpSpPr>
          <p:sp>
            <p:nvSpPr>
              <p:cNvPr id="33840" name="Text Box 30"/>
              <p:cNvSpPr txBox="1">
                <a:spLocks noChangeArrowheads="1"/>
              </p:cNvSpPr>
              <p:nvPr/>
            </p:nvSpPr>
            <p:spPr bwMode="auto">
              <a:xfrm>
                <a:off x="98" y="0"/>
                <a:ext cx="25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F</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41" name="AutoShape 31"/>
              <p:cNvSpPr>
                <a:spLocks noChangeArrowheads="1"/>
              </p:cNvSpPr>
              <p:nvPr/>
            </p:nvSpPr>
            <p:spPr bwMode="auto">
              <a:xfrm rot="-5400000">
                <a:off x="-36" y="582"/>
                <a:ext cx="547" cy="468"/>
              </a:xfrm>
              <a:prstGeom prst="flowChartDelay">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3842" name="Oval 32"/>
              <p:cNvSpPr>
                <a:spLocks noChangeArrowheads="1"/>
              </p:cNvSpPr>
              <p:nvPr/>
            </p:nvSpPr>
            <p:spPr bwMode="auto">
              <a:xfrm rot="-5400000">
                <a:off x="189" y="482"/>
                <a:ext cx="58" cy="5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3843" name="Line 33"/>
              <p:cNvSpPr>
                <a:spLocks noChangeShapeType="1"/>
              </p:cNvSpPr>
              <p:nvPr/>
            </p:nvSpPr>
            <p:spPr bwMode="auto">
              <a:xfrm rot="16200000" flipV="1">
                <a:off x="102" y="362"/>
                <a:ext cx="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44" name="Text Box 34"/>
              <p:cNvSpPr txBox="1">
                <a:spLocks noChangeArrowheads="1"/>
              </p:cNvSpPr>
              <p:nvPr/>
            </p:nvSpPr>
            <p:spPr bwMode="auto">
              <a:xfrm>
                <a:off x="235" y="1314"/>
                <a:ext cx="266"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B</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45" name="Text Box 35"/>
              <p:cNvSpPr txBox="1">
                <a:spLocks noChangeArrowheads="1"/>
              </p:cNvSpPr>
              <p:nvPr/>
            </p:nvSpPr>
            <p:spPr bwMode="auto">
              <a:xfrm>
                <a:off x="48" y="1315"/>
                <a:ext cx="283"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7947" name="AutoShape 36"/>
              <p:cNvSpPr/>
              <p:nvPr/>
            </p:nvSpPr>
            <p:spPr>
              <a:xfrm rot="5374188">
                <a:off x="191" y="852"/>
                <a:ext cx="96" cy="483"/>
              </a:xfrm>
              <a:prstGeom prst="moon">
                <a:avLst>
                  <a:gd name="adj" fmla="val 50000"/>
                </a:avLst>
              </a:prstGeom>
              <a:solidFill>
                <a:srgbClr val="CCCCFF"/>
              </a:solidFill>
              <a:ln w="9525" cap="flat" cmpd="sng">
                <a:solidFill>
                  <a:srgbClr val="CCCCFF"/>
                </a:solidFill>
                <a:prstDash val="solid"/>
                <a:miter/>
                <a:headEnd type="none" w="med" len="med"/>
                <a:tailEnd type="none" w="med" len="med"/>
              </a:ln>
            </p:spPr>
            <p:txBody>
              <a:bodyPr rot="10800000" vert="eaVert"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7948" name="AutoShape 37"/>
              <p:cNvSpPr/>
              <p:nvPr/>
            </p:nvSpPr>
            <p:spPr>
              <a:xfrm rot="5374188">
                <a:off x="167" y="817"/>
                <a:ext cx="145" cy="483"/>
              </a:xfrm>
              <a:prstGeom prst="moon">
                <a:avLst>
                  <a:gd name="adj" fmla="val 50000"/>
                </a:avLst>
              </a:prstGeom>
              <a:solidFill>
                <a:srgbClr val="CCCCFF"/>
              </a:solidFill>
              <a:ln w="9525" cap="flat" cmpd="sng">
                <a:solidFill>
                  <a:srgbClr val="CCCCFF"/>
                </a:solidFill>
                <a:prstDash val="solid"/>
                <a:miter/>
                <a:headEnd type="none" w="med" len="med"/>
                <a:tailEnd type="none" w="med" len="med"/>
              </a:ln>
            </p:spPr>
            <p:txBody>
              <a:bodyPr rot="10800000" vert="eaVert"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3848" name="Line 38"/>
              <p:cNvSpPr>
                <a:spLocks noChangeShapeType="1"/>
              </p:cNvSpPr>
              <p:nvPr/>
            </p:nvSpPr>
            <p:spPr bwMode="auto">
              <a:xfrm rot="5400000" flipH="1">
                <a:off x="-38" y="1151"/>
                <a:ext cx="360"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50" name="Arc 39"/>
              <p:cNvSpPr/>
              <p:nvPr/>
            </p:nvSpPr>
            <p:spPr>
              <a:xfrm rot="-5400000">
                <a:off x="68" y="1004"/>
                <a:ext cx="136" cy="227"/>
              </a:xfrm>
              <a:custGeom>
                <a:avLst/>
                <a:gdLst/>
                <a:ahLst/>
                <a:cxnLst>
                  <a:cxn ang="0">
                    <a:pos x="0" y="0"/>
                  </a:cxn>
                  <a:cxn ang="0">
                    <a:pos x="0" y="0"/>
                  </a:cxn>
                  <a:cxn ang="0">
                    <a:pos x="0" y="0"/>
                  </a:cxn>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37951" name="Arc 40"/>
              <p:cNvSpPr/>
              <p:nvPr/>
            </p:nvSpPr>
            <p:spPr>
              <a:xfrm>
                <a:off x="239" y="1054"/>
                <a:ext cx="227" cy="136"/>
              </a:xfrm>
              <a:custGeom>
                <a:avLst/>
                <a:gdLst/>
                <a:ahLst/>
                <a:cxnLst>
                  <a:cxn ang="0">
                    <a:pos x="0" y="0"/>
                  </a:cxn>
                  <a:cxn ang="0">
                    <a:pos x="0" y="0"/>
                  </a:cxn>
                  <a:cxn ang="0">
                    <a:pos x="0" y="0"/>
                  </a:cxn>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33851" name="Line 41"/>
              <p:cNvSpPr>
                <a:spLocks noChangeShapeType="1"/>
              </p:cNvSpPr>
              <p:nvPr/>
            </p:nvSpPr>
            <p:spPr bwMode="auto">
              <a:xfrm rot="5400000" flipH="1">
                <a:off x="154" y="1151"/>
                <a:ext cx="360"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33832" name="Rectangle 42"/>
            <p:cNvSpPr>
              <a:spLocks noChangeArrowheads="1"/>
            </p:cNvSpPr>
            <p:nvPr/>
          </p:nvSpPr>
          <p:spPr bwMode="auto">
            <a:xfrm>
              <a:off x="1248" y="728"/>
              <a:ext cx="623" cy="3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33" name="Line 43"/>
            <p:cNvSpPr>
              <a:spLocks noChangeShapeType="1"/>
            </p:cNvSpPr>
            <p:nvPr/>
          </p:nvSpPr>
          <p:spPr bwMode="auto">
            <a:xfrm>
              <a:off x="1439" y="1118"/>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34" name="Line 44"/>
            <p:cNvSpPr>
              <a:spLocks noChangeShapeType="1"/>
            </p:cNvSpPr>
            <p:nvPr/>
          </p:nvSpPr>
          <p:spPr bwMode="auto">
            <a:xfrm>
              <a:off x="1728" y="1112"/>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35" name="Text Box 45"/>
            <p:cNvSpPr txBox="1">
              <a:spLocks noChangeArrowheads="1"/>
            </p:cNvSpPr>
            <p:nvPr/>
          </p:nvSpPr>
          <p:spPr bwMode="auto">
            <a:xfrm>
              <a:off x="1393" y="739"/>
              <a:ext cx="339"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zh-CN" altLang="en-US"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36" name="Text Box 46"/>
            <p:cNvSpPr txBox="1">
              <a:spLocks noChangeArrowheads="1"/>
            </p:cNvSpPr>
            <p:nvPr/>
          </p:nvSpPr>
          <p:spPr bwMode="auto">
            <a:xfrm>
              <a:off x="1456" y="227"/>
              <a:ext cx="25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F</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37" name="Line 47"/>
            <p:cNvSpPr>
              <a:spLocks noChangeShapeType="1"/>
            </p:cNvSpPr>
            <p:nvPr/>
          </p:nvSpPr>
          <p:spPr bwMode="auto">
            <a:xfrm>
              <a:off x="1560" y="530"/>
              <a:ext cx="0" cy="1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38" name="Text Box 48"/>
            <p:cNvSpPr txBox="1">
              <a:spLocks noChangeArrowheads="1"/>
            </p:cNvSpPr>
            <p:nvPr/>
          </p:nvSpPr>
          <p:spPr bwMode="auto">
            <a:xfrm>
              <a:off x="1351" y="1350"/>
              <a:ext cx="283"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39" name="Text Box 49"/>
            <p:cNvSpPr txBox="1">
              <a:spLocks noChangeArrowheads="1"/>
            </p:cNvSpPr>
            <p:nvPr/>
          </p:nvSpPr>
          <p:spPr bwMode="auto">
            <a:xfrm>
              <a:off x="1639" y="1348"/>
              <a:ext cx="265"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B</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grpSp>
      <p:sp>
        <p:nvSpPr>
          <p:cNvPr id="37891"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7892"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7893" name="Rectangle 3"/>
          <p:cNvSpPr>
            <a:spLocks noGrp="1"/>
          </p:cNvSpPr>
          <p:nvPr>
            <p:ph type="title"/>
          </p:nvPr>
        </p:nvSpPr>
        <p:spPr>
          <a:xfrm>
            <a:off x="292100" y="428625"/>
            <a:ext cx="7772400" cy="374650"/>
          </a:xfrm>
          <a:prstGeom prst="rect">
            <a:avLst/>
          </a:prstGeom>
          <a:noFill/>
          <a:ln w="9525">
            <a:noFill/>
          </a:ln>
        </p:spPr>
        <p:txBody>
          <a:bodyPr/>
          <a:p>
            <a:pPr eaLnBrk="1" hangingPunct="1">
              <a:lnSpc>
                <a:spcPct val="120000"/>
              </a:lnSpc>
            </a:pPr>
            <a:r>
              <a:rPr lang="en-US" altLang="zh-CN" sz="1800" b="1" dirty="0">
                <a:latin typeface="华文新魏" panose="02010800040101010101" pitchFamily="2" charset="-122"/>
                <a:ea typeface="华文新魏" panose="02010800040101010101" pitchFamily="2" charset="-122"/>
              </a:rPr>
              <a:t>④</a:t>
            </a:r>
            <a:r>
              <a:rPr lang="zh-CN" altLang="en-US" sz="1800" b="1" dirty="0">
                <a:latin typeface="华文新魏" panose="02010800040101010101" pitchFamily="2" charset="-122"/>
                <a:ea typeface="华文新魏" panose="02010800040101010101" pitchFamily="2" charset="-122"/>
              </a:rPr>
              <a:t>异或逻辑</a:t>
            </a:r>
            <a:r>
              <a:rPr lang="en-US" altLang="zh-CN" sz="1800" b="1" dirty="0">
                <a:latin typeface="华文新魏" panose="02010800040101010101" pitchFamily="2" charset="-122"/>
                <a:ea typeface="华文新魏" panose="02010800040101010101" pitchFamily="2" charset="-122"/>
              </a:rPr>
              <a:t>, F = A⊕B =A </a:t>
            </a:r>
            <a:r>
              <a:rPr lang="en-US" altLang="zh-CN"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B</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A </a:t>
            </a:r>
            <a:r>
              <a:rPr lang="en-US" altLang="zh-CN"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B</a:t>
            </a:r>
            <a:endParaRPr lang="en-US" altLang="zh-CN" sz="1800" b="1" dirty="0">
              <a:latin typeface="华文新魏" panose="02010800040101010101" pitchFamily="2" charset="-122"/>
              <a:ea typeface="华文新魏" panose="02010800040101010101" pitchFamily="2" charset="-122"/>
            </a:endParaRPr>
          </a:p>
        </p:txBody>
      </p:sp>
      <p:sp>
        <p:nvSpPr>
          <p:cNvPr id="37894" name="Rectangle 5"/>
          <p:cNvSpPr>
            <a:spLocks noGrp="1"/>
          </p:cNvSpPr>
          <p:nvPr>
            <p:ph/>
          </p:nvPr>
        </p:nvSpPr>
        <p:spPr>
          <a:xfrm>
            <a:off x="571500" y="746125"/>
            <a:ext cx="7993063" cy="457200"/>
          </a:xfrm>
          <a:prstGeom prst="rect">
            <a:avLst/>
          </a:prstGeom>
          <a:noFill/>
          <a:ln w="9525">
            <a:noFill/>
          </a:ln>
        </p:spPr>
        <p:txBody>
          <a:bodyPr/>
          <a:p>
            <a:pPr eaLnBrk="1" hangingPunct="1">
              <a:spcBef>
                <a:spcPct val="0"/>
              </a:spcBef>
              <a:buNone/>
            </a:pPr>
            <a:r>
              <a:rPr lang="zh-CN" altLang="en-US" sz="1800" b="1" dirty="0">
                <a:latin typeface="华文新魏" panose="02010800040101010101" pitchFamily="2" charset="-122"/>
                <a:ea typeface="华文新魏" panose="02010800040101010101" pitchFamily="2" charset="-122"/>
              </a:rPr>
              <a:t>异或逻辑真值表                              异或门的逻辑符号</a:t>
            </a:r>
            <a:endParaRPr lang="zh-CN" altLang="en-US" sz="1800" b="1" dirty="0">
              <a:latin typeface="华文新魏" panose="02010800040101010101" pitchFamily="2" charset="-122"/>
              <a:ea typeface="华文新魏" panose="02010800040101010101" pitchFamily="2" charset="-122"/>
            </a:endParaRPr>
          </a:p>
        </p:txBody>
      </p:sp>
      <p:grpSp>
        <p:nvGrpSpPr>
          <p:cNvPr id="37895" name="Group 130"/>
          <p:cNvGrpSpPr/>
          <p:nvPr/>
        </p:nvGrpSpPr>
        <p:grpSpPr>
          <a:xfrm>
            <a:off x="5283200" y="774700"/>
            <a:ext cx="2038350" cy="0"/>
            <a:chOff x="0" y="0"/>
            <a:chExt cx="2038350" cy="0"/>
          </a:xfrm>
        </p:grpSpPr>
        <p:sp>
          <p:nvSpPr>
            <p:cNvPr id="37928" name="Line 4"/>
            <p:cNvSpPr/>
            <p:nvPr/>
          </p:nvSpPr>
          <p:spPr>
            <a:xfrm>
              <a:off x="-5279697" y="-1032879"/>
              <a:ext cx="192" cy="0"/>
            </a:xfrm>
            <a:prstGeom prst="line">
              <a:avLst/>
            </a:prstGeom>
            <a:ln w="9525" cap="flat" cmpd="sng">
              <a:solidFill>
                <a:srgbClr val="FFCC00"/>
              </a:solidFill>
              <a:prstDash val="solid"/>
              <a:headEnd type="none" w="med" len="med"/>
              <a:tailEnd type="none" w="med" len="med"/>
            </a:ln>
          </p:spPr>
        </p:sp>
        <p:sp>
          <p:nvSpPr>
            <p:cNvPr id="37929" name="Line 59"/>
            <p:cNvSpPr/>
            <p:nvPr/>
          </p:nvSpPr>
          <p:spPr>
            <a:xfrm>
              <a:off x="-5278605" y="-1032879"/>
              <a:ext cx="192" cy="0"/>
            </a:xfrm>
            <a:prstGeom prst="line">
              <a:avLst/>
            </a:prstGeom>
            <a:ln w="9525" cap="flat" cmpd="sng">
              <a:solidFill>
                <a:srgbClr val="FFCC00"/>
              </a:solidFill>
              <a:prstDash val="solid"/>
              <a:headEnd type="none" w="med" len="med"/>
              <a:tailEnd type="none" w="med" len="med"/>
            </a:ln>
          </p:spPr>
        </p:sp>
      </p:grpSp>
      <p:graphicFrame>
        <p:nvGraphicFramePr>
          <p:cNvPr id="37960" name="Group 72"/>
          <p:cNvGraphicFramePr>
            <a:graphicFrameLocks noGrp="1"/>
          </p:cNvGraphicFramePr>
          <p:nvPr>
            <p:custDataLst>
              <p:tags r:id="rId1"/>
            </p:custDataLst>
          </p:nvPr>
        </p:nvGraphicFramePr>
        <p:xfrm>
          <a:off x="755650" y="1090613"/>
          <a:ext cx="2244725" cy="1612900"/>
        </p:xfrm>
        <a:graphic>
          <a:graphicData uri="http://schemas.openxmlformats.org/drawingml/2006/table">
            <a:tbl>
              <a:tblPr/>
              <a:tblGrid>
                <a:gridCol w="1592580"/>
                <a:gridCol w="652145"/>
              </a:tblGrid>
              <a:tr h="32639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A   B</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8364" marB="3836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8364" marB="3836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28651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8364" marB="3836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8364" marB="3836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pic>
        <p:nvPicPr>
          <p:cNvPr id="37906" name="Group 129"/>
          <p:cNvPicPr/>
          <p:nvPr/>
        </p:nvPicPr>
        <p:blipFill>
          <a:blip r:embed="rId2"/>
          <a:stretch>
            <a:fillRect/>
          </a:stretch>
        </p:blipFill>
        <p:spPr>
          <a:xfrm>
            <a:off x="4529138" y="1066800"/>
            <a:ext cx="4432300" cy="1670050"/>
          </a:xfrm>
          <a:prstGeom prst="rect">
            <a:avLst/>
          </a:prstGeom>
          <a:noFill/>
          <a:ln w="9525">
            <a:noFill/>
          </a:ln>
        </p:spPr>
      </p:pic>
      <p:sp>
        <p:nvSpPr>
          <p:cNvPr id="37908" name="Rectangle 3"/>
          <p:cNvSpPr txBox="1"/>
          <p:nvPr/>
        </p:nvSpPr>
        <p:spPr>
          <a:xfrm>
            <a:off x="285750" y="2665413"/>
            <a:ext cx="7772400" cy="482600"/>
          </a:xfrm>
          <a:prstGeom prst="rect">
            <a:avLst/>
          </a:prstGeom>
          <a:noFill/>
          <a:ln w="9525">
            <a:noFill/>
          </a:ln>
        </p:spPr>
        <p:txBody>
          <a:bodyPr anchor="ctr"/>
          <a:p>
            <a:pPr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a:t>
            </a:r>
            <a:r>
              <a:rPr lang="zh-CN" altLang="en-US" sz="1800" b="1" dirty="0">
                <a:solidFill>
                  <a:schemeClr val="tx1"/>
                </a:solidFill>
                <a:latin typeface="华文新魏" panose="02010800040101010101" pitchFamily="2" charset="-122"/>
                <a:ea typeface="华文新魏" panose="02010800040101010101" pitchFamily="2" charset="-122"/>
              </a:rPr>
              <a:t>同或逻辑</a:t>
            </a:r>
            <a:r>
              <a:rPr lang="en-US" altLang="zh-CN" sz="1800" b="1"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F = A⊙B  = A </a:t>
            </a:r>
            <a:r>
              <a:rPr lang="en-US" altLang="zh-CN" sz="1800" b="1" dirty="0">
                <a:solidFill>
                  <a:schemeClr val="tx1"/>
                </a:solidFill>
                <a:latin typeface="黑体" panose="02010609060101010101" pitchFamily="49"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A </a:t>
            </a:r>
            <a:r>
              <a:rPr lang="en-US" altLang="zh-CN" sz="1800" b="1" dirty="0">
                <a:solidFill>
                  <a:schemeClr val="tx1"/>
                </a:solidFill>
                <a:latin typeface="黑体" panose="02010609060101010101" pitchFamily="49"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 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7909" name="Rectangle 5"/>
          <p:cNvSpPr txBox="1"/>
          <p:nvPr/>
        </p:nvSpPr>
        <p:spPr>
          <a:xfrm>
            <a:off x="500063" y="3004820"/>
            <a:ext cx="8064500" cy="374650"/>
          </a:xfrm>
          <a:prstGeom prst="rect">
            <a:avLst/>
          </a:prstGeom>
          <a:noFill/>
          <a:ln w="9525">
            <a:noFill/>
          </a:ln>
        </p:spPr>
        <p:txBody>
          <a:bodyPr/>
          <a:p>
            <a:pPr marL="342900" indent="-342900"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同或逻辑真值表                               同或门的逻辑符号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36887" name="Group 23"/>
          <p:cNvGraphicFramePr>
            <a:graphicFrameLocks noGrp="1"/>
          </p:cNvGraphicFramePr>
          <p:nvPr>
            <p:custDataLst>
              <p:tags r:id="rId3"/>
            </p:custDataLst>
          </p:nvPr>
        </p:nvGraphicFramePr>
        <p:xfrm>
          <a:off x="722313" y="3402013"/>
          <a:ext cx="2362200" cy="1560830"/>
        </p:xfrm>
        <a:graphic>
          <a:graphicData uri="http://schemas.openxmlformats.org/drawingml/2006/table">
            <a:tbl>
              <a:tblPr/>
              <a:tblGrid>
                <a:gridCol w="1676400"/>
                <a:gridCol w="685800"/>
              </a:tblGrid>
              <a:tr h="3143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A   B</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8488" marB="3848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8488" marB="3848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24650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8488" marB="3848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8488" marB="3848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3825" name="Line 101"/>
          <p:cNvSpPr>
            <a:spLocks noChangeShapeType="1"/>
          </p:cNvSpPr>
          <p:nvPr/>
        </p:nvSpPr>
        <p:spPr bwMode="auto">
          <a:xfrm>
            <a:off x="2838133" y="520700"/>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26" name="Line 102"/>
          <p:cNvSpPr>
            <a:spLocks noChangeShapeType="1"/>
          </p:cNvSpPr>
          <p:nvPr/>
        </p:nvSpPr>
        <p:spPr bwMode="auto">
          <a:xfrm>
            <a:off x="4198620" y="504825"/>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27" name="Line 103"/>
          <p:cNvSpPr>
            <a:spLocks noChangeShapeType="1"/>
          </p:cNvSpPr>
          <p:nvPr/>
        </p:nvSpPr>
        <p:spPr bwMode="auto">
          <a:xfrm>
            <a:off x="2963863" y="2787650"/>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28" name="Line 104"/>
          <p:cNvSpPr>
            <a:spLocks noChangeShapeType="1"/>
          </p:cNvSpPr>
          <p:nvPr/>
        </p:nvSpPr>
        <p:spPr bwMode="auto">
          <a:xfrm>
            <a:off x="3372803" y="2787650"/>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61" name="Line 102"/>
          <p:cNvSpPr>
            <a:spLocks noChangeShapeType="1"/>
          </p:cNvSpPr>
          <p:nvPr/>
        </p:nvSpPr>
        <p:spPr bwMode="auto">
          <a:xfrm>
            <a:off x="6640513" y="2005013"/>
            <a:ext cx="576263"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62" name="Line 102"/>
          <p:cNvSpPr>
            <a:spLocks noChangeShapeType="1"/>
          </p:cNvSpPr>
          <p:nvPr/>
        </p:nvSpPr>
        <p:spPr bwMode="auto">
          <a:xfrm>
            <a:off x="6630988" y="1689100"/>
            <a:ext cx="511175" cy="952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63" name="Line 102"/>
          <p:cNvSpPr>
            <a:spLocks noChangeShapeType="1"/>
          </p:cNvSpPr>
          <p:nvPr/>
        </p:nvSpPr>
        <p:spPr bwMode="auto">
          <a:xfrm>
            <a:off x="5454650" y="2005013"/>
            <a:ext cx="511175" cy="952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pic>
        <p:nvPicPr>
          <p:cNvPr id="2" name="图片 1"/>
          <p:cNvPicPr>
            <a:picLocks noChangeAspect="1"/>
          </p:cNvPicPr>
          <p:nvPr/>
        </p:nvPicPr>
        <p:blipFill>
          <a:blip r:embed="rId4"/>
          <a:stretch>
            <a:fillRect/>
          </a:stretch>
        </p:blipFill>
        <p:spPr>
          <a:xfrm>
            <a:off x="4427855" y="2548255"/>
            <a:ext cx="4482465" cy="2551430"/>
          </a:xfrm>
          <a:prstGeom prst="rect">
            <a:avLst/>
          </a:prstGeom>
        </p:spPr>
      </p:pic>
      <p:pic>
        <p:nvPicPr>
          <p:cNvPr id="3" name="图片 2"/>
          <p:cNvPicPr>
            <a:picLocks noChangeAspect="1"/>
          </p:cNvPicPr>
          <p:nvPr/>
        </p:nvPicPr>
        <p:blipFill>
          <a:blip r:embed="rId5"/>
          <a:stretch>
            <a:fillRect/>
          </a:stretch>
        </p:blipFill>
        <p:spPr>
          <a:xfrm>
            <a:off x="107315" y="504825"/>
            <a:ext cx="9057005" cy="47815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9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9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9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9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688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9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891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8916" name="Rectangle 3"/>
          <p:cNvSpPr>
            <a:spLocks noGrp="1"/>
          </p:cNvSpPr>
          <p:nvPr>
            <p:ph type="title"/>
          </p:nvPr>
        </p:nvSpPr>
        <p:spPr>
          <a:xfrm>
            <a:off x="500063" y="484188"/>
            <a:ext cx="7772400" cy="514350"/>
          </a:xfrm>
          <a:prstGeom prst="rect">
            <a:avLst/>
          </a:prstGeom>
          <a:noFill/>
          <a:ln w="9525">
            <a:noFill/>
          </a:ln>
        </p:spPr>
        <p:txBody>
          <a:bodyPr/>
          <a:p>
            <a:pPr eaLnBrk="1" hangingPunct="1"/>
            <a:r>
              <a:rPr lang="zh-CN" altLang="en-US" sz="1800" b="1" dirty="0">
                <a:solidFill>
                  <a:srgbClr val="FF0000"/>
                </a:solidFill>
                <a:latin typeface="黑体" panose="02010609060101010101" pitchFamily="49" charset="-122"/>
                <a:ea typeface="黑体" panose="02010609060101010101" pitchFamily="49" charset="-122"/>
              </a:rPr>
              <a:t>异或运算与同或运算的关系</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38917" name="Rectangle 4"/>
          <p:cNvSpPr>
            <a:spLocks noGrp="1"/>
          </p:cNvSpPr>
          <p:nvPr>
            <p:ph/>
          </p:nvPr>
        </p:nvSpPr>
        <p:spPr>
          <a:xfrm>
            <a:off x="685800" y="824865"/>
            <a:ext cx="7391400" cy="1129665"/>
          </a:xfrm>
          <a:prstGeom prst="rect">
            <a:avLst/>
          </a:prstGeom>
          <a:noFill/>
          <a:ln w="9525">
            <a:noFill/>
          </a:ln>
        </p:spPr>
        <p:txBody>
          <a:bodyPr/>
          <a:p>
            <a:pPr marL="609600" indent="-609600" eaLnBrk="1" hangingPunct="1">
              <a:buFont typeface="Wingdings" panose="05000000000000000000" pitchFamily="2" charset="2"/>
              <a:buChar char="Ø"/>
            </a:pP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A⊕B  =  A⊙B        A⊙B = A⊕B </a:t>
            </a:r>
            <a:endParaRPr lang="en-US" altLang="zh-CN" sz="1800" b="1" dirty="0">
              <a:latin typeface="黑体" panose="02010609060101010101" pitchFamily="49" charset="-122"/>
              <a:ea typeface="黑体" panose="02010609060101010101" pitchFamily="49" charset="-122"/>
            </a:endParaRPr>
          </a:p>
          <a:p>
            <a:pPr marL="609600" indent="-609600"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(A⊕B)’= A⊙B       (A⊙B)’= A⊕B </a:t>
            </a:r>
            <a:endParaRPr lang="en-US" altLang="zh-CN" sz="1800" b="1" dirty="0">
              <a:latin typeface="黑体" panose="02010609060101010101" pitchFamily="49" charset="-122"/>
              <a:ea typeface="黑体" panose="02010609060101010101" pitchFamily="49" charset="-122"/>
            </a:endParaRPr>
          </a:p>
          <a:p>
            <a:pPr marL="609600" indent="-609600"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en-US" altLang="zh-CN" sz="1800" b="1" dirty="0">
                <a:highlight>
                  <a:srgbClr val="FFFF00"/>
                </a:highlight>
                <a:latin typeface="黑体" panose="02010609060101010101" pitchFamily="49" charset="-122"/>
                <a:ea typeface="黑体" panose="02010609060101010101" pitchFamily="49" charset="-122"/>
              </a:rPr>
              <a:t> A⊕B ⊕C = A⊙B ⊙C</a:t>
            </a:r>
            <a:endParaRPr lang="en-US" altLang="zh-CN" sz="1800" b="1" dirty="0">
              <a:highlight>
                <a:srgbClr val="FFFF00"/>
              </a:highlight>
              <a:latin typeface="黑体" panose="02010609060101010101" pitchFamily="49" charset="-122"/>
              <a:ea typeface="黑体" panose="02010609060101010101" pitchFamily="49" charset="-122"/>
            </a:endParaRPr>
          </a:p>
        </p:txBody>
      </p:sp>
      <p:grpSp>
        <p:nvGrpSpPr>
          <p:cNvPr id="38919" name="Group 79"/>
          <p:cNvGrpSpPr/>
          <p:nvPr/>
        </p:nvGrpSpPr>
        <p:grpSpPr>
          <a:xfrm>
            <a:off x="2416175" y="827405"/>
            <a:ext cx="2842260" cy="76200"/>
            <a:chOff x="7" y="0"/>
            <a:chExt cx="2422" cy="0"/>
          </a:xfrm>
        </p:grpSpPr>
        <p:sp>
          <p:nvSpPr>
            <p:cNvPr id="38959" name="Line 77"/>
            <p:cNvSpPr/>
            <p:nvPr/>
          </p:nvSpPr>
          <p:spPr>
            <a:xfrm>
              <a:off x="7" y="0"/>
              <a:ext cx="326" cy="0"/>
            </a:xfrm>
            <a:prstGeom prst="line">
              <a:avLst/>
            </a:prstGeom>
            <a:ln w="15875" cap="flat" cmpd="sng">
              <a:solidFill>
                <a:srgbClr val="FF0000"/>
              </a:solidFill>
              <a:prstDash val="solid"/>
              <a:headEnd type="none" w="med" len="med"/>
              <a:tailEnd type="none" w="med" len="med"/>
            </a:ln>
          </p:spPr>
        </p:sp>
        <p:sp>
          <p:nvSpPr>
            <p:cNvPr id="38960" name="Line 78"/>
            <p:cNvSpPr/>
            <p:nvPr/>
          </p:nvSpPr>
          <p:spPr>
            <a:xfrm>
              <a:off x="2030" y="0"/>
              <a:ext cx="399" cy="0"/>
            </a:xfrm>
            <a:prstGeom prst="line">
              <a:avLst/>
            </a:prstGeom>
            <a:ln w="15875" cap="flat" cmpd="sng">
              <a:solidFill>
                <a:srgbClr val="FF0000"/>
              </a:solidFill>
              <a:prstDash val="solid"/>
              <a:headEnd type="none" w="med" len="med"/>
              <a:tailEnd type="none" w="med" len="med"/>
            </a:ln>
          </p:spPr>
        </p:sp>
      </p:grpSp>
      <p:grpSp>
        <p:nvGrpSpPr>
          <p:cNvPr id="38921" name="Group 96"/>
          <p:cNvGrpSpPr/>
          <p:nvPr/>
        </p:nvGrpSpPr>
        <p:grpSpPr>
          <a:xfrm>
            <a:off x="3790950" y="3835400"/>
            <a:ext cx="2667000" cy="642938"/>
            <a:chOff x="1968" y="0"/>
            <a:chExt cx="1680" cy="540"/>
          </a:xfrm>
        </p:grpSpPr>
        <p:sp>
          <p:nvSpPr>
            <p:cNvPr id="38941" name="Line 90"/>
            <p:cNvSpPr/>
            <p:nvPr/>
          </p:nvSpPr>
          <p:spPr>
            <a:xfrm>
              <a:off x="2086" y="0"/>
              <a:ext cx="170" cy="0"/>
            </a:xfrm>
            <a:prstGeom prst="line">
              <a:avLst/>
            </a:prstGeom>
            <a:ln w="9525" cap="flat" cmpd="sng">
              <a:solidFill>
                <a:srgbClr val="FFFFFF"/>
              </a:solidFill>
              <a:prstDash val="solid"/>
              <a:headEnd type="none" w="med" len="med"/>
              <a:tailEnd type="none" w="med" len="med"/>
            </a:ln>
          </p:spPr>
        </p:sp>
        <p:sp>
          <p:nvSpPr>
            <p:cNvPr id="38942" name="Line 91"/>
            <p:cNvSpPr/>
            <p:nvPr/>
          </p:nvSpPr>
          <p:spPr>
            <a:xfrm>
              <a:off x="2920" y="0"/>
              <a:ext cx="170" cy="0"/>
            </a:xfrm>
            <a:prstGeom prst="line">
              <a:avLst/>
            </a:prstGeom>
            <a:ln w="9525" cap="flat" cmpd="sng">
              <a:solidFill>
                <a:srgbClr val="FFFFFF"/>
              </a:solidFill>
              <a:prstDash val="solid"/>
              <a:headEnd type="none" w="med" len="med"/>
              <a:tailEnd type="none" w="med" len="med"/>
            </a:ln>
          </p:spPr>
        </p:sp>
        <p:sp>
          <p:nvSpPr>
            <p:cNvPr id="38943" name="Line 92"/>
            <p:cNvSpPr/>
            <p:nvPr/>
          </p:nvSpPr>
          <p:spPr>
            <a:xfrm>
              <a:off x="2122" y="270"/>
              <a:ext cx="170" cy="0"/>
            </a:xfrm>
            <a:prstGeom prst="line">
              <a:avLst/>
            </a:prstGeom>
            <a:ln w="9525" cap="flat" cmpd="sng">
              <a:solidFill>
                <a:srgbClr val="FFFFFF"/>
              </a:solidFill>
              <a:prstDash val="solid"/>
              <a:headEnd type="none" w="med" len="med"/>
              <a:tailEnd type="none" w="med" len="med"/>
            </a:ln>
          </p:spPr>
        </p:sp>
        <p:sp>
          <p:nvSpPr>
            <p:cNvPr id="38944" name="Line 93"/>
            <p:cNvSpPr/>
            <p:nvPr/>
          </p:nvSpPr>
          <p:spPr>
            <a:xfrm>
              <a:off x="3478" y="270"/>
              <a:ext cx="170" cy="0"/>
            </a:xfrm>
            <a:prstGeom prst="line">
              <a:avLst/>
            </a:prstGeom>
            <a:ln w="9525" cap="flat" cmpd="sng">
              <a:solidFill>
                <a:srgbClr val="FFFFFF"/>
              </a:solidFill>
              <a:prstDash val="solid"/>
              <a:headEnd type="none" w="med" len="med"/>
              <a:tailEnd type="none" w="med" len="med"/>
            </a:ln>
          </p:spPr>
        </p:sp>
        <p:sp>
          <p:nvSpPr>
            <p:cNvPr id="38945" name="Line 94"/>
            <p:cNvSpPr/>
            <p:nvPr/>
          </p:nvSpPr>
          <p:spPr>
            <a:xfrm>
              <a:off x="1968" y="540"/>
              <a:ext cx="170" cy="0"/>
            </a:xfrm>
            <a:prstGeom prst="line">
              <a:avLst/>
            </a:prstGeom>
            <a:ln w="9525" cap="flat" cmpd="sng">
              <a:solidFill>
                <a:srgbClr val="FFFFFF"/>
              </a:solidFill>
              <a:prstDash val="solid"/>
              <a:headEnd type="none" w="med" len="med"/>
              <a:tailEnd type="none" w="med" len="med"/>
            </a:ln>
          </p:spPr>
        </p:sp>
        <p:sp>
          <p:nvSpPr>
            <p:cNvPr id="38946" name="Line 95"/>
            <p:cNvSpPr/>
            <p:nvPr/>
          </p:nvSpPr>
          <p:spPr>
            <a:xfrm>
              <a:off x="2160" y="540"/>
              <a:ext cx="170" cy="0"/>
            </a:xfrm>
            <a:prstGeom prst="line">
              <a:avLst/>
            </a:prstGeom>
            <a:ln w="9525" cap="flat" cmpd="sng">
              <a:solidFill>
                <a:srgbClr val="FFFFFF"/>
              </a:solidFill>
              <a:prstDash val="solid"/>
              <a:headEnd type="none" w="med" len="med"/>
              <a:tailEnd type="none" w="med" len="med"/>
            </a:ln>
          </p:spPr>
        </p:sp>
      </p:grpSp>
      <p:pic>
        <p:nvPicPr>
          <p:cNvPr id="2" name="图片 1"/>
          <p:cNvPicPr>
            <a:picLocks noChangeAspect="1"/>
          </p:cNvPicPr>
          <p:nvPr/>
        </p:nvPicPr>
        <p:blipFill>
          <a:blip r:embed="rId1"/>
          <a:stretch>
            <a:fillRect/>
          </a:stretch>
        </p:blipFill>
        <p:spPr>
          <a:xfrm>
            <a:off x="1010285" y="1911350"/>
            <a:ext cx="6205855" cy="1592580"/>
          </a:xfrm>
          <a:prstGeom prst="rect">
            <a:avLst/>
          </a:prstGeom>
        </p:spPr>
      </p:pic>
      <p:pic>
        <p:nvPicPr>
          <p:cNvPr id="3" name="图片 2"/>
          <p:cNvPicPr>
            <a:picLocks noChangeAspect="1"/>
          </p:cNvPicPr>
          <p:nvPr/>
        </p:nvPicPr>
        <p:blipFill>
          <a:blip r:embed="rId2"/>
          <a:stretch>
            <a:fillRect/>
          </a:stretch>
        </p:blipFill>
        <p:spPr>
          <a:xfrm>
            <a:off x="899795" y="3573145"/>
            <a:ext cx="6543675" cy="1448435"/>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21"/>
                                        </p:tgtEl>
                                        <p:attrNameLst>
                                          <p:attrName>style.visibility</p:attrName>
                                        </p:attrNameLst>
                                      </p:cBhvr>
                                      <p:to>
                                        <p:strVal val="visible"/>
                                      </p:to>
                                    </p:set>
                                    <p:animEffect transition="in" filter="blinds(horizontal)">
                                      <p:cBhvr>
                                        <p:cTn id="7" dur="500"/>
                                        <p:tgtEl>
                                          <p:spTgt spid="389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4"/>
          <p:cNvSpPr txBox="1">
            <a:spLocks noGrp="1"/>
          </p:cNvSpPr>
          <p:nvPr/>
        </p:nvSpPr>
        <p:spPr>
          <a:xfrm>
            <a:off x="915670" y="491077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9939" name="Rectangle 6"/>
          <p:cNvSpPr txBox="1">
            <a:spLocks noGrp="1"/>
          </p:cNvSpPr>
          <p:nvPr/>
        </p:nvSpPr>
        <p:spPr>
          <a:xfrm>
            <a:off x="6744970" y="491077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9940" name="Text Box 55"/>
          <p:cNvSpPr txBox="1"/>
          <p:nvPr/>
        </p:nvSpPr>
        <p:spPr>
          <a:xfrm>
            <a:off x="515620" y="732473"/>
            <a:ext cx="8304213" cy="78359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当</a:t>
            </a:r>
            <a:r>
              <a:rPr lang="zh-CN" altLang="en-US" sz="1800" b="1" dirty="0">
                <a:solidFill>
                  <a:schemeClr val="tx1"/>
                </a:solidFill>
                <a:latin typeface="黑体" panose="02010609060101010101" pitchFamily="49" charset="-122"/>
                <a:ea typeface="黑体" panose="02010609060101010101" pitchFamily="49" charset="-122"/>
              </a:rPr>
              <a:t>变量为</a:t>
            </a:r>
            <a:r>
              <a:rPr lang="en-US" altLang="zh-CN" sz="1800" b="1" dirty="0">
                <a:solidFill>
                  <a:schemeClr val="tx1"/>
                </a:solidFill>
                <a:latin typeface="黑体" panose="02010609060101010101" pitchFamily="49" charset="-122"/>
                <a:ea typeface="黑体" panose="02010609060101010101" pitchFamily="49" charset="-122"/>
              </a:rPr>
              <a:t>2</a:t>
            </a:r>
            <a:r>
              <a:rPr lang="zh-CN" altLang="en-US" sz="1800" dirty="0">
                <a:solidFill>
                  <a:schemeClr val="tx1"/>
                </a:solidFill>
                <a:latin typeface="黑体" panose="02010609060101010101" pitchFamily="49" charset="-122"/>
                <a:ea typeface="黑体" panose="02010609060101010101" pitchFamily="49" charset="-122"/>
              </a:rPr>
              <a:t>时，</a:t>
            </a:r>
            <a:r>
              <a:rPr lang="zh-CN" altLang="en-US" sz="1800" b="1" dirty="0">
                <a:solidFill>
                  <a:schemeClr val="tx1"/>
                </a:solidFill>
                <a:latin typeface="黑体" panose="02010609060101010101" pitchFamily="49" charset="-122"/>
                <a:ea typeface="黑体" panose="02010609060101010101" pitchFamily="49" charset="-122"/>
              </a:rPr>
              <a:t>同或运算</a:t>
            </a:r>
            <a:r>
              <a:rPr lang="zh-CN" altLang="en-US" sz="1800" dirty="0">
                <a:solidFill>
                  <a:schemeClr val="tx1"/>
                </a:solidFill>
                <a:latin typeface="黑体" panose="02010609060101010101" pitchFamily="49" charset="-122"/>
                <a:ea typeface="黑体" panose="02010609060101010101" pitchFamily="49" charset="-122"/>
              </a:rPr>
              <a:t>与</a:t>
            </a:r>
            <a:r>
              <a:rPr lang="zh-CN" altLang="en-US" sz="1800" b="1" dirty="0">
                <a:solidFill>
                  <a:schemeClr val="tx1"/>
                </a:solidFill>
                <a:latin typeface="黑体" panose="02010609060101010101" pitchFamily="49" charset="-122"/>
                <a:ea typeface="黑体" panose="02010609060101010101" pitchFamily="49" charset="-122"/>
              </a:rPr>
              <a:t>异或运算</a:t>
            </a:r>
            <a:r>
              <a:rPr lang="zh-CN" altLang="en-US" sz="1800" dirty="0">
                <a:solidFill>
                  <a:schemeClr val="tx1"/>
                </a:solidFill>
                <a:latin typeface="黑体" panose="02010609060101010101" pitchFamily="49" charset="-122"/>
                <a:ea typeface="黑体" panose="02010609060101010101" pitchFamily="49" charset="-122"/>
              </a:rPr>
              <a:t>之间具有</a:t>
            </a:r>
            <a:r>
              <a:rPr lang="zh-CN" altLang="en-US" sz="1800" b="1" dirty="0">
                <a:solidFill>
                  <a:srgbClr val="0000FF"/>
                </a:solidFill>
                <a:latin typeface="黑体" panose="02010609060101010101" pitchFamily="49" charset="-122"/>
                <a:ea typeface="黑体" panose="02010609060101010101" pitchFamily="49" charset="-122"/>
              </a:rPr>
              <a:t>互补</a:t>
            </a:r>
            <a:r>
              <a:rPr lang="zh-CN" altLang="en-US" sz="1800" dirty="0">
                <a:solidFill>
                  <a:schemeClr val="tx1"/>
                </a:solidFill>
                <a:latin typeface="黑体" panose="02010609060101010101" pitchFamily="49" charset="-122"/>
                <a:ea typeface="黑体" panose="02010609060101010101" pitchFamily="49" charset="-122"/>
              </a:rPr>
              <a:t>关系；</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当</a:t>
            </a:r>
            <a:r>
              <a:rPr lang="zh-CN" altLang="en-US" sz="1800" b="1" dirty="0">
                <a:solidFill>
                  <a:schemeClr val="tx1"/>
                </a:solidFill>
                <a:latin typeface="黑体" panose="02010609060101010101" pitchFamily="49" charset="-122"/>
                <a:ea typeface="黑体" panose="02010609060101010101" pitchFamily="49" charset="-122"/>
              </a:rPr>
              <a:t>变量为</a:t>
            </a:r>
            <a:r>
              <a:rPr lang="en-US" altLang="zh-CN" sz="1800" b="1" dirty="0">
                <a:solidFill>
                  <a:schemeClr val="tx1"/>
                </a:solidFill>
                <a:latin typeface="黑体" panose="02010609060101010101" pitchFamily="49" charset="-122"/>
                <a:ea typeface="黑体" panose="02010609060101010101" pitchFamily="49" charset="-122"/>
              </a:rPr>
              <a:t>3</a:t>
            </a:r>
            <a:r>
              <a:rPr lang="zh-CN" altLang="en-US" sz="1800" dirty="0">
                <a:solidFill>
                  <a:schemeClr val="tx1"/>
                </a:solidFill>
                <a:latin typeface="黑体" panose="02010609060101010101" pitchFamily="49" charset="-122"/>
                <a:ea typeface="黑体" panose="02010609060101010101" pitchFamily="49" charset="-122"/>
              </a:rPr>
              <a:t>时，</a:t>
            </a:r>
            <a:r>
              <a:rPr lang="zh-CN" altLang="en-US" sz="1800" b="1" dirty="0">
                <a:solidFill>
                  <a:schemeClr val="tx1"/>
                </a:solidFill>
                <a:latin typeface="黑体" panose="02010609060101010101" pitchFamily="49" charset="-122"/>
                <a:ea typeface="黑体" panose="02010609060101010101" pitchFamily="49" charset="-122"/>
              </a:rPr>
              <a:t>同或运算</a:t>
            </a:r>
            <a:r>
              <a:rPr lang="zh-CN" altLang="en-US" sz="1800" dirty="0">
                <a:solidFill>
                  <a:schemeClr val="tx1"/>
                </a:solidFill>
                <a:latin typeface="黑体" panose="02010609060101010101" pitchFamily="49" charset="-122"/>
                <a:ea typeface="黑体" panose="02010609060101010101" pitchFamily="49" charset="-122"/>
              </a:rPr>
              <a:t>与</a:t>
            </a:r>
            <a:r>
              <a:rPr lang="zh-CN" altLang="en-US" sz="1800" b="1" dirty="0">
                <a:solidFill>
                  <a:schemeClr val="tx1"/>
                </a:solidFill>
                <a:latin typeface="黑体" panose="02010609060101010101" pitchFamily="49" charset="-122"/>
                <a:ea typeface="黑体" panose="02010609060101010101" pitchFamily="49" charset="-122"/>
              </a:rPr>
              <a:t>异或运算</a:t>
            </a:r>
            <a:r>
              <a:rPr lang="zh-CN" altLang="en-US" sz="1800" dirty="0">
                <a:solidFill>
                  <a:schemeClr val="tx1"/>
                </a:solidFill>
                <a:latin typeface="黑体" panose="02010609060101010101" pitchFamily="49" charset="-122"/>
                <a:ea typeface="黑体" panose="02010609060101010101" pitchFamily="49" charset="-122"/>
              </a:rPr>
              <a:t>之间具有</a:t>
            </a:r>
            <a:r>
              <a:rPr lang="zh-CN" altLang="en-US" sz="1800" b="1" dirty="0">
                <a:solidFill>
                  <a:srgbClr val="0000FF"/>
                </a:solidFill>
                <a:latin typeface="黑体" panose="02010609060101010101" pitchFamily="49" charset="-122"/>
                <a:ea typeface="黑体" panose="02010609060101010101" pitchFamily="49" charset="-122"/>
              </a:rPr>
              <a:t>相等</a:t>
            </a:r>
            <a:r>
              <a:rPr lang="zh-CN" altLang="en-US" sz="1800" dirty="0">
                <a:solidFill>
                  <a:schemeClr val="tx1"/>
                </a:solidFill>
                <a:latin typeface="黑体" panose="02010609060101010101" pitchFamily="49" charset="-122"/>
                <a:ea typeface="黑体" panose="02010609060101010101" pitchFamily="49" charset="-122"/>
              </a:rPr>
              <a:t>关系。</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941" name="Rectangle 3"/>
          <p:cNvSpPr>
            <a:spLocks noGrp="1"/>
          </p:cNvSpPr>
          <p:nvPr>
            <p:ph type="title"/>
          </p:nvPr>
        </p:nvSpPr>
        <p:spPr>
          <a:xfrm>
            <a:off x="537845" y="1543685"/>
            <a:ext cx="8610600" cy="1457325"/>
          </a:xfrm>
          <a:prstGeom prst="rect">
            <a:avLst/>
          </a:prstGeom>
          <a:noFill/>
          <a:ln w="9525">
            <a:noFill/>
          </a:ln>
        </p:spPr>
        <p:txBody>
          <a:bodyPr/>
          <a:p>
            <a:pPr eaLnBrk="1" hangingPunct="1">
              <a:lnSpc>
                <a:spcPct val="130000"/>
              </a:lnSpc>
            </a:pPr>
            <a:r>
              <a:rPr lang="zh-CN" altLang="en-US" sz="1800" dirty="0">
                <a:latin typeface="黑体" panose="02010609060101010101" pitchFamily="49" charset="-122"/>
                <a:ea typeface="黑体" panose="02010609060101010101" pitchFamily="49" charset="-122"/>
              </a:rPr>
              <a:t>由代入规则可以证明：</a:t>
            </a:r>
            <a:br>
              <a:rPr lang="zh-CN" altLang="en-US" sz="1800" dirty="0">
                <a:latin typeface="黑体" panose="02010609060101010101" pitchFamily="49" charset="-122"/>
                <a:ea typeface="黑体" panose="02010609060101010101" pitchFamily="49" charset="-122"/>
              </a:rPr>
            </a:b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当变量为</a:t>
            </a:r>
            <a:r>
              <a:rPr lang="zh-CN" altLang="en-US" sz="1800" dirty="0">
                <a:solidFill>
                  <a:srgbClr val="0000FF"/>
                </a:solidFill>
                <a:latin typeface="黑体" panose="02010609060101010101" pitchFamily="49" charset="-122"/>
                <a:ea typeface="黑体" panose="02010609060101010101" pitchFamily="49" charset="-122"/>
              </a:rPr>
              <a:t>偶数</a:t>
            </a:r>
            <a:r>
              <a:rPr lang="zh-CN" altLang="en-US" sz="1800" dirty="0">
                <a:solidFill>
                  <a:srgbClr val="FF0000"/>
                </a:solidFill>
                <a:latin typeface="黑体" panose="02010609060101010101" pitchFamily="49" charset="-122"/>
                <a:ea typeface="黑体" panose="02010609060101010101" pitchFamily="49" charset="-122"/>
              </a:rPr>
              <a:t>时，同或运算与异或运算之间具有互补关系；</a:t>
            </a:r>
            <a:r>
              <a:rPr lang="en-US" altLang="zh-CN" sz="1800" dirty="0">
                <a:solidFill>
                  <a:srgbClr val="FF0000"/>
                </a:solidFill>
                <a:latin typeface="黑体" panose="02010609060101010101" pitchFamily="49" charset="-122"/>
                <a:ea typeface="黑体" panose="02010609060101010101" pitchFamily="49" charset="-122"/>
              </a:rPr>
              <a:t>   </a:t>
            </a:r>
            <a:br>
              <a:rPr lang="en-US" altLang="zh-CN" sz="1800" dirty="0">
                <a:solidFill>
                  <a:srgbClr val="FF0000"/>
                </a:solidFill>
                <a:latin typeface="黑体" panose="02010609060101010101" pitchFamily="49" charset="-122"/>
                <a:ea typeface="黑体" panose="02010609060101010101" pitchFamily="49" charset="-122"/>
              </a:rPr>
            </a:br>
            <a:r>
              <a:rPr lang="en-US" altLang="zh-CN" sz="1800" dirty="0">
                <a:solidFill>
                  <a:srgbClr val="FF0000"/>
                </a:solidFill>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当变量为</a:t>
            </a:r>
            <a:r>
              <a:rPr lang="zh-CN" altLang="en-US" sz="1800" dirty="0">
                <a:solidFill>
                  <a:srgbClr val="0000FF"/>
                </a:solidFill>
                <a:latin typeface="黑体" panose="02010609060101010101" pitchFamily="49" charset="-122"/>
                <a:ea typeface="黑体" panose="02010609060101010101" pitchFamily="49" charset="-122"/>
              </a:rPr>
              <a:t>奇数</a:t>
            </a:r>
            <a:r>
              <a:rPr lang="zh-CN" altLang="en-US" sz="1800" dirty="0">
                <a:solidFill>
                  <a:srgbClr val="FF0000"/>
                </a:solidFill>
                <a:latin typeface="黑体" panose="02010609060101010101" pitchFamily="49" charset="-122"/>
                <a:ea typeface="黑体" panose="02010609060101010101" pitchFamily="49" charset="-122"/>
              </a:rPr>
              <a:t>时，同或运算与异或运算之间具有相等关系。即：</a:t>
            </a:r>
            <a:endParaRPr lang="zh-CN" altLang="en-US" sz="1800" dirty="0">
              <a:solidFill>
                <a:srgbClr val="FF0000"/>
              </a:solidFill>
              <a:latin typeface="黑体" panose="02010609060101010101" pitchFamily="49" charset="-122"/>
              <a:ea typeface="黑体" panose="02010609060101010101" pitchFamily="49" charset="-122"/>
            </a:endParaRPr>
          </a:p>
        </p:txBody>
      </p:sp>
      <p:sp>
        <p:nvSpPr>
          <p:cNvPr id="39943" name="Line 53"/>
          <p:cNvSpPr/>
          <p:nvPr/>
        </p:nvSpPr>
        <p:spPr>
          <a:xfrm flipV="1">
            <a:off x="501333" y="3196273"/>
            <a:ext cx="4143375" cy="34925"/>
          </a:xfrm>
          <a:prstGeom prst="line">
            <a:avLst/>
          </a:prstGeom>
          <a:ln w="9525" cap="flat" cmpd="sng">
            <a:solidFill>
              <a:srgbClr val="FFFFFF"/>
            </a:solidFill>
            <a:prstDash val="solid"/>
            <a:headEnd type="none" w="med" len="med"/>
            <a:tailEnd type="none" w="med" len="med"/>
          </a:ln>
        </p:spPr>
      </p:sp>
      <p:pic>
        <p:nvPicPr>
          <p:cNvPr id="2" name="图片 1"/>
          <p:cNvPicPr>
            <a:picLocks noChangeAspect="1"/>
          </p:cNvPicPr>
          <p:nvPr/>
        </p:nvPicPr>
        <p:blipFill>
          <a:blip r:embed="rId1"/>
          <a:stretch>
            <a:fillRect/>
          </a:stretch>
        </p:blipFill>
        <p:spPr>
          <a:xfrm>
            <a:off x="827405" y="3231515"/>
            <a:ext cx="7440930" cy="1134745"/>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transition="in" filter="blinds(horizontal)">
                                      <p:cBhvr>
                                        <p:cTn id="7" dur="500"/>
                                        <p:tgtEl>
                                          <p:spTgt spid="399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p:bldP spid="39941"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09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0964" name="Rectangle 1027"/>
          <p:cNvSpPr>
            <a:spLocks noGrp="1"/>
          </p:cNvSpPr>
          <p:nvPr>
            <p:ph type="title"/>
          </p:nvPr>
        </p:nvSpPr>
        <p:spPr>
          <a:xfrm>
            <a:off x="304800" y="487363"/>
            <a:ext cx="8610600" cy="571500"/>
          </a:xfrm>
          <a:prstGeom prst="rect">
            <a:avLst/>
          </a:prstGeom>
          <a:noFill/>
          <a:ln w="9525">
            <a:noFill/>
          </a:ln>
        </p:spPr>
        <p:txBody>
          <a:bodyPr/>
          <a:p>
            <a:pPr eaLnBrk="1" hangingPunct="1">
              <a:lnSpc>
                <a:spcPct val="130000"/>
              </a:lnSpc>
            </a:pPr>
            <a:r>
              <a:rPr lang="en-US" altLang="zh-CN" sz="1800" b="1" dirty="0">
                <a:solidFill>
                  <a:srgbClr val="FF0000"/>
                </a:solidFill>
                <a:latin typeface="黑体" panose="02010609060101010101" pitchFamily="49" charset="-122"/>
                <a:ea typeface="黑体" panose="02010609060101010101" pitchFamily="49" charset="-122"/>
              </a:rPr>
              <a:t> </a:t>
            </a:r>
            <a:r>
              <a:rPr lang="zh-CN" altLang="en-US" sz="1800" b="1" u="sng" dirty="0">
                <a:solidFill>
                  <a:srgbClr val="FF0000"/>
                </a:solidFill>
                <a:latin typeface="黑体" panose="02010609060101010101" pitchFamily="49" charset="-122"/>
                <a:ea typeface="黑体" panose="02010609060101010101" pitchFamily="49" charset="-122"/>
              </a:rPr>
              <a:t>异或运算</a:t>
            </a:r>
            <a:r>
              <a:rPr lang="zh-CN" altLang="en-US" sz="1800" b="1" dirty="0">
                <a:solidFill>
                  <a:srgbClr val="FF0000"/>
                </a:solidFill>
                <a:latin typeface="黑体" panose="02010609060101010101" pitchFamily="49" charset="-122"/>
                <a:ea typeface="黑体" panose="02010609060101010101" pitchFamily="49" charset="-122"/>
              </a:rPr>
              <a:t>和</a:t>
            </a:r>
            <a:r>
              <a:rPr lang="zh-CN" altLang="en-US" sz="1800" b="1" u="sng" dirty="0">
                <a:solidFill>
                  <a:srgbClr val="0000FF"/>
                </a:solidFill>
                <a:latin typeface="黑体" panose="02010609060101010101" pitchFamily="49" charset="-122"/>
                <a:ea typeface="黑体" panose="02010609060101010101" pitchFamily="49" charset="-122"/>
              </a:rPr>
              <a:t>同或运算</a:t>
            </a:r>
            <a:r>
              <a:rPr lang="zh-CN" altLang="en-US" sz="1800" b="1" dirty="0">
                <a:solidFill>
                  <a:srgbClr val="FF0000"/>
                </a:solidFill>
                <a:latin typeface="黑体" panose="02010609060101010101" pitchFamily="49" charset="-122"/>
                <a:ea typeface="黑体" panose="02010609060101010101" pitchFamily="49" charset="-122"/>
              </a:rPr>
              <a:t>的基本代数性质</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40965" name="Rectangle 1028"/>
          <p:cNvSpPr>
            <a:spLocks noGrp="1"/>
          </p:cNvSpPr>
          <p:nvPr>
            <p:ph/>
          </p:nvPr>
        </p:nvSpPr>
        <p:spPr>
          <a:xfrm>
            <a:off x="457200" y="995363"/>
            <a:ext cx="8305800" cy="3871912"/>
          </a:xfrm>
          <a:prstGeom prst="rect">
            <a:avLst/>
          </a:prstGeom>
          <a:noFill/>
          <a:ln w="9525">
            <a:noFill/>
          </a:ln>
        </p:spPr>
        <p:txBody>
          <a:bodyPr/>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0—1</a:t>
            </a:r>
            <a:r>
              <a:rPr lang="zh-CN" altLang="en-US" sz="1800" dirty="0">
                <a:latin typeface="黑体" panose="02010609060101010101" pitchFamily="49" charset="-122"/>
                <a:ea typeface="黑体" panose="02010609060101010101" pitchFamily="49" charset="-122"/>
              </a:rPr>
              <a:t>律    </a:t>
            </a:r>
            <a:r>
              <a:rPr lang="en-US" altLang="zh-CN" sz="1800" dirty="0">
                <a:latin typeface="黑体" panose="02010609060101010101" pitchFamily="49" charset="-122"/>
                <a:ea typeface="黑体" panose="02010609060101010101" pitchFamily="49" charset="-122"/>
              </a:rPr>
              <a:t>(a) A⊕0 =A               A⊕1 = A</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A⊙0 =A               A⊙1 = A</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zh-CN" altLang="en-US" sz="1800" dirty="0">
                <a:latin typeface="黑体" panose="02010609060101010101" pitchFamily="49" charset="-122"/>
                <a:ea typeface="黑体" panose="02010609060101010101" pitchFamily="49" charset="-122"/>
              </a:rPr>
              <a:t>交换律    </a:t>
            </a:r>
            <a:r>
              <a:rPr lang="en-US" altLang="zh-CN" sz="1800" dirty="0">
                <a:latin typeface="黑体" panose="02010609060101010101" pitchFamily="49" charset="-122"/>
                <a:ea typeface="黑体" panose="02010609060101010101" pitchFamily="49" charset="-122"/>
              </a:rPr>
              <a:t>(a) A⊕B =B⊕A</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A⊙B =B⊙A</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zh-CN" altLang="en-US" sz="1800" dirty="0">
                <a:solidFill>
                  <a:srgbClr val="0000FF"/>
                </a:solidFill>
                <a:latin typeface="黑体" panose="02010609060101010101" pitchFamily="49" charset="-122"/>
                <a:ea typeface="黑体" panose="02010609060101010101" pitchFamily="49" charset="-122"/>
              </a:rPr>
              <a:t>分配律</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 </a:t>
            </a:r>
            <a:r>
              <a:rPr lang="en-US" altLang="zh-CN" sz="1800" dirty="0">
                <a:solidFill>
                  <a:srgbClr val="0000FF"/>
                </a:solidFill>
                <a:latin typeface="黑体" panose="02010609060101010101" pitchFamily="49" charset="-122"/>
                <a:ea typeface="黑体" panose="02010609060101010101" pitchFamily="49" charset="-122"/>
              </a:rPr>
              <a:t>A(B⊕C) =AB⊕AC</a:t>
            </a:r>
            <a:endParaRPr lang="en-US" altLang="zh-CN" sz="1800" dirty="0">
              <a:solidFill>
                <a:srgbClr val="0000FF"/>
              </a:solidFill>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t>
            </a:r>
            <a:r>
              <a:rPr lang="en-US" altLang="zh-CN" sz="1800" dirty="0">
                <a:solidFill>
                  <a:srgbClr val="0000FF"/>
                </a:solidFill>
                <a:latin typeface="黑体" panose="02010609060101010101" pitchFamily="49" charset="-122"/>
                <a:ea typeface="黑体" panose="02010609060101010101" pitchFamily="49" charset="-122"/>
              </a:rPr>
              <a:t>A</a:t>
            </a:r>
            <a:r>
              <a:rPr lang="zh-CN" altLang="en-US" sz="1800" dirty="0">
                <a:solidFill>
                  <a:srgbClr val="0000FF"/>
                </a:solidFill>
                <a:latin typeface="黑体" panose="02010609060101010101" pitchFamily="49" charset="-122"/>
                <a:ea typeface="黑体" panose="02010609060101010101" pitchFamily="49" charset="-122"/>
              </a:rPr>
              <a:t>＋</a:t>
            </a:r>
            <a:r>
              <a:rPr lang="en-US" altLang="zh-CN" sz="1800" dirty="0">
                <a:solidFill>
                  <a:srgbClr val="0000FF"/>
                </a:solidFill>
                <a:latin typeface="黑体" panose="02010609060101010101" pitchFamily="49" charset="-122"/>
                <a:ea typeface="黑体" panose="02010609060101010101" pitchFamily="49" charset="-122"/>
              </a:rPr>
              <a:t>(B⊙C) =(A</a:t>
            </a:r>
            <a:r>
              <a:rPr lang="zh-CN" altLang="en-US" sz="1800" dirty="0">
                <a:solidFill>
                  <a:srgbClr val="0000FF"/>
                </a:solidFill>
                <a:latin typeface="黑体" panose="02010609060101010101" pitchFamily="49" charset="-122"/>
                <a:ea typeface="黑体" panose="02010609060101010101" pitchFamily="49" charset="-122"/>
              </a:rPr>
              <a:t>＋</a:t>
            </a:r>
            <a:r>
              <a:rPr lang="en-US" altLang="zh-CN" sz="1800" dirty="0">
                <a:solidFill>
                  <a:srgbClr val="0000FF"/>
                </a:solidFill>
                <a:latin typeface="黑体" panose="02010609060101010101" pitchFamily="49" charset="-122"/>
                <a:ea typeface="黑体" panose="02010609060101010101" pitchFamily="49" charset="-122"/>
              </a:rPr>
              <a:t>B)⊙(A</a:t>
            </a:r>
            <a:r>
              <a:rPr lang="zh-CN" altLang="en-US" sz="1800" dirty="0">
                <a:solidFill>
                  <a:srgbClr val="0000FF"/>
                </a:solidFill>
                <a:latin typeface="黑体" panose="02010609060101010101" pitchFamily="49" charset="-122"/>
                <a:ea typeface="黑体" panose="02010609060101010101" pitchFamily="49" charset="-122"/>
              </a:rPr>
              <a:t>＋</a:t>
            </a:r>
            <a:r>
              <a:rPr lang="en-US" altLang="zh-CN" sz="1800" dirty="0">
                <a:solidFill>
                  <a:srgbClr val="0000FF"/>
                </a:solidFill>
                <a:latin typeface="黑体" panose="02010609060101010101" pitchFamily="49" charset="-122"/>
                <a:ea typeface="黑体" panose="02010609060101010101" pitchFamily="49" charset="-122"/>
              </a:rPr>
              <a:t>C)</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zh-CN" altLang="en-US" sz="1800" dirty="0">
                <a:latin typeface="黑体" panose="02010609060101010101" pitchFamily="49" charset="-122"/>
                <a:ea typeface="黑体" panose="02010609060101010101" pitchFamily="49" charset="-122"/>
              </a:rPr>
              <a:t>结合律    </a:t>
            </a:r>
            <a:r>
              <a:rPr lang="en-US" altLang="zh-CN" sz="1800" dirty="0">
                <a:latin typeface="黑体" panose="02010609060101010101" pitchFamily="49" charset="-122"/>
                <a:ea typeface="黑体" panose="02010609060101010101" pitchFamily="49" charset="-122"/>
              </a:rPr>
              <a:t>(a) A⊕(B⊕C) = (A⊕B)⊕C</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A⊙(B⊙C) =(A ⊙B )⊙C</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zh-CN" altLang="en-US" sz="1800" dirty="0">
                <a:solidFill>
                  <a:srgbClr val="FF0066"/>
                </a:solidFill>
                <a:latin typeface="黑体" panose="02010609060101010101" pitchFamily="49" charset="-122"/>
                <a:ea typeface="黑体" panose="02010609060101010101" pitchFamily="49" charset="-122"/>
              </a:rPr>
              <a:t>调换律</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endParaRPr lang="en-US" altLang="zh-CN" sz="1800" dirty="0">
              <a:latin typeface="黑体" panose="02010609060101010101" pitchFamily="49" charset="-122"/>
              <a:ea typeface="黑体" panose="02010609060101010101" pitchFamily="49" charset="-122"/>
            </a:endParaRPr>
          </a:p>
        </p:txBody>
      </p:sp>
      <p:sp>
        <p:nvSpPr>
          <p:cNvPr id="40966" name="Line 1030"/>
          <p:cNvSpPr/>
          <p:nvPr/>
        </p:nvSpPr>
        <p:spPr>
          <a:xfrm>
            <a:off x="6227763" y="1000125"/>
            <a:ext cx="228600" cy="0"/>
          </a:xfrm>
          <a:prstGeom prst="line">
            <a:avLst/>
          </a:prstGeom>
          <a:ln w="9525" cap="flat" cmpd="sng">
            <a:solidFill>
              <a:srgbClr val="FFFFFF"/>
            </a:solidFill>
            <a:prstDash val="solid"/>
            <a:headEnd type="none" w="med" len="med"/>
            <a:tailEnd type="none" w="med" len="med"/>
          </a:ln>
        </p:spPr>
      </p:sp>
      <p:sp>
        <p:nvSpPr>
          <p:cNvPr id="40967" name="Line 1031"/>
          <p:cNvSpPr/>
          <p:nvPr/>
        </p:nvSpPr>
        <p:spPr>
          <a:xfrm>
            <a:off x="3557588" y="1428750"/>
            <a:ext cx="228600" cy="0"/>
          </a:xfrm>
          <a:prstGeom prst="line">
            <a:avLst/>
          </a:prstGeom>
          <a:ln w="9525" cap="flat" cmpd="sng">
            <a:solidFill>
              <a:srgbClr val="FFFFFF"/>
            </a:solidFill>
            <a:prstDash val="solid"/>
            <a:headEnd type="none" w="med" len="med"/>
            <a:tailEnd type="none" w="med" len="med"/>
          </a:ln>
        </p:spPr>
      </p:sp>
      <p:sp>
        <p:nvSpPr>
          <p:cNvPr id="36872" name="Line 8"/>
          <p:cNvSpPr>
            <a:spLocks noChangeShapeType="1"/>
          </p:cNvSpPr>
          <p:nvPr/>
        </p:nvSpPr>
        <p:spPr bwMode="auto">
          <a:xfrm>
            <a:off x="5435600" y="1050925"/>
            <a:ext cx="144463"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6873" name="Line 9"/>
          <p:cNvSpPr>
            <a:spLocks noChangeShapeType="1"/>
          </p:cNvSpPr>
          <p:nvPr/>
        </p:nvSpPr>
        <p:spPr bwMode="auto">
          <a:xfrm>
            <a:off x="2819400" y="1393825"/>
            <a:ext cx="142875"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5">
                                            <p:txEl>
                                              <p:charRg st="84" end="10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5">
                                            <p:txEl>
                                              <p:charRg st="104" end="12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65">
                                            <p:txEl>
                                              <p:charRg st="127" end="15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5">
                                            <p:txEl>
                                              <p:charRg st="152" end="18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65">
                                            <p:txEl>
                                              <p:charRg st="187" end="21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965">
                                            <p:txEl>
                                              <p:charRg st="216" end="24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65">
                                            <p:txEl>
                                              <p:charRg st="249" end="29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965">
                                            <p:txEl>
                                              <p:charRg st="293" end="34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09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0964" name="Rectangle 1027"/>
          <p:cNvSpPr>
            <a:spLocks noGrp="1"/>
          </p:cNvSpPr>
          <p:nvPr>
            <p:ph type="title"/>
          </p:nvPr>
        </p:nvSpPr>
        <p:spPr>
          <a:xfrm>
            <a:off x="304800" y="487363"/>
            <a:ext cx="8610600" cy="571500"/>
          </a:xfrm>
          <a:prstGeom prst="rect">
            <a:avLst/>
          </a:prstGeom>
          <a:noFill/>
          <a:ln w="9525">
            <a:noFill/>
          </a:ln>
        </p:spPr>
        <p:txBody>
          <a:bodyPr/>
          <a:p>
            <a:pPr eaLnBrk="1" hangingPunct="1">
              <a:lnSpc>
                <a:spcPct val="130000"/>
              </a:lnSpc>
            </a:pPr>
            <a:r>
              <a:rPr lang="en-US" altLang="zh-CN" sz="1800" b="1" dirty="0">
                <a:solidFill>
                  <a:srgbClr val="FF0000"/>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异或运算和同或运算的基本代数性质</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40965" name="Rectangle 1028"/>
          <p:cNvSpPr>
            <a:spLocks noGrp="1"/>
          </p:cNvSpPr>
          <p:nvPr>
            <p:ph/>
          </p:nvPr>
        </p:nvSpPr>
        <p:spPr>
          <a:xfrm>
            <a:off x="457200" y="995680"/>
            <a:ext cx="8305800" cy="944880"/>
          </a:xfrm>
          <a:prstGeom prst="rect">
            <a:avLst/>
          </a:prstGeom>
          <a:noFill/>
          <a:ln w="9525">
            <a:noFill/>
          </a:ln>
        </p:spPr>
        <p:txBody>
          <a:bodyPr/>
          <a:p>
            <a:pPr marL="609600" indent="-609600" algn="just" eaLnBrk="1" fontAlgn="t" hangingPunct="1">
              <a:buNone/>
            </a:pPr>
            <a:r>
              <a:rPr lang="zh-CN" altLang="en-US" sz="1800" dirty="0">
                <a:solidFill>
                  <a:srgbClr val="FF0066"/>
                </a:solidFill>
                <a:latin typeface="黑体" panose="02010609060101010101" pitchFamily="49" charset="-122"/>
                <a:ea typeface="黑体" panose="02010609060101010101" pitchFamily="49" charset="-122"/>
              </a:rPr>
              <a:t>调换律</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endParaRPr lang="en-US" altLang="zh-CN" sz="1800" dirty="0">
              <a:latin typeface="黑体" panose="02010609060101010101" pitchFamily="49" charset="-122"/>
              <a:ea typeface="黑体" panose="02010609060101010101" pitchFamily="49" charset="-122"/>
            </a:endParaRPr>
          </a:p>
        </p:txBody>
      </p:sp>
      <p:sp>
        <p:nvSpPr>
          <p:cNvPr id="40966" name="Line 1030"/>
          <p:cNvSpPr/>
          <p:nvPr/>
        </p:nvSpPr>
        <p:spPr>
          <a:xfrm>
            <a:off x="6227763" y="1000125"/>
            <a:ext cx="228600" cy="0"/>
          </a:xfrm>
          <a:prstGeom prst="line">
            <a:avLst/>
          </a:prstGeom>
          <a:ln w="9525" cap="flat" cmpd="sng">
            <a:solidFill>
              <a:srgbClr val="FFFFFF"/>
            </a:solidFill>
            <a:prstDash val="solid"/>
            <a:headEnd type="none" w="med" len="med"/>
            <a:tailEnd type="none" w="med" len="med"/>
          </a:ln>
        </p:spPr>
      </p:sp>
      <p:sp>
        <p:nvSpPr>
          <p:cNvPr id="40967" name="Line 1031"/>
          <p:cNvSpPr/>
          <p:nvPr/>
        </p:nvSpPr>
        <p:spPr>
          <a:xfrm>
            <a:off x="3557588" y="1428750"/>
            <a:ext cx="228600" cy="0"/>
          </a:xfrm>
          <a:prstGeom prst="line">
            <a:avLst/>
          </a:prstGeom>
          <a:ln w="9525" cap="flat" cmpd="sng">
            <a:solidFill>
              <a:srgbClr val="FFFFFF"/>
            </a:solidFill>
            <a:prstDash val="solid"/>
            <a:headEnd type="none" w="med" len="med"/>
            <a:tailEnd type="none" w="med" len="med"/>
          </a:ln>
        </p:spPr>
      </p:sp>
      <p:sp>
        <p:nvSpPr>
          <p:cNvPr id="36873" name="Line 9"/>
          <p:cNvSpPr>
            <a:spLocks noChangeShapeType="1"/>
          </p:cNvSpPr>
          <p:nvPr/>
        </p:nvSpPr>
        <p:spPr bwMode="auto">
          <a:xfrm>
            <a:off x="2819400" y="1393825"/>
            <a:ext cx="142875"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pic>
        <p:nvPicPr>
          <p:cNvPr id="2" name="图片 1"/>
          <p:cNvPicPr>
            <a:picLocks noChangeAspect="1"/>
          </p:cNvPicPr>
          <p:nvPr>
            <p:custDataLst>
              <p:tags r:id="rId1"/>
            </p:custDataLst>
          </p:nvPr>
        </p:nvPicPr>
        <p:blipFill>
          <a:blip r:embed="rId2"/>
          <a:stretch>
            <a:fillRect/>
          </a:stretch>
        </p:blipFill>
        <p:spPr>
          <a:xfrm>
            <a:off x="298450" y="1880235"/>
            <a:ext cx="8547100" cy="1670050"/>
          </a:xfrm>
          <a:prstGeom prst="rect">
            <a:avLst/>
          </a:prstGeom>
        </p:spPr>
      </p:pic>
      <p:pic>
        <p:nvPicPr>
          <p:cNvPr id="3" name="图片 2"/>
          <p:cNvPicPr>
            <a:picLocks noChangeAspect="1"/>
          </p:cNvPicPr>
          <p:nvPr/>
        </p:nvPicPr>
        <p:blipFill>
          <a:blip r:embed="rId3"/>
          <a:stretch>
            <a:fillRect/>
          </a:stretch>
        </p:blipFill>
        <p:spPr>
          <a:xfrm>
            <a:off x="958850" y="3670935"/>
            <a:ext cx="7226300" cy="958850"/>
          </a:xfrm>
          <a:prstGeom prst="rect">
            <a:avLst/>
          </a:prstGeom>
        </p:spPr>
      </p:pic>
      <p:sp>
        <p:nvSpPr>
          <p:cNvPr id="4" name="文本框 3"/>
          <p:cNvSpPr txBox="1"/>
          <p:nvPr/>
        </p:nvSpPr>
        <p:spPr>
          <a:xfrm>
            <a:off x="5569585" y="2571750"/>
            <a:ext cx="3556635" cy="1014730"/>
          </a:xfrm>
          <a:prstGeom prst="rect">
            <a:avLst/>
          </a:prstGeom>
          <a:noFill/>
        </p:spPr>
        <p:txBody>
          <a:bodyPr wrap="square" rtlCol="0" anchor="t">
            <a:spAutoFit/>
          </a:bodyPr>
          <a:p>
            <a:r>
              <a:rPr lang="zh-CN" altLang="en-US">
                <a:solidFill>
                  <a:srgbClr val="FF0000"/>
                </a:solidFill>
              </a:rPr>
              <a:t>作用：</a:t>
            </a:r>
            <a:r>
              <a:rPr lang="en-US" altLang="zh-CN">
                <a:solidFill>
                  <a:srgbClr val="FF0000"/>
                </a:solidFill>
              </a:rPr>
              <a:t>1</a:t>
            </a:r>
            <a:r>
              <a:rPr lang="zh-CN" altLang="en-US">
                <a:solidFill>
                  <a:srgbClr val="FF0000"/>
                </a:solidFill>
              </a:rPr>
              <a:t>、信息加密</a:t>
            </a:r>
            <a:endParaRPr lang="zh-CN" altLang="en-US">
              <a:solidFill>
                <a:srgbClr val="FF0000"/>
              </a:solidFill>
            </a:endParaRPr>
          </a:p>
          <a:p>
            <a:r>
              <a:rPr lang="zh-CN" altLang="en-US">
                <a:solidFill>
                  <a:srgbClr val="FF0000"/>
                </a:solidFill>
              </a:rPr>
              <a:t> </a:t>
            </a:r>
            <a:r>
              <a:rPr lang="en-US" altLang="zh-CN">
                <a:solidFill>
                  <a:srgbClr val="FF0000"/>
                </a:solidFill>
              </a:rPr>
              <a:t>             2</a:t>
            </a:r>
            <a:r>
              <a:rPr lang="zh-CN" altLang="en-US">
                <a:solidFill>
                  <a:srgbClr val="FF0000"/>
                </a:solidFill>
              </a:rPr>
              <a:t>、错误检测和编码</a:t>
            </a:r>
            <a:endParaRPr lang="zh-CN" altLang="en-US">
              <a:solidFill>
                <a:srgbClr val="FF0000"/>
              </a:solidFill>
            </a:endParaRPr>
          </a:p>
          <a:p>
            <a:r>
              <a:rPr lang="zh-CN" altLang="en-US">
                <a:solidFill>
                  <a:srgbClr val="FF0000"/>
                </a:solidFill>
              </a:rPr>
              <a:t> </a:t>
            </a:r>
            <a:r>
              <a:rPr lang="en-US" altLang="zh-CN">
                <a:solidFill>
                  <a:srgbClr val="FF0000"/>
                </a:solidFill>
              </a:rPr>
              <a:t>             3</a:t>
            </a:r>
            <a:r>
              <a:rPr lang="zh-CN" altLang="en-US">
                <a:solidFill>
                  <a:srgbClr val="FF0000"/>
                </a:solidFill>
              </a:rPr>
              <a:t>、加、减法运算 </a:t>
            </a:r>
            <a:r>
              <a:rPr lang="en-US" altLang="zh-CN">
                <a:solidFill>
                  <a:srgbClr val="FF0000"/>
                </a:solidFill>
              </a:rPr>
              <a:t>         </a:t>
            </a:r>
            <a:endParaRPr lang="zh-CN" altLang="en-US">
              <a:solidFill>
                <a:srgbClr val="FF0000"/>
              </a:solidFill>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965">
                                            <p:txEl>
                                              <p:charRg st="293" end="34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403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4036" name="Rectangle 3"/>
          <p:cNvSpPr>
            <a:spLocks noGrp="1"/>
          </p:cNvSpPr>
          <p:nvPr>
            <p:ph/>
          </p:nvPr>
        </p:nvSpPr>
        <p:spPr>
          <a:xfrm>
            <a:off x="370523" y="1327150"/>
            <a:ext cx="8569325" cy="739775"/>
          </a:xfrm>
          <a:prstGeom prst="rect">
            <a:avLst/>
          </a:prstGeom>
          <a:noFill/>
          <a:ln w="9525">
            <a:noFill/>
          </a:ln>
        </p:spPr>
        <p:txBody>
          <a:bodyPr/>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依照逻辑运算的规则，一个逻辑关系可以用多种形式的逻辑代数</a:t>
            </a:r>
            <a:r>
              <a:rPr lang="zh-CN" altLang="en-US" sz="1800" dirty="0">
                <a:latin typeface="黑体" panose="02010609060101010101" pitchFamily="49" charset="-122"/>
                <a:ea typeface="黑体" panose="02010609060101010101" pitchFamily="49" charset="-122"/>
              </a:rPr>
              <a:t>函</a:t>
            </a:r>
            <a:endParaRPr lang="en-US" altLang="zh-CN"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数来描述，而这些逻辑函数的真值表都是相同的。如：</a:t>
            </a:r>
            <a:r>
              <a:rPr lang="en-US" altLang="zh-CN" sz="1800" dirty="0">
                <a:latin typeface="黑体" panose="02010609060101010101" pitchFamily="49" charset="-122"/>
                <a:ea typeface="黑体" panose="02010609060101010101" pitchFamily="49" charset="-122"/>
              </a:rPr>
              <a:t>F= A⊕B</a:t>
            </a:r>
            <a:endParaRPr lang="en-US" altLang="zh-CN" sz="1800" dirty="0">
              <a:latin typeface="黑体" panose="02010609060101010101" pitchFamily="49" charset="-122"/>
              <a:ea typeface="黑体" panose="02010609060101010101" pitchFamily="49" charset="-122"/>
            </a:endParaRPr>
          </a:p>
        </p:txBody>
      </p:sp>
      <p:sp>
        <p:nvSpPr>
          <p:cNvPr id="44037" name="Rectangle 9"/>
          <p:cNvSpPr>
            <a:spLocks noGrp="1"/>
          </p:cNvSpPr>
          <p:nvPr>
            <p:ph type="title"/>
          </p:nvPr>
        </p:nvSpPr>
        <p:spPr>
          <a:xfrm>
            <a:off x="250825" y="568325"/>
            <a:ext cx="8498205" cy="490855"/>
          </a:xfrm>
          <a:prstGeom prst="rect">
            <a:avLst/>
          </a:prstGeom>
          <a:noFill/>
          <a:ln w="9525" cap="flat" cmpd="sng">
            <a:solidFill>
              <a:schemeClr val="bg1"/>
            </a:solidFill>
            <a:prstDash val="solid"/>
            <a:headEnd type="none" w="med" len="med"/>
            <a:tailEnd type="none" w="med" len="med"/>
          </a:ln>
        </p:spPr>
        <p:txBody>
          <a:bodyPr/>
          <a:p>
            <a:pPr eaLnBrk="1" hangingPunct="1"/>
            <a:r>
              <a:rPr lang="en-US" altLang="zh-CN" sz="1800" b="1" dirty="0">
                <a:latin typeface="黑体" panose="02010609060101010101" pitchFamily="49" charset="-122"/>
                <a:ea typeface="黑体" panose="02010609060101010101" pitchFamily="49" charset="-122"/>
              </a:rPr>
              <a:t>1.3.3. </a:t>
            </a:r>
            <a:r>
              <a:rPr lang="zh-CN" altLang="en-US" sz="1800" b="1" dirty="0">
                <a:solidFill>
                  <a:srgbClr val="0000FF"/>
                </a:solidFill>
                <a:latin typeface="黑体" panose="02010609060101010101" pitchFamily="49" charset="-122"/>
                <a:ea typeface="黑体" panose="02010609060101010101" pitchFamily="49" charset="-122"/>
              </a:rPr>
              <a:t>逻辑函数的基本表达式与标准形式</a:t>
            </a:r>
            <a:br>
              <a:rPr lang="en-US" altLang="zh-CN" sz="1800" b="1" dirty="0">
                <a:solidFill>
                  <a:srgbClr val="0000FF"/>
                </a:solidFill>
                <a:latin typeface="黑体" panose="02010609060101010101" pitchFamily="49" charset="-122"/>
                <a:ea typeface="黑体" panose="02010609060101010101" pitchFamily="49" charset="-122"/>
              </a:rPr>
            </a:br>
            <a:r>
              <a:rPr lang="zh-CN" altLang="en-US" sz="1800" b="1" dirty="0">
                <a:latin typeface="黑体" panose="02010609060101010101" pitchFamily="49" charset="-122"/>
                <a:ea typeface="黑体" panose="02010609060101010101" pitchFamily="49" charset="-122"/>
              </a:rPr>
              <a:t>  </a:t>
            </a:r>
            <a:br>
              <a:rPr lang="en-US" altLang="zh-CN" sz="1800" b="1" dirty="0">
                <a:latin typeface="黑体" panose="02010609060101010101" pitchFamily="49" charset="-122"/>
                <a:ea typeface="黑体" panose="02010609060101010101" pitchFamily="49" charset="-122"/>
              </a:rPr>
            </a:br>
            <a:r>
              <a:rPr lang="en-US" altLang="zh-CN" sz="1800" b="1" dirty="0">
                <a:latin typeface="黑体" panose="02010609060101010101" pitchFamily="49" charset="-122"/>
                <a:ea typeface="黑体" panose="02010609060101010101" pitchFamily="49" charset="-122"/>
              </a:rPr>
              <a:t>1</a:t>
            </a:r>
            <a:r>
              <a:rPr lang="zh-CN" altLang="en-US" sz="1800" b="1" dirty="0">
                <a:latin typeface="黑体" panose="02010609060101010101" pitchFamily="49" charset="-122"/>
                <a:ea typeface="黑体" panose="02010609060101010101" pitchFamily="49" charset="-122"/>
              </a:rPr>
              <a:t>）基本表达式</a:t>
            </a:r>
            <a:endParaRPr lang="en-US" altLang="zh-CN" sz="1800" b="1" dirty="0">
              <a:latin typeface="黑体" panose="02010609060101010101" pitchFamily="49" charset="-122"/>
              <a:ea typeface="黑体" panose="02010609060101010101" pitchFamily="49" charset="-122"/>
            </a:endParaRPr>
          </a:p>
        </p:txBody>
      </p:sp>
      <p:sp>
        <p:nvSpPr>
          <p:cNvPr id="44038" name="Text Box 32"/>
          <p:cNvSpPr txBox="1"/>
          <p:nvPr/>
        </p:nvSpPr>
        <p:spPr>
          <a:xfrm>
            <a:off x="1052195" y="4435475"/>
            <a:ext cx="7205345" cy="390525"/>
          </a:xfrm>
          <a:prstGeom prst="rect">
            <a:avLst/>
          </a:prstGeom>
          <a:noFill/>
          <a:ln w="9525">
            <a:noFill/>
          </a:ln>
        </p:spPr>
        <p:txBody>
          <a:bodyPr>
            <a:noAutofit/>
          </a:bodyPr>
          <a:p>
            <a:pPr eaLnBrk="1" hangingPunct="1">
              <a:spcBef>
                <a:spcPct val="50000"/>
              </a:spcBef>
              <a:buFont typeface="Arial" panose="020B0604020202020204" pitchFamily="34" charset="0"/>
            </a:pPr>
            <a:r>
              <a:rPr lang="zh-CN" altLang="en-US" sz="1800" dirty="0">
                <a:solidFill>
                  <a:srgbClr val="FF0000"/>
                </a:solidFill>
                <a:latin typeface="黑体" panose="02010609060101010101" pitchFamily="49" charset="-122"/>
                <a:ea typeface="黑体" panose="02010609060101010101" pitchFamily="49" charset="-122"/>
              </a:rPr>
              <a:t>其中：与或式（</a:t>
            </a:r>
            <a:r>
              <a:rPr lang="en-US" altLang="zh-CN" sz="1800" dirty="0">
                <a:solidFill>
                  <a:srgbClr val="FF0000"/>
                </a:solidFill>
                <a:latin typeface="黑体" panose="02010609060101010101" pitchFamily="49" charset="-122"/>
                <a:ea typeface="黑体" panose="02010609060101010101" pitchFamily="49" charset="-122"/>
              </a:rPr>
              <a:t>SOP</a:t>
            </a:r>
            <a:r>
              <a:rPr lang="zh-CN" altLang="en-US" sz="1800" dirty="0">
                <a:solidFill>
                  <a:srgbClr val="FF0000"/>
                </a:solidFill>
                <a:latin typeface="黑体" panose="02010609060101010101" pitchFamily="49" charset="-122"/>
                <a:ea typeface="黑体" panose="02010609060101010101" pitchFamily="49" charset="-122"/>
              </a:rPr>
              <a:t>）及或与式（</a:t>
            </a:r>
            <a:r>
              <a:rPr lang="en-US" altLang="zh-CN" sz="1800" dirty="0">
                <a:solidFill>
                  <a:srgbClr val="FF0000"/>
                </a:solidFill>
                <a:latin typeface="黑体" panose="02010609060101010101" pitchFamily="49" charset="-122"/>
                <a:ea typeface="黑体" panose="02010609060101010101" pitchFamily="49" charset="-122"/>
              </a:rPr>
              <a:t>POS</a:t>
            </a:r>
            <a:r>
              <a:rPr lang="zh-CN" altLang="en-US" sz="1800" dirty="0">
                <a:solidFill>
                  <a:srgbClr val="FF0000"/>
                </a:solidFill>
                <a:latin typeface="黑体" panose="02010609060101010101" pitchFamily="49" charset="-122"/>
                <a:ea typeface="黑体" panose="02010609060101010101" pitchFamily="49" charset="-122"/>
              </a:rPr>
              <a:t>）是逻辑函数的基本代数表达式。</a:t>
            </a:r>
            <a:endParaRPr lang="zh-CN" altLang="en-US" sz="1800" dirty="0">
              <a:solidFill>
                <a:srgbClr val="FF0000"/>
              </a:solidFill>
              <a:latin typeface="黑体" panose="02010609060101010101" pitchFamily="49" charset="-122"/>
              <a:ea typeface="黑体" panose="02010609060101010101" pitchFamily="49" charset="-122"/>
            </a:endParaRPr>
          </a:p>
        </p:txBody>
      </p:sp>
      <p:grpSp>
        <p:nvGrpSpPr>
          <p:cNvPr id="44039" name="组合 24"/>
          <p:cNvGrpSpPr/>
          <p:nvPr/>
        </p:nvGrpSpPr>
        <p:grpSpPr>
          <a:xfrm>
            <a:off x="252413" y="2066925"/>
            <a:ext cx="8596312" cy="2268538"/>
            <a:chOff x="0" y="0"/>
            <a:chExt cx="8596313" cy="2268538"/>
          </a:xfrm>
        </p:grpSpPr>
        <p:grpSp>
          <p:nvGrpSpPr>
            <p:cNvPr id="44040" name="Group 30"/>
            <p:cNvGrpSpPr/>
            <p:nvPr/>
          </p:nvGrpSpPr>
          <p:grpSpPr>
            <a:xfrm>
              <a:off x="1966913" y="0"/>
              <a:ext cx="6629400" cy="2268538"/>
              <a:chOff x="0" y="0"/>
              <a:chExt cx="4176" cy="1906"/>
            </a:xfrm>
          </p:grpSpPr>
          <p:sp>
            <p:nvSpPr>
              <p:cNvPr id="44059" name="Rectangle 6"/>
              <p:cNvSpPr/>
              <p:nvPr/>
            </p:nvSpPr>
            <p:spPr>
              <a:xfrm>
                <a:off x="0" y="0"/>
                <a:ext cx="4176" cy="1906"/>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B                        </a:t>
                </a:r>
                <a:r>
                  <a:rPr lang="zh-CN" altLang="en-US" sz="1800" dirty="0">
                    <a:solidFill>
                      <a:srgbClr val="FF0066"/>
                    </a:solidFill>
                    <a:latin typeface="黑体" panose="02010609060101010101" pitchFamily="49" charset="-122"/>
                    <a:ea typeface="黑体" panose="02010609060101010101" pitchFamily="49" charset="-122"/>
                  </a:rPr>
                  <a:t>与或式 </a:t>
                </a:r>
                <a:r>
                  <a:rPr lang="en-US" altLang="zh-CN" sz="1800" b="1" i="1" dirty="0">
                    <a:solidFill>
                      <a:srgbClr val="FF0066"/>
                    </a:solidFill>
                    <a:latin typeface="黑体" panose="02010609060101010101" pitchFamily="49" charset="-122"/>
                    <a:ea typeface="黑体" panose="02010609060101010101" pitchFamily="49" charset="-122"/>
                  </a:rPr>
                  <a:t>SOP</a:t>
                </a:r>
                <a:endParaRPr lang="en-US" altLang="zh-CN" sz="1800" b="1" i="1" dirty="0">
                  <a:solidFill>
                    <a:srgbClr val="FF0066"/>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t>
                </a:r>
                <a:r>
                  <a:rPr lang="zh-CN" altLang="en-US" sz="1800" dirty="0">
                    <a:solidFill>
                      <a:srgbClr val="FF0066"/>
                    </a:solidFill>
                    <a:latin typeface="黑体" panose="02010609060101010101" pitchFamily="49" charset="-122"/>
                    <a:ea typeface="黑体" panose="02010609060101010101" pitchFamily="49" charset="-122"/>
                  </a:rPr>
                  <a:t>或与式 </a:t>
                </a:r>
                <a:r>
                  <a:rPr lang="en-US" altLang="zh-CN" sz="1800" b="1" i="1" dirty="0">
                    <a:solidFill>
                      <a:srgbClr val="FF0066"/>
                    </a:solidFill>
                    <a:latin typeface="黑体" panose="02010609060101010101" pitchFamily="49" charset="-122"/>
                    <a:ea typeface="黑体" panose="02010609060101010101" pitchFamily="49" charset="-122"/>
                  </a:rPr>
                  <a:t>POS</a:t>
                </a:r>
                <a:endParaRPr lang="en-US" altLang="zh-CN" sz="1800" b="1" i="1" dirty="0">
                  <a:solidFill>
                    <a:srgbClr val="FF0066"/>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A B                           </a:t>
                </a:r>
                <a:r>
                  <a:rPr lang="zh-CN" altLang="en-US" sz="1800" dirty="0">
                    <a:solidFill>
                      <a:schemeClr val="tx1"/>
                    </a:solidFill>
                    <a:latin typeface="黑体" panose="02010609060101010101" pitchFamily="49" charset="-122"/>
                    <a:ea typeface="黑体" panose="02010609060101010101" pitchFamily="49" charset="-122"/>
                  </a:rPr>
                  <a:t>与非式 </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t>
                </a:r>
                <a:r>
                  <a:rPr lang="zh-CN" altLang="en-US" sz="1800" dirty="0">
                    <a:solidFill>
                      <a:schemeClr val="tx1"/>
                    </a:solidFill>
                    <a:latin typeface="黑体" panose="02010609060101010101" pitchFamily="49" charset="-122"/>
                    <a:ea typeface="黑体" panose="02010609060101010101" pitchFamily="49" charset="-122"/>
                  </a:rPr>
                  <a:t>或非式</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B                        </a:t>
                </a:r>
                <a:r>
                  <a:rPr lang="zh-CN" altLang="en-US" sz="1800" dirty="0">
                    <a:solidFill>
                      <a:schemeClr val="tx1"/>
                    </a:solidFill>
                    <a:latin typeface="黑体" panose="02010609060101010101" pitchFamily="49" charset="-122"/>
                    <a:ea typeface="黑体" panose="02010609060101010101" pitchFamily="49" charset="-122"/>
                  </a:rPr>
                  <a:t>与或非式</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4060" name="Line 11"/>
              <p:cNvSpPr/>
              <p:nvPr/>
            </p:nvSpPr>
            <p:spPr>
              <a:xfrm>
                <a:off x="216" y="28"/>
                <a:ext cx="189" cy="1"/>
              </a:xfrm>
              <a:prstGeom prst="line">
                <a:avLst/>
              </a:prstGeom>
              <a:ln w="9525" cap="flat" cmpd="sng">
                <a:solidFill>
                  <a:schemeClr val="bg1"/>
                </a:solidFill>
                <a:prstDash val="solid"/>
                <a:headEnd type="none" w="med" len="med"/>
                <a:tailEnd type="none" w="med" len="med"/>
              </a:ln>
            </p:spPr>
          </p:sp>
          <p:sp>
            <p:nvSpPr>
              <p:cNvPr id="44061" name="Line 12"/>
              <p:cNvSpPr/>
              <p:nvPr/>
            </p:nvSpPr>
            <p:spPr>
              <a:xfrm>
                <a:off x="1128" y="28"/>
                <a:ext cx="189" cy="1"/>
              </a:xfrm>
              <a:prstGeom prst="line">
                <a:avLst/>
              </a:prstGeom>
              <a:ln w="9525" cap="flat" cmpd="sng">
                <a:solidFill>
                  <a:schemeClr val="bg1"/>
                </a:solidFill>
                <a:prstDash val="solid"/>
                <a:headEnd type="none" w="med" len="med"/>
                <a:tailEnd type="none" w="med" len="med"/>
              </a:ln>
            </p:spPr>
          </p:sp>
          <p:sp>
            <p:nvSpPr>
              <p:cNvPr id="44063" name="Line 14"/>
              <p:cNvSpPr/>
              <p:nvPr/>
            </p:nvSpPr>
            <p:spPr>
              <a:xfrm>
                <a:off x="1512" y="412"/>
                <a:ext cx="189" cy="1"/>
              </a:xfrm>
              <a:prstGeom prst="line">
                <a:avLst/>
              </a:prstGeom>
              <a:ln w="9525" cap="flat" cmpd="sng">
                <a:solidFill>
                  <a:schemeClr val="bg1"/>
                </a:solidFill>
                <a:prstDash val="solid"/>
                <a:headEnd type="none" w="med" len="med"/>
                <a:tailEnd type="none" w="med" len="med"/>
              </a:ln>
            </p:spPr>
          </p:sp>
          <p:sp>
            <p:nvSpPr>
              <p:cNvPr id="44065" name="Line 16"/>
              <p:cNvSpPr/>
              <p:nvPr/>
            </p:nvSpPr>
            <p:spPr>
              <a:xfrm>
                <a:off x="840" y="796"/>
                <a:ext cx="189" cy="1"/>
              </a:xfrm>
              <a:prstGeom prst="line">
                <a:avLst/>
              </a:prstGeom>
              <a:ln w="9525" cap="flat" cmpd="sng">
                <a:solidFill>
                  <a:schemeClr val="bg1"/>
                </a:solidFill>
                <a:prstDash val="solid"/>
                <a:headEnd type="none" w="med" len="med"/>
                <a:tailEnd type="none" w="med" len="med"/>
              </a:ln>
            </p:spPr>
          </p:sp>
          <p:sp>
            <p:nvSpPr>
              <p:cNvPr id="44067" name="Line 18"/>
              <p:cNvSpPr/>
              <p:nvPr/>
            </p:nvSpPr>
            <p:spPr>
              <a:xfrm>
                <a:off x="672" y="748"/>
                <a:ext cx="404" cy="1"/>
              </a:xfrm>
              <a:prstGeom prst="line">
                <a:avLst/>
              </a:prstGeom>
              <a:ln w="9525" cap="flat" cmpd="sng">
                <a:solidFill>
                  <a:schemeClr val="bg1"/>
                </a:solidFill>
                <a:prstDash val="solid"/>
                <a:headEnd type="none" w="med" len="med"/>
                <a:tailEnd type="none" w="med" len="med"/>
              </a:ln>
            </p:spPr>
          </p:sp>
          <p:sp>
            <p:nvSpPr>
              <p:cNvPr id="44068" name="Line 20"/>
              <p:cNvSpPr/>
              <p:nvPr/>
            </p:nvSpPr>
            <p:spPr>
              <a:xfrm>
                <a:off x="1440" y="1168"/>
                <a:ext cx="189" cy="1"/>
              </a:xfrm>
              <a:prstGeom prst="line">
                <a:avLst/>
              </a:prstGeom>
              <a:ln w="9525" cap="flat" cmpd="sng">
                <a:solidFill>
                  <a:schemeClr val="bg1"/>
                </a:solidFill>
                <a:prstDash val="solid"/>
                <a:headEnd type="none" w="med" len="med"/>
                <a:tailEnd type="none" w="med" len="med"/>
              </a:ln>
            </p:spPr>
          </p:sp>
          <p:sp>
            <p:nvSpPr>
              <p:cNvPr id="44069" name="Line 21"/>
              <p:cNvSpPr/>
              <p:nvPr/>
            </p:nvSpPr>
            <p:spPr>
              <a:xfrm>
                <a:off x="1800" y="1168"/>
                <a:ext cx="189" cy="1"/>
              </a:xfrm>
              <a:prstGeom prst="line">
                <a:avLst/>
              </a:prstGeom>
              <a:ln w="9525" cap="flat" cmpd="sng">
                <a:solidFill>
                  <a:schemeClr val="bg1"/>
                </a:solidFill>
                <a:prstDash val="solid"/>
                <a:headEnd type="none" w="med" len="med"/>
                <a:tailEnd type="none" w="med" len="med"/>
              </a:ln>
            </p:spPr>
          </p:sp>
          <p:sp>
            <p:nvSpPr>
              <p:cNvPr id="44073" name="Line 25"/>
              <p:cNvSpPr/>
              <p:nvPr/>
            </p:nvSpPr>
            <p:spPr>
              <a:xfrm>
                <a:off x="213" y="1534"/>
                <a:ext cx="189" cy="1"/>
              </a:xfrm>
              <a:prstGeom prst="line">
                <a:avLst/>
              </a:prstGeom>
              <a:ln w="9525" cap="flat" cmpd="sng">
                <a:solidFill>
                  <a:schemeClr val="bg1"/>
                </a:solidFill>
                <a:prstDash val="solid"/>
                <a:headEnd type="none" w="med" len="med"/>
                <a:tailEnd type="none" w="med" len="med"/>
              </a:ln>
            </p:spPr>
          </p:sp>
          <p:sp>
            <p:nvSpPr>
              <p:cNvPr id="44074" name="Line 26"/>
              <p:cNvSpPr/>
              <p:nvPr/>
            </p:nvSpPr>
            <p:spPr>
              <a:xfrm>
                <a:off x="459" y="1534"/>
                <a:ext cx="189" cy="1"/>
              </a:xfrm>
              <a:prstGeom prst="line">
                <a:avLst/>
              </a:prstGeom>
              <a:ln w="9525" cap="flat" cmpd="sng">
                <a:solidFill>
                  <a:schemeClr val="bg1"/>
                </a:solidFill>
                <a:prstDash val="solid"/>
                <a:headEnd type="none" w="med" len="med"/>
                <a:tailEnd type="none" w="med" len="med"/>
              </a:ln>
            </p:spPr>
          </p:sp>
        </p:grpSp>
        <p:sp>
          <p:nvSpPr>
            <p:cNvPr id="44041" name="Text Box 31"/>
            <p:cNvSpPr txBox="1"/>
            <p:nvPr/>
          </p:nvSpPr>
          <p:spPr>
            <a:xfrm>
              <a:off x="0" y="412750"/>
              <a:ext cx="1674813" cy="954107"/>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400" dirty="0">
                  <a:solidFill>
                    <a:srgbClr val="FF0000"/>
                  </a:solidFill>
                  <a:latin typeface="黑体" panose="02010609060101010101" pitchFamily="49" charset="-122"/>
                  <a:ea typeface="黑体" panose="02010609060101010101" pitchFamily="49" charset="-122"/>
                </a:rPr>
                <a:t>以函数中所含的变量乘积项的特点以及乘积项之间的逻辑关系来分类：</a:t>
              </a:r>
              <a:endParaRPr lang="zh-CN" altLang="en-US" sz="1400" dirty="0">
                <a:solidFill>
                  <a:srgbClr val="FF0000"/>
                </a:solidFill>
                <a:latin typeface="黑体" panose="02010609060101010101" pitchFamily="49" charset="-122"/>
                <a:ea typeface="黑体" panose="02010609060101010101" pitchFamily="49" charset="-122"/>
              </a:endParaRPr>
            </a:p>
          </p:txBody>
        </p:sp>
        <p:sp>
          <p:nvSpPr>
            <p:cNvPr id="39946" name="Line 26"/>
            <p:cNvSpPr>
              <a:spLocks noChangeShapeType="1"/>
            </p:cNvSpPr>
            <p:nvPr/>
          </p:nvSpPr>
          <p:spPr bwMode="auto">
            <a:xfrm>
              <a:off x="2255837" y="6032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47" name="Line 27"/>
            <p:cNvSpPr>
              <a:spLocks noChangeShapeType="1"/>
            </p:cNvSpPr>
            <p:nvPr/>
          </p:nvSpPr>
          <p:spPr bwMode="auto">
            <a:xfrm>
              <a:off x="3263900" y="6032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48" name="Line 31"/>
            <p:cNvSpPr>
              <a:spLocks noChangeShapeType="1"/>
            </p:cNvSpPr>
            <p:nvPr/>
          </p:nvSpPr>
          <p:spPr bwMode="auto">
            <a:xfrm>
              <a:off x="3767137" y="420688"/>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49" name="Line 32"/>
            <p:cNvSpPr>
              <a:spLocks noChangeShapeType="1"/>
            </p:cNvSpPr>
            <p:nvPr/>
          </p:nvSpPr>
          <p:spPr bwMode="auto">
            <a:xfrm>
              <a:off x="3406775" y="420688"/>
              <a:ext cx="14446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50" name="Line 33"/>
            <p:cNvSpPr>
              <a:spLocks noChangeShapeType="1"/>
            </p:cNvSpPr>
            <p:nvPr/>
          </p:nvSpPr>
          <p:spPr bwMode="auto">
            <a:xfrm>
              <a:off x="2293937" y="846138"/>
              <a:ext cx="1428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51" name="Line 34"/>
            <p:cNvSpPr>
              <a:spLocks noChangeShapeType="1"/>
            </p:cNvSpPr>
            <p:nvPr/>
          </p:nvSpPr>
          <p:spPr bwMode="auto">
            <a:xfrm>
              <a:off x="2954337" y="846138"/>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cxnSp>
          <p:nvCxnSpPr>
            <p:cNvPr id="44048" name="直接连接符 2"/>
            <p:cNvCxnSpPr/>
            <p:nvPr/>
          </p:nvCxnSpPr>
          <p:spPr>
            <a:xfrm flipV="1">
              <a:off x="2327275" y="1116974"/>
              <a:ext cx="2092325" cy="17462"/>
            </a:xfrm>
            <a:prstGeom prst="line">
              <a:avLst/>
            </a:prstGeom>
            <a:ln w="12700" cap="flat" cmpd="sng">
              <a:solidFill>
                <a:schemeClr val="tx1"/>
              </a:solidFill>
              <a:prstDash val="solid"/>
              <a:headEnd type="none" w="med" len="med"/>
              <a:tailEnd type="none" w="med" len="med"/>
            </a:ln>
          </p:spPr>
        </p:cxnSp>
        <p:cxnSp>
          <p:nvCxnSpPr>
            <p:cNvPr id="44049" name="直接连接符 4"/>
            <p:cNvCxnSpPr/>
            <p:nvPr/>
          </p:nvCxnSpPr>
          <p:spPr>
            <a:xfrm>
              <a:off x="2347913" y="1185926"/>
              <a:ext cx="842962" cy="0"/>
            </a:xfrm>
            <a:prstGeom prst="line">
              <a:avLst/>
            </a:prstGeom>
            <a:ln w="12700" cap="flat" cmpd="sng">
              <a:solidFill>
                <a:schemeClr val="tx1"/>
              </a:solidFill>
              <a:prstDash val="solid"/>
              <a:headEnd type="none" w="med" len="med"/>
              <a:tailEnd type="none" w="med" len="med"/>
            </a:ln>
          </p:spPr>
        </p:cxnSp>
        <p:cxnSp>
          <p:nvCxnSpPr>
            <p:cNvPr id="44050" name="直接连接符 40"/>
            <p:cNvCxnSpPr/>
            <p:nvPr/>
          </p:nvCxnSpPr>
          <p:spPr>
            <a:xfrm>
              <a:off x="3576638" y="1180327"/>
              <a:ext cx="842962" cy="0"/>
            </a:xfrm>
            <a:prstGeom prst="line">
              <a:avLst/>
            </a:prstGeom>
            <a:ln w="12700" cap="flat" cmpd="sng">
              <a:solidFill>
                <a:schemeClr val="tx1"/>
              </a:solidFill>
              <a:prstDash val="solid"/>
              <a:headEnd type="none" w="med" len="med"/>
              <a:tailEnd type="none" w="med" len="med"/>
            </a:ln>
          </p:spPr>
        </p:cxnSp>
        <p:cxnSp>
          <p:nvCxnSpPr>
            <p:cNvPr id="44051" name="直接连接符 13"/>
            <p:cNvCxnSpPr/>
            <p:nvPr/>
          </p:nvCxnSpPr>
          <p:spPr>
            <a:xfrm>
              <a:off x="2291403" y="801646"/>
              <a:ext cx="304800" cy="0"/>
            </a:xfrm>
            <a:prstGeom prst="line">
              <a:avLst/>
            </a:prstGeom>
            <a:ln w="12700" cap="flat" cmpd="sng">
              <a:solidFill>
                <a:schemeClr val="tx1"/>
              </a:solidFill>
              <a:prstDash val="solid"/>
              <a:headEnd type="none" w="med" len="med"/>
              <a:tailEnd type="none" w="med" len="med"/>
            </a:ln>
          </p:spPr>
        </p:cxnSp>
        <p:cxnSp>
          <p:nvCxnSpPr>
            <p:cNvPr id="44052" name="直接连接符 67"/>
            <p:cNvCxnSpPr/>
            <p:nvPr/>
          </p:nvCxnSpPr>
          <p:spPr>
            <a:xfrm>
              <a:off x="2802472" y="801646"/>
              <a:ext cx="304800" cy="0"/>
            </a:xfrm>
            <a:prstGeom prst="line">
              <a:avLst/>
            </a:prstGeom>
            <a:ln w="12700" cap="flat" cmpd="sng">
              <a:solidFill>
                <a:schemeClr val="tx1"/>
              </a:solidFill>
              <a:prstDash val="solid"/>
              <a:headEnd type="none" w="med" len="med"/>
              <a:tailEnd type="none" w="med" len="med"/>
            </a:ln>
          </p:spPr>
        </p:cxnSp>
        <p:cxnSp>
          <p:nvCxnSpPr>
            <p:cNvPr id="44053" name="直接连接符 68"/>
            <p:cNvCxnSpPr/>
            <p:nvPr/>
          </p:nvCxnSpPr>
          <p:spPr>
            <a:xfrm>
              <a:off x="2271713" y="763758"/>
              <a:ext cx="835559" cy="0"/>
            </a:xfrm>
            <a:prstGeom prst="line">
              <a:avLst/>
            </a:prstGeom>
            <a:ln w="12700" cap="flat" cmpd="sng">
              <a:solidFill>
                <a:schemeClr val="tx1"/>
              </a:solidFill>
              <a:prstDash val="solid"/>
              <a:headEnd type="none" w="med" len="med"/>
              <a:tailEnd type="none" w="med" len="med"/>
            </a:ln>
          </p:spPr>
        </p:cxnSp>
        <p:sp>
          <p:nvSpPr>
            <p:cNvPr id="39958" name="Line 34"/>
            <p:cNvSpPr>
              <a:spLocks noChangeShapeType="1"/>
            </p:cNvSpPr>
            <p:nvPr/>
          </p:nvSpPr>
          <p:spPr bwMode="auto">
            <a:xfrm>
              <a:off x="3754437" y="1222375"/>
              <a:ext cx="1539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59" name="Line 34"/>
            <p:cNvSpPr>
              <a:spLocks noChangeShapeType="1"/>
            </p:cNvSpPr>
            <p:nvPr/>
          </p:nvSpPr>
          <p:spPr bwMode="auto">
            <a:xfrm>
              <a:off x="4078287" y="1223963"/>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cxnSp>
          <p:nvCxnSpPr>
            <p:cNvPr id="44056" name="直接连接符 73"/>
            <p:cNvCxnSpPr/>
            <p:nvPr/>
          </p:nvCxnSpPr>
          <p:spPr>
            <a:xfrm>
              <a:off x="2290266" y="1518716"/>
              <a:ext cx="1189038" cy="0"/>
            </a:xfrm>
            <a:prstGeom prst="line">
              <a:avLst/>
            </a:prstGeom>
            <a:ln w="12700" cap="flat" cmpd="sng">
              <a:solidFill>
                <a:schemeClr val="tx1"/>
              </a:solidFill>
              <a:prstDash val="solid"/>
              <a:headEnd type="none" w="med" len="med"/>
              <a:tailEnd type="none" w="med" len="med"/>
            </a:ln>
          </p:spPr>
        </p:cxnSp>
        <p:sp>
          <p:nvSpPr>
            <p:cNvPr id="39961" name="Line 34"/>
            <p:cNvSpPr>
              <a:spLocks noChangeShapeType="1"/>
            </p:cNvSpPr>
            <p:nvPr/>
          </p:nvSpPr>
          <p:spPr bwMode="auto">
            <a:xfrm>
              <a:off x="3292475" y="1614488"/>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62" name="Line 34"/>
            <p:cNvSpPr>
              <a:spLocks noChangeShapeType="1"/>
            </p:cNvSpPr>
            <p:nvPr/>
          </p:nvSpPr>
          <p:spPr bwMode="auto">
            <a:xfrm>
              <a:off x="3084512" y="1617663"/>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9"/>
                                        </p:tgtEl>
                                        <p:attrNameLst>
                                          <p:attrName>style.visibility</p:attrName>
                                        </p:attrNameLst>
                                      </p:cBhvr>
                                      <p:to>
                                        <p:strVal val="visible"/>
                                      </p:to>
                                    </p:set>
                                    <p:anim calcmode="lin" valueType="num">
                                      <p:cBhvr additive="base">
                                        <p:cTn id="7" dur="500" fill="hold"/>
                                        <p:tgtEl>
                                          <p:spTgt spid="44039"/>
                                        </p:tgtEl>
                                        <p:attrNameLst>
                                          <p:attrName>ppt_x</p:attrName>
                                        </p:attrNameLst>
                                      </p:cBhvr>
                                      <p:tavLst>
                                        <p:tav tm="0">
                                          <p:val>
                                            <p:strVal val="#ppt_x"/>
                                          </p:val>
                                        </p:tav>
                                        <p:tav tm="100000">
                                          <p:val>
                                            <p:strVal val="#ppt_x"/>
                                          </p:val>
                                        </p:tav>
                                      </p:tavLst>
                                    </p:anim>
                                    <p:anim calcmode="lin" valueType="num">
                                      <p:cBhvr additive="base">
                                        <p:cTn id="8" dur="500" fill="hold"/>
                                        <p:tgtEl>
                                          <p:spTgt spid="440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8"/>
                                        </p:tgtEl>
                                        <p:attrNameLst>
                                          <p:attrName>style.visibility</p:attrName>
                                        </p:attrNameLst>
                                      </p:cBhvr>
                                      <p:to>
                                        <p:strVal val="visible"/>
                                      </p:to>
                                    </p:set>
                                    <p:anim calcmode="lin" valueType="num">
                                      <p:cBhvr additive="base">
                                        <p:cTn id="13" dur="500" fill="hold"/>
                                        <p:tgtEl>
                                          <p:spTgt spid="44038"/>
                                        </p:tgtEl>
                                        <p:attrNameLst>
                                          <p:attrName>ppt_x</p:attrName>
                                        </p:attrNameLst>
                                      </p:cBhvr>
                                      <p:tavLst>
                                        <p:tav tm="0">
                                          <p:val>
                                            <p:strVal val="#ppt_x"/>
                                          </p:val>
                                        </p:tav>
                                        <p:tav tm="100000">
                                          <p:val>
                                            <p:strVal val="#ppt_x"/>
                                          </p:val>
                                        </p:tav>
                                      </p:tavLst>
                                    </p:anim>
                                    <p:anim calcmode="lin" valueType="num">
                                      <p:cBhvr additive="base">
                                        <p:cTn id="14" dur="500" fill="hold"/>
                                        <p:tgtEl>
                                          <p:spTgt spid="440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图片 17"/>
          <p:cNvPicPr>
            <a:picLocks noChangeAspect="1"/>
          </p:cNvPicPr>
          <p:nvPr/>
        </p:nvPicPr>
        <p:blipFill>
          <a:blip r:embed="rId1"/>
          <a:stretch>
            <a:fillRect/>
          </a:stretch>
        </p:blipFill>
        <p:spPr>
          <a:xfrm>
            <a:off x="790575" y="822960"/>
            <a:ext cx="7689215" cy="2108835"/>
          </a:xfrm>
          <a:prstGeom prst="rect">
            <a:avLst/>
          </a:prstGeom>
        </p:spPr>
      </p:pic>
      <p:sp>
        <p:nvSpPr>
          <p:cNvPr id="2" name="文本框 1"/>
          <p:cNvSpPr txBox="1"/>
          <p:nvPr/>
        </p:nvSpPr>
        <p:spPr>
          <a:xfrm>
            <a:off x="1943100" y="3477895"/>
            <a:ext cx="4754880" cy="460375"/>
          </a:xfrm>
          <a:prstGeom prst="rect">
            <a:avLst/>
          </a:prstGeom>
          <a:noFill/>
        </p:spPr>
        <p:txBody>
          <a:bodyPr wrap="none" rtlCol="0">
            <a:spAutoFit/>
          </a:bodyPr>
          <a:p>
            <a:r>
              <a:rPr lang="zh-CN" altLang="zh-CN" sz="2400">
                <a:solidFill>
                  <a:srgbClr val="FF0000"/>
                </a:solidFill>
              </a:rPr>
              <a:t>写出左右不同的电路的逻辑表达式</a:t>
            </a:r>
            <a:endParaRPr lang="zh-CN" altLang="zh-CN" sz="2400">
              <a:solidFill>
                <a:srgbClr val="FF0000"/>
              </a:solidFill>
            </a:endParaRPr>
          </a:p>
        </p:txBody>
      </p:sp>
      <p:sp>
        <p:nvSpPr>
          <p:cNvPr id="3" name="文本框 2"/>
          <p:cNvSpPr txBox="1"/>
          <p:nvPr/>
        </p:nvSpPr>
        <p:spPr>
          <a:xfrm>
            <a:off x="1711325" y="4322445"/>
            <a:ext cx="5669280" cy="460375"/>
          </a:xfrm>
          <a:prstGeom prst="rect">
            <a:avLst/>
          </a:prstGeom>
          <a:noFill/>
        </p:spPr>
        <p:txBody>
          <a:bodyPr wrap="none" rtlCol="0">
            <a:spAutoFit/>
          </a:bodyPr>
          <a:p>
            <a:r>
              <a:rPr lang="zh-CN" altLang="zh-CN" sz="2400">
                <a:solidFill>
                  <a:srgbClr val="FF0000"/>
                </a:solidFill>
              </a:rPr>
              <a:t>左右不同的电路实现了怎样的逻辑功能？</a:t>
            </a:r>
            <a:endParaRPr lang="zh-CN" altLang="zh-CN" sz="2400">
              <a:solidFill>
                <a:srgbClr val="FF0000"/>
              </a:solidFill>
            </a:endParaRPr>
          </a:p>
        </p:txBody>
      </p:sp>
      <p:sp>
        <p:nvSpPr>
          <p:cNvPr id="4" name="文本框 3"/>
          <p:cNvSpPr txBox="1"/>
          <p:nvPr/>
        </p:nvSpPr>
        <p:spPr>
          <a:xfrm>
            <a:off x="3923665" y="1851660"/>
            <a:ext cx="477520" cy="460375"/>
          </a:xfrm>
          <a:prstGeom prst="rect">
            <a:avLst/>
          </a:prstGeom>
          <a:noFill/>
        </p:spPr>
        <p:txBody>
          <a:bodyPr wrap="none" rtlCol="0">
            <a:spAutoFit/>
          </a:bodyPr>
          <a:p>
            <a:r>
              <a:rPr lang="en-US" altLang="zh-CN" sz="2400">
                <a:solidFill>
                  <a:srgbClr val="FF0000"/>
                </a:solidFill>
              </a:rPr>
              <a:t>F1</a:t>
            </a:r>
            <a:endParaRPr lang="en-US" altLang="zh-CN" sz="2400">
              <a:solidFill>
                <a:srgbClr val="FF0000"/>
              </a:solidFill>
            </a:endParaRPr>
          </a:p>
        </p:txBody>
      </p:sp>
      <p:sp>
        <p:nvSpPr>
          <p:cNvPr id="5" name="文本框 4"/>
          <p:cNvSpPr txBox="1"/>
          <p:nvPr/>
        </p:nvSpPr>
        <p:spPr>
          <a:xfrm>
            <a:off x="8316595" y="1923415"/>
            <a:ext cx="477520" cy="460375"/>
          </a:xfrm>
          <a:prstGeom prst="rect">
            <a:avLst/>
          </a:prstGeom>
          <a:noFill/>
        </p:spPr>
        <p:txBody>
          <a:bodyPr wrap="none" rtlCol="0">
            <a:spAutoFit/>
          </a:bodyPr>
          <a:p>
            <a:r>
              <a:rPr lang="en-US" altLang="zh-CN" sz="2400">
                <a:solidFill>
                  <a:srgbClr val="FF0000"/>
                </a:solidFill>
              </a:rPr>
              <a:t>F2</a:t>
            </a:r>
            <a:endParaRPr lang="en-US" altLang="zh-CN" sz="2400">
              <a:solidFill>
                <a:srgbClr val="FF0000"/>
              </a:solidFill>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P spid="5" grpId="0"/>
      <p:bldP spid="5"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4505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45060" name="Rectangle 2"/>
          <p:cNvSpPr>
            <a:spLocks noGrp="1"/>
          </p:cNvSpPr>
          <p:nvPr>
            <p:ph type="title"/>
          </p:nvPr>
        </p:nvSpPr>
        <p:spPr>
          <a:xfrm>
            <a:off x="500063" y="644525"/>
            <a:ext cx="7848600" cy="485775"/>
          </a:xfrm>
          <a:prstGeom prst="rect">
            <a:avLst/>
          </a:prstGeom>
          <a:noFill/>
          <a:ln w="9525">
            <a:noFill/>
          </a:ln>
        </p:spPr>
        <p:txBody>
          <a:bodyPr/>
          <a:p>
            <a:pPr eaLnBrk="1" hangingPunct="1"/>
            <a:r>
              <a:rPr lang="en-US" altLang="zh-CN" sz="1800" b="1" dirty="0">
                <a:latin typeface="华文新魏" panose="02010800040101010101" pitchFamily="2" charset="-122"/>
                <a:ea typeface="华文新魏" panose="02010800040101010101" pitchFamily="2" charset="-122"/>
              </a:rPr>
              <a:t>2</a:t>
            </a:r>
            <a:r>
              <a:rPr lang="zh-CN" altLang="en-US" sz="1800" b="1" dirty="0">
                <a:latin typeface="华文新魏" panose="02010800040101010101" pitchFamily="2" charset="-122"/>
                <a:ea typeface="华文新魏" panose="02010800040101010101" pitchFamily="2" charset="-122"/>
              </a:rPr>
              <a:t>）逻辑函数的标准形式</a:t>
            </a:r>
            <a:endParaRPr lang="en-US" altLang="zh-CN" sz="1800" b="1" dirty="0">
              <a:latin typeface="华文新魏" panose="02010800040101010101" pitchFamily="2" charset="-122"/>
              <a:ea typeface="华文新魏" panose="02010800040101010101" pitchFamily="2" charset="-122"/>
            </a:endParaRPr>
          </a:p>
        </p:txBody>
      </p:sp>
      <p:sp>
        <p:nvSpPr>
          <p:cNvPr id="45061" name="Rectangle 3"/>
          <p:cNvSpPr>
            <a:spLocks noGrp="1"/>
          </p:cNvSpPr>
          <p:nvPr>
            <p:ph/>
          </p:nvPr>
        </p:nvSpPr>
        <p:spPr>
          <a:xfrm>
            <a:off x="786130" y="1017905"/>
            <a:ext cx="7889875" cy="3696970"/>
          </a:xfrm>
          <a:prstGeom prst="rect">
            <a:avLst/>
          </a:prstGeom>
          <a:noFill/>
          <a:ln w="9525">
            <a:noFill/>
          </a:ln>
        </p:spPr>
        <p:txBody>
          <a:bodyPr/>
          <a:p>
            <a:pPr eaLnBrk="1" hangingPunct="1">
              <a:buFont typeface="Wingdings" panose="05000000000000000000" pitchFamily="2" charset="2"/>
              <a:buChar char="Ø"/>
            </a:pPr>
            <a:r>
              <a:rPr lang="zh-CN" altLang="en-US" sz="1800" b="1" dirty="0">
                <a:solidFill>
                  <a:srgbClr val="FF0066"/>
                </a:solidFill>
                <a:latin typeface="华文新魏" panose="02010800040101010101" pitchFamily="2" charset="-122"/>
                <a:ea typeface="华文新魏" panose="02010800040101010101" pitchFamily="2" charset="-122"/>
              </a:rPr>
              <a:t>最小项之和</a:t>
            </a:r>
            <a:endParaRPr lang="en-US" altLang="zh-CN" sz="1800" b="1" i="1" dirty="0">
              <a:solidFill>
                <a:srgbClr val="FF0066"/>
              </a:solidFill>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逻辑函数被表达成一系列</a:t>
            </a:r>
            <a:r>
              <a:rPr lang="zh-CN" altLang="en-US" sz="1800" b="1" u="sng" dirty="0">
                <a:solidFill>
                  <a:srgbClr val="0000FF"/>
                </a:solidFill>
                <a:latin typeface="华文新魏" panose="02010800040101010101" pitchFamily="2" charset="-122"/>
                <a:ea typeface="华文新魏" panose="02010800040101010101" pitchFamily="2" charset="-122"/>
              </a:rPr>
              <a:t>乘积项之和</a:t>
            </a:r>
            <a:r>
              <a:rPr lang="zh-CN" altLang="en-US" sz="1800" dirty="0">
                <a:latin typeface="华文新魏" panose="02010800040101010101" pitchFamily="2" charset="-122"/>
                <a:ea typeface="华文新魏" panose="02010800040101010101" pitchFamily="2" charset="-122"/>
              </a:rPr>
              <a:t>，则称之为</a:t>
            </a:r>
            <a:r>
              <a:rPr lang="zh-CN" altLang="en-US" sz="1800" b="1" u="sng" dirty="0">
                <a:latin typeface="华文新魏" panose="02010800040101010101" pitchFamily="2" charset="-122"/>
                <a:ea typeface="华文新魏" panose="02010800040101010101" pitchFamily="2" charset="-122"/>
              </a:rPr>
              <a:t>积之和</a:t>
            </a:r>
            <a:r>
              <a:rPr lang="zh-CN" altLang="en-US" sz="1800" u="sng" dirty="0">
                <a:latin typeface="华文新魏" panose="02010800040101010101" pitchFamily="2" charset="-122"/>
                <a:ea typeface="华文新魏" panose="02010800040101010101" pitchFamily="2" charset="-122"/>
              </a:rPr>
              <a:t>表达式</a:t>
            </a:r>
            <a:r>
              <a:rPr lang="en-US" altLang="zh-CN" sz="1800" b="1" u="sng" dirty="0">
                <a:latin typeface="华文新魏" panose="02010800040101010101" pitchFamily="2" charset="-122"/>
                <a:ea typeface="华文新魏" panose="02010800040101010101" pitchFamily="2" charset="-122"/>
              </a:rPr>
              <a:t>(SOP)</a:t>
            </a:r>
            <a:r>
              <a:rPr lang="zh-CN" altLang="en-US" sz="1800"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或称为</a:t>
            </a:r>
            <a:r>
              <a:rPr lang="en-US" altLang="zh-CN" sz="1800" dirty="0">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与或表达式</a:t>
            </a:r>
            <a:r>
              <a:rPr lang="en-US" altLang="zh-CN"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如果构成函数的积之和表达式中</a:t>
            </a:r>
            <a:r>
              <a:rPr lang="zh-CN" altLang="en-US" sz="1800" b="1" dirty="0">
                <a:latin typeface="华文新魏" panose="02010800040101010101" pitchFamily="2" charset="-122"/>
                <a:ea typeface="华文新魏" panose="02010800040101010101" pitchFamily="2" charset="-122"/>
              </a:rPr>
              <a:t>每一个</a:t>
            </a:r>
            <a:r>
              <a:rPr lang="zh-CN" altLang="en-US" sz="1800" b="1" dirty="0">
                <a:solidFill>
                  <a:srgbClr val="0000FF"/>
                </a:solidFill>
                <a:latin typeface="华文新魏" panose="02010800040101010101" pitchFamily="2" charset="-122"/>
                <a:ea typeface="华文新魏" panose="02010800040101010101" pitchFamily="2" charset="-122"/>
              </a:rPr>
              <a:t>乘积项</a:t>
            </a:r>
            <a:r>
              <a:rPr lang="en-US" altLang="zh-CN" sz="1800" b="1" dirty="0">
                <a:solidFill>
                  <a:srgbClr val="0000FF"/>
                </a:solidFill>
                <a:latin typeface="华文新魏" panose="02010800040101010101" pitchFamily="2" charset="-122"/>
                <a:ea typeface="华文新魏" panose="02010800040101010101" pitchFamily="2" charset="-122"/>
              </a:rPr>
              <a:t>(</a:t>
            </a:r>
            <a:r>
              <a:rPr lang="zh-CN" altLang="en-US" sz="1800" b="1" dirty="0">
                <a:solidFill>
                  <a:srgbClr val="0000FF"/>
                </a:solidFill>
                <a:latin typeface="华文新魏" panose="02010800040101010101" pitchFamily="2" charset="-122"/>
                <a:ea typeface="华文新魏" panose="02010800040101010101" pitchFamily="2" charset="-122"/>
              </a:rPr>
              <a:t>与项</a:t>
            </a:r>
            <a:r>
              <a:rPr lang="en-US" altLang="zh-CN" sz="1800" b="1" dirty="0">
                <a:solidFill>
                  <a:srgbClr val="0000FF"/>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均为最小项</a:t>
            </a:r>
            <a:r>
              <a:rPr lang="zh-CN" altLang="en-US" sz="1800" dirty="0">
                <a:latin typeface="华文新魏" panose="02010800040101010101" pitchFamily="2" charset="-122"/>
                <a:ea typeface="华文新魏" panose="02010800040101010101" pitchFamily="2" charset="-122"/>
              </a:rPr>
              <a:t>时，</a:t>
            </a:r>
            <a:endParaRPr lang="en-US" altLang="zh-CN" sz="1800" b="1" dirty="0">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则这种表达式称之为</a:t>
            </a:r>
            <a:r>
              <a:rPr lang="en-US" altLang="zh-CN" sz="1800"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最小项标准式</a:t>
            </a:r>
            <a:r>
              <a:rPr lang="en-US" altLang="zh-CN" sz="1800" b="1" dirty="0">
                <a:latin typeface="华文新魏" panose="02010800040101010101" pitchFamily="2" charset="-122"/>
                <a:ea typeface="华文新魏" panose="02010800040101010101" pitchFamily="2" charset="-122"/>
              </a:rPr>
              <a:t>”</a:t>
            </a:r>
            <a:r>
              <a:rPr lang="zh-CN" altLang="en-US" sz="1800" b="1" i="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且这种表示是</a:t>
            </a:r>
            <a:r>
              <a:rPr lang="zh-CN" altLang="en-US" sz="1800" b="1" dirty="0">
                <a:latin typeface="华文新魏" panose="02010800040101010101" pitchFamily="2" charset="-122"/>
                <a:ea typeface="华文新魏" panose="02010800040101010101" pitchFamily="2" charset="-122"/>
              </a:rPr>
              <a:t>唯一</a:t>
            </a:r>
            <a:r>
              <a:rPr lang="zh-CN" altLang="en-US" sz="1800" dirty="0">
                <a:latin typeface="华文新魏" panose="02010800040101010101" pitchFamily="2" charset="-122"/>
                <a:ea typeface="华文新魏" panose="02010800040101010101" pitchFamily="2" charset="-122"/>
              </a:rPr>
              <a:t>的。</a:t>
            </a:r>
            <a:endParaRPr lang="en-US" altLang="zh-CN" sz="1800" b="1" i="1" dirty="0">
              <a:latin typeface="华文新魏" panose="02010800040101010101" pitchFamily="2" charset="-122"/>
              <a:ea typeface="华文新魏" panose="02010800040101010101" pitchFamily="2" charset="-122"/>
            </a:endParaRPr>
          </a:p>
          <a:p>
            <a:pPr>
              <a:buNone/>
            </a:pPr>
            <a:endParaRPr lang="en-US" altLang="zh-CN" sz="1800" dirty="0">
              <a:latin typeface="华文新魏" panose="02010800040101010101" pitchFamily="2" charset="-122"/>
              <a:ea typeface="华文新魏" panose="02010800040101010101" pitchFamily="2" charset="-122"/>
            </a:endParaRPr>
          </a:p>
          <a:p>
            <a:pPr eaLnBrk="1" hangingPunct="1">
              <a:buFont typeface="Wingdings" panose="05000000000000000000" pitchFamily="2" charset="2"/>
              <a:buChar char="Ø"/>
            </a:pPr>
            <a:r>
              <a:rPr lang="zh-CN" altLang="en-US" sz="1800" b="1" dirty="0">
                <a:solidFill>
                  <a:srgbClr val="FF0066"/>
                </a:solidFill>
                <a:latin typeface="华文新魏" panose="02010800040101010101" pitchFamily="2" charset="-122"/>
                <a:ea typeface="华文新魏" panose="02010800040101010101" pitchFamily="2" charset="-122"/>
              </a:rPr>
              <a:t>最大项之积</a:t>
            </a:r>
            <a:endParaRPr lang="en-US" altLang="zh-CN" sz="1800" b="1" i="1" dirty="0">
              <a:solidFill>
                <a:srgbClr val="FF0066"/>
              </a:solidFill>
              <a:latin typeface="华文新魏" panose="02010800040101010101" pitchFamily="2" charset="-122"/>
              <a:ea typeface="华文新魏" panose="02010800040101010101" pitchFamily="2" charset="-122"/>
            </a:endParaRPr>
          </a:p>
          <a:p>
            <a:pP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逻辑函数被表达成一系列</a:t>
            </a:r>
            <a:r>
              <a:rPr lang="zh-CN" altLang="en-US" sz="1800" b="1" u="sng" dirty="0">
                <a:solidFill>
                  <a:srgbClr val="0000FF"/>
                </a:solidFill>
                <a:latin typeface="华文新魏" panose="02010800040101010101" pitchFamily="2" charset="-122"/>
                <a:ea typeface="华文新魏" panose="02010800040101010101" pitchFamily="2" charset="-122"/>
              </a:rPr>
              <a:t>和项之积</a:t>
            </a:r>
            <a:r>
              <a:rPr lang="zh-CN" altLang="en-US" sz="1800" dirty="0">
                <a:latin typeface="华文新魏" panose="02010800040101010101" pitchFamily="2" charset="-122"/>
                <a:ea typeface="华文新魏" panose="02010800040101010101" pitchFamily="2" charset="-122"/>
              </a:rPr>
              <a:t>，则称为</a:t>
            </a:r>
            <a:r>
              <a:rPr lang="zh-CN" altLang="en-US" sz="1800" b="1" u="sng" dirty="0">
                <a:latin typeface="华文新魏" panose="02010800040101010101" pitchFamily="2" charset="-122"/>
                <a:ea typeface="华文新魏" panose="02010800040101010101" pitchFamily="2" charset="-122"/>
              </a:rPr>
              <a:t>和之积表达式</a:t>
            </a:r>
            <a:r>
              <a:rPr lang="en-US" altLang="zh-CN" sz="1800" b="1" u="sng" dirty="0">
                <a:latin typeface="华文新魏" panose="02010800040101010101" pitchFamily="2" charset="-122"/>
                <a:ea typeface="华文新魏" panose="02010800040101010101" pitchFamily="2" charset="-122"/>
              </a:rPr>
              <a:t>(POS)</a:t>
            </a:r>
            <a:r>
              <a:rPr lang="zh-CN" altLang="en-US" sz="1800"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或称为</a:t>
            </a:r>
            <a:r>
              <a:rPr lang="en-US" altLang="zh-CN" sz="1800" dirty="0">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或与表达式</a:t>
            </a:r>
            <a:r>
              <a:rPr lang="en-US" altLang="zh-CN"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endParaRPr lang="en-US" altLang="zh-CN"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如果构成函数的</a:t>
            </a:r>
            <a:r>
              <a:rPr lang="zh-CN" altLang="en-US" sz="1800" dirty="0">
                <a:solidFill>
                  <a:srgbClr val="0000FF"/>
                </a:solidFill>
                <a:latin typeface="华文新魏" panose="02010800040101010101" pitchFamily="2" charset="-122"/>
                <a:ea typeface="华文新魏" panose="02010800040101010101" pitchFamily="2" charset="-122"/>
              </a:rPr>
              <a:t>或与表达式</a:t>
            </a:r>
            <a:r>
              <a:rPr lang="zh-CN" altLang="en-US" sz="1800" dirty="0">
                <a:latin typeface="华文新魏" panose="02010800040101010101" pitchFamily="2" charset="-122"/>
                <a:ea typeface="华文新魏" panose="02010800040101010101" pitchFamily="2" charset="-122"/>
              </a:rPr>
              <a:t>中的</a:t>
            </a:r>
            <a:r>
              <a:rPr lang="zh-CN" altLang="en-US" sz="1800" b="1" dirty="0">
                <a:latin typeface="华文新魏" panose="02010800040101010101" pitchFamily="2" charset="-122"/>
                <a:ea typeface="华文新魏" panose="02010800040101010101" pitchFamily="2" charset="-122"/>
              </a:rPr>
              <a:t>每一个</a:t>
            </a:r>
            <a:r>
              <a:rPr lang="zh-CN" altLang="en-US" sz="1800" b="1" dirty="0">
                <a:solidFill>
                  <a:srgbClr val="0000FF"/>
                </a:solidFill>
                <a:latin typeface="华文新魏" panose="02010800040101010101" pitchFamily="2" charset="-122"/>
                <a:ea typeface="华文新魏" panose="02010800040101010101" pitchFamily="2" charset="-122"/>
              </a:rPr>
              <a:t>和项（或</a:t>
            </a:r>
            <a:r>
              <a:rPr lang="zh-CN" altLang="en-US" sz="1800" b="1" dirty="0">
                <a:solidFill>
                  <a:srgbClr val="0000FF"/>
                </a:solidFill>
                <a:latin typeface="华文新魏" panose="02010800040101010101" pitchFamily="2" charset="-122"/>
                <a:ea typeface="华文新魏" panose="02010800040101010101" pitchFamily="2" charset="-122"/>
              </a:rPr>
              <a:t>项）</a:t>
            </a:r>
            <a:r>
              <a:rPr lang="zh-CN" altLang="en-US" sz="1800" dirty="0">
                <a:latin typeface="华文新魏" panose="02010800040101010101" pitchFamily="2" charset="-122"/>
                <a:ea typeface="华文新魏" panose="02010800040101010101" pitchFamily="2" charset="-122"/>
              </a:rPr>
              <a:t>均为</a:t>
            </a:r>
            <a:r>
              <a:rPr lang="zh-CN" altLang="en-US" sz="1800" b="1" dirty="0">
                <a:latin typeface="华文新魏" panose="02010800040101010101" pitchFamily="2" charset="-122"/>
                <a:ea typeface="华文新魏" panose="02010800040101010101" pitchFamily="2" charset="-122"/>
              </a:rPr>
              <a:t>最大项</a:t>
            </a:r>
            <a:r>
              <a:rPr lang="zh-CN" altLang="en-US" sz="1800" dirty="0">
                <a:latin typeface="华文新魏" panose="02010800040101010101" pitchFamily="2" charset="-122"/>
                <a:ea typeface="华文新魏" panose="02010800040101010101" pitchFamily="2" charset="-122"/>
              </a:rPr>
              <a:t>，则这种表达式称为</a:t>
            </a:r>
            <a:r>
              <a:rPr lang="en-US" altLang="zh-CN" sz="1800"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最大项标准式</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 </a:t>
            </a:r>
            <a:r>
              <a:rPr lang="zh-CN" altLang="en-US" sz="1800" b="1" i="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且这种表示是唯一的。</a:t>
            </a:r>
            <a:endParaRPr lang="en-US" altLang="zh-CN" sz="1800" b="1" i="1" dirty="0">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1">
                                            <p:txEl>
                                              <p:charRg st="0"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61">
                                            <p:txEl>
                                              <p:charRg st="6" end="4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061">
                                            <p:txEl>
                                              <p:charRg st="47" end="5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061">
                                            <p:txEl>
                                              <p:charRg st="57" end="9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061">
                                            <p:txEl>
                                              <p:charRg st="94" end="12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61">
                                            <p:txEl>
                                              <p:charRg st="122" end="12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061">
                                            <p:txEl>
                                              <p:charRg st="128" end="16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061">
                                            <p:txEl>
                                              <p:charRg st="169" end="17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061">
                                            <p:txEl>
                                              <p:charRg st="179" end="23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608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6084" name="Rectangle 2"/>
          <p:cNvSpPr>
            <a:spLocks noGrp="1"/>
          </p:cNvSpPr>
          <p:nvPr>
            <p:ph type="title"/>
          </p:nvPr>
        </p:nvSpPr>
        <p:spPr>
          <a:xfrm>
            <a:off x="428308" y="627698"/>
            <a:ext cx="7772400" cy="4318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① </a:t>
            </a:r>
            <a:r>
              <a:rPr lang="zh-CN" altLang="en-US" sz="1800" b="1" dirty="0">
                <a:latin typeface="黑体" panose="02010609060101010101" pitchFamily="49" charset="-122"/>
                <a:ea typeface="黑体" panose="02010609060101010101" pitchFamily="49" charset="-122"/>
              </a:rPr>
              <a:t>最小项 </a:t>
            </a:r>
            <a:r>
              <a:rPr lang="en-US" altLang="zh-CN" sz="1800" b="1" i="1" dirty="0">
                <a:solidFill>
                  <a:srgbClr val="FF0000"/>
                </a:solidFill>
                <a:latin typeface="黑体" panose="02010609060101010101" pitchFamily="49" charset="-122"/>
                <a:ea typeface="黑体" panose="02010609060101010101" pitchFamily="49" charset="-122"/>
              </a:rPr>
              <a:t>minterm</a:t>
            </a:r>
            <a:endParaRPr lang="en-US" altLang="zh-CN" sz="1800" b="1" i="1" dirty="0">
              <a:solidFill>
                <a:srgbClr val="FF0000"/>
              </a:solidFill>
              <a:latin typeface="黑体" panose="02010609060101010101" pitchFamily="49" charset="-122"/>
              <a:ea typeface="黑体" panose="02010609060101010101" pitchFamily="49" charset="-122"/>
            </a:endParaRPr>
          </a:p>
        </p:txBody>
      </p:sp>
      <p:sp>
        <p:nvSpPr>
          <p:cNvPr id="46085" name="Rectangle 3"/>
          <p:cNvSpPr>
            <a:spLocks noGrp="1"/>
          </p:cNvSpPr>
          <p:nvPr>
            <p:ph/>
          </p:nvPr>
        </p:nvSpPr>
        <p:spPr>
          <a:xfrm>
            <a:off x="304800" y="1085850"/>
            <a:ext cx="8534400" cy="1703070"/>
          </a:xfrm>
          <a:prstGeom prst="rect">
            <a:avLst/>
          </a:prstGeom>
          <a:noFill/>
          <a:ln w="9525">
            <a:noFill/>
          </a:ln>
        </p:spPr>
        <p:txBody>
          <a:bodyPr/>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设有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个变量，它们组成的与项中每个变量或以原变量或以反变量形式出现一次，且仅出现一次，</a:t>
            </a:r>
            <a:r>
              <a:rPr lang="zh-CN" altLang="en-US" sz="1800" dirty="0">
                <a:latin typeface="黑体" panose="02010609060101010101" pitchFamily="49" charset="-122"/>
                <a:ea typeface="黑体" panose="02010609060101010101" pitchFamily="49" charset="-122"/>
                <a:sym typeface="+mn-ea"/>
              </a:rPr>
              <a:t>称</a:t>
            </a:r>
            <a:r>
              <a:rPr lang="zh-CN" altLang="en-US" sz="1800" dirty="0">
                <a:latin typeface="黑体" panose="02010609060101010101" pitchFamily="49" charset="-122"/>
                <a:ea typeface="黑体" panose="02010609060101010101" pitchFamily="49" charset="-122"/>
              </a:rPr>
              <a:t>此与项为 </a:t>
            </a:r>
            <a:r>
              <a:rPr lang="en-US" altLang="zh-CN" sz="1800" dirty="0">
                <a:solidFill>
                  <a:srgbClr val="0000FF"/>
                </a:solidFill>
                <a:latin typeface="黑体" panose="02010609060101010101" pitchFamily="49" charset="-122"/>
                <a:ea typeface="黑体" panose="02010609060101010101" pitchFamily="49" charset="-122"/>
              </a:rPr>
              <a:t>n </a:t>
            </a:r>
            <a:r>
              <a:rPr lang="zh-CN" altLang="en-US" sz="1800" dirty="0">
                <a:solidFill>
                  <a:srgbClr val="0000FF"/>
                </a:solidFill>
                <a:latin typeface="黑体" panose="02010609060101010101" pitchFamily="49" charset="-122"/>
                <a:ea typeface="黑体" panose="02010609060101010101" pitchFamily="49" charset="-122"/>
              </a:rPr>
              <a:t>个变量的最小项</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n</a:t>
            </a:r>
            <a:r>
              <a:rPr lang="zh-CN" altLang="en-US" sz="1800" dirty="0">
                <a:latin typeface="黑体" panose="02010609060101010101" pitchFamily="49" charset="-122"/>
                <a:ea typeface="黑体" panose="02010609060101010101" pitchFamily="49" charset="-122"/>
              </a:rPr>
              <a:t>个变量可构成 </a:t>
            </a:r>
            <a:r>
              <a:rPr lang="en-US" altLang="zh-CN" sz="1800" dirty="0">
                <a:latin typeface="黑体" panose="02010609060101010101" pitchFamily="49" charset="-122"/>
                <a:ea typeface="黑体" panose="02010609060101010101" pitchFamily="49" charset="-122"/>
              </a:rPr>
              <a:t>2</a:t>
            </a:r>
            <a:r>
              <a:rPr lang="en-US" altLang="zh-CN" sz="1800" baseline="30000" dirty="0">
                <a:latin typeface="黑体" panose="02010609060101010101" pitchFamily="49" charset="-122"/>
                <a:ea typeface="黑体" panose="02010609060101010101" pitchFamily="49" charset="-122"/>
              </a:rPr>
              <a:t>n</a:t>
            </a:r>
            <a:r>
              <a:rPr lang="zh-CN" altLang="en-US" sz="1800" dirty="0">
                <a:latin typeface="黑体" panose="02010609060101010101" pitchFamily="49" charset="-122"/>
                <a:ea typeface="黑体" panose="02010609060101010101" pitchFamily="49" charset="-122"/>
              </a:rPr>
              <a:t>个最小项，分别记为 </a:t>
            </a:r>
            <a:r>
              <a:rPr lang="en-US" altLang="zh-CN" sz="1800" dirty="0">
                <a:solidFill>
                  <a:srgbClr val="FF0000"/>
                </a:solidFill>
                <a:latin typeface="黑体" panose="02010609060101010101" pitchFamily="49" charset="-122"/>
                <a:ea typeface="黑体" panose="02010609060101010101" pitchFamily="49" charset="-122"/>
              </a:rPr>
              <a:t>m</a:t>
            </a:r>
            <a:r>
              <a:rPr lang="en-US" altLang="zh-CN" sz="1800" baseline="-25000" dirty="0">
                <a:solidFill>
                  <a:srgbClr val="FF0000"/>
                </a:solidFill>
                <a:latin typeface="黑体" panose="02010609060101010101" pitchFamily="49" charset="-122"/>
                <a:ea typeface="黑体" panose="02010609060101010101" pitchFamily="49" charset="-122"/>
              </a:rPr>
              <a:t>i</a:t>
            </a:r>
            <a:r>
              <a:rPr lang="en-US" altLang="zh-CN" sz="1800" baseline="-25000" dirty="0">
                <a:latin typeface="黑体" panose="02010609060101010101" pitchFamily="49" charset="-122"/>
                <a:ea typeface="黑体" panose="02010609060101010101" pitchFamily="49" charset="-122"/>
              </a:rPr>
              <a:t> </a:t>
            </a:r>
            <a:r>
              <a:rPr lang="zh-CN" altLang="en-US" sz="1800" baseline="-25000" dirty="0">
                <a:latin typeface="黑体" panose="02010609060101010101" pitchFamily="49" charset="-122"/>
                <a:ea typeface="黑体" panose="02010609060101010101" pitchFamily="49" charset="-122"/>
              </a:rPr>
              <a:t>；</a:t>
            </a:r>
            <a:endParaRPr lang="zh-CN" altLang="en-US" sz="1800" baseline="-250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其中下标值</a:t>
            </a:r>
            <a:r>
              <a:rPr lang="en-US" altLang="zh-CN" sz="1800" dirty="0">
                <a:latin typeface="黑体" panose="02010609060101010101" pitchFamily="49" charset="-122"/>
                <a:ea typeface="黑体" panose="02010609060101010101" pitchFamily="49" charset="-122"/>
              </a:rPr>
              <a:t>i</a:t>
            </a:r>
            <a:r>
              <a:rPr lang="zh-CN" altLang="en-US" sz="1800" dirty="0">
                <a:latin typeface="黑体" panose="02010609060101010101" pitchFamily="49" charset="-122"/>
                <a:ea typeface="黑体" panose="02010609060101010101" pitchFamily="49" charset="-122"/>
              </a:rPr>
              <a:t>（十进制</a:t>
            </a:r>
            <a:r>
              <a:rPr lang="zh-CN" altLang="en-US" sz="1800" dirty="0">
                <a:latin typeface="黑体" panose="02010609060101010101" pitchFamily="49" charset="-122"/>
                <a:ea typeface="黑体" panose="02010609060101010101" pitchFamily="49" charset="-122"/>
              </a:rPr>
              <a:t>数）的确定方式：当各最小项变量</a:t>
            </a:r>
            <a:r>
              <a:rPr lang="zh-CN" altLang="en-US" sz="1800" dirty="0">
                <a:solidFill>
                  <a:srgbClr val="FF0000"/>
                </a:solidFill>
                <a:latin typeface="黑体" panose="02010609060101010101" pitchFamily="49" charset="-122"/>
                <a:ea typeface="黑体" panose="02010609060101010101" pitchFamily="49" charset="-122"/>
              </a:rPr>
              <a:t>按一定顺序</a:t>
            </a:r>
            <a:r>
              <a:rPr lang="zh-CN" altLang="en-US" sz="1800" dirty="0">
                <a:latin typeface="黑体" panose="02010609060101010101" pitchFamily="49" charset="-122"/>
                <a:ea typeface="黑体" panose="02010609060101010101" pitchFamily="49" charset="-122"/>
              </a:rPr>
              <a:t>排好后，用 </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代替其中的原变量，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代替其中的反变量，便得一个二进制数，该二进制数的等值十进制数即为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的值。 </a:t>
            </a:r>
            <a:endParaRPr lang="zh-CN" altLang="en-US" sz="1800" dirty="0">
              <a:latin typeface="黑体" panose="02010609060101010101" pitchFamily="49" charset="-122"/>
              <a:ea typeface="黑体" panose="02010609060101010101" pitchFamily="49" charset="-122"/>
            </a:endParaRPr>
          </a:p>
        </p:txBody>
      </p:sp>
      <p:grpSp>
        <p:nvGrpSpPr>
          <p:cNvPr id="46087" name="Group 24"/>
          <p:cNvGrpSpPr/>
          <p:nvPr/>
        </p:nvGrpSpPr>
        <p:grpSpPr>
          <a:xfrm>
            <a:off x="928688" y="4485374"/>
            <a:ext cx="6858000" cy="453595"/>
            <a:chOff x="-135" y="95"/>
            <a:chExt cx="4320" cy="380"/>
          </a:xfrm>
        </p:grpSpPr>
        <p:sp>
          <p:nvSpPr>
            <p:cNvPr id="46110" name="Text Box 22"/>
            <p:cNvSpPr txBox="1"/>
            <p:nvPr/>
          </p:nvSpPr>
          <p:spPr>
            <a:xfrm>
              <a:off x="-135" y="141"/>
              <a:ext cx="4320" cy="334"/>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rgbClr val="0000FF"/>
                  </a:solidFill>
                  <a:latin typeface="黑体" panose="02010609060101010101" pitchFamily="49" charset="-122"/>
                  <a:ea typeface="黑体" panose="02010609060101010101" pitchFamily="49" charset="-122"/>
                </a:rPr>
                <a:t>为区别不同 </a:t>
              </a:r>
              <a:r>
                <a:rPr lang="en-US" altLang="zh-CN" sz="1800" dirty="0">
                  <a:solidFill>
                    <a:srgbClr val="0000FF"/>
                  </a:solidFill>
                  <a:latin typeface="黑体" panose="02010609060101010101" pitchFamily="49" charset="-122"/>
                  <a:ea typeface="黑体" panose="02010609060101010101" pitchFamily="49" charset="-122"/>
                </a:rPr>
                <a:t>n </a:t>
              </a:r>
              <a:r>
                <a:rPr lang="zh-CN" altLang="en-US" sz="1800" dirty="0">
                  <a:solidFill>
                    <a:srgbClr val="0000FF"/>
                  </a:solidFill>
                  <a:latin typeface="黑体" panose="02010609060101010101" pitchFamily="49" charset="-122"/>
                  <a:ea typeface="黑体" panose="02010609060101010101" pitchFamily="49" charset="-122"/>
                </a:rPr>
                <a:t>值的相同 </a:t>
              </a:r>
              <a:r>
                <a:rPr lang="en-US" altLang="zh-CN" sz="1800" dirty="0">
                  <a:solidFill>
                    <a:srgbClr val="0000FF"/>
                  </a:solidFill>
                  <a:latin typeface="黑体" panose="02010609060101010101" pitchFamily="49" charset="-122"/>
                  <a:ea typeface="黑体" panose="02010609060101010101" pitchFamily="49" charset="-122"/>
                </a:rPr>
                <a:t>m</a:t>
              </a:r>
              <a:r>
                <a:rPr lang="en-US" altLang="zh-CN" sz="1800" baseline="-25000" dirty="0">
                  <a:solidFill>
                    <a:srgbClr val="0000FF"/>
                  </a:solidFill>
                  <a:latin typeface="黑体" panose="02010609060101010101" pitchFamily="49" charset="-122"/>
                  <a:ea typeface="黑体" panose="02010609060101010101" pitchFamily="49" charset="-122"/>
                </a:rPr>
                <a:t>i</a:t>
              </a:r>
              <a:r>
                <a:rPr lang="en-US" altLang="zh-CN" sz="1800" baseline="-250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，可记为： </a:t>
              </a:r>
              <a:r>
                <a:rPr lang="en-US" altLang="zh-CN" b="1" dirty="0">
                  <a:solidFill>
                    <a:schemeClr val="tx1"/>
                  </a:solidFill>
                  <a:latin typeface="黑体" panose="02010609060101010101" pitchFamily="49" charset="-122"/>
                  <a:ea typeface="黑体" panose="02010609060101010101" pitchFamily="49" charset="-122"/>
                </a:rPr>
                <a:t>m</a:t>
              </a:r>
              <a:r>
                <a:rPr lang="en-US" altLang="zh-CN" sz="1800" b="1" dirty="0">
                  <a:solidFill>
                    <a:schemeClr val="tx1"/>
                  </a:solidFill>
                  <a:latin typeface="黑体" panose="02010609060101010101" pitchFamily="49" charset="-122"/>
                  <a:ea typeface="黑体" panose="02010609060101010101" pitchFamily="49" charset="-122"/>
                </a:rPr>
                <a:t> </a:t>
              </a:r>
              <a:r>
                <a:rPr lang="en-US" altLang="zh-CN" sz="1800" b="1" baseline="-25000" dirty="0">
                  <a:solidFill>
                    <a:schemeClr val="tx1"/>
                  </a:solidFill>
                  <a:latin typeface="黑体" panose="02010609060101010101" pitchFamily="49" charset="-122"/>
                  <a:ea typeface="黑体" panose="02010609060101010101" pitchFamily="49" charset="-122"/>
                </a:rPr>
                <a:t>i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46111" name="Text Box 23"/>
            <p:cNvSpPr txBox="1"/>
            <p:nvPr/>
          </p:nvSpPr>
          <p:spPr>
            <a:xfrm>
              <a:off x="2556" y="95"/>
              <a:ext cx="240" cy="23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200" b="1" dirty="0">
                  <a:solidFill>
                    <a:schemeClr val="tx1"/>
                  </a:solidFill>
                  <a:latin typeface="黑体" panose="02010609060101010101" pitchFamily="49" charset="-122"/>
                  <a:ea typeface="黑体" panose="02010609060101010101" pitchFamily="49" charset="-122"/>
                </a:rPr>
                <a:t>n</a:t>
              </a:r>
              <a:endParaRPr lang="en-US" altLang="zh-CN" sz="1200" b="1" dirty="0">
                <a:solidFill>
                  <a:schemeClr val="tx1"/>
                </a:solidFill>
                <a:latin typeface="黑体" panose="02010609060101010101" pitchFamily="49" charset="-122"/>
                <a:ea typeface="黑体" panose="02010609060101010101" pitchFamily="49" charset="-122"/>
              </a:endParaRPr>
            </a:p>
          </p:txBody>
        </p:sp>
      </p:grpSp>
      <p:pic>
        <p:nvPicPr>
          <p:cNvPr id="3" name="图片 2"/>
          <p:cNvPicPr>
            <a:picLocks noChangeAspect="1"/>
          </p:cNvPicPr>
          <p:nvPr/>
        </p:nvPicPr>
        <p:blipFill>
          <a:blip r:embed="rId1"/>
          <a:stretch>
            <a:fillRect/>
          </a:stretch>
        </p:blipFill>
        <p:spPr>
          <a:xfrm>
            <a:off x="2112010" y="2865755"/>
            <a:ext cx="5668645" cy="14795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5">
                                            <p:txEl>
                                              <p:pRg st="0" end="0"/>
                                            </p:txEl>
                                          </p:spTgt>
                                        </p:tgtEl>
                                        <p:attrNameLst>
                                          <p:attrName>style.visibility</p:attrName>
                                        </p:attrNameLst>
                                      </p:cBhvr>
                                      <p:to>
                                        <p:strVal val="visible"/>
                                      </p:to>
                                    </p:set>
                                    <p:animEffect transition="in" filter="blinds(horizontal)">
                                      <p:cBhvr>
                                        <p:cTn id="7" dur="500"/>
                                        <p:tgtEl>
                                          <p:spTgt spid="460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085">
                                            <p:txEl>
                                              <p:pRg st="1" end="1"/>
                                            </p:txEl>
                                          </p:spTgt>
                                        </p:tgtEl>
                                        <p:attrNameLst>
                                          <p:attrName>style.visibility</p:attrName>
                                        </p:attrNameLst>
                                      </p:cBhvr>
                                      <p:to>
                                        <p:strVal val="visible"/>
                                      </p:to>
                                    </p:set>
                                    <p:animEffect transition="in" filter="blinds(horizontal)">
                                      <p:cBhvr>
                                        <p:cTn id="12" dur="500"/>
                                        <p:tgtEl>
                                          <p:spTgt spid="460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6087"/>
                                        </p:tgtEl>
                                        <p:attrNameLst>
                                          <p:attrName>style.visibility</p:attrName>
                                        </p:attrNameLst>
                                      </p:cBhvr>
                                      <p:to>
                                        <p:strVal val="visible"/>
                                      </p:to>
                                    </p:set>
                                    <p:animEffect transition="in" filter="blinds(horizontal)">
                                      <p:cBhvr>
                                        <p:cTn id="22" dur="500"/>
                                        <p:tgtEl>
                                          <p:spTgt spid="46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uiExpand="1" build="p"/>
      <p:bldP spid="46085" grpI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710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7108" name="Rectangle 3"/>
          <p:cNvSpPr>
            <a:spLocks noGrp="1"/>
          </p:cNvSpPr>
          <p:nvPr>
            <p:ph type="title"/>
          </p:nvPr>
        </p:nvSpPr>
        <p:spPr>
          <a:xfrm>
            <a:off x="395288" y="601663"/>
            <a:ext cx="7772400" cy="4572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②</a:t>
            </a:r>
            <a:r>
              <a:rPr lang="zh-CN" altLang="en-US" sz="1800" b="1" dirty="0">
                <a:latin typeface="黑体" panose="02010609060101010101" pitchFamily="49" charset="-122"/>
                <a:ea typeface="黑体" panose="02010609060101010101" pitchFamily="49" charset="-122"/>
              </a:rPr>
              <a:t>最大项 </a:t>
            </a:r>
            <a:r>
              <a:rPr lang="en-US" altLang="zh-CN" sz="1800" b="1" i="1" dirty="0">
                <a:latin typeface="黑体" panose="02010609060101010101" pitchFamily="49" charset="-122"/>
                <a:ea typeface="黑体" panose="02010609060101010101" pitchFamily="49" charset="-122"/>
              </a:rPr>
              <a:t>maxterm</a:t>
            </a:r>
            <a:endParaRPr lang="en-US" altLang="zh-CN" sz="1800" b="1" i="1" dirty="0">
              <a:latin typeface="黑体" panose="02010609060101010101" pitchFamily="49" charset="-122"/>
              <a:ea typeface="黑体" panose="02010609060101010101" pitchFamily="49" charset="-122"/>
            </a:endParaRPr>
          </a:p>
        </p:txBody>
      </p:sp>
      <p:sp>
        <p:nvSpPr>
          <p:cNvPr id="47109" name="Rectangle 4"/>
          <p:cNvSpPr>
            <a:spLocks noGrp="1"/>
          </p:cNvSpPr>
          <p:nvPr>
            <p:ph/>
          </p:nvPr>
        </p:nvSpPr>
        <p:spPr>
          <a:xfrm>
            <a:off x="228600" y="1205230"/>
            <a:ext cx="8686800" cy="1807845"/>
          </a:xfrm>
          <a:prstGeom prst="rect">
            <a:avLst/>
          </a:prstGeom>
          <a:noFill/>
          <a:ln w="19050" cap="flat" cmpd="sng">
            <a:solidFill>
              <a:srgbClr val="000000"/>
            </a:solidFill>
            <a:prstDash val="solid"/>
            <a:headEnd type="none" w="med" len="med"/>
            <a:tailEnd type="none" w="med" len="med"/>
          </a:ln>
        </p:spPr>
        <p:txBody>
          <a:bodyPr/>
          <a:p>
            <a:pPr eaLnBrk="1" hangingPunct="1">
              <a:buNone/>
            </a:pPr>
            <a:r>
              <a:rPr lang="zh-CN" altLang="en-US" sz="1800" dirty="0">
                <a:latin typeface="黑体" panose="02010609060101010101" pitchFamily="49" charset="-122"/>
                <a:ea typeface="黑体" panose="02010609060101010101" pitchFamily="49" charset="-122"/>
              </a:rPr>
              <a:t>      设有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个逻辑变量，它们组成的或项中，每个变量以原变量或以反变量形式出现一次，且仅出现一次，此或项称为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变量的最大项。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个变量可以构成</a:t>
            </a:r>
            <a:r>
              <a:rPr lang="en-US" altLang="zh-CN" sz="1800" dirty="0">
                <a:latin typeface="黑体" panose="02010609060101010101" pitchFamily="49" charset="-122"/>
                <a:ea typeface="黑体" panose="02010609060101010101" pitchFamily="49" charset="-122"/>
              </a:rPr>
              <a:t>2</a:t>
            </a:r>
            <a:r>
              <a:rPr lang="en-US" altLang="zh-CN" sz="1800" baseline="30000" dirty="0">
                <a:latin typeface="黑体" panose="02010609060101010101" pitchFamily="49" charset="-122"/>
                <a:ea typeface="黑体" panose="02010609060101010101" pitchFamily="49" charset="-122"/>
              </a:rPr>
              <a:t>n</a:t>
            </a:r>
            <a:r>
              <a:rPr lang="zh-CN" altLang="en-US" sz="1800" dirty="0">
                <a:latin typeface="黑体" panose="02010609060101010101" pitchFamily="49" charset="-122"/>
                <a:ea typeface="黑体" panose="02010609060101010101" pitchFamily="49" charset="-122"/>
              </a:rPr>
              <a:t>个最大项，分别记为 </a:t>
            </a:r>
            <a:r>
              <a:rPr lang="en-US" altLang="zh-CN" sz="1800" dirty="0">
                <a:solidFill>
                  <a:srgbClr val="FF0000"/>
                </a:solidFill>
                <a:latin typeface="黑体" panose="02010609060101010101" pitchFamily="49" charset="-122"/>
                <a:ea typeface="黑体" panose="02010609060101010101" pitchFamily="49" charset="-122"/>
              </a:rPr>
              <a:t>M</a:t>
            </a:r>
            <a:r>
              <a:rPr lang="en-US" altLang="zh-CN" sz="1800" baseline="-25000" dirty="0">
                <a:solidFill>
                  <a:srgbClr val="FF0000"/>
                </a:solidFill>
                <a:latin typeface="黑体" panose="02010609060101010101" pitchFamily="49" charset="-122"/>
                <a:ea typeface="黑体" panose="02010609060101010101" pitchFamily="49" charset="-122"/>
              </a:rPr>
              <a:t>i</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最大项下标值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sym typeface="+mn-ea"/>
              </a:rPr>
              <a:t>（十进制数）</a:t>
            </a:r>
            <a:r>
              <a:rPr lang="zh-CN" altLang="en-US" sz="1800" dirty="0">
                <a:latin typeface="黑体" panose="02010609060101010101" pitchFamily="49" charset="-122"/>
                <a:ea typeface="黑体" panose="02010609060101010101" pitchFamily="49" charset="-122"/>
              </a:rPr>
              <a:t>的取值规则与最小项中的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相反，即将各变量按一定次序排好后，用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代替其中的原变量，用 </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代替其中的反变量，得到一个二进制数，该二进制数的等值十进制即为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的值。 </a:t>
            </a:r>
            <a:endParaRPr lang="zh-CN" altLang="en-US" sz="1800" dirty="0">
              <a:latin typeface="黑体" panose="02010609060101010101" pitchFamily="49" charset="-122"/>
              <a:ea typeface="黑体" panose="02010609060101010101" pitchFamily="49" charset="-122"/>
            </a:endParaRPr>
          </a:p>
        </p:txBody>
      </p:sp>
      <p:grpSp>
        <p:nvGrpSpPr>
          <p:cNvPr id="47110" name="Group 27"/>
          <p:cNvGrpSpPr/>
          <p:nvPr/>
        </p:nvGrpSpPr>
        <p:grpSpPr>
          <a:xfrm>
            <a:off x="539750" y="3349584"/>
            <a:ext cx="7772400" cy="1282700"/>
            <a:chOff x="0" y="56"/>
            <a:chExt cx="4896" cy="1078"/>
          </a:xfrm>
        </p:grpSpPr>
        <p:sp>
          <p:nvSpPr>
            <p:cNvPr id="47132" name="Text Box 7"/>
            <p:cNvSpPr txBox="1"/>
            <p:nvPr/>
          </p:nvSpPr>
          <p:spPr>
            <a:xfrm>
              <a:off x="0" y="56"/>
              <a:ext cx="4896" cy="1078"/>
            </a:xfrm>
            <a:prstGeom prst="rect">
              <a:avLst/>
            </a:prstGeom>
            <a:noFill/>
            <a:ln w="9525">
              <a:noFill/>
            </a:ln>
          </p:spPr>
          <p:txBody>
            <a:bodyPr anchor="ctr">
              <a:spAutoFit/>
            </a:bodyPr>
            <a:p>
              <a:pPr eaLnBrk="1" hangingPunct="1">
                <a:lnSpc>
                  <a:spcPct val="7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例如，三变量的最大项记为：</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0</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5</a:t>
              </a:r>
              <a:endParaRPr lang="en-US" altLang="zh-CN" sz="1800" baseline="-250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47133" name="Line 8"/>
            <p:cNvSpPr/>
            <p:nvPr/>
          </p:nvSpPr>
          <p:spPr>
            <a:xfrm>
              <a:off x="70" y="893"/>
              <a:ext cx="150" cy="2"/>
            </a:xfrm>
            <a:prstGeom prst="line">
              <a:avLst/>
            </a:prstGeom>
            <a:ln w="9525" cap="flat" cmpd="sng">
              <a:solidFill>
                <a:srgbClr val="FFFFFF"/>
              </a:solidFill>
              <a:prstDash val="solid"/>
              <a:headEnd type="none" w="med" len="med"/>
              <a:tailEnd type="none" w="med" len="med"/>
            </a:ln>
          </p:spPr>
        </p:sp>
        <p:sp>
          <p:nvSpPr>
            <p:cNvPr id="47134" name="Line 9"/>
            <p:cNvSpPr/>
            <p:nvPr/>
          </p:nvSpPr>
          <p:spPr>
            <a:xfrm>
              <a:off x="1680" y="891"/>
              <a:ext cx="150" cy="2"/>
            </a:xfrm>
            <a:prstGeom prst="line">
              <a:avLst/>
            </a:prstGeom>
            <a:ln w="9525" cap="flat" cmpd="sng">
              <a:solidFill>
                <a:srgbClr val="FFFFFF"/>
              </a:solidFill>
              <a:prstDash val="solid"/>
              <a:headEnd type="none" w="med" len="med"/>
              <a:tailEnd type="none" w="med" len="med"/>
            </a:ln>
          </p:spPr>
        </p:sp>
        <p:sp>
          <p:nvSpPr>
            <p:cNvPr id="47135" name="Line 10"/>
            <p:cNvSpPr/>
            <p:nvPr/>
          </p:nvSpPr>
          <p:spPr>
            <a:xfrm>
              <a:off x="426" y="893"/>
              <a:ext cx="150" cy="2"/>
            </a:xfrm>
            <a:prstGeom prst="line">
              <a:avLst/>
            </a:prstGeom>
            <a:ln w="9525" cap="flat" cmpd="sng">
              <a:solidFill>
                <a:srgbClr val="FFFFFF"/>
              </a:solidFill>
              <a:prstDash val="solid"/>
              <a:headEnd type="none" w="med" len="med"/>
              <a:tailEnd type="none" w="med" len="med"/>
            </a:ln>
          </p:spPr>
        </p:sp>
        <p:sp>
          <p:nvSpPr>
            <p:cNvPr id="47136" name="Line 11"/>
            <p:cNvSpPr/>
            <p:nvPr/>
          </p:nvSpPr>
          <p:spPr>
            <a:xfrm>
              <a:off x="432" y="555"/>
              <a:ext cx="150" cy="2"/>
            </a:xfrm>
            <a:prstGeom prst="line">
              <a:avLst/>
            </a:prstGeom>
            <a:ln w="9525" cap="flat" cmpd="sng">
              <a:solidFill>
                <a:srgbClr val="FFFFFF"/>
              </a:solidFill>
              <a:prstDash val="solid"/>
              <a:headEnd type="none" w="med" len="med"/>
              <a:tailEnd type="none" w="med" len="med"/>
            </a:ln>
          </p:spPr>
        </p:sp>
        <p:sp>
          <p:nvSpPr>
            <p:cNvPr id="47137" name="Line 12"/>
            <p:cNvSpPr/>
            <p:nvPr/>
          </p:nvSpPr>
          <p:spPr>
            <a:xfrm>
              <a:off x="810" y="555"/>
              <a:ext cx="150" cy="2"/>
            </a:xfrm>
            <a:prstGeom prst="line">
              <a:avLst/>
            </a:prstGeom>
            <a:ln w="9525" cap="flat" cmpd="sng">
              <a:solidFill>
                <a:srgbClr val="FFFFFF"/>
              </a:solidFill>
              <a:prstDash val="solid"/>
              <a:headEnd type="none" w="med" len="med"/>
              <a:tailEnd type="none" w="med" len="med"/>
            </a:ln>
          </p:spPr>
        </p:sp>
        <p:sp>
          <p:nvSpPr>
            <p:cNvPr id="47138" name="Line 13"/>
            <p:cNvSpPr/>
            <p:nvPr/>
          </p:nvSpPr>
          <p:spPr>
            <a:xfrm>
              <a:off x="2052" y="891"/>
              <a:ext cx="150" cy="2"/>
            </a:xfrm>
            <a:prstGeom prst="line">
              <a:avLst/>
            </a:prstGeom>
            <a:ln w="9525" cap="flat" cmpd="sng">
              <a:solidFill>
                <a:srgbClr val="FFFFFF"/>
              </a:solidFill>
              <a:prstDash val="solid"/>
              <a:headEnd type="none" w="med" len="med"/>
              <a:tailEnd type="none" w="med" len="med"/>
            </a:ln>
          </p:spPr>
        </p:sp>
        <p:sp>
          <p:nvSpPr>
            <p:cNvPr id="47139" name="Line 14"/>
            <p:cNvSpPr/>
            <p:nvPr/>
          </p:nvSpPr>
          <p:spPr>
            <a:xfrm>
              <a:off x="2442" y="891"/>
              <a:ext cx="150" cy="2"/>
            </a:xfrm>
            <a:prstGeom prst="line">
              <a:avLst/>
            </a:prstGeom>
            <a:ln w="9525" cap="flat" cmpd="sng">
              <a:solidFill>
                <a:srgbClr val="FFFFFF"/>
              </a:solidFill>
              <a:prstDash val="solid"/>
              <a:headEnd type="none" w="med" len="med"/>
              <a:tailEnd type="none" w="med" len="med"/>
            </a:ln>
          </p:spPr>
        </p:sp>
        <p:sp>
          <p:nvSpPr>
            <p:cNvPr id="47140" name="Line 15"/>
            <p:cNvSpPr/>
            <p:nvPr/>
          </p:nvSpPr>
          <p:spPr>
            <a:xfrm>
              <a:off x="2442" y="226"/>
              <a:ext cx="150" cy="2"/>
            </a:xfrm>
            <a:prstGeom prst="line">
              <a:avLst/>
            </a:prstGeom>
            <a:ln w="9525" cap="flat" cmpd="sng">
              <a:solidFill>
                <a:srgbClr val="FFFFFF"/>
              </a:solidFill>
              <a:prstDash val="solid"/>
              <a:headEnd type="none" w="med" len="med"/>
              <a:tailEnd type="none" w="med" len="med"/>
            </a:ln>
          </p:spPr>
        </p:sp>
        <p:sp>
          <p:nvSpPr>
            <p:cNvPr id="47141" name="Line 17"/>
            <p:cNvSpPr/>
            <p:nvPr/>
          </p:nvSpPr>
          <p:spPr>
            <a:xfrm>
              <a:off x="3312" y="555"/>
              <a:ext cx="150" cy="2"/>
            </a:xfrm>
            <a:prstGeom prst="line">
              <a:avLst/>
            </a:prstGeom>
            <a:ln w="9525" cap="flat" cmpd="sng">
              <a:solidFill>
                <a:srgbClr val="FFFFFF"/>
              </a:solidFill>
              <a:prstDash val="solid"/>
              <a:headEnd type="none" w="med" len="med"/>
              <a:tailEnd type="none" w="med" len="med"/>
            </a:ln>
          </p:spPr>
        </p:sp>
        <p:sp>
          <p:nvSpPr>
            <p:cNvPr id="47142" name="Line 18"/>
            <p:cNvSpPr/>
            <p:nvPr/>
          </p:nvSpPr>
          <p:spPr>
            <a:xfrm>
              <a:off x="3676" y="226"/>
              <a:ext cx="150" cy="2"/>
            </a:xfrm>
            <a:prstGeom prst="line">
              <a:avLst/>
            </a:prstGeom>
            <a:ln w="9525" cap="flat" cmpd="sng">
              <a:solidFill>
                <a:srgbClr val="FFFFFF"/>
              </a:solidFill>
              <a:prstDash val="solid"/>
              <a:headEnd type="none" w="med" len="med"/>
              <a:tailEnd type="none" w="med" len="med"/>
            </a:ln>
          </p:spPr>
        </p:sp>
        <p:sp>
          <p:nvSpPr>
            <p:cNvPr id="47143" name="Line 19"/>
            <p:cNvSpPr/>
            <p:nvPr/>
          </p:nvSpPr>
          <p:spPr>
            <a:xfrm>
              <a:off x="4100" y="555"/>
              <a:ext cx="150" cy="2"/>
            </a:xfrm>
            <a:prstGeom prst="line">
              <a:avLst/>
            </a:prstGeom>
            <a:ln w="9525" cap="flat" cmpd="sng">
              <a:solidFill>
                <a:srgbClr val="FFFFFF"/>
              </a:solidFill>
              <a:prstDash val="solid"/>
              <a:headEnd type="none" w="med" len="med"/>
              <a:tailEnd type="none" w="med" len="med"/>
            </a:ln>
          </p:spPr>
        </p:sp>
        <p:sp>
          <p:nvSpPr>
            <p:cNvPr id="47144" name="Line 20"/>
            <p:cNvSpPr/>
            <p:nvPr/>
          </p:nvSpPr>
          <p:spPr>
            <a:xfrm>
              <a:off x="1674" y="555"/>
              <a:ext cx="150" cy="2"/>
            </a:xfrm>
            <a:prstGeom prst="line">
              <a:avLst/>
            </a:prstGeom>
            <a:ln w="9525" cap="flat" cmpd="sng">
              <a:solidFill>
                <a:srgbClr val="FFFFFF"/>
              </a:solidFill>
              <a:prstDash val="solid"/>
              <a:headEnd type="none" w="med" len="med"/>
              <a:tailEnd type="none" w="med" len="med"/>
            </a:ln>
          </p:spPr>
        </p:sp>
      </p:grpSp>
      <p:grpSp>
        <p:nvGrpSpPr>
          <p:cNvPr id="47111" name="Group 28"/>
          <p:cNvGrpSpPr/>
          <p:nvPr/>
        </p:nvGrpSpPr>
        <p:grpSpPr>
          <a:xfrm>
            <a:off x="1260475" y="4438650"/>
            <a:ext cx="7426325" cy="555625"/>
            <a:chOff x="0" y="0"/>
            <a:chExt cx="4320" cy="467"/>
          </a:xfrm>
        </p:grpSpPr>
        <p:sp>
          <p:nvSpPr>
            <p:cNvPr id="47130" name="Text Box 24"/>
            <p:cNvSpPr txBox="1"/>
            <p:nvPr/>
          </p:nvSpPr>
          <p:spPr>
            <a:xfrm>
              <a:off x="0" y="156"/>
              <a:ext cx="4320" cy="311"/>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为区别不同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值的相同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i </a:t>
              </a:r>
              <a:r>
                <a:rPr lang="zh-CN" altLang="en-US" sz="1800" dirty="0">
                  <a:solidFill>
                    <a:schemeClr val="tx1"/>
                  </a:solidFill>
                  <a:latin typeface="黑体" panose="02010609060101010101" pitchFamily="49" charset="-122"/>
                  <a:ea typeface="黑体" panose="02010609060101010101" pitchFamily="49" charset="-122"/>
                </a:rPr>
                <a:t>，可记为： </a:t>
              </a:r>
              <a:r>
                <a:rPr lang="en-US" altLang="zh-CN" sz="1800" b="1" dirty="0">
                  <a:solidFill>
                    <a:schemeClr val="tx1"/>
                  </a:solidFill>
                  <a:latin typeface="黑体" panose="02010609060101010101" pitchFamily="49" charset="-122"/>
                  <a:ea typeface="黑体" panose="02010609060101010101" pitchFamily="49" charset="-122"/>
                </a:rPr>
                <a:t>M </a:t>
              </a:r>
              <a:r>
                <a:rPr lang="en-US" altLang="zh-CN" sz="1800" b="1" baseline="-25000" dirty="0">
                  <a:solidFill>
                    <a:schemeClr val="tx1"/>
                  </a:solidFill>
                  <a:latin typeface="黑体" panose="02010609060101010101" pitchFamily="49" charset="-122"/>
                  <a:ea typeface="黑体" panose="02010609060101010101" pitchFamily="49" charset="-122"/>
                </a:rPr>
                <a:t>i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47131" name="Text Box 25"/>
            <p:cNvSpPr txBox="1"/>
            <p:nvPr/>
          </p:nvSpPr>
          <p:spPr>
            <a:xfrm>
              <a:off x="2467" y="0"/>
              <a:ext cx="240" cy="31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n</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47112" name="组合 3"/>
          <p:cNvGrpSpPr/>
          <p:nvPr/>
        </p:nvGrpSpPr>
        <p:grpSpPr>
          <a:xfrm>
            <a:off x="2411413" y="4300538"/>
            <a:ext cx="865187" cy="0"/>
            <a:chOff x="0" y="0"/>
            <a:chExt cx="864096" cy="0"/>
          </a:xfrm>
        </p:grpSpPr>
        <p:cxnSp>
          <p:nvCxnSpPr>
            <p:cNvPr id="47127" name="直接连接符 2"/>
            <p:cNvCxnSpPr/>
            <p:nvPr/>
          </p:nvCxnSpPr>
          <p:spPr>
            <a:xfrm>
              <a:off x="0" y="0"/>
              <a:ext cx="167531" cy="0"/>
            </a:xfrm>
            <a:prstGeom prst="line">
              <a:avLst/>
            </a:prstGeom>
            <a:ln w="19050" cap="flat" cmpd="sng">
              <a:solidFill>
                <a:schemeClr val="tx1"/>
              </a:solidFill>
              <a:prstDash val="solid"/>
              <a:headEnd type="none" w="med" len="med"/>
              <a:tailEnd type="none" w="med" len="med"/>
            </a:ln>
          </p:spPr>
        </p:cxnSp>
        <p:cxnSp>
          <p:nvCxnSpPr>
            <p:cNvPr id="47128" name="直接连接符 24"/>
            <p:cNvCxnSpPr/>
            <p:nvPr/>
          </p:nvCxnSpPr>
          <p:spPr>
            <a:xfrm>
              <a:off x="319931" y="0"/>
              <a:ext cx="167531" cy="0"/>
            </a:xfrm>
            <a:prstGeom prst="line">
              <a:avLst/>
            </a:prstGeom>
            <a:ln w="19050" cap="flat" cmpd="sng">
              <a:solidFill>
                <a:schemeClr val="tx1"/>
              </a:solidFill>
              <a:prstDash val="solid"/>
              <a:headEnd type="none" w="med" len="med"/>
              <a:tailEnd type="none" w="med" len="med"/>
            </a:ln>
          </p:spPr>
        </p:cxnSp>
        <p:cxnSp>
          <p:nvCxnSpPr>
            <p:cNvPr id="47129" name="直接连接符 25"/>
            <p:cNvCxnSpPr/>
            <p:nvPr/>
          </p:nvCxnSpPr>
          <p:spPr>
            <a:xfrm>
              <a:off x="696565" y="0"/>
              <a:ext cx="167531" cy="0"/>
            </a:xfrm>
            <a:prstGeom prst="line">
              <a:avLst/>
            </a:prstGeom>
            <a:ln w="19050" cap="flat" cmpd="sng">
              <a:solidFill>
                <a:schemeClr val="tx1"/>
              </a:solidFill>
              <a:prstDash val="solid"/>
              <a:headEnd type="none" w="med" len="med"/>
              <a:tailEnd type="none" w="med" len="med"/>
            </a:ln>
          </p:spPr>
        </p:cxnSp>
      </p:grpSp>
      <p:grpSp>
        <p:nvGrpSpPr>
          <p:cNvPr id="47113" name="组合 27"/>
          <p:cNvGrpSpPr/>
          <p:nvPr/>
        </p:nvGrpSpPr>
        <p:grpSpPr>
          <a:xfrm>
            <a:off x="611188" y="3952875"/>
            <a:ext cx="487362" cy="347663"/>
            <a:chOff x="0" y="0"/>
            <a:chExt cx="487462" cy="346503"/>
          </a:xfrm>
        </p:grpSpPr>
        <p:cxnSp>
          <p:nvCxnSpPr>
            <p:cNvPr id="47124" name="直接连接符 28"/>
            <p:cNvCxnSpPr/>
            <p:nvPr/>
          </p:nvCxnSpPr>
          <p:spPr>
            <a:xfrm>
              <a:off x="0" y="346503"/>
              <a:ext cx="167531" cy="0"/>
            </a:xfrm>
            <a:prstGeom prst="line">
              <a:avLst/>
            </a:prstGeom>
            <a:ln w="19050" cap="flat" cmpd="sng">
              <a:solidFill>
                <a:schemeClr val="tx1"/>
              </a:solidFill>
              <a:prstDash val="solid"/>
              <a:headEnd type="none" w="med" len="med"/>
              <a:tailEnd type="none" w="med" len="med"/>
            </a:ln>
          </p:spPr>
        </p:cxnSp>
        <p:cxnSp>
          <p:nvCxnSpPr>
            <p:cNvPr id="47125" name="直接连接符 29"/>
            <p:cNvCxnSpPr/>
            <p:nvPr/>
          </p:nvCxnSpPr>
          <p:spPr>
            <a:xfrm>
              <a:off x="319931" y="346503"/>
              <a:ext cx="167531" cy="0"/>
            </a:xfrm>
            <a:prstGeom prst="line">
              <a:avLst/>
            </a:prstGeom>
            <a:ln w="19050" cap="flat" cmpd="sng">
              <a:solidFill>
                <a:schemeClr val="tx1"/>
              </a:solidFill>
              <a:prstDash val="solid"/>
              <a:headEnd type="none" w="med" len="med"/>
              <a:tailEnd type="none" w="med" len="med"/>
            </a:ln>
          </p:spPr>
        </p:cxnSp>
        <p:cxnSp>
          <p:nvCxnSpPr>
            <p:cNvPr id="47126" name="直接连接符 30"/>
            <p:cNvCxnSpPr/>
            <p:nvPr/>
          </p:nvCxnSpPr>
          <p:spPr>
            <a:xfrm>
              <a:off x="319931" y="0"/>
              <a:ext cx="167531" cy="0"/>
            </a:xfrm>
            <a:prstGeom prst="line">
              <a:avLst/>
            </a:prstGeom>
            <a:ln w="19050" cap="flat" cmpd="sng">
              <a:solidFill>
                <a:schemeClr val="tx1"/>
              </a:solidFill>
              <a:prstDash val="solid"/>
              <a:headEnd type="none" w="med" len="med"/>
              <a:tailEnd type="none" w="med" len="med"/>
            </a:ln>
          </p:spPr>
        </p:cxnSp>
      </p:grpSp>
      <p:grpSp>
        <p:nvGrpSpPr>
          <p:cNvPr id="47114" name="组合 31"/>
          <p:cNvGrpSpPr/>
          <p:nvPr/>
        </p:nvGrpSpPr>
        <p:grpSpPr>
          <a:xfrm>
            <a:off x="1290638" y="3638550"/>
            <a:ext cx="1976437" cy="314325"/>
            <a:chOff x="0" y="0"/>
            <a:chExt cx="1976081" cy="315217"/>
          </a:xfrm>
        </p:grpSpPr>
        <p:cxnSp>
          <p:nvCxnSpPr>
            <p:cNvPr id="47121" name="直接连接符 32"/>
            <p:cNvCxnSpPr/>
            <p:nvPr/>
          </p:nvCxnSpPr>
          <p:spPr>
            <a:xfrm>
              <a:off x="0" y="315217"/>
              <a:ext cx="167531" cy="0"/>
            </a:xfrm>
            <a:prstGeom prst="line">
              <a:avLst/>
            </a:prstGeom>
            <a:ln w="19050" cap="flat" cmpd="sng">
              <a:solidFill>
                <a:schemeClr val="tx1"/>
              </a:solidFill>
              <a:prstDash val="solid"/>
              <a:headEnd type="none" w="med" len="med"/>
              <a:tailEnd type="none" w="med" len="med"/>
            </a:ln>
          </p:spPr>
        </p:cxnSp>
        <p:cxnSp>
          <p:nvCxnSpPr>
            <p:cNvPr id="47122" name="直接连接符 33"/>
            <p:cNvCxnSpPr/>
            <p:nvPr/>
          </p:nvCxnSpPr>
          <p:spPr>
            <a:xfrm>
              <a:off x="1102354" y="315217"/>
              <a:ext cx="167531" cy="0"/>
            </a:xfrm>
            <a:prstGeom prst="line">
              <a:avLst/>
            </a:prstGeom>
            <a:ln w="19050" cap="flat" cmpd="sng">
              <a:solidFill>
                <a:schemeClr val="tx1"/>
              </a:solidFill>
              <a:prstDash val="solid"/>
              <a:headEnd type="none" w="med" len="med"/>
              <a:tailEnd type="none" w="med" len="med"/>
            </a:ln>
          </p:spPr>
        </p:cxnSp>
        <p:cxnSp>
          <p:nvCxnSpPr>
            <p:cNvPr id="47123" name="直接连接符 34"/>
            <p:cNvCxnSpPr/>
            <p:nvPr/>
          </p:nvCxnSpPr>
          <p:spPr>
            <a:xfrm>
              <a:off x="1808550" y="0"/>
              <a:ext cx="167531" cy="0"/>
            </a:xfrm>
            <a:prstGeom prst="line">
              <a:avLst/>
            </a:prstGeom>
            <a:ln w="19050" cap="flat" cmpd="sng">
              <a:solidFill>
                <a:schemeClr val="tx1"/>
              </a:solidFill>
              <a:prstDash val="solid"/>
              <a:headEnd type="none" w="med" len="med"/>
              <a:tailEnd type="none" w="med" len="med"/>
            </a:ln>
          </p:spPr>
        </p:cxnSp>
      </p:grpSp>
      <p:grpSp>
        <p:nvGrpSpPr>
          <p:cNvPr id="47115" name="组合 39"/>
          <p:cNvGrpSpPr/>
          <p:nvPr/>
        </p:nvGrpSpPr>
        <p:grpSpPr>
          <a:xfrm>
            <a:off x="4195763" y="3638550"/>
            <a:ext cx="863600" cy="301625"/>
            <a:chOff x="0" y="0"/>
            <a:chExt cx="864096" cy="301680"/>
          </a:xfrm>
        </p:grpSpPr>
        <p:cxnSp>
          <p:nvCxnSpPr>
            <p:cNvPr id="47118" name="直接连接符 40"/>
            <p:cNvCxnSpPr/>
            <p:nvPr/>
          </p:nvCxnSpPr>
          <p:spPr>
            <a:xfrm>
              <a:off x="0" y="301680"/>
              <a:ext cx="167531" cy="0"/>
            </a:xfrm>
            <a:prstGeom prst="line">
              <a:avLst/>
            </a:prstGeom>
            <a:ln w="19050" cap="flat" cmpd="sng">
              <a:solidFill>
                <a:schemeClr val="tx1"/>
              </a:solidFill>
              <a:prstDash val="solid"/>
              <a:headEnd type="none" w="med" len="med"/>
              <a:tailEnd type="none" w="med" len="med"/>
            </a:ln>
          </p:spPr>
        </p:cxnSp>
        <p:cxnSp>
          <p:nvCxnSpPr>
            <p:cNvPr id="47119" name="直接连接符 41"/>
            <p:cNvCxnSpPr/>
            <p:nvPr/>
          </p:nvCxnSpPr>
          <p:spPr>
            <a:xfrm>
              <a:off x="319931" y="0"/>
              <a:ext cx="167531" cy="0"/>
            </a:xfrm>
            <a:prstGeom prst="line">
              <a:avLst/>
            </a:prstGeom>
            <a:ln w="19050" cap="flat" cmpd="sng">
              <a:solidFill>
                <a:schemeClr val="tx1"/>
              </a:solidFill>
              <a:prstDash val="solid"/>
              <a:headEnd type="none" w="med" len="med"/>
              <a:tailEnd type="none" w="med" len="med"/>
            </a:ln>
          </p:spPr>
        </p:cxnSp>
        <p:cxnSp>
          <p:nvCxnSpPr>
            <p:cNvPr id="47120" name="直接连接符 42"/>
            <p:cNvCxnSpPr/>
            <p:nvPr/>
          </p:nvCxnSpPr>
          <p:spPr>
            <a:xfrm>
              <a:off x="696565" y="301680"/>
              <a:ext cx="167531" cy="0"/>
            </a:xfrm>
            <a:prstGeom prst="line">
              <a:avLst/>
            </a:prstGeom>
            <a:ln w="19050" cap="flat" cmpd="sng">
              <a:solidFill>
                <a:schemeClr val="tx1"/>
              </a:solidFill>
              <a:prstDash val="solid"/>
              <a:headEnd type="none" w="med" len="med"/>
              <a:tailEnd type="none" w="med" len="med"/>
            </a:ln>
          </p:spPr>
        </p:cxnSp>
      </p:grpSp>
      <p:sp>
        <p:nvSpPr>
          <p:cNvPr id="46119" name="TextBox 5"/>
          <p:cNvSpPr txBox="1"/>
          <p:nvPr/>
        </p:nvSpPr>
        <p:spPr>
          <a:xfrm>
            <a:off x="4143375" y="4165600"/>
            <a:ext cx="1004888" cy="400050"/>
          </a:xfrm>
          <a:prstGeom prst="rect">
            <a:avLst/>
          </a:prstGeom>
          <a:noFill/>
          <a:ln w="9525">
            <a:noFill/>
          </a:ln>
        </p:spPr>
        <p:txBody>
          <a:bodyPr>
            <a:spAutoFit/>
          </a:bodyPr>
          <a:p>
            <a:pPr eaLnBrk="1" hangingPunct="1">
              <a:buFont typeface="Arial" panose="020B0604020202020204" pitchFamily="34" charset="0"/>
            </a:pPr>
            <a:r>
              <a:rPr lang="en-US" altLang="zh-CN" dirty="0">
                <a:solidFill>
                  <a:srgbClr val="FF0000"/>
                </a:solidFill>
                <a:latin typeface="Calibri" panose="020F0502020204030204" pitchFamily="34" charset="0"/>
              </a:rPr>
              <a:t>1    0   1</a:t>
            </a:r>
            <a:endParaRPr lang="zh-CN" altLang="en-US" dirty="0">
              <a:solidFill>
                <a:srgbClr val="FF0000"/>
              </a:solidFill>
              <a:latin typeface="Calibri" panose="020F0502020204030204" pitchFamily="34" charset="0"/>
            </a:endParaRPr>
          </a:p>
        </p:txBody>
      </p:sp>
      <p:sp>
        <p:nvSpPr>
          <p:cNvPr id="46120" name="直角上箭头 7"/>
          <p:cNvSpPr/>
          <p:nvPr/>
        </p:nvSpPr>
        <p:spPr>
          <a:xfrm>
            <a:off x="5148263" y="4227513"/>
            <a:ext cx="409575" cy="201612"/>
          </a:xfrm>
          <a:custGeom>
            <a:avLst/>
            <a:gdLst/>
            <a:ahLst/>
            <a:cxnLst>
              <a:cxn ang="0">
                <a:pos x="0" y="149880"/>
              </a:cxn>
              <a:cxn ang="0">
                <a:pos x="326525" y="149880"/>
              </a:cxn>
              <a:cxn ang="0">
                <a:pos x="326525" y="49961"/>
              </a:cxn>
              <a:cxn ang="0">
                <a:pos x="301915" y="49961"/>
              </a:cxn>
              <a:cxn ang="0">
                <a:pos x="351128" y="0"/>
              </a:cxn>
              <a:cxn ang="0">
                <a:pos x="400342" y="49961"/>
              </a:cxn>
              <a:cxn ang="0">
                <a:pos x="375734" y="49961"/>
              </a:cxn>
              <a:cxn ang="0">
                <a:pos x="375734" y="199839"/>
              </a:cxn>
              <a:cxn ang="0">
                <a:pos x="0" y="199839"/>
              </a:cxn>
              <a:cxn ang="0">
                <a:pos x="0" y="149880"/>
              </a:cxn>
            </a:cxnLst>
            <a:pathLst>
              <a:path w="410294" h="201749">
                <a:moveTo>
                  <a:pt x="0" y="151312"/>
                </a:moveTo>
                <a:lnTo>
                  <a:pt x="334638" y="151312"/>
                </a:lnTo>
                <a:lnTo>
                  <a:pt x="334638" y="50437"/>
                </a:lnTo>
                <a:lnTo>
                  <a:pt x="309420" y="50437"/>
                </a:lnTo>
                <a:lnTo>
                  <a:pt x="359857" y="0"/>
                </a:lnTo>
                <a:lnTo>
                  <a:pt x="410294" y="50437"/>
                </a:lnTo>
                <a:lnTo>
                  <a:pt x="385075" y="50437"/>
                </a:lnTo>
                <a:lnTo>
                  <a:pt x="385075" y="201749"/>
                </a:lnTo>
                <a:lnTo>
                  <a:pt x="0" y="201749"/>
                </a:lnTo>
                <a:lnTo>
                  <a:pt x="0" y="151312"/>
                </a:lnTo>
                <a:close/>
              </a:path>
            </a:pathLst>
          </a:custGeom>
          <a:solidFill>
            <a:schemeClr val="accent1">
              <a:alpha val="100000"/>
            </a:schemeClr>
          </a:solidFill>
          <a:ln w="12700" cap="flat" cmpd="sng">
            <a:solidFill>
              <a:srgbClr val="41719C">
                <a:alpha val="100000"/>
              </a:srgbClr>
            </a:solidFill>
            <a:prstDash val="solid"/>
            <a:round/>
            <a:headEnd type="none" w="med" len="med"/>
            <a:tailEnd type="none" w="med" len="med"/>
          </a:ln>
        </p:spPr>
        <p:txBody>
          <a:bodyPr/>
          <a:p>
            <a:endParaRPr lang="zh-CN" altLang="en-US"/>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6120"/>
                                        </p:tgtEl>
                                        <p:attrNameLst>
                                          <p:attrName>style.visibility</p:attrName>
                                        </p:attrNameLst>
                                      </p:cBhvr>
                                      <p:to>
                                        <p:strVal val="visible"/>
                                      </p:to>
                                    </p:set>
                                    <p:animEffect transition="in" filter="fade">
                                      <p:cBhvr>
                                        <p:cTn id="11" dur="500"/>
                                        <p:tgtEl>
                                          <p:spTgt spid="46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813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8132" name="Rectangle 3"/>
          <p:cNvSpPr>
            <a:spLocks noGrp="1"/>
          </p:cNvSpPr>
          <p:nvPr>
            <p:ph type="title"/>
          </p:nvPr>
        </p:nvSpPr>
        <p:spPr>
          <a:xfrm>
            <a:off x="500063" y="555625"/>
            <a:ext cx="7772400" cy="431800"/>
          </a:xfrm>
          <a:prstGeom prst="rect">
            <a:avLst/>
          </a:prstGeom>
          <a:noFill/>
          <a:ln w="9525">
            <a:noFill/>
          </a:ln>
        </p:spPr>
        <p:txBody>
          <a:bodyPr/>
          <a:p>
            <a:pPr eaLnBrk="1" hangingPunct="1"/>
            <a:r>
              <a:rPr lang="en-US" altLang="zh-CN" sz="1800" b="1" dirty="0">
                <a:solidFill>
                  <a:srgbClr val="FF0000"/>
                </a:solidFill>
                <a:latin typeface="黑体" panose="02010609060101010101" pitchFamily="49" charset="-122"/>
                <a:ea typeface="黑体" panose="02010609060101010101" pitchFamily="49" charset="-122"/>
              </a:rPr>
              <a:t>③ </a:t>
            </a:r>
            <a:r>
              <a:rPr lang="zh-CN" altLang="en-US" sz="1800" b="1" dirty="0">
                <a:solidFill>
                  <a:srgbClr val="FF0000"/>
                </a:solidFill>
                <a:latin typeface="黑体" panose="02010609060101010101" pitchFamily="49" charset="-122"/>
                <a:ea typeface="黑体" panose="02010609060101010101" pitchFamily="49" charset="-122"/>
              </a:rPr>
              <a:t>最小项与最大项的性质（</a:t>
            </a:r>
            <a:r>
              <a:rPr lang="zh-CN" altLang="en-US" sz="1800" b="1" dirty="0">
                <a:solidFill>
                  <a:srgbClr val="0000FF"/>
                </a:solidFill>
                <a:latin typeface="黑体" panose="02010609060101010101" pitchFamily="49" charset="-122"/>
                <a:ea typeface="黑体" panose="02010609060101010101" pitchFamily="49" charset="-122"/>
              </a:rPr>
              <a:t>同一个函数</a:t>
            </a:r>
            <a:r>
              <a:rPr lang="zh-CN" altLang="en-US" sz="1800" b="1" dirty="0">
                <a:solidFill>
                  <a:srgbClr val="FF0000"/>
                </a:solidFill>
                <a:latin typeface="黑体" panose="02010609060101010101" pitchFamily="49" charset="-122"/>
                <a:ea typeface="黑体" panose="02010609060101010101" pitchFamily="49" charset="-122"/>
              </a:rPr>
              <a:t>）</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48133" name="Rectangle 4"/>
          <p:cNvSpPr txBox="1"/>
          <p:nvPr/>
        </p:nvSpPr>
        <p:spPr>
          <a:xfrm>
            <a:off x="381000" y="911225"/>
            <a:ext cx="8382000" cy="757238"/>
          </a:xfrm>
          <a:prstGeom prst="rect">
            <a:avLst/>
          </a:prstGeom>
          <a:noFill/>
          <a:ln w="9525">
            <a:noFill/>
          </a:ln>
        </p:spPr>
        <p:txBody>
          <a:bodyPr/>
          <a:p>
            <a:pPr marL="342900" indent="-342900" eaLnBrk="1" hangingPunct="1">
              <a:lnSpc>
                <a:spcPct val="12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⑴ </a:t>
            </a:r>
            <a:r>
              <a:rPr lang="zh-CN" altLang="en-US" sz="1800" dirty="0">
                <a:solidFill>
                  <a:schemeClr val="tx1"/>
                </a:solidFill>
                <a:latin typeface="黑体" panose="02010609060101010101" pitchFamily="49" charset="-122"/>
                <a:ea typeface="黑体" panose="02010609060101010101" pitchFamily="49" charset="-122"/>
              </a:rPr>
              <a:t>对于</a:t>
            </a:r>
            <a:r>
              <a:rPr lang="zh-CN" altLang="en-US" sz="1800" dirty="0">
                <a:solidFill>
                  <a:srgbClr val="0000FF"/>
                </a:solidFill>
                <a:latin typeface="黑体" panose="02010609060101010101" pitchFamily="49" charset="-122"/>
                <a:ea typeface="黑体" panose="02010609060101010101" pitchFamily="49" charset="-122"/>
              </a:rPr>
              <a:t>任意</a:t>
            </a:r>
            <a:r>
              <a:rPr lang="zh-CN" altLang="en-US" sz="1800" b="1" dirty="0">
                <a:solidFill>
                  <a:srgbClr val="0000FF"/>
                </a:solidFill>
                <a:latin typeface="黑体" panose="02010609060101010101" pitchFamily="49" charset="-122"/>
                <a:ea typeface="黑体" panose="02010609060101010101" pitchFamily="49" charset="-122"/>
              </a:rPr>
              <a:t>最小项</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只有一组</a:t>
            </a:r>
            <a:r>
              <a:rPr lang="zh-CN" altLang="en-US" sz="1800" dirty="0">
                <a:solidFill>
                  <a:schemeClr val="tx1"/>
                </a:solidFill>
                <a:latin typeface="黑体" panose="02010609060101010101" pitchFamily="49" charset="-122"/>
                <a:ea typeface="黑体" panose="02010609060101010101" pitchFamily="49" charset="-122"/>
              </a:rPr>
              <a:t>变量组合取值可使其值</a:t>
            </a:r>
            <a:r>
              <a:rPr lang="zh-CN" altLang="en-US" sz="1800" b="1" dirty="0">
                <a:solidFill>
                  <a:schemeClr val="tx1"/>
                </a:solidFill>
                <a:latin typeface="黑体" panose="02010609060101010101" pitchFamily="49" charset="-122"/>
                <a:ea typeface="黑体" panose="02010609060101010101" pitchFamily="49" charset="-122"/>
              </a:rPr>
              <a:t>为</a:t>
            </a:r>
            <a:r>
              <a:rPr lang="en-US" altLang="zh-CN" sz="1800" b="1"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；对于</a:t>
            </a:r>
            <a:r>
              <a:rPr lang="zh-CN" altLang="en-US" sz="1800" dirty="0">
                <a:solidFill>
                  <a:srgbClr val="0000FF"/>
                </a:solidFill>
                <a:latin typeface="黑体" panose="02010609060101010101" pitchFamily="49" charset="-122"/>
                <a:ea typeface="黑体" panose="02010609060101010101" pitchFamily="49" charset="-122"/>
              </a:rPr>
              <a:t>任意</a:t>
            </a:r>
            <a:r>
              <a:rPr lang="zh-CN" altLang="en-US" sz="1800" b="1" dirty="0">
                <a:solidFill>
                  <a:srgbClr val="0000FF"/>
                </a:solidFill>
                <a:latin typeface="黑体" panose="02010609060101010101" pitchFamily="49" charset="-122"/>
                <a:ea typeface="黑体" panose="02010609060101010101" pitchFamily="49" charset="-122"/>
              </a:rPr>
              <a:t>最大项</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只有一组</a:t>
            </a:r>
            <a:r>
              <a:rPr lang="zh-CN" altLang="en-US" sz="1800" dirty="0">
                <a:solidFill>
                  <a:schemeClr val="tx1"/>
                </a:solidFill>
                <a:latin typeface="黑体" panose="02010609060101010101" pitchFamily="49" charset="-122"/>
                <a:ea typeface="黑体" panose="02010609060101010101" pitchFamily="49" charset="-122"/>
              </a:rPr>
              <a:t>变量组合取值可使其值</a:t>
            </a:r>
            <a:r>
              <a:rPr lang="zh-CN" altLang="en-US" sz="1800" b="1" dirty="0">
                <a:solidFill>
                  <a:schemeClr val="tx1"/>
                </a:solidFill>
                <a:latin typeface="黑体" panose="02010609060101010101" pitchFamily="49" charset="-122"/>
                <a:ea typeface="黑体" panose="02010609060101010101" pitchFamily="49" charset="-122"/>
              </a:rPr>
              <a:t>为</a:t>
            </a:r>
            <a:r>
              <a:rPr lang="en-US" altLang="zh-CN" sz="1800" b="1"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48134" name="Text Box 66"/>
          <p:cNvSpPr txBox="1"/>
          <p:nvPr/>
        </p:nvSpPr>
        <p:spPr>
          <a:xfrm>
            <a:off x="381000" y="2894013"/>
            <a:ext cx="7358063" cy="920750"/>
          </a:xfrm>
          <a:prstGeom prst="rect">
            <a:avLst/>
          </a:prstGeom>
          <a:noFill/>
          <a:ln w="9525">
            <a:noFill/>
          </a:ln>
        </p:spPr>
        <p:txBody>
          <a:bodyPr>
            <a:spAutoFit/>
          </a:bodyPr>
          <a:p>
            <a:pPr eaLnBrk="1" hangingPunct="1">
              <a:lnSpc>
                <a:spcPct val="14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⑶ </a:t>
            </a:r>
            <a:r>
              <a:rPr lang="zh-CN" altLang="en-US" sz="1800" dirty="0">
                <a:solidFill>
                  <a:schemeClr val="tx1"/>
                </a:solidFill>
                <a:latin typeface="黑体" panose="02010609060101010101" pitchFamily="49" charset="-122"/>
                <a:ea typeface="黑体" panose="02010609060101010101" pitchFamily="49" charset="-122"/>
              </a:rPr>
              <a:t>任意两个最小项之积（</a:t>
            </a:r>
            <a:r>
              <a:rPr lang="zh-CN" altLang="en-US" sz="1800" dirty="0">
                <a:solidFill>
                  <a:srgbClr val="0000FF"/>
                </a:solidFill>
                <a:latin typeface="黑体" panose="02010609060101010101" pitchFamily="49" charset="-122"/>
                <a:ea typeface="黑体" panose="02010609060101010101" pitchFamily="49" charset="-122"/>
              </a:rPr>
              <a:t>相与</a:t>
            </a:r>
            <a:r>
              <a:rPr lang="zh-CN" altLang="en-US" sz="1800" dirty="0">
                <a:solidFill>
                  <a:schemeClr val="tx1"/>
                </a:solidFill>
                <a:latin typeface="黑体" panose="02010609060101010101" pitchFamily="49" charset="-122"/>
                <a:ea typeface="黑体" panose="02010609060101010101" pitchFamily="49" charset="-122"/>
              </a:rPr>
              <a:t>）必为</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，即：</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i</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j</a:t>
            </a:r>
            <a:r>
              <a:rPr lang="en-US" altLang="zh-CN" sz="1800" b="1" dirty="0">
                <a:solidFill>
                  <a:schemeClr val="tx1"/>
                </a:solidFill>
                <a:latin typeface="黑体" panose="02010609060101010101" pitchFamily="49" charset="-122"/>
                <a:ea typeface="黑体" panose="02010609060101010101" pitchFamily="49" charset="-122"/>
              </a:rPr>
              <a:t> = 0(i≠j)</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14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任意两个最大项之和（</a:t>
            </a:r>
            <a:r>
              <a:rPr lang="zh-CN" altLang="en-US" sz="1800" dirty="0">
                <a:solidFill>
                  <a:srgbClr val="0000FF"/>
                </a:solidFill>
                <a:latin typeface="黑体" panose="02010609060101010101" pitchFamily="49" charset="-122"/>
                <a:ea typeface="黑体" panose="02010609060101010101" pitchFamily="49" charset="-122"/>
              </a:rPr>
              <a:t>相或</a:t>
            </a:r>
            <a:r>
              <a:rPr lang="zh-CN" altLang="en-US" sz="1800" dirty="0">
                <a:solidFill>
                  <a:schemeClr val="tx1"/>
                </a:solidFill>
                <a:latin typeface="黑体" panose="02010609060101010101" pitchFamily="49" charset="-122"/>
                <a:ea typeface="黑体" panose="02010609060101010101" pitchFamily="49" charset="-122"/>
              </a:rPr>
              <a:t>）必为</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，即：</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i</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j</a:t>
            </a:r>
            <a:r>
              <a:rPr lang="en-US" altLang="zh-CN" sz="1800" b="1" dirty="0">
                <a:solidFill>
                  <a:schemeClr val="tx1"/>
                </a:solidFill>
                <a:latin typeface="黑体" panose="02010609060101010101" pitchFamily="49" charset="-122"/>
                <a:ea typeface="黑体" panose="02010609060101010101" pitchFamily="49" charset="-122"/>
              </a:rPr>
              <a:t>=1(i≠j)</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48135" name="Group 77"/>
          <p:cNvGrpSpPr/>
          <p:nvPr/>
        </p:nvGrpSpPr>
        <p:grpSpPr>
          <a:xfrm>
            <a:off x="384175" y="1549400"/>
            <a:ext cx="7129463" cy="1263650"/>
            <a:chOff x="0" y="0"/>
            <a:chExt cx="5285" cy="1249"/>
          </a:xfrm>
        </p:grpSpPr>
        <p:sp>
          <p:nvSpPr>
            <p:cNvPr id="48140" name="Text Box 67"/>
            <p:cNvSpPr txBox="1"/>
            <p:nvPr/>
          </p:nvSpPr>
          <p:spPr>
            <a:xfrm>
              <a:off x="0" y="269"/>
              <a:ext cx="4094" cy="937"/>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⑵ n</a:t>
              </a:r>
              <a:r>
                <a:rPr lang="zh-CN" altLang="en-US" sz="1800" dirty="0">
                  <a:solidFill>
                    <a:schemeClr val="tx1"/>
                  </a:solidFill>
                  <a:latin typeface="黑体" panose="02010609060101010101" pitchFamily="49" charset="-122"/>
                  <a:ea typeface="黑体" panose="02010609060101010101" pitchFamily="49" charset="-122"/>
                </a:rPr>
                <a:t>变量的所有</a:t>
              </a:r>
              <a:r>
                <a:rPr lang="zh-CN" altLang="en-US" sz="1800" dirty="0">
                  <a:solidFill>
                    <a:srgbClr val="FF0000"/>
                  </a:solidFill>
                  <a:latin typeface="黑体" panose="02010609060101010101" pitchFamily="49" charset="-122"/>
                  <a:ea typeface="黑体" panose="02010609060101010101" pitchFamily="49" charset="-122"/>
                </a:rPr>
                <a:t>最小项之和</a:t>
              </a:r>
              <a:r>
                <a:rPr lang="zh-CN" altLang="en-US" sz="1800" dirty="0">
                  <a:solidFill>
                    <a:schemeClr val="tx1"/>
                  </a:solidFill>
                  <a:latin typeface="黑体" panose="02010609060101010101" pitchFamily="49" charset="-122"/>
                  <a:ea typeface="黑体" panose="02010609060101010101" pitchFamily="49" charset="-122"/>
                </a:rPr>
                <a:t>必为</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，记为：</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20000"/>
                </a:spcBef>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n</a:t>
              </a:r>
              <a:r>
                <a:rPr lang="zh-CN" altLang="en-US" sz="1800" dirty="0">
                  <a:solidFill>
                    <a:schemeClr val="tx1"/>
                  </a:solidFill>
                  <a:latin typeface="黑体" panose="02010609060101010101" pitchFamily="49" charset="-122"/>
                  <a:ea typeface="黑体" panose="02010609060101010101" pitchFamily="49" charset="-122"/>
                </a:rPr>
                <a:t>变量的所有</a:t>
              </a:r>
              <a:r>
                <a:rPr lang="zh-CN" altLang="en-US" sz="1800" dirty="0">
                  <a:solidFill>
                    <a:srgbClr val="FF0000"/>
                  </a:solidFill>
                  <a:latin typeface="黑体" panose="02010609060101010101" pitchFamily="49" charset="-122"/>
                  <a:ea typeface="黑体" panose="02010609060101010101" pitchFamily="49" charset="-122"/>
                </a:rPr>
                <a:t>最大项之积</a:t>
              </a:r>
              <a:r>
                <a:rPr lang="zh-CN" altLang="en-US" sz="1800" dirty="0">
                  <a:solidFill>
                    <a:schemeClr val="tx1"/>
                  </a:solidFill>
                  <a:latin typeface="黑体" panose="02010609060101010101" pitchFamily="49" charset="-122"/>
                  <a:ea typeface="黑体" panose="02010609060101010101" pitchFamily="49" charset="-122"/>
                </a:rPr>
                <a:t>必为</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，记为：</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48141" name="Group 72"/>
            <p:cNvGrpSpPr/>
            <p:nvPr/>
          </p:nvGrpSpPr>
          <p:grpSpPr>
            <a:xfrm>
              <a:off x="3908" y="0"/>
              <a:ext cx="1296" cy="643"/>
              <a:chOff x="0" y="0"/>
              <a:chExt cx="1296" cy="643"/>
            </a:xfrm>
          </p:grpSpPr>
          <p:sp>
            <p:nvSpPr>
              <p:cNvPr id="48146" name="Text Box 69"/>
              <p:cNvSpPr txBox="1"/>
              <p:nvPr/>
            </p:nvSpPr>
            <p:spPr>
              <a:xfrm>
                <a:off x="0" y="156"/>
                <a:ext cx="1296" cy="36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sym typeface="Symbol" panose="05050102010706020507" pitchFamily="18" charset="2"/>
                  </a:rPr>
                  <a:t>     </a:t>
                </a:r>
                <a:r>
                  <a:rPr lang="en-US" altLang="zh-CN" sz="1800" b="1" dirty="0">
                    <a:solidFill>
                      <a:schemeClr val="tx1"/>
                    </a:solidFill>
                    <a:latin typeface="黑体" panose="02010609060101010101" pitchFamily="49" charset="-122"/>
                    <a:ea typeface="黑体" panose="02010609060101010101" pitchFamily="49" charset="-122"/>
                  </a:rPr>
                  <a:t>m </a:t>
                </a:r>
                <a:r>
                  <a:rPr lang="en-US" altLang="zh-CN" sz="1800" b="1" baseline="-25000" dirty="0">
                    <a:solidFill>
                      <a:schemeClr val="tx1"/>
                    </a:solidFill>
                    <a:latin typeface="黑体" panose="02010609060101010101" pitchFamily="49" charset="-122"/>
                    <a:ea typeface="黑体" panose="02010609060101010101" pitchFamily="49" charset="-122"/>
                  </a:rPr>
                  <a:t>i </a:t>
                </a:r>
                <a:r>
                  <a:rPr lang="en-US" altLang="zh-CN" sz="1800" b="1" dirty="0">
                    <a:solidFill>
                      <a:schemeClr val="tx1"/>
                    </a:solidFill>
                    <a:latin typeface="黑体" panose="02010609060101010101" pitchFamily="49" charset="-122"/>
                    <a:ea typeface="黑体" panose="02010609060101010101" pitchFamily="49" charset="-122"/>
                  </a:rPr>
                  <a:t>= 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8147" name="Text Box 70"/>
              <p:cNvSpPr txBox="1"/>
              <p:nvPr/>
            </p:nvSpPr>
            <p:spPr>
              <a:xfrm>
                <a:off x="48" y="0"/>
                <a:ext cx="492" cy="30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2</a:t>
                </a:r>
                <a:r>
                  <a:rPr lang="en-US" altLang="zh-CN" sz="1400" b="1" baseline="30000" dirty="0">
                    <a:solidFill>
                      <a:schemeClr val="tx1"/>
                    </a:solidFill>
                    <a:latin typeface="黑体" panose="02010609060101010101" pitchFamily="49" charset="-122"/>
                    <a:ea typeface="黑体" panose="02010609060101010101" pitchFamily="49" charset="-122"/>
                  </a:rPr>
                  <a:t>n</a:t>
                </a:r>
                <a:r>
                  <a:rPr lang="en-US" altLang="zh-CN" sz="1400" b="1" dirty="0">
                    <a:solidFill>
                      <a:schemeClr val="tx1"/>
                    </a:solidFill>
                    <a:latin typeface="黑体" panose="02010609060101010101" pitchFamily="49" charset="-122"/>
                    <a:ea typeface="黑体" panose="02010609060101010101" pitchFamily="49" charset="-122"/>
                  </a:rPr>
                  <a:t> -1</a:t>
                </a:r>
                <a:endParaRPr lang="en-US" altLang="zh-CN" sz="1400" b="1" dirty="0">
                  <a:solidFill>
                    <a:schemeClr val="tx1"/>
                  </a:solidFill>
                  <a:latin typeface="黑体" panose="02010609060101010101" pitchFamily="49" charset="-122"/>
                  <a:ea typeface="黑体" panose="02010609060101010101" pitchFamily="49" charset="-122"/>
                </a:endParaRPr>
              </a:p>
            </p:txBody>
          </p:sp>
          <p:sp>
            <p:nvSpPr>
              <p:cNvPr id="48148" name="Text Box 71"/>
              <p:cNvSpPr txBox="1"/>
              <p:nvPr/>
            </p:nvSpPr>
            <p:spPr>
              <a:xfrm>
                <a:off x="40" y="339"/>
                <a:ext cx="576" cy="30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i = 0</a:t>
                </a:r>
                <a:endParaRPr lang="en-US" altLang="zh-CN" sz="1400" b="1" dirty="0">
                  <a:solidFill>
                    <a:schemeClr val="tx1"/>
                  </a:solidFill>
                  <a:latin typeface="黑体" panose="02010609060101010101" pitchFamily="49" charset="-122"/>
                  <a:ea typeface="黑体" panose="02010609060101010101" pitchFamily="49" charset="-122"/>
                </a:endParaRPr>
              </a:p>
            </p:txBody>
          </p:sp>
        </p:grpSp>
        <p:grpSp>
          <p:nvGrpSpPr>
            <p:cNvPr id="48142" name="Group 73"/>
            <p:cNvGrpSpPr/>
            <p:nvPr/>
          </p:nvGrpSpPr>
          <p:grpSpPr>
            <a:xfrm>
              <a:off x="3908" y="641"/>
              <a:ext cx="1377" cy="608"/>
              <a:chOff x="0" y="0"/>
              <a:chExt cx="1377" cy="608"/>
            </a:xfrm>
          </p:grpSpPr>
          <p:sp>
            <p:nvSpPr>
              <p:cNvPr id="48143" name="Text Box 74"/>
              <p:cNvSpPr txBox="1"/>
              <p:nvPr/>
            </p:nvSpPr>
            <p:spPr>
              <a:xfrm>
                <a:off x="81" y="145"/>
                <a:ext cx="1296" cy="36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t>
                </a:r>
                <a:r>
                  <a:rPr lang="en-US" altLang="zh-CN" sz="1600" b="1" dirty="0">
                    <a:solidFill>
                      <a:schemeClr val="tx1"/>
                    </a:solidFill>
                    <a:latin typeface="黑体" panose="02010609060101010101" pitchFamily="49" charset="-122"/>
                    <a:ea typeface="黑体" panose="02010609060101010101" pitchFamily="49" charset="-122"/>
                  </a:rPr>
                  <a:t>M </a:t>
                </a:r>
                <a:r>
                  <a:rPr lang="en-US" altLang="zh-CN" sz="1600" b="1" baseline="-25000" dirty="0">
                    <a:solidFill>
                      <a:schemeClr val="tx1"/>
                    </a:solidFill>
                    <a:latin typeface="黑体" panose="02010609060101010101" pitchFamily="49" charset="-122"/>
                    <a:ea typeface="黑体" panose="02010609060101010101" pitchFamily="49" charset="-122"/>
                  </a:rPr>
                  <a:t>i </a:t>
                </a:r>
                <a:r>
                  <a:rPr lang="en-US" altLang="zh-CN" sz="1600" b="1" dirty="0">
                    <a:solidFill>
                      <a:schemeClr val="tx1"/>
                    </a:solidFill>
                    <a:latin typeface="黑体" panose="02010609060101010101" pitchFamily="49" charset="-122"/>
                    <a:ea typeface="黑体" panose="02010609060101010101" pitchFamily="49" charset="-122"/>
                  </a:rPr>
                  <a:t>= 0</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48144" name="Text Box 75"/>
              <p:cNvSpPr txBox="1"/>
              <p:nvPr/>
            </p:nvSpPr>
            <p:spPr>
              <a:xfrm>
                <a:off x="0" y="0"/>
                <a:ext cx="576" cy="30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2</a:t>
                </a:r>
                <a:r>
                  <a:rPr lang="en-US" altLang="zh-CN" sz="1400" b="1" baseline="30000" dirty="0">
                    <a:solidFill>
                      <a:schemeClr val="tx1"/>
                    </a:solidFill>
                    <a:latin typeface="黑体" panose="02010609060101010101" pitchFamily="49" charset="-122"/>
                    <a:ea typeface="黑体" panose="02010609060101010101" pitchFamily="49" charset="-122"/>
                  </a:rPr>
                  <a:t>n</a:t>
                </a:r>
                <a:r>
                  <a:rPr lang="en-US" altLang="zh-CN" sz="1400" b="1" dirty="0">
                    <a:solidFill>
                      <a:schemeClr val="tx1"/>
                    </a:solidFill>
                    <a:latin typeface="黑体" panose="02010609060101010101" pitchFamily="49" charset="-122"/>
                    <a:ea typeface="黑体" panose="02010609060101010101" pitchFamily="49" charset="-122"/>
                  </a:rPr>
                  <a:t> -1</a:t>
                </a:r>
                <a:endParaRPr lang="en-US" altLang="zh-CN" sz="1400" b="1" dirty="0">
                  <a:solidFill>
                    <a:schemeClr val="tx1"/>
                  </a:solidFill>
                  <a:latin typeface="黑体" panose="02010609060101010101" pitchFamily="49" charset="-122"/>
                  <a:ea typeface="黑体" panose="02010609060101010101" pitchFamily="49" charset="-122"/>
                </a:endParaRPr>
              </a:p>
            </p:txBody>
          </p:sp>
          <p:sp>
            <p:nvSpPr>
              <p:cNvPr id="48145" name="Text Box 76"/>
              <p:cNvSpPr txBox="1"/>
              <p:nvPr/>
            </p:nvSpPr>
            <p:spPr>
              <a:xfrm>
                <a:off x="9" y="304"/>
                <a:ext cx="576" cy="30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i = 0</a:t>
                </a:r>
                <a:endParaRPr lang="en-US" altLang="zh-CN" sz="1400" b="1" dirty="0">
                  <a:solidFill>
                    <a:schemeClr val="tx1"/>
                  </a:solidFill>
                  <a:latin typeface="黑体" panose="02010609060101010101" pitchFamily="49" charset="-122"/>
                  <a:ea typeface="黑体" panose="02010609060101010101" pitchFamily="49" charset="-122"/>
                </a:endParaRPr>
              </a:p>
            </p:txBody>
          </p:sp>
        </p:grpSp>
      </p:grpSp>
      <p:sp>
        <p:nvSpPr>
          <p:cNvPr id="48136" name="矩形 38"/>
          <p:cNvSpPr/>
          <p:nvPr/>
        </p:nvSpPr>
        <p:spPr>
          <a:xfrm>
            <a:off x="381000" y="3762375"/>
            <a:ext cx="7715250" cy="755650"/>
          </a:xfrm>
          <a:prstGeom prst="rect">
            <a:avLst/>
          </a:prstGeom>
          <a:noFill/>
          <a:ln w="9525">
            <a:noFill/>
          </a:ln>
        </p:spPr>
        <p:txBody>
          <a:bodyPr>
            <a:spAutoFit/>
          </a:bodyPr>
          <a:p>
            <a:pPr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⑷ </a:t>
            </a:r>
            <a:r>
              <a:rPr lang="zh-CN" altLang="en-US" sz="1800" dirty="0">
                <a:solidFill>
                  <a:schemeClr val="tx1"/>
                </a:solidFill>
                <a:latin typeface="黑体" panose="02010609060101010101" pitchFamily="49" charset="-122"/>
                <a:ea typeface="黑体" panose="02010609060101010101" pitchFamily="49" charset="-122"/>
              </a:rPr>
              <a:t>任意函数的同下标的</a:t>
            </a:r>
            <a:r>
              <a:rPr lang="zh-CN" altLang="en-US" sz="1800" dirty="0">
                <a:solidFill>
                  <a:srgbClr val="FF0000"/>
                </a:solidFill>
                <a:latin typeface="黑体" panose="02010609060101010101" pitchFamily="49" charset="-122"/>
                <a:ea typeface="黑体" panose="02010609060101010101" pitchFamily="49" charset="-122"/>
              </a:rPr>
              <a:t>最小项和最大项互为反函数</a:t>
            </a:r>
            <a:endParaRPr lang="zh-CN" altLang="en-US" sz="1800" dirty="0">
              <a:solidFill>
                <a:srgbClr val="FF0000"/>
              </a:solidFill>
              <a:latin typeface="黑体" panose="02010609060101010101" pitchFamily="49" charset="-122"/>
              <a:ea typeface="黑体" panose="02010609060101010101" pitchFamily="49" charset="-122"/>
            </a:endParaRPr>
          </a:p>
          <a:p>
            <a:pPr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pic>
        <p:nvPicPr>
          <p:cNvPr id="48139" name="图片 1"/>
          <p:cNvPicPr>
            <a:picLocks noChangeAspect="1"/>
          </p:cNvPicPr>
          <p:nvPr/>
        </p:nvPicPr>
        <p:blipFill>
          <a:blip r:embed="rId1"/>
          <a:stretch>
            <a:fillRect/>
          </a:stretch>
        </p:blipFill>
        <p:spPr>
          <a:xfrm>
            <a:off x="1688783" y="4180205"/>
            <a:ext cx="4389437" cy="762000"/>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4"/>
                                        </p:tgtEl>
                                        <p:attrNameLst>
                                          <p:attrName>style.visibility</p:attrName>
                                        </p:attrNameLst>
                                      </p:cBhvr>
                                      <p:to>
                                        <p:strVal val="visible"/>
                                      </p:to>
                                    </p:set>
                                    <p:anim calcmode="lin" valueType="num">
                                      <p:cBhvr additive="base">
                                        <p:cTn id="7" dur="500" fill="hold"/>
                                        <p:tgtEl>
                                          <p:spTgt spid="48134"/>
                                        </p:tgtEl>
                                        <p:attrNameLst>
                                          <p:attrName>ppt_x</p:attrName>
                                        </p:attrNameLst>
                                      </p:cBhvr>
                                      <p:tavLst>
                                        <p:tav tm="0">
                                          <p:val>
                                            <p:strVal val="#ppt_x"/>
                                          </p:val>
                                        </p:tav>
                                        <p:tav tm="100000">
                                          <p:val>
                                            <p:strVal val="#ppt_x"/>
                                          </p:val>
                                        </p:tav>
                                      </p:tavLst>
                                    </p:anim>
                                    <p:anim calcmode="lin" valueType="num">
                                      <p:cBhvr additive="base">
                                        <p:cTn id="8" dur="500" fill="hold"/>
                                        <p:tgtEl>
                                          <p:spTgt spid="481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136"/>
                                        </p:tgtEl>
                                        <p:attrNameLst>
                                          <p:attrName>style.visibility</p:attrName>
                                        </p:attrNameLst>
                                      </p:cBhvr>
                                      <p:to>
                                        <p:strVal val="visible"/>
                                      </p:to>
                                    </p:set>
                                    <p:anim calcmode="lin" valueType="num">
                                      <p:cBhvr additive="base">
                                        <p:cTn id="13" dur="500" fill="hold"/>
                                        <p:tgtEl>
                                          <p:spTgt spid="48136"/>
                                        </p:tgtEl>
                                        <p:attrNameLst>
                                          <p:attrName>ppt_x</p:attrName>
                                        </p:attrNameLst>
                                      </p:cBhvr>
                                      <p:tavLst>
                                        <p:tav tm="0">
                                          <p:val>
                                            <p:strVal val="#ppt_x"/>
                                          </p:val>
                                        </p:tav>
                                        <p:tav tm="100000">
                                          <p:val>
                                            <p:strVal val="#ppt_x"/>
                                          </p:val>
                                        </p:tav>
                                      </p:tavLst>
                                    </p:anim>
                                    <p:anim calcmode="lin" valueType="num">
                                      <p:cBhvr additive="base">
                                        <p:cTn id="14" dur="500" fill="hold"/>
                                        <p:tgtEl>
                                          <p:spTgt spid="4813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139"/>
                                        </p:tgtEl>
                                        <p:attrNameLst>
                                          <p:attrName>style.visibility</p:attrName>
                                        </p:attrNameLst>
                                      </p:cBhvr>
                                      <p:to>
                                        <p:strVal val="visible"/>
                                      </p:to>
                                    </p:set>
                                    <p:anim calcmode="lin" valueType="num">
                                      <p:cBhvr additive="base">
                                        <p:cTn id="19" dur="500" fill="hold"/>
                                        <p:tgtEl>
                                          <p:spTgt spid="48139"/>
                                        </p:tgtEl>
                                        <p:attrNameLst>
                                          <p:attrName>ppt_x</p:attrName>
                                        </p:attrNameLst>
                                      </p:cBhvr>
                                      <p:tavLst>
                                        <p:tav tm="0">
                                          <p:val>
                                            <p:strVal val="#ppt_x"/>
                                          </p:val>
                                        </p:tav>
                                        <p:tav tm="100000">
                                          <p:val>
                                            <p:strVal val="#ppt_x"/>
                                          </p:val>
                                        </p:tav>
                                      </p:tavLst>
                                    </p:anim>
                                    <p:anim calcmode="lin" valueType="num">
                                      <p:cBhvr additive="base">
                                        <p:cTn id="20" dur="500" fill="hold"/>
                                        <p:tgtEl>
                                          <p:spTgt spid="48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p:bldP spid="48134" grpId="1"/>
      <p:bldP spid="48136" grpId="0"/>
      <p:bldP spid="48136"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915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9156" name="Rectangle 3"/>
          <p:cNvSpPr>
            <a:spLocks noGrp="1"/>
          </p:cNvSpPr>
          <p:nvPr>
            <p:ph/>
          </p:nvPr>
        </p:nvSpPr>
        <p:spPr>
          <a:xfrm>
            <a:off x="179388" y="1006475"/>
            <a:ext cx="8686800" cy="4302125"/>
          </a:xfrm>
          <a:prstGeom prst="rect">
            <a:avLst/>
          </a:prstGeom>
          <a:noFill/>
          <a:ln w="9525">
            <a:noFill/>
          </a:ln>
        </p:spPr>
        <p:txBody>
          <a:bodyPr/>
          <a:p>
            <a:pPr eaLnBrk="1" hangingPunct="1">
              <a:lnSpc>
                <a:spcPct val="120000"/>
              </a:lnSpc>
              <a:buFont typeface="Wingdings" panose="05000000000000000000" pitchFamily="2" charset="2"/>
              <a:buChar char="l"/>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给定的函数为</a:t>
            </a:r>
            <a:r>
              <a:rPr lang="zh-CN" altLang="en-US" sz="1800" b="1" dirty="0">
                <a:latin typeface="黑体" panose="02010609060101010101" pitchFamily="49" charset="-122"/>
                <a:ea typeface="黑体" panose="02010609060101010101" pitchFamily="49" charset="-122"/>
              </a:rPr>
              <a:t>一般的</a:t>
            </a:r>
            <a:r>
              <a:rPr lang="zh-CN" altLang="en-US" sz="1800" b="1" dirty="0">
                <a:solidFill>
                  <a:srgbClr val="0000FF"/>
                </a:solidFill>
                <a:latin typeface="黑体" panose="02010609060101010101" pitchFamily="49" charset="-122"/>
                <a:ea typeface="黑体" panose="02010609060101010101" pitchFamily="49" charset="-122"/>
              </a:rPr>
              <a:t>与或表达式</a:t>
            </a:r>
            <a:r>
              <a:rPr lang="zh-CN" altLang="en-US" sz="1800" dirty="0">
                <a:latin typeface="黑体" panose="02010609060101010101" pitchFamily="49" charset="-122"/>
                <a:ea typeface="黑体" panose="02010609060101010101" pitchFamily="49" charset="-122"/>
              </a:rPr>
              <a:t>，可以反复应用</a:t>
            </a:r>
            <a:r>
              <a:rPr lang="zh-CN" altLang="en-US" sz="1800" b="1" dirty="0">
                <a:latin typeface="黑体" panose="02010609060101010101" pitchFamily="49" charset="-122"/>
                <a:ea typeface="黑体" panose="02010609060101010101" pitchFamily="49" charset="-122"/>
              </a:rPr>
              <a:t>公式：</a:t>
            </a:r>
            <a:r>
              <a:rPr lang="en-US" altLang="zh-CN" sz="1800" b="1" dirty="0">
                <a:solidFill>
                  <a:srgbClr val="FF0000"/>
                </a:solidFill>
                <a:latin typeface="黑体" panose="02010609060101010101" pitchFamily="49" charset="-122"/>
                <a:ea typeface="黑体" panose="02010609060101010101" pitchFamily="49" charset="-122"/>
              </a:rPr>
              <a:t>X=X(Y</a:t>
            </a:r>
            <a:r>
              <a:rPr lang="zh-CN" altLang="en-US" sz="1800" b="1" dirty="0">
                <a:solidFill>
                  <a:srgbClr val="FF0000"/>
                </a:solidFill>
                <a:latin typeface="黑体" panose="02010609060101010101" pitchFamily="49" charset="-122"/>
                <a:ea typeface="黑体" panose="02010609060101010101" pitchFamily="49" charset="-122"/>
              </a:rPr>
              <a:t>＋</a:t>
            </a:r>
            <a:r>
              <a:rPr lang="en-US" altLang="zh-CN" sz="1800" b="1" dirty="0">
                <a:solidFill>
                  <a:srgbClr val="FF0000"/>
                </a:solidFill>
                <a:latin typeface="黑体" panose="02010609060101010101" pitchFamily="49" charset="-122"/>
                <a:ea typeface="黑体" panose="02010609060101010101" pitchFamily="49" charset="-122"/>
              </a:rPr>
              <a:t>Y) </a:t>
            </a:r>
            <a:r>
              <a:rPr lang="zh-CN" altLang="en-US" sz="1800" dirty="0">
                <a:latin typeface="黑体" panose="02010609060101010101" pitchFamily="49" charset="-122"/>
                <a:ea typeface="黑体" panose="02010609060101010101" pitchFamily="49" charset="-122"/>
              </a:rPr>
              <a:t>代入缺少某变量</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Y”</a:t>
            </a:r>
            <a:r>
              <a:rPr lang="zh-CN" altLang="en-US" sz="1800" dirty="0">
                <a:latin typeface="黑体" panose="02010609060101010101" pitchFamily="49" charset="-122"/>
                <a:ea typeface="黑体" panose="02010609060101010101" pitchFamily="49" charset="-122"/>
              </a:rPr>
              <a:t>的与项中，形成最小项之和的形式。</a:t>
            </a: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给定函数</a:t>
            </a:r>
            <a:r>
              <a:rPr lang="zh-CN" altLang="en-US" sz="1800" u="sng" dirty="0">
                <a:latin typeface="黑体" panose="02010609060101010101" pitchFamily="49" charset="-122"/>
                <a:ea typeface="黑体" panose="02010609060101010101" pitchFamily="49" charset="-122"/>
              </a:rPr>
              <a:t>用</a:t>
            </a:r>
            <a:r>
              <a:rPr lang="zh-CN" altLang="en-US" sz="1800" b="1" u="sng" dirty="0">
                <a:solidFill>
                  <a:srgbClr val="0000FF"/>
                </a:solidFill>
                <a:latin typeface="黑体" panose="02010609060101010101" pitchFamily="49" charset="-122"/>
                <a:ea typeface="黑体" panose="02010609060101010101" pitchFamily="49" charset="-122"/>
              </a:rPr>
              <a:t>真值表</a:t>
            </a:r>
            <a:r>
              <a:rPr lang="zh-CN" altLang="en-US" sz="1800" b="1" u="sng" dirty="0">
                <a:latin typeface="黑体" panose="02010609060101010101" pitchFamily="49" charset="-122"/>
                <a:ea typeface="黑体" panose="02010609060101010101" pitchFamily="49" charset="-122"/>
              </a:rPr>
              <a:t>表示</a:t>
            </a:r>
            <a:r>
              <a:rPr lang="zh-CN" altLang="en-US" sz="1800" dirty="0">
                <a:latin typeface="黑体" panose="02010609060101010101" pitchFamily="49" charset="-122"/>
                <a:ea typeface="黑体" panose="02010609060101010101" pitchFamily="49" charset="-122"/>
              </a:rPr>
              <a:t>，显然</a:t>
            </a:r>
            <a:r>
              <a:rPr lang="zh-CN" altLang="en-US" sz="1800" b="1" dirty="0">
                <a:latin typeface="黑体" panose="02010609060101010101" pitchFamily="49" charset="-122"/>
                <a:ea typeface="黑体" panose="02010609060101010101" pitchFamily="49" charset="-122"/>
              </a:rPr>
              <a:t>真值表每一行</a:t>
            </a:r>
            <a:r>
              <a:rPr lang="zh-CN" altLang="en-US" sz="1800" dirty="0">
                <a:latin typeface="黑体" panose="02010609060101010101" pitchFamily="49" charset="-122"/>
                <a:ea typeface="黑体" panose="02010609060101010101" pitchFamily="49" charset="-122"/>
              </a:rPr>
              <a:t>变量的组合</a:t>
            </a:r>
            <a:r>
              <a:rPr lang="zh-CN" altLang="en-US" sz="1800" b="1" dirty="0">
                <a:latin typeface="黑体" panose="02010609060101010101" pitchFamily="49" charset="-122"/>
                <a:ea typeface="黑体" panose="02010609060101010101" pitchFamily="49" charset="-122"/>
              </a:rPr>
              <a:t>对应一个最小项</a:t>
            </a:r>
            <a:r>
              <a:rPr lang="zh-CN" altLang="en-US" sz="1800" dirty="0">
                <a:latin typeface="黑体" panose="02010609060101010101" pitchFamily="49" charset="-122"/>
                <a:ea typeface="黑体" panose="02010609060101010101" pitchFamily="49" charset="-122"/>
              </a:rPr>
              <a:t>。如果对应该行的</a:t>
            </a:r>
            <a:r>
              <a:rPr lang="zh-CN" altLang="en-US" sz="1800" b="1" dirty="0">
                <a:latin typeface="黑体" panose="02010609060101010101" pitchFamily="49" charset="-122"/>
                <a:ea typeface="黑体" panose="02010609060101010101" pitchFamily="49" charset="-122"/>
              </a:rPr>
              <a:t>函数值为 </a:t>
            </a:r>
            <a:r>
              <a:rPr lang="en-US" altLang="zh-CN" sz="1800" b="1"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，则函数的最小项表达式中</a:t>
            </a:r>
            <a:r>
              <a:rPr lang="zh-CN" altLang="en-US" sz="1800" b="1" dirty="0">
                <a:latin typeface="黑体" panose="02010609060101010101" pitchFamily="49" charset="-122"/>
                <a:ea typeface="黑体" panose="02010609060101010101" pitchFamily="49" charset="-122"/>
              </a:rPr>
              <a:t>应包含</a:t>
            </a:r>
            <a:r>
              <a:rPr lang="zh-CN" altLang="en-US" sz="1800" dirty="0">
                <a:latin typeface="黑体" panose="02010609060101010101" pitchFamily="49" charset="-122"/>
                <a:ea typeface="黑体" panose="02010609060101010101" pitchFamily="49" charset="-122"/>
              </a:rPr>
              <a:t>该行对应的最小项；如果该行的</a:t>
            </a:r>
            <a:r>
              <a:rPr lang="zh-CN" altLang="en-US" sz="1800" b="1" dirty="0">
                <a:latin typeface="黑体" panose="02010609060101010101" pitchFamily="49" charset="-122"/>
                <a:ea typeface="黑体" panose="02010609060101010101" pitchFamily="49" charset="-122"/>
              </a:rPr>
              <a:t>函数值为 </a:t>
            </a:r>
            <a:r>
              <a:rPr lang="en-US" altLang="zh-CN" sz="1800" b="1"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，则函数的最小项表达式中</a:t>
            </a:r>
            <a:r>
              <a:rPr lang="zh-CN" altLang="en-US" sz="1800" b="1" dirty="0">
                <a:latin typeface="黑体" panose="02010609060101010101" pitchFamily="49" charset="-122"/>
                <a:ea typeface="黑体" panose="02010609060101010101" pitchFamily="49" charset="-122"/>
              </a:rPr>
              <a:t>不包含</a:t>
            </a:r>
            <a:r>
              <a:rPr lang="zh-CN" altLang="en-US" sz="1800" dirty="0">
                <a:latin typeface="黑体" panose="02010609060101010101" pitchFamily="49" charset="-122"/>
                <a:ea typeface="黑体" panose="02010609060101010101" pitchFamily="49" charset="-122"/>
              </a:rPr>
              <a:t>对应该行的最小项。</a:t>
            </a: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给定函数</a:t>
            </a:r>
            <a:r>
              <a:rPr lang="zh-CN" altLang="en-US" sz="1800" u="sng" dirty="0">
                <a:latin typeface="黑体" panose="02010609060101010101" pitchFamily="49" charset="-122"/>
                <a:ea typeface="黑体" panose="02010609060101010101" pitchFamily="49" charset="-122"/>
              </a:rPr>
              <a:t>用</a:t>
            </a:r>
            <a:r>
              <a:rPr lang="zh-CN" altLang="en-US" sz="1800" b="1" u="sng" dirty="0">
                <a:solidFill>
                  <a:srgbClr val="0000FF"/>
                </a:solidFill>
                <a:latin typeface="黑体" panose="02010609060101010101" pitchFamily="49" charset="-122"/>
                <a:ea typeface="黑体" panose="02010609060101010101" pitchFamily="49" charset="-122"/>
              </a:rPr>
              <a:t>卡诺图</a:t>
            </a:r>
            <a:r>
              <a:rPr lang="zh-CN" altLang="en-US" sz="1800" b="1" u="sng" dirty="0">
                <a:latin typeface="黑体" panose="02010609060101010101" pitchFamily="49" charset="-122"/>
                <a:ea typeface="黑体" panose="02010609060101010101" pitchFamily="49" charset="-122"/>
              </a:rPr>
              <a:t>表示</a:t>
            </a:r>
            <a:r>
              <a:rPr lang="zh-CN" altLang="en-US" sz="1800" dirty="0">
                <a:latin typeface="黑体" panose="02010609060101010101" pitchFamily="49" charset="-122"/>
                <a:ea typeface="黑体" panose="02010609060101010101" pitchFamily="49" charset="-122"/>
              </a:rPr>
              <a:t>，则卡诺图上的每个小块区域对应一个最小项。如果对应该区域的函数值为 </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，则函数的最小项表达式中应包含该区域对应的最小项；如果该区域的函数值为 </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，则函数的最小项表达式中不包含对应该区域的最小项。</a:t>
            </a:r>
            <a:endParaRPr lang="zh-CN" altLang="en-US" sz="1800" dirty="0">
              <a:latin typeface="黑体" panose="02010609060101010101" pitchFamily="49" charset="-122"/>
              <a:ea typeface="黑体" panose="02010609060101010101" pitchFamily="49" charset="-122"/>
            </a:endParaRPr>
          </a:p>
          <a:p>
            <a:pPr eaLnBrk="1" hangingPunct="1">
              <a:lnSpc>
                <a:spcPct val="130000"/>
              </a:lnSpc>
              <a:buNone/>
            </a:pPr>
            <a:r>
              <a:rPr lang="zh-CN" altLang="en-US" sz="1800" dirty="0">
                <a:latin typeface="黑体" panose="02010609060101010101" pitchFamily="49" charset="-122"/>
                <a:ea typeface="黑体" panose="02010609060101010101" pitchFamily="49" charset="-122"/>
              </a:rPr>
              <a:t>     </a:t>
            </a:r>
            <a:endParaRPr lang="en-US" altLang="zh-CN" sz="1800" dirty="0">
              <a:latin typeface="黑体" panose="02010609060101010101" pitchFamily="49" charset="-122"/>
              <a:ea typeface="黑体" panose="02010609060101010101" pitchFamily="49" charset="-122"/>
            </a:endParaRPr>
          </a:p>
        </p:txBody>
      </p:sp>
      <p:sp>
        <p:nvSpPr>
          <p:cNvPr id="49157" name="Rectangle 2"/>
          <p:cNvSpPr txBox="1"/>
          <p:nvPr/>
        </p:nvSpPr>
        <p:spPr>
          <a:xfrm>
            <a:off x="214313" y="593725"/>
            <a:ext cx="8216900" cy="468313"/>
          </a:xfrm>
          <a:prstGeom prst="rect">
            <a:avLst/>
          </a:prstGeom>
          <a:noFill/>
          <a:ln w="9525">
            <a:noFill/>
          </a:ln>
        </p:spPr>
        <p:txBody>
          <a:bodyPr anchor="ctr"/>
          <a:p>
            <a:pPr eaLnBrk="1" hangingPunct="1">
              <a:buFont typeface="Arial" panose="020B0604020202020204" pitchFamily="34" charset="0"/>
            </a:pPr>
            <a:r>
              <a:rPr lang="en-US" altLang="zh-CN" sz="1800" b="1" dirty="0">
                <a:solidFill>
                  <a:srgbClr val="0000FF"/>
                </a:solidFill>
                <a:latin typeface="黑体" panose="02010609060101010101" pitchFamily="49" charset="-122"/>
                <a:ea typeface="黑体" panose="02010609060101010101" pitchFamily="49" charset="-122"/>
              </a:rPr>
              <a:t>④</a:t>
            </a:r>
            <a:r>
              <a:rPr lang="zh-CN" altLang="en-US" sz="1800" b="1" dirty="0">
                <a:solidFill>
                  <a:srgbClr val="0000FF"/>
                </a:solidFill>
                <a:latin typeface="黑体" panose="02010609060101010101" pitchFamily="49" charset="-122"/>
                <a:ea typeface="黑体" panose="02010609060101010101" pitchFamily="49" charset="-122"/>
              </a:rPr>
              <a:t>写出逻辑函数的最小项标准式的方法</a:t>
            </a:r>
            <a:endParaRPr lang="zh-CN" altLang="en-US" sz="1800" b="1" dirty="0">
              <a:solidFill>
                <a:srgbClr val="0000FF"/>
              </a:solidFill>
              <a:latin typeface="黑体" panose="02010609060101010101" pitchFamily="49" charset="-122"/>
              <a:ea typeface="黑体" panose="02010609060101010101" pitchFamily="49" charset="-122"/>
            </a:endParaRPr>
          </a:p>
        </p:txBody>
      </p:sp>
      <p:cxnSp>
        <p:nvCxnSpPr>
          <p:cNvPr id="49158" name="直接连接符 2"/>
          <p:cNvCxnSpPr/>
          <p:nvPr/>
        </p:nvCxnSpPr>
        <p:spPr>
          <a:xfrm>
            <a:off x="6875463" y="1082675"/>
            <a:ext cx="142875" cy="0"/>
          </a:xfrm>
          <a:prstGeom prst="line">
            <a:avLst/>
          </a:prstGeom>
          <a:ln w="19050" cap="flat" cmpd="sng">
            <a:solidFill>
              <a:schemeClr val="tx1"/>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156">
                                            <p:txEl>
                                              <p:pRg st="2" end="2"/>
                                            </p:txEl>
                                          </p:spTgt>
                                        </p:tgtEl>
                                        <p:attrNameLst>
                                          <p:attrName>style.visibility</p:attrName>
                                        </p:attrNameLst>
                                      </p:cBhvr>
                                      <p:to>
                                        <p:strVal val="visible"/>
                                      </p:to>
                                    </p:set>
                                    <p:anim calcmode="lin" valueType="num">
                                      <p:cBhvr additive="base">
                                        <p:cTn id="7" dur="500" fill="hold"/>
                                        <p:tgtEl>
                                          <p:spTgt spid="4915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156">
                                            <p:txEl>
                                              <p:pRg st="4" end="4"/>
                                            </p:txEl>
                                          </p:spTgt>
                                        </p:tgtEl>
                                        <p:attrNameLst>
                                          <p:attrName>style.visibility</p:attrName>
                                        </p:attrNameLst>
                                      </p:cBhvr>
                                      <p:to>
                                        <p:strVal val="visible"/>
                                      </p:to>
                                    </p:set>
                                    <p:anim calcmode="lin" valueType="num">
                                      <p:cBhvr additive="base">
                                        <p:cTn id="13" dur="500" fill="hold"/>
                                        <p:tgtEl>
                                          <p:spTgt spid="49156">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017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0180" name="Rectangle 2"/>
          <p:cNvSpPr txBox="1"/>
          <p:nvPr/>
        </p:nvSpPr>
        <p:spPr>
          <a:xfrm>
            <a:off x="428625" y="1231900"/>
            <a:ext cx="6457950" cy="628650"/>
          </a:xfrm>
          <a:prstGeom prst="rect">
            <a:avLst/>
          </a:prstGeom>
          <a:noFill/>
          <a:ln w="9525">
            <a:noFill/>
          </a:ln>
        </p:spPr>
        <p:txBody>
          <a:bodyPr anchor="ctr"/>
          <a:p>
            <a:pPr marL="457200" indent="-457200" eaLnBrk="1" hangingPunct="1">
              <a:buFont typeface="Wingdings" panose="05000000000000000000" pitchFamily="2" charset="2"/>
              <a:buChar char="Ø"/>
            </a:pPr>
            <a:r>
              <a:rPr lang="zh-CN" altLang="en-US" sz="1800" b="1" dirty="0">
                <a:solidFill>
                  <a:schemeClr val="tx1"/>
                </a:solidFill>
                <a:latin typeface="黑体" panose="02010609060101010101" pitchFamily="49" charset="-122"/>
                <a:ea typeface="黑体" panose="02010609060101010101" pitchFamily="49" charset="-122"/>
              </a:rPr>
              <a:t>最小项与</a:t>
            </a:r>
            <a:r>
              <a:rPr lang="zh-CN" altLang="en-US" sz="1800" b="1" dirty="0">
                <a:solidFill>
                  <a:srgbClr val="FF0000"/>
                </a:solidFill>
                <a:latin typeface="黑体" panose="02010609060101010101" pitchFamily="49" charset="-122"/>
                <a:ea typeface="黑体" panose="02010609060101010101" pitchFamily="49" charset="-122"/>
              </a:rPr>
              <a:t>原函数、反函数</a:t>
            </a:r>
            <a:r>
              <a:rPr lang="zh-CN" altLang="en-US" sz="1800" b="1" dirty="0">
                <a:solidFill>
                  <a:schemeClr val="tx1"/>
                </a:solidFill>
                <a:latin typeface="黑体" panose="02010609060101010101" pitchFamily="49" charset="-122"/>
                <a:ea typeface="黑体" panose="02010609060101010101" pitchFamily="49" charset="-122"/>
              </a:rPr>
              <a:t>的关系</a:t>
            </a: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50181" name="Rectangle 3"/>
          <p:cNvSpPr txBox="1"/>
          <p:nvPr/>
        </p:nvSpPr>
        <p:spPr>
          <a:xfrm>
            <a:off x="779463" y="2159000"/>
            <a:ext cx="7759700" cy="1820863"/>
          </a:xfrm>
          <a:prstGeom prst="rect">
            <a:avLst/>
          </a:prstGeom>
          <a:noFill/>
          <a:ln w="9525">
            <a:noFill/>
          </a:ln>
        </p:spPr>
        <p:txBody>
          <a:bodyPr/>
          <a:p>
            <a:pPr marL="342900" indent="-342900"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对于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个变量的函数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，它共有</a:t>
            </a:r>
            <a:r>
              <a:rPr lang="en-US" altLang="zh-CN" sz="1800" dirty="0">
                <a:solidFill>
                  <a:schemeClr val="tx1"/>
                </a:solidFill>
                <a:latin typeface="黑体" panose="02010609060101010101" pitchFamily="49" charset="-122"/>
                <a:ea typeface="黑体" panose="02010609060101010101" pitchFamily="49" charset="-122"/>
              </a:rPr>
              <a:t>2</a:t>
            </a:r>
            <a:r>
              <a:rPr lang="en-US" altLang="zh-CN" sz="1800" baseline="300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个最小项，这些最小项不是包含</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在原函数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的最小项表达式中，就是包含在反函数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的最小项表达式中。</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50183" name="直接连接符 2"/>
          <p:cNvCxnSpPr/>
          <p:nvPr/>
        </p:nvCxnSpPr>
        <p:spPr>
          <a:xfrm>
            <a:off x="6192838" y="2914650"/>
            <a:ext cx="107950" cy="0"/>
          </a:xfrm>
          <a:prstGeom prst="line">
            <a:avLst/>
          </a:prstGeom>
          <a:ln w="12700" cap="flat" cmpd="sng">
            <a:solidFill>
              <a:schemeClr val="tx1"/>
            </a:solidFill>
            <a:prstDash val="solid"/>
            <a:headEnd type="none" w="med" len="med"/>
            <a:tailEnd type="none" w="med" len="med"/>
          </a:ln>
        </p:spPr>
      </p:cxnSp>
      <p:pic>
        <p:nvPicPr>
          <p:cNvPr id="50184" name="图片 1"/>
          <p:cNvPicPr>
            <a:picLocks noChangeAspect="1"/>
          </p:cNvPicPr>
          <p:nvPr/>
        </p:nvPicPr>
        <p:blipFill>
          <a:blip r:embed="rId1"/>
          <a:stretch>
            <a:fillRect/>
          </a:stretch>
        </p:blipFill>
        <p:spPr>
          <a:xfrm>
            <a:off x="6011863" y="2786063"/>
            <a:ext cx="342900" cy="487362"/>
          </a:xfrm>
          <a:prstGeom prst="rect">
            <a:avLst/>
          </a:prstGeom>
          <a:noFill/>
          <a:ln w="9525">
            <a:noFill/>
          </a:ln>
        </p:spPr>
      </p:pic>
    </p:spTree>
  </p:cSld>
  <p:clrMapOvr>
    <a:masterClrMapping/>
  </p:clrMapOvr>
  <p:transition advTm="2000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4"/>
          <p:cNvSpPr txBox="1">
            <a:spLocks noGrp="1"/>
          </p:cNvSpPr>
          <p:nvPr/>
        </p:nvSpPr>
        <p:spPr>
          <a:xfrm>
            <a:off x="77216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1203" name="Rectangle 6"/>
          <p:cNvSpPr txBox="1">
            <a:spLocks noGrp="1"/>
          </p:cNvSpPr>
          <p:nvPr/>
        </p:nvSpPr>
        <p:spPr>
          <a:xfrm>
            <a:off x="660146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1204" name="Rectangle 3"/>
          <p:cNvSpPr>
            <a:spLocks noGrp="1"/>
          </p:cNvSpPr>
          <p:nvPr>
            <p:ph type="title"/>
          </p:nvPr>
        </p:nvSpPr>
        <p:spPr>
          <a:xfrm>
            <a:off x="688023" y="714375"/>
            <a:ext cx="8131175" cy="488950"/>
          </a:xfrm>
          <a:prstGeom prst="rect">
            <a:avLst/>
          </a:prstGeom>
          <a:noFill/>
          <a:ln w="9525">
            <a:noFill/>
          </a:ln>
        </p:spPr>
        <p:txBody>
          <a:bodyPr/>
          <a:p>
            <a:pPr eaLnBrk="1" hangingPunct="1"/>
            <a:r>
              <a:rPr lang="en-US" altLang="zh-CN" sz="1800" b="1" dirty="0">
                <a:solidFill>
                  <a:srgbClr val="0000FF"/>
                </a:solidFill>
                <a:latin typeface="黑体" panose="02010609060101010101" pitchFamily="49" charset="-122"/>
                <a:ea typeface="黑体" panose="02010609060101010101" pitchFamily="49" charset="-122"/>
              </a:rPr>
              <a:t>⑤</a:t>
            </a:r>
            <a:r>
              <a:rPr lang="zh-CN" altLang="en-US" sz="1800" b="1" dirty="0">
                <a:solidFill>
                  <a:srgbClr val="0000FF"/>
                </a:solidFill>
                <a:latin typeface="黑体" panose="02010609060101010101" pitchFamily="49" charset="-122"/>
                <a:ea typeface="黑体" panose="02010609060101010101" pitchFamily="49" charset="-122"/>
              </a:rPr>
              <a:t>写出逻辑函数的最大项标准式的方法</a:t>
            </a:r>
            <a:endParaRPr lang="zh-CN" altLang="en-US" sz="1800" b="1" dirty="0">
              <a:solidFill>
                <a:srgbClr val="0000FF"/>
              </a:solidFill>
              <a:latin typeface="黑体" panose="02010609060101010101" pitchFamily="49" charset="-122"/>
              <a:ea typeface="黑体" panose="02010609060101010101" pitchFamily="49" charset="-122"/>
            </a:endParaRPr>
          </a:p>
        </p:txBody>
      </p:sp>
      <p:sp>
        <p:nvSpPr>
          <p:cNvPr id="51205" name="Rectangle 4"/>
          <p:cNvSpPr txBox="1"/>
          <p:nvPr/>
        </p:nvSpPr>
        <p:spPr>
          <a:xfrm>
            <a:off x="735648" y="1198563"/>
            <a:ext cx="7435850" cy="1104900"/>
          </a:xfrm>
          <a:prstGeom prst="rect">
            <a:avLst/>
          </a:prstGeom>
          <a:noFill/>
          <a:ln w="9525">
            <a:noFill/>
          </a:ln>
        </p:spPr>
        <p:txBody>
          <a:bodyPr/>
          <a:p>
            <a:pPr eaLnBrk="1" hangingPunct="1">
              <a:lnSpc>
                <a:spcPct val="12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给定的函数是</a:t>
            </a:r>
            <a:r>
              <a:rPr lang="zh-CN" altLang="en-US" sz="1800" b="1" u="sng" dirty="0">
                <a:solidFill>
                  <a:srgbClr val="0000FF"/>
                </a:solidFill>
                <a:latin typeface="黑体" panose="02010609060101010101" pitchFamily="49" charset="-122"/>
                <a:ea typeface="黑体" panose="02010609060101010101" pitchFamily="49" charset="-122"/>
              </a:rPr>
              <a:t>一般的或与表达式</a:t>
            </a:r>
            <a:r>
              <a:rPr lang="zh-CN" altLang="en-US" sz="1800" dirty="0">
                <a:solidFill>
                  <a:schemeClr val="tx1"/>
                </a:solidFill>
                <a:latin typeface="黑体" panose="02010609060101010101" pitchFamily="49" charset="-122"/>
                <a:ea typeface="黑体" panose="02010609060101010101" pitchFamily="49" charset="-122"/>
              </a:rPr>
              <a:t>，可以反复应用</a:t>
            </a:r>
            <a:r>
              <a:rPr lang="zh-CN" altLang="en-US" sz="1800" b="1" dirty="0">
                <a:solidFill>
                  <a:schemeClr val="tx1"/>
                </a:solidFill>
                <a:latin typeface="黑体" panose="02010609060101010101" pitchFamily="49" charset="-122"/>
                <a:ea typeface="黑体" panose="02010609060101010101" pitchFamily="49" charset="-122"/>
              </a:rPr>
              <a:t>公式：</a:t>
            </a:r>
            <a:r>
              <a:rPr lang="en-US" altLang="zh-CN" sz="1800" b="1" dirty="0">
                <a:solidFill>
                  <a:srgbClr val="FF0000"/>
                </a:solidFill>
                <a:latin typeface="黑体" panose="02010609060101010101" pitchFamily="49" charset="-122"/>
                <a:ea typeface="黑体" panose="02010609060101010101" pitchFamily="49" charset="-122"/>
              </a:rPr>
              <a:t>X = X + Y·Y = (X +Y)(X +Y)</a:t>
            </a:r>
            <a:r>
              <a:rPr lang="en-US" altLang="zh-CN" sz="1800" dirty="0">
                <a:solidFill>
                  <a:srgbClr val="FF0000"/>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代入缺少某变量</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Y”</a:t>
            </a:r>
            <a:r>
              <a:rPr lang="zh-CN" altLang="en-US" sz="1800" dirty="0">
                <a:solidFill>
                  <a:schemeClr val="tx1"/>
                </a:solidFill>
                <a:latin typeface="黑体" panose="02010609060101010101" pitchFamily="49" charset="-122"/>
                <a:ea typeface="黑体" panose="02010609060101010101" pitchFamily="49" charset="-122"/>
              </a:rPr>
              <a:t>的和项中以形成最大项之积的形式。</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1206" name="Rectangle 4"/>
          <p:cNvSpPr txBox="1"/>
          <p:nvPr/>
        </p:nvSpPr>
        <p:spPr>
          <a:xfrm>
            <a:off x="754698" y="2231708"/>
            <a:ext cx="7573962" cy="1563687"/>
          </a:xfrm>
          <a:prstGeom prst="rect">
            <a:avLst/>
          </a:prstGeom>
          <a:noFill/>
          <a:ln w="9525">
            <a:noFill/>
          </a:ln>
        </p:spPr>
        <p:txBody>
          <a:bodyPr/>
          <a:p>
            <a:pPr eaLnBrk="1" hangingPunct="1">
              <a:lnSpc>
                <a:spcPct val="12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给定函数用</a:t>
            </a:r>
            <a:r>
              <a:rPr lang="zh-CN" altLang="en-US" sz="1800" b="1" u="sng" dirty="0">
                <a:solidFill>
                  <a:srgbClr val="0000FF"/>
                </a:solidFill>
                <a:latin typeface="黑体" panose="02010609060101010101" pitchFamily="49" charset="-122"/>
                <a:ea typeface="黑体" panose="02010609060101010101" pitchFamily="49" charset="-122"/>
              </a:rPr>
              <a:t>真值表表示</a:t>
            </a:r>
            <a:r>
              <a:rPr lang="zh-CN" altLang="en-US" sz="1800" dirty="0">
                <a:solidFill>
                  <a:schemeClr val="tx1"/>
                </a:solidFill>
                <a:latin typeface="黑体" panose="02010609060101010101" pitchFamily="49" charset="-122"/>
                <a:ea typeface="黑体" panose="02010609060101010101" pitchFamily="49" charset="-122"/>
              </a:rPr>
              <a:t>，显然</a:t>
            </a:r>
            <a:r>
              <a:rPr lang="zh-CN" altLang="en-US" sz="1800" b="1" dirty="0">
                <a:solidFill>
                  <a:schemeClr val="tx1"/>
                </a:solidFill>
                <a:latin typeface="黑体" panose="02010609060101010101" pitchFamily="49" charset="-122"/>
                <a:ea typeface="黑体" panose="02010609060101010101" pitchFamily="49" charset="-122"/>
              </a:rPr>
              <a:t>真值表每一行变量</a:t>
            </a:r>
            <a:r>
              <a:rPr lang="zh-CN" altLang="en-US" sz="1800" dirty="0">
                <a:solidFill>
                  <a:schemeClr val="tx1"/>
                </a:solidFill>
                <a:latin typeface="黑体" panose="02010609060101010101" pitchFamily="49" charset="-122"/>
                <a:ea typeface="黑体" panose="02010609060101010101" pitchFamily="49" charset="-122"/>
              </a:rPr>
              <a:t>的组合对应</a:t>
            </a:r>
            <a:r>
              <a:rPr lang="zh-CN" altLang="en-US" sz="1800" b="1" dirty="0">
                <a:solidFill>
                  <a:schemeClr val="tx1"/>
                </a:solidFill>
                <a:latin typeface="黑体" panose="02010609060101010101" pitchFamily="49" charset="-122"/>
                <a:ea typeface="黑体" panose="02010609060101010101" pitchFamily="49" charset="-122"/>
              </a:rPr>
              <a:t>一个最大项</a:t>
            </a:r>
            <a:r>
              <a:rPr lang="zh-CN" altLang="en-US" sz="1800" dirty="0">
                <a:solidFill>
                  <a:schemeClr val="tx1"/>
                </a:solidFill>
                <a:latin typeface="黑体" panose="02010609060101010101" pitchFamily="49" charset="-122"/>
                <a:ea typeface="黑体" panose="02010609060101010101" pitchFamily="49" charset="-122"/>
              </a:rPr>
              <a:t>。如果对应该行的</a:t>
            </a:r>
            <a:r>
              <a:rPr lang="zh-CN" altLang="en-US" sz="1800" b="1" dirty="0">
                <a:solidFill>
                  <a:schemeClr val="tx1"/>
                </a:solidFill>
                <a:latin typeface="黑体" panose="02010609060101010101" pitchFamily="49" charset="-122"/>
                <a:ea typeface="黑体" panose="02010609060101010101" pitchFamily="49" charset="-122"/>
              </a:rPr>
              <a:t>函数值为 </a:t>
            </a:r>
            <a:r>
              <a:rPr lang="en-US" altLang="zh-CN" sz="1800" b="1" dirty="0">
                <a:solidFill>
                  <a:schemeClr val="tx1"/>
                </a:solidFill>
                <a:latin typeface="黑体" panose="02010609060101010101" pitchFamily="49" charset="-122"/>
                <a:ea typeface="黑体" panose="02010609060101010101" pitchFamily="49" charset="-122"/>
              </a:rPr>
              <a:t>0</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，则函数的最大项表达式中</a:t>
            </a:r>
            <a:r>
              <a:rPr lang="zh-CN" altLang="en-US" sz="1800" b="1" dirty="0">
                <a:solidFill>
                  <a:schemeClr val="tx1"/>
                </a:solidFill>
                <a:latin typeface="黑体" panose="02010609060101010101" pitchFamily="49" charset="-122"/>
                <a:ea typeface="黑体" panose="02010609060101010101" pitchFamily="49" charset="-122"/>
              </a:rPr>
              <a:t>应包含</a:t>
            </a:r>
            <a:r>
              <a:rPr lang="zh-CN" altLang="en-US" sz="1800" dirty="0">
                <a:solidFill>
                  <a:schemeClr val="tx1"/>
                </a:solidFill>
                <a:latin typeface="黑体" panose="02010609060101010101" pitchFamily="49" charset="-122"/>
                <a:ea typeface="黑体" panose="02010609060101010101" pitchFamily="49" charset="-122"/>
              </a:rPr>
              <a:t>该行对应的最大项；如果该行的</a:t>
            </a:r>
            <a:r>
              <a:rPr lang="zh-CN" altLang="en-US" sz="1800" b="1" dirty="0">
                <a:solidFill>
                  <a:schemeClr val="tx1"/>
                </a:solidFill>
                <a:latin typeface="黑体" panose="02010609060101010101" pitchFamily="49" charset="-122"/>
                <a:ea typeface="黑体" panose="02010609060101010101" pitchFamily="49" charset="-122"/>
              </a:rPr>
              <a:t>函数值为 </a:t>
            </a:r>
            <a:r>
              <a:rPr lang="en-US" altLang="zh-CN" sz="1800" b="1"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，则函数的最大项表达式中</a:t>
            </a:r>
            <a:r>
              <a:rPr lang="zh-CN" altLang="en-US" sz="1800" b="1" dirty="0">
                <a:solidFill>
                  <a:schemeClr val="tx1"/>
                </a:solidFill>
                <a:latin typeface="黑体" panose="02010609060101010101" pitchFamily="49" charset="-122"/>
                <a:ea typeface="黑体" panose="02010609060101010101" pitchFamily="49" charset="-122"/>
              </a:rPr>
              <a:t>不包含</a:t>
            </a:r>
            <a:r>
              <a:rPr lang="zh-CN" altLang="en-US" sz="1800" dirty="0">
                <a:solidFill>
                  <a:schemeClr val="tx1"/>
                </a:solidFill>
                <a:latin typeface="黑体" panose="02010609060101010101" pitchFamily="49" charset="-122"/>
                <a:ea typeface="黑体" panose="02010609060101010101" pitchFamily="49" charset="-122"/>
              </a:rPr>
              <a:t>对应该行的最大项。</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1207" name="Rectangle 2"/>
          <p:cNvSpPr txBox="1"/>
          <p:nvPr/>
        </p:nvSpPr>
        <p:spPr>
          <a:xfrm>
            <a:off x="357823" y="3878263"/>
            <a:ext cx="8389937" cy="642937"/>
          </a:xfrm>
          <a:prstGeom prst="rect">
            <a:avLst/>
          </a:prstGeom>
          <a:noFill/>
          <a:ln w="9525">
            <a:noFill/>
          </a:ln>
        </p:spPr>
        <p:txBody>
          <a:bodyPr anchor="ctr"/>
          <a:p>
            <a:pPr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给定函数用</a:t>
            </a:r>
            <a:r>
              <a:rPr lang="zh-CN" altLang="en-US" sz="1800" b="1" u="sng" dirty="0">
                <a:solidFill>
                  <a:srgbClr val="0000FF"/>
                </a:solidFill>
                <a:latin typeface="黑体" panose="02010609060101010101" pitchFamily="49" charset="-122"/>
                <a:ea typeface="黑体" panose="02010609060101010101" pitchFamily="49" charset="-122"/>
              </a:rPr>
              <a:t>卡诺图表示</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highlight>
                  <a:srgbClr val="FFFF00"/>
                </a:highlight>
                <a:latin typeface="黑体" panose="02010609060101010101" pitchFamily="49" charset="-122"/>
                <a:ea typeface="黑体" panose="02010609060101010101" pitchFamily="49" charset="-122"/>
              </a:rPr>
              <a:t>则函数最大项表达式可以通过卡诺图得到</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1209" name="Line 22"/>
          <p:cNvSpPr/>
          <p:nvPr/>
        </p:nvSpPr>
        <p:spPr>
          <a:xfrm>
            <a:off x="7571423" y="1285875"/>
            <a:ext cx="144462" cy="0"/>
          </a:xfrm>
          <a:prstGeom prst="line">
            <a:avLst/>
          </a:prstGeom>
          <a:ln w="19050" cap="flat" cmpd="sng">
            <a:solidFill>
              <a:srgbClr val="FF0000"/>
            </a:solidFill>
            <a:prstDash val="solid"/>
            <a:headEnd type="none" w="med" len="med"/>
            <a:tailEnd type="none" w="med" len="med"/>
          </a:ln>
        </p:spPr>
      </p:sp>
      <p:sp>
        <p:nvSpPr>
          <p:cNvPr id="51211" name="Line 22"/>
          <p:cNvSpPr/>
          <p:nvPr/>
        </p:nvSpPr>
        <p:spPr>
          <a:xfrm>
            <a:off x="1978660" y="1628775"/>
            <a:ext cx="142875" cy="0"/>
          </a:xfrm>
          <a:prstGeom prst="line">
            <a:avLst/>
          </a:prstGeom>
          <a:ln w="19050" cap="flat" cmpd="sng">
            <a:solidFill>
              <a:srgbClr val="FF0000"/>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6">
                                            <p:txEl>
                                              <p:pRg st="0" end="0"/>
                                            </p:txEl>
                                          </p:spTgt>
                                        </p:tgtEl>
                                        <p:attrNameLst>
                                          <p:attrName>style.visibility</p:attrName>
                                        </p:attrNameLst>
                                      </p:cBhvr>
                                      <p:to>
                                        <p:strVal val="visible"/>
                                      </p:to>
                                    </p:set>
                                    <p:anim calcmode="lin" valueType="num">
                                      <p:cBhvr additive="base">
                                        <p:cTn id="7" dur="500" fill="hold"/>
                                        <p:tgtEl>
                                          <p:spTgt spid="512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7"/>
                                        </p:tgtEl>
                                        <p:attrNameLst>
                                          <p:attrName>style.visibility</p:attrName>
                                        </p:attrNameLst>
                                      </p:cBhvr>
                                      <p:to>
                                        <p:strVal val="visible"/>
                                      </p:to>
                                    </p:set>
                                    <p:anim calcmode="lin" valueType="num">
                                      <p:cBhvr additive="base">
                                        <p:cTn id="13" dur="500" fill="hold"/>
                                        <p:tgtEl>
                                          <p:spTgt spid="51207"/>
                                        </p:tgtEl>
                                        <p:attrNameLst>
                                          <p:attrName>ppt_x</p:attrName>
                                        </p:attrNameLst>
                                      </p:cBhvr>
                                      <p:tavLst>
                                        <p:tav tm="0">
                                          <p:val>
                                            <p:strVal val="#ppt_x"/>
                                          </p:val>
                                        </p:tav>
                                        <p:tav tm="100000">
                                          <p:val>
                                            <p:strVal val="#ppt_x"/>
                                          </p:val>
                                        </p:tav>
                                      </p:tavLst>
                                    </p:anim>
                                    <p:anim calcmode="lin" valueType="num">
                                      <p:cBhvr additive="base">
                                        <p:cTn id="14" dur="500" fill="hold"/>
                                        <p:tgtEl>
                                          <p:spTgt spid="512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p:bldP spid="51207"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222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2228" name="Rectangle 3"/>
          <p:cNvSpPr txBox="1"/>
          <p:nvPr/>
        </p:nvSpPr>
        <p:spPr>
          <a:xfrm>
            <a:off x="714375" y="963613"/>
            <a:ext cx="5902325" cy="571500"/>
          </a:xfrm>
          <a:prstGeom prst="rect">
            <a:avLst/>
          </a:prstGeom>
          <a:noFill/>
          <a:ln w="9525">
            <a:noFill/>
          </a:ln>
        </p:spPr>
        <p:txBody>
          <a:bodyPr anchor="ctr"/>
          <a:p>
            <a:pPr marL="457200" indent="-457200" eaLnBrk="1" hangingPunct="1">
              <a:buFont typeface="Wingdings" panose="05000000000000000000" pitchFamily="2" charset="2"/>
              <a:buChar char="Ø"/>
            </a:pPr>
            <a:r>
              <a:rPr lang="zh-CN" altLang="en-US" sz="1800" b="1" dirty="0">
                <a:solidFill>
                  <a:srgbClr val="FF0000"/>
                </a:solidFill>
                <a:latin typeface="黑体" panose="02010609060101010101" pitchFamily="49" charset="-122"/>
                <a:ea typeface="黑体" panose="02010609060101010101" pitchFamily="49" charset="-122"/>
              </a:rPr>
              <a:t>最大项与原函数、反函数的关系</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52229" name="Rectangle 4"/>
          <p:cNvSpPr txBox="1"/>
          <p:nvPr/>
        </p:nvSpPr>
        <p:spPr>
          <a:xfrm>
            <a:off x="714375" y="1795145"/>
            <a:ext cx="7906385" cy="1660525"/>
          </a:xfrm>
          <a:prstGeom prst="rect">
            <a:avLst/>
          </a:prstGeom>
          <a:noFill/>
          <a:ln w="9525">
            <a:noFill/>
          </a:ln>
        </p:spPr>
        <p:txBody>
          <a:bodyPr/>
          <a:p>
            <a:pPr marL="342900" indent="-342900" eaLnBrk="1" hangingPunct="1">
              <a:lnSpc>
                <a:spcPct val="12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对于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个变量的函数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，它共有</a:t>
            </a:r>
            <a:r>
              <a:rPr lang="en-US" altLang="zh-CN" sz="1800" dirty="0">
                <a:solidFill>
                  <a:schemeClr val="tx1"/>
                </a:solidFill>
                <a:latin typeface="黑体" panose="02010609060101010101" pitchFamily="49" charset="-122"/>
                <a:ea typeface="黑体" panose="02010609060101010101" pitchFamily="49" charset="-122"/>
              </a:rPr>
              <a:t>2</a:t>
            </a:r>
            <a:r>
              <a:rPr lang="en-US" altLang="zh-CN" sz="1800" baseline="300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个最大项，这些最大项不是包含在</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mn-ea"/>
              </a:rPr>
              <a:t>原函</a:t>
            </a:r>
            <a:r>
              <a:rPr lang="zh-CN" altLang="en-US" sz="1800" dirty="0">
                <a:solidFill>
                  <a:schemeClr val="tx1"/>
                </a:solidFill>
                <a:latin typeface="黑体" panose="02010609060101010101" pitchFamily="49" charset="-122"/>
                <a:ea typeface="黑体" panose="02010609060101010101" pitchFamily="49" charset="-122"/>
              </a:rPr>
              <a:t>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的最大项表达式中，就是包含在反函数   的最大项表达式中。</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2230" name="Line 6"/>
          <p:cNvSpPr/>
          <p:nvPr/>
        </p:nvSpPr>
        <p:spPr>
          <a:xfrm>
            <a:off x="3500438" y="3322638"/>
            <a:ext cx="304800" cy="0"/>
          </a:xfrm>
          <a:prstGeom prst="line">
            <a:avLst/>
          </a:prstGeom>
          <a:ln w="9525" cap="flat" cmpd="sng">
            <a:solidFill>
              <a:srgbClr val="FFFFFF"/>
            </a:solidFill>
            <a:prstDash val="solid"/>
            <a:headEnd type="none" w="med" len="med"/>
            <a:tailEnd type="none" w="med" len="med"/>
          </a:ln>
        </p:spPr>
      </p:sp>
      <p:pic>
        <p:nvPicPr>
          <p:cNvPr id="52232" name="图片 1"/>
          <p:cNvPicPr>
            <a:picLocks noChangeAspect="1"/>
          </p:cNvPicPr>
          <p:nvPr/>
        </p:nvPicPr>
        <p:blipFill>
          <a:blip r:embed="rId1"/>
          <a:stretch>
            <a:fillRect/>
          </a:stretch>
        </p:blipFill>
        <p:spPr>
          <a:xfrm>
            <a:off x="5697855" y="2571750"/>
            <a:ext cx="304800" cy="419100"/>
          </a:xfrm>
          <a:prstGeom prst="rect">
            <a:avLst/>
          </a:prstGeom>
          <a:noFill/>
          <a:ln w="9525">
            <a:noFill/>
          </a:ln>
        </p:spPr>
      </p:pic>
    </p:spTree>
  </p:cSld>
  <p:clrMapOvr>
    <a:masterClrMapping/>
  </p:clrMapOvr>
  <p:transition advTm="2000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325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3252" name="Rectangle 3"/>
          <p:cNvSpPr>
            <a:spLocks noGrp="1"/>
          </p:cNvSpPr>
          <p:nvPr>
            <p:ph type="title"/>
          </p:nvPr>
        </p:nvSpPr>
        <p:spPr>
          <a:xfrm>
            <a:off x="569913" y="699135"/>
            <a:ext cx="6881812" cy="460375"/>
          </a:xfrm>
          <a:prstGeom prst="rect">
            <a:avLst/>
          </a:prstGeom>
          <a:noFill/>
          <a:ln w="9525">
            <a:noFill/>
          </a:ln>
        </p:spPr>
        <p:txBody>
          <a:bodyPr/>
          <a:p>
            <a:pPr eaLnBrk="1" hangingPunct="1"/>
            <a:r>
              <a:rPr lang="zh-CN" altLang="en-US" sz="1800" b="1" dirty="0">
                <a:solidFill>
                  <a:srgbClr val="FF0000"/>
                </a:solidFill>
                <a:latin typeface="黑体" panose="02010609060101010101" pitchFamily="49" charset="-122"/>
                <a:ea typeface="黑体" panose="02010609060101010101" pitchFamily="49" charset="-122"/>
              </a:rPr>
              <a:t>同一函数的最小项标准式与其最大项标准式的关系</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53253" name="Rectangle 4"/>
          <p:cNvSpPr>
            <a:spLocks noGrp="1"/>
          </p:cNvSpPr>
          <p:nvPr>
            <p:ph/>
          </p:nvPr>
        </p:nvSpPr>
        <p:spPr>
          <a:xfrm>
            <a:off x="611188" y="1131888"/>
            <a:ext cx="8064500" cy="792162"/>
          </a:xfrm>
          <a:prstGeom prst="rect">
            <a:avLst/>
          </a:prstGeom>
          <a:noFill/>
          <a:ln w="9525">
            <a:noFill/>
          </a:ln>
        </p:spPr>
        <p:txBody>
          <a:bodyPr/>
          <a:p>
            <a:pPr eaLnBrk="1" hangingPunct="1">
              <a:lnSpc>
                <a:spcPct val="120000"/>
              </a:lnSpc>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同一逻辑函数的一种标准式变换成另一种标准式时，互换</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m</a:t>
            </a:r>
            <a:r>
              <a:rPr lang="en-US" altLang="zh-CN" sz="1800" b="1" baseline="300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和</a:t>
            </a:r>
            <a:r>
              <a:rPr lang="zh-CN" altLang="en-US" sz="1800" b="1" dirty="0">
                <a:latin typeface="黑体" panose="02010609060101010101" pitchFamily="49" charset="-122"/>
                <a:ea typeface="黑体" panose="02010609060101010101" pitchFamily="49" charset="-122"/>
              </a:rPr>
              <a:t>∏</a:t>
            </a:r>
            <a:r>
              <a:rPr lang="en-US" altLang="zh-CN" sz="1400" b="1" dirty="0">
                <a:latin typeface="黑体" panose="02010609060101010101" pitchFamily="49" charset="-122"/>
                <a:ea typeface="黑体" panose="02010609060101010101" pitchFamily="49" charset="-122"/>
              </a:rPr>
              <a:t>M</a:t>
            </a:r>
            <a:r>
              <a:rPr lang="en-US" altLang="zh-CN" sz="1800" b="1" baseline="300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的符号，并在符号后</a:t>
            </a:r>
            <a:r>
              <a:rPr lang="zh-CN" altLang="en-US" sz="1800" b="1" dirty="0">
                <a:latin typeface="黑体" panose="02010609060101010101" pitchFamily="49" charset="-122"/>
                <a:ea typeface="黑体" panose="02010609060101010101" pitchFamily="49" charset="-122"/>
              </a:rPr>
              <a:t>列出</a:t>
            </a:r>
            <a:r>
              <a:rPr lang="zh-CN" altLang="en-US" sz="1800" dirty="0">
                <a:latin typeface="黑体" panose="02010609060101010101" pitchFamily="49" charset="-122"/>
                <a:ea typeface="黑体" panose="02010609060101010101" pitchFamily="49" charset="-122"/>
              </a:rPr>
              <a:t>原式中</a:t>
            </a:r>
            <a:r>
              <a:rPr lang="zh-CN" altLang="en-US" sz="1800" b="1" dirty="0">
                <a:latin typeface="黑体" panose="02010609060101010101" pitchFamily="49" charset="-122"/>
                <a:ea typeface="黑体" panose="02010609060101010101" pitchFamily="49" charset="-122"/>
              </a:rPr>
              <a:t>缺少</a:t>
            </a:r>
            <a:r>
              <a:rPr lang="zh-CN" altLang="en-US" sz="1800" dirty="0">
                <a:latin typeface="黑体" panose="02010609060101010101" pitchFamily="49" charset="-122"/>
                <a:ea typeface="黑体" panose="02010609060101010101" pitchFamily="49" charset="-122"/>
              </a:rPr>
              <a:t>的那些数字。且这两种标准式都是</a:t>
            </a:r>
            <a:r>
              <a:rPr lang="zh-CN" altLang="en-US" sz="1800" b="1" dirty="0">
                <a:latin typeface="黑体" panose="02010609060101010101" pitchFamily="49" charset="-122"/>
                <a:ea typeface="黑体" panose="02010609060101010101" pitchFamily="49" charset="-122"/>
              </a:rPr>
              <a:t>唯一</a:t>
            </a:r>
            <a:r>
              <a:rPr lang="zh-CN" altLang="en-US" sz="1800" dirty="0">
                <a:latin typeface="黑体" panose="02010609060101010101" pitchFamily="49" charset="-122"/>
                <a:ea typeface="黑体" panose="02010609060101010101" pitchFamily="49" charset="-122"/>
              </a:rPr>
              <a:t>的。</a:t>
            </a:r>
            <a:endParaRPr lang="en-US" altLang="zh-CN" sz="1800" dirty="0">
              <a:latin typeface="黑体" panose="02010609060101010101" pitchFamily="49" charset="-122"/>
              <a:ea typeface="黑体" panose="02010609060101010101" pitchFamily="49" charset="-122"/>
            </a:endParaRPr>
          </a:p>
          <a:p>
            <a:pPr eaLnBrk="1" hangingPunct="1">
              <a:lnSpc>
                <a:spcPct val="120000"/>
              </a:lnSpc>
              <a:buNone/>
            </a:pPr>
            <a:r>
              <a:rPr lang="zh-CN" altLang="en-US" sz="1800" dirty="0">
                <a:latin typeface="黑体" panose="02010609060101010101" pitchFamily="49" charset="-122"/>
                <a:ea typeface="黑体" panose="02010609060101010101" pitchFamily="49" charset="-122"/>
              </a:rPr>
              <a:t>     例： </a:t>
            </a:r>
            <a:r>
              <a:rPr lang="en-US" altLang="zh-CN" sz="1800" dirty="0">
                <a:latin typeface="黑体" panose="02010609060101010101" pitchFamily="49" charset="-122"/>
                <a:ea typeface="黑体" panose="02010609060101010101" pitchFamily="49" charset="-122"/>
              </a:rPr>
              <a:t>F = </a:t>
            </a:r>
            <a:r>
              <a:rPr lang="en-US" altLang="zh-CN" sz="1800" b="1"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30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( 0,2,3 ) = </a:t>
            </a:r>
            <a:r>
              <a:rPr lang="en-US" altLang="zh-CN" sz="1800" b="1"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M</a:t>
            </a:r>
            <a:r>
              <a:rPr lang="en-US" altLang="zh-CN" sz="1800" dirty="0">
                <a:latin typeface="黑体" panose="02010609060101010101" pitchFamily="49" charset="-122"/>
                <a:ea typeface="黑体" panose="02010609060101010101" pitchFamily="49" charset="-122"/>
              </a:rPr>
              <a:t> </a:t>
            </a:r>
            <a:r>
              <a:rPr lang="en-US" altLang="zh-CN" sz="1800" baseline="30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( 1,4,5,6,7 )</a:t>
            </a:r>
            <a:endParaRPr lang="en-US" altLang="zh-CN" sz="1800" dirty="0">
              <a:latin typeface="黑体" panose="02010609060101010101" pitchFamily="49" charset="-122"/>
              <a:ea typeface="黑体" panose="02010609060101010101" pitchFamily="49" charset="-122"/>
            </a:endParaRPr>
          </a:p>
        </p:txBody>
      </p:sp>
      <p:grpSp>
        <p:nvGrpSpPr>
          <p:cNvPr id="53254" name="组合 1"/>
          <p:cNvGrpSpPr/>
          <p:nvPr/>
        </p:nvGrpSpPr>
        <p:grpSpPr>
          <a:xfrm>
            <a:off x="611188" y="2651443"/>
            <a:ext cx="8029575" cy="1947862"/>
            <a:chOff x="0" y="0"/>
            <a:chExt cx="8029575" cy="1947862"/>
          </a:xfrm>
        </p:grpSpPr>
        <p:grpSp>
          <p:nvGrpSpPr>
            <p:cNvPr id="53255" name="Group 18"/>
            <p:cNvGrpSpPr/>
            <p:nvPr/>
          </p:nvGrpSpPr>
          <p:grpSpPr>
            <a:xfrm>
              <a:off x="0" y="0"/>
              <a:ext cx="8029575" cy="1947862"/>
              <a:chOff x="0" y="0"/>
              <a:chExt cx="5376" cy="1637"/>
            </a:xfrm>
          </p:grpSpPr>
          <p:sp>
            <p:nvSpPr>
              <p:cNvPr id="53265" name="Text Box 6"/>
              <p:cNvSpPr txBox="1"/>
              <p:nvPr/>
            </p:nvSpPr>
            <p:spPr>
              <a:xfrm>
                <a:off x="0" y="0"/>
                <a:ext cx="5376" cy="1637"/>
              </a:xfrm>
              <a:prstGeom prst="rect">
                <a:avLst/>
              </a:prstGeom>
              <a:noFill/>
              <a:ln w="12700" cap="flat" cmpd="sng">
                <a:solidFill>
                  <a:srgbClr val="000000"/>
                </a:solidFill>
                <a:prstDash val="solid"/>
                <a:miter/>
                <a:headEnd type="none" w="med" len="med"/>
                <a:tailEnd type="none" w="med" len="med"/>
              </a:ln>
            </p:spPr>
            <p:txBody>
              <a:bodyPr>
                <a:spAutoFit/>
              </a:bodyPr>
              <a:p>
                <a:pPr eaLnBrk="1" hangingPunct="1">
                  <a:lnSpc>
                    <a:spcPct val="7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证明：  </a:t>
                </a:r>
                <a:r>
                  <a:rPr lang="en-US" altLang="zh-CN" sz="1800" dirty="0">
                    <a:solidFill>
                      <a:schemeClr val="tx1"/>
                    </a:solidFill>
                    <a:latin typeface="黑体" panose="02010609060101010101" pitchFamily="49" charset="-122"/>
                    <a:ea typeface="黑体" panose="02010609060101010101" pitchFamily="49" charset="-122"/>
                  </a:rPr>
                  <a:t>F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30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( 0,2,3 ) </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  </a:t>
                </a:r>
                <a:r>
                  <a:rPr lang="en-US" altLang="zh-CN" sz="1800" dirty="0">
                    <a:solidFill>
                      <a:schemeClr val="tx1"/>
                    </a:solidFill>
                    <a:latin typeface="黑体" panose="02010609060101010101" pitchFamily="49" charset="-122"/>
                    <a:ea typeface="黑体" panose="02010609060101010101" pitchFamily="49" charset="-122"/>
                  </a:rPr>
                  <a:t>F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30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( 1,4,5,6,7 ) = m</a:t>
                </a:r>
                <a:r>
                  <a:rPr lang="en-US" altLang="zh-CN" sz="1800" baseline="-250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F = F = m</a:t>
                </a:r>
                <a:r>
                  <a:rPr lang="en-US" altLang="zh-CN" sz="1800" baseline="-250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baseline="-250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baseline="-250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400" dirty="0">
                    <a:solidFill>
                      <a:schemeClr val="tx1"/>
                    </a:solidFill>
                    <a:latin typeface="黑体" panose="02010609060101010101" pitchFamily="49" charset="-122"/>
                    <a:ea typeface="黑体" panose="02010609060101010101" pitchFamily="49" charset="-122"/>
                  </a:rPr>
                  <a:t>M</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aseline="30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( 1,4,5,6,7 )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3266" name="Line 7"/>
              <p:cNvSpPr/>
              <p:nvPr/>
            </p:nvSpPr>
            <p:spPr>
              <a:xfrm>
                <a:off x="840" y="475"/>
                <a:ext cx="144" cy="0"/>
              </a:xfrm>
              <a:prstGeom prst="line">
                <a:avLst/>
              </a:prstGeom>
              <a:ln w="12700" cap="flat" cmpd="sng">
                <a:solidFill>
                  <a:srgbClr val="FFFFFF"/>
                </a:solidFill>
                <a:prstDash val="solid"/>
                <a:headEnd type="none" w="med" len="med"/>
                <a:tailEnd type="none" w="med" len="med"/>
              </a:ln>
            </p:spPr>
          </p:sp>
          <p:sp>
            <p:nvSpPr>
              <p:cNvPr id="53267" name="Line 8"/>
              <p:cNvSpPr/>
              <p:nvPr/>
            </p:nvSpPr>
            <p:spPr>
              <a:xfrm>
                <a:off x="1170" y="1027"/>
                <a:ext cx="144" cy="0"/>
              </a:xfrm>
              <a:prstGeom prst="line">
                <a:avLst/>
              </a:prstGeom>
              <a:ln w="12700" cap="flat" cmpd="sng">
                <a:solidFill>
                  <a:srgbClr val="FFFFFF"/>
                </a:solidFill>
                <a:prstDash val="solid"/>
                <a:headEnd type="none" w="med" len="med"/>
                <a:tailEnd type="none" w="med" len="med"/>
              </a:ln>
            </p:spPr>
          </p:sp>
          <p:sp>
            <p:nvSpPr>
              <p:cNvPr id="53268" name="Line 9"/>
              <p:cNvSpPr/>
              <p:nvPr/>
            </p:nvSpPr>
            <p:spPr>
              <a:xfrm>
                <a:off x="1170" y="1075"/>
                <a:ext cx="144" cy="0"/>
              </a:xfrm>
              <a:prstGeom prst="line">
                <a:avLst/>
              </a:prstGeom>
              <a:ln w="12700" cap="flat" cmpd="sng">
                <a:solidFill>
                  <a:srgbClr val="FFFFFF"/>
                </a:solidFill>
                <a:prstDash val="solid"/>
                <a:headEnd type="none" w="med" len="med"/>
                <a:tailEnd type="none" w="med" len="med"/>
              </a:ln>
            </p:spPr>
          </p:sp>
          <p:sp>
            <p:nvSpPr>
              <p:cNvPr id="53269" name="Line 10"/>
              <p:cNvSpPr/>
              <p:nvPr/>
            </p:nvSpPr>
            <p:spPr>
              <a:xfrm>
                <a:off x="1506" y="1075"/>
                <a:ext cx="2496" cy="0"/>
              </a:xfrm>
              <a:prstGeom prst="line">
                <a:avLst/>
              </a:prstGeom>
              <a:ln w="12700" cap="flat" cmpd="sng">
                <a:solidFill>
                  <a:srgbClr val="FFFFFF"/>
                </a:solidFill>
                <a:prstDash val="solid"/>
                <a:headEnd type="none" w="med" len="med"/>
                <a:tailEnd type="none" w="med" len="med"/>
              </a:ln>
            </p:spPr>
          </p:sp>
          <p:sp>
            <p:nvSpPr>
              <p:cNvPr id="53274" name="Line 15"/>
              <p:cNvSpPr/>
              <p:nvPr/>
            </p:nvSpPr>
            <p:spPr>
              <a:xfrm>
                <a:off x="2892" y="1432"/>
                <a:ext cx="168" cy="0"/>
              </a:xfrm>
              <a:prstGeom prst="line">
                <a:avLst/>
              </a:prstGeom>
              <a:ln w="12700" cap="flat" cmpd="sng">
                <a:solidFill>
                  <a:srgbClr val="FFFFFF"/>
                </a:solidFill>
                <a:prstDash val="solid"/>
                <a:headEnd type="none" w="med" len="med"/>
                <a:tailEnd type="none" w="med" len="med"/>
              </a:ln>
            </p:spPr>
          </p:sp>
        </p:grpSp>
        <p:sp>
          <p:nvSpPr>
            <p:cNvPr id="53256" name="Line 22"/>
            <p:cNvSpPr/>
            <p:nvPr/>
          </p:nvSpPr>
          <p:spPr>
            <a:xfrm>
              <a:off x="980383" y="333292"/>
              <a:ext cx="144016" cy="0"/>
            </a:xfrm>
            <a:prstGeom prst="line">
              <a:avLst/>
            </a:prstGeom>
            <a:ln w="12700" cap="flat" cmpd="sng">
              <a:solidFill>
                <a:schemeClr val="tx1"/>
              </a:solidFill>
              <a:prstDash val="solid"/>
              <a:headEnd type="none" w="med" len="med"/>
              <a:tailEnd type="none" w="med" len="med"/>
            </a:ln>
          </p:spPr>
        </p:sp>
        <p:sp>
          <p:nvSpPr>
            <p:cNvPr id="53257" name="Line 22"/>
            <p:cNvSpPr/>
            <p:nvPr/>
          </p:nvSpPr>
          <p:spPr>
            <a:xfrm>
              <a:off x="1469699" y="652388"/>
              <a:ext cx="144016" cy="0"/>
            </a:xfrm>
            <a:prstGeom prst="line">
              <a:avLst/>
            </a:prstGeom>
            <a:ln w="12700" cap="flat" cmpd="sng">
              <a:solidFill>
                <a:schemeClr val="tx1"/>
              </a:solidFill>
              <a:prstDash val="solid"/>
              <a:headEnd type="none" w="med" len="med"/>
              <a:tailEnd type="none" w="med" len="med"/>
            </a:ln>
          </p:spPr>
        </p:sp>
        <p:sp>
          <p:nvSpPr>
            <p:cNvPr id="53258" name="Line 22"/>
            <p:cNvSpPr/>
            <p:nvPr/>
          </p:nvSpPr>
          <p:spPr>
            <a:xfrm>
              <a:off x="1469699" y="612970"/>
              <a:ext cx="144016" cy="0"/>
            </a:xfrm>
            <a:prstGeom prst="line">
              <a:avLst/>
            </a:prstGeom>
            <a:ln w="12700" cap="flat" cmpd="sng">
              <a:solidFill>
                <a:schemeClr val="tx1"/>
              </a:solidFill>
              <a:prstDash val="solid"/>
              <a:headEnd type="none" w="med" len="med"/>
              <a:tailEnd type="none" w="med" len="med"/>
            </a:ln>
          </p:spPr>
        </p:sp>
        <p:sp>
          <p:nvSpPr>
            <p:cNvPr id="53259" name="Line 22"/>
            <p:cNvSpPr/>
            <p:nvPr/>
          </p:nvSpPr>
          <p:spPr>
            <a:xfrm>
              <a:off x="1890893" y="652388"/>
              <a:ext cx="2679512" cy="0"/>
            </a:xfrm>
            <a:prstGeom prst="line">
              <a:avLst/>
            </a:prstGeom>
            <a:ln w="12700" cap="flat" cmpd="sng">
              <a:solidFill>
                <a:schemeClr val="tx1"/>
              </a:solidFill>
              <a:prstDash val="solid"/>
              <a:headEnd type="none" w="med" len="med"/>
              <a:tailEnd type="none" w="med" len="med"/>
            </a:ln>
          </p:spPr>
        </p:sp>
        <p:sp>
          <p:nvSpPr>
            <p:cNvPr id="53260" name="Line 22"/>
            <p:cNvSpPr/>
            <p:nvPr/>
          </p:nvSpPr>
          <p:spPr>
            <a:xfrm>
              <a:off x="1926431" y="987565"/>
              <a:ext cx="144016" cy="0"/>
            </a:xfrm>
            <a:prstGeom prst="line">
              <a:avLst/>
            </a:prstGeom>
            <a:ln w="12700" cap="flat" cmpd="sng">
              <a:solidFill>
                <a:schemeClr val="tx1"/>
              </a:solidFill>
              <a:prstDash val="solid"/>
              <a:headEnd type="none" w="med" len="med"/>
              <a:tailEnd type="none" w="med" len="med"/>
            </a:ln>
          </p:spPr>
        </p:sp>
        <p:sp>
          <p:nvSpPr>
            <p:cNvPr id="53261" name="Line 22"/>
            <p:cNvSpPr/>
            <p:nvPr/>
          </p:nvSpPr>
          <p:spPr>
            <a:xfrm>
              <a:off x="2549254" y="996650"/>
              <a:ext cx="144016" cy="0"/>
            </a:xfrm>
            <a:prstGeom prst="line">
              <a:avLst/>
            </a:prstGeom>
            <a:ln w="12700" cap="flat" cmpd="sng">
              <a:solidFill>
                <a:schemeClr val="tx1"/>
              </a:solidFill>
              <a:prstDash val="solid"/>
              <a:headEnd type="none" w="med" len="med"/>
              <a:tailEnd type="none" w="med" len="med"/>
            </a:ln>
          </p:spPr>
        </p:sp>
        <p:sp>
          <p:nvSpPr>
            <p:cNvPr id="53262" name="Line 22"/>
            <p:cNvSpPr/>
            <p:nvPr/>
          </p:nvSpPr>
          <p:spPr>
            <a:xfrm>
              <a:off x="3163066" y="1021657"/>
              <a:ext cx="144016" cy="0"/>
            </a:xfrm>
            <a:prstGeom prst="line">
              <a:avLst/>
            </a:prstGeom>
            <a:ln w="12700" cap="flat" cmpd="sng">
              <a:solidFill>
                <a:schemeClr val="tx1"/>
              </a:solidFill>
              <a:prstDash val="solid"/>
              <a:headEnd type="none" w="med" len="med"/>
              <a:tailEnd type="none" w="med" len="med"/>
            </a:ln>
          </p:spPr>
        </p:sp>
        <p:sp>
          <p:nvSpPr>
            <p:cNvPr id="53263" name="Line 22"/>
            <p:cNvSpPr/>
            <p:nvPr/>
          </p:nvSpPr>
          <p:spPr>
            <a:xfrm>
              <a:off x="3817002" y="1035291"/>
              <a:ext cx="144016" cy="0"/>
            </a:xfrm>
            <a:prstGeom prst="line">
              <a:avLst/>
            </a:prstGeom>
            <a:ln w="12700" cap="flat" cmpd="sng">
              <a:solidFill>
                <a:schemeClr val="tx1"/>
              </a:solidFill>
              <a:prstDash val="solid"/>
              <a:headEnd type="none" w="med" len="med"/>
              <a:tailEnd type="none" w="med" len="med"/>
            </a:ln>
          </p:spPr>
        </p:sp>
        <p:sp>
          <p:nvSpPr>
            <p:cNvPr id="53264" name="Line 22"/>
            <p:cNvSpPr/>
            <p:nvPr/>
          </p:nvSpPr>
          <p:spPr>
            <a:xfrm>
              <a:off x="4473252" y="1021657"/>
              <a:ext cx="144016" cy="0"/>
            </a:xfrm>
            <a:prstGeom prst="line">
              <a:avLst/>
            </a:prstGeom>
            <a:ln w="12700" cap="flat" cmpd="sng">
              <a:solidFill>
                <a:schemeClr val="tx1"/>
              </a:solidFill>
              <a:prstDash val="solid"/>
              <a:headEnd type="none" w="med" len="med"/>
              <a:tailEnd type="none" w="med" len="med"/>
            </a:ln>
          </p:spPr>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427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4276" name="Rectangle 2"/>
          <p:cNvSpPr>
            <a:spLocks noGrp="1"/>
          </p:cNvSpPr>
          <p:nvPr>
            <p:ph type="title"/>
          </p:nvPr>
        </p:nvSpPr>
        <p:spPr>
          <a:xfrm>
            <a:off x="468313" y="608330"/>
            <a:ext cx="7848600" cy="379413"/>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逻辑函数表示法及其之间的关系：</a:t>
            </a:r>
            <a:endParaRPr lang="en-US" altLang="zh-CN" sz="1800" b="1" dirty="0">
              <a:latin typeface="黑体" panose="02010609060101010101" pitchFamily="49" charset="-122"/>
              <a:ea typeface="黑体" panose="02010609060101010101" pitchFamily="49" charset="-122"/>
            </a:endParaRPr>
          </a:p>
        </p:txBody>
      </p:sp>
      <p:sp>
        <p:nvSpPr>
          <p:cNvPr id="54277" name="Rectangle 3"/>
          <p:cNvSpPr>
            <a:spLocks noGrp="1"/>
          </p:cNvSpPr>
          <p:nvPr>
            <p:ph/>
          </p:nvPr>
        </p:nvSpPr>
        <p:spPr>
          <a:xfrm>
            <a:off x="468630" y="1151255"/>
            <a:ext cx="8424545" cy="1417955"/>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一个逻辑命题（函数、逻辑关系</a:t>
            </a:r>
            <a:r>
              <a:rPr lang="zh-CN" altLang="en-US" sz="1800" dirty="0">
                <a:solidFill>
                  <a:srgbClr val="FF0066"/>
                </a:solidFill>
                <a:latin typeface="黑体" panose="02010609060101010101" pitchFamily="49" charset="-122"/>
                <a:ea typeface="黑体" panose="02010609060101010101" pitchFamily="49" charset="-122"/>
              </a:rPr>
              <a:t>）的几种基本表示法</a:t>
            </a:r>
            <a:r>
              <a:rPr lang="zh-CN" altLang="en-US" sz="1800" dirty="0">
                <a:latin typeface="黑体" panose="02010609060101010101" pitchFamily="49" charset="-122"/>
                <a:ea typeface="黑体" panose="02010609060101010101" pitchFamily="49" charset="-122"/>
              </a:rPr>
              <a:t>：</a:t>
            </a:r>
            <a:r>
              <a:rPr lang="zh-CN" altLang="en-US" sz="1800" u="sng" dirty="0">
                <a:latin typeface="黑体" panose="02010609060101010101" pitchFamily="49" charset="-122"/>
                <a:ea typeface="黑体" panose="02010609060101010101" pitchFamily="49" charset="-122"/>
              </a:rPr>
              <a:t>真值表、逻辑代数表达式、卡诺图、时序图等</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eaLnBrk="1" hangingPunct="1">
              <a:spcBef>
                <a:spcPts val="1200"/>
              </a:spcBef>
              <a:buNone/>
            </a:pPr>
            <a:r>
              <a:rPr lang="zh-CN" altLang="en-US" sz="1800" dirty="0">
                <a:latin typeface="黑体" panose="02010609060101010101" pitchFamily="49" charset="-122"/>
                <a:ea typeface="黑体" panose="02010609060101010101" pitchFamily="49" charset="-122"/>
              </a:rPr>
              <a:t>关系：①真值表是逻辑函数最基本的表达方式，</a:t>
            </a:r>
            <a:r>
              <a:rPr lang="zh-CN" altLang="en-US" sz="1800" dirty="0">
                <a:solidFill>
                  <a:srgbClr val="FF0000"/>
                </a:solidFill>
                <a:latin typeface="黑体" panose="02010609060101010101" pitchFamily="49" charset="-122"/>
                <a:ea typeface="黑体" panose="02010609060101010101" pitchFamily="49" charset="-122"/>
              </a:rPr>
              <a:t>具有唯一性</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②由真值表可以导出逻辑（代数）表达式的两种标准形式和卡诺图。</a:t>
            </a:r>
            <a:endParaRPr lang="en-US" altLang="zh-CN" sz="1800" dirty="0">
              <a:latin typeface="黑体" panose="02010609060101010101" pitchFamily="49" charset="-122"/>
              <a:ea typeface="黑体" panose="02010609060101010101" pitchFamily="49" charset="-122"/>
            </a:endParaRPr>
          </a:p>
          <a:p>
            <a:pPr eaLnBrk="1" hangingPunct="1">
              <a:buNone/>
            </a:pPr>
            <a:endParaRPr lang="zh-CN" altLang="en-US" sz="1800" dirty="0">
              <a:latin typeface="黑体" panose="02010609060101010101" pitchFamily="49" charset="-122"/>
              <a:ea typeface="黑体" panose="02010609060101010101" pitchFamily="49" charset="-122"/>
            </a:endParaRPr>
          </a:p>
        </p:txBody>
      </p:sp>
      <p:sp>
        <p:nvSpPr>
          <p:cNvPr id="54278" name="Rectangle 4"/>
          <p:cNvSpPr txBox="1"/>
          <p:nvPr/>
        </p:nvSpPr>
        <p:spPr>
          <a:xfrm>
            <a:off x="323850" y="2732088"/>
            <a:ext cx="8569325" cy="1657350"/>
          </a:xfrm>
          <a:prstGeom prst="rect">
            <a:avLst/>
          </a:prstGeom>
          <a:noFill/>
          <a:ln w="9525">
            <a:noFill/>
          </a:ln>
        </p:spPr>
        <p:txBody>
          <a:bodyPr/>
          <a:p>
            <a:pPr marL="342900" indent="-342900" eaLnBrk="1" hangingPunct="1">
              <a:lnSpc>
                <a:spcPct val="9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rgbClr val="FF0066"/>
                </a:solidFill>
                <a:latin typeface="黑体" panose="02010609060101010101" pitchFamily="49" charset="-122"/>
                <a:ea typeface="黑体" panose="02010609060101010101" pitchFamily="49" charset="-122"/>
              </a:rPr>
              <a:t>3</a:t>
            </a:r>
            <a:r>
              <a:rPr lang="zh-CN" altLang="en-US" sz="1800" b="1" dirty="0">
                <a:solidFill>
                  <a:srgbClr val="FF0066"/>
                </a:solidFill>
                <a:latin typeface="黑体" panose="02010609060101010101" pitchFamily="49" charset="-122"/>
                <a:ea typeface="黑体" panose="02010609060101010101" pitchFamily="49" charset="-122"/>
              </a:rPr>
              <a:t>）卡诺图</a:t>
            </a:r>
            <a:endParaRPr lang="zh-CN" altLang="en-US" sz="1800" b="1" dirty="0">
              <a:solidFill>
                <a:srgbClr val="FF0066"/>
              </a:solidFill>
              <a:latin typeface="黑体" panose="02010609060101010101" pitchFamily="49" charset="-122"/>
              <a:ea typeface="黑体" panose="02010609060101010101" pitchFamily="49" charset="-122"/>
            </a:endParaRPr>
          </a:p>
          <a:p>
            <a:pPr marL="342900" indent="-342900"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5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卡诺图是逻辑函数真值表的一种平面图形表示</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利用卡诺图可以有规则地化简逻辑函数表达式，并能直观地写出逻辑函数的最简式。</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90000"/>
              </a:lnSpc>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529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5300" name="Text Box 7"/>
          <p:cNvSpPr txBox="1"/>
          <p:nvPr/>
        </p:nvSpPr>
        <p:spPr>
          <a:xfrm>
            <a:off x="1025525" y="876300"/>
            <a:ext cx="7650163" cy="3662680"/>
          </a:xfrm>
          <a:prstGeom prst="rect">
            <a:avLst/>
          </a:prstGeom>
          <a:noFill/>
          <a:ln w="9525">
            <a:noFill/>
          </a:ln>
        </p:spPr>
        <p:txBody>
          <a:bodyPr>
            <a:spAutoFit/>
          </a:bodyPr>
          <a:p>
            <a:pPr marL="514350" indent="-514350" eaLnBrk="1" hangingPunct="1">
              <a:lnSpc>
                <a:spcPct val="150000"/>
              </a:lnSpc>
              <a:spcBef>
                <a:spcPct val="20000"/>
              </a:spcBef>
              <a:buFont typeface="宋体" panose="02010600030101010101" pitchFamily="2" charset="-122"/>
              <a:buAutoNum type="circleNumDbPlain"/>
            </a:pPr>
            <a:r>
              <a:rPr lang="zh-CN" altLang="en-US" sz="1800" b="1" dirty="0">
                <a:solidFill>
                  <a:schemeClr val="tx1"/>
                </a:solidFill>
                <a:latin typeface="黑体" panose="02010609060101010101" pitchFamily="49" charset="-122"/>
                <a:ea typeface="黑体" panose="02010609060101010101" pitchFamily="49" charset="-122"/>
              </a:rPr>
              <a:t>卡诺图的构成</a:t>
            </a:r>
            <a:endParaRPr lang="zh-CN" altLang="en-US" sz="1800" b="1"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卡诺图是一种</a:t>
            </a:r>
            <a:r>
              <a:rPr lang="zh-CN" altLang="en-US" sz="1800" b="1" dirty="0">
                <a:solidFill>
                  <a:srgbClr val="FF0066"/>
                </a:solidFill>
                <a:latin typeface="黑体" panose="02010609060101010101" pitchFamily="49" charset="-122"/>
                <a:ea typeface="黑体" panose="02010609060101010101" pitchFamily="49" charset="-122"/>
              </a:rPr>
              <a:t>平面方格阵列图</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u="sng" dirty="0">
                <a:solidFill>
                  <a:schemeClr val="tx1"/>
                </a:solidFill>
                <a:latin typeface="黑体" panose="02010609060101010101" pitchFamily="49" charset="-122"/>
                <a:ea typeface="黑体" panose="02010609060101010101" pitchFamily="49" charset="-122"/>
              </a:rPr>
              <a:t>行和列按变量的组合标注</a:t>
            </a:r>
            <a:r>
              <a:rPr lang="en-US" altLang="zh-CN" sz="1800" u="sng" dirty="0">
                <a:solidFill>
                  <a:schemeClr val="tx1"/>
                </a:solidFill>
                <a:latin typeface="黑体" panose="02010609060101010101" pitchFamily="49" charset="-122"/>
                <a:ea typeface="黑体" panose="02010609060101010101" pitchFamily="49" charset="-122"/>
              </a:rPr>
              <a:t>,</a:t>
            </a:r>
            <a:r>
              <a:rPr lang="zh-CN" altLang="en-US" sz="1800" u="sng" dirty="0">
                <a:solidFill>
                  <a:schemeClr val="tx1"/>
                </a:solidFill>
                <a:latin typeface="黑体" panose="02010609060101010101" pitchFamily="49" charset="-122"/>
                <a:ea typeface="黑体" panose="02010609060101010101" pitchFamily="49" charset="-122"/>
              </a:rPr>
              <a:t>其变量顺序按真值表中输入变量从左</a:t>
            </a:r>
            <a:endParaRPr lang="en-US" altLang="zh-CN" sz="1800" u="sng"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u="sng" dirty="0">
                <a:solidFill>
                  <a:schemeClr val="tx1"/>
                </a:solidFill>
                <a:latin typeface="黑体" panose="02010609060101010101" pitchFamily="49" charset="-122"/>
                <a:ea typeface="黑体" panose="02010609060101010101" pitchFamily="49" charset="-122"/>
              </a:rPr>
              <a:t>至右</a:t>
            </a:r>
            <a:r>
              <a:rPr lang="en-US" altLang="zh-CN" sz="1800" u="sng" dirty="0">
                <a:solidFill>
                  <a:schemeClr val="tx1"/>
                </a:solidFill>
                <a:latin typeface="黑体" panose="02010609060101010101" pitchFamily="49" charset="-122"/>
                <a:ea typeface="黑体" panose="02010609060101010101" pitchFamily="49" charset="-122"/>
              </a:rPr>
              <a:t>(ABC)</a:t>
            </a:r>
            <a:r>
              <a:rPr lang="zh-CN" altLang="en-US" sz="1800" u="sng" dirty="0">
                <a:solidFill>
                  <a:schemeClr val="tx1"/>
                </a:solidFill>
                <a:latin typeface="黑体" panose="02010609060101010101" pitchFamily="49" charset="-122"/>
                <a:ea typeface="黑体" panose="02010609060101010101" pitchFamily="49" charset="-122"/>
              </a:rPr>
              <a:t>的顺序</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并且行与列坐标按变量组合的二进制</a:t>
            </a:r>
            <a:r>
              <a:rPr lang="zh-CN" altLang="en-US" sz="1800" dirty="0">
                <a:solidFill>
                  <a:srgbClr val="FF0000"/>
                </a:solidFill>
                <a:latin typeface="黑体" panose="02010609060101010101" pitchFamily="49" charset="-122"/>
                <a:ea typeface="黑体" panose="02010609060101010101" pitchFamily="49" charset="-122"/>
              </a:rPr>
              <a:t>格雷码</a:t>
            </a:r>
            <a:r>
              <a:rPr lang="zh-CN" altLang="en-US" sz="1800" dirty="0">
                <a:solidFill>
                  <a:schemeClr val="tx1"/>
                </a:solidFill>
                <a:latin typeface="黑体" panose="02010609060101010101" pitchFamily="49" charset="-122"/>
                <a:ea typeface="黑体" panose="02010609060101010101" pitchFamily="49" charset="-122"/>
              </a:rPr>
              <a:t>的顺序；</a:t>
            </a:r>
            <a:endParaRPr lang="en-US" altLang="zh-CN" sz="1800"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而小方格左上角标注可用十进制数表示</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该数对应最小项的下标值。</a:t>
            </a:r>
            <a:endParaRPr lang="en-US" altLang="zh-CN" sz="1800"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下页给出了二、三、四、五、六</a:t>
            </a:r>
            <a:r>
              <a:rPr lang="zh-CN" altLang="en-US" sz="1800" b="1" dirty="0">
                <a:solidFill>
                  <a:schemeClr val="tx1"/>
                </a:solidFill>
                <a:latin typeface="黑体" panose="02010609060101010101" pitchFamily="49" charset="-122"/>
                <a:ea typeface="黑体" panose="02010609060101010101" pitchFamily="49" charset="-122"/>
              </a:rPr>
              <a:t>个变量的卡诺图。</a:t>
            </a:r>
            <a:r>
              <a:rPr lang="zh-CN" altLang="en-US" sz="1800" dirty="0">
                <a:solidFill>
                  <a:schemeClr val="tx1"/>
                </a:solidFill>
                <a:latin typeface="黑体" panose="02010609060101010101" pitchFamily="49" charset="-122"/>
                <a:ea typeface="黑体" panose="02010609060101010101" pitchFamily="49" charset="-122"/>
              </a:rPr>
              <a:t>   </a:t>
            </a:r>
            <a:endParaRPr lang="zh-CN" altLang="en-US" sz="1800" dirty="0">
              <a:solidFill>
                <a:schemeClr val="tx1"/>
              </a:solidFill>
              <a:latin typeface="黑体" panose="02010609060101010101" pitchFamily="49" charset="-122"/>
              <a:ea typeface="黑体" panose="02010609060101010101" pitchFamily="49" charset="-122"/>
            </a:endParaRPr>
          </a:p>
          <a:p>
            <a:pPr marL="514350" indent="-514350" eaLnBrk="1" hangingPunct="1">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300">
                                            <p:txEl>
                                              <p:pRg st="2" end="2"/>
                                            </p:txEl>
                                          </p:spTgt>
                                        </p:tgtEl>
                                        <p:attrNameLst>
                                          <p:attrName>style.visibility</p:attrName>
                                        </p:attrNameLst>
                                      </p:cBhvr>
                                      <p:to>
                                        <p:strVal val="visible"/>
                                      </p:to>
                                    </p:set>
                                    <p:anim calcmode="lin" valueType="num">
                                      <p:cBhvr additive="base">
                                        <p:cTn id="7" dur="500" fill="hold"/>
                                        <p:tgtEl>
                                          <p:spTgt spid="5530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300">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300">
                                            <p:txEl>
                                              <p:pRg st="3" end="3"/>
                                            </p:txEl>
                                          </p:spTgt>
                                        </p:tgtEl>
                                        <p:attrNameLst>
                                          <p:attrName>style.visibility</p:attrName>
                                        </p:attrNameLst>
                                      </p:cBhvr>
                                      <p:to>
                                        <p:strVal val="visible"/>
                                      </p:to>
                                    </p:set>
                                    <p:anim calcmode="lin" valueType="num">
                                      <p:cBhvr additive="base">
                                        <p:cTn id="11" dur="500" fill="hold"/>
                                        <p:tgtEl>
                                          <p:spTgt spid="55300">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5300">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5300">
                                            <p:txEl>
                                              <p:pRg st="4" end="4"/>
                                            </p:txEl>
                                          </p:spTgt>
                                        </p:tgtEl>
                                        <p:attrNameLst>
                                          <p:attrName>style.visibility</p:attrName>
                                        </p:attrNameLst>
                                      </p:cBhvr>
                                      <p:to>
                                        <p:strVal val="visible"/>
                                      </p:to>
                                    </p:set>
                                    <p:anim calcmode="lin" valueType="num">
                                      <p:cBhvr additive="base">
                                        <p:cTn id="15" dur="500" fill="hold"/>
                                        <p:tgtEl>
                                          <p:spTgt spid="55300">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53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5300">
                                            <p:txEl>
                                              <p:pRg st="6" end="6"/>
                                            </p:txEl>
                                          </p:spTgt>
                                        </p:tgtEl>
                                        <p:attrNameLst>
                                          <p:attrName>style.visibility</p:attrName>
                                        </p:attrNameLst>
                                      </p:cBhvr>
                                      <p:to>
                                        <p:strVal val="visible"/>
                                      </p:to>
                                    </p:set>
                                    <p:anim calcmode="lin" valueType="num">
                                      <p:cBhvr additive="base">
                                        <p:cTn id="21" dur="500" fill="hold"/>
                                        <p:tgtEl>
                                          <p:spTgt spid="55300">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530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632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6324" name="Rectangle 2"/>
          <p:cNvSpPr>
            <a:spLocks noGrp="1"/>
          </p:cNvSpPr>
          <p:nvPr>
            <p:ph type="title"/>
          </p:nvPr>
        </p:nvSpPr>
        <p:spPr>
          <a:xfrm>
            <a:off x="919480" y="516255"/>
            <a:ext cx="3943350" cy="47117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单变量的卡诺图：</a:t>
            </a:r>
            <a:r>
              <a:rPr lang="en-US" altLang="zh-CN" sz="1800" b="1" dirty="0">
                <a:latin typeface="黑体" panose="02010609060101010101" pitchFamily="49" charset="-122"/>
                <a:ea typeface="黑体" panose="02010609060101010101" pitchFamily="49" charset="-122"/>
              </a:rPr>
              <a:t>2</a:t>
            </a:r>
            <a:r>
              <a:rPr lang="zh-CN" altLang="en-US" sz="1800" b="1" dirty="0">
                <a:latin typeface="黑体" panose="02010609060101010101" pitchFamily="49" charset="-122"/>
                <a:ea typeface="黑体" panose="02010609060101010101" pitchFamily="49" charset="-122"/>
              </a:rPr>
              <a:t>个小方格组成</a:t>
            </a:r>
            <a:endParaRPr lang="zh-CN" altLang="en-US" sz="1800" b="1" dirty="0">
              <a:latin typeface="黑体" panose="02010609060101010101" pitchFamily="49" charset="-122"/>
              <a:ea typeface="黑体" panose="02010609060101010101" pitchFamily="49" charset="-122"/>
            </a:endParaRPr>
          </a:p>
        </p:txBody>
      </p:sp>
      <p:sp>
        <p:nvSpPr>
          <p:cNvPr id="56325" name="Rectangle 3"/>
          <p:cNvSpPr>
            <a:spLocks noGrp="1"/>
          </p:cNvSpPr>
          <p:nvPr>
            <p:ph/>
          </p:nvPr>
        </p:nvSpPr>
        <p:spPr>
          <a:xfrm>
            <a:off x="971550" y="2571750"/>
            <a:ext cx="7772400" cy="457200"/>
          </a:xfrm>
          <a:prstGeom prst="rect">
            <a:avLst/>
          </a:prstGeom>
          <a:noFill/>
          <a:ln w="9525">
            <a:noFill/>
          </a:ln>
        </p:spPr>
        <p:txBody>
          <a:bodyPr/>
          <a:p>
            <a:pPr eaLnBrk="1" hangingPunct="1">
              <a:buNone/>
            </a:pPr>
            <a:r>
              <a:rPr lang="zh-CN" altLang="en-US" sz="1800" b="1" dirty="0">
                <a:latin typeface="黑体" panose="02010609060101010101" pitchFamily="49" charset="-122"/>
                <a:ea typeface="黑体" panose="02010609060101010101" pitchFamily="49" charset="-122"/>
              </a:rPr>
              <a:t>二变量的卡诺图：</a:t>
            </a:r>
            <a:r>
              <a:rPr lang="en-US" altLang="zh-CN" sz="1800" b="1" dirty="0">
                <a:latin typeface="黑体" panose="02010609060101010101" pitchFamily="49" charset="-122"/>
                <a:ea typeface="黑体" panose="02010609060101010101" pitchFamily="49" charset="-122"/>
              </a:rPr>
              <a:t>4</a:t>
            </a:r>
            <a:r>
              <a:rPr lang="zh-CN" altLang="en-US" sz="1800" b="1" dirty="0">
                <a:latin typeface="黑体" panose="02010609060101010101" pitchFamily="49" charset="-122"/>
                <a:ea typeface="黑体" panose="02010609060101010101" pitchFamily="49" charset="-122"/>
              </a:rPr>
              <a:t>个小方格组成</a:t>
            </a:r>
            <a:endParaRPr lang="zh-CN" altLang="en-US" sz="1800" b="1" dirty="0">
              <a:latin typeface="黑体" panose="02010609060101010101" pitchFamily="49" charset="-122"/>
              <a:ea typeface="黑体" panose="02010609060101010101" pitchFamily="49" charset="-122"/>
            </a:endParaRPr>
          </a:p>
        </p:txBody>
      </p:sp>
      <p:sp>
        <p:nvSpPr>
          <p:cNvPr id="56326" name="Rectangle 6"/>
          <p:cNvSpPr/>
          <p:nvPr/>
        </p:nvSpPr>
        <p:spPr>
          <a:xfrm>
            <a:off x="1042988" y="1003300"/>
            <a:ext cx="1981200" cy="1314450"/>
          </a:xfrm>
          <a:prstGeom prst="rect">
            <a:avLst/>
          </a:prstGeom>
          <a:solidFill>
            <a:srgbClr val="FFFFFF"/>
          </a:solidFill>
          <a:ln w="38100" cap="flat" cmpd="sng">
            <a:solidFill>
              <a:srgbClr val="FFCC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03" name="Line 9"/>
          <p:cNvSpPr/>
          <p:nvPr/>
        </p:nvSpPr>
        <p:spPr>
          <a:xfrm>
            <a:off x="2033588" y="1003300"/>
            <a:ext cx="0" cy="1314450"/>
          </a:xfrm>
          <a:prstGeom prst="line">
            <a:avLst/>
          </a:prstGeom>
          <a:ln w="38100" cap="flat" cmpd="sng">
            <a:solidFill>
              <a:srgbClr val="0000FF"/>
            </a:solidFill>
            <a:prstDash val="solid"/>
            <a:headEnd type="none" w="med" len="med"/>
            <a:tailEnd type="none" w="med" len="med"/>
          </a:ln>
        </p:spPr>
      </p:sp>
      <p:sp>
        <p:nvSpPr>
          <p:cNvPr id="56328" name="Text Box 10"/>
          <p:cNvSpPr txBox="1"/>
          <p:nvPr/>
        </p:nvSpPr>
        <p:spPr>
          <a:xfrm>
            <a:off x="3563620" y="1635125"/>
            <a:ext cx="525081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引入变量</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，用</a:t>
            </a:r>
            <a:r>
              <a:rPr lang="zh-CN" altLang="en-US" sz="1800" dirty="0">
                <a:solidFill>
                  <a:srgbClr val="0000FF"/>
                </a:solidFill>
                <a:latin typeface="黑体" panose="02010609060101010101" pitchFamily="49" charset="-122"/>
                <a:ea typeface="黑体" panose="02010609060101010101" pitchFamily="49" charset="-122"/>
              </a:rPr>
              <a:t>兰线</a:t>
            </a:r>
            <a:r>
              <a:rPr lang="zh-CN" altLang="en-US" sz="1800" dirty="0">
                <a:solidFill>
                  <a:schemeClr val="tx1"/>
                </a:solidFill>
                <a:latin typeface="黑体" panose="02010609060101010101" pitchFamily="49" charset="-122"/>
                <a:ea typeface="黑体" panose="02010609060101010101" pitchFamily="49" charset="-122"/>
              </a:rPr>
              <a:t>条将黄色区域划分为</a:t>
            </a:r>
            <a:r>
              <a:rPr lang="en-US" altLang="zh-CN" sz="1800" dirty="0">
                <a:solidFill>
                  <a:schemeClr val="tx1"/>
                </a:solidFill>
                <a:latin typeface="黑体" panose="02010609060101010101" pitchFamily="49" charset="-122"/>
                <a:ea typeface="黑体" panose="02010609060101010101" pitchFamily="49" charset="-122"/>
              </a:rPr>
              <a:t>2</a:t>
            </a:r>
            <a:r>
              <a:rPr lang="zh-CN" altLang="en-US" sz="1800" dirty="0">
                <a:solidFill>
                  <a:schemeClr val="tx1"/>
                </a:solidFill>
                <a:latin typeface="黑体" panose="02010609060101010101" pitchFamily="49" charset="-122"/>
                <a:ea typeface="黑体" panose="02010609060101010101" pitchFamily="49" charset="-122"/>
              </a:rPr>
              <a:t>个小方块</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29" name="Line 11"/>
          <p:cNvSpPr/>
          <p:nvPr/>
        </p:nvSpPr>
        <p:spPr>
          <a:xfrm flipH="1" flipV="1">
            <a:off x="2736850" y="1706880"/>
            <a:ext cx="882650" cy="154940"/>
          </a:xfrm>
          <a:prstGeom prst="line">
            <a:avLst/>
          </a:prstGeom>
          <a:ln w="6350" cap="flat" cmpd="sng">
            <a:solidFill>
              <a:schemeClr val="tx1"/>
            </a:solidFill>
            <a:prstDash val="solid"/>
            <a:headEnd type="none" w="med" len="med"/>
            <a:tailEnd type="triangle" w="med" len="med"/>
          </a:ln>
        </p:spPr>
      </p:sp>
      <p:sp>
        <p:nvSpPr>
          <p:cNvPr id="56330" name="Line 12"/>
          <p:cNvSpPr/>
          <p:nvPr/>
        </p:nvSpPr>
        <p:spPr>
          <a:xfrm flipH="1">
            <a:off x="1581150" y="1886585"/>
            <a:ext cx="2113915" cy="45085"/>
          </a:xfrm>
          <a:prstGeom prst="line">
            <a:avLst/>
          </a:prstGeom>
          <a:ln w="6350" cap="flat" cmpd="sng">
            <a:solidFill>
              <a:schemeClr val="tx1"/>
            </a:solidFill>
            <a:prstDash val="solid"/>
            <a:headEnd type="none" w="med" len="med"/>
            <a:tailEnd type="triangle" w="med" len="med"/>
          </a:ln>
        </p:spPr>
      </p:sp>
      <p:sp>
        <p:nvSpPr>
          <p:cNvPr id="56331" name="Text Box 13"/>
          <p:cNvSpPr txBox="1"/>
          <p:nvPr/>
        </p:nvSpPr>
        <p:spPr>
          <a:xfrm>
            <a:off x="2338388" y="1517650"/>
            <a:ext cx="6858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grpSp>
        <p:nvGrpSpPr>
          <p:cNvPr id="56332" name="Group 14"/>
          <p:cNvGrpSpPr/>
          <p:nvPr/>
        </p:nvGrpSpPr>
        <p:grpSpPr>
          <a:xfrm>
            <a:off x="1271588" y="1517650"/>
            <a:ext cx="685800" cy="368300"/>
            <a:chOff x="0" y="0"/>
            <a:chExt cx="432" cy="310"/>
          </a:xfrm>
        </p:grpSpPr>
        <p:sp>
          <p:nvSpPr>
            <p:cNvPr id="56353" name="Text Box 15"/>
            <p:cNvSpPr txBox="1"/>
            <p:nvPr/>
          </p:nvSpPr>
          <p:spPr>
            <a:xfrm>
              <a:off x="0" y="0"/>
              <a:ext cx="43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54" name="Line 16"/>
            <p:cNvSpPr/>
            <p:nvPr/>
          </p:nvSpPr>
          <p:spPr>
            <a:xfrm>
              <a:off x="22" y="38"/>
              <a:ext cx="144" cy="0"/>
            </a:xfrm>
            <a:prstGeom prst="line">
              <a:avLst/>
            </a:prstGeom>
            <a:ln w="12700" cap="flat" cmpd="sng">
              <a:solidFill>
                <a:schemeClr val="tx1"/>
              </a:solidFill>
              <a:prstDash val="solid"/>
              <a:headEnd type="none" w="med" len="med"/>
              <a:tailEnd type="none" w="med" len="med"/>
            </a:ln>
          </p:spPr>
        </p:sp>
      </p:grpSp>
      <p:sp>
        <p:nvSpPr>
          <p:cNvPr id="56333" name="Text Box 27"/>
          <p:cNvSpPr txBox="1"/>
          <p:nvPr/>
        </p:nvSpPr>
        <p:spPr>
          <a:xfrm>
            <a:off x="4069715" y="3481705"/>
            <a:ext cx="4706620" cy="64516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引入变量</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，则再用黑线条将黄色（整个）区域进行划分，生成为</a:t>
            </a:r>
            <a:r>
              <a:rPr lang="en-US" altLang="zh-CN" sz="1800" dirty="0">
                <a:solidFill>
                  <a:schemeClr val="tx1"/>
                </a:solidFill>
                <a:latin typeface="黑体" panose="02010609060101010101" pitchFamily="49" charset="-122"/>
                <a:ea typeface="黑体" panose="02010609060101010101" pitchFamily="49" charset="-122"/>
              </a:rPr>
              <a:t>4</a:t>
            </a:r>
            <a:r>
              <a:rPr lang="zh-CN" altLang="en-US" sz="1800" dirty="0">
                <a:solidFill>
                  <a:schemeClr val="tx1"/>
                </a:solidFill>
                <a:latin typeface="黑体" panose="02010609060101010101" pitchFamily="49" charset="-122"/>
                <a:ea typeface="黑体" panose="02010609060101010101" pitchFamily="49" charset="-122"/>
              </a:rPr>
              <a:t>个小方块</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34" name="Line 28"/>
          <p:cNvSpPr/>
          <p:nvPr/>
        </p:nvSpPr>
        <p:spPr>
          <a:xfrm flipH="1">
            <a:off x="3143250" y="3608388"/>
            <a:ext cx="990600" cy="0"/>
          </a:xfrm>
          <a:prstGeom prst="line">
            <a:avLst/>
          </a:prstGeom>
          <a:ln w="6350" cap="flat" cmpd="sng">
            <a:solidFill>
              <a:schemeClr val="tx1"/>
            </a:solidFill>
            <a:prstDash val="solid"/>
            <a:headEnd type="none" w="med" len="med"/>
            <a:tailEnd type="triangle" w="med" len="med"/>
          </a:ln>
        </p:spPr>
      </p:sp>
      <p:sp>
        <p:nvSpPr>
          <p:cNvPr id="56335" name="Rectangle 29"/>
          <p:cNvSpPr/>
          <p:nvPr/>
        </p:nvSpPr>
        <p:spPr>
          <a:xfrm>
            <a:off x="1085850" y="3086100"/>
            <a:ext cx="1981200" cy="1314450"/>
          </a:xfrm>
          <a:prstGeom prst="rect">
            <a:avLst/>
          </a:prstGeom>
          <a:solidFill>
            <a:srgbClr val="FFFFFF"/>
          </a:solidFill>
          <a:ln w="38100" cap="flat" cmpd="sng">
            <a:solidFill>
              <a:srgbClr val="FFCC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36" name="Line 30"/>
          <p:cNvSpPr/>
          <p:nvPr/>
        </p:nvSpPr>
        <p:spPr>
          <a:xfrm>
            <a:off x="2076450" y="3100388"/>
            <a:ext cx="0" cy="1314450"/>
          </a:xfrm>
          <a:prstGeom prst="line">
            <a:avLst/>
          </a:prstGeom>
          <a:ln w="38100" cap="flat" cmpd="sng">
            <a:solidFill>
              <a:srgbClr val="0000FF"/>
            </a:solidFill>
            <a:prstDash val="solid"/>
            <a:headEnd type="none" w="med" len="med"/>
            <a:tailEnd type="none" w="med" len="med"/>
          </a:ln>
        </p:spPr>
      </p:sp>
      <p:sp>
        <p:nvSpPr>
          <p:cNvPr id="56337" name="Text Box 31"/>
          <p:cNvSpPr txBox="1"/>
          <p:nvPr/>
        </p:nvSpPr>
        <p:spPr>
          <a:xfrm>
            <a:off x="2305050" y="4065588"/>
            <a:ext cx="6858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5316" name="Line 32"/>
          <p:cNvSpPr/>
          <p:nvPr/>
        </p:nvSpPr>
        <p:spPr>
          <a:xfrm>
            <a:off x="1085850" y="3836988"/>
            <a:ext cx="1981200" cy="0"/>
          </a:xfrm>
          <a:prstGeom prst="line">
            <a:avLst/>
          </a:prstGeom>
          <a:ln w="38100" cap="flat" cmpd="sng">
            <a:solidFill>
              <a:schemeClr val="tx1"/>
            </a:solidFill>
            <a:prstDash val="solid"/>
            <a:headEnd type="none" w="med" len="med"/>
            <a:tailEnd type="none" w="med" len="med"/>
          </a:ln>
        </p:spPr>
      </p:sp>
      <p:sp>
        <p:nvSpPr>
          <p:cNvPr id="56339" name="Text Box 33"/>
          <p:cNvSpPr txBox="1"/>
          <p:nvPr/>
        </p:nvSpPr>
        <p:spPr>
          <a:xfrm>
            <a:off x="1314450" y="3429000"/>
            <a:ext cx="6858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0" name="Line 34"/>
          <p:cNvSpPr/>
          <p:nvPr/>
        </p:nvSpPr>
        <p:spPr>
          <a:xfrm>
            <a:off x="1333500" y="3508375"/>
            <a:ext cx="228600" cy="0"/>
          </a:xfrm>
          <a:prstGeom prst="line">
            <a:avLst/>
          </a:prstGeom>
          <a:ln w="9525" cap="flat" cmpd="sng">
            <a:solidFill>
              <a:schemeClr val="tx1"/>
            </a:solidFill>
            <a:prstDash val="solid"/>
            <a:headEnd type="none" w="med" len="med"/>
            <a:tailEnd type="none" w="med" len="med"/>
          </a:ln>
        </p:spPr>
      </p:sp>
      <p:sp>
        <p:nvSpPr>
          <p:cNvPr id="56341" name="Text Box 36"/>
          <p:cNvSpPr txBox="1"/>
          <p:nvPr/>
        </p:nvSpPr>
        <p:spPr>
          <a:xfrm>
            <a:off x="1314450" y="4065588"/>
            <a:ext cx="6858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2" name="Line 37"/>
          <p:cNvSpPr/>
          <p:nvPr/>
        </p:nvSpPr>
        <p:spPr>
          <a:xfrm>
            <a:off x="1390650" y="4156075"/>
            <a:ext cx="228600" cy="0"/>
          </a:xfrm>
          <a:prstGeom prst="line">
            <a:avLst/>
          </a:prstGeom>
          <a:ln w="9525" cap="flat" cmpd="sng">
            <a:solidFill>
              <a:schemeClr val="tx1"/>
            </a:solidFill>
            <a:prstDash val="solid"/>
            <a:headEnd type="none" w="med" len="med"/>
            <a:tailEnd type="none" w="med" len="med"/>
          </a:ln>
        </p:spPr>
      </p:sp>
      <p:sp>
        <p:nvSpPr>
          <p:cNvPr id="56343" name="Text Box 38"/>
          <p:cNvSpPr txBox="1"/>
          <p:nvPr/>
        </p:nvSpPr>
        <p:spPr>
          <a:xfrm>
            <a:off x="2305050" y="3436938"/>
            <a:ext cx="6858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4" name="Line 39"/>
          <p:cNvSpPr/>
          <p:nvPr/>
        </p:nvSpPr>
        <p:spPr>
          <a:xfrm>
            <a:off x="2555875" y="3508375"/>
            <a:ext cx="228600" cy="0"/>
          </a:xfrm>
          <a:prstGeom prst="line">
            <a:avLst/>
          </a:prstGeom>
          <a:ln w="9525" cap="flat" cmpd="sng">
            <a:solidFill>
              <a:schemeClr val="tx1"/>
            </a:solidFill>
            <a:prstDash val="solid"/>
            <a:headEnd type="none" w="med" len="med"/>
            <a:tailEnd type="none" w="med" len="med"/>
          </a:ln>
        </p:spPr>
      </p:sp>
      <p:sp>
        <p:nvSpPr>
          <p:cNvPr id="56345" name="Line 40"/>
          <p:cNvSpPr/>
          <p:nvPr/>
        </p:nvSpPr>
        <p:spPr>
          <a:xfrm flipH="1">
            <a:off x="3067050" y="3779838"/>
            <a:ext cx="1143000" cy="342900"/>
          </a:xfrm>
          <a:prstGeom prst="line">
            <a:avLst/>
          </a:prstGeom>
          <a:ln w="6350" cap="flat" cmpd="sng">
            <a:solidFill>
              <a:schemeClr val="tx1"/>
            </a:solidFill>
            <a:prstDash val="solid"/>
            <a:headEnd type="none" w="med" len="med"/>
            <a:tailEnd type="triangle" w="med" len="med"/>
          </a:ln>
        </p:spPr>
      </p:sp>
      <p:sp>
        <p:nvSpPr>
          <p:cNvPr id="56346" name="Text Box 41"/>
          <p:cNvSpPr txBox="1"/>
          <p:nvPr/>
        </p:nvSpPr>
        <p:spPr>
          <a:xfrm>
            <a:off x="1119188" y="1003300"/>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7" name="Text Box 42"/>
          <p:cNvSpPr txBox="1"/>
          <p:nvPr/>
        </p:nvSpPr>
        <p:spPr>
          <a:xfrm>
            <a:off x="2109788" y="1003300"/>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8" name="Text Box 43"/>
          <p:cNvSpPr txBox="1"/>
          <p:nvPr/>
        </p:nvSpPr>
        <p:spPr>
          <a:xfrm>
            <a:off x="1085850" y="30765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9" name="Text Box 44"/>
          <p:cNvSpPr txBox="1"/>
          <p:nvPr/>
        </p:nvSpPr>
        <p:spPr>
          <a:xfrm>
            <a:off x="1042988" y="3795713"/>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50" name="Text Box 45"/>
          <p:cNvSpPr txBox="1"/>
          <p:nvPr/>
        </p:nvSpPr>
        <p:spPr>
          <a:xfrm>
            <a:off x="2076450" y="30765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51" name="Text Box 46"/>
          <p:cNvSpPr txBox="1"/>
          <p:nvPr/>
        </p:nvSpPr>
        <p:spPr>
          <a:xfrm>
            <a:off x="2051050" y="3808413"/>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52" name="Line 47"/>
          <p:cNvSpPr/>
          <p:nvPr/>
        </p:nvSpPr>
        <p:spPr>
          <a:xfrm>
            <a:off x="1619250" y="3508375"/>
            <a:ext cx="215900" cy="0"/>
          </a:xfrm>
          <a:prstGeom prst="line">
            <a:avLst/>
          </a:prstGeom>
          <a:ln w="9525" cap="flat" cmpd="sng">
            <a:solidFill>
              <a:schemeClr val="tx1"/>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5316"/>
                                        </p:tgtEl>
                                        <p:attrNameLst>
                                          <p:attrName>style.visibility</p:attrName>
                                        </p:attrNameLst>
                                      </p:cBhvr>
                                      <p:to>
                                        <p:strVal val="visible"/>
                                      </p:to>
                                    </p:set>
                                    <p:anim calcmode="lin" valueType="num">
                                      <p:cBhvr additive="base">
                                        <p:cTn id="11" dur="500" fill="hold"/>
                                        <p:tgtEl>
                                          <p:spTgt spid="55316"/>
                                        </p:tgtEl>
                                        <p:attrNameLst>
                                          <p:attrName>ppt_x</p:attrName>
                                        </p:attrNameLst>
                                      </p:cBhvr>
                                      <p:tavLst>
                                        <p:tav tm="0">
                                          <p:val>
                                            <p:strVal val="#ppt_x"/>
                                          </p:val>
                                        </p:tav>
                                        <p:tav tm="100000">
                                          <p:val>
                                            <p:strVal val="#ppt_x"/>
                                          </p:val>
                                        </p:tav>
                                      </p:tavLst>
                                    </p:anim>
                                    <p:anim calcmode="lin" valueType="num">
                                      <p:cBhvr additive="base">
                                        <p:cTn id="12" dur="500" fill="hold"/>
                                        <p:tgtEl>
                                          <p:spTgt spid="55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734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7348" name="Rectangle 2"/>
          <p:cNvSpPr>
            <a:spLocks noGrp="1"/>
          </p:cNvSpPr>
          <p:nvPr>
            <p:ph type="title"/>
          </p:nvPr>
        </p:nvSpPr>
        <p:spPr>
          <a:xfrm>
            <a:off x="685800" y="542925"/>
            <a:ext cx="7772400" cy="515938"/>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三变量的卡诺图</a:t>
            </a:r>
            <a:endParaRPr lang="zh-CN" altLang="en-US" sz="1800" b="1" dirty="0">
              <a:latin typeface="黑体" panose="02010609060101010101" pitchFamily="49" charset="-122"/>
              <a:ea typeface="黑体" panose="02010609060101010101" pitchFamily="49" charset="-122"/>
            </a:endParaRPr>
          </a:p>
        </p:txBody>
      </p:sp>
      <p:sp>
        <p:nvSpPr>
          <p:cNvPr id="57349" name="Rectangle 3"/>
          <p:cNvSpPr>
            <a:spLocks noGrp="1"/>
          </p:cNvSpPr>
          <p:nvPr>
            <p:ph/>
          </p:nvPr>
        </p:nvSpPr>
        <p:spPr>
          <a:xfrm>
            <a:off x="685800" y="2800350"/>
            <a:ext cx="7924800" cy="1643063"/>
          </a:xfrm>
          <a:prstGeom prst="rect">
            <a:avLst/>
          </a:prstGeom>
          <a:noFill/>
          <a:ln w="9525">
            <a:noFill/>
          </a:ln>
        </p:spPr>
        <p:txBody>
          <a:bodyPr/>
          <a:p>
            <a:pPr eaLnBrk="1" hangingPunct="1">
              <a:spcBef>
                <a:spcPct val="50000"/>
              </a:spcBef>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再引入变量</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，将整个区域分为八块，分别对应着</a:t>
            </a:r>
            <a:r>
              <a:rPr lang="en-US" altLang="zh-CN" sz="1800" b="1" dirty="0">
                <a:latin typeface="黑体" panose="02010609060101010101" pitchFamily="49" charset="-122"/>
                <a:ea typeface="黑体" panose="02010609060101010101" pitchFamily="49" charset="-122"/>
              </a:rPr>
              <a:t>8 </a:t>
            </a:r>
            <a:r>
              <a:rPr lang="zh-CN" altLang="en-US" sz="1800" b="1" dirty="0">
                <a:latin typeface="黑体" panose="02010609060101010101" pitchFamily="49" charset="-122"/>
                <a:ea typeface="黑体" panose="02010609060101010101" pitchFamily="49" charset="-122"/>
              </a:rPr>
              <a:t>个最小项</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eaLnBrk="1" hangingPunct="1">
              <a:spcBef>
                <a:spcPct val="50000"/>
              </a:spcBef>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0</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=ABC, m</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=ABC , </a:t>
            </a:r>
            <a:endParaRPr lang="en-US" altLang="zh-CN"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4</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5</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6</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grpSp>
        <p:nvGrpSpPr>
          <p:cNvPr id="57350" name="Group 6"/>
          <p:cNvGrpSpPr/>
          <p:nvPr/>
        </p:nvGrpSpPr>
        <p:grpSpPr>
          <a:xfrm>
            <a:off x="6248400" y="1528763"/>
            <a:ext cx="914400" cy="528637"/>
            <a:chOff x="0" y="0"/>
            <a:chExt cx="576" cy="444"/>
          </a:xfrm>
        </p:grpSpPr>
        <p:sp>
          <p:nvSpPr>
            <p:cNvPr id="57392" name="Text Box 7"/>
            <p:cNvSpPr txBox="1"/>
            <p:nvPr/>
          </p:nvSpPr>
          <p:spPr>
            <a:xfrm>
              <a:off x="144" y="108"/>
              <a:ext cx="43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393" name="Line 8"/>
            <p:cNvSpPr/>
            <p:nvPr/>
          </p:nvSpPr>
          <p:spPr>
            <a:xfrm>
              <a:off x="0" y="0"/>
              <a:ext cx="96" cy="0"/>
            </a:xfrm>
            <a:prstGeom prst="line">
              <a:avLst/>
            </a:prstGeom>
            <a:ln w="6350" cap="flat" cmpd="sng">
              <a:solidFill>
                <a:schemeClr val="tx1"/>
              </a:solidFill>
              <a:prstDash val="solid"/>
              <a:headEnd type="none" w="med" len="med"/>
              <a:tailEnd type="none" w="med" len="med"/>
            </a:ln>
          </p:spPr>
        </p:sp>
        <p:sp>
          <p:nvSpPr>
            <p:cNvPr id="57394" name="Line 9"/>
            <p:cNvSpPr/>
            <p:nvPr/>
          </p:nvSpPr>
          <p:spPr>
            <a:xfrm>
              <a:off x="0" y="444"/>
              <a:ext cx="96" cy="0"/>
            </a:xfrm>
            <a:prstGeom prst="line">
              <a:avLst/>
            </a:prstGeom>
            <a:ln w="6350" cap="flat" cmpd="sng">
              <a:solidFill>
                <a:schemeClr val="tx1"/>
              </a:solidFill>
              <a:prstDash val="solid"/>
              <a:headEnd type="none" w="med" len="med"/>
              <a:tailEnd type="none" w="med" len="med"/>
            </a:ln>
          </p:spPr>
        </p:sp>
        <p:sp>
          <p:nvSpPr>
            <p:cNvPr id="57395" name="Line 10"/>
            <p:cNvSpPr/>
            <p:nvPr/>
          </p:nvSpPr>
          <p:spPr>
            <a:xfrm>
              <a:off x="96" y="9"/>
              <a:ext cx="0" cy="435"/>
            </a:xfrm>
            <a:prstGeom prst="line">
              <a:avLst/>
            </a:prstGeom>
            <a:ln w="6350" cap="flat" cmpd="sng">
              <a:solidFill>
                <a:schemeClr val="tx1"/>
              </a:solidFill>
              <a:prstDash val="solid"/>
              <a:headEnd type="none" w="med" len="med"/>
              <a:tailEnd type="none" w="med" len="med"/>
            </a:ln>
          </p:spPr>
        </p:sp>
      </p:grpSp>
      <p:grpSp>
        <p:nvGrpSpPr>
          <p:cNvPr id="57351" name="Group 11"/>
          <p:cNvGrpSpPr/>
          <p:nvPr/>
        </p:nvGrpSpPr>
        <p:grpSpPr>
          <a:xfrm>
            <a:off x="4419600" y="457200"/>
            <a:ext cx="1676400" cy="457200"/>
            <a:chOff x="0" y="0"/>
            <a:chExt cx="1056" cy="384"/>
          </a:xfrm>
        </p:grpSpPr>
        <p:sp>
          <p:nvSpPr>
            <p:cNvPr id="57388" name="Text Box 12"/>
            <p:cNvSpPr txBox="1"/>
            <p:nvPr/>
          </p:nvSpPr>
          <p:spPr>
            <a:xfrm>
              <a:off x="432"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389" name="Line 13"/>
            <p:cNvSpPr/>
            <p:nvPr/>
          </p:nvSpPr>
          <p:spPr>
            <a:xfrm flipV="1">
              <a:off x="0" y="288"/>
              <a:ext cx="0" cy="96"/>
            </a:xfrm>
            <a:prstGeom prst="line">
              <a:avLst/>
            </a:prstGeom>
            <a:ln w="6350" cap="flat" cmpd="sng">
              <a:solidFill>
                <a:schemeClr val="tx1"/>
              </a:solidFill>
              <a:prstDash val="solid"/>
              <a:headEnd type="none" w="med" len="med"/>
              <a:tailEnd type="none" w="med" len="med"/>
            </a:ln>
          </p:spPr>
        </p:sp>
        <p:sp>
          <p:nvSpPr>
            <p:cNvPr id="57390" name="Line 14"/>
            <p:cNvSpPr/>
            <p:nvPr/>
          </p:nvSpPr>
          <p:spPr>
            <a:xfrm flipV="1">
              <a:off x="1056" y="288"/>
              <a:ext cx="0" cy="96"/>
            </a:xfrm>
            <a:prstGeom prst="line">
              <a:avLst/>
            </a:prstGeom>
            <a:ln w="6350" cap="flat" cmpd="sng">
              <a:solidFill>
                <a:schemeClr val="tx1"/>
              </a:solidFill>
              <a:prstDash val="solid"/>
              <a:headEnd type="none" w="med" len="med"/>
              <a:tailEnd type="none" w="med" len="med"/>
            </a:ln>
          </p:spPr>
        </p:sp>
        <p:sp>
          <p:nvSpPr>
            <p:cNvPr id="57391" name="Line 15"/>
            <p:cNvSpPr/>
            <p:nvPr/>
          </p:nvSpPr>
          <p:spPr>
            <a:xfrm>
              <a:off x="0" y="288"/>
              <a:ext cx="1056" cy="0"/>
            </a:xfrm>
            <a:prstGeom prst="line">
              <a:avLst/>
            </a:prstGeom>
            <a:ln w="6350" cap="flat" cmpd="sng">
              <a:solidFill>
                <a:schemeClr val="tx1"/>
              </a:solidFill>
              <a:prstDash val="solid"/>
              <a:headEnd type="none" w="med" len="med"/>
              <a:tailEnd type="none" w="med" len="med"/>
            </a:ln>
          </p:spPr>
        </p:sp>
      </p:grpSp>
      <p:graphicFrame>
        <p:nvGraphicFramePr>
          <p:cNvPr id="56336" name="Group 16"/>
          <p:cNvGraphicFramePr>
            <a:graphicFrameLocks noGrp="1"/>
          </p:cNvGraphicFramePr>
          <p:nvPr/>
        </p:nvGraphicFramePr>
        <p:xfrm>
          <a:off x="2667000" y="990600"/>
          <a:ext cx="3505200" cy="1066800"/>
        </p:xfrm>
        <a:graphic>
          <a:graphicData uri="http://schemas.openxmlformats.org/drawingml/2006/table">
            <a:tbl>
              <a:tblPr/>
              <a:tblGrid>
                <a:gridCol w="876300"/>
                <a:gridCol w="876300"/>
                <a:gridCol w="876300"/>
                <a:gridCol w="876300"/>
              </a:tblGrid>
              <a:tr h="53340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7369" name="Group 33"/>
          <p:cNvGrpSpPr/>
          <p:nvPr/>
        </p:nvGrpSpPr>
        <p:grpSpPr>
          <a:xfrm>
            <a:off x="3581400" y="2171700"/>
            <a:ext cx="1676400" cy="482600"/>
            <a:chOff x="0" y="0"/>
            <a:chExt cx="1056" cy="406"/>
          </a:xfrm>
        </p:grpSpPr>
        <p:sp>
          <p:nvSpPr>
            <p:cNvPr id="57384" name="Text Box 34"/>
            <p:cNvSpPr txBox="1"/>
            <p:nvPr/>
          </p:nvSpPr>
          <p:spPr>
            <a:xfrm>
              <a:off x="432" y="96"/>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385" name="Line 35"/>
            <p:cNvSpPr/>
            <p:nvPr/>
          </p:nvSpPr>
          <p:spPr>
            <a:xfrm flipV="1">
              <a:off x="0" y="0"/>
              <a:ext cx="0" cy="96"/>
            </a:xfrm>
            <a:prstGeom prst="line">
              <a:avLst/>
            </a:prstGeom>
            <a:ln w="9525" cap="flat" cmpd="sng">
              <a:solidFill>
                <a:srgbClr val="FF0066"/>
              </a:solidFill>
              <a:prstDash val="solid"/>
              <a:headEnd type="none" w="med" len="med"/>
              <a:tailEnd type="none" w="med" len="med"/>
            </a:ln>
          </p:spPr>
        </p:sp>
        <p:sp>
          <p:nvSpPr>
            <p:cNvPr id="57386" name="Line 36"/>
            <p:cNvSpPr/>
            <p:nvPr/>
          </p:nvSpPr>
          <p:spPr>
            <a:xfrm flipV="1">
              <a:off x="1056" y="0"/>
              <a:ext cx="0" cy="96"/>
            </a:xfrm>
            <a:prstGeom prst="line">
              <a:avLst/>
            </a:prstGeom>
            <a:ln w="9525" cap="flat" cmpd="sng">
              <a:solidFill>
                <a:srgbClr val="FF0066"/>
              </a:solidFill>
              <a:prstDash val="solid"/>
              <a:headEnd type="none" w="med" len="med"/>
              <a:tailEnd type="none" w="med" len="med"/>
            </a:ln>
          </p:spPr>
        </p:sp>
        <p:sp>
          <p:nvSpPr>
            <p:cNvPr id="57387" name="Line 37"/>
            <p:cNvSpPr/>
            <p:nvPr/>
          </p:nvSpPr>
          <p:spPr>
            <a:xfrm>
              <a:off x="0" y="96"/>
              <a:ext cx="1056" cy="0"/>
            </a:xfrm>
            <a:prstGeom prst="line">
              <a:avLst/>
            </a:prstGeom>
            <a:ln w="9525" cap="flat" cmpd="sng">
              <a:solidFill>
                <a:srgbClr val="FF0066"/>
              </a:solidFill>
              <a:prstDash val="solid"/>
              <a:headEnd type="none" w="med" len="med"/>
              <a:tailEnd type="none" w="med" len="med"/>
            </a:ln>
          </p:spPr>
        </p:sp>
      </p:grpSp>
      <p:grpSp>
        <p:nvGrpSpPr>
          <p:cNvPr id="57370" name="组合 3"/>
          <p:cNvGrpSpPr/>
          <p:nvPr/>
        </p:nvGrpSpPr>
        <p:grpSpPr>
          <a:xfrm>
            <a:off x="1887538" y="3219450"/>
            <a:ext cx="2738437" cy="404813"/>
            <a:chOff x="0" y="0"/>
            <a:chExt cx="2739492" cy="404752"/>
          </a:xfrm>
        </p:grpSpPr>
        <p:cxnSp>
          <p:nvCxnSpPr>
            <p:cNvPr id="57372" name="直接连接符 2"/>
            <p:cNvCxnSpPr/>
            <p:nvPr/>
          </p:nvCxnSpPr>
          <p:spPr>
            <a:xfrm>
              <a:off x="0" y="0"/>
              <a:ext cx="92546" cy="0"/>
            </a:xfrm>
            <a:prstGeom prst="line">
              <a:avLst/>
            </a:prstGeom>
            <a:ln w="12700" cap="flat" cmpd="sng">
              <a:solidFill>
                <a:schemeClr val="tx1"/>
              </a:solidFill>
              <a:prstDash val="solid"/>
              <a:headEnd type="none" w="med" len="med"/>
              <a:tailEnd type="none" w="med" len="med"/>
            </a:ln>
          </p:spPr>
        </p:cxnSp>
        <p:cxnSp>
          <p:nvCxnSpPr>
            <p:cNvPr id="57373" name="直接连接符 36"/>
            <p:cNvCxnSpPr/>
            <p:nvPr/>
          </p:nvCxnSpPr>
          <p:spPr>
            <a:xfrm>
              <a:off x="126666" y="0"/>
              <a:ext cx="92546" cy="0"/>
            </a:xfrm>
            <a:prstGeom prst="line">
              <a:avLst/>
            </a:prstGeom>
            <a:ln w="12700" cap="flat" cmpd="sng">
              <a:solidFill>
                <a:schemeClr val="tx1"/>
              </a:solidFill>
              <a:prstDash val="solid"/>
              <a:headEnd type="none" w="med" len="med"/>
              <a:tailEnd type="none" w="med" len="med"/>
            </a:ln>
          </p:spPr>
        </p:cxnSp>
        <p:cxnSp>
          <p:nvCxnSpPr>
            <p:cNvPr id="57374" name="直接连接符 37"/>
            <p:cNvCxnSpPr/>
            <p:nvPr/>
          </p:nvCxnSpPr>
          <p:spPr>
            <a:xfrm>
              <a:off x="260736" y="0"/>
              <a:ext cx="92546" cy="0"/>
            </a:xfrm>
            <a:prstGeom prst="line">
              <a:avLst/>
            </a:prstGeom>
            <a:ln w="12700" cap="flat" cmpd="sng">
              <a:solidFill>
                <a:schemeClr val="tx1"/>
              </a:solidFill>
              <a:prstDash val="solid"/>
              <a:headEnd type="none" w="med" len="med"/>
              <a:tailEnd type="none" w="med" len="med"/>
            </a:ln>
          </p:spPr>
        </p:cxnSp>
        <p:cxnSp>
          <p:nvCxnSpPr>
            <p:cNvPr id="57375" name="直接连接符 38"/>
            <p:cNvCxnSpPr/>
            <p:nvPr/>
          </p:nvCxnSpPr>
          <p:spPr>
            <a:xfrm>
              <a:off x="891392" y="0"/>
              <a:ext cx="92546" cy="0"/>
            </a:xfrm>
            <a:prstGeom prst="line">
              <a:avLst/>
            </a:prstGeom>
            <a:ln w="12700" cap="flat" cmpd="sng">
              <a:solidFill>
                <a:schemeClr val="tx1"/>
              </a:solidFill>
              <a:prstDash val="solid"/>
              <a:headEnd type="none" w="med" len="med"/>
              <a:tailEnd type="none" w="med" len="med"/>
            </a:ln>
          </p:spPr>
        </p:cxnSp>
        <p:cxnSp>
          <p:nvCxnSpPr>
            <p:cNvPr id="57376" name="直接连接符 39"/>
            <p:cNvCxnSpPr/>
            <p:nvPr/>
          </p:nvCxnSpPr>
          <p:spPr>
            <a:xfrm>
              <a:off x="1018058" y="0"/>
              <a:ext cx="92546" cy="0"/>
            </a:xfrm>
            <a:prstGeom prst="line">
              <a:avLst/>
            </a:prstGeom>
            <a:ln w="12700" cap="flat" cmpd="sng">
              <a:solidFill>
                <a:schemeClr val="tx1"/>
              </a:solidFill>
              <a:prstDash val="solid"/>
              <a:headEnd type="none" w="med" len="med"/>
              <a:tailEnd type="none" w="med" len="med"/>
            </a:ln>
          </p:spPr>
        </p:cxnSp>
        <p:cxnSp>
          <p:nvCxnSpPr>
            <p:cNvPr id="57377" name="直接连接符 40"/>
            <p:cNvCxnSpPr/>
            <p:nvPr/>
          </p:nvCxnSpPr>
          <p:spPr>
            <a:xfrm>
              <a:off x="247088" y="400984"/>
              <a:ext cx="92546" cy="0"/>
            </a:xfrm>
            <a:prstGeom prst="line">
              <a:avLst/>
            </a:prstGeom>
            <a:ln w="12700" cap="flat" cmpd="sng">
              <a:solidFill>
                <a:schemeClr val="tx1"/>
              </a:solidFill>
              <a:prstDash val="solid"/>
              <a:headEnd type="none" w="med" len="med"/>
              <a:tailEnd type="none" w="med" len="med"/>
            </a:ln>
          </p:spPr>
        </p:cxnSp>
        <p:cxnSp>
          <p:nvCxnSpPr>
            <p:cNvPr id="57378" name="直接连接符 41"/>
            <p:cNvCxnSpPr/>
            <p:nvPr/>
          </p:nvCxnSpPr>
          <p:spPr>
            <a:xfrm>
              <a:off x="1755488" y="0"/>
              <a:ext cx="92546" cy="0"/>
            </a:xfrm>
            <a:prstGeom prst="line">
              <a:avLst/>
            </a:prstGeom>
            <a:ln w="12700" cap="flat" cmpd="sng">
              <a:solidFill>
                <a:schemeClr val="tx1"/>
              </a:solidFill>
              <a:prstDash val="solid"/>
              <a:headEnd type="none" w="med" len="med"/>
              <a:tailEnd type="none" w="med" len="med"/>
            </a:ln>
          </p:spPr>
        </p:cxnSp>
        <p:cxnSp>
          <p:nvCxnSpPr>
            <p:cNvPr id="57379" name="直接连接符 42"/>
            <p:cNvCxnSpPr/>
            <p:nvPr/>
          </p:nvCxnSpPr>
          <p:spPr>
            <a:xfrm>
              <a:off x="983938" y="400984"/>
              <a:ext cx="92546" cy="0"/>
            </a:xfrm>
            <a:prstGeom prst="line">
              <a:avLst/>
            </a:prstGeom>
            <a:ln w="12700" cap="flat" cmpd="sng">
              <a:solidFill>
                <a:schemeClr val="tx1"/>
              </a:solidFill>
              <a:prstDash val="solid"/>
              <a:headEnd type="none" w="med" len="med"/>
              <a:tailEnd type="none" w="med" len="med"/>
            </a:ln>
          </p:spPr>
        </p:cxnSp>
        <p:cxnSp>
          <p:nvCxnSpPr>
            <p:cNvPr id="57380" name="直接连接符 43"/>
            <p:cNvCxnSpPr/>
            <p:nvPr/>
          </p:nvCxnSpPr>
          <p:spPr>
            <a:xfrm>
              <a:off x="2016224" y="0"/>
              <a:ext cx="92546" cy="0"/>
            </a:xfrm>
            <a:prstGeom prst="line">
              <a:avLst/>
            </a:prstGeom>
            <a:ln w="12700" cap="flat" cmpd="sng">
              <a:solidFill>
                <a:schemeClr val="tx1"/>
              </a:solidFill>
              <a:prstDash val="solid"/>
              <a:headEnd type="none" w="med" len="med"/>
              <a:tailEnd type="none" w="med" len="med"/>
            </a:ln>
          </p:spPr>
        </p:cxnSp>
        <p:cxnSp>
          <p:nvCxnSpPr>
            <p:cNvPr id="57381" name="直接连接符 44"/>
            <p:cNvCxnSpPr/>
            <p:nvPr/>
          </p:nvCxnSpPr>
          <p:spPr>
            <a:xfrm>
              <a:off x="1996005" y="400984"/>
              <a:ext cx="92546" cy="0"/>
            </a:xfrm>
            <a:prstGeom prst="line">
              <a:avLst/>
            </a:prstGeom>
            <a:ln w="12700" cap="flat" cmpd="sng">
              <a:solidFill>
                <a:schemeClr val="tx1"/>
              </a:solidFill>
              <a:prstDash val="solid"/>
              <a:headEnd type="none" w="med" len="med"/>
              <a:tailEnd type="none" w="med" len="med"/>
            </a:ln>
          </p:spPr>
        </p:cxnSp>
        <p:cxnSp>
          <p:nvCxnSpPr>
            <p:cNvPr id="57382" name="直接连接符 45"/>
            <p:cNvCxnSpPr/>
            <p:nvPr/>
          </p:nvCxnSpPr>
          <p:spPr>
            <a:xfrm>
              <a:off x="2646946" y="0"/>
              <a:ext cx="92546" cy="0"/>
            </a:xfrm>
            <a:prstGeom prst="line">
              <a:avLst/>
            </a:prstGeom>
            <a:ln w="12700" cap="flat" cmpd="sng">
              <a:solidFill>
                <a:schemeClr val="tx1"/>
              </a:solidFill>
              <a:prstDash val="solid"/>
              <a:headEnd type="none" w="med" len="med"/>
              <a:tailEnd type="none" w="med" len="med"/>
            </a:ln>
          </p:spPr>
        </p:cxnSp>
        <p:cxnSp>
          <p:nvCxnSpPr>
            <p:cNvPr id="57383" name="直接连接符 47"/>
            <p:cNvCxnSpPr/>
            <p:nvPr/>
          </p:nvCxnSpPr>
          <p:spPr>
            <a:xfrm>
              <a:off x="99370" y="404752"/>
              <a:ext cx="92546" cy="0"/>
            </a:xfrm>
            <a:prstGeom prst="line">
              <a:avLst/>
            </a:prstGeom>
            <a:ln w="12700" cap="flat" cmpd="sng">
              <a:solidFill>
                <a:schemeClr val="tx1"/>
              </a:solidFill>
              <a:prstDash val="solid"/>
              <a:headEnd type="none" w="med" len="med"/>
              <a:tailEnd type="none" w="med" len="med"/>
            </a:ln>
          </p:spPr>
        </p:cxnSp>
      </p:grpSp>
      <p:pic>
        <p:nvPicPr>
          <p:cNvPr id="57371" name="图片 1"/>
          <p:cNvPicPr>
            <a:picLocks noChangeAspect="1"/>
          </p:cNvPicPr>
          <p:nvPr/>
        </p:nvPicPr>
        <p:blipFill>
          <a:blip r:embed="rId1"/>
          <a:stretch>
            <a:fillRect/>
          </a:stretch>
        </p:blipFill>
        <p:spPr>
          <a:xfrm>
            <a:off x="1503363" y="3168650"/>
            <a:ext cx="3883025" cy="919163"/>
          </a:xfrm>
          <a:prstGeom prst="rect">
            <a:avLst/>
          </a:prstGeom>
          <a:noFill/>
          <a:ln w="9525">
            <a:noFill/>
          </a:ln>
        </p:spPr>
      </p:pic>
    </p:spTree>
  </p:cSld>
  <p:clrMapOvr>
    <a:masterClrMapping/>
  </p:clrMapOvr>
  <p:transition advTm="2000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837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8372" name="Rectangle 2"/>
          <p:cNvSpPr>
            <a:spLocks noGrp="1"/>
          </p:cNvSpPr>
          <p:nvPr>
            <p:ph type="title"/>
          </p:nvPr>
        </p:nvSpPr>
        <p:spPr>
          <a:xfrm>
            <a:off x="428625" y="617538"/>
            <a:ext cx="3810000" cy="51435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四变量的卡诺图</a:t>
            </a:r>
            <a:endParaRPr lang="zh-CN" altLang="en-US" sz="1800" b="1" dirty="0">
              <a:latin typeface="黑体" panose="02010609060101010101" pitchFamily="49" charset="-122"/>
              <a:ea typeface="黑体" panose="02010609060101010101" pitchFamily="49" charset="-122"/>
            </a:endParaRPr>
          </a:p>
        </p:txBody>
      </p:sp>
      <p:sp>
        <p:nvSpPr>
          <p:cNvPr id="58373" name="Rectangle 3"/>
          <p:cNvSpPr>
            <a:spLocks noGrp="1"/>
          </p:cNvSpPr>
          <p:nvPr>
            <p:ph/>
          </p:nvPr>
        </p:nvSpPr>
        <p:spPr>
          <a:xfrm>
            <a:off x="973138" y="3076575"/>
            <a:ext cx="8135937" cy="2057400"/>
          </a:xfrm>
          <a:prstGeom prst="rect">
            <a:avLst/>
          </a:prstGeom>
          <a:noFill/>
          <a:ln w="9525">
            <a:noFill/>
          </a:ln>
        </p:spPr>
        <p:txBody>
          <a:bodyPr/>
          <a:p>
            <a:pPr eaLnBrk="1" hangingPunct="1">
              <a:spcBef>
                <a:spcPct val="50000"/>
              </a:spcBef>
              <a:buNone/>
            </a:pPr>
            <a:r>
              <a:rPr lang="zh-CN" altLang="en-US" sz="1800" dirty="0">
                <a:latin typeface="黑体" panose="02010609060101010101" pitchFamily="49" charset="-122"/>
                <a:ea typeface="黑体" panose="02010609060101010101" pitchFamily="49" charset="-122"/>
              </a:rPr>
              <a:t>      四变量</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的卡诺图，分别对应着</a:t>
            </a:r>
            <a:r>
              <a:rPr lang="en-US" altLang="zh-CN" sz="1800" b="1" dirty="0">
                <a:latin typeface="黑体" panose="02010609060101010101" pitchFamily="49" charset="-122"/>
                <a:ea typeface="黑体" panose="02010609060101010101" pitchFamily="49" charset="-122"/>
              </a:rPr>
              <a:t>16</a:t>
            </a:r>
            <a:r>
              <a:rPr lang="zh-CN" altLang="en-US" sz="1800" b="1" dirty="0">
                <a:latin typeface="黑体" panose="02010609060101010101" pitchFamily="49" charset="-122"/>
                <a:ea typeface="黑体" panose="02010609060101010101" pitchFamily="49" charset="-122"/>
              </a:rPr>
              <a:t>个最小项</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0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 </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2 </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3 </a:t>
            </a:r>
            <a:r>
              <a:rPr lang="en-US" altLang="zh-CN" sz="1800" dirty="0">
                <a:latin typeface="黑体" panose="02010609060101010101" pitchFamily="49" charset="-122"/>
                <a:ea typeface="黑体" panose="02010609060101010101" pitchFamily="49" charset="-122"/>
              </a:rPr>
              <a:t>= ABCD </a:t>
            </a:r>
            <a:endParaRPr lang="en-US" altLang="zh-CN"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4  </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5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6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 </a:t>
            </a:r>
            <a:r>
              <a:rPr lang="en-US" altLang="zh-CN" sz="1800" dirty="0">
                <a:latin typeface="黑体" panose="02010609060101010101" pitchFamily="49" charset="-122"/>
                <a:ea typeface="黑体" panose="02010609060101010101" pitchFamily="49" charset="-122"/>
              </a:rPr>
              <a:t>= ABCD </a:t>
            </a:r>
            <a:endParaRPr lang="en-US" altLang="zh-CN"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8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9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10</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11</a:t>
            </a:r>
            <a:r>
              <a:rPr lang="en-US" altLang="zh-CN" sz="1800" dirty="0">
                <a:latin typeface="黑体" panose="02010609060101010101" pitchFamily="49" charset="-122"/>
                <a:ea typeface="黑体" panose="02010609060101010101" pitchFamily="49" charset="-122"/>
              </a:rPr>
              <a:t>= ABCD</a:t>
            </a:r>
            <a:endParaRPr lang="zh-CN" altLang="en-US"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12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13</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14</a:t>
            </a:r>
            <a:r>
              <a:rPr lang="en-US" altLang="zh-CN" sz="1800" dirty="0">
                <a:latin typeface="黑体" panose="02010609060101010101" pitchFamily="49" charset="-122"/>
                <a:ea typeface="黑体" panose="02010609060101010101" pitchFamily="49" charset="-122"/>
              </a:rPr>
              <a:t>= ABCD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15</a:t>
            </a:r>
            <a:r>
              <a:rPr lang="en-US" altLang="zh-CN" sz="1800" dirty="0">
                <a:latin typeface="黑体" panose="02010609060101010101" pitchFamily="49" charset="-122"/>
                <a:ea typeface="黑体" panose="02010609060101010101" pitchFamily="49" charset="-122"/>
              </a:rPr>
              <a:t>= ABCD</a:t>
            </a:r>
            <a:endParaRPr lang="en-US" altLang="zh-CN" sz="1800" dirty="0">
              <a:latin typeface="黑体" panose="02010609060101010101" pitchFamily="49" charset="-122"/>
              <a:ea typeface="黑体" panose="02010609060101010101" pitchFamily="49" charset="-122"/>
            </a:endParaRPr>
          </a:p>
        </p:txBody>
      </p:sp>
      <p:graphicFrame>
        <p:nvGraphicFramePr>
          <p:cNvPr id="57350" name="Group 6"/>
          <p:cNvGraphicFramePr>
            <a:graphicFrameLocks noGrp="1"/>
          </p:cNvGraphicFramePr>
          <p:nvPr/>
        </p:nvGraphicFramePr>
        <p:xfrm>
          <a:off x="2743200" y="995363"/>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8401" name="Group 38"/>
          <p:cNvGrpSpPr/>
          <p:nvPr/>
        </p:nvGrpSpPr>
        <p:grpSpPr>
          <a:xfrm>
            <a:off x="4419600" y="481013"/>
            <a:ext cx="1600200" cy="457200"/>
            <a:chOff x="0" y="0"/>
            <a:chExt cx="1008" cy="384"/>
          </a:xfrm>
        </p:grpSpPr>
        <p:sp>
          <p:nvSpPr>
            <p:cNvPr id="58482" name="Line 39"/>
            <p:cNvSpPr/>
            <p:nvPr/>
          </p:nvSpPr>
          <p:spPr>
            <a:xfrm>
              <a:off x="0" y="240"/>
              <a:ext cx="1008" cy="0"/>
            </a:xfrm>
            <a:prstGeom prst="line">
              <a:avLst/>
            </a:prstGeom>
            <a:ln w="6350" cap="flat" cmpd="sng">
              <a:solidFill>
                <a:schemeClr val="tx1"/>
              </a:solidFill>
              <a:prstDash val="solid"/>
              <a:headEnd type="none" w="med" len="med"/>
              <a:tailEnd type="none" w="med" len="med"/>
            </a:ln>
          </p:spPr>
        </p:sp>
        <p:sp>
          <p:nvSpPr>
            <p:cNvPr id="58483" name="Line 40"/>
            <p:cNvSpPr/>
            <p:nvPr/>
          </p:nvSpPr>
          <p:spPr>
            <a:xfrm>
              <a:off x="0" y="240"/>
              <a:ext cx="0" cy="144"/>
            </a:xfrm>
            <a:prstGeom prst="line">
              <a:avLst/>
            </a:prstGeom>
            <a:ln w="6350" cap="flat" cmpd="sng">
              <a:solidFill>
                <a:schemeClr val="tx1"/>
              </a:solidFill>
              <a:prstDash val="solid"/>
              <a:headEnd type="none" w="med" len="med"/>
              <a:tailEnd type="none" w="med" len="med"/>
            </a:ln>
          </p:spPr>
        </p:sp>
        <p:sp>
          <p:nvSpPr>
            <p:cNvPr id="58484" name="Line 41"/>
            <p:cNvSpPr/>
            <p:nvPr/>
          </p:nvSpPr>
          <p:spPr>
            <a:xfrm>
              <a:off x="1008" y="240"/>
              <a:ext cx="0" cy="144"/>
            </a:xfrm>
            <a:prstGeom prst="line">
              <a:avLst/>
            </a:prstGeom>
            <a:ln w="6350" cap="flat" cmpd="sng">
              <a:solidFill>
                <a:schemeClr val="tx1"/>
              </a:solidFill>
              <a:prstDash val="solid"/>
              <a:headEnd type="none" w="med" len="med"/>
              <a:tailEnd type="none" w="med" len="med"/>
            </a:ln>
          </p:spPr>
        </p:sp>
        <p:sp>
          <p:nvSpPr>
            <p:cNvPr id="58485" name="Text Box 42"/>
            <p:cNvSpPr txBox="1"/>
            <p:nvPr/>
          </p:nvSpPr>
          <p:spPr>
            <a:xfrm>
              <a:off x="384"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8402" name="Group 43"/>
          <p:cNvGrpSpPr/>
          <p:nvPr/>
        </p:nvGrpSpPr>
        <p:grpSpPr>
          <a:xfrm>
            <a:off x="3581400" y="2709863"/>
            <a:ext cx="1600200" cy="447675"/>
            <a:chOff x="0" y="0"/>
            <a:chExt cx="1008" cy="375"/>
          </a:xfrm>
        </p:grpSpPr>
        <p:sp>
          <p:nvSpPr>
            <p:cNvPr id="58478" name="Line 44"/>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58479" name="Line 45"/>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58480" name="Line 46"/>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58481" name="Text Box 47"/>
            <p:cNvSpPr txBox="1"/>
            <p:nvPr/>
          </p:nvSpPr>
          <p:spPr>
            <a:xfrm>
              <a:off x="384" y="65"/>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8403" name="Group 48"/>
          <p:cNvGrpSpPr/>
          <p:nvPr/>
        </p:nvGrpSpPr>
        <p:grpSpPr>
          <a:xfrm>
            <a:off x="6019800" y="1852613"/>
            <a:ext cx="762000" cy="857250"/>
            <a:chOff x="0" y="0"/>
            <a:chExt cx="480" cy="720"/>
          </a:xfrm>
        </p:grpSpPr>
        <p:sp>
          <p:nvSpPr>
            <p:cNvPr id="58474" name="Line 49"/>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58475" name="Line 50"/>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58476" name="Line 51"/>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58477" name="Text Box 52"/>
            <p:cNvSpPr txBox="1"/>
            <p:nvPr/>
          </p:nvSpPr>
          <p:spPr>
            <a:xfrm>
              <a:off x="144"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8404" name="Group 53"/>
          <p:cNvGrpSpPr/>
          <p:nvPr/>
        </p:nvGrpSpPr>
        <p:grpSpPr>
          <a:xfrm>
            <a:off x="2133600" y="1452563"/>
            <a:ext cx="609600" cy="857250"/>
            <a:chOff x="0" y="0"/>
            <a:chExt cx="384" cy="720"/>
          </a:xfrm>
        </p:grpSpPr>
        <p:sp>
          <p:nvSpPr>
            <p:cNvPr id="58470" name="Line 54"/>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58471" name="Line 55"/>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58472" name="Line 56"/>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58473" name="Text Box 57"/>
            <p:cNvSpPr txBox="1"/>
            <p:nvPr/>
          </p:nvSpPr>
          <p:spPr>
            <a:xfrm>
              <a:off x="0"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8405" name="Group 125"/>
          <p:cNvGrpSpPr/>
          <p:nvPr/>
        </p:nvGrpSpPr>
        <p:grpSpPr>
          <a:xfrm>
            <a:off x="1447800" y="3619500"/>
            <a:ext cx="6324600" cy="1230313"/>
            <a:chOff x="0" y="0"/>
            <a:chExt cx="3984" cy="1033"/>
          </a:xfrm>
        </p:grpSpPr>
        <p:sp>
          <p:nvSpPr>
            <p:cNvPr id="58440" name="Line 59"/>
            <p:cNvSpPr/>
            <p:nvPr/>
          </p:nvSpPr>
          <p:spPr>
            <a:xfrm>
              <a:off x="0" y="0"/>
              <a:ext cx="122" cy="1"/>
            </a:xfrm>
            <a:prstGeom prst="line">
              <a:avLst/>
            </a:prstGeom>
            <a:ln w="9525" cap="flat" cmpd="sng">
              <a:solidFill>
                <a:srgbClr val="FFFFFF"/>
              </a:solidFill>
              <a:prstDash val="solid"/>
              <a:headEnd type="none" w="med" len="med"/>
              <a:tailEnd type="none" w="med" len="med"/>
            </a:ln>
          </p:spPr>
        </p:sp>
        <p:sp>
          <p:nvSpPr>
            <p:cNvPr id="58441" name="Line 60"/>
            <p:cNvSpPr/>
            <p:nvPr/>
          </p:nvSpPr>
          <p:spPr>
            <a:xfrm>
              <a:off x="432" y="0"/>
              <a:ext cx="122" cy="1"/>
            </a:xfrm>
            <a:prstGeom prst="line">
              <a:avLst/>
            </a:prstGeom>
            <a:ln w="9525" cap="flat" cmpd="sng">
              <a:solidFill>
                <a:srgbClr val="FFFFFF"/>
              </a:solidFill>
              <a:prstDash val="solid"/>
              <a:headEnd type="none" w="med" len="med"/>
              <a:tailEnd type="none" w="med" len="med"/>
            </a:ln>
          </p:spPr>
        </p:sp>
        <p:sp>
          <p:nvSpPr>
            <p:cNvPr id="58442" name="Line 61"/>
            <p:cNvSpPr/>
            <p:nvPr/>
          </p:nvSpPr>
          <p:spPr>
            <a:xfrm>
              <a:off x="132" y="0"/>
              <a:ext cx="122" cy="1"/>
            </a:xfrm>
            <a:prstGeom prst="line">
              <a:avLst/>
            </a:prstGeom>
            <a:ln w="9525" cap="flat" cmpd="sng">
              <a:solidFill>
                <a:srgbClr val="FFFFFF"/>
              </a:solidFill>
              <a:prstDash val="solid"/>
              <a:headEnd type="none" w="med" len="med"/>
              <a:tailEnd type="none" w="med" len="med"/>
            </a:ln>
          </p:spPr>
        </p:sp>
        <p:sp>
          <p:nvSpPr>
            <p:cNvPr id="58443" name="Line 62"/>
            <p:cNvSpPr/>
            <p:nvPr/>
          </p:nvSpPr>
          <p:spPr>
            <a:xfrm>
              <a:off x="276" y="0"/>
              <a:ext cx="122" cy="1"/>
            </a:xfrm>
            <a:prstGeom prst="line">
              <a:avLst/>
            </a:prstGeom>
            <a:ln w="9525" cap="flat" cmpd="sng">
              <a:solidFill>
                <a:srgbClr val="FFFFFF"/>
              </a:solidFill>
              <a:prstDash val="solid"/>
              <a:headEnd type="none" w="med" len="med"/>
              <a:tailEnd type="none" w="med" len="med"/>
            </a:ln>
          </p:spPr>
        </p:sp>
        <p:sp>
          <p:nvSpPr>
            <p:cNvPr id="58444" name="Line 73"/>
            <p:cNvSpPr/>
            <p:nvPr/>
          </p:nvSpPr>
          <p:spPr>
            <a:xfrm>
              <a:off x="1212" y="1"/>
              <a:ext cx="122" cy="1"/>
            </a:xfrm>
            <a:prstGeom prst="line">
              <a:avLst/>
            </a:prstGeom>
            <a:ln w="9525" cap="flat" cmpd="sng">
              <a:solidFill>
                <a:srgbClr val="FFFFFF"/>
              </a:solidFill>
              <a:prstDash val="solid"/>
              <a:headEnd type="none" w="med" len="med"/>
              <a:tailEnd type="none" w="med" len="med"/>
            </a:ln>
          </p:spPr>
        </p:sp>
        <p:sp>
          <p:nvSpPr>
            <p:cNvPr id="58445" name="Line 75"/>
            <p:cNvSpPr/>
            <p:nvPr/>
          </p:nvSpPr>
          <p:spPr>
            <a:xfrm>
              <a:off x="1344" y="1"/>
              <a:ext cx="122" cy="1"/>
            </a:xfrm>
            <a:prstGeom prst="line">
              <a:avLst/>
            </a:prstGeom>
            <a:ln w="9525" cap="flat" cmpd="sng">
              <a:solidFill>
                <a:srgbClr val="FFFFFF"/>
              </a:solidFill>
              <a:prstDash val="solid"/>
              <a:headEnd type="none" w="med" len="med"/>
              <a:tailEnd type="none" w="med" len="med"/>
            </a:ln>
          </p:spPr>
        </p:sp>
        <p:sp>
          <p:nvSpPr>
            <p:cNvPr id="58446" name="Line 76"/>
            <p:cNvSpPr/>
            <p:nvPr/>
          </p:nvSpPr>
          <p:spPr>
            <a:xfrm>
              <a:off x="1488" y="1"/>
              <a:ext cx="122" cy="1"/>
            </a:xfrm>
            <a:prstGeom prst="line">
              <a:avLst/>
            </a:prstGeom>
            <a:ln w="9525" cap="flat" cmpd="sng">
              <a:solidFill>
                <a:srgbClr val="FFFFFF"/>
              </a:solidFill>
              <a:prstDash val="solid"/>
              <a:headEnd type="none" w="med" len="med"/>
              <a:tailEnd type="none" w="med" len="med"/>
            </a:ln>
          </p:spPr>
        </p:sp>
        <p:sp>
          <p:nvSpPr>
            <p:cNvPr id="58447" name="Line 77"/>
            <p:cNvSpPr/>
            <p:nvPr/>
          </p:nvSpPr>
          <p:spPr>
            <a:xfrm>
              <a:off x="2412" y="1"/>
              <a:ext cx="122" cy="1"/>
            </a:xfrm>
            <a:prstGeom prst="line">
              <a:avLst/>
            </a:prstGeom>
            <a:ln w="9525" cap="flat" cmpd="sng">
              <a:solidFill>
                <a:srgbClr val="FFFFFF"/>
              </a:solidFill>
              <a:prstDash val="solid"/>
              <a:headEnd type="none" w="med" len="med"/>
              <a:tailEnd type="none" w="med" len="med"/>
            </a:ln>
          </p:spPr>
        </p:sp>
        <p:sp>
          <p:nvSpPr>
            <p:cNvPr id="58448" name="Line 78"/>
            <p:cNvSpPr/>
            <p:nvPr/>
          </p:nvSpPr>
          <p:spPr>
            <a:xfrm>
              <a:off x="2832" y="1"/>
              <a:ext cx="122" cy="1"/>
            </a:xfrm>
            <a:prstGeom prst="line">
              <a:avLst/>
            </a:prstGeom>
            <a:ln w="9525" cap="flat" cmpd="sng">
              <a:solidFill>
                <a:srgbClr val="FFFFFF"/>
              </a:solidFill>
              <a:prstDash val="solid"/>
              <a:headEnd type="none" w="med" len="med"/>
              <a:tailEnd type="none" w="med" len="med"/>
            </a:ln>
          </p:spPr>
        </p:sp>
        <p:sp>
          <p:nvSpPr>
            <p:cNvPr id="58449" name="Line 79"/>
            <p:cNvSpPr/>
            <p:nvPr/>
          </p:nvSpPr>
          <p:spPr>
            <a:xfrm>
              <a:off x="2556" y="1"/>
              <a:ext cx="122" cy="1"/>
            </a:xfrm>
            <a:prstGeom prst="line">
              <a:avLst/>
            </a:prstGeom>
            <a:ln w="9525" cap="flat" cmpd="sng">
              <a:solidFill>
                <a:srgbClr val="FFFFFF"/>
              </a:solidFill>
              <a:prstDash val="solid"/>
              <a:headEnd type="none" w="med" len="med"/>
              <a:tailEnd type="none" w="med" len="med"/>
            </a:ln>
          </p:spPr>
        </p:sp>
        <p:sp>
          <p:nvSpPr>
            <p:cNvPr id="58450" name="Line 81"/>
            <p:cNvSpPr/>
            <p:nvPr/>
          </p:nvSpPr>
          <p:spPr>
            <a:xfrm>
              <a:off x="3646" y="1"/>
              <a:ext cx="122" cy="1"/>
            </a:xfrm>
            <a:prstGeom prst="line">
              <a:avLst/>
            </a:prstGeom>
            <a:ln w="9525" cap="flat" cmpd="sng">
              <a:solidFill>
                <a:srgbClr val="FFFFFF"/>
              </a:solidFill>
              <a:prstDash val="solid"/>
              <a:headEnd type="none" w="med" len="med"/>
              <a:tailEnd type="none" w="med" len="med"/>
            </a:ln>
          </p:spPr>
        </p:sp>
        <p:sp>
          <p:nvSpPr>
            <p:cNvPr id="58451" name="Line 83"/>
            <p:cNvSpPr/>
            <p:nvPr/>
          </p:nvSpPr>
          <p:spPr>
            <a:xfrm>
              <a:off x="3778" y="1"/>
              <a:ext cx="122" cy="1"/>
            </a:xfrm>
            <a:prstGeom prst="line">
              <a:avLst/>
            </a:prstGeom>
            <a:ln w="9525" cap="flat" cmpd="sng">
              <a:solidFill>
                <a:srgbClr val="FFFFFF"/>
              </a:solidFill>
              <a:prstDash val="solid"/>
              <a:headEnd type="none" w="med" len="med"/>
              <a:tailEnd type="none" w="med" len="med"/>
            </a:ln>
          </p:spPr>
        </p:sp>
        <p:sp>
          <p:nvSpPr>
            <p:cNvPr id="58452" name="Line 85"/>
            <p:cNvSpPr/>
            <p:nvPr/>
          </p:nvSpPr>
          <p:spPr>
            <a:xfrm>
              <a:off x="0" y="347"/>
              <a:ext cx="122" cy="1"/>
            </a:xfrm>
            <a:prstGeom prst="line">
              <a:avLst/>
            </a:prstGeom>
            <a:ln w="9525" cap="flat" cmpd="sng">
              <a:solidFill>
                <a:srgbClr val="FFFFFF"/>
              </a:solidFill>
              <a:prstDash val="solid"/>
              <a:headEnd type="none" w="med" len="med"/>
              <a:tailEnd type="none" w="med" len="med"/>
            </a:ln>
          </p:spPr>
        </p:sp>
        <p:sp>
          <p:nvSpPr>
            <p:cNvPr id="58453" name="Line 86"/>
            <p:cNvSpPr/>
            <p:nvPr/>
          </p:nvSpPr>
          <p:spPr>
            <a:xfrm>
              <a:off x="396" y="347"/>
              <a:ext cx="122" cy="1"/>
            </a:xfrm>
            <a:prstGeom prst="line">
              <a:avLst/>
            </a:prstGeom>
            <a:ln w="9525" cap="flat" cmpd="sng">
              <a:solidFill>
                <a:srgbClr val="FFFFFF"/>
              </a:solidFill>
              <a:prstDash val="solid"/>
              <a:headEnd type="none" w="med" len="med"/>
              <a:tailEnd type="none" w="med" len="med"/>
            </a:ln>
          </p:spPr>
        </p:sp>
        <p:sp>
          <p:nvSpPr>
            <p:cNvPr id="58454" name="Line 88"/>
            <p:cNvSpPr/>
            <p:nvPr/>
          </p:nvSpPr>
          <p:spPr>
            <a:xfrm>
              <a:off x="264" y="347"/>
              <a:ext cx="122" cy="1"/>
            </a:xfrm>
            <a:prstGeom prst="line">
              <a:avLst/>
            </a:prstGeom>
            <a:ln w="9525" cap="flat" cmpd="sng">
              <a:solidFill>
                <a:srgbClr val="FFFFFF"/>
              </a:solidFill>
              <a:prstDash val="solid"/>
              <a:headEnd type="none" w="med" len="med"/>
              <a:tailEnd type="none" w="med" len="med"/>
            </a:ln>
          </p:spPr>
        </p:sp>
        <p:sp>
          <p:nvSpPr>
            <p:cNvPr id="58455" name="Line 89"/>
            <p:cNvSpPr/>
            <p:nvPr/>
          </p:nvSpPr>
          <p:spPr>
            <a:xfrm>
              <a:off x="1236" y="348"/>
              <a:ext cx="122" cy="1"/>
            </a:xfrm>
            <a:prstGeom prst="line">
              <a:avLst/>
            </a:prstGeom>
            <a:ln w="9525" cap="flat" cmpd="sng">
              <a:solidFill>
                <a:srgbClr val="FFFFFF"/>
              </a:solidFill>
              <a:prstDash val="solid"/>
              <a:headEnd type="none" w="med" len="med"/>
              <a:tailEnd type="none" w="med" len="med"/>
            </a:ln>
          </p:spPr>
        </p:sp>
        <p:sp>
          <p:nvSpPr>
            <p:cNvPr id="58456" name="Line 92"/>
            <p:cNvSpPr/>
            <p:nvPr/>
          </p:nvSpPr>
          <p:spPr>
            <a:xfrm>
              <a:off x="1476" y="348"/>
              <a:ext cx="122" cy="1"/>
            </a:xfrm>
            <a:prstGeom prst="line">
              <a:avLst/>
            </a:prstGeom>
            <a:ln w="9525" cap="flat" cmpd="sng">
              <a:solidFill>
                <a:srgbClr val="FFFFFF"/>
              </a:solidFill>
              <a:prstDash val="solid"/>
              <a:headEnd type="none" w="med" len="med"/>
              <a:tailEnd type="none" w="med" len="med"/>
            </a:ln>
          </p:spPr>
        </p:sp>
        <p:sp>
          <p:nvSpPr>
            <p:cNvPr id="58457" name="Line 93"/>
            <p:cNvSpPr/>
            <p:nvPr/>
          </p:nvSpPr>
          <p:spPr>
            <a:xfrm>
              <a:off x="2470" y="348"/>
              <a:ext cx="122" cy="1"/>
            </a:xfrm>
            <a:prstGeom prst="line">
              <a:avLst/>
            </a:prstGeom>
            <a:ln w="9525" cap="flat" cmpd="sng">
              <a:solidFill>
                <a:srgbClr val="FFFFFF"/>
              </a:solidFill>
              <a:prstDash val="solid"/>
              <a:headEnd type="none" w="med" len="med"/>
              <a:tailEnd type="none" w="med" len="med"/>
            </a:ln>
          </p:spPr>
        </p:sp>
        <p:sp>
          <p:nvSpPr>
            <p:cNvPr id="58458" name="Line 94"/>
            <p:cNvSpPr/>
            <p:nvPr/>
          </p:nvSpPr>
          <p:spPr>
            <a:xfrm>
              <a:off x="2854" y="348"/>
              <a:ext cx="122" cy="1"/>
            </a:xfrm>
            <a:prstGeom prst="line">
              <a:avLst/>
            </a:prstGeom>
            <a:ln w="9525" cap="flat" cmpd="sng">
              <a:solidFill>
                <a:srgbClr val="FFFFFF"/>
              </a:solidFill>
              <a:prstDash val="solid"/>
              <a:headEnd type="none" w="med" len="med"/>
              <a:tailEnd type="none" w="med" len="med"/>
            </a:ln>
          </p:spPr>
        </p:sp>
        <p:sp>
          <p:nvSpPr>
            <p:cNvPr id="58459" name="Line 97"/>
            <p:cNvSpPr/>
            <p:nvPr/>
          </p:nvSpPr>
          <p:spPr>
            <a:xfrm>
              <a:off x="3696" y="348"/>
              <a:ext cx="122" cy="1"/>
            </a:xfrm>
            <a:prstGeom prst="line">
              <a:avLst/>
            </a:prstGeom>
            <a:ln w="9525" cap="flat" cmpd="sng">
              <a:solidFill>
                <a:srgbClr val="FFFFFF"/>
              </a:solidFill>
              <a:prstDash val="solid"/>
              <a:headEnd type="none" w="med" len="med"/>
              <a:tailEnd type="none" w="med" len="med"/>
            </a:ln>
          </p:spPr>
        </p:sp>
        <p:sp>
          <p:nvSpPr>
            <p:cNvPr id="58460" name="Line 102"/>
            <p:cNvSpPr/>
            <p:nvPr/>
          </p:nvSpPr>
          <p:spPr>
            <a:xfrm>
              <a:off x="420" y="683"/>
              <a:ext cx="122" cy="1"/>
            </a:xfrm>
            <a:prstGeom prst="line">
              <a:avLst/>
            </a:prstGeom>
            <a:ln w="9525" cap="flat" cmpd="sng">
              <a:solidFill>
                <a:srgbClr val="FFFFFF"/>
              </a:solidFill>
              <a:prstDash val="solid"/>
              <a:headEnd type="none" w="med" len="med"/>
              <a:tailEnd type="none" w="med" len="med"/>
            </a:ln>
          </p:spPr>
        </p:sp>
        <p:sp>
          <p:nvSpPr>
            <p:cNvPr id="58461" name="Line 104"/>
            <p:cNvSpPr/>
            <p:nvPr/>
          </p:nvSpPr>
          <p:spPr>
            <a:xfrm>
              <a:off x="276" y="683"/>
              <a:ext cx="122" cy="1"/>
            </a:xfrm>
            <a:prstGeom prst="line">
              <a:avLst/>
            </a:prstGeom>
            <a:ln w="9525" cap="flat" cmpd="sng">
              <a:solidFill>
                <a:srgbClr val="FFFFFF"/>
              </a:solidFill>
              <a:prstDash val="solid"/>
              <a:headEnd type="none" w="med" len="med"/>
              <a:tailEnd type="none" w="med" len="med"/>
            </a:ln>
          </p:spPr>
        </p:sp>
        <p:sp>
          <p:nvSpPr>
            <p:cNvPr id="58462" name="Line 107"/>
            <p:cNvSpPr/>
            <p:nvPr/>
          </p:nvSpPr>
          <p:spPr>
            <a:xfrm>
              <a:off x="1380" y="684"/>
              <a:ext cx="122" cy="1"/>
            </a:xfrm>
            <a:prstGeom prst="line">
              <a:avLst/>
            </a:prstGeom>
            <a:ln w="9525" cap="flat" cmpd="sng">
              <a:solidFill>
                <a:srgbClr val="FFFFFF"/>
              </a:solidFill>
              <a:prstDash val="solid"/>
              <a:headEnd type="none" w="med" len="med"/>
              <a:tailEnd type="none" w="med" len="med"/>
            </a:ln>
          </p:spPr>
        </p:sp>
        <p:sp>
          <p:nvSpPr>
            <p:cNvPr id="58463" name="Line 110"/>
            <p:cNvSpPr/>
            <p:nvPr/>
          </p:nvSpPr>
          <p:spPr>
            <a:xfrm>
              <a:off x="2892" y="684"/>
              <a:ext cx="122" cy="1"/>
            </a:xfrm>
            <a:prstGeom prst="line">
              <a:avLst/>
            </a:prstGeom>
            <a:ln w="9525" cap="flat" cmpd="sng">
              <a:solidFill>
                <a:srgbClr val="FFFFFF"/>
              </a:solidFill>
              <a:prstDash val="solid"/>
              <a:headEnd type="none" w="med" len="med"/>
              <a:tailEnd type="none" w="med" len="med"/>
            </a:ln>
          </p:spPr>
        </p:sp>
        <p:sp>
          <p:nvSpPr>
            <p:cNvPr id="58464" name="Line 111"/>
            <p:cNvSpPr/>
            <p:nvPr/>
          </p:nvSpPr>
          <p:spPr>
            <a:xfrm>
              <a:off x="2640" y="684"/>
              <a:ext cx="122" cy="1"/>
            </a:xfrm>
            <a:prstGeom prst="line">
              <a:avLst/>
            </a:prstGeom>
            <a:ln w="9525" cap="flat" cmpd="sng">
              <a:solidFill>
                <a:srgbClr val="FFFFFF"/>
              </a:solidFill>
              <a:prstDash val="solid"/>
              <a:headEnd type="none" w="med" len="med"/>
              <a:tailEnd type="none" w="med" len="med"/>
            </a:ln>
          </p:spPr>
        </p:sp>
        <p:sp>
          <p:nvSpPr>
            <p:cNvPr id="58465" name="Line 115"/>
            <p:cNvSpPr/>
            <p:nvPr/>
          </p:nvSpPr>
          <p:spPr>
            <a:xfrm>
              <a:off x="3862" y="684"/>
              <a:ext cx="122" cy="1"/>
            </a:xfrm>
            <a:prstGeom prst="line">
              <a:avLst/>
            </a:prstGeom>
            <a:ln w="9525" cap="flat" cmpd="sng">
              <a:solidFill>
                <a:srgbClr val="FFFFFF"/>
              </a:solidFill>
              <a:prstDash val="solid"/>
              <a:headEnd type="none" w="med" len="med"/>
              <a:tailEnd type="none" w="med" len="med"/>
            </a:ln>
          </p:spPr>
        </p:sp>
        <p:sp>
          <p:nvSpPr>
            <p:cNvPr id="58466" name="Line 117"/>
            <p:cNvSpPr/>
            <p:nvPr/>
          </p:nvSpPr>
          <p:spPr>
            <a:xfrm>
              <a:off x="420" y="1031"/>
              <a:ext cx="122" cy="1"/>
            </a:xfrm>
            <a:prstGeom prst="line">
              <a:avLst/>
            </a:prstGeom>
            <a:ln w="9525" cap="flat" cmpd="sng">
              <a:solidFill>
                <a:srgbClr val="FFFFFF"/>
              </a:solidFill>
              <a:prstDash val="solid"/>
              <a:headEnd type="none" w="med" len="med"/>
              <a:tailEnd type="none" w="med" len="med"/>
            </a:ln>
          </p:spPr>
        </p:sp>
        <p:sp>
          <p:nvSpPr>
            <p:cNvPr id="58467" name="Line 119"/>
            <p:cNvSpPr/>
            <p:nvPr/>
          </p:nvSpPr>
          <p:spPr>
            <a:xfrm>
              <a:off x="276" y="1031"/>
              <a:ext cx="122" cy="1"/>
            </a:xfrm>
            <a:prstGeom prst="line">
              <a:avLst/>
            </a:prstGeom>
            <a:ln w="9525" cap="flat" cmpd="sng">
              <a:solidFill>
                <a:srgbClr val="FFFFFF"/>
              </a:solidFill>
              <a:prstDash val="solid"/>
              <a:headEnd type="none" w="med" len="med"/>
              <a:tailEnd type="none" w="med" len="med"/>
            </a:ln>
          </p:spPr>
        </p:sp>
        <p:sp>
          <p:nvSpPr>
            <p:cNvPr id="58468" name="Line 121"/>
            <p:cNvSpPr/>
            <p:nvPr/>
          </p:nvSpPr>
          <p:spPr>
            <a:xfrm>
              <a:off x="1524" y="1032"/>
              <a:ext cx="122" cy="1"/>
            </a:xfrm>
            <a:prstGeom prst="line">
              <a:avLst/>
            </a:prstGeom>
            <a:ln w="9525" cap="flat" cmpd="sng">
              <a:solidFill>
                <a:srgbClr val="FFFFFF"/>
              </a:solidFill>
              <a:prstDash val="solid"/>
              <a:headEnd type="none" w="med" len="med"/>
              <a:tailEnd type="none" w="med" len="med"/>
            </a:ln>
          </p:spPr>
        </p:sp>
        <p:sp>
          <p:nvSpPr>
            <p:cNvPr id="58469" name="Line 122"/>
            <p:cNvSpPr/>
            <p:nvPr/>
          </p:nvSpPr>
          <p:spPr>
            <a:xfrm>
              <a:off x="2892" y="1032"/>
              <a:ext cx="122" cy="1"/>
            </a:xfrm>
            <a:prstGeom prst="line">
              <a:avLst/>
            </a:prstGeom>
            <a:ln w="9525" cap="flat" cmpd="sng">
              <a:solidFill>
                <a:srgbClr val="FFFFFF"/>
              </a:solidFill>
              <a:prstDash val="solid"/>
              <a:headEnd type="none" w="med" len="med"/>
              <a:tailEnd type="none" w="med" len="med"/>
            </a:ln>
          </p:spPr>
        </p:sp>
      </p:grpSp>
      <p:grpSp>
        <p:nvGrpSpPr>
          <p:cNvPr id="58406" name="组合 4"/>
          <p:cNvGrpSpPr/>
          <p:nvPr/>
        </p:nvGrpSpPr>
        <p:grpSpPr>
          <a:xfrm>
            <a:off x="2555875" y="3516313"/>
            <a:ext cx="3751263" cy="1168400"/>
            <a:chOff x="0" y="0"/>
            <a:chExt cx="3750759" cy="1168223"/>
          </a:xfrm>
        </p:grpSpPr>
        <p:cxnSp>
          <p:nvCxnSpPr>
            <p:cNvPr id="58408" name="直接连接符 62"/>
            <p:cNvCxnSpPr/>
            <p:nvPr/>
          </p:nvCxnSpPr>
          <p:spPr>
            <a:xfrm>
              <a:off x="0" y="1476"/>
              <a:ext cx="92546" cy="0"/>
            </a:xfrm>
            <a:prstGeom prst="line">
              <a:avLst/>
            </a:prstGeom>
            <a:ln w="12700" cap="flat" cmpd="sng">
              <a:solidFill>
                <a:schemeClr val="tx1"/>
              </a:solidFill>
              <a:prstDash val="solid"/>
              <a:headEnd type="none" w="med" len="med"/>
              <a:tailEnd type="none" w="med" len="med"/>
            </a:ln>
          </p:spPr>
        </p:cxnSp>
        <p:cxnSp>
          <p:nvCxnSpPr>
            <p:cNvPr id="58409" name="直接连接符 63"/>
            <p:cNvCxnSpPr/>
            <p:nvPr/>
          </p:nvCxnSpPr>
          <p:spPr>
            <a:xfrm>
              <a:off x="118280" y="5244"/>
              <a:ext cx="92546" cy="0"/>
            </a:xfrm>
            <a:prstGeom prst="line">
              <a:avLst/>
            </a:prstGeom>
            <a:ln w="12700" cap="flat" cmpd="sng">
              <a:solidFill>
                <a:schemeClr val="tx1"/>
              </a:solidFill>
              <a:prstDash val="solid"/>
              <a:headEnd type="none" w="med" len="med"/>
              <a:tailEnd type="none" w="med" len="med"/>
            </a:ln>
          </p:spPr>
        </p:cxnSp>
        <p:cxnSp>
          <p:nvCxnSpPr>
            <p:cNvPr id="58410" name="直接连接符 64"/>
            <p:cNvCxnSpPr/>
            <p:nvPr/>
          </p:nvCxnSpPr>
          <p:spPr>
            <a:xfrm>
              <a:off x="243566" y="8779"/>
              <a:ext cx="92546" cy="0"/>
            </a:xfrm>
            <a:prstGeom prst="line">
              <a:avLst/>
            </a:prstGeom>
            <a:ln w="12700" cap="flat" cmpd="sng">
              <a:solidFill>
                <a:schemeClr val="tx1"/>
              </a:solidFill>
              <a:prstDash val="solid"/>
              <a:headEnd type="none" w="med" len="med"/>
              <a:tailEnd type="none" w="med" len="med"/>
            </a:ln>
          </p:spPr>
        </p:cxnSp>
        <p:cxnSp>
          <p:nvCxnSpPr>
            <p:cNvPr id="58411" name="直接连接符 65"/>
            <p:cNvCxnSpPr/>
            <p:nvPr/>
          </p:nvCxnSpPr>
          <p:spPr>
            <a:xfrm>
              <a:off x="360040" y="8300"/>
              <a:ext cx="92546" cy="0"/>
            </a:xfrm>
            <a:prstGeom prst="line">
              <a:avLst/>
            </a:prstGeom>
            <a:ln w="12700" cap="flat" cmpd="sng">
              <a:solidFill>
                <a:schemeClr val="tx1"/>
              </a:solidFill>
              <a:prstDash val="solid"/>
              <a:headEnd type="none" w="med" len="med"/>
              <a:tailEnd type="none" w="med" len="med"/>
            </a:ln>
          </p:spPr>
        </p:cxnSp>
        <p:cxnSp>
          <p:nvCxnSpPr>
            <p:cNvPr id="58412" name="直接连接符 66"/>
            <p:cNvCxnSpPr/>
            <p:nvPr/>
          </p:nvCxnSpPr>
          <p:spPr>
            <a:xfrm>
              <a:off x="1183864" y="15738"/>
              <a:ext cx="92546" cy="0"/>
            </a:xfrm>
            <a:prstGeom prst="line">
              <a:avLst/>
            </a:prstGeom>
            <a:ln w="12700" cap="flat" cmpd="sng">
              <a:solidFill>
                <a:schemeClr val="tx1"/>
              </a:solidFill>
              <a:prstDash val="solid"/>
              <a:headEnd type="none" w="med" len="med"/>
              <a:tailEnd type="none" w="med" len="med"/>
            </a:ln>
          </p:spPr>
        </p:cxnSp>
        <p:cxnSp>
          <p:nvCxnSpPr>
            <p:cNvPr id="58413" name="直接连接符 67"/>
            <p:cNvCxnSpPr/>
            <p:nvPr/>
          </p:nvCxnSpPr>
          <p:spPr>
            <a:xfrm>
              <a:off x="1302144" y="16217"/>
              <a:ext cx="92546" cy="0"/>
            </a:xfrm>
            <a:prstGeom prst="line">
              <a:avLst/>
            </a:prstGeom>
            <a:ln w="12700" cap="flat" cmpd="sng">
              <a:solidFill>
                <a:schemeClr val="tx1"/>
              </a:solidFill>
              <a:prstDash val="solid"/>
              <a:headEnd type="none" w="med" len="med"/>
              <a:tailEnd type="none" w="med" len="med"/>
            </a:ln>
          </p:spPr>
        </p:cxnSp>
        <p:cxnSp>
          <p:nvCxnSpPr>
            <p:cNvPr id="58414" name="直接连接符 68"/>
            <p:cNvCxnSpPr/>
            <p:nvPr/>
          </p:nvCxnSpPr>
          <p:spPr>
            <a:xfrm>
              <a:off x="1427430" y="19752"/>
              <a:ext cx="92546" cy="0"/>
            </a:xfrm>
            <a:prstGeom prst="line">
              <a:avLst/>
            </a:prstGeom>
            <a:ln w="12700" cap="flat" cmpd="sng">
              <a:solidFill>
                <a:schemeClr val="tx1"/>
              </a:solidFill>
              <a:prstDash val="solid"/>
              <a:headEnd type="none" w="med" len="med"/>
              <a:tailEnd type="none" w="med" len="med"/>
            </a:ln>
          </p:spPr>
        </p:cxnSp>
        <p:cxnSp>
          <p:nvCxnSpPr>
            <p:cNvPr id="58415" name="直接连接符 69"/>
            <p:cNvCxnSpPr/>
            <p:nvPr/>
          </p:nvCxnSpPr>
          <p:spPr>
            <a:xfrm>
              <a:off x="2702188" y="403583"/>
              <a:ext cx="92546" cy="0"/>
            </a:xfrm>
            <a:prstGeom prst="line">
              <a:avLst/>
            </a:prstGeom>
            <a:ln w="12700" cap="flat" cmpd="sng">
              <a:solidFill>
                <a:schemeClr val="tx1"/>
              </a:solidFill>
              <a:prstDash val="solid"/>
              <a:headEnd type="none" w="med" len="med"/>
              <a:tailEnd type="none" w="med" len="med"/>
            </a:ln>
          </p:spPr>
        </p:cxnSp>
        <p:cxnSp>
          <p:nvCxnSpPr>
            <p:cNvPr id="58416" name="直接连接符 70"/>
            <p:cNvCxnSpPr/>
            <p:nvPr/>
          </p:nvCxnSpPr>
          <p:spPr>
            <a:xfrm>
              <a:off x="2355304" y="12928"/>
              <a:ext cx="92546" cy="0"/>
            </a:xfrm>
            <a:prstGeom prst="line">
              <a:avLst/>
            </a:prstGeom>
            <a:ln w="12700" cap="flat" cmpd="sng">
              <a:solidFill>
                <a:schemeClr val="tx1"/>
              </a:solidFill>
              <a:prstDash val="solid"/>
              <a:headEnd type="none" w="med" len="med"/>
              <a:tailEnd type="none" w="med" len="med"/>
            </a:ln>
          </p:spPr>
        </p:cxnSp>
        <p:cxnSp>
          <p:nvCxnSpPr>
            <p:cNvPr id="58417" name="直接连接符 71"/>
            <p:cNvCxnSpPr/>
            <p:nvPr/>
          </p:nvCxnSpPr>
          <p:spPr>
            <a:xfrm>
              <a:off x="2473584" y="16696"/>
              <a:ext cx="92546" cy="0"/>
            </a:xfrm>
            <a:prstGeom prst="line">
              <a:avLst/>
            </a:prstGeom>
            <a:ln w="12700" cap="flat" cmpd="sng">
              <a:solidFill>
                <a:schemeClr val="tx1"/>
              </a:solidFill>
              <a:prstDash val="solid"/>
              <a:headEnd type="none" w="med" len="med"/>
              <a:tailEnd type="none" w="med" len="med"/>
            </a:ln>
          </p:spPr>
        </p:cxnSp>
        <p:cxnSp>
          <p:nvCxnSpPr>
            <p:cNvPr id="58418" name="直接连接符 72"/>
            <p:cNvCxnSpPr/>
            <p:nvPr/>
          </p:nvCxnSpPr>
          <p:spPr>
            <a:xfrm>
              <a:off x="2704190" y="1168223"/>
              <a:ext cx="92546" cy="0"/>
            </a:xfrm>
            <a:prstGeom prst="line">
              <a:avLst/>
            </a:prstGeom>
            <a:ln w="12700" cap="flat" cmpd="sng">
              <a:solidFill>
                <a:schemeClr val="tx1"/>
              </a:solidFill>
              <a:prstDash val="solid"/>
              <a:headEnd type="none" w="med" len="med"/>
              <a:tailEnd type="none" w="med" len="med"/>
            </a:ln>
          </p:spPr>
        </p:cxnSp>
        <p:cxnSp>
          <p:nvCxnSpPr>
            <p:cNvPr id="58419" name="直接连接符 73"/>
            <p:cNvCxnSpPr/>
            <p:nvPr/>
          </p:nvCxnSpPr>
          <p:spPr>
            <a:xfrm>
              <a:off x="2715344" y="19752"/>
              <a:ext cx="92546" cy="0"/>
            </a:xfrm>
            <a:prstGeom prst="line">
              <a:avLst/>
            </a:prstGeom>
            <a:ln w="12700" cap="flat" cmpd="sng">
              <a:solidFill>
                <a:schemeClr val="tx1"/>
              </a:solidFill>
              <a:prstDash val="solid"/>
              <a:headEnd type="none" w="med" len="med"/>
              <a:tailEnd type="none" w="med" len="med"/>
            </a:ln>
          </p:spPr>
        </p:cxnSp>
        <p:cxnSp>
          <p:nvCxnSpPr>
            <p:cNvPr id="58420" name="直接连接符 74"/>
            <p:cNvCxnSpPr/>
            <p:nvPr/>
          </p:nvCxnSpPr>
          <p:spPr>
            <a:xfrm>
              <a:off x="3537520" y="0"/>
              <a:ext cx="92546" cy="0"/>
            </a:xfrm>
            <a:prstGeom prst="line">
              <a:avLst/>
            </a:prstGeom>
            <a:ln w="12700" cap="flat" cmpd="sng">
              <a:solidFill>
                <a:schemeClr val="tx1"/>
              </a:solidFill>
              <a:prstDash val="solid"/>
              <a:headEnd type="none" w="med" len="med"/>
              <a:tailEnd type="none" w="med" len="med"/>
            </a:ln>
          </p:spPr>
        </p:cxnSp>
        <p:cxnSp>
          <p:nvCxnSpPr>
            <p:cNvPr id="58421" name="直接连接符 75"/>
            <p:cNvCxnSpPr/>
            <p:nvPr/>
          </p:nvCxnSpPr>
          <p:spPr>
            <a:xfrm>
              <a:off x="3655800" y="3768"/>
              <a:ext cx="92546" cy="0"/>
            </a:xfrm>
            <a:prstGeom prst="line">
              <a:avLst/>
            </a:prstGeom>
            <a:ln w="12700" cap="flat" cmpd="sng">
              <a:solidFill>
                <a:schemeClr val="tx1"/>
              </a:solidFill>
              <a:prstDash val="solid"/>
              <a:headEnd type="none" w="med" len="med"/>
              <a:tailEnd type="none" w="med" len="med"/>
            </a:ln>
          </p:spPr>
        </p:cxnSp>
        <p:cxnSp>
          <p:nvCxnSpPr>
            <p:cNvPr id="58422" name="直接连接符 76"/>
            <p:cNvCxnSpPr/>
            <p:nvPr/>
          </p:nvCxnSpPr>
          <p:spPr>
            <a:xfrm>
              <a:off x="3553544" y="398930"/>
              <a:ext cx="92546" cy="0"/>
            </a:xfrm>
            <a:prstGeom prst="line">
              <a:avLst/>
            </a:prstGeom>
            <a:ln w="12700" cap="flat" cmpd="sng">
              <a:solidFill>
                <a:schemeClr val="tx1"/>
              </a:solidFill>
              <a:prstDash val="solid"/>
              <a:headEnd type="none" w="med" len="med"/>
              <a:tailEnd type="none" w="med" len="med"/>
            </a:ln>
          </p:spPr>
        </p:cxnSp>
        <p:cxnSp>
          <p:nvCxnSpPr>
            <p:cNvPr id="58423" name="直接连接符 77"/>
            <p:cNvCxnSpPr/>
            <p:nvPr/>
          </p:nvCxnSpPr>
          <p:spPr>
            <a:xfrm>
              <a:off x="2355304" y="403583"/>
              <a:ext cx="92546" cy="0"/>
            </a:xfrm>
            <a:prstGeom prst="line">
              <a:avLst/>
            </a:prstGeom>
            <a:ln w="12700" cap="flat" cmpd="sng">
              <a:solidFill>
                <a:schemeClr val="tx1"/>
              </a:solidFill>
              <a:prstDash val="solid"/>
              <a:headEnd type="none" w="med" len="med"/>
              <a:tailEnd type="none" w="med" len="med"/>
            </a:ln>
          </p:spPr>
        </p:cxnSp>
        <p:cxnSp>
          <p:nvCxnSpPr>
            <p:cNvPr id="58424" name="直接连接符 78"/>
            <p:cNvCxnSpPr/>
            <p:nvPr/>
          </p:nvCxnSpPr>
          <p:spPr>
            <a:xfrm>
              <a:off x="0" y="385277"/>
              <a:ext cx="92546" cy="0"/>
            </a:xfrm>
            <a:prstGeom prst="line">
              <a:avLst/>
            </a:prstGeom>
            <a:ln w="12700" cap="flat" cmpd="sng">
              <a:solidFill>
                <a:schemeClr val="tx1"/>
              </a:solidFill>
              <a:prstDash val="solid"/>
              <a:headEnd type="none" w="med" len="med"/>
              <a:tailEnd type="none" w="med" len="med"/>
            </a:ln>
          </p:spPr>
        </p:cxnSp>
        <p:cxnSp>
          <p:nvCxnSpPr>
            <p:cNvPr id="58425" name="直接连接符 80"/>
            <p:cNvCxnSpPr/>
            <p:nvPr/>
          </p:nvCxnSpPr>
          <p:spPr>
            <a:xfrm>
              <a:off x="243566" y="392580"/>
              <a:ext cx="92546" cy="0"/>
            </a:xfrm>
            <a:prstGeom prst="line">
              <a:avLst/>
            </a:prstGeom>
            <a:ln w="12700" cap="flat" cmpd="sng">
              <a:solidFill>
                <a:schemeClr val="tx1"/>
              </a:solidFill>
              <a:prstDash val="solid"/>
              <a:headEnd type="none" w="med" len="med"/>
              <a:tailEnd type="none" w="med" len="med"/>
            </a:ln>
          </p:spPr>
        </p:cxnSp>
        <p:cxnSp>
          <p:nvCxnSpPr>
            <p:cNvPr id="58426" name="直接连接符 81"/>
            <p:cNvCxnSpPr/>
            <p:nvPr/>
          </p:nvCxnSpPr>
          <p:spPr>
            <a:xfrm>
              <a:off x="360040" y="392101"/>
              <a:ext cx="92546" cy="0"/>
            </a:xfrm>
            <a:prstGeom prst="line">
              <a:avLst/>
            </a:prstGeom>
            <a:ln w="12700" cap="flat" cmpd="sng">
              <a:solidFill>
                <a:schemeClr val="tx1"/>
              </a:solidFill>
              <a:prstDash val="solid"/>
              <a:headEnd type="none" w="med" len="med"/>
              <a:tailEnd type="none" w="med" len="med"/>
            </a:ln>
          </p:spPr>
        </p:cxnSp>
        <p:cxnSp>
          <p:nvCxnSpPr>
            <p:cNvPr id="58427" name="直接连接符 82"/>
            <p:cNvCxnSpPr/>
            <p:nvPr/>
          </p:nvCxnSpPr>
          <p:spPr>
            <a:xfrm>
              <a:off x="1183864" y="382221"/>
              <a:ext cx="92546" cy="0"/>
            </a:xfrm>
            <a:prstGeom prst="line">
              <a:avLst/>
            </a:prstGeom>
            <a:ln w="12700" cap="flat" cmpd="sng">
              <a:solidFill>
                <a:schemeClr val="tx1"/>
              </a:solidFill>
              <a:prstDash val="solid"/>
              <a:headEnd type="none" w="med" len="med"/>
              <a:tailEnd type="none" w="med" len="med"/>
            </a:ln>
          </p:spPr>
        </p:cxnSp>
        <p:cxnSp>
          <p:nvCxnSpPr>
            <p:cNvPr id="58428" name="直接连接符 84"/>
            <p:cNvCxnSpPr/>
            <p:nvPr/>
          </p:nvCxnSpPr>
          <p:spPr>
            <a:xfrm>
              <a:off x="1427430" y="389524"/>
              <a:ext cx="92546" cy="0"/>
            </a:xfrm>
            <a:prstGeom prst="line">
              <a:avLst/>
            </a:prstGeom>
            <a:ln w="12700" cap="flat" cmpd="sng">
              <a:solidFill>
                <a:schemeClr val="tx1"/>
              </a:solidFill>
              <a:prstDash val="solid"/>
              <a:headEnd type="none" w="med" len="med"/>
              <a:tailEnd type="none" w="med" len="med"/>
            </a:ln>
          </p:spPr>
        </p:cxnSp>
        <p:cxnSp>
          <p:nvCxnSpPr>
            <p:cNvPr id="58429" name="直接连接符 86"/>
            <p:cNvCxnSpPr/>
            <p:nvPr/>
          </p:nvCxnSpPr>
          <p:spPr>
            <a:xfrm>
              <a:off x="243566" y="1162395"/>
              <a:ext cx="92546" cy="0"/>
            </a:xfrm>
            <a:prstGeom prst="line">
              <a:avLst/>
            </a:prstGeom>
            <a:ln w="12700" cap="flat" cmpd="sng">
              <a:solidFill>
                <a:schemeClr val="tx1"/>
              </a:solidFill>
              <a:prstDash val="solid"/>
              <a:headEnd type="none" w="med" len="med"/>
              <a:tailEnd type="none" w="med" len="med"/>
            </a:ln>
          </p:spPr>
        </p:cxnSp>
        <p:cxnSp>
          <p:nvCxnSpPr>
            <p:cNvPr id="58430" name="直接连接符 87"/>
            <p:cNvCxnSpPr/>
            <p:nvPr/>
          </p:nvCxnSpPr>
          <p:spPr>
            <a:xfrm>
              <a:off x="110976" y="768949"/>
              <a:ext cx="92546" cy="0"/>
            </a:xfrm>
            <a:prstGeom prst="line">
              <a:avLst/>
            </a:prstGeom>
            <a:ln w="12700" cap="flat" cmpd="sng">
              <a:solidFill>
                <a:schemeClr val="tx1"/>
              </a:solidFill>
              <a:prstDash val="solid"/>
              <a:headEnd type="none" w="med" len="med"/>
              <a:tailEnd type="none" w="med" len="med"/>
            </a:ln>
          </p:spPr>
        </p:cxnSp>
        <p:cxnSp>
          <p:nvCxnSpPr>
            <p:cNvPr id="58431" name="直接连接符 88"/>
            <p:cNvCxnSpPr/>
            <p:nvPr/>
          </p:nvCxnSpPr>
          <p:spPr>
            <a:xfrm>
              <a:off x="236262" y="774871"/>
              <a:ext cx="92546" cy="0"/>
            </a:xfrm>
            <a:prstGeom prst="line">
              <a:avLst/>
            </a:prstGeom>
            <a:ln w="12700" cap="flat" cmpd="sng">
              <a:solidFill>
                <a:schemeClr val="tx1"/>
              </a:solidFill>
              <a:prstDash val="solid"/>
              <a:headEnd type="none" w="med" len="med"/>
              <a:tailEnd type="none" w="med" len="med"/>
            </a:ln>
          </p:spPr>
        </p:cxnSp>
        <p:cxnSp>
          <p:nvCxnSpPr>
            <p:cNvPr id="58432" name="直接连接符 89"/>
            <p:cNvCxnSpPr/>
            <p:nvPr/>
          </p:nvCxnSpPr>
          <p:spPr>
            <a:xfrm>
              <a:off x="358179" y="774392"/>
              <a:ext cx="92546" cy="0"/>
            </a:xfrm>
            <a:prstGeom prst="line">
              <a:avLst/>
            </a:prstGeom>
            <a:ln w="12700" cap="flat" cmpd="sng">
              <a:solidFill>
                <a:schemeClr val="tx1"/>
              </a:solidFill>
              <a:prstDash val="solid"/>
              <a:headEnd type="none" w="med" len="med"/>
              <a:tailEnd type="none" w="med" len="med"/>
            </a:ln>
          </p:spPr>
        </p:cxnSp>
        <p:cxnSp>
          <p:nvCxnSpPr>
            <p:cNvPr id="58433" name="直接连接符 90"/>
            <p:cNvCxnSpPr/>
            <p:nvPr/>
          </p:nvCxnSpPr>
          <p:spPr>
            <a:xfrm>
              <a:off x="1284920" y="771279"/>
              <a:ext cx="92546" cy="0"/>
            </a:xfrm>
            <a:prstGeom prst="line">
              <a:avLst/>
            </a:prstGeom>
            <a:ln w="12700" cap="flat" cmpd="sng">
              <a:solidFill>
                <a:schemeClr val="tx1"/>
              </a:solidFill>
              <a:prstDash val="solid"/>
              <a:headEnd type="none" w="med" len="med"/>
              <a:tailEnd type="none" w="med" len="med"/>
            </a:ln>
          </p:spPr>
        </p:cxnSp>
        <p:cxnSp>
          <p:nvCxnSpPr>
            <p:cNvPr id="58434" name="直接连接符 91"/>
            <p:cNvCxnSpPr/>
            <p:nvPr/>
          </p:nvCxnSpPr>
          <p:spPr>
            <a:xfrm>
              <a:off x="1401268" y="775047"/>
              <a:ext cx="92546" cy="0"/>
            </a:xfrm>
            <a:prstGeom prst="line">
              <a:avLst/>
            </a:prstGeom>
            <a:ln w="12700" cap="flat" cmpd="sng">
              <a:solidFill>
                <a:schemeClr val="tx1"/>
              </a:solidFill>
              <a:prstDash val="solid"/>
              <a:headEnd type="none" w="med" len="med"/>
              <a:tailEnd type="none" w="med" len="med"/>
            </a:ln>
          </p:spPr>
        </p:cxnSp>
        <p:cxnSp>
          <p:nvCxnSpPr>
            <p:cNvPr id="58435" name="直接连接符 92"/>
            <p:cNvCxnSpPr/>
            <p:nvPr/>
          </p:nvCxnSpPr>
          <p:spPr>
            <a:xfrm>
              <a:off x="360040" y="1162395"/>
              <a:ext cx="92546" cy="0"/>
            </a:xfrm>
            <a:prstGeom prst="line">
              <a:avLst/>
            </a:prstGeom>
            <a:ln w="12700" cap="flat" cmpd="sng">
              <a:solidFill>
                <a:schemeClr val="tx1"/>
              </a:solidFill>
              <a:prstDash val="solid"/>
              <a:headEnd type="none" w="med" len="med"/>
              <a:tailEnd type="none" w="med" len="med"/>
            </a:ln>
          </p:spPr>
        </p:cxnSp>
        <p:cxnSp>
          <p:nvCxnSpPr>
            <p:cNvPr id="58436" name="直接连接符 94"/>
            <p:cNvCxnSpPr/>
            <p:nvPr/>
          </p:nvCxnSpPr>
          <p:spPr>
            <a:xfrm>
              <a:off x="2480710" y="782221"/>
              <a:ext cx="92546" cy="0"/>
            </a:xfrm>
            <a:prstGeom prst="line">
              <a:avLst/>
            </a:prstGeom>
            <a:ln w="12700" cap="flat" cmpd="sng">
              <a:solidFill>
                <a:schemeClr val="tx1"/>
              </a:solidFill>
              <a:prstDash val="solid"/>
              <a:headEnd type="none" w="med" len="med"/>
              <a:tailEnd type="none" w="med" len="med"/>
            </a:ln>
          </p:spPr>
        </p:cxnSp>
        <p:cxnSp>
          <p:nvCxnSpPr>
            <p:cNvPr id="58437" name="直接连接符 95"/>
            <p:cNvCxnSpPr/>
            <p:nvPr/>
          </p:nvCxnSpPr>
          <p:spPr>
            <a:xfrm>
              <a:off x="1425414" y="1168223"/>
              <a:ext cx="92546" cy="0"/>
            </a:xfrm>
            <a:prstGeom prst="line">
              <a:avLst/>
            </a:prstGeom>
            <a:ln w="12700" cap="flat" cmpd="sng">
              <a:solidFill>
                <a:schemeClr val="tx1"/>
              </a:solidFill>
              <a:prstDash val="solid"/>
              <a:headEnd type="none" w="med" len="med"/>
              <a:tailEnd type="none" w="med" len="med"/>
            </a:ln>
          </p:spPr>
        </p:cxnSp>
        <p:cxnSp>
          <p:nvCxnSpPr>
            <p:cNvPr id="58438" name="直接连接符 96"/>
            <p:cNvCxnSpPr/>
            <p:nvPr/>
          </p:nvCxnSpPr>
          <p:spPr>
            <a:xfrm>
              <a:off x="2715766" y="786235"/>
              <a:ext cx="92546" cy="0"/>
            </a:xfrm>
            <a:prstGeom prst="line">
              <a:avLst/>
            </a:prstGeom>
            <a:ln w="12700" cap="flat" cmpd="sng">
              <a:solidFill>
                <a:schemeClr val="tx1"/>
              </a:solidFill>
              <a:prstDash val="solid"/>
              <a:headEnd type="none" w="med" len="med"/>
              <a:tailEnd type="none" w="med" len="med"/>
            </a:ln>
          </p:spPr>
        </p:cxnSp>
        <p:cxnSp>
          <p:nvCxnSpPr>
            <p:cNvPr id="58439" name="直接连接符 97"/>
            <p:cNvCxnSpPr/>
            <p:nvPr/>
          </p:nvCxnSpPr>
          <p:spPr>
            <a:xfrm>
              <a:off x="3658213" y="778207"/>
              <a:ext cx="92546" cy="0"/>
            </a:xfrm>
            <a:prstGeom prst="line">
              <a:avLst/>
            </a:prstGeom>
            <a:ln w="12700" cap="flat" cmpd="sng">
              <a:solidFill>
                <a:schemeClr val="tx1"/>
              </a:solidFill>
              <a:prstDash val="solid"/>
              <a:headEnd type="none" w="med" len="med"/>
              <a:tailEnd type="none" w="med" len="med"/>
            </a:ln>
          </p:spPr>
        </p:cxnSp>
      </p:grpSp>
      <p:pic>
        <p:nvPicPr>
          <p:cNvPr id="58407" name="图片 1"/>
          <p:cNvPicPr>
            <a:picLocks noChangeAspect="1"/>
          </p:cNvPicPr>
          <p:nvPr/>
        </p:nvPicPr>
        <p:blipFill>
          <a:blip r:embed="rId1"/>
          <a:stretch>
            <a:fillRect/>
          </a:stretch>
        </p:blipFill>
        <p:spPr>
          <a:xfrm>
            <a:off x="1776413" y="3465513"/>
            <a:ext cx="5099050" cy="1576387"/>
          </a:xfrm>
          <a:prstGeom prst="rect">
            <a:avLst/>
          </a:prstGeom>
          <a:noFill/>
          <a:ln w="9525">
            <a:noFill/>
          </a:ln>
        </p:spPr>
      </p:pic>
    </p:spTree>
  </p:cSld>
  <p:clrMapOvr>
    <a:masterClrMapping/>
  </p:clrMapOvr>
  <p:transition advTm="2000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939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9396" name="Rectangle 3"/>
          <p:cNvSpPr>
            <a:spLocks noGrp="1"/>
          </p:cNvSpPr>
          <p:nvPr>
            <p:ph type="title"/>
          </p:nvPr>
        </p:nvSpPr>
        <p:spPr>
          <a:xfrm>
            <a:off x="773113" y="617538"/>
            <a:ext cx="7543800" cy="51435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五变量的卡诺图</a:t>
            </a:r>
            <a:endParaRPr lang="zh-CN" altLang="en-US" sz="1800" dirty="0">
              <a:latin typeface="黑体" panose="02010609060101010101" pitchFamily="49" charset="-122"/>
              <a:ea typeface="黑体" panose="02010609060101010101" pitchFamily="49" charset="-122"/>
            </a:endParaRPr>
          </a:p>
        </p:txBody>
      </p:sp>
      <p:sp>
        <p:nvSpPr>
          <p:cNvPr id="59397" name="Rectangle 4"/>
          <p:cNvSpPr>
            <a:spLocks noGrp="1"/>
          </p:cNvSpPr>
          <p:nvPr>
            <p:ph/>
          </p:nvPr>
        </p:nvSpPr>
        <p:spPr>
          <a:xfrm>
            <a:off x="1009650" y="4200525"/>
            <a:ext cx="8458200" cy="514350"/>
          </a:xfrm>
          <a:prstGeom prst="rect">
            <a:avLst/>
          </a:prstGeom>
          <a:noFill/>
          <a:ln w="9525">
            <a:noFill/>
          </a:ln>
        </p:spPr>
        <p:txBody>
          <a:bodyPr/>
          <a:p>
            <a:pPr eaLnBrk="1" hangingPunct="1">
              <a:spcBef>
                <a:spcPct val="50000"/>
              </a:spcBef>
              <a:buNone/>
            </a:pPr>
            <a:r>
              <a:rPr lang="zh-CN" altLang="en-US" sz="1800" dirty="0">
                <a:latin typeface="黑体" panose="02010609060101010101" pitchFamily="49" charset="-122"/>
                <a:ea typeface="黑体" panose="02010609060101010101" pitchFamily="49" charset="-122"/>
              </a:rPr>
              <a:t>五变量</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E)</a:t>
            </a:r>
            <a:r>
              <a:rPr lang="zh-CN" altLang="en-US" sz="1800" dirty="0">
                <a:latin typeface="黑体" panose="02010609060101010101" pitchFamily="49" charset="-122"/>
                <a:ea typeface="黑体" panose="02010609060101010101" pitchFamily="49" charset="-122"/>
              </a:rPr>
              <a:t>的卡诺图，分别对应着</a:t>
            </a:r>
            <a:r>
              <a:rPr lang="en-US" altLang="zh-CN" sz="1800" b="1" dirty="0">
                <a:latin typeface="黑体" panose="02010609060101010101" pitchFamily="49" charset="-122"/>
                <a:ea typeface="黑体" panose="02010609060101010101" pitchFamily="49" charset="-122"/>
              </a:rPr>
              <a:t>32</a:t>
            </a:r>
            <a:r>
              <a:rPr lang="zh-CN" altLang="en-US" sz="1800" b="1" dirty="0">
                <a:latin typeface="黑体" panose="02010609060101010101" pitchFamily="49" charset="-122"/>
                <a:ea typeface="黑体" panose="02010609060101010101" pitchFamily="49" charset="-122"/>
              </a:rPr>
              <a:t>个最小项</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graphicFrame>
        <p:nvGraphicFramePr>
          <p:cNvPr id="58374" name="Group 6"/>
          <p:cNvGraphicFramePr>
            <a:graphicFrameLocks noGrp="1"/>
          </p:cNvGraphicFramePr>
          <p:nvPr/>
        </p:nvGraphicFramePr>
        <p:xfrm>
          <a:off x="1066800" y="1743075"/>
          <a:ext cx="3276600" cy="1738314"/>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9425" name="Group 32"/>
          <p:cNvGrpSpPr/>
          <p:nvPr/>
        </p:nvGrpSpPr>
        <p:grpSpPr>
          <a:xfrm>
            <a:off x="6343650" y="1285875"/>
            <a:ext cx="1600200" cy="457200"/>
            <a:chOff x="0" y="0"/>
            <a:chExt cx="1008" cy="384"/>
          </a:xfrm>
        </p:grpSpPr>
        <p:sp>
          <p:nvSpPr>
            <p:cNvPr id="59483" name="Line 33"/>
            <p:cNvSpPr/>
            <p:nvPr/>
          </p:nvSpPr>
          <p:spPr>
            <a:xfrm>
              <a:off x="0" y="240"/>
              <a:ext cx="1008" cy="0"/>
            </a:xfrm>
            <a:prstGeom prst="line">
              <a:avLst/>
            </a:prstGeom>
            <a:ln w="6350" cap="flat" cmpd="sng">
              <a:solidFill>
                <a:schemeClr val="tx1"/>
              </a:solidFill>
              <a:prstDash val="solid"/>
              <a:headEnd type="none" w="med" len="med"/>
              <a:tailEnd type="none" w="med" len="med"/>
            </a:ln>
          </p:spPr>
        </p:sp>
        <p:sp>
          <p:nvSpPr>
            <p:cNvPr id="59484" name="Line 34"/>
            <p:cNvSpPr/>
            <p:nvPr/>
          </p:nvSpPr>
          <p:spPr>
            <a:xfrm>
              <a:off x="0" y="240"/>
              <a:ext cx="0" cy="144"/>
            </a:xfrm>
            <a:prstGeom prst="line">
              <a:avLst/>
            </a:prstGeom>
            <a:ln w="6350" cap="flat" cmpd="sng">
              <a:solidFill>
                <a:schemeClr val="tx1"/>
              </a:solidFill>
              <a:prstDash val="solid"/>
              <a:headEnd type="none" w="med" len="med"/>
              <a:tailEnd type="none" w="med" len="med"/>
            </a:ln>
          </p:spPr>
        </p:sp>
        <p:sp>
          <p:nvSpPr>
            <p:cNvPr id="59485" name="Line 35"/>
            <p:cNvSpPr/>
            <p:nvPr/>
          </p:nvSpPr>
          <p:spPr>
            <a:xfrm>
              <a:off x="1008" y="240"/>
              <a:ext cx="0" cy="144"/>
            </a:xfrm>
            <a:prstGeom prst="line">
              <a:avLst/>
            </a:prstGeom>
            <a:ln w="6350" cap="flat" cmpd="sng">
              <a:solidFill>
                <a:schemeClr val="tx1"/>
              </a:solidFill>
              <a:prstDash val="solid"/>
              <a:headEnd type="none" w="med" len="med"/>
              <a:tailEnd type="none" w="med" len="med"/>
            </a:ln>
          </p:spPr>
        </p:sp>
        <p:sp>
          <p:nvSpPr>
            <p:cNvPr id="59486" name="Text Box 36"/>
            <p:cNvSpPr txBox="1"/>
            <p:nvPr/>
          </p:nvSpPr>
          <p:spPr>
            <a:xfrm>
              <a:off x="384"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26" name="Group 37"/>
          <p:cNvGrpSpPr/>
          <p:nvPr/>
        </p:nvGrpSpPr>
        <p:grpSpPr>
          <a:xfrm>
            <a:off x="1905000" y="3457575"/>
            <a:ext cx="1600200" cy="539750"/>
            <a:chOff x="0" y="0"/>
            <a:chExt cx="1008" cy="454"/>
          </a:xfrm>
        </p:grpSpPr>
        <p:sp>
          <p:nvSpPr>
            <p:cNvPr id="59479" name="Line 38"/>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59480" name="Line 39"/>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59481" name="Line 40"/>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59482" name="Text Box 41"/>
            <p:cNvSpPr txBox="1"/>
            <p:nvPr/>
          </p:nvSpPr>
          <p:spPr>
            <a:xfrm>
              <a:off x="384" y="144"/>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27" name="Group 47"/>
          <p:cNvGrpSpPr/>
          <p:nvPr/>
        </p:nvGrpSpPr>
        <p:grpSpPr>
          <a:xfrm>
            <a:off x="457200" y="2200275"/>
            <a:ext cx="609600" cy="857250"/>
            <a:chOff x="0" y="0"/>
            <a:chExt cx="384" cy="720"/>
          </a:xfrm>
        </p:grpSpPr>
        <p:sp>
          <p:nvSpPr>
            <p:cNvPr id="59475" name="Line 48"/>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59476" name="Line 49"/>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59477" name="Line 50"/>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59478" name="Text Box 51"/>
            <p:cNvSpPr txBox="1"/>
            <p:nvPr/>
          </p:nvSpPr>
          <p:spPr>
            <a:xfrm>
              <a:off x="0"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E</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58416" name="Group 48"/>
          <p:cNvGraphicFramePr>
            <a:graphicFrameLocks noGrp="1"/>
          </p:cNvGraphicFramePr>
          <p:nvPr/>
        </p:nvGraphicFramePr>
        <p:xfrm>
          <a:off x="4724400" y="1743075"/>
          <a:ext cx="3276600" cy="1738314"/>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9455" name="Group 113"/>
          <p:cNvGrpSpPr/>
          <p:nvPr/>
        </p:nvGrpSpPr>
        <p:grpSpPr>
          <a:xfrm>
            <a:off x="5562600" y="3457575"/>
            <a:ext cx="1600200" cy="539750"/>
            <a:chOff x="0" y="0"/>
            <a:chExt cx="1008" cy="454"/>
          </a:xfrm>
        </p:grpSpPr>
        <p:sp>
          <p:nvSpPr>
            <p:cNvPr id="59471" name="Line 114"/>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59472" name="Line 115"/>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59473" name="Line 116"/>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59474" name="Text Box 117"/>
            <p:cNvSpPr txBox="1"/>
            <p:nvPr/>
          </p:nvSpPr>
          <p:spPr>
            <a:xfrm>
              <a:off x="384" y="144"/>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56" name="Group 118"/>
          <p:cNvGrpSpPr/>
          <p:nvPr/>
        </p:nvGrpSpPr>
        <p:grpSpPr>
          <a:xfrm>
            <a:off x="8001000" y="2600325"/>
            <a:ext cx="762000" cy="857250"/>
            <a:chOff x="0" y="0"/>
            <a:chExt cx="480" cy="720"/>
          </a:xfrm>
        </p:grpSpPr>
        <p:sp>
          <p:nvSpPr>
            <p:cNvPr id="59467" name="Line 119"/>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59468" name="Line 120"/>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59469" name="Line 121"/>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59470" name="Text Box 122"/>
            <p:cNvSpPr txBox="1"/>
            <p:nvPr/>
          </p:nvSpPr>
          <p:spPr>
            <a:xfrm>
              <a:off x="144"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57" name="Group 128"/>
          <p:cNvGrpSpPr/>
          <p:nvPr/>
        </p:nvGrpSpPr>
        <p:grpSpPr>
          <a:xfrm>
            <a:off x="2705100" y="1257300"/>
            <a:ext cx="1600200" cy="457200"/>
            <a:chOff x="0" y="0"/>
            <a:chExt cx="1008" cy="384"/>
          </a:xfrm>
        </p:grpSpPr>
        <p:sp>
          <p:nvSpPr>
            <p:cNvPr id="59463" name="Line 129"/>
            <p:cNvSpPr/>
            <p:nvPr/>
          </p:nvSpPr>
          <p:spPr>
            <a:xfrm>
              <a:off x="0" y="240"/>
              <a:ext cx="1008" cy="0"/>
            </a:xfrm>
            <a:prstGeom prst="line">
              <a:avLst/>
            </a:prstGeom>
            <a:ln w="6350" cap="flat" cmpd="sng">
              <a:solidFill>
                <a:schemeClr val="tx1"/>
              </a:solidFill>
              <a:prstDash val="solid"/>
              <a:headEnd type="none" w="med" len="med"/>
              <a:tailEnd type="none" w="med" len="med"/>
            </a:ln>
          </p:spPr>
        </p:sp>
        <p:sp>
          <p:nvSpPr>
            <p:cNvPr id="59464" name="Line 130"/>
            <p:cNvSpPr/>
            <p:nvPr/>
          </p:nvSpPr>
          <p:spPr>
            <a:xfrm>
              <a:off x="0" y="240"/>
              <a:ext cx="0" cy="144"/>
            </a:xfrm>
            <a:prstGeom prst="line">
              <a:avLst/>
            </a:prstGeom>
            <a:ln w="6350" cap="flat" cmpd="sng">
              <a:solidFill>
                <a:schemeClr val="tx1"/>
              </a:solidFill>
              <a:prstDash val="solid"/>
              <a:headEnd type="none" w="med" len="med"/>
              <a:tailEnd type="none" w="med" len="med"/>
            </a:ln>
          </p:spPr>
        </p:sp>
        <p:sp>
          <p:nvSpPr>
            <p:cNvPr id="59465" name="Line 131"/>
            <p:cNvSpPr/>
            <p:nvPr/>
          </p:nvSpPr>
          <p:spPr>
            <a:xfrm>
              <a:off x="1008" y="240"/>
              <a:ext cx="0" cy="144"/>
            </a:xfrm>
            <a:prstGeom prst="line">
              <a:avLst/>
            </a:prstGeom>
            <a:ln w="6350" cap="flat" cmpd="sng">
              <a:solidFill>
                <a:schemeClr val="tx1"/>
              </a:solidFill>
              <a:prstDash val="solid"/>
              <a:headEnd type="none" w="med" len="med"/>
              <a:tailEnd type="none" w="med" len="med"/>
            </a:ln>
          </p:spPr>
        </p:sp>
        <p:sp>
          <p:nvSpPr>
            <p:cNvPr id="59466" name="Text Box 132"/>
            <p:cNvSpPr txBox="1"/>
            <p:nvPr/>
          </p:nvSpPr>
          <p:spPr>
            <a:xfrm>
              <a:off x="384"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58" name="Group 137"/>
          <p:cNvGrpSpPr/>
          <p:nvPr/>
        </p:nvGrpSpPr>
        <p:grpSpPr>
          <a:xfrm>
            <a:off x="4724400" y="828675"/>
            <a:ext cx="3200400" cy="685800"/>
            <a:chOff x="0" y="0"/>
            <a:chExt cx="2016" cy="576"/>
          </a:xfrm>
        </p:grpSpPr>
        <p:sp>
          <p:nvSpPr>
            <p:cNvPr id="59459" name="Line 133"/>
            <p:cNvSpPr/>
            <p:nvPr/>
          </p:nvSpPr>
          <p:spPr>
            <a:xfrm>
              <a:off x="0" y="288"/>
              <a:ext cx="2016" cy="0"/>
            </a:xfrm>
            <a:prstGeom prst="line">
              <a:avLst/>
            </a:prstGeom>
            <a:ln w="6350" cap="flat" cmpd="sng">
              <a:solidFill>
                <a:schemeClr val="tx1"/>
              </a:solidFill>
              <a:prstDash val="solid"/>
              <a:headEnd type="none" w="med" len="med"/>
              <a:tailEnd type="none" w="med" len="med"/>
            </a:ln>
          </p:spPr>
        </p:sp>
        <p:sp>
          <p:nvSpPr>
            <p:cNvPr id="59460" name="Line 134"/>
            <p:cNvSpPr/>
            <p:nvPr/>
          </p:nvSpPr>
          <p:spPr>
            <a:xfrm>
              <a:off x="0" y="288"/>
              <a:ext cx="0" cy="288"/>
            </a:xfrm>
            <a:prstGeom prst="line">
              <a:avLst/>
            </a:prstGeom>
            <a:ln w="6350" cap="flat" cmpd="sng">
              <a:solidFill>
                <a:schemeClr val="tx1"/>
              </a:solidFill>
              <a:prstDash val="solid"/>
              <a:headEnd type="none" w="med" len="med"/>
              <a:tailEnd type="none" w="med" len="med"/>
            </a:ln>
          </p:spPr>
        </p:sp>
        <p:sp>
          <p:nvSpPr>
            <p:cNvPr id="59461" name="Line 135"/>
            <p:cNvSpPr/>
            <p:nvPr/>
          </p:nvSpPr>
          <p:spPr>
            <a:xfrm>
              <a:off x="2016" y="288"/>
              <a:ext cx="0" cy="288"/>
            </a:xfrm>
            <a:prstGeom prst="line">
              <a:avLst/>
            </a:prstGeom>
            <a:ln w="6350" cap="flat" cmpd="sng">
              <a:solidFill>
                <a:schemeClr val="tx1"/>
              </a:solidFill>
              <a:prstDash val="solid"/>
              <a:headEnd type="none" w="med" len="med"/>
              <a:tailEnd type="none" w="med" len="med"/>
            </a:ln>
          </p:spPr>
        </p:sp>
        <p:sp>
          <p:nvSpPr>
            <p:cNvPr id="59462" name="Text Box 136"/>
            <p:cNvSpPr txBox="1"/>
            <p:nvPr/>
          </p:nvSpPr>
          <p:spPr>
            <a:xfrm>
              <a:off x="912"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ransition advTm="2000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041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0420" name="Rectangle 3"/>
          <p:cNvSpPr>
            <a:spLocks noGrp="1"/>
          </p:cNvSpPr>
          <p:nvPr>
            <p:ph type="title"/>
          </p:nvPr>
        </p:nvSpPr>
        <p:spPr>
          <a:xfrm>
            <a:off x="34925" y="484188"/>
            <a:ext cx="3325813" cy="288925"/>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六变量的卡诺图</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有</a:t>
            </a:r>
            <a:r>
              <a:rPr lang="en-US" altLang="zh-CN" sz="1800" b="1" dirty="0">
                <a:latin typeface="黑体" panose="02010609060101010101" pitchFamily="49" charset="-122"/>
                <a:ea typeface="黑体" panose="02010609060101010101" pitchFamily="49" charset="-122"/>
              </a:rPr>
              <a:t>64</a:t>
            </a:r>
            <a:r>
              <a:rPr lang="zh-CN" altLang="en-US" sz="1800" b="1" dirty="0">
                <a:latin typeface="黑体" panose="02010609060101010101" pitchFamily="49" charset="-122"/>
                <a:ea typeface="黑体" panose="02010609060101010101" pitchFamily="49" charset="-122"/>
              </a:rPr>
              <a:t>个最小项</a:t>
            </a:r>
            <a:endParaRPr lang="zh-CN" altLang="en-US" sz="1800" b="1" dirty="0">
              <a:latin typeface="黑体" panose="02010609060101010101" pitchFamily="49" charset="-122"/>
              <a:ea typeface="黑体" panose="02010609060101010101" pitchFamily="49" charset="-122"/>
            </a:endParaRPr>
          </a:p>
        </p:txBody>
      </p:sp>
      <p:graphicFrame>
        <p:nvGraphicFramePr>
          <p:cNvPr id="59397" name="Group 5"/>
          <p:cNvGraphicFramePr>
            <a:graphicFrameLocks noGrp="1"/>
          </p:cNvGraphicFramePr>
          <p:nvPr/>
        </p:nvGraphicFramePr>
        <p:xfrm>
          <a:off x="1066800" y="1004888"/>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0448" name="Group 37"/>
          <p:cNvGrpSpPr/>
          <p:nvPr/>
        </p:nvGrpSpPr>
        <p:grpSpPr>
          <a:xfrm>
            <a:off x="1905000" y="4629150"/>
            <a:ext cx="1600200" cy="565150"/>
            <a:chOff x="0" y="0"/>
            <a:chExt cx="1008" cy="474"/>
          </a:xfrm>
        </p:grpSpPr>
        <p:sp>
          <p:nvSpPr>
            <p:cNvPr id="60578" name="Line 38"/>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60579" name="Line 39"/>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60580" name="Line 40"/>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60581" name="Text Box 41"/>
            <p:cNvSpPr txBox="1"/>
            <p:nvPr/>
          </p:nvSpPr>
          <p:spPr>
            <a:xfrm>
              <a:off x="384" y="86"/>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endParaRPr lang="en-US" altLang="zh-CN" sz="2400" b="1" dirty="0">
                <a:solidFill>
                  <a:schemeClr val="tx1"/>
                </a:solidFill>
                <a:latin typeface="Times New Roman" panose="02020603050405020304" pitchFamily="18" charset="0"/>
              </a:endParaRPr>
            </a:p>
          </p:txBody>
        </p:sp>
      </p:grpSp>
      <p:grpSp>
        <p:nvGrpSpPr>
          <p:cNvPr id="60449" name="Group 42"/>
          <p:cNvGrpSpPr/>
          <p:nvPr/>
        </p:nvGrpSpPr>
        <p:grpSpPr>
          <a:xfrm>
            <a:off x="457200" y="1447800"/>
            <a:ext cx="609600" cy="857250"/>
            <a:chOff x="0" y="0"/>
            <a:chExt cx="384" cy="720"/>
          </a:xfrm>
        </p:grpSpPr>
        <p:sp>
          <p:nvSpPr>
            <p:cNvPr id="60574" name="Line 43"/>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60575" name="Line 44"/>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60576" name="Line 45"/>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60577" name="Text Box 46"/>
            <p:cNvSpPr txBox="1"/>
            <p:nvPr/>
          </p:nvSpPr>
          <p:spPr>
            <a:xfrm>
              <a:off x="0" y="24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F</a:t>
              </a:r>
              <a:endParaRPr lang="en-US" altLang="zh-CN" sz="2400" b="1" dirty="0">
                <a:solidFill>
                  <a:schemeClr val="tx1"/>
                </a:solidFill>
                <a:latin typeface="Times New Roman" panose="02020603050405020304" pitchFamily="18" charset="0"/>
              </a:endParaRPr>
            </a:p>
          </p:txBody>
        </p:sp>
      </p:grpSp>
      <p:graphicFrame>
        <p:nvGraphicFramePr>
          <p:cNvPr id="59434" name="Group 42"/>
          <p:cNvGraphicFramePr>
            <a:graphicFrameLocks noGrp="1"/>
          </p:cNvGraphicFramePr>
          <p:nvPr/>
        </p:nvGraphicFramePr>
        <p:xfrm>
          <a:off x="1066800" y="2890838"/>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0477" name="Group 79"/>
          <p:cNvGrpSpPr/>
          <p:nvPr/>
        </p:nvGrpSpPr>
        <p:grpSpPr>
          <a:xfrm>
            <a:off x="7924800" y="1857375"/>
            <a:ext cx="762000" cy="857250"/>
            <a:chOff x="0" y="0"/>
            <a:chExt cx="480" cy="720"/>
          </a:xfrm>
        </p:grpSpPr>
        <p:sp>
          <p:nvSpPr>
            <p:cNvPr id="60570" name="Line 80"/>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60571" name="Line 81"/>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60572" name="Line 82"/>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60573" name="Text Box 83"/>
            <p:cNvSpPr txBox="1"/>
            <p:nvPr/>
          </p:nvSpPr>
          <p:spPr>
            <a:xfrm>
              <a:off x="144" y="24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E</a:t>
              </a:r>
              <a:endParaRPr lang="en-US" altLang="zh-CN" sz="2400" b="1" dirty="0">
                <a:solidFill>
                  <a:schemeClr val="tx1"/>
                </a:solidFill>
                <a:latin typeface="Times New Roman" panose="02020603050405020304" pitchFamily="18" charset="0"/>
              </a:endParaRPr>
            </a:p>
          </p:txBody>
        </p:sp>
      </p:grpSp>
      <p:grpSp>
        <p:nvGrpSpPr>
          <p:cNvPr id="60478" name="Group 84"/>
          <p:cNvGrpSpPr/>
          <p:nvPr/>
        </p:nvGrpSpPr>
        <p:grpSpPr>
          <a:xfrm>
            <a:off x="2705100" y="412750"/>
            <a:ext cx="1600200" cy="558800"/>
            <a:chOff x="0" y="0"/>
            <a:chExt cx="1008" cy="470"/>
          </a:xfrm>
        </p:grpSpPr>
        <p:sp>
          <p:nvSpPr>
            <p:cNvPr id="60566" name="Line 85"/>
            <p:cNvSpPr/>
            <p:nvPr/>
          </p:nvSpPr>
          <p:spPr>
            <a:xfrm>
              <a:off x="0" y="326"/>
              <a:ext cx="1008" cy="0"/>
            </a:xfrm>
            <a:prstGeom prst="line">
              <a:avLst/>
            </a:prstGeom>
            <a:ln w="6350" cap="flat" cmpd="sng">
              <a:solidFill>
                <a:schemeClr val="tx1"/>
              </a:solidFill>
              <a:prstDash val="solid"/>
              <a:headEnd type="none" w="med" len="med"/>
              <a:tailEnd type="none" w="med" len="med"/>
            </a:ln>
          </p:spPr>
        </p:sp>
        <p:sp>
          <p:nvSpPr>
            <p:cNvPr id="60567" name="Line 86"/>
            <p:cNvSpPr/>
            <p:nvPr/>
          </p:nvSpPr>
          <p:spPr>
            <a:xfrm>
              <a:off x="0" y="326"/>
              <a:ext cx="0" cy="144"/>
            </a:xfrm>
            <a:prstGeom prst="line">
              <a:avLst/>
            </a:prstGeom>
            <a:ln w="6350" cap="flat" cmpd="sng">
              <a:solidFill>
                <a:schemeClr val="tx1"/>
              </a:solidFill>
              <a:prstDash val="solid"/>
              <a:headEnd type="none" w="med" len="med"/>
              <a:tailEnd type="none" w="med" len="med"/>
            </a:ln>
          </p:spPr>
        </p:sp>
        <p:sp>
          <p:nvSpPr>
            <p:cNvPr id="60568" name="Line 87"/>
            <p:cNvSpPr/>
            <p:nvPr/>
          </p:nvSpPr>
          <p:spPr>
            <a:xfrm>
              <a:off x="1008" y="326"/>
              <a:ext cx="0" cy="144"/>
            </a:xfrm>
            <a:prstGeom prst="line">
              <a:avLst/>
            </a:prstGeom>
            <a:ln w="6350" cap="flat" cmpd="sng">
              <a:solidFill>
                <a:schemeClr val="tx1"/>
              </a:solidFill>
              <a:prstDash val="solid"/>
              <a:headEnd type="none" w="med" len="med"/>
              <a:tailEnd type="none" w="med" len="med"/>
            </a:ln>
          </p:spPr>
        </p:sp>
        <p:sp>
          <p:nvSpPr>
            <p:cNvPr id="60569" name="Text Box 88"/>
            <p:cNvSpPr txBox="1"/>
            <p:nvPr/>
          </p:nvSpPr>
          <p:spPr>
            <a:xfrm>
              <a:off x="384" y="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endParaRPr lang="en-US" altLang="zh-CN" sz="2400" b="1" dirty="0">
                <a:solidFill>
                  <a:schemeClr val="tx1"/>
                </a:solidFill>
                <a:latin typeface="Times New Roman" panose="02020603050405020304" pitchFamily="18" charset="0"/>
              </a:endParaRPr>
            </a:p>
          </p:txBody>
        </p:sp>
      </p:grpSp>
      <p:grpSp>
        <p:nvGrpSpPr>
          <p:cNvPr id="60479" name="Group 89"/>
          <p:cNvGrpSpPr/>
          <p:nvPr/>
        </p:nvGrpSpPr>
        <p:grpSpPr>
          <a:xfrm>
            <a:off x="4686300" y="454025"/>
            <a:ext cx="3200400" cy="461963"/>
            <a:chOff x="0" y="0"/>
            <a:chExt cx="2016" cy="388"/>
          </a:xfrm>
        </p:grpSpPr>
        <p:sp>
          <p:nvSpPr>
            <p:cNvPr id="60562" name="Line 90"/>
            <p:cNvSpPr/>
            <p:nvPr/>
          </p:nvSpPr>
          <p:spPr>
            <a:xfrm>
              <a:off x="0" y="99"/>
              <a:ext cx="2016" cy="0"/>
            </a:xfrm>
            <a:prstGeom prst="line">
              <a:avLst/>
            </a:prstGeom>
            <a:ln w="6350" cap="flat" cmpd="sng">
              <a:solidFill>
                <a:schemeClr val="tx1"/>
              </a:solidFill>
              <a:prstDash val="solid"/>
              <a:headEnd type="none" w="med" len="med"/>
              <a:tailEnd type="none" w="med" len="med"/>
            </a:ln>
          </p:spPr>
        </p:sp>
        <p:sp>
          <p:nvSpPr>
            <p:cNvPr id="60563" name="Line 91"/>
            <p:cNvSpPr/>
            <p:nvPr/>
          </p:nvSpPr>
          <p:spPr>
            <a:xfrm>
              <a:off x="0" y="99"/>
              <a:ext cx="0" cy="288"/>
            </a:xfrm>
            <a:prstGeom prst="line">
              <a:avLst/>
            </a:prstGeom>
            <a:ln w="6350" cap="flat" cmpd="sng">
              <a:solidFill>
                <a:schemeClr val="tx1"/>
              </a:solidFill>
              <a:prstDash val="solid"/>
              <a:headEnd type="none" w="med" len="med"/>
              <a:tailEnd type="none" w="med" len="med"/>
            </a:ln>
          </p:spPr>
        </p:sp>
        <p:sp>
          <p:nvSpPr>
            <p:cNvPr id="60564" name="Line 92"/>
            <p:cNvSpPr/>
            <p:nvPr/>
          </p:nvSpPr>
          <p:spPr>
            <a:xfrm>
              <a:off x="2016" y="99"/>
              <a:ext cx="0" cy="288"/>
            </a:xfrm>
            <a:prstGeom prst="line">
              <a:avLst/>
            </a:prstGeom>
            <a:ln w="6350" cap="flat" cmpd="sng">
              <a:solidFill>
                <a:schemeClr val="tx1"/>
              </a:solidFill>
              <a:prstDash val="solid"/>
              <a:headEnd type="none" w="med" len="med"/>
              <a:tailEnd type="none" w="med" len="med"/>
            </a:ln>
          </p:spPr>
        </p:sp>
        <p:sp>
          <p:nvSpPr>
            <p:cNvPr id="60565" name="Text Box 93"/>
            <p:cNvSpPr txBox="1"/>
            <p:nvPr/>
          </p:nvSpPr>
          <p:spPr>
            <a:xfrm>
              <a:off x="672" y="0"/>
              <a:ext cx="480"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B</a:t>
              </a:r>
              <a:endParaRPr lang="en-US" altLang="zh-CN" sz="2400" b="1" dirty="0">
                <a:solidFill>
                  <a:schemeClr val="tx1"/>
                </a:solidFill>
                <a:latin typeface="Times New Roman" panose="02020603050405020304" pitchFamily="18" charset="0"/>
              </a:endParaRPr>
            </a:p>
          </p:txBody>
        </p:sp>
      </p:grpSp>
      <p:graphicFrame>
        <p:nvGraphicFramePr>
          <p:cNvPr id="59476" name="Group 84"/>
          <p:cNvGraphicFramePr>
            <a:graphicFrameLocks noGrp="1"/>
          </p:cNvGraphicFramePr>
          <p:nvPr/>
        </p:nvGraphicFramePr>
        <p:xfrm>
          <a:off x="4648200" y="1004888"/>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0507" name="Group 122"/>
          <p:cNvGrpSpPr/>
          <p:nvPr/>
        </p:nvGrpSpPr>
        <p:grpSpPr>
          <a:xfrm>
            <a:off x="5486400" y="4629150"/>
            <a:ext cx="1600200" cy="565150"/>
            <a:chOff x="0" y="0"/>
            <a:chExt cx="1008" cy="474"/>
          </a:xfrm>
        </p:grpSpPr>
        <p:sp>
          <p:nvSpPr>
            <p:cNvPr id="60558" name="Line 123"/>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60559" name="Line 124"/>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60560" name="Line 125"/>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60561" name="Text Box 126"/>
            <p:cNvSpPr txBox="1"/>
            <p:nvPr/>
          </p:nvSpPr>
          <p:spPr>
            <a:xfrm>
              <a:off x="384" y="86"/>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endParaRPr lang="en-US" altLang="zh-CN" sz="2400" b="1" dirty="0">
                <a:solidFill>
                  <a:schemeClr val="tx1"/>
                </a:solidFill>
                <a:latin typeface="Times New Roman" panose="02020603050405020304" pitchFamily="18" charset="0"/>
              </a:endParaRPr>
            </a:p>
          </p:txBody>
        </p:sp>
      </p:grpSp>
      <p:graphicFrame>
        <p:nvGraphicFramePr>
          <p:cNvPr id="59508" name="Group 116"/>
          <p:cNvGraphicFramePr>
            <a:graphicFrameLocks noGrp="1"/>
          </p:cNvGraphicFramePr>
          <p:nvPr/>
        </p:nvGraphicFramePr>
        <p:xfrm>
          <a:off x="4648200" y="2890838"/>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0535" name="Group 159"/>
          <p:cNvGrpSpPr/>
          <p:nvPr/>
        </p:nvGrpSpPr>
        <p:grpSpPr>
          <a:xfrm>
            <a:off x="6286500" y="446088"/>
            <a:ext cx="1600200" cy="525462"/>
            <a:chOff x="0" y="0"/>
            <a:chExt cx="1008" cy="442"/>
          </a:xfrm>
        </p:grpSpPr>
        <p:sp>
          <p:nvSpPr>
            <p:cNvPr id="60554" name="Line 160"/>
            <p:cNvSpPr/>
            <p:nvPr/>
          </p:nvSpPr>
          <p:spPr>
            <a:xfrm>
              <a:off x="0" y="298"/>
              <a:ext cx="1008" cy="0"/>
            </a:xfrm>
            <a:prstGeom prst="line">
              <a:avLst/>
            </a:prstGeom>
            <a:ln w="6350" cap="flat" cmpd="sng">
              <a:solidFill>
                <a:schemeClr val="tx1"/>
              </a:solidFill>
              <a:prstDash val="solid"/>
              <a:headEnd type="none" w="med" len="med"/>
              <a:tailEnd type="none" w="med" len="med"/>
            </a:ln>
          </p:spPr>
        </p:sp>
        <p:sp>
          <p:nvSpPr>
            <p:cNvPr id="60555" name="Line 161"/>
            <p:cNvSpPr/>
            <p:nvPr/>
          </p:nvSpPr>
          <p:spPr>
            <a:xfrm>
              <a:off x="0" y="298"/>
              <a:ext cx="0" cy="144"/>
            </a:xfrm>
            <a:prstGeom prst="line">
              <a:avLst/>
            </a:prstGeom>
            <a:ln w="6350" cap="flat" cmpd="sng">
              <a:solidFill>
                <a:schemeClr val="tx1"/>
              </a:solidFill>
              <a:prstDash val="solid"/>
              <a:headEnd type="none" w="med" len="med"/>
              <a:tailEnd type="none" w="med" len="med"/>
            </a:ln>
          </p:spPr>
        </p:sp>
        <p:sp>
          <p:nvSpPr>
            <p:cNvPr id="60556" name="Line 162"/>
            <p:cNvSpPr/>
            <p:nvPr/>
          </p:nvSpPr>
          <p:spPr>
            <a:xfrm>
              <a:off x="1008" y="298"/>
              <a:ext cx="0" cy="144"/>
            </a:xfrm>
            <a:prstGeom prst="line">
              <a:avLst/>
            </a:prstGeom>
            <a:ln w="6350" cap="flat" cmpd="sng">
              <a:solidFill>
                <a:schemeClr val="tx1"/>
              </a:solidFill>
              <a:prstDash val="solid"/>
              <a:headEnd type="none" w="med" len="med"/>
              <a:tailEnd type="none" w="med" len="med"/>
            </a:ln>
          </p:spPr>
        </p:sp>
        <p:sp>
          <p:nvSpPr>
            <p:cNvPr id="60557" name="Text Box 163"/>
            <p:cNvSpPr txBox="1"/>
            <p:nvPr/>
          </p:nvSpPr>
          <p:spPr>
            <a:xfrm>
              <a:off x="384" y="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endParaRPr lang="en-US" altLang="zh-CN" sz="2400" b="1" dirty="0">
                <a:solidFill>
                  <a:schemeClr val="tx1"/>
                </a:solidFill>
                <a:latin typeface="Times New Roman" panose="02020603050405020304" pitchFamily="18" charset="0"/>
              </a:endParaRPr>
            </a:p>
          </p:txBody>
        </p:sp>
      </p:grpSp>
      <p:grpSp>
        <p:nvGrpSpPr>
          <p:cNvPr id="60536" name="Group 164"/>
          <p:cNvGrpSpPr/>
          <p:nvPr/>
        </p:nvGrpSpPr>
        <p:grpSpPr>
          <a:xfrm>
            <a:off x="7924800" y="3743325"/>
            <a:ext cx="762000" cy="885825"/>
            <a:chOff x="0" y="0"/>
            <a:chExt cx="480" cy="744"/>
          </a:xfrm>
        </p:grpSpPr>
        <p:sp>
          <p:nvSpPr>
            <p:cNvPr id="60547" name="Line 165"/>
            <p:cNvSpPr/>
            <p:nvPr/>
          </p:nvSpPr>
          <p:spPr>
            <a:xfrm>
              <a:off x="144" y="0"/>
              <a:ext cx="0" cy="720"/>
            </a:xfrm>
            <a:prstGeom prst="line">
              <a:avLst/>
            </a:prstGeom>
            <a:ln w="9525" cap="flat" cmpd="sng">
              <a:solidFill>
                <a:srgbClr val="FFFFFF"/>
              </a:solidFill>
              <a:prstDash val="solid"/>
              <a:headEnd type="none" w="med" len="med"/>
              <a:tailEnd type="none" w="med" len="med"/>
            </a:ln>
          </p:spPr>
        </p:sp>
        <p:sp>
          <p:nvSpPr>
            <p:cNvPr id="60548" name="Line 166"/>
            <p:cNvSpPr/>
            <p:nvPr/>
          </p:nvSpPr>
          <p:spPr>
            <a:xfrm>
              <a:off x="0" y="720"/>
              <a:ext cx="144" cy="0"/>
            </a:xfrm>
            <a:prstGeom prst="line">
              <a:avLst/>
            </a:prstGeom>
            <a:ln w="9525" cap="flat" cmpd="sng">
              <a:solidFill>
                <a:srgbClr val="FFFFFF"/>
              </a:solidFill>
              <a:prstDash val="solid"/>
              <a:headEnd type="none" w="med" len="med"/>
              <a:tailEnd type="none" w="med" len="med"/>
            </a:ln>
          </p:spPr>
        </p:sp>
        <p:sp>
          <p:nvSpPr>
            <p:cNvPr id="60549" name="Line 167"/>
            <p:cNvSpPr/>
            <p:nvPr/>
          </p:nvSpPr>
          <p:spPr>
            <a:xfrm>
              <a:off x="0" y="0"/>
              <a:ext cx="144" cy="0"/>
            </a:xfrm>
            <a:prstGeom prst="line">
              <a:avLst/>
            </a:prstGeom>
            <a:ln w="9525" cap="flat" cmpd="sng">
              <a:solidFill>
                <a:srgbClr val="FFFFFF"/>
              </a:solidFill>
              <a:prstDash val="solid"/>
              <a:headEnd type="none" w="med" len="med"/>
              <a:tailEnd type="none" w="med" len="med"/>
            </a:ln>
          </p:spPr>
        </p:sp>
        <p:sp>
          <p:nvSpPr>
            <p:cNvPr id="60550" name="Text Box 168"/>
            <p:cNvSpPr txBox="1"/>
            <p:nvPr/>
          </p:nvSpPr>
          <p:spPr>
            <a:xfrm>
              <a:off x="144" y="24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E</a:t>
              </a:r>
              <a:endParaRPr lang="en-US" altLang="zh-CN" sz="2400" b="1" dirty="0">
                <a:solidFill>
                  <a:schemeClr val="tx1"/>
                </a:solidFill>
                <a:latin typeface="Times New Roman" panose="02020603050405020304" pitchFamily="18" charset="0"/>
              </a:endParaRPr>
            </a:p>
          </p:txBody>
        </p:sp>
        <p:sp>
          <p:nvSpPr>
            <p:cNvPr id="60551" name="Line 165"/>
            <p:cNvSpPr/>
            <p:nvPr/>
          </p:nvSpPr>
          <p:spPr>
            <a:xfrm>
              <a:off x="144" y="24"/>
              <a:ext cx="0" cy="720"/>
            </a:xfrm>
            <a:prstGeom prst="line">
              <a:avLst/>
            </a:prstGeom>
            <a:ln w="6350" cap="flat" cmpd="sng">
              <a:solidFill>
                <a:schemeClr val="tx1"/>
              </a:solidFill>
              <a:prstDash val="solid"/>
              <a:headEnd type="none" w="med" len="med"/>
              <a:tailEnd type="none" w="med" len="med"/>
            </a:ln>
          </p:spPr>
        </p:sp>
        <p:sp>
          <p:nvSpPr>
            <p:cNvPr id="60552" name="Line 166"/>
            <p:cNvSpPr/>
            <p:nvPr/>
          </p:nvSpPr>
          <p:spPr>
            <a:xfrm>
              <a:off x="0" y="744"/>
              <a:ext cx="144" cy="0"/>
            </a:xfrm>
            <a:prstGeom prst="line">
              <a:avLst/>
            </a:prstGeom>
            <a:ln w="6350" cap="flat" cmpd="sng">
              <a:solidFill>
                <a:schemeClr val="tx1"/>
              </a:solidFill>
              <a:prstDash val="solid"/>
              <a:headEnd type="none" w="med" len="med"/>
              <a:tailEnd type="none" w="med" len="med"/>
            </a:ln>
          </p:spPr>
        </p:sp>
        <p:sp>
          <p:nvSpPr>
            <p:cNvPr id="60553" name="Line 167"/>
            <p:cNvSpPr/>
            <p:nvPr/>
          </p:nvSpPr>
          <p:spPr>
            <a:xfrm>
              <a:off x="0" y="24"/>
              <a:ext cx="144" cy="0"/>
            </a:xfrm>
            <a:prstGeom prst="line">
              <a:avLst/>
            </a:prstGeom>
            <a:ln w="6350" cap="flat" cmpd="sng">
              <a:solidFill>
                <a:schemeClr val="tx1"/>
              </a:solidFill>
              <a:prstDash val="solid"/>
              <a:headEnd type="none" w="med" len="med"/>
              <a:tailEnd type="none" w="med" len="med"/>
            </a:ln>
          </p:spPr>
        </p:sp>
      </p:grpSp>
      <p:grpSp>
        <p:nvGrpSpPr>
          <p:cNvPr id="60537" name="Group 169"/>
          <p:cNvGrpSpPr/>
          <p:nvPr/>
        </p:nvGrpSpPr>
        <p:grpSpPr>
          <a:xfrm>
            <a:off x="457200" y="3314700"/>
            <a:ext cx="609600" cy="857250"/>
            <a:chOff x="0" y="0"/>
            <a:chExt cx="384" cy="720"/>
          </a:xfrm>
        </p:grpSpPr>
        <p:sp>
          <p:nvSpPr>
            <p:cNvPr id="60543" name="Line 170"/>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60544" name="Line 171"/>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60545" name="Line 172"/>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60546" name="Text Box 173"/>
            <p:cNvSpPr txBox="1"/>
            <p:nvPr/>
          </p:nvSpPr>
          <p:spPr>
            <a:xfrm>
              <a:off x="0" y="24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F</a:t>
              </a:r>
              <a:endParaRPr lang="en-US" altLang="zh-CN" sz="2400" b="1" dirty="0">
                <a:solidFill>
                  <a:schemeClr val="tx1"/>
                </a:solidFill>
                <a:latin typeface="Times New Roman" panose="02020603050405020304" pitchFamily="18" charset="0"/>
              </a:endParaRPr>
            </a:p>
          </p:txBody>
        </p:sp>
      </p:grpSp>
      <p:grpSp>
        <p:nvGrpSpPr>
          <p:cNvPr id="60538" name="Group 178"/>
          <p:cNvGrpSpPr/>
          <p:nvPr/>
        </p:nvGrpSpPr>
        <p:grpSpPr>
          <a:xfrm>
            <a:off x="7924800" y="2914650"/>
            <a:ext cx="996950" cy="1714500"/>
            <a:chOff x="0" y="0"/>
            <a:chExt cx="628" cy="1440"/>
          </a:xfrm>
        </p:grpSpPr>
        <p:sp>
          <p:nvSpPr>
            <p:cNvPr id="60539" name="Line 174"/>
            <p:cNvSpPr/>
            <p:nvPr/>
          </p:nvSpPr>
          <p:spPr>
            <a:xfrm>
              <a:off x="337" y="0"/>
              <a:ext cx="0" cy="1440"/>
            </a:xfrm>
            <a:prstGeom prst="line">
              <a:avLst/>
            </a:prstGeom>
            <a:ln w="6350" cap="flat" cmpd="sng">
              <a:solidFill>
                <a:schemeClr val="tx1"/>
              </a:solidFill>
              <a:prstDash val="solid"/>
              <a:headEnd type="none" w="med" len="med"/>
              <a:tailEnd type="none" w="med" len="med"/>
            </a:ln>
          </p:spPr>
        </p:sp>
        <p:sp>
          <p:nvSpPr>
            <p:cNvPr id="60540" name="Line 175"/>
            <p:cNvSpPr/>
            <p:nvPr/>
          </p:nvSpPr>
          <p:spPr>
            <a:xfrm flipH="1">
              <a:off x="0" y="0"/>
              <a:ext cx="311" cy="0"/>
            </a:xfrm>
            <a:prstGeom prst="line">
              <a:avLst/>
            </a:prstGeom>
            <a:ln w="6350" cap="flat" cmpd="sng">
              <a:solidFill>
                <a:schemeClr val="tx1"/>
              </a:solidFill>
              <a:prstDash val="solid"/>
              <a:headEnd type="none" w="med" len="med"/>
              <a:tailEnd type="none" w="med" len="med"/>
            </a:ln>
          </p:spPr>
        </p:sp>
        <p:sp>
          <p:nvSpPr>
            <p:cNvPr id="60541" name="Line 176"/>
            <p:cNvSpPr/>
            <p:nvPr/>
          </p:nvSpPr>
          <p:spPr>
            <a:xfrm flipH="1">
              <a:off x="20" y="1437"/>
              <a:ext cx="336" cy="0"/>
            </a:xfrm>
            <a:prstGeom prst="line">
              <a:avLst/>
            </a:prstGeom>
            <a:ln w="6350" cap="flat" cmpd="sng">
              <a:solidFill>
                <a:schemeClr val="tx1"/>
              </a:solidFill>
              <a:prstDash val="solid"/>
              <a:headEnd type="none" w="med" len="med"/>
              <a:tailEnd type="none" w="med" len="med"/>
            </a:ln>
          </p:spPr>
        </p:sp>
        <p:sp>
          <p:nvSpPr>
            <p:cNvPr id="60542" name="Text Box 177"/>
            <p:cNvSpPr txBox="1"/>
            <p:nvPr/>
          </p:nvSpPr>
          <p:spPr>
            <a:xfrm>
              <a:off x="292" y="528"/>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A</a:t>
              </a:r>
              <a:endParaRPr lang="en-US" altLang="zh-CN" sz="2400" b="1" dirty="0">
                <a:solidFill>
                  <a:schemeClr val="tx1"/>
                </a:solidFill>
                <a:latin typeface="Times New Roman" panose="02020603050405020304" pitchFamily="18" charset="0"/>
              </a:endParaRPr>
            </a:p>
          </p:txBody>
        </p:sp>
      </p:grpSp>
    </p:spTree>
  </p:cSld>
  <p:clrMapOvr>
    <a:masterClrMapping/>
  </p:clrMapOvr>
  <p:transition advTm="2000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144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1444" name="Rectangle 3"/>
          <p:cNvSpPr>
            <a:spLocks noGrp="1"/>
          </p:cNvSpPr>
          <p:nvPr>
            <p:ph type="title"/>
          </p:nvPr>
        </p:nvSpPr>
        <p:spPr>
          <a:xfrm>
            <a:off x="471488" y="544513"/>
            <a:ext cx="3884612" cy="45720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②卡诺图的构成特点：</a:t>
            </a:r>
            <a:endParaRPr lang="zh-CN" altLang="en-US" sz="1800" b="1" dirty="0">
              <a:latin typeface="黑体" panose="02010609060101010101" pitchFamily="49" charset="-122"/>
              <a:ea typeface="黑体" panose="02010609060101010101" pitchFamily="49" charset="-122"/>
            </a:endParaRPr>
          </a:p>
        </p:txBody>
      </p:sp>
      <p:sp>
        <p:nvSpPr>
          <p:cNvPr id="61445" name="Rectangle 4"/>
          <p:cNvSpPr>
            <a:spLocks noGrp="1"/>
          </p:cNvSpPr>
          <p:nvPr>
            <p:ph/>
          </p:nvPr>
        </p:nvSpPr>
        <p:spPr>
          <a:xfrm>
            <a:off x="468630" y="1122680"/>
            <a:ext cx="8046085" cy="728345"/>
          </a:xfrm>
          <a:prstGeom prst="rect">
            <a:avLst/>
          </a:prstGeom>
          <a:noFill/>
          <a:ln w="9525">
            <a:noFill/>
          </a:ln>
        </p:spPr>
        <p:txBody>
          <a:bodyPr/>
          <a:p>
            <a:pPr eaLnBrk="1" hangingPunct="1">
              <a:lnSpc>
                <a:spcPct val="75000"/>
              </a:lnSpc>
              <a:spcBef>
                <a:spcPct val="50000"/>
              </a:spcBef>
              <a:buNone/>
            </a:pPr>
            <a:r>
              <a:rPr lang="en-US" altLang="zh-CN" sz="1800" dirty="0">
                <a:latin typeface="黑体" panose="02010609060101010101" pitchFamily="49" charset="-122"/>
                <a:ea typeface="黑体" panose="02010609060101010101" pitchFamily="49" charset="-122"/>
              </a:rPr>
              <a:t>⑴ </a:t>
            </a:r>
            <a:r>
              <a:rPr lang="en-US" altLang="zh-CN" sz="1800" b="1" dirty="0">
                <a:latin typeface="黑体" panose="02010609060101010101" pitchFamily="49" charset="-122"/>
                <a:ea typeface="黑体" panose="02010609060101010101" pitchFamily="49" charset="-122"/>
              </a:rPr>
              <a:t>n </a:t>
            </a:r>
            <a:r>
              <a:rPr lang="zh-CN" altLang="en-US" sz="1800" b="1" dirty="0">
                <a:latin typeface="黑体" panose="02010609060101010101" pitchFamily="49" charset="-122"/>
                <a:ea typeface="黑体" panose="02010609060101010101" pitchFamily="49" charset="-122"/>
              </a:rPr>
              <a:t>变量函数</a:t>
            </a:r>
            <a:r>
              <a:rPr lang="zh-CN" altLang="en-US" sz="1800" dirty="0">
                <a:latin typeface="黑体" panose="02010609060101010101" pitchFamily="49" charset="-122"/>
                <a:ea typeface="黑体" panose="02010609060101010101" pitchFamily="49" charset="-122"/>
              </a:rPr>
              <a:t>卡诺图有</a:t>
            </a:r>
            <a:r>
              <a:rPr lang="en-US" altLang="zh-CN" sz="1800" b="1" dirty="0">
                <a:latin typeface="黑体" panose="02010609060101010101" pitchFamily="49" charset="-122"/>
                <a:ea typeface="黑体" panose="02010609060101010101" pitchFamily="49" charset="-122"/>
              </a:rPr>
              <a:t>2</a:t>
            </a:r>
            <a:r>
              <a:rPr lang="en-US" altLang="zh-CN" sz="1800" b="1" baseline="30000" dirty="0">
                <a:latin typeface="黑体" panose="02010609060101010101" pitchFamily="49" charset="-122"/>
                <a:ea typeface="黑体" panose="02010609060101010101" pitchFamily="49" charset="-122"/>
              </a:rPr>
              <a:t>n</a:t>
            </a:r>
            <a:r>
              <a:rPr lang="zh-CN" altLang="en-US" sz="1800" b="1" dirty="0">
                <a:latin typeface="黑体" panose="02010609060101010101" pitchFamily="49" charset="-122"/>
                <a:ea typeface="黑体" panose="02010609060101010101" pitchFamily="49" charset="-122"/>
              </a:rPr>
              <a:t>个小方格</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或称为单元</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小方格</a:t>
            </a:r>
            <a:r>
              <a:rPr lang="zh-CN" altLang="en-US" sz="1800" dirty="0">
                <a:latin typeface="黑体" panose="02010609060101010101" pitchFamily="49" charset="-122"/>
                <a:ea typeface="黑体" panose="02010609060101010101" pitchFamily="49" charset="-122"/>
              </a:rPr>
              <a:t>对应最小项。一个逻</a:t>
            </a:r>
            <a:endParaRPr lang="en-US" altLang="zh-CN" sz="1800" dirty="0">
              <a:latin typeface="黑体" panose="02010609060101010101" pitchFamily="49" charset="-122"/>
              <a:ea typeface="黑体" panose="02010609060101010101" pitchFamily="49" charset="-122"/>
            </a:endParaRPr>
          </a:p>
          <a:p>
            <a:pPr eaLnBrk="1" hangingPunct="1">
              <a:lnSpc>
                <a:spcPct val="75000"/>
              </a:lnSpc>
              <a:spcBef>
                <a:spcPct val="50000"/>
              </a:spcBef>
              <a:buNone/>
            </a:pPr>
            <a:r>
              <a:rPr lang="zh-CN" altLang="en-US" sz="1800" dirty="0">
                <a:latin typeface="黑体" panose="02010609060101010101" pitchFamily="49" charset="-122"/>
                <a:ea typeface="黑体" panose="02010609060101010101" pitchFamily="49" charset="-122"/>
              </a:rPr>
              <a:t>辑函数</a:t>
            </a:r>
            <a:r>
              <a:rPr lang="zh-CN" altLang="en-US" sz="1800" b="1" dirty="0">
                <a:latin typeface="黑体" panose="02010609060101010101" pitchFamily="49" charset="-122"/>
                <a:ea typeface="黑体" panose="02010609060101010101" pitchFamily="49" charset="-122"/>
              </a:rPr>
              <a:t>可以</a:t>
            </a:r>
            <a:r>
              <a:rPr lang="zh-CN" altLang="en-US" sz="1800" b="1" dirty="0">
                <a:solidFill>
                  <a:srgbClr val="FF0000"/>
                </a:solidFill>
                <a:latin typeface="黑体" panose="02010609060101010101" pitchFamily="49" charset="-122"/>
                <a:ea typeface="黑体" panose="02010609060101010101" pitchFamily="49" charset="-122"/>
              </a:rPr>
              <a:t>唯一地</a:t>
            </a:r>
            <a:r>
              <a:rPr lang="zh-CN" altLang="en-US" sz="1800" b="1" dirty="0">
                <a:latin typeface="黑体" panose="02010609060101010101" pitchFamily="49" charset="-122"/>
                <a:ea typeface="黑体" panose="02010609060101010101" pitchFamily="49" charset="-122"/>
              </a:rPr>
              <a:t>图示于卡诺图上</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sp>
        <p:nvSpPr>
          <p:cNvPr id="60422" name="Text Box 15"/>
          <p:cNvSpPr txBox="1"/>
          <p:nvPr/>
        </p:nvSpPr>
        <p:spPr>
          <a:xfrm>
            <a:off x="228600" y="1928813"/>
            <a:ext cx="8915400" cy="369887"/>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F =  m</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，其真值表和卡诺图标注如下：</a:t>
            </a:r>
            <a:endParaRPr lang="zh-CN" altLang="en-US" sz="1800" dirty="0">
              <a:solidFill>
                <a:schemeClr val="tx1"/>
              </a:solidFill>
              <a:latin typeface="黑体" panose="02010609060101010101" pitchFamily="49" charset="-122"/>
              <a:ea typeface="黑体" panose="02010609060101010101" pitchFamily="49" charset="-122"/>
            </a:endParaRPr>
          </a:p>
        </p:txBody>
      </p:sp>
      <p:graphicFrame>
        <p:nvGraphicFramePr>
          <p:cNvPr id="60423" name="Group 7"/>
          <p:cNvGraphicFramePr>
            <a:graphicFrameLocks noGrp="1"/>
          </p:cNvGraphicFramePr>
          <p:nvPr/>
        </p:nvGraphicFramePr>
        <p:xfrm>
          <a:off x="1066800" y="2528888"/>
          <a:ext cx="3276600" cy="2444750"/>
        </p:xfrm>
        <a:graphic>
          <a:graphicData uri="http://schemas.openxmlformats.org/drawingml/2006/table">
            <a:tbl>
              <a:tblPr/>
              <a:tblGrid>
                <a:gridCol w="819150"/>
                <a:gridCol w="1009650"/>
                <a:gridCol w="628650"/>
                <a:gridCol w="819150"/>
              </a:tblGrid>
              <a:tr h="407988">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行号</a:t>
                      </a:r>
                      <a:endParaRPr kumimoji="0" lang="zh-CN" altLang="en-US"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7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i</a:t>
                      </a:r>
                      <a:endParaRPr kumimoji="0" lang="en-US" altLang="zh-CN" sz="17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036762">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0 0 1</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0 1 1</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1 0 1</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1 1 0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1 1 1</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60440" name="Group 24"/>
          <p:cNvGraphicFramePr>
            <a:graphicFrameLocks noGrp="1"/>
          </p:cNvGraphicFramePr>
          <p:nvPr/>
        </p:nvGraphicFramePr>
        <p:xfrm>
          <a:off x="5410200" y="3062288"/>
          <a:ext cx="2743200" cy="1181100"/>
        </p:xfrm>
        <a:graphic>
          <a:graphicData uri="http://schemas.openxmlformats.org/drawingml/2006/table">
            <a:tbl>
              <a:tblPr/>
              <a:tblGrid>
                <a:gridCol w="685800"/>
                <a:gridCol w="685800"/>
                <a:gridCol w="685800"/>
                <a:gridCol w="685800"/>
              </a:tblGrid>
              <a:tr h="5905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905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61481" name="Line 88"/>
          <p:cNvSpPr/>
          <p:nvPr/>
        </p:nvSpPr>
        <p:spPr>
          <a:xfrm>
            <a:off x="5048250" y="2686050"/>
            <a:ext cx="381000" cy="400050"/>
          </a:xfrm>
          <a:prstGeom prst="line">
            <a:avLst/>
          </a:prstGeom>
          <a:ln w="6350" cap="flat" cmpd="sng">
            <a:solidFill>
              <a:schemeClr val="tx1"/>
            </a:solidFill>
            <a:prstDash val="solid"/>
            <a:headEnd type="none" w="med" len="med"/>
            <a:tailEnd type="none" w="med" len="med"/>
          </a:ln>
        </p:spPr>
      </p:sp>
      <p:sp>
        <p:nvSpPr>
          <p:cNvPr id="61482" name="Text Box 89"/>
          <p:cNvSpPr txBox="1"/>
          <p:nvPr/>
        </p:nvSpPr>
        <p:spPr>
          <a:xfrm>
            <a:off x="5181600" y="2586038"/>
            <a:ext cx="10668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3" name="Text Box 90"/>
          <p:cNvSpPr txBox="1"/>
          <p:nvPr/>
        </p:nvSpPr>
        <p:spPr>
          <a:xfrm>
            <a:off x="4876800" y="2814638"/>
            <a:ext cx="6096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4" name="Text Box 91"/>
          <p:cNvSpPr txBox="1"/>
          <p:nvPr/>
        </p:nvSpPr>
        <p:spPr>
          <a:xfrm>
            <a:off x="5562600" y="37623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61485" name="Text Box 92"/>
          <p:cNvSpPr txBox="1"/>
          <p:nvPr/>
        </p:nvSpPr>
        <p:spPr>
          <a:xfrm>
            <a:off x="6248400" y="3157538"/>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61486" name="Text Box 93"/>
          <p:cNvSpPr txBox="1"/>
          <p:nvPr/>
        </p:nvSpPr>
        <p:spPr>
          <a:xfrm>
            <a:off x="6934200" y="37623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61487" name="Text Box 94"/>
          <p:cNvSpPr txBox="1"/>
          <p:nvPr/>
        </p:nvSpPr>
        <p:spPr>
          <a:xfrm>
            <a:off x="7543800" y="3786188"/>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422"/>
                                        </p:tgtEl>
                                        <p:attrNameLst>
                                          <p:attrName>style.visibility</p:attrName>
                                        </p:attrNameLst>
                                      </p:cBhvr>
                                      <p:to>
                                        <p:strVal val="visible"/>
                                      </p:to>
                                    </p:set>
                                    <p:animEffect transition="in" filter="fade">
                                      <p:cBhvr>
                                        <p:cTn id="7" dur="500"/>
                                        <p:tgtEl>
                                          <p:spTgt spid="604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423"/>
                                        </p:tgtEl>
                                        <p:attrNameLst>
                                          <p:attrName>style.visibility</p:attrName>
                                        </p:attrNameLst>
                                      </p:cBhvr>
                                      <p:to>
                                        <p:strVal val="visible"/>
                                      </p:to>
                                    </p:set>
                                    <p:animEffect transition="in" filter="fade">
                                      <p:cBhvr>
                                        <p:cTn id="12" dur="500"/>
                                        <p:tgtEl>
                                          <p:spTgt spid="60423"/>
                                        </p:tgtEl>
                                      </p:cBhvr>
                                    </p:animEffect>
                                  </p:childTnLst>
                                </p:cTn>
                              </p:par>
                              <p:par>
                                <p:cTn id="13" presetID="10" presetClass="entr" presetSubtype="0" fill="hold" nodeType="withEffect">
                                  <p:stCondLst>
                                    <p:cond delay="0"/>
                                  </p:stCondLst>
                                  <p:childTnLst>
                                    <p:set>
                                      <p:cBhvr>
                                        <p:cTn id="14" dur="1" fill="hold">
                                          <p:stCondLst>
                                            <p:cond delay="0"/>
                                          </p:stCondLst>
                                        </p:cTn>
                                        <p:tgtEl>
                                          <p:spTgt spid="60440"/>
                                        </p:tgtEl>
                                        <p:attrNameLst>
                                          <p:attrName>style.visibility</p:attrName>
                                        </p:attrNameLst>
                                      </p:cBhvr>
                                      <p:to>
                                        <p:strVal val="visible"/>
                                      </p:to>
                                    </p:set>
                                    <p:animEffect transition="in" filter="fade">
                                      <p:cBhvr>
                                        <p:cTn id="15" dur="500"/>
                                        <p:tgtEl>
                                          <p:spTgt spid="6044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1482"/>
                                        </p:tgtEl>
                                        <p:attrNameLst>
                                          <p:attrName>style.visibility</p:attrName>
                                        </p:attrNameLst>
                                      </p:cBhvr>
                                      <p:to>
                                        <p:strVal val="visible"/>
                                      </p:to>
                                    </p:set>
                                    <p:animEffect transition="in" filter="fade">
                                      <p:cBhvr>
                                        <p:cTn id="18" dur="500"/>
                                        <p:tgtEl>
                                          <p:spTgt spid="6148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1483"/>
                                        </p:tgtEl>
                                        <p:attrNameLst>
                                          <p:attrName>style.visibility</p:attrName>
                                        </p:attrNameLst>
                                      </p:cBhvr>
                                      <p:to>
                                        <p:strVal val="visible"/>
                                      </p:to>
                                    </p:set>
                                    <p:animEffect transition="in" filter="fade">
                                      <p:cBhvr>
                                        <p:cTn id="21" dur="500"/>
                                        <p:tgtEl>
                                          <p:spTgt spid="61483"/>
                                        </p:tgtEl>
                                      </p:cBhvr>
                                    </p:animEffect>
                                  </p:childTnLst>
                                </p:cTn>
                              </p:par>
                              <p:par>
                                <p:cTn id="22" presetID="10" presetClass="entr" presetSubtype="0" fill="hold" nodeType="withEffect">
                                  <p:stCondLst>
                                    <p:cond delay="0"/>
                                  </p:stCondLst>
                                  <p:childTnLst>
                                    <p:set>
                                      <p:cBhvr>
                                        <p:cTn id="23" dur="1" fill="hold">
                                          <p:stCondLst>
                                            <p:cond delay="0"/>
                                          </p:stCondLst>
                                        </p:cTn>
                                        <p:tgtEl>
                                          <p:spTgt spid="61481"/>
                                        </p:tgtEl>
                                        <p:attrNameLst>
                                          <p:attrName>style.visibility</p:attrName>
                                        </p:attrNameLst>
                                      </p:cBhvr>
                                      <p:to>
                                        <p:strVal val="visible"/>
                                      </p:to>
                                    </p:set>
                                    <p:animEffect transition="in" filter="fade">
                                      <p:cBhvr>
                                        <p:cTn id="24" dur="500"/>
                                        <p:tgtEl>
                                          <p:spTgt spid="6148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1485"/>
                                        </p:tgtEl>
                                        <p:attrNameLst>
                                          <p:attrName>style.visibility</p:attrName>
                                        </p:attrNameLst>
                                      </p:cBhvr>
                                      <p:to>
                                        <p:strVal val="visible"/>
                                      </p:to>
                                    </p:set>
                                    <p:animEffect transition="in" filter="fade">
                                      <p:cBhvr>
                                        <p:cTn id="27" dur="500"/>
                                        <p:tgtEl>
                                          <p:spTgt spid="6148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1484"/>
                                        </p:tgtEl>
                                        <p:attrNameLst>
                                          <p:attrName>style.visibility</p:attrName>
                                        </p:attrNameLst>
                                      </p:cBhvr>
                                      <p:to>
                                        <p:strVal val="visible"/>
                                      </p:to>
                                    </p:set>
                                    <p:animEffect transition="in" filter="fade">
                                      <p:cBhvr>
                                        <p:cTn id="30" dur="500"/>
                                        <p:tgtEl>
                                          <p:spTgt spid="6148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486"/>
                                        </p:tgtEl>
                                        <p:attrNameLst>
                                          <p:attrName>style.visibility</p:attrName>
                                        </p:attrNameLst>
                                      </p:cBhvr>
                                      <p:to>
                                        <p:strVal val="visible"/>
                                      </p:to>
                                    </p:set>
                                    <p:animEffect transition="in" filter="fade">
                                      <p:cBhvr>
                                        <p:cTn id="33" dur="500"/>
                                        <p:tgtEl>
                                          <p:spTgt spid="6148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1487"/>
                                        </p:tgtEl>
                                        <p:attrNameLst>
                                          <p:attrName>style.visibility</p:attrName>
                                        </p:attrNameLst>
                                      </p:cBhvr>
                                      <p:to>
                                        <p:strVal val="visible"/>
                                      </p:to>
                                    </p:set>
                                    <p:animEffect transition="in" filter="fade">
                                      <p:cBhvr>
                                        <p:cTn id="36" dur="500"/>
                                        <p:tgtEl>
                                          <p:spTgt spid="61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2" grpId="0"/>
      <p:bldP spid="61482" grpId="0"/>
      <p:bldP spid="61483" grpId="0"/>
      <p:bldP spid="61484" grpId="0"/>
      <p:bldP spid="61485" grpId="0"/>
      <p:bldP spid="61486" grpId="0"/>
      <p:bldP spid="6148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246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2468" name="Rectangle 3"/>
          <p:cNvSpPr>
            <a:spLocks noGrp="1"/>
          </p:cNvSpPr>
          <p:nvPr>
            <p:ph type="title"/>
          </p:nvPr>
        </p:nvSpPr>
        <p:spPr>
          <a:xfrm>
            <a:off x="471488" y="601663"/>
            <a:ext cx="7772400" cy="45720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②卡诺图的构成特点（续</a:t>
            </a:r>
            <a:r>
              <a:rPr lang="en-US" altLang="zh-CN" sz="1800" b="1" dirty="0">
                <a:latin typeface="黑体" panose="02010609060101010101" pitchFamily="49" charset="-122"/>
                <a:ea typeface="黑体" panose="02010609060101010101" pitchFamily="49" charset="-122"/>
              </a:rPr>
              <a:t>1</a:t>
            </a:r>
            <a:r>
              <a:rPr lang="zh-CN" altLang="en-US" sz="1800" b="1" dirty="0">
                <a:latin typeface="黑体" panose="02010609060101010101" pitchFamily="49" charset="-122"/>
                <a:ea typeface="黑体" panose="02010609060101010101" pitchFamily="49" charset="-122"/>
              </a:rPr>
              <a:t>）：</a:t>
            </a:r>
            <a:endParaRPr lang="zh-CN" altLang="en-US" sz="1800" b="1" dirty="0">
              <a:latin typeface="黑体" panose="02010609060101010101" pitchFamily="49" charset="-122"/>
              <a:ea typeface="黑体" panose="02010609060101010101" pitchFamily="49" charset="-122"/>
            </a:endParaRPr>
          </a:p>
        </p:txBody>
      </p:sp>
      <p:sp>
        <p:nvSpPr>
          <p:cNvPr id="62469" name="Rectangle 4"/>
          <p:cNvSpPr>
            <a:spLocks noGrp="1"/>
          </p:cNvSpPr>
          <p:nvPr>
            <p:ph/>
          </p:nvPr>
        </p:nvSpPr>
        <p:spPr>
          <a:xfrm>
            <a:off x="490538" y="1003300"/>
            <a:ext cx="7826375" cy="1497013"/>
          </a:xfrm>
          <a:prstGeom prst="rect">
            <a:avLst/>
          </a:prstGeom>
          <a:noFill/>
          <a:ln w="9525">
            <a:noFill/>
          </a:ln>
        </p:spPr>
        <p:txBody>
          <a:bodyPr/>
          <a:p>
            <a:pPr eaLnBrk="1" hangingPunct="1">
              <a:lnSpc>
                <a:spcPct val="120000"/>
              </a:lnSpc>
              <a:spcBef>
                <a:spcPct val="50000"/>
              </a:spcBef>
              <a:buNone/>
            </a:pPr>
            <a:r>
              <a:rPr lang="en-US" altLang="zh-CN" sz="1800" dirty="0">
                <a:latin typeface="华文新魏" panose="02010800040101010101" pitchFamily="2" charset="-122"/>
                <a:ea typeface="华文新魏" panose="02010800040101010101" pitchFamily="2" charset="-122"/>
              </a:rPr>
              <a:t>⑵ </a:t>
            </a:r>
            <a:r>
              <a:rPr lang="zh-CN" altLang="en-US" sz="1800" dirty="0">
                <a:latin typeface="华文新魏" panose="02010800040101010101" pitchFamily="2" charset="-122"/>
                <a:ea typeface="华文新魏" panose="02010800040101010101" pitchFamily="2" charset="-122"/>
              </a:rPr>
              <a:t>整个卡诺图总是被</a:t>
            </a:r>
            <a:r>
              <a:rPr lang="zh-CN" altLang="en-US" sz="1800" b="1" dirty="0">
                <a:latin typeface="华文新魏" panose="02010800040101010101" pitchFamily="2" charset="-122"/>
                <a:ea typeface="华文新魏" panose="02010800040101010101" pitchFamily="2" charset="-122"/>
              </a:rPr>
              <a:t>每个变量分成两半</a:t>
            </a:r>
            <a:r>
              <a:rPr lang="zh-CN" altLang="en-US" sz="1800" dirty="0">
                <a:latin typeface="华文新魏" panose="02010800040101010101" pitchFamily="2" charset="-122"/>
                <a:ea typeface="华文新魏" panose="02010800040101010101" pitchFamily="2" charset="-122"/>
              </a:rPr>
              <a:t>：原变量，反变量各占一半。任一变量的原变量和反变量所占的区域又被其他变量分成两半。</a:t>
            </a:r>
            <a:endParaRPr lang="zh-CN" altLang="en-US" sz="1800" dirty="0">
              <a:latin typeface="华文新魏" panose="02010800040101010101" pitchFamily="2" charset="-122"/>
              <a:ea typeface="华文新魏" panose="02010800040101010101" pitchFamily="2" charset="-122"/>
            </a:endParaRPr>
          </a:p>
          <a:p>
            <a:pPr eaLnBrk="1" hangingPunct="1">
              <a:lnSpc>
                <a:spcPct val="120000"/>
              </a:lnSpc>
              <a:spcBef>
                <a:spcPct val="50000"/>
              </a:spcBef>
              <a:buNone/>
            </a:pPr>
            <a:r>
              <a:rPr lang="zh-CN" altLang="en-US" sz="1800" dirty="0">
                <a:latin typeface="华文新魏" panose="02010800040101010101" pitchFamily="2" charset="-122"/>
                <a:ea typeface="华文新魏" panose="02010800040101010101" pitchFamily="2" charset="-122"/>
              </a:rPr>
              <a:t>⑶ </a:t>
            </a:r>
            <a:r>
              <a:rPr lang="zh-CN" altLang="en-US" sz="1800" dirty="0">
                <a:solidFill>
                  <a:srgbClr val="FF0000"/>
                </a:solidFill>
                <a:latin typeface="华文新魏" panose="02010800040101010101" pitchFamily="2" charset="-122"/>
                <a:ea typeface="华文新魏" panose="02010800040101010101" pitchFamily="2" charset="-122"/>
              </a:rPr>
              <a:t>在行和列向</a:t>
            </a:r>
            <a:r>
              <a:rPr lang="zh-CN" altLang="en-US" sz="1800" b="1" dirty="0">
                <a:solidFill>
                  <a:srgbClr val="FF0000"/>
                </a:solidFill>
                <a:latin typeface="华文新魏" panose="02010800040101010101" pitchFamily="2" charset="-122"/>
                <a:ea typeface="华文新魏" panose="02010800040101010101" pitchFamily="2" charset="-122"/>
              </a:rPr>
              <a:t>相邻</a:t>
            </a:r>
            <a:r>
              <a:rPr lang="zh-CN" altLang="en-US" sz="1800" dirty="0">
                <a:solidFill>
                  <a:srgbClr val="FF0000"/>
                </a:solidFill>
                <a:latin typeface="华文新魏" panose="02010800040101010101" pitchFamily="2" charset="-122"/>
                <a:ea typeface="华文新魏" panose="02010800040101010101" pitchFamily="2" charset="-122"/>
              </a:rPr>
              <a:t>的小方格</a:t>
            </a:r>
            <a:r>
              <a:rPr lang="zh-CN" altLang="en-US" sz="1800" dirty="0">
                <a:latin typeface="华文新魏" panose="02010800040101010101" pitchFamily="2" charset="-122"/>
                <a:ea typeface="华文新魏" panose="02010800040101010101" pitchFamily="2" charset="-122"/>
              </a:rPr>
              <a:t>所表示的两个最小项，仅有一个变量不同，且它是一个互为相反的变量。</a:t>
            </a:r>
            <a:endParaRPr lang="zh-CN" altLang="en-US" sz="1800" dirty="0">
              <a:latin typeface="华文新魏" panose="02010800040101010101" pitchFamily="2" charset="-122"/>
              <a:ea typeface="华文新魏" panose="02010800040101010101" pitchFamily="2" charset="-122"/>
            </a:endParaRPr>
          </a:p>
        </p:txBody>
      </p:sp>
      <p:graphicFrame>
        <p:nvGraphicFramePr>
          <p:cNvPr id="61446" name="Group 6"/>
          <p:cNvGraphicFramePr>
            <a:graphicFrameLocks noGrp="1"/>
          </p:cNvGraphicFramePr>
          <p:nvPr/>
        </p:nvGraphicFramePr>
        <p:xfrm>
          <a:off x="2743200" y="2863850"/>
          <a:ext cx="3276600" cy="1657351"/>
        </p:xfrm>
        <a:graphic>
          <a:graphicData uri="http://schemas.openxmlformats.org/drawingml/2006/table">
            <a:tbl>
              <a:tblPr/>
              <a:tblGrid>
                <a:gridCol w="819150"/>
                <a:gridCol w="819150"/>
                <a:gridCol w="819150"/>
                <a:gridCol w="819150"/>
              </a:tblGrid>
              <a:tr h="34290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2497" name="Group 106"/>
          <p:cNvGrpSpPr/>
          <p:nvPr/>
        </p:nvGrpSpPr>
        <p:grpSpPr>
          <a:xfrm>
            <a:off x="4387850" y="2355850"/>
            <a:ext cx="1631950" cy="590550"/>
            <a:chOff x="0" y="0"/>
            <a:chExt cx="1028" cy="496"/>
          </a:xfrm>
        </p:grpSpPr>
        <p:sp>
          <p:nvSpPr>
            <p:cNvPr id="62513" name="Line 107"/>
            <p:cNvSpPr/>
            <p:nvPr/>
          </p:nvSpPr>
          <p:spPr>
            <a:xfrm>
              <a:off x="20" y="352"/>
              <a:ext cx="1008" cy="0"/>
            </a:xfrm>
            <a:prstGeom prst="line">
              <a:avLst/>
            </a:prstGeom>
            <a:ln w="9525" cap="flat" cmpd="sng">
              <a:solidFill>
                <a:srgbClr val="FFFFFF"/>
              </a:solidFill>
              <a:prstDash val="solid"/>
              <a:headEnd type="none" w="med" len="med"/>
              <a:tailEnd type="none" w="med" len="med"/>
            </a:ln>
          </p:spPr>
        </p:sp>
        <p:sp>
          <p:nvSpPr>
            <p:cNvPr id="62514" name="Line 108"/>
            <p:cNvSpPr/>
            <p:nvPr/>
          </p:nvSpPr>
          <p:spPr>
            <a:xfrm>
              <a:off x="20" y="352"/>
              <a:ext cx="0" cy="144"/>
            </a:xfrm>
            <a:prstGeom prst="line">
              <a:avLst/>
            </a:prstGeom>
            <a:ln w="9525" cap="flat" cmpd="sng">
              <a:solidFill>
                <a:srgbClr val="FFFFFF"/>
              </a:solidFill>
              <a:prstDash val="solid"/>
              <a:headEnd type="none" w="med" len="med"/>
              <a:tailEnd type="none" w="med" len="med"/>
            </a:ln>
          </p:spPr>
        </p:sp>
        <p:sp>
          <p:nvSpPr>
            <p:cNvPr id="62515" name="Line 109"/>
            <p:cNvSpPr/>
            <p:nvPr/>
          </p:nvSpPr>
          <p:spPr>
            <a:xfrm>
              <a:off x="1028" y="352"/>
              <a:ext cx="0" cy="144"/>
            </a:xfrm>
            <a:prstGeom prst="line">
              <a:avLst/>
            </a:prstGeom>
            <a:ln w="9525" cap="flat" cmpd="sng">
              <a:solidFill>
                <a:srgbClr val="FFFFFF"/>
              </a:solidFill>
              <a:prstDash val="solid"/>
              <a:headEnd type="none" w="med" len="med"/>
              <a:tailEnd type="none" w="med" len="med"/>
            </a:ln>
          </p:spPr>
        </p:sp>
        <p:sp>
          <p:nvSpPr>
            <p:cNvPr id="62516" name="Text Box 110"/>
            <p:cNvSpPr txBox="1"/>
            <p:nvPr/>
          </p:nvSpPr>
          <p:spPr>
            <a:xfrm>
              <a:off x="404"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2517" name="Line 107"/>
            <p:cNvSpPr/>
            <p:nvPr/>
          </p:nvSpPr>
          <p:spPr>
            <a:xfrm>
              <a:off x="0" y="243"/>
              <a:ext cx="1008" cy="0"/>
            </a:xfrm>
            <a:prstGeom prst="line">
              <a:avLst/>
            </a:prstGeom>
            <a:ln w="6350" cap="flat" cmpd="sng">
              <a:solidFill>
                <a:schemeClr val="tx1"/>
              </a:solidFill>
              <a:prstDash val="solid"/>
              <a:headEnd type="none" w="med" len="med"/>
              <a:tailEnd type="none" w="med" len="med"/>
            </a:ln>
          </p:spPr>
        </p:sp>
        <p:sp>
          <p:nvSpPr>
            <p:cNvPr id="62518" name="Line 108"/>
            <p:cNvSpPr/>
            <p:nvPr/>
          </p:nvSpPr>
          <p:spPr>
            <a:xfrm>
              <a:off x="0" y="243"/>
              <a:ext cx="0" cy="144"/>
            </a:xfrm>
            <a:prstGeom prst="line">
              <a:avLst/>
            </a:prstGeom>
            <a:ln w="6350" cap="flat" cmpd="sng">
              <a:solidFill>
                <a:schemeClr val="tx1"/>
              </a:solidFill>
              <a:prstDash val="solid"/>
              <a:headEnd type="none" w="med" len="med"/>
              <a:tailEnd type="none" w="med" len="med"/>
            </a:ln>
          </p:spPr>
        </p:sp>
        <p:sp>
          <p:nvSpPr>
            <p:cNvPr id="62519" name="Line 109"/>
            <p:cNvSpPr/>
            <p:nvPr/>
          </p:nvSpPr>
          <p:spPr>
            <a:xfrm>
              <a:off x="1008" y="243"/>
              <a:ext cx="0" cy="144"/>
            </a:xfrm>
            <a:prstGeom prst="line">
              <a:avLst/>
            </a:prstGeom>
            <a:ln w="6350" cap="flat" cmpd="sng">
              <a:solidFill>
                <a:schemeClr val="tx1"/>
              </a:solidFill>
              <a:prstDash val="solid"/>
              <a:headEnd type="none" w="med" len="med"/>
              <a:tailEnd type="none" w="med" len="med"/>
            </a:ln>
          </p:spPr>
        </p:sp>
      </p:grpSp>
      <p:grpSp>
        <p:nvGrpSpPr>
          <p:cNvPr id="62498" name="Group 111"/>
          <p:cNvGrpSpPr/>
          <p:nvPr/>
        </p:nvGrpSpPr>
        <p:grpSpPr>
          <a:xfrm>
            <a:off x="3581400" y="4541838"/>
            <a:ext cx="1600200" cy="431800"/>
            <a:chOff x="0" y="0"/>
            <a:chExt cx="1008" cy="363"/>
          </a:xfrm>
        </p:grpSpPr>
        <p:sp>
          <p:nvSpPr>
            <p:cNvPr id="62509" name="Line 112"/>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62510" name="Line 113"/>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62511" name="Line 114"/>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62512" name="Text Box 115"/>
            <p:cNvSpPr txBox="1"/>
            <p:nvPr/>
          </p:nvSpPr>
          <p:spPr>
            <a:xfrm>
              <a:off x="384" y="53"/>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62499" name="Group 116"/>
          <p:cNvGrpSpPr/>
          <p:nvPr/>
        </p:nvGrpSpPr>
        <p:grpSpPr>
          <a:xfrm>
            <a:off x="6035675" y="3643313"/>
            <a:ext cx="746125" cy="857250"/>
            <a:chOff x="0" y="0"/>
            <a:chExt cx="470" cy="720"/>
          </a:xfrm>
        </p:grpSpPr>
        <p:sp>
          <p:nvSpPr>
            <p:cNvPr id="62505" name="Line 117"/>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62506" name="Line 118"/>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62507" name="Line 119"/>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62508" name="Text Box 120"/>
            <p:cNvSpPr txBox="1"/>
            <p:nvPr/>
          </p:nvSpPr>
          <p:spPr>
            <a:xfrm>
              <a:off x="134" y="289"/>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62500" name="Group 121"/>
          <p:cNvGrpSpPr/>
          <p:nvPr/>
        </p:nvGrpSpPr>
        <p:grpSpPr>
          <a:xfrm>
            <a:off x="2133600" y="3302000"/>
            <a:ext cx="609600" cy="857250"/>
            <a:chOff x="0" y="0"/>
            <a:chExt cx="384" cy="720"/>
          </a:xfrm>
        </p:grpSpPr>
        <p:sp>
          <p:nvSpPr>
            <p:cNvPr id="62501" name="Line 122"/>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62502" name="Line 123"/>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62503" name="Line 124"/>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62504" name="Text Box 125"/>
            <p:cNvSpPr txBox="1"/>
            <p:nvPr/>
          </p:nvSpPr>
          <p:spPr>
            <a:xfrm>
              <a:off x="0"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ransition advTm="2000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349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3492" name="Rectangle 3"/>
          <p:cNvSpPr>
            <a:spLocks noGrp="1"/>
          </p:cNvSpPr>
          <p:nvPr>
            <p:ph type="title"/>
          </p:nvPr>
        </p:nvSpPr>
        <p:spPr>
          <a:xfrm>
            <a:off x="544513" y="819150"/>
            <a:ext cx="7772400" cy="457200"/>
          </a:xfrm>
          <a:prstGeom prst="rect">
            <a:avLst/>
          </a:prstGeom>
          <a:noFill/>
          <a:ln w="9525">
            <a:noFill/>
          </a:ln>
        </p:spPr>
        <p:txBody>
          <a:bodyPr/>
          <a:p>
            <a:pPr eaLnBrk="1" hangingPunct="1"/>
            <a:r>
              <a:rPr lang="zh-CN" altLang="en-US" sz="1800" b="1" dirty="0">
                <a:highlight>
                  <a:srgbClr val="FFFF00"/>
                </a:highlight>
                <a:latin typeface="黑体" panose="02010609060101010101" pitchFamily="49" charset="-122"/>
                <a:ea typeface="黑体" panose="02010609060101010101" pitchFamily="49" charset="-122"/>
              </a:rPr>
              <a:t>②卡诺图的构成特点（续</a:t>
            </a:r>
            <a:r>
              <a:rPr lang="en-US" altLang="zh-CN" sz="1800" b="1" dirty="0">
                <a:highlight>
                  <a:srgbClr val="FFFF00"/>
                </a:highlight>
                <a:latin typeface="黑体" panose="02010609060101010101" pitchFamily="49" charset="-122"/>
                <a:ea typeface="黑体" panose="02010609060101010101" pitchFamily="49" charset="-122"/>
              </a:rPr>
              <a:t>2</a:t>
            </a:r>
            <a:r>
              <a:rPr lang="zh-CN" altLang="en-US" sz="1800" b="1" dirty="0">
                <a:highlight>
                  <a:srgbClr val="FFFF00"/>
                </a:highlight>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a:t>
            </a:r>
            <a:endParaRPr lang="zh-CN" altLang="en-US" sz="1800" b="1" dirty="0">
              <a:latin typeface="黑体" panose="02010609060101010101" pitchFamily="49" charset="-122"/>
              <a:ea typeface="黑体" panose="02010609060101010101" pitchFamily="49" charset="-122"/>
            </a:endParaRPr>
          </a:p>
        </p:txBody>
      </p:sp>
      <p:sp>
        <p:nvSpPr>
          <p:cNvPr id="63493" name="Rectangle 4"/>
          <p:cNvSpPr>
            <a:spLocks noGrp="1"/>
          </p:cNvSpPr>
          <p:nvPr>
            <p:ph/>
          </p:nvPr>
        </p:nvSpPr>
        <p:spPr>
          <a:xfrm>
            <a:off x="588963" y="1560513"/>
            <a:ext cx="7727950" cy="939800"/>
          </a:xfrm>
          <a:prstGeom prst="rect">
            <a:avLst/>
          </a:prstGeom>
          <a:noFill/>
          <a:ln w="9525">
            <a:noFill/>
          </a:ln>
        </p:spPr>
        <p:txBody>
          <a:bodyPr/>
          <a:p>
            <a:pPr eaLnBrk="1" hangingPunct="1">
              <a:spcBef>
                <a:spcPct val="50000"/>
              </a:spcBef>
              <a:buNone/>
            </a:pPr>
            <a:r>
              <a:rPr lang="en-US" altLang="zh-CN" sz="1800" b="1" dirty="0">
                <a:latin typeface="华文新魏" panose="02010800040101010101" pitchFamily="2" charset="-122"/>
                <a:ea typeface="华文新魏" panose="02010800040101010101" pitchFamily="2" charset="-122"/>
              </a:rPr>
              <a:t>⑷ </a:t>
            </a:r>
            <a:r>
              <a:rPr lang="zh-CN" altLang="en-US" sz="1800" b="1" dirty="0">
                <a:latin typeface="华文新魏" panose="02010800040101010101" pitchFamily="2" charset="-122"/>
                <a:ea typeface="华文新魏" panose="02010800040101010101" pitchFamily="2" charset="-122"/>
              </a:rPr>
              <a:t>除掉某个小方格</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即最小项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以外的整个卡诺图区域对应一个最大项，</a:t>
            </a:r>
            <a:endParaRPr lang="zh-CN" altLang="en-US" sz="1800" b="1"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1800" b="1" dirty="0">
                <a:solidFill>
                  <a:srgbClr val="0000FF"/>
                </a:solidFill>
                <a:latin typeface="华文新魏" panose="02010800040101010101" pitchFamily="2" charset="-122"/>
                <a:ea typeface="华文新魏" panose="02010800040101010101" pitchFamily="2" charset="-122"/>
              </a:rPr>
              <a:t>最大项下标值</a:t>
            </a:r>
            <a:r>
              <a:rPr lang="zh-CN" altLang="en-US" sz="1800" b="1" dirty="0">
                <a:latin typeface="华文新魏" panose="02010800040101010101" pitchFamily="2" charset="-122"/>
                <a:ea typeface="华文新魏" panose="02010800040101010101" pitchFamily="2" charset="-122"/>
              </a:rPr>
              <a:t>就是应被除去的小方格号。</a:t>
            </a:r>
            <a:endParaRPr lang="zh-CN" altLang="en-US" sz="1800" b="1" dirty="0">
              <a:latin typeface="华文新魏" panose="02010800040101010101" pitchFamily="2" charset="-122"/>
              <a:ea typeface="华文新魏" panose="02010800040101010101" pitchFamily="2" charset="-122"/>
            </a:endParaRPr>
          </a:p>
        </p:txBody>
      </p:sp>
      <p:graphicFrame>
        <p:nvGraphicFramePr>
          <p:cNvPr id="62470" name="Group 6"/>
          <p:cNvGraphicFramePr>
            <a:graphicFrameLocks noGrp="1"/>
          </p:cNvGraphicFramePr>
          <p:nvPr>
            <p:custDataLst>
              <p:tags r:id="rId1"/>
            </p:custDataLst>
          </p:nvPr>
        </p:nvGraphicFramePr>
        <p:xfrm>
          <a:off x="1066800" y="2992438"/>
          <a:ext cx="2971800" cy="1082675"/>
        </p:xfrm>
        <a:graphic>
          <a:graphicData uri="http://schemas.openxmlformats.org/drawingml/2006/table">
            <a:tbl>
              <a:tblPr/>
              <a:tblGrid>
                <a:gridCol w="742950"/>
                <a:gridCol w="742950"/>
                <a:gridCol w="742950"/>
                <a:gridCol w="742950"/>
              </a:tblGrid>
              <a:tr h="515938">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566737">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grpSp>
        <p:nvGrpSpPr>
          <p:cNvPr id="63511" name="Group 39"/>
          <p:cNvGrpSpPr/>
          <p:nvPr/>
        </p:nvGrpSpPr>
        <p:grpSpPr>
          <a:xfrm>
            <a:off x="2590800" y="2422525"/>
            <a:ext cx="1417638" cy="558800"/>
            <a:chOff x="0" y="0"/>
            <a:chExt cx="893" cy="470"/>
          </a:xfrm>
        </p:grpSpPr>
        <p:sp>
          <p:nvSpPr>
            <p:cNvPr id="63557" name="Line 40"/>
            <p:cNvSpPr/>
            <p:nvPr/>
          </p:nvSpPr>
          <p:spPr>
            <a:xfrm flipV="1">
              <a:off x="0" y="240"/>
              <a:ext cx="0" cy="230"/>
            </a:xfrm>
            <a:prstGeom prst="line">
              <a:avLst/>
            </a:prstGeom>
            <a:ln w="6350" cap="flat" cmpd="sng">
              <a:solidFill>
                <a:schemeClr val="tx1"/>
              </a:solidFill>
              <a:prstDash val="solid"/>
              <a:headEnd type="none" w="med" len="med"/>
              <a:tailEnd type="none" w="med" len="med"/>
            </a:ln>
          </p:spPr>
        </p:sp>
        <p:sp>
          <p:nvSpPr>
            <p:cNvPr id="63558" name="Line 41"/>
            <p:cNvSpPr/>
            <p:nvPr/>
          </p:nvSpPr>
          <p:spPr>
            <a:xfrm>
              <a:off x="0" y="240"/>
              <a:ext cx="883" cy="0"/>
            </a:xfrm>
            <a:prstGeom prst="line">
              <a:avLst/>
            </a:prstGeom>
            <a:ln w="6350" cap="flat" cmpd="sng">
              <a:solidFill>
                <a:schemeClr val="tx1"/>
              </a:solidFill>
              <a:prstDash val="solid"/>
              <a:headEnd type="none" w="med" len="med"/>
              <a:tailEnd type="none" w="med" len="med"/>
            </a:ln>
          </p:spPr>
        </p:sp>
        <p:sp>
          <p:nvSpPr>
            <p:cNvPr id="63559" name="Line 42"/>
            <p:cNvSpPr/>
            <p:nvPr/>
          </p:nvSpPr>
          <p:spPr>
            <a:xfrm>
              <a:off x="893" y="240"/>
              <a:ext cx="0" cy="220"/>
            </a:xfrm>
            <a:prstGeom prst="line">
              <a:avLst/>
            </a:prstGeom>
            <a:ln w="6350" cap="flat" cmpd="sng">
              <a:solidFill>
                <a:schemeClr val="tx1"/>
              </a:solidFill>
              <a:prstDash val="solid"/>
              <a:headEnd type="none" w="med" len="med"/>
              <a:tailEnd type="none" w="med" len="med"/>
            </a:ln>
          </p:spPr>
        </p:sp>
        <p:sp>
          <p:nvSpPr>
            <p:cNvPr id="63560" name="Text Box 43"/>
            <p:cNvSpPr txBox="1"/>
            <p:nvPr/>
          </p:nvSpPr>
          <p:spPr>
            <a:xfrm>
              <a:off x="336" y="0"/>
              <a:ext cx="189" cy="311"/>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63512" name="Line 44"/>
          <p:cNvSpPr/>
          <p:nvPr/>
        </p:nvSpPr>
        <p:spPr>
          <a:xfrm>
            <a:off x="2911475" y="3816350"/>
            <a:ext cx="789305" cy="972185"/>
          </a:xfrm>
          <a:prstGeom prst="line">
            <a:avLst/>
          </a:prstGeom>
          <a:ln w="9525" cap="flat" cmpd="sng">
            <a:solidFill>
              <a:schemeClr val="tx1"/>
            </a:solidFill>
            <a:prstDash val="solid"/>
            <a:headEnd type="oval" w="lg" len="lg"/>
            <a:tailEnd type="triangle" w="med" len="med"/>
          </a:ln>
        </p:spPr>
      </p:sp>
      <p:sp>
        <p:nvSpPr>
          <p:cNvPr id="63513" name="Text Box 46"/>
          <p:cNvSpPr txBox="1"/>
          <p:nvPr/>
        </p:nvSpPr>
        <p:spPr>
          <a:xfrm>
            <a:off x="3209290" y="4693920"/>
            <a:ext cx="4917440"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7 </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7</a:t>
            </a:r>
            <a:r>
              <a:rPr lang="zh-CN" altLang="en-US" sz="1800" b="1" dirty="0">
                <a:solidFill>
                  <a:schemeClr val="tx1"/>
                </a:solidFill>
                <a:uFillTx/>
                <a:latin typeface="黑体" panose="02010609060101010101" pitchFamily="49" charset="-122"/>
                <a:ea typeface="黑体" panose="02010609060101010101" pitchFamily="49" charset="-122"/>
              </a:rPr>
              <a:t>（</a:t>
            </a:r>
            <a:r>
              <a:rPr lang="zh-CN" altLang="en-US" sz="1800" b="1" dirty="0">
                <a:solidFill>
                  <a:schemeClr val="tx1"/>
                </a:solidFill>
                <a:highlight>
                  <a:srgbClr val="FFFF00"/>
                </a:highlight>
                <a:uFillTx/>
                <a:latin typeface="黑体" panose="02010609060101010101" pitchFamily="49" charset="-122"/>
                <a:ea typeface="黑体" panose="02010609060101010101" pitchFamily="49" charset="-122"/>
              </a:rPr>
              <a:t>整个蓝色区域，</a:t>
            </a:r>
            <a:r>
              <a:rPr lang="en-US" altLang="zh-CN" sz="1800" b="1" dirty="0">
                <a:solidFill>
                  <a:schemeClr val="tx1"/>
                </a:solidFill>
                <a:highlight>
                  <a:srgbClr val="FFFF00"/>
                </a:highlight>
                <a:uFillTx/>
                <a:latin typeface="黑体" panose="02010609060101010101" pitchFamily="49" charset="-122"/>
                <a:ea typeface="黑体" panose="02010609060101010101" pitchFamily="49" charset="-122"/>
              </a:rPr>
              <a:t>7</a:t>
            </a:r>
            <a:r>
              <a:rPr lang="zh-CN" altLang="en-US" sz="1800" b="1" dirty="0">
                <a:solidFill>
                  <a:schemeClr val="tx1"/>
                </a:solidFill>
                <a:highlight>
                  <a:srgbClr val="FFFF00"/>
                </a:highlight>
                <a:uFillTx/>
                <a:latin typeface="黑体" panose="02010609060101010101" pitchFamily="49" charset="-122"/>
                <a:ea typeface="黑体" panose="02010609060101010101" pitchFamily="49" charset="-122"/>
              </a:rPr>
              <a:t>个小格</a:t>
            </a:r>
            <a:r>
              <a:rPr lang="zh-CN" altLang="en-US" sz="1800" b="1" dirty="0">
                <a:solidFill>
                  <a:schemeClr val="tx1"/>
                </a:solidFill>
                <a:uFillTx/>
                <a:latin typeface="黑体" panose="02010609060101010101" pitchFamily="49" charset="-122"/>
                <a:ea typeface="黑体" panose="02010609060101010101" pitchFamily="49" charset="-122"/>
              </a:rPr>
              <a:t>）</a:t>
            </a:r>
            <a:endParaRPr lang="zh-CN" altLang="en-US" sz="1800" b="1" dirty="0">
              <a:solidFill>
                <a:schemeClr val="tx1"/>
              </a:solidFill>
              <a:uFillTx/>
              <a:latin typeface="黑体" panose="02010609060101010101" pitchFamily="49" charset="-122"/>
              <a:ea typeface="黑体" panose="02010609060101010101" pitchFamily="49" charset="-122"/>
            </a:endParaRPr>
          </a:p>
        </p:txBody>
      </p:sp>
      <p:grpSp>
        <p:nvGrpSpPr>
          <p:cNvPr id="63515" name="Group 52"/>
          <p:cNvGrpSpPr/>
          <p:nvPr/>
        </p:nvGrpSpPr>
        <p:grpSpPr>
          <a:xfrm>
            <a:off x="527050" y="3506788"/>
            <a:ext cx="539750" cy="571500"/>
            <a:chOff x="0" y="0"/>
            <a:chExt cx="340" cy="480"/>
          </a:xfrm>
        </p:grpSpPr>
        <p:sp>
          <p:nvSpPr>
            <p:cNvPr id="63549" name="Text Box 53"/>
            <p:cNvSpPr txBox="1"/>
            <p:nvPr/>
          </p:nvSpPr>
          <p:spPr>
            <a:xfrm>
              <a:off x="0" y="48"/>
              <a:ext cx="189" cy="310"/>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50" name="Line 54"/>
            <p:cNvSpPr/>
            <p:nvPr/>
          </p:nvSpPr>
          <p:spPr>
            <a:xfrm flipH="1">
              <a:off x="196" y="0"/>
              <a:ext cx="144" cy="0"/>
            </a:xfrm>
            <a:prstGeom prst="line">
              <a:avLst/>
            </a:prstGeom>
            <a:ln w="6350" cap="flat" cmpd="sng">
              <a:solidFill>
                <a:schemeClr val="tx1"/>
              </a:solidFill>
              <a:prstDash val="solid"/>
              <a:headEnd type="none" w="med" len="med"/>
              <a:tailEnd type="none" w="med" len="med"/>
            </a:ln>
          </p:spPr>
        </p:sp>
        <p:sp>
          <p:nvSpPr>
            <p:cNvPr id="63551" name="Line 55"/>
            <p:cNvSpPr/>
            <p:nvPr/>
          </p:nvSpPr>
          <p:spPr>
            <a:xfrm flipH="1">
              <a:off x="196" y="456"/>
              <a:ext cx="144" cy="0"/>
            </a:xfrm>
            <a:prstGeom prst="line">
              <a:avLst/>
            </a:prstGeom>
            <a:ln w="6350" cap="flat" cmpd="sng">
              <a:solidFill>
                <a:schemeClr val="tx1"/>
              </a:solidFill>
              <a:prstDash val="solid"/>
              <a:headEnd type="none" w="med" len="med"/>
              <a:tailEnd type="none" w="med" len="med"/>
            </a:ln>
          </p:spPr>
        </p:sp>
        <p:sp>
          <p:nvSpPr>
            <p:cNvPr id="63552" name="Line 56"/>
            <p:cNvSpPr/>
            <p:nvPr/>
          </p:nvSpPr>
          <p:spPr>
            <a:xfrm>
              <a:off x="196" y="0"/>
              <a:ext cx="0" cy="480"/>
            </a:xfrm>
            <a:prstGeom prst="line">
              <a:avLst/>
            </a:prstGeom>
            <a:ln w="6350" cap="flat" cmpd="sng">
              <a:solidFill>
                <a:schemeClr val="tx1"/>
              </a:solidFill>
              <a:prstDash val="solid"/>
              <a:headEnd type="none" w="med" len="med"/>
              <a:tailEnd type="none" w="med" len="med"/>
            </a:ln>
          </p:spPr>
        </p:sp>
      </p:grpSp>
      <p:graphicFrame>
        <p:nvGraphicFramePr>
          <p:cNvPr id="62504" name="Group 40"/>
          <p:cNvGraphicFramePr>
            <a:graphicFrameLocks noGrp="1"/>
          </p:cNvGraphicFramePr>
          <p:nvPr/>
        </p:nvGraphicFramePr>
        <p:xfrm>
          <a:off x="4876800" y="2992438"/>
          <a:ext cx="2971800" cy="1082675"/>
        </p:xfrm>
        <a:graphic>
          <a:graphicData uri="http://schemas.openxmlformats.org/drawingml/2006/table">
            <a:tbl>
              <a:tblPr/>
              <a:tblGrid>
                <a:gridCol w="742950"/>
                <a:gridCol w="742950"/>
                <a:gridCol w="742950"/>
                <a:gridCol w="742950"/>
              </a:tblGrid>
              <a:tr h="515938">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566737">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grpSp>
        <p:nvGrpSpPr>
          <p:cNvPr id="63533" name="Group 74"/>
          <p:cNvGrpSpPr/>
          <p:nvPr/>
        </p:nvGrpSpPr>
        <p:grpSpPr>
          <a:xfrm>
            <a:off x="6400800" y="2422525"/>
            <a:ext cx="1417638" cy="558800"/>
            <a:chOff x="0" y="0"/>
            <a:chExt cx="893" cy="470"/>
          </a:xfrm>
        </p:grpSpPr>
        <p:sp>
          <p:nvSpPr>
            <p:cNvPr id="63545" name="Line 75"/>
            <p:cNvSpPr/>
            <p:nvPr/>
          </p:nvSpPr>
          <p:spPr>
            <a:xfrm flipV="1">
              <a:off x="0" y="240"/>
              <a:ext cx="0" cy="230"/>
            </a:xfrm>
            <a:prstGeom prst="line">
              <a:avLst/>
            </a:prstGeom>
            <a:ln w="6350" cap="flat" cmpd="sng">
              <a:solidFill>
                <a:schemeClr val="tx1"/>
              </a:solidFill>
              <a:prstDash val="solid"/>
              <a:headEnd type="none" w="med" len="med"/>
              <a:tailEnd type="none" w="med" len="med"/>
            </a:ln>
          </p:spPr>
        </p:sp>
        <p:sp>
          <p:nvSpPr>
            <p:cNvPr id="63546" name="Line 76"/>
            <p:cNvSpPr/>
            <p:nvPr/>
          </p:nvSpPr>
          <p:spPr>
            <a:xfrm>
              <a:off x="0" y="240"/>
              <a:ext cx="883" cy="0"/>
            </a:xfrm>
            <a:prstGeom prst="line">
              <a:avLst/>
            </a:prstGeom>
            <a:ln w="6350" cap="flat" cmpd="sng">
              <a:solidFill>
                <a:schemeClr val="tx1"/>
              </a:solidFill>
              <a:prstDash val="solid"/>
              <a:headEnd type="none" w="med" len="med"/>
              <a:tailEnd type="none" w="med" len="med"/>
            </a:ln>
          </p:spPr>
        </p:sp>
        <p:sp>
          <p:nvSpPr>
            <p:cNvPr id="63547" name="Line 77"/>
            <p:cNvSpPr/>
            <p:nvPr/>
          </p:nvSpPr>
          <p:spPr>
            <a:xfrm>
              <a:off x="893" y="240"/>
              <a:ext cx="0" cy="220"/>
            </a:xfrm>
            <a:prstGeom prst="line">
              <a:avLst/>
            </a:prstGeom>
            <a:ln w="6350" cap="flat" cmpd="sng">
              <a:solidFill>
                <a:schemeClr val="tx1"/>
              </a:solidFill>
              <a:prstDash val="solid"/>
              <a:headEnd type="none" w="med" len="med"/>
              <a:tailEnd type="none" w="med" len="med"/>
            </a:ln>
          </p:spPr>
        </p:sp>
        <p:sp>
          <p:nvSpPr>
            <p:cNvPr id="63548" name="Text Box 78"/>
            <p:cNvSpPr txBox="1"/>
            <p:nvPr/>
          </p:nvSpPr>
          <p:spPr>
            <a:xfrm>
              <a:off x="336" y="0"/>
              <a:ext cx="189" cy="311"/>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63534" name="Group 80"/>
          <p:cNvGrpSpPr/>
          <p:nvPr/>
        </p:nvGrpSpPr>
        <p:grpSpPr>
          <a:xfrm>
            <a:off x="5638800" y="4079875"/>
            <a:ext cx="1417638" cy="654050"/>
            <a:chOff x="0" y="0"/>
            <a:chExt cx="893" cy="550"/>
          </a:xfrm>
        </p:grpSpPr>
        <p:sp>
          <p:nvSpPr>
            <p:cNvPr id="63541" name="Text Box 81"/>
            <p:cNvSpPr txBox="1"/>
            <p:nvPr/>
          </p:nvSpPr>
          <p:spPr>
            <a:xfrm>
              <a:off x="380" y="240"/>
              <a:ext cx="189" cy="310"/>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42" name="Line 82"/>
            <p:cNvSpPr/>
            <p:nvPr/>
          </p:nvSpPr>
          <p:spPr>
            <a:xfrm flipV="1">
              <a:off x="0" y="0"/>
              <a:ext cx="0" cy="230"/>
            </a:xfrm>
            <a:prstGeom prst="line">
              <a:avLst/>
            </a:prstGeom>
            <a:ln w="6350" cap="flat" cmpd="sng">
              <a:solidFill>
                <a:schemeClr val="tx1"/>
              </a:solidFill>
              <a:prstDash val="solid"/>
              <a:headEnd type="none" w="med" len="med"/>
              <a:tailEnd type="none" w="med" len="med"/>
            </a:ln>
          </p:spPr>
        </p:sp>
        <p:sp>
          <p:nvSpPr>
            <p:cNvPr id="63543" name="Line 83"/>
            <p:cNvSpPr/>
            <p:nvPr/>
          </p:nvSpPr>
          <p:spPr>
            <a:xfrm>
              <a:off x="0" y="230"/>
              <a:ext cx="883" cy="0"/>
            </a:xfrm>
            <a:prstGeom prst="line">
              <a:avLst/>
            </a:prstGeom>
            <a:ln w="6350" cap="flat" cmpd="sng">
              <a:solidFill>
                <a:schemeClr val="tx1"/>
              </a:solidFill>
              <a:prstDash val="solid"/>
              <a:headEnd type="none" w="med" len="med"/>
              <a:tailEnd type="none" w="med" len="med"/>
            </a:ln>
          </p:spPr>
        </p:sp>
        <p:sp>
          <p:nvSpPr>
            <p:cNvPr id="63544" name="Line 84"/>
            <p:cNvSpPr/>
            <p:nvPr/>
          </p:nvSpPr>
          <p:spPr>
            <a:xfrm>
              <a:off x="893" y="0"/>
              <a:ext cx="0" cy="222"/>
            </a:xfrm>
            <a:prstGeom prst="line">
              <a:avLst/>
            </a:prstGeom>
            <a:ln w="6350" cap="flat" cmpd="sng">
              <a:solidFill>
                <a:schemeClr val="tx1"/>
              </a:solidFill>
              <a:prstDash val="solid"/>
              <a:headEnd type="none" w="med" len="med"/>
              <a:tailEnd type="none" w="med" len="med"/>
            </a:ln>
          </p:spPr>
        </p:sp>
      </p:grpSp>
      <p:grpSp>
        <p:nvGrpSpPr>
          <p:cNvPr id="63535" name="Group 85"/>
          <p:cNvGrpSpPr/>
          <p:nvPr/>
        </p:nvGrpSpPr>
        <p:grpSpPr>
          <a:xfrm>
            <a:off x="4343400" y="3506788"/>
            <a:ext cx="533400" cy="571500"/>
            <a:chOff x="0" y="0"/>
            <a:chExt cx="336" cy="480"/>
          </a:xfrm>
        </p:grpSpPr>
        <p:sp>
          <p:nvSpPr>
            <p:cNvPr id="63537" name="Text Box 86"/>
            <p:cNvSpPr txBox="1"/>
            <p:nvPr/>
          </p:nvSpPr>
          <p:spPr>
            <a:xfrm>
              <a:off x="0" y="48"/>
              <a:ext cx="189" cy="310"/>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38" name="Line 87"/>
            <p:cNvSpPr/>
            <p:nvPr/>
          </p:nvSpPr>
          <p:spPr>
            <a:xfrm flipH="1">
              <a:off x="192" y="0"/>
              <a:ext cx="144" cy="0"/>
            </a:xfrm>
            <a:prstGeom prst="line">
              <a:avLst/>
            </a:prstGeom>
            <a:ln w="6350" cap="flat" cmpd="sng">
              <a:solidFill>
                <a:schemeClr val="tx1"/>
              </a:solidFill>
              <a:prstDash val="solid"/>
              <a:headEnd type="none" w="med" len="med"/>
              <a:tailEnd type="none" w="med" len="med"/>
            </a:ln>
          </p:spPr>
        </p:sp>
        <p:sp>
          <p:nvSpPr>
            <p:cNvPr id="63539" name="Line 88"/>
            <p:cNvSpPr/>
            <p:nvPr/>
          </p:nvSpPr>
          <p:spPr>
            <a:xfrm flipH="1">
              <a:off x="192" y="456"/>
              <a:ext cx="144" cy="0"/>
            </a:xfrm>
            <a:prstGeom prst="line">
              <a:avLst/>
            </a:prstGeom>
            <a:ln w="6350" cap="flat" cmpd="sng">
              <a:solidFill>
                <a:schemeClr val="tx1"/>
              </a:solidFill>
              <a:prstDash val="solid"/>
              <a:headEnd type="none" w="med" len="med"/>
              <a:tailEnd type="none" w="med" len="med"/>
            </a:ln>
          </p:spPr>
        </p:sp>
        <p:sp>
          <p:nvSpPr>
            <p:cNvPr id="63540" name="Line 89"/>
            <p:cNvSpPr/>
            <p:nvPr/>
          </p:nvSpPr>
          <p:spPr>
            <a:xfrm>
              <a:off x="192" y="0"/>
              <a:ext cx="0" cy="480"/>
            </a:xfrm>
            <a:prstGeom prst="line">
              <a:avLst/>
            </a:prstGeom>
            <a:ln w="6350" cap="flat" cmpd="sng">
              <a:solidFill>
                <a:schemeClr val="tx1"/>
              </a:solidFill>
              <a:prstDash val="solid"/>
              <a:headEnd type="none" w="med" len="med"/>
              <a:tailEnd type="none" w="med" len="med"/>
            </a:ln>
          </p:spPr>
        </p:sp>
      </p:grpSp>
      <p:sp>
        <p:nvSpPr>
          <p:cNvPr id="63536" name="Line 45"/>
          <p:cNvSpPr/>
          <p:nvPr/>
        </p:nvSpPr>
        <p:spPr>
          <a:xfrm flipH="1">
            <a:off x="4824730" y="3792855"/>
            <a:ext cx="509270" cy="995680"/>
          </a:xfrm>
          <a:prstGeom prst="line">
            <a:avLst/>
          </a:prstGeom>
          <a:ln w="9525" cap="flat" cmpd="sng">
            <a:solidFill>
              <a:schemeClr val="tx1"/>
            </a:solidFill>
            <a:prstDash val="solid"/>
            <a:headEnd type="oval" w="lg" len="lg"/>
            <a:tailEnd type="triangle" w="med" len="med"/>
          </a:ln>
        </p:spPr>
      </p:sp>
      <p:grpSp>
        <p:nvGrpSpPr>
          <p:cNvPr id="63514" name="Group 47"/>
          <p:cNvGrpSpPr/>
          <p:nvPr/>
        </p:nvGrpSpPr>
        <p:grpSpPr>
          <a:xfrm>
            <a:off x="1809750" y="4079875"/>
            <a:ext cx="1481455" cy="654050"/>
            <a:chOff x="0" y="0"/>
            <a:chExt cx="893" cy="550"/>
          </a:xfrm>
        </p:grpSpPr>
        <p:sp>
          <p:nvSpPr>
            <p:cNvPr id="63553" name="Text Box 48"/>
            <p:cNvSpPr txBox="1"/>
            <p:nvPr/>
          </p:nvSpPr>
          <p:spPr>
            <a:xfrm>
              <a:off x="380" y="240"/>
              <a:ext cx="189" cy="310"/>
            </a:xfrm>
            <a:prstGeom prst="rect">
              <a:avLst/>
            </a:prstGeom>
            <a:noFill/>
            <a:ln w="9525">
              <a:solidFill>
                <a:schemeClr val="bg1"/>
              </a:solidFill>
            </a:ln>
          </p:spPr>
          <p:txBody>
            <a:bodyPr wrap="squar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54" name="Line 49"/>
            <p:cNvSpPr/>
            <p:nvPr/>
          </p:nvSpPr>
          <p:spPr>
            <a:xfrm flipV="1">
              <a:off x="0" y="0"/>
              <a:ext cx="0" cy="230"/>
            </a:xfrm>
            <a:prstGeom prst="line">
              <a:avLst/>
            </a:prstGeom>
            <a:ln w="9525" cap="flat" cmpd="sng">
              <a:solidFill>
                <a:schemeClr val="tx1"/>
              </a:solidFill>
              <a:prstDash val="solid"/>
              <a:headEnd type="none" w="med" len="med"/>
              <a:tailEnd type="none" w="med" len="med"/>
            </a:ln>
          </p:spPr>
        </p:sp>
        <p:sp>
          <p:nvSpPr>
            <p:cNvPr id="63555" name="Line 50"/>
            <p:cNvSpPr/>
            <p:nvPr/>
          </p:nvSpPr>
          <p:spPr>
            <a:xfrm>
              <a:off x="0" y="230"/>
              <a:ext cx="883" cy="0"/>
            </a:xfrm>
            <a:prstGeom prst="line">
              <a:avLst/>
            </a:prstGeom>
            <a:ln w="9525" cap="flat" cmpd="sng">
              <a:solidFill>
                <a:schemeClr val="tx1"/>
              </a:solidFill>
              <a:prstDash val="solid"/>
              <a:headEnd type="none" w="med" len="med"/>
              <a:tailEnd type="none" w="med" len="med"/>
            </a:ln>
          </p:spPr>
        </p:sp>
        <p:sp>
          <p:nvSpPr>
            <p:cNvPr id="63556" name="Line 51"/>
            <p:cNvSpPr/>
            <p:nvPr/>
          </p:nvSpPr>
          <p:spPr>
            <a:xfrm>
              <a:off x="893" y="0"/>
              <a:ext cx="0" cy="221"/>
            </a:xfrm>
            <a:prstGeom prst="line">
              <a:avLst/>
            </a:prstGeom>
            <a:ln w="9525" cap="flat" cmpd="sng">
              <a:solidFill>
                <a:schemeClr val="tx1"/>
              </a:solidFill>
              <a:prstDash val="solid"/>
              <a:headEnd type="none" w="med" len="med"/>
              <a:tailEnd type="none" w="med" len="med"/>
            </a:ln>
          </p:spPr>
        </p:sp>
      </p:grpSp>
    </p:spTree>
  </p:cSld>
  <p:clrMapOvr>
    <a:masterClrMapping/>
  </p:clrMapOvr>
  <p:transition advTm="2000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451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4516" name="Rectangle 4"/>
          <p:cNvSpPr>
            <a:spLocks noGrp="1"/>
          </p:cNvSpPr>
          <p:nvPr>
            <p:ph/>
          </p:nvPr>
        </p:nvSpPr>
        <p:spPr>
          <a:xfrm>
            <a:off x="539750" y="1633538"/>
            <a:ext cx="8001000" cy="2306637"/>
          </a:xfrm>
          <a:prstGeom prst="rect">
            <a:avLst/>
          </a:prstGeom>
          <a:noFill/>
          <a:ln w="9525">
            <a:noFill/>
          </a:ln>
        </p:spPr>
        <p:txBody>
          <a:bodyPr/>
          <a:p>
            <a:pPr marL="0" indent="0" eaLnBrk="1" hangingPunct="1">
              <a:lnSpc>
                <a:spcPct val="110000"/>
              </a:lnSpc>
              <a:buNone/>
            </a:pPr>
            <a:r>
              <a:rPr lang="zh-CN" altLang="en-US" sz="1800" b="1" dirty="0">
                <a:latin typeface="华文新魏" panose="02010800040101010101" pitchFamily="2" charset="-122"/>
                <a:ea typeface="华文新魏" panose="02010800040101010101" pitchFamily="2" charset="-122"/>
              </a:rPr>
              <a:t>两个函数相</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与</a:t>
            </a:r>
            <a:r>
              <a:rPr lang="zh-CN" altLang="en-US" sz="1800" b="1" dirty="0">
                <a:latin typeface="黑体" panose="02010609060101010101" pitchFamily="49" charset="-122"/>
                <a:ea typeface="华文新魏" panose="02010800040101010101" pitchFamily="2" charset="-122"/>
              </a:rPr>
              <a:t>”的结果</a:t>
            </a:r>
            <a:r>
              <a:rPr lang="zh-CN" altLang="en-US" sz="1800" b="1" dirty="0">
                <a:latin typeface="华文新魏" panose="02010800040101010101" pitchFamily="2" charset="-122"/>
                <a:ea typeface="华文新魏" panose="02010800040101010101" pitchFamily="2" charset="-122"/>
              </a:rPr>
              <a:t>，即两个函数在卡诺图上所占区域的</a:t>
            </a:r>
            <a:r>
              <a:rPr lang="zh-CN" altLang="en-US" sz="1800" b="1" dirty="0">
                <a:solidFill>
                  <a:srgbClr val="FF0066"/>
                </a:solidFill>
                <a:latin typeface="华文新魏" panose="02010800040101010101" pitchFamily="2" charset="-122"/>
                <a:ea typeface="华文新魏" panose="02010800040101010101" pitchFamily="2" charset="-122"/>
              </a:rPr>
              <a:t>公共区域</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r>
              <a:rPr lang="zh-CN" altLang="en-US" sz="1800" b="1" dirty="0">
                <a:latin typeface="华文新魏" panose="02010800040101010101" pitchFamily="2" charset="-122"/>
                <a:ea typeface="华文新魏" panose="02010800040101010101" pitchFamily="2" charset="-122"/>
              </a:rPr>
              <a:t>两个函数相</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或</a:t>
            </a:r>
            <a:r>
              <a:rPr lang="zh-CN" altLang="en-US" sz="1800" b="1" dirty="0">
                <a:latin typeface="黑体" panose="02010609060101010101" pitchFamily="49" charset="-122"/>
                <a:ea typeface="华文新魏" panose="02010800040101010101" pitchFamily="2" charset="-122"/>
              </a:rPr>
              <a:t>”的结果</a:t>
            </a:r>
            <a:r>
              <a:rPr lang="zh-CN" altLang="en-US" sz="1800" b="1" dirty="0">
                <a:latin typeface="华文新魏" panose="02010800040101010101" pitchFamily="2" charset="-122"/>
                <a:ea typeface="华文新魏" panose="02010800040101010101" pitchFamily="2" charset="-122"/>
              </a:rPr>
              <a:t>，表示两个函数所覆盖的</a:t>
            </a:r>
            <a:r>
              <a:rPr lang="zh-CN" altLang="en-US" sz="1800" b="1" dirty="0">
                <a:solidFill>
                  <a:srgbClr val="FF0066"/>
                </a:solidFill>
                <a:latin typeface="华文新魏" panose="02010800040101010101" pitchFamily="2" charset="-122"/>
                <a:ea typeface="华文新魏" panose="02010800040101010101" pitchFamily="2" charset="-122"/>
              </a:rPr>
              <a:t>全部区域</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r>
              <a:rPr lang="zh-CN" altLang="en-US" sz="1800" b="1" dirty="0">
                <a:latin typeface="华文新魏" panose="02010800040101010101" pitchFamily="2" charset="-122"/>
                <a:ea typeface="华文新魏" panose="02010800040101010101" pitchFamily="2" charset="-122"/>
              </a:rPr>
              <a:t>求一个逻辑函数的</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非</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，就是求出该函数覆盖</a:t>
            </a:r>
            <a:r>
              <a:rPr lang="zh-CN" altLang="en-US" sz="1800" b="1" dirty="0">
                <a:solidFill>
                  <a:srgbClr val="FF0066"/>
                </a:solidFill>
                <a:latin typeface="华文新魏" panose="02010800040101010101" pitchFamily="2" charset="-122"/>
                <a:ea typeface="华文新魏" panose="02010800040101010101" pitchFamily="2" charset="-122"/>
              </a:rPr>
              <a:t>之外的区域</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sp>
        <p:nvSpPr>
          <p:cNvPr id="64517" name="Rectangle 7"/>
          <p:cNvSpPr>
            <a:spLocks noGrp="1"/>
          </p:cNvSpPr>
          <p:nvPr>
            <p:ph type="title"/>
          </p:nvPr>
        </p:nvSpPr>
        <p:spPr>
          <a:xfrm>
            <a:off x="250825" y="661988"/>
            <a:ext cx="8686800" cy="1147762"/>
          </a:xfrm>
          <a:prstGeom prst="rect">
            <a:avLst/>
          </a:prstGeom>
          <a:noFill/>
          <a:ln w="9525">
            <a:noFill/>
          </a:ln>
        </p:spPr>
        <p:txBody>
          <a:bodyPr/>
          <a:p>
            <a:pPr eaLnBrk="1" hangingPunct="1">
              <a:lnSpc>
                <a:spcPct val="120000"/>
              </a:lnSpc>
            </a:pPr>
            <a:r>
              <a:rPr lang="en-US" altLang="zh-CN" sz="1800" dirty="0">
                <a:latin typeface="黑体" panose="02010609060101010101" pitchFamily="49" charset="-122"/>
                <a:ea typeface="黑体" panose="02010609060101010101" pitchFamily="49" charset="-122"/>
              </a:rPr>
              <a:t>  ③</a:t>
            </a:r>
            <a:r>
              <a:rPr lang="zh-CN" altLang="en-US" sz="1800" b="1" dirty="0">
                <a:latin typeface="黑体" panose="02010609060101010101" pitchFamily="49" charset="-122"/>
                <a:ea typeface="黑体" panose="02010609060101010101" pitchFamily="49" charset="-122"/>
              </a:rPr>
              <a:t>逻辑函数在卡诺图上的</a:t>
            </a:r>
            <a:r>
              <a:rPr lang="zh-CN" altLang="en-US" sz="1800" b="1" dirty="0">
                <a:solidFill>
                  <a:srgbClr val="FF0000"/>
                </a:solidFill>
                <a:latin typeface="黑体" panose="02010609060101010101" pitchFamily="49" charset="-122"/>
                <a:ea typeface="黑体" panose="02010609060101010101" pitchFamily="49" charset="-122"/>
              </a:rPr>
              <a:t>几何</a:t>
            </a:r>
            <a:r>
              <a:rPr lang="zh-CN" altLang="en-US" sz="1800" b="1" dirty="0">
                <a:latin typeface="黑体" panose="02010609060101010101" pitchFamily="49" charset="-122"/>
                <a:ea typeface="黑体" panose="02010609060101010101" pitchFamily="49" charset="-122"/>
              </a:rPr>
              <a:t>含义</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spTree>
  </p:cSld>
  <p:clrMapOvr>
    <a:masterClrMapping/>
  </p:clrMapOvr>
  <p:transition advTm="2000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553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5540" name="Rectangle 3"/>
          <p:cNvSpPr>
            <a:spLocks noGrp="1"/>
          </p:cNvSpPr>
          <p:nvPr>
            <p:ph type="title"/>
          </p:nvPr>
        </p:nvSpPr>
        <p:spPr>
          <a:xfrm>
            <a:off x="179388" y="609600"/>
            <a:ext cx="7772400" cy="449263"/>
          </a:xfrm>
          <a:prstGeom prst="rect">
            <a:avLst/>
          </a:prstGeom>
          <a:noFill/>
          <a:ln w="9525">
            <a:noFill/>
          </a:ln>
        </p:spPr>
        <p:txBody>
          <a:bodyPr/>
          <a:p>
            <a:pPr eaLnBrk="1" hangingPunct="1"/>
            <a:r>
              <a:rPr lang="en-US" altLang="zh-CN" sz="1800" dirty="0">
                <a:latin typeface="黑体" panose="02010609060101010101" pitchFamily="49" charset="-122"/>
                <a:ea typeface="黑体" panose="02010609060101010101" pitchFamily="49" charset="-122"/>
              </a:rPr>
              <a:t>④</a:t>
            </a:r>
            <a:r>
              <a:rPr lang="zh-CN" altLang="en-US" sz="1800" b="1" dirty="0">
                <a:latin typeface="黑体" panose="02010609060101010101" pitchFamily="49" charset="-122"/>
                <a:ea typeface="黑体" panose="02010609060101010101" pitchFamily="49" charset="-122"/>
              </a:rPr>
              <a:t> 逻辑函数在卡诺图上的表示</a:t>
            </a:r>
            <a:endParaRPr lang="zh-CN" altLang="en-US" sz="1800" b="1" dirty="0">
              <a:latin typeface="黑体" panose="02010609060101010101" pitchFamily="49" charset="-122"/>
              <a:ea typeface="黑体" panose="02010609060101010101" pitchFamily="49" charset="-122"/>
            </a:endParaRPr>
          </a:p>
        </p:txBody>
      </p:sp>
      <p:sp>
        <p:nvSpPr>
          <p:cNvPr id="65541" name="Rectangle 4"/>
          <p:cNvSpPr>
            <a:spLocks noGrp="1"/>
          </p:cNvSpPr>
          <p:nvPr>
            <p:ph/>
          </p:nvPr>
        </p:nvSpPr>
        <p:spPr>
          <a:xfrm>
            <a:off x="539750" y="963930"/>
            <a:ext cx="8258810" cy="1496695"/>
          </a:xfrm>
          <a:prstGeom prst="rect">
            <a:avLst/>
          </a:prstGeom>
          <a:noFill/>
          <a:ln w="9525">
            <a:noFill/>
          </a:ln>
        </p:spPr>
        <p:txBody>
          <a:bodyPr/>
          <a:p>
            <a:pPr eaLnBrk="1" hangingPunct="1">
              <a:lnSpc>
                <a:spcPct val="120000"/>
              </a:lnSpc>
              <a:buFont typeface="Wingdings" panose="05000000000000000000" pitchFamily="2" charset="2"/>
              <a:buChar char="Ø"/>
            </a:pP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把给定的逻辑函数转换为最小项标准式；</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lnSpc>
                <a:spcPct val="120000"/>
              </a:lnSpc>
              <a:buFont typeface="Wingdings" panose="05000000000000000000" pitchFamily="2" charset="2"/>
              <a:buChar char="Ø"/>
            </a:pPr>
            <a:r>
              <a:rPr lang="zh-CN" altLang="en-US" sz="1800" b="1" dirty="0">
                <a:latin typeface="华文新魏" panose="02010800040101010101" pitchFamily="2" charset="-122"/>
                <a:ea typeface="华文新魏" panose="02010800040101010101" pitchFamily="2" charset="-122"/>
              </a:rPr>
              <a:t> 按变量数画出相应卡诺图；</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Font typeface="Wingdings" panose="05000000000000000000" pitchFamily="2" charset="2"/>
              <a:buChar char="Ø"/>
            </a:pPr>
            <a:r>
              <a:rPr lang="zh-CN" altLang="en-US" sz="1800" b="1" dirty="0">
                <a:latin typeface="华文新魏" panose="02010800040101010101" pitchFamily="2" charset="-122"/>
                <a:ea typeface="华文新魏" panose="02010800040101010101" pitchFamily="2" charset="-122"/>
              </a:rPr>
              <a:t> 在最小项标准式中出现的最小项对应的小方格内（中间；）标以</a:t>
            </a:r>
            <a:r>
              <a:rPr lang="zh-CN" altLang="en-US" sz="1800" b="1" dirty="0">
                <a:latin typeface="黑体" panose="02010609060101010101" pitchFamily="49"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1</a:t>
            </a:r>
            <a:r>
              <a:rPr lang="en-US" altLang="zh-CN" sz="1800" b="1" dirty="0">
                <a:latin typeface="黑体" panose="02010609060101010101" pitchFamily="49" charset="-122"/>
                <a:ea typeface="华文新魏" panose="02010800040101010101" pitchFamily="2" charset="-122"/>
              </a:rPr>
              <a:t>”</a:t>
            </a:r>
            <a:r>
              <a:rPr lang="zh-CN" altLang="en-US" sz="1800" b="1" dirty="0">
                <a:latin typeface="黑体" panose="02010609060101010101" pitchFamily="49" charset="-122"/>
                <a:ea typeface="华文新魏" panose="02010800040101010101" pitchFamily="2" charset="-122"/>
              </a:rPr>
              <a:t>或</a:t>
            </a:r>
            <a:r>
              <a:rPr lang="en-US" altLang="zh-CN" sz="1800" b="1" dirty="0">
                <a:latin typeface="黑体" panose="02010609060101010101" pitchFamily="49" charset="-122"/>
                <a:ea typeface="华文新魏" panose="02010800040101010101" pitchFamily="2" charset="-122"/>
              </a:rPr>
              <a:t>“</a:t>
            </a:r>
            <a:r>
              <a:rPr lang="en-US" altLang="zh-CN" sz="1800" dirty="0">
                <a:solidFill>
                  <a:srgbClr val="FF0000"/>
                </a:solidFill>
                <a:latin typeface="Arial" panose="020B0604020202020204" pitchFamily="34" charset="0"/>
                <a:ea typeface="华文新魏" panose="02010800040101010101" pitchFamily="2" charset="-122"/>
                <a:cs typeface="Arial" panose="020B0604020202020204" pitchFamily="34" charset="0"/>
              </a:rPr>
              <a:t>√</a:t>
            </a:r>
            <a:r>
              <a:rPr lang="en-US" altLang="zh-CN" sz="1800" b="1" dirty="0">
                <a:latin typeface="黑体" panose="02010609060101010101" pitchFamily="49" charset="-122"/>
                <a:ea typeface="华文新魏" panose="02010800040101010101" pitchFamily="2" charset="-122"/>
              </a:rPr>
              <a:t>”</a:t>
            </a:r>
            <a:r>
              <a:rPr lang="zh-CN" altLang="en-US"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Font typeface="Wingdings" panose="05000000000000000000" pitchFamily="2" charset="2"/>
              <a:buChar char="Ø"/>
            </a:pPr>
            <a:r>
              <a:rPr lang="zh-CN" altLang="en-US" sz="1800" b="1" dirty="0">
                <a:latin typeface="华文新魏" panose="02010800040101010101" pitchFamily="2" charset="-122"/>
                <a:ea typeface="华文新魏" panose="02010800040101010101" pitchFamily="2" charset="-122"/>
              </a:rPr>
              <a:t> 所有标有</a:t>
            </a:r>
            <a:r>
              <a:rPr lang="zh-CN" altLang="en-US"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1</a:t>
            </a:r>
            <a:r>
              <a:rPr lang="en-US" altLang="zh-CN" sz="1800" b="1" dirty="0">
                <a:latin typeface="黑体" panose="02010609060101010101" pitchFamily="49" charset="-122"/>
                <a:ea typeface="华文新魏" panose="02010800040101010101" pitchFamily="2" charset="-122"/>
              </a:rPr>
              <a:t>”</a:t>
            </a:r>
            <a:r>
              <a:rPr lang="zh-CN" altLang="en-US" sz="1800" b="1" dirty="0">
                <a:latin typeface="黑体" panose="02010609060101010101" pitchFamily="49" charset="-122"/>
                <a:ea typeface="华文新魏" panose="02010800040101010101" pitchFamily="2" charset="-122"/>
                <a:sym typeface="+mn-ea"/>
              </a:rPr>
              <a:t>或</a:t>
            </a:r>
            <a:r>
              <a:rPr lang="en-US" altLang="zh-CN" sz="1800" b="1" dirty="0">
                <a:latin typeface="黑体" panose="02010609060101010101" pitchFamily="49" charset="-122"/>
                <a:ea typeface="华文新魏" panose="02010800040101010101" pitchFamily="2" charset="-122"/>
                <a:sym typeface="+mn-ea"/>
              </a:rPr>
              <a:t>“</a:t>
            </a:r>
            <a:r>
              <a:rPr lang="en-US" altLang="zh-CN" sz="1800" dirty="0">
                <a:solidFill>
                  <a:srgbClr val="FF0000"/>
                </a:solidFill>
                <a:latin typeface="Arial" panose="020B0604020202020204" pitchFamily="34" charset="0"/>
                <a:ea typeface="华文新魏" panose="02010800040101010101" pitchFamily="2" charset="-122"/>
                <a:cs typeface="Arial" panose="020B0604020202020204" pitchFamily="34" charset="0"/>
                <a:sym typeface="+mn-ea"/>
              </a:rPr>
              <a:t>√</a:t>
            </a:r>
            <a:r>
              <a:rPr lang="en-US" altLang="zh-CN" sz="1800" b="1" dirty="0">
                <a:latin typeface="黑体" panose="02010609060101010101" pitchFamily="49" charset="-122"/>
                <a:ea typeface="华文新魏" panose="02010800040101010101" pitchFamily="2" charset="-122"/>
                <a:sym typeface="+mn-ea"/>
              </a:rPr>
              <a:t>”</a:t>
            </a:r>
            <a:r>
              <a:rPr lang="zh-CN" altLang="en-US" sz="1800" b="1" dirty="0">
                <a:latin typeface="华文新魏" panose="02010800040101010101" pitchFamily="2" charset="-122"/>
                <a:ea typeface="华文新魏" panose="02010800040101010101" pitchFamily="2" charset="-122"/>
              </a:rPr>
              <a:t>的小方格的合成区域就表示该函数。</a:t>
            </a:r>
            <a:endParaRPr lang="zh-CN" altLang="en-US" sz="1800" b="1" dirty="0">
              <a:latin typeface="华文新魏" panose="02010800040101010101" pitchFamily="2" charset="-122"/>
              <a:ea typeface="华文新魏" panose="02010800040101010101" pitchFamily="2" charset="-122"/>
            </a:endParaRPr>
          </a:p>
        </p:txBody>
      </p:sp>
      <p:sp>
        <p:nvSpPr>
          <p:cNvPr id="65542" name="Rectangle 19"/>
          <p:cNvSpPr txBox="1"/>
          <p:nvPr/>
        </p:nvSpPr>
        <p:spPr>
          <a:xfrm>
            <a:off x="468313" y="3344863"/>
            <a:ext cx="2898775" cy="901700"/>
          </a:xfrm>
          <a:prstGeom prst="rect">
            <a:avLst/>
          </a:prstGeom>
          <a:noFill/>
          <a:ln w="9525">
            <a:noFill/>
          </a:ln>
        </p:spPr>
        <p:txBody>
          <a:bodyPr anchor="ctr"/>
          <a:p>
            <a:pPr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30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 (1,4,5,6,7)</a:t>
            </a:r>
            <a:br>
              <a:rPr lang="en-US" altLang="zh-CN" sz="1800" dirty="0">
                <a:solidFill>
                  <a:schemeClr val="tx1"/>
                </a:solidFill>
                <a:latin typeface="黑体" panose="02010609060101010101" pitchFamily="49" charset="-122"/>
                <a:ea typeface="黑体" panose="02010609060101010101" pitchFamily="49" charset="-122"/>
              </a:rPr>
            </a:br>
            <a:r>
              <a:rPr lang="zh-CN" altLang="en-US" sz="1800" dirty="0">
                <a:solidFill>
                  <a:schemeClr val="tx1"/>
                </a:solidFill>
                <a:latin typeface="黑体" panose="02010609060101010101" pitchFamily="49" charset="-122"/>
                <a:ea typeface="黑体" panose="02010609060101010101" pitchFamily="49" charset="-122"/>
              </a:rPr>
              <a:t>的卡诺图表示</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3" name="Line 34"/>
          <p:cNvSpPr/>
          <p:nvPr/>
        </p:nvSpPr>
        <p:spPr>
          <a:xfrm>
            <a:off x="5510213" y="2960688"/>
            <a:ext cx="0" cy="352425"/>
          </a:xfrm>
          <a:prstGeom prst="line">
            <a:avLst/>
          </a:prstGeom>
          <a:ln w="6350" cap="flat" cmpd="sng">
            <a:solidFill>
              <a:schemeClr val="tx1"/>
            </a:solidFill>
            <a:prstDash val="solid"/>
            <a:headEnd type="none" w="med" len="med"/>
            <a:tailEnd type="none" w="med" len="med"/>
          </a:ln>
        </p:spPr>
      </p:sp>
      <p:sp>
        <p:nvSpPr>
          <p:cNvPr id="65544" name="Line 35"/>
          <p:cNvSpPr/>
          <p:nvPr/>
        </p:nvSpPr>
        <p:spPr>
          <a:xfrm>
            <a:off x="5491163" y="2941638"/>
            <a:ext cx="1428750" cy="19050"/>
          </a:xfrm>
          <a:prstGeom prst="line">
            <a:avLst/>
          </a:prstGeom>
          <a:ln w="6350" cap="flat" cmpd="sng">
            <a:solidFill>
              <a:schemeClr val="tx1"/>
            </a:solidFill>
            <a:prstDash val="solid"/>
            <a:headEnd type="none" w="med" len="med"/>
            <a:tailEnd type="none" w="med" len="med"/>
          </a:ln>
        </p:spPr>
      </p:sp>
      <p:sp>
        <p:nvSpPr>
          <p:cNvPr id="65545" name="Line 38"/>
          <p:cNvSpPr/>
          <p:nvPr/>
        </p:nvSpPr>
        <p:spPr>
          <a:xfrm flipV="1">
            <a:off x="4857750" y="4597400"/>
            <a:ext cx="1371600" cy="0"/>
          </a:xfrm>
          <a:prstGeom prst="line">
            <a:avLst/>
          </a:prstGeom>
          <a:ln w="6350" cap="flat" cmpd="sng">
            <a:solidFill>
              <a:schemeClr val="tx1"/>
            </a:solidFill>
            <a:prstDash val="solid"/>
            <a:headEnd type="none" w="med" len="med"/>
            <a:tailEnd type="none" w="med" len="med"/>
          </a:ln>
        </p:spPr>
      </p:sp>
      <p:sp>
        <p:nvSpPr>
          <p:cNvPr id="65546" name="Line 40"/>
          <p:cNvSpPr/>
          <p:nvPr/>
        </p:nvSpPr>
        <p:spPr>
          <a:xfrm>
            <a:off x="6950075" y="3757613"/>
            <a:ext cx="365125" cy="0"/>
          </a:xfrm>
          <a:prstGeom prst="line">
            <a:avLst/>
          </a:prstGeom>
          <a:ln w="6350" cap="flat" cmpd="sng">
            <a:solidFill>
              <a:schemeClr val="tx1"/>
            </a:solidFill>
            <a:prstDash val="solid"/>
            <a:headEnd type="none" w="med" len="med"/>
            <a:tailEnd type="none" w="med" len="med"/>
          </a:ln>
        </p:spPr>
      </p:sp>
      <p:sp>
        <p:nvSpPr>
          <p:cNvPr id="65547" name="Text Box 43"/>
          <p:cNvSpPr txBox="1"/>
          <p:nvPr/>
        </p:nvSpPr>
        <p:spPr>
          <a:xfrm>
            <a:off x="5715000" y="2622550"/>
            <a:ext cx="969963"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548" name="Text Box 44"/>
          <p:cNvSpPr txBox="1"/>
          <p:nvPr/>
        </p:nvSpPr>
        <p:spPr>
          <a:xfrm>
            <a:off x="7164388" y="3795713"/>
            <a:ext cx="765175"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549" name="Text Box 45"/>
          <p:cNvSpPr txBox="1"/>
          <p:nvPr/>
        </p:nvSpPr>
        <p:spPr>
          <a:xfrm>
            <a:off x="5291138" y="4679950"/>
            <a:ext cx="500062"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550" name="Line 48"/>
          <p:cNvSpPr/>
          <p:nvPr/>
        </p:nvSpPr>
        <p:spPr>
          <a:xfrm>
            <a:off x="7315200" y="3779838"/>
            <a:ext cx="0" cy="474662"/>
          </a:xfrm>
          <a:prstGeom prst="line">
            <a:avLst/>
          </a:prstGeom>
          <a:ln w="6350" cap="flat" cmpd="sng">
            <a:solidFill>
              <a:schemeClr val="tx1"/>
            </a:solidFill>
            <a:prstDash val="solid"/>
            <a:headEnd type="none" w="med" len="med"/>
            <a:tailEnd type="none" w="med" len="med"/>
          </a:ln>
        </p:spPr>
      </p:sp>
      <p:sp>
        <p:nvSpPr>
          <p:cNvPr id="65551" name="Line 49"/>
          <p:cNvSpPr/>
          <p:nvPr/>
        </p:nvSpPr>
        <p:spPr>
          <a:xfrm>
            <a:off x="6919913" y="2962275"/>
            <a:ext cx="0" cy="350838"/>
          </a:xfrm>
          <a:prstGeom prst="line">
            <a:avLst/>
          </a:prstGeom>
          <a:ln w="6350" cap="flat" cmpd="sng">
            <a:solidFill>
              <a:schemeClr val="tx1"/>
            </a:solidFill>
            <a:prstDash val="solid"/>
            <a:headEnd type="none" w="med" len="med"/>
            <a:tailEnd type="none" w="med" len="med"/>
          </a:ln>
        </p:spPr>
      </p:sp>
      <p:graphicFrame>
        <p:nvGraphicFramePr>
          <p:cNvPr id="64528" name="Group 16"/>
          <p:cNvGraphicFramePr>
            <a:graphicFrameLocks noGrp="1"/>
          </p:cNvGraphicFramePr>
          <p:nvPr/>
        </p:nvGraphicFramePr>
        <p:xfrm>
          <a:off x="4140200" y="3305175"/>
          <a:ext cx="2794000" cy="949326"/>
        </p:xfrm>
        <a:graphic>
          <a:graphicData uri="http://schemas.openxmlformats.org/drawingml/2006/table">
            <a:tbl>
              <a:tblPr/>
              <a:tblGrid>
                <a:gridCol w="679450"/>
                <a:gridCol w="704850"/>
                <a:gridCol w="704850"/>
                <a:gridCol w="704850"/>
              </a:tblGrid>
              <a:tr h="4746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746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
        <p:nvSpPr>
          <p:cNvPr id="65569" name="Line 69"/>
          <p:cNvSpPr/>
          <p:nvPr/>
        </p:nvSpPr>
        <p:spPr>
          <a:xfrm>
            <a:off x="4857750" y="4279900"/>
            <a:ext cx="0" cy="317500"/>
          </a:xfrm>
          <a:prstGeom prst="line">
            <a:avLst/>
          </a:prstGeom>
          <a:ln w="6350" cap="flat" cmpd="sng">
            <a:solidFill>
              <a:schemeClr val="tx1"/>
            </a:solidFill>
            <a:prstDash val="solid"/>
            <a:headEnd type="none" w="med" len="med"/>
            <a:tailEnd type="none" w="med" len="med"/>
          </a:ln>
        </p:spPr>
      </p:sp>
      <p:sp>
        <p:nvSpPr>
          <p:cNvPr id="65570" name="Line 70"/>
          <p:cNvSpPr/>
          <p:nvPr/>
        </p:nvSpPr>
        <p:spPr>
          <a:xfrm>
            <a:off x="6229350" y="4279900"/>
            <a:ext cx="0" cy="317500"/>
          </a:xfrm>
          <a:prstGeom prst="line">
            <a:avLst/>
          </a:prstGeom>
          <a:ln w="6350" cap="flat" cmpd="sng">
            <a:solidFill>
              <a:schemeClr val="tx1"/>
            </a:solidFill>
            <a:prstDash val="solid"/>
            <a:headEnd type="none" w="med" len="med"/>
            <a:tailEnd type="none" w="med" len="med"/>
          </a:ln>
        </p:spPr>
      </p:sp>
      <p:sp>
        <p:nvSpPr>
          <p:cNvPr id="65571" name="Line 76"/>
          <p:cNvSpPr/>
          <p:nvPr/>
        </p:nvSpPr>
        <p:spPr>
          <a:xfrm flipV="1">
            <a:off x="6953250" y="4240213"/>
            <a:ext cx="361950" cy="6350"/>
          </a:xfrm>
          <a:prstGeom prst="line">
            <a:avLst/>
          </a:prstGeom>
          <a:ln w="6350" cap="flat" cmpd="sng">
            <a:solidFill>
              <a:schemeClr val="tx1"/>
            </a:solidFill>
            <a:prstDash val="solid"/>
            <a:headEnd type="none" w="med" len="med"/>
            <a:tailEnd type="none" w="med" len="med"/>
          </a:ln>
        </p:spPr>
      </p:sp>
      <p:sp>
        <p:nvSpPr>
          <p:cNvPr id="65572" name="Text Box 77"/>
          <p:cNvSpPr txBox="1"/>
          <p:nvPr/>
        </p:nvSpPr>
        <p:spPr>
          <a:xfrm>
            <a:off x="4267200" y="3781425"/>
            <a:ext cx="5334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sp>
        <p:nvSpPr>
          <p:cNvPr id="65573" name="Text Box 78"/>
          <p:cNvSpPr txBox="1"/>
          <p:nvPr/>
        </p:nvSpPr>
        <p:spPr>
          <a:xfrm>
            <a:off x="5638800" y="37703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sp>
        <p:nvSpPr>
          <p:cNvPr id="65574" name="Text Box 79"/>
          <p:cNvSpPr txBox="1"/>
          <p:nvPr/>
        </p:nvSpPr>
        <p:spPr>
          <a:xfrm>
            <a:off x="6324600" y="37703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sp>
        <p:nvSpPr>
          <p:cNvPr id="65575" name="Text Box 80"/>
          <p:cNvSpPr txBox="1"/>
          <p:nvPr/>
        </p:nvSpPr>
        <p:spPr>
          <a:xfrm>
            <a:off x="6324600" y="33131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sp>
        <p:nvSpPr>
          <p:cNvPr id="65576" name="Text Box 81"/>
          <p:cNvSpPr txBox="1"/>
          <p:nvPr/>
        </p:nvSpPr>
        <p:spPr>
          <a:xfrm>
            <a:off x="5638800" y="33131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grpSp>
        <p:nvGrpSpPr>
          <p:cNvPr id="64553" name="Group 98"/>
          <p:cNvGrpSpPr/>
          <p:nvPr/>
        </p:nvGrpSpPr>
        <p:grpSpPr>
          <a:xfrm>
            <a:off x="3597275" y="2859088"/>
            <a:ext cx="720725" cy="635000"/>
            <a:chOff x="0" y="0"/>
            <a:chExt cx="593" cy="597"/>
          </a:xfrm>
        </p:grpSpPr>
        <p:sp>
          <p:nvSpPr>
            <p:cNvPr id="65578" name="Line 5"/>
            <p:cNvSpPr/>
            <p:nvPr/>
          </p:nvSpPr>
          <p:spPr>
            <a:xfrm flipH="1" flipV="1">
              <a:off x="0" y="61"/>
              <a:ext cx="438" cy="352"/>
            </a:xfrm>
            <a:prstGeom prst="line">
              <a:avLst/>
            </a:prstGeom>
            <a:ln w="6350" cap="flat" cmpd="sng">
              <a:solidFill>
                <a:schemeClr val="tx1"/>
              </a:solidFill>
              <a:prstDash val="solid"/>
              <a:headEnd type="none" w="med" len="med"/>
              <a:tailEnd type="none" w="med" len="med"/>
            </a:ln>
          </p:spPr>
        </p:sp>
        <p:sp>
          <p:nvSpPr>
            <p:cNvPr id="65579" name="Text Box 6"/>
            <p:cNvSpPr txBox="1"/>
            <p:nvPr/>
          </p:nvSpPr>
          <p:spPr>
            <a:xfrm>
              <a:off x="146" y="0"/>
              <a:ext cx="447" cy="37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AB</a:t>
              </a:r>
              <a:endParaRPr lang="en-US" altLang="zh-CN" dirty="0">
                <a:solidFill>
                  <a:schemeClr val="tx1"/>
                </a:solidFill>
                <a:latin typeface="Arial" panose="020B0604020202020204" pitchFamily="34" charset="0"/>
              </a:endParaRPr>
            </a:p>
          </p:txBody>
        </p:sp>
        <p:sp>
          <p:nvSpPr>
            <p:cNvPr id="65580" name="Text Box 7"/>
            <p:cNvSpPr txBox="1"/>
            <p:nvPr/>
          </p:nvSpPr>
          <p:spPr>
            <a:xfrm>
              <a:off x="51" y="224"/>
              <a:ext cx="310" cy="37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C</a:t>
              </a:r>
              <a:endParaRPr lang="en-US" altLang="zh-CN" dirty="0">
                <a:solidFill>
                  <a:schemeClr val="tx1"/>
                </a:solidFill>
                <a:latin typeface="Arial" panose="020B0604020202020204" pitchFamily="34" charset="0"/>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553"/>
                                        </p:tgtEl>
                                        <p:attrNameLst>
                                          <p:attrName>style.visibility</p:attrName>
                                        </p:attrNameLst>
                                      </p:cBhvr>
                                      <p:to>
                                        <p:strVal val="visible"/>
                                      </p:to>
                                    </p:set>
                                    <p:animEffect transition="in" filter="blinds(horizontal)">
                                      <p:cBhvr>
                                        <p:cTn id="7" dur="500"/>
                                        <p:tgtEl>
                                          <p:spTgt spid="64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65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6564" name="Rectangle 3"/>
          <p:cNvSpPr>
            <a:spLocks noGrp="1"/>
          </p:cNvSpPr>
          <p:nvPr>
            <p:ph type="title"/>
          </p:nvPr>
        </p:nvSpPr>
        <p:spPr>
          <a:xfrm>
            <a:off x="492125" y="703580"/>
            <a:ext cx="6743700" cy="57150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 F</a:t>
            </a:r>
            <a:r>
              <a:rPr lang="en-US" altLang="zh-CN" sz="1800" baseline="-25000" dirty="0">
                <a:latin typeface="黑体" panose="02010609060101010101" pitchFamily="49" charset="-122"/>
                <a:ea typeface="黑体" panose="02010609060101010101" pitchFamily="49" charset="-122"/>
              </a:rPr>
              <a:t>2 </a:t>
            </a:r>
            <a:r>
              <a:rPr lang="en-US" altLang="zh-CN" sz="1800" dirty="0">
                <a:latin typeface="黑体" panose="02010609060101010101" pitchFamily="49" charset="-122"/>
                <a:ea typeface="黑体" panose="02010609060101010101" pitchFamily="49" charset="-122"/>
              </a:rPr>
              <a:t>= (A + B)(C + A)(A + B) </a:t>
            </a:r>
            <a:r>
              <a:rPr lang="zh-CN" altLang="en-US" sz="1800" dirty="0">
                <a:latin typeface="黑体" panose="02010609060101010101" pitchFamily="49" charset="-122"/>
                <a:ea typeface="黑体" panose="02010609060101010101" pitchFamily="49" charset="-122"/>
              </a:rPr>
              <a:t>，将其</a:t>
            </a:r>
            <a:r>
              <a:rPr lang="zh-CN" altLang="en-US" sz="1800" dirty="0">
                <a:latin typeface="黑体" panose="02010609060101010101" pitchFamily="49" charset="-122"/>
                <a:ea typeface="黑体" panose="02010609060101010101" pitchFamily="49" charset="-122"/>
              </a:rPr>
              <a:t>标注在卡诺图内。</a:t>
            </a:r>
            <a:endParaRPr lang="en-US" altLang="zh-CN" sz="1800" dirty="0">
              <a:latin typeface="黑体" panose="02010609060101010101" pitchFamily="49" charset="-122"/>
              <a:ea typeface="黑体" panose="02010609060101010101" pitchFamily="49" charset="-122"/>
            </a:endParaRPr>
          </a:p>
        </p:txBody>
      </p:sp>
      <p:sp>
        <p:nvSpPr>
          <p:cNvPr id="66565" name="Rectangle 4"/>
          <p:cNvSpPr>
            <a:spLocks noGrp="1"/>
          </p:cNvSpPr>
          <p:nvPr>
            <p:ph/>
          </p:nvPr>
        </p:nvSpPr>
        <p:spPr>
          <a:xfrm>
            <a:off x="327660" y="1374775"/>
            <a:ext cx="4027805" cy="3375025"/>
          </a:xfrm>
          <a:prstGeom prst="rect">
            <a:avLst/>
          </a:prstGeom>
          <a:noFill/>
          <a:ln w="9525">
            <a:noFill/>
          </a:ln>
        </p:spPr>
        <p:txBody>
          <a:bodyPr/>
          <a:p>
            <a:pPr marL="533400" indent="-533400" eaLnBrk="1" hangingPunct="1">
              <a:spcBef>
                <a:spcPct val="0"/>
              </a:spcBef>
              <a:buNone/>
            </a:pPr>
            <a:r>
              <a:rPr lang="zh-CN" altLang="en-US" sz="1800" dirty="0">
                <a:latin typeface="黑体" panose="02010609060101010101" pitchFamily="49" charset="-122"/>
                <a:ea typeface="黑体" panose="02010609060101010101" pitchFamily="49" charset="-122"/>
              </a:rPr>
              <a:t>先求出</a:t>
            </a:r>
            <a:r>
              <a:rPr lang="zh-CN" altLang="en-US" sz="1800" b="1" dirty="0">
                <a:latin typeface="黑体" panose="02010609060101010101" pitchFamily="49" charset="-122"/>
                <a:ea typeface="黑体" panose="02010609060101010101" pitchFamily="49" charset="-122"/>
              </a:rPr>
              <a:t>反函数的与或式：</a:t>
            </a:r>
            <a:endParaRPr lang="en-US" altLang="zh-CN" sz="1800" b="1"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r>
              <a:rPr lang="zh-CN" altLang="en-US" sz="1800" dirty="0">
                <a:latin typeface="黑体" panose="02010609060101010101" pitchFamily="49" charset="-122"/>
                <a:ea typeface="黑体" panose="02010609060101010101" pitchFamily="49" charset="-122"/>
              </a:rPr>
              <a:t>    则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2 </a:t>
            </a:r>
            <a:r>
              <a:rPr lang="en-US" altLang="zh-CN" sz="1800" dirty="0">
                <a:latin typeface="黑体" panose="02010609060101010101" pitchFamily="49" charset="-122"/>
                <a:ea typeface="黑体" panose="02010609060101010101" pitchFamily="49" charset="-122"/>
              </a:rPr>
              <a:t>= AB + AC + AB</a:t>
            </a: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反函数在卡诺图小方格上标</a:t>
            </a:r>
            <a:r>
              <a:rPr lang="zh-CN" altLang="en-US" sz="1800" dirty="0">
                <a:solidFill>
                  <a:srgbClr val="FF0066"/>
                </a:solidFill>
                <a:latin typeface="黑体" panose="02010609060101010101" pitchFamily="49" charset="-122"/>
                <a:ea typeface="黑体" panose="02010609060101010101" pitchFamily="49" charset="-122"/>
              </a:rPr>
              <a:t>“</a:t>
            </a:r>
            <a:r>
              <a:rPr lang="en-US" altLang="zh-CN" sz="1800" dirty="0">
                <a:solidFill>
                  <a:srgbClr val="FF0066"/>
                </a:solidFill>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r>
              <a:rPr lang="zh-CN" altLang="en-US" sz="1800" dirty="0">
                <a:latin typeface="华文新魏" panose="02010800040101010101" pitchFamily="2" charset="-122"/>
                <a:ea typeface="华文新魏" panose="02010800040101010101" pitchFamily="2" charset="-122"/>
              </a:rPr>
              <a:t>     （</a:t>
            </a:r>
            <a:r>
              <a:rPr lang="zh-CN" altLang="en-US" sz="1800" dirty="0">
                <a:solidFill>
                  <a:srgbClr val="0000FF"/>
                </a:solidFill>
                <a:latin typeface="华文新魏" panose="02010800040101010101" pitchFamily="2" charset="-122"/>
                <a:ea typeface="华文新魏" panose="02010800040101010101" pitchFamily="2" charset="-122"/>
              </a:rPr>
              <a:t>可把反函数转换为最小项标准式，也可以直接按与、或的共同区域将函数标注到卡诺图上</a:t>
            </a:r>
            <a:r>
              <a:rPr lang="zh-CN" altLang="en-US" sz="1800" dirty="0">
                <a:latin typeface="华文新魏" panose="02010800040101010101" pitchFamily="2" charset="-122"/>
                <a:ea typeface="华文新魏" panose="02010800040101010101" pitchFamily="2" charset="-122"/>
              </a:rPr>
              <a:t>，此时对应得小方格</a:t>
            </a:r>
            <a:r>
              <a:rPr lang="zh-CN" altLang="en-US" sz="1800" b="1" dirty="0">
                <a:latin typeface="华文新魏" panose="02010800040101010101" pitchFamily="2" charset="-122"/>
                <a:ea typeface="华文新魏" panose="02010800040101010101" pitchFamily="2" charset="-122"/>
              </a:rPr>
              <a:t>标注“</a:t>
            </a:r>
            <a:r>
              <a:rPr lang="en-US" altLang="zh-CN" sz="1800" b="1"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剩余的标“</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，则标“</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小方格的集合就是原函数。）</a:t>
            </a:r>
            <a:endParaRPr lang="zh-CN" altLang="en-US" sz="1800" dirty="0">
              <a:latin typeface="华文新魏" panose="02010800040101010101" pitchFamily="2" charset="-122"/>
              <a:ea typeface="华文新魏" panose="02010800040101010101" pitchFamily="2" charset="-122"/>
            </a:endParaRPr>
          </a:p>
        </p:txBody>
      </p:sp>
      <p:grpSp>
        <p:nvGrpSpPr>
          <p:cNvPr id="66566" name="Group 98"/>
          <p:cNvGrpSpPr/>
          <p:nvPr/>
        </p:nvGrpSpPr>
        <p:grpSpPr>
          <a:xfrm>
            <a:off x="4495800" y="2017713"/>
            <a:ext cx="941388" cy="666750"/>
            <a:chOff x="0" y="0"/>
            <a:chExt cx="593" cy="560"/>
          </a:xfrm>
        </p:grpSpPr>
        <p:sp>
          <p:nvSpPr>
            <p:cNvPr id="66614" name="Line 5"/>
            <p:cNvSpPr/>
            <p:nvPr/>
          </p:nvSpPr>
          <p:spPr>
            <a:xfrm flipH="1" flipV="1">
              <a:off x="0" y="61"/>
              <a:ext cx="438" cy="352"/>
            </a:xfrm>
            <a:prstGeom prst="line">
              <a:avLst/>
            </a:prstGeom>
            <a:ln w="6350" cap="flat" cmpd="sng">
              <a:solidFill>
                <a:schemeClr val="tx1"/>
              </a:solidFill>
              <a:prstDash val="solid"/>
              <a:headEnd type="none" w="med" len="med"/>
              <a:tailEnd type="none" w="med" len="med"/>
            </a:ln>
          </p:spPr>
        </p:sp>
        <p:sp>
          <p:nvSpPr>
            <p:cNvPr id="66615" name="Text Box 6"/>
            <p:cNvSpPr txBox="1"/>
            <p:nvPr/>
          </p:nvSpPr>
          <p:spPr>
            <a:xfrm>
              <a:off x="146" y="0"/>
              <a:ext cx="447" cy="336"/>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AB</a:t>
              </a:r>
              <a:endParaRPr lang="en-US" altLang="zh-CN" dirty="0">
                <a:solidFill>
                  <a:schemeClr val="tx1"/>
                </a:solidFill>
                <a:latin typeface="Arial" panose="020B0604020202020204" pitchFamily="34" charset="0"/>
              </a:endParaRPr>
            </a:p>
          </p:txBody>
        </p:sp>
        <p:sp>
          <p:nvSpPr>
            <p:cNvPr id="66616" name="Text Box 7"/>
            <p:cNvSpPr txBox="1"/>
            <p:nvPr/>
          </p:nvSpPr>
          <p:spPr>
            <a:xfrm>
              <a:off x="51" y="224"/>
              <a:ext cx="310" cy="336"/>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C</a:t>
              </a:r>
              <a:endParaRPr lang="en-US" altLang="zh-CN" dirty="0">
                <a:solidFill>
                  <a:schemeClr val="tx1"/>
                </a:solidFill>
                <a:latin typeface="Arial" panose="020B0604020202020204" pitchFamily="34" charset="0"/>
              </a:endParaRPr>
            </a:p>
          </p:txBody>
        </p:sp>
      </p:grpSp>
      <p:grpSp>
        <p:nvGrpSpPr>
          <p:cNvPr id="66567" name="Group 97"/>
          <p:cNvGrpSpPr/>
          <p:nvPr/>
        </p:nvGrpSpPr>
        <p:grpSpPr>
          <a:xfrm>
            <a:off x="6634163" y="1885950"/>
            <a:ext cx="1462087" cy="630238"/>
            <a:chOff x="0" y="0"/>
            <a:chExt cx="921" cy="529"/>
          </a:xfrm>
        </p:grpSpPr>
        <p:sp>
          <p:nvSpPr>
            <p:cNvPr id="66610" name="Line 8"/>
            <p:cNvSpPr/>
            <p:nvPr/>
          </p:nvSpPr>
          <p:spPr>
            <a:xfrm>
              <a:off x="12" y="286"/>
              <a:ext cx="0" cy="240"/>
            </a:xfrm>
            <a:prstGeom prst="line">
              <a:avLst/>
            </a:prstGeom>
            <a:ln w="6350" cap="flat" cmpd="sng">
              <a:solidFill>
                <a:schemeClr val="tx1"/>
              </a:solidFill>
              <a:prstDash val="solid"/>
              <a:headEnd type="none" w="med" len="med"/>
              <a:tailEnd type="none" w="med" len="med"/>
            </a:ln>
          </p:spPr>
        </p:sp>
        <p:sp>
          <p:nvSpPr>
            <p:cNvPr id="66611" name="Line 9"/>
            <p:cNvSpPr/>
            <p:nvPr/>
          </p:nvSpPr>
          <p:spPr>
            <a:xfrm>
              <a:off x="0" y="274"/>
              <a:ext cx="919" cy="0"/>
            </a:xfrm>
            <a:prstGeom prst="line">
              <a:avLst/>
            </a:prstGeom>
            <a:ln w="6350" cap="flat" cmpd="sng">
              <a:solidFill>
                <a:schemeClr val="tx1"/>
              </a:solidFill>
              <a:prstDash val="solid"/>
              <a:headEnd type="none" w="med" len="med"/>
              <a:tailEnd type="none" w="med" len="med"/>
            </a:ln>
          </p:spPr>
        </p:sp>
        <p:sp>
          <p:nvSpPr>
            <p:cNvPr id="66612" name="Text Box 12"/>
            <p:cNvSpPr txBox="1"/>
            <p:nvPr/>
          </p:nvSpPr>
          <p:spPr>
            <a:xfrm>
              <a:off x="141" y="0"/>
              <a:ext cx="611"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Arial" panose="020B0604020202020204" pitchFamily="34" charset="0"/>
                </a:rPr>
                <a:t>   A</a:t>
              </a:r>
              <a:endParaRPr lang="en-US" altLang="zh-CN" sz="2400" dirty="0">
                <a:solidFill>
                  <a:schemeClr val="tx1"/>
                </a:solidFill>
                <a:latin typeface="Arial" panose="020B0604020202020204" pitchFamily="34" charset="0"/>
              </a:endParaRPr>
            </a:p>
          </p:txBody>
        </p:sp>
        <p:sp>
          <p:nvSpPr>
            <p:cNvPr id="66613" name="Line 16"/>
            <p:cNvSpPr/>
            <p:nvPr/>
          </p:nvSpPr>
          <p:spPr>
            <a:xfrm>
              <a:off x="921" y="288"/>
              <a:ext cx="0" cy="241"/>
            </a:xfrm>
            <a:prstGeom prst="line">
              <a:avLst/>
            </a:prstGeom>
            <a:ln w="6350" cap="flat" cmpd="sng">
              <a:solidFill>
                <a:schemeClr val="tx1"/>
              </a:solidFill>
              <a:prstDash val="solid"/>
              <a:headEnd type="none" w="med" len="med"/>
              <a:tailEnd type="none" w="med" len="med"/>
            </a:ln>
          </p:spPr>
        </p:sp>
      </p:grpSp>
      <p:graphicFrame>
        <p:nvGraphicFramePr>
          <p:cNvPr id="65551" name="Group 15"/>
          <p:cNvGraphicFramePr>
            <a:graphicFrameLocks noGrp="1"/>
          </p:cNvGraphicFramePr>
          <p:nvPr/>
        </p:nvGraphicFramePr>
        <p:xfrm>
          <a:off x="5257800" y="2514600"/>
          <a:ext cx="2819400" cy="1028700"/>
        </p:xfrm>
        <a:graphic>
          <a:graphicData uri="http://schemas.openxmlformats.org/drawingml/2006/table">
            <a:tbl>
              <a:tblPr/>
              <a:tblGrid>
                <a:gridCol w="704850"/>
                <a:gridCol w="704850"/>
                <a:gridCol w="704850"/>
                <a:gridCol w="704850"/>
              </a:tblGrid>
              <a:tr h="5143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5143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grpSp>
        <p:nvGrpSpPr>
          <p:cNvPr id="66585" name="Group 100"/>
          <p:cNvGrpSpPr/>
          <p:nvPr/>
        </p:nvGrpSpPr>
        <p:grpSpPr>
          <a:xfrm>
            <a:off x="6000750" y="3543300"/>
            <a:ext cx="1371600" cy="714375"/>
            <a:chOff x="0" y="0"/>
            <a:chExt cx="864" cy="600"/>
          </a:xfrm>
        </p:grpSpPr>
        <p:sp>
          <p:nvSpPr>
            <p:cNvPr id="66606" name="Line 10"/>
            <p:cNvSpPr/>
            <p:nvPr/>
          </p:nvSpPr>
          <p:spPr>
            <a:xfrm>
              <a:off x="0" y="264"/>
              <a:ext cx="864" cy="0"/>
            </a:xfrm>
            <a:prstGeom prst="line">
              <a:avLst/>
            </a:prstGeom>
            <a:ln w="6350" cap="flat" cmpd="sng">
              <a:solidFill>
                <a:schemeClr val="tx1"/>
              </a:solidFill>
              <a:prstDash val="solid"/>
              <a:headEnd type="none" w="med" len="med"/>
              <a:tailEnd type="none" w="med" len="med"/>
            </a:ln>
          </p:spPr>
        </p:sp>
        <p:sp>
          <p:nvSpPr>
            <p:cNvPr id="66607" name="Text Box 14"/>
            <p:cNvSpPr txBox="1"/>
            <p:nvPr/>
          </p:nvSpPr>
          <p:spPr>
            <a:xfrm>
              <a:off x="273" y="212"/>
              <a:ext cx="315"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Arial" panose="020B0604020202020204" pitchFamily="34" charset="0"/>
                </a:rPr>
                <a:t>B</a:t>
              </a:r>
              <a:endParaRPr lang="en-US" altLang="zh-CN" sz="2400" dirty="0">
                <a:solidFill>
                  <a:schemeClr val="tx1"/>
                </a:solidFill>
                <a:latin typeface="Arial" panose="020B0604020202020204" pitchFamily="34" charset="0"/>
              </a:endParaRPr>
            </a:p>
          </p:txBody>
        </p:sp>
        <p:sp>
          <p:nvSpPr>
            <p:cNvPr id="66608" name="Line 34"/>
            <p:cNvSpPr/>
            <p:nvPr/>
          </p:nvSpPr>
          <p:spPr>
            <a:xfrm>
              <a:off x="0" y="0"/>
              <a:ext cx="0" cy="288"/>
            </a:xfrm>
            <a:prstGeom prst="line">
              <a:avLst/>
            </a:prstGeom>
            <a:ln w="6350" cap="flat" cmpd="sng">
              <a:solidFill>
                <a:schemeClr val="tx1"/>
              </a:solidFill>
              <a:prstDash val="solid"/>
              <a:headEnd type="none" w="med" len="med"/>
              <a:tailEnd type="none" w="med" len="med"/>
            </a:ln>
          </p:spPr>
        </p:sp>
        <p:sp>
          <p:nvSpPr>
            <p:cNvPr id="66609" name="Line 35"/>
            <p:cNvSpPr/>
            <p:nvPr/>
          </p:nvSpPr>
          <p:spPr>
            <a:xfrm>
              <a:off x="864" y="0"/>
              <a:ext cx="0" cy="288"/>
            </a:xfrm>
            <a:prstGeom prst="line">
              <a:avLst/>
            </a:prstGeom>
            <a:ln w="6350" cap="flat" cmpd="sng">
              <a:solidFill>
                <a:schemeClr val="tx1"/>
              </a:solidFill>
              <a:prstDash val="solid"/>
              <a:headEnd type="none" w="med" len="med"/>
              <a:tailEnd type="none" w="med" len="med"/>
            </a:ln>
          </p:spPr>
        </p:sp>
      </p:grpSp>
      <p:grpSp>
        <p:nvGrpSpPr>
          <p:cNvPr id="66586" name="Group 99"/>
          <p:cNvGrpSpPr/>
          <p:nvPr/>
        </p:nvGrpSpPr>
        <p:grpSpPr>
          <a:xfrm>
            <a:off x="8101013" y="3011488"/>
            <a:ext cx="687387" cy="531812"/>
            <a:chOff x="0" y="0"/>
            <a:chExt cx="433" cy="446"/>
          </a:xfrm>
        </p:grpSpPr>
        <p:sp>
          <p:nvSpPr>
            <p:cNvPr id="66602" name="Line 11"/>
            <p:cNvSpPr/>
            <p:nvPr/>
          </p:nvSpPr>
          <p:spPr>
            <a:xfrm>
              <a:off x="0" y="15"/>
              <a:ext cx="192" cy="0"/>
            </a:xfrm>
            <a:prstGeom prst="line">
              <a:avLst/>
            </a:prstGeom>
            <a:ln w="6350" cap="flat" cmpd="sng">
              <a:solidFill>
                <a:schemeClr val="tx1"/>
              </a:solidFill>
              <a:prstDash val="solid"/>
              <a:headEnd type="none" w="med" len="med"/>
              <a:tailEnd type="none" w="med" len="med"/>
            </a:ln>
          </p:spPr>
        </p:sp>
        <p:sp>
          <p:nvSpPr>
            <p:cNvPr id="66603" name="Text Box 13"/>
            <p:cNvSpPr txBox="1"/>
            <p:nvPr/>
          </p:nvSpPr>
          <p:spPr>
            <a:xfrm>
              <a:off x="95" y="0"/>
              <a:ext cx="338"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Arial" panose="020B0604020202020204" pitchFamily="34" charset="0"/>
                </a:rPr>
                <a:t> C</a:t>
              </a:r>
              <a:endParaRPr lang="en-US" altLang="zh-CN" sz="2400" dirty="0">
                <a:solidFill>
                  <a:schemeClr val="tx1"/>
                </a:solidFill>
                <a:latin typeface="Arial" panose="020B0604020202020204" pitchFamily="34" charset="0"/>
              </a:endParaRPr>
            </a:p>
          </p:txBody>
        </p:sp>
        <p:sp>
          <p:nvSpPr>
            <p:cNvPr id="66604" name="Line 15"/>
            <p:cNvSpPr/>
            <p:nvPr/>
          </p:nvSpPr>
          <p:spPr>
            <a:xfrm>
              <a:off x="192" y="15"/>
              <a:ext cx="0" cy="431"/>
            </a:xfrm>
            <a:prstGeom prst="line">
              <a:avLst/>
            </a:prstGeom>
            <a:ln w="6350" cap="flat" cmpd="sng">
              <a:solidFill>
                <a:schemeClr val="tx1"/>
              </a:solidFill>
              <a:prstDash val="solid"/>
              <a:headEnd type="none" w="med" len="med"/>
              <a:tailEnd type="none" w="med" len="med"/>
            </a:ln>
          </p:spPr>
        </p:sp>
        <p:sp>
          <p:nvSpPr>
            <p:cNvPr id="66605" name="Line 36"/>
            <p:cNvSpPr/>
            <p:nvPr/>
          </p:nvSpPr>
          <p:spPr>
            <a:xfrm>
              <a:off x="0" y="434"/>
              <a:ext cx="192" cy="0"/>
            </a:xfrm>
            <a:prstGeom prst="line">
              <a:avLst/>
            </a:prstGeom>
            <a:ln w="6350" cap="flat" cmpd="sng">
              <a:solidFill>
                <a:schemeClr val="tx1"/>
              </a:solidFill>
              <a:prstDash val="solid"/>
              <a:headEnd type="none" w="med" len="med"/>
              <a:tailEnd type="none" w="med" len="med"/>
            </a:ln>
          </p:spPr>
        </p:sp>
      </p:grpSp>
      <p:sp>
        <p:nvSpPr>
          <p:cNvPr id="66587" name="Text Box 37"/>
          <p:cNvSpPr txBox="1"/>
          <p:nvPr/>
        </p:nvSpPr>
        <p:spPr>
          <a:xfrm>
            <a:off x="5410200" y="2571750"/>
            <a:ext cx="533400" cy="523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chemeClr val="tx1"/>
                </a:solidFill>
                <a:latin typeface="Times New Roman" panose="02020603050405020304" pitchFamily="18" charset="0"/>
              </a:rPr>
              <a:t>1</a:t>
            </a:r>
            <a:endParaRPr lang="en-US" altLang="zh-CN" sz="2800" b="1" dirty="0">
              <a:solidFill>
                <a:schemeClr val="tx1"/>
              </a:solidFill>
              <a:latin typeface="Times New Roman" panose="02020603050405020304" pitchFamily="18" charset="0"/>
            </a:endParaRPr>
          </a:p>
        </p:txBody>
      </p:sp>
      <p:sp>
        <p:nvSpPr>
          <p:cNvPr id="66588" name="Text Box 38"/>
          <p:cNvSpPr txBox="1"/>
          <p:nvPr/>
        </p:nvSpPr>
        <p:spPr>
          <a:xfrm>
            <a:off x="6781800" y="3028950"/>
            <a:ext cx="533400" cy="523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chemeClr val="tx1"/>
                </a:solidFill>
                <a:latin typeface="Times New Roman" panose="02020603050405020304" pitchFamily="18" charset="0"/>
              </a:rPr>
              <a:t>1</a:t>
            </a:r>
            <a:endParaRPr lang="en-US" altLang="zh-CN" sz="2800" b="1" dirty="0">
              <a:solidFill>
                <a:schemeClr val="tx1"/>
              </a:solidFill>
              <a:latin typeface="Times New Roman" panose="02020603050405020304" pitchFamily="18" charset="0"/>
            </a:endParaRPr>
          </a:p>
        </p:txBody>
      </p:sp>
      <p:sp>
        <p:nvSpPr>
          <p:cNvPr id="66589" name="Text Box 41"/>
          <p:cNvSpPr txBox="1"/>
          <p:nvPr/>
        </p:nvSpPr>
        <p:spPr>
          <a:xfrm>
            <a:off x="6781800" y="2571750"/>
            <a:ext cx="533400" cy="523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chemeClr val="tx1"/>
                </a:solidFill>
                <a:latin typeface="Times New Roman" panose="02020603050405020304" pitchFamily="18" charset="0"/>
              </a:rPr>
              <a:t>1</a:t>
            </a:r>
            <a:endParaRPr lang="en-US" altLang="zh-CN" sz="2800" b="1" dirty="0">
              <a:solidFill>
                <a:schemeClr val="tx1"/>
              </a:solidFill>
              <a:latin typeface="Times New Roman" panose="02020603050405020304" pitchFamily="18" charset="0"/>
            </a:endParaRPr>
          </a:p>
        </p:txBody>
      </p:sp>
      <p:sp>
        <p:nvSpPr>
          <p:cNvPr id="66590" name="Text Box 91"/>
          <p:cNvSpPr txBox="1"/>
          <p:nvPr/>
        </p:nvSpPr>
        <p:spPr>
          <a:xfrm>
            <a:off x="5410200" y="3097213"/>
            <a:ext cx="533400" cy="5191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6591" name="Text Box 92"/>
          <p:cNvSpPr txBox="1"/>
          <p:nvPr/>
        </p:nvSpPr>
        <p:spPr>
          <a:xfrm>
            <a:off x="6096000" y="3086100"/>
            <a:ext cx="533400" cy="5191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6592" name="Text Box 93"/>
          <p:cNvSpPr txBox="1"/>
          <p:nvPr/>
        </p:nvSpPr>
        <p:spPr>
          <a:xfrm>
            <a:off x="6096000" y="2571750"/>
            <a:ext cx="533400" cy="5191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6593" name="Text Box 94"/>
          <p:cNvSpPr txBox="1"/>
          <p:nvPr/>
        </p:nvSpPr>
        <p:spPr>
          <a:xfrm>
            <a:off x="7467600" y="2571750"/>
            <a:ext cx="533400" cy="5191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6594" name="Text Box 95"/>
          <p:cNvSpPr txBox="1"/>
          <p:nvPr/>
        </p:nvSpPr>
        <p:spPr>
          <a:xfrm>
            <a:off x="7467600" y="3097213"/>
            <a:ext cx="533400" cy="5191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2499" name="Line 50"/>
          <p:cNvSpPr>
            <a:spLocks noChangeShapeType="1"/>
          </p:cNvSpPr>
          <p:nvPr/>
        </p:nvSpPr>
        <p:spPr bwMode="auto">
          <a:xfrm>
            <a:off x="1163638" y="1851025"/>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0" name="Line 51"/>
          <p:cNvSpPr>
            <a:spLocks noChangeShapeType="1"/>
          </p:cNvSpPr>
          <p:nvPr/>
        </p:nvSpPr>
        <p:spPr bwMode="auto">
          <a:xfrm>
            <a:off x="1692275" y="1851025"/>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1" name="Line 52"/>
          <p:cNvSpPr>
            <a:spLocks noChangeShapeType="1"/>
          </p:cNvSpPr>
          <p:nvPr/>
        </p:nvSpPr>
        <p:spPr bwMode="auto">
          <a:xfrm>
            <a:off x="2230438" y="7000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2" name="Line 53"/>
          <p:cNvSpPr>
            <a:spLocks noChangeShapeType="1"/>
          </p:cNvSpPr>
          <p:nvPr/>
        </p:nvSpPr>
        <p:spPr bwMode="auto">
          <a:xfrm>
            <a:off x="3373438" y="7000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3" name="Line 54"/>
          <p:cNvSpPr>
            <a:spLocks noChangeShapeType="1"/>
          </p:cNvSpPr>
          <p:nvPr/>
        </p:nvSpPr>
        <p:spPr bwMode="auto">
          <a:xfrm>
            <a:off x="2954338" y="1851025"/>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4" name="Line 55"/>
          <p:cNvSpPr>
            <a:spLocks noChangeShapeType="1"/>
          </p:cNvSpPr>
          <p:nvPr/>
        </p:nvSpPr>
        <p:spPr bwMode="auto">
          <a:xfrm>
            <a:off x="2268538" y="1851025"/>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5" name="Line 56"/>
          <p:cNvSpPr>
            <a:spLocks noChangeShapeType="1"/>
          </p:cNvSpPr>
          <p:nvPr/>
        </p:nvSpPr>
        <p:spPr bwMode="auto">
          <a:xfrm>
            <a:off x="2574925" y="7000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5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5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505"/>
                                        </p:tgtEl>
                                        <p:attrNameLst>
                                          <p:attrName>style.visibility</p:attrName>
                                        </p:attrNameLst>
                                      </p:cBhvr>
                                      <p:to>
                                        <p:strVal val="visible"/>
                                      </p:to>
                                    </p:set>
                                  </p:childTnLst>
                                </p:cTn>
                              </p:par>
                              <p:par>
                                <p:cTn id="13" presetID="10" presetClass="entr" presetSubtype="0" fill="hold" grpId="0" nodeType="withEffect">
                                  <p:stCondLst>
                                    <p:cond delay="0"/>
                                  </p:stCondLst>
                                  <p:childTnLst>
                                    <p:set>
                                      <p:cBhvr>
                                        <p:cTn id="14" dur="1" fill="hold">
                                          <p:stCondLst>
                                            <p:cond delay="0"/>
                                          </p:stCondLst>
                                        </p:cTn>
                                        <p:tgtEl>
                                          <p:spTgt spid="66565">
                                            <p:txEl>
                                              <p:charRg st="0" end="12"/>
                                            </p:txEl>
                                          </p:spTgt>
                                        </p:tgtEl>
                                        <p:attrNameLst>
                                          <p:attrName>style.visibility</p:attrName>
                                        </p:attrNameLst>
                                      </p:cBhvr>
                                      <p:to>
                                        <p:strVal val="visible"/>
                                      </p:to>
                                    </p:set>
                                    <p:animEffect transition="in" filter="fade">
                                      <p:cBhvr>
                                        <p:cTn id="15" dur="500"/>
                                        <p:tgtEl>
                                          <p:spTgt spid="66565">
                                            <p:txEl>
                                              <p:charRg st="0" end="1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6565">
                                            <p:txEl>
                                              <p:charRg st="13" end="37"/>
                                            </p:txEl>
                                          </p:spTgt>
                                        </p:tgtEl>
                                        <p:attrNameLst>
                                          <p:attrName>style.visibility</p:attrName>
                                        </p:attrNameLst>
                                      </p:cBhvr>
                                      <p:to>
                                        <p:strVal val="visible"/>
                                      </p:to>
                                    </p:set>
                                    <p:animEffect transition="in" filter="fade">
                                      <p:cBhvr>
                                        <p:cTn id="18" dur="500"/>
                                        <p:tgtEl>
                                          <p:spTgt spid="66565">
                                            <p:txEl>
                                              <p:charRg st="13" end="37"/>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6565">
                                            <p:txEl>
                                              <p:charRg st="38" end="59"/>
                                            </p:txEl>
                                          </p:spTgt>
                                        </p:tgtEl>
                                        <p:attrNameLst>
                                          <p:attrName>style.visibility</p:attrName>
                                        </p:attrNameLst>
                                      </p:cBhvr>
                                      <p:to>
                                        <p:strVal val="visible"/>
                                      </p:to>
                                    </p:set>
                                    <p:animEffect transition="in" filter="fade">
                                      <p:cBhvr>
                                        <p:cTn id="21" dur="500"/>
                                        <p:tgtEl>
                                          <p:spTgt spid="66565">
                                            <p:txEl>
                                              <p:charRg st="38" end="5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6566"/>
                                        </p:tgtEl>
                                        <p:attrNameLst>
                                          <p:attrName>style.visibility</p:attrName>
                                        </p:attrNameLst>
                                      </p:cBhvr>
                                      <p:to>
                                        <p:strVal val="visible"/>
                                      </p:to>
                                    </p:set>
                                    <p:animEffect transition="in" filter="fade">
                                      <p:cBhvr>
                                        <p:cTn id="24" dur="500"/>
                                        <p:tgtEl>
                                          <p:spTgt spid="66566"/>
                                        </p:tgtEl>
                                      </p:cBhvr>
                                    </p:animEffect>
                                  </p:childTnLst>
                                </p:cTn>
                              </p:par>
                              <p:par>
                                <p:cTn id="25" presetID="10" presetClass="entr" presetSubtype="0" fill="hold" nodeType="withEffect">
                                  <p:stCondLst>
                                    <p:cond delay="0"/>
                                  </p:stCondLst>
                                  <p:childTnLst>
                                    <p:set>
                                      <p:cBhvr>
                                        <p:cTn id="26" dur="1" fill="hold">
                                          <p:stCondLst>
                                            <p:cond delay="0"/>
                                          </p:stCondLst>
                                        </p:cTn>
                                        <p:tgtEl>
                                          <p:spTgt spid="66567"/>
                                        </p:tgtEl>
                                        <p:attrNameLst>
                                          <p:attrName>style.visibility</p:attrName>
                                        </p:attrNameLst>
                                      </p:cBhvr>
                                      <p:to>
                                        <p:strVal val="visible"/>
                                      </p:to>
                                    </p:set>
                                    <p:animEffect transition="in" filter="fade">
                                      <p:cBhvr>
                                        <p:cTn id="27" dur="500"/>
                                        <p:tgtEl>
                                          <p:spTgt spid="66567"/>
                                        </p:tgtEl>
                                      </p:cBhvr>
                                    </p:animEffect>
                                  </p:childTnLst>
                                </p:cTn>
                              </p:par>
                              <p:par>
                                <p:cTn id="28" presetID="10" presetClass="entr" presetSubtype="0" fill="hold" nodeType="withEffect">
                                  <p:stCondLst>
                                    <p:cond delay="0"/>
                                  </p:stCondLst>
                                  <p:childTnLst>
                                    <p:set>
                                      <p:cBhvr>
                                        <p:cTn id="29" dur="1" fill="hold">
                                          <p:stCondLst>
                                            <p:cond delay="0"/>
                                          </p:stCondLst>
                                        </p:cTn>
                                        <p:tgtEl>
                                          <p:spTgt spid="65551"/>
                                        </p:tgtEl>
                                        <p:attrNameLst>
                                          <p:attrName>style.visibility</p:attrName>
                                        </p:attrNameLst>
                                      </p:cBhvr>
                                      <p:to>
                                        <p:strVal val="visible"/>
                                      </p:to>
                                    </p:set>
                                    <p:animEffect transition="in" filter="fade">
                                      <p:cBhvr>
                                        <p:cTn id="30" dur="500"/>
                                        <p:tgtEl>
                                          <p:spTgt spid="65551"/>
                                        </p:tgtEl>
                                      </p:cBhvr>
                                    </p:animEffect>
                                  </p:childTnLst>
                                </p:cTn>
                              </p:par>
                              <p:par>
                                <p:cTn id="31" presetID="10" presetClass="entr" presetSubtype="0" fill="hold" nodeType="withEffect">
                                  <p:stCondLst>
                                    <p:cond delay="0"/>
                                  </p:stCondLst>
                                  <p:childTnLst>
                                    <p:set>
                                      <p:cBhvr>
                                        <p:cTn id="32" dur="1" fill="hold">
                                          <p:stCondLst>
                                            <p:cond delay="0"/>
                                          </p:stCondLst>
                                        </p:cTn>
                                        <p:tgtEl>
                                          <p:spTgt spid="66585"/>
                                        </p:tgtEl>
                                        <p:attrNameLst>
                                          <p:attrName>style.visibility</p:attrName>
                                        </p:attrNameLst>
                                      </p:cBhvr>
                                      <p:to>
                                        <p:strVal val="visible"/>
                                      </p:to>
                                    </p:set>
                                    <p:animEffect transition="in" filter="fade">
                                      <p:cBhvr>
                                        <p:cTn id="33" dur="500"/>
                                        <p:tgtEl>
                                          <p:spTgt spid="66585"/>
                                        </p:tgtEl>
                                      </p:cBhvr>
                                    </p:animEffect>
                                  </p:childTnLst>
                                </p:cTn>
                              </p:par>
                              <p:par>
                                <p:cTn id="34" presetID="10" presetClass="entr" presetSubtype="0" fill="hold" nodeType="withEffect">
                                  <p:stCondLst>
                                    <p:cond delay="0"/>
                                  </p:stCondLst>
                                  <p:childTnLst>
                                    <p:set>
                                      <p:cBhvr>
                                        <p:cTn id="35" dur="1" fill="hold">
                                          <p:stCondLst>
                                            <p:cond delay="0"/>
                                          </p:stCondLst>
                                        </p:cTn>
                                        <p:tgtEl>
                                          <p:spTgt spid="66586"/>
                                        </p:tgtEl>
                                        <p:attrNameLst>
                                          <p:attrName>style.visibility</p:attrName>
                                        </p:attrNameLst>
                                      </p:cBhvr>
                                      <p:to>
                                        <p:strVal val="visible"/>
                                      </p:to>
                                    </p:set>
                                    <p:animEffect transition="in" filter="fade">
                                      <p:cBhvr>
                                        <p:cTn id="36" dur="500"/>
                                        <p:tgtEl>
                                          <p:spTgt spid="6658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6587"/>
                                        </p:tgtEl>
                                        <p:attrNameLst>
                                          <p:attrName>style.visibility</p:attrName>
                                        </p:attrNameLst>
                                      </p:cBhvr>
                                      <p:to>
                                        <p:strVal val="visible"/>
                                      </p:to>
                                    </p:set>
                                    <p:animEffect transition="in" filter="fade">
                                      <p:cBhvr>
                                        <p:cTn id="39" dur="500"/>
                                        <p:tgtEl>
                                          <p:spTgt spid="6658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6588"/>
                                        </p:tgtEl>
                                        <p:attrNameLst>
                                          <p:attrName>style.visibility</p:attrName>
                                        </p:attrNameLst>
                                      </p:cBhvr>
                                      <p:to>
                                        <p:strVal val="visible"/>
                                      </p:to>
                                    </p:set>
                                    <p:animEffect transition="in" filter="fade">
                                      <p:cBhvr>
                                        <p:cTn id="42" dur="500"/>
                                        <p:tgtEl>
                                          <p:spTgt spid="6658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6589"/>
                                        </p:tgtEl>
                                        <p:attrNameLst>
                                          <p:attrName>style.visibility</p:attrName>
                                        </p:attrNameLst>
                                      </p:cBhvr>
                                      <p:to>
                                        <p:strVal val="visible"/>
                                      </p:to>
                                    </p:set>
                                    <p:animEffect transition="in" filter="fade">
                                      <p:cBhvr>
                                        <p:cTn id="45" dur="500"/>
                                        <p:tgtEl>
                                          <p:spTgt spid="6658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6590"/>
                                        </p:tgtEl>
                                        <p:attrNameLst>
                                          <p:attrName>style.visibility</p:attrName>
                                        </p:attrNameLst>
                                      </p:cBhvr>
                                      <p:to>
                                        <p:strVal val="visible"/>
                                      </p:to>
                                    </p:set>
                                    <p:animEffect transition="in" filter="fade">
                                      <p:cBhvr>
                                        <p:cTn id="48" dur="500"/>
                                        <p:tgtEl>
                                          <p:spTgt spid="6659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6591"/>
                                        </p:tgtEl>
                                        <p:attrNameLst>
                                          <p:attrName>style.visibility</p:attrName>
                                        </p:attrNameLst>
                                      </p:cBhvr>
                                      <p:to>
                                        <p:strVal val="visible"/>
                                      </p:to>
                                    </p:set>
                                    <p:animEffect transition="in" filter="fade">
                                      <p:cBhvr>
                                        <p:cTn id="51" dur="500"/>
                                        <p:tgtEl>
                                          <p:spTgt spid="6659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6592"/>
                                        </p:tgtEl>
                                        <p:attrNameLst>
                                          <p:attrName>style.visibility</p:attrName>
                                        </p:attrNameLst>
                                      </p:cBhvr>
                                      <p:to>
                                        <p:strVal val="visible"/>
                                      </p:to>
                                    </p:set>
                                    <p:animEffect transition="in" filter="fade">
                                      <p:cBhvr>
                                        <p:cTn id="54" dur="500"/>
                                        <p:tgtEl>
                                          <p:spTgt spid="6659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6593"/>
                                        </p:tgtEl>
                                        <p:attrNameLst>
                                          <p:attrName>style.visibility</p:attrName>
                                        </p:attrNameLst>
                                      </p:cBhvr>
                                      <p:to>
                                        <p:strVal val="visible"/>
                                      </p:to>
                                    </p:set>
                                    <p:animEffect transition="in" filter="fade">
                                      <p:cBhvr>
                                        <p:cTn id="57" dur="500"/>
                                        <p:tgtEl>
                                          <p:spTgt spid="6659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6594"/>
                                        </p:tgtEl>
                                        <p:attrNameLst>
                                          <p:attrName>style.visibility</p:attrName>
                                        </p:attrNameLst>
                                      </p:cBhvr>
                                      <p:to>
                                        <p:strVal val="visible"/>
                                      </p:to>
                                    </p:set>
                                    <p:animEffect transition="in" filter="fade">
                                      <p:cBhvr>
                                        <p:cTn id="60" dur="500"/>
                                        <p:tgtEl>
                                          <p:spTgt spid="66594"/>
                                        </p:tgtEl>
                                      </p:cBhvr>
                                    </p:animEffect>
                                  </p:childTnLst>
                                </p:cTn>
                              </p:par>
                              <p:par>
                                <p:cTn id="61" presetID="10" presetClass="entr" presetSubtype="0" fill="hold" nodeType="withEffect">
                                  <p:stCondLst>
                                    <p:cond delay="0"/>
                                  </p:stCondLst>
                                  <p:childTnLst>
                                    <p:set>
                                      <p:cBhvr>
                                        <p:cTn id="62" dur="1" fill="hold">
                                          <p:stCondLst>
                                            <p:cond delay="0"/>
                                          </p:stCondLst>
                                        </p:cTn>
                                        <p:tgtEl>
                                          <p:spTgt spid="62499"/>
                                        </p:tgtEl>
                                        <p:attrNameLst>
                                          <p:attrName>style.visibility</p:attrName>
                                        </p:attrNameLst>
                                      </p:cBhvr>
                                      <p:to>
                                        <p:strVal val="visible"/>
                                      </p:to>
                                    </p:set>
                                    <p:animEffect transition="in" filter="fade">
                                      <p:cBhvr>
                                        <p:cTn id="63" dur="500"/>
                                        <p:tgtEl>
                                          <p:spTgt spid="62499"/>
                                        </p:tgtEl>
                                      </p:cBhvr>
                                    </p:animEffect>
                                  </p:childTnLst>
                                </p:cTn>
                              </p:par>
                              <p:par>
                                <p:cTn id="64" presetID="10" presetClass="entr" presetSubtype="0" fill="hold" nodeType="withEffect">
                                  <p:stCondLst>
                                    <p:cond delay="0"/>
                                  </p:stCondLst>
                                  <p:childTnLst>
                                    <p:set>
                                      <p:cBhvr>
                                        <p:cTn id="65" dur="1" fill="hold">
                                          <p:stCondLst>
                                            <p:cond delay="0"/>
                                          </p:stCondLst>
                                        </p:cTn>
                                        <p:tgtEl>
                                          <p:spTgt spid="62500"/>
                                        </p:tgtEl>
                                        <p:attrNameLst>
                                          <p:attrName>style.visibility</p:attrName>
                                        </p:attrNameLst>
                                      </p:cBhvr>
                                      <p:to>
                                        <p:strVal val="visible"/>
                                      </p:to>
                                    </p:set>
                                    <p:animEffect transition="in" filter="fade">
                                      <p:cBhvr>
                                        <p:cTn id="66" dur="500"/>
                                        <p:tgtEl>
                                          <p:spTgt spid="62500"/>
                                        </p:tgtEl>
                                      </p:cBhvr>
                                    </p:animEffect>
                                  </p:childTnLst>
                                </p:cTn>
                              </p:par>
                              <p:par>
                                <p:cTn id="67" presetID="10" presetClass="entr" presetSubtype="0" fill="hold" nodeType="withEffect">
                                  <p:stCondLst>
                                    <p:cond delay="0"/>
                                  </p:stCondLst>
                                  <p:childTnLst>
                                    <p:set>
                                      <p:cBhvr>
                                        <p:cTn id="68" dur="1" fill="hold">
                                          <p:stCondLst>
                                            <p:cond delay="0"/>
                                          </p:stCondLst>
                                        </p:cTn>
                                        <p:tgtEl>
                                          <p:spTgt spid="62503"/>
                                        </p:tgtEl>
                                        <p:attrNameLst>
                                          <p:attrName>style.visibility</p:attrName>
                                        </p:attrNameLst>
                                      </p:cBhvr>
                                      <p:to>
                                        <p:strVal val="visible"/>
                                      </p:to>
                                    </p:set>
                                    <p:animEffect transition="in" filter="fade">
                                      <p:cBhvr>
                                        <p:cTn id="69" dur="500"/>
                                        <p:tgtEl>
                                          <p:spTgt spid="62503"/>
                                        </p:tgtEl>
                                      </p:cBhvr>
                                    </p:animEffect>
                                  </p:childTnLst>
                                </p:cTn>
                              </p:par>
                              <p:par>
                                <p:cTn id="70" presetID="10" presetClass="entr" presetSubtype="0" fill="hold" nodeType="withEffect">
                                  <p:stCondLst>
                                    <p:cond delay="0"/>
                                  </p:stCondLst>
                                  <p:childTnLst>
                                    <p:set>
                                      <p:cBhvr>
                                        <p:cTn id="71" dur="1" fill="hold">
                                          <p:stCondLst>
                                            <p:cond delay="0"/>
                                          </p:stCondLst>
                                        </p:cTn>
                                        <p:tgtEl>
                                          <p:spTgt spid="62504"/>
                                        </p:tgtEl>
                                        <p:attrNameLst>
                                          <p:attrName>style.visibility</p:attrName>
                                        </p:attrNameLst>
                                      </p:cBhvr>
                                      <p:to>
                                        <p:strVal val="visible"/>
                                      </p:to>
                                    </p:set>
                                    <p:animEffect transition="in" filter="fade">
                                      <p:cBhvr>
                                        <p:cTn id="72" dur="500"/>
                                        <p:tgtEl>
                                          <p:spTgt spid="62504"/>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66565">
                                            <p:txEl>
                                              <p:pRg st="7" end="7"/>
                                            </p:txEl>
                                          </p:spTgt>
                                        </p:tgtEl>
                                        <p:attrNameLst>
                                          <p:attrName>style.visibility</p:attrName>
                                        </p:attrNameLst>
                                      </p:cBhvr>
                                      <p:to>
                                        <p:strVal val="visible"/>
                                      </p:to>
                                    </p:set>
                                    <p:animEffect transition="in" filter="blinds(horizontal)">
                                      <p:cBhvr>
                                        <p:cTn id="77" dur="500"/>
                                        <p:tgtEl>
                                          <p:spTgt spid="6656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p:bldP spid="66565" grpId="0" build="p"/>
      <p:bldP spid="66587" grpId="0"/>
      <p:bldP spid="66588" grpId="0"/>
      <p:bldP spid="66589" grpId="0"/>
      <p:bldP spid="66590" grpId="0"/>
      <p:bldP spid="66591" grpId="0"/>
      <p:bldP spid="66592" grpId="0"/>
      <p:bldP spid="66593" grpId="0"/>
      <p:bldP spid="6659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758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7588" name="Rectangle 2"/>
          <p:cNvSpPr>
            <a:spLocks noGrp="1"/>
          </p:cNvSpPr>
          <p:nvPr>
            <p:ph type="title"/>
          </p:nvPr>
        </p:nvSpPr>
        <p:spPr>
          <a:xfrm>
            <a:off x="571500" y="662305"/>
            <a:ext cx="4902200" cy="468313"/>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1.3.4. </a:t>
            </a:r>
            <a:r>
              <a:rPr lang="zh-CN" altLang="en-US" sz="1800" b="1" dirty="0">
                <a:latin typeface="黑体" panose="02010609060101010101" pitchFamily="49" charset="-122"/>
                <a:ea typeface="黑体" panose="02010609060101010101" pitchFamily="49" charset="-122"/>
              </a:rPr>
              <a:t>逻辑函数的化简</a:t>
            </a:r>
            <a:endParaRPr lang="en-US" altLang="zh-CN" sz="1800" b="1" i="1" dirty="0">
              <a:latin typeface="黑体" panose="02010609060101010101" pitchFamily="49" charset="-122"/>
              <a:ea typeface="黑体" panose="02010609060101010101" pitchFamily="49" charset="-122"/>
            </a:endParaRPr>
          </a:p>
        </p:txBody>
      </p:sp>
      <p:sp>
        <p:nvSpPr>
          <p:cNvPr id="67589" name="Rectangle 3"/>
          <p:cNvSpPr>
            <a:spLocks noGrp="1"/>
          </p:cNvSpPr>
          <p:nvPr>
            <p:ph/>
          </p:nvPr>
        </p:nvSpPr>
        <p:spPr>
          <a:xfrm>
            <a:off x="611505" y="1130935"/>
            <a:ext cx="8064500" cy="3727450"/>
          </a:xfrm>
          <a:prstGeom prst="rect">
            <a:avLst/>
          </a:prstGeom>
          <a:noFill/>
          <a:ln w="9525">
            <a:noFill/>
          </a:ln>
        </p:spPr>
        <p:txBody>
          <a:bodyPr/>
          <a:p>
            <a:pPr eaLnBrk="1" latinLnBrk="0" hangingPunct="1">
              <a:lnSpc>
                <a:spcPct val="140000"/>
              </a:lnSpc>
              <a:spcBef>
                <a:spcPts val="700"/>
              </a:spcBef>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在工程实际中，一个逻辑函数对应着一个</a:t>
            </a:r>
            <a:r>
              <a:rPr lang="zh-CN" altLang="en-US" sz="1800" b="1" dirty="0">
                <a:latin typeface="华文新魏" panose="02010800040101010101" pitchFamily="2" charset="-122"/>
                <a:ea typeface="华文新魏" panose="02010800040101010101" pitchFamily="2" charset="-122"/>
              </a:rPr>
              <a:t>拟实现其逻辑功能的逻辑电路，当使该函数最简，也</a:t>
            </a:r>
            <a:r>
              <a:rPr lang="zh-CN" altLang="en-US" sz="1800" b="1" u="sng" dirty="0">
                <a:latin typeface="华文新魏" panose="02010800040101010101" pitchFamily="2" charset="-122"/>
                <a:ea typeface="华文新魏" panose="02010800040101010101" pitchFamily="2" charset="-122"/>
              </a:rPr>
              <a:t>很大程度意味着</a:t>
            </a:r>
            <a:r>
              <a:rPr lang="zh-CN" altLang="en-US" sz="1800" b="1" dirty="0">
                <a:latin typeface="华文新魏" panose="02010800040101010101" pitchFamily="2" charset="-122"/>
                <a:ea typeface="华文新魏" panose="02010800040101010101" pitchFamily="2" charset="-122"/>
              </a:rPr>
              <a:t>使实现其功能的这个电路也最简。</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 最简逻辑电路的评价标准：</a:t>
            </a:r>
            <a:endParaRPr lang="en-US" altLang="zh-CN" sz="1800" b="1" dirty="0">
              <a:latin typeface="华文新魏" panose="02010800040101010101" pitchFamily="2" charset="-122"/>
              <a:ea typeface="华文新魏" panose="02010800040101010101" pitchFamily="2" charset="-122"/>
              <a:sym typeface="+mn-ea"/>
            </a:endParaRPr>
          </a:p>
          <a:p>
            <a:pPr eaLnBrk="1" hangingPunct="1">
              <a:lnSpc>
                <a:spcPct val="120000"/>
              </a:lnSpc>
              <a:buNone/>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门的总数量</a:t>
            </a:r>
            <a:r>
              <a:rPr lang="zh-CN" altLang="en-US" sz="1800" b="1" dirty="0">
                <a:latin typeface="华文新魏" panose="02010800040101010101" pitchFamily="2" charset="-122"/>
                <a:ea typeface="华文新魏" panose="02010800040101010101" pitchFamily="2" charset="-122"/>
              </a:rPr>
              <a:t>最少；门的</a:t>
            </a:r>
            <a:r>
              <a:rPr lang="zh-CN" altLang="en-US" sz="1800" b="1" dirty="0">
                <a:solidFill>
                  <a:srgbClr val="FF0000"/>
                </a:solidFill>
                <a:latin typeface="华文新魏" panose="02010800040101010101" pitchFamily="2" charset="-122"/>
                <a:ea typeface="华文新魏" panose="02010800040101010101" pitchFamily="2" charset="-122"/>
              </a:rPr>
              <a:t>输入端</a:t>
            </a:r>
            <a:r>
              <a:rPr lang="zh-CN" altLang="en-US" sz="1800" b="1" dirty="0">
                <a:latin typeface="华文新魏" panose="02010800040101010101" pitchFamily="2" charset="-122"/>
                <a:ea typeface="华文新魏" panose="02010800040101010101" pitchFamily="2" charset="-122"/>
              </a:rPr>
              <a:t>最少；门的</a:t>
            </a:r>
            <a:r>
              <a:rPr lang="zh-CN" altLang="en-US" sz="1800" b="1" dirty="0">
                <a:solidFill>
                  <a:srgbClr val="FF0000"/>
                </a:solidFill>
                <a:latin typeface="华文新魏" panose="02010800040101010101" pitchFamily="2" charset="-122"/>
                <a:ea typeface="华文新魏" panose="02010800040101010101" pitchFamily="2" charset="-122"/>
              </a:rPr>
              <a:t>级数</a:t>
            </a:r>
            <a:r>
              <a:rPr lang="zh-CN" altLang="en-US" sz="1800" b="1" dirty="0">
                <a:latin typeface="华文新魏" panose="02010800040101010101" pitchFamily="2" charset="-122"/>
                <a:ea typeface="华文新魏" panose="02010800040101010101" pitchFamily="2" charset="-122"/>
              </a:rPr>
              <a:t>最少。</a:t>
            </a:r>
            <a:endParaRPr lang="zh-CN" altLang="en-US" sz="1800" b="1" dirty="0">
              <a:latin typeface="华文新魏" panose="02010800040101010101" pitchFamily="2" charset="-122"/>
              <a:ea typeface="华文新魏" panose="02010800040101010101" pitchFamily="2" charset="-122"/>
            </a:endParaRPr>
          </a:p>
          <a:p>
            <a:pPr eaLnBrk="1" latinLnBrk="0" hangingPunct="1">
              <a:spcBef>
                <a:spcPts val="1300"/>
              </a:spcBef>
              <a:buNone/>
            </a:pPr>
            <a:r>
              <a:rPr lang="zh-CN" altLang="en-US" sz="1800" b="1"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最简与或表达</a:t>
            </a:r>
            <a:r>
              <a:rPr lang="zh-CN" altLang="en-US" sz="1800" b="1" u="sng" dirty="0">
                <a:latin typeface="华文新魏" panose="02010800040101010101" pitchFamily="2" charset="-122"/>
                <a:ea typeface="华文新魏" panose="02010800040101010101" pitchFamily="2" charset="-122"/>
                <a:sym typeface="+mn-ea"/>
              </a:rPr>
              <a:t>式</a:t>
            </a:r>
            <a:r>
              <a:rPr lang="zh-CN" altLang="en-US" sz="1800" b="1" u="sng" dirty="0">
                <a:latin typeface="华文新魏" panose="02010800040101010101" pitchFamily="2" charset="-122"/>
                <a:ea typeface="华文新魏" panose="02010800040101010101" pitchFamily="2" charset="-122"/>
              </a:rPr>
              <a:t>对应的电路</a:t>
            </a:r>
            <a:r>
              <a:rPr lang="zh-CN" altLang="en-US" sz="1800" b="1"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与项的数目最少；每个与项的变量个数最少。</a:t>
            </a:r>
            <a:endParaRPr lang="zh-CN" altLang="en-US" sz="1800" b="1" dirty="0">
              <a:latin typeface="华文新魏" panose="02010800040101010101" pitchFamily="2" charset="-122"/>
              <a:ea typeface="华文新魏" panose="02010800040101010101" pitchFamily="2" charset="-122"/>
            </a:endParaRPr>
          </a:p>
          <a:p>
            <a:pPr eaLnBrk="1" latinLnBrk="0" hangingPunct="1">
              <a:spcBef>
                <a:spcPts val="1300"/>
              </a:spcBef>
              <a:buNone/>
            </a:pPr>
            <a:r>
              <a:rPr lang="zh-CN" altLang="en-US" sz="1800" b="1"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最简或与表</a:t>
            </a:r>
            <a:r>
              <a:rPr lang="zh-CN" altLang="en-US" sz="1800" b="1" u="sng" dirty="0">
                <a:latin typeface="华文新魏" panose="02010800040101010101" pitchFamily="2" charset="-122"/>
                <a:ea typeface="华文新魏" panose="02010800040101010101" pitchFamily="2" charset="-122"/>
                <a:sym typeface="+mn-ea"/>
              </a:rPr>
              <a:t>达</a:t>
            </a:r>
            <a:r>
              <a:rPr lang="zh-CN" altLang="en-US" sz="1800" b="1" u="sng" dirty="0">
                <a:latin typeface="华文新魏" panose="02010800040101010101" pitchFamily="2" charset="-122"/>
                <a:ea typeface="华文新魏" panose="02010800040101010101" pitchFamily="2" charset="-122"/>
                <a:sym typeface="+mn-ea"/>
              </a:rPr>
              <a:t>式</a:t>
            </a:r>
            <a:r>
              <a:rPr lang="zh-CN" altLang="en-US" sz="1800" b="1" u="sng" dirty="0">
                <a:latin typeface="华文新魏" panose="02010800040101010101" pitchFamily="2" charset="-122"/>
                <a:ea typeface="华文新魏" panose="02010800040101010101" pitchFamily="2" charset="-122"/>
                <a:sym typeface="+mn-ea"/>
              </a:rPr>
              <a:t>对应的电路</a:t>
            </a:r>
            <a:r>
              <a:rPr lang="zh-CN" altLang="en-US" sz="1800" b="1"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或项的数目最少；每个或项的变量个数最少。</a:t>
            </a:r>
            <a:endParaRPr lang="zh-CN" altLang="en-US" sz="1800" b="1" dirty="0">
              <a:latin typeface="华文新魏" panose="02010800040101010101" pitchFamily="2" charset="-122"/>
              <a:ea typeface="华文新魏" panose="02010800040101010101" pitchFamily="2" charset="-122"/>
            </a:endParaRPr>
          </a:p>
        </p:txBody>
      </p:sp>
      <p:sp>
        <p:nvSpPr>
          <p:cNvPr id="2" name="矩形标注 1"/>
          <p:cNvSpPr/>
          <p:nvPr/>
        </p:nvSpPr>
        <p:spPr>
          <a:xfrm>
            <a:off x="6948170" y="2428240"/>
            <a:ext cx="1530985" cy="1216660"/>
          </a:xfrm>
          <a:prstGeom prst="wedgeRectCallout">
            <a:avLst>
              <a:gd name="adj1" fmla="val -211006"/>
              <a:gd name="adj2" fmla="val -28288"/>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eaLnBrk="1" hangingPunct="1">
              <a:lnSpc>
                <a:spcPct val="120000"/>
              </a:lnSpc>
              <a:buNone/>
            </a:pPr>
            <a:r>
              <a:rPr lang="zh-CN" altLang="en-US" b="1" dirty="0">
                <a:latin typeface="华文新魏" panose="02010800040101010101" pitchFamily="2" charset="-122"/>
                <a:ea typeface="华文新魏" panose="02010800040101010101" pitchFamily="2" charset="-122"/>
                <a:sym typeface="+mn-ea"/>
              </a:rPr>
              <a:t> </a:t>
            </a:r>
            <a:r>
              <a:rPr lang="en-US" altLang="zh-CN" b="1" dirty="0">
                <a:solidFill>
                  <a:srgbClr val="0000FF"/>
                </a:solidFill>
                <a:latin typeface="华文新魏" panose="02010800040101010101" pitchFamily="2" charset="-122"/>
                <a:ea typeface="华文新魏" panose="02010800040101010101" pitchFamily="2" charset="-122"/>
                <a:sym typeface="+mn-ea"/>
              </a:rPr>
              <a:t>PPA(</a:t>
            </a:r>
            <a:r>
              <a:rPr lang="zh-CN" altLang="en-US" b="1" dirty="0">
                <a:solidFill>
                  <a:srgbClr val="0000FF"/>
                </a:solidFill>
                <a:latin typeface="华文新魏" panose="02010800040101010101" pitchFamily="2" charset="-122"/>
                <a:ea typeface="华文新魏" panose="02010800040101010101" pitchFamily="2" charset="-122"/>
                <a:sym typeface="+mn-ea"/>
              </a:rPr>
              <a:t>芯片、板卡</a:t>
            </a:r>
            <a:r>
              <a:rPr lang="en-US" altLang="zh-CN" b="1" dirty="0">
                <a:solidFill>
                  <a:srgbClr val="0000FF"/>
                </a:solidFill>
                <a:latin typeface="华文新魏" panose="02010800040101010101" pitchFamily="2" charset="-122"/>
                <a:ea typeface="华文新魏" panose="02010800040101010101" pitchFamily="2" charset="-122"/>
                <a:sym typeface="+mn-ea"/>
              </a:rPr>
              <a:t>)---PPC</a:t>
            </a:r>
            <a:r>
              <a:rPr lang="zh-CN" altLang="en-US" b="1" dirty="0">
                <a:solidFill>
                  <a:srgbClr val="0000FF"/>
                </a:solidFill>
                <a:latin typeface="华文新魏" panose="02010800040101010101" pitchFamily="2" charset="-122"/>
                <a:ea typeface="华文新魏" panose="02010800040101010101" pitchFamily="2" charset="-122"/>
                <a:sym typeface="+mn-ea"/>
              </a:rPr>
              <a:t>（设备）</a:t>
            </a: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9">
                                            <p:txEl>
                                              <p:pRg st="0" end="0"/>
                                            </p:txEl>
                                          </p:spTgt>
                                        </p:tgtEl>
                                        <p:attrNameLst>
                                          <p:attrName>style.visibility</p:attrName>
                                        </p:attrNameLst>
                                      </p:cBhvr>
                                      <p:to>
                                        <p:strVal val="visible"/>
                                      </p:to>
                                    </p:set>
                                    <p:anim calcmode="lin" valueType="num">
                                      <p:cBhvr additive="base">
                                        <p:cTn id="7" dur="500" fill="hold"/>
                                        <p:tgtEl>
                                          <p:spTgt spid="6758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589">
                                            <p:txEl>
                                              <p:pRg st="1" end="1"/>
                                            </p:txEl>
                                          </p:spTgt>
                                        </p:tgtEl>
                                        <p:attrNameLst>
                                          <p:attrName>style.visibility</p:attrName>
                                        </p:attrNameLst>
                                      </p:cBhvr>
                                      <p:to>
                                        <p:strVal val="visible"/>
                                      </p:to>
                                    </p:set>
                                    <p:anim calcmode="lin" valueType="num">
                                      <p:cBhvr additive="base">
                                        <p:cTn id="13" dur="500" fill="hold"/>
                                        <p:tgtEl>
                                          <p:spTgt spid="6758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58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7589">
                                            <p:txEl>
                                              <p:pRg st="2" end="2"/>
                                            </p:txEl>
                                          </p:spTgt>
                                        </p:tgtEl>
                                        <p:attrNameLst>
                                          <p:attrName>style.visibility</p:attrName>
                                        </p:attrNameLst>
                                      </p:cBhvr>
                                      <p:to>
                                        <p:strVal val="visible"/>
                                      </p:to>
                                    </p:set>
                                    <p:anim calcmode="lin" valueType="num">
                                      <p:cBhvr additive="base">
                                        <p:cTn id="19" dur="500" fill="hold"/>
                                        <p:tgtEl>
                                          <p:spTgt spid="6758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8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7589">
                                            <p:txEl>
                                              <p:pRg st="3" end="3"/>
                                            </p:txEl>
                                          </p:spTgt>
                                        </p:tgtEl>
                                        <p:attrNameLst>
                                          <p:attrName>style.visibility</p:attrName>
                                        </p:attrNameLst>
                                      </p:cBhvr>
                                      <p:to>
                                        <p:strVal val="visible"/>
                                      </p:to>
                                    </p:set>
                                    <p:anim calcmode="lin" valueType="num">
                                      <p:cBhvr additive="base">
                                        <p:cTn id="25" dur="500" fill="hold"/>
                                        <p:tgtEl>
                                          <p:spTgt spid="6758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58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7589">
                                            <p:txEl>
                                              <p:pRg st="4" end="4"/>
                                            </p:txEl>
                                          </p:spTgt>
                                        </p:tgtEl>
                                        <p:attrNameLst>
                                          <p:attrName>style.visibility</p:attrName>
                                        </p:attrNameLst>
                                      </p:cBhvr>
                                      <p:to>
                                        <p:strVal val="visible"/>
                                      </p:to>
                                    </p:set>
                                    <p:anim calcmode="lin" valueType="num">
                                      <p:cBhvr additive="base">
                                        <p:cTn id="31" dur="500" fill="hold"/>
                                        <p:tgtEl>
                                          <p:spTgt spid="6758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758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7589">
                                            <p:txEl>
                                              <p:pRg st="5" end="5"/>
                                            </p:txEl>
                                          </p:spTgt>
                                        </p:tgtEl>
                                        <p:attrNameLst>
                                          <p:attrName>style.visibility</p:attrName>
                                        </p:attrNameLst>
                                      </p:cBhvr>
                                      <p:to>
                                        <p:strVal val="visible"/>
                                      </p:to>
                                    </p:set>
                                    <p:anim calcmode="lin" valueType="num">
                                      <p:cBhvr additive="base">
                                        <p:cTn id="37" dur="500" fill="hold"/>
                                        <p:tgtEl>
                                          <p:spTgt spid="6758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758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7589">
                                            <p:txEl>
                                              <p:pRg st="6" end="6"/>
                                            </p:txEl>
                                          </p:spTgt>
                                        </p:tgtEl>
                                        <p:attrNameLst>
                                          <p:attrName>style.visibility</p:attrName>
                                        </p:attrNameLst>
                                      </p:cBhvr>
                                      <p:to>
                                        <p:strVal val="visible"/>
                                      </p:to>
                                    </p:set>
                                    <p:anim calcmode="lin" valueType="num">
                                      <p:cBhvr additive="base">
                                        <p:cTn id="43" dur="500" fill="hold"/>
                                        <p:tgtEl>
                                          <p:spTgt spid="6758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758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7589">
                                            <p:txEl>
                                              <p:pRg st="7" end="7"/>
                                            </p:txEl>
                                          </p:spTgt>
                                        </p:tgtEl>
                                        <p:attrNameLst>
                                          <p:attrName>style.visibility</p:attrName>
                                        </p:attrNameLst>
                                      </p:cBhvr>
                                      <p:to>
                                        <p:strVal val="visible"/>
                                      </p:to>
                                    </p:set>
                                    <p:anim calcmode="lin" valueType="num">
                                      <p:cBhvr additive="base">
                                        <p:cTn id="49" dur="500" fill="hold"/>
                                        <p:tgtEl>
                                          <p:spTgt spid="6758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758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additive="base">
                                        <p:cTn id="55" dur="500" fill="hold"/>
                                        <p:tgtEl>
                                          <p:spTgt spid="2"/>
                                        </p:tgtEl>
                                        <p:attrNameLst>
                                          <p:attrName>ppt_x</p:attrName>
                                        </p:attrNameLst>
                                      </p:cBhvr>
                                      <p:tavLst>
                                        <p:tav tm="0">
                                          <p:val>
                                            <p:strVal val="#ppt_x"/>
                                          </p:val>
                                        </p:tav>
                                        <p:tav tm="100000">
                                          <p:val>
                                            <p:strVal val="#ppt_x"/>
                                          </p:val>
                                        </p:tav>
                                      </p:tavLst>
                                    </p:anim>
                                    <p:anim calcmode="lin" valueType="num">
                                      <p:cBhvr additive="base">
                                        <p:cTn id="5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9" grpId="0" build="p"/>
      <p:bldP spid="67589" grpId="1" build="p"/>
      <p:bldP spid="2" grpId="0" animBg="1"/>
      <p:bldP spid="2"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861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7588" name="Rectangle 2"/>
          <p:cNvSpPr>
            <a:spLocks noGrp="1"/>
          </p:cNvSpPr>
          <p:nvPr>
            <p:ph type="title"/>
          </p:nvPr>
        </p:nvSpPr>
        <p:spPr>
          <a:xfrm>
            <a:off x="255905" y="473075"/>
            <a:ext cx="7772400" cy="858520"/>
          </a:xfrm>
          <a:prstGeom prst="rect">
            <a:avLst/>
          </a:prstGeom>
          <a:noFill/>
          <a:ln w="9525">
            <a:noFill/>
          </a:ln>
        </p:spPr>
        <p:txBody>
          <a:bodyPr/>
          <a:p>
            <a:pPr eaLnBrk="1" latinLnBrk="0" hangingPunct="1">
              <a:lnSpc>
                <a:spcPct val="140000"/>
              </a:lnSpc>
              <a:spcBef>
                <a:spcPts val="600"/>
              </a:spcBef>
            </a:pPr>
            <a:r>
              <a:rPr lang="zh-CN" altLang="en-US" sz="1800" dirty="0">
                <a:latin typeface="黑体" panose="02010609060101010101" pitchFamily="49" charset="-122"/>
                <a:ea typeface="黑体" panose="02010609060101010101" pitchFamily="49" charset="-122"/>
              </a:rPr>
              <a:t>例： </a:t>
            </a:r>
            <a:r>
              <a:rPr lang="en-US" altLang="zh-CN" sz="1800" dirty="0">
                <a:latin typeface="黑体" panose="02010609060101010101" pitchFamily="49" charset="-122"/>
                <a:ea typeface="黑体" panose="02010609060101010101" pitchFamily="49" charset="-122"/>
              </a:rPr>
              <a:t>F = AB ( B</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 )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AC </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BC   =  AB </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br>
              <a:rPr lang="en-US" altLang="zh-CN"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对应两种逻辑电路图，如下：</a:t>
            </a:r>
            <a:endParaRPr lang="zh-CN" altLang="en-US" sz="1800" dirty="0">
              <a:latin typeface="黑体" panose="02010609060101010101" pitchFamily="49" charset="-122"/>
              <a:ea typeface="黑体" panose="02010609060101010101" pitchFamily="49" charset="-122"/>
            </a:endParaRPr>
          </a:p>
        </p:txBody>
      </p:sp>
      <p:sp>
        <p:nvSpPr>
          <p:cNvPr id="68613" name="Line 105"/>
          <p:cNvSpPr/>
          <p:nvPr/>
        </p:nvSpPr>
        <p:spPr>
          <a:xfrm>
            <a:off x="2268538" y="555625"/>
            <a:ext cx="142875" cy="0"/>
          </a:xfrm>
          <a:prstGeom prst="line">
            <a:avLst/>
          </a:prstGeom>
          <a:ln w="12700" cap="flat" cmpd="sng">
            <a:solidFill>
              <a:schemeClr val="tx1"/>
            </a:solidFill>
            <a:prstDash val="solid"/>
            <a:headEnd type="none" w="med" len="med"/>
            <a:tailEnd type="none" w="med" len="med"/>
          </a:ln>
        </p:spPr>
      </p:sp>
      <p:sp>
        <p:nvSpPr>
          <p:cNvPr id="68614" name="Line 106"/>
          <p:cNvSpPr/>
          <p:nvPr/>
        </p:nvSpPr>
        <p:spPr>
          <a:xfrm>
            <a:off x="3096895" y="555625"/>
            <a:ext cx="136525" cy="635"/>
          </a:xfrm>
          <a:prstGeom prst="line">
            <a:avLst/>
          </a:prstGeom>
          <a:ln w="12700" cap="flat" cmpd="sng">
            <a:solidFill>
              <a:schemeClr val="tx1"/>
            </a:solidFill>
            <a:prstDash val="solid"/>
            <a:headEnd type="none" w="med" len="med"/>
            <a:tailEnd type="none" w="med" len="med"/>
          </a:ln>
        </p:spPr>
      </p:sp>
      <p:sp>
        <p:nvSpPr>
          <p:cNvPr id="68615" name="Line 107"/>
          <p:cNvSpPr/>
          <p:nvPr/>
        </p:nvSpPr>
        <p:spPr>
          <a:xfrm>
            <a:off x="3671570" y="556260"/>
            <a:ext cx="130810" cy="635"/>
          </a:xfrm>
          <a:prstGeom prst="line">
            <a:avLst/>
          </a:prstGeom>
          <a:ln w="12700" cap="flat" cmpd="sng">
            <a:solidFill>
              <a:schemeClr val="tx1"/>
            </a:solidFill>
            <a:prstDash val="solid"/>
            <a:headEnd type="none" w="med" len="med"/>
            <a:tailEnd type="none" w="med" len="med"/>
          </a:ln>
        </p:spPr>
      </p:sp>
      <p:grpSp>
        <p:nvGrpSpPr>
          <p:cNvPr id="67592" name="Group 104"/>
          <p:cNvGrpSpPr/>
          <p:nvPr/>
        </p:nvGrpSpPr>
        <p:grpSpPr>
          <a:xfrm>
            <a:off x="409258" y="1466017"/>
            <a:ext cx="8604250" cy="3095625"/>
            <a:chOff x="0" y="-10"/>
            <a:chExt cx="5376" cy="2400"/>
          </a:xfrm>
        </p:grpSpPr>
        <p:sp>
          <p:nvSpPr>
            <p:cNvPr id="64539" name="Rectangle 6"/>
            <p:cNvSpPr>
              <a:spLocks noChangeArrowheads="1"/>
            </p:cNvSpPr>
            <p:nvPr/>
          </p:nvSpPr>
          <p:spPr bwMode="auto">
            <a:xfrm>
              <a:off x="0" y="-10"/>
              <a:ext cx="5376" cy="240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40" name="AutoShape 7"/>
            <p:cNvSpPr>
              <a:spLocks noChangeArrowheads="1"/>
            </p:cNvSpPr>
            <p:nvPr/>
          </p:nvSpPr>
          <p:spPr bwMode="auto">
            <a:xfrm>
              <a:off x="3339" y="604"/>
              <a:ext cx="300"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1" name="AutoShape 8"/>
            <p:cNvSpPr>
              <a:spLocks noChangeArrowheads="1"/>
            </p:cNvSpPr>
            <p:nvPr/>
          </p:nvSpPr>
          <p:spPr bwMode="auto">
            <a:xfrm>
              <a:off x="2380" y="288"/>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2" name="AutoShape 9"/>
            <p:cNvSpPr>
              <a:spLocks noChangeArrowheads="1"/>
            </p:cNvSpPr>
            <p:nvPr/>
          </p:nvSpPr>
          <p:spPr bwMode="auto">
            <a:xfrm>
              <a:off x="1439" y="114"/>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3" name="AutoShape 10"/>
            <p:cNvSpPr>
              <a:spLocks noChangeArrowheads="1"/>
            </p:cNvSpPr>
            <p:nvPr/>
          </p:nvSpPr>
          <p:spPr bwMode="auto">
            <a:xfrm>
              <a:off x="1439" y="1294"/>
              <a:ext cx="289" cy="405"/>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4" name="AutoShape 11"/>
            <p:cNvSpPr>
              <a:spLocks noChangeArrowheads="1"/>
            </p:cNvSpPr>
            <p:nvPr/>
          </p:nvSpPr>
          <p:spPr bwMode="auto">
            <a:xfrm>
              <a:off x="1439" y="1900"/>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5" name="AutoShape 12"/>
            <p:cNvSpPr>
              <a:spLocks noChangeArrowheads="1"/>
            </p:cNvSpPr>
            <p:nvPr/>
          </p:nvSpPr>
          <p:spPr bwMode="auto">
            <a:xfrm>
              <a:off x="1439" y="688"/>
              <a:ext cx="289" cy="40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6" name="AutoShape 13"/>
            <p:cNvSpPr>
              <a:spLocks noChangeArrowheads="1"/>
            </p:cNvSpPr>
            <p:nvPr/>
          </p:nvSpPr>
          <p:spPr bwMode="auto">
            <a:xfrm>
              <a:off x="820" y="1766"/>
              <a:ext cx="196" cy="336"/>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7" name="AutoShape 14"/>
            <p:cNvSpPr>
              <a:spLocks noChangeArrowheads="1"/>
            </p:cNvSpPr>
            <p:nvPr/>
          </p:nvSpPr>
          <p:spPr bwMode="auto">
            <a:xfrm>
              <a:off x="820" y="789"/>
              <a:ext cx="196" cy="33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8" name="AutoShape 15"/>
            <p:cNvSpPr>
              <a:spLocks noChangeArrowheads="1"/>
            </p:cNvSpPr>
            <p:nvPr/>
          </p:nvSpPr>
          <p:spPr bwMode="auto">
            <a:xfrm>
              <a:off x="820" y="1294"/>
              <a:ext cx="196" cy="33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9" name="Text Box 16"/>
            <p:cNvSpPr txBox="1">
              <a:spLocks noChangeArrowheads="1"/>
            </p:cNvSpPr>
            <p:nvPr/>
          </p:nvSpPr>
          <p:spPr bwMode="auto">
            <a:xfrm>
              <a:off x="3306" y="672"/>
              <a:ext cx="35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64550" name="Text Box 17"/>
            <p:cNvSpPr txBox="1">
              <a:spLocks noChangeArrowheads="1"/>
            </p:cNvSpPr>
            <p:nvPr/>
          </p:nvSpPr>
          <p:spPr bwMode="auto">
            <a:xfrm>
              <a:off x="1420" y="720"/>
              <a:ext cx="35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64551" name="Text Box 18"/>
            <p:cNvSpPr txBox="1">
              <a:spLocks noChangeArrowheads="1"/>
            </p:cNvSpPr>
            <p:nvPr/>
          </p:nvSpPr>
          <p:spPr bwMode="auto">
            <a:xfrm>
              <a:off x="819" y="816"/>
              <a:ext cx="19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52" name="Text Box 19"/>
            <p:cNvSpPr txBox="1">
              <a:spLocks noChangeArrowheads="1"/>
            </p:cNvSpPr>
            <p:nvPr/>
          </p:nvSpPr>
          <p:spPr bwMode="auto">
            <a:xfrm>
              <a:off x="819" y="1344"/>
              <a:ext cx="19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53" name="Text Box 20"/>
            <p:cNvSpPr txBox="1">
              <a:spLocks noChangeArrowheads="1"/>
            </p:cNvSpPr>
            <p:nvPr/>
          </p:nvSpPr>
          <p:spPr bwMode="auto">
            <a:xfrm>
              <a:off x="819" y="1826"/>
              <a:ext cx="19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54" name="Line 21"/>
            <p:cNvSpPr>
              <a:spLocks noChangeShapeType="1"/>
            </p:cNvSpPr>
            <p:nvPr/>
          </p:nvSpPr>
          <p:spPr bwMode="auto">
            <a:xfrm flipH="1">
              <a:off x="200" y="183"/>
              <a:ext cx="1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55" name="Line 22"/>
            <p:cNvSpPr>
              <a:spLocks noChangeShapeType="1"/>
            </p:cNvSpPr>
            <p:nvPr/>
          </p:nvSpPr>
          <p:spPr bwMode="auto">
            <a:xfrm flipH="1">
              <a:off x="200" y="385"/>
              <a:ext cx="1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56" name="Oval 23"/>
            <p:cNvSpPr>
              <a:spLocks noChangeArrowheads="1"/>
            </p:cNvSpPr>
            <p:nvPr/>
          </p:nvSpPr>
          <p:spPr bwMode="auto">
            <a:xfrm>
              <a:off x="1026" y="924"/>
              <a:ext cx="69" cy="65"/>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57" name="Oval 24"/>
            <p:cNvSpPr>
              <a:spLocks noChangeArrowheads="1"/>
            </p:cNvSpPr>
            <p:nvPr/>
          </p:nvSpPr>
          <p:spPr bwMode="auto">
            <a:xfrm>
              <a:off x="1026" y="1935"/>
              <a:ext cx="69" cy="6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58" name="Oval 25"/>
            <p:cNvSpPr>
              <a:spLocks noChangeArrowheads="1"/>
            </p:cNvSpPr>
            <p:nvPr/>
          </p:nvSpPr>
          <p:spPr bwMode="auto">
            <a:xfrm>
              <a:off x="1026" y="1429"/>
              <a:ext cx="69" cy="6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59" name="Line 26"/>
            <p:cNvSpPr>
              <a:spLocks noChangeShapeType="1"/>
            </p:cNvSpPr>
            <p:nvPr/>
          </p:nvSpPr>
          <p:spPr bwMode="auto">
            <a:xfrm>
              <a:off x="1095" y="958"/>
              <a:ext cx="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0" name="Line 27"/>
            <p:cNvSpPr>
              <a:spLocks noChangeShapeType="1"/>
            </p:cNvSpPr>
            <p:nvPr/>
          </p:nvSpPr>
          <p:spPr bwMode="auto">
            <a:xfrm>
              <a:off x="1095" y="1463"/>
              <a:ext cx="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1" name="Line 28"/>
            <p:cNvSpPr>
              <a:spLocks noChangeShapeType="1"/>
            </p:cNvSpPr>
            <p:nvPr/>
          </p:nvSpPr>
          <p:spPr bwMode="auto">
            <a:xfrm>
              <a:off x="1095" y="1968"/>
              <a:ext cx="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2" name="Line 29"/>
            <p:cNvSpPr>
              <a:spLocks noChangeShapeType="1"/>
            </p:cNvSpPr>
            <p:nvPr/>
          </p:nvSpPr>
          <p:spPr bwMode="auto">
            <a:xfrm flipH="1">
              <a:off x="192" y="2204"/>
              <a:ext cx="1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3" name="Line 30"/>
            <p:cNvSpPr>
              <a:spLocks noChangeShapeType="1"/>
            </p:cNvSpPr>
            <p:nvPr/>
          </p:nvSpPr>
          <p:spPr bwMode="auto">
            <a:xfrm>
              <a:off x="682" y="398"/>
              <a:ext cx="0" cy="15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4" name="Line 31"/>
            <p:cNvSpPr>
              <a:spLocks noChangeShapeType="1"/>
            </p:cNvSpPr>
            <p:nvPr/>
          </p:nvSpPr>
          <p:spPr bwMode="auto">
            <a:xfrm>
              <a:off x="682" y="1968"/>
              <a:ext cx="1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5" name="Line 32"/>
            <p:cNvSpPr>
              <a:spLocks noChangeShapeType="1"/>
            </p:cNvSpPr>
            <p:nvPr/>
          </p:nvSpPr>
          <p:spPr bwMode="auto">
            <a:xfrm>
              <a:off x="682" y="722"/>
              <a:ext cx="75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6" name="Line 33"/>
            <p:cNvSpPr>
              <a:spLocks noChangeShapeType="1"/>
            </p:cNvSpPr>
            <p:nvPr/>
          </p:nvSpPr>
          <p:spPr bwMode="auto">
            <a:xfrm>
              <a:off x="510" y="183"/>
              <a:ext cx="0" cy="1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7" name="Line 34"/>
            <p:cNvSpPr>
              <a:spLocks noChangeShapeType="1"/>
            </p:cNvSpPr>
            <p:nvPr/>
          </p:nvSpPr>
          <p:spPr bwMode="auto">
            <a:xfrm>
              <a:off x="510" y="1463"/>
              <a:ext cx="31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8" name="Line 35"/>
            <p:cNvSpPr>
              <a:spLocks noChangeShapeType="1"/>
            </p:cNvSpPr>
            <p:nvPr/>
          </p:nvSpPr>
          <p:spPr bwMode="auto">
            <a:xfrm flipV="1">
              <a:off x="268" y="958"/>
              <a:ext cx="0" cy="12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9" name="Line 36"/>
            <p:cNvSpPr>
              <a:spLocks noChangeShapeType="1"/>
            </p:cNvSpPr>
            <p:nvPr/>
          </p:nvSpPr>
          <p:spPr bwMode="auto">
            <a:xfrm>
              <a:off x="268" y="958"/>
              <a:ext cx="55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0" name="Line 37"/>
            <p:cNvSpPr>
              <a:spLocks noChangeShapeType="1"/>
            </p:cNvSpPr>
            <p:nvPr/>
          </p:nvSpPr>
          <p:spPr bwMode="auto">
            <a:xfrm flipH="1">
              <a:off x="268" y="1665"/>
              <a:ext cx="117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1" name="AutoShape 38"/>
            <p:cNvSpPr>
              <a:spLocks noChangeArrowheads="1"/>
            </p:cNvSpPr>
            <p:nvPr/>
          </p:nvSpPr>
          <p:spPr bwMode="auto">
            <a:xfrm>
              <a:off x="647" y="351"/>
              <a:ext cx="69"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2" name="AutoShape 39"/>
            <p:cNvSpPr>
              <a:spLocks noChangeArrowheads="1"/>
            </p:cNvSpPr>
            <p:nvPr/>
          </p:nvSpPr>
          <p:spPr bwMode="auto">
            <a:xfrm>
              <a:off x="475" y="149"/>
              <a:ext cx="61"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3" name="AutoShape 40"/>
            <p:cNvSpPr>
              <a:spLocks noChangeArrowheads="1"/>
            </p:cNvSpPr>
            <p:nvPr/>
          </p:nvSpPr>
          <p:spPr bwMode="auto">
            <a:xfrm>
              <a:off x="647" y="688"/>
              <a:ext cx="69" cy="66"/>
            </a:xfrm>
            <a:prstGeom prst="star4">
              <a:avLst>
                <a:gd name="adj" fmla="val 125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4" name="AutoShape 41"/>
            <p:cNvSpPr>
              <a:spLocks noChangeArrowheads="1"/>
            </p:cNvSpPr>
            <p:nvPr/>
          </p:nvSpPr>
          <p:spPr bwMode="auto">
            <a:xfrm>
              <a:off x="234" y="1631"/>
              <a:ext cx="61"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5" name="AutoShape 42"/>
            <p:cNvSpPr>
              <a:spLocks noChangeArrowheads="1"/>
            </p:cNvSpPr>
            <p:nvPr/>
          </p:nvSpPr>
          <p:spPr bwMode="auto">
            <a:xfrm>
              <a:off x="234" y="2170"/>
              <a:ext cx="61"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6" name="Line 43"/>
            <p:cNvSpPr>
              <a:spLocks noChangeShapeType="1"/>
            </p:cNvSpPr>
            <p:nvPr/>
          </p:nvSpPr>
          <p:spPr bwMode="auto">
            <a:xfrm>
              <a:off x="1722" y="351"/>
              <a:ext cx="65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7" name="Line 44"/>
            <p:cNvSpPr>
              <a:spLocks noChangeShapeType="1"/>
            </p:cNvSpPr>
            <p:nvPr/>
          </p:nvSpPr>
          <p:spPr bwMode="auto">
            <a:xfrm>
              <a:off x="1722" y="890"/>
              <a:ext cx="34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8" name="Line 45"/>
            <p:cNvSpPr>
              <a:spLocks noChangeShapeType="1"/>
            </p:cNvSpPr>
            <p:nvPr/>
          </p:nvSpPr>
          <p:spPr bwMode="auto">
            <a:xfrm flipV="1">
              <a:off x="2067" y="613"/>
              <a:ext cx="0" cy="27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9" name="Line 46"/>
            <p:cNvSpPr>
              <a:spLocks noChangeShapeType="1"/>
            </p:cNvSpPr>
            <p:nvPr/>
          </p:nvSpPr>
          <p:spPr bwMode="auto">
            <a:xfrm>
              <a:off x="2067" y="622"/>
              <a:ext cx="30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0" name="Line 47"/>
            <p:cNvSpPr>
              <a:spLocks noChangeShapeType="1"/>
            </p:cNvSpPr>
            <p:nvPr/>
          </p:nvSpPr>
          <p:spPr bwMode="auto">
            <a:xfrm>
              <a:off x="1722" y="1530"/>
              <a:ext cx="9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1" name="Line 48"/>
            <p:cNvSpPr>
              <a:spLocks noChangeShapeType="1"/>
            </p:cNvSpPr>
            <p:nvPr/>
          </p:nvSpPr>
          <p:spPr bwMode="auto">
            <a:xfrm flipH="1">
              <a:off x="2687" y="823"/>
              <a:ext cx="65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2" name="Line 49"/>
            <p:cNvSpPr>
              <a:spLocks noChangeShapeType="1"/>
            </p:cNvSpPr>
            <p:nvPr/>
          </p:nvSpPr>
          <p:spPr bwMode="auto">
            <a:xfrm>
              <a:off x="2687" y="823"/>
              <a:ext cx="0" cy="70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3" name="Line 50"/>
            <p:cNvSpPr>
              <a:spLocks noChangeShapeType="1"/>
            </p:cNvSpPr>
            <p:nvPr/>
          </p:nvSpPr>
          <p:spPr bwMode="auto">
            <a:xfrm flipH="1">
              <a:off x="2894" y="924"/>
              <a:ext cx="4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4" name="Line 51"/>
            <p:cNvSpPr>
              <a:spLocks noChangeShapeType="1"/>
            </p:cNvSpPr>
            <p:nvPr/>
          </p:nvSpPr>
          <p:spPr bwMode="auto">
            <a:xfrm flipH="1">
              <a:off x="2894" y="688"/>
              <a:ext cx="4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5" name="Line 52"/>
            <p:cNvSpPr>
              <a:spLocks noChangeShapeType="1"/>
            </p:cNvSpPr>
            <p:nvPr/>
          </p:nvSpPr>
          <p:spPr bwMode="auto">
            <a:xfrm flipV="1">
              <a:off x="2660" y="480"/>
              <a:ext cx="24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6" name="Line 53"/>
            <p:cNvSpPr>
              <a:spLocks noChangeShapeType="1"/>
            </p:cNvSpPr>
            <p:nvPr/>
          </p:nvSpPr>
          <p:spPr bwMode="auto">
            <a:xfrm>
              <a:off x="2898" y="486"/>
              <a:ext cx="0" cy="20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7" name="Line 54"/>
            <p:cNvSpPr>
              <a:spLocks noChangeShapeType="1"/>
            </p:cNvSpPr>
            <p:nvPr/>
          </p:nvSpPr>
          <p:spPr bwMode="auto">
            <a:xfrm>
              <a:off x="1722" y="2102"/>
              <a:ext cx="11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8" name="Line 55"/>
            <p:cNvSpPr>
              <a:spLocks noChangeShapeType="1"/>
            </p:cNvSpPr>
            <p:nvPr/>
          </p:nvSpPr>
          <p:spPr bwMode="auto">
            <a:xfrm flipV="1">
              <a:off x="2894" y="924"/>
              <a:ext cx="0" cy="1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9" name="Line 56"/>
            <p:cNvSpPr>
              <a:spLocks noChangeShapeType="1"/>
            </p:cNvSpPr>
            <p:nvPr/>
          </p:nvSpPr>
          <p:spPr bwMode="auto">
            <a:xfrm>
              <a:off x="3648" y="816"/>
              <a:ext cx="16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90" name="Text Box 57"/>
            <p:cNvSpPr txBox="1">
              <a:spLocks noChangeArrowheads="1"/>
            </p:cNvSpPr>
            <p:nvPr/>
          </p:nvSpPr>
          <p:spPr bwMode="auto">
            <a:xfrm>
              <a:off x="0" y="49"/>
              <a:ext cx="269"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1" name="Text Box 58"/>
            <p:cNvSpPr txBox="1">
              <a:spLocks noChangeArrowheads="1"/>
            </p:cNvSpPr>
            <p:nvPr/>
          </p:nvSpPr>
          <p:spPr bwMode="auto">
            <a:xfrm>
              <a:off x="0" y="2054"/>
              <a:ext cx="21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2" name="Text Box 59"/>
            <p:cNvSpPr txBox="1">
              <a:spLocks noChangeArrowheads="1"/>
            </p:cNvSpPr>
            <p:nvPr/>
          </p:nvSpPr>
          <p:spPr bwMode="auto">
            <a:xfrm>
              <a:off x="1199" y="1019"/>
              <a:ext cx="27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3" name="Text Box 60"/>
            <p:cNvSpPr txBox="1">
              <a:spLocks noChangeArrowheads="1"/>
            </p:cNvSpPr>
            <p:nvPr/>
          </p:nvSpPr>
          <p:spPr bwMode="auto">
            <a:xfrm>
              <a:off x="1199" y="1262"/>
              <a:ext cx="276"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4" name="Text Box 61"/>
            <p:cNvSpPr txBox="1">
              <a:spLocks noChangeArrowheads="1"/>
            </p:cNvSpPr>
            <p:nvPr/>
          </p:nvSpPr>
          <p:spPr bwMode="auto">
            <a:xfrm>
              <a:off x="1199" y="1766"/>
              <a:ext cx="27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5" name="Text Box 62"/>
            <p:cNvSpPr txBox="1">
              <a:spLocks noChangeArrowheads="1"/>
            </p:cNvSpPr>
            <p:nvPr/>
          </p:nvSpPr>
          <p:spPr bwMode="auto">
            <a:xfrm>
              <a:off x="1861" y="144"/>
              <a:ext cx="39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6" name="Text Box 63"/>
            <p:cNvSpPr txBox="1">
              <a:spLocks noChangeArrowheads="1"/>
            </p:cNvSpPr>
            <p:nvPr/>
          </p:nvSpPr>
          <p:spPr bwMode="auto">
            <a:xfrm>
              <a:off x="1688" y="672"/>
              <a:ext cx="47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B+C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7" name="Text Box 64"/>
            <p:cNvSpPr txBox="1">
              <a:spLocks noChangeArrowheads="1"/>
            </p:cNvSpPr>
            <p:nvPr/>
          </p:nvSpPr>
          <p:spPr bwMode="auto">
            <a:xfrm>
              <a:off x="1872" y="1296"/>
              <a:ext cx="47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8" name="Line 65"/>
            <p:cNvSpPr>
              <a:spLocks noChangeShapeType="1"/>
            </p:cNvSpPr>
            <p:nvPr/>
          </p:nvSpPr>
          <p:spPr bwMode="auto">
            <a:xfrm flipV="1">
              <a:off x="1920" y="1311"/>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99" name="Text Box 66"/>
            <p:cNvSpPr txBox="1">
              <a:spLocks noChangeArrowheads="1"/>
            </p:cNvSpPr>
            <p:nvPr/>
          </p:nvSpPr>
          <p:spPr bwMode="auto">
            <a:xfrm>
              <a:off x="1948" y="1897"/>
              <a:ext cx="39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B 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0" name="Line 67"/>
            <p:cNvSpPr>
              <a:spLocks noChangeShapeType="1"/>
            </p:cNvSpPr>
            <p:nvPr/>
          </p:nvSpPr>
          <p:spPr bwMode="auto">
            <a:xfrm>
              <a:off x="1980" y="1918"/>
              <a:ext cx="13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01" name="Text Box 68"/>
            <p:cNvSpPr txBox="1">
              <a:spLocks noChangeArrowheads="1"/>
            </p:cNvSpPr>
            <p:nvPr/>
          </p:nvSpPr>
          <p:spPr bwMode="auto">
            <a:xfrm>
              <a:off x="2832" y="242"/>
              <a:ext cx="86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AB(B+C)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2" name="Rectangle 69"/>
            <p:cNvSpPr>
              <a:spLocks noChangeArrowheads="1"/>
            </p:cNvSpPr>
            <p:nvPr/>
          </p:nvSpPr>
          <p:spPr bwMode="auto">
            <a:xfrm>
              <a:off x="3669" y="624"/>
              <a:ext cx="1608"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
                  <a:schemeClr val="hlink"/>
                </a:buClr>
                <a:buSzPct val="75000"/>
                <a:buFont typeface="Wingdings" panose="05000000000000000000" pitchFamily="2" charset="2"/>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F=AB(B+C)+AC+BC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3" name="Text Box 70"/>
            <p:cNvSpPr txBox="1">
              <a:spLocks noChangeArrowheads="1"/>
            </p:cNvSpPr>
            <p:nvPr/>
          </p:nvSpPr>
          <p:spPr bwMode="auto">
            <a:xfrm>
              <a:off x="1488" y="144"/>
              <a:ext cx="2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4" name="Text Box 71"/>
            <p:cNvSpPr txBox="1">
              <a:spLocks noChangeArrowheads="1"/>
            </p:cNvSpPr>
            <p:nvPr/>
          </p:nvSpPr>
          <p:spPr bwMode="auto">
            <a:xfrm>
              <a:off x="1488" y="1334"/>
              <a:ext cx="2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5" name="Text Box 72"/>
            <p:cNvSpPr txBox="1">
              <a:spLocks noChangeArrowheads="1"/>
            </p:cNvSpPr>
            <p:nvPr/>
          </p:nvSpPr>
          <p:spPr bwMode="auto">
            <a:xfrm>
              <a:off x="1488" y="1911"/>
              <a:ext cx="2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6" name="Line 73"/>
            <p:cNvSpPr>
              <a:spLocks noChangeShapeType="1"/>
            </p:cNvSpPr>
            <p:nvPr/>
          </p:nvSpPr>
          <p:spPr bwMode="auto">
            <a:xfrm flipV="1">
              <a:off x="1942" y="672"/>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07" name="Line 74"/>
            <p:cNvSpPr>
              <a:spLocks noChangeShapeType="1"/>
            </p:cNvSpPr>
            <p:nvPr/>
          </p:nvSpPr>
          <p:spPr bwMode="auto">
            <a:xfrm flipV="1">
              <a:off x="3346" y="257"/>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08" name="Text Box 75"/>
            <p:cNvSpPr txBox="1">
              <a:spLocks noChangeArrowheads="1"/>
            </p:cNvSpPr>
            <p:nvPr/>
          </p:nvSpPr>
          <p:spPr bwMode="auto">
            <a:xfrm>
              <a:off x="2448" y="374"/>
              <a:ext cx="209"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9" name="Line 76"/>
            <p:cNvSpPr>
              <a:spLocks noChangeShapeType="1"/>
            </p:cNvSpPr>
            <p:nvPr/>
          </p:nvSpPr>
          <p:spPr bwMode="auto">
            <a:xfrm flipV="1">
              <a:off x="4378" y="617"/>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0" name="Line 77"/>
            <p:cNvSpPr>
              <a:spLocks noChangeShapeType="1"/>
            </p:cNvSpPr>
            <p:nvPr/>
          </p:nvSpPr>
          <p:spPr bwMode="auto">
            <a:xfrm flipV="1">
              <a:off x="4656" y="624"/>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1" name="Line 78"/>
            <p:cNvSpPr>
              <a:spLocks noChangeShapeType="1"/>
            </p:cNvSpPr>
            <p:nvPr/>
          </p:nvSpPr>
          <p:spPr bwMode="auto">
            <a:xfrm flipV="1">
              <a:off x="4944" y="624"/>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2" name="Line 79"/>
            <p:cNvSpPr>
              <a:spLocks noChangeShapeType="1"/>
            </p:cNvSpPr>
            <p:nvPr/>
          </p:nvSpPr>
          <p:spPr bwMode="auto">
            <a:xfrm flipV="1">
              <a:off x="1248" y="1056"/>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3" name="Line 80"/>
            <p:cNvSpPr>
              <a:spLocks noChangeShapeType="1"/>
            </p:cNvSpPr>
            <p:nvPr/>
          </p:nvSpPr>
          <p:spPr bwMode="auto">
            <a:xfrm flipV="1">
              <a:off x="1248" y="1289"/>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4" name="Line 81"/>
            <p:cNvSpPr>
              <a:spLocks noChangeShapeType="1"/>
            </p:cNvSpPr>
            <p:nvPr/>
          </p:nvSpPr>
          <p:spPr bwMode="auto">
            <a:xfrm flipV="1">
              <a:off x="1248" y="1793"/>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67669" name="Rectangle 85"/>
          <p:cNvSpPr>
            <a:spLocks noChangeArrowheads="1"/>
          </p:cNvSpPr>
          <p:nvPr/>
        </p:nvSpPr>
        <p:spPr bwMode="auto">
          <a:xfrm>
            <a:off x="4067175" y="411163"/>
            <a:ext cx="1439863" cy="4318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smtClean="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67670" name="Group 82"/>
          <p:cNvGrpSpPr/>
          <p:nvPr/>
        </p:nvGrpSpPr>
        <p:grpSpPr>
          <a:xfrm>
            <a:off x="1116013" y="2708275"/>
            <a:ext cx="5715000" cy="1524000"/>
            <a:chOff x="0" y="-6"/>
            <a:chExt cx="3600" cy="960"/>
          </a:xfrm>
        </p:grpSpPr>
        <p:sp>
          <p:nvSpPr>
            <p:cNvPr id="64523" name="Rectangle 83"/>
            <p:cNvSpPr>
              <a:spLocks noChangeArrowheads="1"/>
            </p:cNvSpPr>
            <p:nvPr/>
          </p:nvSpPr>
          <p:spPr bwMode="auto">
            <a:xfrm>
              <a:off x="0" y="-6"/>
              <a:ext cx="3600" cy="96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24" name="AutoShape 84"/>
            <p:cNvSpPr>
              <a:spLocks noChangeArrowheads="1"/>
            </p:cNvSpPr>
            <p:nvPr/>
          </p:nvSpPr>
          <p:spPr bwMode="auto">
            <a:xfrm>
              <a:off x="2063" y="412"/>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25" name="AutoShape 85"/>
            <p:cNvSpPr>
              <a:spLocks noChangeArrowheads="1"/>
            </p:cNvSpPr>
            <p:nvPr/>
          </p:nvSpPr>
          <p:spPr bwMode="auto">
            <a:xfrm>
              <a:off x="1096" y="96"/>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26" name="Text Box 86"/>
            <p:cNvSpPr txBox="1">
              <a:spLocks noChangeArrowheads="1"/>
            </p:cNvSpPr>
            <p:nvPr/>
          </p:nvSpPr>
          <p:spPr bwMode="auto">
            <a:xfrm>
              <a:off x="2023" y="478"/>
              <a:ext cx="3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64527" name="Line 87"/>
            <p:cNvSpPr>
              <a:spLocks noChangeShapeType="1"/>
            </p:cNvSpPr>
            <p:nvPr/>
          </p:nvSpPr>
          <p:spPr bwMode="auto">
            <a:xfrm>
              <a:off x="438" y="238"/>
              <a:ext cx="65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28" name="Line 88"/>
            <p:cNvSpPr>
              <a:spLocks noChangeShapeType="1"/>
            </p:cNvSpPr>
            <p:nvPr/>
          </p:nvSpPr>
          <p:spPr bwMode="auto">
            <a:xfrm flipH="1">
              <a:off x="464" y="718"/>
              <a:ext cx="1596" cy="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29" name="Line 89"/>
            <p:cNvSpPr>
              <a:spLocks noChangeShapeType="1"/>
            </p:cNvSpPr>
            <p:nvPr/>
          </p:nvSpPr>
          <p:spPr bwMode="auto">
            <a:xfrm flipH="1">
              <a:off x="1610" y="494"/>
              <a:ext cx="44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0" name="Line 90"/>
            <p:cNvSpPr>
              <a:spLocks noChangeShapeType="1"/>
            </p:cNvSpPr>
            <p:nvPr/>
          </p:nvSpPr>
          <p:spPr bwMode="auto">
            <a:xfrm flipV="1">
              <a:off x="1376" y="290"/>
              <a:ext cx="24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1" name="Line 91"/>
            <p:cNvSpPr>
              <a:spLocks noChangeShapeType="1"/>
            </p:cNvSpPr>
            <p:nvPr/>
          </p:nvSpPr>
          <p:spPr bwMode="auto">
            <a:xfrm>
              <a:off x="1610" y="292"/>
              <a:ext cx="0" cy="20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2" name="Line 92"/>
            <p:cNvSpPr>
              <a:spLocks noChangeShapeType="1"/>
            </p:cNvSpPr>
            <p:nvPr/>
          </p:nvSpPr>
          <p:spPr bwMode="auto">
            <a:xfrm>
              <a:off x="2352" y="624"/>
              <a:ext cx="9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3" name="Text Box 93"/>
            <p:cNvSpPr txBox="1">
              <a:spLocks noChangeArrowheads="1"/>
            </p:cNvSpPr>
            <p:nvPr/>
          </p:nvSpPr>
          <p:spPr bwMode="auto">
            <a:xfrm>
              <a:off x="240" y="72"/>
              <a:ext cx="2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34" name="Text Box 94"/>
            <p:cNvSpPr txBox="1">
              <a:spLocks noChangeArrowheads="1"/>
            </p:cNvSpPr>
            <p:nvPr/>
          </p:nvSpPr>
          <p:spPr bwMode="auto">
            <a:xfrm>
              <a:off x="1548" y="4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35" name="Rectangle 95"/>
            <p:cNvSpPr>
              <a:spLocks noChangeArrowheads="1"/>
            </p:cNvSpPr>
            <p:nvPr/>
          </p:nvSpPr>
          <p:spPr bwMode="auto">
            <a:xfrm>
              <a:off x="2486" y="430"/>
              <a:ext cx="7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
                  <a:schemeClr val="hlink"/>
                </a:buClr>
                <a:buSzPct val="75000"/>
                <a:buFont typeface="Wingdings" panose="05000000000000000000" pitchFamily="2" charset="2"/>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F=AB+C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36" name="Text Box 96"/>
            <p:cNvSpPr txBox="1">
              <a:spLocks noChangeArrowheads="1"/>
            </p:cNvSpPr>
            <p:nvPr/>
          </p:nvSpPr>
          <p:spPr bwMode="auto">
            <a:xfrm>
              <a:off x="1164" y="180"/>
              <a:ext cx="2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37" name="Line 97"/>
            <p:cNvSpPr>
              <a:spLocks noChangeShapeType="1"/>
            </p:cNvSpPr>
            <p:nvPr/>
          </p:nvSpPr>
          <p:spPr bwMode="auto">
            <a:xfrm>
              <a:off x="444" y="382"/>
              <a:ext cx="65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8" name="Text Box 98"/>
            <p:cNvSpPr txBox="1">
              <a:spLocks noChangeArrowheads="1"/>
            </p:cNvSpPr>
            <p:nvPr/>
          </p:nvSpPr>
          <p:spPr bwMode="auto">
            <a:xfrm>
              <a:off x="240" y="58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fade">
                                      <p:cBhvr>
                                        <p:cTn id="7" dur="2000"/>
                                        <p:tgtEl>
                                          <p:spTgt spid="6758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0" nodeType="clickEffect">
                                  <p:stCondLst>
                                    <p:cond delay="0"/>
                                  </p:stCondLst>
                                  <p:childTnLst>
                                    <p:anim calcmode="lin" valueType="num">
                                      <p:cBhvr additive="base">
                                        <p:cTn id="11" dur="500"/>
                                        <p:tgtEl>
                                          <p:spTgt spid="67669"/>
                                        </p:tgtEl>
                                        <p:attrNameLst>
                                          <p:attrName>ppt_x</p:attrName>
                                        </p:attrNameLst>
                                      </p:cBhvr>
                                      <p:tavLst>
                                        <p:tav tm="0">
                                          <p:val>
                                            <p:strVal val="ppt_x"/>
                                          </p:val>
                                        </p:tav>
                                        <p:tav tm="100000">
                                          <p:val>
                                            <p:strVal val="ppt_x"/>
                                          </p:val>
                                        </p:tav>
                                      </p:tavLst>
                                    </p:anim>
                                    <p:anim calcmode="lin" valueType="num">
                                      <p:cBhvr additive="base">
                                        <p:cTn id="12" dur="500"/>
                                        <p:tgtEl>
                                          <p:spTgt spid="67669"/>
                                        </p:tgtEl>
                                        <p:attrNameLst>
                                          <p:attrName>ppt_y</p:attrName>
                                        </p:attrNameLst>
                                      </p:cBhvr>
                                      <p:tavLst>
                                        <p:tav tm="0">
                                          <p:val>
                                            <p:strVal val="ppt_y"/>
                                          </p:val>
                                        </p:tav>
                                        <p:tav tm="100000">
                                          <p:val>
                                            <p:strVal val="1+ppt_h/2"/>
                                          </p:val>
                                        </p:tav>
                                      </p:tavLst>
                                    </p:anim>
                                    <p:set>
                                      <p:cBhvr>
                                        <p:cTn id="13" dur="1" fill="hold">
                                          <p:stCondLst>
                                            <p:cond delay="499"/>
                                          </p:stCondLst>
                                        </p:cTn>
                                        <p:tgtEl>
                                          <p:spTgt spid="6766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5" presetClass="exit" presetSubtype="10" fill="hold" nodeType="clickEffect">
                                  <p:stCondLst>
                                    <p:cond delay="0"/>
                                  </p:stCondLst>
                                  <p:childTnLst>
                                    <p:animEffect transition="out" filter="checkerboard(across)">
                                      <p:cBhvr>
                                        <p:cTn id="17" dur="500"/>
                                        <p:tgtEl>
                                          <p:spTgt spid="67592"/>
                                        </p:tgtEl>
                                      </p:cBhvr>
                                    </p:animEffect>
                                    <p:set>
                                      <p:cBhvr>
                                        <p:cTn id="18" dur="1" fill="hold">
                                          <p:stCondLst>
                                            <p:cond delay="499"/>
                                          </p:stCondLst>
                                        </p:cTn>
                                        <p:tgtEl>
                                          <p:spTgt spid="6759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67670"/>
                                        </p:tgtEl>
                                        <p:attrNameLst>
                                          <p:attrName>style.visibility</p:attrName>
                                        </p:attrNameLst>
                                      </p:cBhvr>
                                      <p:to>
                                        <p:strVal val="visible"/>
                                      </p:to>
                                    </p:set>
                                    <p:animEffect transition="in" filter="diamond(in)">
                                      <p:cBhvr>
                                        <p:cTn id="23" dur="2000"/>
                                        <p:tgtEl>
                                          <p:spTgt spid="67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p:bldP spid="6766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963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9636" name="Rectangle 2"/>
          <p:cNvSpPr>
            <a:spLocks noGrp="1"/>
          </p:cNvSpPr>
          <p:nvPr>
            <p:ph type="title"/>
          </p:nvPr>
        </p:nvSpPr>
        <p:spPr>
          <a:xfrm>
            <a:off x="373063" y="630238"/>
            <a:ext cx="6286500" cy="428625"/>
          </a:xfrm>
          <a:prstGeom prst="rect">
            <a:avLst/>
          </a:prstGeom>
          <a:noFill/>
          <a:ln w="9525">
            <a:noFill/>
          </a:ln>
        </p:spPr>
        <p:txBody>
          <a:bodyPr/>
          <a:p>
            <a:pPr eaLnBrk="1" hangingPunct="1"/>
            <a:r>
              <a:rPr lang="en-US" altLang="zh-CN" sz="1800" b="1" dirty="0">
                <a:solidFill>
                  <a:srgbClr val="0000FF"/>
                </a:solidFill>
                <a:latin typeface="黑体" panose="02010609060101010101" pitchFamily="49" charset="-122"/>
                <a:ea typeface="黑体" panose="02010609060101010101" pitchFamily="49" charset="-122"/>
              </a:rPr>
              <a:t>1</a:t>
            </a:r>
            <a:r>
              <a:rPr lang="zh-CN" altLang="en-US" sz="1800" b="1" dirty="0">
                <a:solidFill>
                  <a:srgbClr val="0000FF"/>
                </a:solidFill>
                <a:latin typeface="黑体" panose="02010609060101010101" pitchFamily="49" charset="-122"/>
                <a:ea typeface="黑体" panose="02010609060101010101" pitchFamily="49" charset="-122"/>
              </a:rPr>
              <a:t>）代数化简法</a:t>
            </a:r>
            <a:endParaRPr lang="zh-CN" altLang="en-US" sz="1800" b="1" dirty="0">
              <a:solidFill>
                <a:srgbClr val="0000FF"/>
              </a:solidFill>
              <a:latin typeface="黑体" panose="02010609060101010101" pitchFamily="49" charset="-122"/>
              <a:ea typeface="黑体" panose="02010609060101010101" pitchFamily="49" charset="-122"/>
            </a:endParaRPr>
          </a:p>
        </p:txBody>
      </p:sp>
      <p:sp>
        <p:nvSpPr>
          <p:cNvPr id="69637" name="Rectangle 3"/>
          <p:cNvSpPr>
            <a:spLocks noGrp="1"/>
          </p:cNvSpPr>
          <p:nvPr>
            <p:ph/>
          </p:nvPr>
        </p:nvSpPr>
        <p:spPr>
          <a:xfrm>
            <a:off x="381000" y="1117600"/>
            <a:ext cx="8534400" cy="446088"/>
          </a:xfrm>
          <a:prstGeom prst="rect">
            <a:avLst/>
          </a:prstGeom>
          <a:noFill/>
          <a:ln w="9525">
            <a:noFill/>
          </a:ln>
        </p:spPr>
        <p:txBody>
          <a:bodyPr/>
          <a:p>
            <a:pPr marL="514350" indent="-514350">
              <a:buFont typeface="宋体" panose="02010600030101010101" pitchFamily="2" charset="-122"/>
              <a:buAutoNum type="circleNumDbPlain"/>
            </a:pPr>
            <a:r>
              <a:rPr lang="zh-CN" altLang="en-US" sz="1800" b="1" dirty="0">
                <a:latin typeface="黑体" panose="02010609060101010101" pitchFamily="49" charset="-122"/>
                <a:ea typeface="黑体" panose="02010609060101010101" pitchFamily="49" charset="-122"/>
              </a:rPr>
              <a:t>化简为与或式</a:t>
            </a:r>
            <a:endParaRPr lang="zh-CN" altLang="en-US" sz="1800" b="1" dirty="0">
              <a:latin typeface="黑体" panose="02010609060101010101" pitchFamily="49" charset="-122"/>
              <a:ea typeface="黑体" panose="02010609060101010101" pitchFamily="49" charset="-122"/>
            </a:endParaRPr>
          </a:p>
        </p:txBody>
      </p:sp>
      <p:sp>
        <p:nvSpPr>
          <p:cNvPr id="69638" name="Rectangle 5"/>
          <p:cNvSpPr/>
          <p:nvPr/>
        </p:nvSpPr>
        <p:spPr>
          <a:xfrm>
            <a:off x="762000" y="1601788"/>
            <a:ext cx="6905625" cy="1257300"/>
          </a:xfrm>
          <a:prstGeom prst="rect">
            <a:avLst/>
          </a:prstGeom>
          <a:noFill/>
          <a:ln w="9525">
            <a:noFill/>
          </a:ln>
        </p:spPr>
        <p:txBody>
          <a:bodyPr/>
          <a:p>
            <a:pPr marL="342900" indent="-342900" eaLnBrk="1" hangingPunct="1">
              <a:lnSpc>
                <a:spcPct val="8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与或式化简常用的公式（定理、定律）主要有四个： </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80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 + A = 1                      </a:t>
            </a:r>
            <a:r>
              <a:rPr lang="en-US" altLang="zh-CN" sz="1800" dirty="0">
                <a:solidFill>
                  <a:schemeClr val="tx1"/>
                </a:solidFill>
                <a:latin typeface="黑体" panose="02010609060101010101" pitchFamily="49" charset="-122"/>
                <a:ea typeface="黑体" panose="02010609060101010101" pitchFamily="49" charset="-122"/>
              </a:rPr>
              <a:t>A + A • B = A + B </a:t>
            </a:r>
            <a:endParaRPr lang="en-US" altLang="zh-CN" sz="1800" b="1" dirty="0">
              <a:solidFill>
                <a:schemeClr val="tx1"/>
              </a:solidFill>
              <a:latin typeface="黑体" panose="02010609060101010101" pitchFamily="49" charset="-122"/>
              <a:ea typeface="黑体" panose="02010609060101010101" pitchFamily="49" charset="-122"/>
            </a:endParaRPr>
          </a:p>
          <a:p>
            <a:pPr marL="342900" indent="-342900" eaLnBrk="1" hangingPunct="1">
              <a:spcBef>
                <a:spcPct val="2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AB + AB = A                    AB + AC + BC = AB + AC </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8615" name="Rectangle 6"/>
          <p:cNvSpPr/>
          <p:nvPr/>
        </p:nvSpPr>
        <p:spPr>
          <a:xfrm>
            <a:off x="430213" y="2871788"/>
            <a:ext cx="8318500" cy="1640205"/>
          </a:xfrm>
          <a:prstGeom prst="rect">
            <a:avLst/>
          </a:prstGeom>
          <a:noFill/>
          <a:ln w="9525">
            <a:noFill/>
          </a:ln>
        </p:spPr>
        <p:txBody>
          <a:bodyPr>
            <a:spAutoFit/>
          </a:bodyPr>
          <a:p>
            <a:pPr eaLnBrk="1" hangingPunct="1">
              <a:lnSpc>
                <a:spcPct val="14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代数法化简就是应用</a:t>
            </a:r>
            <a:r>
              <a:rPr lang="zh-CN" altLang="en-US" sz="1800" dirty="0">
                <a:solidFill>
                  <a:srgbClr val="FF0000"/>
                </a:solidFill>
                <a:latin typeface="黑体" panose="02010609060101010101" pitchFamily="49" charset="-122"/>
                <a:ea typeface="黑体" panose="02010609060101010101" pitchFamily="49" charset="-122"/>
              </a:rPr>
              <a:t>代入规则</a:t>
            </a:r>
            <a:r>
              <a:rPr lang="zh-CN" altLang="en-US" sz="1800" dirty="0">
                <a:solidFill>
                  <a:schemeClr val="tx1"/>
                </a:solidFill>
                <a:latin typeface="黑体" panose="02010609060101010101" pitchFamily="49" charset="-122"/>
                <a:ea typeface="黑体" panose="02010609060101010101" pitchFamily="49" charset="-122"/>
              </a:rPr>
              <a:t>，把</a:t>
            </a:r>
            <a:r>
              <a:rPr lang="zh-CN" altLang="en-US" sz="1800" dirty="0">
                <a:solidFill>
                  <a:srgbClr val="0000FF"/>
                </a:solidFill>
                <a:latin typeface="黑体" panose="02010609060101010101" pitchFamily="49" charset="-122"/>
                <a:ea typeface="黑体" panose="02010609060101010101" pitchFamily="49" charset="-122"/>
              </a:rPr>
              <a:t>某一个子函数看成一个变量</a:t>
            </a:r>
            <a:r>
              <a:rPr lang="zh-CN" altLang="en-US" sz="1800" dirty="0">
                <a:solidFill>
                  <a:schemeClr val="tx1"/>
                </a:solidFill>
                <a:latin typeface="黑体" panose="02010609060101010101" pitchFamily="49" charset="-122"/>
                <a:ea typeface="黑体" panose="02010609060101010101" pitchFamily="49" charset="-122"/>
              </a:rPr>
              <a:t>，进而用</a:t>
            </a:r>
            <a:r>
              <a:rPr lang="zh-CN" altLang="en-US" sz="1800" dirty="0">
                <a:solidFill>
                  <a:srgbClr val="0000FF"/>
                </a:solidFill>
                <a:latin typeface="黑体" panose="02010609060101010101" pitchFamily="49" charset="-122"/>
                <a:ea typeface="黑体" panose="02010609060101010101" pitchFamily="49" charset="-122"/>
              </a:rPr>
              <a:t>公式简化逻辑函数</a:t>
            </a:r>
            <a:r>
              <a:rPr lang="zh-CN" altLang="en-US" sz="1800" dirty="0">
                <a:solidFill>
                  <a:schemeClr val="tx1"/>
                </a:solidFill>
                <a:latin typeface="黑体" panose="02010609060101010101" pitchFamily="49" charset="-122"/>
                <a:ea typeface="黑体" panose="02010609060101010101" pitchFamily="49" charset="-122"/>
              </a:rPr>
              <a:t>；在这一过程中经常需要变换子函数的形式，以便能够应用公式进行简化，最终将函数化简为</a:t>
            </a:r>
            <a:r>
              <a:rPr lang="zh-CN" altLang="en-US" sz="1800" b="1" dirty="0">
                <a:solidFill>
                  <a:schemeClr val="tx1"/>
                </a:solidFill>
                <a:latin typeface="黑体" panose="02010609060101010101" pitchFamily="49" charset="-122"/>
                <a:ea typeface="黑体" panose="02010609060101010101" pitchFamily="49" charset="-122"/>
              </a:rPr>
              <a:t>最简与或式</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b="1" i="1" dirty="0">
                <a:solidFill>
                  <a:schemeClr val="tx1"/>
                </a:solidFill>
                <a:latin typeface="黑体" panose="02010609060101010101" pitchFamily="49" charset="-122"/>
                <a:ea typeface="黑体" panose="02010609060101010101" pitchFamily="49" charset="-122"/>
              </a:rPr>
              <a:t>(minimizing SOP) </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14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常用的方法</a:t>
            </a:r>
            <a:r>
              <a:rPr lang="zh-CN" altLang="en-US" sz="1800" dirty="0">
                <a:solidFill>
                  <a:srgbClr val="FF0000"/>
                </a:solidFill>
                <a:latin typeface="黑体" panose="02010609060101010101" pitchFamily="49" charset="-122"/>
                <a:ea typeface="黑体" panose="02010609060101010101" pitchFamily="49" charset="-122"/>
              </a:rPr>
              <a:t>称为</a:t>
            </a:r>
            <a:r>
              <a:rPr lang="zh-CN" altLang="en-US" sz="1800" b="1" dirty="0">
                <a:solidFill>
                  <a:srgbClr val="0000FF"/>
                </a:solidFill>
                <a:latin typeface="黑体" panose="02010609060101010101" pitchFamily="49" charset="-122"/>
                <a:ea typeface="黑体" panose="02010609060101010101" pitchFamily="49" charset="-122"/>
              </a:rPr>
              <a:t>常规法</a:t>
            </a:r>
            <a:endParaRPr lang="zh-CN" altLang="en-US" sz="1800" b="1" dirty="0">
              <a:solidFill>
                <a:srgbClr val="0000FF"/>
              </a:solidFill>
              <a:latin typeface="黑体" panose="02010609060101010101" pitchFamily="49" charset="-122"/>
              <a:ea typeface="黑体" panose="02010609060101010101" pitchFamily="49" charset="-122"/>
            </a:endParaRPr>
          </a:p>
        </p:txBody>
      </p:sp>
      <p:sp>
        <p:nvSpPr>
          <p:cNvPr id="69640" name="Line 18"/>
          <p:cNvSpPr/>
          <p:nvPr/>
        </p:nvSpPr>
        <p:spPr>
          <a:xfrm flipV="1">
            <a:off x="1403350" y="1989138"/>
            <a:ext cx="144463" cy="0"/>
          </a:xfrm>
          <a:prstGeom prst="line">
            <a:avLst/>
          </a:prstGeom>
          <a:ln w="19050" cap="flat" cmpd="sng">
            <a:solidFill>
              <a:schemeClr val="tx1"/>
            </a:solidFill>
            <a:prstDash val="solid"/>
            <a:headEnd type="none" w="med" len="med"/>
            <a:tailEnd type="none" w="med" len="med"/>
          </a:ln>
        </p:spPr>
      </p:sp>
      <p:sp>
        <p:nvSpPr>
          <p:cNvPr id="69641" name="Line 18"/>
          <p:cNvSpPr/>
          <p:nvPr/>
        </p:nvSpPr>
        <p:spPr>
          <a:xfrm flipV="1">
            <a:off x="1631950" y="2305050"/>
            <a:ext cx="144463" cy="0"/>
          </a:xfrm>
          <a:prstGeom prst="line">
            <a:avLst/>
          </a:prstGeom>
          <a:ln w="19050" cap="flat" cmpd="sng">
            <a:solidFill>
              <a:schemeClr val="tx1"/>
            </a:solidFill>
            <a:prstDash val="solid"/>
            <a:headEnd type="none" w="med" len="med"/>
            <a:tailEnd type="none" w="med" len="med"/>
          </a:ln>
        </p:spPr>
      </p:sp>
      <p:sp>
        <p:nvSpPr>
          <p:cNvPr id="69642" name="Line 18"/>
          <p:cNvSpPr/>
          <p:nvPr/>
        </p:nvSpPr>
        <p:spPr>
          <a:xfrm flipV="1">
            <a:off x="4978400" y="1982788"/>
            <a:ext cx="144463" cy="0"/>
          </a:xfrm>
          <a:prstGeom prst="line">
            <a:avLst/>
          </a:prstGeom>
          <a:ln w="19050" cap="flat" cmpd="sng">
            <a:solidFill>
              <a:schemeClr val="tx1"/>
            </a:solidFill>
            <a:prstDash val="solid"/>
            <a:headEnd type="none" w="med" len="med"/>
            <a:tailEnd type="none" w="med" len="med"/>
          </a:ln>
        </p:spPr>
      </p:sp>
      <p:sp>
        <p:nvSpPr>
          <p:cNvPr id="69643" name="Line 18"/>
          <p:cNvSpPr/>
          <p:nvPr/>
        </p:nvSpPr>
        <p:spPr>
          <a:xfrm flipV="1">
            <a:off x="5094288" y="2306638"/>
            <a:ext cx="144462" cy="0"/>
          </a:xfrm>
          <a:prstGeom prst="line">
            <a:avLst/>
          </a:prstGeom>
          <a:ln w="19050" cap="flat" cmpd="sng">
            <a:solidFill>
              <a:schemeClr val="tx1"/>
            </a:solidFill>
            <a:prstDash val="solid"/>
            <a:headEnd type="none" w="med" len="med"/>
            <a:tailEnd type="none" w="med" len="med"/>
          </a:ln>
        </p:spPr>
      </p:sp>
      <p:sp>
        <p:nvSpPr>
          <p:cNvPr id="69644" name="Line 18"/>
          <p:cNvSpPr/>
          <p:nvPr/>
        </p:nvSpPr>
        <p:spPr>
          <a:xfrm flipV="1">
            <a:off x="6823075" y="2308225"/>
            <a:ext cx="144463" cy="0"/>
          </a:xfrm>
          <a:prstGeom prst="line">
            <a:avLst/>
          </a:prstGeom>
          <a:ln w="19050" cap="flat" cmpd="sng">
            <a:solidFill>
              <a:schemeClr val="tx1"/>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065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pSp>
        <p:nvGrpSpPr>
          <p:cNvPr id="70660" name="Group 88"/>
          <p:cNvGrpSpPr/>
          <p:nvPr/>
        </p:nvGrpSpPr>
        <p:grpSpPr>
          <a:xfrm>
            <a:off x="357188" y="484188"/>
            <a:ext cx="8158162" cy="2686050"/>
            <a:chOff x="0" y="0"/>
            <a:chExt cx="4660" cy="2256"/>
          </a:xfrm>
        </p:grpSpPr>
        <p:sp>
          <p:nvSpPr>
            <p:cNvPr id="70697" name="Rectangle 57"/>
            <p:cNvSpPr/>
            <p:nvPr/>
          </p:nvSpPr>
          <p:spPr>
            <a:xfrm>
              <a:off x="0" y="0"/>
              <a:ext cx="4660" cy="2256"/>
            </a:xfrm>
            <a:prstGeom prst="rect">
              <a:avLst/>
            </a:prstGeom>
            <a:noFill/>
            <a:ln w="9525">
              <a:noFill/>
            </a:ln>
          </p:spPr>
          <p:txBody>
            <a:bodyPr/>
            <a:p>
              <a:pPr marL="342900" indent="-342900" eaLnBrk="1" hangingPunct="1">
                <a:lnSpc>
                  <a:spcPct val="110000"/>
                </a:lnSpc>
                <a:buFont typeface="Arial" panose="020B0604020202020204" pitchFamily="34" charset="0"/>
              </a:pPr>
              <a:endParaRPr lang="en-US" altLang="zh-CN" sz="1800" b="1"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10000"/>
                </a:lnSpc>
                <a:buFont typeface="Wingdings" panose="05000000000000000000" pitchFamily="2" charset="2"/>
                <a:buChar char="l"/>
              </a:pPr>
              <a:r>
                <a:rPr lang="zh-CN" altLang="en-US" sz="1800" dirty="0">
                  <a:solidFill>
                    <a:schemeClr val="tx1"/>
                  </a:solidFill>
                  <a:latin typeface="黑体" panose="02010609060101010101" pitchFamily="49" charset="-122"/>
                  <a:ea typeface="黑体" panose="02010609060101010101" pitchFamily="49" charset="-122"/>
                </a:rPr>
                <a:t>当无法发现直接应用公式时，可先增加一些与项，再利用增加项消除多余项，即“</a:t>
              </a:r>
              <a:r>
                <a:rPr lang="zh-CN" altLang="en-US" sz="1800" dirty="0">
                  <a:solidFill>
                    <a:srgbClr val="0000FF"/>
                  </a:solidFill>
                  <a:latin typeface="黑体" panose="02010609060101010101" pitchFamily="49" charset="-122"/>
                  <a:ea typeface="黑体" panose="02010609060101010101" pitchFamily="49" charset="-122"/>
                </a:rPr>
                <a:t>先繁后简</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利用公式：</a:t>
              </a:r>
              <a:r>
                <a:rPr lang="en-US" altLang="zh-CN" sz="1800" b="1" dirty="0">
                  <a:solidFill>
                    <a:schemeClr val="tx1"/>
                  </a:solidFill>
                  <a:latin typeface="黑体" panose="02010609060101010101" pitchFamily="49" charset="-122"/>
                  <a:ea typeface="黑体" panose="02010609060101010101" pitchFamily="49" charset="-122"/>
                </a:rPr>
                <a:t>1 </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A </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增加变量及与项数</a:t>
              </a:r>
              <a:r>
                <a:rPr lang="zh-CN" altLang="en-US" sz="1800" dirty="0">
                  <a:solidFill>
                    <a:schemeClr val="tx1"/>
                  </a:solidFill>
                  <a:latin typeface="黑体" panose="02010609060101010101" pitchFamily="49" charset="-122"/>
                  <a:ea typeface="黑体" panose="02010609060101010101" pitchFamily="49" charset="-122"/>
                </a:rPr>
                <a:t>。例：</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 = AB + BC + BC + AB</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 + BC + BC</a:t>
              </a:r>
              <a:r>
                <a:rPr lang="en-US" altLang="zh-CN" sz="1800" dirty="0">
                  <a:solidFill>
                    <a:srgbClr val="FF0000"/>
                  </a:solidFill>
                  <a:latin typeface="黑体" panose="02010609060101010101" pitchFamily="49" charset="-122"/>
                  <a:ea typeface="黑体" panose="02010609060101010101" pitchFamily="49" charset="-122"/>
                </a:rPr>
                <a:t>(A+A) </a:t>
              </a:r>
              <a:r>
                <a:rPr lang="en-US" altLang="zh-CN" sz="1800" dirty="0">
                  <a:solidFill>
                    <a:schemeClr val="tx1"/>
                  </a:solidFill>
                  <a:latin typeface="黑体" panose="02010609060101010101" pitchFamily="49" charset="-122"/>
                  <a:ea typeface="黑体" panose="02010609060101010101" pitchFamily="49" charset="-122"/>
                </a:rPr>
                <a:t>+ AB</a:t>
              </a:r>
              <a:r>
                <a:rPr lang="en-US" altLang="zh-CN" sz="1800" dirty="0">
                  <a:solidFill>
                    <a:srgbClr val="FF0000"/>
                  </a:solidFill>
                  <a:latin typeface="黑体" panose="02010609060101010101" pitchFamily="49" charset="-122"/>
                  <a:ea typeface="黑体" panose="02010609060101010101" pitchFamily="49" charset="-122"/>
                </a:rPr>
                <a:t>(C+C)</a:t>
              </a:r>
              <a:endParaRPr lang="en-US" altLang="zh-CN" sz="1800" dirty="0">
                <a:solidFill>
                  <a:srgbClr val="FF0000"/>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a:t>
              </a:r>
              <a:r>
                <a:rPr lang="en-US" altLang="zh-CN" sz="1800" dirty="0">
                  <a:solidFill>
                    <a:srgbClr val="FF0000"/>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BC) + (BC+AB</a:t>
              </a:r>
              <a:r>
                <a:rPr lang="en-US" altLang="zh-CN" sz="1800" dirty="0">
                  <a:solidFill>
                    <a:srgbClr val="FF0000"/>
                  </a:solidFill>
                  <a:latin typeface="黑体" panose="02010609060101010101" pitchFamily="49" charset="-122"/>
                  <a:ea typeface="黑体" panose="02010609060101010101" pitchFamily="49" charset="-122"/>
                </a:rPr>
                <a:t>C</a:t>
              </a:r>
              <a:r>
                <a:rPr lang="en-US" altLang="zh-CN" sz="1800" dirty="0">
                  <a:solidFill>
                    <a:schemeClr val="tx1"/>
                  </a:solidFill>
                  <a:latin typeface="黑体" panose="02010609060101010101" pitchFamily="49" charset="-122"/>
                  <a:ea typeface="黑体" panose="02010609060101010101" pitchFamily="49" charset="-122"/>
                </a:rPr>
                <a:t>) + (</a:t>
              </a:r>
              <a:r>
                <a:rPr lang="en-US" altLang="zh-CN" sz="1800" dirty="0">
                  <a:solidFill>
                    <a:srgbClr val="FF0000"/>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BC+AB</a:t>
              </a:r>
              <a:r>
                <a:rPr lang="en-US" altLang="zh-CN" sz="1800" dirty="0">
                  <a:solidFill>
                    <a:srgbClr val="FF0000"/>
                  </a:solidFill>
                  <a:latin typeface="黑体" panose="02010609060101010101" pitchFamily="49" charset="-122"/>
                  <a:ea typeface="黑体" panose="02010609060101010101" pitchFamily="49" charset="-122"/>
                </a:rPr>
                <a:t>C</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 + BC + AC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698" name="Line 60"/>
            <p:cNvSpPr/>
            <p:nvPr/>
          </p:nvSpPr>
          <p:spPr>
            <a:xfrm>
              <a:off x="1379" y="829"/>
              <a:ext cx="141" cy="0"/>
            </a:xfrm>
            <a:prstGeom prst="line">
              <a:avLst/>
            </a:prstGeom>
            <a:ln w="19050" cap="flat" cmpd="sng">
              <a:solidFill>
                <a:schemeClr val="accent1"/>
              </a:solidFill>
              <a:prstDash val="solid"/>
              <a:headEnd type="none" w="med" len="med"/>
              <a:tailEnd type="none" w="med" len="med"/>
            </a:ln>
          </p:spPr>
        </p:sp>
        <p:sp>
          <p:nvSpPr>
            <p:cNvPr id="70699" name="Line 61"/>
            <p:cNvSpPr/>
            <p:nvPr/>
          </p:nvSpPr>
          <p:spPr>
            <a:xfrm>
              <a:off x="912" y="848"/>
              <a:ext cx="141" cy="0"/>
            </a:xfrm>
            <a:prstGeom prst="line">
              <a:avLst/>
            </a:prstGeom>
            <a:ln w="9525" cap="flat" cmpd="sng">
              <a:solidFill>
                <a:srgbClr val="FFFFFF"/>
              </a:solidFill>
              <a:prstDash val="solid"/>
              <a:headEnd type="none" w="med" len="med"/>
              <a:tailEnd type="none" w="med" len="med"/>
            </a:ln>
          </p:spPr>
        </p:sp>
        <p:sp>
          <p:nvSpPr>
            <p:cNvPr id="70700" name="Line 62"/>
            <p:cNvSpPr/>
            <p:nvPr/>
          </p:nvSpPr>
          <p:spPr>
            <a:xfrm>
              <a:off x="1505" y="848"/>
              <a:ext cx="141" cy="0"/>
            </a:xfrm>
            <a:prstGeom prst="line">
              <a:avLst/>
            </a:prstGeom>
            <a:ln w="9525" cap="flat" cmpd="sng">
              <a:solidFill>
                <a:srgbClr val="FFFFFF"/>
              </a:solidFill>
              <a:prstDash val="solid"/>
              <a:headEnd type="none" w="med" len="med"/>
              <a:tailEnd type="none" w="med" len="med"/>
            </a:ln>
          </p:spPr>
        </p:sp>
        <p:sp>
          <p:nvSpPr>
            <p:cNvPr id="70701" name="Line 63"/>
            <p:cNvSpPr/>
            <p:nvPr/>
          </p:nvSpPr>
          <p:spPr>
            <a:xfrm>
              <a:off x="1892" y="848"/>
              <a:ext cx="141" cy="0"/>
            </a:xfrm>
            <a:prstGeom prst="line">
              <a:avLst/>
            </a:prstGeom>
            <a:ln w="9525" cap="flat" cmpd="sng">
              <a:solidFill>
                <a:srgbClr val="FFFFFF"/>
              </a:solidFill>
              <a:prstDash val="solid"/>
              <a:headEnd type="none" w="med" len="med"/>
              <a:tailEnd type="none" w="med" len="med"/>
            </a:ln>
          </p:spPr>
        </p:sp>
        <p:sp>
          <p:nvSpPr>
            <p:cNvPr id="70702" name="Line 64"/>
            <p:cNvSpPr/>
            <p:nvPr/>
          </p:nvSpPr>
          <p:spPr>
            <a:xfrm>
              <a:off x="2420" y="848"/>
              <a:ext cx="141" cy="0"/>
            </a:xfrm>
            <a:prstGeom prst="line">
              <a:avLst/>
            </a:prstGeom>
            <a:ln w="9525" cap="flat" cmpd="sng">
              <a:solidFill>
                <a:srgbClr val="FFFFFF"/>
              </a:solidFill>
              <a:prstDash val="solid"/>
              <a:headEnd type="none" w="med" len="med"/>
              <a:tailEnd type="none" w="med" len="med"/>
            </a:ln>
          </p:spPr>
        </p:sp>
        <p:sp>
          <p:nvSpPr>
            <p:cNvPr id="70703" name="Line 68"/>
            <p:cNvSpPr/>
            <p:nvPr/>
          </p:nvSpPr>
          <p:spPr>
            <a:xfrm>
              <a:off x="1440" y="1168"/>
              <a:ext cx="141" cy="0"/>
            </a:xfrm>
            <a:prstGeom prst="line">
              <a:avLst/>
            </a:prstGeom>
            <a:ln w="9525" cap="flat" cmpd="sng">
              <a:solidFill>
                <a:srgbClr val="FFFFFF"/>
              </a:solidFill>
              <a:prstDash val="solid"/>
              <a:headEnd type="none" w="med" len="med"/>
              <a:tailEnd type="none" w="med" len="med"/>
            </a:ln>
          </p:spPr>
        </p:sp>
        <p:sp>
          <p:nvSpPr>
            <p:cNvPr id="70704" name="Line 69"/>
            <p:cNvSpPr/>
            <p:nvPr/>
          </p:nvSpPr>
          <p:spPr>
            <a:xfrm>
              <a:off x="1827" y="1168"/>
              <a:ext cx="141" cy="0"/>
            </a:xfrm>
            <a:prstGeom prst="line">
              <a:avLst/>
            </a:prstGeom>
            <a:ln w="9525" cap="flat" cmpd="sng">
              <a:solidFill>
                <a:srgbClr val="FFFFFF"/>
              </a:solidFill>
              <a:prstDash val="solid"/>
              <a:headEnd type="none" w="med" len="med"/>
              <a:tailEnd type="none" w="med" len="med"/>
            </a:ln>
          </p:spPr>
        </p:sp>
        <p:sp>
          <p:nvSpPr>
            <p:cNvPr id="70705" name="Line 70"/>
            <p:cNvSpPr/>
            <p:nvPr/>
          </p:nvSpPr>
          <p:spPr>
            <a:xfrm>
              <a:off x="2595" y="1168"/>
              <a:ext cx="141" cy="0"/>
            </a:xfrm>
            <a:prstGeom prst="line">
              <a:avLst/>
            </a:prstGeom>
            <a:ln w="9525" cap="flat" cmpd="sng">
              <a:solidFill>
                <a:srgbClr val="FFFFFF"/>
              </a:solidFill>
              <a:prstDash val="solid"/>
              <a:headEnd type="none" w="med" len="med"/>
              <a:tailEnd type="none" w="med" len="med"/>
            </a:ln>
          </p:spPr>
        </p:sp>
        <p:sp>
          <p:nvSpPr>
            <p:cNvPr id="70706" name="Line 71"/>
            <p:cNvSpPr/>
            <p:nvPr/>
          </p:nvSpPr>
          <p:spPr>
            <a:xfrm>
              <a:off x="3051" y="1168"/>
              <a:ext cx="141" cy="0"/>
            </a:xfrm>
            <a:prstGeom prst="line">
              <a:avLst/>
            </a:prstGeom>
            <a:ln w="9525" cap="flat" cmpd="sng">
              <a:solidFill>
                <a:srgbClr val="FFFFFF"/>
              </a:solidFill>
              <a:prstDash val="solid"/>
              <a:headEnd type="none" w="med" len="med"/>
              <a:tailEnd type="none" w="med" len="med"/>
            </a:ln>
          </p:spPr>
        </p:sp>
        <p:sp>
          <p:nvSpPr>
            <p:cNvPr id="70707" name="Line 72"/>
            <p:cNvSpPr/>
            <p:nvPr/>
          </p:nvSpPr>
          <p:spPr>
            <a:xfrm>
              <a:off x="3723" y="1168"/>
              <a:ext cx="141" cy="0"/>
            </a:xfrm>
            <a:prstGeom prst="line">
              <a:avLst/>
            </a:prstGeom>
            <a:ln w="9525" cap="flat" cmpd="sng">
              <a:solidFill>
                <a:srgbClr val="FFFFFF"/>
              </a:solidFill>
              <a:prstDash val="solid"/>
              <a:headEnd type="none" w="med" len="med"/>
              <a:tailEnd type="none" w="med" len="med"/>
            </a:ln>
          </p:spPr>
        </p:sp>
        <p:sp>
          <p:nvSpPr>
            <p:cNvPr id="70708" name="Line 76"/>
            <p:cNvSpPr/>
            <p:nvPr/>
          </p:nvSpPr>
          <p:spPr>
            <a:xfrm>
              <a:off x="2921" y="1480"/>
              <a:ext cx="141" cy="0"/>
            </a:xfrm>
            <a:prstGeom prst="line">
              <a:avLst/>
            </a:prstGeom>
            <a:ln w="9525" cap="flat" cmpd="sng">
              <a:solidFill>
                <a:srgbClr val="FFFFFF"/>
              </a:solidFill>
              <a:prstDash val="solid"/>
              <a:headEnd type="none" w="med" len="med"/>
              <a:tailEnd type="none" w="med" len="med"/>
            </a:ln>
          </p:spPr>
        </p:sp>
        <p:sp>
          <p:nvSpPr>
            <p:cNvPr id="70709" name="Line 77"/>
            <p:cNvSpPr/>
            <p:nvPr/>
          </p:nvSpPr>
          <p:spPr>
            <a:xfrm>
              <a:off x="3452" y="1480"/>
              <a:ext cx="141" cy="0"/>
            </a:xfrm>
            <a:prstGeom prst="line">
              <a:avLst/>
            </a:prstGeom>
            <a:ln w="9525" cap="flat" cmpd="sng">
              <a:solidFill>
                <a:srgbClr val="FFFFFF"/>
              </a:solidFill>
              <a:prstDash val="solid"/>
              <a:headEnd type="none" w="med" len="med"/>
              <a:tailEnd type="none" w="med" len="med"/>
            </a:ln>
          </p:spPr>
        </p:sp>
        <p:sp>
          <p:nvSpPr>
            <p:cNvPr id="70710" name="Line 78"/>
            <p:cNvSpPr/>
            <p:nvPr/>
          </p:nvSpPr>
          <p:spPr>
            <a:xfrm>
              <a:off x="4096" y="1480"/>
              <a:ext cx="141" cy="0"/>
            </a:xfrm>
            <a:prstGeom prst="line">
              <a:avLst/>
            </a:prstGeom>
            <a:ln w="9525" cap="flat" cmpd="sng">
              <a:solidFill>
                <a:srgbClr val="FFFFFF"/>
              </a:solidFill>
              <a:prstDash val="solid"/>
              <a:headEnd type="none" w="med" len="med"/>
              <a:tailEnd type="none" w="med" len="med"/>
            </a:ln>
          </p:spPr>
        </p:sp>
        <p:sp>
          <p:nvSpPr>
            <p:cNvPr id="70711" name="Line 80"/>
            <p:cNvSpPr/>
            <p:nvPr/>
          </p:nvSpPr>
          <p:spPr>
            <a:xfrm>
              <a:off x="3620" y="1480"/>
              <a:ext cx="141" cy="0"/>
            </a:xfrm>
            <a:prstGeom prst="line">
              <a:avLst/>
            </a:prstGeom>
            <a:ln w="9525" cap="flat" cmpd="sng">
              <a:solidFill>
                <a:srgbClr val="FFFFFF"/>
              </a:solidFill>
              <a:prstDash val="solid"/>
              <a:headEnd type="none" w="med" len="med"/>
              <a:tailEnd type="none" w="med" len="med"/>
            </a:ln>
          </p:spPr>
        </p:sp>
      </p:grpSp>
      <p:sp>
        <p:nvSpPr>
          <p:cNvPr id="70661" name="Rectangle 2"/>
          <p:cNvSpPr>
            <a:spLocks noGrp="1"/>
          </p:cNvSpPr>
          <p:nvPr>
            <p:ph type="title"/>
          </p:nvPr>
        </p:nvSpPr>
        <p:spPr>
          <a:xfrm>
            <a:off x="395288" y="3208338"/>
            <a:ext cx="8496300" cy="1582737"/>
          </a:xfrm>
          <a:prstGeom prst="rect">
            <a:avLst/>
          </a:prstGeom>
          <a:noFill/>
          <a:ln w="9525">
            <a:noFill/>
          </a:ln>
        </p:spPr>
        <p:txBody>
          <a:bodyPr/>
          <a:p>
            <a:pPr marL="514350" indent="-514350" eaLnBrk="1" hangingPunct="1">
              <a:lnSpc>
                <a:spcPct val="13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sym typeface="Wingdings 2" panose="05020102010507070707" pitchFamily="18" charset="2"/>
              </a:rPr>
              <a:t>利用公式：</a:t>
            </a:r>
            <a:r>
              <a:rPr lang="en-US" altLang="zh-CN" sz="1800" b="1" dirty="0">
                <a:latin typeface="黑体" panose="02010609060101010101" pitchFamily="49" charset="-122"/>
                <a:ea typeface="黑体" panose="02010609060101010101" pitchFamily="49" charset="-122"/>
              </a:rPr>
              <a:t>AB</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AC = AB</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AC</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sym typeface="Wingdings 2" panose="05020102010507070707" pitchFamily="18" charset="2"/>
              </a:rPr>
              <a:t>  </a:t>
            </a:r>
            <a:r>
              <a:rPr lang="zh-CN" altLang="en-US" sz="1800" b="1" dirty="0">
                <a:latin typeface="黑体" panose="02010609060101010101" pitchFamily="49" charset="-122"/>
                <a:ea typeface="黑体" panose="02010609060101010101" pitchFamily="49" charset="-122"/>
                <a:sym typeface="Wingdings 2" panose="05020102010507070707" pitchFamily="18" charset="2"/>
              </a:rPr>
              <a:t>增加与项数</a:t>
            </a:r>
            <a:r>
              <a:rPr lang="zh-CN" altLang="en-US" sz="1800" dirty="0">
                <a:latin typeface="黑体" panose="02010609060101010101" pitchFamily="49" charset="-122"/>
                <a:ea typeface="黑体" panose="02010609060101010101" pitchFamily="49" charset="-122"/>
                <a:sym typeface="Wingdings 2" panose="05020102010507070707" pitchFamily="18" charset="2"/>
              </a:rPr>
              <a:t>。</a:t>
            </a:r>
            <a:br>
              <a:rPr lang="zh-CN" altLang="en-US" sz="1800" dirty="0">
                <a:latin typeface="黑体" panose="02010609060101010101" pitchFamily="49" charset="-122"/>
                <a:ea typeface="黑体" panose="02010609060101010101" pitchFamily="49" charset="-122"/>
                <a:sym typeface="Wingdings 2" panose="05020102010507070707" pitchFamily="18" charset="2"/>
              </a:rPr>
            </a:br>
            <a:r>
              <a:rPr lang="en-US" altLang="zh-CN" sz="1800" dirty="0">
                <a:latin typeface="黑体" panose="02010609060101010101" pitchFamily="49" charset="-122"/>
                <a:ea typeface="黑体" panose="02010609060101010101" pitchFamily="49" charset="-122"/>
                <a:sym typeface="Wingdings 2" panose="05020102010507070707" pitchFamily="18" charset="2"/>
              </a:rPr>
              <a:t> </a:t>
            </a:r>
            <a:r>
              <a:rPr lang="zh-CN" altLang="en-US" sz="1800" dirty="0">
                <a:latin typeface="黑体" panose="02010609060101010101" pitchFamily="49" charset="-122"/>
                <a:ea typeface="黑体" panose="02010609060101010101" pitchFamily="49" charset="-122"/>
                <a:sym typeface="Wingdings 2" panose="05020102010507070707" pitchFamily="18" charset="2"/>
              </a:rPr>
              <a:t>例</a:t>
            </a:r>
            <a:r>
              <a:rPr lang="en-US" altLang="zh-CN" sz="1800" dirty="0">
                <a:latin typeface="黑体" panose="02010609060101010101" pitchFamily="49" charset="-122"/>
                <a:ea typeface="黑体" panose="02010609060101010101" pitchFamily="49" charset="-122"/>
                <a:sym typeface="Wingdings 2" panose="05020102010507070707" pitchFamily="18" charset="2"/>
              </a:rPr>
              <a:t> </a:t>
            </a:r>
            <a:r>
              <a:rPr lang="en-US" altLang="zh-CN" sz="1800" dirty="0">
                <a:latin typeface="黑体" panose="02010609060101010101" pitchFamily="49" charset="-122"/>
                <a:ea typeface="黑体" panose="02010609060101010101" pitchFamily="49" charset="-122"/>
              </a:rPr>
              <a:t>F =  AB + BC + </a:t>
            </a:r>
            <a:r>
              <a:rPr lang="en-US" altLang="zh-CN" sz="1800" b="1" dirty="0">
                <a:solidFill>
                  <a:srgbClr val="FF0066"/>
                </a:solidFill>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rPr>
              <a:t> + </a:t>
            </a:r>
            <a:r>
              <a:rPr lang="en-US" altLang="zh-CN" sz="1800" b="1" dirty="0">
                <a:solidFill>
                  <a:srgbClr val="FF0066"/>
                </a:solidFill>
                <a:latin typeface="黑体" panose="02010609060101010101" pitchFamily="49" charset="-122"/>
                <a:ea typeface="黑体" panose="02010609060101010101" pitchFamily="49" charset="-122"/>
              </a:rPr>
              <a:t>AB</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  AB + BC + </a:t>
            </a:r>
            <a:r>
              <a:rPr lang="en-US" altLang="zh-CN" sz="1800" b="1" dirty="0">
                <a:solidFill>
                  <a:srgbClr val="FF0000"/>
                </a:solidFill>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rPr>
              <a:t> + </a:t>
            </a:r>
            <a:r>
              <a:rPr lang="en-US" altLang="zh-CN" sz="1800" b="1" dirty="0">
                <a:solidFill>
                  <a:srgbClr val="FF0000"/>
                </a:solidFill>
                <a:latin typeface="黑体" panose="02010609060101010101" pitchFamily="49" charset="-122"/>
                <a:ea typeface="黑体" panose="02010609060101010101" pitchFamily="49" charset="-122"/>
              </a:rPr>
              <a:t>AB</a:t>
            </a:r>
            <a:r>
              <a:rPr lang="en-US" altLang="zh-CN" sz="1800" dirty="0">
                <a:latin typeface="黑体" panose="02010609060101010101" pitchFamily="49" charset="-122"/>
                <a:ea typeface="黑体" panose="02010609060101010101" pitchFamily="49" charset="-122"/>
              </a:rPr>
              <a:t> + </a:t>
            </a:r>
            <a:r>
              <a:rPr lang="en-US" altLang="zh-CN" sz="1800" b="1" dirty="0">
                <a:solidFill>
                  <a:srgbClr val="0000FF"/>
                </a:solidFill>
                <a:latin typeface="黑体" panose="02010609060101010101" pitchFamily="49" charset="-122"/>
                <a:ea typeface="黑体" panose="02010609060101010101" pitchFamily="49" charset="-122"/>
              </a:rPr>
              <a:t>AC</a:t>
            </a:r>
            <a:br>
              <a:rPr lang="en-US" altLang="zh-CN" sz="1800" dirty="0">
                <a:solidFill>
                  <a:srgbClr val="FF0066"/>
                </a:solidFill>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  AB + BC + </a:t>
            </a:r>
            <a:r>
              <a:rPr lang="en-US" altLang="zh-CN" sz="1800" dirty="0">
                <a:solidFill>
                  <a:srgbClr val="0000FF"/>
                </a:solidFill>
                <a:latin typeface="黑体" panose="02010609060101010101" pitchFamily="49" charset="-122"/>
                <a:ea typeface="黑体" panose="02010609060101010101" pitchFamily="49" charset="-122"/>
              </a:rPr>
              <a:t>AC</a:t>
            </a:r>
            <a:endParaRPr lang="en-US" altLang="zh-CN" sz="1800" dirty="0">
              <a:solidFill>
                <a:srgbClr val="0000FF"/>
              </a:solidFill>
              <a:latin typeface="黑体" panose="02010609060101010101" pitchFamily="49" charset="-122"/>
              <a:ea typeface="黑体" panose="02010609060101010101" pitchFamily="49" charset="-122"/>
            </a:endParaRPr>
          </a:p>
        </p:txBody>
      </p:sp>
      <p:sp>
        <p:nvSpPr>
          <p:cNvPr id="70662" name="Line 11"/>
          <p:cNvSpPr/>
          <p:nvPr/>
        </p:nvSpPr>
        <p:spPr>
          <a:xfrm flipV="1">
            <a:off x="2692400" y="3663950"/>
            <a:ext cx="112713" cy="0"/>
          </a:xfrm>
          <a:prstGeom prst="line">
            <a:avLst/>
          </a:prstGeom>
          <a:ln w="19050" cap="flat" cmpd="sng">
            <a:solidFill>
              <a:schemeClr val="tx1"/>
            </a:solidFill>
            <a:prstDash val="solid"/>
            <a:headEnd type="none" w="med" len="med"/>
            <a:tailEnd type="none" w="med" len="med"/>
          </a:ln>
        </p:spPr>
      </p:sp>
      <p:sp>
        <p:nvSpPr>
          <p:cNvPr id="70663" name="Line 12"/>
          <p:cNvSpPr/>
          <p:nvPr/>
        </p:nvSpPr>
        <p:spPr>
          <a:xfrm>
            <a:off x="3732213" y="3676650"/>
            <a:ext cx="134937" cy="0"/>
          </a:xfrm>
          <a:prstGeom prst="line">
            <a:avLst/>
          </a:prstGeom>
          <a:ln w="19050" cap="flat" cmpd="sng">
            <a:solidFill>
              <a:schemeClr val="tx1"/>
            </a:solidFill>
            <a:prstDash val="solid"/>
            <a:headEnd type="none" w="med" len="med"/>
            <a:tailEnd type="none" w="med" len="med"/>
          </a:ln>
        </p:spPr>
      </p:sp>
      <p:sp>
        <p:nvSpPr>
          <p:cNvPr id="70664" name="Line 12"/>
          <p:cNvSpPr/>
          <p:nvPr/>
        </p:nvSpPr>
        <p:spPr>
          <a:xfrm>
            <a:off x="2124075" y="4019550"/>
            <a:ext cx="134938" cy="0"/>
          </a:xfrm>
          <a:prstGeom prst="line">
            <a:avLst/>
          </a:prstGeom>
          <a:ln w="19050" cap="flat" cmpd="sng">
            <a:solidFill>
              <a:schemeClr val="tx1"/>
            </a:solidFill>
            <a:prstDash val="solid"/>
            <a:headEnd type="none" w="med" len="med"/>
            <a:tailEnd type="none" w="med" len="med"/>
          </a:ln>
        </p:spPr>
      </p:sp>
      <p:sp>
        <p:nvSpPr>
          <p:cNvPr id="70665" name="Line 12"/>
          <p:cNvSpPr/>
          <p:nvPr/>
        </p:nvSpPr>
        <p:spPr>
          <a:xfrm>
            <a:off x="2124075" y="3676650"/>
            <a:ext cx="134938" cy="0"/>
          </a:xfrm>
          <a:prstGeom prst="line">
            <a:avLst/>
          </a:prstGeom>
          <a:ln w="19050" cap="flat" cmpd="sng">
            <a:solidFill>
              <a:schemeClr val="tx1"/>
            </a:solidFill>
            <a:prstDash val="solid"/>
            <a:headEnd type="none" w="med" len="med"/>
            <a:tailEnd type="none" w="med" len="med"/>
          </a:ln>
        </p:spPr>
      </p:sp>
      <p:sp>
        <p:nvSpPr>
          <p:cNvPr id="70666" name="Line 12"/>
          <p:cNvSpPr/>
          <p:nvPr/>
        </p:nvSpPr>
        <p:spPr>
          <a:xfrm>
            <a:off x="3148013" y="3670300"/>
            <a:ext cx="134937" cy="0"/>
          </a:xfrm>
          <a:prstGeom prst="line">
            <a:avLst/>
          </a:prstGeom>
          <a:ln w="19050" cap="flat" cmpd="sng">
            <a:solidFill>
              <a:schemeClr val="tx1"/>
            </a:solidFill>
            <a:prstDash val="solid"/>
            <a:headEnd type="none" w="med" len="med"/>
            <a:tailEnd type="none" w="med" len="med"/>
          </a:ln>
        </p:spPr>
      </p:sp>
      <p:sp>
        <p:nvSpPr>
          <p:cNvPr id="70667" name="Line 12"/>
          <p:cNvSpPr/>
          <p:nvPr/>
        </p:nvSpPr>
        <p:spPr>
          <a:xfrm>
            <a:off x="2708275" y="4029075"/>
            <a:ext cx="134938" cy="0"/>
          </a:xfrm>
          <a:prstGeom prst="line">
            <a:avLst/>
          </a:prstGeom>
          <a:ln w="19050" cap="flat" cmpd="sng">
            <a:solidFill>
              <a:schemeClr val="tx1"/>
            </a:solidFill>
            <a:prstDash val="solid"/>
            <a:headEnd type="none" w="med" len="med"/>
            <a:tailEnd type="none" w="med" len="med"/>
          </a:ln>
        </p:spPr>
      </p:sp>
      <p:sp>
        <p:nvSpPr>
          <p:cNvPr id="70668" name="Line 12"/>
          <p:cNvSpPr/>
          <p:nvPr/>
        </p:nvSpPr>
        <p:spPr>
          <a:xfrm>
            <a:off x="3141663" y="4019550"/>
            <a:ext cx="134937" cy="0"/>
          </a:xfrm>
          <a:prstGeom prst="line">
            <a:avLst/>
          </a:prstGeom>
          <a:ln w="19050" cap="flat" cmpd="sng">
            <a:solidFill>
              <a:schemeClr val="tx1"/>
            </a:solidFill>
            <a:prstDash val="solid"/>
            <a:headEnd type="none" w="med" len="med"/>
            <a:tailEnd type="none" w="med" len="med"/>
          </a:ln>
        </p:spPr>
      </p:sp>
      <p:sp>
        <p:nvSpPr>
          <p:cNvPr id="70669" name="Line 12"/>
          <p:cNvSpPr/>
          <p:nvPr/>
        </p:nvSpPr>
        <p:spPr>
          <a:xfrm>
            <a:off x="3725863" y="4019550"/>
            <a:ext cx="134937" cy="0"/>
          </a:xfrm>
          <a:prstGeom prst="line">
            <a:avLst/>
          </a:prstGeom>
          <a:ln w="19050" cap="flat" cmpd="sng">
            <a:solidFill>
              <a:schemeClr val="tx1"/>
            </a:solidFill>
            <a:prstDash val="solid"/>
            <a:headEnd type="none" w="med" len="med"/>
            <a:tailEnd type="none" w="med" len="med"/>
          </a:ln>
        </p:spPr>
      </p:sp>
      <p:sp>
        <p:nvSpPr>
          <p:cNvPr id="70670" name="Line 12"/>
          <p:cNvSpPr/>
          <p:nvPr/>
        </p:nvSpPr>
        <p:spPr>
          <a:xfrm>
            <a:off x="4314825" y="4029075"/>
            <a:ext cx="134938" cy="0"/>
          </a:xfrm>
          <a:prstGeom prst="line">
            <a:avLst/>
          </a:prstGeom>
          <a:ln w="19050" cap="flat" cmpd="sng">
            <a:solidFill>
              <a:schemeClr val="tx1"/>
            </a:solidFill>
            <a:prstDash val="solid"/>
            <a:headEnd type="none" w="med" len="med"/>
            <a:tailEnd type="none" w="med" len="med"/>
          </a:ln>
        </p:spPr>
      </p:sp>
      <p:sp>
        <p:nvSpPr>
          <p:cNvPr id="70671" name="Line 12"/>
          <p:cNvSpPr/>
          <p:nvPr/>
        </p:nvSpPr>
        <p:spPr>
          <a:xfrm>
            <a:off x="2124075" y="4371975"/>
            <a:ext cx="134938" cy="0"/>
          </a:xfrm>
          <a:prstGeom prst="line">
            <a:avLst/>
          </a:prstGeom>
          <a:ln w="19050" cap="flat" cmpd="sng">
            <a:solidFill>
              <a:schemeClr val="tx1"/>
            </a:solidFill>
            <a:prstDash val="solid"/>
            <a:headEnd type="none" w="med" len="med"/>
            <a:tailEnd type="none" w="med" len="med"/>
          </a:ln>
        </p:spPr>
      </p:sp>
      <p:sp>
        <p:nvSpPr>
          <p:cNvPr id="70672" name="Line 12"/>
          <p:cNvSpPr/>
          <p:nvPr/>
        </p:nvSpPr>
        <p:spPr>
          <a:xfrm>
            <a:off x="2132013" y="2451100"/>
            <a:ext cx="136525" cy="0"/>
          </a:xfrm>
          <a:prstGeom prst="line">
            <a:avLst/>
          </a:prstGeom>
          <a:ln w="19050" cap="flat" cmpd="sng">
            <a:solidFill>
              <a:schemeClr val="tx1"/>
            </a:solidFill>
            <a:prstDash val="solid"/>
            <a:headEnd type="none" w="med" len="med"/>
            <a:tailEnd type="none" w="med" len="med"/>
          </a:ln>
        </p:spPr>
      </p:sp>
      <p:sp>
        <p:nvSpPr>
          <p:cNvPr id="70673" name="Line 12"/>
          <p:cNvSpPr/>
          <p:nvPr/>
        </p:nvSpPr>
        <p:spPr>
          <a:xfrm>
            <a:off x="3165475" y="4397375"/>
            <a:ext cx="134938" cy="0"/>
          </a:xfrm>
          <a:prstGeom prst="line">
            <a:avLst/>
          </a:prstGeom>
          <a:ln w="19050" cap="flat" cmpd="sng">
            <a:solidFill>
              <a:schemeClr val="tx1"/>
            </a:solidFill>
            <a:prstDash val="solid"/>
            <a:headEnd type="none" w="med" len="med"/>
            <a:tailEnd type="none" w="med" len="med"/>
          </a:ln>
        </p:spPr>
      </p:sp>
      <p:sp>
        <p:nvSpPr>
          <p:cNvPr id="70674" name="Line 12"/>
          <p:cNvSpPr/>
          <p:nvPr/>
        </p:nvSpPr>
        <p:spPr>
          <a:xfrm>
            <a:off x="1692275" y="1808163"/>
            <a:ext cx="134938" cy="0"/>
          </a:xfrm>
          <a:prstGeom prst="line">
            <a:avLst/>
          </a:prstGeom>
          <a:ln w="19050" cap="flat" cmpd="sng">
            <a:solidFill>
              <a:schemeClr val="tx1"/>
            </a:solidFill>
            <a:prstDash val="solid"/>
            <a:headEnd type="none" w="med" len="med"/>
            <a:tailEnd type="none" w="med" len="med"/>
          </a:ln>
        </p:spPr>
      </p:sp>
      <p:sp>
        <p:nvSpPr>
          <p:cNvPr id="70675" name="Line 12"/>
          <p:cNvSpPr/>
          <p:nvPr/>
        </p:nvSpPr>
        <p:spPr>
          <a:xfrm>
            <a:off x="2276475" y="1811338"/>
            <a:ext cx="134938" cy="0"/>
          </a:xfrm>
          <a:prstGeom prst="line">
            <a:avLst/>
          </a:prstGeom>
          <a:ln w="19050" cap="flat" cmpd="sng">
            <a:solidFill>
              <a:schemeClr val="tx1"/>
            </a:solidFill>
            <a:prstDash val="solid"/>
            <a:headEnd type="none" w="med" len="med"/>
            <a:tailEnd type="none" w="med" len="med"/>
          </a:ln>
        </p:spPr>
      </p:sp>
      <p:sp>
        <p:nvSpPr>
          <p:cNvPr id="70676" name="Line 12"/>
          <p:cNvSpPr/>
          <p:nvPr/>
        </p:nvSpPr>
        <p:spPr>
          <a:xfrm>
            <a:off x="2700338" y="1808163"/>
            <a:ext cx="134937" cy="0"/>
          </a:xfrm>
          <a:prstGeom prst="line">
            <a:avLst/>
          </a:prstGeom>
          <a:ln w="19050" cap="flat" cmpd="sng">
            <a:solidFill>
              <a:schemeClr val="tx1"/>
            </a:solidFill>
            <a:prstDash val="solid"/>
            <a:headEnd type="none" w="med" len="med"/>
            <a:tailEnd type="none" w="med" len="med"/>
          </a:ln>
        </p:spPr>
      </p:sp>
      <p:sp>
        <p:nvSpPr>
          <p:cNvPr id="70677" name="Line 12"/>
          <p:cNvSpPr/>
          <p:nvPr/>
        </p:nvSpPr>
        <p:spPr>
          <a:xfrm>
            <a:off x="3292475" y="1812925"/>
            <a:ext cx="134938" cy="0"/>
          </a:xfrm>
          <a:prstGeom prst="line">
            <a:avLst/>
          </a:prstGeom>
          <a:ln w="19050" cap="flat" cmpd="sng">
            <a:solidFill>
              <a:schemeClr val="tx1"/>
            </a:solidFill>
            <a:prstDash val="solid"/>
            <a:headEnd type="none" w="med" len="med"/>
            <a:tailEnd type="none" w="med" len="med"/>
          </a:ln>
        </p:spPr>
      </p:sp>
      <p:sp>
        <p:nvSpPr>
          <p:cNvPr id="70678" name="Line 12"/>
          <p:cNvSpPr/>
          <p:nvPr/>
        </p:nvSpPr>
        <p:spPr>
          <a:xfrm>
            <a:off x="1681163" y="2138363"/>
            <a:ext cx="134937" cy="0"/>
          </a:xfrm>
          <a:prstGeom prst="line">
            <a:avLst/>
          </a:prstGeom>
          <a:ln w="19050" cap="flat" cmpd="sng">
            <a:solidFill>
              <a:schemeClr val="tx1"/>
            </a:solidFill>
            <a:prstDash val="solid"/>
            <a:headEnd type="none" w="med" len="med"/>
            <a:tailEnd type="none" w="med" len="med"/>
          </a:ln>
        </p:spPr>
      </p:sp>
      <p:sp>
        <p:nvSpPr>
          <p:cNvPr id="70679" name="Line 12"/>
          <p:cNvSpPr/>
          <p:nvPr/>
        </p:nvSpPr>
        <p:spPr>
          <a:xfrm>
            <a:off x="2708275" y="2136775"/>
            <a:ext cx="134938" cy="0"/>
          </a:xfrm>
          <a:prstGeom prst="line">
            <a:avLst/>
          </a:prstGeom>
          <a:ln w="19050" cap="flat" cmpd="sng">
            <a:solidFill>
              <a:schemeClr val="tx1"/>
            </a:solidFill>
            <a:prstDash val="solid"/>
            <a:headEnd type="none" w="med" len="med"/>
            <a:tailEnd type="none" w="med" len="med"/>
          </a:ln>
        </p:spPr>
      </p:sp>
      <p:sp>
        <p:nvSpPr>
          <p:cNvPr id="70680" name="Line 12"/>
          <p:cNvSpPr/>
          <p:nvPr/>
        </p:nvSpPr>
        <p:spPr>
          <a:xfrm>
            <a:off x="2260600" y="2133600"/>
            <a:ext cx="134938" cy="0"/>
          </a:xfrm>
          <a:prstGeom prst="line">
            <a:avLst/>
          </a:prstGeom>
          <a:ln w="19050" cap="flat" cmpd="sng">
            <a:solidFill>
              <a:schemeClr val="tx1"/>
            </a:solidFill>
            <a:prstDash val="solid"/>
            <a:headEnd type="none" w="med" len="med"/>
            <a:tailEnd type="none" w="med" len="med"/>
          </a:ln>
        </p:spPr>
      </p:sp>
      <p:sp>
        <p:nvSpPr>
          <p:cNvPr id="70681" name="Line 12"/>
          <p:cNvSpPr/>
          <p:nvPr/>
        </p:nvSpPr>
        <p:spPr>
          <a:xfrm>
            <a:off x="3300413" y="2154238"/>
            <a:ext cx="134937" cy="0"/>
          </a:xfrm>
          <a:prstGeom prst="line">
            <a:avLst/>
          </a:prstGeom>
          <a:ln w="19050" cap="flat" cmpd="sng">
            <a:solidFill>
              <a:schemeClr val="tx1"/>
            </a:solidFill>
            <a:prstDash val="solid"/>
            <a:headEnd type="none" w="med" len="med"/>
            <a:tailEnd type="none" w="med" len="med"/>
          </a:ln>
        </p:spPr>
      </p:sp>
      <p:sp>
        <p:nvSpPr>
          <p:cNvPr id="70682" name="Line 12"/>
          <p:cNvSpPr/>
          <p:nvPr/>
        </p:nvSpPr>
        <p:spPr>
          <a:xfrm>
            <a:off x="3881438" y="2144713"/>
            <a:ext cx="134937" cy="0"/>
          </a:xfrm>
          <a:prstGeom prst="line">
            <a:avLst/>
          </a:prstGeom>
          <a:ln w="19050" cap="flat" cmpd="sng">
            <a:solidFill>
              <a:schemeClr val="tx1"/>
            </a:solidFill>
            <a:prstDash val="solid"/>
            <a:headEnd type="none" w="med" len="med"/>
            <a:tailEnd type="none" w="med" len="med"/>
          </a:ln>
        </p:spPr>
      </p:sp>
      <p:sp>
        <p:nvSpPr>
          <p:cNvPr id="70683" name="Line 12"/>
          <p:cNvSpPr/>
          <p:nvPr/>
        </p:nvSpPr>
        <p:spPr>
          <a:xfrm>
            <a:off x="4437063" y="2146300"/>
            <a:ext cx="134937" cy="0"/>
          </a:xfrm>
          <a:prstGeom prst="line">
            <a:avLst/>
          </a:prstGeom>
          <a:ln w="19050" cap="flat" cmpd="sng">
            <a:solidFill>
              <a:schemeClr val="tx1"/>
            </a:solidFill>
            <a:prstDash val="solid"/>
            <a:headEnd type="none" w="med" len="med"/>
            <a:tailEnd type="none" w="med" len="med"/>
          </a:ln>
        </p:spPr>
      </p:sp>
      <p:sp>
        <p:nvSpPr>
          <p:cNvPr id="70684" name="Line 12"/>
          <p:cNvSpPr/>
          <p:nvPr/>
        </p:nvSpPr>
        <p:spPr>
          <a:xfrm>
            <a:off x="2714625" y="2794000"/>
            <a:ext cx="134938" cy="0"/>
          </a:xfrm>
          <a:prstGeom prst="line">
            <a:avLst/>
          </a:prstGeom>
          <a:ln w="19050" cap="flat" cmpd="sng">
            <a:solidFill>
              <a:schemeClr val="tx1"/>
            </a:solidFill>
            <a:prstDash val="solid"/>
            <a:headEnd type="none" w="med" len="med"/>
            <a:tailEnd type="none" w="med" len="med"/>
          </a:ln>
        </p:spPr>
      </p:sp>
      <p:sp>
        <p:nvSpPr>
          <p:cNvPr id="70685" name="Line 12"/>
          <p:cNvSpPr/>
          <p:nvPr/>
        </p:nvSpPr>
        <p:spPr>
          <a:xfrm>
            <a:off x="2266950" y="2794000"/>
            <a:ext cx="134938" cy="0"/>
          </a:xfrm>
          <a:prstGeom prst="line">
            <a:avLst/>
          </a:prstGeom>
          <a:ln w="19050" cap="flat" cmpd="sng">
            <a:solidFill>
              <a:schemeClr val="tx1"/>
            </a:solidFill>
            <a:prstDash val="solid"/>
            <a:headEnd type="none" w="med" len="med"/>
            <a:tailEnd type="none" w="med" len="med"/>
          </a:ln>
        </p:spPr>
      </p:sp>
      <p:sp>
        <p:nvSpPr>
          <p:cNvPr id="70686" name="Line 12"/>
          <p:cNvSpPr/>
          <p:nvPr/>
        </p:nvSpPr>
        <p:spPr>
          <a:xfrm>
            <a:off x="1700213" y="2789238"/>
            <a:ext cx="134937" cy="0"/>
          </a:xfrm>
          <a:prstGeom prst="line">
            <a:avLst/>
          </a:prstGeom>
          <a:ln w="19050" cap="flat" cmpd="sng">
            <a:solidFill>
              <a:schemeClr val="tx1"/>
            </a:solidFill>
            <a:prstDash val="solid"/>
            <a:headEnd type="none" w="med" len="med"/>
            <a:tailEnd type="none" w="med" len="med"/>
          </a:ln>
        </p:spPr>
      </p:sp>
      <p:sp>
        <p:nvSpPr>
          <p:cNvPr id="70687" name="Line 12"/>
          <p:cNvSpPr/>
          <p:nvPr/>
        </p:nvSpPr>
        <p:spPr>
          <a:xfrm>
            <a:off x="1789113" y="2447925"/>
            <a:ext cx="134937" cy="0"/>
          </a:xfrm>
          <a:prstGeom prst="line">
            <a:avLst/>
          </a:prstGeom>
          <a:ln w="19050" cap="flat" cmpd="sng">
            <a:solidFill>
              <a:schemeClr val="tx1"/>
            </a:solidFill>
            <a:prstDash val="solid"/>
            <a:headEnd type="none" w="med" len="med"/>
            <a:tailEnd type="none" w="med" len="med"/>
          </a:ln>
        </p:spPr>
      </p:sp>
      <p:sp>
        <p:nvSpPr>
          <p:cNvPr id="70688" name="Line 12"/>
          <p:cNvSpPr/>
          <p:nvPr/>
        </p:nvSpPr>
        <p:spPr>
          <a:xfrm>
            <a:off x="3068638" y="2449513"/>
            <a:ext cx="134937" cy="0"/>
          </a:xfrm>
          <a:prstGeom prst="line">
            <a:avLst/>
          </a:prstGeom>
          <a:ln w="19050" cap="flat" cmpd="sng">
            <a:solidFill>
              <a:schemeClr val="tx1"/>
            </a:solidFill>
            <a:prstDash val="solid"/>
            <a:headEnd type="none" w="med" len="med"/>
            <a:tailEnd type="none" w="med" len="med"/>
          </a:ln>
        </p:spPr>
      </p:sp>
      <p:sp>
        <p:nvSpPr>
          <p:cNvPr id="70689" name="Line 12"/>
          <p:cNvSpPr/>
          <p:nvPr/>
        </p:nvSpPr>
        <p:spPr>
          <a:xfrm>
            <a:off x="3300413" y="2451100"/>
            <a:ext cx="134937" cy="0"/>
          </a:xfrm>
          <a:prstGeom prst="line">
            <a:avLst/>
          </a:prstGeom>
          <a:ln w="19050" cap="flat" cmpd="sng">
            <a:solidFill>
              <a:schemeClr val="tx1"/>
            </a:solidFill>
            <a:prstDash val="solid"/>
            <a:headEnd type="none" w="med" len="med"/>
            <a:tailEnd type="none" w="med" len="med"/>
          </a:ln>
        </p:spPr>
      </p:sp>
      <p:sp>
        <p:nvSpPr>
          <p:cNvPr id="70690" name="Line 12"/>
          <p:cNvSpPr/>
          <p:nvPr/>
        </p:nvSpPr>
        <p:spPr>
          <a:xfrm>
            <a:off x="4643438" y="2451100"/>
            <a:ext cx="134937" cy="0"/>
          </a:xfrm>
          <a:prstGeom prst="line">
            <a:avLst/>
          </a:prstGeom>
          <a:ln w="19050" cap="flat" cmpd="sng">
            <a:solidFill>
              <a:schemeClr val="tx1"/>
            </a:solidFill>
            <a:prstDash val="solid"/>
            <a:headEnd type="none" w="med" len="med"/>
            <a:tailEnd type="none" w="med" len="med"/>
          </a:ln>
        </p:spPr>
      </p:sp>
      <p:sp>
        <p:nvSpPr>
          <p:cNvPr id="70691" name="Line 12"/>
          <p:cNvSpPr/>
          <p:nvPr/>
        </p:nvSpPr>
        <p:spPr>
          <a:xfrm>
            <a:off x="4327525" y="2451100"/>
            <a:ext cx="134938" cy="0"/>
          </a:xfrm>
          <a:prstGeom prst="line">
            <a:avLst/>
          </a:prstGeom>
          <a:ln w="19050" cap="flat" cmpd="sng">
            <a:solidFill>
              <a:schemeClr val="tx1"/>
            </a:solidFill>
            <a:prstDash val="solid"/>
            <a:headEnd type="none" w="med" len="med"/>
            <a:tailEnd type="none" w="med" len="med"/>
          </a:ln>
        </p:spPr>
      </p:sp>
      <p:sp>
        <p:nvSpPr>
          <p:cNvPr id="70692" name="Line 12"/>
          <p:cNvSpPr/>
          <p:nvPr/>
        </p:nvSpPr>
        <p:spPr>
          <a:xfrm>
            <a:off x="3540125" y="2466975"/>
            <a:ext cx="134938" cy="0"/>
          </a:xfrm>
          <a:prstGeom prst="line">
            <a:avLst/>
          </a:prstGeom>
          <a:ln w="19050" cap="flat" cmpd="sng">
            <a:solidFill>
              <a:schemeClr val="tx1"/>
            </a:solidFill>
            <a:prstDash val="solid"/>
            <a:headEnd type="none" w="med" len="med"/>
            <a:tailEnd type="none" w="med" len="med"/>
          </a:ln>
        </p:spPr>
      </p:sp>
      <p:sp>
        <p:nvSpPr>
          <p:cNvPr id="70693" name="Line 12"/>
          <p:cNvSpPr/>
          <p:nvPr/>
        </p:nvSpPr>
        <p:spPr>
          <a:xfrm>
            <a:off x="4149725" y="2451100"/>
            <a:ext cx="134938" cy="0"/>
          </a:xfrm>
          <a:prstGeom prst="line">
            <a:avLst/>
          </a:prstGeom>
          <a:ln w="19050" cap="flat" cmpd="sng">
            <a:solidFill>
              <a:schemeClr val="tx1"/>
            </a:solidFill>
            <a:prstDash val="solid"/>
            <a:headEnd type="none" w="med" len="med"/>
            <a:tailEnd type="none" w="med" len="med"/>
          </a:ln>
        </p:spPr>
      </p:sp>
      <p:sp>
        <p:nvSpPr>
          <p:cNvPr id="70694" name="Line 12"/>
          <p:cNvSpPr/>
          <p:nvPr/>
        </p:nvSpPr>
        <p:spPr>
          <a:xfrm>
            <a:off x="2608263" y="3330575"/>
            <a:ext cx="134937" cy="0"/>
          </a:xfrm>
          <a:prstGeom prst="line">
            <a:avLst/>
          </a:prstGeom>
          <a:ln w="12700" cap="flat" cmpd="sng">
            <a:solidFill>
              <a:schemeClr val="tx1"/>
            </a:solidFill>
            <a:prstDash val="solid"/>
            <a:headEnd type="none" w="med" len="med"/>
            <a:tailEnd type="none" w="med" len="med"/>
          </a:ln>
        </p:spPr>
      </p:sp>
      <p:sp>
        <p:nvSpPr>
          <p:cNvPr id="70695" name="Line 12"/>
          <p:cNvSpPr/>
          <p:nvPr/>
        </p:nvSpPr>
        <p:spPr>
          <a:xfrm>
            <a:off x="3644900" y="3330575"/>
            <a:ext cx="134938" cy="0"/>
          </a:xfrm>
          <a:prstGeom prst="line">
            <a:avLst/>
          </a:prstGeom>
          <a:ln w="12700" cap="flat" cmpd="sng">
            <a:solidFill>
              <a:schemeClr val="tx1"/>
            </a:solidFill>
            <a:prstDash val="solid"/>
            <a:headEnd type="none" w="med" len="med"/>
            <a:tailEnd type="none" w="med" len="med"/>
          </a:ln>
        </p:spPr>
      </p:sp>
      <p:sp>
        <p:nvSpPr>
          <p:cNvPr id="70696" name="Line 12"/>
          <p:cNvSpPr/>
          <p:nvPr/>
        </p:nvSpPr>
        <p:spPr>
          <a:xfrm>
            <a:off x="2698750" y="4400550"/>
            <a:ext cx="134938" cy="0"/>
          </a:xfrm>
          <a:prstGeom prst="line">
            <a:avLst/>
          </a:prstGeom>
          <a:ln w="19050" cap="flat" cmpd="sng">
            <a:solidFill>
              <a:schemeClr val="tx1"/>
            </a:solidFill>
            <a:prstDash val="solid"/>
            <a:headEnd type="none" w="med" len="med"/>
            <a:tailEnd type="none" w="med" len="med"/>
          </a:ln>
        </p:spPr>
      </p:sp>
      <p:sp>
        <p:nvSpPr>
          <p:cNvPr id="2" name="矩形 1"/>
          <p:cNvSpPr/>
          <p:nvPr/>
        </p:nvSpPr>
        <p:spPr>
          <a:xfrm>
            <a:off x="1284605" y="2071370"/>
            <a:ext cx="4778375" cy="98869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3" name="矩形 2"/>
          <p:cNvSpPr/>
          <p:nvPr/>
        </p:nvSpPr>
        <p:spPr>
          <a:xfrm>
            <a:off x="1339850" y="3992245"/>
            <a:ext cx="4778375" cy="98869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 decel="100000"/>
                                        <p:tgtEl>
                                          <p:spTgt spid="2"/>
                                        </p:tgtEl>
                                        <p:attrNameLst>
                                          <p:attrName>ppt_y</p:attrName>
                                        </p:attrNameLst>
                                      </p:cBhvr>
                                      <p:tavLst>
                                        <p:tav tm="0">
                                          <p:val>
                                            <p:strVal val="ppt_y"/>
                                          </p:val>
                                        </p:tav>
                                        <p:tav tm="100000">
                                          <p:val>
                                            <p:strVal val="ppt_y-.03"/>
                                          </p:val>
                                        </p:tav>
                                      </p:tavLst>
                                    </p:anim>
                                    <p:anim calcmode="lin" valueType="num">
                                      <p:cBhvr>
                                        <p:cTn id="9" dur="900" accel="100000">
                                          <p:stCondLst>
                                            <p:cond delay="100"/>
                                          </p:stCondLst>
                                        </p:cTn>
                                        <p:tgtEl>
                                          <p:spTgt spid="2"/>
                                        </p:tgtEl>
                                        <p:attrNameLst>
                                          <p:attrName>ppt_y</p:attrName>
                                        </p:attrNameLst>
                                      </p:cBhvr>
                                      <p:tavLst>
                                        <p:tav tm="0">
                                          <p:val>
                                            <p:strVal val="ppt_y"/>
                                          </p:val>
                                        </p:tav>
                                        <p:tav tm="100000">
                                          <p:val>
                                            <p:strVal val="ppt_y+1"/>
                                          </p:val>
                                        </p:tav>
                                      </p:tavLst>
                                    </p:anim>
                                    <p:set>
                                      <p:cBhvr>
                                        <p:cTn id="10" dur="1" fill="hold">
                                          <p:stCondLst>
                                            <p:cond delay="999"/>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0694"/>
                                        </p:tgtEl>
                                        <p:attrNameLst>
                                          <p:attrName>style.visibility</p:attrName>
                                        </p:attrNameLst>
                                      </p:cBhvr>
                                      <p:to>
                                        <p:strVal val="visible"/>
                                      </p:to>
                                    </p:set>
                                    <p:animEffect transition="in" filter="fade">
                                      <p:cBhvr>
                                        <p:cTn id="15" dur="500"/>
                                        <p:tgtEl>
                                          <p:spTgt spid="70694"/>
                                        </p:tgtEl>
                                      </p:cBhvr>
                                    </p:animEffect>
                                  </p:childTnLst>
                                </p:cTn>
                              </p:par>
                              <p:par>
                                <p:cTn id="16" presetID="10" presetClass="entr" presetSubtype="0" fill="hold" nodeType="withEffect">
                                  <p:stCondLst>
                                    <p:cond delay="0"/>
                                  </p:stCondLst>
                                  <p:childTnLst>
                                    <p:set>
                                      <p:cBhvr>
                                        <p:cTn id="17" dur="1" fill="hold">
                                          <p:stCondLst>
                                            <p:cond delay="0"/>
                                          </p:stCondLst>
                                        </p:cTn>
                                        <p:tgtEl>
                                          <p:spTgt spid="70695"/>
                                        </p:tgtEl>
                                        <p:attrNameLst>
                                          <p:attrName>style.visibility</p:attrName>
                                        </p:attrNameLst>
                                      </p:cBhvr>
                                      <p:to>
                                        <p:strVal val="visible"/>
                                      </p:to>
                                    </p:set>
                                    <p:animEffect transition="in" filter="fade">
                                      <p:cBhvr>
                                        <p:cTn id="18" dur="500"/>
                                        <p:tgtEl>
                                          <p:spTgt spid="70695"/>
                                        </p:tgtEl>
                                      </p:cBhvr>
                                    </p:animEffect>
                                  </p:childTnLst>
                                </p:cTn>
                              </p:par>
                              <p:par>
                                <p:cTn id="19" presetID="10" presetClass="entr" presetSubtype="0" fill="hold" nodeType="withEffect">
                                  <p:stCondLst>
                                    <p:cond delay="0"/>
                                  </p:stCondLst>
                                  <p:childTnLst>
                                    <p:set>
                                      <p:cBhvr>
                                        <p:cTn id="20" dur="1" fill="hold">
                                          <p:stCondLst>
                                            <p:cond delay="0"/>
                                          </p:stCondLst>
                                        </p:cTn>
                                        <p:tgtEl>
                                          <p:spTgt spid="70663"/>
                                        </p:tgtEl>
                                        <p:attrNameLst>
                                          <p:attrName>style.visibility</p:attrName>
                                        </p:attrNameLst>
                                      </p:cBhvr>
                                      <p:to>
                                        <p:strVal val="visible"/>
                                      </p:to>
                                    </p:set>
                                    <p:animEffect transition="in" filter="fade">
                                      <p:cBhvr>
                                        <p:cTn id="21" dur="500"/>
                                        <p:tgtEl>
                                          <p:spTgt spid="70663"/>
                                        </p:tgtEl>
                                      </p:cBhvr>
                                    </p:animEffect>
                                  </p:childTnLst>
                                </p:cTn>
                              </p:par>
                              <p:par>
                                <p:cTn id="22" presetID="10" presetClass="entr" presetSubtype="0" fill="hold" nodeType="withEffect">
                                  <p:stCondLst>
                                    <p:cond delay="0"/>
                                  </p:stCondLst>
                                  <p:childTnLst>
                                    <p:set>
                                      <p:cBhvr>
                                        <p:cTn id="23" dur="1" fill="hold">
                                          <p:stCondLst>
                                            <p:cond delay="0"/>
                                          </p:stCondLst>
                                        </p:cTn>
                                        <p:tgtEl>
                                          <p:spTgt spid="70666"/>
                                        </p:tgtEl>
                                        <p:attrNameLst>
                                          <p:attrName>style.visibility</p:attrName>
                                        </p:attrNameLst>
                                      </p:cBhvr>
                                      <p:to>
                                        <p:strVal val="visible"/>
                                      </p:to>
                                    </p:set>
                                    <p:animEffect transition="in" filter="fade">
                                      <p:cBhvr>
                                        <p:cTn id="24" dur="500"/>
                                        <p:tgtEl>
                                          <p:spTgt spid="70666"/>
                                        </p:tgtEl>
                                      </p:cBhvr>
                                    </p:animEffect>
                                  </p:childTnLst>
                                </p:cTn>
                              </p:par>
                              <p:par>
                                <p:cTn id="25" presetID="10" presetClass="entr" presetSubtype="0" fill="hold" nodeType="withEffect">
                                  <p:stCondLst>
                                    <p:cond delay="0"/>
                                  </p:stCondLst>
                                  <p:childTnLst>
                                    <p:set>
                                      <p:cBhvr>
                                        <p:cTn id="26" dur="1" fill="hold">
                                          <p:stCondLst>
                                            <p:cond delay="0"/>
                                          </p:stCondLst>
                                        </p:cTn>
                                        <p:tgtEl>
                                          <p:spTgt spid="70662"/>
                                        </p:tgtEl>
                                        <p:attrNameLst>
                                          <p:attrName>style.visibility</p:attrName>
                                        </p:attrNameLst>
                                      </p:cBhvr>
                                      <p:to>
                                        <p:strVal val="visible"/>
                                      </p:to>
                                    </p:set>
                                    <p:animEffect transition="in" filter="fade">
                                      <p:cBhvr>
                                        <p:cTn id="27" dur="500"/>
                                        <p:tgtEl>
                                          <p:spTgt spid="70662"/>
                                        </p:tgtEl>
                                      </p:cBhvr>
                                    </p:animEffect>
                                  </p:childTnLst>
                                </p:cTn>
                              </p:par>
                              <p:par>
                                <p:cTn id="28" presetID="10" presetClass="entr" presetSubtype="0" fill="hold" nodeType="withEffect">
                                  <p:stCondLst>
                                    <p:cond delay="0"/>
                                  </p:stCondLst>
                                  <p:childTnLst>
                                    <p:set>
                                      <p:cBhvr>
                                        <p:cTn id="29" dur="1" fill="hold">
                                          <p:stCondLst>
                                            <p:cond delay="0"/>
                                          </p:stCondLst>
                                        </p:cTn>
                                        <p:tgtEl>
                                          <p:spTgt spid="70665"/>
                                        </p:tgtEl>
                                        <p:attrNameLst>
                                          <p:attrName>style.visibility</p:attrName>
                                        </p:attrNameLst>
                                      </p:cBhvr>
                                      <p:to>
                                        <p:strVal val="visible"/>
                                      </p:to>
                                    </p:set>
                                    <p:animEffect transition="in" filter="fade">
                                      <p:cBhvr>
                                        <p:cTn id="30" dur="500"/>
                                        <p:tgtEl>
                                          <p:spTgt spid="70665"/>
                                        </p:tgtEl>
                                      </p:cBhvr>
                                    </p:animEffect>
                                  </p:childTnLst>
                                </p:cTn>
                              </p:par>
                              <p:par>
                                <p:cTn id="31" presetID="10" presetClass="entr" presetSubtype="0" fill="hold" nodeType="withEffect">
                                  <p:stCondLst>
                                    <p:cond delay="0"/>
                                  </p:stCondLst>
                                  <p:childTnLst>
                                    <p:set>
                                      <p:cBhvr>
                                        <p:cTn id="32" dur="1" fill="hold">
                                          <p:stCondLst>
                                            <p:cond delay="0"/>
                                          </p:stCondLst>
                                        </p:cTn>
                                        <p:tgtEl>
                                          <p:spTgt spid="70664"/>
                                        </p:tgtEl>
                                        <p:attrNameLst>
                                          <p:attrName>style.visibility</p:attrName>
                                        </p:attrNameLst>
                                      </p:cBhvr>
                                      <p:to>
                                        <p:strVal val="visible"/>
                                      </p:to>
                                    </p:set>
                                    <p:animEffect transition="in" filter="fade">
                                      <p:cBhvr>
                                        <p:cTn id="33" dur="500"/>
                                        <p:tgtEl>
                                          <p:spTgt spid="70664"/>
                                        </p:tgtEl>
                                      </p:cBhvr>
                                    </p:animEffect>
                                  </p:childTnLst>
                                </p:cTn>
                              </p:par>
                              <p:par>
                                <p:cTn id="34" presetID="10" presetClass="entr" presetSubtype="0" fill="hold" nodeType="withEffect">
                                  <p:stCondLst>
                                    <p:cond delay="0"/>
                                  </p:stCondLst>
                                  <p:childTnLst>
                                    <p:set>
                                      <p:cBhvr>
                                        <p:cTn id="35" dur="1" fill="hold">
                                          <p:stCondLst>
                                            <p:cond delay="0"/>
                                          </p:stCondLst>
                                        </p:cTn>
                                        <p:tgtEl>
                                          <p:spTgt spid="70671"/>
                                        </p:tgtEl>
                                        <p:attrNameLst>
                                          <p:attrName>style.visibility</p:attrName>
                                        </p:attrNameLst>
                                      </p:cBhvr>
                                      <p:to>
                                        <p:strVal val="visible"/>
                                      </p:to>
                                    </p:set>
                                    <p:animEffect transition="in" filter="fade">
                                      <p:cBhvr>
                                        <p:cTn id="36" dur="500"/>
                                        <p:tgtEl>
                                          <p:spTgt spid="70671"/>
                                        </p:tgtEl>
                                      </p:cBhvr>
                                    </p:animEffect>
                                  </p:childTnLst>
                                </p:cTn>
                              </p:par>
                              <p:par>
                                <p:cTn id="37" presetID="10" presetClass="entr" presetSubtype="0" fill="hold" nodeType="withEffect">
                                  <p:stCondLst>
                                    <p:cond delay="0"/>
                                  </p:stCondLst>
                                  <p:childTnLst>
                                    <p:set>
                                      <p:cBhvr>
                                        <p:cTn id="38" dur="1" fill="hold">
                                          <p:stCondLst>
                                            <p:cond delay="0"/>
                                          </p:stCondLst>
                                        </p:cTn>
                                        <p:tgtEl>
                                          <p:spTgt spid="70696"/>
                                        </p:tgtEl>
                                        <p:attrNameLst>
                                          <p:attrName>style.visibility</p:attrName>
                                        </p:attrNameLst>
                                      </p:cBhvr>
                                      <p:to>
                                        <p:strVal val="visible"/>
                                      </p:to>
                                    </p:set>
                                    <p:animEffect transition="in" filter="fade">
                                      <p:cBhvr>
                                        <p:cTn id="39" dur="500"/>
                                        <p:tgtEl>
                                          <p:spTgt spid="70696"/>
                                        </p:tgtEl>
                                      </p:cBhvr>
                                    </p:animEffect>
                                  </p:childTnLst>
                                </p:cTn>
                              </p:par>
                              <p:par>
                                <p:cTn id="40" presetID="10" presetClass="entr" presetSubtype="0" fill="hold" nodeType="withEffect">
                                  <p:stCondLst>
                                    <p:cond delay="0"/>
                                  </p:stCondLst>
                                  <p:childTnLst>
                                    <p:set>
                                      <p:cBhvr>
                                        <p:cTn id="41" dur="1" fill="hold">
                                          <p:stCondLst>
                                            <p:cond delay="0"/>
                                          </p:stCondLst>
                                        </p:cTn>
                                        <p:tgtEl>
                                          <p:spTgt spid="70667"/>
                                        </p:tgtEl>
                                        <p:attrNameLst>
                                          <p:attrName>style.visibility</p:attrName>
                                        </p:attrNameLst>
                                      </p:cBhvr>
                                      <p:to>
                                        <p:strVal val="visible"/>
                                      </p:to>
                                    </p:set>
                                    <p:animEffect transition="in" filter="fade">
                                      <p:cBhvr>
                                        <p:cTn id="42" dur="500"/>
                                        <p:tgtEl>
                                          <p:spTgt spid="70667"/>
                                        </p:tgtEl>
                                      </p:cBhvr>
                                    </p:animEffect>
                                  </p:childTnLst>
                                </p:cTn>
                              </p:par>
                              <p:par>
                                <p:cTn id="43" presetID="10" presetClass="entr" presetSubtype="0" fill="hold" nodeType="withEffect">
                                  <p:stCondLst>
                                    <p:cond delay="0"/>
                                  </p:stCondLst>
                                  <p:childTnLst>
                                    <p:set>
                                      <p:cBhvr>
                                        <p:cTn id="44" dur="1" fill="hold">
                                          <p:stCondLst>
                                            <p:cond delay="0"/>
                                          </p:stCondLst>
                                        </p:cTn>
                                        <p:tgtEl>
                                          <p:spTgt spid="70668"/>
                                        </p:tgtEl>
                                        <p:attrNameLst>
                                          <p:attrName>style.visibility</p:attrName>
                                        </p:attrNameLst>
                                      </p:cBhvr>
                                      <p:to>
                                        <p:strVal val="visible"/>
                                      </p:to>
                                    </p:set>
                                    <p:animEffect transition="in" filter="fade">
                                      <p:cBhvr>
                                        <p:cTn id="45" dur="500"/>
                                        <p:tgtEl>
                                          <p:spTgt spid="70668"/>
                                        </p:tgtEl>
                                      </p:cBhvr>
                                    </p:animEffect>
                                  </p:childTnLst>
                                </p:cTn>
                              </p:par>
                              <p:par>
                                <p:cTn id="46" presetID="10" presetClass="entr" presetSubtype="0" fill="hold" nodeType="withEffect">
                                  <p:stCondLst>
                                    <p:cond delay="0"/>
                                  </p:stCondLst>
                                  <p:childTnLst>
                                    <p:set>
                                      <p:cBhvr>
                                        <p:cTn id="47" dur="1" fill="hold">
                                          <p:stCondLst>
                                            <p:cond delay="0"/>
                                          </p:stCondLst>
                                        </p:cTn>
                                        <p:tgtEl>
                                          <p:spTgt spid="70669"/>
                                        </p:tgtEl>
                                        <p:attrNameLst>
                                          <p:attrName>style.visibility</p:attrName>
                                        </p:attrNameLst>
                                      </p:cBhvr>
                                      <p:to>
                                        <p:strVal val="visible"/>
                                      </p:to>
                                    </p:set>
                                    <p:animEffect transition="in" filter="fade">
                                      <p:cBhvr>
                                        <p:cTn id="48" dur="500"/>
                                        <p:tgtEl>
                                          <p:spTgt spid="70669"/>
                                        </p:tgtEl>
                                      </p:cBhvr>
                                    </p:animEffect>
                                  </p:childTnLst>
                                </p:cTn>
                              </p:par>
                              <p:par>
                                <p:cTn id="49" presetID="10" presetClass="entr" presetSubtype="0" fill="hold" nodeType="withEffect">
                                  <p:stCondLst>
                                    <p:cond delay="0"/>
                                  </p:stCondLst>
                                  <p:childTnLst>
                                    <p:set>
                                      <p:cBhvr>
                                        <p:cTn id="50" dur="1" fill="hold">
                                          <p:stCondLst>
                                            <p:cond delay="0"/>
                                          </p:stCondLst>
                                        </p:cTn>
                                        <p:tgtEl>
                                          <p:spTgt spid="70670"/>
                                        </p:tgtEl>
                                        <p:attrNameLst>
                                          <p:attrName>style.visibility</p:attrName>
                                        </p:attrNameLst>
                                      </p:cBhvr>
                                      <p:to>
                                        <p:strVal val="visible"/>
                                      </p:to>
                                    </p:set>
                                    <p:animEffect transition="in" filter="fade">
                                      <p:cBhvr>
                                        <p:cTn id="51" dur="500"/>
                                        <p:tgtEl>
                                          <p:spTgt spid="70670"/>
                                        </p:tgtEl>
                                      </p:cBhvr>
                                    </p:animEffect>
                                  </p:childTnLst>
                                </p:cTn>
                              </p:par>
                              <p:par>
                                <p:cTn id="52" presetID="10" presetClass="entr" presetSubtype="0" fill="hold" nodeType="withEffect">
                                  <p:stCondLst>
                                    <p:cond delay="0"/>
                                  </p:stCondLst>
                                  <p:childTnLst>
                                    <p:set>
                                      <p:cBhvr>
                                        <p:cTn id="53" dur="1" fill="hold">
                                          <p:stCondLst>
                                            <p:cond delay="0"/>
                                          </p:stCondLst>
                                        </p:cTn>
                                        <p:tgtEl>
                                          <p:spTgt spid="70673"/>
                                        </p:tgtEl>
                                        <p:attrNameLst>
                                          <p:attrName>style.visibility</p:attrName>
                                        </p:attrNameLst>
                                      </p:cBhvr>
                                      <p:to>
                                        <p:strVal val="visible"/>
                                      </p:to>
                                    </p:set>
                                    <p:animEffect transition="in" filter="fade">
                                      <p:cBhvr>
                                        <p:cTn id="54" dur="500"/>
                                        <p:tgtEl>
                                          <p:spTgt spid="7067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70661"/>
                                        </p:tgtEl>
                                        <p:attrNameLst>
                                          <p:attrName>style.visibility</p:attrName>
                                        </p:attrNameLst>
                                      </p:cBhvr>
                                      <p:to>
                                        <p:strVal val="visible"/>
                                      </p:to>
                                    </p:set>
                                    <p:animEffect transition="in" filter="fade">
                                      <p:cBhvr>
                                        <p:cTn id="57" dur="500"/>
                                        <p:tgtEl>
                                          <p:spTgt spid="70661"/>
                                        </p:tgtEl>
                                      </p:cBhvr>
                                    </p:animEffect>
                                  </p:childTnLst>
                                </p:cTn>
                              </p:par>
                            </p:childTnLst>
                          </p:cTn>
                        </p:par>
                      </p:childTnLst>
                    </p:cTn>
                  </p:par>
                  <p:par>
                    <p:cTn id="58" fill="hold">
                      <p:stCondLst>
                        <p:cond delay="indefinite"/>
                      </p:stCondLst>
                      <p:childTnLst>
                        <p:par>
                          <p:cTn id="59" fill="hold">
                            <p:stCondLst>
                              <p:cond delay="0"/>
                            </p:stCondLst>
                            <p:childTnLst>
                              <p:par>
                                <p:cTn id="60" presetID="37" presetClass="exit" presetSubtype="0" fill="hold" grpId="0" nodeType="clickEffect">
                                  <p:stCondLst>
                                    <p:cond delay="0"/>
                                  </p:stCondLst>
                                  <p:childTnLst>
                                    <p:animEffect transition="out" filter="fade">
                                      <p:cBhvr>
                                        <p:cTn id="61" dur="1000"/>
                                        <p:tgtEl>
                                          <p:spTgt spid="3"/>
                                        </p:tgtEl>
                                      </p:cBhvr>
                                    </p:animEffect>
                                    <p:anim calcmode="lin" valueType="num">
                                      <p:cBhvr>
                                        <p:cTn id="62" dur="1000"/>
                                        <p:tgtEl>
                                          <p:spTgt spid="3"/>
                                        </p:tgtEl>
                                        <p:attrNameLst>
                                          <p:attrName>ppt_x</p:attrName>
                                        </p:attrNameLst>
                                      </p:cBhvr>
                                      <p:tavLst>
                                        <p:tav tm="0">
                                          <p:val>
                                            <p:strVal val="ppt_x"/>
                                          </p:val>
                                        </p:tav>
                                        <p:tav tm="100000">
                                          <p:val>
                                            <p:strVal val="ppt_x"/>
                                          </p:val>
                                        </p:tav>
                                      </p:tavLst>
                                    </p:anim>
                                    <p:anim calcmode="lin" valueType="num">
                                      <p:cBhvr>
                                        <p:cTn id="63" dur="100" decel="100000"/>
                                        <p:tgtEl>
                                          <p:spTgt spid="3"/>
                                        </p:tgtEl>
                                        <p:attrNameLst>
                                          <p:attrName>ppt_y</p:attrName>
                                        </p:attrNameLst>
                                      </p:cBhvr>
                                      <p:tavLst>
                                        <p:tav tm="0">
                                          <p:val>
                                            <p:strVal val="ppt_y"/>
                                          </p:val>
                                        </p:tav>
                                        <p:tav tm="100000">
                                          <p:val>
                                            <p:strVal val="ppt_y-.03"/>
                                          </p:val>
                                        </p:tav>
                                      </p:tavLst>
                                    </p:anim>
                                    <p:anim calcmode="lin" valueType="num">
                                      <p:cBhvr>
                                        <p:cTn id="64" dur="900" accel="100000">
                                          <p:stCondLst>
                                            <p:cond delay="100"/>
                                          </p:stCondLst>
                                        </p:cTn>
                                        <p:tgtEl>
                                          <p:spTgt spid="3"/>
                                        </p:tgtEl>
                                        <p:attrNameLst>
                                          <p:attrName>ppt_y</p:attrName>
                                        </p:attrNameLst>
                                      </p:cBhvr>
                                      <p:tavLst>
                                        <p:tav tm="0">
                                          <p:val>
                                            <p:strVal val="ppt_y"/>
                                          </p:val>
                                        </p:tav>
                                        <p:tav tm="100000">
                                          <p:val>
                                            <p:strVal val="ppt_y+1"/>
                                          </p:val>
                                        </p:tav>
                                      </p:tavLst>
                                    </p:anim>
                                    <p:set>
                                      <p:cBhvr>
                                        <p:cTn id="65" dur="1" fill="hold">
                                          <p:stCondLst>
                                            <p:cond delay="9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1" grpId="0"/>
      <p:bldP spid="2" grpId="0" animBg="1"/>
      <p:bldP spid="3"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168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1684" name="Rectangle 4"/>
          <p:cNvSpPr>
            <a:spLocks noGrp="1"/>
          </p:cNvSpPr>
          <p:nvPr>
            <p:ph/>
          </p:nvPr>
        </p:nvSpPr>
        <p:spPr>
          <a:xfrm>
            <a:off x="442913" y="303213"/>
            <a:ext cx="8343900" cy="4573587"/>
          </a:xfrm>
          <a:prstGeom prst="rect">
            <a:avLst/>
          </a:prstGeom>
          <a:noFill/>
          <a:ln w="9525">
            <a:noFill/>
          </a:ln>
        </p:spPr>
        <p:txBody>
          <a:bodyPr/>
          <a:p>
            <a:pPr eaLnBrk="1" hangingPunct="1">
              <a:buNone/>
            </a:pP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b="1" dirty="0">
                <a:latin typeface="黑体" panose="02010609060101010101" pitchFamily="49" charset="-122"/>
                <a:ea typeface="黑体" panose="02010609060101010101" pitchFamily="49" charset="-122"/>
              </a:rPr>
              <a:t>②化简为</a:t>
            </a:r>
            <a:r>
              <a:rPr lang="zh-CN" altLang="en-US" sz="1800" b="1" dirty="0">
                <a:solidFill>
                  <a:srgbClr val="0000FF"/>
                </a:solidFill>
                <a:latin typeface="黑体" panose="02010609060101010101" pitchFamily="49" charset="-122"/>
                <a:ea typeface="黑体" panose="02010609060101010101" pitchFamily="49" charset="-122"/>
              </a:rPr>
              <a:t>或与式</a:t>
            </a:r>
            <a:endParaRPr lang="en-US" altLang="zh-CN"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常规法化简方式类似于与或式的化简，化简中常</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用的公式主要有：</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 A + B )( A + B ) = A          </a:t>
            </a:r>
            <a:endParaRPr lang="en-US" altLang="zh-CN" sz="1800" b="1" dirty="0">
              <a:latin typeface="黑体" panose="02010609060101010101" pitchFamily="49" charset="-122"/>
              <a:ea typeface="黑体" panose="02010609060101010101" pitchFamily="49" charset="-122"/>
            </a:endParaRPr>
          </a:p>
          <a:p>
            <a:pPr eaLnBrk="1" hangingPunct="1">
              <a:buNone/>
            </a:pPr>
            <a:r>
              <a:rPr lang="en-US" altLang="zh-CN" sz="1800" b="1" dirty="0">
                <a:latin typeface="黑体" panose="02010609060101010101" pitchFamily="49" charset="-122"/>
                <a:ea typeface="黑体" panose="02010609060101010101" pitchFamily="49" charset="-122"/>
              </a:rPr>
              <a:t>    A ( A + B ) = A</a:t>
            </a:r>
            <a:endParaRPr lang="en-US" altLang="zh-CN" sz="1800" b="1" dirty="0">
              <a:latin typeface="黑体" panose="02010609060101010101" pitchFamily="49" charset="-122"/>
              <a:ea typeface="黑体" panose="02010609060101010101" pitchFamily="49" charset="-122"/>
            </a:endParaRPr>
          </a:p>
          <a:p>
            <a:pPr eaLnBrk="1" hangingPunct="1">
              <a:spcBef>
                <a:spcPct val="0"/>
              </a:spcBef>
              <a:buNone/>
            </a:pPr>
            <a:r>
              <a:rPr lang="en-US" altLang="zh-CN" sz="1800" b="1" dirty="0">
                <a:latin typeface="黑体" panose="02010609060101010101" pitchFamily="49" charset="-122"/>
                <a:ea typeface="黑体" panose="02010609060101010101" pitchFamily="49" charset="-122"/>
              </a:rPr>
              <a:t>    A ( A + B ) = AB      </a:t>
            </a:r>
            <a:endParaRPr lang="en-US" altLang="zh-CN" sz="1800" b="1" dirty="0">
              <a:latin typeface="黑体" panose="02010609060101010101" pitchFamily="49" charset="-122"/>
              <a:ea typeface="黑体" panose="02010609060101010101" pitchFamily="49" charset="-122"/>
            </a:endParaRPr>
          </a:p>
          <a:p>
            <a:pPr eaLnBrk="1" hangingPunct="1">
              <a:spcBef>
                <a:spcPct val="0"/>
              </a:spcBef>
              <a:buNone/>
            </a:pPr>
            <a:r>
              <a:rPr lang="en-US" altLang="zh-CN" sz="1800" b="1" dirty="0">
                <a:latin typeface="黑体" panose="02010609060101010101" pitchFamily="49" charset="-122"/>
                <a:ea typeface="黑体" panose="02010609060101010101" pitchFamily="49" charset="-122"/>
              </a:rPr>
              <a:t>    ( A + B )( A + C )( B + C )   = ( A + B )(A + C )</a:t>
            </a:r>
            <a:endParaRPr lang="en-US" altLang="zh-CN" sz="1800" b="1"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例：</a:t>
            </a:r>
            <a:r>
              <a:rPr lang="en-US" altLang="zh-CN" sz="1800" dirty="0">
                <a:latin typeface="黑体" panose="02010609060101010101" pitchFamily="49" charset="-122"/>
                <a:ea typeface="黑体" panose="02010609060101010101" pitchFamily="49" charset="-122"/>
              </a:rPr>
              <a:t>F= </a:t>
            </a:r>
            <a:r>
              <a:rPr lang="en-US" altLang="zh-CN" sz="1800" b="1" dirty="0">
                <a:solidFill>
                  <a:srgbClr val="FF0066"/>
                </a:solidFill>
                <a:latin typeface="黑体" panose="02010609060101010101" pitchFamily="49" charset="-122"/>
                <a:ea typeface="黑体" panose="02010609060101010101" pitchFamily="49" charset="-122"/>
              </a:rPr>
              <a:t>A ( A</a:t>
            </a:r>
            <a:r>
              <a:rPr lang="en-US" altLang="zh-CN" sz="1800" dirty="0">
                <a:solidFill>
                  <a:srgbClr val="FF0066"/>
                </a:solidFill>
                <a:latin typeface="黑体" panose="02010609060101010101" pitchFamily="49" charset="-122"/>
                <a:ea typeface="黑体" panose="02010609060101010101" pitchFamily="49" charset="-122"/>
              </a:rPr>
              <a:t> + B </a:t>
            </a:r>
            <a:r>
              <a:rPr lang="en-US" altLang="zh-CN" sz="1800" b="1" dirty="0">
                <a:solidFill>
                  <a:srgbClr val="FF0066"/>
                </a:solidFill>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(A + D )( B + D )</a:t>
            </a:r>
            <a:r>
              <a:rPr lang="en-US" altLang="zh-CN" sz="1800" b="1" dirty="0">
                <a:solidFill>
                  <a:srgbClr val="FF0066"/>
                </a:solidFill>
                <a:latin typeface="黑体" panose="02010609060101010101" pitchFamily="49" charset="-122"/>
                <a:ea typeface="黑体" panose="02010609060101010101" pitchFamily="49" charset="-122"/>
              </a:rPr>
              <a:t>( A</a:t>
            </a:r>
            <a:r>
              <a:rPr lang="en-US" altLang="zh-CN" sz="1800" dirty="0">
                <a:solidFill>
                  <a:srgbClr val="FF0066"/>
                </a:solidFill>
                <a:latin typeface="黑体" panose="02010609060101010101" pitchFamily="49" charset="-122"/>
                <a:ea typeface="黑体" panose="02010609060101010101" pitchFamily="49" charset="-122"/>
              </a:rPr>
              <a:t> + C + E + H </a:t>
            </a:r>
            <a:r>
              <a:rPr lang="en-US" altLang="zh-CN" sz="1800" b="1" dirty="0">
                <a:solidFill>
                  <a:srgbClr val="FF0066"/>
                </a:solidFill>
                <a:latin typeface="黑体" panose="02010609060101010101" pitchFamily="49" charset="-122"/>
                <a:ea typeface="黑体" panose="02010609060101010101" pitchFamily="49" charset="-122"/>
              </a:rPr>
              <a:t>)</a:t>
            </a:r>
            <a:endParaRPr lang="en-US" altLang="zh-CN" sz="1800" b="1" dirty="0">
              <a:solidFill>
                <a:srgbClr val="FF0066"/>
              </a:solidFill>
              <a:latin typeface="黑体" panose="02010609060101010101" pitchFamily="49" charset="-122"/>
              <a:ea typeface="黑体" panose="02010609060101010101" pitchFamily="49" charset="-122"/>
            </a:endParaRPr>
          </a:p>
          <a:p>
            <a:pPr eaLnBrk="1" hangingPunct="1">
              <a:spcBef>
                <a:spcPct val="0"/>
              </a:spcBef>
              <a:buNone/>
            </a:pPr>
            <a:r>
              <a:rPr lang="en-US" altLang="zh-CN" sz="1800" dirty="0">
                <a:latin typeface="黑体" panose="02010609060101010101" pitchFamily="49" charset="-122"/>
                <a:ea typeface="黑体" panose="02010609060101010101" pitchFamily="49" charset="-122"/>
              </a:rPr>
              <a:t>           = </a:t>
            </a:r>
            <a:r>
              <a:rPr lang="en-US" altLang="zh-CN" sz="1800" b="1" dirty="0">
                <a:latin typeface="黑体" panose="02010609060101010101" pitchFamily="49" charset="-122"/>
                <a:ea typeface="黑体" panose="02010609060101010101" pitchFamily="49" charset="-122"/>
              </a:rPr>
              <a:t>A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A</a:t>
            </a:r>
            <a:r>
              <a:rPr lang="en-US" altLang="zh-CN" sz="1800" dirty="0">
                <a:latin typeface="黑体" panose="02010609060101010101" pitchFamily="49" charset="-122"/>
                <a:ea typeface="黑体" panose="02010609060101010101" pitchFamily="49" charset="-122"/>
              </a:rPr>
              <a:t> + D </a:t>
            </a:r>
            <a:r>
              <a:rPr lang="en-US" altLang="zh-CN" sz="1800" b="1"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 + D )</a:t>
            </a:r>
            <a:endParaRPr lang="en-US" altLang="zh-CN" sz="1800" dirty="0">
              <a:latin typeface="黑体" panose="02010609060101010101" pitchFamily="49" charset="-122"/>
              <a:ea typeface="黑体" panose="02010609060101010101" pitchFamily="49" charset="-122"/>
            </a:endParaRPr>
          </a:p>
          <a:p>
            <a:pPr eaLnBrk="1" hangingPunct="1">
              <a:spcBef>
                <a:spcPct val="0"/>
              </a:spcBef>
              <a:buNone/>
            </a:pPr>
            <a:r>
              <a:rPr lang="en-US" altLang="zh-CN" sz="1800" dirty="0">
                <a:latin typeface="黑体" panose="02010609060101010101" pitchFamily="49" charset="-122"/>
                <a:ea typeface="黑体" panose="02010609060101010101" pitchFamily="49" charset="-122"/>
              </a:rPr>
              <a:t>           = A</a:t>
            </a:r>
            <a:r>
              <a:rPr lang="en-US" altLang="zh-CN" sz="1800" b="1" dirty="0">
                <a:latin typeface="黑体" panose="02010609060101010101" pitchFamily="49" charset="-122"/>
                <a:ea typeface="黑体" panose="02010609060101010101" pitchFamily="49" charset="-122"/>
              </a:rPr>
              <a:t>D ( </a:t>
            </a:r>
            <a:r>
              <a:rPr lang="en-US" altLang="zh-CN" sz="1800" dirty="0">
                <a:latin typeface="黑体" panose="02010609060101010101" pitchFamily="49" charset="-122"/>
                <a:ea typeface="黑体" panose="02010609060101010101" pitchFamily="49" charset="-122"/>
              </a:rPr>
              <a:t>B + </a:t>
            </a:r>
            <a:r>
              <a:rPr lang="en-US" altLang="zh-CN" sz="1800" b="1" dirty="0">
                <a:latin typeface="黑体" panose="02010609060101010101" pitchFamily="49" charset="-122"/>
                <a:ea typeface="黑体" panose="02010609060101010101" pitchFamily="49" charset="-122"/>
              </a:rPr>
              <a:t>D )</a:t>
            </a:r>
            <a:endParaRPr lang="en-US" altLang="zh-CN" sz="1800" b="1" dirty="0">
              <a:latin typeface="黑体" panose="02010609060101010101" pitchFamily="49" charset="-122"/>
              <a:ea typeface="黑体" panose="02010609060101010101" pitchFamily="49" charset="-122"/>
            </a:endParaRPr>
          </a:p>
          <a:p>
            <a:pPr eaLnBrk="1" hangingPunct="1">
              <a:spcBef>
                <a:spcPct val="0"/>
              </a:spcBef>
              <a:buNone/>
            </a:pPr>
            <a:r>
              <a:rPr lang="en-US" altLang="zh-CN" sz="1800" dirty="0">
                <a:latin typeface="黑体" panose="02010609060101010101" pitchFamily="49" charset="-122"/>
                <a:ea typeface="黑体" panose="02010609060101010101" pitchFamily="49" charset="-122"/>
              </a:rPr>
              <a:t>           = AD</a:t>
            </a:r>
            <a:endParaRPr lang="en-US" altLang="zh-CN" sz="1800" dirty="0">
              <a:latin typeface="黑体" panose="02010609060101010101" pitchFamily="49" charset="-122"/>
              <a:ea typeface="黑体" panose="02010609060101010101" pitchFamily="49" charset="-122"/>
            </a:endParaRPr>
          </a:p>
        </p:txBody>
      </p:sp>
      <p:sp>
        <p:nvSpPr>
          <p:cNvPr id="71685" name="Line 36"/>
          <p:cNvSpPr/>
          <p:nvPr/>
        </p:nvSpPr>
        <p:spPr>
          <a:xfrm>
            <a:off x="2190750" y="2547938"/>
            <a:ext cx="223838" cy="0"/>
          </a:xfrm>
          <a:prstGeom prst="line">
            <a:avLst/>
          </a:prstGeom>
          <a:ln w="12700" cap="flat" cmpd="sng">
            <a:solidFill>
              <a:schemeClr val="tx1"/>
            </a:solidFill>
            <a:prstDash val="solid"/>
            <a:headEnd type="none" w="med" len="med"/>
            <a:tailEnd type="none" w="med" len="med"/>
          </a:ln>
        </p:spPr>
      </p:sp>
      <p:sp>
        <p:nvSpPr>
          <p:cNvPr id="71686" name="Line 39"/>
          <p:cNvSpPr/>
          <p:nvPr/>
        </p:nvSpPr>
        <p:spPr>
          <a:xfrm>
            <a:off x="2643188" y="1673225"/>
            <a:ext cx="225425" cy="0"/>
          </a:xfrm>
          <a:prstGeom prst="line">
            <a:avLst/>
          </a:prstGeom>
          <a:ln w="19050" cap="flat" cmpd="sng">
            <a:solidFill>
              <a:schemeClr val="tx1"/>
            </a:solidFill>
            <a:prstDash val="solid"/>
            <a:headEnd type="none" w="med" len="med"/>
            <a:tailEnd type="none" w="med" len="med"/>
          </a:ln>
        </p:spPr>
      </p:sp>
      <p:sp>
        <p:nvSpPr>
          <p:cNvPr id="71687" name="Line 45"/>
          <p:cNvSpPr/>
          <p:nvPr/>
        </p:nvSpPr>
        <p:spPr>
          <a:xfrm>
            <a:off x="2871788" y="2913063"/>
            <a:ext cx="223837" cy="0"/>
          </a:xfrm>
          <a:prstGeom prst="line">
            <a:avLst/>
          </a:prstGeom>
          <a:ln w="19050" cap="flat" cmpd="sng">
            <a:solidFill>
              <a:schemeClr val="tx1"/>
            </a:solidFill>
            <a:prstDash val="solid"/>
            <a:headEnd type="none" w="med" len="med"/>
            <a:tailEnd type="none" w="med" len="med"/>
          </a:ln>
        </p:spPr>
      </p:sp>
      <p:sp>
        <p:nvSpPr>
          <p:cNvPr id="71688" name="Line 46"/>
          <p:cNvSpPr/>
          <p:nvPr/>
        </p:nvSpPr>
        <p:spPr>
          <a:xfrm>
            <a:off x="3908425" y="2922588"/>
            <a:ext cx="223838" cy="0"/>
          </a:xfrm>
          <a:prstGeom prst="line">
            <a:avLst/>
          </a:prstGeom>
          <a:ln w="19050" cap="flat" cmpd="sng">
            <a:solidFill>
              <a:schemeClr val="tx1"/>
            </a:solidFill>
            <a:prstDash val="solid"/>
            <a:headEnd type="none" w="med" len="med"/>
            <a:tailEnd type="none" w="med" len="med"/>
          </a:ln>
        </p:spPr>
      </p:sp>
      <p:sp>
        <p:nvSpPr>
          <p:cNvPr id="71689" name="Line 48"/>
          <p:cNvSpPr/>
          <p:nvPr/>
        </p:nvSpPr>
        <p:spPr>
          <a:xfrm>
            <a:off x="1403350" y="2328863"/>
            <a:ext cx="223838" cy="0"/>
          </a:xfrm>
          <a:prstGeom prst="line">
            <a:avLst/>
          </a:prstGeom>
          <a:ln w="19050" cap="flat" cmpd="sng">
            <a:solidFill>
              <a:schemeClr val="tx1"/>
            </a:solidFill>
            <a:prstDash val="solid"/>
            <a:headEnd type="none" w="med" len="med"/>
            <a:tailEnd type="none" w="med" len="med"/>
          </a:ln>
        </p:spPr>
      </p:sp>
      <p:sp>
        <p:nvSpPr>
          <p:cNvPr id="71690" name="Line 51"/>
          <p:cNvSpPr/>
          <p:nvPr/>
        </p:nvSpPr>
        <p:spPr>
          <a:xfrm>
            <a:off x="5795963" y="2571750"/>
            <a:ext cx="223837" cy="0"/>
          </a:xfrm>
          <a:prstGeom prst="line">
            <a:avLst/>
          </a:prstGeom>
          <a:ln w="19050" cap="flat" cmpd="sng">
            <a:solidFill>
              <a:schemeClr val="tx1"/>
            </a:solidFill>
            <a:prstDash val="solid"/>
            <a:headEnd type="none" w="med" len="med"/>
            <a:tailEnd type="none" w="med" len="med"/>
          </a:ln>
        </p:spPr>
      </p:sp>
      <p:sp>
        <p:nvSpPr>
          <p:cNvPr id="71691" name="Line 53"/>
          <p:cNvSpPr/>
          <p:nvPr/>
        </p:nvSpPr>
        <p:spPr>
          <a:xfrm>
            <a:off x="2414588" y="3175000"/>
            <a:ext cx="223837" cy="0"/>
          </a:xfrm>
          <a:prstGeom prst="line">
            <a:avLst/>
          </a:prstGeom>
          <a:ln w="19050" cap="flat" cmpd="sng">
            <a:solidFill>
              <a:schemeClr val="tx1"/>
            </a:solidFill>
            <a:prstDash val="solid"/>
            <a:headEnd type="none" w="med" len="med"/>
            <a:tailEnd type="none" w="med" len="med"/>
          </a:ln>
        </p:spPr>
      </p:sp>
      <p:sp>
        <p:nvSpPr>
          <p:cNvPr id="71692" name="Line 54"/>
          <p:cNvSpPr/>
          <p:nvPr/>
        </p:nvSpPr>
        <p:spPr>
          <a:xfrm>
            <a:off x="3494088" y="3179763"/>
            <a:ext cx="225425" cy="0"/>
          </a:xfrm>
          <a:prstGeom prst="line">
            <a:avLst/>
          </a:prstGeom>
          <a:ln w="19050" cap="flat" cmpd="sng">
            <a:solidFill>
              <a:schemeClr val="tx1"/>
            </a:solidFill>
            <a:prstDash val="solid"/>
            <a:headEnd type="none" w="med" len="med"/>
            <a:tailEnd type="none" w="med" len="med"/>
          </a:ln>
        </p:spPr>
      </p:sp>
      <p:sp>
        <p:nvSpPr>
          <p:cNvPr id="71693" name="Line 57"/>
          <p:cNvSpPr/>
          <p:nvPr/>
        </p:nvSpPr>
        <p:spPr>
          <a:xfrm>
            <a:off x="2525713" y="3421063"/>
            <a:ext cx="225425" cy="0"/>
          </a:xfrm>
          <a:prstGeom prst="line">
            <a:avLst/>
          </a:prstGeom>
          <a:ln w="19050" cap="flat" cmpd="sng">
            <a:solidFill>
              <a:schemeClr val="tx1"/>
            </a:solidFill>
            <a:prstDash val="solid"/>
            <a:headEnd type="none" w="med" len="med"/>
            <a:tailEnd type="none" w="med" len="med"/>
          </a:ln>
        </p:spPr>
      </p:sp>
    </p:spTree>
  </p:cSld>
  <p:clrMapOvr>
    <a:masterClrMapping/>
  </p:clrMapOvr>
  <p:transition advTm="2000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3731" name="Rectangle 6"/>
          <p:cNvSpPr txBox="1">
            <a:spLocks noGrp="1"/>
          </p:cNvSpPr>
          <p:nvPr/>
        </p:nvSpPr>
        <p:spPr>
          <a:xfrm>
            <a:off x="6466205"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3732" name="Rectangle 3"/>
          <p:cNvSpPr>
            <a:spLocks noGrp="1"/>
          </p:cNvSpPr>
          <p:nvPr>
            <p:ph type="title"/>
          </p:nvPr>
        </p:nvSpPr>
        <p:spPr>
          <a:xfrm>
            <a:off x="611188" y="544513"/>
            <a:ext cx="3940175" cy="514350"/>
          </a:xfrm>
          <a:prstGeom prst="rect">
            <a:avLst/>
          </a:prstGeom>
          <a:noFill/>
          <a:ln w="9525">
            <a:noFill/>
          </a:ln>
        </p:spPr>
        <p:txBody>
          <a:bodyPr/>
          <a:p>
            <a:pPr eaLnBrk="1" hangingPunct="1">
              <a:buFont typeface="Wingdings" panose="05000000000000000000" pitchFamily="2" charset="2"/>
              <a:buChar char="l"/>
            </a:pPr>
            <a:r>
              <a:rPr lang="zh-CN" altLang="en-US" sz="1800" b="1" dirty="0">
                <a:latin typeface="黑体" panose="02010609060101010101" pitchFamily="49" charset="-122"/>
                <a:ea typeface="黑体" panose="02010609060101010101" pitchFamily="49" charset="-122"/>
              </a:rPr>
              <a:t>利用</a:t>
            </a:r>
            <a:r>
              <a:rPr lang="zh-CN" altLang="en-US" sz="1800" b="1" u="sng" dirty="0">
                <a:latin typeface="黑体" panose="02010609060101010101" pitchFamily="49" charset="-122"/>
                <a:ea typeface="黑体" panose="02010609060101010101" pitchFamily="49" charset="-122"/>
              </a:rPr>
              <a:t>最简与或式</a:t>
            </a:r>
            <a:r>
              <a:rPr lang="zh-CN" altLang="en-US" sz="1800" b="1" dirty="0">
                <a:latin typeface="黑体" panose="02010609060101010101" pitchFamily="49" charset="-122"/>
                <a:ea typeface="黑体" panose="02010609060101010101" pitchFamily="49" charset="-122"/>
              </a:rPr>
              <a:t>得到</a:t>
            </a:r>
            <a:r>
              <a:rPr lang="zh-CN" altLang="en-US" sz="1800" b="1" u="sng" dirty="0">
                <a:latin typeface="黑体" panose="02010609060101010101" pitchFamily="49" charset="-122"/>
                <a:ea typeface="黑体" panose="02010609060101010101" pitchFamily="49" charset="-122"/>
              </a:rPr>
              <a:t>最简或与式</a:t>
            </a:r>
            <a:endParaRPr lang="zh-CN" altLang="en-US" sz="1800" b="1" u="sng" dirty="0">
              <a:latin typeface="黑体" panose="02010609060101010101" pitchFamily="49" charset="-122"/>
              <a:ea typeface="黑体" panose="02010609060101010101" pitchFamily="49" charset="-122"/>
            </a:endParaRPr>
          </a:p>
        </p:txBody>
      </p:sp>
      <p:sp>
        <p:nvSpPr>
          <p:cNvPr id="73733" name="Rectangle 4"/>
          <p:cNvSpPr>
            <a:spLocks noGrp="1"/>
          </p:cNvSpPr>
          <p:nvPr>
            <p:ph/>
          </p:nvPr>
        </p:nvSpPr>
        <p:spPr>
          <a:xfrm>
            <a:off x="628650" y="1010285"/>
            <a:ext cx="8245475" cy="1630680"/>
          </a:xfrm>
          <a:prstGeom prst="rect">
            <a:avLst/>
          </a:prstGeom>
          <a:noFill/>
          <a:ln w="9525">
            <a:noFill/>
          </a:ln>
        </p:spPr>
        <p:txBody>
          <a:bodyPr/>
          <a:p>
            <a:pPr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二次对偶法</a:t>
            </a:r>
            <a:endParaRPr lang="zh-CN" altLang="en-US" sz="1800" dirty="0">
              <a:solidFill>
                <a:srgbClr val="FF0000"/>
              </a:solidFill>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利用对偶规则，先求出</a:t>
            </a:r>
            <a:r>
              <a:rPr lang="en-US" altLang="zh-CN" sz="1800" dirty="0">
                <a:latin typeface="黑体" panose="02010609060101010101" pitchFamily="49" charset="-122"/>
                <a:ea typeface="黑体" panose="02010609060101010101" pitchFamily="49" charset="-122"/>
              </a:rPr>
              <a:t>F</a:t>
            </a:r>
            <a:r>
              <a:rPr lang="zh-CN" altLang="en-US" sz="1800" dirty="0">
                <a:latin typeface="黑体" panose="02010609060101010101" pitchFamily="49" charset="-122"/>
                <a:ea typeface="黑体" panose="02010609060101010101" pitchFamily="49" charset="-122"/>
              </a:rPr>
              <a:t>的对偶式</a:t>
            </a:r>
            <a:r>
              <a:rPr lang="en-US" altLang="zh-CN" sz="1800" dirty="0">
                <a:solidFill>
                  <a:srgbClr val="FF0000"/>
                </a:solidFill>
                <a:latin typeface="黑体" panose="02010609060101010101" pitchFamily="49" charset="-122"/>
                <a:ea typeface="黑体" panose="02010609060101010101" pitchFamily="49" charset="-122"/>
              </a:rPr>
              <a:t>F’</a:t>
            </a:r>
            <a:r>
              <a:rPr lang="zh-CN" altLang="en-US" sz="1800" dirty="0">
                <a:latin typeface="黑体" panose="02010609060101010101" pitchFamily="49" charset="-122"/>
                <a:ea typeface="黑体" panose="02010609060101010101" pitchFamily="49" charset="-122"/>
              </a:rPr>
              <a:t>，再将对偶式</a:t>
            </a:r>
            <a:r>
              <a:rPr lang="en-US" altLang="zh-CN" sz="1800" dirty="0">
                <a:solidFill>
                  <a:srgbClr val="FF0000"/>
                </a:solidFill>
                <a:latin typeface="黑体" panose="02010609060101010101" pitchFamily="49" charset="-122"/>
                <a:ea typeface="黑体" panose="02010609060101010101" pitchFamily="49" charset="-122"/>
              </a:rPr>
              <a:t>F’</a:t>
            </a:r>
            <a:r>
              <a:rPr lang="zh-CN" altLang="en-US" sz="1800" dirty="0">
                <a:latin typeface="黑体" panose="02010609060101010101" pitchFamily="49" charset="-122"/>
                <a:ea typeface="黑体" panose="02010609060101010101" pitchFamily="49" charset="-122"/>
              </a:rPr>
              <a:t>化简为</a:t>
            </a:r>
            <a:r>
              <a:rPr lang="zh-CN" altLang="en-US" sz="1800" b="1" dirty="0">
                <a:latin typeface="黑体" panose="02010609060101010101" pitchFamily="49" charset="-122"/>
                <a:ea typeface="黑体" panose="02010609060101010101" pitchFamily="49" charset="-122"/>
              </a:rPr>
              <a:t>最简与或式</a:t>
            </a:r>
            <a:r>
              <a:rPr lang="zh-CN" altLang="en-US" sz="1800" dirty="0">
                <a:latin typeface="黑体" panose="02010609060101010101" pitchFamily="49" charset="-122"/>
                <a:ea typeface="黑体" panose="02010609060101010101" pitchFamily="49" charset="-122"/>
              </a:rPr>
              <a:t>，最后再求一次对偶</a:t>
            </a:r>
            <a:r>
              <a:rPr lang="en-US" altLang="zh-CN" sz="1800" dirty="0">
                <a:solidFill>
                  <a:srgbClr val="FF0000"/>
                </a:solidFill>
                <a:latin typeface="黑体" panose="02010609060101010101" pitchFamily="49" charset="-122"/>
                <a:ea typeface="黑体" panose="02010609060101010101" pitchFamily="49" charset="-122"/>
              </a:rPr>
              <a:t>(F’)’= F</a:t>
            </a:r>
            <a:r>
              <a:rPr lang="zh-CN" altLang="en-US" sz="1800" dirty="0">
                <a:latin typeface="黑体" panose="02010609060101010101" pitchFamily="49" charset="-122"/>
                <a:ea typeface="黑体" panose="02010609060101010101" pitchFamily="49" charset="-122"/>
              </a:rPr>
              <a:t>，则得到 </a:t>
            </a:r>
            <a:r>
              <a:rPr lang="en-US" altLang="zh-CN" sz="1800" dirty="0">
                <a:latin typeface="黑体" panose="02010609060101010101" pitchFamily="49" charset="-122"/>
                <a:ea typeface="黑体" panose="02010609060101010101" pitchFamily="49" charset="-122"/>
              </a:rPr>
              <a:t>F </a:t>
            </a:r>
            <a:r>
              <a:rPr lang="zh-CN" altLang="en-US" sz="1800" dirty="0">
                <a:latin typeface="黑体" panose="02010609060101010101" pitchFamily="49" charset="-122"/>
                <a:ea typeface="黑体" panose="02010609060101010101" pitchFamily="49" charset="-122"/>
              </a:rPr>
              <a:t>最简或与式。例：</a:t>
            </a:r>
            <a:endParaRPr lang="zh-CN" altLang="en-US" sz="1800" dirty="0">
              <a:latin typeface="黑体" panose="02010609060101010101" pitchFamily="49" charset="-122"/>
              <a:ea typeface="黑体" panose="02010609060101010101" pitchFamily="49" charset="-122"/>
            </a:endParaRPr>
          </a:p>
          <a:p>
            <a:pPr eaLnBrk="1" hangingPunct="1">
              <a:lnSpc>
                <a:spcPct val="130000"/>
              </a:lnSpc>
              <a:spcBef>
                <a:spcPct val="0"/>
              </a:spcBef>
              <a:buNone/>
            </a:pPr>
            <a:r>
              <a:rPr lang="zh-CN" altLang="en-US" sz="1800" dirty="0">
                <a:latin typeface="黑体" panose="02010609060101010101" pitchFamily="49" charset="-122"/>
                <a:ea typeface="黑体" panose="02010609060101010101" pitchFamily="49" charset="-122"/>
              </a:rPr>
              <a:t> </a:t>
            </a:r>
            <a:endParaRPr lang="zh-CN" altLang="en-US" sz="1800" dirty="0">
              <a:latin typeface="黑体" panose="02010609060101010101" pitchFamily="49" charset="-122"/>
              <a:ea typeface="黑体" panose="02010609060101010101" pitchFamily="49" charset="-122"/>
            </a:endParaRPr>
          </a:p>
        </p:txBody>
      </p:sp>
      <p:pic>
        <p:nvPicPr>
          <p:cNvPr id="2" name="图片 1"/>
          <p:cNvPicPr>
            <a:picLocks noChangeAspect="1"/>
          </p:cNvPicPr>
          <p:nvPr>
            <p:custDataLst>
              <p:tags r:id="rId1"/>
            </p:custDataLst>
          </p:nvPr>
        </p:nvPicPr>
        <p:blipFill>
          <a:blip r:embed="rId2"/>
          <a:stretch>
            <a:fillRect/>
          </a:stretch>
        </p:blipFill>
        <p:spPr>
          <a:xfrm>
            <a:off x="1082040" y="2466975"/>
            <a:ext cx="7849235" cy="203073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475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4756" name="Rectangle 3"/>
          <p:cNvSpPr>
            <a:spLocks noGrp="1"/>
          </p:cNvSpPr>
          <p:nvPr>
            <p:ph type="title"/>
          </p:nvPr>
        </p:nvSpPr>
        <p:spPr>
          <a:xfrm>
            <a:off x="611188" y="544513"/>
            <a:ext cx="7772400" cy="514350"/>
          </a:xfrm>
          <a:prstGeom prst="rect">
            <a:avLst/>
          </a:prstGeom>
          <a:noFill/>
          <a:ln w="9525">
            <a:noFill/>
          </a:ln>
        </p:spPr>
        <p:txBody>
          <a:bodyPr/>
          <a:p>
            <a:pPr eaLnBrk="1" hangingPunct="1">
              <a:buFont typeface="Wingdings" panose="05000000000000000000" pitchFamily="2" charset="2"/>
              <a:buChar char="Ø"/>
            </a:pPr>
            <a:r>
              <a:rPr lang="zh-CN" altLang="en-US" sz="1800" b="1" dirty="0">
                <a:solidFill>
                  <a:srgbClr val="FF0000"/>
                </a:solidFill>
                <a:latin typeface="黑体" panose="02010609060101010101" pitchFamily="49" charset="-122"/>
                <a:ea typeface="黑体" panose="02010609060101010101" pitchFamily="49" charset="-122"/>
              </a:rPr>
              <a:t>二次求反法</a:t>
            </a:r>
            <a:endParaRPr lang="zh-CN" altLang="en-US" sz="1800" b="1" dirty="0">
              <a:solidFill>
                <a:srgbClr val="FF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1"/>
          <a:stretch>
            <a:fillRect/>
          </a:stretch>
        </p:blipFill>
        <p:spPr>
          <a:xfrm>
            <a:off x="549910" y="1210310"/>
            <a:ext cx="8336280" cy="660400"/>
          </a:xfrm>
          <a:prstGeom prst="rect">
            <a:avLst/>
          </a:prstGeom>
        </p:spPr>
      </p:pic>
      <p:pic>
        <p:nvPicPr>
          <p:cNvPr id="4" name="图片 3"/>
          <p:cNvPicPr>
            <a:picLocks noChangeAspect="1"/>
          </p:cNvPicPr>
          <p:nvPr/>
        </p:nvPicPr>
        <p:blipFill>
          <a:blip r:embed="rId2"/>
          <a:stretch>
            <a:fillRect/>
          </a:stretch>
        </p:blipFill>
        <p:spPr>
          <a:xfrm>
            <a:off x="1303655" y="2149475"/>
            <a:ext cx="6879590" cy="2412365"/>
          </a:xfrm>
          <a:prstGeom prst="rect">
            <a:avLst/>
          </a:prstGeom>
        </p:spPr>
      </p:pic>
      <p:sp>
        <p:nvSpPr>
          <p:cNvPr id="2" name="矩形标注 1"/>
          <p:cNvSpPr/>
          <p:nvPr/>
        </p:nvSpPr>
        <p:spPr>
          <a:xfrm>
            <a:off x="6876415" y="2594610"/>
            <a:ext cx="1325880" cy="967740"/>
          </a:xfrm>
          <a:prstGeom prst="wedgeRectCallout">
            <a:avLst>
              <a:gd name="adj1" fmla="val -182136"/>
              <a:gd name="adj2" fmla="val 120800"/>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本例是希望得到最简或与表达式，不是对或与函数化简！</a:t>
            </a:r>
            <a:endPar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5779" name="Rectangle 6"/>
          <p:cNvSpPr txBox="1">
            <a:spLocks noGrp="1"/>
          </p:cNvSpPr>
          <p:nvPr/>
        </p:nvSpPr>
        <p:spPr>
          <a:xfrm>
            <a:off x="6448425"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5780" name="Rectangle 3"/>
          <p:cNvSpPr>
            <a:spLocks noGrp="1"/>
          </p:cNvSpPr>
          <p:nvPr>
            <p:ph type="title"/>
          </p:nvPr>
        </p:nvSpPr>
        <p:spPr>
          <a:xfrm>
            <a:off x="357188" y="738188"/>
            <a:ext cx="7461250" cy="62865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2</a:t>
            </a:r>
            <a:r>
              <a:rPr lang="zh-CN" altLang="en-US" sz="1800" b="1" dirty="0">
                <a:latin typeface="黑体" panose="02010609060101010101" pitchFamily="49" charset="-122"/>
                <a:ea typeface="黑体" panose="02010609060101010101" pitchFamily="49" charset="-122"/>
              </a:rPr>
              <a:t>）用卡诺图化简逻辑函数的基本原理</a:t>
            </a:r>
            <a:endParaRPr lang="zh-CN" altLang="en-US" sz="1800" b="1" dirty="0">
              <a:latin typeface="黑体" panose="02010609060101010101" pitchFamily="49" charset="-122"/>
              <a:ea typeface="黑体" panose="02010609060101010101" pitchFamily="49" charset="-122"/>
            </a:endParaRPr>
          </a:p>
        </p:txBody>
      </p:sp>
      <p:sp>
        <p:nvSpPr>
          <p:cNvPr id="75781" name="Text Box 6"/>
          <p:cNvSpPr txBox="1"/>
          <p:nvPr/>
        </p:nvSpPr>
        <p:spPr>
          <a:xfrm>
            <a:off x="357505" y="2078355"/>
            <a:ext cx="8731250" cy="2882900"/>
          </a:xfrm>
          <a:prstGeom prst="rect">
            <a:avLst/>
          </a:prstGeom>
          <a:noFill/>
          <a:ln w="9525">
            <a:noFill/>
          </a:ln>
        </p:spPr>
        <p:txBody>
          <a:bodyPr wrap="square">
            <a:spAutoFit/>
          </a:bodyPr>
          <a:p>
            <a:pPr eaLnBrk="1" hangingPunct="1">
              <a:lnSpc>
                <a:spcPct val="90000"/>
              </a:lnSpc>
              <a:spcBef>
                <a:spcPct val="20000"/>
              </a:spcBef>
            </a:pPr>
            <a:r>
              <a:rPr lang="zh-CN" altLang="en-US" sz="1800" dirty="0">
                <a:solidFill>
                  <a:schemeClr val="tx1"/>
                </a:solidFill>
                <a:latin typeface="黑体" panose="02010609060101010101" pitchFamily="49" charset="-122"/>
                <a:ea typeface="黑体" panose="02010609060101010101" pitchFamily="49" charset="-122"/>
                <a:sym typeface="+mn-ea"/>
              </a:rPr>
              <a:t>卡诺图上小方格</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相邻</a:t>
            </a:r>
            <a:r>
              <a:rPr lang="zh-CN" altLang="en-US" sz="1800" b="1" dirty="0">
                <a:solidFill>
                  <a:schemeClr val="tx1"/>
                </a:solidFill>
                <a:latin typeface="黑体" panose="02010609060101010101" pitchFamily="49" charset="-122"/>
                <a:ea typeface="黑体" panose="02010609060101010101" pitchFamily="49" charset="-122"/>
              </a:rPr>
              <a:t>”概念：“</a:t>
            </a:r>
            <a:r>
              <a:rPr lang="zh-CN" altLang="en-US" sz="1800" dirty="0">
                <a:solidFill>
                  <a:schemeClr val="tx1"/>
                </a:solidFill>
                <a:latin typeface="黑体" panose="02010609060101010101" pitchFamily="49" charset="-122"/>
                <a:ea typeface="黑体" panose="02010609060101010101" pitchFamily="49" charset="-122"/>
              </a:rPr>
              <a:t>相邻</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是</a:t>
            </a:r>
            <a:r>
              <a:rPr lang="zh-CN" altLang="en-US" sz="1800" dirty="0">
                <a:solidFill>
                  <a:schemeClr val="tx1"/>
                </a:solidFill>
                <a:latin typeface="黑体" panose="02010609060101010101" pitchFamily="49" charset="-122"/>
                <a:ea typeface="黑体" panose="02010609060101010101" pitchFamily="49" charset="-122"/>
              </a:rPr>
              <a:t>指：</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ct val="20000"/>
              </a:spcBef>
              <a:buFont typeface="Arial" panose="020B0604020202020204" pitchFamily="34" charset="0"/>
              <a:buChar char="•"/>
            </a:pPr>
            <a:r>
              <a:rPr lang="zh-CN" altLang="en-US" sz="1800" dirty="0">
                <a:solidFill>
                  <a:schemeClr val="tx1"/>
                </a:solidFill>
                <a:latin typeface="黑体" panose="02010609060101010101" pitchFamily="49" charset="-122"/>
                <a:ea typeface="黑体" panose="02010609060101010101" pitchFamily="49" charset="-122"/>
              </a:rPr>
              <a:t> 具有共同边界线</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的小方格</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几何相邻</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ct val="20000"/>
              </a:spcBef>
              <a:buFont typeface="Arial" panose="020B0604020202020204" pitchFamily="34" charset="0"/>
              <a:buChar char="•"/>
            </a:pPr>
            <a:r>
              <a:rPr lang="zh-CN" altLang="en-US" sz="1800" dirty="0">
                <a:solidFill>
                  <a:schemeClr val="tx1"/>
                </a:solidFill>
                <a:latin typeface="黑体" panose="02010609060101010101" pitchFamily="49" charset="-122"/>
                <a:ea typeface="黑体" panose="02010609060101010101" pitchFamily="49" charset="-122"/>
              </a:rPr>
              <a:t> 同一幅卡诺图中分别处于行</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或列</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两端</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的小方格</a:t>
            </a:r>
            <a:r>
              <a:rPr lang="en-US" altLang="zh-CN" sz="1800" i="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相对相邻</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ct val="20000"/>
              </a:spcBef>
              <a:buFont typeface="Arial" panose="020B0604020202020204" pitchFamily="34" charset="0"/>
              <a:buChar char="•"/>
            </a:pPr>
            <a:r>
              <a:rPr lang="zh-CN" altLang="en-US" sz="1800" dirty="0">
                <a:solidFill>
                  <a:schemeClr val="tx1"/>
                </a:solidFill>
                <a:latin typeface="黑体" panose="02010609060101010101" pitchFamily="49" charset="-122"/>
                <a:ea typeface="黑体" panose="02010609060101010101" pitchFamily="49" charset="-122"/>
              </a:rPr>
              <a:t> 在相邻两幅卡诺图中，处于相同位置</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的两个小方格</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相重相邻</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ts val="1200"/>
              </a:spcBef>
              <a:spcAft>
                <a:spcPts val="600"/>
              </a:spcAft>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n </a:t>
            </a:r>
            <a:r>
              <a:rPr lang="zh-CN" altLang="en-US" sz="1800" b="1" dirty="0">
                <a:solidFill>
                  <a:srgbClr val="FF0000"/>
                </a:solidFill>
                <a:latin typeface="黑体" panose="02010609060101010101" pitchFamily="49" charset="-122"/>
                <a:ea typeface="黑体" panose="02010609060101010101" pitchFamily="49" charset="-122"/>
              </a:rPr>
              <a:t>变量的卡诺图上，每个小方格具有</a:t>
            </a:r>
            <a:r>
              <a:rPr lang="en-US" altLang="zh-CN" sz="1800" b="1" dirty="0">
                <a:solidFill>
                  <a:srgbClr val="FF0000"/>
                </a:solidFill>
                <a:latin typeface="黑体" panose="02010609060101010101" pitchFamily="49" charset="-122"/>
                <a:ea typeface="黑体" panose="02010609060101010101" pitchFamily="49" charset="-122"/>
              </a:rPr>
              <a:t>n</a:t>
            </a:r>
            <a:r>
              <a:rPr lang="zh-CN" altLang="en-US" sz="1800" b="1" dirty="0">
                <a:solidFill>
                  <a:srgbClr val="FF0000"/>
                </a:solidFill>
                <a:latin typeface="黑体" panose="02010609060101010101" pitchFamily="49" charset="-122"/>
                <a:ea typeface="黑体" panose="02010609060101010101" pitchFamily="49" charset="-122"/>
              </a:rPr>
              <a:t>个相邻的小方格</a:t>
            </a:r>
            <a:endParaRPr lang="zh-CN" altLang="en-US" sz="1800" b="1" dirty="0">
              <a:solidFill>
                <a:srgbClr val="FF0000"/>
              </a:solidFill>
              <a:latin typeface="黑体" panose="02010609060101010101" pitchFamily="49" charset="-122"/>
              <a:ea typeface="黑体" panose="02010609060101010101" pitchFamily="49" charset="-122"/>
            </a:endParaRPr>
          </a:p>
          <a:p>
            <a:pPr eaLnBrk="1" hangingPunct="1">
              <a:lnSpc>
                <a:spcPct val="120000"/>
              </a:lnSpc>
              <a:spcBef>
                <a:spcPts val="6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mn-ea"/>
              </a:rPr>
              <a:t>卡诺图上</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维块</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概念</a:t>
            </a:r>
            <a:r>
              <a:rPr lang="zh-CN" altLang="en-US" sz="1800" b="1" dirty="0">
                <a:solidFill>
                  <a:schemeClr val="tx1"/>
                </a:solidFill>
                <a:latin typeface="黑体" panose="02010609060101010101" pitchFamily="49" charset="-122"/>
                <a:ea typeface="黑体" panose="02010609060101010101" pitchFamily="49" charset="-122"/>
              </a:rPr>
              <a:t>：一个与项，</a:t>
            </a:r>
            <a:r>
              <a:rPr lang="zh-CN" altLang="en-US" sz="1800" b="1" dirty="0">
                <a:solidFill>
                  <a:schemeClr val="tx1"/>
                </a:solidFill>
                <a:latin typeface="黑体" panose="02010609060101010101" pitchFamily="49" charset="-122"/>
                <a:ea typeface="黑体" panose="02010609060101010101" pitchFamily="49" charset="-122"/>
              </a:rPr>
              <a:t>对应一个矩形几何区域，由</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相邻</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的</a:t>
            </a:r>
            <a:r>
              <a:rPr lang="en-US" altLang="zh-CN" sz="1800" b="1" dirty="0">
                <a:solidFill>
                  <a:schemeClr val="tx1"/>
                </a:solidFill>
                <a:latin typeface="黑体" panose="02010609060101010101" pitchFamily="49" charset="-122"/>
                <a:ea typeface="黑体" panose="02010609060101010101" pitchFamily="49" charset="-122"/>
              </a:rPr>
              <a:t>2</a:t>
            </a:r>
            <a:r>
              <a:rPr lang="en-US" altLang="zh-CN" sz="1800" b="1" baseline="30000" dirty="0">
                <a:solidFill>
                  <a:schemeClr val="tx1"/>
                </a:solidFill>
                <a:latin typeface="黑体" panose="02010609060101010101" pitchFamily="49" charset="-122"/>
                <a:ea typeface="黑体" panose="02010609060101010101" pitchFamily="49" charset="-122"/>
              </a:rPr>
              <a:t>i</a:t>
            </a:r>
            <a:r>
              <a:rPr lang="zh-CN" altLang="en-US" sz="1800" b="1" dirty="0">
                <a:solidFill>
                  <a:schemeClr val="tx1"/>
                </a:solidFill>
                <a:latin typeface="黑体" panose="02010609060101010101" pitchFamily="49" charset="-122"/>
                <a:ea typeface="黑体" panose="02010609060101010101" pitchFamily="49" charset="-122"/>
              </a:rPr>
              <a:t>个</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ts val="6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i ≤ n</a:t>
            </a:r>
            <a:r>
              <a:rPr lang="zh-CN" altLang="en-US" sz="1800" b="1" dirty="0">
                <a:solidFill>
                  <a:schemeClr val="tx1"/>
                </a:solidFill>
                <a:latin typeface="黑体" panose="02010609060101010101" pitchFamily="49" charset="-122"/>
                <a:ea typeface="黑体" panose="02010609060101010101" pitchFamily="49" charset="-122"/>
              </a:rPr>
              <a:t>）标</a:t>
            </a:r>
            <a:r>
              <a:rPr lang="en-US" altLang="zh-CN" sz="1800" b="1" dirty="0">
                <a:solidFill>
                  <a:schemeClr val="tx1"/>
                </a:solidFill>
                <a:latin typeface="黑体" panose="02010609060101010101" pitchFamily="49" charset="-122"/>
                <a:ea typeface="黑体" panose="02010609060101010101" pitchFamily="49" charset="-122"/>
              </a:rPr>
              <a:t>1</a:t>
            </a:r>
            <a:r>
              <a:rPr lang="zh-CN" altLang="en-US" sz="1800" b="1" dirty="0">
                <a:solidFill>
                  <a:schemeClr val="tx1"/>
                </a:solidFill>
                <a:latin typeface="黑体" panose="02010609060101010101" pitchFamily="49" charset="-122"/>
                <a:ea typeface="黑体" panose="02010609060101010101" pitchFamily="49" charset="-122"/>
              </a:rPr>
              <a:t>的小方格组成。有</a:t>
            </a:r>
            <a:r>
              <a:rPr lang="en-US" altLang="zh-CN" sz="1800" b="1" dirty="0">
                <a:solidFill>
                  <a:schemeClr val="tx1"/>
                </a:solidFill>
                <a:latin typeface="黑体" panose="02010609060101010101" pitchFamily="49" charset="-122"/>
                <a:ea typeface="黑体" panose="02010609060101010101" pitchFamily="49" charset="-122"/>
              </a:rPr>
              <a:t>0</a:t>
            </a:r>
            <a:r>
              <a:rPr lang="zh-CN" altLang="en-US" sz="1800" b="1" dirty="0">
                <a:solidFill>
                  <a:schemeClr val="tx1"/>
                </a:solidFill>
                <a:latin typeface="黑体" panose="02010609060101010101" pitchFamily="49" charset="-122"/>
                <a:ea typeface="黑体" panose="02010609060101010101" pitchFamily="49" charset="-122"/>
              </a:rPr>
              <a:t>维块、</a:t>
            </a:r>
            <a:r>
              <a:rPr lang="en-US" altLang="zh-CN" sz="1800" b="1" dirty="0">
                <a:solidFill>
                  <a:schemeClr val="tx1"/>
                </a:solidFill>
                <a:latin typeface="黑体" panose="02010609060101010101" pitchFamily="49" charset="-122"/>
                <a:ea typeface="黑体" panose="02010609060101010101" pitchFamily="49" charset="-122"/>
              </a:rPr>
              <a:t>1</a:t>
            </a:r>
            <a:r>
              <a:rPr lang="zh-CN" altLang="en-US" sz="1800" b="1" dirty="0">
                <a:solidFill>
                  <a:schemeClr val="tx1"/>
                </a:solidFill>
                <a:latin typeface="黑体" panose="02010609060101010101" pitchFamily="49" charset="-122"/>
                <a:ea typeface="黑体" panose="02010609060101010101" pitchFamily="49" charset="-122"/>
              </a:rPr>
              <a:t>维块、</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等。</a:t>
            </a:r>
            <a:endParaRPr lang="en-US" altLang="zh-CN" sz="1800" b="1" dirty="0">
              <a:solidFill>
                <a:schemeClr val="tx1"/>
              </a:solidFill>
              <a:latin typeface="黑体" panose="02010609060101010101" pitchFamily="49" charset="-122"/>
              <a:ea typeface="黑体" panose="02010609060101010101" pitchFamily="49" charset="-122"/>
            </a:endParaRPr>
          </a:p>
        </p:txBody>
      </p:sp>
      <p:pic>
        <p:nvPicPr>
          <p:cNvPr id="75782" name="图片 1"/>
          <p:cNvPicPr>
            <a:picLocks noChangeAspect="1"/>
          </p:cNvPicPr>
          <p:nvPr/>
        </p:nvPicPr>
        <p:blipFill>
          <a:blip r:embed="rId1"/>
          <a:stretch>
            <a:fillRect/>
          </a:stretch>
        </p:blipFill>
        <p:spPr>
          <a:xfrm>
            <a:off x="5376545" y="446405"/>
            <a:ext cx="3589655" cy="1913890"/>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781">
                                            <p:txEl>
                                              <p:pRg st="1" end="1"/>
                                            </p:txEl>
                                          </p:spTgt>
                                        </p:tgtEl>
                                        <p:attrNameLst>
                                          <p:attrName>style.visibility</p:attrName>
                                        </p:attrNameLst>
                                      </p:cBhvr>
                                      <p:to>
                                        <p:strVal val="visible"/>
                                      </p:to>
                                    </p:set>
                                    <p:anim calcmode="lin" valueType="num">
                                      <p:cBhvr additive="base">
                                        <p:cTn id="7" dur="500" fill="hold"/>
                                        <p:tgtEl>
                                          <p:spTgt spid="7578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8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5781">
                                            <p:txEl>
                                              <p:pRg st="2" end="2"/>
                                            </p:txEl>
                                          </p:spTgt>
                                        </p:tgtEl>
                                        <p:attrNameLst>
                                          <p:attrName>style.visibility</p:attrName>
                                        </p:attrNameLst>
                                      </p:cBhvr>
                                      <p:to>
                                        <p:strVal val="visible"/>
                                      </p:to>
                                    </p:set>
                                    <p:anim calcmode="lin" valueType="num">
                                      <p:cBhvr additive="base">
                                        <p:cTn id="13" dur="500" fill="hold"/>
                                        <p:tgtEl>
                                          <p:spTgt spid="7578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8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5781">
                                            <p:txEl>
                                              <p:pRg st="3" end="3"/>
                                            </p:txEl>
                                          </p:spTgt>
                                        </p:tgtEl>
                                        <p:attrNameLst>
                                          <p:attrName>style.visibility</p:attrName>
                                        </p:attrNameLst>
                                      </p:cBhvr>
                                      <p:to>
                                        <p:strVal val="visible"/>
                                      </p:to>
                                    </p:set>
                                    <p:anim calcmode="lin" valueType="num">
                                      <p:cBhvr additive="base">
                                        <p:cTn id="19" dur="500" fill="hold"/>
                                        <p:tgtEl>
                                          <p:spTgt spid="7578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78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5781">
                                            <p:txEl>
                                              <p:pRg st="4" end="4"/>
                                            </p:txEl>
                                          </p:spTgt>
                                        </p:tgtEl>
                                        <p:attrNameLst>
                                          <p:attrName>style.visibility</p:attrName>
                                        </p:attrNameLst>
                                      </p:cBhvr>
                                      <p:to>
                                        <p:strVal val="visible"/>
                                      </p:to>
                                    </p:set>
                                    <p:anim calcmode="lin" valueType="num">
                                      <p:cBhvr additive="base">
                                        <p:cTn id="25" dur="500" fill="hold"/>
                                        <p:tgtEl>
                                          <p:spTgt spid="7578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78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5781">
                                            <p:txEl>
                                              <p:pRg st="5" end="5"/>
                                            </p:txEl>
                                          </p:spTgt>
                                        </p:tgtEl>
                                        <p:attrNameLst>
                                          <p:attrName>style.visibility</p:attrName>
                                        </p:attrNameLst>
                                      </p:cBhvr>
                                      <p:to>
                                        <p:strVal val="visible"/>
                                      </p:to>
                                    </p:set>
                                    <p:anim calcmode="lin" valueType="num">
                                      <p:cBhvr additive="base">
                                        <p:cTn id="31" dur="500" fill="hold"/>
                                        <p:tgtEl>
                                          <p:spTgt spid="7578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578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5781">
                                            <p:txEl>
                                              <p:pRg st="6" end="6"/>
                                            </p:txEl>
                                          </p:spTgt>
                                        </p:tgtEl>
                                        <p:attrNameLst>
                                          <p:attrName>style.visibility</p:attrName>
                                        </p:attrNameLst>
                                      </p:cBhvr>
                                      <p:to>
                                        <p:strVal val="visible"/>
                                      </p:to>
                                    </p:set>
                                    <p:anim calcmode="lin" valueType="num">
                                      <p:cBhvr additive="base">
                                        <p:cTn id="37" dur="500" fill="hold"/>
                                        <p:tgtEl>
                                          <p:spTgt spid="7578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578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680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aphicFrame>
        <p:nvGraphicFramePr>
          <p:cNvPr id="74756" name="Group 4"/>
          <p:cNvGraphicFramePr>
            <a:graphicFrameLocks noGrp="1"/>
          </p:cNvGraphicFramePr>
          <p:nvPr/>
        </p:nvGraphicFramePr>
        <p:xfrm>
          <a:off x="6172200" y="971550"/>
          <a:ext cx="2362200" cy="1600200"/>
        </p:xfrm>
        <a:graphic>
          <a:graphicData uri="http://schemas.openxmlformats.org/drawingml/2006/table">
            <a:tbl>
              <a:tblPr/>
              <a:tblGrid>
                <a:gridCol w="590550"/>
                <a:gridCol w="590550"/>
                <a:gridCol w="590550"/>
                <a:gridCol w="590550"/>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74783" name="Group 31"/>
          <p:cNvGraphicFramePr>
            <a:graphicFrameLocks noGrp="1"/>
          </p:cNvGraphicFramePr>
          <p:nvPr/>
        </p:nvGraphicFramePr>
        <p:xfrm>
          <a:off x="3048000" y="971550"/>
          <a:ext cx="2362200" cy="1600200"/>
        </p:xfrm>
        <a:graphic>
          <a:graphicData uri="http://schemas.openxmlformats.org/drawingml/2006/table">
            <a:tbl>
              <a:tblPr/>
              <a:tblGrid>
                <a:gridCol w="590550"/>
                <a:gridCol w="590550"/>
                <a:gridCol w="590550"/>
                <a:gridCol w="590550"/>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
        <p:nvSpPr>
          <p:cNvPr id="76858" name="Rectangle 3"/>
          <p:cNvSpPr>
            <a:spLocks noGrp="1"/>
          </p:cNvSpPr>
          <p:nvPr>
            <p:ph type="title"/>
          </p:nvPr>
        </p:nvSpPr>
        <p:spPr>
          <a:xfrm>
            <a:off x="482600" y="515938"/>
            <a:ext cx="4953000" cy="471487"/>
          </a:xfrm>
          <a:prstGeom prst="rect">
            <a:avLst/>
          </a:prstGeom>
          <a:noFill/>
          <a:ln w="9525">
            <a:noFill/>
          </a:ln>
        </p:spPr>
        <p:txBody>
          <a:bodyPr/>
          <a:p>
            <a:pPr eaLnBrk="1" hangingPunct="1"/>
            <a:r>
              <a:rPr lang="zh-CN" altLang="en-US" sz="1800" dirty="0">
                <a:solidFill>
                  <a:srgbClr val="FF0000"/>
                </a:solidFill>
                <a:latin typeface="黑体" panose="02010609060101010101" pitchFamily="49" charset="-122"/>
                <a:ea typeface="黑体" panose="02010609060101010101" pitchFamily="49" charset="-122"/>
              </a:rPr>
              <a:t>例</a:t>
            </a:r>
            <a:r>
              <a:rPr lang="zh-CN" altLang="en-US" sz="1800" dirty="0">
                <a:latin typeface="黑体" panose="02010609060101010101" pitchFamily="49" charset="-122"/>
                <a:ea typeface="黑体" panose="02010609060101010101" pitchFamily="49" charset="-122"/>
              </a:rPr>
              <a:t>：五变量的卡诺图</a:t>
            </a:r>
            <a:endParaRPr lang="zh-CN" altLang="en-US" sz="1800" dirty="0">
              <a:latin typeface="黑体" panose="02010609060101010101" pitchFamily="49" charset="-122"/>
              <a:ea typeface="黑体" panose="02010609060101010101" pitchFamily="49" charset="-122"/>
            </a:endParaRPr>
          </a:p>
        </p:txBody>
      </p:sp>
      <p:sp>
        <p:nvSpPr>
          <p:cNvPr id="76859" name="Rectangle 5"/>
          <p:cNvSpPr>
            <a:spLocks noGrp="1"/>
          </p:cNvSpPr>
          <p:nvPr>
            <p:ph/>
          </p:nvPr>
        </p:nvSpPr>
        <p:spPr>
          <a:xfrm>
            <a:off x="498475" y="2857500"/>
            <a:ext cx="6953250" cy="400050"/>
          </a:xfrm>
          <a:prstGeom prst="rect">
            <a:avLst/>
          </a:prstGeom>
          <a:noFill/>
          <a:ln w="9525">
            <a:noFill/>
          </a:ln>
        </p:spPr>
        <p:txBody>
          <a:bodyPr/>
          <a:p>
            <a:pPr eaLnBrk="1" hangingPunct="1">
              <a:buFont typeface="Wingdings" panose="05000000000000000000" pitchFamily="2" charset="2"/>
              <a:buChar char="l"/>
            </a:pPr>
            <a:r>
              <a:rPr lang="en-US" altLang="zh-CN" sz="1800" dirty="0">
                <a:latin typeface="黑体" panose="02010609060101010101" pitchFamily="49" charset="-122"/>
                <a:ea typeface="黑体" panose="02010609060101010101" pitchFamily="49" charset="-122"/>
              </a:rPr>
              <a:t> 0</a:t>
            </a:r>
            <a:r>
              <a:rPr lang="zh-CN" altLang="en-US" sz="1800" dirty="0">
                <a:latin typeface="黑体" panose="02010609060101010101" pitchFamily="49" charset="-122"/>
                <a:ea typeface="黑体" panose="02010609060101010101" pitchFamily="49" charset="-122"/>
              </a:rPr>
              <a:t>维块：</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a:t>
            </a:r>
            <a:r>
              <a:rPr lang="en-US" altLang="zh-CN" sz="1800" dirty="0">
                <a:latin typeface="黑体" panose="02010609060101010101" pitchFamily="49" charset="-122"/>
                <a:ea typeface="黑体" panose="02010609060101010101" pitchFamily="49" charset="-122"/>
              </a:rPr>
              <a:t>=ABCDE</a:t>
            </a:r>
            <a:r>
              <a:rPr lang="zh-CN" altLang="en-US" sz="1800" dirty="0">
                <a:latin typeface="黑体" panose="02010609060101010101" pitchFamily="49" charset="-122"/>
                <a:ea typeface="黑体" panose="02010609060101010101" pitchFamily="49" charset="-122"/>
              </a:rPr>
              <a:t>，是由</a:t>
            </a:r>
            <a:r>
              <a:rPr lang="zh-CN" altLang="en-US" sz="1800" dirty="0">
                <a:solidFill>
                  <a:srgbClr val="FF0000"/>
                </a:solidFill>
                <a:latin typeface="黑体" panose="02010609060101010101" pitchFamily="49" charset="-122"/>
                <a:ea typeface="黑体" panose="02010609060101010101" pitchFamily="49" charset="-122"/>
              </a:rPr>
              <a:t>五变量</a:t>
            </a:r>
            <a:r>
              <a:rPr lang="zh-CN" altLang="en-US" sz="1800" dirty="0">
                <a:latin typeface="黑体" panose="02010609060101010101" pitchFamily="49" charset="-122"/>
                <a:ea typeface="黑体" panose="02010609060101010101" pitchFamily="49" charset="-122"/>
              </a:rPr>
              <a:t>组成的与项，即最小项。</a:t>
            </a:r>
            <a:endParaRPr lang="zh-CN" altLang="en-US" sz="1800" dirty="0">
              <a:latin typeface="黑体" panose="02010609060101010101" pitchFamily="49" charset="-122"/>
              <a:ea typeface="黑体" panose="02010609060101010101" pitchFamily="49" charset="-122"/>
            </a:endParaRPr>
          </a:p>
        </p:txBody>
      </p:sp>
      <p:grpSp>
        <p:nvGrpSpPr>
          <p:cNvPr id="76860" name="Group 91"/>
          <p:cNvGrpSpPr/>
          <p:nvPr/>
        </p:nvGrpSpPr>
        <p:grpSpPr>
          <a:xfrm>
            <a:off x="3048000" y="1028700"/>
            <a:ext cx="2362200" cy="1570038"/>
            <a:chOff x="0" y="0"/>
            <a:chExt cx="1488" cy="1318"/>
          </a:xfrm>
        </p:grpSpPr>
        <p:sp>
          <p:nvSpPr>
            <p:cNvPr id="76933" name="Text Box 79"/>
            <p:cNvSpPr txBox="1"/>
            <p:nvPr/>
          </p:nvSpPr>
          <p:spPr>
            <a:xfrm>
              <a:off x="0" y="96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4" name="Text Box 80"/>
            <p:cNvSpPr txBox="1"/>
            <p:nvPr/>
          </p:nvSpPr>
          <p:spPr>
            <a:xfrm>
              <a:off x="0" y="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5" name="Text Box 81"/>
            <p:cNvSpPr txBox="1"/>
            <p:nvPr/>
          </p:nvSpPr>
          <p:spPr>
            <a:xfrm>
              <a:off x="768" y="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6" name="Text Box 82"/>
            <p:cNvSpPr txBox="1"/>
            <p:nvPr/>
          </p:nvSpPr>
          <p:spPr>
            <a:xfrm>
              <a:off x="1104" y="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7" name="Text Box 83"/>
            <p:cNvSpPr txBox="1"/>
            <p:nvPr/>
          </p:nvSpPr>
          <p:spPr>
            <a:xfrm>
              <a:off x="1104" y="336"/>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8" name="Text Box 84"/>
            <p:cNvSpPr txBox="1"/>
            <p:nvPr/>
          </p:nvSpPr>
          <p:spPr>
            <a:xfrm>
              <a:off x="768" y="336"/>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9" name="Text Box 85"/>
            <p:cNvSpPr txBox="1"/>
            <p:nvPr/>
          </p:nvSpPr>
          <p:spPr>
            <a:xfrm>
              <a:off x="384" y="672"/>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40" name="Text Box 86"/>
            <p:cNvSpPr txBox="1"/>
            <p:nvPr/>
          </p:nvSpPr>
          <p:spPr>
            <a:xfrm>
              <a:off x="1152" y="1008"/>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76861" name="Group 175"/>
          <p:cNvGrpSpPr/>
          <p:nvPr/>
        </p:nvGrpSpPr>
        <p:grpSpPr>
          <a:xfrm>
            <a:off x="6172200" y="1028700"/>
            <a:ext cx="2286000" cy="1570038"/>
            <a:chOff x="0" y="0"/>
            <a:chExt cx="1440" cy="1318"/>
          </a:xfrm>
        </p:grpSpPr>
        <p:sp>
          <p:nvSpPr>
            <p:cNvPr id="76928" name="Text Box 87"/>
            <p:cNvSpPr txBox="1"/>
            <p:nvPr/>
          </p:nvSpPr>
          <p:spPr>
            <a:xfrm>
              <a:off x="384" y="1008"/>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29" name="Text Box 88"/>
            <p:cNvSpPr txBox="1"/>
            <p:nvPr/>
          </p:nvSpPr>
          <p:spPr>
            <a:xfrm>
              <a:off x="768" y="1008"/>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0" name="Text Box 89"/>
            <p:cNvSpPr txBox="1"/>
            <p:nvPr/>
          </p:nvSpPr>
          <p:spPr>
            <a:xfrm>
              <a:off x="768" y="336"/>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1" name="Text Box 90"/>
            <p:cNvSpPr txBox="1"/>
            <p:nvPr/>
          </p:nvSpPr>
          <p:spPr>
            <a:xfrm>
              <a:off x="1104" y="336"/>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2" name="Text Box 174"/>
            <p:cNvSpPr txBox="1"/>
            <p:nvPr/>
          </p:nvSpPr>
          <p:spPr>
            <a:xfrm>
              <a:off x="0" y="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76862" name="Group 206"/>
          <p:cNvGrpSpPr/>
          <p:nvPr/>
        </p:nvGrpSpPr>
        <p:grpSpPr>
          <a:xfrm>
            <a:off x="2133600" y="571500"/>
            <a:ext cx="1828800" cy="598488"/>
            <a:chOff x="0" y="0"/>
            <a:chExt cx="1152" cy="502"/>
          </a:xfrm>
        </p:grpSpPr>
        <p:sp>
          <p:nvSpPr>
            <p:cNvPr id="76925" name="Line 203"/>
            <p:cNvSpPr/>
            <p:nvPr/>
          </p:nvSpPr>
          <p:spPr>
            <a:xfrm flipH="1" flipV="1">
              <a:off x="240" y="48"/>
              <a:ext cx="336" cy="288"/>
            </a:xfrm>
            <a:prstGeom prst="line">
              <a:avLst/>
            </a:prstGeom>
            <a:ln w="9525" cap="flat" cmpd="sng">
              <a:solidFill>
                <a:srgbClr val="FFFFFF"/>
              </a:solidFill>
              <a:prstDash val="solid"/>
              <a:headEnd type="none" w="med" len="med"/>
              <a:tailEnd type="none" w="med" len="med"/>
            </a:ln>
          </p:spPr>
        </p:sp>
        <p:sp>
          <p:nvSpPr>
            <p:cNvPr id="76926" name="Text Box 204"/>
            <p:cNvSpPr txBox="1"/>
            <p:nvPr/>
          </p:nvSpPr>
          <p:spPr>
            <a:xfrm>
              <a:off x="480" y="0"/>
              <a:ext cx="67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927" name="Text Box 205"/>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DE</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76863" name="Rectangle 207"/>
          <p:cNvSpPr/>
          <p:nvPr/>
        </p:nvSpPr>
        <p:spPr>
          <a:xfrm>
            <a:off x="3790950" y="1885950"/>
            <a:ext cx="381000" cy="228600"/>
          </a:xfrm>
          <a:prstGeom prst="rect">
            <a:avLst/>
          </a:prstGeom>
          <a:noFill/>
          <a:ln w="38100" cap="flat" cmpd="sng">
            <a:solidFill>
              <a:srgbClr val="FFFF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64" name="Rectangle 208"/>
          <p:cNvSpPr/>
          <p:nvPr/>
        </p:nvSpPr>
        <p:spPr>
          <a:xfrm>
            <a:off x="7620000" y="1485900"/>
            <a:ext cx="762000" cy="228600"/>
          </a:xfrm>
          <a:prstGeom prst="rect">
            <a:avLst/>
          </a:prstGeom>
          <a:noFill/>
          <a:ln w="38100" cap="flat" cmpd="sng">
            <a:solidFill>
              <a:srgbClr val="FFFF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65" name="Rectangle 209"/>
          <p:cNvSpPr/>
          <p:nvPr/>
        </p:nvSpPr>
        <p:spPr>
          <a:xfrm>
            <a:off x="7048500" y="2286000"/>
            <a:ext cx="762000" cy="228600"/>
          </a:xfrm>
          <a:prstGeom prst="rect">
            <a:avLst/>
          </a:prstGeom>
          <a:noFill/>
          <a:ln w="38100" cap="flat" cmpd="sng">
            <a:solidFill>
              <a:srgbClr val="FFFF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76866" name="Group 221"/>
          <p:cNvGrpSpPr/>
          <p:nvPr/>
        </p:nvGrpSpPr>
        <p:grpSpPr>
          <a:xfrm>
            <a:off x="2971800" y="1028700"/>
            <a:ext cx="666750" cy="284163"/>
            <a:chOff x="0" y="0"/>
            <a:chExt cx="420" cy="238"/>
          </a:xfrm>
        </p:grpSpPr>
        <p:sp>
          <p:nvSpPr>
            <p:cNvPr id="76921" name="Arc 222"/>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6922" name="Arc 223"/>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6923" name="Line 224"/>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6924" name="Line 225"/>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6867" name="Group 226"/>
          <p:cNvGrpSpPr/>
          <p:nvPr/>
        </p:nvGrpSpPr>
        <p:grpSpPr>
          <a:xfrm>
            <a:off x="6038850" y="1028700"/>
            <a:ext cx="666750" cy="284163"/>
            <a:chOff x="0" y="0"/>
            <a:chExt cx="420" cy="238"/>
          </a:xfrm>
        </p:grpSpPr>
        <p:sp>
          <p:nvSpPr>
            <p:cNvPr id="76917" name="Arc 227"/>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6918" name="Arc 228"/>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6919" name="Line 229"/>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6920" name="Line 230"/>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6868" name="Group 257"/>
          <p:cNvGrpSpPr/>
          <p:nvPr/>
        </p:nvGrpSpPr>
        <p:grpSpPr>
          <a:xfrm>
            <a:off x="2473325" y="2914650"/>
            <a:ext cx="463550" cy="0"/>
            <a:chOff x="0" y="0"/>
            <a:chExt cx="292" cy="0"/>
          </a:xfrm>
        </p:grpSpPr>
        <p:sp>
          <p:nvSpPr>
            <p:cNvPr id="76915" name="Line 253"/>
            <p:cNvSpPr/>
            <p:nvPr/>
          </p:nvSpPr>
          <p:spPr>
            <a:xfrm>
              <a:off x="0" y="0"/>
              <a:ext cx="122" cy="0"/>
            </a:xfrm>
            <a:prstGeom prst="line">
              <a:avLst/>
            </a:prstGeom>
            <a:ln w="9525" cap="flat" cmpd="sng">
              <a:solidFill>
                <a:srgbClr val="FFFFFF"/>
              </a:solidFill>
              <a:prstDash val="solid"/>
              <a:headEnd type="none" w="med" len="med"/>
              <a:tailEnd type="none" w="med" len="med"/>
            </a:ln>
          </p:spPr>
        </p:sp>
        <p:sp>
          <p:nvSpPr>
            <p:cNvPr id="76916" name="Line 254"/>
            <p:cNvSpPr/>
            <p:nvPr/>
          </p:nvSpPr>
          <p:spPr>
            <a:xfrm>
              <a:off x="170" y="0"/>
              <a:ext cx="122" cy="0"/>
            </a:xfrm>
            <a:prstGeom prst="line">
              <a:avLst/>
            </a:prstGeom>
            <a:ln w="9525" cap="flat" cmpd="sng">
              <a:solidFill>
                <a:srgbClr val="FFFFFF"/>
              </a:solidFill>
              <a:prstDash val="solid"/>
              <a:headEnd type="none" w="med" len="med"/>
              <a:tailEnd type="none" w="med" len="med"/>
            </a:ln>
          </p:spPr>
        </p:sp>
      </p:grpSp>
      <p:grpSp>
        <p:nvGrpSpPr>
          <p:cNvPr id="76869" name="Group 258"/>
          <p:cNvGrpSpPr/>
          <p:nvPr/>
        </p:nvGrpSpPr>
        <p:grpSpPr>
          <a:xfrm>
            <a:off x="514350" y="3257550"/>
            <a:ext cx="8496300" cy="1697034"/>
            <a:chOff x="0" y="0"/>
            <a:chExt cx="5375" cy="1426"/>
          </a:xfrm>
        </p:grpSpPr>
        <p:sp>
          <p:nvSpPr>
            <p:cNvPr id="76893" name="Line 231"/>
            <p:cNvSpPr/>
            <p:nvPr/>
          </p:nvSpPr>
          <p:spPr>
            <a:xfrm>
              <a:off x="1643" y="312"/>
              <a:ext cx="144" cy="0"/>
            </a:xfrm>
            <a:prstGeom prst="line">
              <a:avLst/>
            </a:prstGeom>
            <a:ln w="9525" cap="flat" cmpd="sng">
              <a:solidFill>
                <a:srgbClr val="FFFFFF"/>
              </a:solidFill>
              <a:prstDash val="solid"/>
              <a:headEnd type="none" w="med" len="med"/>
              <a:tailEnd type="none" w="med" len="med"/>
            </a:ln>
          </p:spPr>
        </p:sp>
        <p:sp>
          <p:nvSpPr>
            <p:cNvPr id="76894" name="Line 232"/>
            <p:cNvSpPr/>
            <p:nvPr/>
          </p:nvSpPr>
          <p:spPr>
            <a:xfrm>
              <a:off x="1835" y="312"/>
              <a:ext cx="144" cy="0"/>
            </a:xfrm>
            <a:prstGeom prst="line">
              <a:avLst/>
            </a:prstGeom>
            <a:ln w="9525" cap="flat" cmpd="sng">
              <a:solidFill>
                <a:srgbClr val="FFFFFF"/>
              </a:solidFill>
              <a:prstDash val="solid"/>
              <a:headEnd type="none" w="med" len="med"/>
              <a:tailEnd type="none" w="med" len="med"/>
            </a:ln>
          </p:spPr>
        </p:sp>
        <p:sp>
          <p:nvSpPr>
            <p:cNvPr id="76895" name="Line 233"/>
            <p:cNvSpPr/>
            <p:nvPr/>
          </p:nvSpPr>
          <p:spPr>
            <a:xfrm>
              <a:off x="2063" y="312"/>
              <a:ext cx="144" cy="0"/>
            </a:xfrm>
            <a:prstGeom prst="line">
              <a:avLst/>
            </a:prstGeom>
            <a:ln w="9525" cap="flat" cmpd="sng">
              <a:solidFill>
                <a:srgbClr val="FFFFFF"/>
              </a:solidFill>
              <a:prstDash val="solid"/>
              <a:headEnd type="none" w="med" len="med"/>
              <a:tailEnd type="none" w="med" len="med"/>
            </a:ln>
          </p:spPr>
        </p:sp>
        <p:sp>
          <p:nvSpPr>
            <p:cNvPr id="76896" name="Line 234"/>
            <p:cNvSpPr/>
            <p:nvPr/>
          </p:nvSpPr>
          <p:spPr>
            <a:xfrm>
              <a:off x="2243" y="312"/>
              <a:ext cx="144" cy="0"/>
            </a:xfrm>
            <a:prstGeom prst="line">
              <a:avLst/>
            </a:prstGeom>
            <a:ln w="9525" cap="flat" cmpd="sng">
              <a:solidFill>
                <a:srgbClr val="FFFFFF"/>
              </a:solidFill>
              <a:prstDash val="solid"/>
              <a:headEnd type="none" w="med" len="med"/>
              <a:tailEnd type="none" w="med" len="med"/>
            </a:ln>
          </p:spPr>
        </p:sp>
        <p:sp>
          <p:nvSpPr>
            <p:cNvPr id="76897" name="Line 235"/>
            <p:cNvSpPr/>
            <p:nvPr/>
          </p:nvSpPr>
          <p:spPr>
            <a:xfrm>
              <a:off x="2435" y="312"/>
              <a:ext cx="144" cy="0"/>
            </a:xfrm>
            <a:prstGeom prst="line">
              <a:avLst/>
            </a:prstGeom>
            <a:ln w="9525" cap="flat" cmpd="sng">
              <a:solidFill>
                <a:srgbClr val="FFFFFF"/>
              </a:solidFill>
              <a:prstDash val="solid"/>
              <a:headEnd type="none" w="med" len="med"/>
              <a:tailEnd type="none" w="med" len="med"/>
            </a:ln>
          </p:spPr>
        </p:sp>
        <p:sp>
          <p:nvSpPr>
            <p:cNvPr id="76898" name="Line 236"/>
            <p:cNvSpPr/>
            <p:nvPr/>
          </p:nvSpPr>
          <p:spPr>
            <a:xfrm>
              <a:off x="2975" y="312"/>
              <a:ext cx="144" cy="0"/>
            </a:xfrm>
            <a:prstGeom prst="line">
              <a:avLst/>
            </a:prstGeom>
            <a:ln w="9525" cap="flat" cmpd="sng">
              <a:solidFill>
                <a:srgbClr val="FFFFFF"/>
              </a:solidFill>
              <a:prstDash val="solid"/>
              <a:headEnd type="none" w="med" len="med"/>
              <a:tailEnd type="none" w="med" len="med"/>
            </a:ln>
          </p:spPr>
        </p:sp>
        <p:sp>
          <p:nvSpPr>
            <p:cNvPr id="76899" name="Line 237"/>
            <p:cNvSpPr/>
            <p:nvPr/>
          </p:nvSpPr>
          <p:spPr>
            <a:xfrm>
              <a:off x="3203" y="312"/>
              <a:ext cx="144" cy="0"/>
            </a:xfrm>
            <a:prstGeom prst="line">
              <a:avLst/>
            </a:prstGeom>
            <a:ln w="9525" cap="flat" cmpd="sng">
              <a:solidFill>
                <a:srgbClr val="FFFFFF"/>
              </a:solidFill>
              <a:prstDash val="solid"/>
              <a:headEnd type="none" w="med" len="med"/>
              <a:tailEnd type="none" w="med" len="med"/>
            </a:ln>
          </p:spPr>
        </p:sp>
        <p:sp>
          <p:nvSpPr>
            <p:cNvPr id="76900" name="Line 238"/>
            <p:cNvSpPr/>
            <p:nvPr/>
          </p:nvSpPr>
          <p:spPr>
            <a:xfrm>
              <a:off x="3383" y="312"/>
              <a:ext cx="144" cy="0"/>
            </a:xfrm>
            <a:prstGeom prst="line">
              <a:avLst/>
            </a:prstGeom>
            <a:ln w="9525" cap="flat" cmpd="sng">
              <a:solidFill>
                <a:srgbClr val="FFFFFF"/>
              </a:solidFill>
              <a:prstDash val="solid"/>
              <a:headEnd type="none" w="med" len="med"/>
              <a:tailEnd type="none" w="med" len="med"/>
            </a:ln>
          </p:spPr>
        </p:sp>
        <p:sp>
          <p:nvSpPr>
            <p:cNvPr id="76901" name="Line 239"/>
            <p:cNvSpPr/>
            <p:nvPr/>
          </p:nvSpPr>
          <p:spPr>
            <a:xfrm>
              <a:off x="3575" y="312"/>
              <a:ext cx="144" cy="0"/>
            </a:xfrm>
            <a:prstGeom prst="line">
              <a:avLst/>
            </a:prstGeom>
            <a:ln w="9525" cap="flat" cmpd="sng">
              <a:solidFill>
                <a:srgbClr val="FFFFFF"/>
              </a:solidFill>
              <a:prstDash val="solid"/>
              <a:headEnd type="none" w="med" len="med"/>
              <a:tailEnd type="none" w="med" len="med"/>
            </a:ln>
          </p:spPr>
        </p:sp>
        <p:sp>
          <p:nvSpPr>
            <p:cNvPr id="76902" name="Line 240"/>
            <p:cNvSpPr/>
            <p:nvPr/>
          </p:nvSpPr>
          <p:spPr>
            <a:xfrm>
              <a:off x="3815" y="312"/>
              <a:ext cx="144" cy="0"/>
            </a:xfrm>
            <a:prstGeom prst="line">
              <a:avLst/>
            </a:prstGeom>
            <a:ln w="9525" cap="flat" cmpd="sng">
              <a:solidFill>
                <a:srgbClr val="FFFFFF"/>
              </a:solidFill>
              <a:prstDash val="solid"/>
              <a:headEnd type="none" w="med" len="med"/>
              <a:tailEnd type="none" w="med" len="med"/>
            </a:ln>
          </p:spPr>
        </p:sp>
        <p:sp>
          <p:nvSpPr>
            <p:cNvPr id="76903" name="Line 241"/>
            <p:cNvSpPr/>
            <p:nvPr/>
          </p:nvSpPr>
          <p:spPr>
            <a:xfrm>
              <a:off x="4043" y="312"/>
              <a:ext cx="144" cy="0"/>
            </a:xfrm>
            <a:prstGeom prst="line">
              <a:avLst/>
            </a:prstGeom>
            <a:ln w="9525" cap="flat" cmpd="sng">
              <a:solidFill>
                <a:srgbClr val="FFFFFF"/>
              </a:solidFill>
              <a:prstDash val="solid"/>
              <a:headEnd type="none" w="med" len="med"/>
              <a:tailEnd type="none" w="med" len="med"/>
            </a:ln>
          </p:spPr>
        </p:sp>
        <p:sp>
          <p:nvSpPr>
            <p:cNvPr id="76904" name="Line 242"/>
            <p:cNvSpPr/>
            <p:nvPr/>
          </p:nvSpPr>
          <p:spPr>
            <a:xfrm>
              <a:off x="4223" y="312"/>
              <a:ext cx="144" cy="0"/>
            </a:xfrm>
            <a:prstGeom prst="line">
              <a:avLst/>
            </a:prstGeom>
            <a:ln w="9525" cap="flat" cmpd="sng">
              <a:solidFill>
                <a:srgbClr val="FFFFFF"/>
              </a:solidFill>
              <a:prstDash val="solid"/>
              <a:headEnd type="none" w="med" len="med"/>
              <a:tailEnd type="none" w="med" len="med"/>
            </a:ln>
          </p:spPr>
        </p:sp>
        <p:sp>
          <p:nvSpPr>
            <p:cNvPr id="76905" name="Line 243"/>
            <p:cNvSpPr/>
            <p:nvPr/>
          </p:nvSpPr>
          <p:spPr>
            <a:xfrm>
              <a:off x="4415" y="312"/>
              <a:ext cx="144" cy="0"/>
            </a:xfrm>
            <a:prstGeom prst="line">
              <a:avLst/>
            </a:prstGeom>
            <a:ln w="9525" cap="flat" cmpd="sng">
              <a:solidFill>
                <a:srgbClr val="FFFFFF"/>
              </a:solidFill>
              <a:prstDash val="solid"/>
              <a:headEnd type="none" w="med" len="med"/>
              <a:tailEnd type="none" w="med" len="med"/>
            </a:ln>
          </p:spPr>
        </p:sp>
        <p:sp>
          <p:nvSpPr>
            <p:cNvPr id="76906" name="Line 244"/>
            <p:cNvSpPr/>
            <p:nvPr/>
          </p:nvSpPr>
          <p:spPr>
            <a:xfrm>
              <a:off x="1883" y="612"/>
              <a:ext cx="144" cy="0"/>
            </a:xfrm>
            <a:prstGeom prst="line">
              <a:avLst/>
            </a:prstGeom>
            <a:ln w="9525" cap="flat" cmpd="sng">
              <a:solidFill>
                <a:srgbClr val="FFFFFF"/>
              </a:solidFill>
              <a:prstDash val="solid"/>
              <a:headEnd type="none" w="med" len="med"/>
              <a:tailEnd type="none" w="med" len="med"/>
            </a:ln>
          </p:spPr>
        </p:sp>
        <p:sp>
          <p:nvSpPr>
            <p:cNvPr id="76907" name="Line 245"/>
            <p:cNvSpPr/>
            <p:nvPr/>
          </p:nvSpPr>
          <p:spPr>
            <a:xfrm>
              <a:off x="2483" y="612"/>
              <a:ext cx="144" cy="0"/>
            </a:xfrm>
            <a:prstGeom prst="line">
              <a:avLst/>
            </a:prstGeom>
            <a:ln w="9525" cap="flat" cmpd="sng">
              <a:solidFill>
                <a:srgbClr val="FFFFFF"/>
              </a:solidFill>
              <a:prstDash val="solid"/>
              <a:headEnd type="none" w="med" len="med"/>
              <a:tailEnd type="none" w="med" len="med"/>
            </a:ln>
          </p:spPr>
        </p:sp>
        <p:sp>
          <p:nvSpPr>
            <p:cNvPr id="76908" name="Line 246"/>
            <p:cNvSpPr/>
            <p:nvPr/>
          </p:nvSpPr>
          <p:spPr>
            <a:xfrm>
              <a:off x="3599" y="612"/>
              <a:ext cx="144" cy="0"/>
            </a:xfrm>
            <a:prstGeom prst="line">
              <a:avLst/>
            </a:prstGeom>
            <a:ln w="9525" cap="flat" cmpd="sng">
              <a:solidFill>
                <a:srgbClr val="FFFFFF"/>
              </a:solidFill>
              <a:prstDash val="solid"/>
              <a:headEnd type="none" w="med" len="med"/>
              <a:tailEnd type="none" w="med" len="med"/>
            </a:ln>
          </p:spPr>
        </p:sp>
        <p:sp>
          <p:nvSpPr>
            <p:cNvPr id="76909" name="Line 247"/>
            <p:cNvSpPr/>
            <p:nvPr/>
          </p:nvSpPr>
          <p:spPr>
            <a:xfrm>
              <a:off x="4439" y="612"/>
              <a:ext cx="144" cy="0"/>
            </a:xfrm>
            <a:prstGeom prst="line">
              <a:avLst/>
            </a:prstGeom>
            <a:ln w="9525" cap="flat" cmpd="sng">
              <a:solidFill>
                <a:srgbClr val="FFFFFF"/>
              </a:solidFill>
              <a:prstDash val="solid"/>
              <a:headEnd type="none" w="med" len="med"/>
              <a:tailEnd type="none" w="med" len="med"/>
            </a:ln>
          </p:spPr>
        </p:sp>
        <p:sp>
          <p:nvSpPr>
            <p:cNvPr id="76910" name="Line 248"/>
            <p:cNvSpPr/>
            <p:nvPr/>
          </p:nvSpPr>
          <p:spPr>
            <a:xfrm>
              <a:off x="2099" y="912"/>
              <a:ext cx="144" cy="0"/>
            </a:xfrm>
            <a:prstGeom prst="line">
              <a:avLst/>
            </a:prstGeom>
            <a:ln w="9525" cap="flat" cmpd="sng">
              <a:solidFill>
                <a:srgbClr val="FFFFFF"/>
              </a:solidFill>
              <a:prstDash val="solid"/>
              <a:headEnd type="none" w="med" len="med"/>
              <a:tailEnd type="none" w="med" len="med"/>
            </a:ln>
          </p:spPr>
        </p:sp>
        <p:sp>
          <p:nvSpPr>
            <p:cNvPr id="76911" name="Line 249"/>
            <p:cNvSpPr/>
            <p:nvPr/>
          </p:nvSpPr>
          <p:spPr>
            <a:xfrm>
              <a:off x="2291" y="912"/>
              <a:ext cx="144" cy="0"/>
            </a:xfrm>
            <a:prstGeom prst="line">
              <a:avLst/>
            </a:prstGeom>
            <a:ln w="9525" cap="flat" cmpd="sng">
              <a:solidFill>
                <a:srgbClr val="FFFFFF"/>
              </a:solidFill>
              <a:prstDash val="solid"/>
              <a:headEnd type="none" w="med" len="med"/>
              <a:tailEnd type="none" w="med" len="med"/>
            </a:ln>
          </p:spPr>
        </p:sp>
        <p:sp>
          <p:nvSpPr>
            <p:cNvPr id="76912" name="Line 250"/>
            <p:cNvSpPr/>
            <p:nvPr/>
          </p:nvSpPr>
          <p:spPr>
            <a:xfrm>
              <a:off x="3407" y="912"/>
              <a:ext cx="144" cy="0"/>
            </a:xfrm>
            <a:prstGeom prst="line">
              <a:avLst/>
            </a:prstGeom>
            <a:ln w="9525" cap="flat" cmpd="sng">
              <a:solidFill>
                <a:srgbClr val="FFFFFF"/>
              </a:solidFill>
              <a:prstDash val="solid"/>
              <a:headEnd type="none" w="med" len="med"/>
              <a:tailEnd type="none" w="med" len="med"/>
            </a:ln>
          </p:spPr>
        </p:sp>
        <p:sp>
          <p:nvSpPr>
            <p:cNvPr id="76913" name="Line 251"/>
            <p:cNvSpPr/>
            <p:nvPr/>
          </p:nvSpPr>
          <p:spPr>
            <a:xfrm>
              <a:off x="4235" y="912"/>
              <a:ext cx="144" cy="0"/>
            </a:xfrm>
            <a:prstGeom prst="line">
              <a:avLst/>
            </a:prstGeom>
            <a:ln w="9525" cap="flat" cmpd="sng">
              <a:solidFill>
                <a:srgbClr val="FFFFFF"/>
              </a:solidFill>
              <a:prstDash val="solid"/>
              <a:headEnd type="none" w="med" len="med"/>
              <a:tailEnd type="none" w="med" len="med"/>
            </a:ln>
          </p:spPr>
        </p:sp>
        <p:sp>
          <p:nvSpPr>
            <p:cNvPr id="76914" name="Text Box 256"/>
            <p:cNvSpPr txBox="1"/>
            <p:nvPr/>
          </p:nvSpPr>
          <p:spPr>
            <a:xfrm>
              <a:off x="0" y="0"/>
              <a:ext cx="5375" cy="1426"/>
            </a:xfrm>
            <a:prstGeom prst="rect">
              <a:avLst/>
            </a:prstGeom>
            <a:noFill/>
            <a:ln w="9525">
              <a:noFill/>
            </a:ln>
          </p:spPr>
          <p:txBody>
            <a:bodyPr>
              <a:spAutoFit/>
            </a:bodyPr>
            <a:p>
              <a:pPr eaLnBrk="1" hangingPunct="1">
                <a:spcBef>
                  <a:spcPct val="20000"/>
                </a:spcBef>
                <a:buFont typeface="Wingdings" panose="05000000000000000000" pitchFamily="2" charset="2"/>
                <a:buChar char="l"/>
              </a:pPr>
              <a:r>
                <a:rPr lang="en-US" altLang="zh-CN" sz="1800" dirty="0">
                  <a:solidFill>
                    <a:schemeClr val="tx1"/>
                  </a:solidFill>
                  <a:latin typeface="黑体" panose="02010609060101010101" pitchFamily="49" charset="-122"/>
                  <a:ea typeface="黑体" panose="02010609060101010101" pitchFamily="49" charset="-122"/>
                </a:rPr>
                <a:t> 1</a:t>
              </a:r>
              <a:r>
                <a:rPr lang="zh-CN" altLang="en-US" sz="1800" dirty="0">
                  <a:solidFill>
                    <a:schemeClr val="tx1"/>
                  </a:solidFill>
                  <a:latin typeface="黑体" panose="02010609060101010101" pitchFamily="49" charset="-122"/>
                  <a:ea typeface="黑体" panose="02010609060101010101" pitchFamily="49" charset="-122"/>
                </a:rPr>
                <a:t>维块：由两个相邻的 </a:t>
              </a:r>
              <a:r>
                <a:rPr lang="en-US" altLang="zh-CN" sz="1800" dirty="0">
                  <a:solidFill>
                    <a:schemeClr val="tx1"/>
                  </a:solidFill>
                  <a:latin typeface="黑体" panose="02010609060101010101" pitchFamily="49" charset="-122"/>
                  <a:ea typeface="黑体" panose="02010609060101010101" pitchFamily="49" charset="-122"/>
                </a:rPr>
                <a:t>0 </a:t>
              </a:r>
              <a:r>
                <a:rPr lang="zh-CN" altLang="en-US" sz="1800" dirty="0">
                  <a:solidFill>
                    <a:schemeClr val="tx1"/>
                  </a:solidFill>
                  <a:latin typeface="黑体" panose="02010609060101010101" pitchFamily="49" charset="-122"/>
                  <a:ea typeface="黑体" panose="02010609060101010101" pitchFamily="49" charset="-122"/>
                </a:rPr>
                <a:t>维块（</a:t>
              </a:r>
              <a:r>
                <a:rPr lang="zh-CN" altLang="en-US" sz="1800" dirty="0">
                  <a:solidFill>
                    <a:schemeClr val="tx1"/>
                  </a:solidFill>
                  <a:latin typeface="黑体" panose="02010609060101010101" pitchFamily="49" charset="-122"/>
                  <a:ea typeface="黑体" panose="02010609060101010101" pitchFamily="49" charset="-122"/>
                  <a:sym typeface="+mn-ea"/>
                </a:rPr>
                <a:t>最小项</a:t>
              </a:r>
              <a:r>
                <a:rPr lang="zh-CN" altLang="en-US" sz="1800" dirty="0">
                  <a:solidFill>
                    <a:schemeClr val="tx1"/>
                  </a:solidFill>
                  <a:latin typeface="黑体" panose="02010609060101010101" pitchFamily="49" charset="-122"/>
                  <a:ea typeface="黑体" panose="02010609060101010101" pitchFamily="49" charset="-122"/>
                </a:rPr>
                <a:t>）构成的一个卡诺圈，共三个</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0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16</a:t>
              </a:r>
              <a:r>
                <a:rPr lang="en-US" altLang="zh-CN" sz="1800" dirty="0">
                  <a:solidFill>
                    <a:schemeClr val="tx1"/>
                  </a:solidFill>
                  <a:latin typeface="黑体" panose="02010609060101010101" pitchFamily="49" charset="-122"/>
                  <a:ea typeface="黑体" panose="02010609060101010101" pitchFamily="49" charset="-122"/>
                </a:rPr>
                <a:t>=A B C D E + A B C D E=B C D E</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22</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30</a:t>
              </a:r>
              <a:r>
                <a:rPr lang="en-US" altLang="zh-CN" sz="1800" dirty="0">
                  <a:solidFill>
                    <a:schemeClr val="tx1"/>
                  </a:solidFill>
                  <a:latin typeface="黑体" panose="02010609060101010101" pitchFamily="49" charset="-122"/>
                  <a:ea typeface="黑体" panose="02010609060101010101" pitchFamily="49" charset="-122"/>
                </a:rPr>
                <a:t>=A B C D E + A B C D E=A C D E</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25</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29</a:t>
              </a:r>
              <a:r>
                <a:rPr lang="en-US" altLang="zh-CN" sz="1800" dirty="0">
                  <a:solidFill>
                    <a:schemeClr val="tx1"/>
                  </a:solidFill>
                  <a:latin typeface="黑体" panose="02010609060101010101" pitchFamily="49" charset="-122"/>
                  <a:ea typeface="黑体" panose="02010609060101010101" pitchFamily="49" charset="-122"/>
                </a:rPr>
                <a:t>=A B C D E + A B C D E=A B D E</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是</a:t>
              </a:r>
              <a:r>
                <a:rPr lang="zh-CN" altLang="en-US" sz="1800" dirty="0">
                  <a:solidFill>
                    <a:srgbClr val="FF0000"/>
                  </a:solidFill>
                  <a:latin typeface="黑体" panose="02010609060101010101" pitchFamily="49" charset="-122"/>
                  <a:ea typeface="黑体" panose="02010609060101010101" pitchFamily="49" charset="-122"/>
                </a:rPr>
                <a:t>四变量</a:t>
              </a:r>
              <a:r>
                <a:rPr lang="zh-CN" altLang="en-US" sz="1800" dirty="0">
                  <a:solidFill>
                    <a:schemeClr val="tx1"/>
                  </a:solidFill>
                  <a:latin typeface="黑体" panose="02010609060101010101" pitchFamily="49" charset="-122"/>
                  <a:ea typeface="黑体" panose="02010609060101010101" pitchFamily="49" charset="-122"/>
                </a:rPr>
                <a:t>的与项。</a:t>
              </a:r>
              <a:endParaRPr lang="zh-CN" altLang="en-US" sz="1800" dirty="0">
                <a:solidFill>
                  <a:schemeClr val="tx1"/>
                </a:solidFill>
                <a:latin typeface="黑体" panose="02010609060101010101" pitchFamily="49" charset="-122"/>
                <a:ea typeface="黑体" panose="02010609060101010101" pitchFamily="49" charset="-122"/>
              </a:endParaRPr>
            </a:p>
          </p:txBody>
        </p:sp>
      </p:grpSp>
      <p:cxnSp>
        <p:nvCxnSpPr>
          <p:cNvPr id="76870" name="直接连接符 2"/>
          <p:cNvCxnSpPr/>
          <p:nvPr/>
        </p:nvCxnSpPr>
        <p:spPr>
          <a:xfrm>
            <a:off x="1924050" y="2914650"/>
            <a:ext cx="133350" cy="0"/>
          </a:xfrm>
          <a:prstGeom prst="line">
            <a:avLst/>
          </a:prstGeom>
          <a:ln w="6350" cap="flat" cmpd="sng">
            <a:solidFill>
              <a:schemeClr val="tx1"/>
            </a:solidFill>
            <a:prstDash val="solid"/>
            <a:headEnd type="none" w="med" len="med"/>
            <a:tailEnd type="none" w="med" len="med"/>
          </a:ln>
        </p:spPr>
      </p:cxnSp>
      <p:cxnSp>
        <p:nvCxnSpPr>
          <p:cNvPr id="76871" name="直接连接符 65"/>
          <p:cNvCxnSpPr/>
          <p:nvPr/>
        </p:nvCxnSpPr>
        <p:spPr>
          <a:xfrm>
            <a:off x="2076450" y="2909888"/>
            <a:ext cx="133350" cy="0"/>
          </a:xfrm>
          <a:prstGeom prst="line">
            <a:avLst/>
          </a:prstGeom>
          <a:ln w="6350" cap="flat" cmpd="sng">
            <a:solidFill>
              <a:schemeClr val="tx1"/>
            </a:solidFill>
            <a:prstDash val="solid"/>
            <a:headEnd type="none" w="med" len="med"/>
            <a:tailEnd type="none" w="med" len="med"/>
          </a:ln>
        </p:spPr>
      </p:cxnSp>
      <p:cxnSp>
        <p:nvCxnSpPr>
          <p:cNvPr id="76872" name="直接连接符 66"/>
          <p:cNvCxnSpPr/>
          <p:nvPr/>
        </p:nvCxnSpPr>
        <p:spPr>
          <a:xfrm>
            <a:off x="3643313" y="3660775"/>
            <a:ext cx="131762" cy="0"/>
          </a:xfrm>
          <a:prstGeom prst="line">
            <a:avLst/>
          </a:prstGeom>
          <a:ln w="6350" cap="flat" cmpd="sng">
            <a:solidFill>
              <a:schemeClr val="tx1"/>
            </a:solidFill>
            <a:prstDash val="solid"/>
            <a:headEnd type="none" w="med" len="med"/>
            <a:tailEnd type="none" w="med" len="med"/>
          </a:ln>
        </p:spPr>
      </p:cxnSp>
      <p:cxnSp>
        <p:nvCxnSpPr>
          <p:cNvPr id="76873" name="直接连接符 67"/>
          <p:cNvCxnSpPr/>
          <p:nvPr/>
        </p:nvCxnSpPr>
        <p:spPr>
          <a:xfrm>
            <a:off x="3870325" y="3660775"/>
            <a:ext cx="133350" cy="0"/>
          </a:xfrm>
          <a:prstGeom prst="line">
            <a:avLst/>
          </a:prstGeom>
          <a:ln w="6350" cap="flat" cmpd="sng">
            <a:solidFill>
              <a:schemeClr val="tx1"/>
            </a:solidFill>
            <a:prstDash val="solid"/>
            <a:headEnd type="none" w="med" len="med"/>
            <a:tailEnd type="none" w="med" len="med"/>
          </a:ln>
        </p:spPr>
      </p:cxnSp>
      <p:cxnSp>
        <p:nvCxnSpPr>
          <p:cNvPr id="76874" name="直接连接符 68"/>
          <p:cNvCxnSpPr/>
          <p:nvPr/>
        </p:nvCxnSpPr>
        <p:spPr>
          <a:xfrm>
            <a:off x="4070350" y="3660775"/>
            <a:ext cx="131763" cy="0"/>
          </a:xfrm>
          <a:prstGeom prst="line">
            <a:avLst/>
          </a:prstGeom>
          <a:ln w="6350" cap="flat" cmpd="sng">
            <a:solidFill>
              <a:schemeClr val="tx1"/>
            </a:solidFill>
            <a:prstDash val="solid"/>
            <a:headEnd type="none" w="med" len="med"/>
            <a:tailEnd type="none" w="med" len="med"/>
          </a:ln>
        </p:spPr>
      </p:cxnSp>
      <p:cxnSp>
        <p:nvCxnSpPr>
          <p:cNvPr id="76875" name="直接连接符 69"/>
          <p:cNvCxnSpPr/>
          <p:nvPr/>
        </p:nvCxnSpPr>
        <p:spPr>
          <a:xfrm>
            <a:off x="4297363" y="3660775"/>
            <a:ext cx="133350" cy="0"/>
          </a:xfrm>
          <a:prstGeom prst="line">
            <a:avLst/>
          </a:prstGeom>
          <a:ln w="6350" cap="flat" cmpd="sng">
            <a:solidFill>
              <a:schemeClr val="tx1"/>
            </a:solidFill>
            <a:prstDash val="solid"/>
            <a:headEnd type="none" w="med" len="med"/>
            <a:tailEnd type="none" w="med" len="med"/>
          </a:ln>
        </p:spPr>
      </p:cxnSp>
      <p:cxnSp>
        <p:nvCxnSpPr>
          <p:cNvPr id="76876" name="直接连接符 70"/>
          <p:cNvCxnSpPr/>
          <p:nvPr/>
        </p:nvCxnSpPr>
        <p:spPr>
          <a:xfrm>
            <a:off x="4533900" y="3654425"/>
            <a:ext cx="133350" cy="0"/>
          </a:xfrm>
          <a:prstGeom prst="line">
            <a:avLst/>
          </a:prstGeom>
          <a:ln w="6350" cap="flat" cmpd="sng">
            <a:solidFill>
              <a:schemeClr val="tx1"/>
            </a:solidFill>
            <a:prstDash val="solid"/>
            <a:headEnd type="none" w="med" len="med"/>
            <a:tailEnd type="none" w="med" len="med"/>
          </a:ln>
        </p:spPr>
      </p:cxnSp>
      <p:cxnSp>
        <p:nvCxnSpPr>
          <p:cNvPr id="76877" name="直接连接符 71"/>
          <p:cNvCxnSpPr/>
          <p:nvPr/>
        </p:nvCxnSpPr>
        <p:spPr>
          <a:xfrm>
            <a:off x="5222875" y="3663950"/>
            <a:ext cx="133350" cy="0"/>
          </a:xfrm>
          <a:prstGeom prst="line">
            <a:avLst/>
          </a:prstGeom>
          <a:ln w="6350" cap="flat" cmpd="sng">
            <a:solidFill>
              <a:schemeClr val="tx1"/>
            </a:solidFill>
            <a:prstDash val="solid"/>
            <a:headEnd type="none" w="med" len="med"/>
            <a:tailEnd type="none" w="med" len="med"/>
          </a:ln>
        </p:spPr>
      </p:cxnSp>
      <p:cxnSp>
        <p:nvCxnSpPr>
          <p:cNvPr id="76878" name="直接连接符 72"/>
          <p:cNvCxnSpPr/>
          <p:nvPr/>
        </p:nvCxnSpPr>
        <p:spPr>
          <a:xfrm>
            <a:off x="5445125" y="3663950"/>
            <a:ext cx="133350" cy="0"/>
          </a:xfrm>
          <a:prstGeom prst="line">
            <a:avLst/>
          </a:prstGeom>
          <a:ln w="6350" cap="flat" cmpd="sng">
            <a:solidFill>
              <a:schemeClr val="tx1"/>
            </a:solidFill>
            <a:prstDash val="solid"/>
            <a:headEnd type="none" w="med" len="med"/>
            <a:tailEnd type="none" w="med" len="med"/>
          </a:ln>
        </p:spPr>
      </p:cxnSp>
      <p:cxnSp>
        <p:nvCxnSpPr>
          <p:cNvPr id="76879" name="直接连接符 73"/>
          <p:cNvCxnSpPr/>
          <p:nvPr/>
        </p:nvCxnSpPr>
        <p:spPr>
          <a:xfrm>
            <a:off x="5691188" y="3663950"/>
            <a:ext cx="133350" cy="0"/>
          </a:xfrm>
          <a:prstGeom prst="line">
            <a:avLst/>
          </a:prstGeom>
          <a:ln w="6350" cap="flat" cmpd="sng">
            <a:solidFill>
              <a:schemeClr val="tx1"/>
            </a:solidFill>
            <a:prstDash val="solid"/>
            <a:headEnd type="none" w="med" len="med"/>
            <a:tailEnd type="none" w="med" len="med"/>
          </a:ln>
        </p:spPr>
      </p:cxnSp>
      <p:cxnSp>
        <p:nvCxnSpPr>
          <p:cNvPr id="76880" name="直接连接符 74"/>
          <p:cNvCxnSpPr/>
          <p:nvPr/>
        </p:nvCxnSpPr>
        <p:spPr>
          <a:xfrm>
            <a:off x="5932488" y="3663950"/>
            <a:ext cx="131762" cy="0"/>
          </a:xfrm>
          <a:prstGeom prst="line">
            <a:avLst/>
          </a:prstGeom>
          <a:ln w="6350" cap="flat" cmpd="sng">
            <a:solidFill>
              <a:schemeClr val="tx1"/>
            </a:solidFill>
            <a:prstDash val="solid"/>
            <a:headEnd type="none" w="med" len="med"/>
            <a:tailEnd type="none" w="med" len="med"/>
          </a:ln>
        </p:spPr>
      </p:cxnSp>
      <p:cxnSp>
        <p:nvCxnSpPr>
          <p:cNvPr id="76881" name="直接连接符 75"/>
          <p:cNvCxnSpPr/>
          <p:nvPr/>
        </p:nvCxnSpPr>
        <p:spPr>
          <a:xfrm>
            <a:off x="6154738" y="3651250"/>
            <a:ext cx="131762" cy="0"/>
          </a:xfrm>
          <a:prstGeom prst="line">
            <a:avLst/>
          </a:prstGeom>
          <a:ln w="6350" cap="flat" cmpd="sng">
            <a:solidFill>
              <a:schemeClr val="tx1"/>
            </a:solidFill>
            <a:prstDash val="solid"/>
            <a:headEnd type="none" w="med" len="med"/>
            <a:tailEnd type="none" w="med" len="med"/>
          </a:ln>
        </p:spPr>
      </p:cxnSp>
      <p:cxnSp>
        <p:nvCxnSpPr>
          <p:cNvPr id="76882" name="直接连接符 76"/>
          <p:cNvCxnSpPr/>
          <p:nvPr/>
        </p:nvCxnSpPr>
        <p:spPr>
          <a:xfrm>
            <a:off x="6375400" y="3651250"/>
            <a:ext cx="133350" cy="0"/>
          </a:xfrm>
          <a:prstGeom prst="line">
            <a:avLst/>
          </a:prstGeom>
          <a:ln w="6350" cap="flat" cmpd="sng">
            <a:solidFill>
              <a:schemeClr val="tx1"/>
            </a:solidFill>
            <a:prstDash val="solid"/>
            <a:headEnd type="none" w="med" len="med"/>
            <a:tailEnd type="none" w="med" len="med"/>
          </a:ln>
        </p:spPr>
      </p:cxnSp>
      <p:cxnSp>
        <p:nvCxnSpPr>
          <p:cNvPr id="76883" name="直接连接符 77"/>
          <p:cNvCxnSpPr/>
          <p:nvPr/>
        </p:nvCxnSpPr>
        <p:spPr>
          <a:xfrm>
            <a:off x="6621463" y="3651250"/>
            <a:ext cx="133350" cy="0"/>
          </a:xfrm>
          <a:prstGeom prst="line">
            <a:avLst/>
          </a:prstGeom>
          <a:ln w="6350" cap="flat" cmpd="sng">
            <a:solidFill>
              <a:schemeClr val="tx1"/>
            </a:solidFill>
            <a:prstDash val="solid"/>
            <a:headEnd type="none" w="med" len="med"/>
            <a:tailEnd type="none" w="med" len="med"/>
          </a:ln>
        </p:spPr>
      </p:cxnSp>
      <p:cxnSp>
        <p:nvCxnSpPr>
          <p:cNvPr id="76884" name="直接连接符 78"/>
          <p:cNvCxnSpPr/>
          <p:nvPr/>
        </p:nvCxnSpPr>
        <p:spPr>
          <a:xfrm>
            <a:off x="6862763" y="3651250"/>
            <a:ext cx="131762" cy="0"/>
          </a:xfrm>
          <a:prstGeom prst="line">
            <a:avLst/>
          </a:prstGeom>
          <a:ln w="6350" cap="flat" cmpd="sng">
            <a:solidFill>
              <a:schemeClr val="tx1"/>
            </a:solidFill>
            <a:prstDash val="solid"/>
            <a:headEnd type="none" w="med" len="med"/>
            <a:tailEnd type="none" w="med" len="med"/>
          </a:ln>
        </p:spPr>
      </p:cxnSp>
      <p:cxnSp>
        <p:nvCxnSpPr>
          <p:cNvPr id="76885" name="直接连接符 79"/>
          <p:cNvCxnSpPr/>
          <p:nvPr/>
        </p:nvCxnSpPr>
        <p:spPr>
          <a:xfrm>
            <a:off x="3870325" y="3986213"/>
            <a:ext cx="133350" cy="0"/>
          </a:xfrm>
          <a:prstGeom prst="line">
            <a:avLst/>
          </a:prstGeom>
          <a:ln w="6350" cap="flat" cmpd="sng">
            <a:solidFill>
              <a:schemeClr val="tx1"/>
            </a:solidFill>
            <a:prstDash val="solid"/>
            <a:headEnd type="none" w="med" len="med"/>
            <a:tailEnd type="none" w="med" len="med"/>
          </a:ln>
        </p:spPr>
      </p:cxnSp>
      <p:cxnSp>
        <p:nvCxnSpPr>
          <p:cNvPr id="76886" name="直接连接符 80"/>
          <p:cNvCxnSpPr/>
          <p:nvPr/>
        </p:nvCxnSpPr>
        <p:spPr>
          <a:xfrm>
            <a:off x="4552950" y="3986213"/>
            <a:ext cx="133350" cy="0"/>
          </a:xfrm>
          <a:prstGeom prst="line">
            <a:avLst/>
          </a:prstGeom>
          <a:ln w="6350" cap="flat" cmpd="sng">
            <a:solidFill>
              <a:schemeClr val="tx1"/>
            </a:solidFill>
            <a:prstDash val="solid"/>
            <a:headEnd type="none" w="med" len="med"/>
            <a:tailEnd type="none" w="med" len="med"/>
          </a:ln>
        </p:spPr>
      </p:cxnSp>
      <p:cxnSp>
        <p:nvCxnSpPr>
          <p:cNvPr id="76887" name="直接连接符 81"/>
          <p:cNvCxnSpPr/>
          <p:nvPr/>
        </p:nvCxnSpPr>
        <p:spPr>
          <a:xfrm>
            <a:off x="5910263" y="3986213"/>
            <a:ext cx="131762" cy="0"/>
          </a:xfrm>
          <a:prstGeom prst="line">
            <a:avLst/>
          </a:prstGeom>
          <a:ln w="6350" cap="flat" cmpd="sng">
            <a:solidFill>
              <a:schemeClr val="tx1"/>
            </a:solidFill>
            <a:prstDash val="solid"/>
            <a:headEnd type="none" w="med" len="med"/>
            <a:tailEnd type="none" w="med" len="med"/>
          </a:ln>
        </p:spPr>
      </p:cxnSp>
      <p:cxnSp>
        <p:nvCxnSpPr>
          <p:cNvPr id="76888" name="直接连接符 82"/>
          <p:cNvCxnSpPr/>
          <p:nvPr/>
        </p:nvCxnSpPr>
        <p:spPr>
          <a:xfrm>
            <a:off x="6838950" y="3986213"/>
            <a:ext cx="133350" cy="0"/>
          </a:xfrm>
          <a:prstGeom prst="line">
            <a:avLst/>
          </a:prstGeom>
          <a:ln w="6350" cap="flat" cmpd="sng">
            <a:solidFill>
              <a:schemeClr val="tx1"/>
            </a:solidFill>
            <a:prstDash val="solid"/>
            <a:headEnd type="none" w="med" len="med"/>
            <a:tailEnd type="none" w="med" len="med"/>
          </a:ln>
        </p:spPr>
      </p:cxnSp>
      <p:cxnSp>
        <p:nvCxnSpPr>
          <p:cNvPr id="76889" name="直接连接符 83"/>
          <p:cNvCxnSpPr/>
          <p:nvPr/>
        </p:nvCxnSpPr>
        <p:spPr>
          <a:xfrm>
            <a:off x="4105275" y="4325938"/>
            <a:ext cx="133350" cy="0"/>
          </a:xfrm>
          <a:prstGeom prst="line">
            <a:avLst/>
          </a:prstGeom>
          <a:ln w="6350" cap="flat" cmpd="sng">
            <a:solidFill>
              <a:schemeClr val="tx1"/>
            </a:solidFill>
            <a:prstDash val="solid"/>
            <a:headEnd type="none" w="med" len="med"/>
            <a:tailEnd type="none" w="med" len="med"/>
          </a:ln>
        </p:spPr>
      </p:cxnSp>
      <p:cxnSp>
        <p:nvCxnSpPr>
          <p:cNvPr id="76890" name="直接连接符 84"/>
          <p:cNvCxnSpPr/>
          <p:nvPr/>
        </p:nvCxnSpPr>
        <p:spPr>
          <a:xfrm>
            <a:off x="4352925" y="4318000"/>
            <a:ext cx="133350" cy="0"/>
          </a:xfrm>
          <a:prstGeom prst="line">
            <a:avLst/>
          </a:prstGeom>
          <a:ln w="6350" cap="flat" cmpd="sng">
            <a:solidFill>
              <a:schemeClr val="tx1"/>
            </a:solidFill>
            <a:prstDash val="solid"/>
            <a:headEnd type="none" w="med" len="med"/>
            <a:tailEnd type="none" w="med" len="med"/>
          </a:ln>
        </p:spPr>
      </p:cxnSp>
      <p:cxnSp>
        <p:nvCxnSpPr>
          <p:cNvPr id="76891" name="直接连接符 85"/>
          <p:cNvCxnSpPr/>
          <p:nvPr/>
        </p:nvCxnSpPr>
        <p:spPr>
          <a:xfrm>
            <a:off x="5691188" y="4318000"/>
            <a:ext cx="133350" cy="0"/>
          </a:xfrm>
          <a:prstGeom prst="line">
            <a:avLst/>
          </a:prstGeom>
          <a:ln w="6350" cap="flat" cmpd="sng">
            <a:solidFill>
              <a:schemeClr val="tx1"/>
            </a:solidFill>
            <a:prstDash val="solid"/>
            <a:headEnd type="none" w="med" len="med"/>
            <a:tailEnd type="none" w="med" len="med"/>
          </a:ln>
        </p:spPr>
      </p:cxnSp>
      <p:cxnSp>
        <p:nvCxnSpPr>
          <p:cNvPr id="76892" name="直接连接符 86"/>
          <p:cNvCxnSpPr/>
          <p:nvPr/>
        </p:nvCxnSpPr>
        <p:spPr>
          <a:xfrm>
            <a:off x="6608763" y="4325938"/>
            <a:ext cx="133350" cy="0"/>
          </a:xfrm>
          <a:prstGeom prst="line">
            <a:avLst/>
          </a:prstGeom>
          <a:ln w="6350" cap="flat" cmpd="sng">
            <a:solidFill>
              <a:schemeClr val="tx1"/>
            </a:solidFill>
            <a:prstDash val="solid"/>
            <a:headEnd type="none" w="med" len="med"/>
            <a:tailEnd type="none" w="med" len="med"/>
          </a:ln>
        </p:spPr>
      </p:cxnSp>
      <p:cxnSp>
        <p:nvCxnSpPr>
          <p:cNvPr id="2" name="直接连接符 1"/>
          <p:cNvCxnSpPr/>
          <p:nvPr/>
        </p:nvCxnSpPr>
        <p:spPr>
          <a:xfrm>
            <a:off x="2743200" y="771525"/>
            <a:ext cx="330200" cy="216535"/>
          </a:xfrm>
          <a:prstGeom prst="line">
            <a:avLst/>
          </a:prstGeom>
        </p:spPr>
        <p:style>
          <a:lnRef idx="3">
            <a:schemeClr val="accent4"/>
          </a:lnRef>
          <a:fillRef idx="0">
            <a:schemeClr val="accent4"/>
          </a:fillRef>
          <a:effectRef idx="2">
            <a:schemeClr val="accent4"/>
          </a:effectRef>
          <a:fontRef idx="minor">
            <a:schemeClr val="tx1"/>
          </a:fontRef>
        </p:style>
      </p:cxnSp>
    </p:spTree>
  </p:cSld>
  <p:clrMapOvr>
    <a:masterClrMapping/>
  </p:clrMapOvr>
  <p:transition advTm="20000"/>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782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aphicFrame>
        <p:nvGraphicFramePr>
          <p:cNvPr id="75780" name="Group 4"/>
          <p:cNvGraphicFramePr>
            <a:graphicFrameLocks noGrp="1"/>
          </p:cNvGraphicFramePr>
          <p:nvPr/>
        </p:nvGraphicFramePr>
        <p:xfrm>
          <a:off x="6172200" y="1257300"/>
          <a:ext cx="2362200" cy="1600200"/>
        </p:xfrm>
        <a:graphic>
          <a:graphicData uri="http://schemas.openxmlformats.org/drawingml/2006/table">
            <a:tbl>
              <a:tblPr/>
              <a:tblGrid>
                <a:gridCol w="590550"/>
                <a:gridCol w="590550"/>
                <a:gridCol w="590550"/>
                <a:gridCol w="590550"/>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75807" name="Group 31"/>
          <p:cNvGraphicFramePr>
            <a:graphicFrameLocks noGrp="1"/>
          </p:cNvGraphicFramePr>
          <p:nvPr/>
        </p:nvGraphicFramePr>
        <p:xfrm>
          <a:off x="3048000" y="1257300"/>
          <a:ext cx="2362200" cy="1600200"/>
        </p:xfrm>
        <a:graphic>
          <a:graphicData uri="http://schemas.openxmlformats.org/drawingml/2006/table">
            <a:tbl>
              <a:tblPr/>
              <a:tblGrid>
                <a:gridCol w="590550"/>
                <a:gridCol w="590550"/>
                <a:gridCol w="590550"/>
                <a:gridCol w="590550"/>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
        <p:nvSpPr>
          <p:cNvPr id="77882" name="Rectangle 57"/>
          <p:cNvSpPr>
            <a:spLocks noGrp="1"/>
          </p:cNvSpPr>
          <p:nvPr>
            <p:ph type="title"/>
          </p:nvPr>
        </p:nvSpPr>
        <p:spPr>
          <a:xfrm>
            <a:off x="142875" y="573088"/>
            <a:ext cx="4495800" cy="414337"/>
          </a:xfrm>
          <a:prstGeom prst="rect">
            <a:avLst/>
          </a:prstGeom>
          <a:noFill/>
          <a:ln w="9525">
            <a:noFill/>
          </a:ln>
        </p:spPr>
        <p:txBody>
          <a:bodyPr/>
          <a:p>
            <a:pPr eaLnBrk="1" hangingPunct="1"/>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例：五变量的卡诺图</a:t>
            </a:r>
            <a:endParaRPr lang="zh-CN" altLang="en-US" sz="1800" dirty="0">
              <a:latin typeface="黑体" panose="02010609060101010101" pitchFamily="49" charset="-122"/>
              <a:ea typeface="黑体" panose="02010609060101010101" pitchFamily="49" charset="-122"/>
            </a:endParaRPr>
          </a:p>
        </p:txBody>
      </p:sp>
      <p:sp>
        <p:nvSpPr>
          <p:cNvPr id="77883" name="Rectangle 58"/>
          <p:cNvSpPr>
            <a:spLocks noGrp="1"/>
          </p:cNvSpPr>
          <p:nvPr>
            <p:ph/>
          </p:nvPr>
        </p:nvSpPr>
        <p:spPr>
          <a:xfrm>
            <a:off x="304800" y="3028950"/>
            <a:ext cx="8839200" cy="1485900"/>
          </a:xfrm>
          <a:prstGeom prst="rect">
            <a:avLst/>
          </a:prstGeom>
          <a:noFill/>
          <a:ln w="9525">
            <a:noFill/>
          </a:ln>
        </p:spPr>
        <p:txBody>
          <a:bodyPr/>
          <a:p>
            <a:pPr eaLnBrk="1" hangingPunct="1">
              <a:buFont typeface="Wingdings" panose="05000000000000000000" pitchFamily="2" charset="2"/>
              <a:buChar char="l"/>
            </a:pPr>
            <a:r>
              <a:rPr lang="en-US" altLang="zh-CN" sz="1800" dirty="0">
                <a:latin typeface="黑体" panose="02010609060101010101" pitchFamily="49" charset="-122"/>
                <a:ea typeface="黑体" panose="02010609060101010101" pitchFamily="49" charset="-122"/>
              </a:rPr>
              <a:t>2</a:t>
            </a:r>
            <a:r>
              <a:rPr lang="zh-CN" altLang="en-US" sz="1800" dirty="0">
                <a:latin typeface="黑体" panose="02010609060101010101" pitchFamily="49" charset="-122"/>
                <a:ea typeface="黑体" panose="02010609060101010101" pitchFamily="49" charset="-122"/>
              </a:rPr>
              <a:t>维块：由四个相邻的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维块构成的一个卡诺圈，共</a:t>
            </a:r>
            <a:r>
              <a:rPr lang="en-US" altLang="zh-CN" sz="1800" dirty="0">
                <a:latin typeface="黑体" panose="02010609060101010101" pitchFamily="49" charset="-122"/>
                <a:ea typeface="黑体" panose="02010609060101010101" pitchFamily="49" charset="-122"/>
              </a:rPr>
              <a:t>2</a:t>
            </a:r>
            <a:r>
              <a:rPr lang="zh-CN" altLang="en-US" sz="1800" dirty="0">
                <a:latin typeface="黑体" panose="02010609060101010101" pitchFamily="49" charset="-122"/>
                <a:ea typeface="黑体" panose="02010609060101010101" pitchFamily="49" charset="-122"/>
              </a:rPr>
              <a:t>个。</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8</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9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12</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13</a:t>
            </a:r>
            <a:r>
              <a:rPr lang="en-US" altLang="zh-CN" sz="1800" dirty="0">
                <a:latin typeface="黑体" panose="02010609060101010101" pitchFamily="49" charset="-122"/>
                <a:ea typeface="黑体" panose="02010609060101010101" pitchFamily="49" charset="-122"/>
              </a:rPr>
              <a:t>= A B D</a:t>
            </a:r>
            <a:endParaRPr lang="en-US" altLang="zh-CN" sz="1800" dirty="0">
              <a:latin typeface="黑体" panose="02010609060101010101" pitchFamily="49" charset="-122"/>
              <a:ea typeface="黑体" panose="02010609060101010101" pitchFamily="49" charset="-122"/>
            </a:endParaRPr>
          </a:p>
          <a:p>
            <a:pPr eaLnBrk="1" hangingPunct="1">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0</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8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10</a:t>
            </a:r>
            <a:r>
              <a:rPr lang="en-US" altLang="zh-CN" sz="1800" dirty="0">
                <a:latin typeface="黑体" panose="02010609060101010101" pitchFamily="49" charset="-122"/>
                <a:ea typeface="黑体" panose="02010609060101010101" pitchFamily="49" charset="-122"/>
              </a:rPr>
              <a:t>= A C E</a:t>
            </a:r>
            <a:endParaRPr lang="en-US" altLang="zh-CN" sz="1800" dirty="0">
              <a:latin typeface="黑体" panose="02010609060101010101" pitchFamily="49" charset="-122"/>
              <a:ea typeface="黑体" panose="02010609060101010101" pitchFamily="49" charset="-122"/>
            </a:endParaRPr>
          </a:p>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是</a:t>
            </a:r>
            <a:r>
              <a:rPr lang="zh-CN" altLang="en-US" sz="1800" dirty="0">
                <a:solidFill>
                  <a:srgbClr val="FF0000"/>
                </a:solidFill>
                <a:latin typeface="黑体" panose="02010609060101010101" pitchFamily="49" charset="-122"/>
                <a:ea typeface="黑体" panose="02010609060101010101" pitchFamily="49" charset="-122"/>
              </a:rPr>
              <a:t>三变量</a:t>
            </a:r>
            <a:r>
              <a:rPr lang="zh-CN" altLang="en-US" sz="1800" dirty="0">
                <a:latin typeface="黑体" panose="02010609060101010101" pitchFamily="49" charset="-122"/>
                <a:ea typeface="黑体" panose="02010609060101010101" pitchFamily="49" charset="-122"/>
              </a:rPr>
              <a:t>的与项。</a:t>
            </a:r>
            <a:endParaRPr lang="zh-CN" altLang="en-US" sz="1800" b="1" dirty="0">
              <a:latin typeface="黑体" panose="02010609060101010101" pitchFamily="49" charset="-122"/>
              <a:ea typeface="黑体" panose="02010609060101010101" pitchFamily="49" charset="-122"/>
            </a:endParaRPr>
          </a:p>
        </p:txBody>
      </p:sp>
      <p:grpSp>
        <p:nvGrpSpPr>
          <p:cNvPr id="77884" name="Group 59"/>
          <p:cNvGrpSpPr/>
          <p:nvPr/>
        </p:nvGrpSpPr>
        <p:grpSpPr>
          <a:xfrm>
            <a:off x="3048000" y="1314450"/>
            <a:ext cx="2362200" cy="1662113"/>
            <a:chOff x="0" y="0"/>
            <a:chExt cx="1488" cy="1396"/>
          </a:xfrm>
        </p:grpSpPr>
        <p:sp>
          <p:nvSpPr>
            <p:cNvPr id="77927" name="Text Box 60"/>
            <p:cNvSpPr txBox="1"/>
            <p:nvPr/>
          </p:nvSpPr>
          <p:spPr>
            <a:xfrm>
              <a:off x="0" y="960"/>
              <a:ext cx="336" cy="388"/>
            </a:xfrm>
            <a:prstGeom prst="rect">
              <a:avLst/>
            </a:prstGeom>
            <a:noFill/>
            <a:ln w="9525" cap="flat" cmpd="sng">
              <a:solidFill>
                <a:srgbClr val="000000"/>
              </a:solidFill>
              <a:prstDash val="solid"/>
              <a:miter/>
              <a:headEnd type="none" w="med" len="med"/>
              <a:tailEnd type="none" w="med" len="med"/>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8" name="Text Box 61"/>
            <p:cNvSpPr txBox="1"/>
            <p:nvPr/>
          </p:nvSpPr>
          <p:spPr>
            <a:xfrm>
              <a:off x="0" y="0"/>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9" name="Text Box 62"/>
            <p:cNvSpPr txBox="1"/>
            <p:nvPr/>
          </p:nvSpPr>
          <p:spPr>
            <a:xfrm>
              <a:off x="768" y="0"/>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0" name="Text Box 63"/>
            <p:cNvSpPr txBox="1"/>
            <p:nvPr/>
          </p:nvSpPr>
          <p:spPr>
            <a:xfrm>
              <a:off x="1104" y="0"/>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1" name="Text Box 64"/>
            <p:cNvSpPr txBox="1"/>
            <p:nvPr/>
          </p:nvSpPr>
          <p:spPr>
            <a:xfrm>
              <a:off x="1104" y="336"/>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2" name="Text Box 65"/>
            <p:cNvSpPr txBox="1"/>
            <p:nvPr/>
          </p:nvSpPr>
          <p:spPr>
            <a:xfrm>
              <a:off x="768" y="336"/>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3" name="Text Box 66"/>
            <p:cNvSpPr txBox="1"/>
            <p:nvPr/>
          </p:nvSpPr>
          <p:spPr>
            <a:xfrm>
              <a:off x="384" y="672"/>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4" name="Text Box 67"/>
            <p:cNvSpPr txBox="1"/>
            <p:nvPr/>
          </p:nvSpPr>
          <p:spPr>
            <a:xfrm>
              <a:off x="1152" y="1008"/>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grpSp>
      <p:grpSp>
        <p:nvGrpSpPr>
          <p:cNvPr id="77885" name="Group 68"/>
          <p:cNvGrpSpPr/>
          <p:nvPr/>
        </p:nvGrpSpPr>
        <p:grpSpPr>
          <a:xfrm>
            <a:off x="6172200" y="1314450"/>
            <a:ext cx="2286000" cy="1662113"/>
            <a:chOff x="0" y="0"/>
            <a:chExt cx="1440" cy="1396"/>
          </a:xfrm>
        </p:grpSpPr>
        <p:sp>
          <p:nvSpPr>
            <p:cNvPr id="77922" name="Text Box 69"/>
            <p:cNvSpPr txBox="1"/>
            <p:nvPr/>
          </p:nvSpPr>
          <p:spPr>
            <a:xfrm>
              <a:off x="384" y="1008"/>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3" name="Text Box 70"/>
            <p:cNvSpPr txBox="1"/>
            <p:nvPr/>
          </p:nvSpPr>
          <p:spPr>
            <a:xfrm>
              <a:off x="768" y="1008"/>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4" name="Text Box 71"/>
            <p:cNvSpPr txBox="1"/>
            <p:nvPr/>
          </p:nvSpPr>
          <p:spPr>
            <a:xfrm>
              <a:off x="768" y="336"/>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5" name="Text Box 72"/>
            <p:cNvSpPr txBox="1"/>
            <p:nvPr/>
          </p:nvSpPr>
          <p:spPr>
            <a:xfrm>
              <a:off x="1104" y="336"/>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6" name="Text Box 73"/>
            <p:cNvSpPr txBox="1"/>
            <p:nvPr/>
          </p:nvSpPr>
          <p:spPr>
            <a:xfrm>
              <a:off x="0" y="0"/>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grpSp>
      <p:grpSp>
        <p:nvGrpSpPr>
          <p:cNvPr id="77886" name="Group 74"/>
          <p:cNvGrpSpPr/>
          <p:nvPr/>
        </p:nvGrpSpPr>
        <p:grpSpPr>
          <a:xfrm>
            <a:off x="2133600" y="857250"/>
            <a:ext cx="1828800" cy="690563"/>
            <a:chOff x="0" y="0"/>
            <a:chExt cx="1152" cy="580"/>
          </a:xfrm>
        </p:grpSpPr>
        <p:sp>
          <p:nvSpPr>
            <p:cNvPr id="77919" name="Line 75"/>
            <p:cNvSpPr/>
            <p:nvPr/>
          </p:nvSpPr>
          <p:spPr>
            <a:xfrm flipH="1" flipV="1">
              <a:off x="240" y="48"/>
              <a:ext cx="336" cy="288"/>
            </a:xfrm>
            <a:prstGeom prst="line">
              <a:avLst/>
            </a:prstGeom>
            <a:ln w="9525" cap="flat" cmpd="sng">
              <a:solidFill>
                <a:srgbClr val="FFFFFF"/>
              </a:solidFill>
              <a:prstDash val="solid"/>
              <a:headEnd type="none" w="med" len="med"/>
              <a:tailEnd type="none" w="med" len="med"/>
            </a:ln>
          </p:spPr>
        </p:sp>
        <p:sp>
          <p:nvSpPr>
            <p:cNvPr id="77920" name="Text Box 76"/>
            <p:cNvSpPr txBox="1"/>
            <p:nvPr/>
          </p:nvSpPr>
          <p:spPr>
            <a:xfrm>
              <a:off x="480" y="0"/>
              <a:ext cx="672"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ABC</a:t>
              </a:r>
              <a:endParaRPr lang="en-US" altLang="zh-CN" sz="2400" dirty="0">
                <a:solidFill>
                  <a:schemeClr val="tx1"/>
                </a:solidFill>
                <a:latin typeface="Times New Roman" panose="02020603050405020304" pitchFamily="18" charset="0"/>
              </a:endParaRPr>
            </a:p>
          </p:txBody>
        </p:sp>
        <p:sp>
          <p:nvSpPr>
            <p:cNvPr id="77921" name="Text Box 77"/>
            <p:cNvSpPr txBox="1"/>
            <p:nvPr/>
          </p:nvSpPr>
          <p:spPr>
            <a:xfrm>
              <a:off x="0" y="192"/>
              <a:ext cx="480"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DE</a:t>
              </a:r>
              <a:endParaRPr lang="en-US" altLang="zh-CN" sz="2400" dirty="0">
                <a:solidFill>
                  <a:schemeClr val="tx1"/>
                </a:solidFill>
                <a:latin typeface="Times New Roman" panose="02020603050405020304" pitchFamily="18" charset="0"/>
              </a:endParaRPr>
            </a:p>
          </p:txBody>
        </p:sp>
      </p:grpSp>
      <p:grpSp>
        <p:nvGrpSpPr>
          <p:cNvPr id="75855" name="Group 109"/>
          <p:cNvGrpSpPr/>
          <p:nvPr/>
        </p:nvGrpSpPr>
        <p:grpSpPr>
          <a:xfrm>
            <a:off x="4514850" y="3429000"/>
            <a:ext cx="857250" cy="342900"/>
            <a:chOff x="0" y="0"/>
            <a:chExt cx="540" cy="288"/>
          </a:xfrm>
        </p:grpSpPr>
        <p:sp>
          <p:nvSpPr>
            <p:cNvPr id="77914" name="Line 83"/>
            <p:cNvSpPr/>
            <p:nvPr/>
          </p:nvSpPr>
          <p:spPr>
            <a:xfrm>
              <a:off x="24" y="0"/>
              <a:ext cx="144" cy="0"/>
            </a:xfrm>
            <a:prstGeom prst="line">
              <a:avLst/>
            </a:prstGeom>
            <a:ln w="9525" cap="flat" cmpd="sng">
              <a:solidFill>
                <a:srgbClr val="FFFFFF"/>
              </a:solidFill>
              <a:prstDash val="solid"/>
              <a:headEnd type="none" w="med" len="med"/>
              <a:tailEnd type="none" w="med" len="med"/>
            </a:ln>
          </p:spPr>
        </p:sp>
        <p:sp>
          <p:nvSpPr>
            <p:cNvPr id="77915" name="Line 84"/>
            <p:cNvSpPr/>
            <p:nvPr/>
          </p:nvSpPr>
          <p:spPr>
            <a:xfrm>
              <a:off x="396" y="0"/>
              <a:ext cx="144" cy="0"/>
            </a:xfrm>
            <a:prstGeom prst="line">
              <a:avLst/>
            </a:prstGeom>
            <a:ln w="9525" cap="flat" cmpd="sng">
              <a:solidFill>
                <a:srgbClr val="FFFFFF"/>
              </a:solidFill>
              <a:prstDash val="solid"/>
              <a:headEnd type="none" w="med" len="med"/>
              <a:tailEnd type="none" w="med" len="med"/>
            </a:ln>
          </p:spPr>
        </p:sp>
        <p:sp>
          <p:nvSpPr>
            <p:cNvPr id="77916" name="Line 85"/>
            <p:cNvSpPr/>
            <p:nvPr/>
          </p:nvSpPr>
          <p:spPr>
            <a:xfrm>
              <a:off x="0" y="288"/>
              <a:ext cx="144" cy="0"/>
            </a:xfrm>
            <a:prstGeom prst="line">
              <a:avLst/>
            </a:prstGeom>
            <a:ln w="9525" cap="flat" cmpd="sng">
              <a:solidFill>
                <a:srgbClr val="FFFFFF"/>
              </a:solidFill>
              <a:prstDash val="solid"/>
              <a:headEnd type="none" w="med" len="med"/>
              <a:tailEnd type="none" w="med" len="med"/>
            </a:ln>
          </p:spPr>
        </p:sp>
        <p:sp>
          <p:nvSpPr>
            <p:cNvPr id="77917" name="Line 86"/>
            <p:cNvSpPr/>
            <p:nvPr/>
          </p:nvSpPr>
          <p:spPr>
            <a:xfrm>
              <a:off x="372" y="288"/>
              <a:ext cx="144" cy="0"/>
            </a:xfrm>
            <a:prstGeom prst="line">
              <a:avLst/>
            </a:prstGeom>
            <a:ln w="9525" cap="flat" cmpd="sng">
              <a:solidFill>
                <a:srgbClr val="FFFFFF"/>
              </a:solidFill>
              <a:prstDash val="solid"/>
              <a:headEnd type="none" w="med" len="med"/>
              <a:tailEnd type="none" w="med" len="med"/>
            </a:ln>
          </p:spPr>
        </p:sp>
        <p:sp>
          <p:nvSpPr>
            <p:cNvPr id="77918" name="Line 87"/>
            <p:cNvSpPr/>
            <p:nvPr/>
          </p:nvSpPr>
          <p:spPr>
            <a:xfrm>
              <a:off x="180" y="288"/>
              <a:ext cx="144" cy="0"/>
            </a:xfrm>
            <a:prstGeom prst="line">
              <a:avLst/>
            </a:prstGeom>
            <a:ln w="9525" cap="flat" cmpd="sng">
              <a:solidFill>
                <a:srgbClr val="FFFFFF"/>
              </a:solidFill>
              <a:prstDash val="solid"/>
              <a:headEnd type="none" w="med" len="med"/>
              <a:tailEnd type="none" w="med" len="med"/>
            </a:ln>
          </p:spPr>
        </p:sp>
      </p:grpSp>
      <p:grpSp>
        <p:nvGrpSpPr>
          <p:cNvPr id="75861" name="Group 88"/>
          <p:cNvGrpSpPr/>
          <p:nvPr/>
        </p:nvGrpSpPr>
        <p:grpSpPr>
          <a:xfrm rot="2700000">
            <a:off x="2986088" y="1200150"/>
            <a:ext cx="500062" cy="377825"/>
            <a:chOff x="0" y="0"/>
            <a:chExt cx="420" cy="238"/>
          </a:xfrm>
        </p:grpSpPr>
        <p:sp>
          <p:nvSpPr>
            <p:cNvPr id="77910" name="Arc 89"/>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11" name="Arc 90"/>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12" name="Line 91"/>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13" name="Line 92"/>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5866" name="Group 93"/>
          <p:cNvGrpSpPr/>
          <p:nvPr/>
        </p:nvGrpSpPr>
        <p:grpSpPr>
          <a:xfrm rot="8100000">
            <a:off x="4895850" y="1257300"/>
            <a:ext cx="666750" cy="284163"/>
            <a:chOff x="0" y="0"/>
            <a:chExt cx="420" cy="238"/>
          </a:xfrm>
        </p:grpSpPr>
        <p:sp>
          <p:nvSpPr>
            <p:cNvPr id="77906" name="Arc 94"/>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7" name="Arc 95"/>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8" name="Line 96"/>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09" name="Line 97"/>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5871" name="Group 98"/>
          <p:cNvGrpSpPr/>
          <p:nvPr/>
        </p:nvGrpSpPr>
        <p:grpSpPr>
          <a:xfrm rot="-8700000">
            <a:off x="4876800" y="2574925"/>
            <a:ext cx="666750" cy="282575"/>
            <a:chOff x="0" y="0"/>
            <a:chExt cx="420" cy="238"/>
          </a:xfrm>
        </p:grpSpPr>
        <p:sp>
          <p:nvSpPr>
            <p:cNvPr id="77902" name="Arc 99"/>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3" name="Arc 100"/>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4" name="Line 101"/>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05" name="Line 102"/>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5876" name="Group 103"/>
          <p:cNvGrpSpPr/>
          <p:nvPr/>
        </p:nvGrpSpPr>
        <p:grpSpPr>
          <a:xfrm rot="-2700000">
            <a:off x="2914650" y="2571750"/>
            <a:ext cx="666750" cy="284163"/>
            <a:chOff x="0" y="0"/>
            <a:chExt cx="420" cy="238"/>
          </a:xfrm>
        </p:grpSpPr>
        <p:sp>
          <p:nvSpPr>
            <p:cNvPr id="77898" name="Arc 104"/>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899" name="Arc 105"/>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0" name="Line 106"/>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01" name="Line 107"/>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sp>
        <p:nvSpPr>
          <p:cNvPr id="75881" name="Rectangle 108"/>
          <p:cNvSpPr/>
          <p:nvPr/>
        </p:nvSpPr>
        <p:spPr>
          <a:xfrm>
            <a:off x="4343400" y="1371600"/>
            <a:ext cx="914400" cy="628650"/>
          </a:xfrm>
          <a:prstGeom prst="rect">
            <a:avLst/>
          </a:prstGeom>
          <a:noFill/>
          <a:ln w="38100" cap="flat" cmpd="sng">
            <a:solidFill>
              <a:srgbClr val="FFFF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cxnSp>
        <p:nvCxnSpPr>
          <p:cNvPr id="77893" name="直接连接符 51"/>
          <p:cNvCxnSpPr/>
          <p:nvPr/>
        </p:nvCxnSpPr>
        <p:spPr>
          <a:xfrm>
            <a:off x="4124325" y="3429000"/>
            <a:ext cx="133350" cy="0"/>
          </a:xfrm>
          <a:prstGeom prst="line">
            <a:avLst/>
          </a:prstGeom>
          <a:ln w="6350" cap="flat" cmpd="sng">
            <a:solidFill>
              <a:schemeClr val="tx1"/>
            </a:solidFill>
            <a:prstDash val="solid"/>
            <a:headEnd type="none" w="med" len="med"/>
            <a:tailEnd type="none" w="med" len="med"/>
          </a:ln>
        </p:spPr>
      </p:cxnSp>
      <p:cxnSp>
        <p:nvCxnSpPr>
          <p:cNvPr id="77894" name="直接连接符 52"/>
          <p:cNvCxnSpPr/>
          <p:nvPr/>
        </p:nvCxnSpPr>
        <p:spPr>
          <a:xfrm>
            <a:off x="4562475" y="3429000"/>
            <a:ext cx="133350" cy="0"/>
          </a:xfrm>
          <a:prstGeom prst="line">
            <a:avLst/>
          </a:prstGeom>
          <a:ln w="6350" cap="flat" cmpd="sng">
            <a:solidFill>
              <a:schemeClr val="tx1"/>
            </a:solidFill>
            <a:prstDash val="solid"/>
            <a:headEnd type="none" w="med" len="med"/>
            <a:tailEnd type="none" w="med" len="med"/>
          </a:ln>
        </p:spPr>
      </p:cxnSp>
      <p:cxnSp>
        <p:nvCxnSpPr>
          <p:cNvPr id="77895" name="直接连接符 53"/>
          <p:cNvCxnSpPr/>
          <p:nvPr/>
        </p:nvCxnSpPr>
        <p:spPr>
          <a:xfrm>
            <a:off x="4140200" y="3771900"/>
            <a:ext cx="131763" cy="0"/>
          </a:xfrm>
          <a:prstGeom prst="line">
            <a:avLst/>
          </a:prstGeom>
          <a:ln w="6350" cap="flat" cmpd="sng">
            <a:solidFill>
              <a:schemeClr val="tx1"/>
            </a:solidFill>
            <a:prstDash val="solid"/>
            <a:headEnd type="none" w="med" len="med"/>
            <a:tailEnd type="none" w="med" len="med"/>
          </a:ln>
        </p:spPr>
      </p:cxnSp>
      <p:cxnSp>
        <p:nvCxnSpPr>
          <p:cNvPr id="77896" name="直接连接符 54"/>
          <p:cNvCxnSpPr/>
          <p:nvPr/>
        </p:nvCxnSpPr>
        <p:spPr>
          <a:xfrm>
            <a:off x="4381500" y="3771900"/>
            <a:ext cx="133350" cy="0"/>
          </a:xfrm>
          <a:prstGeom prst="line">
            <a:avLst/>
          </a:prstGeom>
          <a:ln w="6350" cap="flat" cmpd="sng">
            <a:solidFill>
              <a:schemeClr val="tx1"/>
            </a:solidFill>
            <a:prstDash val="solid"/>
            <a:headEnd type="none" w="med" len="med"/>
            <a:tailEnd type="none" w="med" len="med"/>
          </a:ln>
        </p:spPr>
      </p:cxnSp>
      <p:cxnSp>
        <p:nvCxnSpPr>
          <p:cNvPr id="77897" name="直接连接符 55"/>
          <p:cNvCxnSpPr/>
          <p:nvPr/>
        </p:nvCxnSpPr>
        <p:spPr>
          <a:xfrm>
            <a:off x="4600575" y="3771900"/>
            <a:ext cx="133350" cy="0"/>
          </a:xfrm>
          <a:prstGeom prst="line">
            <a:avLst/>
          </a:prstGeom>
          <a:ln w="6350" cap="flat" cmpd="sng">
            <a:solidFill>
              <a:schemeClr val="tx1"/>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7585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5861"/>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7586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499"/>
                                          </p:stCondLst>
                                        </p:cTn>
                                        <p:tgtEl>
                                          <p:spTgt spid="75871"/>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75876"/>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758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8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7885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78852" name="Rectangle 3"/>
          <p:cNvSpPr>
            <a:spLocks noGrp="1"/>
          </p:cNvSpPr>
          <p:nvPr>
            <p:ph/>
          </p:nvPr>
        </p:nvSpPr>
        <p:spPr>
          <a:xfrm>
            <a:off x="357188" y="482600"/>
            <a:ext cx="7743825" cy="2809875"/>
          </a:xfrm>
          <a:prstGeom prst="rect">
            <a:avLst/>
          </a:prstGeom>
          <a:noFill/>
          <a:ln w="9525">
            <a:noFill/>
          </a:ln>
        </p:spPr>
        <p:txBody>
          <a:bodyPr/>
          <a:p>
            <a:pPr eaLnBrk="1" hangingPunct="1">
              <a:lnSpc>
                <a:spcPct val="120000"/>
              </a:lnSpc>
            </a:pPr>
            <a:r>
              <a:rPr lang="zh-CN" altLang="en-US" sz="1800" b="1" dirty="0">
                <a:solidFill>
                  <a:srgbClr val="FF0000"/>
                </a:solidFill>
                <a:latin typeface="华文新魏" panose="02010800040101010101" pitchFamily="2" charset="-122"/>
                <a:ea typeface="华文新魏" panose="02010800040101010101" pitchFamily="2" charset="-122"/>
              </a:rPr>
              <a:t>相邻维块是指只有一个变量不同的两个维块之间的相邻</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pPr>
            <a:r>
              <a:rPr lang="zh-CN" altLang="en-US" sz="1800" dirty="0">
                <a:latin typeface="华文新魏" panose="02010800040101010101" pitchFamily="2" charset="-122"/>
                <a:ea typeface="华文新魏" panose="02010800040101010101" pitchFamily="2" charset="-122"/>
              </a:rPr>
              <a:t>寻找</a:t>
            </a:r>
            <a:r>
              <a:rPr lang="zh-CN" altLang="en-US" sz="1800" b="1" dirty="0">
                <a:latin typeface="华文新魏" panose="02010800040101010101" pitchFamily="2" charset="-122"/>
                <a:ea typeface="华文新魏" panose="02010800040101010101" pitchFamily="2" charset="-122"/>
              </a:rPr>
              <a:t>相邻维块</a:t>
            </a:r>
            <a:r>
              <a:rPr lang="zh-CN" altLang="en-US" sz="1800" dirty="0">
                <a:latin typeface="华文新魏" panose="02010800040101010101" pitchFamily="2" charset="-122"/>
                <a:ea typeface="华文新魏" panose="02010800040101010101" pitchFamily="2" charset="-122"/>
              </a:rPr>
              <a:t>的目的是为了在图上进行</a:t>
            </a:r>
            <a:r>
              <a:rPr lang="zh-CN" altLang="en-US" sz="1800" b="1" dirty="0">
                <a:latin typeface="华文新魏" panose="02010800040101010101" pitchFamily="2" charset="-122"/>
                <a:ea typeface="华文新魏" panose="02010800040101010101" pitchFamily="2" charset="-122"/>
              </a:rPr>
              <a:t>函数化简。</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Font typeface="Wingdings" panose="05000000000000000000" pitchFamily="2" charset="2"/>
              <a:buChar char="Ø"/>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FF0066"/>
                </a:solidFill>
                <a:latin typeface="华文新魏" panose="02010800040101010101" pitchFamily="2" charset="-122"/>
                <a:ea typeface="华文新魏" panose="02010800040101010101" pitchFamily="2" charset="-122"/>
              </a:rPr>
              <a:t>画卡诺圈的规则</a:t>
            </a:r>
            <a:endParaRPr lang="zh-CN" altLang="en-US" sz="1800" b="1" dirty="0">
              <a:solidFill>
                <a:srgbClr val="FF0066"/>
              </a:solidFill>
              <a:latin typeface="华文新魏" panose="02010800040101010101" pitchFamily="2" charset="-122"/>
              <a:ea typeface="华文新魏" panose="02010800040101010101" pitchFamily="2" charset="-122"/>
            </a:endParaRPr>
          </a:p>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相邻的维块可以画在一个卡诺圈内。</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pPr>
            <a:r>
              <a:rPr lang="zh-CN" altLang="en-US" sz="1800" dirty="0">
                <a:latin typeface="华文新魏" panose="02010800040101010101" pitchFamily="2" charset="-122"/>
                <a:ea typeface="华文新魏" panose="02010800040101010101" pitchFamily="2" charset="-122"/>
              </a:rPr>
              <a:t>任何</a:t>
            </a:r>
            <a:r>
              <a:rPr lang="en-US" altLang="zh-CN" sz="1800" b="1" dirty="0">
                <a:solidFill>
                  <a:srgbClr val="FF0066"/>
                </a:solidFill>
                <a:latin typeface="华文新魏" panose="02010800040101010101" pitchFamily="2" charset="-122"/>
                <a:ea typeface="华文新魏" panose="02010800040101010101" pitchFamily="2" charset="-122"/>
              </a:rPr>
              <a:t>2</a:t>
            </a:r>
            <a:r>
              <a:rPr lang="en-US" altLang="zh-CN" sz="1800" b="1" baseline="30000" dirty="0">
                <a:solidFill>
                  <a:srgbClr val="FF0066"/>
                </a:solidFill>
                <a:latin typeface="华文新魏" panose="02010800040101010101" pitchFamily="2" charset="-122"/>
                <a:ea typeface="华文新魏" panose="02010800040101010101" pitchFamily="2" charset="-122"/>
              </a:rPr>
              <a:t>i</a:t>
            </a:r>
            <a:r>
              <a:rPr lang="zh-CN" altLang="en-US" sz="1800" b="1" dirty="0">
                <a:latin typeface="华文新魏" panose="02010800040101010101" pitchFamily="2" charset="-122"/>
                <a:ea typeface="华文新魏" panose="02010800040101010101" pitchFamily="2" charset="-122"/>
              </a:rPr>
              <a:t>个（</a:t>
            </a:r>
            <a:r>
              <a:rPr lang="en-US" altLang="zh-CN" sz="1800" b="1" dirty="0">
                <a:latin typeface="华文新魏" panose="02010800040101010101" pitchFamily="2" charset="-122"/>
                <a:ea typeface="华文新魏" panose="02010800040101010101" pitchFamily="2" charset="-122"/>
              </a:rPr>
              <a:t>i ≤ n</a:t>
            </a:r>
            <a:r>
              <a:rPr lang="zh-CN" altLang="en-US" sz="1800" b="1" dirty="0">
                <a:latin typeface="华文新魏" panose="02010800040101010101" pitchFamily="2" charset="-122"/>
                <a:ea typeface="华文新魏" panose="02010800040101010101" pitchFamily="2" charset="-122"/>
              </a:rPr>
              <a:t>）</a:t>
            </a:r>
            <a:r>
              <a:rPr lang="zh-CN" altLang="en-US" sz="1800" b="1" dirty="0">
                <a:solidFill>
                  <a:srgbClr val="FF0066"/>
                </a:solidFill>
                <a:latin typeface="华文新魏" panose="02010800040101010101" pitchFamily="2" charset="-122"/>
                <a:ea typeface="华文新魏" panose="02010800040101010101" pitchFamily="2" charset="-122"/>
              </a:rPr>
              <a:t>标</a:t>
            </a:r>
            <a:r>
              <a:rPr lang="en-US" altLang="zh-CN" sz="1800" b="1" dirty="0">
                <a:solidFill>
                  <a:srgbClr val="FF0066"/>
                </a:solidFill>
                <a:latin typeface="华文新魏" panose="02010800040101010101" pitchFamily="2" charset="-122"/>
                <a:ea typeface="华文新魏" panose="02010800040101010101" pitchFamily="2" charset="-122"/>
              </a:rPr>
              <a:t>1</a:t>
            </a:r>
            <a:r>
              <a:rPr lang="zh-CN" altLang="en-US" sz="1800" b="1" dirty="0">
                <a:solidFill>
                  <a:srgbClr val="FF0066"/>
                </a:solidFill>
                <a:latin typeface="华文新魏" panose="02010800040101010101" pitchFamily="2" charset="-122"/>
                <a:ea typeface="华文新魏" panose="02010800040101010101" pitchFamily="2" charset="-122"/>
              </a:rPr>
              <a:t>的相邻小方格</a:t>
            </a:r>
            <a:r>
              <a:rPr lang="zh-CN" altLang="en-US" sz="1800" dirty="0">
                <a:latin typeface="华文新魏" panose="02010800040101010101" pitchFamily="2" charset="-122"/>
                <a:ea typeface="华文新魏" panose="02010800040101010101" pitchFamily="2" charset="-122"/>
              </a:rPr>
              <a:t>均可画在一个卡诺圈内；</a:t>
            </a:r>
            <a:endParaRPr lang="zh-CN" altLang="en-US" sz="1800" dirty="0">
              <a:latin typeface="华文新魏" panose="02010800040101010101" pitchFamily="2" charset="-122"/>
              <a:ea typeface="华文新魏" panose="02010800040101010101" pitchFamily="2" charset="-122"/>
            </a:endParaRPr>
          </a:p>
          <a:p>
            <a:pPr eaLnBrk="1" hangingPunct="1">
              <a:lnSpc>
                <a:spcPct val="120000"/>
              </a:lnSpc>
            </a:pPr>
            <a:r>
              <a:rPr lang="zh-CN" altLang="en-US" sz="1800" dirty="0">
                <a:latin typeface="华文新魏" panose="02010800040101010101" pitchFamily="2" charset="-122"/>
                <a:ea typeface="华文新魏" panose="02010800040101010101" pitchFamily="2" charset="-122"/>
              </a:rPr>
              <a:t>任何</a:t>
            </a:r>
            <a:r>
              <a:rPr lang="en-US" altLang="zh-CN" sz="1800" b="1" dirty="0">
                <a:latin typeface="华文新魏" panose="02010800040101010101" pitchFamily="2" charset="-122"/>
                <a:ea typeface="华文新魏" panose="02010800040101010101" pitchFamily="2" charset="-122"/>
              </a:rPr>
              <a:t>2</a:t>
            </a:r>
            <a:r>
              <a:rPr lang="en-US" altLang="zh-CN" sz="1800" b="1" baseline="30000" dirty="0">
                <a:latin typeface="华文新魏" panose="02010800040101010101" pitchFamily="2" charset="-122"/>
                <a:ea typeface="华文新魏" panose="02010800040101010101" pitchFamily="2" charset="-122"/>
              </a:rPr>
              <a:t>i</a:t>
            </a:r>
            <a:r>
              <a:rPr lang="zh-CN" altLang="en-US" sz="1800" b="1" dirty="0">
                <a:latin typeface="华文新魏" panose="02010800040101010101" pitchFamily="2" charset="-122"/>
                <a:ea typeface="华文新魏" panose="02010800040101010101" pitchFamily="2" charset="-122"/>
              </a:rPr>
              <a:t>个标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的非相邻的小方格</a:t>
            </a:r>
            <a:r>
              <a:rPr lang="zh-CN" altLang="en-US" sz="1800" dirty="0">
                <a:latin typeface="华文新魏" panose="02010800040101010101" pitchFamily="2" charset="-122"/>
                <a:ea typeface="华文新魏" panose="02010800040101010101" pitchFamily="2" charset="-122"/>
              </a:rPr>
              <a:t>不能画入一个卡诺圈内，它们至少画在两个圈内。        </a:t>
            </a:r>
            <a:br>
              <a:rPr lang="zh-CN" altLang="en-US" sz="1800" dirty="0">
                <a:latin typeface="华文新魏" panose="02010800040101010101" pitchFamily="2" charset="-122"/>
                <a:ea typeface="华文新魏" panose="02010800040101010101" pitchFamily="2" charset="-122"/>
              </a:rPr>
            </a:br>
            <a:endParaRPr lang="zh-CN" altLang="en-US" sz="1800" dirty="0">
              <a:latin typeface="华文新魏" panose="02010800040101010101" pitchFamily="2" charset="-122"/>
              <a:ea typeface="华文新魏" panose="02010800040101010101" pitchFamily="2" charset="-122"/>
            </a:endParaRPr>
          </a:p>
          <a:p>
            <a:pPr eaLnBrk="1" hangingPunct="1"/>
            <a:endParaRPr lang="en-US" altLang="zh-CN" sz="1800" dirty="0">
              <a:latin typeface="华文新魏" panose="02010800040101010101" pitchFamily="2" charset="-122"/>
              <a:ea typeface="华文新魏" panose="02010800040101010101" pitchFamily="2" charset="-122"/>
            </a:endParaRPr>
          </a:p>
        </p:txBody>
      </p:sp>
      <p:sp>
        <p:nvSpPr>
          <p:cNvPr id="78853" name="Rectangle 3"/>
          <p:cNvSpPr>
            <a:spLocks noGrp="1"/>
          </p:cNvSpPr>
          <p:nvPr>
            <p:ph type="title"/>
          </p:nvPr>
        </p:nvSpPr>
        <p:spPr>
          <a:xfrm>
            <a:off x="325438" y="3332163"/>
            <a:ext cx="8207375" cy="463550"/>
          </a:xfrm>
          <a:prstGeom prst="rect">
            <a:avLst/>
          </a:prstGeom>
          <a:noFill/>
          <a:ln w="9525">
            <a:noFill/>
          </a:ln>
        </p:spPr>
        <p:txBody>
          <a:bodyPr/>
          <a:p>
            <a:pPr eaLnBrk="1" hangingPunct="1">
              <a:buFont typeface="Wingdings" panose="05000000000000000000" pitchFamily="2" charset="2"/>
              <a:buChar char="Ø"/>
            </a:pPr>
            <a:r>
              <a:rPr lang="zh-CN" altLang="en-US" sz="1800" b="1" dirty="0">
                <a:solidFill>
                  <a:srgbClr val="FF0066"/>
                </a:solidFill>
                <a:latin typeface="华文新魏" panose="02010800040101010101" pitchFamily="2" charset="-122"/>
                <a:ea typeface="华文新魏" panose="02010800040101010101" pitchFamily="2" charset="-122"/>
              </a:rPr>
              <a:t>卡诺圈化简使用的基本概念</a:t>
            </a:r>
            <a:endParaRPr lang="zh-CN" altLang="en-US" sz="1800" b="1" dirty="0">
              <a:latin typeface="华文新魏" panose="02010800040101010101" pitchFamily="2" charset="-122"/>
              <a:ea typeface="华文新魏" panose="02010800040101010101" pitchFamily="2" charset="-122"/>
            </a:endParaRPr>
          </a:p>
        </p:txBody>
      </p:sp>
      <p:sp>
        <p:nvSpPr>
          <p:cNvPr id="78854" name="矩形 3"/>
          <p:cNvSpPr/>
          <p:nvPr/>
        </p:nvSpPr>
        <p:spPr>
          <a:xfrm>
            <a:off x="357188" y="3708400"/>
            <a:ext cx="8031162" cy="1308735"/>
          </a:xfrm>
          <a:prstGeom prst="rect">
            <a:avLst/>
          </a:prstGeom>
          <a:noFill/>
          <a:ln w="9525">
            <a:noFill/>
          </a:ln>
        </p:spPr>
        <p:txBody>
          <a:bodyPr>
            <a:spAutoFit/>
          </a:bodyPr>
          <a:p>
            <a:pPr marL="457200" indent="-457200" eaLnBrk="1" hangingPunct="1">
              <a:lnSpc>
                <a:spcPct val="80000"/>
              </a:lnSpc>
              <a:buFont typeface="宋体" panose="02010600030101010101" pitchFamily="2" charset="-122"/>
              <a:buAutoNum type="circleNumDbPlain"/>
            </a:pPr>
            <a:r>
              <a:rPr lang="zh-CN" altLang="en-US" sz="1800" b="1" dirty="0">
                <a:solidFill>
                  <a:srgbClr val="FF0000"/>
                </a:solidFill>
                <a:latin typeface="华文新魏" panose="02010800040101010101" pitchFamily="2" charset="-122"/>
                <a:ea typeface="华文新魏" panose="02010800040101010101" pitchFamily="2" charset="-122"/>
              </a:rPr>
              <a:t>蕴</a:t>
            </a:r>
            <a:r>
              <a:rPr lang="zh-CN" altLang="en-US" sz="1800" dirty="0">
                <a:solidFill>
                  <a:srgbClr val="FF0000"/>
                </a:solidFill>
                <a:latin typeface="华文新魏" panose="02010800040101010101" pitchFamily="2" charset="-122"/>
                <a:ea typeface="华文新魏" panose="02010800040101010101" pitchFamily="2" charset="-122"/>
                <a:sym typeface="+mn-ea"/>
              </a:rPr>
              <a:t>涵</a:t>
            </a:r>
            <a:r>
              <a:rPr lang="zh-CN" altLang="en-US" sz="1800" b="1" dirty="0">
                <a:solidFill>
                  <a:srgbClr val="FF0000"/>
                </a:solidFill>
                <a:latin typeface="华文新魏" panose="02010800040101010101" pitchFamily="2" charset="-122"/>
                <a:ea typeface="华文新魏" panose="02010800040101010101" pitchFamily="2" charset="-122"/>
              </a:rPr>
              <a:t>项</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en-US" altLang="zh-CN" sz="1800" b="1" i="1" dirty="0">
                <a:solidFill>
                  <a:schemeClr val="tx1"/>
                </a:solidFill>
                <a:latin typeface="华文新魏" panose="02010800040101010101" pitchFamily="2" charset="-122"/>
                <a:ea typeface="华文新魏" panose="02010800040101010101" pitchFamily="2" charset="-122"/>
              </a:rPr>
              <a:t>Implicant </a:t>
            </a:r>
            <a:r>
              <a:rPr lang="en-US" altLang="zh-CN"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在函数的</a:t>
            </a:r>
            <a:r>
              <a:rPr lang="zh-CN" altLang="en-US" sz="1800" dirty="0">
                <a:solidFill>
                  <a:srgbClr val="FF0000"/>
                </a:solidFill>
                <a:latin typeface="华文新魏" panose="02010800040101010101" pitchFamily="2" charset="-122"/>
                <a:ea typeface="华文新魏" panose="02010800040101010101" pitchFamily="2" charset="-122"/>
              </a:rPr>
              <a:t>与或表</a:t>
            </a:r>
            <a:r>
              <a:rPr lang="zh-CN" altLang="en-US" sz="1800" dirty="0">
                <a:solidFill>
                  <a:schemeClr val="tx1"/>
                </a:solidFill>
                <a:latin typeface="华文新魏" panose="02010800040101010101" pitchFamily="2" charset="-122"/>
                <a:ea typeface="华文新魏" panose="02010800040101010101" pitchFamily="2" charset="-122"/>
              </a:rPr>
              <a:t>达式中，每一个</a:t>
            </a:r>
            <a:r>
              <a:rPr lang="zh-CN" altLang="en-US" sz="1800" b="1" dirty="0">
                <a:solidFill>
                  <a:srgbClr val="FF0000"/>
                </a:solidFill>
                <a:latin typeface="华文新魏" panose="02010800040101010101" pitchFamily="2" charset="-122"/>
                <a:ea typeface="华文新魏" panose="02010800040101010101" pitchFamily="2" charset="-122"/>
              </a:rPr>
              <a:t>与项</a:t>
            </a:r>
            <a:r>
              <a:rPr lang="zh-CN" altLang="en-US" sz="1800" dirty="0">
                <a:solidFill>
                  <a:schemeClr val="tx1"/>
                </a:solidFill>
                <a:latin typeface="华文新魏" panose="02010800040101010101" pitchFamily="2" charset="-122"/>
                <a:ea typeface="华文新魏" panose="02010800040101010101" pitchFamily="2" charset="-122"/>
              </a:rPr>
              <a:t>称为该函数的蕴涵项，</a:t>
            </a:r>
            <a:r>
              <a:rPr lang="zh-CN" altLang="en-US" sz="1800" b="1" dirty="0">
                <a:solidFill>
                  <a:schemeClr val="tx1"/>
                </a:solidFill>
                <a:latin typeface="华文新魏" panose="02010800040101010101" pitchFamily="2" charset="-122"/>
                <a:ea typeface="华文新魏" panose="02010800040101010101" pitchFamily="2" charset="-122"/>
              </a:rPr>
              <a:t>它对应着</a:t>
            </a:r>
            <a:r>
              <a:rPr lang="zh-CN" altLang="en-US" sz="1800" dirty="0">
                <a:solidFill>
                  <a:schemeClr val="tx1"/>
                </a:solidFill>
                <a:latin typeface="华文新魏" panose="02010800040101010101" pitchFamily="2" charset="-122"/>
                <a:ea typeface="华文新魏" panose="02010800040101010101" pitchFamily="2" charset="-122"/>
              </a:rPr>
              <a:t>卡诺图中的</a:t>
            </a:r>
            <a:r>
              <a:rPr lang="zh-CN" altLang="en-US" sz="1800" b="1" dirty="0">
                <a:solidFill>
                  <a:schemeClr val="tx1"/>
                </a:solidFill>
                <a:latin typeface="华文新魏" panose="02010800040101010101" pitchFamily="2" charset="-122"/>
                <a:ea typeface="华文新魏" panose="02010800040101010101" pitchFamily="2" charset="-122"/>
              </a:rPr>
              <a:t>一个卡诺圈，也就是一个维块。</a:t>
            </a:r>
            <a:r>
              <a:rPr lang="zh-CN" altLang="en-US" sz="1800" dirty="0">
                <a:solidFill>
                  <a:schemeClr val="tx1"/>
                </a:solidFill>
                <a:latin typeface="华文新魏" panose="02010800040101010101" pitchFamily="2" charset="-122"/>
                <a:ea typeface="华文新魏" panose="02010800040101010101" pitchFamily="2" charset="-122"/>
              </a:rPr>
              <a:t>卡诺圈越大，它所包含的标</a:t>
            </a:r>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小方格个数越多，则对应此蕴涵项的变量个数就越少。</a:t>
            </a:r>
            <a:endParaRPr lang="zh-CN" altLang="en-US" sz="18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852">
                                            <p:txEl>
                                              <p:charRg st="49" end="58"/>
                                            </p:txEl>
                                          </p:spTgt>
                                        </p:tgtEl>
                                        <p:attrNameLst>
                                          <p:attrName>style.visibility</p:attrName>
                                        </p:attrNameLst>
                                      </p:cBhvr>
                                      <p:to>
                                        <p:strVal val="visible"/>
                                      </p:to>
                                    </p:set>
                                    <p:animEffect transition="in" filter="fade">
                                      <p:cBhvr>
                                        <p:cTn id="7" dur="500"/>
                                        <p:tgtEl>
                                          <p:spTgt spid="78852">
                                            <p:txEl>
                                              <p:charRg st="49" end="58"/>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8852">
                                            <p:txEl>
                                              <p:charRg st="58" end="78"/>
                                            </p:txEl>
                                          </p:spTgt>
                                        </p:tgtEl>
                                        <p:attrNameLst>
                                          <p:attrName>style.visibility</p:attrName>
                                        </p:attrNameLst>
                                      </p:cBhvr>
                                      <p:to>
                                        <p:strVal val="visible"/>
                                      </p:to>
                                    </p:set>
                                    <p:animEffect transition="in" filter="fade">
                                      <p:cBhvr>
                                        <p:cTn id="10" dur="500"/>
                                        <p:tgtEl>
                                          <p:spTgt spid="78852">
                                            <p:txEl>
                                              <p:charRg st="58" end="7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8852">
                                            <p:txEl>
                                              <p:charRg st="78" end="110"/>
                                            </p:txEl>
                                          </p:spTgt>
                                        </p:tgtEl>
                                        <p:attrNameLst>
                                          <p:attrName>style.visibility</p:attrName>
                                        </p:attrNameLst>
                                      </p:cBhvr>
                                      <p:to>
                                        <p:strVal val="visible"/>
                                      </p:to>
                                    </p:set>
                                    <p:animEffect transition="in" filter="fade">
                                      <p:cBhvr>
                                        <p:cTn id="13" dur="500"/>
                                        <p:tgtEl>
                                          <p:spTgt spid="78852">
                                            <p:txEl>
                                              <p:charRg st="78" end="11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8852">
                                            <p:txEl>
                                              <p:charRg st="110" end="157"/>
                                            </p:txEl>
                                          </p:spTgt>
                                        </p:tgtEl>
                                        <p:attrNameLst>
                                          <p:attrName>style.visibility</p:attrName>
                                        </p:attrNameLst>
                                      </p:cBhvr>
                                      <p:to>
                                        <p:strVal val="visible"/>
                                      </p:to>
                                    </p:set>
                                    <p:animEffect transition="in" filter="fade">
                                      <p:cBhvr>
                                        <p:cTn id="16" dur="500"/>
                                        <p:tgtEl>
                                          <p:spTgt spid="78852">
                                            <p:txEl>
                                              <p:charRg st="110" end="15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8853"/>
                                        </p:tgtEl>
                                        <p:attrNameLst>
                                          <p:attrName>style.visibility</p:attrName>
                                        </p:attrNameLst>
                                      </p:cBhvr>
                                      <p:to>
                                        <p:strVal val="visible"/>
                                      </p:to>
                                    </p:set>
                                    <p:animEffect transition="in" filter="fade">
                                      <p:cBhvr>
                                        <p:cTn id="21" dur="500"/>
                                        <p:tgtEl>
                                          <p:spTgt spid="7885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8854"/>
                                        </p:tgtEl>
                                        <p:attrNameLst>
                                          <p:attrName>style.visibility</p:attrName>
                                        </p:attrNameLst>
                                      </p:cBhvr>
                                      <p:to>
                                        <p:strVal val="visible"/>
                                      </p:to>
                                    </p:set>
                                    <p:animEffect transition="in" filter="fade">
                                      <p:cBhvr>
                                        <p:cTn id="24" dur="500"/>
                                        <p:tgtEl>
                                          <p:spTgt spid="78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3" grpId="0"/>
      <p:bldP spid="7885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b="1" dirty="0">
                <a:solidFill>
                  <a:srgbClr val="898989"/>
                </a:solidFill>
                <a:latin typeface="华文新魏" panose="02010800040101010101" pitchFamily="2" charset="-122"/>
                <a:ea typeface="华文新魏" panose="02010800040101010101" pitchFamily="2" charset="-122"/>
              </a:rPr>
            </a:fld>
            <a:endParaRPr lang="en-US" altLang="zh-CN" sz="900" b="1" dirty="0">
              <a:solidFill>
                <a:srgbClr val="898989"/>
              </a:solidFill>
              <a:latin typeface="华文新魏" panose="02010800040101010101" pitchFamily="2" charset="-122"/>
              <a:ea typeface="华文新魏" panose="02010800040101010101" pitchFamily="2" charset="-122"/>
            </a:endParaRPr>
          </a:p>
        </p:txBody>
      </p:sp>
      <p:sp>
        <p:nvSpPr>
          <p:cNvPr id="7987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b="1" dirty="0">
                <a:solidFill>
                  <a:srgbClr val="898989"/>
                </a:solidFill>
                <a:latin typeface="华文新魏" panose="02010800040101010101" pitchFamily="2" charset="-122"/>
                <a:ea typeface="华文新魏" panose="02010800040101010101" pitchFamily="2" charset="-122"/>
              </a:rPr>
            </a:fld>
            <a:endParaRPr lang="en-US" altLang="zh-CN" sz="900" b="1" dirty="0">
              <a:solidFill>
                <a:srgbClr val="898989"/>
              </a:solidFill>
              <a:latin typeface="华文新魏" panose="02010800040101010101" pitchFamily="2" charset="-122"/>
              <a:ea typeface="华文新魏" panose="02010800040101010101" pitchFamily="2" charset="-122"/>
            </a:endParaRPr>
          </a:p>
        </p:txBody>
      </p:sp>
      <p:sp>
        <p:nvSpPr>
          <p:cNvPr id="79876" name="Rectangle 4"/>
          <p:cNvSpPr>
            <a:spLocks noGrp="1"/>
          </p:cNvSpPr>
          <p:nvPr>
            <p:ph/>
          </p:nvPr>
        </p:nvSpPr>
        <p:spPr>
          <a:xfrm>
            <a:off x="430530" y="662305"/>
            <a:ext cx="7813040" cy="1404620"/>
          </a:xfrm>
          <a:prstGeom prst="rect">
            <a:avLst/>
          </a:prstGeom>
          <a:noFill/>
          <a:ln w="9525">
            <a:noFill/>
          </a:ln>
        </p:spPr>
        <p:txBody>
          <a:bodyPr/>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如：函数的变量数为</a:t>
            </a:r>
            <a:r>
              <a:rPr lang="en-US" altLang="zh-CN" sz="1800" b="1" dirty="0">
                <a:latin typeface="华文新魏" panose="02010800040101010101" pitchFamily="2" charset="-122"/>
                <a:ea typeface="华文新魏" panose="02010800040101010101" pitchFamily="2" charset="-122"/>
              </a:rPr>
              <a:t>n, </a:t>
            </a:r>
            <a:r>
              <a:rPr lang="zh-CN" altLang="en-US" sz="1800" b="1" dirty="0">
                <a:latin typeface="华文新魏" panose="02010800040101010101" pitchFamily="2" charset="-122"/>
                <a:ea typeface="华文新魏" panose="02010800040101010101" pitchFamily="2" charset="-122"/>
              </a:rPr>
              <a:t>假如卡诺圈包含</a:t>
            </a:r>
            <a:r>
              <a:rPr lang="en-US" altLang="zh-CN" sz="1800" b="1" dirty="0">
                <a:latin typeface="华文新魏" panose="02010800040101010101" pitchFamily="2" charset="-122"/>
                <a:ea typeface="华文新魏" panose="02010800040101010101" pitchFamily="2" charset="-122"/>
              </a:rPr>
              <a:t>2</a:t>
            </a:r>
            <a:r>
              <a:rPr lang="en-US" altLang="zh-CN" sz="1800" b="1" baseline="30000" dirty="0">
                <a:latin typeface="华文新魏" panose="02010800040101010101" pitchFamily="2" charset="-122"/>
                <a:ea typeface="华文新魏" panose="02010800040101010101" pitchFamily="2" charset="-122"/>
              </a:rPr>
              <a:t>i </a:t>
            </a:r>
            <a:r>
              <a:rPr lang="zh-CN" altLang="en-US" sz="1800" b="1" dirty="0">
                <a:latin typeface="华文新魏" panose="02010800040101010101" pitchFamily="2" charset="-122"/>
                <a:ea typeface="华文新魏" panose="02010800040101010101" pitchFamily="2" charset="-122"/>
              </a:rPr>
              <a:t>个小方格，此蕴涵项仅有</a:t>
            </a:r>
            <a:r>
              <a:rPr lang="en-US" altLang="zh-CN" sz="1800" b="1" dirty="0">
                <a:solidFill>
                  <a:srgbClr val="FF0000"/>
                </a:solidFill>
                <a:latin typeface="华文新魏" panose="02010800040101010101" pitchFamily="2" charset="-122"/>
                <a:ea typeface="华文新魏" panose="02010800040101010101" pitchFamily="2" charset="-122"/>
              </a:rPr>
              <a:t>n-i</a:t>
            </a: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个</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变量，各个变量以原变量或以反变量形式出现。卡诺圈既包含某变量的原</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变量区域，又包括它的反变量区域，则这个变量就不会出现在此圈所对应的</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蕴涵项中。</a:t>
            </a:r>
            <a:endParaRPr lang="zh-CN" altLang="en-US" sz="1800" b="1" dirty="0">
              <a:latin typeface="华文新魏" panose="02010800040101010101" pitchFamily="2" charset="-122"/>
              <a:ea typeface="华文新魏" panose="02010800040101010101" pitchFamily="2" charset="-122"/>
            </a:endParaRPr>
          </a:p>
        </p:txBody>
      </p:sp>
      <p:sp>
        <p:nvSpPr>
          <p:cNvPr id="79877" name="Rectangle 4"/>
          <p:cNvSpPr txBox="1"/>
          <p:nvPr/>
        </p:nvSpPr>
        <p:spPr>
          <a:xfrm>
            <a:off x="214313" y="2789238"/>
            <a:ext cx="7886700" cy="430212"/>
          </a:xfrm>
          <a:prstGeom prst="rect">
            <a:avLst/>
          </a:prstGeom>
          <a:noFill/>
          <a:ln w="9525">
            <a:noFill/>
          </a:ln>
        </p:spPr>
        <p:txBody>
          <a:bodyPr/>
          <a:p>
            <a:pPr marL="342900" indent="-342900"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a:t>
            </a:r>
            <a:r>
              <a:rPr lang="zh-CN" altLang="en-US" sz="1800" b="1" dirty="0">
                <a:solidFill>
                  <a:srgbClr val="FF0066"/>
                </a:solidFill>
                <a:latin typeface="华文新魏" panose="02010800040101010101" pitchFamily="2" charset="-122"/>
                <a:ea typeface="华文新魏" panose="02010800040101010101" pitchFamily="2" charset="-122"/>
              </a:rPr>
              <a:t>实质最小项</a:t>
            </a:r>
            <a:r>
              <a:rPr lang="zh-CN" altLang="en-US" sz="1800" b="1" dirty="0">
                <a:solidFill>
                  <a:schemeClr val="tx1"/>
                </a:solidFill>
                <a:latin typeface="华文新魏" panose="02010800040101010101" pitchFamily="2" charset="-122"/>
                <a:ea typeface="华文新魏" panose="02010800040101010101" pitchFamily="2" charset="-122"/>
              </a:rPr>
              <a:t>：只被一个质蕴涵（</a:t>
            </a:r>
            <a:r>
              <a:rPr lang="zh-CN" altLang="en-US" sz="1800" b="1" dirty="0">
                <a:solidFill>
                  <a:srgbClr val="FF0000"/>
                </a:solidFill>
                <a:latin typeface="华文新魏" panose="02010800040101010101" pitchFamily="2" charset="-122"/>
                <a:ea typeface="华文新魏" panose="02010800040101010101" pitchFamily="2" charset="-122"/>
              </a:rPr>
              <a:t>极大圈</a:t>
            </a:r>
            <a:r>
              <a:rPr lang="zh-CN" altLang="en-US" sz="1800" b="1" dirty="0">
                <a:solidFill>
                  <a:schemeClr val="tx1"/>
                </a:solidFill>
                <a:latin typeface="华文新魏" panose="02010800040101010101" pitchFamily="2" charset="-122"/>
                <a:ea typeface="华文新魏" panose="02010800040101010101" pitchFamily="2" charset="-122"/>
              </a:rPr>
              <a:t>）所覆盖的最小项称为实质最小项。</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9878" name="Rectangle 67"/>
          <p:cNvSpPr>
            <a:spLocks noGrp="1"/>
          </p:cNvSpPr>
          <p:nvPr>
            <p:ph type="title"/>
          </p:nvPr>
        </p:nvSpPr>
        <p:spPr>
          <a:xfrm>
            <a:off x="196850" y="2003425"/>
            <a:ext cx="7904163" cy="784225"/>
          </a:xfrm>
          <a:prstGeom prst="rect">
            <a:avLst/>
          </a:prstGeom>
          <a:noFill/>
          <a:ln w="9525">
            <a:noFill/>
          </a:ln>
        </p:spPr>
        <p:txBody>
          <a:bodyPr/>
          <a:p>
            <a:pPr eaLnBrk="1" hangingPunct="1">
              <a:lnSpc>
                <a:spcPct val="120000"/>
              </a:lnSpc>
            </a:pPr>
            <a:r>
              <a:rPr lang="en-US" altLang="zh-CN" sz="1800" b="1" dirty="0">
                <a:latin typeface="华文新魏" panose="02010800040101010101" pitchFamily="2" charset="-122"/>
                <a:ea typeface="华文新魏" panose="02010800040101010101" pitchFamily="2" charset="-122"/>
              </a:rPr>
              <a:t>②</a:t>
            </a:r>
            <a:r>
              <a:rPr lang="zh-CN" altLang="en-US" sz="1800" b="1" dirty="0">
                <a:solidFill>
                  <a:srgbClr val="FF0066"/>
                </a:solidFill>
                <a:latin typeface="华文新魏" panose="02010800040101010101" pitchFamily="2" charset="-122"/>
                <a:ea typeface="华文新魏" panose="02010800040101010101" pitchFamily="2" charset="-122"/>
              </a:rPr>
              <a:t>质</a:t>
            </a:r>
            <a:r>
              <a:rPr lang="zh-CN" altLang="en-US" sz="1800" b="1" dirty="0">
                <a:solidFill>
                  <a:srgbClr val="FF0000"/>
                </a:solidFill>
                <a:latin typeface="华文新魏" panose="02010800040101010101" pitchFamily="2" charset="-122"/>
                <a:ea typeface="华文新魏" panose="02010800040101010101" pitchFamily="2" charset="-122"/>
              </a:rPr>
              <a:t>蕴</a:t>
            </a:r>
            <a:r>
              <a:rPr lang="zh-CN" altLang="en-US" sz="1800" b="1" dirty="0">
                <a:solidFill>
                  <a:srgbClr val="FF0000"/>
                </a:solidFill>
                <a:latin typeface="华文新魏" panose="02010800040101010101" pitchFamily="2" charset="-122"/>
                <a:ea typeface="华文新魏" panose="02010800040101010101" pitchFamily="2" charset="-122"/>
                <a:sym typeface="+mn-ea"/>
              </a:rPr>
              <a:t>涵</a:t>
            </a: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 Prime implicant )</a:t>
            </a:r>
            <a:r>
              <a:rPr lang="zh-CN" altLang="en-US" sz="1800" b="1" dirty="0">
                <a:latin typeface="华文新魏" panose="02010800040101010101" pitchFamily="2" charset="-122"/>
                <a:ea typeface="华文新魏" panose="02010800040101010101" pitchFamily="2" charset="-122"/>
              </a:rPr>
              <a:t>：若蕴涵项不是其他蕴涵项的子集，则称为</a:t>
            </a:r>
            <a:br>
              <a:rPr lang="en-US" altLang="zh-CN" sz="1800" b="1" dirty="0">
                <a:latin typeface="华文新魏" panose="02010800040101010101" pitchFamily="2" charset="-122"/>
                <a:ea typeface="华文新魏" panose="02010800040101010101" pitchFamily="2" charset="-122"/>
              </a:rPr>
            </a:b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      质蕴涵，又称为</a:t>
            </a:r>
            <a:r>
              <a:rPr lang="zh-CN" altLang="en-US" sz="1800" b="1" dirty="0">
                <a:solidFill>
                  <a:srgbClr val="FF0000"/>
                </a:solidFill>
                <a:latin typeface="华文新魏" panose="02010800040101010101" pitchFamily="2" charset="-122"/>
                <a:ea typeface="华文新魏" panose="02010800040101010101" pitchFamily="2" charset="-122"/>
              </a:rPr>
              <a:t>素项</a:t>
            </a:r>
            <a:r>
              <a:rPr lang="zh-CN" altLang="en-US" sz="1800" b="1" dirty="0">
                <a:latin typeface="华文新魏" panose="02010800040101010101" pitchFamily="2" charset="-122"/>
                <a:ea typeface="华文新魏" panose="02010800040101010101" pitchFamily="2" charset="-122"/>
              </a:rPr>
              <a:t>，对应的卡诺圈称为</a:t>
            </a:r>
            <a:r>
              <a:rPr lang="zh-CN" altLang="en-US" sz="1800" b="1" u="sng" dirty="0">
                <a:solidFill>
                  <a:srgbClr val="FF0066"/>
                </a:solidFill>
                <a:latin typeface="华文新魏" panose="02010800040101010101" pitchFamily="2" charset="-122"/>
                <a:ea typeface="华文新魏" panose="02010800040101010101" pitchFamily="2" charset="-122"/>
              </a:rPr>
              <a:t>极大圈</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sp>
        <p:nvSpPr>
          <p:cNvPr id="79879" name="Text Box 70"/>
          <p:cNvSpPr txBox="1"/>
          <p:nvPr/>
        </p:nvSpPr>
        <p:spPr>
          <a:xfrm>
            <a:off x="228600" y="3254375"/>
            <a:ext cx="8015288" cy="755650"/>
          </a:xfrm>
          <a:prstGeom prst="rect">
            <a:avLst/>
          </a:prstGeom>
          <a:noFill/>
          <a:ln w="9525">
            <a:noFill/>
          </a:ln>
        </p:spPr>
        <p:txBody>
          <a:bodyPr>
            <a:spAutoFit/>
          </a:bodyPr>
          <a:p>
            <a:pPr marL="342900" indent="-342900"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④</a:t>
            </a:r>
            <a:r>
              <a:rPr lang="zh-CN" altLang="en-US" sz="1800" b="1" dirty="0">
                <a:solidFill>
                  <a:srgbClr val="FF0066"/>
                </a:solidFill>
                <a:latin typeface="华文新魏" panose="02010800040101010101" pitchFamily="2" charset="-122"/>
                <a:ea typeface="华文新魏" panose="02010800040101010101" pitchFamily="2" charset="-122"/>
              </a:rPr>
              <a:t>必要质</a:t>
            </a:r>
            <a:r>
              <a:rPr lang="zh-CN" altLang="en-US" sz="1800" b="1" dirty="0">
                <a:solidFill>
                  <a:srgbClr val="FF0000"/>
                </a:solidFill>
                <a:latin typeface="华文新魏" panose="02010800040101010101" pitchFamily="2" charset="-122"/>
                <a:ea typeface="华文新魏" panose="02010800040101010101" pitchFamily="2" charset="-122"/>
                <a:sym typeface="+mn-ea"/>
              </a:rPr>
              <a:t>蕴涵</a:t>
            </a:r>
            <a:r>
              <a:rPr lang="en-US" altLang="zh-CN" sz="1800" b="1" dirty="0">
                <a:solidFill>
                  <a:schemeClr val="tx1"/>
                </a:solidFill>
                <a:latin typeface="华文新魏" panose="02010800040101010101" pitchFamily="2" charset="-122"/>
                <a:ea typeface="华文新魏" panose="02010800040101010101" pitchFamily="2" charset="-122"/>
              </a:rPr>
              <a:t>( Essential prime implicant )</a:t>
            </a:r>
            <a:r>
              <a:rPr lang="zh-CN" altLang="en-US" sz="1800" b="1" dirty="0">
                <a:solidFill>
                  <a:schemeClr val="tx1"/>
                </a:solidFill>
                <a:latin typeface="华文新魏" panose="02010800040101010101" pitchFamily="2" charset="-122"/>
                <a:ea typeface="华文新魏" panose="02010800040101010101" pitchFamily="2" charset="-122"/>
              </a:rPr>
              <a:t>：包含</a:t>
            </a:r>
            <a:r>
              <a:rPr lang="zh-CN" altLang="en-US" sz="1800" b="1" dirty="0">
                <a:solidFill>
                  <a:srgbClr val="FF0000"/>
                </a:solidFill>
                <a:latin typeface="华文新魏" panose="02010800040101010101" pitchFamily="2" charset="-122"/>
                <a:ea typeface="华文新魏" panose="02010800040101010101" pitchFamily="2" charset="-122"/>
              </a:rPr>
              <a:t>实质最小项</a:t>
            </a:r>
            <a:r>
              <a:rPr lang="zh-CN" altLang="en-US" sz="1800" b="1" dirty="0">
                <a:solidFill>
                  <a:schemeClr val="tx1"/>
                </a:solidFill>
                <a:latin typeface="华文新魏" panose="02010800040101010101" pitchFamily="2" charset="-122"/>
                <a:ea typeface="华文新魏" panose="02010800040101010101" pitchFamily="2" charset="-122"/>
              </a:rPr>
              <a:t>的质蕴涵（</a:t>
            </a:r>
            <a:r>
              <a:rPr lang="zh-CN" altLang="en-US" sz="1800" b="1" dirty="0">
                <a:solidFill>
                  <a:srgbClr val="FF0000"/>
                </a:solidFill>
                <a:latin typeface="华文新魏" panose="02010800040101010101" pitchFamily="2" charset="-122"/>
                <a:ea typeface="华文新魏" panose="02010800040101010101" pitchFamily="2" charset="-122"/>
              </a:rPr>
              <a:t>极大圈</a:t>
            </a:r>
            <a:r>
              <a:rPr lang="zh-CN" altLang="en-US" sz="1800" b="1" dirty="0">
                <a:solidFill>
                  <a:schemeClr val="tx1"/>
                </a:solidFill>
                <a:latin typeface="华文新魏" panose="02010800040101010101" pitchFamily="2" charset="-122"/>
                <a:ea typeface="华文新魏" panose="02010800040101010101" pitchFamily="2" charset="-122"/>
              </a:rPr>
              <a:t>）即为必要质蕴涵，</a:t>
            </a:r>
            <a:r>
              <a:rPr lang="zh-CN" altLang="en-US" sz="1800" b="1" u="sng" dirty="0">
                <a:solidFill>
                  <a:srgbClr val="FF0066"/>
                </a:solidFill>
                <a:latin typeface="华文新魏" panose="02010800040101010101" pitchFamily="2" charset="-122"/>
                <a:ea typeface="华文新魏" panose="02010800040101010101" pitchFamily="2" charset="-122"/>
              </a:rPr>
              <a:t>必要极大圈</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9880" name="Rectangle 190"/>
          <p:cNvSpPr/>
          <p:nvPr/>
        </p:nvSpPr>
        <p:spPr>
          <a:xfrm>
            <a:off x="214313" y="4037013"/>
            <a:ext cx="8029575" cy="1055687"/>
          </a:xfrm>
          <a:prstGeom prst="rect">
            <a:avLst/>
          </a:prstGeom>
          <a:noFill/>
          <a:ln w="9525">
            <a:noFill/>
          </a:ln>
        </p:spPr>
        <p:txBody>
          <a:bodyPr/>
          <a:p>
            <a:pPr marL="342900" indent="-342900"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a:t>
            </a:r>
            <a:r>
              <a:rPr lang="zh-CN" altLang="en-US" sz="1800" b="1" u="sng" dirty="0">
                <a:solidFill>
                  <a:srgbClr val="FF0066"/>
                </a:solidFill>
                <a:latin typeface="华文新魏" panose="02010800040101010101" pitchFamily="2" charset="-122"/>
                <a:ea typeface="华文新魏" panose="02010800040101010101" pitchFamily="2" charset="-122"/>
              </a:rPr>
              <a:t>卡诺图上的最小覆盖</a:t>
            </a:r>
            <a:r>
              <a:rPr lang="zh-CN" altLang="en-US" sz="1800" b="1" dirty="0">
                <a:solidFill>
                  <a:schemeClr val="tx1"/>
                </a:solidFill>
                <a:latin typeface="华文新魏" panose="02010800040101010101" pitchFamily="2" charset="-122"/>
                <a:ea typeface="华文新魏" panose="02010800040101010101" pitchFamily="2" charset="-122"/>
              </a:rPr>
              <a:t>：挑选数目最少的（必要）质蕴涵，如果它们覆盖了图上全部标</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的小方格，这就是最小覆盖。最小覆盖所对应的逻辑表达式就是最简的表达式。</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fade">
                                      <p:cBhvr>
                                        <p:cTn id="7" dur="500"/>
                                        <p:tgtEl>
                                          <p:spTgt spid="798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877"/>
                                        </p:tgtEl>
                                        <p:attrNameLst>
                                          <p:attrName>style.visibility</p:attrName>
                                        </p:attrNameLst>
                                      </p:cBhvr>
                                      <p:to>
                                        <p:strVal val="visible"/>
                                      </p:to>
                                    </p:set>
                                    <p:animEffect transition="in" filter="fade">
                                      <p:cBhvr>
                                        <p:cTn id="12" dur="500"/>
                                        <p:tgtEl>
                                          <p:spTgt spid="798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9879"/>
                                        </p:tgtEl>
                                        <p:attrNameLst>
                                          <p:attrName>style.visibility</p:attrName>
                                        </p:attrNameLst>
                                      </p:cBhvr>
                                      <p:to>
                                        <p:strVal val="visible"/>
                                      </p:to>
                                    </p:set>
                                    <p:animEffect transition="in" filter="fade">
                                      <p:cBhvr>
                                        <p:cTn id="17" dur="500"/>
                                        <p:tgtEl>
                                          <p:spTgt spid="7987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9880"/>
                                        </p:tgtEl>
                                        <p:attrNameLst>
                                          <p:attrName>style.visibility</p:attrName>
                                        </p:attrNameLst>
                                      </p:cBhvr>
                                      <p:to>
                                        <p:strVal val="visible"/>
                                      </p:to>
                                    </p:set>
                                    <p:animEffect transition="in" filter="fade">
                                      <p:cBhvr>
                                        <p:cTn id="22" dur="500"/>
                                        <p:tgtEl>
                                          <p:spTgt spid="79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7" grpId="0"/>
      <p:bldP spid="79878" grpId="0"/>
      <p:bldP spid="79879" grpId="0"/>
      <p:bldP spid="7988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8089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80900" name="Rectangle 4"/>
          <p:cNvSpPr>
            <a:spLocks noGrp="1"/>
          </p:cNvSpPr>
          <p:nvPr>
            <p:ph/>
          </p:nvPr>
        </p:nvSpPr>
        <p:spPr>
          <a:xfrm>
            <a:off x="323850" y="555625"/>
            <a:ext cx="8643938" cy="4125913"/>
          </a:xfrm>
          <a:prstGeom prst="rect">
            <a:avLst/>
          </a:prstGeom>
          <a:noFill/>
          <a:ln w="9525">
            <a:noFill/>
          </a:ln>
        </p:spPr>
        <p:txBody>
          <a:bodyPr/>
          <a:p>
            <a:pPr eaLnBrk="1" hangingPunct="1">
              <a:buFont typeface="Wingdings" panose="05000000000000000000" pitchFamily="2" charset="2"/>
              <a:buChar char="Ø"/>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用卡诺图法化简逻辑函数的基本步骤</a:t>
            </a: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⑴ 将逻辑函数表示在卡诺图上，并画出所有的</a:t>
            </a:r>
            <a:r>
              <a:rPr lang="zh-CN" altLang="en-US" sz="1800" b="1" dirty="0">
                <a:solidFill>
                  <a:srgbClr val="FF0066"/>
                </a:solidFill>
                <a:latin typeface="华文新魏" panose="02010800040101010101" pitchFamily="2" charset="-122"/>
                <a:ea typeface="华文新魏" panose="02010800040101010101" pitchFamily="2" charset="-122"/>
              </a:rPr>
              <a:t>极大圈</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⑵ 根据</a:t>
            </a:r>
            <a:r>
              <a:rPr lang="zh-CN" altLang="en-US" sz="1800" b="1" u="sng" dirty="0">
                <a:latin typeface="华文新魏" panose="02010800040101010101" pitchFamily="2" charset="-122"/>
                <a:ea typeface="华文新魏" panose="02010800040101010101" pitchFamily="2" charset="-122"/>
              </a:rPr>
              <a:t>实质最小项</a:t>
            </a:r>
            <a:r>
              <a:rPr lang="zh-CN" altLang="en-US" sz="1800" b="1" dirty="0">
                <a:latin typeface="华文新魏" panose="02010800040101010101" pitchFamily="2" charset="-122"/>
                <a:ea typeface="华文新魏" panose="02010800040101010101" pitchFamily="2" charset="-122"/>
              </a:rPr>
              <a:t>确定所有的</a:t>
            </a:r>
            <a:r>
              <a:rPr lang="zh-CN" altLang="en-US" sz="1800" b="1" dirty="0">
                <a:solidFill>
                  <a:srgbClr val="FF0066"/>
                </a:solidFill>
                <a:latin typeface="华文新魏" panose="02010800040101010101" pitchFamily="2" charset="-122"/>
                <a:ea typeface="华文新魏" panose="02010800040101010101" pitchFamily="2" charset="-122"/>
              </a:rPr>
              <a:t>必要极大圈</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⑶ 如果所选出的必要极大圈已覆盖卡诺图上全部标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小方格，那么</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这些</a:t>
            </a:r>
            <a:r>
              <a:rPr lang="zh-CN" altLang="en-US" sz="1800" b="1" u="sng" dirty="0">
                <a:latin typeface="华文新魏" panose="02010800040101010101" pitchFamily="2" charset="-122"/>
                <a:ea typeface="华文新魏" panose="02010800040101010101" pitchFamily="2" charset="-122"/>
              </a:rPr>
              <a:t>必要极大圈</a:t>
            </a:r>
            <a:r>
              <a:rPr lang="zh-CN" altLang="en-US" sz="1800" b="1" dirty="0">
                <a:latin typeface="华文新魏" panose="02010800040101010101" pitchFamily="2" charset="-122"/>
                <a:ea typeface="华文新魏" panose="02010800040101010101" pitchFamily="2" charset="-122"/>
              </a:rPr>
              <a:t>的集合就是卡诺图上的最小覆盖；</a:t>
            </a:r>
            <a:endParaRPr lang="en-US" altLang="zh-CN"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⑷ 如果还有标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的小方格未被上述的</a:t>
            </a:r>
            <a:r>
              <a:rPr lang="zh-CN" altLang="en-US" sz="1800" b="1" u="sng" dirty="0">
                <a:latin typeface="华文新魏" panose="02010800040101010101" pitchFamily="2" charset="-122"/>
                <a:ea typeface="华文新魏" panose="02010800040101010101" pitchFamily="2" charset="-122"/>
              </a:rPr>
              <a:t>必要极大圈</a:t>
            </a:r>
            <a:r>
              <a:rPr lang="zh-CN" altLang="en-US" sz="1800" b="1" dirty="0">
                <a:latin typeface="华文新魏" panose="02010800040101010101" pitchFamily="2" charset="-122"/>
                <a:ea typeface="华文新魏" panose="02010800040101010101" pitchFamily="2" charset="-122"/>
              </a:rPr>
              <a:t>覆盖，那么再加上选择</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最少的</a:t>
            </a:r>
            <a:r>
              <a:rPr lang="zh-CN" altLang="en-US" sz="1800" b="1" u="sng" dirty="0">
                <a:latin typeface="华文新魏" panose="02010800040101010101" pitchFamily="2" charset="-122"/>
                <a:ea typeface="华文新魏" panose="02010800040101010101" pitchFamily="2" charset="-122"/>
              </a:rPr>
              <a:t>必要极大圈</a:t>
            </a:r>
            <a:r>
              <a:rPr lang="zh-CN" altLang="en-US" sz="1800" b="1" dirty="0">
                <a:latin typeface="华文新魏" panose="02010800040101010101" pitchFamily="2" charset="-122"/>
                <a:ea typeface="华文新魏" panose="02010800040101010101" pitchFamily="2" charset="-122"/>
              </a:rPr>
              <a:t>覆盖剩余的标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小方格，即获得最小覆盖；</a:t>
            </a:r>
            <a:endParaRPr lang="en-US" altLang="zh-CN"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⑸ 写出</a:t>
            </a:r>
            <a:r>
              <a:rPr lang="zh-CN" altLang="en-US" sz="1800" b="1" u="sng" dirty="0">
                <a:latin typeface="华文新魏" panose="02010800040101010101" pitchFamily="2" charset="-122"/>
                <a:ea typeface="华文新魏" panose="02010800040101010101" pitchFamily="2" charset="-122"/>
              </a:rPr>
              <a:t>最小覆盖</a:t>
            </a:r>
            <a:r>
              <a:rPr lang="zh-CN" altLang="en-US" sz="1800" b="1" dirty="0">
                <a:latin typeface="华文新魏" panose="02010800040101010101" pitchFamily="2" charset="-122"/>
                <a:ea typeface="华文新魏" panose="02010800040101010101" pitchFamily="2" charset="-122"/>
              </a:rPr>
              <a:t>所对应的逻辑表达式，即最简与或式。</a:t>
            </a:r>
            <a:endParaRPr lang="zh-CN" altLang="en-US" sz="1800" b="1" dirty="0">
              <a:latin typeface="华文新魏" panose="02010800040101010101" pitchFamily="2" charset="-122"/>
              <a:ea typeface="华文新魏" panose="02010800040101010101" pitchFamily="2" charset="-122"/>
            </a:endParaRPr>
          </a:p>
        </p:txBody>
      </p:sp>
    </p:spTree>
  </p:cSld>
  <p:clrMapOvr>
    <a:masterClrMapping/>
  </p:clrMapOvr>
  <p:transition advTm="2000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192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1924" name="Rectangle 3"/>
          <p:cNvSpPr>
            <a:spLocks noGrp="1"/>
          </p:cNvSpPr>
          <p:nvPr>
            <p:ph type="title"/>
          </p:nvPr>
        </p:nvSpPr>
        <p:spPr>
          <a:xfrm>
            <a:off x="468313" y="582613"/>
            <a:ext cx="8207375" cy="404812"/>
          </a:xfrm>
          <a:prstGeom prst="rect">
            <a:avLst/>
          </a:prstGeom>
          <a:noFill/>
          <a:ln w="9525">
            <a:noFill/>
          </a:ln>
        </p:spPr>
        <p:txBody>
          <a:bodyPr/>
          <a:p>
            <a:pPr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将逻辑函数化简成最简与或表达式</a:t>
            </a:r>
            <a:endParaRPr lang="zh-CN" altLang="en-US" sz="1800" b="1" dirty="0">
              <a:latin typeface="黑体" panose="02010609060101010101" pitchFamily="49" charset="-122"/>
              <a:ea typeface="黑体" panose="02010609060101010101" pitchFamily="49" charset="-122"/>
            </a:endParaRPr>
          </a:p>
        </p:txBody>
      </p:sp>
      <p:sp>
        <p:nvSpPr>
          <p:cNvPr id="81925" name="Rectangle 4"/>
          <p:cNvSpPr>
            <a:spLocks noGrp="1"/>
          </p:cNvSpPr>
          <p:nvPr>
            <p:ph/>
          </p:nvPr>
        </p:nvSpPr>
        <p:spPr>
          <a:xfrm>
            <a:off x="396875" y="1025525"/>
            <a:ext cx="8964613" cy="682625"/>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化简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sym typeface="Symbol" panose="05050102010706020507" pitchFamily="18" charset="2"/>
              </a:rPr>
              <a:t>(1,3,4,5,9,11,12,13,14,15) </a:t>
            </a:r>
            <a:endParaRPr lang="en-US" altLang="zh-CN" sz="1800" dirty="0">
              <a:latin typeface="黑体" panose="02010609060101010101" pitchFamily="49" charset="-122"/>
              <a:ea typeface="黑体" panose="02010609060101010101" pitchFamily="49" charset="-122"/>
              <a:sym typeface="Symbol" panose="05050102010706020507" pitchFamily="18" charset="2"/>
            </a:endParaRPr>
          </a:p>
          <a:p>
            <a:pPr eaLnBrk="1" hangingPunct="1">
              <a:buNone/>
            </a:pPr>
            <a:r>
              <a:rPr lang="zh-CN" altLang="en-US" sz="1800" dirty="0">
                <a:latin typeface="黑体" panose="02010609060101010101" pitchFamily="49" charset="-122"/>
                <a:ea typeface="黑体" panose="02010609060101010101" pitchFamily="49" charset="-122"/>
                <a:sym typeface="Symbol" panose="05050102010706020507" pitchFamily="18" charset="2"/>
              </a:rPr>
              <a:t>第一步：将函数</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表示在卡诺</a:t>
            </a:r>
            <a:r>
              <a:rPr lang="zh-CN" altLang="en-US" sz="1800" dirty="0">
                <a:latin typeface="黑体" panose="02010609060101010101" pitchFamily="49" charset="-122"/>
                <a:ea typeface="黑体" panose="02010609060101010101" pitchFamily="49" charset="-122"/>
                <a:sym typeface="Symbol" panose="05050102010706020507" pitchFamily="18" charset="2"/>
              </a:rPr>
              <a:t>图中（用黑色</a:t>
            </a:r>
            <a:r>
              <a:rPr lang="en-US" altLang="zh-CN" sz="1800" dirty="0">
                <a:latin typeface="黑体" panose="02010609060101010101" pitchFamily="49" charset="-122"/>
                <a:ea typeface="黑体" panose="02010609060101010101" pitchFamily="49" charset="-122"/>
                <a:sym typeface="Symbol" panose="05050102010706020507" pitchFamily="18" charset="2"/>
              </a:rPr>
              <a:t>“1”</a:t>
            </a:r>
            <a:r>
              <a:rPr lang="zh-CN" altLang="en-US" sz="1800" dirty="0">
                <a:latin typeface="黑体" panose="02010609060101010101" pitchFamily="49" charset="-122"/>
                <a:ea typeface="黑体" panose="02010609060101010101" pitchFamily="49" charset="-122"/>
                <a:sym typeface="Symbol" panose="05050102010706020507" pitchFamily="18" charset="2"/>
              </a:rPr>
              <a:t>进行</a:t>
            </a:r>
            <a:r>
              <a:rPr lang="zh-CN" altLang="en-US" sz="1800" dirty="0">
                <a:latin typeface="黑体" panose="02010609060101010101" pitchFamily="49" charset="-122"/>
                <a:ea typeface="黑体" panose="02010609060101010101" pitchFamily="49" charset="-122"/>
                <a:sym typeface="Symbol" panose="05050102010706020507" pitchFamily="18" charset="2"/>
              </a:rPr>
              <a:t>了标注</a:t>
            </a:r>
            <a:r>
              <a:rPr lang="zh-CN" altLang="en-US" sz="1800" dirty="0">
                <a:latin typeface="黑体" panose="02010609060101010101" pitchFamily="49" charset="-122"/>
                <a:ea typeface="黑体" panose="02010609060101010101" pitchFamily="49" charset="-122"/>
                <a:sym typeface="Symbol" panose="05050102010706020507" pitchFamily="18" charset="2"/>
              </a:rPr>
              <a:t>）；</a:t>
            </a:r>
            <a:endParaRPr lang="zh-CN" altLang="en-US" sz="1800" dirty="0">
              <a:latin typeface="黑体" panose="02010609060101010101" pitchFamily="49" charset="-122"/>
              <a:ea typeface="黑体" panose="02010609060101010101" pitchFamily="49" charset="-122"/>
              <a:sym typeface="Symbol" panose="05050102010706020507" pitchFamily="18" charset="2"/>
            </a:endParaRPr>
          </a:p>
        </p:txBody>
      </p:sp>
      <p:grpSp>
        <p:nvGrpSpPr>
          <p:cNvPr id="81926" name="Group 73"/>
          <p:cNvGrpSpPr/>
          <p:nvPr/>
        </p:nvGrpSpPr>
        <p:grpSpPr>
          <a:xfrm>
            <a:off x="7097713" y="2592388"/>
            <a:ext cx="1219200" cy="0"/>
            <a:chOff x="0" y="0"/>
            <a:chExt cx="1219200" cy="0"/>
          </a:xfrm>
        </p:grpSpPr>
        <p:sp>
          <p:nvSpPr>
            <p:cNvPr id="81982" name="Line 10"/>
            <p:cNvSpPr/>
            <p:nvPr/>
          </p:nvSpPr>
          <p:spPr>
            <a:xfrm>
              <a:off x="-6625224" y="-3455478"/>
              <a:ext cx="122" cy="0"/>
            </a:xfrm>
            <a:prstGeom prst="line">
              <a:avLst/>
            </a:prstGeom>
            <a:ln w="9525" cap="flat" cmpd="sng">
              <a:solidFill>
                <a:srgbClr val="FFFFFF"/>
              </a:solidFill>
              <a:prstDash val="solid"/>
              <a:headEnd type="none" w="med" len="med"/>
              <a:tailEnd type="none" w="med" len="med"/>
            </a:ln>
          </p:spPr>
        </p:sp>
        <p:sp>
          <p:nvSpPr>
            <p:cNvPr id="81983" name="Line 11"/>
            <p:cNvSpPr/>
            <p:nvPr/>
          </p:nvSpPr>
          <p:spPr>
            <a:xfrm>
              <a:off x="-6624578" y="-3455478"/>
              <a:ext cx="122" cy="0"/>
            </a:xfrm>
            <a:prstGeom prst="line">
              <a:avLst/>
            </a:prstGeom>
            <a:ln w="9525" cap="flat" cmpd="sng">
              <a:solidFill>
                <a:srgbClr val="FFFFFF"/>
              </a:solidFill>
              <a:prstDash val="solid"/>
              <a:headEnd type="none" w="med" len="med"/>
              <a:tailEnd type="none" w="med" len="med"/>
            </a:ln>
          </p:spPr>
        </p:sp>
      </p:grpSp>
      <p:graphicFrame>
        <p:nvGraphicFramePr>
          <p:cNvPr id="79881" name="Group 9"/>
          <p:cNvGraphicFramePr>
            <a:graphicFrameLocks noGrp="1"/>
          </p:cNvGraphicFramePr>
          <p:nvPr/>
        </p:nvGraphicFramePr>
        <p:xfrm>
          <a:off x="3363913" y="3257550"/>
          <a:ext cx="2286000" cy="1466852"/>
        </p:xfrm>
        <a:graphic>
          <a:graphicData uri="http://schemas.openxmlformats.org/drawingml/2006/table">
            <a:tbl>
              <a:tblPr/>
              <a:tblGrid>
                <a:gridCol w="571500"/>
                <a:gridCol w="571500"/>
                <a:gridCol w="581025"/>
                <a:gridCol w="561975"/>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1954" name="Text Box 42"/>
          <p:cNvSpPr txBox="1"/>
          <p:nvPr/>
        </p:nvSpPr>
        <p:spPr>
          <a:xfrm>
            <a:off x="396875" y="1654175"/>
            <a:ext cx="8118475" cy="700405"/>
          </a:xfrm>
          <a:prstGeom prst="rect">
            <a:avLst/>
          </a:prstGeom>
          <a:noFill/>
          <a:ln w="9525">
            <a:noFill/>
          </a:ln>
        </p:spPr>
        <p:txBody>
          <a:bodyPr wrap="square">
            <a:spAutoFit/>
          </a:bodyPr>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第二步：选择出必要极大圈（</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用红色</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rgbClr val="FF0000"/>
                </a:solidFill>
                <a:latin typeface="黑体" panose="02010609060101010101" pitchFamily="49" charset="-122"/>
                <a:ea typeface="黑体" panose="02010609060101010101" pitchFamily="49" charset="-122"/>
                <a:sym typeface="Symbol" panose="05050102010706020507" pitchFamily="18" charset="2"/>
              </a:rPr>
              <a:t>1</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进行了标注</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），它</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 </a:t>
            </a:r>
            <a:endPar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        </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们是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b</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c</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，确定所包含的实质最小项分别是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m</a:t>
            </a:r>
            <a:r>
              <a:rPr lang="en-US" altLang="zh-CN" sz="1800" baseline="-25000" dirty="0">
                <a:solidFill>
                  <a:schemeClr val="tx1"/>
                </a:solidFill>
                <a:latin typeface="黑体" panose="02010609060101010101" pitchFamily="49" charset="-122"/>
                <a:ea typeface="黑体" panose="02010609060101010101" pitchFamily="49" charset="-122"/>
                <a:sym typeface="Symbol" panose="05050102010706020507" pitchFamily="18" charset="2"/>
              </a:rPr>
              <a:t>3 </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m</a:t>
            </a:r>
            <a:r>
              <a:rPr lang="en-US" altLang="zh-CN" sz="1800" baseline="-25000" dirty="0">
                <a:solidFill>
                  <a:schemeClr val="tx1"/>
                </a:solidFill>
                <a:latin typeface="黑体" panose="02010609060101010101" pitchFamily="49" charset="-122"/>
                <a:ea typeface="黑体" panose="02010609060101010101" pitchFamily="49" charset="-122"/>
                <a:sym typeface="Symbol" panose="05050102010706020507" pitchFamily="18" charset="2"/>
              </a:rPr>
              <a:t>4</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m</a:t>
            </a:r>
            <a:r>
              <a:rPr lang="en-US" altLang="zh-CN" sz="1800" baseline="-25000" dirty="0">
                <a:solidFill>
                  <a:schemeClr val="tx1"/>
                </a:solidFill>
                <a:latin typeface="黑体" panose="02010609060101010101" pitchFamily="49" charset="-122"/>
                <a:ea typeface="黑体" panose="02010609060101010101" pitchFamily="49" charset="-122"/>
                <a:sym typeface="Symbol" panose="05050102010706020507" pitchFamily="18" charset="2"/>
              </a:rPr>
              <a:t>14</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endPar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endParaRPr>
          </a:p>
        </p:txBody>
      </p:sp>
      <p:sp>
        <p:nvSpPr>
          <p:cNvPr id="81955" name="Text Box 44"/>
          <p:cNvSpPr txBox="1"/>
          <p:nvPr/>
        </p:nvSpPr>
        <p:spPr>
          <a:xfrm>
            <a:off x="395288" y="2301875"/>
            <a:ext cx="9144000" cy="700405"/>
          </a:xfrm>
          <a:prstGeom prst="rect">
            <a:avLst/>
          </a:prstGeom>
          <a:noFill/>
          <a:ln w="9525">
            <a:noFill/>
          </a:ln>
        </p:spPr>
        <p:txBody>
          <a:bodyPr>
            <a:spAutoFit/>
          </a:bodyPr>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第三步：确定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a,b,c</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这三个必要极大圈已覆盖全部标</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1</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小方格；</a:t>
            </a:r>
            <a:endPar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endParaRPr>
          </a:p>
          <a:p>
            <a:pPr eaLnBrk="1" hangingPunct="1">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56" name="Text Box 47"/>
          <p:cNvSpPr txBox="1"/>
          <p:nvPr/>
        </p:nvSpPr>
        <p:spPr>
          <a:xfrm>
            <a:off x="3382963" y="4000500"/>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grpSp>
        <p:nvGrpSpPr>
          <p:cNvPr id="81957" name="Group 61"/>
          <p:cNvGrpSpPr/>
          <p:nvPr/>
        </p:nvGrpSpPr>
        <p:grpSpPr>
          <a:xfrm>
            <a:off x="3211513" y="3714750"/>
            <a:ext cx="3267075" cy="1011177"/>
            <a:chOff x="0" y="0"/>
            <a:chExt cx="2058" cy="850"/>
          </a:xfrm>
        </p:grpSpPr>
        <p:grpSp>
          <p:nvGrpSpPr>
            <p:cNvPr id="81974" name="Group 50"/>
            <p:cNvGrpSpPr/>
            <p:nvPr/>
          </p:nvGrpSpPr>
          <p:grpSpPr>
            <a:xfrm>
              <a:off x="0" y="0"/>
              <a:ext cx="384" cy="480"/>
              <a:chOff x="0" y="0"/>
              <a:chExt cx="384" cy="480"/>
            </a:xfrm>
          </p:grpSpPr>
          <p:sp>
            <p:nvSpPr>
              <p:cNvPr id="81980" name="Rectangle 48"/>
              <p:cNvSpPr/>
              <p:nvPr/>
            </p:nvSpPr>
            <p:spPr>
              <a:xfrm>
                <a:off x="0" y="0"/>
                <a:ext cx="384"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81" name="Line 49"/>
              <p:cNvSpPr/>
              <p:nvPr/>
            </p:nvSpPr>
            <p:spPr>
              <a:xfrm>
                <a:off x="0" y="0"/>
                <a:ext cx="0" cy="480"/>
              </a:xfrm>
              <a:prstGeom prst="line">
                <a:avLst/>
              </a:prstGeom>
              <a:ln w="9525" cap="flat" cmpd="sng">
                <a:solidFill>
                  <a:srgbClr val="333300"/>
                </a:solidFill>
                <a:prstDash val="solid"/>
                <a:headEnd type="none" w="med" len="med"/>
                <a:tailEnd type="none" w="med" len="med"/>
              </a:ln>
            </p:spPr>
          </p:sp>
        </p:grpSp>
        <p:grpSp>
          <p:nvGrpSpPr>
            <p:cNvPr id="81975" name="Group 54"/>
            <p:cNvGrpSpPr/>
            <p:nvPr/>
          </p:nvGrpSpPr>
          <p:grpSpPr>
            <a:xfrm>
              <a:off x="1248" y="0"/>
              <a:ext cx="384" cy="480"/>
              <a:chOff x="0" y="0"/>
              <a:chExt cx="384" cy="480"/>
            </a:xfrm>
          </p:grpSpPr>
          <p:sp>
            <p:nvSpPr>
              <p:cNvPr id="81978" name="Rectangle 52"/>
              <p:cNvSpPr/>
              <p:nvPr/>
            </p:nvSpPr>
            <p:spPr>
              <a:xfrm>
                <a:off x="0" y="0"/>
                <a:ext cx="384"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79" name="Line 53"/>
              <p:cNvSpPr/>
              <p:nvPr/>
            </p:nvSpPr>
            <p:spPr>
              <a:xfrm>
                <a:off x="384" y="0"/>
                <a:ext cx="0" cy="480"/>
              </a:xfrm>
              <a:prstGeom prst="line">
                <a:avLst/>
              </a:prstGeom>
              <a:ln w="9525" cap="flat" cmpd="sng">
                <a:solidFill>
                  <a:srgbClr val="333300"/>
                </a:solidFill>
                <a:prstDash val="solid"/>
                <a:headEnd type="none" w="med" len="med"/>
                <a:tailEnd type="none" w="med" len="med"/>
              </a:ln>
            </p:spPr>
          </p:sp>
        </p:grpSp>
        <p:sp>
          <p:nvSpPr>
            <p:cNvPr id="81976" name="Text Box 55"/>
            <p:cNvSpPr txBox="1"/>
            <p:nvPr/>
          </p:nvSpPr>
          <p:spPr>
            <a:xfrm>
              <a:off x="1818" y="540"/>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1977" name="Line 57"/>
            <p:cNvSpPr/>
            <p:nvPr/>
          </p:nvSpPr>
          <p:spPr>
            <a:xfrm>
              <a:off x="1632" y="480"/>
              <a:ext cx="144" cy="96"/>
            </a:xfrm>
            <a:prstGeom prst="line">
              <a:avLst/>
            </a:prstGeom>
            <a:ln w="9525" cap="flat" cmpd="sng">
              <a:solidFill>
                <a:schemeClr val="bg1"/>
              </a:solidFill>
              <a:prstDash val="solid"/>
              <a:headEnd type="none" w="med" len="med"/>
              <a:tailEnd type="none" w="med" len="med"/>
            </a:ln>
          </p:spPr>
        </p:sp>
      </p:grpSp>
      <p:grpSp>
        <p:nvGrpSpPr>
          <p:cNvPr id="81958" name="Group 63"/>
          <p:cNvGrpSpPr/>
          <p:nvPr/>
        </p:nvGrpSpPr>
        <p:grpSpPr>
          <a:xfrm>
            <a:off x="4621213" y="3328988"/>
            <a:ext cx="723900" cy="1784350"/>
            <a:chOff x="0" y="0"/>
            <a:chExt cx="456" cy="1498"/>
          </a:xfrm>
        </p:grpSpPr>
        <p:sp>
          <p:nvSpPr>
            <p:cNvPr id="81971" name="Rectangle 58"/>
            <p:cNvSpPr/>
            <p:nvPr/>
          </p:nvSpPr>
          <p:spPr>
            <a:xfrm>
              <a:off x="0" y="0"/>
              <a:ext cx="192" cy="1104"/>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72" name="Text Box 59"/>
            <p:cNvSpPr txBox="1"/>
            <p:nvPr/>
          </p:nvSpPr>
          <p:spPr>
            <a:xfrm>
              <a:off x="216" y="1188"/>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1973" name="Line 60"/>
            <p:cNvSpPr/>
            <p:nvPr/>
          </p:nvSpPr>
          <p:spPr>
            <a:xfrm>
              <a:off x="168" y="1104"/>
              <a:ext cx="144" cy="144"/>
            </a:xfrm>
            <a:prstGeom prst="line">
              <a:avLst/>
            </a:prstGeom>
            <a:ln w="9525" cap="flat" cmpd="sng">
              <a:solidFill>
                <a:schemeClr val="tx1"/>
              </a:solidFill>
              <a:prstDash val="solid"/>
              <a:headEnd type="none" w="med" len="med"/>
              <a:tailEnd type="none" w="med" len="med"/>
            </a:ln>
          </p:spPr>
        </p:sp>
      </p:grpSp>
      <p:grpSp>
        <p:nvGrpSpPr>
          <p:cNvPr id="81959" name="Group 70"/>
          <p:cNvGrpSpPr/>
          <p:nvPr/>
        </p:nvGrpSpPr>
        <p:grpSpPr>
          <a:xfrm>
            <a:off x="4049713" y="2914650"/>
            <a:ext cx="1371600" cy="1028700"/>
            <a:chOff x="0" y="0"/>
            <a:chExt cx="864" cy="864"/>
          </a:xfrm>
        </p:grpSpPr>
        <p:sp>
          <p:nvSpPr>
            <p:cNvPr id="81968" name="Rectangle 62"/>
            <p:cNvSpPr/>
            <p:nvPr/>
          </p:nvSpPr>
          <p:spPr>
            <a:xfrm>
              <a:off x="0" y="336"/>
              <a:ext cx="576" cy="528"/>
            </a:xfrm>
            <a:prstGeom prst="rect">
              <a:avLst/>
            </a:prstGeom>
            <a:noFill/>
            <a:ln w="9525" cap="flat" cmpd="sng">
              <a:solidFill>
                <a:srgbClr val="76717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69" name="Text Box 64"/>
            <p:cNvSpPr txBox="1"/>
            <p:nvPr/>
          </p:nvSpPr>
          <p:spPr>
            <a:xfrm>
              <a:off x="576" y="0"/>
              <a:ext cx="28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1970" name="Line 65"/>
            <p:cNvSpPr/>
            <p:nvPr/>
          </p:nvSpPr>
          <p:spPr>
            <a:xfrm flipV="1">
              <a:off x="240" y="192"/>
              <a:ext cx="384" cy="144"/>
            </a:xfrm>
            <a:prstGeom prst="line">
              <a:avLst/>
            </a:prstGeom>
            <a:ln w="9525" cap="flat" cmpd="sng">
              <a:solidFill>
                <a:schemeClr val="tx1"/>
              </a:solidFill>
              <a:prstDash val="solid"/>
              <a:headEnd type="none" w="med" len="med"/>
              <a:tailEnd type="none" w="med" len="med"/>
            </a:ln>
          </p:spPr>
        </p:sp>
      </p:grpSp>
      <p:grpSp>
        <p:nvGrpSpPr>
          <p:cNvPr id="81960" name="Group 69"/>
          <p:cNvGrpSpPr/>
          <p:nvPr/>
        </p:nvGrpSpPr>
        <p:grpSpPr>
          <a:xfrm>
            <a:off x="2525713" y="2914650"/>
            <a:ext cx="1524000" cy="596900"/>
            <a:chOff x="0" y="0"/>
            <a:chExt cx="960" cy="502"/>
          </a:xfrm>
        </p:grpSpPr>
        <p:sp>
          <p:nvSpPr>
            <p:cNvPr id="81965" name="Line 66"/>
            <p:cNvSpPr/>
            <p:nvPr/>
          </p:nvSpPr>
          <p:spPr>
            <a:xfrm flipH="1" flipV="1">
              <a:off x="240" y="48"/>
              <a:ext cx="288" cy="240"/>
            </a:xfrm>
            <a:prstGeom prst="line">
              <a:avLst/>
            </a:prstGeom>
            <a:ln w="9525" cap="flat" cmpd="sng">
              <a:solidFill>
                <a:schemeClr val="tx1"/>
              </a:solidFill>
              <a:prstDash val="solid"/>
              <a:headEnd type="none" w="med" len="med"/>
              <a:tailEnd type="none" w="med" len="med"/>
            </a:ln>
          </p:spPr>
        </p:sp>
        <p:sp>
          <p:nvSpPr>
            <p:cNvPr id="81966" name="Text Box 67"/>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7" name="Text Box 68"/>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81961" name="Text Box 71"/>
          <p:cNvSpPr txBox="1"/>
          <p:nvPr/>
        </p:nvSpPr>
        <p:spPr>
          <a:xfrm>
            <a:off x="3954463" y="3271838"/>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81962" name="Text Box 72"/>
          <p:cNvSpPr txBox="1"/>
          <p:nvPr/>
        </p:nvSpPr>
        <p:spPr>
          <a:xfrm>
            <a:off x="4525963" y="43719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cxnSp>
        <p:nvCxnSpPr>
          <p:cNvPr id="2" name="直接连接符 1"/>
          <p:cNvCxnSpPr/>
          <p:nvPr/>
        </p:nvCxnSpPr>
        <p:spPr>
          <a:xfrm>
            <a:off x="5802630" y="4285615"/>
            <a:ext cx="281305" cy="158750"/>
          </a:xfrm>
          <a:prstGeom prst="line">
            <a:avLst/>
          </a:prstGeom>
        </p:spPr>
        <p:style>
          <a:lnRef idx="1">
            <a:schemeClr val="dk1"/>
          </a:lnRef>
          <a:fillRef idx="0">
            <a:schemeClr val="dk1"/>
          </a:fillRef>
          <a:effectRef idx="0">
            <a:schemeClr val="dk1"/>
          </a:effectRef>
          <a:fontRef idx="minor">
            <a:schemeClr val="tx1"/>
          </a:fontRef>
        </p:style>
      </p:cxnSp>
      <p:pic>
        <p:nvPicPr>
          <p:cNvPr id="3" name="图片 2"/>
          <p:cNvPicPr>
            <a:picLocks noChangeAspect="1"/>
          </p:cNvPicPr>
          <p:nvPr/>
        </p:nvPicPr>
        <p:blipFill>
          <a:blip r:embed="rId1"/>
          <a:stretch>
            <a:fillRect/>
          </a:stretch>
        </p:blipFill>
        <p:spPr>
          <a:xfrm>
            <a:off x="396875" y="2644140"/>
            <a:ext cx="6267450" cy="33020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54"/>
                                        </p:tgtEl>
                                        <p:attrNameLst>
                                          <p:attrName>style.visibility</p:attrName>
                                        </p:attrNameLst>
                                      </p:cBhvr>
                                      <p:to>
                                        <p:strVal val="visible"/>
                                      </p:to>
                                    </p:set>
                                    <p:animEffect transition="in" filter="fade">
                                      <p:cBhvr>
                                        <p:cTn id="7" dur="500"/>
                                        <p:tgtEl>
                                          <p:spTgt spid="819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1955"/>
                                        </p:tgtEl>
                                        <p:attrNameLst>
                                          <p:attrName>style.visibility</p:attrName>
                                        </p:attrNameLst>
                                      </p:cBhvr>
                                      <p:to>
                                        <p:strVal val="visible"/>
                                      </p:to>
                                    </p:set>
                                    <p:animEffect transition="in" filter="fade">
                                      <p:cBhvr>
                                        <p:cTn id="10" dur="500"/>
                                        <p:tgtEl>
                                          <p:spTgt spid="8195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1955">
                                            <p:txEl>
                                              <p:pRg st="0" end="0"/>
                                            </p:txEl>
                                          </p:spTgt>
                                        </p:tgtEl>
                                        <p:attrNameLst>
                                          <p:attrName>style.visibility</p:attrName>
                                        </p:attrNameLst>
                                      </p:cBhvr>
                                      <p:to>
                                        <p:strVal val="visible"/>
                                      </p:to>
                                    </p:set>
                                    <p:animEffect transition="in" filter="blinds(horizontal)">
                                      <p:cBhvr>
                                        <p:cTn id="15" dur="500"/>
                                        <p:tgtEl>
                                          <p:spTgt spid="8195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4" grpId="0"/>
      <p:bldP spid="8195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294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2948" name="Rectangle 3"/>
          <p:cNvSpPr>
            <a:spLocks noGrp="1"/>
          </p:cNvSpPr>
          <p:nvPr>
            <p:ph type="title"/>
          </p:nvPr>
        </p:nvSpPr>
        <p:spPr>
          <a:xfrm>
            <a:off x="357188" y="631825"/>
            <a:ext cx="8101012" cy="57150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2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sym typeface="Symbol" panose="05050102010706020507" pitchFamily="18" charset="2"/>
              </a:rPr>
              <a:t>(0,1,2,3,4,5,7,14,15)</a:t>
            </a:r>
            <a:endParaRPr lang="en-US" altLang="zh-CN" sz="1800" dirty="0">
              <a:latin typeface="黑体" panose="02010609060101010101" pitchFamily="49" charset="-122"/>
              <a:ea typeface="黑体" panose="02010609060101010101" pitchFamily="49" charset="-122"/>
            </a:endParaRPr>
          </a:p>
        </p:txBody>
      </p:sp>
      <p:sp>
        <p:nvSpPr>
          <p:cNvPr id="82949" name="Rectangle 4"/>
          <p:cNvSpPr>
            <a:spLocks noGrp="1"/>
          </p:cNvSpPr>
          <p:nvPr>
            <p:ph/>
          </p:nvPr>
        </p:nvSpPr>
        <p:spPr>
          <a:xfrm>
            <a:off x="533400" y="3632200"/>
            <a:ext cx="7772400" cy="1082675"/>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sym typeface="Symbol" panose="05050102010706020507" pitchFamily="18" charset="2"/>
              </a:rPr>
              <a:t>函数最简表达式 </a:t>
            </a:r>
            <a:endParaRPr lang="zh-CN" altLang="en-US" sz="1800" dirty="0">
              <a:latin typeface="黑体" panose="02010609060101010101" pitchFamily="49" charset="-122"/>
              <a:ea typeface="黑体" panose="02010609060101010101" pitchFamily="49" charset="-122"/>
              <a:sym typeface="Symbol" panose="05050102010706020507" pitchFamily="18" charset="2"/>
            </a:endParaRP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 a + c + d + b = AB + AC + AD + ABC</a:t>
            </a:r>
            <a:endParaRPr lang="en-US" altLang="zh-CN" sz="1800" dirty="0">
              <a:latin typeface="黑体" panose="02010609060101010101" pitchFamily="49" charset="-122"/>
              <a:ea typeface="黑体" panose="02010609060101010101" pitchFamily="49" charset="-122"/>
            </a:endParaRPr>
          </a:p>
        </p:txBody>
      </p:sp>
      <p:graphicFrame>
        <p:nvGraphicFramePr>
          <p:cNvPr id="80902" name="Group 6"/>
          <p:cNvGraphicFramePr>
            <a:graphicFrameLocks noGrp="1"/>
          </p:cNvGraphicFramePr>
          <p:nvPr/>
        </p:nvGraphicFramePr>
        <p:xfrm>
          <a:off x="2895600" y="157480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2977" name="Text Box 89"/>
          <p:cNvSpPr txBox="1"/>
          <p:nvPr/>
        </p:nvSpPr>
        <p:spPr>
          <a:xfrm>
            <a:off x="4057650" y="2689225"/>
            <a:ext cx="533400" cy="4619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endParaRPr lang="en-US" altLang="zh-CN" sz="2400" b="1" dirty="0">
              <a:solidFill>
                <a:srgbClr val="FF0000"/>
              </a:solidFill>
              <a:latin typeface="Times New Roman" panose="02020603050405020304" pitchFamily="18" charset="0"/>
            </a:endParaRPr>
          </a:p>
        </p:txBody>
      </p:sp>
      <p:grpSp>
        <p:nvGrpSpPr>
          <p:cNvPr id="82978" name="Group 121"/>
          <p:cNvGrpSpPr/>
          <p:nvPr/>
        </p:nvGrpSpPr>
        <p:grpSpPr>
          <a:xfrm>
            <a:off x="2438400" y="2032000"/>
            <a:ext cx="1466850" cy="1033463"/>
            <a:chOff x="0" y="0"/>
            <a:chExt cx="924" cy="868"/>
          </a:xfrm>
        </p:grpSpPr>
        <p:sp>
          <p:nvSpPr>
            <p:cNvPr id="83009" name="Rectangle 95"/>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3010" name="Text Box 97"/>
            <p:cNvSpPr txBox="1"/>
            <p:nvPr/>
          </p:nvSpPr>
          <p:spPr>
            <a:xfrm>
              <a:off x="0" y="480"/>
              <a:ext cx="240"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endParaRPr lang="en-US" altLang="zh-CN" sz="2400" b="1" dirty="0">
                <a:solidFill>
                  <a:schemeClr val="tx1"/>
                </a:solidFill>
                <a:latin typeface="Times New Roman" panose="02020603050405020304" pitchFamily="18" charset="0"/>
              </a:endParaRPr>
            </a:p>
          </p:txBody>
        </p:sp>
        <p:sp>
          <p:nvSpPr>
            <p:cNvPr id="83011" name="Line 98"/>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2979" name="Group 99"/>
          <p:cNvGrpSpPr/>
          <p:nvPr/>
        </p:nvGrpSpPr>
        <p:grpSpPr>
          <a:xfrm>
            <a:off x="3048000" y="1646238"/>
            <a:ext cx="723900" cy="1876425"/>
            <a:chOff x="0" y="0"/>
            <a:chExt cx="456" cy="1576"/>
          </a:xfrm>
        </p:grpSpPr>
        <p:sp>
          <p:nvSpPr>
            <p:cNvPr id="83006" name="Rectangle 100"/>
            <p:cNvSpPr/>
            <p:nvPr/>
          </p:nvSpPr>
          <p:spPr>
            <a:xfrm>
              <a:off x="0" y="0"/>
              <a:ext cx="192" cy="1104"/>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3007" name="Text Box 101"/>
            <p:cNvSpPr txBox="1"/>
            <p:nvPr/>
          </p:nvSpPr>
          <p:spPr>
            <a:xfrm>
              <a:off x="216" y="1188"/>
              <a:ext cx="240"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a</a:t>
              </a:r>
              <a:endParaRPr lang="en-US" altLang="zh-CN" sz="2400" b="1" dirty="0">
                <a:solidFill>
                  <a:schemeClr val="tx1"/>
                </a:solidFill>
                <a:latin typeface="Times New Roman" panose="02020603050405020304" pitchFamily="18" charset="0"/>
              </a:endParaRPr>
            </a:p>
          </p:txBody>
        </p:sp>
        <p:sp>
          <p:nvSpPr>
            <p:cNvPr id="83008" name="Line 102"/>
            <p:cNvSpPr/>
            <p:nvPr/>
          </p:nvSpPr>
          <p:spPr>
            <a:xfrm>
              <a:off x="168" y="1104"/>
              <a:ext cx="144" cy="144"/>
            </a:xfrm>
            <a:prstGeom prst="line">
              <a:avLst/>
            </a:prstGeom>
            <a:ln w="9525" cap="flat" cmpd="sng">
              <a:solidFill>
                <a:srgbClr val="767171"/>
              </a:solidFill>
              <a:prstDash val="solid"/>
              <a:headEnd type="none" w="med" len="med"/>
              <a:tailEnd type="none" w="med" len="med"/>
            </a:ln>
          </p:spPr>
        </p:sp>
      </p:grpSp>
      <p:grpSp>
        <p:nvGrpSpPr>
          <p:cNvPr id="82980" name="Group 113"/>
          <p:cNvGrpSpPr/>
          <p:nvPr/>
        </p:nvGrpSpPr>
        <p:grpSpPr>
          <a:xfrm>
            <a:off x="4114800" y="2374900"/>
            <a:ext cx="1143000" cy="1204913"/>
            <a:chOff x="0" y="0"/>
            <a:chExt cx="720" cy="1012"/>
          </a:xfrm>
        </p:grpSpPr>
        <p:sp>
          <p:nvSpPr>
            <p:cNvPr id="83003" name="Rectangle 104"/>
            <p:cNvSpPr/>
            <p:nvPr/>
          </p:nvSpPr>
          <p:spPr>
            <a:xfrm>
              <a:off x="0" y="0"/>
              <a:ext cx="240" cy="480"/>
            </a:xfrm>
            <a:prstGeom prst="rect">
              <a:avLst/>
            </a:prstGeom>
            <a:noFill/>
            <a:ln w="9525" cap="flat" cmpd="sng">
              <a:solidFill>
                <a:srgbClr val="76717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3004" name="Text Box 105"/>
            <p:cNvSpPr txBox="1"/>
            <p:nvPr/>
          </p:nvSpPr>
          <p:spPr>
            <a:xfrm>
              <a:off x="432" y="624"/>
              <a:ext cx="288"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b</a:t>
              </a:r>
              <a:endParaRPr lang="en-US" altLang="zh-CN" sz="2400" b="1" dirty="0">
                <a:solidFill>
                  <a:schemeClr val="tx1"/>
                </a:solidFill>
                <a:latin typeface="Times New Roman" panose="02020603050405020304" pitchFamily="18" charset="0"/>
              </a:endParaRPr>
            </a:p>
          </p:txBody>
        </p:sp>
        <p:sp>
          <p:nvSpPr>
            <p:cNvPr id="83005" name="Line 106"/>
            <p:cNvSpPr/>
            <p:nvPr/>
          </p:nvSpPr>
          <p:spPr>
            <a:xfrm>
              <a:off x="192" y="480"/>
              <a:ext cx="336" cy="192"/>
            </a:xfrm>
            <a:prstGeom prst="line">
              <a:avLst/>
            </a:prstGeom>
            <a:ln w="9525" cap="flat" cmpd="sng">
              <a:solidFill>
                <a:srgbClr val="767171"/>
              </a:solidFill>
              <a:prstDash val="solid"/>
              <a:headEnd type="none" w="med" len="med"/>
              <a:tailEnd type="none" w="med" len="med"/>
            </a:ln>
          </p:spPr>
        </p:sp>
      </p:grpSp>
      <p:grpSp>
        <p:nvGrpSpPr>
          <p:cNvPr id="82981" name="Group 107"/>
          <p:cNvGrpSpPr/>
          <p:nvPr/>
        </p:nvGrpSpPr>
        <p:grpSpPr>
          <a:xfrm>
            <a:off x="2057400" y="1231900"/>
            <a:ext cx="1524000" cy="596504"/>
            <a:chOff x="0" y="0"/>
            <a:chExt cx="960" cy="501"/>
          </a:xfrm>
        </p:grpSpPr>
        <p:sp>
          <p:nvSpPr>
            <p:cNvPr id="83000" name="Line 108"/>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3001" name="Text Box 109"/>
            <p:cNvSpPr txBox="1"/>
            <p:nvPr/>
          </p:nvSpPr>
          <p:spPr>
            <a:xfrm>
              <a:off x="480" y="0"/>
              <a:ext cx="480"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AB</a:t>
              </a:r>
              <a:endParaRPr lang="en-US" altLang="zh-CN" sz="1800" dirty="0">
                <a:solidFill>
                  <a:schemeClr val="tx1"/>
                </a:solidFill>
                <a:latin typeface="Times New Roman" panose="02020603050405020304" pitchFamily="18" charset="0"/>
              </a:endParaRPr>
            </a:p>
          </p:txBody>
        </p:sp>
        <p:sp>
          <p:nvSpPr>
            <p:cNvPr id="83002" name="Text Box 110"/>
            <p:cNvSpPr txBox="1"/>
            <p:nvPr/>
          </p:nvSpPr>
          <p:spPr>
            <a:xfrm>
              <a:off x="0" y="192"/>
              <a:ext cx="480" cy="309"/>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CD</a:t>
              </a:r>
              <a:endParaRPr lang="en-US" altLang="zh-CN" sz="1800" dirty="0">
                <a:solidFill>
                  <a:schemeClr val="tx1"/>
                </a:solidFill>
                <a:latin typeface="Times New Roman" panose="02020603050405020304" pitchFamily="18" charset="0"/>
              </a:endParaRPr>
            </a:p>
          </p:txBody>
        </p:sp>
      </p:grpSp>
      <p:sp>
        <p:nvSpPr>
          <p:cNvPr id="82982" name="Text Box 111"/>
          <p:cNvSpPr txBox="1"/>
          <p:nvPr/>
        </p:nvSpPr>
        <p:spPr>
          <a:xfrm>
            <a:off x="3486150" y="1589088"/>
            <a:ext cx="533400" cy="46196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endParaRPr lang="en-US" altLang="zh-CN" sz="2400" b="1" dirty="0">
              <a:solidFill>
                <a:srgbClr val="FF0000"/>
              </a:solidFill>
              <a:latin typeface="Times New Roman" panose="02020603050405020304" pitchFamily="18" charset="0"/>
            </a:endParaRPr>
          </a:p>
        </p:txBody>
      </p:sp>
      <p:sp>
        <p:nvSpPr>
          <p:cNvPr id="82983" name="Text Box 112"/>
          <p:cNvSpPr txBox="1"/>
          <p:nvPr/>
        </p:nvSpPr>
        <p:spPr>
          <a:xfrm>
            <a:off x="2914650" y="2689225"/>
            <a:ext cx="533400" cy="4619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endParaRPr lang="en-US" altLang="zh-CN" sz="2400" b="1" dirty="0">
              <a:solidFill>
                <a:srgbClr val="FF0000"/>
              </a:solidFill>
              <a:latin typeface="Times New Roman" panose="02020603050405020304" pitchFamily="18" charset="0"/>
            </a:endParaRPr>
          </a:p>
        </p:txBody>
      </p:sp>
      <p:grpSp>
        <p:nvGrpSpPr>
          <p:cNvPr id="82984" name="Group 119"/>
          <p:cNvGrpSpPr/>
          <p:nvPr/>
        </p:nvGrpSpPr>
        <p:grpSpPr>
          <a:xfrm>
            <a:off x="3048000" y="1203325"/>
            <a:ext cx="1219200" cy="1028700"/>
            <a:chOff x="0" y="0"/>
            <a:chExt cx="768" cy="864"/>
          </a:xfrm>
        </p:grpSpPr>
        <p:sp>
          <p:nvSpPr>
            <p:cNvPr id="82997" name="Rectangle 116"/>
            <p:cNvSpPr/>
            <p:nvPr/>
          </p:nvSpPr>
          <p:spPr>
            <a:xfrm>
              <a:off x="0" y="384"/>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2998" name="Text Box 117"/>
            <p:cNvSpPr txBox="1"/>
            <p:nvPr/>
          </p:nvSpPr>
          <p:spPr>
            <a:xfrm>
              <a:off x="528" y="0"/>
              <a:ext cx="240"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endParaRPr lang="en-US" altLang="zh-CN" sz="2400" b="1" dirty="0">
                <a:solidFill>
                  <a:schemeClr val="tx1"/>
                </a:solidFill>
                <a:latin typeface="Times New Roman" panose="02020603050405020304" pitchFamily="18" charset="0"/>
              </a:endParaRPr>
            </a:p>
          </p:txBody>
        </p:sp>
        <p:sp>
          <p:nvSpPr>
            <p:cNvPr id="82999" name="Line 118"/>
            <p:cNvSpPr/>
            <p:nvPr/>
          </p:nvSpPr>
          <p:spPr>
            <a:xfrm flipH="1">
              <a:off x="432" y="192"/>
              <a:ext cx="192" cy="144"/>
            </a:xfrm>
            <a:prstGeom prst="line">
              <a:avLst/>
            </a:prstGeom>
            <a:ln w="9525" cap="flat" cmpd="sng">
              <a:solidFill>
                <a:srgbClr val="767171"/>
              </a:solidFill>
              <a:prstDash val="solid"/>
              <a:headEnd type="none" w="med" len="med"/>
              <a:tailEnd type="none" w="med" len="med"/>
            </a:ln>
          </p:spPr>
        </p:sp>
      </p:grpSp>
      <p:sp>
        <p:nvSpPr>
          <p:cNvPr id="82985" name="Text Box 120"/>
          <p:cNvSpPr txBox="1"/>
          <p:nvPr/>
        </p:nvSpPr>
        <p:spPr>
          <a:xfrm>
            <a:off x="3486150" y="2317750"/>
            <a:ext cx="533400" cy="4619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endParaRPr lang="en-US" altLang="zh-CN" sz="2400" b="1" dirty="0">
              <a:solidFill>
                <a:srgbClr val="FF0000"/>
              </a:solidFill>
              <a:latin typeface="Times New Roman" panose="02020603050405020304" pitchFamily="18" charset="0"/>
            </a:endParaRPr>
          </a:p>
        </p:txBody>
      </p:sp>
      <p:grpSp>
        <p:nvGrpSpPr>
          <p:cNvPr id="82986" name="Group 127"/>
          <p:cNvGrpSpPr/>
          <p:nvPr/>
        </p:nvGrpSpPr>
        <p:grpSpPr>
          <a:xfrm>
            <a:off x="3981450" y="4060825"/>
            <a:ext cx="1920875" cy="0"/>
            <a:chOff x="0" y="0"/>
            <a:chExt cx="1920875" cy="0"/>
          </a:xfrm>
        </p:grpSpPr>
        <p:sp>
          <p:nvSpPr>
            <p:cNvPr id="82992" name="Line 122"/>
            <p:cNvSpPr/>
            <p:nvPr/>
          </p:nvSpPr>
          <p:spPr>
            <a:xfrm>
              <a:off x="-3978942" y="-5411886"/>
              <a:ext cx="118" cy="0"/>
            </a:xfrm>
            <a:prstGeom prst="line">
              <a:avLst/>
            </a:prstGeom>
            <a:ln w="9525" cap="flat" cmpd="sng">
              <a:solidFill>
                <a:schemeClr val="bg1"/>
              </a:solidFill>
              <a:prstDash val="solid"/>
              <a:headEnd type="none" w="med" len="med"/>
              <a:tailEnd type="none" w="med" len="med"/>
            </a:ln>
          </p:spPr>
        </p:sp>
        <p:sp>
          <p:nvSpPr>
            <p:cNvPr id="82993" name="Line 123"/>
            <p:cNvSpPr/>
            <p:nvPr/>
          </p:nvSpPr>
          <p:spPr>
            <a:xfrm>
              <a:off x="-3978798" y="-5411886"/>
              <a:ext cx="118" cy="0"/>
            </a:xfrm>
            <a:prstGeom prst="line">
              <a:avLst/>
            </a:prstGeom>
            <a:ln w="9525" cap="flat" cmpd="sng">
              <a:solidFill>
                <a:schemeClr val="bg1"/>
              </a:solidFill>
              <a:prstDash val="solid"/>
              <a:headEnd type="none" w="med" len="med"/>
              <a:tailEnd type="none" w="med" len="med"/>
            </a:ln>
          </p:spPr>
        </p:sp>
        <p:sp>
          <p:nvSpPr>
            <p:cNvPr id="82994" name="Line 124"/>
            <p:cNvSpPr/>
            <p:nvPr/>
          </p:nvSpPr>
          <p:spPr>
            <a:xfrm>
              <a:off x="-3978400" y="-5411886"/>
              <a:ext cx="118" cy="0"/>
            </a:xfrm>
            <a:prstGeom prst="line">
              <a:avLst/>
            </a:prstGeom>
            <a:ln w="9525" cap="flat" cmpd="sng">
              <a:solidFill>
                <a:schemeClr val="bg1"/>
              </a:solidFill>
              <a:prstDash val="solid"/>
              <a:headEnd type="none" w="med" len="med"/>
              <a:tailEnd type="none" w="med" len="med"/>
            </a:ln>
          </p:spPr>
        </p:sp>
        <p:sp>
          <p:nvSpPr>
            <p:cNvPr id="82995" name="Line 125"/>
            <p:cNvSpPr/>
            <p:nvPr/>
          </p:nvSpPr>
          <p:spPr>
            <a:xfrm>
              <a:off x="-3978256" y="-5411886"/>
              <a:ext cx="118" cy="0"/>
            </a:xfrm>
            <a:prstGeom prst="line">
              <a:avLst/>
            </a:prstGeom>
            <a:ln w="9525" cap="flat" cmpd="sng">
              <a:solidFill>
                <a:schemeClr val="bg1"/>
              </a:solidFill>
              <a:prstDash val="solid"/>
              <a:headEnd type="none" w="med" len="med"/>
              <a:tailEnd type="none" w="med" len="med"/>
            </a:ln>
          </p:spPr>
        </p:sp>
        <p:sp>
          <p:nvSpPr>
            <p:cNvPr id="82996" name="Line 126"/>
            <p:cNvSpPr/>
            <p:nvPr/>
          </p:nvSpPr>
          <p:spPr>
            <a:xfrm>
              <a:off x="-3977850" y="-5411886"/>
              <a:ext cx="118" cy="0"/>
            </a:xfrm>
            <a:prstGeom prst="line">
              <a:avLst/>
            </a:prstGeom>
            <a:ln w="9525" cap="flat" cmpd="sng">
              <a:solidFill>
                <a:schemeClr val="bg1"/>
              </a:solidFill>
              <a:prstDash val="solid"/>
              <a:headEnd type="none" w="med" len="med"/>
              <a:tailEnd type="none" w="med" len="med"/>
            </a:ln>
          </p:spPr>
        </p:sp>
      </p:grpSp>
      <p:sp>
        <p:nvSpPr>
          <p:cNvPr id="77867" name="Line 63"/>
          <p:cNvSpPr>
            <a:spLocks noChangeShapeType="1"/>
          </p:cNvSpPr>
          <p:nvPr/>
        </p:nvSpPr>
        <p:spPr bwMode="auto">
          <a:xfrm>
            <a:off x="3563938" y="4011613"/>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68" name="Line 64"/>
          <p:cNvSpPr>
            <a:spLocks noChangeShapeType="1"/>
          </p:cNvSpPr>
          <p:nvPr/>
        </p:nvSpPr>
        <p:spPr bwMode="auto">
          <a:xfrm>
            <a:off x="3689350" y="4011613"/>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69" name="Line 65"/>
          <p:cNvSpPr>
            <a:spLocks noChangeShapeType="1"/>
          </p:cNvSpPr>
          <p:nvPr/>
        </p:nvSpPr>
        <p:spPr bwMode="auto">
          <a:xfrm>
            <a:off x="4146550" y="40274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70" name="Line 66"/>
          <p:cNvSpPr>
            <a:spLocks noChangeShapeType="1"/>
          </p:cNvSpPr>
          <p:nvPr/>
        </p:nvSpPr>
        <p:spPr bwMode="auto">
          <a:xfrm>
            <a:off x="4271963" y="40274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71" name="Line 67"/>
          <p:cNvSpPr>
            <a:spLocks noChangeShapeType="1"/>
          </p:cNvSpPr>
          <p:nvPr/>
        </p:nvSpPr>
        <p:spPr bwMode="auto">
          <a:xfrm>
            <a:off x="4722813" y="4030663"/>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8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97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8297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090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8298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82979"/>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82984"/>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82982"/>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82985"/>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8298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2949">
                                            <p:txEl>
                                              <p:charRg st="0" end="9"/>
                                            </p:txEl>
                                          </p:spTgt>
                                        </p:tgtEl>
                                        <p:attrNameLst>
                                          <p:attrName>style.visibility</p:attrName>
                                        </p:attrNameLst>
                                      </p:cBhvr>
                                      <p:to>
                                        <p:strVal val="visible"/>
                                      </p:to>
                                    </p:set>
                                    <p:animEffect transition="in" filter="fade">
                                      <p:cBhvr>
                                        <p:cTn id="33" dur="500"/>
                                        <p:tgtEl>
                                          <p:spTgt spid="82949">
                                            <p:txEl>
                                              <p:charRg st="0" end="9"/>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2949">
                                            <p:txEl>
                                              <p:charRg st="9" end="54"/>
                                            </p:txEl>
                                          </p:spTgt>
                                        </p:tgtEl>
                                        <p:attrNameLst>
                                          <p:attrName>style.visibility</p:attrName>
                                        </p:attrNameLst>
                                      </p:cBhvr>
                                      <p:to>
                                        <p:strVal val="visible"/>
                                      </p:to>
                                    </p:set>
                                    <p:animEffect transition="in" filter="fade">
                                      <p:cBhvr>
                                        <p:cTn id="36" dur="500"/>
                                        <p:tgtEl>
                                          <p:spTgt spid="82949">
                                            <p:txEl>
                                              <p:charRg st="9" end="54"/>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77867"/>
                                        </p:tgtEl>
                                        <p:attrNameLst>
                                          <p:attrName>style.visibility</p:attrName>
                                        </p:attrNameLst>
                                      </p:cBhvr>
                                      <p:to>
                                        <p:strVal val="visible"/>
                                      </p:to>
                                    </p:set>
                                    <p:animEffect transition="in" filter="fade">
                                      <p:cBhvr>
                                        <p:cTn id="39" dur="500"/>
                                        <p:tgtEl>
                                          <p:spTgt spid="77867"/>
                                        </p:tgtEl>
                                      </p:cBhvr>
                                    </p:animEffect>
                                  </p:childTnLst>
                                </p:cTn>
                              </p:par>
                              <p:par>
                                <p:cTn id="40" presetID="10" presetClass="entr" presetSubtype="0" fill="hold" nodeType="withEffect">
                                  <p:stCondLst>
                                    <p:cond delay="0"/>
                                  </p:stCondLst>
                                  <p:childTnLst>
                                    <p:set>
                                      <p:cBhvr>
                                        <p:cTn id="41" dur="1" fill="hold">
                                          <p:stCondLst>
                                            <p:cond delay="0"/>
                                          </p:stCondLst>
                                        </p:cTn>
                                        <p:tgtEl>
                                          <p:spTgt spid="77868"/>
                                        </p:tgtEl>
                                        <p:attrNameLst>
                                          <p:attrName>style.visibility</p:attrName>
                                        </p:attrNameLst>
                                      </p:cBhvr>
                                      <p:to>
                                        <p:strVal val="visible"/>
                                      </p:to>
                                    </p:set>
                                    <p:animEffect transition="in" filter="fade">
                                      <p:cBhvr>
                                        <p:cTn id="42" dur="500"/>
                                        <p:tgtEl>
                                          <p:spTgt spid="77868"/>
                                        </p:tgtEl>
                                      </p:cBhvr>
                                    </p:animEffect>
                                  </p:childTnLst>
                                </p:cTn>
                              </p:par>
                              <p:par>
                                <p:cTn id="43" presetID="10" presetClass="entr" presetSubtype="0" fill="hold" nodeType="withEffect">
                                  <p:stCondLst>
                                    <p:cond delay="0"/>
                                  </p:stCondLst>
                                  <p:childTnLst>
                                    <p:set>
                                      <p:cBhvr>
                                        <p:cTn id="44" dur="1" fill="hold">
                                          <p:stCondLst>
                                            <p:cond delay="0"/>
                                          </p:stCondLst>
                                        </p:cTn>
                                        <p:tgtEl>
                                          <p:spTgt spid="77869"/>
                                        </p:tgtEl>
                                        <p:attrNameLst>
                                          <p:attrName>style.visibility</p:attrName>
                                        </p:attrNameLst>
                                      </p:cBhvr>
                                      <p:to>
                                        <p:strVal val="visible"/>
                                      </p:to>
                                    </p:set>
                                    <p:animEffect transition="in" filter="fade">
                                      <p:cBhvr>
                                        <p:cTn id="45" dur="500"/>
                                        <p:tgtEl>
                                          <p:spTgt spid="77869"/>
                                        </p:tgtEl>
                                      </p:cBhvr>
                                    </p:animEffect>
                                  </p:childTnLst>
                                </p:cTn>
                              </p:par>
                              <p:par>
                                <p:cTn id="46" presetID="10" presetClass="entr" presetSubtype="0" fill="hold" nodeType="withEffect">
                                  <p:stCondLst>
                                    <p:cond delay="0"/>
                                  </p:stCondLst>
                                  <p:childTnLst>
                                    <p:set>
                                      <p:cBhvr>
                                        <p:cTn id="47" dur="1" fill="hold">
                                          <p:stCondLst>
                                            <p:cond delay="0"/>
                                          </p:stCondLst>
                                        </p:cTn>
                                        <p:tgtEl>
                                          <p:spTgt spid="77870"/>
                                        </p:tgtEl>
                                        <p:attrNameLst>
                                          <p:attrName>style.visibility</p:attrName>
                                        </p:attrNameLst>
                                      </p:cBhvr>
                                      <p:to>
                                        <p:strVal val="visible"/>
                                      </p:to>
                                    </p:set>
                                    <p:animEffect transition="in" filter="fade">
                                      <p:cBhvr>
                                        <p:cTn id="48" dur="500"/>
                                        <p:tgtEl>
                                          <p:spTgt spid="77870"/>
                                        </p:tgtEl>
                                      </p:cBhvr>
                                    </p:animEffect>
                                  </p:childTnLst>
                                </p:cTn>
                              </p:par>
                              <p:par>
                                <p:cTn id="49" presetID="10" presetClass="entr" presetSubtype="0" fill="hold" nodeType="withEffect">
                                  <p:stCondLst>
                                    <p:cond delay="0"/>
                                  </p:stCondLst>
                                  <p:childTnLst>
                                    <p:set>
                                      <p:cBhvr>
                                        <p:cTn id="50" dur="1" fill="hold">
                                          <p:stCondLst>
                                            <p:cond delay="0"/>
                                          </p:stCondLst>
                                        </p:cTn>
                                        <p:tgtEl>
                                          <p:spTgt spid="77871"/>
                                        </p:tgtEl>
                                        <p:attrNameLst>
                                          <p:attrName>style.visibility</p:attrName>
                                        </p:attrNameLst>
                                      </p:cBhvr>
                                      <p:to>
                                        <p:strVal val="visible"/>
                                      </p:to>
                                    </p:set>
                                    <p:animEffect transition="in" filter="fade">
                                      <p:cBhvr>
                                        <p:cTn id="51" dur="500"/>
                                        <p:tgtEl>
                                          <p:spTgt spid="77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build="p"/>
      <p:bldP spid="82977" grpId="0"/>
      <p:bldP spid="82982" grpId="0"/>
      <p:bldP spid="82983" grpId="0"/>
      <p:bldP spid="8298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397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3972" name="Rectangle 3"/>
          <p:cNvSpPr>
            <a:spLocks noGrp="1"/>
          </p:cNvSpPr>
          <p:nvPr>
            <p:ph type="title"/>
          </p:nvPr>
        </p:nvSpPr>
        <p:spPr>
          <a:xfrm>
            <a:off x="468313" y="546100"/>
            <a:ext cx="7848600" cy="369888"/>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3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rPr>
              <a:t>(1,5,7,9,11,15)</a:t>
            </a:r>
            <a:endParaRPr lang="en-US" altLang="zh-CN" sz="1800" dirty="0">
              <a:latin typeface="黑体" panose="02010609060101010101" pitchFamily="49" charset="-122"/>
              <a:ea typeface="黑体" panose="02010609060101010101" pitchFamily="49" charset="-122"/>
            </a:endParaRPr>
          </a:p>
        </p:txBody>
      </p:sp>
      <p:sp>
        <p:nvSpPr>
          <p:cNvPr id="83973" name="Rectangle 4"/>
          <p:cNvSpPr>
            <a:spLocks noGrp="1"/>
          </p:cNvSpPr>
          <p:nvPr>
            <p:ph/>
          </p:nvPr>
        </p:nvSpPr>
        <p:spPr>
          <a:xfrm>
            <a:off x="4572000" y="1154113"/>
            <a:ext cx="3810000" cy="85725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函数</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有两种表达式，</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如图①和②所示。</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solidFill>
                  <a:srgbClr val="FF0000"/>
                </a:solidFill>
                <a:latin typeface="黑体" panose="02010609060101010101" pitchFamily="49" charset="-122"/>
                <a:ea typeface="黑体" panose="02010609060101010101" pitchFamily="49" charset="-122"/>
              </a:rPr>
              <a:t>这说明最简表达式不是唯一的！</a:t>
            </a:r>
            <a:endParaRPr lang="zh-CN" altLang="en-US" sz="1800" dirty="0">
              <a:solidFill>
                <a:srgbClr val="FF0000"/>
              </a:solidFill>
              <a:latin typeface="黑体" panose="02010609060101010101" pitchFamily="49" charset="-122"/>
              <a:ea typeface="黑体" panose="02010609060101010101" pitchFamily="49" charset="-122"/>
            </a:endParaRPr>
          </a:p>
        </p:txBody>
      </p:sp>
      <p:graphicFrame>
        <p:nvGraphicFramePr>
          <p:cNvPr id="81926" name="Group 6"/>
          <p:cNvGraphicFramePr>
            <a:graphicFrameLocks noGrp="1"/>
          </p:cNvGraphicFramePr>
          <p:nvPr/>
        </p:nvGraphicFramePr>
        <p:xfrm>
          <a:off x="1371600" y="1141413"/>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4001" name="Group 51"/>
          <p:cNvGrpSpPr/>
          <p:nvPr/>
        </p:nvGrpSpPr>
        <p:grpSpPr>
          <a:xfrm>
            <a:off x="533400" y="803275"/>
            <a:ext cx="1524000" cy="688975"/>
            <a:chOff x="0" y="0"/>
            <a:chExt cx="960" cy="578"/>
          </a:xfrm>
        </p:grpSpPr>
        <p:sp>
          <p:nvSpPr>
            <p:cNvPr id="84103" name="Line 52"/>
            <p:cNvSpPr/>
            <p:nvPr/>
          </p:nvSpPr>
          <p:spPr>
            <a:xfrm flipH="1" flipV="1">
              <a:off x="240" y="35"/>
              <a:ext cx="288" cy="240"/>
            </a:xfrm>
            <a:prstGeom prst="line">
              <a:avLst/>
            </a:prstGeom>
            <a:ln w="9525" cap="flat" cmpd="sng">
              <a:solidFill>
                <a:srgbClr val="767171"/>
              </a:solidFill>
              <a:prstDash val="solid"/>
              <a:headEnd type="none" w="med" len="med"/>
              <a:tailEnd type="none" w="med" len="med"/>
            </a:ln>
          </p:spPr>
        </p:sp>
        <p:sp>
          <p:nvSpPr>
            <p:cNvPr id="84104" name="Text Box 53"/>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105" name="Text Box 54"/>
            <p:cNvSpPr txBox="1"/>
            <p:nvPr/>
          </p:nvSpPr>
          <p:spPr>
            <a:xfrm>
              <a:off x="0" y="268"/>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84002" name="Group 81"/>
          <p:cNvGrpSpPr/>
          <p:nvPr/>
        </p:nvGrpSpPr>
        <p:grpSpPr>
          <a:xfrm>
            <a:off x="1219200" y="1554163"/>
            <a:ext cx="685800" cy="285750"/>
            <a:chOff x="0" y="0"/>
            <a:chExt cx="432" cy="240"/>
          </a:xfrm>
        </p:grpSpPr>
        <p:sp>
          <p:nvSpPr>
            <p:cNvPr id="84101" name="Rectangle 77"/>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102" name="Line 78"/>
            <p:cNvSpPr/>
            <p:nvPr/>
          </p:nvSpPr>
          <p:spPr>
            <a:xfrm>
              <a:off x="0" y="0"/>
              <a:ext cx="0" cy="240"/>
            </a:xfrm>
            <a:prstGeom prst="line">
              <a:avLst/>
            </a:prstGeom>
            <a:ln w="28575" cap="flat" cmpd="sng">
              <a:solidFill>
                <a:srgbClr val="336600"/>
              </a:solidFill>
              <a:prstDash val="solid"/>
              <a:headEnd type="none" w="med" len="med"/>
              <a:tailEnd type="none" w="med" len="med"/>
            </a:ln>
          </p:spPr>
        </p:sp>
      </p:grpSp>
      <p:grpSp>
        <p:nvGrpSpPr>
          <p:cNvPr id="84003" name="Group 82"/>
          <p:cNvGrpSpPr/>
          <p:nvPr/>
        </p:nvGrpSpPr>
        <p:grpSpPr>
          <a:xfrm>
            <a:off x="3200400" y="1554163"/>
            <a:ext cx="685800" cy="285750"/>
            <a:chOff x="0" y="0"/>
            <a:chExt cx="432" cy="240"/>
          </a:xfrm>
        </p:grpSpPr>
        <p:sp>
          <p:nvSpPr>
            <p:cNvPr id="84099" name="Rectangle 73"/>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100" name="Line 74"/>
            <p:cNvSpPr/>
            <p:nvPr/>
          </p:nvSpPr>
          <p:spPr>
            <a:xfrm>
              <a:off x="432" y="0"/>
              <a:ext cx="0" cy="240"/>
            </a:xfrm>
            <a:prstGeom prst="line">
              <a:avLst/>
            </a:prstGeom>
            <a:ln w="57150" cap="flat" cmpd="sng">
              <a:solidFill>
                <a:srgbClr val="336600"/>
              </a:solidFill>
              <a:prstDash val="solid"/>
              <a:headEnd type="none" w="med" len="med"/>
              <a:tailEnd type="none" w="med" len="med"/>
            </a:ln>
          </p:spPr>
        </p:sp>
      </p:grpSp>
      <p:sp>
        <p:nvSpPr>
          <p:cNvPr id="84004" name="Rectangle 65"/>
          <p:cNvSpPr/>
          <p:nvPr/>
        </p:nvSpPr>
        <p:spPr>
          <a:xfrm>
            <a:off x="1524000" y="1554163"/>
            <a:ext cx="8382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5" name="Rectangle 60"/>
          <p:cNvSpPr/>
          <p:nvPr/>
        </p:nvSpPr>
        <p:spPr>
          <a:xfrm>
            <a:off x="2057400" y="1570038"/>
            <a:ext cx="381000" cy="57150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6" name="Rectangle 72"/>
          <p:cNvSpPr/>
          <p:nvPr/>
        </p:nvSpPr>
        <p:spPr>
          <a:xfrm>
            <a:off x="2057400" y="1911350"/>
            <a:ext cx="8382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7" name="Rectangle 48"/>
          <p:cNvSpPr/>
          <p:nvPr/>
        </p:nvSpPr>
        <p:spPr>
          <a:xfrm>
            <a:off x="2667000" y="1897063"/>
            <a:ext cx="838200" cy="28575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8" name="Rectangle 56"/>
          <p:cNvSpPr/>
          <p:nvPr/>
        </p:nvSpPr>
        <p:spPr>
          <a:xfrm>
            <a:off x="3200400" y="1570038"/>
            <a:ext cx="381000" cy="57150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aphicFrame>
        <p:nvGraphicFramePr>
          <p:cNvPr id="81968" name="Group 48"/>
          <p:cNvGraphicFramePr>
            <a:graphicFrameLocks noGrp="1"/>
          </p:cNvGraphicFramePr>
          <p:nvPr/>
        </p:nvGraphicFramePr>
        <p:xfrm>
          <a:off x="1371600" y="3059113"/>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4036" name="Group 110"/>
          <p:cNvGrpSpPr/>
          <p:nvPr/>
        </p:nvGrpSpPr>
        <p:grpSpPr>
          <a:xfrm>
            <a:off x="533400" y="2716213"/>
            <a:ext cx="1524000" cy="596900"/>
            <a:chOff x="0" y="0"/>
            <a:chExt cx="960" cy="502"/>
          </a:xfrm>
        </p:grpSpPr>
        <p:sp>
          <p:nvSpPr>
            <p:cNvPr id="84096" name="Line 111"/>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4097" name="Text Box 112"/>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098" name="Text Box 113"/>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84037" name="Group 114"/>
          <p:cNvGrpSpPr/>
          <p:nvPr/>
        </p:nvGrpSpPr>
        <p:grpSpPr>
          <a:xfrm>
            <a:off x="1219200" y="3471863"/>
            <a:ext cx="685800" cy="285750"/>
            <a:chOff x="0" y="0"/>
            <a:chExt cx="432" cy="240"/>
          </a:xfrm>
        </p:grpSpPr>
        <p:sp>
          <p:nvSpPr>
            <p:cNvPr id="84094" name="Rectangle 115"/>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95" name="Line 116"/>
            <p:cNvSpPr/>
            <p:nvPr/>
          </p:nvSpPr>
          <p:spPr>
            <a:xfrm>
              <a:off x="0" y="0"/>
              <a:ext cx="0" cy="240"/>
            </a:xfrm>
            <a:prstGeom prst="line">
              <a:avLst/>
            </a:prstGeom>
            <a:ln w="28575" cap="flat" cmpd="sng">
              <a:solidFill>
                <a:srgbClr val="336600"/>
              </a:solidFill>
              <a:prstDash val="solid"/>
              <a:headEnd type="none" w="med" len="med"/>
              <a:tailEnd type="none" w="med" len="med"/>
            </a:ln>
          </p:spPr>
        </p:sp>
      </p:grpSp>
      <p:grpSp>
        <p:nvGrpSpPr>
          <p:cNvPr id="84038" name="Group 117"/>
          <p:cNvGrpSpPr/>
          <p:nvPr/>
        </p:nvGrpSpPr>
        <p:grpSpPr>
          <a:xfrm>
            <a:off x="3200400" y="3471863"/>
            <a:ext cx="685800" cy="285750"/>
            <a:chOff x="0" y="0"/>
            <a:chExt cx="432" cy="240"/>
          </a:xfrm>
        </p:grpSpPr>
        <p:sp>
          <p:nvSpPr>
            <p:cNvPr id="84092" name="Rectangle 118"/>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93" name="Line 119"/>
            <p:cNvSpPr/>
            <p:nvPr/>
          </p:nvSpPr>
          <p:spPr>
            <a:xfrm>
              <a:off x="432" y="0"/>
              <a:ext cx="0" cy="240"/>
            </a:xfrm>
            <a:prstGeom prst="line">
              <a:avLst/>
            </a:prstGeom>
            <a:ln w="57150" cap="flat" cmpd="sng">
              <a:solidFill>
                <a:srgbClr val="336600"/>
              </a:solidFill>
              <a:prstDash val="solid"/>
              <a:headEnd type="none" w="med" len="med"/>
              <a:tailEnd type="none" w="med" len="med"/>
            </a:ln>
          </p:spPr>
        </p:sp>
      </p:grpSp>
      <p:sp>
        <p:nvSpPr>
          <p:cNvPr id="84039" name="Rectangle 121"/>
          <p:cNvSpPr/>
          <p:nvPr/>
        </p:nvSpPr>
        <p:spPr>
          <a:xfrm>
            <a:off x="2057400" y="3487738"/>
            <a:ext cx="381000" cy="57150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40" name="Rectangle 123"/>
          <p:cNvSpPr/>
          <p:nvPr/>
        </p:nvSpPr>
        <p:spPr>
          <a:xfrm>
            <a:off x="2667000" y="3814763"/>
            <a:ext cx="838200" cy="28575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84041" name="Group 219"/>
          <p:cNvGrpSpPr/>
          <p:nvPr/>
        </p:nvGrpSpPr>
        <p:grpSpPr>
          <a:xfrm>
            <a:off x="152400" y="4651375"/>
            <a:ext cx="4495800" cy="368300"/>
            <a:chOff x="0" y="0"/>
            <a:chExt cx="2832" cy="310"/>
          </a:xfrm>
        </p:grpSpPr>
        <p:sp>
          <p:nvSpPr>
            <p:cNvPr id="84088" name="Text Box 126"/>
            <p:cNvSpPr txBox="1"/>
            <p:nvPr/>
          </p:nvSpPr>
          <p:spPr>
            <a:xfrm>
              <a:off x="0" y="0"/>
              <a:ext cx="283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① F</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BCD + ABD + ACD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089" name="Line 127"/>
            <p:cNvSpPr/>
            <p:nvPr/>
          </p:nvSpPr>
          <p:spPr>
            <a:xfrm>
              <a:off x="720" y="39"/>
              <a:ext cx="160" cy="0"/>
            </a:xfrm>
            <a:prstGeom prst="line">
              <a:avLst/>
            </a:prstGeom>
            <a:ln w="9525" cap="flat" cmpd="sng">
              <a:solidFill>
                <a:schemeClr val="bg1"/>
              </a:solidFill>
              <a:prstDash val="solid"/>
              <a:headEnd type="none" w="med" len="med"/>
              <a:tailEnd type="none" w="med" len="med"/>
            </a:ln>
          </p:spPr>
        </p:sp>
        <p:sp>
          <p:nvSpPr>
            <p:cNvPr id="84090" name="Line 128"/>
            <p:cNvSpPr/>
            <p:nvPr/>
          </p:nvSpPr>
          <p:spPr>
            <a:xfrm>
              <a:off x="917" y="39"/>
              <a:ext cx="160" cy="0"/>
            </a:xfrm>
            <a:prstGeom prst="line">
              <a:avLst/>
            </a:prstGeom>
            <a:ln w="9525" cap="flat" cmpd="sng">
              <a:solidFill>
                <a:schemeClr val="bg1"/>
              </a:solidFill>
              <a:prstDash val="solid"/>
              <a:headEnd type="none" w="med" len="med"/>
              <a:tailEnd type="none" w="med" len="med"/>
            </a:ln>
          </p:spPr>
        </p:sp>
        <p:sp>
          <p:nvSpPr>
            <p:cNvPr id="84091" name="Line 129"/>
            <p:cNvSpPr/>
            <p:nvPr/>
          </p:nvSpPr>
          <p:spPr>
            <a:xfrm>
              <a:off x="1447" y="39"/>
              <a:ext cx="160" cy="0"/>
            </a:xfrm>
            <a:prstGeom prst="line">
              <a:avLst/>
            </a:prstGeom>
            <a:ln w="9525" cap="flat" cmpd="sng">
              <a:solidFill>
                <a:schemeClr val="bg1"/>
              </a:solidFill>
              <a:prstDash val="solid"/>
              <a:headEnd type="none" w="med" len="med"/>
              <a:tailEnd type="none" w="med" len="med"/>
            </a:ln>
          </p:spPr>
        </p:sp>
      </p:grpSp>
      <p:graphicFrame>
        <p:nvGraphicFramePr>
          <p:cNvPr id="82012" name="Group 92"/>
          <p:cNvGraphicFramePr>
            <a:graphicFrameLocks noGrp="1"/>
          </p:cNvGraphicFramePr>
          <p:nvPr/>
        </p:nvGraphicFramePr>
        <p:xfrm>
          <a:off x="5410200" y="3059113"/>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4069" name="Group 198"/>
          <p:cNvGrpSpPr/>
          <p:nvPr/>
        </p:nvGrpSpPr>
        <p:grpSpPr>
          <a:xfrm>
            <a:off x="4572000" y="2716213"/>
            <a:ext cx="1524000" cy="596900"/>
            <a:chOff x="0" y="0"/>
            <a:chExt cx="960" cy="502"/>
          </a:xfrm>
        </p:grpSpPr>
        <p:sp>
          <p:nvSpPr>
            <p:cNvPr id="84085" name="Line 199"/>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4086" name="Text Box 200"/>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087" name="Text Box 201"/>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84070" name="Rectangle 208"/>
          <p:cNvSpPr/>
          <p:nvPr/>
        </p:nvSpPr>
        <p:spPr>
          <a:xfrm>
            <a:off x="5562600" y="3471863"/>
            <a:ext cx="8382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71" name="Rectangle 210"/>
          <p:cNvSpPr/>
          <p:nvPr/>
        </p:nvSpPr>
        <p:spPr>
          <a:xfrm>
            <a:off x="6096000" y="3829050"/>
            <a:ext cx="8382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72" name="Rectangle 212"/>
          <p:cNvSpPr/>
          <p:nvPr/>
        </p:nvSpPr>
        <p:spPr>
          <a:xfrm>
            <a:off x="7239000" y="3487738"/>
            <a:ext cx="381000" cy="57150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84073" name="Group 218"/>
          <p:cNvGrpSpPr/>
          <p:nvPr/>
        </p:nvGrpSpPr>
        <p:grpSpPr>
          <a:xfrm>
            <a:off x="4648200" y="4572000"/>
            <a:ext cx="4495800" cy="447675"/>
            <a:chOff x="0" y="0"/>
            <a:chExt cx="2832" cy="376"/>
          </a:xfrm>
        </p:grpSpPr>
        <p:sp>
          <p:nvSpPr>
            <p:cNvPr id="84081" name="Text Box 125"/>
            <p:cNvSpPr txBox="1"/>
            <p:nvPr/>
          </p:nvSpPr>
          <p:spPr>
            <a:xfrm>
              <a:off x="0" y="66"/>
              <a:ext cx="283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② F</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ACD + BCD + ABD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082" name="Line 213"/>
            <p:cNvSpPr/>
            <p:nvPr/>
          </p:nvSpPr>
          <p:spPr>
            <a:xfrm>
              <a:off x="720" y="0"/>
              <a:ext cx="141" cy="0"/>
            </a:xfrm>
            <a:prstGeom prst="line">
              <a:avLst/>
            </a:prstGeom>
            <a:ln w="9525" cap="flat" cmpd="sng">
              <a:solidFill>
                <a:schemeClr val="bg1"/>
              </a:solidFill>
              <a:prstDash val="solid"/>
              <a:headEnd type="none" w="med" len="med"/>
              <a:tailEnd type="none" w="med" len="med"/>
            </a:ln>
          </p:spPr>
        </p:sp>
        <p:sp>
          <p:nvSpPr>
            <p:cNvPr id="84083" name="Line 214"/>
            <p:cNvSpPr/>
            <p:nvPr/>
          </p:nvSpPr>
          <p:spPr>
            <a:xfrm>
              <a:off x="915" y="0"/>
              <a:ext cx="141" cy="0"/>
            </a:xfrm>
            <a:prstGeom prst="line">
              <a:avLst/>
            </a:prstGeom>
            <a:ln w="9525" cap="flat" cmpd="sng">
              <a:solidFill>
                <a:schemeClr val="bg1"/>
              </a:solidFill>
              <a:prstDash val="solid"/>
              <a:headEnd type="none" w="med" len="med"/>
              <a:tailEnd type="none" w="med" len="med"/>
            </a:ln>
          </p:spPr>
        </p:sp>
        <p:sp>
          <p:nvSpPr>
            <p:cNvPr id="84084" name="Line 217"/>
            <p:cNvSpPr/>
            <p:nvPr/>
          </p:nvSpPr>
          <p:spPr>
            <a:xfrm>
              <a:off x="2307" y="0"/>
              <a:ext cx="141" cy="0"/>
            </a:xfrm>
            <a:prstGeom prst="line">
              <a:avLst/>
            </a:prstGeom>
            <a:ln w="9525" cap="flat" cmpd="sng">
              <a:solidFill>
                <a:schemeClr val="bg1"/>
              </a:solidFill>
              <a:prstDash val="solid"/>
              <a:headEnd type="none" w="med" len="med"/>
              <a:tailEnd type="none" w="med" len="med"/>
            </a:ln>
          </p:spPr>
        </p:sp>
      </p:grpSp>
      <p:cxnSp>
        <p:nvCxnSpPr>
          <p:cNvPr id="84075" name="直接连接符 64"/>
          <p:cNvCxnSpPr/>
          <p:nvPr/>
        </p:nvCxnSpPr>
        <p:spPr>
          <a:xfrm>
            <a:off x="2057400" y="4721225"/>
            <a:ext cx="133350" cy="0"/>
          </a:xfrm>
          <a:prstGeom prst="line">
            <a:avLst/>
          </a:prstGeom>
          <a:ln w="6350" cap="flat" cmpd="sng">
            <a:solidFill>
              <a:schemeClr val="tx1"/>
            </a:solidFill>
            <a:prstDash val="solid"/>
            <a:headEnd type="none" w="med" len="med"/>
            <a:tailEnd type="none" w="med" len="med"/>
          </a:ln>
        </p:spPr>
      </p:cxnSp>
      <p:cxnSp>
        <p:nvCxnSpPr>
          <p:cNvPr id="84076" name="直接连接符 65"/>
          <p:cNvCxnSpPr/>
          <p:nvPr/>
        </p:nvCxnSpPr>
        <p:spPr>
          <a:xfrm>
            <a:off x="2212975" y="4721225"/>
            <a:ext cx="131763" cy="0"/>
          </a:xfrm>
          <a:prstGeom prst="line">
            <a:avLst/>
          </a:prstGeom>
          <a:ln w="6350" cap="flat" cmpd="sng">
            <a:solidFill>
              <a:schemeClr val="tx1"/>
            </a:solidFill>
            <a:prstDash val="solid"/>
            <a:headEnd type="none" w="med" len="med"/>
            <a:tailEnd type="none" w="med" len="med"/>
          </a:ln>
        </p:spPr>
      </p:cxnSp>
      <p:cxnSp>
        <p:nvCxnSpPr>
          <p:cNvPr id="84077" name="直接连接符 66"/>
          <p:cNvCxnSpPr/>
          <p:nvPr/>
        </p:nvCxnSpPr>
        <p:spPr>
          <a:xfrm>
            <a:off x="2779713" y="4735513"/>
            <a:ext cx="133350" cy="0"/>
          </a:xfrm>
          <a:prstGeom prst="line">
            <a:avLst/>
          </a:prstGeom>
          <a:ln w="6350" cap="flat" cmpd="sng">
            <a:solidFill>
              <a:schemeClr val="tx1"/>
            </a:solidFill>
            <a:prstDash val="solid"/>
            <a:headEnd type="none" w="med" len="med"/>
            <a:tailEnd type="none" w="med" len="med"/>
          </a:ln>
        </p:spPr>
      </p:cxnSp>
      <p:cxnSp>
        <p:nvCxnSpPr>
          <p:cNvPr id="84078" name="直接连接符 67"/>
          <p:cNvCxnSpPr/>
          <p:nvPr/>
        </p:nvCxnSpPr>
        <p:spPr>
          <a:xfrm>
            <a:off x="6100763" y="4735513"/>
            <a:ext cx="133350" cy="0"/>
          </a:xfrm>
          <a:prstGeom prst="line">
            <a:avLst/>
          </a:prstGeom>
          <a:ln w="6350" cap="flat" cmpd="sng">
            <a:solidFill>
              <a:schemeClr val="tx1"/>
            </a:solidFill>
            <a:prstDash val="solid"/>
            <a:headEnd type="none" w="med" len="med"/>
            <a:tailEnd type="none" w="med" len="med"/>
          </a:ln>
        </p:spPr>
      </p:cxnSp>
      <p:cxnSp>
        <p:nvCxnSpPr>
          <p:cNvPr id="84079" name="直接连接符 68"/>
          <p:cNvCxnSpPr/>
          <p:nvPr/>
        </p:nvCxnSpPr>
        <p:spPr>
          <a:xfrm>
            <a:off x="6264275" y="4735513"/>
            <a:ext cx="131763" cy="0"/>
          </a:xfrm>
          <a:prstGeom prst="line">
            <a:avLst/>
          </a:prstGeom>
          <a:ln w="6350" cap="flat" cmpd="sng">
            <a:solidFill>
              <a:schemeClr val="tx1"/>
            </a:solidFill>
            <a:prstDash val="solid"/>
            <a:headEnd type="none" w="med" len="med"/>
            <a:tailEnd type="none" w="med" len="med"/>
          </a:ln>
        </p:spPr>
      </p:cxnSp>
      <p:cxnSp>
        <p:nvCxnSpPr>
          <p:cNvPr id="84080" name="直接连接符 69"/>
          <p:cNvCxnSpPr/>
          <p:nvPr/>
        </p:nvCxnSpPr>
        <p:spPr>
          <a:xfrm>
            <a:off x="7620000" y="4735513"/>
            <a:ext cx="133350" cy="0"/>
          </a:xfrm>
          <a:prstGeom prst="line">
            <a:avLst/>
          </a:prstGeom>
          <a:ln w="6350" cap="flat" cmpd="sng">
            <a:solidFill>
              <a:schemeClr val="tx1"/>
            </a:solidFill>
            <a:prstDash val="solid"/>
            <a:headEnd type="none" w="med" len="med"/>
            <a:tailEnd type="none" w="med" len="med"/>
          </a:ln>
        </p:spPr>
      </p:cxnSp>
    </p:spTree>
  </p:cSld>
  <p:clrMapOvr>
    <a:masterClrMapping/>
  </p:clrMapOvr>
  <p:transition advTm="2000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499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4996" name="Rectangle 3"/>
          <p:cNvSpPr>
            <a:spLocks noGrp="1"/>
          </p:cNvSpPr>
          <p:nvPr>
            <p:ph type="title"/>
          </p:nvPr>
        </p:nvSpPr>
        <p:spPr>
          <a:xfrm>
            <a:off x="534988" y="546100"/>
            <a:ext cx="7924800" cy="369888"/>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4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4</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a:t>
            </a:r>
            <a:r>
              <a:rPr lang="en-US" altLang="zh-CN" sz="1800" dirty="0">
                <a:latin typeface="黑体" panose="02010609060101010101" pitchFamily="49" charset="-122"/>
                <a:ea typeface="黑体" panose="02010609060101010101" pitchFamily="49" charset="-122"/>
              </a:rPr>
              <a:t>m</a:t>
            </a:r>
            <a:r>
              <a:rPr lang="en-US" altLang="zh-CN" sz="1800" baseline="30000" dirty="0">
                <a:latin typeface="黑体" panose="02010609060101010101" pitchFamily="49" charset="-122"/>
                <a:ea typeface="黑体" panose="02010609060101010101" pitchFamily="49" charset="-122"/>
              </a:rPr>
              <a:t>5</a:t>
            </a:r>
            <a:r>
              <a:rPr lang="en-US" altLang="zh-CN" sz="1800" dirty="0">
                <a:latin typeface="黑体" panose="02010609060101010101" pitchFamily="49" charset="-122"/>
                <a:ea typeface="黑体" panose="02010609060101010101" pitchFamily="49" charset="-122"/>
              </a:rPr>
              <a:t>(0,2,4,10,12,13,15,18,26,28,29,31)</a:t>
            </a:r>
            <a:endParaRPr lang="en-US" altLang="zh-CN" sz="1800" dirty="0">
              <a:latin typeface="黑体" panose="02010609060101010101" pitchFamily="49" charset="-122"/>
              <a:ea typeface="黑体" panose="02010609060101010101" pitchFamily="49" charset="-122"/>
            </a:endParaRPr>
          </a:p>
        </p:txBody>
      </p:sp>
      <p:sp>
        <p:nvSpPr>
          <p:cNvPr id="84997" name="Rectangle 4"/>
          <p:cNvSpPr>
            <a:spLocks noGrp="1"/>
          </p:cNvSpPr>
          <p:nvPr>
            <p:ph/>
          </p:nvPr>
        </p:nvSpPr>
        <p:spPr>
          <a:xfrm>
            <a:off x="381000" y="3943350"/>
            <a:ext cx="8458200" cy="102870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函数的最简与或式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4</a:t>
            </a:r>
            <a:r>
              <a:rPr lang="en-US" altLang="zh-CN" sz="1800" dirty="0">
                <a:latin typeface="黑体" panose="02010609060101010101" pitchFamily="49" charset="-122"/>
                <a:ea typeface="黑体" panose="02010609060101010101" pitchFamily="49" charset="-122"/>
              </a:rPr>
              <a:t> = a + b +c + d</a:t>
            </a:r>
            <a:endParaRPr lang="en-US" altLang="zh-CN" sz="1800" dirty="0">
              <a:latin typeface="黑体" panose="02010609060101010101" pitchFamily="49" charset="-122"/>
              <a:ea typeface="黑体" panose="02010609060101010101" pitchFamily="49" charset="-122"/>
            </a:endParaRPr>
          </a:p>
          <a:p>
            <a:pPr eaLnBrk="1" hangingPunct="1">
              <a:buNone/>
            </a:pPr>
            <a:r>
              <a:rPr lang="en-US" altLang="zh-CN" sz="1800" dirty="0">
                <a:latin typeface="黑体" panose="02010609060101010101" pitchFamily="49" charset="-122"/>
                <a:ea typeface="黑体" panose="02010609060101010101" pitchFamily="49" charset="-122"/>
              </a:rPr>
              <a:t>                     = BCD + BCE + CDE + ABDE</a:t>
            </a:r>
            <a:endParaRPr lang="en-US" altLang="zh-CN" sz="1800" dirty="0">
              <a:latin typeface="黑体" panose="02010609060101010101" pitchFamily="49" charset="-122"/>
              <a:ea typeface="黑体" panose="02010609060101010101" pitchFamily="49" charset="-122"/>
            </a:endParaRPr>
          </a:p>
        </p:txBody>
      </p:sp>
      <p:graphicFrame>
        <p:nvGraphicFramePr>
          <p:cNvPr id="82950" name="Group 6"/>
          <p:cNvGraphicFramePr>
            <a:graphicFrameLocks noGrp="1"/>
          </p:cNvGraphicFramePr>
          <p:nvPr/>
        </p:nvGraphicFramePr>
        <p:xfrm>
          <a:off x="1676400" y="131445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5025" name="Group 102"/>
          <p:cNvGrpSpPr/>
          <p:nvPr/>
        </p:nvGrpSpPr>
        <p:grpSpPr>
          <a:xfrm>
            <a:off x="838200" y="971550"/>
            <a:ext cx="1752600" cy="595313"/>
            <a:chOff x="0" y="0"/>
            <a:chExt cx="1104" cy="500"/>
          </a:xfrm>
        </p:grpSpPr>
        <p:sp>
          <p:nvSpPr>
            <p:cNvPr id="85094" name="Line 43"/>
            <p:cNvSpPr/>
            <p:nvPr/>
          </p:nvSpPr>
          <p:spPr>
            <a:xfrm flipH="1" flipV="1">
              <a:off x="240" y="48"/>
              <a:ext cx="288" cy="240"/>
            </a:xfrm>
            <a:prstGeom prst="line">
              <a:avLst/>
            </a:prstGeom>
            <a:ln w="9525" cap="flat" cmpd="sng">
              <a:solidFill>
                <a:schemeClr val="bg1"/>
              </a:solidFill>
              <a:prstDash val="solid"/>
              <a:headEnd type="none" w="med" len="med"/>
              <a:tailEnd type="none" w="med" len="med"/>
            </a:ln>
          </p:spPr>
        </p:sp>
        <p:sp>
          <p:nvSpPr>
            <p:cNvPr id="85095" name="Text Box 44"/>
            <p:cNvSpPr txBox="1"/>
            <p:nvPr/>
          </p:nvSpPr>
          <p:spPr>
            <a:xfrm>
              <a:off x="480" y="0"/>
              <a:ext cx="624"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ABC</a:t>
              </a:r>
              <a:endParaRPr lang="en-US" altLang="zh-CN" sz="1800" dirty="0">
                <a:solidFill>
                  <a:schemeClr val="tx1"/>
                </a:solidFill>
                <a:latin typeface="Times New Roman" panose="02020603050405020304" pitchFamily="18" charset="0"/>
              </a:endParaRPr>
            </a:p>
          </p:txBody>
        </p:sp>
        <p:sp>
          <p:nvSpPr>
            <p:cNvPr id="85096" name="Text Box 45"/>
            <p:cNvSpPr txBox="1"/>
            <p:nvPr/>
          </p:nvSpPr>
          <p:spPr>
            <a:xfrm>
              <a:off x="0" y="192"/>
              <a:ext cx="480" cy="30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DE</a:t>
              </a:r>
              <a:endParaRPr lang="en-US" altLang="zh-CN" sz="1800" dirty="0">
                <a:solidFill>
                  <a:schemeClr val="tx1"/>
                </a:solidFill>
                <a:latin typeface="Times New Roman" panose="02020603050405020304" pitchFamily="18" charset="0"/>
              </a:endParaRPr>
            </a:p>
          </p:txBody>
        </p:sp>
      </p:grpSp>
      <p:graphicFrame>
        <p:nvGraphicFramePr>
          <p:cNvPr id="82981" name="Group 37"/>
          <p:cNvGraphicFramePr>
            <a:graphicFrameLocks noGrp="1"/>
          </p:cNvGraphicFramePr>
          <p:nvPr/>
        </p:nvGraphicFramePr>
        <p:xfrm>
          <a:off x="5105400" y="131445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5053" name="Group 92"/>
          <p:cNvGrpSpPr/>
          <p:nvPr/>
        </p:nvGrpSpPr>
        <p:grpSpPr>
          <a:xfrm>
            <a:off x="2914650" y="800100"/>
            <a:ext cx="3810000" cy="1185863"/>
            <a:chOff x="0" y="0"/>
            <a:chExt cx="2400" cy="996"/>
          </a:xfrm>
        </p:grpSpPr>
        <p:sp>
          <p:nvSpPr>
            <p:cNvPr id="85089" name="Rectangle 52"/>
            <p:cNvSpPr/>
            <p:nvPr/>
          </p:nvSpPr>
          <p:spPr>
            <a:xfrm>
              <a:off x="0" y="516"/>
              <a:ext cx="240" cy="48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90" name="Rectangle 87"/>
            <p:cNvSpPr/>
            <p:nvPr/>
          </p:nvSpPr>
          <p:spPr>
            <a:xfrm>
              <a:off x="2160" y="504"/>
              <a:ext cx="240" cy="48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91" name="Line 88"/>
            <p:cNvSpPr/>
            <p:nvPr/>
          </p:nvSpPr>
          <p:spPr>
            <a:xfrm flipV="1">
              <a:off x="228" y="288"/>
              <a:ext cx="672" cy="336"/>
            </a:xfrm>
            <a:prstGeom prst="line">
              <a:avLst/>
            </a:prstGeom>
            <a:ln w="9525" cap="flat" cmpd="sng">
              <a:solidFill>
                <a:srgbClr val="FF66FF"/>
              </a:solidFill>
              <a:prstDash val="solid"/>
              <a:headEnd type="none" w="med" len="med"/>
              <a:tailEnd type="none" w="med" len="med"/>
            </a:ln>
          </p:spPr>
        </p:sp>
        <p:sp>
          <p:nvSpPr>
            <p:cNvPr id="85092" name="Line 89"/>
            <p:cNvSpPr/>
            <p:nvPr/>
          </p:nvSpPr>
          <p:spPr>
            <a:xfrm>
              <a:off x="900" y="288"/>
              <a:ext cx="1248" cy="384"/>
            </a:xfrm>
            <a:prstGeom prst="line">
              <a:avLst/>
            </a:prstGeom>
            <a:ln w="9525" cap="flat" cmpd="sng">
              <a:solidFill>
                <a:srgbClr val="FF66FF"/>
              </a:solidFill>
              <a:prstDash val="solid"/>
              <a:headEnd type="none" w="med" len="med"/>
              <a:tailEnd type="none" w="med" len="med"/>
            </a:ln>
          </p:spPr>
        </p:sp>
        <p:sp>
          <p:nvSpPr>
            <p:cNvPr id="85093" name="Text Box 91"/>
            <p:cNvSpPr txBox="1"/>
            <p:nvPr/>
          </p:nvSpPr>
          <p:spPr>
            <a:xfrm>
              <a:off x="804" y="0"/>
              <a:ext cx="240" cy="41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600" b="1" dirty="0">
                  <a:solidFill>
                    <a:schemeClr val="tx1"/>
                  </a:solidFill>
                  <a:latin typeface="Times New Roman" panose="02020603050405020304" pitchFamily="18" charset="0"/>
                </a:rPr>
                <a:t>a</a:t>
              </a:r>
              <a:endParaRPr lang="en-US" altLang="zh-CN" sz="2600" b="1" dirty="0">
                <a:solidFill>
                  <a:schemeClr val="tx1"/>
                </a:solidFill>
                <a:latin typeface="Times New Roman" panose="02020603050405020304" pitchFamily="18" charset="0"/>
              </a:endParaRPr>
            </a:p>
          </p:txBody>
        </p:sp>
      </p:grpSp>
      <p:grpSp>
        <p:nvGrpSpPr>
          <p:cNvPr id="85054" name="Group 103"/>
          <p:cNvGrpSpPr/>
          <p:nvPr/>
        </p:nvGrpSpPr>
        <p:grpSpPr>
          <a:xfrm>
            <a:off x="2952750" y="1347788"/>
            <a:ext cx="3738563" cy="995362"/>
            <a:chOff x="0" y="0"/>
            <a:chExt cx="2355" cy="836"/>
          </a:xfrm>
        </p:grpSpPr>
        <p:sp>
          <p:nvSpPr>
            <p:cNvPr id="85084" name="Rectangle 94"/>
            <p:cNvSpPr/>
            <p:nvPr/>
          </p:nvSpPr>
          <p:spPr>
            <a:xfrm>
              <a:off x="0" y="356"/>
              <a:ext cx="195" cy="48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85" name="Rectangle 95"/>
            <p:cNvSpPr/>
            <p:nvPr/>
          </p:nvSpPr>
          <p:spPr>
            <a:xfrm>
              <a:off x="2160" y="344"/>
              <a:ext cx="195" cy="48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86" name="Line 96"/>
            <p:cNvSpPr/>
            <p:nvPr/>
          </p:nvSpPr>
          <p:spPr>
            <a:xfrm flipV="1">
              <a:off x="204" y="308"/>
              <a:ext cx="672" cy="156"/>
            </a:xfrm>
            <a:prstGeom prst="line">
              <a:avLst/>
            </a:prstGeom>
            <a:ln w="9525" cap="flat" cmpd="sng">
              <a:solidFill>
                <a:schemeClr val="tx1"/>
              </a:solidFill>
              <a:prstDash val="solid"/>
              <a:headEnd type="none" w="med" len="med"/>
              <a:tailEnd type="none" w="med" len="med"/>
            </a:ln>
          </p:spPr>
        </p:sp>
        <p:sp>
          <p:nvSpPr>
            <p:cNvPr id="85087" name="Line 97"/>
            <p:cNvSpPr/>
            <p:nvPr/>
          </p:nvSpPr>
          <p:spPr>
            <a:xfrm>
              <a:off x="876" y="308"/>
              <a:ext cx="1248" cy="204"/>
            </a:xfrm>
            <a:prstGeom prst="line">
              <a:avLst/>
            </a:prstGeom>
            <a:ln w="9525" cap="flat" cmpd="sng">
              <a:solidFill>
                <a:schemeClr val="tx1"/>
              </a:solidFill>
              <a:prstDash val="solid"/>
              <a:headEnd type="none" w="med" len="med"/>
              <a:tailEnd type="none" w="med" len="med"/>
            </a:ln>
          </p:spPr>
        </p:sp>
        <p:sp>
          <p:nvSpPr>
            <p:cNvPr id="85088" name="Text Box 98"/>
            <p:cNvSpPr txBox="1"/>
            <p:nvPr/>
          </p:nvSpPr>
          <p:spPr>
            <a:xfrm>
              <a:off x="780" y="0"/>
              <a:ext cx="240" cy="41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600" b="1" dirty="0">
                  <a:solidFill>
                    <a:schemeClr val="tx1"/>
                  </a:solidFill>
                  <a:latin typeface="Times New Roman" panose="02020603050405020304" pitchFamily="18" charset="0"/>
                </a:rPr>
                <a:t>b</a:t>
              </a:r>
              <a:endParaRPr lang="en-US" altLang="zh-CN" sz="2600" b="1" dirty="0">
                <a:solidFill>
                  <a:schemeClr val="tx1"/>
                </a:solidFill>
                <a:latin typeface="Times New Roman" panose="02020603050405020304" pitchFamily="18" charset="0"/>
              </a:endParaRPr>
            </a:p>
          </p:txBody>
        </p:sp>
      </p:grpSp>
      <p:grpSp>
        <p:nvGrpSpPr>
          <p:cNvPr id="85055" name="Group 101"/>
          <p:cNvGrpSpPr/>
          <p:nvPr/>
        </p:nvGrpSpPr>
        <p:grpSpPr>
          <a:xfrm>
            <a:off x="1828800" y="742950"/>
            <a:ext cx="1371600" cy="914400"/>
            <a:chOff x="0" y="0"/>
            <a:chExt cx="864" cy="768"/>
          </a:xfrm>
        </p:grpSpPr>
        <p:sp>
          <p:nvSpPr>
            <p:cNvPr id="85081" name="Rectangle 53"/>
            <p:cNvSpPr/>
            <p:nvPr/>
          </p:nvSpPr>
          <p:spPr>
            <a:xfrm>
              <a:off x="0" y="528"/>
              <a:ext cx="528" cy="240"/>
            </a:xfrm>
            <a:prstGeom prst="rect">
              <a:avLst/>
            </a:prstGeom>
            <a:noFill/>
            <a:ln w="28575" cap="flat" cmpd="sng">
              <a:solidFill>
                <a:srgbClr val="FF99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82" name="Line 99"/>
            <p:cNvSpPr/>
            <p:nvPr/>
          </p:nvSpPr>
          <p:spPr>
            <a:xfrm flipV="1">
              <a:off x="432" y="240"/>
              <a:ext cx="192" cy="288"/>
            </a:xfrm>
            <a:prstGeom prst="line">
              <a:avLst/>
            </a:prstGeom>
            <a:ln w="9525" cap="flat" cmpd="sng">
              <a:solidFill>
                <a:srgbClr val="767171"/>
              </a:solidFill>
              <a:prstDash val="solid"/>
              <a:headEnd type="none" w="med" len="med"/>
              <a:tailEnd type="none" w="med" len="med"/>
            </a:ln>
          </p:spPr>
        </p:sp>
        <p:sp>
          <p:nvSpPr>
            <p:cNvPr id="85083" name="Text Box 100"/>
            <p:cNvSpPr txBox="1"/>
            <p:nvPr/>
          </p:nvSpPr>
          <p:spPr>
            <a:xfrm>
              <a:off x="576" y="0"/>
              <a:ext cx="288"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endParaRPr lang="en-US" altLang="zh-CN" sz="2400" b="1" dirty="0">
                <a:solidFill>
                  <a:schemeClr val="tx1"/>
                </a:solidFill>
                <a:latin typeface="Times New Roman" panose="02020603050405020304" pitchFamily="18" charset="0"/>
              </a:endParaRPr>
            </a:p>
          </p:txBody>
        </p:sp>
      </p:grpSp>
      <p:grpSp>
        <p:nvGrpSpPr>
          <p:cNvPr id="85056" name="Group 113"/>
          <p:cNvGrpSpPr/>
          <p:nvPr/>
        </p:nvGrpSpPr>
        <p:grpSpPr>
          <a:xfrm>
            <a:off x="1752600" y="2457450"/>
            <a:ext cx="5524500" cy="1349375"/>
            <a:chOff x="0" y="0"/>
            <a:chExt cx="3480" cy="1134"/>
          </a:xfrm>
        </p:grpSpPr>
        <p:sp>
          <p:nvSpPr>
            <p:cNvPr id="85072" name="Oval 104"/>
            <p:cNvSpPr/>
            <p:nvPr/>
          </p:nvSpPr>
          <p:spPr>
            <a:xfrm>
              <a:off x="0" y="0"/>
              <a:ext cx="240" cy="24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3" name="Oval 105"/>
            <p:cNvSpPr/>
            <p:nvPr/>
          </p:nvSpPr>
          <p:spPr>
            <a:xfrm>
              <a:off x="1092" y="0"/>
              <a:ext cx="240" cy="24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4" name="Oval 106"/>
            <p:cNvSpPr/>
            <p:nvPr/>
          </p:nvSpPr>
          <p:spPr>
            <a:xfrm>
              <a:off x="2184" y="0"/>
              <a:ext cx="240" cy="24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5" name="Oval 107"/>
            <p:cNvSpPr/>
            <p:nvPr/>
          </p:nvSpPr>
          <p:spPr>
            <a:xfrm>
              <a:off x="3240" y="0"/>
              <a:ext cx="240" cy="24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6" name="Line 108"/>
            <p:cNvSpPr/>
            <p:nvPr/>
          </p:nvSpPr>
          <p:spPr>
            <a:xfrm>
              <a:off x="192" y="192"/>
              <a:ext cx="1536" cy="576"/>
            </a:xfrm>
            <a:prstGeom prst="line">
              <a:avLst/>
            </a:prstGeom>
            <a:ln w="9525" cap="flat" cmpd="sng">
              <a:solidFill>
                <a:schemeClr val="tx1"/>
              </a:solidFill>
              <a:prstDash val="solid"/>
              <a:headEnd type="none" w="med" len="med"/>
              <a:tailEnd type="none" w="med" len="med"/>
            </a:ln>
          </p:spPr>
        </p:sp>
        <p:sp>
          <p:nvSpPr>
            <p:cNvPr id="85077" name="Line 109"/>
            <p:cNvSpPr/>
            <p:nvPr/>
          </p:nvSpPr>
          <p:spPr>
            <a:xfrm>
              <a:off x="1296" y="192"/>
              <a:ext cx="432" cy="576"/>
            </a:xfrm>
            <a:prstGeom prst="line">
              <a:avLst/>
            </a:prstGeom>
            <a:ln w="9525" cap="flat" cmpd="sng">
              <a:solidFill>
                <a:schemeClr val="tx1"/>
              </a:solidFill>
              <a:prstDash val="solid"/>
              <a:headEnd type="none" w="med" len="med"/>
              <a:tailEnd type="none" w="med" len="med"/>
            </a:ln>
          </p:spPr>
        </p:sp>
        <p:sp>
          <p:nvSpPr>
            <p:cNvPr id="85078" name="Line 110"/>
            <p:cNvSpPr/>
            <p:nvPr/>
          </p:nvSpPr>
          <p:spPr>
            <a:xfrm flipH="1">
              <a:off x="1728" y="240"/>
              <a:ext cx="528" cy="528"/>
            </a:xfrm>
            <a:prstGeom prst="line">
              <a:avLst/>
            </a:prstGeom>
            <a:ln w="9525" cap="flat" cmpd="sng">
              <a:solidFill>
                <a:schemeClr val="tx1"/>
              </a:solidFill>
              <a:prstDash val="solid"/>
              <a:headEnd type="none" w="med" len="med"/>
              <a:tailEnd type="none" w="med" len="med"/>
            </a:ln>
          </p:spPr>
        </p:sp>
        <p:sp>
          <p:nvSpPr>
            <p:cNvPr id="85079" name="Line 111"/>
            <p:cNvSpPr/>
            <p:nvPr/>
          </p:nvSpPr>
          <p:spPr>
            <a:xfrm flipH="1">
              <a:off x="1716" y="204"/>
              <a:ext cx="1584" cy="576"/>
            </a:xfrm>
            <a:prstGeom prst="line">
              <a:avLst/>
            </a:prstGeom>
            <a:ln w="9525" cap="flat" cmpd="sng">
              <a:solidFill>
                <a:schemeClr val="tx1"/>
              </a:solidFill>
              <a:prstDash val="solid"/>
              <a:headEnd type="none" w="med" len="med"/>
              <a:tailEnd type="none" w="med" len="med"/>
            </a:ln>
          </p:spPr>
        </p:sp>
        <p:sp>
          <p:nvSpPr>
            <p:cNvPr id="85080" name="Text Box 112"/>
            <p:cNvSpPr txBox="1"/>
            <p:nvPr/>
          </p:nvSpPr>
          <p:spPr>
            <a:xfrm>
              <a:off x="1632" y="720"/>
              <a:ext cx="384" cy="41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600" b="1" dirty="0">
                  <a:solidFill>
                    <a:schemeClr val="tx1"/>
                  </a:solidFill>
                  <a:latin typeface="Times New Roman" panose="02020603050405020304" pitchFamily="18" charset="0"/>
                </a:rPr>
                <a:t>c</a:t>
              </a:r>
              <a:endParaRPr lang="en-US" altLang="zh-CN" sz="2600" b="1" dirty="0">
                <a:solidFill>
                  <a:schemeClr val="tx1"/>
                </a:solidFill>
                <a:latin typeface="Times New Roman" panose="02020603050405020304" pitchFamily="18" charset="0"/>
              </a:endParaRPr>
            </a:p>
          </p:txBody>
        </p:sp>
      </p:grpSp>
      <p:grpSp>
        <p:nvGrpSpPr>
          <p:cNvPr id="85057" name="Group 121"/>
          <p:cNvGrpSpPr/>
          <p:nvPr/>
        </p:nvGrpSpPr>
        <p:grpSpPr>
          <a:xfrm>
            <a:off x="4648200" y="4346575"/>
            <a:ext cx="3810000" cy="0"/>
            <a:chOff x="0" y="0"/>
            <a:chExt cx="2400" cy="0"/>
          </a:xfrm>
        </p:grpSpPr>
        <p:sp>
          <p:nvSpPr>
            <p:cNvPr id="85065" name="Line 114"/>
            <p:cNvSpPr/>
            <p:nvPr/>
          </p:nvSpPr>
          <p:spPr>
            <a:xfrm>
              <a:off x="0" y="0"/>
              <a:ext cx="144" cy="0"/>
            </a:xfrm>
            <a:prstGeom prst="line">
              <a:avLst/>
            </a:prstGeom>
            <a:ln w="9525" cap="flat" cmpd="sng">
              <a:solidFill>
                <a:schemeClr val="bg1"/>
              </a:solidFill>
              <a:prstDash val="solid"/>
              <a:headEnd type="none" w="med" len="med"/>
              <a:tailEnd type="none" w="med" len="med"/>
            </a:ln>
          </p:spPr>
        </p:sp>
        <p:sp>
          <p:nvSpPr>
            <p:cNvPr id="85066" name="Line 115"/>
            <p:cNvSpPr/>
            <p:nvPr/>
          </p:nvSpPr>
          <p:spPr>
            <a:xfrm>
              <a:off x="1104" y="0"/>
              <a:ext cx="144" cy="0"/>
            </a:xfrm>
            <a:prstGeom prst="line">
              <a:avLst/>
            </a:prstGeom>
            <a:ln w="9525" cap="flat" cmpd="sng">
              <a:solidFill>
                <a:schemeClr val="bg1"/>
              </a:solidFill>
              <a:prstDash val="solid"/>
              <a:headEnd type="none" w="med" len="med"/>
              <a:tailEnd type="none" w="med" len="med"/>
            </a:ln>
          </p:spPr>
        </p:sp>
        <p:sp>
          <p:nvSpPr>
            <p:cNvPr id="85067" name="Line 116"/>
            <p:cNvSpPr/>
            <p:nvPr/>
          </p:nvSpPr>
          <p:spPr>
            <a:xfrm>
              <a:off x="1392" y="0"/>
              <a:ext cx="144" cy="0"/>
            </a:xfrm>
            <a:prstGeom prst="line">
              <a:avLst/>
            </a:prstGeom>
            <a:ln w="9525" cap="flat" cmpd="sng">
              <a:solidFill>
                <a:schemeClr val="bg1"/>
              </a:solidFill>
              <a:prstDash val="solid"/>
              <a:headEnd type="none" w="med" len="med"/>
              <a:tailEnd type="none" w="med" len="med"/>
            </a:ln>
          </p:spPr>
        </p:sp>
        <p:sp>
          <p:nvSpPr>
            <p:cNvPr id="85068" name="Line 117"/>
            <p:cNvSpPr/>
            <p:nvPr/>
          </p:nvSpPr>
          <p:spPr>
            <a:xfrm>
              <a:off x="1764" y="0"/>
              <a:ext cx="144" cy="0"/>
            </a:xfrm>
            <a:prstGeom prst="line">
              <a:avLst/>
            </a:prstGeom>
            <a:ln w="9525" cap="flat" cmpd="sng">
              <a:solidFill>
                <a:schemeClr val="bg1"/>
              </a:solidFill>
              <a:prstDash val="solid"/>
              <a:headEnd type="none" w="med" len="med"/>
              <a:tailEnd type="none" w="med" len="med"/>
            </a:ln>
          </p:spPr>
        </p:sp>
        <p:sp>
          <p:nvSpPr>
            <p:cNvPr id="85069" name="Line 118"/>
            <p:cNvSpPr/>
            <p:nvPr/>
          </p:nvSpPr>
          <p:spPr>
            <a:xfrm>
              <a:off x="1920" y="0"/>
              <a:ext cx="144" cy="0"/>
            </a:xfrm>
            <a:prstGeom prst="line">
              <a:avLst/>
            </a:prstGeom>
            <a:ln w="9525" cap="flat" cmpd="sng">
              <a:solidFill>
                <a:schemeClr val="bg1"/>
              </a:solidFill>
              <a:prstDash val="solid"/>
              <a:headEnd type="none" w="med" len="med"/>
              <a:tailEnd type="none" w="med" len="med"/>
            </a:ln>
          </p:spPr>
        </p:sp>
        <p:sp>
          <p:nvSpPr>
            <p:cNvPr id="85070" name="Line 119"/>
            <p:cNvSpPr/>
            <p:nvPr/>
          </p:nvSpPr>
          <p:spPr>
            <a:xfrm>
              <a:off x="2088" y="0"/>
              <a:ext cx="144" cy="0"/>
            </a:xfrm>
            <a:prstGeom prst="line">
              <a:avLst/>
            </a:prstGeom>
            <a:ln w="9525" cap="flat" cmpd="sng">
              <a:solidFill>
                <a:schemeClr val="bg1"/>
              </a:solidFill>
              <a:prstDash val="solid"/>
              <a:headEnd type="none" w="med" len="med"/>
              <a:tailEnd type="none" w="med" len="med"/>
            </a:ln>
          </p:spPr>
        </p:sp>
        <p:sp>
          <p:nvSpPr>
            <p:cNvPr id="85071" name="Line 120"/>
            <p:cNvSpPr/>
            <p:nvPr/>
          </p:nvSpPr>
          <p:spPr>
            <a:xfrm>
              <a:off x="2256" y="0"/>
              <a:ext cx="144" cy="0"/>
            </a:xfrm>
            <a:prstGeom prst="line">
              <a:avLst/>
            </a:prstGeom>
            <a:ln w="9525" cap="flat" cmpd="sng">
              <a:solidFill>
                <a:schemeClr val="bg1"/>
              </a:solidFill>
              <a:prstDash val="solid"/>
              <a:headEnd type="none" w="med" len="med"/>
              <a:tailEnd type="none" w="med" len="med"/>
            </a:ln>
          </p:spPr>
        </p:sp>
      </p:grpSp>
      <p:cxnSp>
        <p:nvCxnSpPr>
          <p:cNvPr id="85058" name="直接连接符 49"/>
          <p:cNvCxnSpPr/>
          <p:nvPr/>
        </p:nvCxnSpPr>
        <p:spPr>
          <a:xfrm>
            <a:off x="5292725" y="4348163"/>
            <a:ext cx="82550" cy="6350"/>
          </a:xfrm>
          <a:prstGeom prst="line">
            <a:avLst/>
          </a:prstGeom>
          <a:ln w="12700" cap="flat" cmpd="sng">
            <a:solidFill>
              <a:schemeClr val="tx1"/>
            </a:solidFill>
            <a:prstDash val="solid"/>
            <a:headEnd type="none" w="med" len="med"/>
            <a:tailEnd type="none" w="med" len="med"/>
          </a:ln>
        </p:spPr>
      </p:cxnSp>
      <p:cxnSp>
        <p:nvCxnSpPr>
          <p:cNvPr id="85059" name="直接连接符 51"/>
          <p:cNvCxnSpPr/>
          <p:nvPr/>
        </p:nvCxnSpPr>
        <p:spPr>
          <a:xfrm>
            <a:off x="4443413" y="4348163"/>
            <a:ext cx="133350" cy="0"/>
          </a:xfrm>
          <a:prstGeom prst="line">
            <a:avLst/>
          </a:prstGeom>
          <a:ln w="12700" cap="flat" cmpd="sng">
            <a:solidFill>
              <a:schemeClr val="tx1"/>
            </a:solidFill>
            <a:prstDash val="solid"/>
            <a:headEnd type="none" w="med" len="med"/>
            <a:tailEnd type="none" w="med" len="med"/>
          </a:ln>
        </p:spPr>
      </p:cxnSp>
      <p:cxnSp>
        <p:nvCxnSpPr>
          <p:cNvPr id="85060" name="直接连接符 52"/>
          <p:cNvCxnSpPr/>
          <p:nvPr/>
        </p:nvCxnSpPr>
        <p:spPr>
          <a:xfrm>
            <a:off x="4679950" y="4343400"/>
            <a:ext cx="133350" cy="0"/>
          </a:xfrm>
          <a:prstGeom prst="line">
            <a:avLst/>
          </a:prstGeom>
          <a:ln w="12700" cap="flat" cmpd="sng">
            <a:solidFill>
              <a:schemeClr val="tx1"/>
            </a:solidFill>
            <a:prstDash val="solid"/>
            <a:headEnd type="none" w="med" len="med"/>
            <a:tailEnd type="none" w="med" len="med"/>
          </a:ln>
        </p:spPr>
      </p:cxnSp>
      <p:cxnSp>
        <p:nvCxnSpPr>
          <p:cNvPr id="85061" name="直接连接符 53"/>
          <p:cNvCxnSpPr/>
          <p:nvPr/>
        </p:nvCxnSpPr>
        <p:spPr>
          <a:xfrm>
            <a:off x="3322638" y="4343400"/>
            <a:ext cx="133350" cy="0"/>
          </a:xfrm>
          <a:prstGeom prst="line">
            <a:avLst/>
          </a:prstGeom>
          <a:ln w="12700" cap="flat" cmpd="sng">
            <a:solidFill>
              <a:schemeClr val="tx1"/>
            </a:solidFill>
            <a:prstDash val="solid"/>
            <a:headEnd type="none" w="med" len="med"/>
            <a:tailEnd type="none" w="med" len="med"/>
          </a:ln>
        </p:spPr>
      </p:cxnSp>
      <p:cxnSp>
        <p:nvCxnSpPr>
          <p:cNvPr id="85062" name="直接连接符 55"/>
          <p:cNvCxnSpPr/>
          <p:nvPr/>
        </p:nvCxnSpPr>
        <p:spPr>
          <a:xfrm>
            <a:off x="5527675" y="4341813"/>
            <a:ext cx="84138" cy="6350"/>
          </a:xfrm>
          <a:prstGeom prst="line">
            <a:avLst/>
          </a:prstGeom>
          <a:ln w="12700" cap="flat" cmpd="sng">
            <a:solidFill>
              <a:schemeClr val="tx1"/>
            </a:solidFill>
            <a:prstDash val="solid"/>
            <a:headEnd type="none" w="med" len="med"/>
            <a:tailEnd type="none" w="med" len="med"/>
          </a:ln>
        </p:spPr>
      </p:cxnSp>
      <p:cxnSp>
        <p:nvCxnSpPr>
          <p:cNvPr id="85063" name="直接连接符 56"/>
          <p:cNvCxnSpPr/>
          <p:nvPr/>
        </p:nvCxnSpPr>
        <p:spPr>
          <a:xfrm>
            <a:off x="5410200" y="4343400"/>
            <a:ext cx="84138" cy="4763"/>
          </a:xfrm>
          <a:prstGeom prst="line">
            <a:avLst/>
          </a:prstGeom>
          <a:ln w="12700" cap="flat" cmpd="sng">
            <a:solidFill>
              <a:schemeClr val="tx1"/>
            </a:solidFill>
            <a:prstDash val="solid"/>
            <a:headEnd type="none" w="med" len="med"/>
            <a:tailEnd type="none" w="med" len="med"/>
          </a:ln>
        </p:spPr>
      </p:cxnSp>
      <p:cxnSp>
        <p:nvCxnSpPr>
          <p:cNvPr id="85064" name="直接连接符 57"/>
          <p:cNvCxnSpPr/>
          <p:nvPr/>
        </p:nvCxnSpPr>
        <p:spPr>
          <a:xfrm>
            <a:off x="5156200" y="4344988"/>
            <a:ext cx="82550" cy="6350"/>
          </a:xfrm>
          <a:prstGeom prst="line">
            <a:avLst/>
          </a:prstGeom>
          <a:ln w="12700" cap="flat" cmpd="sng">
            <a:solidFill>
              <a:schemeClr val="tx1"/>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055"/>
                                        </p:tgtEl>
                                        <p:attrNameLst>
                                          <p:attrName>style.visibility</p:attrName>
                                        </p:attrNameLst>
                                      </p:cBhvr>
                                      <p:to>
                                        <p:strVal val="visible"/>
                                      </p:to>
                                    </p:set>
                                    <p:animEffect transition="in" filter="fade">
                                      <p:cBhvr>
                                        <p:cTn id="7" dur="500"/>
                                        <p:tgtEl>
                                          <p:spTgt spid="85055"/>
                                        </p:tgtEl>
                                      </p:cBhvr>
                                    </p:animEffect>
                                  </p:childTnLst>
                                </p:cTn>
                              </p:par>
                              <p:par>
                                <p:cTn id="8" presetID="10" presetClass="entr" presetSubtype="0" fill="hold" nodeType="withEffect">
                                  <p:stCondLst>
                                    <p:cond delay="0"/>
                                  </p:stCondLst>
                                  <p:childTnLst>
                                    <p:set>
                                      <p:cBhvr>
                                        <p:cTn id="9" dur="1" fill="hold">
                                          <p:stCondLst>
                                            <p:cond delay="0"/>
                                          </p:stCondLst>
                                        </p:cTn>
                                        <p:tgtEl>
                                          <p:spTgt spid="85025"/>
                                        </p:tgtEl>
                                        <p:attrNameLst>
                                          <p:attrName>style.visibility</p:attrName>
                                        </p:attrNameLst>
                                      </p:cBhvr>
                                      <p:to>
                                        <p:strVal val="visible"/>
                                      </p:to>
                                    </p:set>
                                    <p:animEffect transition="in" filter="fade">
                                      <p:cBhvr>
                                        <p:cTn id="10" dur="500"/>
                                        <p:tgtEl>
                                          <p:spTgt spid="85025"/>
                                        </p:tgtEl>
                                      </p:cBhvr>
                                    </p:animEffect>
                                  </p:childTnLst>
                                </p:cTn>
                              </p:par>
                              <p:par>
                                <p:cTn id="11" presetID="10" presetClass="entr" presetSubtype="0" fill="hold" nodeType="withEffect">
                                  <p:stCondLst>
                                    <p:cond delay="0"/>
                                  </p:stCondLst>
                                  <p:childTnLst>
                                    <p:set>
                                      <p:cBhvr>
                                        <p:cTn id="12" dur="1" fill="hold">
                                          <p:stCondLst>
                                            <p:cond delay="0"/>
                                          </p:stCondLst>
                                        </p:cTn>
                                        <p:tgtEl>
                                          <p:spTgt spid="85053"/>
                                        </p:tgtEl>
                                        <p:attrNameLst>
                                          <p:attrName>style.visibility</p:attrName>
                                        </p:attrNameLst>
                                      </p:cBhvr>
                                      <p:to>
                                        <p:strVal val="visible"/>
                                      </p:to>
                                    </p:set>
                                    <p:animEffect transition="in" filter="fade">
                                      <p:cBhvr>
                                        <p:cTn id="13" dur="500"/>
                                        <p:tgtEl>
                                          <p:spTgt spid="85053"/>
                                        </p:tgtEl>
                                      </p:cBhvr>
                                    </p:animEffect>
                                  </p:childTnLst>
                                </p:cTn>
                              </p:par>
                              <p:par>
                                <p:cTn id="14" presetID="10" presetClass="entr" presetSubtype="0" fill="hold" nodeType="withEffect">
                                  <p:stCondLst>
                                    <p:cond delay="0"/>
                                  </p:stCondLst>
                                  <p:childTnLst>
                                    <p:set>
                                      <p:cBhvr>
                                        <p:cTn id="15" dur="1" fill="hold">
                                          <p:stCondLst>
                                            <p:cond delay="0"/>
                                          </p:stCondLst>
                                        </p:cTn>
                                        <p:tgtEl>
                                          <p:spTgt spid="82950"/>
                                        </p:tgtEl>
                                        <p:attrNameLst>
                                          <p:attrName>style.visibility</p:attrName>
                                        </p:attrNameLst>
                                      </p:cBhvr>
                                      <p:to>
                                        <p:strVal val="visible"/>
                                      </p:to>
                                    </p:set>
                                    <p:animEffect transition="in" filter="fade">
                                      <p:cBhvr>
                                        <p:cTn id="16" dur="500"/>
                                        <p:tgtEl>
                                          <p:spTgt spid="82950"/>
                                        </p:tgtEl>
                                      </p:cBhvr>
                                    </p:animEffect>
                                  </p:childTnLst>
                                </p:cTn>
                              </p:par>
                              <p:par>
                                <p:cTn id="17" presetID="10" presetClass="entr" presetSubtype="0" fill="hold" nodeType="withEffect">
                                  <p:stCondLst>
                                    <p:cond delay="0"/>
                                  </p:stCondLst>
                                  <p:childTnLst>
                                    <p:set>
                                      <p:cBhvr>
                                        <p:cTn id="18" dur="1" fill="hold">
                                          <p:stCondLst>
                                            <p:cond delay="0"/>
                                          </p:stCondLst>
                                        </p:cTn>
                                        <p:tgtEl>
                                          <p:spTgt spid="85056"/>
                                        </p:tgtEl>
                                        <p:attrNameLst>
                                          <p:attrName>style.visibility</p:attrName>
                                        </p:attrNameLst>
                                      </p:cBhvr>
                                      <p:to>
                                        <p:strVal val="visible"/>
                                      </p:to>
                                    </p:set>
                                    <p:animEffect transition="in" filter="fade">
                                      <p:cBhvr>
                                        <p:cTn id="19" dur="500"/>
                                        <p:tgtEl>
                                          <p:spTgt spid="85056"/>
                                        </p:tgtEl>
                                      </p:cBhvr>
                                    </p:animEffect>
                                  </p:childTnLst>
                                </p:cTn>
                              </p:par>
                              <p:par>
                                <p:cTn id="20" presetID="10" presetClass="entr" presetSubtype="0" fill="hold" nodeType="withEffect">
                                  <p:stCondLst>
                                    <p:cond delay="0"/>
                                  </p:stCondLst>
                                  <p:childTnLst>
                                    <p:set>
                                      <p:cBhvr>
                                        <p:cTn id="21" dur="1" fill="hold">
                                          <p:stCondLst>
                                            <p:cond delay="0"/>
                                          </p:stCondLst>
                                        </p:cTn>
                                        <p:tgtEl>
                                          <p:spTgt spid="82981"/>
                                        </p:tgtEl>
                                        <p:attrNameLst>
                                          <p:attrName>style.visibility</p:attrName>
                                        </p:attrNameLst>
                                      </p:cBhvr>
                                      <p:to>
                                        <p:strVal val="visible"/>
                                      </p:to>
                                    </p:set>
                                    <p:animEffect transition="in" filter="fade">
                                      <p:cBhvr>
                                        <p:cTn id="22" dur="500"/>
                                        <p:tgtEl>
                                          <p:spTgt spid="82981"/>
                                        </p:tgtEl>
                                      </p:cBhvr>
                                    </p:animEffect>
                                  </p:childTnLst>
                                </p:cTn>
                              </p:par>
                              <p:par>
                                <p:cTn id="23" presetID="10" presetClass="entr" presetSubtype="0" fill="hold" nodeType="withEffect">
                                  <p:stCondLst>
                                    <p:cond delay="0"/>
                                  </p:stCondLst>
                                  <p:childTnLst>
                                    <p:set>
                                      <p:cBhvr>
                                        <p:cTn id="24" dur="1" fill="hold">
                                          <p:stCondLst>
                                            <p:cond delay="0"/>
                                          </p:stCondLst>
                                        </p:cTn>
                                        <p:tgtEl>
                                          <p:spTgt spid="85054"/>
                                        </p:tgtEl>
                                        <p:attrNameLst>
                                          <p:attrName>style.visibility</p:attrName>
                                        </p:attrNameLst>
                                      </p:cBhvr>
                                      <p:to>
                                        <p:strVal val="visible"/>
                                      </p:to>
                                    </p:set>
                                    <p:animEffect transition="in" filter="fade">
                                      <p:cBhvr>
                                        <p:cTn id="25" dur="500"/>
                                        <p:tgtEl>
                                          <p:spTgt spid="85054"/>
                                        </p:tgtEl>
                                      </p:cBhvr>
                                    </p:animEffec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84997">
                                            <p:txEl>
                                              <p:charRg st="0" end="29"/>
                                            </p:txEl>
                                          </p:spTgt>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84997">
                                            <p:txEl>
                                              <p:charRg st="29" end="75"/>
                                            </p:txEl>
                                          </p:spTgt>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85061"/>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0"/>
                                          </p:stCondLst>
                                        </p:cTn>
                                        <p:tgtEl>
                                          <p:spTgt spid="85059"/>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0"/>
                                          </p:stCondLst>
                                        </p:cTn>
                                        <p:tgtEl>
                                          <p:spTgt spid="85060"/>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nodeType="afterEffect">
                                  <p:stCondLst>
                                    <p:cond delay="0"/>
                                  </p:stCondLst>
                                  <p:childTnLst>
                                    <p:set>
                                      <p:cBhvr>
                                        <p:cTn id="43" dur="1" fill="hold">
                                          <p:stCondLst>
                                            <p:cond delay="0"/>
                                          </p:stCondLst>
                                        </p:cTn>
                                        <p:tgtEl>
                                          <p:spTgt spid="85064"/>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85058"/>
                                        </p:tgtEl>
                                        <p:attrNameLst>
                                          <p:attrName>style.visibility</p:attrName>
                                        </p:attrNameLst>
                                      </p:cBhvr>
                                      <p:to>
                                        <p:strVal val="visible"/>
                                      </p:to>
                                    </p:se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0"/>
                                          </p:stCondLst>
                                        </p:cTn>
                                        <p:tgtEl>
                                          <p:spTgt spid="85063"/>
                                        </p:tgtEl>
                                        <p:attrNameLst>
                                          <p:attrName>style.visibility</p:attrName>
                                        </p:attrNameLst>
                                      </p:cBhvr>
                                      <p:to>
                                        <p:strVal val="visible"/>
                                      </p:to>
                                    </p:set>
                                  </p:childTnLst>
                                </p:cTn>
                              </p:par>
                            </p:childTnLst>
                          </p:cTn>
                        </p:par>
                        <p:par>
                          <p:cTn id="50" fill="hold">
                            <p:stCondLst>
                              <p:cond delay="500"/>
                            </p:stCondLst>
                            <p:childTnLst>
                              <p:par>
                                <p:cTn id="51" presetID="1" presetClass="entr" presetSubtype="0" fill="hold" nodeType="afterEffect">
                                  <p:stCondLst>
                                    <p:cond delay="0"/>
                                  </p:stCondLst>
                                  <p:childTnLst>
                                    <p:set>
                                      <p:cBhvr>
                                        <p:cTn id="52" dur="1" fill="hold">
                                          <p:stCondLst>
                                            <p:cond delay="0"/>
                                          </p:stCondLst>
                                        </p:cTn>
                                        <p:tgtEl>
                                          <p:spTgt spid="85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7"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601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6020" name="Rectangle 3"/>
          <p:cNvSpPr>
            <a:spLocks noGrp="1"/>
          </p:cNvSpPr>
          <p:nvPr>
            <p:ph type="title"/>
          </p:nvPr>
        </p:nvSpPr>
        <p:spPr>
          <a:xfrm>
            <a:off x="612775" y="700088"/>
            <a:ext cx="8062913" cy="571500"/>
          </a:xfrm>
          <a:prstGeom prst="rect">
            <a:avLst/>
          </a:prstGeom>
          <a:noFill/>
          <a:ln w="9525">
            <a:noFill/>
          </a:ln>
        </p:spPr>
        <p:txBody>
          <a:bodyPr/>
          <a:p>
            <a:pPr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将逻辑函数化简成最简</a:t>
            </a:r>
            <a:r>
              <a:rPr lang="zh-CN" altLang="en-US" sz="1800" b="1" dirty="0">
                <a:solidFill>
                  <a:srgbClr val="0000FF"/>
                </a:solidFill>
                <a:latin typeface="黑体" panose="02010609060101010101" pitchFamily="49" charset="-122"/>
                <a:ea typeface="黑体" panose="02010609060101010101" pitchFamily="49" charset="-122"/>
              </a:rPr>
              <a:t>或与式</a:t>
            </a:r>
            <a:endParaRPr lang="zh-CN" altLang="en-US" sz="1800" b="1" dirty="0">
              <a:solidFill>
                <a:srgbClr val="0000FF"/>
              </a:solidFill>
              <a:latin typeface="黑体" panose="02010609060101010101" pitchFamily="49" charset="-122"/>
              <a:ea typeface="黑体" panose="02010609060101010101" pitchFamily="49" charset="-122"/>
            </a:endParaRPr>
          </a:p>
        </p:txBody>
      </p:sp>
      <p:sp>
        <p:nvSpPr>
          <p:cNvPr id="86021" name="Rectangle 4"/>
          <p:cNvSpPr>
            <a:spLocks noGrp="1"/>
          </p:cNvSpPr>
          <p:nvPr>
            <p:ph/>
          </p:nvPr>
        </p:nvSpPr>
        <p:spPr>
          <a:xfrm>
            <a:off x="468313" y="1131888"/>
            <a:ext cx="7704137" cy="3568700"/>
          </a:xfrm>
          <a:prstGeom prst="rect">
            <a:avLst/>
          </a:prstGeom>
          <a:noFill/>
          <a:ln w="9525">
            <a:noFill/>
          </a:ln>
        </p:spPr>
        <p:txBody>
          <a:bodyPr/>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从代数法</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或与式</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的化简中已得知，如果</a:t>
            </a:r>
            <a:r>
              <a:rPr lang="zh-CN" altLang="en-US" sz="1800" b="1" dirty="0">
                <a:latin typeface="黑体" panose="02010609060101010101" pitchFamily="49" charset="-122"/>
                <a:ea typeface="黑体" panose="02010609060101010101" pitchFamily="49" charset="-122"/>
              </a:rPr>
              <a:t>求出反函数的最简</a:t>
            </a:r>
            <a:r>
              <a:rPr lang="zh-CN" altLang="en-US" sz="1800" b="1" dirty="0">
                <a:solidFill>
                  <a:srgbClr val="FF0000"/>
                </a:solidFill>
                <a:latin typeface="黑体" panose="02010609060101010101" pitchFamily="49" charset="-122"/>
                <a:ea typeface="黑体" panose="02010609060101010101" pitchFamily="49" charset="-122"/>
              </a:rPr>
              <a:t>与或式</a:t>
            </a:r>
            <a:r>
              <a:rPr lang="zh-CN" altLang="en-US" sz="1800" dirty="0">
                <a:latin typeface="黑体" panose="02010609060101010101" pitchFamily="49" charset="-122"/>
                <a:ea typeface="黑体" panose="02010609060101010101" pitchFamily="49" charset="-122"/>
              </a:rPr>
              <a:t>，则按</a:t>
            </a:r>
            <a:r>
              <a:rPr lang="zh-CN" altLang="en-US" sz="1800" u="sng" dirty="0">
                <a:latin typeface="黑体" panose="02010609060101010101" pitchFamily="49" charset="-122"/>
                <a:ea typeface="黑体" panose="02010609060101010101" pitchFamily="49" charset="-122"/>
              </a:rPr>
              <a:t>反演规则</a:t>
            </a:r>
            <a:r>
              <a:rPr lang="zh-CN" altLang="en-US" sz="1800" dirty="0">
                <a:latin typeface="黑体" panose="02010609060101010101" pitchFamily="49" charset="-122"/>
                <a:ea typeface="黑体" panose="02010609060101010101" pitchFamily="49" charset="-122"/>
              </a:rPr>
              <a:t>可得到</a:t>
            </a:r>
            <a:r>
              <a:rPr lang="zh-CN" altLang="en-US" sz="1800" b="1" dirty="0">
                <a:latin typeface="黑体" panose="02010609060101010101" pitchFamily="49" charset="-122"/>
                <a:ea typeface="黑体" panose="02010609060101010101" pitchFamily="49" charset="-122"/>
              </a:rPr>
              <a:t>原函数的最简</a:t>
            </a:r>
            <a:r>
              <a:rPr lang="zh-CN" altLang="en-US" sz="1800" b="1" dirty="0">
                <a:solidFill>
                  <a:srgbClr val="0000FF"/>
                </a:solidFill>
                <a:latin typeface="黑体" panose="02010609060101010101" pitchFamily="49" charset="-122"/>
                <a:ea typeface="黑体" panose="02010609060101010101" pitchFamily="49" charset="-122"/>
              </a:rPr>
              <a:t>或与式</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原函数在卡诺图</a:t>
            </a:r>
            <a:r>
              <a:rPr lang="zh-CN" altLang="en-US" sz="1800" b="1" dirty="0">
                <a:solidFill>
                  <a:srgbClr val="0000FF"/>
                </a:solidFill>
                <a:latin typeface="黑体" panose="02010609060101010101" pitchFamily="49" charset="-122"/>
                <a:ea typeface="黑体" panose="02010609060101010101" pitchFamily="49" charset="-122"/>
              </a:rPr>
              <a:t>上标</a:t>
            </a:r>
            <a:r>
              <a:rPr lang="en-US" altLang="zh-CN" sz="1800" b="1" dirty="0">
                <a:solidFill>
                  <a:srgbClr val="0000FF"/>
                </a:solidFill>
                <a:latin typeface="黑体" panose="02010609060101010101" pitchFamily="49" charset="-122"/>
                <a:ea typeface="黑体" panose="02010609060101010101" pitchFamily="49" charset="-122"/>
              </a:rPr>
              <a:t>0</a:t>
            </a:r>
            <a:r>
              <a:rPr lang="zh-CN" altLang="en-US" sz="1800" b="1" dirty="0">
                <a:solidFill>
                  <a:srgbClr val="0000FF"/>
                </a:solidFill>
                <a:latin typeface="黑体" panose="02010609060101010101" pitchFamily="49" charset="-122"/>
                <a:ea typeface="黑体" panose="02010609060101010101" pitchFamily="49" charset="-122"/>
              </a:rPr>
              <a:t>小方格</a:t>
            </a:r>
            <a:r>
              <a:rPr lang="zh-CN" altLang="en-US" sz="1800" dirty="0">
                <a:latin typeface="黑体" panose="02010609060101010101" pitchFamily="49" charset="-122"/>
                <a:ea typeface="黑体" panose="02010609060101010101" pitchFamily="49" charset="-122"/>
              </a:rPr>
              <a:t>的集合正好是</a:t>
            </a:r>
            <a:r>
              <a:rPr lang="zh-CN" altLang="en-US" sz="1800" b="1" dirty="0">
                <a:solidFill>
                  <a:srgbClr val="0000FF"/>
                </a:solidFill>
                <a:latin typeface="黑体" panose="02010609060101010101" pitchFamily="49" charset="-122"/>
                <a:ea typeface="黑体" panose="02010609060101010101" pitchFamily="49" charset="-122"/>
              </a:rPr>
              <a:t>反函数</a:t>
            </a:r>
            <a:r>
              <a:rPr lang="zh-CN" altLang="en-US" sz="1800" b="1" dirty="0">
                <a:latin typeface="黑体" panose="02010609060101010101" pitchFamily="49" charset="-122"/>
                <a:ea typeface="黑体" panose="02010609060101010101" pitchFamily="49" charset="-122"/>
              </a:rPr>
              <a:t>在卡诺图上的表示</a:t>
            </a:r>
            <a:r>
              <a:rPr lang="zh-CN" altLang="en-US" sz="1800" dirty="0">
                <a:latin typeface="黑体" panose="02010609060101010101" pitchFamily="49" charset="-122"/>
                <a:ea typeface="黑体" panose="02010609060101010101" pitchFamily="49" charset="-122"/>
              </a:rPr>
              <a:t>， </a:t>
            </a:r>
            <a:endParaRPr lang="en-US" altLang="zh-CN"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故：</a:t>
            </a:r>
            <a:endParaRPr lang="zh-CN" altLang="en-US" sz="1800" dirty="0">
              <a:solidFill>
                <a:srgbClr val="FF0000"/>
              </a:solidFill>
              <a:latin typeface="黑体" panose="02010609060101010101" pitchFamily="49" charset="-122"/>
              <a:ea typeface="黑体" panose="02010609060101010101" pitchFamily="49" charset="-122"/>
            </a:endParaRPr>
          </a:p>
          <a:p>
            <a:pPr marL="0" indent="0" eaLnBrk="1" hangingPunct="1">
              <a:lnSpc>
                <a:spcPct val="120000"/>
              </a:lnSpc>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⑴按原函数在卡诺图中标</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小方格的相邻情况，即</a:t>
            </a:r>
            <a:endParaRPr lang="en-US" altLang="zh-CN"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可求出反函数的最简</a:t>
            </a:r>
            <a:r>
              <a:rPr lang="zh-CN" altLang="en-US" sz="1800" dirty="0">
                <a:solidFill>
                  <a:srgbClr val="FF0000"/>
                </a:solidFill>
                <a:latin typeface="黑体" panose="02010609060101010101" pitchFamily="49" charset="-122"/>
                <a:ea typeface="黑体" panose="02010609060101010101" pitchFamily="49" charset="-122"/>
              </a:rPr>
              <a:t>与或式</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⑵将采用</a:t>
            </a:r>
            <a:r>
              <a:rPr lang="zh-CN" altLang="en-US" sz="1800" dirty="0">
                <a:solidFill>
                  <a:srgbClr val="FF0000"/>
                </a:solidFill>
                <a:latin typeface="黑体" panose="02010609060101010101" pitchFamily="49" charset="-122"/>
                <a:ea typeface="黑体" panose="02010609060101010101" pitchFamily="49" charset="-122"/>
              </a:rPr>
              <a:t>与或式</a:t>
            </a:r>
            <a:r>
              <a:rPr lang="zh-CN" altLang="en-US" sz="1800" dirty="0">
                <a:latin typeface="黑体" panose="02010609060101010101" pitchFamily="49" charset="-122"/>
                <a:ea typeface="黑体" panose="02010609060101010101" pitchFamily="49" charset="-122"/>
              </a:rPr>
              <a:t>表示的反函数求反，则得到原函数的最简</a:t>
            </a:r>
            <a:r>
              <a:rPr lang="zh-CN" altLang="en-US" sz="1800" dirty="0">
                <a:solidFill>
                  <a:srgbClr val="FF0000"/>
                </a:solidFill>
                <a:latin typeface="黑体" panose="02010609060101010101" pitchFamily="49" charset="-122"/>
                <a:ea typeface="黑体" panose="02010609060101010101" pitchFamily="49" charset="-122"/>
              </a:rPr>
              <a:t>或与式</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spTree>
  </p:cSld>
  <p:clrMapOvr>
    <a:masterClrMapping/>
  </p:clrMapOvr>
  <p:transition advTm="20000"/>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704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7044" name="Rectangle 2"/>
          <p:cNvSpPr>
            <a:spLocks noGrp="1"/>
          </p:cNvSpPr>
          <p:nvPr>
            <p:ph type="title"/>
          </p:nvPr>
        </p:nvSpPr>
        <p:spPr>
          <a:xfrm>
            <a:off x="214313" y="493713"/>
            <a:ext cx="8929687" cy="34925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rPr>
              <a:t>(0,8,9,10,11,12,13,14,15)</a:t>
            </a:r>
            <a:r>
              <a:rPr lang="zh-CN" altLang="en-US" sz="1800" dirty="0">
                <a:latin typeface="黑体" panose="02010609060101010101" pitchFamily="49" charset="-122"/>
                <a:ea typeface="黑体" panose="02010609060101010101" pitchFamily="49" charset="-122"/>
              </a:rPr>
              <a:t>得到原函数的最简</a:t>
            </a:r>
            <a:r>
              <a:rPr lang="zh-CN" altLang="en-US" sz="1800" u="sng" dirty="0">
                <a:solidFill>
                  <a:srgbClr val="FF0000"/>
                </a:solidFill>
                <a:latin typeface="黑体" panose="02010609060101010101" pitchFamily="49" charset="-122"/>
                <a:ea typeface="黑体" panose="02010609060101010101" pitchFamily="49" charset="-122"/>
              </a:rPr>
              <a:t>或与式</a:t>
            </a:r>
            <a:endParaRPr lang="zh-CN" altLang="en-US" sz="1800" u="sng" dirty="0">
              <a:solidFill>
                <a:srgbClr val="FF0000"/>
              </a:solidFill>
              <a:latin typeface="黑体" panose="02010609060101010101" pitchFamily="49" charset="-122"/>
              <a:ea typeface="黑体" panose="02010609060101010101" pitchFamily="49" charset="-122"/>
            </a:endParaRPr>
          </a:p>
        </p:txBody>
      </p:sp>
      <p:sp>
        <p:nvSpPr>
          <p:cNvPr id="87045" name="Rectangle 3"/>
          <p:cNvSpPr>
            <a:spLocks noGrp="1"/>
          </p:cNvSpPr>
          <p:nvPr>
            <p:ph/>
          </p:nvPr>
        </p:nvSpPr>
        <p:spPr>
          <a:xfrm>
            <a:off x="228600" y="866775"/>
            <a:ext cx="8686800" cy="40005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第一步：将</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表示在卡诺图上，即标</a:t>
            </a:r>
            <a:r>
              <a:rPr lang="en-US" altLang="zh-CN" sz="18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小方格；</a:t>
            </a:r>
            <a:endParaRPr lang="zh-CN" altLang="en-US" sz="1800" dirty="0">
              <a:latin typeface="黑体" panose="02010609060101010101" pitchFamily="49" charset="-122"/>
              <a:ea typeface="黑体" panose="02010609060101010101" pitchFamily="49" charset="-122"/>
            </a:endParaRPr>
          </a:p>
        </p:txBody>
      </p:sp>
      <p:graphicFrame>
        <p:nvGraphicFramePr>
          <p:cNvPr id="84998" name="Group 6"/>
          <p:cNvGraphicFramePr>
            <a:graphicFrameLocks noGrp="1"/>
          </p:cNvGraphicFramePr>
          <p:nvPr/>
        </p:nvGraphicFramePr>
        <p:xfrm>
          <a:off x="5486400" y="3171825"/>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7073" name="Group 112"/>
          <p:cNvGrpSpPr/>
          <p:nvPr/>
        </p:nvGrpSpPr>
        <p:grpSpPr>
          <a:xfrm>
            <a:off x="4648200" y="2828925"/>
            <a:ext cx="1524000" cy="596900"/>
            <a:chOff x="0" y="0"/>
            <a:chExt cx="960" cy="502"/>
          </a:xfrm>
        </p:grpSpPr>
        <p:sp>
          <p:nvSpPr>
            <p:cNvPr id="87133" name="Line 113"/>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7134" name="Text Box 114"/>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135" name="Text Box 115"/>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87074" name="Text Box 123"/>
          <p:cNvSpPr txBox="1"/>
          <p:nvPr/>
        </p:nvSpPr>
        <p:spPr>
          <a:xfrm>
            <a:off x="228600" y="1209675"/>
            <a:ext cx="6400800" cy="341313"/>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第二步：将未填</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的小方格均填上</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075" name="Text Box 124"/>
          <p:cNvSpPr txBox="1"/>
          <p:nvPr/>
        </p:nvSpPr>
        <p:spPr>
          <a:xfrm>
            <a:off x="228600" y="1552575"/>
            <a:ext cx="7162800" cy="339725"/>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第三步：对所有标</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小方格选出</a:t>
            </a:r>
            <a:r>
              <a:rPr lang="zh-CN" altLang="en-US" sz="1800" u="sng" dirty="0">
                <a:solidFill>
                  <a:schemeClr val="tx1"/>
                </a:solidFill>
                <a:latin typeface="黑体" panose="02010609060101010101" pitchFamily="49" charset="-122"/>
                <a:ea typeface="黑体" panose="02010609060101010101" pitchFamily="49" charset="-122"/>
              </a:rPr>
              <a:t>必要极大圈</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graphicFrame>
        <p:nvGraphicFramePr>
          <p:cNvPr id="85031" name="Group 39"/>
          <p:cNvGraphicFramePr>
            <a:graphicFrameLocks noGrp="1"/>
          </p:cNvGraphicFramePr>
          <p:nvPr/>
        </p:nvGraphicFramePr>
        <p:xfrm>
          <a:off x="5486400" y="3171825"/>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7103" name="Group 100"/>
          <p:cNvGrpSpPr/>
          <p:nvPr/>
        </p:nvGrpSpPr>
        <p:grpSpPr>
          <a:xfrm>
            <a:off x="5029200" y="3629025"/>
            <a:ext cx="1466850" cy="941388"/>
            <a:chOff x="0" y="0"/>
            <a:chExt cx="924" cy="790"/>
          </a:xfrm>
        </p:grpSpPr>
        <p:sp>
          <p:nvSpPr>
            <p:cNvPr id="87130" name="Rectangle 101"/>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131" name="Text Box 102"/>
            <p:cNvSpPr txBox="1"/>
            <p:nvPr/>
          </p:nvSpPr>
          <p:spPr>
            <a:xfrm>
              <a:off x="0" y="480"/>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7132" name="Line 103"/>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7104" name="Group 104"/>
          <p:cNvGrpSpPr/>
          <p:nvPr/>
        </p:nvGrpSpPr>
        <p:grpSpPr>
          <a:xfrm>
            <a:off x="6172200" y="3271838"/>
            <a:ext cx="723900" cy="1784350"/>
            <a:chOff x="0" y="0"/>
            <a:chExt cx="456" cy="1498"/>
          </a:xfrm>
        </p:grpSpPr>
        <p:sp>
          <p:nvSpPr>
            <p:cNvPr id="87127" name="Rectangle 105"/>
            <p:cNvSpPr/>
            <p:nvPr/>
          </p:nvSpPr>
          <p:spPr>
            <a:xfrm>
              <a:off x="0" y="0"/>
              <a:ext cx="192" cy="1104"/>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128" name="Text Box 106"/>
            <p:cNvSpPr txBox="1"/>
            <p:nvPr/>
          </p:nvSpPr>
          <p:spPr>
            <a:xfrm>
              <a:off x="216" y="1188"/>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7129" name="Line 107"/>
            <p:cNvSpPr/>
            <p:nvPr/>
          </p:nvSpPr>
          <p:spPr>
            <a:xfrm>
              <a:off x="168" y="1104"/>
              <a:ext cx="144" cy="144"/>
            </a:xfrm>
            <a:prstGeom prst="line">
              <a:avLst/>
            </a:prstGeom>
            <a:ln w="9525" cap="flat" cmpd="sng">
              <a:solidFill>
                <a:srgbClr val="767171"/>
              </a:solidFill>
              <a:prstDash val="solid"/>
              <a:headEnd type="none" w="med" len="med"/>
              <a:tailEnd type="none" w="med" len="med"/>
            </a:ln>
          </p:spPr>
        </p:sp>
      </p:grpSp>
      <p:grpSp>
        <p:nvGrpSpPr>
          <p:cNvPr id="87105" name="Group 154"/>
          <p:cNvGrpSpPr/>
          <p:nvPr/>
        </p:nvGrpSpPr>
        <p:grpSpPr>
          <a:xfrm>
            <a:off x="4991100" y="4043363"/>
            <a:ext cx="1466850" cy="939800"/>
            <a:chOff x="0" y="0"/>
            <a:chExt cx="924" cy="790"/>
          </a:xfrm>
        </p:grpSpPr>
        <p:sp>
          <p:nvSpPr>
            <p:cNvPr id="87124" name="Rectangle 155"/>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125" name="Text Box 156"/>
            <p:cNvSpPr txBox="1"/>
            <p:nvPr/>
          </p:nvSpPr>
          <p:spPr>
            <a:xfrm>
              <a:off x="0" y="480"/>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7126" name="Line 157"/>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7106" name="Group 169"/>
          <p:cNvGrpSpPr/>
          <p:nvPr/>
        </p:nvGrpSpPr>
        <p:grpSpPr>
          <a:xfrm>
            <a:off x="228600" y="1895475"/>
            <a:ext cx="8058150" cy="643733"/>
            <a:chOff x="0" y="0"/>
            <a:chExt cx="5616" cy="541"/>
          </a:xfrm>
        </p:grpSpPr>
        <p:sp>
          <p:nvSpPr>
            <p:cNvPr id="87119" name="Text Box 125"/>
            <p:cNvSpPr txBox="1"/>
            <p:nvPr/>
          </p:nvSpPr>
          <p:spPr>
            <a:xfrm>
              <a:off x="0" y="0"/>
              <a:ext cx="5616" cy="541"/>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第四步：对所有标</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小方格选择</a:t>
              </a:r>
              <a:r>
                <a:rPr lang="zh-CN" altLang="en-US" sz="1800" u="sng" dirty="0">
                  <a:solidFill>
                    <a:schemeClr val="tx1"/>
                  </a:solidFill>
                  <a:latin typeface="黑体" panose="02010609060101010101" pitchFamily="49" charset="-122"/>
                  <a:ea typeface="黑体" panose="02010609060101010101" pitchFamily="49" charset="-122"/>
                </a:rPr>
                <a:t>最小覆盖</a:t>
              </a:r>
              <a:r>
                <a:rPr lang="zh-CN" altLang="en-US" sz="1800" dirty="0">
                  <a:solidFill>
                    <a:schemeClr val="tx1"/>
                  </a:solidFill>
                  <a:latin typeface="黑体" panose="02010609060101010101" pitchFamily="49" charset="-122"/>
                  <a:ea typeface="黑体" panose="02010609060101010101" pitchFamily="49" charset="-122"/>
                </a:rPr>
                <a:t>，即得到反函数</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的</a:t>
              </a:r>
              <a:r>
                <a:rPr lang="zh-CN" altLang="en-US" sz="1800" dirty="0">
                  <a:solidFill>
                    <a:srgbClr val="FF0000"/>
                  </a:solidFill>
                  <a:latin typeface="黑体" panose="02010609060101010101" pitchFamily="49" charset="-122"/>
                  <a:ea typeface="黑体" panose="02010609060101010101" pitchFamily="49" charset="-122"/>
                </a:rPr>
                <a:t>最简与或式</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 +b +c = AB + AD + AC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120" name="Line 158"/>
            <p:cNvSpPr/>
            <p:nvPr/>
          </p:nvSpPr>
          <p:spPr>
            <a:xfrm>
              <a:off x="3560" y="285"/>
              <a:ext cx="122" cy="0"/>
            </a:xfrm>
            <a:prstGeom prst="line">
              <a:avLst/>
            </a:prstGeom>
            <a:ln w="9525" cap="flat" cmpd="sng">
              <a:solidFill>
                <a:schemeClr val="bg1"/>
              </a:solidFill>
              <a:prstDash val="solid"/>
              <a:headEnd type="none" w="med" len="med"/>
              <a:tailEnd type="none" w="med" len="med"/>
            </a:ln>
          </p:spPr>
        </p:sp>
        <p:sp>
          <p:nvSpPr>
            <p:cNvPr id="87121" name="Line 159"/>
            <p:cNvSpPr/>
            <p:nvPr/>
          </p:nvSpPr>
          <p:spPr>
            <a:xfrm>
              <a:off x="4073" y="285"/>
              <a:ext cx="122" cy="0"/>
            </a:xfrm>
            <a:prstGeom prst="line">
              <a:avLst/>
            </a:prstGeom>
            <a:ln w="9525" cap="flat" cmpd="sng">
              <a:solidFill>
                <a:schemeClr val="bg1"/>
              </a:solidFill>
              <a:prstDash val="solid"/>
              <a:headEnd type="none" w="med" len="med"/>
              <a:tailEnd type="none" w="med" len="med"/>
            </a:ln>
          </p:spPr>
        </p:sp>
        <p:sp>
          <p:nvSpPr>
            <p:cNvPr id="87122" name="Line 160"/>
            <p:cNvSpPr/>
            <p:nvPr/>
          </p:nvSpPr>
          <p:spPr>
            <a:xfrm>
              <a:off x="4598" y="285"/>
              <a:ext cx="122" cy="0"/>
            </a:xfrm>
            <a:prstGeom prst="line">
              <a:avLst/>
            </a:prstGeom>
            <a:ln w="9525" cap="flat" cmpd="sng">
              <a:solidFill>
                <a:schemeClr val="bg1"/>
              </a:solidFill>
              <a:prstDash val="solid"/>
              <a:headEnd type="none" w="med" len="med"/>
              <a:tailEnd type="none" w="med" len="med"/>
            </a:ln>
          </p:spPr>
        </p:sp>
        <p:sp>
          <p:nvSpPr>
            <p:cNvPr id="87123" name="Line 168"/>
            <p:cNvSpPr/>
            <p:nvPr/>
          </p:nvSpPr>
          <p:spPr>
            <a:xfrm flipV="1">
              <a:off x="2324" y="282"/>
              <a:ext cx="151" cy="0"/>
            </a:xfrm>
            <a:prstGeom prst="line">
              <a:avLst/>
            </a:prstGeom>
            <a:ln w="9525" cap="flat" cmpd="sng">
              <a:solidFill>
                <a:schemeClr val="bg1"/>
              </a:solidFill>
              <a:prstDash val="solid"/>
              <a:headEnd type="none" w="med" len="med"/>
              <a:tailEnd type="none" w="med" len="med"/>
            </a:ln>
          </p:spPr>
        </p:sp>
      </p:grpSp>
      <p:grpSp>
        <p:nvGrpSpPr>
          <p:cNvPr id="87107" name="Group 167"/>
          <p:cNvGrpSpPr/>
          <p:nvPr/>
        </p:nvGrpSpPr>
        <p:grpSpPr>
          <a:xfrm>
            <a:off x="214313" y="2517775"/>
            <a:ext cx="8643937" cy="757238"/>
            <a:chOff x="0" y="0"/>
            <a:chExt cx="5376" cy="635"/>
          </a:xfrm>
        </p:grpSpPr>
        <p:sp>
          <p:nvSpPr>
            <p:cNvPr id="87115" name="Text Box 126"/>
            <p:cNvSpPr txBox="1"/>
            <p:nvPr/>
          </p:nvSpPr>
          <p:spPr>
            <a:xfrm>
              <a:off x="0" y="0"/>
              <a:ext cx="5376" cy="635"/>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第五步：对反函数求反，即得到原函数的最简或与式。</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(A+B)(A+D)(A+C)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116" name="Line 163"/>
            <p:cNvSpPr/>
            <p:nvPr/>
          </p:nvSpPr>
          <p:spPr>
            <a:xfrm>
              <a:off x="1200" y="360"/>
              <a:ext cx="122" cy="0"/>
            </a:xfrm>
            <a:prstGeom prst="line">
              <a:avLst/>
            </a:prstGeom>
            <a:ln w="9525" cap="flat" cmpd="sng">
              <a:solidFill>
                <a:schemeClr val="bg1"/>
              </a:solidFill>
              <a:prstDash val="solid"/>
              <a:headEnd type="none" w="med" len="med"/>
              <a:tailEnd type="none" w="med" len="med"/>
            </a:ln>
          </p:spPr>
        </p:sp>
        <p:sp>
          <p:nvSpPr>
            <p:cNvPr id="87117" name="Line 164"/>
            <p:cNvSpPr/>
            <p:nvPr/>
          </p:nvSpPr>
          <p:spPr>
            <a:xfrm>
              <a:off x="1702" y="360"/>
              <a:ext cx="122" cy="0"/>
            </a:xfrm>
            <a:prstGeom prst="line">
              <a:avLst/>
            </a:prstGeom>
            <a:ln w="9525" cap="flat" cmpd="sng">
              <a:solidFill>
                <a:schemeClr val="bg1"/>
              </a:solidFill>
              <a:prstDash val="solid"/>
              <a:headEnd type="none" w="med" len="med"/>
              <a:tailEnd type="none" w="med" len="med"/>
            </a:ln>
          </p:spPr>
        </p:sp>
        <p:sp>
          <p:nvSpPr>
            <p:cNvPr id="87118" name="Line 165"/>
            <p:cNvSpPr/>
            <p:nvPr/>
          </p:nvSpPr>
          <p:spPr>
            <a:xfrm>
              <a:off x="2230" y="360"/>
              <a:ext cx="122" cy="0"/>
            </a:xfrm>
            <a:prstGeom prst="line">
              <a:avLst/>
            </a:prstGeom>
            <a:ln w="9525" cap="flat" cmpd="sng">
              <a:solidFill>
                <a:schemeClr val="bg1"/>
              </a:solidFill>
              <a:prstDash val="solid"/>
              <a:headEnd type="none" w="med" len="med"/>
              <a:tailEnd type="none" w="med" len="med"/>
            </a:ln>
          </p:spPr>
        </p:sp>
      </p:grpSp>
      <p:cxnSp>
        <p:nvCxnSpPr>
          <p:cNvPr id="87108" name="直接连接符 2"/>
          <p:cNvCxnSpPr/>
          <p:nvPr/>
        </p:nvCxnSpPr>
        <p:spPr>
          <a:xfrm>
            <a:off x="5405438" y="2235200"/>
            <a:ext cx="174625" cy="0"/>
          </a:xfrm>
          <a:prstGeom prst="line">
            <a:avLst/>
          </a:prstGeom>
          <a:ln w="19050" cap="flat" cmpd="sng">
            <a:solidFill>
              <a:srgbClr val="767171"/>
            </a:solidFill>
            <a:prstDash val="solid"/>
            <a:headEnd type="none" w="med" len="med"/>
            <a:tailEnd type="none" w="med" len="med"/>
          </a:ln>
        </p:spPr>
      </p:cxnSp>
      <p:cxnSp>
        <p:nvCxnSpPr>
          <p:cNvPr id="87109" name="直接连接符 43"/>
          <p:cNvCxnSpPr/>
          <p:nvPr/>
        </p:nvCxnSpPr>
        <p:spPr>
          <a:xfrm>
            <a:off x="5951538" y="2235200"/>
            <a:ext cx="174625" cy="0"/>
          </a:xfrm>
          <a:prstGeom prst="line">
            <a:avLst/>
          </a:prstGeom>
          <a:ln w="19050" cap="flat" cmpd="sng">
            <a:solidFill>
              <a:srgbClr val="767171"/>
            </a:solidFill>
            <a:prstDash val="solid"/>
            <a:headEnd type="none" w="med" len="med"/>
            <a:tailEnd type="none" w="med" len="med"/>
          </a:ln>
        </p:spPr>
      </p:cxnSp>
      <p:cxnSp>
        <p:nvCxnSpPr>
          <p:cNvPr id="87110" name="直接连接符 44"/>
          <p:cNvCxnSpPr/>
          <p:nvPr/>
        </p:nvCxnSpPr>
        <p:spPr>
          <a:xfrm>
            <a:off x="6557963" y="2227263"/>
            <a:ext cx="174625" cy="0"/>
          </a:xfrm>
          <a:prstGeom prst="line">
            <a:avLst/>
          </a:prstGeom>
          <a:ln w="19050" cap="flat" cmpd="sng">
            <a:solidFill>
              <a:srgbClr val="767171"/>
            </a:solidFill>
            <a:prstDash val="solid"/>
            <a:headEnd type="none" w="med" len="med"/>
            <a:tailEnd type="none" w="med" len="med"/>
          </a:ln>
        </p:spPr>
      </p:cxnSp>
      <p:cxnSp>
        <p:nvCxnSpPr>
          <p:cNvPr id="87111" name="直接连接符 45"/>
          <p:cNvCxnSpPr/>
          <p:nvPr/>
        </p:nvCxnSpPr>
        <p:spPr>
          <a:xfrm>
            <a:off x="2309813" y="2968625"/>
            <a:ext cx="174625" cy="0"/>
          </a:xfrm>
          <a:prstGeom prst="line">
            <a:avLst/>
          </a:prstGeom>
          <a:ln w="19050" cap="flat" cmpd="sng">
            <a:solidFill>
              <a:srgbClr val="767171"/>
            </a:solidFill>
            <a:prstDash val="solid"/>
            <a:headEnd type="none" w="med" len="med"/>
            <a:tailEnd type="none" w="med" len="med"/>
          </a:ln>
        </p:spPr>
      </p:cxnSp>
      <p:cxnSp>
        <p:nvCxnSpPr>
          <p:cNvPr id="87112" name="直接连接符 46"/>
          <p:cNvCxnSpPr/>
          <p:nvPr/>
        </p:nvCxnSpPr>
        <p:spPr>
          <a:xfrm>
            <a:off x="2863850" y="2968625"/>
            <a:ext cx="174625" cy="0"/>
          </a:xfrm>
          <a:prstGeom prst="line">
            <a:avLst/>
          </a:prstGeom>
          <a:ln w="19050" cap="flat" cmpd="sng">
            <a:solidFill>
              <a:srgbClr val="767171"/>
            </a:solidFill>
            <a:prstDash val="solid"/>
            <a:headEnd type="none" w="med" len="med"/>
            <a:tailEnd type="none" w="med" len="med"/>
          </a:ln>
        </p:spPr>
      </p:cxnSp>
      <p:cxnSp>
        <p:nvCxnSpPr>
          <p:cNvPr id="87113" name="直接连接符 47"/>
          <p:cNvCxnSpPr/>
          <p:nvPr/>
        </p:nvCxnSpPr>
        <p:spPr>
          <a:xfrm>
            <a:off x="3443288" y="2976563"/>
            <a:ext cx="174625" cy="0"/>
          </a:xfrm>
          <a:prstGeom prst="line">
            <a:avLst/>
          </a:prstGeom>
          <a:ln w="19050" cap="flat" cmpd="sng">
            <a:solidFill>
              <a:srgbClr val="767171"/>
            </a:solidFill>
            <a:prstDash val="solid"/>
            <a:headEnd type="none" w="med" len="med"/>
            <a:tailEnd type="none" w="med" len="med"/>
          </a:ln>
        </p:spPr>
      </p:cxnSp>
      <p:cxnSp>
        <p:nvCxnSpPr>
          <p:cNvPr id="87114" name="直接连接符 2"/>
          <p:cNvCxnSpPr/>
          <p:nvPr/>
        </p:nvCxnSpPr>
        <p:spPr>
          <a:xfrm>
            <a:off x="3797300" y="2235200"/>
            <a:ext cx="198438" cy="0"/>
          </a:xfrm>
          <a:prstGeom prst="line">
            <a:avLst/>
          </a:prstGeom>
          <a:ln w="15875" cap="flat" cmpd="sng">
            <a:solidFill>
              <a:srgbClr val="FF0000"/>
            </a:solidFill>
            <a:prstDash val="solid"/>
            <a:headEnd type="none" w="med" len="med"/>
            <a:tailEnd type="none" w="med" len="med"/>
          </a:ln>
        </p:spPr>
      </p:cxnSp>
      <p:sp>
        <p:nvSpPr>
          <p:cNvPr id="2" name="矩形标注 1"/>
          <p:cNvSpPr/>
          <p:nvPr/>
        </p:nvSpPr>
        <p:spPr>
          <a:xfrm>
            <a:off x="1765300" y="3750310"/>
            <a:ext cx="1858645" cy="723900"/>
          </a:xfrm>
          <a:prstGeom prst="wedgeRectCallout">
            <a:avLst>
              <a:gd name="adj1" fmla="val 142620"/>
              <a:gd name="adj2" fmla="val -50263"/>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同学们求出</a:t>
            </a:r>
            <a:r>
              <a:rPr kumimoji="0" lang="en-US" altLang="zh-CN"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F</a:t>
            </a:r>
            <a:r>
              <a:rPr kumimoji="0" lang="en-US" altLang="zh-CN" sz="2000" b="1" i="0" baseline="-25000" smtClean="0">
                <a:ln>
                  <a:noFill/>
                </a:ln>
                <a:solidFill>
                  <a:srgbClr val="FFFF00"/>
                </a:solidFill>
                <a:effectLst/>
                <a:highlight>
                  <a:srgbClr val="0000FF"/>
                </a:highlight>
                <a:uFillTx/>
                <a:latin typeface="Calibri" panose="020F0502020204030204" pitchFamily="34" charset="0"/>
                <a:ea typeface="宋体" panose="02010600030101010101" pitchFamily="2" charset="-122"/>
              </a:rPr>
              <a:t>1</a:t>
            </a:r>
            <a:r>
              <a:rPr kumimoji="0" lang="zh-CN" altLang="en-US"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的最简与或式？</a:t>
            </a:r>
            <a:endParaRPr kumimoji="0" lang="zh-CN" altLang="en-US"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806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8068" name="Rectangle 2"/>
          <p:cNvSpPr>
            <a:spLocks noGrp="1"/>
          </p:cNvSpPr>
          <p:nvPr>
            <p:ph type="title"/>
          </p:nvPr>
        </p:nvSpPr>
        <p:spPr>
          <a:xfrm>
            <a:off x="212725" y="500063"/>
            <a:ext cx="8534400" cy="466725"/>
          </a:xfrm>
          <a:prstGeom prst="rect">
            <a:avLst/>
          </a:prstGeom>
          <a:noFill/>
          <a:ln w="9525">
            <a:noFill/>
          </a:ln>
        </p:spPr>
        <p:txBody>
          <a:bodyPr/>
          <a:p>
            <a:pPr eaLnBrk="1" hangingPunct="1">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同一函数的对应的（</a:t>
            </a:r>
            <a:r>
              <a:rPr lang="zh-CN" altLang="en-US" sz="1800" b="1" dirty="0">
                <a:latin typeface="黑体" panose="02010609060101010101" pitchFamily="49" charset="-122"/>
                <a:ea typeface="黑体" panose="02010609060101010101" pitchFamily="49" charset="-122"/>
              </a:rPr>
              <a:t>门）电路比较</a:t>
            </a:r>
            <a:endParaRPr lang="zh-CN" altLang="en-US" sz="1800" b="1" dirty="0">
              <a:latin typeface="黑体" panose="02010609060101010101" pitchFamily="49" charset="-122"/>
              <a:ea typeface="黑体" panose="02010609060101010101" pitchFamily="49" charset="-122"/>
            </a:endParaRPr>
          </a:p>
        </p:txBody>
      </p:sp>
      <p:sp>
        <p:nvSpPr>
          <p:cNvPr id="88069" name="Rectangle 3"/>
          <p:cNvSpPr>
            <a:spLocks noGrp="1"/>
          </p:cNvSpPr>
          <p:nvPr>
            <p:ph/>
          </p:nvPr>
        </p:nvSpPr>
        <p:spPr>
          <a:xfrm>
            <a:off x="366713" y="846138"/>
            <a:ext cx="6553200" cy="40005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例：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的卡诺图表示如右图</a:t>
            </a:r>
            <a:r>
              <a:rPr lang="zh-CN" altLang="en-US" sz="1800" dirty="0">
                <a:latin typeface="黑体" panose="02010609060101010101" pitchFamily="49" charset="-122"/>
                <a:ea typeface="黑体" panose="02010609060101010101" pitchFamily="49" charset="-122"/>
              </a:rPr>
              <a:t>所示：</a:t>
            </a:r>
            <a:endParaRPr lang="zh-CN" altLang="en-US" sz="1800" dirty="0">
              <a:latin typeface="黑体" panose="02010609060101010101" pitchFamily="49" charset="-122"/>
              <a:ea typeface="黑体" panose="02010609060101010101" pitchFamily="49" charset="-122"/>
            </a:endParaRPr>
          </a:p>
        </p:txBody>
      </p:sp>
      <p:grpSp>
        <p:nvGrpSpPr>
          <p:cNvPr id="88070" name="Group 42"/>
          <p:cNvGrpSpPr/>
          <p:nvPr/>
        </p:nvGrpSpPr>
        <p:grpSpPr>
          <a:xfrm>
            <a:off x="5486400" y="863600"/>
            <a:ext cx="1524000" cy="596900"/>
            <a:chOff x="0" y="0"/>
            <a:chExt cx="960" cy="502"/>
          </a:xfrm>
        </p:grpSpPr>
        <p:sp>
          <p:nvSpPr>
            <p:cNvPr id="88137" name="Line 43"/>
            <p:cNvSpPr/>
            <p:nvPr/>
          </p:nvSpPr>
          <p:spPr>
            <a:xfrm flipH="1" flipV="1">
              <a:off x="248" y="18"/>
              <a:ext cx="288" cy="240"/>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sp>
        <p:sp>
          <p:nvSpPr>
            <p:cNvPr id="88138" name="Text Box 44"/>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39" name="Text Box 45"/>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graphicFrame>
        <p:nvGraphicFramePr>
          <p:cNvPr id="86026" name="Group 10"/>
          <p:cNvGraphicFramePr>
            <a:graphicFrameLocks noGrp="1"/>
          </p:cNvGraphicFramePr>
          <p:nvPr/>
        </p:nvGraphicFramePr>
        <p:xfrm>
          <a:off x="6324600" y="114935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8098" name="Group 73"/>
          <p:cNvGrpSpPr/>
          <p:nvPr/>
        </p:nvGrpSpPr>
        <p:grpSpPr>
          <a:xfrm>
            <a:off x="5867400" y="1592263"/>
            <a:ext cx="1466850" cy="939800"/>
            <a:chOff x="0" y="0"/>
            <a:chExt cx="924" cy="790"/>
          </a:xfrm>
        </p:grpSpPr>
        <p:sp>
          <p:nvSpPr>
            <p:cNvPr id="88134" name="Rectangle 74"/>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35" name="Text Box 75"/>
            <p:cNvSpPr txBox="1"/>
            <p:nvPr/>
          </p:nvSpPr>
          <p:spPr>
            <a:xfrm>
              <a:off x="0" y="480"/>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8136" name="Line 76"/>
            <p:cNvSpPr/>
            <p:nvPr/>
          </p:nvSpPr>
          <p:spPr>
            <a:xfrm flipH="1">
              <a:off x="192" y="480"/>
              <a:ext cx="230" cy="96"/>
            </a:xfrm>
            <a:prstGeom prst="line">
              <a:avLst/>
            </a:prstGeom>
            <a:ln w="9525" cap="flat" cmpd="sng">
              <a:solidFill>
                <a:srgbClr val="767171"/>
              </a:solidFill>
              <a:prstDash val="solid"/>
              <a:headEnd type="none" w="med" len="med"/>
              <a:tailEnd type="none" w="med" len="med"/>
            </a:ln>
          </p:spPr>
        </p:sp>
      </p:grpSp>
      <p:grpSp>
        <p:nvGrpSpPr>
          <p:cNvPr id="88099" name="Group 77"/>
          <p:cNvGrpSpPr/>
          <p:nvPr/>
        </p:nvGrpSpPr>
        <p:grpSpPr>
          <a:xfrm>
            <a:off x="7010400" y="1235075"/>
            <a:ext cx="876935" cy="1783561"/>
            <a:chOff x="0" y="0"/>
            <a:chExt cx="546" cy="1499"/>
          </a:xfrm>
        </p:grpSpPr>
        <p:sp>
          <p:nvSpPr>
            <p:cNvPr id="88131" name="Rectangle 78"/>
            <p:cNvSpPr/>
            <p:nvPr/>
          </p:nvSpPr>
          <p:spPr>
            <a:xfrm>
              <a:off x="0" y="0"/>
              <a:ext cx="226" cy="1104"/>
            </a:xfrm>
            <a:prstGeom prst="rect">
              <a:avLst/>
            </a:prstGeom>
            <a:noFill/>
            <a:ln w="9525" cap="flat" cmpd="sng">
              <a:solidFill>
                <a:srgbClr val="76717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32" name="Text Box 79"/>
            <p:cNvSpPr txBox="1"/>
            <p:nvPr/>
          </p:nvSpPr>
          <p:spPr>
            <a:xfrm>
              <a:off x="306" y="1189"/>
              <a:ext cx="240" cy="310"/>
            </a:xfrm>
            <a:prstGeom prst="rect">
              <a:avLst/>
            </a:prstGeom>
            <a:noFill/>
            <a:ln w="9525" cap="flat" cmpd="sng">
              <a:solidFill>
                <a:srgbClr val="000000"/>
              </a:solidFill>
              <a:prstDash val="solid"/>
              <a:miter/>
              <a:headEnd type="none" w="med" len="med"/>
              <a:tailEnd type="none" w="med" len="med"/>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8133" name="Line 80"/>
            <p:cNvSpPr/>
            <p:nvPr/>
          </p:nvSpPr>
          <p:spPr>
            <a:xfrm>
              <a:off x="215" y="1104"/>
              <a:ext cx="96" cy="144"/>
            </a:xfrm>
            <a:prstGeom prst="line">
              <a:avLst/>
            </a:prstGeom>
            <a:ln w="9525" cap="flat" cmpd="sng">
              <a:solidFill>
                <a:srgbClr val="767171"/>
              </a:solidFill>
              <a:prstDash val="solid"/>
              <a:headEnd type="none" w="med" len="med"/>
              <a:tailEnd type="none" w="med" len="med"/>
            </a:ln>
          </p:spPr>
        </p:sp>
      </p:grpSp>
      <p:grpSp>
        <p:nvGrpSpPr>
          <p:cNvPr id="88100" name="Group 81"/>
          <p:cNvGrpSpPr/>
          <p:nvPr/>
        </p:nvGrpSpPr>
        <p:grpSpPr>
          <a:xfrm>
            <a:off x="5829300" y="1981200"/>
            <a:ext cx="1466850" cy="938213"/>
            <a:chOff x="0" y="0"/>
            <a:chExt cx="924" cy="787"/>
          </a:xfrm>
        </p:grpSpPr>
        <p:sp>
          <p:nvSpPr>
            <p:cNvPr id="88128" name="Rectangle 82"/>
            <p:cNvSpPr/>
            <p:nvPr/>
          </p:nvSpPr>
          <p:spPr>
            <a:xfrm>
              <a:off x="372" y="0"/>
              <a:ext cx="552"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29" name="Text Box 83"/>
            <p:cNvSpPr txBox="1"/>
            <p:nvPr/>
          </p:nvSpPr>
          <p:spPr>
            <a:xfrm>
              <a:off x="0" y="480"/>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8130" name="Line 84"/>
            <p:cNvSpPr/>
            <p:nvPr/>
          </p:nvSpPr>
          <p:spPr>
            <a:xfrm flipH="1">
              <a:off x="192" y="480"/>
              <a:ext cx="204" cy="96"/>
            </a:xfrm>
            <a:prstGeom prst="line">
              <a:avLst/>
            </a:prstGeom>
            <a:ln w="9525" cap="flat" cmpd="sng">
              <a:solidFill>
                <a:srgbClr val="767171"/>
              </a:solidFill>
              <a:prstDash val="solid"/>
              <a:headEnd type="none" w="med" len="med"/>
              <a:tailEnd type="none" w="med" len="med"/>
            </a:ln>
          </p:spPr>
        </p:sp>
      </p:grpSp>
      <p:sp>
        <p:nvSpPr>
          <p:cNvPr id="88101" name="Rectangle 85"/>
          <p:cNvSpPr/>
          <p:nvPr/>
        </p:nvSpPr>
        <p:spPr>
          <a:xfrm>
            <a:off x="7543800" y="1206500"/>
            <a:ext cx="990600" cy="1314450"/>
          </a:xfrm>
          <a:prstGeom prst="rect">
            <a:avLst/>
          </a:prstGeom>
          <a:noFill/>
          <a:ln w="952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02" name="Oval 86"/>
          <p:cNvSpPr/>
          <p:nvPr/>
        </p:nvSpPr>
        <p:spPr>
          <a:xfrm>
            <a:off x="8116888" y="1222375"/>
            <a:ext cx="360362" cy="269875"/>
          </a:xfrm>
          <a:prstGeom prst="ellipse">
            <a:avLst/>
          </a:prstGeom>
          <a:noFill/>
          <a:ln w="9525" cap="flat" cmpd="sng">
            <a:solidFill>
              <a:srgbClr val="FF66FF"/>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03" name="Oval 87"/>
          <p:cNvSpPr/>
          <p:nvPr/>
        </p:nvSpPr>
        <p:spPr>
          <a:xfrm>
            <a:off x="6419850" y="1206500"/>
            <a:ext cx="360363" cy="269875"/>
          </a:xfrm>
          <a:prstGeom prst="ellipse">
            <a:avLst/>
          </a:prstGeom>
          <a:noFill/>
          <a:ln w="9525" cap="flat" cmpd="sng">
            <a:solidFill>
              <a:srgbClr val="FF66FF"/>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04" name="Line 88"/>
          <p:cNvSpPr/>
          <p:nvPr/>
        </p:nvSpPr>
        <p:spPr>
          <a:xfrm flipV="1">
            <a:off x="6781800" y="806450"/>
            <a:ext cx="1066800" cy="457200"/>
          </a:xfrm>
          <a:prstGeom prst="line">
            <a:avLst/>
          </a:prstGeom>
          <a:ln w="9525" cap="flat" cmpd="sng">
            <a:solidFill>
              <a:srgbClr val="767171"/>
            </a:solidFill>
            <a:prstDash val="solid"/>
            <a:headEnd type="none" w="med" len="med"/>
            <a:tailEnd type="none" w="med" len="med"/>
          </a:ln>
        </p:spPr>
      </p:sp>
      <p:sp>
        <p:nvSpPr>
          <p:cNvPr id="88105" name="Line 89"/>
          <p:cNvSpPr/>
          <p:nvPr/>
        </p:nvSpPr>
        <p:spPr>
          <a:xfrm>
            <a:off x="7848600" y="806450"/>
            <a:ext cx="381000" cy="400050"/>
          </a:xfrm>
          <a:prstGeom prst="line">
            <a:avLst/>
          </a:prstGeom>
          <a:ln w="9525" cap="flat" cmpd="sng">
            <a:solidFill>
              <a:srgbClr val="767171"/>
            </a:solidFill>
            <a:prstDash val="solid"/>
            <a:headEnd type="none" w="med" len="med"/>
            <a:tailEnd type="none" w="med" len="med"/>
          </a:ln>
        </p:spPr>
      </p:sp>
      <p:sp>
        <p:nvSpPr>
          <p:cNvPr id="88106" name="Text Box 90"/>
          <p:cNvSpPr txBox="1"/>
          <p:nvPr/>
        </p:nvSpPr>
        <p:spPr>
          <a:xfrm>
            <a:off x="7570788" y="771525"/>
            <a:ext cx="457200"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8107" name="Line 91"/>
          <p:cNvSpPr/>
          <p:nvPr/>
        </p:nvSpPr>
        <p:spPr>
          <a:xfrm>
            <a:off x="8257540" y="2494915"/>
            <a:ext cx="124460" cy="368935"/>
          </a:xfrm>
          <a:prstGeom prst="line">
            <a:avLst/>
          </a:prstGeom>
          <a:ln w="9525" cap="flat" cmpd="sng">
            <a:solidFill>
              <a:srgbClr val="767171"/>
            </a:solidFill>
            <a:prstDash val="solid"/>
            <a:headEnd type="none" w="med" len="med"/>
            <a:tailEnd type="none" w="med" len="med"/>
          </a:ln>
        </p:spPr>
      </p:sp>
      <p:sp>
        <p:nvSpPr>
          <p:cNvPr id="88108" name="Text Box 92"/>
          <p:cNvSpPr txBox="1"/>
          <p:nvPr/>
        </p:nvSpPr>
        <p:spPr>
          <a:xfrm>
            <a:off x="8305800" y="2578100"/>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e</a:t>
            </a:r>
            <a:endParaRPr lang="en-US" altLang="zh-CN" sz="1800" b="1" dirty="0">
              <a:solidFill>
                <a:schemeClr val="tx1"/>
              </a:solidFill>
              <a:latin typeface="黑体" panose="02010609060101010101" pitchFamily="49" charset="-122"/>
              <a:ea typeface="黑体" panose="02010609060101010101" pitchFamily="49" charset="-122"/>
            </a:endParaRPr>
          </a:p>
        </p:txBody>
      </p:sp>
      <p:grpSp>
        <p:nvGrpSpPr>
          <p:cNvPr id="88109" name="Group 185"/>
          <p:cNvGrpSpPr/>
          <p:nvPr/>
        </p:nvGrpSpPr>
        <p:grpSpPr>
          <a:xfrm>
            <a:off x="365125" y="1222375"/>
            <a:ext cx="5029200" cy="701675"/>
            <a:chOff x="0" y="0"/>
            <a:chExt cx="3168" cy="589"/>
          </a:xfrm>
        </p:grpSpPr>
        <p:grpSp>
          <p:nvGrpSpPr>
            <p:cNvPr id="88123" name="Group 98"/>
            <p:cNvGrpSpPr/>
            <p:nvPr/>
          </p:nvGrpSpPr>
          <p:grpSpPr>
            <a:xfrm>
              <a:off x="1788" y="36"/>
              <a:ext cx="1152" cy="0"/>
              <a:chOff x="0" y="0"/>
              <a:chExt cx="1152" cy="0"/>
            </a:xfrm>
          </p:grpSpPr>
          <p:sp>
            <p:nvSpPr>
              <p:cNvPr id="88125" name="Line 94"/>
              <p:cNvSpPr/>
              <p:nvPr/>
            </p:nvSpPr>
            <p:spPr>
              <a:xfrm>
                <a:off x="0" y="0"/>
                <a:ext cx="118" cy="0"/>
              </a:xfrm>
              <a:prstGeom prst="line">
                <a:avLst/>
              </a:prstGeom>
              <a:ln w="9525" cap="flat" cmpd="sng">
                <a:solidFill>
                  <a:schemeClr val="bg1"/>
                </a:solidFill>
                <a:prstDash val="solid"/>
                <a:headEnd type="none" w="med" len="med"/>
                <a:tailEnd type="none" w="med" len="med"/>
              </a:ln>
            </p:spPr>
          </p:sp>
          <p:sp>
            <p:nvSpPr>
              <p:cNvPr id="88126" name="Line 95"/>
              <p:cNvSpPr/>
              <p:nvPr/>
            </p:nvSpPr>
            <p:spPr>
              <a:xfrm>
                <a:off x="506" y="0"/>
                <a:ext cx="118" cy="0"/>
              </a:xfrm>
              <a:prstGeom prst="line">
                <a:avLst/>
              </a:prstGeom>
              <a:ln w="9525" cap="flat" cmpd="sng">
                <a:solidFill>
                  <a:schemeClr val="bg1"/>
                </a:solidFill>
                <a:prstDash val="solid"/>
                <a:headEnd type="none" w="med" len="med"/>
                <a:tailEnd type="none" w="med" len="med"/>
              </a:ln>
            </p:spPr>
          </p:sp>
          <p:sp>
            <p:nvSpPr>
              <p:cNvPr id="88127" name="Line 96"/>
              <p:cNvSpPr/>
              <p:nvPr/>
            </p:nvSpPr>
            <p:spPr>
              <a:xfrm>
                <a:off x="1034" y="0"/>
                <a:ext cx="118" cy="0"/>
              </a:xfrm>
              <a:prstGeom prst="line">
                <a:avLst/>
              </a:prstGeom>
              <a:ln w="9525" cap="flat" cmpd="sng">
                <a:solidFill>
                  <a:schemeClr val="bg1"/>
                </a:solidFill>
                <a:prstDash val="solid"/>
                <a:headEnd type="none" w="med" len="med"/>
                <a:tailEnd type="none" w="med" len="med"/>
              </a:ln>
            </p:spPr>
          </p:sp>
        </p:grpSp>
        <p:sp>
          <p:nvSpPr>
            <p:cNvPr id="88124" name="Text Box 184"/>
            <p:cNvSpPr txBox="1"/>
            <p:nvPr/>
          </p:nvSpPr>
          <p:spPr>
            <a:xfrm>
              <a:off x="0" y="0"/>
              <a:ext cx="3168" cy="589"/>
            </a:xfrm>
            <a:prstGeom prst="rect">
              <a:avLst/>
            </a:prstGeom>
            <a:noFill/>
            <a:ln w="9525">
              <a:noFill/>
            </a:ln>
          </p:spPr>
          <p:txBody>
            <a:bodyPr>
              <a:spAutoFit/>
            </a:bodyPr>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最简或与式：</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=(A+B)(A+D)(A+C)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对应的电路图（</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）所示；</a:t>
              </a:r>
              <a:endParaRPr lang="zh-CN" altLang="en-US" sz="1800" dirty="0">
                <a:solidFill>
                  <a:schemeClr val="tx1"/>
                </a:solidFill>
                <a:latin typeface="黑体" panose="02010609060101010101" pitchFamily="49" charset="-122"/>
                <a:ea typeface="黑体" panose="02010609060101010101" pitchFamily="49" charset="-122"/>
              </a:endParaRPr>
            </a:p>
          </p:txBody>
        </p:sp>
      </p:grpSp>
      <p:grpSp>
        <p:nvGrpSpPr>
          <p:cNvPr id="88110" name="Group 190"/>
          <p:cNvGrpSpPr/>
          <p:nvPr/>
        </p:nvGrpSpPr>
        <p:grpSpPr>
          <a:xfrm>
            <a:off x="373063" y="1943100"/>
            <a:ext cx="4343400" cy="700088"/>
            <a:chOff x="0" y="0"/>
            <a:chExt cx="2736" cy="589"/>
          </a:xfrm>
        </p:grpSpPr>
        <p:sp>
          <p:nvSpPr>
            <p:cNvPr id="88119" name="Text Box 93"/>
            <p:cNvSpPr txBox="1"/>
            <p:nvPr/>
          </p:nvSpPr>
          <p:spPr>
            <a:xfrm>
              <a:off x="0" y="0"/>
              <a:ext cx="2736" cy="589"/>
            </a:xfrm>
            <a:prstGeom prst="rect">
              <a:avLst/>
            </a:prstGeom>
            <a:noFill/>
            <a:ln w="9525">
              <a:noFill/>
            </a:ln>
          </p:spPr>
          <p:txBody>
            <a:bodyPr>
              <a:spAutoFit/>
            </a:bodyPr>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最简与或式：</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=A+BCD</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对应的电路图（</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）所示。</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20" name="Line 187"/>
            <p:cNvSpPr/>
            <p:nvPr/>
          </p:nvSpPr>
          <p:spPr>
            <a:xfrm>
              <a:off x="1711" y="36"/>
              <a:ext cx="113" cy="0"/>
            </a:xfrm>
            <a:prstGeom prst="line">
              <a:avLst/>
            </a:prstGeom>
            <a:ln w="9525" cap="flat" cmpd="sng">
              <a:solidFill>
                <a:schemeClr val="bg1"/>
              </a:solidFill>
              <a:prstDash val="solid"/>
              <a:headEnd type="none" w="med" len="med"/>
              <a:tailEnd type="none" w="med" len="med"/>
            </a:ln>
          </p:spPr>
        </p:sp>
        <p:sp>
          <p:nvSpPr>
            <p:cNvPr id="88121" name="Line 188"/>
            <p:cNvSpPr/>
            <p:nvPr/>
          </p:nvSpPr>
          <p:spPr>
            <a:xfrm>
              <a:off x="1858" y="36"/>
              <a:ext cx="113" cy="0"/>
            </a:xfrm>
            <a:prstGeom prst="line">
              <a:avLst/>
            </a:prstGeom>
            <a:ln w="9525" cap="flat" cmpd="sng">
              <a:solidFill>
                <a:schemeClr val="bg1"/>
              </a:solidFill>
              <a:prstDash val="solid"/>
              <a:headEnd type="none" w="med" len="med"/>
              <a:tailEnd type="none" w="med" len="med"/>
            </a:ln>
          </p:spPr>
        </p:sp>
        <p:sp>
          <p:nvSpPr>
            <p:cNvPr id="88122" name="Line 189"/>
            <p:cNvSpPr/>
            <p:nvPr/>
          </p:nvSpPr>
          <p:spPr>
            <a:xfrm>
              <a:off x="2002" y="36"/>
              <a:ext cx="113" cy="0"/>
            </a:xfrm>
            <a:prstGeom prst="line">
              <a:avLst/>
            </a:prstGeom>
            <a:ln w="9525" cap="flat" cmpd="sng">
              <a:solidFill>
                <a:schemeClr val="bg1"/>
              </a:solidFill>
              <a:prstDash val="solid"/>
              <a:headEnd type="none" w="med" len="med"/>
              <a:tailEnd type="none" w="med" len="med"/>
            </a:ln>
          </p:spPr>
        </p:sp>
      </p:grpSp>
      <p:cxnSp>
        <p:nvCxnSpPr>
          <p:cNvPr id="88111" name="直接连接符 2"/>
          <p:cNvCxnSpPr/>
          <p:nvPr/>
        </p:nvCxnSpPr>
        <p:spPr>
          <a:xfrm>
            <a:off x="2451100" y="1276350"/>
            <a:ext cx="138113" cy="0"/>
          </a:xfrm>
          <a:prstGeom prst="line">
            <a:avLst/>
          </a:prstGeom>
          <a:ln w="19050" cap="flat" cmpd="sng">
            <a:solidFill>
              <a:srgbClr val="767171"/>
            </a:solidFill>
            <a:prstDash val="solid"/>
            <a:headEnd type="none" w="med" len="med"/>
            <a:tailEnd type="none" w="med" len="med"/>
          </a:ln>
        </p:spPr>
      </p:cxnSp>
      <p:cxnSp>
        <p:nvCxnSpPr>
          <p:cNvPr id="88112" name="直接连接符 123"/>
          <p:cNvCxnSpPr/>
          <p:nvPr/>
        </p:nvCxnSpPr>
        <p:spPr>
          <a:xfrm>
            <a:off x="3021013" y="1276350"/>
            <a:ext cx="138112" cy="0"/>
          </a:xfrm>
          <a:prstGeom prst="line">
            <a:avLst/>
          </a:prstGeom>
          <a:ln w="19050" cap="flat" cmpd="sng">
            <a:solidFill>
              <a:srgbClr val="767171"/>
            </a:solidFill>
            <a:prstDash val="solid"/>
            <a:headEnd type="none" w="med" len="med"/>
            <a:tailEnd type="none" w="med" len="med"/>
          </a:ln>
        </p:spPr>
      </p:cxnSp>
      <p:cxnSp>
        <p:nvCxnSpPr>
          <p:cNvPr id="88113" name="直接连接符 124"/>
          <p:cNvCxnSpPr/>
          <p:nvPr/>
        </p:nvCxnSpPr>
        <p:spPr>
          <a:xfrm>
            <a:off x="3600450" y="1271588"/>
            <a:ext cx="138113" cy="0"/>
          </a:xfrm>
          <a:prstGeom prst="line">
            <a:avLst/>
          </a:prstGeom>
          <a:ln w="19050" cap="flat" cmpd="sng">
            <a:solidFill>
              <a:srgbClr val="767171"/>
            </a:solidFill>
            <a:prstDash val="solid"/>
            <a:headEnd type="none" w="med" len="med"/>
            <a:tailEnd type="none" w="med" len="med"/>
          </a:ln>
        </p:spPr>
      </p:cxnSp>
      <p:cxnSp>
        <p:nvCxnSpPr>
          <p:cNvPr id="88114" name="直接连接符 125"/>
          <p:cNvCxnSpPr/>
          <p:nvPr/>
        </p:nvCxnSpPr>
        <p:spPr>
          <a:xfrm>
            <a:off x="2300288" y="2005013"/>
            <a:ext cx="138112" cy="0"/>
          </a:xfrm>
          <a:prstGeom prst="line">
            <a:avLst/>
          </a:prstGeom>
          <a:ln w="19050" cap="flat" cmpd="sng">
            <a:solidFill>
              <a:srgbClr val="767171"/>
            </a:solidFill>
            <a:prstDash val="solid"/>
            <a:headEnd type="none" w="med" len="med"/>
            <a:tailEnd type="none" w="med" len="med"/>
          </a:ln>
        </p:spPr>
      </p:cxnSp>
      <p:cxnSp>
        <p:nvCxnSpPr>
          <p:cNvPr id="88115" name="直接连接符 126"/>
          <p:cNvCxnSpPr/>
          <p:nvPr/>
        </p:nvCxnSpPr>
        <p:spPr>
          <a:xfrm>
            <a:off x="2463800" y="2006600"/>
            <a:ext cx="138113" cy="0"/>
          </a:xfrm>
          <a:prstGeom prst="line">
            <a:avLst/>
          </a:prstGeom>
          <a:ln w="19050" cap="flat" cmpd="sng">
            <a:solidFill>
              <a:srgbClr val="767171"/>
            </a:solidFill>
            <a:prstDash val="solid"/>
            <a:headEnd type="none" w="med" len="med"/>
            <a:tailEnd type="none" w="med" len="med"/>
          </a:ln>
        </p:spPr>
      </p:cxnSp>
      <p:cxnSp>
        <p:nvCxnSpPr>
          <p:cNvPr id="88116" name="直接连接符 127"/>
          <p:cNvCxnSpPr/>
          <p:nvPr/>
        </p:nvCxnSpPr>
        <p:spPr>
          <a:xfrm>
            <a:off x="2620963" y="2008188"/>
            <a:ext cx="138112" cy="0"/>
          </a:xfrm>
          <a:prstGeom prst="line">
            <a:avLst/>
          </a:prstGeom>
          <a:ln w="19050" cap="flat" cmpd="sng">
            <a:solidFill>
              <a:srgbClr val="767171"/>
            </a:solidFill>
            <a:prstDash val="solid"/>
            <a:headEnd type="none" w="med" len="med"/>
            <a:tailEnd type="none" w="med" len="med"/>
          </a:ln>
        </p:spPr>
      </p:cxnSp>
      <p:pic>
        <p:nvPicPr>
          <p:cNvPr id="82997" name="Picture 74"/>
          <p:cNvPicPr>
            <a:picLocks noChangeAspect="1" noChangeArrowheads="1"/>
          </p:cNvPicPr>
          <p:nvPr/>
        </p:nvPicPr>
        <p:blipFill>
          <a:blip r:embed="rId1"/>
          <a:srcRect/>
          <a:stretch>
            <a:fillRect/>
          </a:stretch>
        </p:blipFill>
        <p:spPr bwMode="auto">
          <a:xfrm>
            <a:off x="1406525" y="2755900"/>
            <a:ext cx="2663825" cy="218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82998" name="Picture 75"/>
          <p:cNvPicPr>
            <a:picLocks noChangeAspect="1" noChangeArrowheads="1"/>
          </p:cNvPicPr>
          <p:nvPr/>
        </p:nvPicPr>
        <p:blipFill>
          <a:blip r:embed="rId2"/>
          <a:srcRect/>
          <a:stretch>
            <a:fillRect/>
          </a:stretch>
        </p:blipFill>
        <p:spPr bwMode="auto">
          <a:xfrm>
            <a:off x="4594225" y="3149600"/>
            <a:ext cx="2797175" cy="184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 name="矩形标注 1"/>
          <p:cNvSpPr/>
          <p:nvPr/>
        </p:nvSpPr>
        <p:spPr>
          <a:xfrm>
            <a:off x="4355465" y="1591945"/>
            <a:ext cx="1362075" cy="986155"/>
          </a:xfrm>
          <a:prstGeom prst="wedgeRectCallout">
            <a:avLst>
              <a:gd name="adj1" fmla="val 81282"/>
              <a:gd name="adj2" fmla="val -33502"/>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求出</a:t>
            </a:r>
            <a:r>
              <a:rPr kumimoji="0" lang="en-US" altLang="zh-CN"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F</a:t>
            </a:r>
            <a:r>
              <a:rPr kumimoji="0" lang="en-US" altLang="zh-CN" sz="2000" b="1" i="0" baseline="-25000" smtClean="0">
                <a:ln>
                  <a:noFill/>
                </a:ln>
                <a:solidFill>
                  <a:srgbClr val="FFFF00"/>
                </a:solidFill>
                <a:effectLst/>
                <a:highlight>
                  <a:srgbClr val="0000FF"/>
                </a:highlight>
                <a:uFillTx/>
                <a:latin typeface="Calibri" panose="020F0502020204030204" pitchFamily="34" charset="0"/>
                <a:ea typeface="宋体" panose="02010600030101010101" pitchFamily="2" charset="-122"/>
              </a:rPr>
              <a:t>1</a:t>
            </a:r>
            <a:r>
              <a:rPr kumimoji="0" lang="zh-CN" altLang="en-US"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的最简与或式？</a:t>
            </a:r>
            <a:endParaRPr kumimoji="0" lang="zh-CN" altLang="en-US"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070"/>
                                        </p:tgtEl>
                                        <p:attrNameLst>
                                          <p:attrName>style.visibility</p:attrName>
                                        </p:attrNameLst>
                                      </p:cBhvr>
                                      <p:to>
                                        <p:strVal val="visible"/>
                                      </p:to>
                                    </p:set>
                                    <p:animEffect transition="in" filter="fade">
                                      <p:cBhvr>
                                        <p:cTn id="7" dur="500"/>
                                        <p:tgtEl>
                                          <p:spTgt spid="88070"/>
                                        </p:tgtEl>
                                      </p:cBhvr>
                                    </p:animEffect>
                                  </p:childTnLst>
                                </p:cTn>
                              </p:par>
                              <p:par>
                                <p:cTn id="8" presetID="10" presetClass="entr" presetSubtype="0" fill="hold" nodeType="withEffect">
                                  <p:stCondLst>
                                    <p:cond delay="0"/>
                                  </p:stCondLst>
                                  <p:childTnLst>
                                    <p:set>
                                      <p:cBhvr>
                                        <p:cTn id="9" dur="1" fill="hold">
                                          <p:stCondLst>
                                            <p:cond delay="0"/>
                                          </p:stCondLst>
                                        </p:cTn>
                                        <p:tgtEl>
                                          <p:spTgt spid="86026"/>
                                        </p:tgtEl>
                                        <p:attrNameLst>
                                          <p:attrName>style.visibility</p:attrName>
                                        </p:attrNameLst>
                                      </p:cBhvr>
                                      <p:to>
                                        <p:strVal val="visible"/>
                                      </p:to>
                                    </p:set>
                                    <p:animEffect transition="in" filter="fade">
                                      <p:cBhvr>
                                        <p:cTn id="10" dur="500"/>
                                        <p:tgtEl>
                                          <p:spTgt spid="86026"/>
                                        </p:tgtEl>
                                      </p:cBhvr>
                                    </p:animEffect>
                                  </p:childTnLst>
                                </p:cTn>
                              </p:par>
                              <p:par>
                                <p:cTn id="11" presetID="10" presetClass="entr" presetSubtype="0" fill="hold" nodeType="withEffect">
                                  <p:stCondLst>
                                    <p:cond delay="0"/>
                                  </p:stCondLst>
                                  <p:childTnLst>
                                    <p:set>
                                      <p:cBhvr>
                                        <p:cTn id="12" dur="1" fill="hold">
                                          <p:stCondLst>
                                            <p:cond delay="0"/>
                                          </p:stCondLst>
                                        </p:cTn>
                                        <p:tgtEl>
                                          <p:spTgt spid="88098"/>
                                        </p:tgtEl>
                                        <p:attrNameLst>
                                          <p:attrName>style.visibility</p:attrName>
                                        </p:attrNameLst>
                                      </p:cBhvr>
                                      <p:to>
                                        <p:strVal val="visible"/>
                                      </p:to>
                                    </p:set>
                                    <p:animEffect transition="in" filter="fade">
                                      <p:cBhvr>
                                        <p:cTn id="13" dur="500"/>
                                        <p:tgtEl>
                                          <p:spTgt spid="88098"/>
                                        </p:tgtEl>
                                      </p:cBhvr>
                                    </p:animEffect>
                                  </p:childTnLst>
                                </p:cTn>
                              </p:par>
                              <p:par>
                                <p:cTn id="14" presetID="10" presetClass="entr" presetSubtype="0" fill="hold" nodeType="withEffect">
                                  <p:stCondLst>
                                    <p:cond delay="0"/>
                                  </p:stCondLst>
                                  <p:childTnLst>
                                    <p:set>
                                      <p:cBhvr>
                                        <p:cTn id="15" dur="1" fill="hold">
                                          <p:stCondLst>
                                            <p:cond delay="0"/>
                                          </p:stCondLst>
                                        </p:cTn>
                                        <p:tgtEl>
                                          <p:spTgt spid="88099"/>
                                        </p:tgtEl>
                                        <p:attrNameLst>
                                          <p:attrName>style.visibility</p:attrName>
                                        </p:attrNameLst>
                                      </p:cBhvr>
                                      <p:to>
                                        <p:strVal val="visible"/>
                                      </p:to>
                                    </p:set>
                                    <p:animEffect transition="in" filter="fade">
                                      <p:cBhvr>
                                        <p:cTn id="16" dur="500"/>
                                        <p:tgtEl>
                                          <p:spTgt spid="88099"/>
                                        </p:tgtEl>
                                      </p:cBhvr>
                                    </p:animEffect>
                                  </p:childTnLst>
                                </p:cTn>
                              </p:par>
                              <p:par>
                                <p:cTn id="17" presetID="10" presetClass="entr" presetSubtype="0" fill="hold" nodeType="withEffect">
                                  <p:stCondLst>
                                    <p:cond delay="0"/>
                                  </p:stCondLst>
                                  <p:childTnLst>
                                    <p:set>
                                      <p:cBhvr>
                                        <p:cTn id="18" dur="1" fill="hold">
                                          <p:stCondLst>
                                            <p:cond delay="0"/>
                                          </p:stCondLst>
                                        </p:cTn>
                                        <p:tgtEl>
                                          <p:spTgt spid="88100"/>
                                        </p:tgtEl>
                                        <p:attrNameLst>
                                          <p:attrName>style.visibility</p:attrName>
                                        </p:attrNameLst>
                                      </p:cBhvr>
                                      <p:to>
                                        <p:strVal val="visible"/>
                                      </p:to>
                                    </p:set>
                                    <p:animEffect transition="in" filter="fade">
                                      <p:cBhvr>
                                        <p:cTn id="19" dur="500"/>
                                        <p:tgtEl>
                                          <p:spTgt spid="8810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8101"/>
                                        </p:tgtEl>
                                        <p:attrNameLst>
                                          <p:attrName>style.visibility</p:attrName>
                                        </p:attrNameLst>
                                      </p:cBhvr>
                                      <p:to>
                                        <p:strVal val="visible"/>
                                      </p:to>
                                    </p:set>
                                    <p:animEffect transition="in" filter="fade">
                                      <p:cBhvr>
                                        <p:cTn id="22" dur="500"/>
                                        <p:tgtEl>
                                          <p:spTgt spid="8810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8102"/>
                                        </p:tgtEl>
                                        <p:attrNameLst>
                                          <p:attrName>style.visibility</p:attrName>
                                        </p:attrNameLst>
                                      </p:cBhvr>
                                      <p:to>
                                        <p:strVal val="visible"/>
                                      </p:to>
                                    </p:set>
                                    <p:animEffect transition="in" filter="fade">
                                      <p:cBhvr>
                                        <p:cTn id="25" dur="500"/>
                                        <p:tgtEl>
                                          <p:spTgt spid="8810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8103"/>
                                        </p:tgtEl>
                                        <p:attrNameLst>
                                          <p:attrName>style.visibility</p:attrName>
                                        </p:attrNameLst>
                                      </p:cBhvr>
                                      <p:to>
                                        <p:strVal val="visible"/>
                                      </p:to>
                                    </p:set>
                                    <p:animEffect transition="in" filter="fade">
                                      <p:cBhvr>
                                        <p:cTn id="28" dur="500"/>
                                        <p:tgtEl>
                                          <p:spTgt spid="88103"/>
                                        </p:tgtEl>
                                      </p:cBhvr>
                                    </p:animEffect>
                                  </p:childTnLst>
                                </p:cTn>
                              </p:par>
                              <p:par>
                                <p:cTn id="29" presetID="10" presetClass="entr" presetSubtype="0" fill="hold" nodeType="withEffect">
                                  <p:stCondLst>
                                    <p:cond delay="0"/>
                                  </p:stCondLst>
                                  <p:childTnLst>
                                    <p:set>
                                      <p:cBhvr>
                                        <p:cTn id="30" dur="1" fill="hold">
                                          <p:stCondLst>
                                            <p:cond delay="0"/>
                                          </p:stCondLst>
                                        </p:cTn>
                                        <p:tgtEl>
                                          <p:spTgt spid="88104"/>
                                        </p:tgtEl>
                                        <p:attrNameLst>
                                          <p:attrName>style.visibility</p:attrName>
                                        </p:attrNameLst>
                                      </p:cBhvr>
                                      <p:to>
                                        <p:strVal val="visible"/>
                                      </p:to>
                                    </p:set>
                                    <p:animEffect transition="in" filter="fade">
                                      <p:cBhvr>
                                        <p:cTn id="31" dur="500"/>
                                        <p:tgtEl>
                                          <p:spTgt spid="88104"/>
                                        </p:tgtEl>
                                      </p:cBhvr>
                                    </p:animEffect>
                                  </p:childTnLst>
                                </p:cTn>
                              </p:par>
                              <p:par>
                                <p:cTn id="32" presetID="10" presetClass="entr" presetSubtype="0" fill="hold" nodeType="withEffect">
                                  <p:stCondLst>
                                    <p:cond delay="0"/>
                                  </p:stCondLst>
                                  <p:childTnLst>
                                    <p:set>
                                      <p:cBhvr>
                                        <p:cTn id="33" dur="1" fill="hold">
                                          <p:stCondLst>
                                            <p:cond delay="0"/>
                                          </p:stCondLst>
                                        </p:cTn>
                                        <p:tgtEl>
                                          <p:spTgt spid="88105"/>
                                        </p:tgtEl>
                                        <p:attrNameLst>
                                          <p:attrName>style.visibility</p:attrName>
                                        </p:attrNameLst>
                                      </p:cBhvr>
                                      <p:to>
                                        <p:strVal val="visible"/>
                                      </p:to>
                                    </p:set>
                                    <p:animEffect transition="in" filter="fade">
                                      <p:cBhvr>
                                        <p:cTn id="34" dur="500"/>
                                        <p:tgtEl>
                                          <p:spTgt spid="8810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8106"/>
                                        </p:tgtEl>
                                        <p:attrNameLst>
                                          <p:attrName>style.visibility</p:attrName>
                                        </p:attrNameLst>
                                      </p:cBhvr>
                                      <p:to>
                                        <p:strVal val="visible"/>
                                      </p:to>
                                    </p:set>
                                    <p:animEffect transition="in" filter="fade">
                                      <p:cBhvr>
                                        <p:cTn id="37" dur="500"/>
                                        <p:tgtEl>
                                          <p:spTgt spid="88106"/>
                                        </p:tgtEl>
                                      </p:cBhvr>
                                    </p:animEffect>
                                  </p:childTnLst>
                                </p:cTn>
                              </p:par>
                              <p:par>
                                <p:cTn id="38" presetID="10" presetClass="entr" presetSubtype="0" fill="hold" nodeType="withEffect">
                                  <p:stCondLst>
                                    <p:cond delay="0"/>
                                  </p:stCondLst>
                                  <p:childTnLst>
                                    <p:set>
                                      <p:cBhvr>
                                        <p:cTn id="39" dur="1" fill="hold">
                                          <p:stCondLst>
                                            <p:cond delay="0"/>
                                          </p:stCondLst>
                                        </p:cTn>
                                        <p:tgtEl>
                                          <p:spTgt spid="88107"/>
                                        </p:tgtEl>
                                        <p:attrNameLst>
                                          <p:attrName>style.visibility</p:attrName>
                                        </p:attrNameLst>
                                      </p:cBhvr>
                                      <p:to>
                                        <p:strVal val="visible"/>
                                      </p:to>
                                    </p:set>
                                    <p:animEffect transition="in" filter="fade">
                                      <p:cBhvr>
                                        <p:cTn id="40" dur="500"/>
                                        <p:tgtEl>
                                          <p:spTgt spid="8810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8108"/>
                                        </p:tgtEl>
                                        <p:attrNameLst>
                                          <p:attrName>style.visibility</p:attrName>
                                        </p:attrNameLst>
                                      </p:cBhvr>
                                      <p:to>
                                        <p:strVal val="visible"/>
                                      </p:to>
                                    </p:set>
                                    <p:animEffect transition="in" filter="fade">
                                      <p:cBhvr>
                                        <p:cTn id="43" dur="500"/>
                                        <p:tgtEl>
                                          <p:spTgt spid="88108"/>
                                        </p:tgtEl>
                                      </p:cBhvr>
                                    </p:animEffect>
                                  </p:childTnLst>
                                </p:cTn>
                              </p:par>
                              <p:par>
                                <p:cTn id="44" presetID="10" presetClass="entr" presetSubtype="0" fill="hold" nodeType="withEffect">
                                  <p:stCondLst>
                                    <p:cond delay="0"/>
                                  </p:stCondLst>
                                  <p:childTnLst>
                                    <p:set>
                                      <p:cBhvr>
                                        <p:cTn id="45" dur="1" fill="hold">
                                          <p:stCondLst>
                                            <p:cond delay="0"/>
                                          </p:stCondLst>
                                        </p:cTn>
                                        <p:tgtEl>
                                          <p:spTgt spid="88109"/>
                                        </p:tgtEl>
                                        <p:attrNameLst>
                                          <p:attrName>style.visibility</p:attrName>
                                        </p:attrNameLst>
                                      </p:cBhvr>
                                      <p:to>
                                        <p:strVal val="visible"/>
                                      </p:to>
                                    </p:set>
                                    <p:animEffect transition="in" filter="fade">
                                      <p:cBhvr>
                                        <p:cTn id="46" dur="500"/>
                                        <p:tgtEl>
                                          <p:spTgt spid="88109"/>
                                        </p:tgtEl>
                                      </p:cBhvr>
                                    </p:animEffect>
                                  </p:childTnLst>
                                </p:cTn>
                              </p:par>
                              <p:par>
                                <p:cTn id="47" presetID="10" presetClass="entr" presetSubtype="0" fill="hold" nodeType="withEffect">
                                  <p:stCondLst>
                                    <p:cond delay="0"/>
                                  </p:stCondLst>
                                  <p:childTnLst>
                                    <p:set>
                                      <p:cBhvr>
                                        <p:cTn id="48" dur="1" fill="hold">
                                          <p:stCondLst>
                                            <p:cond delay="0"/>
                                          </p:stCondLst>
                                        </p:cTn>
                                        <p:tgtEl>
                                          <p:spTgt spid="88111"/>
                                        </p:tgtEl>
                                        <p:attrNameLst>
                                          <p:attrName>style.visibility</p:attrName>
                                        </p:attrNameLst>
                                      </p:cBhvr>
                                      <p:to>
                                        <p:strVal val="visible"/>
                                      </p:to>
                                    </p:set>
                                    <p:animEffect transition="in" filter="fade">
                                      <p:cBhvr>
                                        <p:cTn id="49" dur="500"/>
                                        <p:tgtEl>
                                          <p:spTgt spid="88111"/>
                                        </p:tgtEl>
                                      </p:cBhvr>
                                    </p:animEffect>
                                  </p:childTnLst>
                                </p:cTn>
                              </p:par>
                              <p:par>
                                <p:cTn id="50" presetID="10" presetClass="entr" presetSubtype="0" fill="hold" nodeType="withEffect">
                                  <p:stCondLst>
                                    <p:cond delay="0"/>
                                  </p:stCondLst>
                                  <p:childTnLst>
                                    <p:set>
                                      <p:cBhvr>
                                        <p:cTn id="51" dur="1" fill="hold">
                                          <p:stCondLst>
                                            <p:cond delay="0"/>
                                          </p:stCondLst>
                                        </p:cTn>
                                        <p:tgtEl>
                                          <p:spTgt spid="88112"/>
                                        </p:tgtEl>
                                        <p:attrNameLst>
                                          <p:attrName>style.visibility</p:attrName>
                                        </p:attrNameLst>
                                      </p:cBhvr>
                                      <p:to>
                                        <p:strVal val="visible"/>
                                      </p:to>
                                    </p:set>
                                    <p:animEffect transition="in" filter="fade">
                                      <p:cBhvr>
                                        <p:cTn id="52" dur="500"/>
                                        <p:tgtEl>
                                          <p:spTgt spid="88112"/>
                                        </p:tgtEl>
                                      </p:cBhvr>
                                    </p:animEffect>
                                  </p:childTnLst>
                                </p:cTn>
                              </p:par>
                              <p:par>
                                <p:cTn id="53" presetID="10" presetClass="entr" presetSubtype="0" fill="hold" nodeType="withEffect">
                                  <p:stCondLst>
                                    <p:cond delay="0"/>
                                  </p:stCondLst>
                                  <p:childTnLst>
                                    <p:set>
                                      <p:cBhvr>
                                        <p:cTn id="54" dur="1" fill="hold">
                                          <p:stCondLst>
                                            <p:cond delay="0"/>
                                          </p:stCondLst>
                                        </p:cTn>
                                        <p:tgtEl>
                                          <p:spTgt spid="88113"/>
                                        </p:tgtEl>
                                        <p:attrNameLst>
                                          <p:attrName>style.visibility</p:attrName>
                                        </p:attrNameLst>
                                      </p:cBhvr>
                                      <p:to>
                                        <p:strVal val="visible"/>
                                      </p:to>
                                    </p:set>
                                    <p:animEffect transition="in" filter="fade">
                                      <p:cBhvr>
                                        <p:cTn id="55" dur="500"/>
                                        <p:tgtEl>
                                          <p:spTgt spid="88113"/>
                                        </p:tgtEl>
                                      </p:cBhvr>
                                    </p:animEffect>
                                  </p:childTnLst>
                                </p:cTn>
                              </p:par>
                              <p:par>
                                <p:cTn id="56" presetID="10" presetClass="entr" presetSubtype="0" fill="hold" nodeType="withEffect">
                                  <p:stCondLst>
                                    <p:cond delay="0"/>
                                  </p:stCondLst>
                                  <p:childTnLst>
                                    <p:set>
                                      <p:cBhvr>
                                        <p:cTn id="57" dur="1" fill="hold">
                                          <p:stCondLst>
                                            <p:cond delay="0"/>
                                          </p:stCondLst>
                                        </p:cTn>
                                        <p:tgtEl>
                                          <p:spTgt spid="82997"/>
                                        </p:tgtEl>
                                        <p:attrNameLst>
                                          <p:attrName>style.visibility</p:attrName>
                                        </p:attrNameLst>
                                      </p:cBhvr>
                                      <p:to>
                                        <p:strVal val="visible"/>
                                      </p:to>
                                    </p:set>
                                    <p:animEffect transition="in" filter="fade">
                                      <p:cBhvr>
                                        <p:cTn id="58" dur="500"/>
                                        <p:tgtEl>
                                          <p:spTgt spid="82997"/>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9"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 calcmode="lin" valueType="num">
                                      <p:cBhvr additive="base">
                                        <p:cTn id="63" dur="500" fill="hold"/>
                                        <p:tgtEl>
                                          <p:spTgt spid="2"/>
                                        </p:tgtEl>
                                        <p:attrNameLst>
                                          <p:attrName>ppt_x</p:attrName>
                                        </p:attrNameLst>
                                      </p:cBhvr>
                                      <p:tavLst>
                                        <p:tav tm="0">
                                          <p:val>
                                            <p:strVal val="0-#ppt_w/2"/>
                                          </p:val>
                                        </p:tav>
                                        <p:tav tm="100000">
                                          <p:val>
                                            <p:strVal val="#ppt_x"/>
                                          </p:val>
                                        </p:tav>
                                      </p:tavLst>
                                    </p:anim>
                                    <p:anim calcmode="lin" valueType="num">
                                      <p:cBhvr additive="base">
                                        <p:cTn id="6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88110"/>
                                        </p:tgtEl>
                                        <p:attrNameLst>
                                          <p:attrName>style.visibility</p:attrName>
                                        </p:attrNameLst>
                                      </p:cBhvr>
                                      <p:to>
                                        <p:strVal val="visible"/>
                                      </p:to>
                                    </p:set>
                                    <p:animEffect transition="in" filter="fade">
                                      <p:cBhvr>
                                        <p:cTn id="69" dur="500"/>
                                        <p:tgtEl>
                                          <p:spTgt spid="88110"/>
                                        </p:tgtEl>
                                      </p:cBhvr>
                                    </p:animEffect>
                                  </p:childTnLst>
                                </p:cTn>
                              </p:par>
                              <p:par>
                                <p:cTn id="70" presetID="10" presetClass="entr" presetSubtype="0" fill="hold" nodeType="withEffect">
                                  <p:stCondLst>
                                    <p:cond delay="0"/>
                                  </p:stCondLst>
                                  <p:childTnLst>
                                    <p:set>
                                      <p:cBhvr>
                                        <p:cTn id="71" dur="1" fill="hold">
                                          <p:stCondLst>
                                            <p:cond delay="0"/>
                                          </p:stCondLst>
                                        </p:cTn>
                                        <p:tgtEl>
                                          <p:spTgt spid="88114"/>
                                        </p:tgtEl>
                                        <p:attrNameLst>
                                          <p:attrName>style.visibility</p:attrName>
                                        </p:attrNameLst>
                                      </p:cBhvr>
                                      <p:to>
                                        <p:strVal val="visible"/>
                                      </p:to>
                                    </p:set>
                                    <p:animEffect transition="in" filter="fade">
                                      <p:cBhvr>
                                        <p:cTn id="72" dur="500"/>
                                        <p:tgtEl>
                                          <p:spTgt spid="88114"/>
                                        </p:tgtEl>
                                      </p:cBhvr>
                                    </p:animEffect>
                                  </p:childTnLst>
                                </p:cTn>
                              </p:par>
                              <p:par>
                                <p:cTn id="73" presetID="10" presetClass="entr" presetSubtype="0" fill="hold" nodeType="withEffect">
                                  <p:stCondLst>
                                    <p:cond delay="0"/>
                                  </p:stCondLst>
                                  <p:childTnLst>
                                    <p:set>
                                      <p:cBhvr>
                                        <p:cTn id="74" dur="1" fill="hold">
                                          <p:stCondLst>
                                            <p:cond delay="0"/>
                                          </p:stCondLst>
                                        </p:cTn>
                                        <p:tgtEl>
                                          <p:spTgt spid="88115"/>
                                        </p:tgtEl>
                                        <p:attrNameLst>
                                          <p:attrName>style.visibility</p:attrName>
                                        </p:attrNameLst>
                                      </p:cBhvr>
                                      <p:to>
                                        <p:strVal val="visible"/>
                                      </p:to>
                                    </p:set>
                                    <p:animEffect transition="in" filter="fade">
                                      <p:cBhvr>
                                        <p:cTn id="75" dur="500"/>
                                        <p:tgtEl>
                                          <p:spTgt spid="88115"/>
                                        </p:tgtEl>
                                      </p:cBhvr>
                                    </p:animEffect>
                                  </p:childTnLst>
                                </p:cTn>
                              </p:par>
                              <p:par>
                                <p:cTn id="76" presetID="10" presetClass="entr" presetSubtype="0" fill="hold" nodeType="withEffect">
                                  <p:stCondLst>
                                    <p:cond delay="0"/>
                                  </p:stCondLst>
                                  <p:childTnLst>
                                    <p:set>
                                      <p:cBhvr>
                                        <p:cTn id="77" dur="1" fill="hold">
                                          <p:stCondLst>
                                            <p:cond delay="0"/>
                                          </p:stCondLst>
                                        </p:cTn>
                                        <p:tgtEl>
                                          <p:spTgt spid="88116"/>
                                        </p:tgtEl>
                                        <p:attrNameLst>
                                          <p:attrName>style.visibility</p:attrName>
                                        </p:attrNameLst>
                                      </p:cBhvr>
                                      <p:to>
                                        <p:strVal val="visible"/>
                                      </p:to>
                                    </p:set>
                                    <p:animEffect transition="in" filter="fade">
                                      <p:cBhvr>
                                        <p:cTn id="78" dur="500"/>
                                        <p:tgtEl>
                                          <p:spTgt spid="88116"/>
                                        </p:tgtEl>
                                      </p:cBhvr>
                                    </p:animEffect>
                                  </p:childTnLst>
                                </p:cTn>
                              </p:par>
                              <p:par>
                                <p:cTn id="79" presetID="10" presetClass="entr" presetSubtype="0" fill="hold" nodeType="withEffect">
                                  <p:stCondLst>
                                    <p:cond delay="0"/>
                                  </p:stCondLst>
                                  <p:childTnLst>
                                    <p:set>
                                      <p:cBhvr>
                                        <p:cTn id="80" dur="1" fill="hold">
                                          <p:stCondLst>
                                            <p:cond delay="0"/>
                                          </p:stCondLst>
                                        </p:cTn>
                                        <p:tgtEl>
                                          <p:spTgt spid="82998"/>
                                        </p:tgtEl>
                                        <p:attrNameLst>
                                          <p:attrName>style.visibility</p:attrName>
                                        </p:attrNameLst>
                                      </p:cBhvr>
                                      <p:to>
                                        <p:strVal val="visible"/>
                                      </p:to>
                                    </p:set>
                                    <p:animEffect transition="in" filter="fade">
                                      <p:cBhvr>
                                        <p:cTn id="81" dur="500"/>
                                        <p:tgtEl>
                                          <p:spTgt spid="82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01" grpId="0" animBg="1"/>
      <p:bldP spid="88102" grpId="0" animBg="1"/>
      <p:bldP spid="88103" grpId="0" animBg="1"/>
      <p:bldP spid="88106" grpId="0"/>
      <p:bldP spid="88108" grpId="0"/>
      <p:bldP spid="2" grpId="0" animBg="1"/>
      <p:bldP spid="2"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909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9092" name="Rectangle 3"/>
          <p:cNvSpPr>
            <a:spLocks noGrp="1"/>
          </p:cNvSpPr>
          <p:nvPr>
            <p:ph type="title"/>
          </p:nvPr>
        </p:nvSpPr>
        <p:spPr>
          <a:xfrm>
            <a:off x="400050" y="688975"/>
            <a:ext cx="7772400" cy="51435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比较上述两种电路</a:t>
            </a:r>
            <a:endParaRPr lang="zh-CN" altLang="en-US" sz="1800" b="1" dirty="0">
              <a:latin typeface="黑体" panose="02010609060101010101" pitchFamily="49" charset="-122"/>
              <a:ea typeface="黑体" panose="02010609060101010101" pitchFamily="49" charset="-122"/>
            </a:endParaRPr>
          </a:p>
        </p:txBody>
      </p:sp>
      <p:sp>
        <p:nvSpPr>
          <p:cNvPr id="89093" name="Rectangle 4"/>
          <p:cNvSpPr>
            <a:spLocks noGrp="1"/>
          </p:cNvSpPr>
          <p:nvPr>
            <p:ph/>
          </p:nvPr>
        </p:nvSpPr>
        <p:spPr>
          <a:xfrm>
            <a:off x="228600" y="1060450"/>
            <a:ext cx="7656513" cy="790575"/>
          </a:xfrm>
          <a:prstGeom prst="rect">
            <a:avLst/>
          </a:prstGeom>
          <a:noFill/>
          <a:ln w="9525">
            <a:noFill/>
          </a:ln>
        </p:spPr>
        <p:txBody>
          <a:bodyPr/>
          <a:p>
            <a:pPr marL="0" indent="0" eaLnBrk="1" hangingPunct="1">
              <a:buNone/>
            </a:pPr>
            <a:r>
              <a:rPr lang="zh-CN" altLang="en-US" sz="1800" dirty="0">
                <a:latin typeface="黑体" panose="02010609060101010101" pitchFamily="49" charset="-122"/>
                <a:ea typeface="黑体" panose="02010609060101010101" pitchFamily="49" charset="-122"/>
              </a:rPr>
              <a:t>  图</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比图</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少用两个门，如果电路可任选，则应优先选用图</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电路；</a:t>
            </a:r>
            <a:endParaRPr lang="en-US" altLang="zh-CN" sz="1800" dirty="0">
              <a:latin typeface="黑体" panose="02010609060101010101" pitchFamily="49" charset="-122"/>
              <a:ea typeface="黑体" panose="02010609060101010101" pitchFamily="49" charset="-122"/>
            </a:endParaRPr>
          </a:p>
          <a:p>
            <a:pPr marL="0" indent="0" eaLnBrk="1" hangingPunct="1">
              <a:buNone/>
            </a:pPr>
            <a:r>
              <a:rPr lang="zh-CN" altLang="en-US" sz="1800" dirty="0">
                <a:latin typeface="黑体" panose="02010609060101010101" pitchFamily="49" charset="-122"/>
                <a:ea typeface="黑体" panose="02010609060101010101" pitchFamily="49" charset="-122"/>
              </a:rPr>
              <a:t>  这两种电路形式上看都是</a:t>
            </a:r>
            <a:r>
              <a:rPr lang="zh-CN" altLang="en-US" sz="1800" dirty="0">
                <a:solidFill>
                  <a:srgbClr val="FF0000"/>
                </a:solidFill>
                <a:latin typeface="黑体" panose="02010609060101010101" pitchFamily="49" charset="-122"/>
                <a:ea typeface="黑体" panose="02010609060101010101" pitchFamily="49" charset="-122"/>
              </a:rPr>
              <a:t>三级</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sp>
        <p:nvSpPr>
          <p:cNvPr id="89094" name="矩形 1"/>
          <p:cNvSpPr/>
          <p:nvPr/>
        </p:nvSpPr>
        <p:spPr>
          <a:xfrm>
            <a:off x="468313" y="1781175"/>
            <a:ext cx="7015162" cy="646113"/>
          </a:xfrm>
          <a:prstGeom prst="rect">
            <a:avLst/>
          </a:prstGeom>
          <a:noFill/>
          <a:ln w="9525">
            <a:noFill/>
          </a:ln>
        </p:spPr>
        <p:txBody>
          <a:bodyPr>
            <a:spAutoFit/>
          </a:bodyPr>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如果能用输入端为非的与门，则图</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可转换成</a:t>
            </a:r>
            <a:r>
              <a:rPr lang="zh-CN" altLang="en-US" sz="1800" dirty="0">
                <a:solidFill>
                  <a:srgbClr val="FF0000"/>
                </a:solidFill>
                <a:latin typeface="黑体" panose="02010609060101010101" pitchFamily="49" charset="-122"/>
                <a:ea typeface="黑体" panose="02010609060101010101" pitchFamily="49" charset="-122"/>
              </a:rPr>
              <a:t>二级</a:t>
            </a:r>
            <a:r>
              <a:rPr lang="zh-CN" altLang="en-US" sz="1800" dirty="0">
                <a:solidFill>
                  <a:schemeClr val="tx1"/>
                </a:solidFill>
                <a:latin typeface="黑体" panose="02010609060101010101" pitchFamily="49" charset="-122"/>
                <a:ea typeface="黑体" panose="02010609060101010101" pitchFamily="49" charset="-122"/>
              </a:rPr>
              <a:t>电路，</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F1= A+BCD</a:t>
            </a:r>
            <a:r>
              <a:rPr lang="zh-CN" altLang="en-US" sz="1800" dirty="0">
                <a:solidFill>
                  <a:schemeClr val="tx1"/>
                </a:solidFill>
                <a:latin typeface="黑体" panose="02010609060101010101" pitchFamily="49" charset="-122"/>
                <a:ea typeface="黑体" panose="02010609060101010101" pitchFamily="49" charset="-122"/>
              </a:rPr>
              <a:t>，如图</a:t>
            </a:r>
            <a:r>
              <a:rPr lang="en-US" altLang="zh-CN" sz="1800" dirty="0">
                <a:solidFill>
                  <a:schemeClr val="tx1"/>
                </a:solidFill>
                <a:latin typeface="黑体" panose="02010609060101010101" pitchFamily="49" charset="-122"/>
                <a:ea typeface="黑体" panose="02010609060101010101" pitchFamily="49" charset="-122"/>
              </a:rPr>
              <a:t>( c )</a:t>
            </a:r>
            <a:r>
              <a:rPr lang="zh-CN" altLang="en-US" sz="1800" dirty="0">
                <a:solidFill>
                  <a:schemeClr val="tx1"/>
                </a:solidFill>
                <a:latin typeface="黑体" panose="02010609060101010101" pitchFamily="49" charset="-122"/>
                <a:ea typeface="黑体" panose="02010609060101010101" pitchFamily="49" charset="-122"/>
              </a:rPr>
              <a:t>所示；</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9095" name="Text Box 55"/>
          <p:cNvSpPr txBox="1"/>
          <p:nvPr/>
        </p:nvSpPr>
        <p:spPr>
          <a:xfrm>
            <a:off x="179388" y="2457450"/>
            <a:ext cx="7632700" cy="701675"/>
          </a:xfrm>
          <a:prstGeom prst="rect">
            <a:avLst/>
          </a:prstGeom>
          <a:noFill/>
          <a:ln w="9525">
            <a:noFill/>
          </a:ln>
        </p:spPr>
        <p:txBody>
          <a:bodyPr>
            <a:spAutoFit/>
          </a:bodyPr>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如果没有输入端为非的与门，可将</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的</a:t>
            </a:r>
            <a:r>
              <a:rPr lang="zh-CN" altLang="en-US" sz="1800" dirty="0">
                <a:solidFill>
                  <a:srgbClr val="FF0000"/>
                </a:solidFill>
                <a:latin typeface="黑体" panose="02010609060101010101" pitchFamily="49" charset="-122"/>
                <a:ea typeface="黑体" panose="02010609060101010101" pitchFamily="49" charset="-122"/>
              </a:rPr>
              <a:t>与或式</a:t>
            </a:r>
            <a:r>
              <a:rPr lang="zh-CN" altLang="en-US" sz="1800" dirty="0">
                <a:solidFill>
                  <a:schemeClr val="tx1"/>
                </a:solidFill>
                <a:latin typeface="黑体" panose="02010609060101010101" pitchFamily="49" charset="-122"/>
                <a:ea typeface="黑体" panose="02010609060101010101" pitchFamily="49" charset="-122"/>
              </a:rPr>
              <a:t>变换成</a:t>
            </a:r>
            <a:r>
              <a:rPr lang="zh-CN" altLang="en-US" sz="1800" dirty="0">
                <a:solidFill>
                  <a:srgbClr val="FF0000"/>
                </a:solidFill>
                <a:latin typeface="黑体" panose="02010609060101010101" pitchFamily="49" charset="-122"/>
                <a:ea typeface="黑体" panose="02010609060101010101" pitchFamily="49" charset="-122"/>
              </a:rPr>
              <a:t>或与式</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F</a:t>
            </a:r>
            <a:r>
              <a:rPr lang="en-US" altLang="zh-CN" sz="1800" b="1" baseline="-25000" dirty="0">
                <a:solidFill>
                  <a:schemeClr val="tx1"/>
                </a:solidFill>
                <a:latin typeface="黑体" panose="02010609060101010101" pitchFamily="49" charset="-122"/>
                <a:ea typeface="黑体" panose="02010609060101010101" pitchFamily="49" charset="-122"/>
              </a:rPr>
              <a:t>1</a:t>
            </a:r>
            <a:r>
              <a:rPr lang="en-US" altLang="zh-CN" sz="1800" b="1" dirty="0">
                <a:solidFill>
                  <a:schemeClr val="tx1"/>
                </a:solidFill>
                <a:latin typeface="黑体" panose="02010609060101010101" pitchFamily="49" charset="-122"/>
                <a:ea typeface="黑体" panose="02010609060101010101" pitchFamily="49" charset="-122"/>
              </a:rPr>
              <a:t>= A•(B+C+D)</a:t>
            </a:r>
            <a:r>
              <a:rPr lang="zh-CN" altLang="en-US" sz="1800" dirty="0">
                <a:solidFill>
                  <a:schemeClr val="tx1"/>
                </a:solidFill>
                <a:latin typeface="黑体" panose="02010609060101010101" pitchFamily="49" charset="-122"/>
                <a:ea typeface="黑体" panose="02010609060101010101" pitchFamily="49" charset="-122"/>
              </a:rPr>
              <a:t>，电路如图</a:t>
            </a:r>
            <a:r>
              <a:rPr lang="en-US" altLang="zh-CN" sz="1800" dirty="0">
                <a:solidFill>
                  <a:schemeClr val="tx1"/>
                </a:solidFill>
                <a:latin typeface="黑体" panose="02010609060101010101" pitchFamily="49" charset="-122"/>
                <a:ea typeface="黑体" panose="02010609060101010101" pitchFamily="49" charset="-122"/>
              </a:rPr>
              <a:t>(d)</a:t>
            </a:r>
            <a:r>
              <a:rPr lang="zh-CN" altLang="en-US" sz="1800" dirty="0">
                <a:solidFill>
                  <a:schemeClr val="tx1"/>
                </a:solidFill>
                <a:latin typeface="黑体" panose="02010609060101010101" pitchFamily="49" charset="-122"/>
                <a:ea typeface="黑体" panose="02010609060101010101" pitchFamily="49" charset="-122"/>
              </a:rPr>
              <a:t>所示。</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89096" name="直接连接符 3"/>
          <p:cNvCxnSpPr/>
          <p:nvPr/>
        </p:nvCxnSpPr>
        <p:spPr>
          <a:xfrm>
            <a:off x="1712913" y="2139950"/>
            <a:ext cx="65087" cy="0"/>
          </a:xfrm>
          <a:prstGeom prst="line">
            <a:avLst/>
          </a:prstGeom>
          <a:ln w="12700" cap="flat" cmpd="sng">
            <a:solidFill>
              <a:srgbClr val="767171"/>
            </a:solidFill>
            <a:prstDash val="solid"/>
            <a:headEnd type="none" w="med" len="med"/>
            <a:tailEnd type="none" w="med" len="med"/>
          </a:ln>
        </p:spPr>
      </p:cxnSp>
      <p:cxnSp>
        <p:nvCxnSpPr>
          <p:cNvPr id="89097" name="直接连接符 64"/>
          <p:cNvCxnSpPr/>
          <p:nvPr/>
        </p:nvCxnSpPr>
        <p:spPr>
          <a:xfrm>
            <a:off x="1857375" y="2139950"/>
            <a:ext cx="71438" cy="0"/>
          </a:xfrm>
          <a:prstGeom prst="line">
            <a:avLst/>
          </a:prstGeom>
          <a:ln w="12700" cap="flat" cmpd="sng">
            <a:solidFill>
              <a:srgbClr val="767171"/>
            </a:solidFill>
            <a:prstDash val="solid"/>
            <a:headEnd type="none" w="med" len="med"/>
            <a:tailEnd type="none" w="med" len="med"/>
          </a:ln>
        </p:spPr>
      </p:cxnSp>
      <p:cxnSp>
        <p:nvCxnSpPr>
          <p:cNvPr id="89098" name="直接连接符 65"/>
          <p:cNvCxnSpPr/>
          <p:nvPr/>
        </p:nvCxnSpPr>
        <p:spPr>
          <a:xfrm>
            <a:off x="1979613" y="2139950"/>
            <a:ext cx="71437" cy="0"/>
          </a:xfrm>
          <a:prstGeom prst="line">
            <a:avLst/>
          </a:prstGeom>
          <a:ln w="12700" cap="flat" cmpd="sng">
            <a:solidFill>
              <a:srgbClr val="767171"/>
            </a:solidFill>
            <a:prstDash val="solid"/>
            <a:headEnd type="none" w="med" len="med"/>
            <a:tailEnd type="none" w="med" len="med"/>
          </a:ln>
        </p:spPr>
      </p:cxnSp>
      <p:cxnSp>
        <p:nvCxnSpPr>
          <p:cNvPr id="89099" name="直接连接符 69"/>
          <p:cNvCxnSpPr/>
          <p:nvPr/>
        </p:nvCxnSpPr>
        <p:spPr>
          <a:xfrm>
            <a:off x="1374775" y="2873375"/>
            <a:ext cx="144463" cy="0"/>
          </a:xfrm>
          <a:prstGeom prst="line">
            <a:avLst/>
          </a:prstGeom>
          <a:ln w="19050" cap="flat" cmpd="sng">
            <a:solidFill>
              <a:srgbClr val="767171"/>
            </a:solidFill>
            <a:prstDash val="solid"/>
            <a:headEnd type="none" w="med" len="med"/>
            <a:tailEnd type="none" w="med" len="med"/>
          </a:ln>
        </p:spPr>
      </p:cxnSp>
      <p:cxnSp>
        <p:nvCxnSpPr>
          <p:cNvPr id="89100" name="直接连接符 72"/>
          <p:cNvCxnSpPr/>
          <p:nvPr/>
        </p:nvCxnSpPr>
        <p:spPr>
          <a:xfrm>
            <a:off x="1357313" y="2830513"/>
            <a:ext cx="1000125" cy="0"/>
          </a:xfrm>
          <a:prstGeom prst="line">
            <a:avLst/>
          </a:prstGeom>
          <a:ln w="19050" cap="flat" cmpd="sng">
            <a:solidFill>
              <a:srgbClr val="767171"/>
            </a:solidFill>
            <a:prstDash val="solid"/>
            <a:headEnd type="none" w="med" len="med"/>
            <a:tailEnd type="none" w="med" len="med"/>
          </a:ln>
        </p:spPr>
      </p:cxnSp>
      <p:pic>
        <p:nvPicPr>
          <p:cNvPr id="83981" name="Picture 13"/>
          <p:cNvPicPr>
            <a:picLocks noChangeAspect="1" noChangeArrowheads="1"/>
          </p:cNvPicPr>
          <p:nvPr/>
        </p:nvPicPr>
        <p:blipFill>
          <a:blip r:embed="rId1"/>
          <a:srcRect/>
          <a:stretch>
            <a:fillRect/>
          </a:stretch>
        </p:blipFill>
        <p:spPr bwMode="auto">
          <a:xfrm>
            <a:off x="1619250" y="3291840"/>
            <a:ext cx="2376488"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83982" name="Picture 14"/>
          <p:cNvPicPr>
            <a:picLocks noChangeAspect="1" noChangeArrowheads="1"/>
          </p:cNvPicPr>
          <p:nvPr/>
        </p:nvPicPr>
        <p:blipFill>
          <a:blip r:embed="rId2"/>
          <a:srcRect/>
          <a:stretch>
            <a:fillRect/>
          </a:stretch>
        </p:blipFill>
        <p:spPr bwMode="auto">
          <a:xfrm>
            <a:off x="4859338" y="3302000"/>
            <a:ext cx="2952750" cy="169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9095"/>
                                        </p:tgtEl>
                                        <p:attrNameLst>
                                          <p:attrName>style.visibility</p:attrName>
                                        </p:attrNameLst>
                                      </p:cBhvr>
                                      <p:to>
                                        <p:strVal val="visible"/>
                                      </p:to>
                                    </p:set>
                                    <p:animEffect transition="in" filter="fade">
                                      <p:cBhvr>
                                        <p:cTn id="7" dur="500"/>
                                        <p:tgtEl>
                                          <p:spTgt spid="89095"/>
                                        </p:tgtEl>
                                      </p:cBhvr>
                                    </p:animEffect>
                                  </p:childTnLst>
                                </p:cTn>
                              </p:par>
                              <p:par>
                                <p:cTn id="8" presetID="10" presetClass="entr" presetSubtype="0" fill="hold" nodeType="withEffect">
                                  <p:stCondLst>
                                    <p:cond delay="0"/>
                                  </p:stCondLst>
                                  <p:childTnLst>
                                    <p:set>
                                      <p:cBhvr>
                                        <p:cTn id="9" dur="1" fill="hold">
                                          <p:stCondLst>
                                            <p:cond delay="0"/>
                                          </p:stCondLst>
                                        </p:cTn>
                                        <p:tgtEl>
                                          <p:spTgt spid="89099"/>
                                        </p:tgtEl>
                                        <p:attrNameLst>
                                          <p:attrName>style.visibility</p:attrName>
                                        </p:attrNameLst>
                                      </p:cBhvr>
                                      <p:to>
                                        <p:strVal val="visible"/>
                                      </p:to>
                                    </p:set>
                                    <p:animEffect transition="in" filter="fade">
                                      <p:cBhvr>
                                        <p:cTn id="10" dur="500"/>
                                        <p:tgtEl>
                                          <p:spTgt spid="89099"/>
                                        </p:tgtEl>
                                      </p:cBhvr>
                                    </p:animEffect>
                                  </p:childTnLst>
                                </p:cTn>
                              </p:par>
                              <p:par>
                                <p:cTn id="11" presetID="10" presetClass="entr" presetSubtype="0" fill="hold" nodeType="withEffect">
                                  <p:stCondLst>
                                    <p:cond delay="0"/>
                                  </p:stCondLst>
                                  <p:childTnLst>
                                    <p:set>
                                      <p:cBhvr>
                                        <p:cTn id="12" dur="1" fill="hold">
                                          <p:stCondLst>
                                            <p:cond delay="0"/>
                                          </p:stCondLst>
                                        </p:cTn>
                                        <p:tgtEl>
                                          <p:spTgt spid="89100"/>
                                        </p:tgtEl>
                                        <p:attrNameLst>
                                          <p:attrName>style.visibility</p:attrName>
                                        </p:attrNameLst>
                                      </p:cBhvr>
                                      <p:to>
                                        <p:strVal val="visible"/>
                                      </p:to>
                                    </p:set>
                                    <p:animEffect transition="in" filter="fade">
                                      <p:cBhvr>
                                        <p:cTn id="13" dur="500"/>
                                        <p:tgtEl>
                                          <p:spTgt spid="89100"/>
                                        </p:tgtEl>
                                      </p:cBhvr>
                                    </p:animEffect>
                                  </p:childTnLst>
                                </p:cTn>
                              </p:par>
                              <p:par>
                                <p:cTn id="14" presetID="10" presetClass="entr" presetSubtype="0" fill="hold" nodeType="withEffect">
                                  <p:stCondLst>
                                    <p:cond delay="0"/>
                                  </p:stCondLst>
                                  <p:childTnLst>
                                    <p:set>
                                      <p:cBhvr>
                                        <p:cTn id="15" dur="1" fill="hold">
                                          <p:stCondLst>
                                            <p:cond delay="0"/>
                                          </p:stCondLst>
                                        </p:cTn>
                                        <p:tgtEl>
                                          <p:spTgt spid="83982"/>
                                        </p:tgtEl>
                                        <p:attrNameLst>
                                          <p:attrName>style.visibility</p:attrName>
                                        </p:attrNameLst>
                                      </p:cBhvr>
                                      <p:to>
                                        <p:strVal val="visible"/>
                                      </p:to>
                                    </p:set>
                                    <p:animEffect transition="in" filter="fade">
                                      <p:cBhvr>
                                        <p:cTn id="16" dur="500"/>
                                        <p:tgtEl>
                                          <p:spTgt spid="83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011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0116" name="Rectangle 3"/>
          <p:cNvSpPr>
            <a:spLocks noGrp="1"/>
          </p:cNvSpPr>
          <p:nvPr>
            <p:ph type="title"/>
          </p:nvPr>
        </p:nvSpPr>
        <p:spPr>
          <a:xfrm>
            <a:off x="641350" y="574675"/>
            <a:ext cx="8610600" cy="41275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3) </a:t>
            </a:r>
            <a:r>
              <a:rPr lang="zh-CN" altLang="en-US" sz="1800" b="1" dirty="0">
                <a:latin typeface="黑体" panose="02010609060101010101" pitchFamily="49" charset="-122"/>
                <a:ea typeface="黑体" panose="02010609060101010101" pitchFamily="49" charset="-122"/>
              </a:rPr>
              <a:t>利用无关项输入简化函数表达式</a:t>
            </a:r>
            <a:endParaRPr lang="zh-CN" altLang="en-US" sz="1800" b="1" dirty="0">
              <a:latin typeface="黑体" panose="02010609060101010101" pitchFamily="49" charset="-122"/>
              <a:ea typeface="黑体" panose="02010609060101010101" pitchFamily="49" charset="-122"/>
            </a:endParaRPr>
          </a:p>
        </p:txBody>
      </p:sp>
      <p:sp>
        <p:nvSpPr>
          <p:cNvPr id="88069" name="Rectangle 4"/>
          <p:cNvSpPr>
            <a:spLocks noGrp="1"/>
          </p:cNvSpPr>
          <p:nvPr>
            <p:ph/>
          </p:nvPr>
        </p:nvSpPr>
        <p:spPr>
          <a:xfrm>
            <a:off x="827405" y="1014095"/>
            <a:ext cx="7367905" cy="765810"/>
          </a:xfrm>
          <a:prstGeom prst="rect">
            <a:avLst/>
          </a:prstGeom>
          <a:noFill/>
          <a:ln w="9525">
            <a:noFill/>
          </a:ln>
        </p:spPr>
        <p:txBody>
          <a:bodyPr/>
          <a:p>
            <a:pPr marL="0" indent="0">
              <a:lnSpc>
                <a:spcPct val="120000"/>
              </a:lnSpc>
              <a:buNone/>
            </a:pPr>
            <a:r>
              <a:rPr lang="zh-CN" altLang="en-US" sz="1800" b="1" dirty="0">
                <a:solidFill>
                  <a:srgbClr val="FF0000"/>
                </a:solidFill>
                <a:latin typeface="黑体" panose="02010609060101010101" pitchFamily="49" charset="-122"/>
                <a:ea typeface="黑体" panose="02010609060101010101" pitchFamily="49" charset="-122"/>
              </a:rPr>
              <a:t>无关项</a:t>
            </a:r>
            <a:r>
              <a:rPr lang="en-US" altLang="zh-CN" sz="1800" b="1" dirty="0">
                <a:latin typeface="黑体" panose="02010609060101010101" pitchFamily="49" charset="-122"/>
                <a:ea typeface="黑体" panose="02010609060101010101" pitchFamily="49" charset="-122"/>
              </a:rPr>
              <a:t>(</a:t>
            </a:r>
            <a:r>
              <a:rPr lang="en-US" altLang="zh-CN" sz="1800" b="1" i="1" dirty="0">
                <a:latin typeface="黑体" panose="02010609060101010101" pitchFamily="49" charset="-122"/>
                <a:ea typeface="黑体" panose="02010609060101010101" pitchFamily="49" charset="-122"/>
              </a:rPr>
              <a:t>don</a:t>
            </a:r>
            <a:r>
              <a:rPr lang="zh-CN" altLang="en-US" sz="1800" b="1" i="1" dirty="0">
                <a:latin typeface="黑体" panose="02010609060101010101" pitchFamily="49" charset="-122"/>
                <a:ea typeface="黑体" panose="02010609060101010101" pitchFamily="49" charset="-122"/>
              </a:rPr>
              <a:t>’</a:t>
            </a:r>
            <a:r>
              <a:rPr lang="en-US" altLang="zh-CN" sz="1800" b="1" i="1" dirty="0">
                <a:latin typeface="黑体" panose="02010609060101010101" pitchFamily="49" charset="-122"/>
                <a:ea typeface="黑体" panose="02010609060101010101" pitchFamily="49" charset="-122"/>
              </a:rPr>
              <a:t>t care terms</a:t>
            </a: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，来源于</a:t>
            </a:r>
            <a:r>
              <a:rPr lang="en-US" altLang="zh-CN" sz="1800" b="1" dirty="0">
                <a:latin typeface="黑体" panose="02010609060101010101" pitchFamily="49" charset="-122"/>
                <a:ea typeface="黑体" panose="02010609060101010101" pitchFamily="49" charset="-122"/>
              </a:rPr>
              <a:t>“</a:t>
            </a:r>
            <a:r>
              <a:rPr lang="zh-CN" altLang="en-US" sz="1800" b="1" u="sng" dirty="0">
                <a:latin typeface="黑体" panose="02010609060101010101" pitchFamily="49" charset="-122"/>
                <a:ea typeface="黑体" panose="02010609060101010101" pitchFamily="49" charset="-122"/>
              </a:rPr>
              <a:t>任意项</a:t>
            </a:r>
            <a:r>
              <a:rPr lang="en-US" altLang="zh-CN" sz="1800" b="1" u="sng"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和</a:t>
            </a:r>
            <a:r>
              <a:rPr lang="en-US" altLang="zh-CN" sz="1800" dirty="0">
                <a:latin typeface="黑体" panose="02010609060101010101" pitchFamily="49" charset="-122"/>
                <a:ea typeface="黑体" panose="02010609060101010101" pitchFamily="49" charset="-122"/>
              </a:rPr>
              <a:t>“</a:t>
            </a:r>
            <a:r>
              <a:rPr lang="zh-CN" altLang="en-US" sz="1800" b="1" u="sng" dirty="0">
                <a:latin typeface="黑体" panose="02010609060101010101" pitchFamily="49" charset="-122"/>
                <a:ea typeface="黑体" panose="02010609060101010101" pitchFamily="49" charset="-122"/>
              </a:rPr>
              <a:t>约束项</a:t>
            </a:r>
            <a:r>
              <a:rPr lang="en-US" altLang="zh-CN" sz="1800" b="1" u="sng"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，确定项与无关项一起构成了</a:t>
            </a:r>
            <a:r>
              <a:rPr lang="zh-CN" altLang="en-US" sz="1800" b="1" dirty="0">
                <a:solidFill>
                  <a:srgbClr val="0000FF"/>
                </a:solidFill>
                <a:latin typeface="黑体" panose="02010609060101010101" pitchFamily="49" charset="-122"/>
                <a:ea typeface="黑体" panose="02010609060101010101" pitchFamily="49" charset="-122"/>
              </a:rPr>
              <a:t>不完全给定函数</a:t>
            </a:r>
            <a:r>
              <a:rPr lang="en-US" altLang="zh-CN" sz="1800" b="1" dirty="0">
                <a:latin typeface="黑体" panose="02010609060101010101" pitchFamily="49" charset="-122"/>
                <a:ea typeface="黑体" panose="02010609060101010101" pitchFamily="49" charset="-122"/>
              </a:rPr>
              <a:t>(</a:t>
            </a:r>
            <a:r>
              <a:rPr lang="en-US" altLang="zh-CN" sz="1800" b="1" i="1" dirty="0">
                <a:latin typeface="黑体" panose="02010609060101010101" pitchFamily="49" charset="-122"/>
                <a:ea typeface="黑体" panose="02010609060101010101" pitchFamily="49" charset="-122"/>
              </a:rPr>
              <a:t>Incompletely Specified functions</a:t>
            </a:r>
            <a:r>
              <a:rPr lang="en-US" altLang="zh-CN" sz="1800" b="1" dirty="0">
                <a:latin typeface="黑体" panose="02010609060101010101" pitchFamily="49" charset="-122"/>
                <a:ea typeface="黑体" panose="02010609060101010101" pitchFamily="49" charset="-122"/>
              </a:rPr>
              <a:t>)</a:t>
            </a:r>
            <a:endParaRPr lang="en-US" altLang="zh-CN" sz="1800" b="1" dirty="0">
              <a:latin typeface="黑体" panose="02010609060101010101" pitchFamily="49" charset="-122"/>
              <a:ea typeface="黑体" panose="02010609060101010101" pitchFamily="49" charset="-122"/>
            </a:endParaRPr>
          </a:p>
        </p:txBody>
      </p:sp>
      <p:sp>
        <p:nvSpPr>
          <p:cNvPr id="88070" name="Rectangle 132"/>
          <p:cNvSpPr/>
          <p:nvPr/>
        </p:nvSpPr>
        <p:spPr>
          <a:xfrm>
            <a:off x="862330" y="2113915"/>
            <a:ext cx="7792720" cy="530225"/>
          </a:xfrm>
          <a:prstGeom prst="rect">
            <a:avLst/>
          </a:prstGeom>
          <a:noFill/>
          <a:ln w="9525">
            <a:noFill/>
          </a:ln>
        </p:spPr>
        <p:txBody>
          <a:bodyPr/>
          <a:p>
            <a:pPr marL="342900" indent="-342900" eaLnBrk="1" hangingPunct="1">
              <a:spcBef>
                <a:spcPct val="20000"/>
              </a:spcBef>
              <a:buFont typeface="Arial" panose="020B0604020202020204" pitchFamily="34" charset="0"/>
            </a:pPr>
            <a:r>
              <a:rPr lang="zh-CN" altLang="en-US" sz="1800" b="1" dirty="0">
                <a:solidFill>
                  <a:srgbClr val="FF0000"/>
                </a:solidFill>
                <a:latin typeface="黑体" panose="02010609060101010101" pitchFamily="49" charset="-122"/>
                <a:ea typeface="黑体" panose="02010609060101010101" pitchFamily="49" charset="-122"/>
              </a:rPr>
              <a:t>定义：</a:t>
            </a:r>
            <a:r>
              <a:rPr lang="zh-CN" altLang="en-US" sz="1800" dirty="0">
                <a:solidFill>
                  <a:srgbClr val="FF0000"/>
                </a:solidFill>
                <a:latin typeface="黑体" panose="02010609060101010101" pitchFamily="49" charset="-122"/>
                <a:ea typeface="黑体" panose="02010609060101010101" pitchFamily="49" charset="-122"/>
              </a:rPr>
              <a:t>当函数输出与某些输入组合</a:t>
            </a:r>
            <a:r>
              <a:rPr lang="zh-CN" altLang="en-US" sz="1800" b="1" dirty="0">
                <a:solidFill>
                  <a:srgbClr val="FF0000"/>
                </a:solidFill>
                <a:latin typeface="黑体" panose="02010609060101010101" pitchFamily="49" charset="-122"/>
                <a:ea typeface="黑体" panose="02010609060101010101" pitchFamily="49" charset="-122"/>
              </a:rPr>
              <a:t>无关</a:t>
            </a:r>
            <a:r>
              <a:rPr lang="zh-CN" altLang="en-US" sz="1800" dirty="0">
                <a:solidFill>
                  <a:srgbClr val="FF0000"/>
                </a:solidFill>
                <a:latin typeface="黑体" panose="02010609060101010101" pitchFamily="49" charset="-122"/>
                <a:ea typeface="黑体" panose="02010609060101010101" pitchFamily="49" charset="-122"/>
              </a:rPr>
              <a:t>时，这些输入组合称为</a:t>
            </a:r>
            <a:r>
              <a:rPr lang="en-US" altLang="zh-CN" sz="1800" dirty="0">
                <a:solidFill>
                  <a:srgbClr val="FF0000"/>
                </a:solidFill>
                <a:latin typeface="黑体" panose="02010609060101010101" pitchFamily="49" charset="-122"/>
                <a:ea typeface="黑体" panose="02010609060101010101" pitchFamily="49" charset="-122"/>
              </a:rPr>
              <a:t>“</a:t>
            </a:r>
            <a:r>
              <a:rPr lang="zh-CN" altLang="en-US" sz="1800" dirty="0">
                <a:solidFill>
                  <a:srgbClr val="FF0000"/>
                </a:solidFill>
                <a:latin typeface="黑体" panose="02010609060101010101" pitchFamily="49" charset="-122"/>
                <a:ea typeface="黑体" panose="02010609060101010101" pitchFamily="49" charset="-122"/>
              </a:rPr>
              <a:t>无关项</a:t>
            </a:r>
            <a:r>
              <a:rPr lang="en-US" altLang="zh-CN" sz="1800" dirty="0">
                <a:solidFill>
                  <a:srgbClr val="FF0000"/>
                </a:solidFill>
                <a:latin typeface="黑体" panose="02010609060101010101" pitchFamily="49" charset="-122"/>
                <a:ea typeface="黑体" panose="02010609060101010101" pitchFamily="49" charset="-122"/>
              </a:rPr>
              <a:t>”</a:t>
            </a:r>
            <a:r>
              <a:rPr lang="zh-CN" altLang="en-US" sz="1800" dirty="0">
                <a:solidFill>
                  <a:srgbClr val="FF0000"/>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071" name="Text Box 133"/>
          <p:cNvSpPr txBox="1"/>
          <p:nvPr/>
        </p:nvSpPr>
        <p:spPr>
          <a:xfrm>
            <a:off x="843915" y="2787015"/>
            <a:ext cx="7419975" cy="1699895"/>
          </a:xfrm>
          <a:prstGeom prst="rect">
            <a:avLst/>
          </a:prstGeom>
          <a:noFill/>
          <a:ln w="9525">
            <a:noFill/>
          </a:ln>
        </p:spPr>
        <p:txBody>
          <a:bodyPr wrap="square">
            <a:noAutofit/>
          </a:bodyPr>
          <a:p>
            <a:pPr eaLnBrk="1" hangingPunct="1">
              <a:lnSpc>
                <a:spcPct val="130000"/>
              </a:lnSpc>
              <a:spcBef>
                <a:spcPct val="20000"/>
              </a:spcBef>
              <a:buFont typeface="Arial" panose="020B0604020202020204" pitchFamily="34" charset="0"/>
            </a:pPr>
            <a:r>
              <a:rPr lang="zh-CN" altLang="en-US" sz="1800" b="1" dirty="0">
                <a:solidFill>
                  <a:srgbClr val="0000FF"/>
                </a:solidFill>
                <a:latin typeface="黑体" panose="02010609060101010101" pitchFamily="49" charset="-122"/>
                <a:ea typeface="黑体" panose="02010609060101010101" pitchFamily="49" charset="-122"/>
              </a:rPr>
              <a:t>产生原因</a:t>
            </a:r>
            <a:r>
              <a:rPr lang="zh-CN" altLang="en-US" sz="1800" b="1" dirty="0">
                <a:solidFill>
                  <a:schemeClr val="tx1"/>
                </a:solidFill>
                <a:latin typeface="黑体" panose="02010609060101010101" pitchFamily="49" charset="-122"/>
                <a:ea typeface="黑体" panose="02010609060101010101" pitchFamily="49" charset="-122"/>
              </a:rPr>
              <a:t>：</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lnSpc>
                <a:spcPct val="13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①这些输入组合在正常操作中</a:t>
            </a:r>
            <a:r>
              <a:rPr lang="zh-CN" altLang="en-US" sz="1800" b="1" dirty="0">
                <a:solidFill>
                  <a:schemeClr val="tx1"/>
                </a:solidFill>
                <a:latin typeface="黑体" panose="02010609060101010101" pitchFamily="49" charset="-122"/>
                <a:ea typeface="黑体" panose="02010609060101010101" pitchFamily="49" charset="-122"/>
              </a:rPr>
              <a:t>不会出现</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即输入</a:t>
            </a:r>
            <a:r>
              <a:rPr lang="zh-CN" altLang="en-US" sz="1800" dirty="0">
                <a:solidFill>
                  <a:srgbClr val="FF0000"/>
                </a:solidFill>
                <a:latin typeface="黑体" panose="02010609060101010101" pitchFamily="49" charset="-122"/>
                <a:ea typeface="黑体" panose="02010609060101010101" pitchFamily="49" charset="-122"/>
              </a:rPr>
              <a:t>具</a:t>
            </a:r>
            <a:r>
              <a:rPr lang="zh-CN" altLang="en-US" sz="1800" b="1" dirty="0">
                <a:solidFill>
                  <a:srgbClr val="FF0000"/>
                </a:solidFill>
                <a:latin typeface="黑体" panose="02010609060101010101" pitchFamily="49" charset="-122"/>
                <a:ea typeface="黑体" panose="02010609060101010101" pitchFamily="49" charset="-122"/>
              </a:rPr>
              <a:t>有约束条件</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13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②即使这些输入</a:t>
            </a:r>
            <a:r>
              <a:rPr lang="zh-CN" altLang="en-US" sz="1800" b="1" dirty="0">
                <a:solidFill>
                  <a:schemeClr val="tx1"/>
                </a:solidFill>
                <a:latin typeface="黑体" panose="02010609060101010101" pitchFamily="49" charset="-122"/>
                <a:ea typeface="黑体" panose="02010609060101010101" pitchFamily="49" charset="-122"/>
              </a:rPr>
              <a:t>可能出现</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即输入</a:t>
            </a:r>
            <a:r>
              <a:rPr lang="zh-CN" altLang="en-US" sz="1800" b="1" dirty="0">
                <a:solidFill>
                  <a:srgbClr val="FF0000"/>
                </a:solidFill>
                <a:latin typeface="黑体" panose="02010609060101010101" pitchFamily="49" charset="-122"/>
                <a:ea typeface="黑体" panose="02010609060101010101" pitchFamily="49" charset="-122"/>
              </a:rPr>
              <a:t>不具有约束条件</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，但实际上函数产生的</a:t>
            </a:r>
            <a:r>
              <a:rPr lang="zh-CN" altLang="en-US" sz="1800" b="1" dirty="0">
                <a:solidFill>
                  <a:schemeClr val="tx1"/>
                </a:solidFill>
                <a:latin typeface="黑体" panose="02010609060101010101" pitchFamily="49" charset="-122"/>
                <a:ea typeface="黑体" panose="02010609060101010101" pitchFamily="49" charset="-122"/>
              </a:rPr>
              <a:t>输出</a:t>
            </a:r>
            <a:r>
              <a:rPr lang="zh-CN" altLang="en-US" sz="1800" b="1" dirty="0">
                <a:solidFill>
                  <a:schemeClr val="tx1"/>
                </a:solidFill>
                <a:latin typeface="黑体" panose="02010609060101010101" pitchFamily="49" charset="-122"/>
                <a:ea typeface="黑体" panose="02010609060101010101" pitchFamily="49" charset="-122"/>
              </a:rPr>
              <a:t>也与它们无关</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9">
                                            <p:txEl>
                                              <p:charRg st="0" end="7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880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9" grpId="0" build="p"/>
      <p:bldP spid="88070" grpId="0"/>
      <p:bldP spid="8807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21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2164" name="Rectangle 4"/>
          <p:cNvSpPr>
            <a:spLocks noGrp="1"/>
          </p:cNvSpPr>
          <p:nvPr>
            <p:ph/>
          </p:nvPr>
        </p:nvSpPr>
        <p:spPr>
          <a:xfrm>
            <a:off x="285750" y="1450975"/>
            <a:ext cx="7772400" cy="40005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第一步： 给出函数的初始卡诺图；</a:t>
            </a:r>
            <a:endParaRPr lang="zh-CN" altLang="en-US" sz="1800" dirty="0">
              <a:latin typeface="黑体" panose="02010609060101010101" pitchFamily="49" charset="-122"/>
              <a:ea typeface="黑体" panose="02010609060101010101" pitchFamily="49" charset="-122"/>
            </a:endParaRPr>
          </a:p>
        </p:txBody>
      </p:sp>
      <p:graphicFrame>
        <p:nvGraphicFramePr>
          <p:cNvPr id="90117" name="Group 5"/>
          <p:cNvGraphicFramePr>
            <a:graphicFrameLocks noGrp="1"/>
          </p:cNvGraphicFramePr>
          <p:nvPr/>
        </p:nvGraphicFramePr>
        <p:xfrm>
          <a:off x="6019800" y="339090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92192" name="Text Box 72"/>
          <p:cNvSpPr txBox="1"/>
          <p:nvPr/>
        </p:nvSpPr>
        <p:spPr>
          <a:xfrm>
            <a:off x="285750" y="1851025"/>
            <a:ext cx="8362315" cy="2030095"/>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第二步： 按前述的方法找出必要质蕴涵，</a:t>
            </a:r>
            <a:r>
              <a:rPr lang="zh-CN" altLang="en-US" sz="1800" b="1" dirty="0">
                <a:solidFill>
                  <a:schemeClr val="tx1"/>
                </a:solidFill>
                <a:latin typeface="黑体" panose="02010609060101010101" pitchFamily="49" charset="-122"/>
                <a:ea typeface="黑体" panose="02010609060101010101" pitchFamily="49" charset="-122"/>
              </a:rPr>
              <a:t>区别</a:t>
            </a:r>
            <a:r>
              <a:rPr lang="zh-CN" altLang="en-US" sz="1800" dirty="0">
                <a:solidFill>
                  <a:schemeClr val="tx1"/>
                </a:solidFill>
                <a:latin typeface="黑体" panose="02010609060101010101" pitchFamily="49" charset="-122"/>
                <a:ea typeface="黑体" panose="02010609060101010101" pitchFamily="49" charset="-122"/>
              </a:rPr>
              <a:t>是：</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画覆盖标</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小方格的极大圈时，应把相邻的“</a:t>
            </a:r>
            <a:r>
              <a:rPr lang="en-US" altLang="zh-CN" sz="1800" dirty="0">
                <a:solidFill>
                  <a:schemeClr val="tx1"/>
                </a:solidFill>
                <a:latin typeface="黑体" panose="02010609060101010101" pitchFamily="49" charset="-122"/>
                <a:ea typeface="黑体" panose="02010609060101010101" pitchFamily="49" charset="-122"/>
              </a:rPr>
              <a:t>d”</a:t>
            </a:r>
            <a:r>
              <a:rPr lang="zh-CN" altLang="en-US" sz="1800" dirty="0">
                <a:solidFill>
                  <a:schemeClr val="tx1"/>
                </a:solidFill>
                <a:latin typeface="黑体" panose="02010609060101010101" pitchFamily="49" charset="-122"/>
                <a:ea typeface="黑体" panose="02010609060101010101" pitchFamily="49" charset="-122"/>
              </a:rPr>
              <a:t>包含在内</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相当于使</a:t>
            </a:r>
            <a:r>
              <a:rPr lang="en-US" altLang="zh-CN" sz="1800" dirty="0">
                <a:solidFill>
                  <a:schemeClr val="tx1"/>
                </a:solidFill>
                <a:latin typeface="黑体" panose="02010609060101010101" pitchFamily="49" charset="-122"/>
                <a:ea typeface="黑体" panose="02010609060101010101" pitchFamily="49" charset="-122"/>
              </a:rPr>
              <a:t>d=1)</a:t>
            </a:r>
            <a:r>
              <a:rPr lang="zh-CN" altLang="en-US" sz="1800" dirty="0">
                <a:solidFill>
                  <a:schemeClr val="tx1"/>
                </a:solidFill>
                <a:latin typeface="黑体" panose="02010609060101010101" pitchFamily="49" charset="-122"/>
                <a:ea typeface="黑体" panose="02010609060101010101" pitchFamily="49" charset="-122"/>
              </a:rPr>
              <a:t>，使画出的极大圈尽可能地大，可减少该质蕴涵的变量数；</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不圈任何</a:t>
            </a:r>
            <a:r>
              <a:rPr lang="zh-CN" altLang="en-US" sz="1800" dirty="0">
                <a:solidFill>
                  <a:srgbClr val="0000FF"/>
                </a:solidFill>
                <a:latin typeface="黑体" panose="02010609060101010101" pitchFamily="49" charset="-122"/>
                <a:ea typeface="黑体" panose="02010609060101010101" pitchFamily="49" charset="-122"/>
              </a:rPr>
              <a:t>仅</a:t>
            </a:r>
            <a:r>
              <a:rPr lang="zh-CN" altLang="en-US" sz="1800" dirty="0">
                <a:solidFill>
                  <a:srgbClr val="FF0066"/>
                </a:solidFill>
                <a:latin typeface="黑体" panose="02010609060101010101" pitchFamily="49" charset="-122"/>
                <a:ea typeface="黑体" panose="02010609060101010101" pitchFamily="49" charset="-122"/>
              </a:rPr>
              <a:t>包含 </a:t>
            </a:r>
            <a:r>
              <a:rPr lang="en-US" altLang="zh-CN" sz="1800" dirty="0">
                <a:solidFill>
                  <a:srgbClr val="FF0066"/>
                </a:solidFill>
                <a:latin typeface="黑体" panose="02010609060101010101" pitchFamily="49" charset="-122"/>
                <a:ea typeface="黑体" panose="02010609060101010101" pitchFamily="49" charset="-122"/>
              </a:rPr>
              <a:t>d </a:t>
            </a:r>
            <a:r>
              <a:rPr lang="zh-CN" altLang="en-US" sz="1800" dirty="0">
                <a:solidFill>
                  <a:srgbClr val="FF0066"/>
                </a:solidFill>
                <a:latin typeface="黑体" panose="02010609060101010101" pitchFamily="49" charset="-122"/>
                <a:ea typeface="黑体" panose="02010609060101010101" pitchFamily="49" charset="-122"/>
              </a:rPr>
              <a:t>的圈</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不圈任何标 </a:t>
            </a:r>
            <a:r>
              <a:rPr lang="en-US" altLang="zh-CN" sz="1800" dirty="0">
                <a:solidFill>
                  <a:srgbClr val="FF0066"/>
                </a:solidFill>
                <a:latin typeface="黑体" panose="02010609060101010101" pitchFamily="49" charset="-122"/>
                <a:ea typeface="黑体" panose="02010609060101010101" pitchFamily="49" charset="-122"/>
              </a:rPr>
              <a:t>0 </a:t>
            </a:r>
            <a:r>
              <a:rPr lang="zh-CN" altLang="en-US" sz="1800" dirty="0">
                <a:solidFill>
                  <a:srgbClr val="FF0066"/>
                </a:solidFill>
                <a:latin typeface="黑体" panose="02010609060101010101" pitchFamily="49" charset="-122"/>
                <a:ea typeface="黑体" panose="02010609060101010101" pitchFamily="49" charset="-122"/>
              </a:rPr>
              <a:t>的小方格</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2193" name="Group 74"/>
          <p:cNvGrpSpPr/>
          <p:nvPr/>
        </p:nvGrpSpPr>
        <p:grpSpPr>
          <a:xfrm>
            <a:off x="5092700" y="3010535"/>
            <a:ext cx="1536700" cy="596900"/>
            <a:chOff x="0" y="0"/>
            <a:chExt cx="968" cy="502"/>
          </a:xfrm>
        </p:grpSpPr>
        <p:sp>
          <p:nvSpPr>
            <p:cNvPr id="92209" name="Text Box 15"/>
            <p:cNvSpPr txBox="1"/>
            <p:nvPr/>
          </p:nvSpPr>
          <p:spPr>
            <a:xfrm>
              <a:off x="0" y="192"/>
              <a:ext cx="536" cy="310"/>
            </a:xfrm>
            <a:prstGeom prst="rect">
              <a:avLst/>
            </a:prstGeom>
            <a:noFill/>
            <a:ln w="9525">
              <a:noFill/>
            </a:ln>
          </p:spPr>
          <p:txBody>
            <a:bodyPr>
              <a:spAutoFit/>
            </a:bodyPr>
            <a:p>
              <a:pPr algn="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0</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2210" name="Text Box 29"/>
            <p:cNvSpPr txBox="1"/>
            <p:nvPr/>
          </p:nvSpPr>
          <p:spPr>
            <a:xfrm>
              <a:off x="432" y="0"/>
              <a:ext cx="536" cy="310"/>
            </a:xfrm>
            <a:prstGeom prst="rect">
              <a:avLst/>
            </a:prstGeom>
            <a:noFill/>
            <a:ln w="9525">
              <a:noFill/>
            </a:ln>
          </p:spPr>
          <p:txBody>
            <a:bodyPr>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2</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2211" name="Line 73"/>
            <p:cNvSpPr/>
            <p:nvPr/>
          </p:nvSpPr>
          <p:spPr>
            <a:xfrm flipH="1" flipV="1">
              <a:off x="200" y="80"/>
              <a:ext cx="384" cy="240"/>
            </a:xfrm>
            <a:prstGeom prst="line">
              <a:avLst/>
            </a:prstGeom>
            <a:ln w="9525" cap="flat" cmpd="sng">
              <a:solidFill>
                <a:schemeClr val="tx1"/>
              </a:solidFill>
              <a:prstDash val="solid"/>
              <a:headEnd type="none" w="med" len="med"/>
              <a:tailEnd type="none" w="med" len="med"/>
            </a:ln>
          </p:spPr>
        </p:sp>
      </p:grpSp>
      <p:grpSp>
        <p:nvGrpSpPr>
          <p:cNvPr id="92194" name="Group 80"/>
          <p:cNvGrpSpPr/>
          <p:nvPr/>
        </p:nvGrpSpPr>
        <p:grpSpPr>
          <a:xfrm>
            <a:off x="5886450" y="4171950"/>
            <a:ext cx="666750" cy="628650"/>
            <a:chOff x="0" y="0"/>
            <a:chExt cx="420" cy="622"/>
          </a:xfrm>
        </p:grpSpPr>
        <p:sp>
          <p:nvSpPr>
            <p:cNvPr id="92205" name="Arc 76"/>
            <p:cNvSpPr/>
            <p:nvPr/>
          </p:nvSpPr>
          <p:spPr>
            <a:xfrm>
              <a:off x="192" y="0"/>
              <a:ext cx="228" cy="329"/>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p>
              <a:endParaRPr lang="zh-CN" altLang="en-US"/>
            </a:p>
          </p:txBody>
        </p:sp>
        <p:sp>
          <p:nvSpPr>
            <p:cNvPr id="92206" name="Arc 77"/>
            <p:cNvSpPr/>
            <p:nvPr/>
          </p:nvSpPr>
          <p:spPr>
            <a:xfrm rot="5400000">
              <a:off x="138" y="340"/>
              <a:ext cx="329"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p>
              <a:endParaRPr lang="zh-CN" altLang="en-US"/>
            </a:p>
          </p:txBody>
        </p:sp>
        <p:sp>
          <p:nvSpPr>
            <p:cNvPr id="92207" name="Line 78"/>
            <p:cNvSpPr/>
            <p:nvPr/>
          </p:nvSpPr>
          <p:spPr>
            <a:xfrm flipH="1">
              <a:off x="0" y="14"/>
              <a:ext cx="192" cy="0"/>
            </a:xfrm>
            <a:prstGeom prst="line">
              <a:avLst/>
            </a:prstGeom>
            <a:ln w="38100" cap="flat" cmpd="sng">
              <a:solidFill>
                <a:srgbClr val="0000FF"/>
              </a:solidFill>
              <a:prstDash val="solid"/>
              <a:headEnd type="none" w="med" len="med"/>
              <a:tailEnd type="none" w="med" len="med"/>
            </a:ln>
          </p:spPr>
        </p:sp>
        <p:sp>
          <p:nvSpPr>
            <p:cNvPr id="92208" name="Line 79"/>
            <p:cNvSpPr/>
            <p:nvPr/>
          </p:nvSpPr>
          <p:spPr>
            <a:xfrm flipH="1">
              <a:off x="0" y="622"/>
              <a:ext cx="192" cy="0"/>
            </a:xfrm>
            <a:prstGeom prst="line">
              <a:avLst/>
            </a:prstGeom>
            <a:ln w="38100" cap="flat" cmpd="sng">
              <a:solidFill>
                <a:srgbClr val="0000FF"/>
              </a:solidFill>
              <a:prstDash val="solid"/>
              <a:headEnd type="none" w="med" len="med"/>
              <a:tailEnd type="none" w="med" len="med"/>
            </a:ln>
          </p:spPr>
        </p:sp>
      </p:grpSp>
      <p:grpSp>
        <p:nvGrpSpPr>
          <p:cNvPr id="92195" name="Group 81"/>
          <p:cNvGrpSpPr/>
          <p:nvPr/>
        </p:nvGrpSpPr>
        <p:grpSpPr>
          <a:xfrm rot="10800000">
            <a:off x="7791450" y="4171950"/>
            <a:ext cx="666750" cy="628650"/>
            <a:chOff x="0" y="0"/>
            <a:chExt cx="420" cy="622"/>
          </a:xfrm>
        </p:grpSpPr>
        <p:sp>
          <p:nvSpPr>
            <p:cNvPr id="92201" name="Arc 82"/>
            <p:cNvSpPr/>
            <p:nvPr/>
          </p:nvSpPr>
          <p:spPr>
            <a:xfrm>
              <a:off x="192" y="0"/>
              <a:ext cx="228" cy="329"/>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p>
              <a:endParaRPr lang="zh-CN" altLang="en-US"/>
            </a:p>
          </p:txBody>
        </p:sp>
        <p:sp>
          <p:nvSpPr>
            <p:cNvPr id="92202" name="Arc 83"/>
            <p:cNvSpPr/>
            <p:nvPr/>
          </p:nvSpPr>
          <p:spPr>
            <a:xfrm rot="5400000">
              <a:off x="138" y="340"/>
              <a:ext cx="329"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p>
              <a:endParaRPr lang="zh-CN" altLang="en-US"/>
            </a:p>
          </p:txBody>
        </p:sp>
        <p:sp>
          <p:nvSpPr>
            <p:cNvPr id="92203" name="Line 84"/>
            <p:cNvSpPr/>
            <p:nvPr/>
          </p:nvSpPr>
          <p:spPr>
            <a:xfrm flipH="1">
              <a:off x="0" y="14"/>
              <a:ext cx="192" cy="0"/>
            </a:xfrm>
            <a:prstGeom prst="line">
              <a:avLst/>
            </a:prstGeom>
            <a:ln w="38100" cap="flat" cmpd="sng">
              <a:solidFill>
                <a:srgbClr val="0000FF"/>
              </a:solidFill>
              <a:prstDash val="solid"/>
              <a:headEnd type="none" w="med" len="med"/>
              <a:tailEnd type="none" w="med" len="med"/>
            </a:ln>
          </p:spPr>
        </p:sp>
        <p:sp>
          <p:nvSpPr>
            <p:cNvPr id="92204" name="Line 85"/>
            <p:cNvSpPr/>
            <p:nvPr/>
          </p:nvSpPr>
          <p:spPr>
            <a:xfrm flipH="1">
              <a:off x="0" y="622"/>
              <a:ext cx="192" cy="0"/>
            </a:xfrm>
            <a:prstGeom prst="line">
              <a:avLst/>
            </a:prstGeom>
            <a:ln w="38100" cap="flat" cmpd="sng">
              <a:solidFill>
                <a:srgbClr val="0000FF"/>
              </a:solidFill>
              <a:prstDash val="solid"/>
              <a:headEnd type="none" w="med" len="med"/>
              <a:tailEnd type="none" w="med" len="med"/>
            </a:ln>
          </p:spPr>
        </p:sp>
      </p:grpSp>
      <p:sp>
        <p:nvSpPr>
          <p:cNvPr id="92196" name="Rectangle 86"/>
          <p:cNvSpPr/>
          <p:nvPr/>
        </p:nvSpPr>
        <p:spPr>
          <a:xfrm>
            <a:off x="6729413" y="3829050"/>
            <a:ext cx="914400" cy="628650"/>
          </a:xfrm>
          <a:prstGeom prst="rect">
            <a:avLst/>
          </a:prstGeom>
          <a:noFill/>
          <a:ln w="38100"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2197" name="Group 90"/>
          <p:cNvGrpSpPr/>
          <p:nvPr/>
        </p:nvGrpSpPr>
        <p:grpSpPr>
          <a:xfrm>
            <a:off x="395605" y="4341495"/>
            <a:ext cx="5366385" cy="393346"/>
            <a:chOff x="0" y="0"/>
            <a:chExt cx="2640" cy="598"/>
          </a:xfrm>
        </p:grpSpPr>
        <p:sp>
          <p:nvSpPr>
            <p:cNvPr id="92199" name="Text Box 87"/>
            <p:cNvSpPr txBox="1"/>
            <p:nvPr/>
          </p:nvSpPr>
          <p:spPr>
            <a:xfrm>
              <a:off x="0" y="0"/>
              <a:ext cx="2640" cy="560"/>
            </a:xfrm>
            <a:prstGeom prst="rect">
              <a:avLst/>
            </a:prstGeom>
            <a:noFill/>
            <a:ln w="9525">
              <a:noFill/>
            </a:ln>
          </p:spPr>
          <p:txBody>
            <a:bodyPr>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位</a:t>
              </a:r>
              <a:r>
                <a:rPr lang="en-US" altLang="zh-CN" sz="1800" dirty="0">
                  <a:solidFill>
                    <a:schemeClr val="tx1"/>
                  </a:solidFill>
                  <a:latin typeface="黑体" panose="02010609060101010101" pitchFamily="49" charset="-122"/>
                  <a:ea typeface="黑体" panose="02010609060101010101" pitchFamily="49" charset="-122"/>
                </a:rPr>
                <a:t>BCD</a:t>
              </a:r>
              <a:r>
                <a:rPr lang="zh-CN" altLang="en-US" sz="1800" dirty="0">
                  <a:solidFill>
                    <a:schemeClr val="tx1"/>
                  </a:solidFill>
                  <a:latin typeface="黑体" panose="02010609060101010101" pitchFamily="49" charset="-122"/>
                  <a:ea typeface="黑体" panose="02010609060101010101" pitchFamily="49" charset="-122"/>
                </a:rPr>
                <a:t>码质数检测器的最简与或式  </a:t>
              </a:r>
              <a:r>
                <a:rPr lang="en-US" altLang="zh-CN" sz="1800" dirty="0">
                  <a:solidFill>
                    <a:schemeClr val="tx1"/>
                  </a:solidFill>
                  <a:latin typeface="黑体" panose="02010609060101010101" pitchFamily="49" charset="-122"/>
                  <a:ea typeface="黑体" panose="02010609060101010101" pitchFamily="49" charset="-122"/>
                </a:rPr>
                <a:t>F= N</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N</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0</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2200" name="Line 88"/>
            <p:cNvSpPr/>
            <p:nvPr/>
          </p:nvSpPr>
          <p:spPr>
            <a:xfrm>
              <a:off x="810" y="598"/>
              <a:ext cx="152" cy="0"/>
            </a:xfrm>
            <a:prstGeom prst="line">
              <a:avLst/>
            </a:prstGeom>
            <a:ln w="9525" cap="flat" cmpd="sng">
              <a:solidFill>
                <a:schemeClr val="bg1"/>
              </a:solidFill>
              <a:prstDash val="solid"/>
              <a:headEnd type="none" w="med" len="med"/>
              <a:tailEnd type="none" w="med" len="med"/>
            </a:ln>
          </p:spPr>
        </p:sp>
      </p:grpSp>
      <p:sp>
        <p:nvSpPr>
          <p:cNvPr id="92198" name="矩形 23"/>
          <p:cNvSpPr/>
          <p:nvPr/>
        </p:nvSpPr>
        <p:spPr>
          <a:xfrm>
            <a:off x="323850" y="484505"/>
            <a:ext cx="8670925" cy="922020"/>
          </a:xfrm>
          <a:prstGeom prst="rect">
            <a:avLst/>
          </a:prstGeom>
          <a:noFill/>
          <a:ln w="9525">
            <a:noFill/>
          </a:ln>
        </p:spPr>
        <p:txBody>
          <a:bodyPr wrap="square">
            <a:spAutoFit/>
          </a:bodyPr>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rgbClr val="0000FF"/>
                </a:solidFill>
                <a:latin typeface="黑体" panose="02010609060101010101" pitchFamily="49" charset="-122"/>
                <a:ea typeface="黑体" panose="02010609060101010101" pitchFamily="49" charset="-122"/>
              </a:rPr>
              <a:t>1</a:t>
            </a:r>
            <a:r>
              <a:rPr lang="zh-CN" altLang="en-US" sz="1800" dirty="0">
                <a:solidFill>
                  <a:srgbClr val="0000FF"/>
                </a:solidFill>
                <a:latin typeface="黑体" panose="02010609060101010101" pitchFamily="49" charset="-122"/>
                <a:ea typeface="黑体" panose="02010609060101010101" pitchFamily="49" charset="-122"/>
              </a:rPr>
              <a:t>位</a:t>
            </a:r>
            <a:r>
              <a:rPr lang="en-US" altLang="zh-CN" sz="1800" u="sng" dirty="0">
                <a:solidFill>
                  <a:srgbClr val="0000FF"/>
                </a:solidFill>
                <a:latin typeface="黑体" panose="02010609060101010101" pitchFamily="49" charset="-122"/>
                <a:ea typeface="黑体" panose="02010609060101010101" pitchFamily="49" charset="-122"/>
              </a:rPr>
              <a:t>BCD</a:t>
            </a:r>
            <a:r>
              <a:rPr lang="zh-CN" altLang="en-US" sz="1800" u="sng" dirty="0">
                <a:solidFill>
                  <a:srgbClr val="0000FF"/>
                </a:solidFill>
                <a:latin typeface="黑体" panose="02010609060101010101" pitchFamily="49" charset="-122"/>
                <a:ea typeface="黑体" panose="02010609060101010101" pitchFamily="49" charset="-122"/>
              </a:rPr>
              <a:t>码</a:t>
            </a:r>
            <a:r>
              <a:rPr lang="zh-CN" altLang="en-US" sz="1800" u="sng" dirty="0">
                <a:solidFill>
                  <a:srgbClr val="0000FF"/>
                </a:solidFill>
                <a:latin typeface="黑体" panose="02010609060101010101" pitchFamily="49" charset="-122"/>
                <a:ea typeface="黑体" panose="02010609060101010101" pitchFamily="49" charset="-122"/>
              </a:rPr>
              <a:t>输入质数</a:t>
            </a:r>
            <a:r>
              <a:rPr lang="zh-CN" altLang="en-US" sz="1800" dirty="0">
                <a:solidFill>
                  <a:schemeClr val="tx1"/>
                </a:solidFill>
                <a:latin typeface="黑体" panose="02010609060101010101" pitchFamily="49" charset="-122"/>
                <a:ea typeface="黑体" panose="02010609060101010101" pitchFamily="49" charset="-122"/>
              </a:rPr>
              <a:t>检测器。假设输入</a:t>
            </a:r>
            <a:r>
              <a:rPr lang="zh-CN" altLang="en-US" sz="1800" dirty="0">
                <a:solidFill>
                  <a:schemeClr val="tx1"/>
                </a:solidFill>
                <a:latin typeface="黑体" panose="02010609060101010101" pitchFamily="49" charset="-122"/>
                <a:ea typeface="黑体" panose="02010609060101010101" pitchFamily="49" charset="-122"/>
              </a:rPr>
              <a:t>变量为</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3 </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2 </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1 </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0</a:t>
            </a:r>
            <a:r>
              <a:rPr lang="en-US" altLang="zh-CN" sz="1800" baseline="-25000" dirty="0">
                <a:solidFill>
                  <a:schemeClr val="tx1"/>
                </a:solidFill>
                <a:latin typeface="黑体" panose="02010609060101010101" pitchFamily="49" charset="-122"/>
                <a:ea typeface="黑体" panose="02010609060101010101" pitchFamily="49" charset="-122"/>
              </a:rPr>
              <a:t> </a:t>
            </a:r>
            <a:r>
              <a:rPr lang="zh-CN" altLang="en-US" sz="1800" baseline="-250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输出表达式可以写为：</a:t>
            </a:r>
            <a:br>
              <a:rPr lang="zh-CN" altLang="en-US" sz="1800" dirty="0">
                <a:solidFill>
                  <a:schemeClr val="tx1"/>
                </a:solidFill>
                <a:latin typeface="黑体" panose="02010609060101010101" pitchFamily="49" charset="-122"/>
                <a:ea typeface="黑体" panose="02010609060101010101" pitchFamily="49" charset="-122"/>
              </a:rPr>
            </a:b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F =∑m</a:t>
            </a:r>
            <a:r>
              <a:rPr lang="en-US" altLang="zh-CN" sz="1800" b="1" baseline="30000" dirty="0">
                <a:solidFill>
                  <a:schemeClr val="tx1"/>
                </a:solidFill>
                <a:latin typeface="黑体" panose="02010609060101010101" pitchFamily="49" charset="-122"/>
                <a:ea typeface="黑体" panose="02010609060101010101" pitchFamily="49" charset="-122"/>
              </a:rPr>
              <a:t>4 </a:t>
            </a:r>
            <a:r>
              <a:rPr lang="en-US" altLang="zh-CN" sz="1800" b="1" dirty="0">
                <a:solidFill>
                  <a:schemeClr val="tx1"/>
                </a:solidFill>
                <a:latin typeface="黑体" panose="02010609060101010101" pitchFamily="49" charset="-122"/>
                <a:ea typeface="黑体" panose="02010609060101010101" pitchFamily="49" charset="-122"/>
              </a:rPr>
              <a:t>(2,3,5,7) +∑d</a:t>
            </a:r>
            <a:r>
              <a:rPr lang="en-US" altLang="zh-CN" sz="1800" b="1" baseline="30000" dirty="0">
                <a:solidFill>
                  <a:schemeClr val="tx1"/>
                </a:solidFill>
                <a:latin typeface="黑体" panose="02010609060101010101" pitchFamily="49" charset="-122"/>
                <a:ea typeface="黑体" panose="02010609060101010101" pitchFamily="49" charset="-122"/>
              </a:rPr>
              <a:t>4</a:t>
            </a:r>
            <a:r>
              <a:rPr lang="en-US" altLang="zh-CN" sz="1800" b="1" dirty="0">
                <a:solidFill>
                  <a:schemeClr val="tx1"/>
                </a:solidFill>
                <a:latin typeface="黑体" panose="02010609060101010101" pitchFamily="49" charset="-122"/>
                <a:ea typeface="黑体" panose="02010609060101010101" pitchFamily="49" charset="-122"/>
              </a:rPr>
              <a:t> (10,11,12,13,14,15) </a:t>
            </a:r>
            <a:br>
              <a:rPr lang="en-US" altLang="zh-CN" sz="1800" b="1" dirty="0">
                <a:solidFill>
                  <a:schemeClr val="tx1"/>
                </a:solidFill>
                <a:latin typeface="黑体" panose="02010609060101010101" pitchFamily="49" charset="-122"/>
                <a:ea typeface="黑体" panose="02010609060101010101" pitchFamily="49" charset="-122"/>
              </a:rPr>
            </a:b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这里</a:t>
            </a:r>
            <a:r>
              <a:rPr lang="en-US" altLang="zh-CN" sz="1800" dirty="0">
                <a:solidFill>
                  <a:schemeClr val="tx1"/>
                </a:solidFill>
                <a:latin typeface="黑体" panose="02010609060101010101" pitchFamily="49" charset="-122"/>
                <a:ea typeface="黑体" panose="02010609060101010101" pitchFamily="49" charset="-122"/>
              </a:rPr>
              <a:t>d</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项列出的即为无关项。</a:t>
            </a: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318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3188" name="Rectangle 3"/>
          <p:cNvSpPr>
            <a:spLocks noGrp="1"/>
          </p:cNvSpPr>
          <p:nvPr>
            <p:ph type="title"/>
          </p:nvPr>
        </p:nvSpPr>
        <p:spPr>
          <a:xfrm>
            <a:off x="574675" y="484188"/>
            <a:ext cx="8101013" cy="341312"/>
          </a:xfrm>
          <a:prstGeom prst="rect">
            <a:avLst/>
          </a:prstGeom>
          <a:noFill/>
          <a:ln w="9525">
            <a:noFill/>
          </a:ln>
        </p:spPr>
        <p:txBody>
          <a:bodyPr/>
          <a:p>
            <a:pPr eaLnBrk="1" hangingPunct="1"/>
            <a:r>
              <a:rPr lang="en-US" altLang="zh-CN" sz="1800" b="1" dirty="0">
                <a:solidFill>
                  <a:srgbClr val="FF0000"/>
                </a:solidFill>
                <a:latin typeface="黑体" panose="02010609060101010101" pitchFamily="49" charset="-122"/>
                <a:ea typeface="黑体" panose="02010609060101010101" pitchFamily="49" charset="-122"/>
              </a:rPr>
              <a:t>4) </a:t>
            </a:r>
            <a:r>
              <a:rPr lang="zh-CN" altLang="en-US" sz="1800" b="1" dirty="0">
                <a:solidFill>
                  <a:srgbClr val="FF0000"/>
                </a:solidFill>
                <a:latin typeface="黑体" panose="02010609060101010101" pitchFamily="49" charset="-122"/>
                <a:ea typeface="黑体" panose="02010609060101010101" pitchFamily="49" charset="-122"/>
              </a:rPr>
              <a:t>输入无反变量的函数的化简</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93189" name="Rectangle 4"/>
          <p:cNvSpPr>
            <a:spLocks noGrp="1"/>
          </p:cNvSpPr>
          <p:nvPr>
            <p:ph/>
          </p:nvPr>
        </p:nvSpPr>
        <p:spPr>
          <a:xfrm>
            <a:off x="629285" y="843280"/>
            <a:ext cx="8046720" cy="1132205"/>
          </a:xfrm>
          <a:prstGeom prst="rect">
            <a:avLst/>
          </a:prstGeom>
          <a:noFill/>
          <a:ln w="9525">
            <a:noFill/>
          </a:ln>
        </p:spPr>
        <p:txBody>
          <a:bodyPr/>
          <a:p>
            <a:pPr eaLnBrk="1" hangingPunct="1">
              <a:lnSpc>
                <a:spcPct val="120000"/>
              </a:lnSpc>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在实际电路中，一般外部输入变量只有原变量没有反变量，电路要通过</a:t>
            </a:r>
            <a:r>
              <a:rPr lang="zh-CN" altLang="en-US" sz="1800" u="sng" dirty="0">
                <a:latin typeface="黑体" panose="02010609060101010101" pitchFamily="49" charset="-122"/>
                <a:ea typeface="黑体" panose="02010609060101010101" pitchFamily="49" charset="-122"/>
              </a:rPr>
              <a:t>非门</a:t>
            </a:r>
            <a:r>
              <a:rPr lang="zh-CN" altLang="en-US" sz="1800" dirty="0">
                <a:latin typeface="黑体" panose="02010609060101010101" pitchFamily="49" charset="-122"/>
                <a:ea typeface="黑体" panose="02010609060101010101" pitchFamily="49" charset="-122"/>
              </a:rPr>
              <a:t>来实现反变量，这样为了减少外部连线数量就增加了</a:t>
            </a:r>
            <a:r>
              <a:rPr lang="zh-CN" altLang="en-US" sz="1800" dirty="0">
                <a:solidFill>
                  <a:srgbClr val="0000FF"/>
                </a:solidFill>
                <a:latin typeface="黑体" panose="02010609060101010101" pitchFamily="49" charset="-122"/>
                <a:ea typeface="黑体" panose="02010609060101010101" pitchFamily="49" charset="-122"/>
              </a:rPr>
              <a:t>反相器（非门）</a:t>
            </a:r>
            <a:r>
              <a:rPr lang="zh-CN" altLang="en-US" sz="1800" dirty="0">
                <a:latin typeface="黑体" panose="02010609060101010101" pitchFamily="49" charset="-122"/>
                <a:ea typeface="黑体" panose="02010609060101010101" pitchFamily="49" charset="-122"/>
              </a:rPr>
              <a:t>的使用，为减少反相器数目，可对其做适当调整（如：共享与非门）。</a:t>
            </a:r>
            <a:endParaRPr lang="zh-CN" altLang="en-US" sz="1800" dirty="0">
              <a:latin typeface="黑体" panose="02010609060101010101" pitchFamily="49" charset="-122"/>
              <a:ea typeface="黑体" panose="02010609060101010101" pitchFamily="49" charset="-122"/>
            </a:endParaRPr>
          </a:p>
        </p:txBody>
      </p:sp>
      <p:grpSp>
        <p:nvGrpSpPr>
          <p:cNvPr id="93190" name="Group 13"/>
          <p:cNvGrpSpPr/>
          <p:nvPr/>
        </p:nvGrpSpPr>
        <p:grpSpPr>
          <a:xfrm>
            <a:off x="1081088" y="1916113"/>
            <a:ext cx="7162800" cy="368300"/>
            <a:chOff x="0" y="0"/>
            <a:chExt cx="4512" cy="309"/>
          </a:xfrm>
        </p:grpSpPr>
        <p:sp>
          <p:nvSpPr>
            <p:cNvPr id="93200" name="Text Box 8"/>
            <p:cNvSpPr txBox="1"/>
            <p:nvPr/>
          </p:nvSpPr>
          <p:spPr>
            <a:xfrm>
              <a:off x="0" y="0"/>
              <a:ext cx="4512"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 </a:t>
              </a:r>
              <a:r>
                <a:rPr lang="en-US" altLang="zh-CN" sz="1800" dirty="0">
                  <a:solidFill>
                    <a:schemeClr val="tx1"/>
                  </a:solidFill>
                  <a:latin typeface="黑体" panose="02010609060101010101" pitchFamily="49" charset="-122"/>
                  <a:ea typeface="黑体" panose="02010609060101010101" pitchFamily="49" charset="-122"/>
                </a:rPr>
                <a:t>F = A⊕B = AB + AB = A AB + B 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3201" name="Line 9"/>
            <p:cNvSpPr/>
            <p:nvPr/>
          </p:nvSpPr>
          <p:spPr>
            <a:xfrm>
              <a:off x="1824" y="48"/>
              <a:ext cx="144" cy="0"/>
            </a:xfrm>
            <a:prstGeom prst="line">
              <a:avLst/>
            </a:prstGeom>
            <a:ln w="9525" cap="flat" cmpd="sng">
              <a:solidFill>
                <a:schemeClr val="bg1"/>
              </a:solidFill>
              <a:prstDash val="solid"/>
              <a:headEnd type="none" w="med" len="med"/>
              <a:tailEnd type="none" w="med" len="med"/>
            </a:ln>
          </p:spPr>
        </p:sp>
        <p:sp>
          <p:nvSpPr>
            <p:cNvPr id="93202" name="Line 10"/>
            <p:cNvSpPr/>
            <p:nvPr/>
          </p:nvSpPr>
          <p:spPr>
            <a:xfrm>
              <a:off x="2244" y="48"/>
              <a:ext cx="144" cy="0"/>
            </a:xfrm>
            <a:prstGeom prst="line">
              <a:avLst/>
            </a:prstGeom>
            <a:ln w="9525" cap="flat" cmpd="sng">
              <a:solidFill>
                <a:schemeClr val="bg1"/>
              </a:solidFill>
              <a:prstDash val="solid"/>
              <a:headEnd type="none" w="med" len="med"/>
              <a:tailEnd type="none" w="med" len="med"/>
            </a:ln>
          </p:spPr>
        </p:sp>
        <p:sp>
          <p:nvSpPr>
            <p:cNvPr id="93203" name="Line 11"/>
            <p:cNvSpPr/>
            <p:nvPr/>
          </p:nvSpPr>
          <p:spPr>
            <a:xfrm>
              <a:off x="2931" y="48"/>
              <a:ext cx="312" cy="0"/>
            </a:xfrm>
            <a:prstGeom prst="line">
              <a:avLst/>
            </a:prstGeom>
            <a:ln w="9525" cap="flat" cmpd="sng">
              <a:solidFill>
                <a:schemeClr val="bg1"/>
              </a:solidFill>
              <a:prstDash val="solid"/>
              <a:headEnd type="none" w="med" len="med"/>
              <a:tailEnd type="none" w="med" len="med"/>
            </a:ln>
          </p:spPr>
        </p:sp>
        <p:sp>
          <p:nvSpPr>
            <p:cNvPr id="93204" name="Line 12"/>
            <p:cNvSpPr/>
            <p:nvPr/>
          </p:nvSpPr>
          <p:spPr>
            <a:xfrm>
              <a:off x="3675" y="48"/>
              <a:ext cx="336" cy="0"/>
            </a:xfrm>
            <a:prstGeom prst="line">
              <a:avLst/>
            </a:prstGeom>
            <a:ln w="9525" cap="flat" cmpd="sng">
              <a:solidFill>
                <a:schemeClr val="bg1"/>
              </a:solidFill>
              <a:prstDash val="solid"/>
              <a:headEnd type="none" w="med" len="med"/>
              <a:tailEnd type="none" w="med" len="med"/>
            </a:ln>
          </p:spPr>
        </p:sp>
      </p:grpSp>
      <p:sp>
        <p:nvSpPr>
          <p:cNvPr id="93191" name="Text Box 14"/>
          <p:cNvSpPr txBox="1"/>
          <p:nvPr/>
        </p:nvSpPr>
        <p:spPr>
          <a:xfrm>
            <a:off x="539750" y="2416810"/>
            <a:ext cx="788352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下图是没有异或门情况下，两种</a:t>
            </a:r>
            <a:r>
              <a:rPr lang="zh-CN" altLang="en-US" sz="1800" dirty="0">
                <a:solidFill>
                  <a:schemeClr val="tx1"/>
                </a:solidFill>
                <a:latin typeface="黑体" panose="02010609060101010101" pitchFamily="49" charset="-122"/>
                <a:ea typeface="黑体" panose="02010609060101010101" pitchFamily="49" charset="-122"/>
              </a:rPr>
              <a:t>表达式对应的电路，后者可减少一个非门。</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3192" name="Text Box 101"/>
          <p:cNvSpPr txBox="1"/>
          <p:nvPr/>
        </p:nvSpPr>
        <p:spPr>
          <a:xfrm>
            <a:off x="609600" y="4457700"/>
            <a:ext cx="3581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F= A⊕B  </a:t>
            </a:r>
            <a:r>
              <a:rPr lang="zh-CN" altLang="en-US" sz="1800" dirty="0">
                <a:solidFill>
                  <a:schemeClr val="tx1"/>
                </a:solidFill>
                <a:latin typeface="黑体" panose="02010609060101010101" pitchFamily="49" charset="-122"/>
                <a:ea typeface="黑体" panose="02010609060101010101" pitchFamily="49" charset="-122"/>
              </a:rPr>
              <a:t>不共享非门</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3193" name="Text Box 102"/>
          <p:cNvSpPr txBox="1"/>
          <p:nvPr/>
        </p:nvSpPr>
        <p:spPr>
          <a:xfrm>
            <a:off x="5105400" y="4457700"/>
            <a:ext cx="3581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 F= A⊕B  </a:t>
            </a:r>
            <a:r>
              <a:rPr lang="zh-CN" altLang="en-US" sz="1800" dirty="0">
                <a:solidFill>
                  <a:schemeClr val="tx1"/>
                </a:solidFill>
                <a:latin typeface="黑体" panose="02010609060101010101" pitchFamily="49" charset="-122"/>
                <a:ea typeface="黑体" panose="02010609060101010101" pitchFamily="49" charset="-122"/>
              </a:rPr>
              <a:t>共享非门</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93194" name="直接连接符 2"/>
          <p:cNvCxnSpPr/>
          <p:nvPr/>
        </p:nvCxnSpPr>
        <p:spPr>
          <a:xfrm>
            <a:off x="3098800" y="1973263"/>
            <a:ext cx="104775" cy="0"/>
          </a:xfrm>
          <a:prstGeom prst="line">
            <a:avLst/>
          </a:prstGeom>
          <a:ln w="12700" cap="flat" cmpd="sng">
            <a:solidFill>
              <a:schemeClr val="tx1"/>
            </a:solidFill>
            <a:prstDash val="solid"/>
            <a:headEnd type="none" w="med" len="med"/>
            <a:tailEnd type="none" w="med" len="med"/>
          </a:ln>
        </p:spPr>
      </p:cxnSp>
      <p:cxnSp>
        <p:nvCxnSpPr>
          <p:cNvPr id="93195" name="直接连接符 85"/>
          <p:cNvCxnSpPr/>
          <p:nvPr/>
        </p:nvCxnSpPr>
        <p:spPr>
          <a:xfrm>
            <a:off x="3563938" y="1974850"/>
            <a:ext cx="106362" cy="0"/>
          </a:xfrm>
          <a:prstGeom prst="line">
            <a:avLst/>
          </a:prstGeom>
          <a:ln w="12700" cap="flat" cmpd="sng">
            <a:solidFill>
              <a:schemeClr val="tx1"/>
            </a:solidFill>
            <a:prstDash val="solid"/>
            <a:headEnd type="none" w="med" len="med"/>
            <a:tailEnd type="none" w="med" len="med"/>
          </a:ln>
        </p:spPr>
      </p:cxnSp>
      <p:cxnSp>
        <p:nvCxnSpPr>
          <p:cNvPr id="93196" name="直接连接符 86"/>
          <p:cNvCxnSpPr/>
          <p:nvPr/>
        </p:nvCxnSpPr>
        <p:spPr>
          <a:xfrm>
            <a:off x="4356100" y="1992313"/>
            <a:ext cx="287338" cy="3175"/>
          </a:xfrm>
          <a:prstGeom prst="line">
            <a:avLst/>
          </a:prstGeom>
          <a:ln w="6350" cap="flat" cmpd="sng">
            <a:solidFill>
              <a:schemeClr val="tx1"/>
            </a:solidFill>
            <a:prstDash val="solid"/>
            <a:headEnd type="none" w="med" len="med"/>
            <a:tailEnd type="none" w="med" len="med"/>
          </a:ln>
        </p:spPr>
      </p:cxnSp>
      <p:cxnSp>
        <p:nvCxnSpPr>
          <p:cNvPr id="93197" name="直接连接符 87"/>
          <p:cNvCxnSpPr/>
          <p:nvPr/>
        </p:nvCxnSpPr>
        <p:spPr>
          <a:xfrm>
            <a:off x="5146675" y="1992313"/>
            <a:ext cx="217488" cy="3175"/>
          </a:xfrm>
          <a:prstGeom prst="line">
            <a:avLst/>
          </a:prstGeom>
          <a:ln w="6350" cap="flat" cmpd="sng">
            <a:solidFill>
              <a:schemeClr val="tx1"/>
            </a:solidFill>
            <a:prstDash val="solid"/>
            <a:headEnd type="none" w="med" len="med"/>
            <a:tailEnd type="none" w="med" len="med"/>
          </a:ln>
        </p:spPr>
      </p:cxnSp>
      <p:pic>
        <p:nvPicPr>
          <p:cNvPr id="88078" name="Picture 19"/>
          <p:cNvPicPr>
            <a:picLocks noChangeAspect="1" noChangeArrowheads="1"/>
          </p:cNvPicPr>
          <p:nvPr/>
        </p:nvPicPr>
        <p:blipFill>
          <a:blip r:embed="rId1"/>
          <a:srcRect/>
          <a:stretch>
            <a:fillRect/>
          </a:stretch>
        </p:blipFill>
        <p:spPr bwMode="auto">
          <a:xfrm>
            <a:off x="827088" y="2859088"/>
            <a:ext cx="2700338" cy="150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88079" name="Picture 20"/>
          <p:cNvPicPr>
            <a:picLocks noChangeAspect="1" noChangeArrowheads="1"/>
          </p:cNvPicPr>
          <p:nvPr/>
        </p:nvPicPr>
        <p:blipFill>
          <a:blip r:embed="rId2"/>
          <a:srcRect/>
          <a:stretch>
            <a:fillRect/>
          </a:stretch>
        </p:blipFill>
        <p:spPr bwMode="auto">
          <a:xfrm>
            <a:off x="5076825" y="2852738"/>
            <a:ext cx="2735263" cy="149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190"/>
                                        </p:tgtEl>
                                        <p:attrNameLst>
                                          <p:attrName>style.visibility</p:attrName>
                                        </p:attrNameLst>
                                      </p:cBhvr>
                                      <p:to>
                                        <p:strVal val="visible"/>
                                      </p:to>
                                    </p:set>
                                    <p:animEffect transition="in" filter="fade">
                                      <p:cBhvr>
                                        <p:cTn id="7" dur="500"/>
                                        <p:tgtEl>
                                          <p:spTgt spid="93190"/>
                                        </p:tgtEl>
                                      </p:cBhvr>
                                    </p:animEffect>
                                  </p:childTnLst>
                                </p:cTn>
                              </p:par>
                              <p:par>
                                <p:cTn id="8" presetID="10" presetClass="entr" presetSubtype="0" fill="hold" nodeType="withEffect">
                                  <p:stCondLst>
                                    <p:cond delay="0"/>
                                  </p:stCondLst>
                                  <p:childTnLst>
                                    <p:set>
                                      <p:cBhvr>
                                        <p:cTn id="9" dur="1" fill="hold">
                                          <p:stCondLst>
                                            <p:cond delay="0"/>
                                          </p:stCondLst>
                                        </p:cTn>
                                        <p:tgtEl>
                                          <p:spTgt spid="93194"/>
                                        </p:tgtEl>
                                        <p:attrNameLst>
                                          <p:attrName>style.visibility</p:attrName>
                                        </p:attrNameLst>
                                      </p:cBhvr>
                                      <p:to>
                                        <p:strVal val="visible"/>
                                      </p:to>
                                    </p:set>
                                    <p:animEffect transition="in" filter="fade">
                                      <p:cBhvr>
                                        <p:cTn id="10" dur="500"/>
                                        <p:tgtEl>
                                          <p:spTgt spid="93194"/>
                                        </p:tgtEl>
                                      </p:cBhvr>
                                    </p:animEffect>
                                  </p:childTnLst>
                                </p:cTn>
                              </p:par>
                              <p:par>
                                <p:cTn id="11" presetID="10" presetClass="entr" presetSubtype="0" fill="hold" nodeType="withEffect">
                                  <p:stCondLst>
                                    <p:cond delay="0"/>
                                  </p:stCondLst>
                                  <p:childTnLst>
                                    <p:set>
                                      <p:cBhvr>
                                        <p:cTn id="12" dur="1" fill="hold">
                                          <p:stCondLst>
                                            <p:cond delay="0"/>
                                          </p:stCondLst>
                                        </p:cTn>
                                        <p:tgtEl>
                                          <p:spTgt spid="93195"/>
                                        </p:tgtEl>
                                        <p:attrNameLst>
                                          <p:attrName>style.visibility</p:attrName>
                                        </p:attrNameLst>
                                      </p:cBhvr>
                                      <p:to>
                                        <p:strVal val="visible"/>
                                      </p:to>
                                    </p:set>
                                    <p:animEffect transition="in" filter="fade">
                                      <p:cBhvr>
                                        <p:cTn id="13" dur="500"/>
                                        <p:tgtEl>
                                          <p:spTgt spid="93195"/>
                                        </p:tgtEl>
                                      </p:cBhvr>
                                    </p:animEffect>
                                  </p:childTnLst>
                                </p:cTn>
                              </p:par>
                              <p:par>
                                <p:cTn id="14" presetID="10" presetClass="entr" presetSubtype="0" fill="hold" nodeType="withEffect">
                                  <p:stCondLst>
                                    <p:cond delay="0"/>
                                  </p:stCondLst>
                                  <p:childTnLst>
                                    <p:set>
                                      <p:cBhvr>
                                        <p:cTn id="15" dur="1" fill="hold">
                                          <p:stCondLst>
                                            <p:cond delay="0"/>
                                          </p:stCondLst>
                                        </p:cTn>
                                        <p:tgtEl>
                                          <p:spTgt spid="93196"/>
                                        </p:tgtEl>
                                        <p:attrNameLst>
                                          <p:attrName>style.visibility</p:attrName>
                                        </p:attrNameLst>
                                      </p:cBhvr>
                                      <p:to>
                                        <p:strVal val="visible"/>
                                      </p:to>
                                    </p:set>
                                    <p:animEffect transition="in" filter="fade">
                                      <p:cBhvr>
                                        <p:cTn id="16" dur="500"/>
                                        <p:tgtEl>
                                          <p:spTgt spid="93196"/>
                                        </p:tgtEl>
                                      </p:cBhvr>
                                    </p:animEffect>
                                  </p:childTnLst>
                                </p:cTn>
                              </p:par>
                              <p:par>
                                <p:cTn id="17" presetID="10" presetClass="entr" presetSubtype="0" fill="hold" nodeType="withEffect">
                                  <p:stCondLst>
                                    <p:cond delay="0"/>
                                  </p:stCondLst>
                                  <p:childTnLst>
                                    <p:set>
                                      <p:cBhvr>
                                        <p:cTn id="18" dur="1" fill="hold">
                                          <p:stCondLst>
                                            <p:cond delay="0"/>
                                          </p:stCondLst>
                                        </p:cTn>
                                        <p:tgtEl>
                                          <p:spTgt spid="93197"/>
                                        </p:tgtEl>
                                        <p:attrNameLst>
                                          <p:attrName>style.visibility</p:attrName>
                                        </p:attrNameLst>
                                      </p:cBhvr>
                                      <p:to>
                                        <p:strVal val="visible"/>
                                      </p:to>
                                    </p:set>
                                    <p:animEffect transition="in" filter="fade">
                                      <p:cBhvr>
                                        <p:cTn id="19" dur="500"/>
                                        <p:tgtEl>
                                          <p:spTgt spid="9319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3191"/>
                                        </p:tgtEl>
                                        <p:attrNameLst>
                                          <p:attrName>style.visibility</p:attrName>
                                        </p:attrNameLst>
                                      </p:cBhvr>
                                      <p:to>
                                        <p:strVal val="visible"/>
                                      </p:to>
                                    </p:set>
                                    <p:animEffect transition="in" filter="fade">
                                      <p:cBhvr>
                                        <p:cTn id="24" dur="500"/>
                                        <p:tgtEl>
                                          <p:spTgt spid="93191"/>
                                        </p:tgtEl>
                                      </p:cBhvr>
                                    </p:animEffect>
                                  </p:childTnLst>
                                </p:cTn>
                              </p:par>
                              <p:par>
                                <p:cTn id="25" presetID="10" presetClass="entr" presetSubtype="0" fill="hold" nodeType="withEffect">
                                  <p:stCondLst>
                                    <p:cond delay="0"/>
                                  </p:stCondLst>
                                  <p:childTnLst>
                                    <p:set>
                                      <p:cBhvr>
                                        <p:cTn id="26" dur="1" fill="hold">
                                          <p:stCondLst>
                                            <p:cond delay="0"/>
                                          </p:stCondLst>
                                        </p:cTn>
                                        <p:tgtEl>
                                          <p:spTgt spid="88078"/>
                                        </p:tgtEl>
                                        <p:attrNameLst>
                                          <p:attrName>style.visibility</p:attrName>
                                        </p:attrNameLst>
                                      </p:cBhvr>
                                      <p:to>
                                        <p:strVal val="visible"/>
                                      </p:to>
                                    </p:set>
                                    <p:animEffect transition="in" filter="fade">
                                      <p:cBhvr>
                                        <p:cTn id="27" dur="500"/>
                                        <p:tgtEl>
                                          <p:spTgt spid="88078"/>
                                        </p:tgtEl>
                                      </p:cBhvr>
                                    </p:animEffect>
                                  </p:childTnLst>
                                </p:cTn>
                              </p:par>
                              <p:par>
                                <p:cTn id="28" presetID="10" presetClass="entr" presetSubtype="0" fill="hold" nodeType="withEffect">
                                  <p:stCondLst>
                                    <p:cond delay="0"/>
                                  </p:stCondLst>
                                  <p:childTnLst>
                                    <p:set>
                                      <p:cBhvr>
                                        <p:cTn id="29" dur="1" fill="hold">
                                          <p:stCondLst>
                                            <p:cond delay="0"/>
                                          </p:stCondLst>
                                        </p:cTn>
                                        <p:tgtEl>
                                          <p:spTgt spid="88079"/>
                                        </p:tgtEl>
                                        <p:attrNameLst>
                                          <p:attrName>style.visibility</p:attrName>
                                        </p:attrNameLst>
                                      </p:cBhvr>
                                      <p:to>
                                        <p:strVal val="visible"/>
                                      </p:to>
                                    </p:set>
                                    <p:animEffect transition="in" filter="fade">
                                      <p:cBhvr>
                                        <p:cTn id="30" dur="500"/>
                                        <p:tgtEl>
                                          <p:spTgt spid="8807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3192"/>
                                        </p:tgtEl>
                                        <p:attrNameLst>
                                          <p:attrName>style.visibility</p:attrName>
                                        </p:attrNameLst>
                                      </p:cBhvr>
                                      <p:to>
                                        <p:strVal val="visible"/>
                                      </p:to>
                                    </p:set>
                                    <p:animEffect transition="in" filter="fade">
                                      <p:cBhvr>
                                        <p:cTn id="33" dur="500"/>
                                        <p:tgtEl>
                                          <p:spTgt spid="9319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3193"/>
                                        </p:tgtEl>
                                        <p:attrNameLst>
                                          <p:attrName>style.visibility</p:attrName>
                                        </p:attrNameLst>
                                      </p:cBhvr>
                                      <p:to>
                                        <p:strVal val="visible"/>
                                      </p:to>
                                    </p:set>
                                    <p:animEffect transition="in" filter="fade">
                                      <p:cBhvr>
                                        <p:cTn id="36" dur="500"/>
                                        <p:tgtEl>
                                          <p:spTgt spid="93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1" grpId="0"/>
      <p:bldP spid="93192" grpId="0"/>
      <p:bldP spid="9319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421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4212" name="Rectangle 2"/>
          <p:cNvSpPr>
            <a:spLocks noGrp="1"/>
          </p:cNvSpPr>
          <p:nvPr>
            <p:ph type="title"/>
          </p:nvPr>
        </p:nvSpPr>
        <p:spPr>
          <a:xfrm>
            <a:off x="395288" y="631825"/>
            <a:ext cx="5791200" cy="571500"/>
          </a:xfrm>
          <a:prstGeom prst="rect">
            <a:avLst/>
          </a:prstGeom>
          <a:noFill/>
          <a:ln w="9525">
            <a:noFill/>
          </a:ln>
        </p:spPr>
        <p:txBody>
          <a:bodyPr/>
          <a:p>
            <a:pPr eaLnBrk="1" hangingPunct="1"/>
            <a:r>
              <a:rPr lang="zh-CN" altLang="en-US" sz="1800" b="1" dirty="0">
                <a:solidFill>
                  <a:srgbClr val="FF0066"/>
                </a:solidFill>
                <a:latin typeface="黑体" panose="02010609060101010101" pitchFamily="49" charset="-122"/>
                <a:ea typeface="黑体" panose="02010609060101010101" pitchFamily="49" charset="-122"/>
              </a:rPr>
              <a:t>对于与或式，共享的门是</a:t>
            </a:r>
            <a:r>
              <a:rPr lang="zh-CN" altLang="en-US" sz="1800" b="1" u="sng" dirty="0">
                <a:solidFill>
                  <a:srgbClr val="FF0066"/>
                </a:solidFill>
                <a:latin typeface="黑体" panose="02010609060101010101" pitchFamily="49" charset="-122"/>
                <a:ea typeface="黑体" panose="02010609060101010101" pitchFamily="49" charset="-122"/>
              </a:rPr>
              <a:t>与非门</a:t>
            </a:r>
            <a:endParaRPr lang="zh-CN" altLang="en-US" sz="1800" b="1" u="sng" dirty="0">
              <a:solidFill>
                <a:srgbClr val="FF0066"/>
              </a:solidFill>
              <a:latin typeface="黑体" panose="02010609060101010101" pitchFamily="49" charset="-122"/>
              <a:ea typeface="黑体" panose="02010609060101010101" pitchFamily="49" charset="-122"/>
            </a:endParaRPr>
          </a:p>
        </p:txBody>
      </p:sp>
      <p:sp>
        <p:nvSpPr>
          <p:cNvPr id="94213" name="Rectangle 3"/>
          <p:cNvSpPr>
            <a:spLocks noGrp="1"/>
          </p:cNvSpPr>
          <p:nvPr>
            <p:ph/>
          </p:nvPr>
        </p:nvSpPr>
        <p:spPr>
          <a:xfrm>
            <a:off x="228600" y="987425"/>
            <a:ext cx="8740140" cy="647700"/>
          </a:xfrm>
          <a:prstGeom prst="rect">
            <a:avLst/>
          </a:prstGeom>
          <a:noFill/>
          <a:ln w="9525">
            <a:noFill/>
          </a:ln>
        </p:spPr>
        <p:txBody>
          <a:bodyPr/>
          <a:p>
            <a:pPr eaLnBrk="1" hangingPunct="1">
              <a:lnSpc>
                <a:spcPct val="150000"/>
              </a:lnSpc>
              <a:buNone/>
            </a:pPr>
            <a:r>
              <a:rPr lang="en-US" altLang="zh-CN" sz="1800" dirty="0">
                <a:latin typeface="黑体" panose="02010609060101010101" pitchFamily="49" charset="-122"/>
                <a:ea typeface="黑体" panose="02010609060101010101" pitchFamily="49" charset="-122"/>
              </a:rPr>
              <a:t> </a:t>
            </a:r>
            <a:r>
              <a:rPr lang="zh-CN" altLang="en-US" sz="1800" u="sng" dirty="0">
                <a:latin typeface="黑体" panose="02010609060101010101" pitchFamily="49" charset="-122"/>
                <a:ea typeface="黑体" panose="02010609060101010101" pitchFamily="49" charset="-122"/>
              </a:rPr>
              <a:t>反变量较多时，如果每个反变量都加个非门太不经济，考虑能否共享</a:t>
            </a:r>
            <a:r>
              <a:rPr lang="en-US" altLang="zh-CN" sz="1800" u="sng" dirty="0">
                <a:latin typeface="黑体" panose="02010609060101010101" pitchFamily="49" charset="-122"/>
                <a:ea typeface="黑体" panose="02010609060101010101" pitchFamily="49" charset="-122"/>
              </a:rPr>
              <a:t>“</a:t>
            </a:r>
            <a:r>
              <a:rPr lang="zh-CN" altLang="en-US" sz="1800" u="sng" dirty="0">
                <a:latin typeface="黑体" panose="02010609060101010101" pitchFamily="49" charset="-122"/>
                <a:ea typeface="黑体" panose="02010609060101010101" pitchFamily="49" charset="-122"/>
              </a:rPr>
              <a:t>与非门</a:t>
            </a:r>
            <a:r>
              <a:rPr lang="en-US" altLang="zh-CN" sz="1800" u="sng" dirty="0">
                <a:latin typeface="黑体" panose="02010609060101010101" pitchFamily="49" charset="-122"/>
                <a:ea typeface="黑体" panose="02010609060101010101" pitchFamily="49" charset="-122"/>
              </a:rPr>
              <a:t>”</a:t>
            </a:r>
            <a:r>
              <a:rPr lang="zh-CN" altLang="en-US" sz="1800" u="sng" dirty="0">
                <a:latin typeface="黑体" panose="02010609060101010101" pitchFamily="49" charset="-122"/>
                <a:ea typeface="黑体" panose="02010609060101010101" pitchFamily="49" charset="-122"/>
              </a:rPr>
              <a:t>，即寻找</a:t>
            </a:r>
            <a:r>
              <a:rPr lang="zh-CN" altLang="en-US" sz="1800" b="1" u="sng" dirty="0">
                <a:solidFill>
                  <a:srgbClr val="0000FF"/>
                </a:solidFill>
                <a:latin typeface="黑体" panose="02010609060101010101" pitchFamily="49" charset="-122"/>
                <a:ea typeface="黑体" panose="02010609060101010101" pitchFamily="49" charset="-122"/>
              </a:rPr>
              <a:t>把多个单输入非门合并成一个多输入与非门</a:t>
            </a:r>
            <a:r>
              <a:rPr lang="zh-CN" altLang="en-US" sz="1800" u="sng" dirty="0">
                <a:latin typeface="黑体" panose="02010609060101010101" pitchFamily="49" charset="-122"/>
                <a:ea typeface="黑体" panose="02010609060101010101" pitchFamily="49" charset="-122"/>
              </a:rPr>
              <a:t>的方法可以减少非门的个数。</a:t>
            </a:r>
            <a:endParaRPr lang="zh-CN" altLang="en-US" sz="1800" b="1" u="sng" dirty="0">
              <a:latin typeface="黑体" panose="02010609060101010101" pitchFamily="49" charset="-122"/>
              <a:ea typeface="黑体" panose="02010609060101010101" pitchFamily="49" charset="-122"/>
            </a:endParaRPr>
          </a:p>
        </p:txBody>
      </p:sp>
      <p:sp>
        <p:nvSpPr>
          <p:cNvPr id="94214" name="Rectangle 4"/>
          <p:cNvSpPr/>
          <p:nvPr/>
        </p:nvSpPr>
        <p:spPr>
          <a:xfrm>
            <a:off x="395288" y="2063750"/>
            <a:ext cx="8604250" cy="1876425"/>
          </a:xfrm>
          <a:prstGeom prst="rect">
            <a:avLst/>
          </a:prstGeom>
          <a:noFill/>
          <a:ln w="9525">
            <a:noFill/>
          </a:ln>
        </p:spPr>
        <p:txBody>
          <a:bodyPr/>
          <a:p>
            <a:pPr marL="342900" indent="-342900" eaLnBrk="1" hangingPunct="1">
              <a:spcBef>
                <a:spcPts val="6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化简的</a:t>
            </a:r>
            <a:r>
              <a:rPr lang="zh-CN" altLang="en-US" sz="1800" b="1" dirty="0">
                <a:solidFill>
                  <a:schemeClr val="tx1"/>
                </a:solidFill>
                <a:latin typeface="黑体" panose="02010609060101010101" pitchFamily="49" charset="-122"/>
                <a:ea typeface="黑体" panose="02010609060101010101" pitchFamily="49" charset="-122"/>
              </a:rPr>
              <a:t>主要方法</a:t>
            </a:r>
            <a:r>
              <a:rPr lang="zh-CN" altLang="en-US" sz="1800" dirty="0">
                <a:solidFill>
                  <a:schemeClr val="tx1"/>
                </a:solidFill>
                <a:latin typeface="黑体" panose="02010609060101010101" pitchFamily="49" charset="-122"/>
                <a:ea typeface="黑体" panose="02010609060101010101" pitchFamily="49" charset="-122"/>
              </a:rPr>
              <a:t>有以下两种：</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dirty="0">
                <a:solidFill>
                  <a:srgbClr val="FF0000"/>
                </a:solidFill>
                <a:latin typeface="黑体" panose="02010609060101010101" pitchFamily="49" charset="-122"/>
                <a:ea typeface="黑体" panose="02010609060101010101" pitchFamily="49" charset="-122"/>
              </a:rPr>
              <a:t>1.  </a:t>
            </a:r>
            <a:r>
              <a:rPr lang="zh-CN" altLang="en-US" sz="1800" b="1" dirty="0">
                <a:solidFill>
                  <a:srgbClr val="0000FF"/>
                </a:solidFill>
                <a:latin typeface="黑体" panose="02010609060101010101" pitchFamily="49" charset="-122"/>
                <a:ea typeface="黑体" panose="02010609060101010101" pitchFamily="49" charset="-122"/>
              </a:rPr>
              <a:t>替代尾因子法</a:t>
            </a:r>
            <a:endParaRPr lang="en-US" altLang="zh-CN" sz="1800" b="1" dirty="0">
              <a:solidFill>
                <a:srgbClr val="FF0000"/>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定义：</a:t>
            </a:r>
            <a:r>
              <a:rPr lang="zh-CN" altLang="en-US" sz="1800" u="sng" dirty="0">
                <a:solidFill>
                  <a:srgbClr val="FF0000"/>
                </a:solidFill>
                <a:latin typeface="黑体" panose="02010609060101010101" pitchFamily="49" charset="-122"/>
                <a:ea typeface="黑体" panose="02010609060101010101" pitchFamily="49" charset="-122"/>
              </a:rPr>
              <a:t>每个与项中</a:t>
            </a:r>
            <a:r>
              <a:rPr lang="zh-CN" altLang="en-US" sz="1800" dirty="0">
                <a:solidFill>
                  <a:schemeClr val="tx1"/>
                </a:solidFill>
                <a:latin typeface="黑体" panose="02010609060101010101" pitchFamily="49" charset="-122"/>
                <a:ea typeface="黑体" panose="02010609060101010101" pitchFamily="49" charset="-122"/>
              </a:rPr>
              <a:t>原变量部分称为</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头因子</a:t>
            </a:r>
            <a:r>
              <a:rPr lang="en-US" altLang="zh-CN" sz="1800" b="1" dirty="0">
                <a:solidFill>
                  <a:srgbClr val="FF0000"/>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，反变量部分称为</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尾因子</a:t>
            </a:r>
            <a:r>
              <a:rPr lang="en-US" altLang="zh-CN" sz="1800" b="1" dirty="0">
                <a:solidFill>
                  <a:srgbClr val="FF0000"/>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特点：</a:t>
            </a:r>
            <a:r>
              <a:rPr lang="zh-CN" altLang="en-US" sz="1800" dirty="0">
                <a:solidFill>
                  <a:schemeClr val="tx1"/>
                </a:solidFill>
                <a:latin typeface="黑体" panose="02010609060101010101" pitchFamily="49" charset="-122"/>
                <a:ea typeface="黑体" panose="02010609060101010101" pitchFamily="49" charset="-122"/>
              </a:rPr>
              <a:t>把头因子中的任何变量放入任意一个尾因子中，该与项不变，即</a:t>
            </a:r>
            <a:r>
              <a:rPr lang="zh-CN" altLang="en-US" sz="1800" b="1" dirty="0">
                <a:solidFill>
                  <a:srgbClr val="FF0000"/>
                </a:solidFill>
                <a:latin typeface="黑体" panose="02010609060101010101" pitchFamily="49" charset="-122"/>
                <a:ea typeface="黑体" panose="02010609060101010101" pitchFamily="49" charset="-122"/>
              </a:rPr>
              <a:t>头因子</a:t>
            </a:r>
            <a:endParaRPr lang="zh-CN" altLang="en-US" sz="1800" b="1" dirty="0">
              <a:solidFill>
                <a:srgbClr val="FF0000"/>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zh-CN" altLang="en-US" sz="1800" b="1" dirty="0">
                <a:solidFill>
                  <a:srgbClr val="FF0000"/>
                </a:solidFill>
                <a:latin typeface="黑体" panose="02010609060101010101" pitchFamily="49" charset="-122"/>
                <a:ea typeface="黑体" panose="02010609060101010101" pitchFamily="49" charset="-122"/>
              </a:rPr>
              <a:t> </a:t>
            </a:r>
            <a:r>
              <a:rPr lang="en-US" altLang="zh-CN" sz="1800" b="1" dirty="0">
                <a:solidFill>
                  <a:srgbClr val="FF0000"/>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是不变的</a:t>
            </a:r>
            <a:r>
              <a:rPr lang="zh-CN" altLang="en-US" sz="1800" dirty="0">
                <a:solidFill>
                  <a:srgbClr val="FF0000"/>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尾因子是可变的</a:t>
            </a:r>
            <a:r>
              <a:rPr lang="zh-CN" altLang="en-US"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85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4215" name="Group 22"/>
          <p:cNvGrpSpPr/>
          <p:nvPr/>
        </p:nvGrpSpPr>
        <p:grpSpPr>
          <a:xfrm>
            <a:off x="228600" y="4114800"/>
            <a:ext cx="8763000" cy="783035"/>
            <a:chOff x="0" y="0"/>
            <a:chExt cx="5520" cy="658"/>
          </a:xfrm>
        </p:grpSpPr>
        <p:sp>
          <p:nvSpPr>
            <p:cNvPr id="94228" name="Text Box 8"/>
            <p:cNvSpPr txBox="1"/>
            <p:nvPr/>
          </p:nvSpPr>
          <p:spPr>
            <a:xfrm>
              <a:off x="0" y="0"/>
              <a:ext cx="5520" cy="658"/>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例：用摩根定理证明</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 = AB</a:t>
              </a:r>
              <a:r>
                <a:rPr lang="en-US" altLang="zh-CN" sz="1800" dirty="0">
                  <a:solidFill>
                    <a:srgbClr val="FF0000"/>
                  </a:solidFill>
                  <a:latin typeface="黑体" panose="02010609060101010101" pitchFamily="49" charset="-122"/>
                  <a:ea typeface="黑体" panose="02010609060101010101" pitchFamily="49" charset="-122"/>
                </a:rPr>
                <a:t>C DE </a:t>
              </a:r>
              <a:r>
                <a:rPr lang="en-US" altLang="zh-CN" sz="1800" dirty="0">
                  <a:solidFill>
                    <a:schemeClr val="tx1"/>
                  </a:solidFill>
                  <a:latin typeface="黑体" panose="02010609060101010101" pitchFamily="49" charset="-122"/>
                  <a:ea typeface="黑体" panose="02010609060101010101" pitchFamily="49" charset="-122"/>
                </a:rPr>
                <a:t>= AB </a:t>
              </a:r>
              <a:r>
                <a:rPr lang="en-US" altLang="zh-CN" sz="1800" dirty="0">
                  <a:solidFill>
                    <a:srgbClr val="FF0066"/>
                  </a:solidFill>
                  <a:latin typeface="黑体" panose="02010609060101010101" pitchFamily="49" charset="-122"/>
                  <a:ea typeface="黑体" panose="02010609060101010101" pitchFamily="49" charset="-122"/>
                </a:rPr>
                <a:t>AC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DE</a:t>
              </a:r>
              <a:r>
                <a:rPr lang="en-US" altLang="zh-CN" sz="1800" dirty="0">
                  <a:solidFill>
                    <a:schemeClr val="tx1"/>
                  </a:solidFill>
                  <a:latin typeface="黑体" panose="02010609060101010101" pitchFamily="49" charset="-122"/>
                  <a:ea typeface="黑体" panose="02010609060101010101" pitchFamily="49" charset="-122"/>
                </a:rPr>
                <a:t> = AB </a:t>
              </a:r>
              <a:r>
                <a:rPr lang="en-US" altLang="zh-CN" sz="1800" dirty="0">
                  <a:solidFill>
                    <a:srgbClr val="FF0066"/>
                  </a:solidFill>
                  <a:latin typeface="黑体" panose="02010609060101010101" pitchFamily="49" charset="-122"/>
                  <a:ea typeface="黑体" panose="02010609060101010101" pitchFamily="49" charset="-122"/>
                </a:rPr>
                <a:t>BC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DE</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 </a:t>
              </a:r>
              <a:r>
                <a:rPr lang="en-US" altLang="zh-CN" sz="1800" dirty="0">
                  <a:solidFill>
                    <a:srgbClr val="FF0066"/>
                  </a:solidFill>
                  <a:latin typeface="黑体" panose="02010609060101010101" pitchFamily="49" charset="-122"/>
                  <a:ea typeface="黑体" panose="02010609060101010101" pitchFamily="49" charset="-122"/>
                </a:rPr>
                <a:t>ABC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DE</a:t>
              </a:r>
              <a:r>
                <a:rPr lang="en-US" altLang="zh-CN" sz="1800" dirty="0">
                  <a:solidFill>
                    <a:schemeClr val="tx1"/>
                  </a:solidFill>
                  <a:latin typeface="黑体" panose="02010609060101010101" pitchFamily="49" charset="-122"/>
                  <a:ea typeface="黑体" panose="02010609060101010101" pitchFamily="49" charset="-122"/>
                </a:rPr>
                <a:t> = AB </a:t>
              </a:r>
              <a:r>
                <a:rPr lang="en-US" altLang="zh-CN" sz="1800" dirty="0">
                  <a:solidFill>
                    <a:srgbClr val="FF0066"/>
                  </a:solidFill>
                  <a:latin typeface="黑体" panose="02010609060101010101" pitchFamily="49" charset="-122"/>
                  <a:ea typeface="黑体" panose="02010609060101010101" pitchFamily="49" charset="-122"/>
                </a:rPr>
                <a:t>ABC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ADE</a:t>
              </a:r>
              <a:r>
                <a:rPr lang="en-US" altLang="zh-CN" sz="1800" dirty="0">
                  <a:solidFill>
                    <a:schemeClr val="tx1"/>
                  </a:solidFill>
                  <a:latin typeface="黑体" panose="02010609060101010101" pitchFamily="49" charset="-122"/>
                  <a:ea typeface="黑体" panose="02010609060101010101" pitchFamily="49" charset="-122"/>
                </a:rPr>
                <a:t> = AB </a:t>
              </a:r>
              <a:r>
                <a:rPr lang="en-US" altLang="zh-CN" sz="1800" dirty="0">
                  <a:solidFill>
                    <a:srgbClr val="FF0066"/>
                  </a:solidFill>
                  <a:latin typeface="黑体" panose="02010609060101010101" pitchFamily="49" charset="-122"/>
                  <a:ea typeface="黑体" panose="02010609060101010101" pitchFamily="49" charset="-122"/>
                </a:rPr>
                <a:t>ABC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ABDE</a:t>
              </a:r>
              <a:endParaRPr lang="en-US" altLang="zh-CN" sz="1800" dirty="0">
                <a:solidFill>
                  <a:srgbClr val="FF0066"/>
                </a:solidFill>
                <a:latin typeface="黑体" panose="02010609060101010101" pitchFamily="49" charset="-122"/>
                <a:ea typeface="黑体" panose="02010609060101010101" pitchFamily="49" charset="-122"/>
              </a:endParaRPr>
            </a:p>
          </p:txBody>
        </p:sp>
        <p:sp>
          <p:nvSpPr>
            <p:cNvPr id="94229" name="Line 9"/>
            <p:cNvSpPr/>
            <p:nvPr/>
          </p:nvSpPr>
          <p:spPr>
            <a:xfrm>
              <a:off x="2736" y="60"/>
              <a:ext cx="96" cy="0"/>
            </a:xfrm>
            <a:prstGeom prst="line">
              <a:avLst/>
            </a:prstGeom>
            <a:ln w="9525" cap="flat" cmpd="sng">
              <a:solidFill>
                <a:schemeClr val="bg1"/>
              </a:solidFill>
              <a:prstDash val="solid"/>
              <a:headEnd type="none" w="med" len="med"/>
              <a:tailEnd type="none" w="med" len="med"/>
            </a:ln>
          </p:spPr>
        </p:sp>
        <p:sp>
          <p:nvSpPr>
            <p:cNvPr id="94230" name="Line 10"/>
            <p:cNvSpPr/>
            <p:nvPr/>
          </p:nvSpPr>
          <p:spPr>
            <a:xfrm>
              <a:off x="2892" y="60"/>
              <a:ext cx="240" cy="0"/>
            </a:xfrm>
            <a:prstGeom prst="line">
              <a:avLst/>
            </a:prstGeom>
            <a:ln w="9525" cap="flat" cmpd="sng">
              <a:solidFill>
                <a:schemeClr val="bg1"/>
              </a:solidFill>
              <a:prstDash val="solid"/>
              <a:headEnd type="none" w="med" len="med"/>
              <a:tailEnd type="none" w="med" len="med"/>
            </a:ln>
          </p:spPr>
        </p:sp>
        <p:sp>
          <p:nvSpPr>
            <p:cNvPr id="94231" name="Line 11"/>
            <p:cNvSpPr/>
            <p:nvPr/>
          </p:nvSpPr>
          <p:spPr>
            <a:xfrm>
              <a:off x="3672" y="60"/>
              <a:ext cx="240" cy="0"/>
            </a:xfrm>
            <a:prstGeom prst="line">
              <a:avLst/>
            </a:prstGeom>
            <a:ln w="9525" cap="flat" cmpd="sng">
              <a:solidFill>
                <a:schemeClr val="bg1"/>
              </a:solidFill>
              <a:prstDash val="solid"/>
              <a:headEnd type="none" w="med" len="med"/>
              <a:tailEnd type="none" w="med" len="med"/>
            </a:ln>
          </p:spPr>
        </p:sp>
        <p:sp>
          <p:nvSpPr>
            <p:cNvPr id="94232" name="Line 12"/>
            <p:cNvSpPr/>
            <p:nvPr/>
          </p:nvSpPr>
          <p:spPr>
            <a:xfrm>
              <a:off x="3972" y="60"/>
              <a:ext cx="240" cy="0"/>
            </a:xfrm>
            <a:prstGeom prst="line">
              <a:avLst/>
            </a:prstGeom>
            <a:ln w="9525" cap="flat" cmpd="sng">
              <a:solidFill>
                <a:schemeClr val="bg1"/>
              </a:solidFill>
              <a:prstDash val="solid"/>
              <a:headEnd type="none" w="med" len="med"/>
              <a:tailEnd type="none" w="med" len="med"/>
            </a:ln>
          </p:spPr>
        </p:sp>
        <p:sp>
          <p:nvSpPr>
            <p:cNvPr id="94233" name="Line 13"/>
            <p:cNvSpPr/>
            <p:nvPr/>
          </p:nvSpPr>
          <p:spPr>
            <a:xfrm>
              <a:off x="4764" y="60"/>
              <a:ext cx="240" cy="0"/>
            </a:xfrm>
            <a:prstGeom prst="line">
              <a:avLst/>
            </a:prstGeom>
            <a:ln w="9525" cap="flat" cmpd="sng">
              <a:solidFill>
                <a:schemeClr val="bg1"/>
              </a:solidFill>
              <a:prstDash val="solid"/>
              <a:headEnd type="none" w="med" len="med"/>
              <a:tailEnd type="none" w="med" len="med"/>
            </a:ln>
          </p:spPr>
        </p:sp>
        <p:sp>
          <p:nvSpPr>
            <p:cNvPr id="94234" name="Line 14"/>
            <p:cNvSpPr/>
            <p:nvPr/>
          </p:nvSpPr>
          <p:spPr>
            <a:xfrm>
              <a:off x="5064" y="60"/>
              <a:ext cx="240" cy="0"/>
            </a:xfrm>
            <a:prstGeom prst="line">
              <a:avLst/>
            </a:prstGeom>
            <a:ln w="9525" cap="flat" cmpd="sng">
              <a:solidFill>
                <a:schemeClr val="bg1"/>
              </a:solidFill>
              <a:prstDash val="solid"/>
              <a:headEnd type="none" w="med" len="med"/>
              <a:tailEnd type="none" w="med" len="med"/>
            </a:ln>
          </p:spPr>
        </p:sp>
        <p:sp>
          <p:nvSpPr>
            <p:cNvPr id="94235" name="Line 15"/>
            <p:cNvSpPr/>
            <p:nvPr/>
          </p:nvSpPr>
          <p:spPr>
            <a:xfrm>
              <a:off x="1776" y="420"/>
              <a:ext cx="384" cy="0"/>
            </a:xfrm>
            <a:prstGeom prst="line">
              <a:avLst/>
            </a:prstGeom>
            <a:ln w="9525" cap="flat" cmpd="sng">
              <a:solidFill>
                <a:schemeClr val="bg1"/>
              </a:solidFill>
              <a:prstDash val="solid"/>
              <a:headEnd type="none" w="med" len="med"/>
              <a:tailEnd type="none" w="med" len="med"/>
            </a:ln>
          </p:spPr>
        </p:sp>
        <p:sp>
          <p:nvSpPr>
            <p:cNvPr id="94236" name="Line 16"/>
            <p:cNvSpPr/>
            <p:nvPr/>
          </p:nvSpPr>
          <p:spPr>
            <a:xfrm>
              <a:off x="2220" y="420"/>
              <a:ext cx="240" cy="0"/>
            </a:xfrm>
            <a:prstGeom prst="line">
              <a:avLst/>
            </a:prstGeom>
            <a:ln w="9525" cap="flat" cmpd="sng">
              <a:solidFill>
                <a:schemeClr val="bg1"/>
              </a:solidFill>
              <a:prstDash val="solid"/>
              <a:headEnd type="none" w="med" len="med"/>
              <a:tailEnd type="none" w="med" len="med"/>
            </a:ln>
          </p:spPr>
        </p:sp>
        <p:sp>
          <p:nvSpPr>
            <p:cNvPr id="94237" name="Line 17"/>
            <p:cNvSpPr/>
            <p:nvPr/>
          </p:nvSpPr>
          <p:spPr>
            <a:xfrm>
              <a:off x="2976" y="420"/>
              <a:ext cx="384" cy="0"/>
            </a:xfrm>
            <a:prstGeom prst="line">
              <a:avLst/>
            </a:prstGeom>
            <a:ln w="9525" cap="flat" cmpd="sng">
              <a:solidFill>
                <a:schemeClr val="bg1"/>
              </a:solidFill>
              <a:prstDash val="solid"/>
              <a:headEnd type="none" w="med" len="med"/>
              <a:tailEnd type="none" w="med" len="med"/>
            </a:ln>
          </p:spPr>
        </p:sp>
        <p:sp>
          <p:nvSpPr>
            <p:cNvPr id="94238" name="Line 18"/>
            <p:cNvSpPr/>
            <p:nvPr/>
          </p:nvSpPr>
          <p:spPr>
            <a:xfrm>
              <a:off x="3432" y="420"/>
              <a:ext cx="384" cy="0"/>
            </a:xfrm>
            <a:prstGeom prst="line">
              <a:avLst/>
            </a:prstGeom>
            <a:ln w="9525" cap="flat" cmpd="sng">
              <a:solidFill>
                <a:schemeClr val="bg1"/>
              </a:solidFill>
              <a:prstDash val="solid"/>
              <a:headEnd type="none" w="med" len="med"/>
              <a:tailEnd type="none" w="med" len="med"/>
            </a:ln>
          </p:spPr>
        </p:sp>
        <p:sp>
          <p:nvSpPr>
            <p:cNvPr id="94239" name="Line 19"/>
            <p:cNvSpPr/>
            <p:nvPr/>
          </p:nvSpPr>
          <p:spPr>
            <a:xfrm>
              <a:off x="4344" y="420"/>
              <a:ext cx="384" cy="0"/>
            </a:xfrm>
            <a:prstGeom prst="line">
              <a:avLst/>
            </a:prstGeom>
            <a:ln w="9525" cap="flat" cmpd="sng">
              <a:solidFill>
                <a:schemeClr val="bg1"/>
              </a:solidFill>
              <a:prstDash val="solid"/>
              <a:headEnd type="none" w="med" len="med"/>
              <a:tailEnd type="none" w="med" len="med"/>
            </a:ln>
          </p:spPr>
        </p:sp>
        <p:sp>
          <p:nvSpPr>
            <p:cNvPr id="94240" name="Line 20"/>
            <p:cNvSpPr/>
            <p:nvPr/>
          </p:nvSpPr>
          <p:spPr>
            <a:xfrm>
              <a:off x="4800" y="420"/>
              <a:ext cx="480" cy="0"/>
            </a:xfrm>
            <a:prstGeom prst="line">
              <a:avLst/>
            </a:prstGeom>
            <a:ln w="9525" cap="flat" cmpd="sng">
              <a:solidFill>
                <a:schemeClr val="bg1"/>
              </a:solidFill>
              <a:prstDash val="solid"/>
              <a:headEnd type="none" w="med" len="med"/>
              <a:tailEnd type="none" w="med" len="med"/>
            </a:ln>
          </p:spPr>
        </p:sp>
      </p:grpSp>
      <p:sp>
        <p:nvSpPr>
          <p:cNvPr id="89096" name="Line 21"/>
          <p:cNvSpPr>
            <a:spLocks noChangeShapeType="1"/>
          </p:cNvSpPr>
          <p:nvPr/>
        </p:nvSpPr>
        <p:spPr bwMode="auto">
          <a:xfrm>
            <a:off x="3203575" y="4156075"/>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097" name="Line 22"/>
          <p:cNvSpPr>
            <a:spLocks noChangeShapeType="1"/>
          </p:cNvSpPr>
          <p:nvPr/>
        </p:nvSpPr>
        <p:spPr bwMode="auto">
          <a:xfrm>
            <a:off x="3419475"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098" name="Line 23"/>
          <p:cNvSpPr>
            <a:spLocks noChangeShapeType="1"/>
          </p:cNvSpPr>
          <p:nvPr/>
        </p:nvSpPr>
        <p:spPr bwMode="auto">
          <a:xfrm>
            <a:off x="4356100"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099" name="Line 24"/>
          <p:cNvSpPr>
            <a:spLocks noChangeShapeType="1"/>
          </p:cNvSpPr>
          <p:nvPr/>
        </p:nvSpPr>
        <p:spPr bwMode="auto">
          <a:xfrm>
            <a:off x="4684713"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0" name="Line 25"/>
          <p:cNvSpPr>
            <a:spLocks noChangeShapeType="1"/>
          </p:cNvSpPr>
          <p:nvPr/>
        </p:nvSpPr>
        <p:spPr bwMode="auto">
          <a:xfrm>
            <a:off x="5580063"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1" name="Line 26"/>
          <p:cNvSpPr>
            <a:spLocks noChangeShapeType="1"/>
          </p:cNvSpPr>
          <p:nvPr/>
        </p:nvSpPr>
        <p:spPr bwMode="auto">
          <a:xfrm>
            <a:off x="5940425"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2" name="Line 27"/>
          <p:cNvSpPr>
            <a:spLocks noChangeShapeType="1"/>
          </p:cNvSpPr>
          <p:nvPr/>
        </p:nvSpPr>
        <p:spPr bwMode="auto">
          <a:xfrm>
            <a:off x="3851275" y="4587875"/>
            <a:ext cx="3603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3" name="Line 28"/>
          <p:cNvSpPr>
            <a:spLocks noChangeShapeType="1"/>
          </p:cNvSpPr>
          <p:nvPr/>
        </p:nvSpPr>
        <p:spPr bwMode="auto">
          <a:xfrm>
            <a:off x="4324350" y="45878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4" name="Line 29"/>
          <p:cNvSpPr>
            <a:spLocks noChangeShapeType="1"/>
          </p:cNvSpPr>
          <p:nvPr/>
        </p:nvSpPr>
        <p:spPr bwMode="auto">
          <a:xfrm>
            <a:off x="5219700" y="4587875"/>
            <a:ext cx="3603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5" name="Line 30"/>
          <p:cNvSpPr>
            <a:spLocks noChangeShapeType="1"/>
          </p:cNvSpPr>
          <p:nvPr/>
        </p:nvSpPr>
        <p:spPr bwMode="auto">
          <a:xfrm>
            <a:off x="5724525" y="4587875"/>
            <a:ext cx="2873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6" name="Line 31"/>
          <p:cNvSpPr>
            <a:spLocks noChangeShapeType="1"/>
          </p:cNvSpPr>
          <p:nvPr/>
        </p:nvSpPr>
        <p:spPr bwMode="auto">
          <a:xfrm>
            <a:off x="6694488" y="4587875"/>
            <a:ext cx="3603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7" name="Line 32"/>
          <p:cNvSpPr>
            <a:spLocks noChangeShapeType="1"/>
          </p:cNvSpPr>
          <p:nvPr/>
        </p:nvSpPr>
        <p:spPr bwMode="auto">
          <a:xfrm>
            <a:off x="7196138" y="4587875"/>
            <a:ext cx="4318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214">
                                            <p:txEl>
                                              <p:charRg st="14" end="26"/>
                                            </p:txEl>
                                          </p:spTgt>
                                        </p:tgtEl>
                                        <p:attrNameLst>
                                          <p:attrName>style.visibility</p:attrName>
                                        </p:attrNameLst>
                                      </p:cBhvr>
                                      <p:to>
                                        <p:strVal val="visible"/>
                                      </p:to>
                                    </p:set>
                                    <p:animEffect transition="in" filter="fade">
                                      <p:cBhvr>
                                        <p:cTn id="7" dur="500"/>
                                        <p:tgtEl>
                                          <p:spTgt spid="94214">
                                            <p:txEl>
                                              <p:charRg st="14" end="2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4214">
                                            <p:txEl>
                                              <p:charRg st="26" end="58"/>
                                            </p:txEl>
                                          </p:spTgt>
                                        </p:tgtEl>
                                        <p:attrNameLst>
                                          <p:attrName>style.visibility</p:attrName>
                                        </p:attrNameLst>
                                      </p:cBhvr>
                                      <p:to>
                                        <p:strVal val="visible"/>
                                      </p:to>
                                    </p:set>
                                    <p:animEffect transition="in" filter="fade">
                                      <p:cBhvr>
                                        <p:cTn id="10" dur="500"/>
                                        <p:tgtEl>
                                          <p:spTgt spid="94214">
                                            <p:txEl>
                                              <p:charRg st="26" end="5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4214">
                                            <p:txEl>
                                              <p:charRg st="58" end="99"/>
                                            </p:txEl>
                                          </p:spTgt>
                                        </p:tgtEl>
                                        <p:attrNameLst>
                                          <p:attrName>style.visibility</p:attrName>
                                        </p:attrNameLst>
                                      </p:cBhvr>
                                      <p:to>
                                        <p:strVal val="visible"/>
                                      </p:to>
                                    </p:set>
                                    <p:animEffect transition="in" filter="fade">
                                      <p:cBhvr>
                                        <p:cTn id="13" dur="500"/>
                                        <p:tgtEl>
                                          <p:spTgt spid="94214">
                                            <p:txEl>
                                              <p:charRg st="58" end="9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4214">
                                            <p:txEl>
                                              <p:charRg st="4" end="4"/>
                                            </p:txEl>
                                          </p:spTgt>
                                        </p:tgtEl>
                                        <p:attrNameLst>
                                          <p:attrName>style.visibility</p:attrName>
                                        </p:attrNameLst>
                                      </p:cBhvr>
                                      <p:to>
                                        <p:strVal val="visible"/>
                                      </p:to>
                                    </p:set>
                                    <p:animEffect transition="in" filter="fade">
                                      <p:cBhvr>
                                        <p:cTn id="16" dur="500"/>
                                        <p:tgtEl>
                                          <p:spTgt spid="94214">
                                            <p:txEl>
                                              <p:char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4214">
                                            <p:txEl>
                                              <p:charRg st="117" end="119"/>
                                            </p:txEl>
                                          </p:spTgt>
                                        </p:tgtEl>
                                        <p:attrNameLst>
                                          <p:attrName>style.visibility</p:attrName>
                                        </p:attrNameLst>
                                      </p:cBhvr>
                                      <p:to>
                                        <p:strVal val="visible"/>
                                      </p:to>
                                    </p:set>
                                    <p:animEffect transition="in" filter="fade">
                                      <p:cBhvr>
                                        <p:cTn id="19" dur="500"/>
                                        <p:tgtEl>
                                          <p:spTgt spid="94214">
                                            <p:txEl>
                                              <p:charRg st="117" end="11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9096"/>
                                        </p:tgtEl>
                                        <p:attrNameLst>
                                          <p:attrName>style.visibility</p:attrName>
                                        </p:attrNameLst>
                                      </p:cBhvr>
                                      <p:to>
                                        <p:strVal val="visible"/>
                                      </p:to>
                                    </p:set>
                                    <p:animEffect transition="in" filter="fade">
                                      <p:cBhvr>
                                        <p:cTn id="24" dur="500"/>
                                        <p:tgtEl>
                                          <p:spTgt spid="89096"/>
                                        </p:tgtEl>
                                      </p:cBhvr>
                                    </p:animEffect>
                                  </p:childTnLst>
                                </p:cTn>
                              </p:par>
                              <p:par>
                                <p:cTn id="25" presetID="10" presetClass="entr" presetSubtype="0" fill="hold" nodeType="withEffect">
                                  <p:stCondLst>
                                    <p:cond delay="0"/>
                                  </p:stCondLst>
                                  <p:childTnLst>
                                    <p:set>
                                      <p:cBhvr>
                                        <p:cTn id="26" dur="1" fill="hold">
                                          <p:stCondLst>
                                            <p:cond delay="0"/>
                                          </p:stCondLst>
                                        </p:cTn>
                                        <p:tgtEl>
                                          <p:spTgt spid="89097"/>
                                        </p:tgtEl>
                                        <p:attrNameLst>
                                          <p:attrName>style.visibility</p:attrName>
                                        </p:attrNameLst>
                                      </p:cBhvr>
                                      <p:to>
                                        <p:strVal val="visible"/>
                                      </p:to>
                                    </p:set>
                                    <p:animEffect transition="in" filter="fade">
                                      <p:cBhvr>
                                        <p:cTn id="27" dur="500"/>
                                        <p:tgtEl>
                                          <p:spTgt spid="89097"/>
                                        </p:tgtEl>
                                      </p:cBhvr>
                                    </p:animEffect>
                                  </p:childTnLst>
                                </p:cTn>
                              </p:par>
                              <p:par>
                                <p:cTn id="28" presetID="10" presetClass="entr" presetSubtype="0" fill="hold" nodeType="withEffect">
                                  <p:stCondLst>
                                    <p:cond delay="0"/>
                                  </p:stCondLst>
                                  <p:childTnLst>
                                    <p:set>
                                      <p:cBhvr>
                                        <p:cTn id="29" dur="1" fill="hold">
                                          <p:stCondLst>
                                            <p:cond delay="0"/>
                                          </p:stCondLst>
                                        </p:cTn>
                                        <p:tgtEl>
                                          <p:spTgt spid="89098"/>
                                        </p:tgtEl>
                                        <p:attrNameLst>
                                          <p:attrName>style.visibility</p:attrName>
                                        </p:attrNameLst>
                                      </p:cBhvr>
                                      <p:to>
                                        <p:strVal val="visible"/>
                                      </p:to>
                                    </p:set>
                                    <p:animEffect transition="in" filter="fade">
                                      <p:cBhvr>
                                        <p:cTn id="30" dur="500"/>
                                        <p:tgtEl>
                                          <p:spTgt spid="89098"/>
                                        </p:tgtEl>
                                      </p:cBhvr>
                                    </p:animEffect>
                                  </p:childTnLst>
                                </p:cTn>
                              </p:par>
                              <p:par>
                                <p:cTn id="31" presetID="10" presetClass="entr" presetSubtype="0" fill="hold" nodeType="withEffect">
                                  <p:stCondLst>
                                    <p:cond delay="0"/>
                                  </p:stCondLst>
                                  <p:childTnLst>
                                    <p:set>
                                      <p:cBhvr>
                                        <p:cTn id="32" dur="1" fill="hold">
                                          <p:stCondLst>
                                            <p:cond delay="0"/>
                                          </p:stCondLst>
                                        </p:cTn>
                                        <p:tgtEl>
                                          <p:spTgt spid="89099"/>
                                        </p:tgtEl>
                                        <p:attrNameLst>
                                          <p:attrName>style.visibility</p:attrName>
                                        </p:attrNameLst>
                                      </p:cBhvr>
                                      <p:to>
                                        <p:strVal val="visible"/>
                                      </p:to>
                                    </p:set>
                                    <p:animEffect transition="in" filter="fade">
                                      <p:cBhvr>
                                        <p:cTn id="33" dur="500"/>
                                        <p:tgtEl>
                                          <p:spTgt spid="89099"/>
                                        </p:tgtEl>
                                      </p:cBhvr>
                                    </p:animEffect>
                                  </p:childTnLst>
                                </p:cTn>
                              </p:par>
                              <p:par>
                                <p:cTn id="34" presetID="10" presetClass="entr" presetSubtype="0" fill="hold" nodeType="withEffect">
                                  <p:stCondLst>
                                    <p:cond delay="0"/>
                                  </p:stCondLst>
                                  <p:childTnLst>
                                    <p:set>
                                      <p:cBhvr>
                                        <p:cTn id="35" dur="1" fill="hold">
                                          <p:stCondLst>
                                            <p:cond delay="0"/>
                                          </p:stCondLst>
                                        </p:cTn>
                                        <p:tgtEl>
                                          <p:spTgt spid="89100"/>
                                        </p:tgtEl>
                                        <p:attrNameLst>
                                          <p:attrName>style.visibility</p:attrName>
                                        </p:attrNameLst>
                                      </p:cBhvr>
                                      <p:to>
                                        <p:strVal val="visible"/>
                                      </p:to>
                                    </p:set>
                                    <p:animEffect transition="in" filter="fade">
                                      <p:cBhvr>
                                        <p:cTn id="36" dur="500"/>
                                        <p:tgtEl>
                                          <p:spTgt spid="89100"/>
                                        </p:tgtEl>
                                      </p:cBhvr>
                                    </p:animEffect>
                                  </p:childTnLst>
                                </p:cTn>
                              </p:par>
                              <p:par>
                                <p:cTn id="37" presetID="10" presetClass="entr" presetSubtype="0" fill="hold" nodeType="withEffect">
                                  <p:stCondLst>
                                    <p:cond delay="0"/>
                                  </p:stCondLst>
                                  <p:childTnLst>
                                    <p:set>
                                      <p:cBhvr>
                                        <p:cTn id="38" dur="1" fill="hold">
                                          <p:stCondLst>
                                            <p:cond delay="0"/>
                                          </p:stCondLst>
                                        </p:cTn>
                                        <p:tgtEl>
                                          <p:spTgt spid="89101"/>
                                        </p:tgtEl>
                                        <p:attrNameLst>
                                          <p:attrName>style.visibility</p:attrName>
                                        </p:attrNameLst>
                                      </p:cBhvr>
                                      <p:to>
                                        <p:strVal val="visible"/>
                                      </p:to>
                                    </p:set>
                                    <p:animEffect transition="in" filter="fade">
                                      <p:cBhvr>
                                        <p:cTn id="39" dur="500"/>
                                        <p:tgtEl>
                                          <p:spTgt spid="89101"/>
                                        </p:tgtEl>
                                      </p:cBhvr>
                                    </p:animEffect>
                                  </p:childTnLst>
                                </p:cTn>
                              </p:par>
                              <p:par>
                                <p:cTn id="40" presetID="10" presetClass="entr" presetSubtype="0" fill="hold" nodeType="withEffect">
                                  <p:stCondLst>
                                    <p:cond delay="0"/>
                                  </p:stCondLst>
                                  <p:childTnLst>
                                    <p:set>
                                      <p:cBhvr>
                                        <p:cTn id="41" dur="1" fill="hold">
                                          <p:stCondLst>
                                            <p:cond delay="0"/>
                                          </p:stCondLst>
                                        </p:cTn>
                                        <p:tgtEl>
                                          <p:spTgt spid="89102"/>
                                        </p:tgtEl>
                                        <p:attrNameLst>
                                          <p:attrName>style.visibility</p:attrName>
                                        </p:attrNameLst>
                                      </p:cBhvr>
                                      <p:to>
                                        <p:strVal val="visible"/>
                                      </p:to>
                                    </p:set>
                                    <p:animEffect transition="in" filter="fade">
                                      <p:cBhvr>
                                        <p:cTn id="42" dur="500"/>
                                        <p:tgtEl>
                                          <p:spTgt spid="89102"/>
                                        </p:tgtEl>
                                      </p:cBhvr>
                                    </p:animEffect>
                                  </p:childTnLst>
                                </p:cTn>
                              </p:par>
                              <p:par>
                                <p:cTn id="43" presetID="10" presetClass="entr" presetSubtype="0" fill="hold" nodeType="withEffect">
                                  <p:stCondLst>
                                    <p:cond delay="0"/>
                                  </p:stCondLst>
                                  <p:childTnLst>
                                    <p:set>
                                      <p:cBhvr>
                                        <p:cTn id="44" dur="1" fill="hold">
                                          <p:stCondLst>
                                            <p:cond delay="0"/>
                                          </p:stCondLst>
                                        </p:cTn>
                                        <p:tgtEl>
                                          <p:spTgt spid="89103"/>
                                        </p:tgtEl>
                                        <p:attrNameLst>
                                          <p:attrName>style.visibility</p:attrName>
                                        </p:attrNameLst>
                                      </p:cBhvr>
                                      <p:to>
                                        <p:strVal val="visible"/>
                                      </p:to>
                                    </p:set>
                                    <p:animEffect transition="in" filter="fade">
                                      <p:cBhvr>
                                        <p:cTn id="45" dur="500"/>
                                        <p:tgtEl>
                                          <p:spTgt spid="89103"/>
                                        </p:tgtEl>
                                      </p:cBhvr>
                                    </p:animEffect>
                                  </p:childTnLst>
                                </p:cTn>
                              </p:par>
                              <p:par>
                                <p:cTn id="46" presetID="10" presetClass="entr" presetSubtype="0" fill="hold" nodeType="withEffect">
                                  <p:stCondLst>
                                    <p:cond delay="0"/>
                                  </p:stCondLst>
                                  <p:childTnLst>
                                    <p:set>
                                      <p:cBhvr>
                                        <p:cTn id="47" dur="1" fill="hold">
                                          <p:stCondLst>
                                            <p:cond delay="0"/>
                                          </p:stCondLst>
                                        </p:cTn>
                                        <p:tgtEl>
                                          <p:spTgt spid="89104"/>
                                        </p:tgtEl>
                                        <p:attrNameLst>
                                          <p:attrName>style.visibility</p:attrName>
                                        </p:attrNameLst>
                                      </p:cBhvr>
                                      <p:to>
                                        <p:strVal val="visible"/>
                                      </p:to>
                                    </p:set>
                                    <p:animEffect transition="in" filter="fade">
                                      <p:cBhvr>
                                        <p:cTn id="48" dur="500"/>
                                        <p:tgtEl>
                                          <p:spTgt spid="89104"/>
                                        </p:tgtEl>
                                      </p:cBhvr>
                                    </p:animEffect>
                                  </p:childTnLst>
                                </p:cTn>
                              </p:par>
                              <p:par>
                                <p:cTn id="49" presetID="10" presetClass="entr" presetSubtype="0" fill="hold" nodeType="withEffect">
                                  <p:stCondLst>
                                    <p:cond delay="0"/>
                                  </p:stCondLst>
                                  <p:childTnLst>
                                    <p:set>
                                      <p:cBhvr>
                                        <p:cTn id="50" dur="1" fill="hold">
                                          <p:stCondLst>
                                            <p:cond delay="0"/>
                                          </p:stCondLst>
                                        </p:cTn>
                                        <p:tgtEl>
                                          <p:spTgt spid="89105"/>
                                        </p:tgtEl>
                                        <p:attrNameLst>
                                          <p:attrName>style.visibility</p:attrName>
                                        </p:attrNameLst>
                                      </p:cBhvr>
                                      <p:to>
                                        <p:strVal val="visible"/>
                                      </p:to>
                                    </p:set>
                                    <p:animEffect transition="in" filter="fade">
                                      <p:cBhvr>
                                        <p:cTn id="51" dur="500"/>
                                        <p:tgtEl>
                                          <p:spTgt spid="89105"/>
                                        </p:tgtEl>
                                      </p:cBhvr>
                                    </p:animEffect>
                                  </p:childTnLst>
                                </p:cTn>
                              </p:par>
                              <p:par>
                                <p:cTn id="52" presetID="10" presetClass="entr" presetSubtype="0" fill="hold" nodeType="withEffect">
                                  <p:stCondLst>
                                    <p:cond delay="0"/>
                                  </p:stCondLst>
                                  <p:childTnLst>
                                    <p:set>
                                      <p:cBhvr>
                                        <p:cTn id="53" dur="1" fill="hold">
                                          <p:stCondLst>
                                            <p:cond delay="0"/>
                                          </p:stCondLst>
                                        </p:cTn>
                                        <p:tgtEl>
                                          <p:spTgt spid="89106"/>
                                        </p:tgtEl>
                                        <p:attrNameLst>
                                          <p:attrName>style.visibility</p:attrName>
                                        </p:attrNameLst>
                                      </p:cBhvr>
                                      <p:to>
                                        <p:strVal val="visible"/>
                                      </p:to>
                                    </p:set>
                                    <p:animEffect transition="in" filter="fade">
                                      <p:cBhvr>
                                        <p:cTn id="54" dur="500"/>
                                        <p:tgtEl>
                                          <p:spTgt spid="89106"/>
                                        </p:tgtEl>
                                      </p:cBhvr>
                                    </p:animEffect>
                                  </p:childTnLst>
                                </p:cTn>
                              </p:par>
                              <p:par>
                                <p:cTn id="55" presetID="10" presetClass="entr" presetSubtype="0" fill="hold" nodeType="withEffect">
                                  <p:stCondLst>
                                    <p:cond delay="0"/>
                                  </p:stCondLst>
                                  <p:childTnLst>
                                    <p:set>
                                      <p:cBhvr>
                                        <p:cTn id="56" dur="1" fill="hold">
                                          <p:stCondLst>
                                            <p:cond delay="0"/>
                                          </p:stCondLst>
                                        </p:cTn>
                                        <p:tgtEl>
                                          <p:spTgt spid="89107"/>
                                        </p:tgtEl>
                                        <p:attrNameLst>
                                          <p:attrName>style.visibility</p:attrName>
                                        </p:attrNameLst>
                                      </p:cBhvr>
                                      <p:to>
                                        <p:strVal val="visible"/>
                                      </p:to>
                                    </p:set>
                                    <p:animEffect transition="in" filter="fade">
                                      <p:cBhvr>
                                        <p:cTn id="57" dur="500"/>
                                        <p:tgtEl>
                                          <p:spTgt spid="89107"/>
                                        </p:tgtEl>
                                      </p:cBhvr>
                                    </p:animEffect>
                                  </p:childTnLst>
                                </p:cTn>
                              </p:par>
                              <p:par>
                                <p:cTn id="58" presetID="10" presetClass="entr" presetSubtype="0" fill="hold" nodeType="withEffect">
                                  <p:stCondLst>
                                    <p:cond delay="0"/>
                                  </p:stCondLst>
                                  <p:childTnLst>
                                    <p:set>
                                      <p:cBhvr>
                                        <p:cTn id="59" dur="1" fill="hold">
                                          <p:stCondLst>
                                            <p:cond delay="0"/>
                                          </p:stCondLst>
                                        </p:cTn>
                                        <p:tgtEl>
                                          <p:spTgt spid="94215"/>
                                        </p:tgtEl>
                                        <p:attrNameLst>
                                          <p:attrName>style.visibility</p:attrName>
                                        </p:attrNameLst>
                                      </p:cBhvr>
                                      <p:to>
                                        <p:strVal val="visible"/>
                                      </p:to>
                                    </p:set>
                                    <p:animEffect transition="in" filter="fade">
                                      <p:cBhvr>
                                        <p:cTn id="60" dur="500"/>
                                        <p:tgtEl>
                                          <p:spTgt spid="94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523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5266" name="Rectangle 2"/>
          <p:cNvSpPr>
            <a:spLocks noGrp="1"/>
          </p:cNvSpPr>
          <p:nvPr>
            <p:ph type="title"/>
          </p:nvPr>
        </p:nvSpPr>
        <p:spPr>
          <a:xfrm>
            <a:off x="565150" y="498475"/>
            <a:ext cx="8686800" cy="414655"/>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化简步骤为：</a:t>
            </a:r>
            <a:br>
              <a:rPr lang="en-US" altLang="zh-CN" sz="1800" b="1" dirty="0">
                <a:latin typeface="黑体" panose="02010609060101010101" pitchFamily="49" charset="-122"/>
                <a:ea typeface="黑体" panose="02010609060101010101" pitchFamily="49" charset="-122"/>
              </a:rPr>
            </a:b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①把最简式中具有相同头因子的与项合并成一个与项。</a:t>
            </a:r>
            <a:endParaRPr lang="zh-CN" altLang="en-US" sz="1800" dirty="0">
              <a:latin typeface="黑体" panose="02010609060101010101" pitchFamily="49" charset="-122"/>
              <a:ea typeface="黑体" panose="02010609060101010101" pitchFamily="49" charset="-122"/>
            </a:endParaRPr>
          </a:p>
        </p:txBody>
      </p:sp>
      <p:sp>
        <p:nvSpPr>
          <p:cNvPr id="95267" name="Rectangle 3"/>
          <p:cNvSpPr>
            <a:spLocks noGrp="1"/>
          </p:cNvSpPr>
          <p:nvPr>
            <p:ph/>
          </p:nvPr>
        </p:nvSpPr>
        <p:spPr>
          <a:xfrm>
            <a:off x="569913" y="2317750"/>
            <a:ext cx="8610600" cy="522288"/>
          </a:xfrm>
          <a:prstGeom prst="rect">
            <a:avLst/>
          </a:prstGeom>
          <a:noFill/>
          <a:ln w="9525">
            <a:noFill/>
          </a:ln>
        </p:spPr>
        <p:txBody>
          <a:bodyPr/>
          <a:p>
            <a:pPr eaLnBrk="1" hangingPunct="1">
              <a:buNone/>
            </a:pPr>
            <a:r>
              <a:rPr lang="en-US" altLang="zh-CN" sz="1800" dirty="0">
                <a:latin typeface="黑体" panose="02010609060101010101" pitchFamily="49" charset="-122"/>
                <a:ea typeface="黑体" panose="02010609060101010101" pitchFamily="49" charset="-122"/>
              </a:rPr>
              <a:t>②</a:t>
            </a:r>
            <a:r>
              <a:rPr lang="zh-CN" altLang="en-US" sz="1800" dirty="0">
                <a:latin typeface="黑体" panose="02010609060101010101" pitchFamily="49" charset="-122"/>
                <a:ea typeface="黑体" panose="02010609060101010101" pitchFamily="49" charset="-122"/>
              </a:rPr>
              <a:t>列出</a:t>
            </a:r>
            <a:r>
              <a:rPr lang="zh-CN" altLang="en-US" sz="1800" u="sng" dirty="0">
                <a:latin typeface="黑体" panose="02010609060101010101" pitchFamily="49" charset="-122"/>
                <a:ea typeface="黑体" panose="02010609060101010101" pitchFamily="49" charset="-122"/>
              </a:rPr>
              <a:t>最简与或式中</a:t>
            </a:r>
            <a:r>
              <a:rPr lang="zh-CN" altLang="en-US" sz="1800" dirty="0">
                <a:latin typeface="黑体" panose="02010609060101010101" pitchFamily="49" charset="-122"/>
                <a:ea typeface="黑体" panose="02010609060101010101" pitchFamily="49" charset="-122"/>
              </a:rPr>
              <a:t>所有与项的头因子、尾因子及替代尾因子。</a:t>
            </a:r>
            <a:endParaRPr lang="zh-CN" altLang="en-US" sz="180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1430020" y="1304925"/>
            <a:ext cx="5422900" cy="998855"/>
          </a:xfrm>
          <a:prstGeom prst="rect">
            <a:avLst/>
          </a:prstGeom>
        </p:spPr>
      </p:pic>
      <p:pic>
        <p:nvPicPr>
          <p:cNvPr id="3" name="图片 2"/>
          <p:cNvPicPr>
            <a:picLocks noChangeAspect="1"/>
          </p:cNvPicPr>
          <p:nvPr/>
        </p:nvPicPr>
        <p:blipFill>
          <a:blip r:embed="rId2"/>
          <a:stretch>
            <a:fillRect/>
          </a:stretch>
        </p:blipFill>
        <p:spPr>
          <a:xfrm>
            <a:off x="384175" y="2702560"/>
            <a:ext cx="8375650" cy="21780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5267">
                                            <p:txEl>
                                              <p:pRg st="0" end="0"/>
                                            </p:txEl>
                                          </p:spTgt>
                                        </p:tgtEl>
                                        <p:attrNameLst>
                                          <p:attrName>style.visibility</p:attrName>
                                        </p:attrNameLst>
                                      </p:cBhvr>
                                      <p:to>
                                        <p:strVal val="visible"/>
                                      </p:to>
                                    </p:set>
                                    <p:animEffect transition="in" filter="blinds(horizontal)">
                                      <p:cBhvr>
                                        <p:cTn id="12" dur="500"/>
                                        <p:tgtEl>
                                          <p:spTgt spid="952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67" grpId="0" build="p"/>
      <p:bldP spid="95267" grpI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625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6260" name="Rectangle 2"/>
          <p:cNvSpPr>
            <a:spLocks noGrp="1"/>
          </p:cNvSpPr>
          <p:nvPr>
            <p:ph type="title"/>
          </p:nvPr>
        </p:nvSpPr>
        <p:spPr>
          <a:xfrm>
            <a:off x="609600" y="527050"/>
            <a:ext cx="7772400" cy="388938"/>
          </a:xfrm>
          <a:prstGeom prst="rect">
            <a:avLst/>
          </a:prstGeom>
          <a:noFill/>
          <a:ln w="9525">
            <a:noFill/>
          </a:ln>
        </p:spPr>
        <p:txBody>
          <a:bodyPr/>
          <a:p>
            <a:pPr eaLnBrk="1" hangingPunct="1"/>
            <a:r>
              <a:rPr lang="en-US" altLang="zh-CN" sz="1800" dirty="0">
                <a:latin typeface="黑体" panose="02010609060101010101" pitchFamily="49" charset="-122"/>
                <a:ea typeface="黑体" panose="02010609060101010101" pitchFamily="49" charset="-122"/>
              </a:rPr>
              <a:t>③</a:t>
            </a:r>
            <a:r>
              <a:rPr lang="zh-CN" altLang="en-US" sz="1800" dirty="0">
                <a:latin typeface="黑体" panose="02010609060101010101" pitchFamily="49" charset="-122"/>
                <a:ea typeface="黑体" panose="02010609060101010101" pitchFamily="49" charset="-122"/>
              </a:rPr>
              <a:t>选择共享的替代尾因子，选择的原则如下：</a:t>
            </a:r>
            <a:endParaRPr lang="zh-CN" altLang="en-US" sz="1800" dirty="0">
              <a:latin typeface="黑体" panose="02010609060101010101" pitchFamily="49" charset="-122"/>
              <a:ea typeface="黑体" panose="02010609060101010101" pitchFamily="49" charset="-122"/>
            </a:endParaRPr>
          </a:p>
        </p:txBody>
      </p:sp>
      <p:sp>
        <p:nvSpPr>
          <p:cNvPr id="96261" name="Rectangle 3"/>
          <p:cNvSpPr>
            <a:spLocks noGrp="1"/>
          </p:cNvSpPr>
          <p:nvPr>
            <p:ph/>
          </p:nvPr>
        </p:nvSpPr>
        <p:spPr>
          <a:xfrm>
            <a:off x="755650" y="873125"/>
            <a:ext cx="6934200" cy="80010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替代尾因子共享数尽可能多。</a:t>
            </a:r>
            <a:endParaRPr lang="zh-CN" altLang="en-US" sz="1800" b="1" dirty="0">
              <a:latin typeface="黑体" panose="02010609060101010101" pitchFamily="49" charset="-122"/>
              <a:ea typeface="黑体" panose="02010609060101010101" pitchFamily="49" charset="-122"/>
            </a:endParaRPr>
          </a:p>
          <a:p>
            <a:pPr eaLnBrk="1" hangingPunct="1"/>
            <a:r>
              <a:rPr lang="zh-CN" altLang="en-US" sz="1800" b="1" dirty="0">
                <a:latin typeface="黑体" panose="02010609060101010101" pitchFamily="49" charset="-122"/>
                <a:ea typeface="黑体" panose="02010609060101010101" pitchFamily="49" charset="-122"/>
              </a:rPr>
              <a:t>在共享数相等时选择最简单的一个。</a:t>
            </a:r>
            <a:endParaRPr lang="zh-CN" altLang="en-US" sz="1800" b="1" dirty="0">
              <a:latin typeface="黑体" panose="02010609060101010101" pitchFamily="49" charset="-122"/>
              <a:ea typeface="黑体" panose="02010609060101010101" pitchFamily="49" charset="-122"/>
            </a:endParaRPr>
          </a:p>
        </p:txBody>
      </p:sp>
      <p:graphicFrame>
        <p:nvGraphicFramePr>
          <p:cNvPr id="94214" name="Group 6"/>
          <p:cNvGraphicFramePr>
            <a:graphicFrameLocks noGrp="1"/>
          </p:cNvGraphicFramePr>
          <p:nvPr>
            <p:custDataLst>
              <p:tags r:id="rId1"/>
            </p:custDataLst>
          </p:nvPr>
        </p:nvGraphicFramePr>
        <p:xfrm>
          <a:off x="609600" y="2400300"/>
          <a:ext cx="8153400" cy="1962152"/>
        </p:xfrm>
        <a:graphic>
          <a:graphicData uri="http://schemas.openxmlformats.org/drawingml/2006/table">
            <a:tbl>
              <a:tblPr/>
              <a:tblGrid>
                <a:gridCol w="1524000"/>
                <a:gridCol w="1295400"/>
                <a:gridCol w="1371600"/>
                <a:gridCol w="3962400"/>
              </a:tblGrid>
              <a:tr h="392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与项</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头因子</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尾因子</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替代尾因子</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2113">
                <a:tc row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AC BD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AC</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3700">
                <a:tc vMerge="1">
                  <a:tcPr/>
                </a:tc>
                <a:tc vMerge="1">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2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BC AD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BC</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ACD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2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 AB</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96292" name="Group 79"/>
          <p:cNvGrpSpPr/>
          <p:nvPr/>
        </p:nvGrpSpPr>
        <p:grpSpPr>
          <a:xfrm>
            <a:off x="1158875" y="2857500"/>
            <a:ext cx="7108825" cy="1200150"/>
            <a:chOff x="0" y="0"/>
            <a:chExt cx="4478" cy="1008"/>
          </a:xfrm>
        </p:grpSpPr>
        <p:sp>
          <p:nvSpPr>
            <p:cNvPr id="96308" name="Line 80"/>
            <p:cNvSpPr/>
            <p:nvPr/>
          </p:nvSpPr>
          <p:spPr>
            <a:xfrm>
              <a:off x="180" y="168"/>
              <a:ext cx="240" cy="0"/>
            </a:xfrm>
            <a:prstGeom prst="line">
              <a:avLst/>
            </a:prstGeom>
            <a:ln w="9525" cap="flat" cmpd="sng">
              <a:solidFill>
                <a:schemeClr val="tx1"/>
              </a:solidFill>
              <a:prstDash val="solid"/>
              <a:headEnd type="none" w="med" len="med"/>
              <a:tailEnd type="none" w="med" len="med"/>
            </a:ln>
          </p:spPr>
        </p:sp>
        <p:sp>
          <p:nvSpPr>
            <p:cNvPr id="96309" name="Line 81"/>
            <p:cNvSpPr/>
            <p:nvPr/>
          </p:nvSpPr>
          <p:spPr>
            <a:xfrm>
              <a:off x="0" y="168"/>
              <a:ext cx="118" cy="0"/>
            </a:xfrm>
            <a:prstGeom prst="line">
              <a:avLst/>
            </a:prstGeom>
            <a:ln w="9525" cap="flat" cmpd="sng">
              <a:solidFill>
                <a:schemeClr val="tx1"/>
              </a:solidFill>
              <a:prstDash val="solid"/>
              <a:headEnd type="none" w="med" len="med"/>
              <a:tailEnd type="none" w="med" len="med"/>
            </a:ln>
          </p:spPr>
        </p:sp>
        <p:sp>
          <p:nvSpPr>
            <p:cNvPr id="96310" name="Line 82"/>
            <p:cNvSpPr/>
            <p:nvPr/>
          </p:nvSpPr>
          <p:spPr>
            <a:xfrm>
              <a:off x="1740" y="336"/>
              <a:ext cx="240" cy="0"/>
            </a:xfrm>
            <a:prstGeom prst="line">
              <a:avLst/>
            </a:prstGeom>
            <a:ln w="9525" cap="flat" cmpd="sng">
              <a:solidFill>
                <a:schemeClr val="tx1"/>
              </a:solidFill>
              <a:prstDash val="solid"/>
              <a:headEnd type="none" w="med" len="med"/>
              <a:tailEnd type="none" w="med" len="med"/>
            </a:ln>
          </p:spPr>
        </p:sp>
        <p:sp>
          <p:nvSpPr>
            <p:cNvPr id="96311" name="Line 83"/>
            <p:cNvSpPr/>
            <p:nvPr/>
          </p:nvSpPr>
          <p:spPr>
            <a:xfrm>
              <a:off x="1824" y="0"/>
              <a:ext cx="118" cy="0"/>
            </a:xfrm>
            <a:prstGeom prst="line">
              <a:avLst/>
            </a:prstGeom>
            <a:ln w="9525" cap="flat" cmpd="sng">
              <a:solidFill>
                <a:schemeClr val="tx1"/>
              </a:solidFill>
              <a:prstDash val="solid"/>
              <a:headEnd type="none" w="med" len="med"/>
              <a:tailEnd type="none" w="med" len="med"/>
            </a:ln>
          </p:spPr>
        </p:sp>
        <p:sp>
          <p:nvSpPr>
            <p:cNvPr id="96312" name="Line 84"/>
            <p:cNvSpPr/>
            <p:nvPr/>
          </p:nvSpPr>
          <p:spPr>
            <a:xfrm>
              <a:off x="3309" y="0"/>
              <a:ext cx="118" cy="0"/>
            </a:xfrm>
            <a:prstGeom prst="line">
              <a:avLst/>
            </a:prstGeom>
            <a:ln w="9525" cap="flat" cmpd="sng">
              <a:solidFill>
                <a:schemeClr val="tx1"/>
              </a:solidFill>
              <a:prstDash val="solid"/>
              <a:headEnd type="none" w="med" len="med"/>
              <a:tailEnd type="none" w="med" len="med"/>
            </a:ln>
          </p:spPr>
        </p:sp>
        <p:sp>
          <p:nvSpPr>
            <p:cNvPr id="96313" name="Line 85"/>
            <p:cNvSpPr/>
            <p:nvPr/>
          </p:nvSpPr>
          <p:spPr>
            <a:xfrm>
              <a:off x="3576" y="0"/>
              <a:ext cx="240" cy="0"/>
            </a:xfrm>
            <a:prstGeom prst="line">
              <a:avLst/>
            </a:prstGeom>
            <a:ln w="9525" cap="flat" cmpd="sng">
              <a:solidFill>
                <a:schemeClr val="tx1"/>
              </a:solidFill>
              <a:prstDash val="solid"/>
              <a:headEnd type="none" w="med" len="med"/>
              <a:tailEnd type="none" w="med" len="med"/>
            </a:ln>
          </p:spPr>
        </p:sp>
        <p:sp>
          <p:nvSpPr>
            <p:cNvPr id="96314" name="Line 86"/>
            <p:cNvSpPr/>
            <p:nvPr/>
          </p:nvSpPr>
          <p:spPr>
            <a:xfrm>
              <a:off x="3193" y="336"/>
              <a:ext cx="240" cy="0"/>
            </a:xfrm>
            <a:prstGeom prst="line">
              <a:avLst/>
            </a:prstGeom>
            <a:ln w="9525" cap="flat" cmpd="sng">
              <a:solidFill>
                <a:schemeClr val="tx1"/>
              </a:solidFill>
              <a:prstDash val="solid"/>
              <a:headEnd type="none" w="med" len="med"/>
              <a:tailEnd type="none" w="med" len="med"/>
            </a:ln>
          </p:spPr>
        </p:sp>
        <p:sp>
          <p:nvSpPr>
            <p:cNvPr id="96315" name="Line 87"/>
            <p:cNvSpPr/>
            <p:nvPr/>
          </p:nvSpPr>
          <p:spPr>
            <a:xfrm>
              <a:off x="3576" y="336"/>
              <a:ext cx="360" cy="0"/>
            </a:xfrm>
            <a:prstGeom prst="line">
              <a:avLst/>
            </a:prstGeom>
            <a:ln w="9525" cap="flat" cmpd="sng">
              <a:solidFill>
                <a:schemeClr val="tx1"/>
              </a:solidFill>
              <a:prstDash val="solid"/>
              <a:headEnd type="none" w="med" len="med"/>
              <a:tailEnd type="none" w="med" len="med"/>
            </a:ln>
          </p:spPr>
        </p:sp>
        <p:sp>
          <p:nvSpPr>
            <p:cNvPr id="96316" name="Line 88"/>
            <p:cNvSpPr/>
            <p:nvPr/>
          </p:nvSpPr>
          <p:spPr>
            <a:xfrm>
              <a:off x="2704" y="672"/>
              <a:ext cx="240" cy="0"/>
            </a:xfrm>
            <a:prstGeom prst="line">
              <a:avLst/>
            </a:prstGeom>
            <a:ln w="9525" cap="flat" cmpd="sng">
              <a:solidFill>
                <a:schemeClr val="tx1"/>
              </a:solidFill>
              <a:prstDash val="solid"/>
              <a:headEnd type="none" w="med" len="med"/>
              <a:tailEnd type="none" w="med" len="med"/>
            </a:ln>
          </p:spPr>
        </p:sp>
        <p:sp>
          <p:nvSpPr>
            <p:cNvPr id="96317" name="Line 89"/>
            <p:cNvSpPr/>
            <p:nvPr/>
          </p:nvSpPr>
          <p:spPr>
            <a:xfrm>
              <a:off x="3070" y="672"/>
              <a:ext cx="360" cy="0"/>
            </a:xfrm>
            <a:prstGeom prst="line">
              <a:avLst/>
            </a:prstGeom>
            <a:ln w="9525" cap="flat" cmpd="sng">
              <a:solidFill>
                <a:schemeClr val="tx1"/>
              </a:solidFill>
              <a:prstDash val="solid"/>
              <a:headEnd type="none" w="med" len="med"/>
              <a:tailEnd type="none" w="med" len="med"/>
            </a:ln>
          </p:spPr>
        </p:sp>
        <p:sp>
          <p:nvSpPr>
            <p:cNvPr id="96318" name="Line 90"/>
            <p:cNvSpPr/>
            <p:nvPr/>
          </p:nvSpPr>
          <p:spPr>
            <a:xfrm>
              <a:off x="3528" y="672"/>
              <a:ext cx="360" cy="0"/>
            </a:xfrm>
            <a:prstGeom prst="line">
              <a:avLst/>
            </a:prstGeom>
            <a:ln w="9525" cap="flat" cmpd="sng">
              <a:solidFill>
                <a:schemeClr val="tx1"/>
              </a:solidFill>
              <a:prstDash val="solid"/>
              <a:headEnd type="none" w="med" len="med"/>
              <a:tailEnd type="none" w="med" len="med"/>
            </a:ln>
          </p:spPr>
        </p:sp>
        <p:sp>
          <p:nvSpPr>
            <p:cNvPr id="96319" name="Line 91"/>
            <p:cNvSpPr/>
            <p:nvPr/>
          </p:nvSpPr>
          <p:spPr>
            <a:xfrm>
              <a:off x="3974" y="672"/>
              <a:ext cx="504" cy="0"/>
            </a:xfrm>
            <a:prstGeom prst="line">
              <a:avLst/>
            </a:prstGeom>
            <a:ln w="9525" cap="flat" cmpd="sng">
              <a:solidFill>
                <a:schemeClr val="tx1"/>
              </a:solidFill>
              <a:prstDash val="solid"/>
              <a:headEnd type="none" w="med" len="med"/>
              <a:tailEnd type="none" w="med" len="med"/>
            </a:ln>
          </p:spPr>
        </p:sp>
        <p:sp>
          <p:nvSpPr>
            <p:cNvPr id="96320" name="Line 92"/>
            <p:cNvSpPr/>
            <p:nvPr/>
          </p:nvSpPr>
          <p:spPr>
            <a:xfrm>
              <a:off x="2718" y="1008"/>
              <a:ext cx="240" cy="0"/>
            </a:xfrm>
            <a:prstGeom prst="line">
              <a:avLst/>
            </a:prstGeom>
            <a:ln w="9525" cap="flat" cmpd="sng">
              <a:solidFill>
                <a:schemeClr val="tx1"/>
              </a:solidFill>
              <a:prstDash val="solid"/>
              <a:headEnd type="none" w="med" len="med"/>
              <a:tailEnd type="none" w="med" len="med"/>
            </a:ln>
          </p:spPr>
        </p:sp>
        <p:sp>
          <p:nvSpPr>
            <p:cNvPr id="96321" name="Line 93"/>
            <p:cNvSpPr/>
            <p:nvPr/>
          </p:nvSpPr>
          <p:spPr>
            <a:xfrm>
              <a:off x="3070" y="1008"/>
              <a:ext cx="360" cy="0"/>
            </a:xfrm>
            <a:prstGeom prst="line">
              <a:avLst/>
            </a:prstGeom>
            <a:ln w="9525" cap="flat" cmpd="sng">
              <a:solidFill>
                <a:schemeClr val="tx1"/>
              </a:solidFill>
              <a:prstDash val="solid"/>
              <a:headEnd type="none" w="med" len="med"/>
              <a:tailEnd type="none" w="med" len="med"/>
            </a:ln>
          </p:spPr>
        </p:sp>
        <p:sp>
          <p:nvSpPr>
            <p:cNvPr id="96322" name="Line 94"/>
            <p:cNvSpPr/>
            <p:nvPr/>
          </p:nvSpPr>
          <p:spPr>
            <a:xfrm>
              <a:off x="3528" y="1008"/>
              <a:ext cx="360" cy="0"/>
            </a:xfrm>
            <a:prstGeom prst="line">
              <a:avLst/>
            </a:prstGeom>
            <a:ln w="9525" cap="flat" cmpd="sng">
              <a:solidFill>
                <a:schemeClr val="tx1"/>
              </a:solidFill>
              <a:prstDash val="solid"/>
              <a:headEnd type="none" w="med" len="med"/>
              <a:tailEnd type="none" w="med" len="med"/>
            </a:ln>
          </p:spPr>
        </p:sp>
        <p:sp>
          <p:nvSpPr>
            <p:cNvPr id="96323" name="Line 95"/>
            <p:cNvSpPr/>
            <p:nvPr/>
          </p:nvSpPr>
          <p:spPr>
            <a:xfrm>
              <a:off x="3929" y="1008"/>
              <a:ext cx="504" cy="0"/>
            </a:xfrm>
            <a:prstGeom prst="line">
              <a:avLst/>
            </a:prstGeom>
            <a:ln w="9525" cap="flat" cmpd="sng">
              <a:solidFill>
                <a:schemeClr val="tx1"/>
              </a:solidFill>
              <a:prstDash val="solid"/>
              <a:headEnd type="none" w="med" len="med"/>
              <a:tailEnd type="none" w="med" len="med"/>
            </a:ln>
          </p:spPr>
        </p:sp>
        <p:sp>
          <p:nvSpPr>
            <p:cNvPr id="96324" name="Line 96"/>
            <p:cNvSpPr/>
            <p:nvPr/>
          </p:nvSpPr>
          <p:spPr>
            <a:xfrm>
              <a:off x="1740" y="672"/>
              <a:ext cx="240" cy="0"/>
            </a:xfrm>
            <a:prstGeom prst="line">
              <a:avLst/>
            </a:prstGeom>
            <a:ln w="9525" cap="flat" cmpd="sng">
              <a:solidFill>
                <a:schemeClr val="tx1"/>
              </a:solidFill>
              <a:prstDash val="solid"/>
              <a:headEnd type="none" w="med" len="med"/>
              <a:tailEnd type="none" w="med" len="med"/>
            </a:ln>
          </p:spPr>
        </p:sp>
        <p:sp>
          <p:nvSpPr>
            <p:cNvPr id="96325" name="Line 97"/>
            <p:cNvSpPr/>
            <p:nvPr/>
          </p:nvSpPr>
          <p:spPr>
            <a:xfrm>
              <a:off x="1740" y="1008"/>
              <a:ext cx="240" cy="0"/>
            </a:xfrm>
            <a:prstGeom prst="line">
              <a:avLst/>
            </a:prstGeom>
            <a:ln w="9525" cap="flat" cmpd="sng">
              <a:solidFill>
                <a:schemeClr val="tx1"/>
              </a:solidFill>
              <a:prstDash val="solid"/>
              <a:headEnd type="none" w="med" len="med"/>
              <a:tailEnd type="none" w="med" len="med"/>
            </a:ln>
          </p:spPr>
        </p:sp>
        <p:sp>
          <p:nvSpPr>
            <p:cNvPr id="96326" name="Line 98"/>
            <p:cNvSpPr/>
            <p:nvPr/>
          </p:nvSpPr>
          <p:spPr>
            <a:xfrm>
              <a:off x="180" y="672"/>
              <a:ext cx="240" cy="0"/>
            </a:xfrm>
            <a:prstGeom prst="line">
              <a:avLst/>
            </a:prstGeom>
            <a:ln w="9525" cap="flat" cmpd="sng">
              <a:solidFill>
                <a:schemeClr val="tx1"/>
              </a:solidFill>
              <a:prstDash val="solid"/>
              <a:headEnd type="none" w="med" len="med"/>
              <a:tailEnd type="none" w="med" len="med"/>
            </a:ln>
          </p:spPr>
        </p:sp>
        <p:sp>
          <p:nvSpPr>
            <p:cNvPr id="96327" name="Line 99"/>
            <p:cNvSpPr/>
            <p:nvPr/>
          </p:nvSpPr>
          <p:spPr>
            <a:xfrm>
              <a:off x="180" y="1008"/>
              <a:ext cx="240" cy="0"/>
            </a:xfrm>
            <a:prstGeom prst="line">
              <a:avLst/>
            </a:prstGeom>
            <a:ln w="9525" cap="flat" cmpd="sng">
              <a:solidFill>
                <a:schemeClr val="tx1"/>
              </a:solidFill>
              <a:prstDash val="solid"/>
              <a:headEnd type="none" w="med" len="med"/>
              <a:tailEnd type="none" w="med" len="med"/>
            </a:ln>
          </p:spPr>
        </p:sp>
      </p:grpSp>
      <p:sp>
        <p:nvSpPr>
          <p:cNvPr id="96293" name="Rectangle 103"/>
          <p:cNvSpPr/>
          <p:nvPr/>
        </p:nvSpPr>
        <p:spPr>
          <a:xfrm>
            <a:off x="6705600" y="3200400"/>
            <a:ext cx="762000" cy="342900"/>
          </a:xfrm>
          <a:prstGeom prst="rect">
            <a:avLst/>
          </a:prstGeom>
          <a:noFill/>
          <a:ln w="28575" cap="flat" cmpd="sng">
            <a:solidFill>
              <a:srgbClr val="FF33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6294" name="Rectangle 104"/>
          <p:cNvSpPr/>
          <p:nvPr/>
        </p:nvSpPr>
        <p:spPr>
          <a:xfrm>
            <a:off x="5881688" y="3600450"/>
            <a:ext cx="762000" cy="342900"/>
          </a:xfrm>
          <a:prstGeom prst="rect">
            <a:avLst/>
          </a:prstGeom>
          <a:noFill/>
          <a:ln w="28575" cap="flat" cmpd="sng">
            <a:solidFill>
              <a:srgbClr val="FF33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6295" name="Rectangle 105"/>
          <p:cNvSpPr/>
          <p:nvPr/>
        </p:nvSpPr>
        <p:spPr>
          <a:xfrm>
            <a:off x="6629400" y="4000500"/>
            <a:ext cx="762000" cy="342900"/>
          </a:xfrm>
          <a:prstGeom prst="rect">
            <a:avLst/>
          </a:prstGeom>
          <a:noFill/>
          <a:ln w="28575" cap="flat" cmpd="sng">
            <a:solidFill>
              <a:srgbClr val="FF33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6296" name="Group 110"/>
          <p:cNvGrpSpPr/>
          <p:nvPr/>
        </p:nvGrpSpPr>
        <p:grpSpPr>
          <a:xfrm>
            <a:off x="685800" y="1511300"/>
            <a:ext cx="7620000" cy="368300"/>
            <a:chOff x="0" y="0"/>
            <a:chExt cx="4752" cy="310"/>
          </a:xfrm>
        </p:grpSpPr>
        <p:sp>
          <p:nvSpPr>
            <p:cNvPr id="96303" name="Text Box 101"/>
            <p:cNvSpPr txBox="1"/>
            <p:nvPr/>
          </p:nvSpPr>
          <p:spPr>
            <a:xfrm>
              <a:off x="0" y="0"/>
              <a:ext cx="4752" cy="31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因此：</a:t>
              </a:r>
              <a:r>
                <a:rPr lang="en-US" altLang="zh-CN" sz="1800" dirty="0">
                  <a:solidFill>
                    <a:schemeClr val="tx1"/>
                  </a:solidFill>
                  <a:latin typeface="黑体" panose="02010609060101010101" pitchFamily="49" charset="-122"/>
                  <a:ea typeface="黑体" panose="02010609060101010101" pitchFamily="49" charset="-122"/>
                </a:rPr>
                <a:t>F =  AC ABD + BC ABD + CD ABD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6304" name="Line 106"/>
            <p:cNvSpPr/>
            <p:nvPr/>
          </p:nvSpPr>
          <p:spPr>
            <a:xfrm>
              <a:off x="1248" y="39"/>
              <a:ext cx="144" cy="0"/>
            </a:xfrm>
            <a:prstGeom prst="line">
              <a:avLst/>
            </a:prstGeom>
            <a:ln w="9525" cap="flat" cmpd="sng">
              <a:solidFill>
                <a:schemeClr val="bg1"/>
              </a:solidFill>
              <a:prstDash val="solid"/>
              <a:headEnd type="none" w="med" len="med"/>
              <a:tailEnd type="none" w="med" len="med"/>
            </a:ln>
          </p:spPr>
        </p:sp>
        <p:sp>
          <p:nvSpPr>
            <p:cNvPr id="96305" name="Line 107"/>
            <p:cNvSpPr/>
            <p:nvPr/>
          </p:nvSpPr>
          <p:spPr>
            <a:xfrm>
              <a:off x="1488" y="39"/>
              <a:ext cx="384" cy="0"/>
            </a:xfrm>
            <a:prstGeom prst="line">
              <a:avLst/>
            </a:prstGeom>
            <a:ln w="9525" cap="flat" cmpd="sng">
              <a:solidFill>
                <a:schemeClr val="bg1"/>
              </a:solidFill>
              <a:prstDash val="solid"/>
              <a:headEnd type="none" w="med" len="med"/>
              <a:tailEnd type="none" w="med" len="med"/>
            </a:ln>
          </p:spPr>
        </p:sp>
        <p:sp>
          <p:nvSpPr>
            <p:cNvPr id="96306" name="Line 108"/>
            <p:cNvSpPr/>
            <p:nvPr/>
          </p:nvSpPr>
          <p:spPr>
            <a:xfrm>
              <a:off x="2544" y="39"/>
              <a:ext cx="384" cy="0"/>
            </a:xfrm>
            <a:prstGeom prst="line">
              <a:avLst/>
            </a:prstGeom>
            <a:ln w="9525" cap="flat" cmpd="sng">
              <a:solidFill>
                <a:schemeClr val="bg1"/>
              </a:solidFill>
              <a:prstDash val="solid"/>
              <a:headEnd type="none" w="med" len="med"/>
              <a:tailEnd type="none" w="med" len="med"/>
            </a:ln>
          </p:spPr>
        </p:sp>
        <p:sp>
          <p:nvSpPr>
            <p:cNvPr id="96307" name="Line 109"/>
            <p:cNvSpPr/>
            <p:nvPr/>
          </p:nvSpPr>
          <p:spPr>
            <a:xfrm>
              <a:off x="3624" y="39"/>
              <a:ext cx="384" cy="0"/>
            </a:xfrm>
            <a:prstGeom prst="line">
              <a:avLst/>
            </a:prstGeom>
            <a:ln w="9525" cap="flat" cmpd="sng">
              <a:solidFill>
                <a:schemeClr val="bg1"/>
              </a:solidFill>
              <a:prstDash val="solid"/>
              <a:headEnd type="none" w="med" len="med"/>
              <a:tailEnd type="none" w="med" len="med"/>
            </a:ln>
          </p:spPr>
        </p:sp>
      </p:grpSp>
      <p:sp>
        <p:nvSpPr>
          <p:cNvPr id="96297" name="Text Box 111"/>
          <p:cNvSpPr txBox="1"/>
          <p:nvPr/>
        </p:nvSpPr>
        <p:spPr>
          <a:xfrm>
            <a:off x="685800" y="1854200"/>
            <a:ext cx="3505200" cy="369888"/>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该电路图如下。</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96298" name="直接连接符 2"/>
          <p:cNvCxnSpPr/>
          <p:nvPr/>
        </p:nvCxnSpPr>
        <p:spPr>
          <a:xfrm>
            <a:off x="2154238" y="1574800"/>
            <a:ext cx="96837" cy="0"/>
          </a:xfrm>
          <a:prstGeom prst="line">
            <a:avLst/>
          </a:prstGeom>
          <a:ln w="12700" cap="flat" cmpd="sng">
            <a:solidFill>
              <a:srgbClr val="FF0000"/>
            </a:solidFill>
            <a:prstDash val="solid"/>
            <a:headEnd type="none" w="med" len="med"/>
            <a:tailEnd type="none" w="med" len="med"/>
          </a:ln>
        </p:spPr>
      </p:cxnSp>
      <p:cxnSp>
        <p:nvCxnSpPr>
          <p:cNvPr id="96299" name="直接连接符 6"/>
          <p:cNvCxnSpPr/>
          <p:nvPr/>
        </p:nvCxnSpPr>
        <p:spPr>
          <a:xfrm>
            <a:off x="2400300" y="1557338"/>
            <a:ext cx="300038" cy="6350"/>
          </a:xfrm>
          <a:prstGeom prst="line">
            <a:avLst/>
          </a:prstGeom>
          <a:ln w="12700" cap="flat" cmpd="sng">
            <a:solidFill>
              <a:srgbClr val="FF0000"/>
            </a:solidFill>
            <a:prstDash val="solid"/>
            <a:headEnd type="none" w="med" len="med"/>
            <a:tailEnd type="none" w="med" len="med"/>
          </a:ln>
        </p:spPr>
      </p:cxnSp>
      <p:cxnSp>
        <p:nvCxnSpPr>
          <p:cNvPr id="96300" name="直接连接符 106"/>
          <p:cNvCxnSpPr/>
          <p:nvPr/>
        </p:nvCxnSpPr>
        <p:spPr>
          <a:xfrm>
            <a:off x="3419475" y="1563688"/>
            <a:ext cx="288925" cy="1587"/>
          </a:xfrm>
          <a:prstGeom prst="line">
            <a:avLst/>
          </a:prstGeom>
          <a:ln w="12700" cap="flat" cmpd="sng">
            <a:solidFill>
              <a:srgbClr val="FF0000"/>
            </a:solidFill>
            <a:prstDash val="solid"/>
            <a:headEnd type="none" w="med" len="med"/>
            <a:tailEnd type="none" w="med" len="med"/>
          </a:ln>
        </p:spPr>
      </p:cxnSp>
      <p:cxnSp>
        <p:nvCxnSpPr>
          <p:cNvPr id="96301" name="直接连接符 107"/>
          <p:cNvCxnSpPr/>
          <p:nvPr/>
        </p:nvCxnSpPr>
        <p:spPr>
          <a:xfrm>
            <a:off x="4438650" y="1563688"/>
            <a:ext cx="277813" cy="11112"/>
          </a:xfrm>
          <a:prstGeom prst="line">
            <a:avLst/>
          </a:prstGeom>
          <a:ln w="12700" cap="flat" cmpd="sng">
            <a:solidFill>
              <a:srgbClr val="FF0000"/>
            </a:solidFill>
            <a:prstDash val="solid"/>
            <a:headEnd type="none" w="med" len="med"/>
            <a:tailEnd type="none" w="med" len="med"/>
          </a:ln>
        </p:spPr>
      </p:cxnSp>
      <p:pic>
        <p:nvPicPr>
          <p:cNvPr id="94279" name="Picture 71"/>
          <p:cNvPicPr>
            <a:picLocks noChangeAspect="1" noChangeArrowheads="1"/>
          </p:cNvPicPr>
          <p:nvPr/>
        </p:nvPicPr>
        <p:blipFill>
          <a:blip r:embed="rId2"/>
          <a:srcRect/>
          <a:stretch>
            <a:fillRect/>
          </a:stretch>
        </p:blipFill>
        <p:spPr bwMode="auto">
          <a:xfrm>
            <a:off x="546100" y="2224088"/>
            <a:ext cx="8280400"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4279"/>
                                        </p:tgtEl>
                                        <p:attrNameLst>
                                          <p:attrName>style.visibility</p:attrName>
                                        </p:attrNameLst>
                                      </p:cBhvr>
                                      <p:to>
                                        <p:strVal val="visible"/>
                                      </p:to>
                                    </p:set>
                                    <p:anim calcmode="lin" valueType="num">
                                      <p:cBhvr additive="base">
                                        <p:cTn id="7" dur="500" fill="hold"/>
                                        <p:tgtEl>
                                          <p:spTgt spid="94279"/>
                                        </p:tgtEl>
                                        <p:attrNameLst>
                                          <p:attrName>ppt_x</p:attrName>
                                        </p:attrNameLst>
                                      </p:cBhvr>
                                      <p:tavLst>
                                        <p:tav tm="0">
                                          <p:val>
                                            <p:strVal val="#ppt_x"/>
                                          </p:val>
                                        </p:tav>
                                        <p:tav tm="100000">
                                          <p:val>
                                            <p:strVal val="#ppt_x"/>
                                          </p:val>
                                        </p:tav>
                                      </p:tavLst>
                                    </p:anim>
                                    <p:anim calcmode="lin" valueType="num">
                                      <p:cBhvr additive="base">
                                        <p:cTn id="8" dur="500" fill="hold"/>
                                        <p:tgtEl>
                                          <p:spTgt spid="942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4"/>
          <p:cNvSpPr txBox="1">
            <a:spLocks noGrp="1"/>
          </p:cNvSpPr>
          <p:nvPr/>
        </p:nvSpPr>
        <p:spPr>
          <a:xfrm>
            <a:off x="628650" y="493744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7283" name="Rectangle 6"/>
          <p:cNvSpPr txBox="1">
            <a:spLocks noGrp="1"/>
          </p:cNvSpPr>
          <p:nvPr/>
        </p:nvSpPr>
        <p:spPr>
          <a:xfrm>
            <a:off x="6457950" y="493744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7284" name="Rectangle 2"/>
          <p:cNvSpPr>
            <a:spLocks noGrp="1"/>
          </p:cNvSpPr>
          <p:nvPr>
            <p:ph type="title"/>
          </p:nvPr>
        </p:nvSpPr>
        <p:spPr>
          <a:xfrm>
            <a:off x="685800" y="482918"/>
            <a:ext cx="5105400" cy="498475"/>
          </a:xfrm>
          <a:prstGeom prst="rect">
            <a:avLst/>
          </a:prstGeom>
          <a:noFill/>
          <a:ln w="9525">
            <a:noFill/>
          </a:ln>
        </p:spPr>
        <p:txBody>
          <a:bodyPr/>
          <a:p>
            <a:pPr eaLnBrk="1" hangingPunct="1"/>
            <a:r>
              <a:rPr lang="en-US" altLang="zh-CN" sz="1800" b="1" dirty="0">
                <a:solidFill>
                  <a:srgbClr val="FF0066"/>
                </a:solidFill>
                <a:latin typeface="黑体" panose="02010609060101010101" pitchFamily="49" charset="-122"/>
                <a:ea typeface="黑体" panose="02010609060101010101" pitchFamily="49" charset="-122"/>
              </a:rPr>
              <a:t>2.  </a:t>
            </a:r>
            <a:r>
              <a:rPr lang="zh-CN" altLang="en-US" sz="1800" b="1" dirty="0">
                <a:solidFill>
                  <a:srgbClr val="FF0066"/>
                </a:solidFill>
                <a:latin typeface="黑体" panose="02010609060101010101" pitchFamily="49" charset="-122"/>
                <a:ea typeface="黑体" panose="02010609060101010101" pitchFamily="49" charset="-122"/>
              </a:rPr>
              <a:t>禁止逻辑法</a:t>
            </a:r>
            <a:r>
              <a:rPr lang="en-US" altLang="zh-CN" sz="1800" b="1" dirty="0">
                <a:solidFill>
                  <a:srgbClr val="FF0066"/>
                </a:solidFill>
                <a:latin typeface="黑体" panose="02010609060101010101" pitchFamily="49" charset="-122"/>
                <a:ea typeface="黑体" panose="02010609060101010101" pitchFamily="49" charset="-122"/>
              </a:rPr>
              <a:t>(</a:t>
            </a:r>
            <a:r>
              <a:rPr lang="zh-CN" altLang="en-US" sz="1800" b="1" dirty="0">
                <a:solidFill>
                  <a:srgbClr val="FF0066"/>
                </a:solidFill>
                <a:latin typeface="黑体" panose="02010609060101010101" pitchFamily="49" charset="-122"/>
                <a:ea typeface="黑体" panose="02010609060101010101" pitchFamily="49" charset="-122"/>
              </a:rPr>
              <a:t>阻塞逻辑法</a:t>
            </a:r>
            <a:r>
              <a:rPr lang="en-US" altLang="zh-CN" sz="1800" b="1" dirty="0">
                <a:solidFill>
                  <a:srgbClr val="FF0066"/>
                </a:solidFill>
                <a:latin typeface="黑体" panose="02010609060101010101" pitchFamily="49" charset="-122"/>
                <a:ea typeface="黑体" panose="02010609060101010101" pitchFamily="49" charset="-122"/>
              </a:rPr>
              <a:t>)</a:t>
            </a:r>
            <a:endParaRPr lang="zh-CN" altLang="en-US" sz="1800" b="1" dirty="0">
              <a:solidFill>
                <a:srgbClr val="FF0066"/>
              </a:solidFill>
              <a:latin typeface="黑体" panose="02010609060101010101" pitchFamily="49" charset="-122"/>
              <a:ea typeface="黑体" panose="02010609060101010101" pitchFamily="49" charset="-122"/>
            </a:endParaRPr>
          </a:p>
        </p:txBody>
      </p:sp>
      <p:sp>
        <p:nvSpPr>
          <p:cNvPr id="97285" name="Rectangle 3"/>
          <p:cNvSpPr>
            <a:spLocks noGrp="1"/>
          </p:cNvSpPr>
          <p:nvPr>
            <p:ph/>
          </p:nvPr>
        </p:nvSpPr>
        <p:spPr>
          <a:xfrm>
            <a:off x="228600" y="809943"/>
            <a:ext cx="8686800" cy="74295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任何函数利用不属于它的</a:t>
            </a:r>
            <a:r>
              <a:rPr lang="zh-CN" altLang="en-US" sz="1800" dirty="0">
                <a:solidFill>
                  <a:srgbClr val="FF0000"/>
                </a:solidFill>
                <a:latin typeface="黑体" panose="02010609060101010101" pitchFamily="49" charset="-122"/>
                <a:ea typeface="黑体" panose="02010609060101010101" pitchFamily="49" charset="-122"/>
              </a:rPr>
              <a:t>最小项</a:t>
            </a:r>
            <a:r>
              <a:rPr lang="zh-CN" altLang="en-US" sz="1800" u="sng" dirty="0">
                <a:solidFill>
                  <a:srgbClr val="0000FF"/>
                </a:solidFill>
                <a:latin typeface="黑体" panose="02010609060101010101" pitchFamily="49" charset="-122"/>
                <a:ea typeface="黑体" panose="02010609060101010101" pitchFamily="49" charset="-122"/>
              </a:rPr>
              <a:t>的非</a:t>
            </a:r>
            <a:r>
              <a:rPr lang="zh-CN" altLang="en-US" sz="1800" dirty="0">
                <a:latin typeface="黑体" panose="02010609060101010101" pitchFamily="49" charset="-122"/>
                <a:ea typeface="黑体" panose="02010609060101010101" pitchFamily="49" charset="-122"/>
              </a:rPr>
              <a:t>乘之</a:t>
            </a:r>
            <a:r>
              <a:rPr lang="zh-CN" altLang="en-US" sz="1800" dirty="0">
                <a:latin typeface="黑体" panose="02010609060101010101" pitchFamily="49" charset="-122"/>
                <a:ea typeface="黑体" panose="02010609060101010101" pitchFamily="49" charset="-122"/>
                <a:sym typeface="+mn-ea"/>
              </a:rPr>
              <a:t>（进行逻辑与操作，也称逻辑</a:t>
            </a:r>
            <a:r>
              <a:rPr lang="zh-CN" altLang="en-US" sz="1800" dirty="0">
                <a:latin typeface="黑体" panose="02010609060101010101" pitchFamily="49" charset="-122"/>
                <a:ea typeface="黑体" panose="02010609060101010101" pitchFamily="49" charset="-122"/>
                <a:sym typeface="+mn-ea"/>
              </a:rPr>
              <a:t>乘</a:t>
            </a:r>
            <a:r>
              <a:rPr lang="zh-CN" altLang="en-US" sz="1800" dirty="0">
                <a:latin typeface="黑体" panose="02010609060101010101" pitchFamily="49" charset="-122"/>
                <a:ea typeface="黑体" panose="02010609060101010101" pitchFamily="49" charset="-122"/>
                <a:sym typeface="+mn-ea"/>
              </a:rPr>
              <a:t>）</a:t>
            </a:r>
            <a:r>
              <a:rPr lang="zh-CN" altLang="en-US" sz="1800" dirty="0">
                <a:latin typeface="黑体" panose="02010609060101010101" pitchFamily="49" charset="-122"/>
                <a:ea typeface="黑体" panose="02010609060101010101" pitchFamily="49" charset="-122"/>
              </a:rPr>
              <a:t>，其逻辑功能不变。即：</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F • m</a:t>
            </a:r>
            <a:r>
              <a:rPr lang="en-US" altLang="zh-CN" sz="1800" b="1" baseline="-25000" dirty="0">
                <a:latin typeface="黑体" panose="02010609060101010101" pitchFamily="49" charset="-122"/>
                <a:ea typeface="黑体" panose="02010609060101010101" pitchFamily="49" charset="-122"/>
              </a:rPr>
              <a:t>i</a:t>
            </a:r>
            <a:r>
              <a:rPr lang="en-US" altLang="zh-CN" sz="1800" b="1" dirty="0">
                <a:latin typeface="黑体" panose="02010609060101010101" pitchFamily="49" charset="-122"/>
                <a:ea typeface="黑体" panose="02010609060101010101" pitchFamily="49" charset="-122"/>
              </a:rPr>
              <a:t>         (m</a:t>
            </a:r>
            <a:r>
              <a:rPr lang="en-US" altLang="zh-CN" sz="1800" b="1" baseline="-25000" dirty="0">
                <a:latin typeface="黑体" panose="02010609060101010101" pitchFamily="49" charset="-122"/>
                <a:ea typeface="黑体" panose="02010609060101010101" pitchFamily="49" charset="-122"/>
              </a:rPr>
              <a:t>i</a:t>
            </a:r>
            <a:r>
              <a:rPr lang="zh-CN" altLang="en-US" sz="1800" b="1" dirty="0">
                <a:latin typeface="黑体" panose="02010609060101010101" pitchFamily="49" charset="-122"/>
                <a:ea typeface="黑体" panose="02010609060101010101" pitchFamily="49" charset="-122"/>
              </a:rPr>
              <a:t>不在</a:t>
            </a:r>
            <a:r>
              <a:rPr lang="en-US" altLang="zh-CN" sz="1800" b="1" dirty="0">
                <a:latin typeface="黑体" panose="02010609060101010101" pitchFamily="49" charset="-122"/>
                <a:ea typeface="黑体" panose="02010609060101010101" pitchFamily="49" charset="-122"/>
              </a:rPr>
              <a:t>F</a:t>
            </a:r>
            <a:r>
              <a:rPr lang="zh-CN" altLang="en-US" sz="1800" b="1" dirty="0">
                <a:latin typeface="黑体" panose="02010609060101010101" pitchFamily="49" charset="-122"/>
                <a:ea typeface="黑体" panose="02010609060101010101" pitchFamily="49" charset="-122"/>
              </a:rPr>
              <a:t>中</a:t>
            </a:r>
            <a:r>
              <a:rPr lang="en-US" altLang="zh-CN" sz="1800" b="1" dirty="0">
                <a:latin typeface="黑体" panose="02010609060101010101" pitchFamily="49" charset="-122"/>
                <a:ea typeface="黑体" panose="02010609060101010101" pitchFamily="49" charset="-122"/>
              </a:rPr>
              <a:t>)   P.31</a:t>
            </a:r>
            <a:endParaRPr lang="en-US" altLang="zh-CN" sz="1800" b="1" dirty="0">
              <a:latin typeface="黑体" panose="02010609060101010101" pitchFamily="49" charset="-122"/>
              <a:ea typeface="黑体" panose="02010609060101010101" pitchFamily="49" charset="-122"/>
            </a:endParaRPr>
          </a:p>
        </p:txBody>
      </p:sp>
      <p:sp>
        <p:nvSpPr>
          <p:cNvPr id="97286" name="Text Box 11"/>
          <p:cNvSpPr txBox="1"/>
          <p:nvPr/>
        </p:nvSpPr>
        <p:spPr>
          <a:xfrm>
            <a:off x="228600" y="2721610"/>
            <a:ext cx="8773160" cy="643890"/>
          </a:xfrm>
          <a:prstGeom prst="rect">
            <a:avLst/>
          </a:prstGeom>
          <a:noFill/>
          <a:ln w="9525">
            <a:noFill/>
          </a:ln>
        </p:spPr>
        <p:txBody>
          <a:bodyPr wrap="square">
            <a:spAutoFit/>
          </a:bodyPr>
          <a:p>
            <a:pPr eaLnBrk="1" hangingPunct="1">
              <a:lnSpc>
                <a:spcPct val="90000"/>
              </a:lnSpc>
              <a:spcBef>
                <a:spcPct val="20000"/>
              </a:spcBef>
              <a:buFont typeface="Arial" panose="020B0604020202020204" pitchFamily="34" charset="0"/>
              <a:buChar char="•"/>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任何函数如用属于它的</a:t>
            </a:r>
            <a:r>
              <a:rPr lang="zh-CN" altLang="en-US" sz="1800" dirty="0">
                <a:solidFill>
                  <a:srgbClr val="FF0000"/>
                </a:solidFill>
                <a:latin typeface="黑体" panose="02010609060101010101" pitchFamily="49" charset="-122"/>
                <a:ea typeface="黑体" panose="02010609060101010101" pitchFamily="49" charset="-122"/>
              </a:rPr>
              <a:t>最小项之和的非</a:t>
            </a:r>
            <a:r>
              <a:rPr lang="zh-CN" altLang="en-US" sz="1800" dirty="0">
                <a:solidFill>
                  <a:schemeClr val="tx1"/>
                </a:solidFill>
                <a:latin typeface="黑体" panose="02010609060101010101" pitchFamily="49" charset="-122"/>
                <a:ea typeface="黑体" panose="02010609060101010101" pitchFamily="49" charset="-122"/>
              </a:rPr>
              <a:t>乘之，则相当</a:t>
            </a:r>
            <a:r>
              <a:rPr lang="zh-CN" altLang="en-US" sz="1800" dirty="0">
                <a:solidFill>
                  <a:schemeClr val="tx1"/>
                </a:solidFill>
                <a:latin typeface="黑体" panose="02010609060101010101" pitchFamily="49" charset="-122"/>
                <a:ea typeface="黑体" panose="02010609060101010101" pitchFamily="49" charset="-122"/>
                <a:sym typeface="+mn-ea"/>
              </a:rPr>
              <a:t>于从</a:t>
            </a:r>
            <a:r>
              <a:rPr lang="zh-CN" altLang="en-US" sz="1800" b="1" dirty="0">
                <a:solidFill>
                  <a:schemeClr val="tx1"/>
                </a:solidFill>
                <a:latin typeface="黑体" panose="02010609060101010101" pitchFamily="49" charset="-122"/>
                <a:ea typeface="黑体" panose="02010609060101010101" pitchFamily="49" charset="-122"/>
                <a:sym typeface="+mn-ea"/>
              </a:rPr>
              <a:t>该函数中</a:t>
            </a:r>
            <a:r>
              <a:rPr lang="zh-CN" altLang="en-US" sz="1800" b="1" dirty="0">
                <a:solidFill>
                  <a:srgbClr val="FF0000"/>
                </a:solidFill>
                <a:latin typeface="黑体" panose="02010609060101010101" pitchFamily="49" charset="-122"/>
                <a:ea typeface="黑体" panose="02010609060101010101" pitchFamily="49" charset="-122"/>
              </a:rPr>
              <a:t>扣去了</a:t>
            </a:r>
            <a:r>
              <a:rPr lang="zh-CN" altLang="en-US" sz="1800" b="1" dirty="0">
                <a:solidFill>
                  <a:schemeClr val="tx1"/>
                </a:solidFill>
                <a:latin typeface="黑体" panose="02010609060101010101" pitchFamily="49" charset="-122"/>
                <a:ea typeface="黑体" panose="02010609060101010101" pitchFamily="49" charset="-122"/>
              </a:rPr>
              <a:t>这几个最</a:t>
            </a:r>
            <a:r>
              <a:rPr lang="en-US" altLang="zh-CN" sz="1800" b="1" dirty="0">
                <a:solidFill>
                  <a:schemeClr val="tx1"/>
                </a:solidFill>
                <a:latin typeface="黑体" panose="02010609060101010101" pitchFamily="49" charset="-122"/>
                <a:ea typeface="黑体" panose="02010609060101010101" pitchFamily="49" charset="-122"/>
              </a:rPr>
              <a:t>   </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2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小项，称禁止逻辑</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7287" name="Text Box 13"/>
          <p:cNvSpPr txBox="1"/>
          <p:nvPr/>
        </p:nvSpPr>
        <p:spPr>
          <a:xfrm>
            <a:off x="685800" y="3427730"/>
            <a:ext cx="4876800" cy="366713"/>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F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7288" name="Text Box 12"/>
          <p:cNvSpPr txBox="1"/>
          <p:nvPr/>
        </p:nvSpPr>
        <p:spPr>
          <a:xfrm>
            <a:off x="250825" y="2352993"/>
            <a:ext cx="8664575"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进一步推广  </a:t>
            </a:r>
            <a:r>
              <a:rPr lang="en-US" altLang="zh-CN" sz="1800" b="1" dirty="0">
                <a:solidFill>
                  <a:schemeClr val="tx1"/>
                </a:solidFill>
                <a:latin typeface="黑体" panose="02010609060101010101" pitchFamily="49" charset="-122"/>
                <a:ea typeface="黑体" panose="02010609060101010101" pitchFamily="49" charset="-122"/>
              </a:rPr>
              <a:t>F  = F • (m</a:t>
            </a:r>
            <a:r>
              <a:rPr lang="en-US" altLang="zh-CN" sz="1800" b="1" baseline="-25000" dirty="0">
                <a:solidFill>
                  <a:schemeClr val="tx1"/>
                </a:solidFill>
                <a:latin typeface="黑体" panose="02010609060101010101" pitchFamily="49" charset="-122"/>
                <a:ea typeface="黑体" panose="02010609060101010101" pitchFamily="49" charset="-122"/>
              </a:rPr>
              <a:t>i </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j </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i </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j</a:t>
            </a:r>
            <a:r>
              <a:rPr lang="zh-CN" altLang="en-US" sz="1800" b="1" dirty="0">
                <a:solidFill>
                  <a:schemeClr val="tx1"/>
                </a:solidFill>
                <a:latin typeface="黑体" panose="02010609060101010101" pitchFamily="49" charset="-122"/>
                <a:ea typeface="黑体" panose="02010609060101010101" pitchFamily="49" charset="-122"/>
              </a:rPr>
              <a:t>均不在</a:t>
            </a:r>
            <a:r>
              <a:rPr lang="en-US" altLang="zh-CN" sz="1800" b="1" dirty="0">
                <a:solidFill>
                  <a:schemeClr val="tx1"/>
                </a:solidFill>
                <a:latin typeface="黑体" panose="02010609060101010101" pitchFamily="49" charset="-122"/>
                <a:ea typeface="黑体" panose="02010609060101010101" pitchFamily="49" charset="-122"/>
              </a:rPr>
              <a:t>F</a:t>
            </a:r>
            <a:r>
              <a:rPr lang="zh-CN" altLang="en-US" sz="1800" b="1" dirty="0">
                <a:solidFill>
                  <a:schemeClr val="tx1"/>
                </a:solidFill>
                <a:latin typeface="黑体" panose="02010609060101010101" pitchFamily="49" charset="-122"/>
                <a:ea typeface="黑体" panose="02010609060101010101" pitchFamily="49" charset="-122"/>
              </a:rPr>
              <a:t>中</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97289" name="Group 23"/>
          <p:cNvGrpSpPr/>
          <p:nvPr/>
        </p:nvGrpSpPr>
        <p:grpSpPr>
          <a:xfrm>
            <a:off x="838200" y="1552893"/>
            <a:ext cx="5867400" cy="700480"/>
            <a:chOff x="0" y="0"/>
            <a:chExt cx="3696" cy="589"/>
          </a:xfrm>
        </p:grpSpPr>
        <p:sp>
          <p:nvSpPr>
            <p:cNvPr id="97303" name="Text Box 10"/>
            <p:cNvSpPr txBox="1"/>
            <p:nvPr/>
          </p:nvSpPr>
          <p:spPr>
            <a:xfrm>
              <a:off x="0" y="0"/>
              <a:ext cx="3696" cy="589"/>
            </a:xfrm>
            <a:prstGeom prst="rect">
              <a:avLst/>
            </a:prstGeom>
            <a:noFill/>
            <a:ln w="9525">
              <a:noFill/>
            </a:ln>
          </p:spPr>
          <p:txBody>
            <a:bodyPr>
              <a:spAutoFit/>
            </a:bodyPr>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不属于</a:t>
              </a:r>
              <a:r>
                <a:rPr lang="en-US" altLang="zh-CN" sz="1800" dirty="0">
                  <a:solidFill>
                    <a:schemeClr val="tx1"/>
                  </a:solidFill>
                  <a:latin typeface="黑体" panose="02010609060101010101" pitchFamily="49" charset="-122"/>
                  <a:ea typeface="黑体" panose="02010609060101010101" pitchFamily="49" charset="-122"/>
                </a:rPr>
                <a:t>F</a:t>
              </a:r>
              <a:r>
                <a:rPr lang="zh-CN" altLang="en-US" sz="1800" dirty="0">
                  <a:solidFill>
                    <a:schemeClr val="tx1"/>
                  </a:solidFill>
                  <a:latin typeface="黑体" panose="02010609060101010101" pitchFamily="49" charset="-122"/>
                  <a:ea typeface="黑体" panose="02010609060101010101" pitchFamily="49" charset="-122"/>
                </a:rPr>
                <a:t>的最小项</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i</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a:t>
              </a:r>
              <a:r>
                <a:rPr lang="en-US" altLang="zh-CN" sz="1800" dirty="0">
                  <a:solidFill>
                    <a:schemeClr val="tx1"/>
                  </a:solidFill>
                  <a:latin typeface="黑体" panose="02010609060101010101" pitchFamily="49" charset="-122"/>
                  <a:ea typeface="黑体" panose="02010609060101010101" pitchFamily="49" charset="-122"/>
                </a:rPr>
                <a:t>F</a:t>
              </a:r>
              <a:r>
                <a:rPr lang="zh-CN" altLang="en-US" sz="1800" dirty="0">
                  <a:solidFill>
                    <a:schemeClr val="tx1"/>
                  </a:solidFill>
                  <a:latin typeface="黑体" panose="02010609060101010101" pitchFamily="49" charset="-122"/>
                  <a:ea typeface="黑体" panose="02010609060101010101" pitchFamily="49" charset="-122"/>
                </a:rPr>
                <a:t>而言其逻辑状态值为</a:t>
              </a:r>
              <a:r>
                <a:rPr lang="en-US" altLang="zh-CN" sz="1800" dirty="0">
                  <a:solidFill>
                    <a:schemeClr val="tx1"/>
                  </a:solidFill>
                  <a:latin typeface="黑体" panose="02010609060101010101" pitchFamily="49" charset="-122"/>
                  <a:ea typeface="黑体" panose="02010609060101010101" pitchFamily="49" charset="-122"/>
                </a:rPr>
                <a:t>“0”</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i</a:t>
              </a:r>
              <a:r>
                <a:rPr lang="en-US" altLang="zh-CN" sz="1800" dirty="0">
                  <a:solidFill>
                    <a:schemeClr val="tx1"/>
                  </a:solidFill>
                  <a:latin typeface="黑体" panose="02010609060101010101" pitchFamily="49" charset="-122"/>
                  <a:ea typeface="黑体" panose="02010609060101010101" pitchFamily="49" charset="-122"/>
                </a:rPr>
                <a:t> = 1          </a:t>
              </a:r>
              <a:r>
                <a:rPr lang="zh-CN" altLang="en-US" sz="1800" dirty="0">
                  <a:solidFill>
                    <a:schemeClr val="tx1"/>
                  </a:solidFill>
                  <a:latin typeface="黑体" panose="02010609060101010101" pitchFamily="49" charset="-122"/>
                  <a:ea typeface="黑体" panose="02010609060101010101" pitchFamily="49" charset="-122"/>
                </a:rPr>
                <a:t>故上式成立。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7304" name="Line 17"/>
            <p:cNvSpPr/>
            <p:nvPr/>
          </p:nvSpPr>
          <p:spPr>
            <a:xfrm>
              <a:off x="384" y="408"/>
              <a:ext cx="192" cy="0"/>
            </a:xfrm>
            <a:prstGeom prst="line">
              <a:avLst/>
            </a:prstGeom>
            <a:ln w="9525" cap="flat" cmpd="sng">
              <a:solidFill>
                <a:schemeClr val="bg1"/>
              </a:solidFill>
              <a:prstDash val="solid"/>
              <a:headEnd type="none" w="med" len="med"/>
              <a:tailEnd type="none" w="med" len="med"/>
            </a:ln>
          </p:spPr>
        </p:sp>
      </p:grpSp>
      <p:grpSp>
        <p:nvGrpSpPr>
          <p:cNvPr id="97290" name="Group 24"/>
          <p:cNvGrpSpPr/>
          <p:nvPr/>
        </p:nvGrpSpPr>
        <p:grpSpPr>
          <a:xfrm>
            <a:off x="1259523" y="3723563"/>
            <a:ext cx="6324600" cy="1331913"/>
            <a:chOff x="5" y="-7"/>
            <a:chExt cx="3984" cy="1119"/>
          </a:xfrm>
        </p:grpSpPr>
        <p:sp>
          <p:nvSpPr>
            <p:cNvPr id="97298" name="Text Box 18"/>
            <p:cNvSpPr txBox="1"/>
            <p:nvPr/>
          </p:nvSpPr>
          <p:spPr>
            <a:xfrm>
              <a:off x="5" y="-7"/>
              <a:ext cx="3984" cy="1119"/>
            </a:xfrm>
            <a:prstGeom prst="rect">
              <a:avLst/>
            </a:prstGeom>
            <a:noFill/>
            <a:ln w="9525">
              <a:noFill/>
            </a:ln>
          </p:spPr>
          <p:txBody>
            <a:bodyPr>
              <a:spAutoFit/>
            </a:bodyPr>
            <a:p>
              <a:pPr eaLnBrk="1" hangingPunct="1">
                <a:lnSpc>
                  <a:spcPct val="75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 =  F </a:t>
              </a:r>
              <a:r>
                <a:rPr lang="en-US" altLang="zh-CN" sz="1800" b="1" dirty="0">
                  <a:solidFill>
                    <a:schemeClr val="tx1"/>
                  </a:solidFill>
                  <a:latin typeface="黑体" panose="02010609060101010101" pitchFamily="49" charset="-122"/>
                  <a:ea typeface="黑体" panose="02010609060101010101" pitchFamily="49" charset="-122"/>
                </a:rPr>
                <a:t>•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7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7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7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97299" name="Line 19"/>
            <p:cNvSpPr/>
            <p:nvPr/>
          </p:nvSpPr>
          <p:spPr>
            <a:xfrm>
              <a:off x="852" y="48"/>
              <a:ext cx="624" cy="0"/>
            </a:xfrm>
            <a:prstGeom prst="line">
              <a:avLst/>
            </a:prstGeom>
            <a:ln w="9525" cap="flat" cmpd="sng">
              <a:solidFill>
                <a:schemeClr val="bg1"/>
              </a:solidFill>
              <a:prstDash val="solid"/>
              <a:headEnd type="none" w="med" len="med"/>
              <a:tailEnd type="none" w="med" len="med"/>
            </a:ln>
          </p:spPr>
        </p:sp>
        <p:sp>
          <p:nvSpPr>
            <p:cNvPr id="97300" name="Line 20"/>
            <p:cNvSpPr/>
            <p:nvPr/>
          </p:nvSpPr>
          <p:spPr>
            <a:xfrm>
              <a:off x="2292" y="384"/>
              <a:ext cx="624" cy="0"/>
            </a:xfrm>
            <a:prstGeom prst="line">
              <a:avLst/>
            </a:prstGeom>
            <a:ln w="9525" cap="flat" cmpd="sng">
              <a:solidFill>
                <a:schemeClr val="bg1"/>
              </a:solidFill>
              <a:prstDash val="solid"/>
              <a:headEnd type="none" w="med" len="med"/>
              <a:tailEnd type="none" w="med" len="med"/>
            </a:ln>
          </p:spPr>
        </p:sp>
        <p:sp>
          <p:nvSpPr>
            <p:cNvPr id="97301" name="Line 21"/>
            <p:cNvSpPr/>
            <p:nvPr/>
          </p:nvSpPr>
          <p:spPr>
            <a:xfrm>
              <a:off x="2148" y="720"/>
              <a:ext cx="192" cy="0"/>
            </a:xfrm>
            <a:prstGeom prst="line">
              <a:avLst/>
            </a:prstGeom>
            <a:ln w="9525" cap="flat" cmpd="sng">
              <a:solidFill>
                <a:schemeClr val="bg1"/>
              </a:solidFill>
              <a:prstDash val="solid"/>
              <a:headEnd type="none" w="med" len="med"/>
              <a:tailEnd type="none" w="med" len="med"/>
            </a:ln>
          </p:spPr>
        </p:sp>
        <p:sp>
          <p:nvSpPr>
            <p:cNvPr id="97302" name="Line 22"/>
            <p:cNvSpPr/>
            <p:nvPr/>
          </p:nvSpPr>
          <p:spPr>
            <a:xfrm>
              <a:off x="2388" y="720"/>
              <a:ext cx="192" cy="0"/>
            </a:xfrm>
            <a:prstGeom prst="line">
              <a:avLst/>
            </a:prstGeom>
            <a:ln w="9525" cap="flat" cmpd="sng">
              <a:solidFill>
                <a:schemeClr val="bg1"/>
              </a:solidFill>
              <a:prstDash val="solid"/>
              <a:headEnd type="none" w="med" len="med"/>
              <a:tailEnd type="none" w="med" len="med"/>
            </a:ln>
          </p:spPr>
        </p:sp>
      </p:grpSp>
      <p:cxnSp>
        <p:nvCxnSpPr>
          <p:cNvPr id="97291" name="直接连接符 21"/>
          <p:cNvCxnSpPr/>
          <p:nvPr/>
        </p:nvCxnSpPr>
        <p:spPr>
          <a:xfrm>
            <a:off x="1352550" y="1959293"/>
            <a:ext cx="190500" cy="0"/>
          </a:xfrm>
          <a:prstGeom prst="line">
            <a:avLst/>
          </a:prstGeom>
          <a:ln w="19050" cap="flat" cmpd="sng">
            <a:solidFill>
              <a:srgbClr val="FF0000"/>
            </a:solidFill>
            <a:prstDash val="solid"/>
            <a:headEnd type="none" w="med" len="med"/>
            <a:tailEnd type="none" w="med" len="med"/>
          </a:ln>
        </p:spPr>
      </p:cxnSp>
      <p:cxnSp>
        <p:nvCxnSpPr>
          <p:cNvPr id="97292" name="直接连接符 22"/>
          <p:cNvCxnSpPr/>
          <p:nvPr/>
        </p:nvCxnSpPr>
        <p:spPr>
          <a:xfrm>
            <a:off x="2895600" y="2365693"/>
            <a:ext cx="596900" cy="0"/>
          </a:xfrm>
          <a:prstGeom prst="line">
            <a:avLst/>
          </a:prstGeom>
          <a:ln w="12700" cap="flat" cmpd="sng">
            <a:solidFill>
              <a:schemeClr val="tx1"/>
            </a:solidFill>
            <a:prstDash val="solid"/>
            <a:headEnd type="none" w="med" len="med"/>
            <a:tailEnd type="none" w="med" len="med"/>
          </a:ln>
        </p:spPr>
      </p:cxnSp>
      <p:cxnSp>
        <p:nvCxnSpPr>
          <p:cNvPr id="97293" name="直接连接符 25"/>
          <p:cNvCxnSpPr>
            <a:stCxn id="97299" idx="0"/>
          </p:cNvCxnSpPr>
          <p:nvPr/>
        </p:nvCxnSpPr>
        <p:spPr>
          <a:xfrm>
            <a:off x="2604135" y="3789045"/>
            <a:ext cx="671830" cy="6350"/>
          </a:xfrm>
          <a:prstGeom prst="line">
            <a:avLst/>
          </a:prstGeom>
          <a:ln w="19050" cap="flat" cmpd="sng">
            <a:solidFill>
              <a:schemeClr val="accent1"/>
            </a:solidFill>
            <a:prstDash val="solid"/>
            <a:headEnd type="none" w="med" len="med"/>
            <a:tailEnd type="none" w="med" len="med"/>
          </a:ln>
        </p:spPr>
      </p:cxnSp>
      <p:cxnSp>
        <p:nvCxnSpPr>
          <p:cNvPr id="97294" name="直接连接符 26"/>
          <p:cNvCxnSpPr/>
          <p:nvPr/>
        </p:nvCxnSpPr>
        <p:spPr>
          <a:xfrm>
            <a:off x="4427855" y="4083685"/>
            <a:ext cx="648335" cy="0"/>
          </a:xfrm>
          <a:prstGeom prst="line">
            <a:avLst/>
          </a:prstGeom>
          <a:ln w="19050" cap="flat" cmpd="sng">
            <a:solidFill>
              <a:schemeClr val="accent1"/>
            </a:solidFill>
            <a:prstDash val="solid"/>
            <a:headEnd type="none" w="med" len="med"/>
            <a:tailEnd type="none" w="med" len="med"/>
          </a:ln>
        </p:spPr>
      </p:cxnSp>
      <p:cxnSp>
        <p:nvCxnSpPr>
          <p:cNvPr id="97295" name="直接连接符 27"/>
          <p:cNvCxnSpPr/>
          <p:nvPr/>
        </p:nvCxnSpPr>
        <p:spPr>
          <a:xfrm>
            <a:off x="4098290" y="4463733"/>
            <a:ext cx="190500" cy="0"/>
          </a:xfrm>
          <a:prstGeom prst="line">
            <a:avLst/>
          </a:prstGeom>
          <a:ln w="19050" cap="flat" cmpd="sng">
            <a:solidFill>
              <a:schemeClr val="accent1"/>
            </a:solidFill>
            <a:prstDash val="solid"/>
            <a:headEnd type="none" w="med" len="med"/>
            <a:tailEnd type="none" w="med" len="med"/>
          </a:ln>
        </p:spPr>
      </p:cxnSp>
      <p:cxnSp>
        <p:nvCxnSpPr>
          <p:cNvPr id="97296" name="直接连接符 28"/>
          <p:cNvCxnSpPr/>
          <p:nvPr/>
        </p:nvCxnSpPr>
        <p:spPr>
          <a:xfrm>
            <a:off x="4379595" y="4463733"/>
            <a:ext cx="190500" cy="0"/>
          </a:xfrm>
          <a:prstGeom prst="line">
            <a:avLst/>
          </a:prstGeom>
          <a:ln w="19050" cap="flat" cmpd="sng">
            <a:solidFill>
              <a:schemeClr val="accent1"/>
            </a:solidFill>
            <a:prstDash val="solid"/>
            <a:headEnd type="none" w="med" len="med"/>
            <a:tailEnd type="none" w="med" len="med"/>
          </a:ln>
        </p:spPr>
      </p:cxnSp>
      <p:sp>
        <p:nvSpPr>
          <p:cNvPr id="92177" name="Line 24"/>
          <p:cNvSpPr>
            <a:spLocks noChangeShapeType="1"/>
          </p:cNvSpPr>
          <p:nvPr/>
        </p:nvSpPr>
        <p:spPr bwMode="auto">
          <a:xfrm>
            <a:off x="3416618" y="1150303"/>
            <a:ext cx="215900" cy="0"/>
          </a:xfrm>
          <a:prstGeom prst="line">
            <a:avLst/>
          </a:prstGeom>
          <a:noFill/>
          <a:ln w="127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7286"/>
                                        </p:tgtEl>
                                        <p:attrNameLst>
                                          <p:attrName>style.visibility</p:attrName>
                                        </p:attrNameLst>
                                      </p:cBhvr>
                                      <p:to>
                                        <p:strVal val="visible"/>
                                      </p:to>
                                    </p:set>
                                    <p:animEffect transition="in" filter="fade">
                                      <p:cBhvr>
                                        <p:cTn id="7" dur="500"/>
                                        <p:tgtEl>
                                          <p:spTgt spid="972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290"/>
                                        </p:tgtEl>
                                        <p:attrNameLst>
                                          <p:attrName>style.visibility</p:attrName>
                                        </p:attrNameLst>
                                      </p:cBhvr>
                                      <p:to>
                                        <p:strVal val="visible"/>
                                      </p:to>
                                    </p:set>
                                    <p:animEffect transition="in" filter="fade">
                                      <p:cBhvr>
                                        <p:cTn id="12" dur="500"/>
                                        <p:tgtEl>
                                          <p:spTgt spid="97290"/>
                                        </p:tgtEl>
                                      </p:cBhvr>
                                    </p:animEffect>
                                  </p:childTnLst>
                                </p:cTn>
                              </p:par>
                              <p:par>
                                <p:cTn id="13" presetID="10" presetClass="entr" presetSubtype="0" fill="hold" nodeType="withEffect">
                                  <p:stCondLst>
                                    <p:cond delay="0"/>
                                  </p:stCondLst>
                                  <p:childTnLst>
                                    <p:set>
                                      <p:cBhvr>
                                        <p:cTn id="14" dur="1" fill="hold">
                                          <p:stCondLst>
                                            <p:cond delay="0"/>
                                          </p:stCondLst>
                                        </p:cTn>
                                        <p:tgtEl>
                                          <p:spTgt spid="97293"/>
                                        </p:tgtEl>
                                        <p:attrNameLst>
                                          <p:attrName>style.visibility</p:attrName>
                                        </p:attrNameLst>
                                      </p:cBhvr>
                                      <p:to>
                                        <p:strVal val="visible"/>
                                      </p:to>
                                    </p:set>
                                    <p:animEffect transition="in" filter="fade">
                                      <p:cBhvr>
                                        <p:cTn id="15" dur="500"/>
                                        <p:tgtEl>
                                          <p:spTgt spid="97293"/>
                                        </p:tgtEl>
                                      </p:cBhvr>
                                    </p:animEffect>
                                  </p:childTnLst>
                                </p:cTn>
                              </p:par>
                              <p:par>
                                <p:cTn id="16" presetID="10" presetClass="entr" presetSubtype="0" fill="hold" nodeType="withEffect">
                                  <p:stCondLst>
                                    <p:cond delay="0"/>
                                  </p:stCondLst>
                                  <p:childTnLst>
                                    <p:set>
                                      <p:cBhvr>
                                        <p:cTn id="17" dur="1" fill="hold">
                                          <p:stCondLst>
                                            <p:cond delay="0"/>
                                          </p:stCondLst>
                                        </p:cTn>
                                        <p:tgtEl>
                                          <p:spTgt spid="97294"/>
                                        </p:tgtEl>
                                        <p:attrNameLst>
                                          <p:attrName>style.visibility</p:attrName>
                                        </p:attrNameLst>
                                      </p:cBhvr>
                                      <p:to>
                                        <p:strVal val="visible"/>
                                      </p:to>
                                    </p:set>
                                    <p:animEffect transition="in" filter="fade">
                                      <p:cBhvr>
                                        <p:cTn id="18" dur="500"/>
                                        <p:tgtEl>
                                          <p:spTgt spid="97294"/>
                                        </p:tgtEl>
                                      </p:cBhvr>
                                    </p:animEffect>
                                  </p:childTnLst>
                                </p:cTn>
                              </p:par>
                              <p:par>
                                <p:cTn id="19" presetID="10" presetClass="entr" presetSubtype="0" fill="hold" nodeType="withEffect">
                                  <p:stCondLst>
                                    <p:cond delay="0"/>
                                  </p:stCondLst>
                                  <p:childTnLst>
                                    <p:set>
                                      <p:cBhvr>
                                        <p:cTn id="20" dur="1" fill="hold">
                                          <p:stCondLst>
                                            <p:cond delay="0"/>
                                          </p:stCondLst>
                                        </p:cTn>
                                        <p:tgtEl>
                                          <p:spTgt spid="97296"/>
                                        </p:tgtEl>
                                        <p:attrNameLst>
                                          <p:attrName>style.visibility</p:attrName>
                                        </p:attrNameLst>
                                      </p:cBhvr>
                                      <p:to>
                                        <p:strVal val="visible"/>
                                      </p:to>
                                    </p:set>
                                    <p:animEffect transition="in" filter="fade">
                                      <p:cBhvr>
                                        <p:cTn id="21" dur="500"/>
                                        <p:tgtEl>
                                          <p:spTgt spid="97296"/>
                                        </p:tgtEl>
                                      </p:cBhvr>
                                    </p:animEffect>
                                  </p:childTnLst>
                                </p:cTn>
                              </p:par>
                              <p:par>
                                <p:cTn id="22" presetID="10" presetClass="entr" presetSubtype="0" fill="hold" nodeType="withEffect">
                                  <p:stCondLst>
                                    <p:cond delay="0"/>
                                  </p:stCondLst>
                                  <p:childTnLst>
                                    <p:set>
                                      <p:cBhvr>
                                        <p:cTn id="23" dur="1" fill="hold">
                                          <p:stCondLst>
                                            <p:cond delay="0"/>
                                          </p:stCondLst>
                                        </p:cTn>
                                        <p:tgtEl>
                                          <p:spTgt spid="97295"/>
                                        </p:tgtEl>
                                        <p:attrNameLst>
                                          <p:attrName>style.visibility</p:attrName>
                                        </p:attrNameLst>
                                      </p:cBhvr>
                                      <p:to>
                                        <p:strVal val="visible"/>
                                      </p:to>
                                    </p:set>
                                    <p:animEffect transition="in" filter="fade">
                                      <p:cBhvr>
                                        <p:cTn id="24" dur="500"/>
                                        <p:tgtEl>
                                          <p:spTgt spid="9729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7287"/>
                                        </p:tgtEl>
                                        <p:attrNameLst>
                                          <p:attrName>style.visibility</p:attrName>
                                        </p:attrNameLst>
                                      </p:cBhvr>
                                      <p:to>
                                        <p:strVal val="visible"/>
                                      </p:to>
                                    </p:set>
                                    <p:animEffect transition="in" filter="fade">
                                      <p:cBhvr>
                                        <p:cTn id="27" dur="500"/>
                                        <p:tgtEl>
                                          <p:spTgt spid="97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6" grpId="0"/>
      <p:bldP spid="9728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830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8308" name="Rectangle 2"/>
          <p:cNvSpPr>
            <a:spLocks noGrp="1"/>
          </p:cNvSpPr>
          <p:nvPr>
            <p:ph type="title"/>
          </p:nvPr>
        </p:nvSpPr>
        <p:spPr>
          <a:xfrm>
            <a:off x="474663" y="771525"/>
            <a:ext cx="7507287" cy="8001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禁止逻辑（又称</a:t>
            </a:r>
            <a:r>
              <a:rPr lang="zh-CN" altLang="en-US" sz="1800" b="1" dirty="0">
                <a:solidFill>
                  <a:srgbClr val="FF0000"/>
                </a:solidFill>
                <a:latin typeface="黑体" panose="02010609060101010101" pitchFamily="49" charset="-122"/>
                <a:ea typeface="黑体" panose="02010609060101010101" pitchFamily="49" charset="-122"/>
              </a:rPr>
              <a:t>阻塞逻辑</a:t>
            </a:r>
            <a:r>
              <a:rPr lang="zh-CN" altLang="en-US" sz="1800" b="1" dirty="0">
                <a:latin typeface="黑体" panose="02010609060101010101" pitchFamily="49" charset="-122"/>
                <a:ea typeface="黑体" panose="02010609060101010101" pitchFamily="49" charset="-122"/>
              </a:rPr>
              <a:t>），上式中</a:t>
            </a:r>
            <a:r>
              <a:rPr lang="en-US" altLang="zh-CN" sz="1800" b="1" dirty="0">
                <a:latin typeface="黑体" panose="02010609060101010101" pitchFamily="49" charset="-122"/>
                <a:ea typeface="黑体" panose="02010609060101010101" pitchFamily="49" charset="-122"/>
              </a:rPr>
              <a:t>m</a:t>
            </a:r>
            <a:r>
              <a:rPr lang="en-US" altLang="zh-CN" sz="1800" b="1" baseline="-25000" dirty="0">
                <a:latin typeface="黑体" panose="02010609060101010101" pitchFamily="49" charset="-122"/>
                <a:ea typeface="黑体" panose="02010609060101010101" pitchFamily="49" charset="-122"/>
              </a:rPr>
              <a:t>5 </a:t>
            </a:r>
            <a:r>
              <a:rPr lang="en-US" altLang="zh-CN" sz="1800" b="1" dirty="0">
                <a:latin typeface="黑体" panose="02010609060101010101" pitchFamily="49" charset="-122"/>
                <a:ea typeface="黑体" panose="02010609060101010101" pitchFamily="49" charset="-122"/>
              </a:rPr>
              <a:t>+ m</a:t>
            </a:r>
            <a:r>
              <a:rPr lang="en-US" altLang="zh-CN" sz="1800" b="1" baseline="-25000" dirty="0">
                <a:latin typeface="黑体" panose="02010609060101010101" pitchFamily="49" charset="-122"/>
                <a:ea typeface="黑体" panose="02010609060101010101" pitchFamily="49" charset="-122"/>
              </a:rPr>
              <a:t>7 </a:t>
            </a:r>
            <a:r>
              <a:rPr lang="zh-CN" altLang="en-US" sz="1800" b="1" dirty="0">
                <a:latin typeface="黑体" panose="02010609060101010101" pitchFamily="49" charset="-122"/>
                <a:ea typeface="黑体" panose="02010609060101010101" pitchFamily="49" charset="-122"/>
              </a:rPr>
              <a:t>称为</a:t>
            </a:r>
            <a:r>
              <a:rPr lang="zh-CN" altLang="en-US" sz="1800" b="1" dirty="0">
                <a:solidFill>
                  <a:srgbClr val="FF0000"/>
                </a:solidFill>
                <a:latin typeface="黑体" panose="02010609060101010101" pitchFamily="49" charset="-122"/>
                <a:ea typeface="黑体" panose="02010609060101010101" pitchFamily="49" charset="-122"/>
              </a:rPr>
              <a:t>禁止项</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G </a:t>
            </a:r>
            <a:r>
              <a:rPr lang="zh-CN" altLang="en-US" sz="1800" b="1" dirty="0">
                <a:latin typeface="黑体" panose="02010609060101010101" pitchFamily="49" charset="-122"/>
                <a:ea typeface="黑体" panose="02010609060101010101" pitchFamily="49" charset="-122"/>
              </a:rPr>
              <a:t>是 </a:t>
            </a:r>
            <a:r>
              <a:rPr lang="en-US" altLang="zh-CN" sz="1800" b="1" dirty="0">
                <a:latin typeface="黑体" panose="02010609060101010101" pitchFamily="49" charset="-122"/>
                <a:ea typeface="黑体" panose="02010609060101010101" pitchFamily="49" charset="-122"/>
              </a:rPr>
              <a:t>F </a:t>
            </a:r>
            <a:br>
              <a:rPr lang="en-US" altLang="zh-CN" sz="1800" b="1" dirty="0">
                <a:latin typeface="黑体" panose="02010609060101010101" pitchFamily="49" charset="-122"/>
                <a:ea typeface="黑体" panose="02010609060101010101" pitchFamily="49" charset="-122"/>
              </a:rPr>
            </a:br>
            <a:r>
              <a:rPr lang="zh-CN" altLang="en-US" sz="1800" b="1" dirty="0">
                <a:latin typeface="黑体" panose="02010609060101010101" pitchFamily="49" charset="-122"/>
                <a:ea typeface="黑体" panose="02010609060101010101" pitchFamily="49" charset="-122"/>
              </a:rPr>
              <a:t>被 </a:t>
            </a:r>
            <a:r>
              <a:rPr lang="en-US" altLang="zh-CN" sz="1800" b="1" dirty="0">
                <a:latin typeface="黑体" panose="02010609060101010101" pitchFamily="49" charset="-122"/>
                <a:ea typeface="黑体" panose="02010609060101010101" pitchFamily="49" charset="-122"/>
              </a:rPr>
              <a:t>m</a:t>
            </a:r>
            <a:r>
              <a:rPr lang="en-US" altLang="zh-CN" sz="1800" b="1" baseline="-25000" dirty="0">
                <a:latin typeface="黑体" panose="02010609060101010101" pitchFamily="49" charset="-122"/>
                <a:ea typeface="黑体" panose="02010609060101010101" pitchFamily="49" charset="-122"/>
              </a:rPr>
              <a:t>5 </a:t>
            </a:r>
            <a:r>
              <a:rPr lang="en-US" altLang="zh-CN" sz="1800" b="1" dirty="0">
                <a:latin typeface="黑体" panose="02010609060101010101" pitchFamily="49" charset="-122"/>
                <a:ea typeface="黑体" panose="02010609060101010101" pitchFamily="49" charset="-122"/>
              </a:rPr>
              <a:t>+ m</a:t>
            </a:r>
            <a:r>
              <a:rPr lang="en-US" altLang="zh-CN" sz="1800" b="1" baseline="-25000" dirty="0">
                <a:latin typeface="黑体" panose="02010609060101010101" pitchFamily="49" charset="-122"/>
                <a:ea typeface="黑体" panose="02010609060101010101" pitchFamily="49" charset="-122"/>
              </a:rPr>
              <a:t>7 </a:t>
            </a:r>
            <a:r>
              <a:rPr lang="zh-CN" altLang="en-US" sz="1800" b="1" dirty="0">
                <a:latin typeface="黑体" panose="02010609060101010101" pitchFamily="49" charset="-122"/>
                <a:ea typeface="黑体" panose="02010609060101010101" pitchFamily="49" charset="-122"/>
              </a:rPr>
              <a:t>禁止后的函数。</a:t>
            </a:r>
            <a:endParaRPr lang="zh-CN" altLang="en-US" sz="1800" b="1" dirty="0">
              <a:latin typeface="黑体" panose="02010609060101010101" pitchFamily="49" charset="-122"/>
              <a:ea typeface="黑体" panose="02010609060101010101" pitchFamily="49" charset="-122"/>
            </a:endParaRPr>
          </a:p>
        </p:txBody>
      </p:sp>
      <p:sp>
        <p:nvSpPr>
          <p:cNvPr id="98309" name="Rectangle 3"/>
          <p:cNvSpPr>
            <a:spLocks noGrp="1"/>
          </p:cNvSpPr>
          <p:nvPr>
            <p:ph/>
          </p:nvPr>
        </p:nvSpPr>
        <p:spPr>
          <a:xfrm>
            <a:off x="669925" y="1636713"/>
            <a:ext cx="4572000" cy="45720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禁止逻辑的几何意义：</a:t>
            </a:r>
            <a:endParaRPr lang="zh-CN" altLang="en-US" sz="1800" dirty="0">
              <a:latin typeface="黑体" panose="02010609060101010101" pitchFamily="49" charset="-122"/>
              <a:ea typeface="黑体" panose="02010609060101010101" pitchFamily="49" charset="-122"/>
            </a:endParaRPr>
          </a:p>
        </p:txBody>
      </p:sp>
      <p:graphicFrame>
        <p:nvGraphicFramePr>
          <p:cNvPr id="96262" name="Group 6"/>
          <p:cNvGraphicFramePr>
            <a:graphicFrameLocks noGrp="1"/>
          </p:cNvGraphicFramePr>
          <p:nvPr/>
        </p:nvGraphicFramePr>
        <p:xfrm>
          <a:off x="4375150" y="2001838"/>
          <a:ext cx="3124200" cy="1009650"/>
        </p:xfrm>
        <a:graphic>
          <a:graphicData uri="http://schemas.openxmlformats.org/drawingml/2006/table">
            <a:tbl>
              <a:tblPr/>
              <a:tblGrid>
                <a:gridCol w="781050"/>
                <a:gridCol w="781050"/>
                <a:gridCol w="781050"/>
                <a:gridCol w="781050"/>
              </a:tblGrid>
              <a:tr h="5048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048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98327" name="Text Box 28"/>
          <p:cNvSpPr txBox="1"/>
          <p:nvPr/>
        </p:nvSpPr>
        <p:spPr>
          <a:xfrm>
            <a:off x="1239838" y="2011363"/>
            <a:ext cx="34290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98328" name="Group 35"/>
          <p:cNvGrpSpPr/>
          <p:nvPr/>
        </p:nvGrpSpPr>
        <p:grpSpPr>
          <a:xfrm>
            <a:off x="1241425" y="2389188"/>
            <a:ext cx="3429000" cy="784225"/>
            <a:chOff x="0" y="0"/>
            <a:chExt cx="2160" cy="659"/>
          </a:xfrm>
        </p:grpSpPr>
        <p:sp>
          <p:nvSpPr>
            <p:cNvPr id="98332" name="Text Box 29"/>
            <p:cNvSpPr txBox="1"/>
            <p:nvPr/>
          </p:nvSpPr>
          <p:spPr>
            <a:xfrm>
              <a:off x="0" y="0"/>
              <a:ext cx="2160" cy="65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 =  F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 </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8333" name="Line 31"/>
            <p:cNvSpPr/>
            <p:nvPr/>
          </p:nvSpPr>
          <p:spPr>
            <a:xfrm>
              <a:off x="816" y="72"/>
              <a:ext cx="576" cy="0"/>
            </a:xfrm>
            <a:prstGeom prst="line">
              <a:avLst/>
            </a:prstGeom>
            <a:ln w="9525" cap="flat" cmpd="sng">
              <a:solidFill>
                <a:schemeClr val="bg1"/>
              </a:solidFill>
              <a:prstDash val="solid"/>
              <a:headEnd type="none" w="med" len="med"/>
              <a:tailEnd type="none" w="med" len="med"/>
            </a:ln>
          </p:spPr>
        </p:sp>
      </p:grpSp>
      <p:sp>
        <p:nvSpPr>
          <p:cNvPr id="98329" name="Rectangle 32" descr="深色上对角线"/>
          <p:cNvSpPr/>
          <p:nvPr/>
        </p:nvSpPr>
        <p:spPr>
          <a:xfrm>
            <a:off x="5970588" y="2516188"/>
            <a:ext cx="1493837" cy="485775"/>
          </a:xfrm>
          <a:prstGeom prst="rect">
            <a:avLst/>
          </a:prstGeom>
          <a:blipFill rotWithShape="0">
            <a:blip r:embed="rId1"/>
          </a:blipFill>
          <a:ln w="9525">
            <a:noFill/>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8330" name="Text Box 37"/>
          <p:cNvSpPr txBox="1"/>
          <p:nvPr/>
        </p:nvSpPr>
        <p:spPr>
          <a:xfrm>
            <a:off x="468313" y="3295650"/>
            <a:ext cx="7866062" cy="1074420"/>
          </a:xfrm>
          <a:prstGeom prst="rect">
            <a:avLst/>
          </a:prstGeom>
          <a:noFill/>
          <a:ln w="9525">
            <a:noFill/>
          </a:ln>
        </p:spPr>
        <p:txBody>
          <a:bodyPr>
            <a:spAutoFit/>
          </a:bodyPr>
          <a:p>
            <a:pPr eaLnBrk="1" hangingPunct="1">
              <a:lnSpc>
                <a:spcPct val="8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利用禁止逻辑法化简函数的步骤：</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①  把函数中各与项或部分与项</a:t>
            </a:r>
            <a:r>
              <a:rPr lang="zh-CN" altLang="en-US" sz="1800" b="1" dirty="0">
                <a:solidFill>
                  <a:schemeClr val="tx1"/>
                </a:solidFill>
                <a:latin typeface="黑体" panose="02010609060101010101" pitchFamily="49" charset="-122"/>
                <a:ea typeface="黑体" panose="02010609060101010101" pitchFamily="49" charset="-122"/>
              </a:rPr>
              <a:t>共享的标</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0”</a:t>
            </a:r>
            <a:r>
              <a:rPr lang="zh-CN" altLang="en-US" sz="1800" b="1" dirty="0">
                <a:solidFill>
                  <a:schemeClr val="tx1"/>
                </a:solidFill>
                <a:latin typeface="黑体" panose="02010609060101010101" pitchFamily="49" charset="-122"/>
                <a:ea typeface="黑体" panose="02010609060101010101" pitchFamily="49" charset="-122"/>
              </a:rPr>
              <a:t>单元</a:t>
            </a:r>
            <a:r>
              <a:rPr lang="zh-CN" altLang="en-US" sz="1800" dirty="0">
                <a:solidFill>
                  <a:schemeClr val="tx1"/>
                </a:solidFill>
                <a:latin typeface="黑体" panose="02010609060101010101" pitchFamily="49" charset="-122"/>
                <a:ea typeface="黑体" panose="02010609060101010101" pitchFamily="49" charset="-122"/>
              </a:rPr>
              <a:t>画入极大圈；</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②  把这些</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单元作为</a:t>
            </a:r>
            <a:r>
              <a:rPr lang="zh-CN" altLang="en-US" sz="1800" b="1" dirty="0">
                <a:solidFill>
                  <a:schemeClr val="tx1"/>
                </a:solidFill>
                <a:latin typeface="黑体" panose="02010609060101010101" pitchFamily="49" charset="-122"/>
                <a:ea typeface="黑体" panose="02010609060101010101" pitchFamily="49" charset="-122"/>
              </a:rPr>
              <a:t>禁止项</a:t>
            </a:r>
            <a:r>
              <a:rPr lang="zh-CN" altLang="en-US" sz="1800" dirty="0">
                <a:solidFill>
                  <a:schemeClr val="tx1"/>
                </a:solidFill>
                <a:latin typeface="黑体" panose="02010609060101010101" pitchFamily="49" charset="-122"/>
                <a:ea typeface="黑体" panose="02010609060101010101" pitchFamily="49" charset="-122"/>
              </a:rPr>
              <a:t>，从极大圈禁止掉，原函数保持不变。</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98331" name="直接连接符 11"/>
          <p:cNvCxnSpPr/>
          <p:nvPr/>
        </p:nvCxnSpPr>
        <p:spPr>
          <a:xfrm>
            <a:off x="2484120" y="2499360"/>
            <a:ext cx="791845" cy="7620"/>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8330"/>
                                        </p:tgtEl>
                                        <p:attrNameLst>
                                          <p:attrName>style.visibility</p:attrName>
                                        </p:attrNameLst>
                                      </p:cBhvr>
                                      <p:to>
                                        <p:strVal val="visible"/>
                                      </p:to>
                                    </p:set>
                                    <p:animEffect transition="in" filter="fade">
                                      <p:cBhvr>
                                        <p:cTn id="7" dur="500"/>
                                        <p:tgtEl>
                                          <p:spTgt spid="98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3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933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9332" name="Rectangle 2"/>
          <p:cNvSpPr>
            <a:spLocks noGrp="1"/>
          </p:cNvSpPr>
          <p:nvPr>
            <p:ph type="title"/>
          </p:nvPr>
        </p:nvSpPr>
        <p:spPr>
          <a:xfrm>
            <a:off x="500063" y="407988"/>
            <a:ext cx="4572000" cy="45720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 = m</a:t>
            </a:r>
            <a:r>
              <a:rPr lang="en-US" altLang="zh-CN" sz="1800" baseline="-25000" dirty="0">
                <a:latin typeface="黑体" panose="02010609060101010101" pitchFamily="49" charset="-122"/>
                <a:ea typeface="黑体" panose="02010609060101010101" pitchFamily="49" charset="-122"/>
              </a:rPr>
              <a:t>1 </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3 </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5 </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6</a:t>
            </a:r>
            <a:endParaRPr lang="en-US" altLang="zh-CN" sz="1800" baseline="-25000" dirty="0">
              <a:latin typeface="黑体" panose="02010609060101010101" pitchFamily="49" charset="-122"/>
              <a:ea typeface="黑体" panose="02010609060101010101" pitchFamily="49" charset="-122"/>
            </a:endParaRPr>
          </a:p>
        </p:txBody>
      </p:sp>
      <p:sp>
        <p:nvSpPr>
          <p:cNvPr id="99333" name="Rectangle 3"/>
          <p:cNvSpPr>
            <a:spLocks noGrp="1"/>
          </p:cNvSpPr>
          <p:nvPr>
            <p:ph/>
          </p:nvPr>
        </p:nvSpPr>
        <p:spPr>
          <a:xfrm>
            <a:off x="369888" y="877888"/>
            <a:ext cx="5029200" cy="114300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第一步：找出共享的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单元</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a:t>
            </a:r>
            <a:endParaRPr lang="en-US" altLang="zh-CN" sz="1800" baseline="-25000" dirty="0">
              <a:latin typeface="黑体" panose="02010609060101010101" pitchFamily="49" charset="-122"/>
              <a:ea typeface="黑体" panose="02010609060101010101" pitchFamily="49" charset="-122"/>
            </a:endParaRPr>
          </a:p>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作为禁止项；</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第二步：画出相应的极大圈；</a:t>
            </a:r>
            <a:endParaRPr lang="zh-CN" altLang="en-US" sz="1800" dirty="0">
              <a:latin typeface="黑体" panose="02010609060101010101" pitchFamily="49" charset="-122"/>
              <a:ea typeface="黑体" panose="02010609060101010101" pitchFamily="49" charset="-122"/>
            </a:endParaRPr>
          </a:p>
        </p:txBody>
      </p:sp>
      <p:graphicFrame>
        <p:nvGraphicFramePr>
          <p:cNvPr id="97286" name="Group 6"/>
          <p:cNvGraphicFramePr>
            <a:graphicFrameLocks noGrp="1"/>
          </p:cNvGraphicFramePr>
          <p:nvPr/>
        </p:nvGraphicFramePr>
        <p:xfrm>
          <a:off x="6172200" y="877888"/>
          <a:ext cx="2362200" cy="781050"/>
        </p:xfrm>
        <a:graphic>
          <a:graphicData uri="http://schemas.openxmlformats.org/drawingml/2006/table">
            <a:tbl>
              <a:tblPr/>
              <a:tblGrid>
                <a:gridCol w="590550"/>
                <a:gridCol w="590550"/>
                <a:gridCol w="590550"/>
                <a:gridCol w="590550"/>
              </a:tblGrid>
              <a:tr h="3905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05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99351" name="Group 58"/>
          <p:cNvGrpSpPr/>
          <p:nvPr/>
        </p:nvGrpSpPr>
        <p:grpSpPr>
          <a:xfrm>
            <a:off x="5410200" y="477838"/>
            <a:ext cx="1447800" cy="655637"/>
            <a:chOff x="0" y="0"/>
            <a:chExt cx="912" cy="550"/>
          </a:xfrm>
        </p:grpSpPr>
        <p:sp>
          <p:nvSpPr>
            <p:cNvPr id="99436" name="Line 49"/>
            <p:cNvSpPr/>
            <p:nvPr/>
          </p:nvSpPr>
          <p:spPr>
            <a:xfrm flipH="1" flipV="1">
              <a:off x="192" y="48"/>
              <a:ext cx="288" cy="288"/>
            </a:xfrm>
            <a:prstGeom prst="line">
              <a:avLst/>
            </a:prstGeom>
            <a:ln w="9525" cap="flat" cmpd="sng">
              <a:solidFill>
                <a:schemeClr val="tx1"/>
              </a:solidFill>
              <a:prstDash val="solid"/>
              <a:headEnd type="none" w="med" len="med"/>
              <a:tailEnd type="none" w="med" len="med"/>
            </a:ln>
          </p:spPr>
        </p:sp>
        <p:sp>
          <p:nvSpPr>
            <p:cNvPr id="99437" name="Text Box 50"/>
            <p:cNvSpPr txBox="1"/>
            <p:nvPr/>
          </p:nvSpPr>
          <p:spPr>
            <a:xfrm>
              <a:off x="384" y="0"/>
              <a:ext cx="52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38" name="Text Box 51"/>
            <p:cNvSpPr txBox="1"/>
            <p:nvPr/>
          </p:nvSpPr>
          <p:spPr>
            <a:xfrm>
              <a:off x="0" y="240"/>
              <a:ext cx="432"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99352" name="Rectangle 55" descr="深色上对角线"/>
          <p:cNvSpPr/>
          <p:nvPr/>
        </p:nvSpPr>
        <p:spPr>
          <a:xfrm>
            <a:off x="7372350" y="1293813"/>
            <a:ext cx="547688" cy="350837"/>
          </a:xfrm>
          <a:prstGeom prst="rect">
            <a:avLst/>
          </a:prstGeom>
          <a:blipFill rotWithShape="0">
            <a:blip r:embed="rId1"/>
          </a:blipFill>
          <a:ln w="9525">
            <a:noFill/>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53" name="Rectangle 56"/>
          <p:cNvSpPr/>
          <p:nvPr/>
        </p:nvSpPr>
        <p:spPr>
          <a:xfrm>
            <a:off x="6248400" y="1306513"/>
            <a:ext cx="2133600" cy="285750"/>
          </a:xfrm>
          <a:prstGeom prst="rect">
            <a:avLst/>
          </a:prstGeom>
          <a:noFill/>
          <a:ln w="9525" cap="flat" cmpd="sng">
            <a:solidFill>
              <a:srgbClr val="FF33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54" name="Rectangle 57"/>
          <p:cNvSpPr/>
          <p:nvPr/>
        </p:nvSpPr>
        <p:spPr>
          <a:xfrm>
            <a:off x="7467600" y="935038"/>
            <a:ext cx="381000" cy="628650"/>
          </a:xfrm>
          <a:prstGeom prst="rect">
            <a:avLst/>
          </a:prstGeom>
          <a:noFill/>
          <a:ln w="952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9355" name="Group 65"/>
          <p:cNvGrpSpPr/>
          <p:nvPr/>
        </p:nvGrpSpPr>
        <p:grpSpPr>
          <a:xfrm>
            <a:off x="361950" y="1973263"/>
            <a:ext cx="7696200" cy="368300"/>
            <a:chOff x="0" y="0"/>
            <a:chExt cx="4848" cy="309"/>
          </a:xfrm>
        </p:grpSpPr>
        <p:sp>
          <p:nvSpPr>
            <p:cNvPr id="99433" name="Text Box 59"/>
            <p:cNvSpPr txBox="1"/>
            <p:nvPr/>
          </p:nvSpPr>
          <p:spPr>
            <a:xfrm>
              <a:off x="0" y="0"/>
              <a:ext cx="4848"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第三步：函数的与或式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C ABC + AB ABC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34" name="Line 60"/>
            <p:cNvSpPr/>
            <p:nvPr/>
          </p:nvSpPr>
          <p:spPr>
            <a:xfrm>
              <a:off x="3000" y="24"/>
              <a:ext cx="432" cy="0"/>
            </a:xfrm>
            <a:prstGeom prst="line">
              <a:avLst/>
            </a:prstGeom>
            <a:ln w="9525" cap="flat" cmpd="sng">
              <a:solidFill>
                <a:schemeClr val="bg1"/>
              </a:solidFill>
              <a:prstDash val="solid"/>
              <a:headEnd type="none" w="med" len="med"/>
              <a:tailEnd type="none" w="med" len="med"/>
            </a:ln>
          </p:spPr>
        </p:sp>
        <p:sp>
          <p:nvSpPr>
            <p:cNvPr id="99435" name="Line 62"/>
            <p:cNvSpPr/>
            <p:nvPr/>
          </p:nvSpPr>
          <p:spPr>
            <a:xfrm>
              <a:off x="4056" y="24"/>
              <a:ext cx="432" cy="0"/>
            </a:xfrm>
            <a:prstGeom prst="line">
              <a:avLst/>
            </a:prstGeom>
            <a:ln w="9525" cap="flat" cmpd="sng">
              <a:solidFill>
                <a:schemeClr val="bg1"/>
              </a:solidFill>
              <a:prstDash val="solid"/>
              <a:headEnd type="none" w="med" len="med"/>
              <a:tailEnd type="none" w="med" len="med"/>
            </a:ln>
          </p:spPr>
        </p:sp>
      </p:grpSp>
      <p:grpSp>
        <p:nvGrpSpPr>
          <p:cNvPr id="99356" name="Group 75"/>
          <p:cNvGrpSpPr/>
          <p:nvPr/>
        </p:nvGrpSpPr>
        <p:grpSpPr>
          <a:xfrm>
            <a:off x="500063" y="2420938"/>
            <a:ext cx="7881937" cy="457200"/>
            <a:chOff x="0" y="0"/>
            <a:chExt cx="4848" cy="384"/>
          </a:xfrm>
        </p:grpSpPr>
        <p:sp>
          <p:nvSpPr>
            <p:cNvPr id="99423" name="Rectangle 64"/>
            <p:cNvSpPr/>
            <p:nvPr/>
          </p:nvSpPr>
          <p:spPr>
            <a:xfrm>
              <a:off x="0" y="0"/>
              <a:ext cx="4848" cy="384"/>
            </a:xfrm>
            <a:prstGeom prst="rect">
              <a:avLst/>
            </a:prstGeom>
            <a:noFill/>
            <a:ln w="9525">
              <a:noFill/>
            </a:ln>
          </p:spPr>
          <p:txBody>
            <a:bodyPr anchor="ctr"/>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2</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ABC + BCD + ABC + ABC + ACD</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9424" name="Line 66"/>
            <p:cNvSpPr/>
            <p:nvPr/>
          </p:nvSpPr>
          <p:spPr>
            <a:xfrm>
              <a:off x="994" y="72"/>
              <a:ext cx="122" cy="0"/>
            </a:xfrm>
            <a:prstGeom prst="line">
              <a:avLst/>
            </a:prstGeom>
            <a:ln w="9525" cap="flat" cmpd="sng">
              <a:solidFill>
                <a:schemeClr val="bg1"/>
              </a:solidFill>
              <a:prstDash val="solid"/>
              <a:headEnd type="none" w="med" len="med"/>
              <a:tailEnd type="none" w="med" len="med"/>
            </a:ln>
          </p:spPr>
        </p:sp>
        <p:sp>
          <p:nvSpPr>
            <p:cNvPr id="99425" name="Line 67"/>
            <p:cNvSpPr/>
            <p:nvPr/>
          </p:nvSpPr>
          <p:spPr>
            <a:xfrm>
              <a:off x="1846" y="72"/>
              <a:ext cx="122" cy="0"/>
            </a:xfrm>
            <a:prstGeom prst="line">
              <a:avLst/>
            </a:prstGeom>
            <a:ln w="9525" cap="flat" cmpd="sng">
              <a:solidFill>
                <a:schemeClr val="bg1"/>
              </a:solidFill>
              <a:prstDash val="solid"/>
              <a:headEnd type="none" w="med" len="med"/>
              <a:tailEnd type="none" w="med" len="med"/>
            </a:ln>
          </p:spPr>
        </p:sp>
        <p:sp>
          <p:nvSpPr>
            <p:cNvPr id="99426" name="Line 68"/>
            <p:cNvSpPr/>
            <p:nvPr/>
          </p:nvSpPr>
          <p:spPr>
            <a:xfrm>
              <a:off x="2254" y="72"/>
              <a:ext cx="122" cy="0"/>
            </a:xfrm>
            <a:prstGeom prst="line">
              <a:avLst/>
            </a:prstGeom>
            <a:ln w="9525" cap="flat" cmpd="sng">
              <a:solidFill>
                <a:schemeClr val="bg1"/>
              </a:solidFill>
              <a:prstDash val="solid"/>
              <a:headEnd type="none" w="med" len="med"/>
              <a:tailEnd type="none" w="med" len="med"/>
            </a:ln>
          </p:spPr>
        </p:sp>
        <p:sp>
          <p:nvSpPr>
            <p:cNvPr id="99427" name="Line 69"/>
            <p:cNvSpPr/>
            <p:nvPr/>
          </p:nvSpPr>
          <p:spPr>
            <a:xfrm>
              <a:off x="2938" y="72"/>
              <a:ext cx="122" cy="0"/>
            </a:xfrm>
            <a:prstGeom prst="line">
              <a:avLst/>
            </a:prstGeom>
            <a:ln w="9525" cap="flat" cmpd="sng">
              <a:solidFill>
                <a:schemeClr val="bg1"/>
              </a:solidFill>
              <a:prstDash val="solid"/>
              <a:headEnd type="none" w="med" len="med"/>
              <a:tailEnd type="none" w="med" len="med"/>
            </a:ln>
          </p:spPr>
        </p:sp>
        <p:sp>
          <p:nvSpPr>
            <p:cNvPr id="99428" name="Line 70"/>
            <p:cNvSpPr/>
            <p:nvPr/>
          </p:nvSpPr>
          <p:spPr>
            <a:xfrm>
              <a:off x="3082" y="72"/>
              <a:ext cx="122" cy="0"/>
            </a:xfrm>
            <a:prstGeom prst="line">
              <a:avLst/>
            </a:prstGeom>
            <a:ln w="9525" cap="flat" cmpd="sng">
              <a:solidFill>
                <a:schemeClr val="bg1"/>
              </a:solidFill>
              <a:prstDash val="solid"/>
              <a:headEnd type="none" w="med" len="med"/>
              <a:tailEnd type="none" w="med" len="med"/>
            </a:ln>
          </p:spPr>
        </p:sp>
        <p:sp>
          <p:nvSpPr>
            <p:cNvPr id="99429" name="Line 71"/>
            <p:cNvSpPr/>
            <p:nvPr/>
          </p:nvSpPr>
          <p:spPr>
            <a:xfrm>
              <a:off x="3252" y="72"/>
              <a:ext cx="122" cy="0"/>
            </a:xfrm>
            <a:prstGeom prst="line">
              <a:avLst/>
            </a:prstGeom>
            <a:ln w="9525" cap="flat" cmpd="sng">
              <a:solidFill>
                <a:schemeClr val="bg1"/>
              </a:solidFill>
              <a:prstDash val="solid"/>
              <a:headEnd type="none" w="med" len="med"/>
              <a:tailEnd type="none" w="med" len="med"/>
            </a:ln>
          </p:spPr>
        </p:sp>
        <p:sp>
          <p:nvSpPr>
            <p:cNvPr id="99430" name="Line 72"/>
            <p:cNvSpPr/>
            <p:nvPr/>
          </p:nvSpPr>
          <p:spPr>
            <a:xfrm>
              <a:off x="3620" y="72"/>
              <a:ext cx="122" cy="0"/>
            </a:xfrm>
            <a:prstGeom prst="line">
              <a:avLst/>
            </a:prstGeom>
            <a:ln w="9525" cap="flat" cmpd="sng">
              <a:solidFill>
                <a:schemeClr val="bg1"/>
              </a:solidFill>
              <a:prstDash val="solid"/>
              <a:headEnd type="none" w="med" len="med"/>
              <a:tailEnd type="none" w="med" len="med"/>
            </a:ln>
          </p:spPr>
        </p:sp>
        <p:sp>
          <p:nvSpPr>
            <p:cNvPr id="99431" name="Line 73"/>
            <p:cNvSpPr/>
            <p:nvPr/>
          </p:nvSpPr>
          <p:spPr>
            <a:xfrm>
              <a:off x="3764" y="72"/>
              <a:ext cx="122" cy="0"/>
            </a:xfrm>
            <a:prstGeom prst="line">
              <a:avLst/>
            </a:prstGeom>
            <a:ln w="9525" cap="flat" cmpd="sng">
              <a:solidFill>
                <a:schemeClr val="bg1"/>
              </a:solidFill>
              <a:prstDash val="solid"/>
              <a:headEnd type="none" w="med" len="med"/>
              <a:tailEnd type="none" w="med" len="med"/>
            </a:ln>
          </p:spPr>
        </p:sp>
        <p:sp>
          <p:nvSpPr>
            <p:cNvPr id="99432" name="Line 74"/>
            <p:cNvSpPr/>
            <p:nvPr/>
          </p:nvSpPr>
          <p:spPr>
            <a:xfrm>
              <a:off x="3934" y="72"/>
              <a:ext cx="122" cy="0"/>
            </a:xfrm>
            <a:prstGeom prst="line">
              <a:avLst/>
            </a:prstGeom>
            <a:ln w="9525" cap="flat" cmpd="sng">
              <a:solidFill>
                <a:schemeClr val="bg1"/>
              </a:solidFill>
              <a:prstDash val="solid"/>
              <a:headEnd type="none" w="med" len="med"/>
              <a:tailEnd type="none" w="med" len="med"/>
            </a:ln>
          </p:spPr>
        </p:sp>
      </p:grpSp>
      <p:graphicFrame>
        <p:nvGraphicFramePr>
          <p:cNvPr id="97325" name="Group 45"/>
          <p:cNvGraphicFramePr>
            <a:graphicFrameLocks noGrp="1"/>
          </p:cNvGraphicFramePr>
          <p:nvPr/>
        </p:nvGraphicFramePr>
        <p:xfrm>
          <a:off x="6248400" y="3297238"/>
          <a:ext cx="2286000" cy="1468438"/>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8299">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99384" name="Group 103"/>
          <p:cNvGrpSpPr/>
          <p:nvPr/>
        </p:nvGrpSpPr>
        <p:grpSpPr>
          <a:xfrm>
            <a:off x="5321300" y="2927350"/>
            <a:ext cx="1536700" cy="596900"/>
            <a:chOff x="0" y="0"/>
            <a:chExt cx="968" cy="502"/>
          </a:xfrm>
        </p:grpSpPr>
        <p:sp>
          <p:nvSpPr>
            <p:cNvPr id="99420" name="Text Box 104"/>
            <p:cNvSpPr txBox="1"/>
            <p:nvPr/>
          </p:nvSpPr>
          <p:spPr>
            <a:xfrm>
              <a:off x="0" y="192"/>
              <a:ext cx="536" cy="310"/>
            </a:xfrm>
            <a:prstGeom prst="rect">
              <a:avLst/>
            </a:prstGeom>
            <a:noFill/>
            <a:ln w="9525">
              <a:noFill/>
            </a:ln>
          </p:spPr>
          <p:txBody>
            <a:bodyPr>
              <a:spAutoFit/>
            </a:bodyPr>
            <a:p>
              <a:pPr algn="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21" name="Text Box 105"/>
            <p:cNvSpPr txBox="1"/>
            <p:nvPr/>
          </p:nvSpPr>
          <p:spPr>
            <a:xfrm>
              <a:off x="432" y="0"/>
              <a:ext cx="536" cy="310"/>
            </a:xfrm>
            <a:prstGeom prst="rect">
              <a:avLst/>
            </a:prstGeom>
            <a:noFill/>
            <a:ln w="9525">
              <a:noFill/>
            </a:ln>
          </p:spPr>
          <p:txBody>
            <a:bodyPr>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22" name="Line 106"/>
            <p:cNvSpPr/>
            <p:nvPr/>
          </p:nvSpPr>
          <p:spPr>
            <a:xfrm flipH="1" flipV="1">
              <a:off x="200" y="80"/>
              <a:ext cx="384" cy="240"/>
            </a:xfrm>
            <a:prstGeom prst="line">
              <a:avLst/>
            </a:prstGeom>
            <a:ln w="9525" cap="flat" cmpd="sng">
              <a:solidFill>
                <a:schemeClr val="tx1"/>
              </a:solidFill>
              <a:prstDash val="solid"/>
              <a:headEnd type="none" w="med" len="med"/>
              <a:tailEnd type="none" w="med" len="med"/>
            </a:ln>
          </p:spPr>
        </p:sp>
      </p:grpSp>
      <p:sp>
        <p:nvSpPr>
          <p:cNvPr id="99385" name="Text Box 109"/>
          <p:cNvSpPr txBox="1"/>
          <p:nvPr/>
        </p:nvSpPr>
        <p:spPr>
          <a:xfrm>
            <a:off x="228600" y="2936875"/>
            <a:ext cx="4876800" cy="6461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从卡诺图可知，是最简与或式，电路实现需要</a:t>
            </a:r>
            <a:r>
              <a:rPr lang="en-US" altLang="zh-CN" sz="1800" b="1" dirty="0">
                <a:solidFill>
                  <a:schemeClr val="tx1"/>
                </a:solidFill>
                <a:latin typeface="黑体" panose="02010609060101010101" pitchFamily="49" charset="-122"/>
                <a:ea typeface="黑体" panose="02010609060101010101" pitchFamily="49" charset="-122"/>
              </a:rPr>
              <a:t>10</a:t>
            </a:r>
            <a:r>
              <a:rPr lang="zh-CN" altLang="en-US" sz="1800" b="1" dirty="0">
                <a:solidFill>
                  <a:schemeClr val="tx1"/>
                </a:solidFill>
                <a:latin typeface="黑体" panose="02010609060101010101" pitchFamily="49" charset="-122"/>
                <a:ea typeface="黑体" panose="02010609060101010101" pitchFamily="49" charset="-122"/>
              </a:rPr>
              <a:t>个与非门</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9386" name="Group 112"/>
          <p:cNvGrpSpPr/>
          <p:nvPr/>
        </p:nvGrpSpPr>
        <p:grpSpPr>
          <a:xfrm>
            <a:off x="6838950" y="3679825"/>
            <a:ext cx="1096963" cy="711200"/>
            <a:chOff x="0" y="0"/>
            <a:chExt cx="691" cy="598"/>
          </a:xfrm>
        </p:grpSpPr>
        <p:sp>
          <p:nvSpPr>
            <p:cNvPr id="99417" name="Rectangle 108"/>
            <p:cNvSpPr/>
            <p:nvPr/>
          </p:nvSpPr>
          <p:spPr>
            <a:xfrm>
              <a:off x="100" y="40"/>
              <a:ext cx="528" cy="528"/>
            </a:xfrm>
            <a:prstGeom prst="rect">
              <a:avLst/>
            </a:prstGeom>
            <a:noFill/>
            <a:ln w="38100"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418" name="Rectangle 110" descr="深色上对角线"/>
            <p:cNvSpPr/>
            <p:nvPr/>
          </p:nvSpPr>
          <p:spPr>
            <a:xfrm>
              <a:off x="0" y="0"/>
              <a:ext cx="691" cy="598"/>
            </a:xfrm>
            <a:prstGeom prst="rect">
              <a:avLst/>
            </a:prstGeom>
            <a:blipFill rotWithShape="0">
              <a:blip r:embed="rId2"/>
            </a:blipFill>
            <a:ln w="9525">
              <a:noFill/>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419" name="Text Box 111"/>
            <p:cNvSpPr txBox="1"/>
            <p:nvPr/>
          </p:nvSpPr>
          <p:spPr>
            <a:xfrm>
              <a:off x="60" y="288"/>
              <a:ext cx="28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99387" name="Rectangle 114"/>
          <p:cNvSpPr/>
          <p:nvPr/>
        </p:nvSpPr>
        <p:spPr>
          <a:xfrm>
            <a:off x="6324600" y="3335338"/>
            <a:ext cx="990600" cy="6286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88" name="Rectangle 115"/>
          <p:cNvSpPr/>
          <p:nvPr/>
        </p:nvSpPr>
        <p:spPr>
          <a:xfrm>
            <a:off x="7543800" y="4078288"/>
            <a:ext cx="914400" cy="62865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89" name="Rectangle 116"/>
          <p:cNvSpPr/>
          <p:nvPr/>
        </p:nvSpPr>
        <p:spPr>
          <a:xfrm>
            <a:off x="6877050" y="4078288"/>
            <a:ext cx="457200" cy="628650"/>
          </a:xfrm>
          <a:prstGeom prst="rect">
            <a:avLst/>
          </a:prstGeom>
          <a:noFill/>
          <a:ln w="28575" cap="flat" cmpd="sng">
            <a:solidFill>
              <a:srgbClr val="3366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9390" name="Group 122"/>
          <p:cNvGrpSpPr/>
          <p:nvPr/>
        </p:nvGrpSpPr>
        <p:grpSpPr>
          <a:xfrm>
            <a:off x="762000" y="3598863"/>
            <a:ext cx="4953000" cy="784225"/>
            <a:chOff x="0" y="0"/>
            <a:chExt cx="3120" cy="659"/>
          </a:xfrm>
        </p:grpSpPr>
        <p:sp>
          <p:nvSpPr>
            <p:cNvPr id="99411" name="Text Box 113"/>
            <p:cNvSpPr txBox="1"/>
            <p:nvPr/>
          </p:nvSpPr>
          <p:spPr>
            <a:xfrm>
              <a:off x="0" y="0"/>
              <a:ext cx="3120" cy="65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如图找出禁止项，画出极大圈，</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则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AC BD + AC BD  + ABC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12" name="Line 117"/>
            <p:cNvSpPr/>
            <p:nvPr/>
          </p:nvSpPr>
          <p:spPr>
            <a:xfrm>
              <a:off x="742" y="432"/>
              <a:ext cx="122" cy="0"/>
            </a:xfrm>
            <a:prstGeom prst="line">
              <a:avLst/>
            </a:prstGeom>
            <a:ln w="9525" cap="flat" cmpd="sng">
              <a:solidFill>
                <a:schemeClr val="bg1"/>
              </a:solidFill>
              <a:prstDash val="solid"/>
              <a:headEnd type="none" w="med" len="med"/>
              <a:tailEnd type="none" w="med" len="med"/>
            </a:ln>
          </p:spPr>
        </p:sp>
        <p:sp>
          <p:nvSpPr>
            <p:cNvPr id="99413" name="Line 118"/>
            <p:cNvSpPr/>
            <p:nvPr/>
          </p:nvSpPr>
          <p:spPr>
            <a:xfrm>
              <a:off x="912" y="432"/>
              <a:ext cx="122" cy="0"/>
            </a:xfrm>
            <a:prstGeom prst="line">
              <a:avLst/>
            </a:prstGeom>
            <a:ln w="9525" cap="flat" cmpd="sng">
              <a:solidFill>
                <a:schemeClr val="bg1"/>
              </a:solidFill>
              <a:prstDash val="solid"/>
              <a:headEnd type="none" w="med" len="med"/>
              <a:tailEnd type="none" w="med" len="med"/>
            </a:ln>
          </p:spPr>
        </p:sp>
        <p:sp>
          <p:nvSpPr>
            <p:cNvPr id="99414" name="Line 119"/>
            <p:cNvSpPr/>
            <p:nvPr/>
          </p:nvSpPr>
          <p:spPr>
            <a:xfrm>
              <a:off x="1102" y="432"/>
              <a:ext cx="314" cy="0"/>
            </a:xfrm>
            <a:prstGeom prst="line">
              <a:avLst/>
            </a:prstGeom>
            <a:ln w="9525" cap="flat" cmpd="sng">
              <a:solidFill>
                <a:schemeClr val="bg1"/>
              </a:solidFill>
              <a:prstDash val="solid"/>
              <a:headEnd type="none" w="med" len="med"/>
              <a:tailEnd type="none" w="med" len="med"/>
            </a:ln>
          </p:spPr>
        </p:sp>
        <p:sp>
          <p:nvSpPr>
            <p:cNvPr id="99415" name="Line 120"/>
            <p:cNvSpPr/>
            <p:nvPr/>
          </p:nvSpPr>
          <p:spPr>
            <a:xfrm>
              <a:off x="1990" y="432"/>
              <a:ext cx="314" cy="0"/>
            </a:xfrm>
            <a:prstGeom prst="line">
              <a:avLst/>
            </a:prstGeom>
            <a:ln w="9525" cap="flat" cmpd="sng">
              <a:solidFill>
                <a:schemeClr val="bg1"/>
              </a:solidFill>
              <a:prstDash val="solid"/>
              <a:headEnd type="none" w="med" len="med"/>
              <a:tailEnd type="none" w="med" len="med"/>
            </a:ln>
          </p:spPr>
        </p:sp>
        <p:sp>
          <p:nvSpPr>
            <p:cNvPr id="99416" name="Line 121"/>
            <p:cNvSpPr/>
            <p:nvPr/>
          </p:nvSpPr>
          <p:spPr>
            <a:xfrm>
              <a:off x="2578" y="432"/>
              <a:ext cx="122" cy="0"/>
            </a:xfrm>
            <a:prstGeom prst="line">
              <a:avLst/>
            </a:prstGeom>
            <a:ln w="9525" cap="flat" cmpd="sng">
              <a:solidFill>
                <a:schemeClr val="bg1"/>
              </a:solidFill>
              <a:prstDash val="solid"/>
              <a:headEnd type="none" w="med" len="med"/>
              <a:tailEnd type="none" w="med" len="med"/>
            </a:ln>
          </p:spPr>
        </p:sp>
      </p:grpSp>
      <p:sp>
        <p:nvSpPr>
          <p:cNvPr id="99391" name="Text Box 124"/>
          <p:cNvSpPr txBox="1"/>
          <p:nvPr/>
        </p:nvSpPr>
        <p:spPr>
          <a:xfrm>
            <a:off x="304800" y="4478338"/>
            <a:ext cx="5562600" cy="366712"/>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电路实现需要</a:t>
            </a:r>
            <a:r>
              <a:rPr lang="en-US" altLang="zh-CN" sz="1800" b="1" dirty="0">
                <a:solidFill>
                  <a:schemeClr val="tx1"/>
                </a:solidFill>
                <a:latin typeface="黑体" panose="02010609060101010101" pitchFamily="49" charset="-122"/>
                <a:ea typeface="黑体" panose="02010609060101010101" pitchFamily="49" charset="-122"/>
              </a:rPr>
              <a:t>7</a:t>
            </a:r>
            <a:r>
              <a:rPr lang="zh-CN" altLang="en-US" sz="1800" b="1" dirty="0">
                <a:solidFill>
                  <a:schemeClr val="tx1"/>
                </a:solidFill>
                <a:latin typeface="黑体" panose="02010609060101010101" pitchFamily="49" charset="-122"/>
                <a:ea typeface="黑体" panose="02010609060101010101" pitchFamily="49" charset="-122"/>
              </a:rPr>
              <a:t>个与非门</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99392" name="直接连接符 47"/>
          <p:cNvCxnSpPr/>
          <p:nvPr/>
        </p:nvCxnSpPr>
        <p:spPr>
          <a:xfrm>
            <a:off x="1795463" y="2519363"/>
            <a:ext cx="95250" cy="0"/>
          </a:xfrm>
          <a:prstGeom prst="line">
            <a:avLst/>
          </a:prstGeom>
          <a:ln w="19050" cap="flat" cmpd="sng">
            <a:solidFill>
              <a:schemeClr val="accent1"/>
            </a:solidFill>
            <a:prstDash val="solid"/>
            <a:headEnd type="none" w="med" len="med"/>
            <a:tailEnd type="none" w="med" len="med"/>
          </a:ln>
        </p:spPr>
      </p:cxnSp>
      <p:cxnSp>
        <p:nvCxnSpPr>
          <p:cNvPr id="99393" name="直接连接符 49"/>
          <p:cNvCxnSpPr/>
          <p:nvPr/>
        </p:nvCxnSpPr>
        <p:spPr>
          <a:xfrm>
            <a:off x="2582863" y="2520950"/>
            <a:ext cx="95250" cy="0"/>
          </a:xfrm>
          <a:prstGeom prst="line">
            <a:avLst/>
          </a:prstGeom>
          <a:ln w="19050" cap="flat" cmpd="sng">
            <a:solidFill>
              <a:schemeClr val="accent1"/>
            </a:solidFill>
            <a:prstDash val="solid"/>
            <a:headEnd type="none" w="med" len="med"/>
            <a:tailEnd type="none" w="med" len="med"/>
          </a:ln>
        </p:spPr>
      </p:cxnSp>
      <p:cxnSp>
        <p:nvCxnSpPr>
          <p:cNvPr id="99394" name="直接连接符 50"/>
          <p:cNvCxnSpPr/>
          <p:nvPr/>
        </p:nvCxnSpPr>
        <p:spPr>
          <a:xfrm>
            <a:off x="3068638" y="2522538"/>
            <a:ext cx="95250" cy="0"/>
          </a:xfrm>
          <a:prstGeom prst="line">
            <a:avLst/>
          </a:prstGeom>
          <a:ln w="19050" cap="flat" cmpd="sng">
            <a:solidFill>
              <a:schemeClr val="accent1"/>
            </a:solidFill>
            <a:prstDash val="solid"/>
            <a:headEnd type="none" w="med" len="med"/>
            <a:tailEnd type="none" w="med" len="med"/>
          </a:ln>
        </p:spPr>
      </p:cxnSp>
      <p:cxnSp>
        <p:nvCxnSpPr>
          <p:cNvPr id="99395" name="直接连接符 51"/>
          <p:cNvCxnSpPr/>
          <p:nvPr/>
        </p:nvCxnSpPr>
        <p:spPr>
          <a:xfrm>
            <a:off x="3730625" y="2533650"/>
            <a:ext cx="95250" cy="0"/>
          </a:xfrm>
          <a:prstGeom prst="line">
            <a:avLst/>
          </a:prstGeom>
          <a:ln w="19050" cap="flat" cmpd="sng">
            <a:solidFill>
              <a:schemeClr val="accent1"/>
            </a:solidFill>
            <a:prstDash val="solid"/>
            <a:headEnd type="none" w="med" len="med"/>
            <a:tailEnd type="none" w="med" len="med"/>
          </a:ln>
        </p:spPr>
      </p:cxnSp>
      <p:cxnSp>
        <p:nvCxnSpPr>
          <p:cNvPr id="99396" name="直接连接符 52"/>
          <p:cNvCxnSpPr/>
          <p:nvPr/>
        </p:nvCxnSpPr>
        <p:spPr>
          <a:xfrm>
            <a:off x="3849688" y="2535238"/>
            <a:ext cx="95250" cy="0"/>
          </a:xfrm>
          <a:prstGeom prst="line">
            <a:avLst/>
          </a:prstGeom>
          <a:ln w="19050" cap="flat" cmpd="sng">
            <a:solidFill>
              <a:schemeClr val="accent1"/>
            </a:solidFill>
            <a:prstDash val="solid"/>
            <a:headEnd type="none" w="med" len="med"/>
            <a:tailEnd type="none" w="med" len="med"/>
          </a:ln>
        </p:spPr>
      </p:cxnSp>
      <p:cxnSp>
        <p:nvCxnSpPr>
          <p:cNvPr id="99397" name="直接连接符 53"/>
          <p:cNvCxnSpPr/>
          <p:nvPr/>
        </p:nvCxnSpPr>
        <p:spPr>
          <a:xfrm>
            <a:off x="3987800" y="2530475"/>
            <a:ext cx="95250" cy="0"/>
          </a:xfrm>
          <a:prstGeom prst="line">
            <a:avLst/>
          </a:prstGeom>
          <a:ln w="19050" cap="flat" cmpd="sng">
            <a:solidFill>
              <a:schemeClr val="accent1"/>
            </a:solidFill>
            <a:prstDash val="solid"/>
            <a:headEnd type="none" w="med" len="med"/>
            <a:tailEnd type="none" w="med" len="med"/>
          </a:ln>
        </p:spPr>
      </p:cxnSp>
      <p:cxnSp>
        <p:nvCxnSpPr>
          <p:cNvPr id="99398" name="直接连接符 54"/>
          <p:cNvCxnSpPr/>
          <p:nvPr/>
        </p:nvCxnSpPr>
        <p:spPr>
          <a:xfrm>
            <a:off x="4414838" y="2535238"/>
            <a:ext cx="95250" cy="0"/>
          </a:xfrm>
          <a:prstGeom prst="line">
            <a:avLst/>
          </a:prstGeom>
          <a:ln w="19050" cap="flat" cmpd="sng">
            <a:solidFill>
              <a:schemeClr val="accent1"/>
            </a:solidFill>
            <a:prstDash val="solid"/>
            <a:headEnd type="none" w="med" len="med"/>
            <a:tailEnd type="none" w="med" len="med"/>
          </a:ln>
        </p:spPr>
      </p:cxnSp>
      <p:cxnSp>
        <p:nvCxnSpPr>
          <p:cNvPr id="99399" name="直接连接符 55"/>
          <p:cNvCxnSpPr/>
          <p:nvPr/>
        </p:nvCxnSpPr>
        <p:spPr>
          <a:xfrm>
            <a:off x="4556125" y="2535238"/>
            <a:ext cx="95250" cy="0"/>
          </a:xfrm>
          <a:prstGeom prst="line">
            <a:avLst/>
          </a:prstGeom>
          <a:ln w="19050" cap="flat" cmpd="sng">
            <a:solidFill>
              <a:schemeClr val="accent1"/>
            </a:solidFill>
            <a:prstDash val="solid"/>
            <a:headEnd type="none" w="med" len="med"/>
            <a:tailEnd type="none" w="med" len="med"/>
          </a:ln>
        </p:spPr>
      </p:cxnSp>
      <p:cxnSp>
        <p:nvCxnSpPr>
          <p:cNvPr id="99400" name="直接连接符 56"/>
          <p:cNvCxnSpPr/>
          <p:nvPr/>
        </p:nvCxnSpPr>
        <p:spPr>
          <a:xfrm>
            <a:off x="4699000" y="2533650"/>
            <a:ext cx="95250" cy="0"/>
          </a:xfrm>
          <a:prstGeom prst="line">
            <a:avLst/>
          </a:prstGeom>
          <a:ln w="19050" cap="flat" cmpd="sng">
            <a:solidFill>
              <a:schemeClr val="accent1"/>
            </a:solidFill>
            <a:prstDash val="solid"/>
            <a:headEnd type="none" w="med" len="med"/>
            <a:tailEnd type="none" w="med" len="med"/>
          </a:ln>
        </p:spPr>
      </p:cxnSp>
      <p:cxnSp>
        <p:nvCxnSpPr>
          <p:cNvPr id="99401" name="直接连接符 57"/>
          <p:cNvCxnSpPr/>
          <p:nvPr/>
        </p:nvCxnSpPr>
        <p:spPr>
          <a:xfrm>
            <a:off x="1725613" y="4071938"/>
            <a:ext cx="95250" cy="0"/>
          </a:xfrm>
          <a:prstGeom prst="line">
            <a:avLst/>
          </a:prstGeom>
          <a:ln w="19050" cap="flat" cmpd="sng">
            <a:solidFill>
              <a:srgbClr val="FF0066"/>
            </a:solidFill>
            <a:prstDash val="solid"/>
            <a:headEnd type="none" w="med" len="med"/>
            <a:tailEnd type="none" w="med" len="med"/>
          </a:ln>
        </p:spPr>
      </p:cxnSp>
      <p:cxnSp>
        <p:nvCxnSpPr>
          <p:cNvPr id="99402" name="直接连接符 58"/>
          <p:cNvCxnSpPr/>
          <p:nvPr/>
        </p:nvCxnSpPr>
        <p:spPr>
          <a:xfrm>
            <a:off x="3665538" y="4071938"/>
            <a:ext cx="95250" cy="0"/>
          </a:xfrm>
          <a:prstGeom prst="line">
            <a:avLst/>
          </a:prstGeom>
          <a:ln w="19050" cap="flat" cmpd="sng">
            <a:solidFill>
              <a:srgbClr val="FF0066"/>
            </a:solidFill>
            <a:prstDash val="solid"/>
            <a:headEnd type="none" w="med" len="med"/>
            <a:tailEnd type="none" w="med" len="med"/>
          </a:ln>
        </p:spPr>
      </p:cxnSp>
      <p:cxnSp>
        <p:nvCxnSpPr>
          <p:cNvPr id="99403" name="直接连接符 59"/>
          <p:cNvCxnSpPr/>
          <p:nvPr/>
        </p:nvCxnSpPr>
        <p:spPr>
          <a:xfrm>
            <a:off x="1854200" y="4071938"/>
            <a:ext cx="95250" cy="0"/>
          </a:xfrm>
          <a:prstGeom prst="line">
            <a:avLst/>
          </a:prstGeom>
          <a:ln w="19050" cap="flat" cmpd="sng">
            <a:solidFill>
              <a:srgbClr val="FF0066"/>
            </a:solidFill>
            <a:prstDash val="solid"/>
            <a:headEnd type="none" w="med" len="med"/>
            <a:tailEnd type="none" w="med" len="med"/>
          </a:ln>
        </p:spPr>
      </p:cxnSp>
      <p:cxnSp>
        <p:nvCxnSpPr>
          <p:cNvPr id="99404" name="直接连接符 3"/>
          <p:cNvCxnSpPr/>
          <p:nvPr/>
        </p:nvCxnSpPr>
        <p:spPr>
          <a:xfrm>
            <a:off x="2016125" y="4071938"/>
            <a:ext cx="323850" cy="0"/>
          </a:xfrm>
          <a:prstGeom prst="line">
            <a:avLst/>
          </a:prstGeom>
          <a:ln w="19050" cap="flat" cmpd="sng">
            <a:solidFill>
              <a:srgbClr val="FF0066"/>
            </a:solidFill>
            <a:prstDash val="solid"/>
            <a:headEnd type="none" w="med" len="med"/>
            <a:tailEnd type="none" w="med" len="med"/>
          </a:ln>
        </p:spPr>
      </p:cxnSp>
      <p:cxnSp>
        <p:nvCxnSpPr>
          <p:cNvPr id="99405" name="直接连接符 63"/>
          <p:cNvCxnSpPr/>
          <p:nvPr/>
        </p:nvCxnSpPr>
        <p:spPr>
          <a:xfrm>
            <a:off x="2928938" y="4078288"/>
            <a:ext cx="323850" cy="0"/>
          </a:xfrm>
          <a:prstGeom prst="line">
            <a:avLst/>
          </a:prstGeom>
          <a:ln w="19050" cap="flat" cmpd="sng">
            <a:solidFill>
              <a:srgbClr val="FF0066"/>
            </a:solidFill>
            <a:prstDash val="solid"/>
            <a:headEnd type="none" w="med" len="med"/>
            <a:tailEnd type="none" w="med" len="med"/>
          </a:ln>
        </p:spPr>
      </p:cxnSp>
      <p:cxnSp>
        <p:nvCxnSpPr>
          <p:cNvPr id="99406" name="直接连接符 64"/>
          <p:cNvCxnSpPr/>
          <p:nvPr/>
        </p:nvCxnSpPr>
        <p:spPr>
          <a:xfrm>
            <a:off x="3605213" y="2066925"/>
            <a:ext cx="323850" cy="0"/>
          </a:xfrm>
          <a:prstGeom prst="line">
            <a:avLst/>
          </a:prstGeom>
          <a:ln w="19050" cap="flat" cmpd="sng">
            <a:solidFill>
              <a:srgbClr val="FF0000"/>
            </a:solidFill>
            <a:prstDash val="solid"/>
            <a:headEnd type="none" w="med" len="med"/>
            <a:tailEnd type="none" w="med" len="med"/>
          </a:ln>
        </p:spPr>
      </p:cxnSp>
      <p:cxnSp>
        <p:nvCxnSpPr>
          <p:cNvPr id="99407" name="直接连接符 65"/>
          <p:cNvCxnSpPr/>
          <p:nvPr/>
        </p:nvCxnSpPr>
        <p:spPr>
          <a:xfrm>
            <a:off x="4643438" y="2066925"/>
            <a:ext cx="323850" cy="0"/>
          </a:xfrm>
          <a:prstGeom prst="line">
            <a:avLst/>
          </a:prstGeom>
          <a:ln w="19050" cap="flat" cmpd="sng">
            <a:solidFill>
              <a:srgbClr val="FF0000"/>
            </a:solidFill>
            <a:prstDash val="solid"/>
            <a:headEnd type="none" w="med" len="med"/>
            <a:tailEnd type="none" w="med" len="med"/>
          </a:ln>
        </p:spPr>
      </p:cxnSp>
      <p:pic>
        <p:nvPicPr>
          <p:cNvPr id="99408" name="图片 1"/>
          <p:cNvPicPr>
            <a:picLocks noChangeAspect="1"/>
          </p:cNvPicPr>
          <p:nvPr/>
        </p:nvPicPr>
        <p:blipFill>
          <a:blip r:embed="rId3"/>
          <a:stretch>
            <a:fillRect/>
          </a:stretch>
        </p:blipFill>
        <p:spPr>
          <a:xfrm>
            <a:off x="628650" y="2376488"/>
            <a:ext cx="5619750" cy="525462"/>
          </a:xfrm>
          <a:prstGeom prst="rect">
            <a:avLst/>
          </a:prstGeom>
          <a:noFill/>
          <a:ln w="9525">
            <a:noFill/>
          </a:ln>
        </p:spPr>
      </p:pic>
      <p:pic>
        <p:nvPicPr>
          <p:cNvPr id="99409" name="图片 2"/>
          <p:cNvPicPr>
            <a:picLocks noChangeAspect="1"/>
          </p:cNvPicPr>
          <p:nvPr/>
        </p:nvPicPr>
        <p:blipFill>
          <a:blip r:embed="rId4"/>
          <a:stretch>
            <a:fillRect/>
          </a:stretch>
        </p:blipFill>
        <p:spPr>
          <a:xfrm>
            <a:off x="2808288" y="1995488"/>
            <a:ext cx="2667000" cy="366712"/>
          </a:xfrm>
          <a:prstGeom prst="rect">
            <a:avLst/>
          </a:prstGeom>
          <a:noFill/>
          <a:ln w="9525">
            <a:noFill/>
          </a:ln>
        </p:spPr>
      </p:pic>
      <p:pic>
        <p:nvPicPr>
          <p:cNvPr id="99410" name="图片 3"/>
          <p:cNvPicPr>
            <a:picLocks noChangeAspect="1"/>
          </p:cNvPicPr>
          <p:nvPr/>
        </p:nvPicPr>
        <p:blipFill>
          <a:blip r:embed="rId5"/>
          <a:stretch>
            <a:fillRect/>
          </a:stretch>
        </p:blipFill>
        <p:spPr>
          <a:xfrm>
            <a:off x="1146175" y="4005263"/>
            <a:ext cx="3460750" cy="344487"/>
          </a:xfrm>
          <a:prstGeom prst="rect">
            <a:avLst/>
          </a:prstGeom>
          <a:noFill/>
          <a:ln w="9525">
            <a:noFill/>
          </a:ln>
        </p:spPr>
      </p:pic>
    </p:spTree>
  </p:cSld>
  <p:clrMapOvr>
    <a:masterClrMapping/>
  </p:clrMapOvr>
  <p:transition advTm="20000"/>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a:xfrm>
            <a:off x="612775" y="771525"/>
            <a:ext cx="4427538" cy="457200"/>
          </a:xfrm>
          <a:prstGeom prst="rect">
            <a:avLst/>
          </a:prstGeom>
          <a:noFill/>
          <a:ln w="9525">
            <a:noFill/>
          </a:ln>
        </p:spPr>
        <p:txBody>
          <a:bodyPr/>
          <a:p>
            <a:pPr eaLnBrk="1" hangingPunct="1"/>
            <a:r>
              <a:rPr lang="zh-CN" altLang="en-US" sz="2800" baseline="-25000" dirty="0">
                <a:latin typeface="黑体" panose="02010609060101010101" pitchFamily="49" charset="-122"/>
                <a:ea typeface="黑体" panose="02010609060101010101" pitchFamily="49" charset="-122"/>
              </a:rPr>
              <a:t>作业</a:t>
            </a:r>
            <a:r>
              <a:rPr lang="en-US" altLang="zh-CN" sz="2800" baseline="-25000" dirty="0">
                <a:latin typeface="黑体" panose="02010609060101010101" pitchFamily="49" charset="-122"/>
                <a:ea typeface="黑体" panose="02010609060101010101" pitchFamily="49" charset="-122"/>
              </a:rPr>
              <a:t>2</a:t>
            </a:r>
            <a:endParaRPr lang="en-US" altLang="zh-CN" sz="2800" baseline="-25000" dirty="0">
              <a:latin typeface="黑体" panose="02010609060101010101" pitchFamily="49" charset="-122"/>
              <a:ea typeface="黑体" panose="02010609060101010101" pitchFamily="49" charset="-122"/>
            </a:endParaRPr>
          </a:p>
        </p:txBody>
      </p:sp>
      <p:sp>
        <p:nvSpPr>
          <p:cNvPr id="100355" name="Text Box 109"/>
          <p:cNvSpPr txBox="1"/>
          <p:nvPr/>
        </p:nvSpPr>
        <p:spPr>
          <a:xfrm>
            <a:off x="612775" y="1276350"/>
            <a:ext cx="3395345" cy="3692525"/>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1.17:(1),(3)</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1.18</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1.20</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1.22：(2)，(3),(4)</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1.23:(3),(4)</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1.24</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1.25</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1.26</a:t>
            </a:r>
            <a:r>
              <a:rPr lang="zh-CN" altLang="en-US" sz="1800" dirty="0">
                <a:solidFill>
                  <a:schemeClr val="tx1"/>
                </a:solidFill>
                <a:latin typeface="黑体" panose="02010609060101010101" pitchFamily="49" charset="-122"/>
                <a:ea typeface="黑体" panose="02010609060101010101" pitchFamily="49" charset="-122"/>
                <a:sym typeface="Wingdings" panose="05000000000000000000" pitchFamily="2" charset="2"/>
              </a:rPr>
              <a:t>：（</a:t>
            </a:r>
            <a:r>
              <a:rPr lang="en-US" altLang="zh-CN" sz="1800" dirty="0">
                <a:solidFill>
                  <a:schemeClr val="tx1"/>
                </a:solidFill>
                <a:latin typeface="黑体" panose="02010609060101010101" pitchFamily="49" charset="-122"/>
                <a:ea typeface="黑体" panose="02010609060101010101" pitchFamily="49" charset="-122"/>
                <a:sym typeface="Wingdings" panose="05000000000000000000" pitchFamily="2" charset="2"/>
              </a:rPr>
              <a:t>1</a:t>
            </a:r>
            <a:r>
              <a:rPr lang="zh-CN" altLang="en-US" sz="1800" dirty="0">
                <a:solidFill>
                  <a:schemeClr val="tx1"/>
                </a:solidFill>
                <a:latin typeface="黑体" panose="02010609060101010101" pitchFamily="49" charset="-122"/>
                <a:ea typeface="黑体" panose="02010609060101010101" pitchFamily="49" charset="-122"/>
                <a:sym typeface="Wingdings" panose="05000000000000000000" pitchFamily="2" charset="2"/>
              </a:rPr>
              <a:t>）</a:t>
            </a:r>
            <a:r>
              <a:rPr lang="zh-CN" altLang="en-US" sz="1800" dirty="0">
                <a:solidFill>
                  <a:schemeClr val="tx1"/>
                </a:solidFill>
                <a:latin typeface="黑体" panose="02010609060101010101" pitchFamily="49" charset="-122"/>
                <a:ea typeface="黑体" panose="02010609060101010101" pitchFamily="49" charset="-122"/>
              </a:rPr>
              <a:t>，(3)</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1.28</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sym typeface="+mn-ea"/>
              </a:rPr>
              <a:t>1.</a:t>
            </a:r>
            <a:r>
              <a:rPr lang="en-US" altLang="zh-CN" sz="1800" dirty="0">
                <a:solidFill>
                  <a:schemeClr val="tx1"/>
                </a:solidFill>
                <a:latin typeface="黑体" panose="02010609060101010101" pitchFamily="49" charset="-122"/>
                <a:ea typeface="黑体" panose="02010609060101010101" pitchFamily="49" charset="-122"/>
              </a:rPr>
              <a:t>29</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sym typeface="+mn-ea"/>
              </a:rPr>
              <a:t>1.</a:t>
            </a:r>
            <a:r>
              <a:rPr lang="en-US" altLang="zh-CN" sz="1800" dirty="0">
                <a:solidFill>
                  <a:schemeClr val="tx1"/>
                </a:solidFill>
                <a:latin typeface="黑体" panose="02010609060101010101" pitchFamily="49" charset="-122"/>
                <a:ea typeface="黑体" panose="02010609060101010101" pitchFamily="49" charset="-122"/>
              </a:rPr>
              <a:t>30</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 name="Text Box 109"/>
          <p:cNvSpPr txBox="1"/>
          <p:nvPr/>
        </p:nvSpPr>
        <p:spPr>
          <a:xfrm>
            <a:off x="612775" y="1276350"/>
            <a:ext cx="3538855" cy="3692525"/>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1.17:(1),(3)</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1.18</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1.20</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1.22：(2)，(3),(4)</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1.23:(3),(4)</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1.24</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1.25</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1.26</a:t>
            </a:r>
            <a:r>
              <a:rPr lang="zh-CN" altLang="en-US" sz="1800" dirty="0">
                <a:solidFill>
                  <a:schemeClr val="tx1"/>
                </a:solidFill>
                <a:latin typeface="黑体" panose="02010609060101010101" pitchFamily="49" charset="-122"/>
                <a:ea typeface="黑体" panose="02010609060101010101" pitchFamily="49" charset="-122"/>
                <a:sym typeface="Wingdings" panose="05000000000000000000" pitchFamily="2" charset="2"/>
              </a:rPr>
              <a:t>：（</a:t>
            </a:r>
            <a:r>
              <a:rPr lang="en-US" altLang="zh-CN" sz="1800" dirty="0">
                <a:solidFill>
                  <a:schemeClr val="tx1"/>
                </a:solidFill>
                <a:latin typeface="黑体" panose="02010609060101010101" pitchFamily="49" charset="-122"/>
                <a:ea typeface="黑体" panose="02010609060101010101" pitchFamily="49" charset="-122"/>
                <a:sym typeface="Wingdings" panose="05000000000000000000" pitchFamily="2" charset="2"/>
              </a:rPr>
              <a:t>1</a:t>
            </a:r>
            <a:r>
              <a:rPr lang="zh-CN" altLang="en-US" sz="1800" dirty="0">
                <a:solidFill>
                  <a:schemeClr val="tx1"/>
                </a:solidFill>
                <a:latin typeface="黑体" panose="02010609060101010101" pitchFamily="49" charset="-122"/>
                <a:ea typeface="黑体" panose="02010609060101010101" pitchFamily="49" charset="-122"/>
                <a:sym typeface="Wingdings" panose="05000000000000000000" pitchFamily="2" charset="2"/>
              </a:rPr>
              <a:t>）</a:t>
            </a:r>
            <a:r>
              <a:rPr lang="zh-CN" altLang="en-US" sz="1800" dirty="0">
                <a:solidFill>
                  <a:schemeClr val="tx1"/>
                </a:solidFill>
                <a:latin typeface="黑体" panose="02010609060101010101" pitchFamily="49" charset="-122"/>
                <a:ea typeface="黑体" panose="02010609060101010101" pitchFamily="49" charset="-122"/>
              </a:rPr>
              <a:t>，(3)</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1.28</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sym typeface="+mn-ea"/>
              </a:rPr>
              <a:t>1.</a:t>
            </a:r>
            <a:r>
              <a:rPr lang="en-US" altLang="zh-CN" sz="1800" dirty="0">
                <a:solidFill>
                  <a:schemeClr val="tx1"/>
                </a:solidFill>
                <a:latin typeface="黑体" panose="02010609060101010101" pitchFamily="49" charset="-122"/>
                <a:ea typeface="黑体" panose="02010609060101010101" pitchFamily="49" charset="-122"/>
              </a:rPr>
              <a:t>29</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sym typeface="+mn-ea"/>
              </a:rPr>
              <a:t>1.</a:t>
            </a:r>
            <a:r>
              <a:rPr lang="en-US" altLang="zh-CN" sz="1800" dirty="0">
                <a:solidFill>
                  <a:schemeClr val="tx1"/>
                </a:solidFill>
                <a:latin typeface="黑体" panose="02010609060101010101" pitchFamily="49" charset="-122"/>
                <a:ea typeface="黑体" panose="02010609060101010101" pitchFamily="49" charset="-122"/>
              </a:rPr>
              <a:t>30</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 name="Text Box 109"/>
          <p:cNvSpPr txBox="1"/>
          <p:nvPr/>
        </p:nvSpPr>
        <p:spPr>
          <a:xfrm>
            <a:off x="4499610" y="2423795"/>
            <a:ext cx="229933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sz="1800" dirty="0">
                <a:solidFill>
                  <a:schemeClr val="tx1"/>
                </a:solidFill>
                <a:latin typeface="黑体" panose="02010609060101010101" pitchFamily="49" charset="-122"/>
                <a:ea typeface="黑体" panose="02010609060101010101" pitchFamily="49" charset="-122"/>
              </a:rPr>
              <a:t>进行一次课堂测试！</a:t>
            </a:r>
            <a:endParaRPr lang="zh-CN"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sld>
</file>

<file path=ppt/tags/tag1.xml><?xml version="1.0" encoding="utf-8"?>
<p:tagLst xmlns:p="http://schemas.openxmlformats.org/presentationml/2006/main">
  <p:tag name="KSO_WM_UNIT_TABLE_BEAUTIFY" val="smartTable{313b8cad-310b-4991-abd9-4e959bf0898a}"/>
</p:tagLst>
</file>

<file path=ppt/tags/tag2.xml><?xml version="1.0" encoding="utf-8"?>
<p:tagLst xmlns:p="http://schemas.openxmlformats.org/presentationml/2006/main">
  <p:tag name="KSO_WM_UNIT_TABLE_BEAUTIFY" val="smartTable{690a2636-d4de-4301-b407-b27ce6a75c02}"/>
</p:tagLst>
</file>

<file path=ppt/tags/tag3.xml><?xml version="1.0" encoding="utf-8"?>
<p:tagLst xmlns:p="http://schemas.openxmlformats.org/presentationml/2006/main">
  <p:tag name="KSO_WM_UNIT_TABLE_BEAUTIFY" val="smartTable{42c3b182-f1da-41a0-9bd5-6fa5ddf3de95}"/>
</p:tagLst>
</file>

<file path=ppt/tags/tag4.xml><?xml version="1.0" encoding="utf-8"?>
<p:tagLst xmlns:p="http://schemas.openxmlformats.org/presentationml/2006/main">
  <p:tag name="KSO_WM_UNIT_TABLE_BEAUTIFY" val="smartTable{5bbfe415-0cd3-45e6-892e-de75e5877a1a}"/>
  <p:tag name="TABLE_ENDDRAG_ORIGIN_RECT" val="176*127"/>
  <p:tag name="TABLE_ENDDRAG_RECT" val="59*85*176*127"/>
</p:tagLst>
</file>

<file path=ppt/tags/tag5.xml><?xml version="1.0" encoding="utf-8"?>
<p:tagLst xmlns:p="http://schemas.openxmlformats.org/presentationml/2006/main">
  <p:tag name="KSO_WM_UNIT_TABLE_BEAUTIFY" val="smartTable{03080123-ea8c-4252-8068-922b35aeab3b}"/>
  <p:tag name="TABLE_ENDDRAG_ORIGIN_RECT" val="186*122"/>
  <p:tag name="TABLE_ENDDRAG_RECT" val="56*267*186*122"/>
</p:tagLst>
</file>

<file path=ppt/tags/tag6.xml><?xml version="1.0" encoding="utf-8"?>
<p:tagLst xmlns:p="http://schemas.openxmlformats.org/presentationml/2006/main">
  <p:tag name="KSO_WM_UNIT_PLACING_PICTURE_USER_VIEWPORT" val="{&quot;height&quot;:2630,&quot;width&quot;:13460}"/>
</p:tagLst>
</file>

<file path=ppt/tags/tag7.xml><?xml version="1.0" encoding="utf-8"?>
<p:tagLst xmlns:p="http://schemas.openxmlformats.org/presentationml/2006/main">
  <p:tag name="KSO_WM_UNIT_TABLE_BEAUTIFY" val="smartTable{663e951d-960f-4da1-904d-d5063feddb10}"/>
</p:tagLst>
</file>

<file path=ppt/tags/tag8.xml><?xml version="1.0" encoding="utf-8"?>
<p:tagLst xmlns:p="http://schemas.openxmlformats.org/presentationml/2006/main">
  <p:tag name="KSO_WM_UNIT_PLACING_PICTURE_USER_VIEWPORT" val="{&quot;height&quot;:2600,&quot;width&quot;:10050}"/>
</p:tagLst>
</file>

<file path=ppt/tags/tag9.xml><?xml version="1.0" encoding="utf-8"?>
<p:tagLst xmlns:p="http://schemas.openxmlformats.org/presentationml/2006/main">
  <p:tag name="KSO_WM_UNIT_TABLE_BEAUTIFY" val="smartTable{00a7742b-9bd4-4af9-ad38-597369fd7570}"/>
</p:tagLst>
</file>

<file path=ppt/tags/tag10.xml><?xml version="1.0" encoding="utf-8"?>
<p:tagLst xmlns:p="http://schemas.openxmlformats.org/presentationml/2006/main">
  <p:tag name="KSO_WPP_MARK_KEY" val="c0eb8789-732f-4eac-93d6-0bf9ec5b2eee"/>
  <p:tag name="COMMONDATA" val="eyJoZGlkIjoiNDhiNjIzYzU1ZGEzZTY4YzZjM2Q5NDg5MTNkOWY5NmYifQ=="/>
  <p:tag name="commondata" val="eyJoZGlkIjoiNWM3NDI0YjMzMTI2Y2UyY2IzNzVhYTc5MGY3OTVlOTMifQ=="/>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noFill/>
        <a:ln w="6350" cmpd="sng">
          <a:solidFill>
            <a:srgbClr val="FF0000"/>
          </a:solidFill>
          <a:round/>
        </a:ln>
      </a:spPr>
      <a:body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17709</Words>
  <Application>WPS 演示</Application>
  <PresentationFormat/>
  <Paragraphs>2668</Paragraphs>
  <Slides>83</Slides>
  <Notes>4</Notes>
  <HiddenSlides>0</HiddenSlides>
  <MMClips>0</MMClips>
  <ScaleCrop>false</ScaleCrop>
  <HeadingPairs>
    <vt:vector size="8" baseType="variant">
      <vt:variant>
        <vt:lpstr>已用的字体</vt:lpstr>
      </vt:variant>
      <vt:variant>
        <vt:i4>14</vt:i4>
      </vt:variant>
      <vt:variant>
        <vt:lpstr>主题</vt:lpstr>
      </vt:variant>
      <vt:variant>
        <vt:i4>9</vt:i4>
      </vt:variant>
      <vt:variant>
        <vt:lpstr>嵌入 OLE 服务器</vt:lpstr>
      </vt:variant>
      <vt:variant>
        <vt:i4>5</vt:i4>
      </vt:variant>
      <vt:variant>
        <vt:lpstr>幻灯片标题</vt:lpstr>
      </vt:variant>
      <vt:variant>
        <vt:i4>83</vt:i4>
      </vt:variant>
    </vt:vector>
  </HeadingPairs>
  <TitlesOfParts>
    <vt:vector size="111" baseType="lpstr">
      <vt:lpstr>Arial</vt:lpstr>
      <vt:lpstr>宋体</vt:lpstr>
      <vt:lpstr>Wingdings</vt:lpstr>
      <vt:lpstr>Calibri</vt:lpstr>
      <vt:lpstr>Times New Roman</vt:lpstr>
      <vt:lpstr>Calibri Light</vt:lpstr>
      <vt:lpstr>方正综艺简体</vt:lpstr>
      <vt:lpstr>微软雅黑</vt:lpstr>
      <vt:lpstr>黑体</vt:lpstr>
      <vt:lpstr>华文新魏</vt:lpstr>
      <vt:lpstr>Arial Unicode MS</vt:lpstr>
      <vt:lpstr>Symbol</vt:lpstr>
      <vt:lpstr>方正黑体简体</vt:lpstr>
      <vt:lpstr>Wingdings 2</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PBrush</vt:lpstr>
      <vt:lpstr>PBrush</vt:lpstr>
      <vt:lpstr>PBrush</vt:lpstr>
      <vt:lpstr>PBrush</vt:lpstr>
      <vt:lpstr>PBrush</vt:lpstr>
      <vt:lpstr>数 字 逻 辑 电 路</vt:lpstr>
      <vt:lpstr>1.3 逻辑代数基础</vt:lpstr>
      <vt:lpstr>PowerPoint 演示文稿</vt:lpstr>
      <vt:lpstr>1.3.1 逻辑代数中的几个概念</vt:lpstr>
      <vt:lpstr> 2) 逻辑常量和逻辑变量     逻辑常量：逻辑状态保持不变，取值“0” 或“1”。     逻辑变量：用于表示事物的逻辑状态随逻辑条件的变化而变化的量                         （一般用英文字符表示），取值：0 或1 。     </vt:lpstr>
      <vt:lpstr>表1.5 不同工艺半导体器件定义的逻辑电平（注意工作电压），两种传统工艺（新的CMOS工艺有很大变化，同学们一定要注意）</vt:lpstr>
      <vt:lpstr>   4) 逻辑约定</vt:lpstr>
      <vt:lpstr>5) 逻辑电路：    由实现逻辑变量之间逻辑关系的物理器件所构成的电路称为逻辑电路， 即数字逻辑电路。</vt:lpstr>
      <vt:lpstr>6) 逻辑函数</vt:lpstr>
      <vt:lpstr>1.3.2  逻辑代数的基本运算、定律、定理、规则与复合运算</vt:lpstr>
      <vt:lpstr>PowerPoint 演示文稿</vt:lpstr>
      <vt:lpstr>PowerPoint 演示文稿</vt:lpstr>
      <vt:lpstr>PowerPoint 演示文稿</vt:lpstr>
      <vt:lpstr>2）布尔代数的基本定理</vt:lpstr>
      <vt:lpstr>② 反演定理 (摩根定理)</vt:lpstr>
      <vt:lpstr>3）基本规则 Basic Formulas</vt:lpstr>
      <vt:lpstr>② 反演规则(香农定理)：由原函数得到其反函数</vt:lpstr>
      <vt:lpstr>PowerPoint 演示文稿</vt:lpstr>
      <vt:lpstr>①与非逻辑   逻辑（代数）表达式为:  F = A · B · C</vt:lpstr>
      <vt:lpstr>可以用与非门实现三种基本逻辑运算：</vt:lpstr>
      <vt:lpstr>②或非逻辑(NOR)         逻辑表达式为:  F = A ＋ B ＋ C</vt:lpstr>
      <vt:lpstr>可以用或非门实现三种基本运算：</vt:lpstr>
      <vt:lpstr>③与或非逻辑(AOI)         逻辑表达式为:  F =  AB ＋ CD ＋EF</vt:lpstr>
      <vt:lpstr>④异或逻辑, F = A⊕B =A · B＋A · B</vt:lpstr>
      <vt:lpstr>异或运算与同或运算的关系</vt:lpstr>
      <vt:lpstr>由代入规则可以证明：            当变量为偶数时，同或运算与异或运算之间具有互补关系；              当变量为奇数时，同或运算与异或运算之间具有相等关系。即：</vt:lpstr>
      <vt:lpstr> 异或运算和同或运算的基本代数性质</vt:lpstr>
      <vt:lpstr> 异或运算和同或运算的基本代数性质</vt:lpstr>
      <vt:lpstr>1.3.3. 逻辑函数的基本表达式与标准形式    1）基本表达式</vt:lpstr>
      <vt:lpstr>PowerPoint 演示文稿</vt:lpstr>
      <vt:lpstr>2）逻辑函数的标准形式</vt:lpstr>
      <vt:lpstr>① 最小项 minterm</vt:lpstr>
      <vt:lpstr>②最大项 maxterm</vt:lpstr>
      <vt:lpstr>③ 最小项与最大项的性质（同一个函数）</vt:lpstr>
      <vt:lpstr>PowerPoint 演示文稿</vt:lpstr>
      <vt:lpstr>PowerPoint 演示文稿</vt:lpstr>
      <vt:lpstr>⑤写出逻辑函数的最大项标准式的方法</vt:lpstr>
      <vt:lpstr>PowerPoint 演示文稿</vt:lpstr>
      <vt:lpstr>同一函数的最小项标准式与其最大项标准式的关系</vt:lpstr>
      <vt:lpstr>逻辑函数表示法及其之间的关系：</vt:lpstr>
      <vt:lpstr>PowerPoint 演示文稿</vt:lpstr>
      <vt:lpstr>单变量的卡诺图：2个小方格组成</vt:lpstr>
      <vt:lpstr>三变量的卡诺图</vt:lpstr>
      <vt:lpstr>四变量的卡诺图</vt:lpstr>
      <vt:lpstr>五变量的卡诺图</vt:lpstr>
      <vt:lpstr>六变量的卡诺图:有64个最小项</vt:lpstr>
      <vt:lpstr>②卡诺图的构成特点：</vt:lpstr>
      <vt:lpstr>②卡诺图的构成特点（续1）：</vt:lpstr>
      <vt:lpstr>②卡诺图的构成特点（续2）：</vt:lpstr>
      <vt:lpstr>  ③逻辑函数在卡诺图上的几何含义：</vt:lpstr>
      <vt:lpstr>④ 逻辑函数在卡诺图上的表示</vt:lpstr>
      <vt:lpstr>例： F2 = (A + B)(C + A)(A + B) ，将其标注在卡诺图内。</vt:lpstr>
      <vt:lpstr>1.3.4. 逻辑函数的化简</vt:lpstr>
      <vt:lpstr>例： F = AB ( B＋C ) ＋ AC ＋BC   =  AB ＋C 对应两种逻辑电路图，如下：</vt:lpstr>
      <vt:lpstr>1）代数化简法</vt:lpstr>
      <vt:lpstr>利用公式：AB＋AC = AB＋AC＋BC  增加与项数。  例 F =  AB + BC + BC + AB       =  AB + BC + BC + AB + AC       =  AB + BC + AC</vt:lpstr>
      <vt:lpstr>PowerPoint 演示文稿</vt:lpstr>
      <vt:lpstr>利用最简与或式得到最简或与式</vt:lpstr>
      <vt:lpstr>二次求反法</vt:lpstr>
      <vt:lpstr>2）用卡诺图化简逻辑函数的基本原理</vt:lpstr>
      <vt:lpstr>例：五变量的卡诺图</vt:lpstr>
      <vt:lpstr> 例：五变量的卡诺图</vt:lpstr>
      <vt:lpstr>卡诺圈化简使用的基本概念</vt:lpstr>
      <vt:lpstr>②质蕴涵 ( Prime implicant )：若蕴涵项不是其他蕴涵项的子集，则称为        质蕴涵，又称为素项，对应的卡诺圈称为极大圈。</vt:lpstr>
      <vt:lpstr>PowerPoint 演示文稿</vt:lpstr>
      <vt:lpstr> 将逻辑函数化简成最简与或表达式</vt:lpstr>
      <vt:lpstr>例2  化简F2=m4(0,1,2,3,4,5,7,14,15)</vt:lpstr>
      <vt:lpstr>例3   化简F3=m4(1,5,7,9,11,15)</vt:lpstr>
      <vt:lpstr>例4  化简F4=m5(0,2,4,10,12,13,15,18,26,28,29,31)</vt:lpstr>
      <vt:lpstr> 将逻辑函数化简成最简或与式</vt:lpstr>
      <vt:lpstr>例1  化简F1=m4(0,8,9,10,11,12,13,14,15)得到原函数的最简或与式</vt:lpstr>
      <vt:lpstr>同一函数的对应的（门）电路比较</vt:lpstr>
      <vt:lpstr>比较上述两种电路</vt:lpstr>
      <vt:lpstr>3) 利用无关项输入简化函数表达式</vt:lpstr>
      <vt:lpstr>PowerPoint 演示文稿</vt:lpstr>
      <vt:lpstr>4) 输入无反变量的函数的化简</vt:lpstr>
      <vt:lpstr>对于与或式，共享的门是与非门</vt:lpstr>
      <vt:lpstr>化简步骤为：  ①把最简式中具有相同头因子的与项合并成一个与项。</vt:lpstr>
      <vt:lpstr>③选择共享的替代尾因子，选择的原则如下：</vt:lpstr>
      <vt:lpstr>2.  禁止逻辑法(阻塞逻辑法)</vt:lpstr>
      <vt:lpstr>    禁止逻辑（又称阻塞逻辑），上式中m5 + m7 称为禁止项，G 是 F  被 m5 + m7 禁止后的函数。</vt:lpstr>
      <vt:lpstr>例1  F1 = m1 + m3 + m5 + m6</vt:lpstr>
      <vt:lpstr>作业2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 字 逻 辑 电 路</dc:title>
  <dc:creator>Microsoft Office 用户</dc:creator>
  <cp:lastModifiedBy>老伍</cp:lastModifiedBy>
  <cp:revision>307</cp:revision>
  <dcterms:created xsi:type="dcterms:W3CDTF">2017-03-01T14:10:00Z</dcterms:created>
  <dcterms:modified xsi:type="dcterms:W3CDTF">2026-03-09T10:32:00Z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2052-12.1.0.16250</vt:lpwstr>
  </property>
  <property fmtid="{D5CDD505-2E9C-101B-9397-08002B2CF9AE}" pid="3" name="ICV">
    <vt:lpwstr>8037929F1C0C4F35821A45C46DD4869C_13</vt:lpwstr>
  </property>
</Properties>
</file>