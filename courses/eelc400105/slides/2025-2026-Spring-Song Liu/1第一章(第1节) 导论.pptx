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31"/>
  </p:notesMasterIdLst>
  <p:sldIdLst>
    <p:sldId id="577" r:id="rId3"/>
    <p:sldId id="545" r:id="rId4"/>
    <p:sldId id="572" r:id="rId5"/>
    <p:sldId id="546" r:id="rId6"/>
    <p:sldId id="547" r:id="rId7"/>
    <p:sldId id="941" r:id="rId8"/>
    <p:sldId id="603" r:id="rId9"/>
    <p:sldId id="624" r:id="rId10"/>
    <p:sldId id="529" r:id="rId11"/>
    <p:sldId id="530" r:id="rId12"/>
    <p:sldId id="531" r:id="rId13"/>
    <p:sldId id="550" r:id="rId14"/>
    <p:sldId id="551" r:id="rId15"/>
    <p:sldId id="552" r:id="rId16"/>
    <p:sldId id="553" r:id="rId17"/>
    <p:sldId id="554" r:id="rId18"/>
    <p:sldId id="555" r:id="rId19"/>
    <p:sldId id="556" r:id="rId20"/>
    <p:sldId id="557" r:id="rId21"/>
    <p:sldId id="558" r:id="rId22"/>
    <p:sldId id="559" r:id="rId23"/>
    <p:sldId id="560" r:id="rId24"/>
    <p:sldId id="535" r:id="rId25"/>
    <p:sldId id="536" r:id="rId26"/>
    <p:sldId id="537" r:id="rId27"/>
    <p:sldId id="538" r:id="rId28"/>
    <p:sldId id="539" r:id="rId29"/>
    <p:sldId id="541" r:id="rId30"/>
  </p:sldIdLst>
  <p:sldSz cx="9144000" cy="5143500" type="screen16x9"/>
  <p:notesSz cx="6858000" cy="9144000"/>
  <p:custDataLst>
    <p:tags r:id="rId32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2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8000"/>
    <a:srgbClr val="339933"/>
    <a:srgbClr val="00CC00"/>
    <a:srgbClr val="FF9900"/>
    <a:srgbClr val="99663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46"/>
    <p:restoredTop sz="81793" autoAdjust="0"/>
  </p:normalViewPr>
  <p:slideViewPr>
    <p:cSldViewPr showGuides="1">
      <p:cViewPr varScale="1">
        <p:scale>
          <a:sx n="96" d="100"/>
          <a:sy n="96" d="100"/>
        </p:scale>
        <p:origin x="480" y="42"/>
      </p:cViewPr>
      <p:guideLst>
        <p:guide orient="horz" pos="1572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38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58A5280-9430-4BB1-A8C2-1EBDA1770B8D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D5C8B24-404C-4FE2-8A97-0709006C002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457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2457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</a:t>
            </a:fld>
            <a:endParaRPr lang="zh-CN" altLang="en-US" sz="12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0963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/>
            <a:endParaRPr lang="en-US" altLang="zh-CN" dirty="0"/>
          </a:p>
        </p:txBody>
      </p:sp>
      <p:sp>
        <p:nvSpPr>
          <p:cNvPr id="409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6</a:t>
            </a:fld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6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</p:sp>
      <p:sp>
        <p:nvSpPr>
          <p:cNvPr id="36867" name="Rectangle 3"/>
          <p:cNvSpPr>
            <a:spLocks noGrp="1"/>
          </p:cNvSpPr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38914" name="文本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lIns="91440" tIns="45720" rIns="91440" bIns="45720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40962" name="文本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lIns="91440" tIns="45720" rIns="91440" bIns="45720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034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</p:sp>
      <p:sp>
        <p:nvSpPr>
          <p:cNvPr id="44035" name="Rectangle 3"/>
          <p:cNvSpPr>
            <a:spLocks noGrp="1"/>
          </p:cNvSpPr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18</a:t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30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</p:sp>
      <p:sp>
        <p:nvSpPr>
          <p:cNvPr id="48131" name="Rectangle 3"/>
          <p:cNvSpPr>
            <a:spLocks noGrp="1"/>
          </p:cNvSpPr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0178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60418" name="文本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71DD2F1-73CE-46DD-9D48-6EB9D6B7823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23F2242-5B42-4DBD-892E-C872DBA4031B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9388"/>
            <a:ext cx="7886700" cy="3263906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21A52EF-2F0A-40B2-94EC-F3B4BB785C64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326F87C-C52D-4DB8-A42E-D6F7C0DCB7A9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8758E11-6F36-48BE-8EDA-9F94715C002B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66F7068-4761-4F1C-BBD9-C712A4E502D7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0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124BFFF-60A3-4BFB-8B69-7E9D2666977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6717424-E725-4E6A-BEBF-9E442FAF6FD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图片 9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261028"/>
            <a:ext cx="3868340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879038"/>
            <a:ext cx="3868340" cy="276378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1028"/>
            <a:ext cx="3887391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038"/>
            <a:ext cx="3887391" cy="276378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DE4188C-3082-479D-B72A-72F370A30328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25E44B1-C0C6-4B15-8A5C-BDBE245920D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46538CB-C907-4553-B931-00C598DC52E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3114C3C-8192-4FD5-971E-C2FA6970F8E9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F54B5EB-44F1-4D51-9EFF-B02AEE69376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FD28763-E8D3-40F9-A2EC-F8CAE93F6B5C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388"/>
            <a:ext cx="7886700" cy="3263906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D66578-A4B0-4728-A59E-771CF9BE5615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 advTm="25000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0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71DD2F1-73CE-46DD-9D48-6EB9D6B7823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23F2242-5B42-4DBD-892E-C872DBA4031B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4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9388"/>
            <a:ext cx="7886700" cy="3263906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21A52EF-2F0A-40B2-94EC-F3B4BB785C64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326F87C-C52D-4DB8-A42E-D6F7C0DCB7A9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8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8758E11-6F36-48BE-8EDA-9F94715C002B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66F7068-4761-4F1C-BBD9-C712A4E502D7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124BFFF-60A3-4BFB-8B69-7E9D2666977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6717424-E725-4E6A-BEBF-9E442FAF6FD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6" name="图片 9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261028"/>
            <a:ext cx="3868340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879038"/>
            <a:ext cx="3868340" cy="276378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1028"/>
            <a:ext cx="3887391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038"/>
            <a:ext cx="3887391" cy="276378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DE4188C-3082-479D-B72A-72F370A30328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25E44B1-C0C6-4B15-8A5C-BDBE245920D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90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46538CB-C907-4553-B931-00C598DC52E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3114C3C-8192-4FD5-971E-C2FA6970F8E9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4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F54B5EB-44F1-4D51-9EFF-B02AEE69376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FD28763-E8D3-40F9-A2EC-F8CAE93F6B5C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388"/>
            <a:ext cx="7886700" cy="3263906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D66578-A4B0-4728-A59E-771CF9BE5615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 advTm="25000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0" descr="电路幻灯片1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0" name="组合 9"/>
          <p:cNvGrpSpPr/>
          <p:nvPr userDrawn="1"/>
        </p:nvGrpSpPr>
        <p:grpSpPr>
          <a:xfrm>
            <a:off x="539750" y="52388"/>
            <a:ext cx="1628775" cy="487362"/>
            <a:chOff x="2077" y="3004"/>
            <a:chExt cx="5804" cy="1740"/>
          </a:xfrm>
        </p:grpSpPr>
        <p:pic>
          <p:nvPicPr>
            <p:cNvPr id="1031" name="图片 7" descr="交大矢量logo"/>
            <p:cNvPicPr>
              <a:picLocks noChangeAspect="1"/>
            </p:cNvPicPr>
            <p:nvPr userDrawn="1"/>
          </p:nvPicPr>
          <p:blipFill>
            <a:blip r:embed="rId16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矩形 8"/>
            <p:cNvSpPr/>
            <p:nvPr/>
          </p:nvSpPr>
          <p:spPr>
            <a:xfrm>
              <a:off x="7542" y="4166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10" descr="电路幻灯片1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4" name="组合 9"/>
          <p:cNvGrpSpPr/>
          <p:nvPr userDrawn="1"/>
        </p:nvGrpSpPr>
        <p:grpSpPr>
          <a:xfrm>
            <a:off x="539750" y="52388"/>
            <a:ext cx="1628775" cy="487362"/>
            <a:chOff x="2077" y="3004"/>
            <a:chExt cx="5804" cy="1740"/>
          </a:xfrm>
        </p:grpSpPr>
        <p:pic>
          <p:nvPicPr>
            <p:cNvPr id="2055" name="图片 7" descr="交大矢量logo"/>
            <p:cNvPicPr>
              <a:picLocks noChangeAspect="1"/>
            </p:cNvPicPr>
            <p:nvPr userDrawn="1"/>
          </p:nvPicPr>
          <p:blipFill>
            <a:blip r:embed="rId16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矩形 8"/>
            <p:cNvSpPr/>
            <p:nvPr/>
          </p:nvSpPr>
          <p:spPr>
            <a:xfrm>
              <a:off x="7542" y="4166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4" Type="http://schemas.openxmlformats.org/officeDocument/2006/relationships/hyperlink" Target="mailto:wgwu@mail.xjtu.edu.c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jpeg"/><Relationship Id="rId4" Type="http://schemas.openxmlformats.org/officeDocument/2006/relationships/image" Target="../media/image19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/>
          <p:cNvSpPr>
            <a:spLocks noGrp="1"/>
          </p:cNvSpPr>
          <p:nvPr>
            <p:ph type="title"/>
          </p:nvPr>
        </p:nvSpPr>
        <p:spPr>
          <a:xfrm>
            <a:off x="2566988" y="2020888"/>
            <a:ext cx="3852862" cy="9715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anchor="t"/>
          <a:lstStyle/>
          <a:p>
            <a:pPr eaLnBrk="1" hangingPunct="1"/>
            <a:r>
              <a:rPr lang="en-US" altLang="en-US" sz="3600" dirty="0">
                <a:latin typeface="方正综艺简体" charset="-122"/>
                <a:ea typeface="方正综艺简体" charset="-122"/>
              </a:rPr>
              <a:t>数 字 逻 辑 电 路</a:t>
            </a:r>
          </a:p>
        </p:txBody>
      </p:sp>
      <p:sp>
        <p:nvSpPr>
          <p:cNvPr id="23554" name="文本框 2"/>
          <p:cNvSpPr txBox="1"/>
          <p:nvPr/>
        </p:nvSpPr>
        <p:spPr>
          <a:xfrm>
            <a:off x="3703638" y="2646363"/>
            <a:ext cx="1073150" cy="3984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朱正东</a:t>
            </a:r>
          </a:p>
        </p:txBody>
      </p:sp>
      <p:sp>
        <p:nvSpPr>
          <p:cNvPr id="9" name="矩形 8"/>
          <p:cNvSpPr/>
          <p:nvPr/>
        </p:nvSpPr>
        <p:spPr>
          <a:xfrm>
            <a:off x="42863" y="0"/>
            <a:ext cx="9010650" cy="48847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842963"/>
            <a:ext cx="9169400" cy="164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557" name="标题 1"/>
          <p:cNvSpPr/>
          <p:nvPr/>
        </p:nvSpPr>
        <p:spPr>
          <a:xfrm>
            <a:off x="1476375" y="1112838"/>
            <a:ext cx="6565900" cy="11906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>
              <a:lnSpc>
                <a:spcPct val="90000"/>
              </a:lnSpc>
              <a:buFont typeface="Arial" panose="020B0604020202020204" pitchFamily="34" charset="0"/>
            </a:pPr>
            <a:r>
              <a:rPr lang="zh-CN" altLang="en-US" sz="4400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数 字 逻 辑 电 路</a:t>
            </a:r>
          </a:p>
        </p:txBody>
      </p:sp>
      <p:grpSp>
        <p:nvGrpSpPr>
          <p:cNvPr id="23558" name="组合 12"/>
          <p:cNvGrpSpPr/>
          <p:nvPr/>
        </p:nvGrpSpPr>
        <p:grpSpPr>
          <a:xfrm>
            <a:off x="107950" y="123825"/>
            <a:ext cx="2322513" cy="696913"/>
            <a:chOff x="2077" y="3004"/>
            <a:chExt cx="5804" cy="1740"/>
          </a:xfrm>
        </p:grpSpPr>
        <p:pic>
          <p:nvPicPr>
            <p:cNvPr id="23559" name="图片 13" descr="交大矢量logo"/>
            <p:cNvPicPr>
              <a:picLocks noChangeAspect="1"/>
            </p:cNvPicPr>
            <p:nvPr/>
          </p:nvPicPr>
          <p:blipFill>
            <a:blip r:embed="rId3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" name="矩形 14"/>
            <p:cNvSpPr/>
            <p:nvPr/>
          </p:nvSpPr>
          <p:spPr>
            <a:xfrm>
              <a:off x="7540" y="4165"/>
              <a:ext cx="341" cy="3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3561" name="Text Box 4"/>
          <p:cNvSpPr txBox="1"/>
          <p:nvPr/>
        </p:nvSpPr>
        <p:spPr>
          <a:xfrm>
            <a:off x="98425" y="2930525"/>
            <a:ext cx="8639810" cy="1383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buFont typeface="Arial" panose="020B0604020202020204" pitchFamily="34" charset="0"/>
            </a:pP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主讲教师：刘松（副教授、博士生导师）</a:t>
            </a:r>
          </a:p>
          <a:p>
            <a:pPr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（西一楼</a:t>
            </a:r>
            <a:r>
              <a:rPr 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405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zh-CN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13468832503</a:t>
            </a:r>
          </a:p>
          <a:p>
            <a:pPr>
              <a:buFont typeface="Arial" panose="020B0604020202020204" pitchFamily="34" charset="0"/>
            </a:pP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                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hlinkClick r:id="rId4"/>
              </a:rPr>
              <a:t>liusong@mail.xjtu.edu.cn</a:t>
            </a:r>
            <a:endParaRPr lang="en-US" altLang="zh-CN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endParaRPr lang="en-US" altLang="zh-CN" sz="24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4"/>
          <p:cNvSpPr/>
          <p:nvPr/>
        </p:nvSpPr>
        <p:spPr>
          <a:xfrm>
            <a:off x="2928938" y="996950"/>
            <a:ext cx="1871662" cy="431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defTabSz="685800">
              <a:lnSpc>
                <a:spcPct val="9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Calibri Light" panose="020F0302020204030204" pitchFamily="34" charset="0"/>
                <a:ea typeface="华文新魏" panose="02010800040101010101" pitchFamily="2" charset="-122"/>
              </a:rPr>
              <a:t>教      材</a:t>
            </a:r>
          </a:p>
        </p:txBody>
      </p:sp>
      <p:sp>
        <p:nvSpPr>
          <p:cNvPr id="4" name="Text Box 6"/>
          <p:cNvSpPr txBox="1"/>
          <p:nvPr/>
        </p:nvSpPr>
        <p:spPr>
          <a:xfrm>
            <a:off x="436880" y="2381250"/>
            <a:ext cx="7762240" cy="11684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朱正东</a:t>
            </a: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研究员等主编 </a:t>
            </a:r>
            <a:r>
              <a:rPr lang="en-US" altLang="zh-CN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《</a:t>
            </a: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数字逻辑与数字系统 </a:t>
            </a:r>
            <a:r>
              <a:rPr lang="en-US" altLang="zh-CN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》    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电子工业出版社   </a:t>
            </a:r>
            <a:r>
              <a:rPr lang="en-US" altLang="zh-CN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2015</a:t>
            </a: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年 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575" y="1428750"/>
            <a:ext cx="2673350" cy="32686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625" y="1417638"/>
            <a:ext cx="2459038" cy="3279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3"/>
          <p:cNvSpPr txBox="1"/>
          <p:nvPr/>
        </p:nvSpPr>
        <p:spPr>
          <a:xfrm>
            <a:off x="250825" y="2427288"/>
            <a:ext cx="8591550" cy="11684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李仁发等译</a:t>
            </a:r>
            <a:r>
              <a:rPr lang="en-US" altLang="zh-CN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《</a:t>
            </a: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数字逻辑设计 </a:t>
            </a:r>
            <a:r>
              <a:rPr lang="en-US" altLang="zh-CN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》 </a:t>
            </a: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（第</a:t>
            </a:r>
            <a:r>
              <a:rPr lang="en-US" altLang="zh-CN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版）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人民邮电出版社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2006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年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6626" name="Rectangle 4"/>
          <p:cNvSpPr/>
          <p:nvPr/>
        </p:nvSpPr>
        <p:spPr>
          <a:xfrm>
            <a:off x="2843213" y="627063"/>
            <a:ext cx="1871662" cy="431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defTabSz="685800">
              <a:lnSpc>
                <a:spcPct val="9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Calibri Light" panose="020F0302020204030204" pitchFamily="34" charset="0"/>
                <a:ea typeface="华文新魏" panose="02010800040101010101" pitchFamily="2" charset="-122"/>
              </a:rPr>
              <a:t>参考书</a:t>
            </a:r>
          </a:p>
        </p:txBody>
      </p:sp>
      <p:sp>
        <p:nvSpPr>
          <p:cNvPr id="13316" name="Text Box 6"/>
          <p:cNvSpPr txBox="1"/>
          <p:nvPr/>
        </p:nvSpPr>
        <p:spPr>
          <a:xfrm>
            <a:off x="250825" y="1131888"/>
            <a:ext cx="8591550" cy="11604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林涛等译</a:t>
            </a:r>
            <a:r>
              <a:rPr lang="en-US" altLang="zh-CN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《</a:t>
            </a:r>
            <a:r>
              <a:rPr lang="zh-CN" altLang="en-US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数字系统原理与应用 </a:t>
            </a:r>
            <a:r>
              <a:rPr lang="en-US" altLang="zh-CN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》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（第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版）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电子工业出版社   </a:t>
            </a:r>
            <a:r>
              <a:rPr lang="en-US" altLang="zh-CN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2005</a:t>
            </a: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年 </a:t>
            </a:r>
          </a:p>
        </p:txBody>
      </p:sp>
      <p:sp>
        <p:nvSpPr>
          <p:cNvPr id="13317" name="Text Box 7"/>
          <p:cNvSpPr txBox="1"/>
          <p:nvPr/>
        </p:nvSpPr>
        <p:spPr>
          <a:xfrm>
            <a:off x="250825" y="3723323"/>
            <a:ext cx="8591550" cy="11684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李晶皎等编著</a:t>
            </a:r>
            <a:r>
              <a:rPr lang="en-US" altLang="zh-CN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《</a:t>
            </a: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逻辑与数字系统设计</a:t>
            </a:r>
            <a:r>
              <a:rPr lang="en-US" altLang="zh-CN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》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清华大学出版社   </a:t>
            </a:r>
            <a:r>
              <a:rPr lang="en-US" altLang="zh-CN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2008</a:t>
            </a: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年 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6" grpId="0"/>
      <p:bldP spid="133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8" name="Picture 4" descr="书封面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88" y="627063"/>
            <a:ext cx="2736850" cy="45164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69" name="Picture 2" descr="书封面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238" y="627063"/>
            <a:ext cx="3119437" cy="45164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3935" y="915670"/>
            <a:ext cx="2991485" cy="4224020"/>
          </a:xfrm>
          <a:prstGeom prst="rect">
            <a:avLst/>
          </a:prstGeom>
        </p:spPr>
      </p:pic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/>
          <p:nvPr/>
        </p:nvSpPr>
        <p:spPr>
          <a:xfrm>
            <a:off x="251520" y="483518"/>
            <a:ext cx="8785225" cy="40322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609600" indent="-609600" defTabSz="685800">
              <a:lnSpc>
                <a:spcPct val="150000"/>
              </a:lnSpc>
              <a:spcBef>
                <a:spcPts val="750"/>
              </a:spcBef>
            </a:pP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教学安排：</a:t>
            </a:r>
            <a:endParaRPr lang="en-US" altLang="zh-CN" sz="24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defTabSz="685800">
              <a:lnSpc>
                <a:spcPct val="150000"/>
              </a:lnSpc>
              <a:spcBef>
                <a:spcPts val="750"/>
              </a:spcBef>
            </a:pP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讲课内容：朱正东主编教材第1章</a:t>
            </a:r>
            <a:r>
              <a:rPr lang="en-US" altLang="zh-CN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</a:t>
            </a: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第４章（第</a:t>
            </a:r>
            <a:r>
              <a:rPr lang="en-US" altLang="zh-CN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章第</a:t>
            </a:r>
            <a:r>
              <a:rPr lang="en-US" altLang="zh-CN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节）</a:t>
            </a:r>
          </a:p>
          <a:p>
            <a:pPr marL="609600" indent="-609600" defTabSz="685800">
              <a:lnSpc>
                <a:spcPct val="150000"/>
              </a:lnSpc>
              <a:spcBef>
                <a:spcPts val="750"/>
              </a:spcBef>
            </a:pP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作        业：各章中与教学内容要求一致的习题</a:t>
            </a:r>
            <a:endParaRPr lang="en-US" altLang="zh-CN" sz="24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defTabSz="685800">
              <a:lnSpc>
                <a:spcPct val="150000"/>
              </a:lnSpc>
              <a:spcBef>
                <a:spcPts val="750"/>
              </a:spcBef>
            </a:pP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课程实验：王今雨等老师负责（独立课程，第</a:t>
            </a:r>
            <a:r>
              <a:rPr lang="en-US" altLang="zh-CN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周）</a:t>
            </a:r>
          </a:p>
          <a:p>
            <a:pPr marL="609600" indent="-609600" defTabSz="685800">
              <a:lnSpc>
                <a:spcPct val="150000"/>
              </a:lnSpc>
              <a:spcBef>
                <a:spcPts val="750"/>
              </a:spcBef>
            </a:pP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考试要求：</a:t>
            </a:r>
            <a:r>
              <a:rPr lang="zh-CN" altLang="en-US" sz="24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考试内容以教材为准（讲课内容会超出大纲！）</a:t>
            </a:r>
          </a:p>
          <a:p>
            <a:pPr marL="609600" indent="-609600" defTabSz="685800">
              <a:lnSpc>
                <a:spcPct val="150000"/>
              </a:lnSpc>
              <a:spcBef>
                <a:spcPts val="750"/>
              </a:spcBef>
            </a:pP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学习成绩：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平时成绩（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０％）</a:t>
            </a: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＋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考试成绩（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70%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zh-CN" altLang="en-US" sz="24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defTabSz="685800">
              <a:lnSpc>
                <a:spcPct val="150000"/>
              </a:lnSpc>
              <a:spcBef>
                <a:spcPts val="750"/>
              </a:spcBef>
            </a:pP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答疑时间：课间、微信答疑；预约答疑地点：西一楼</a:t>
            </a:r>
            <a:r>
              <a:rPr lang="en-US" altLang="zh-CN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405</a:t>
            </a: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室</a:t>
            </a:r>
            <a:endParaRPr lang="en-US" altLang="zh-CN" sz="24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6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40" name="Rectangle 2"/>
          <p:cNvSpPr>
            <a:spLocks noGrp="1"/>
          </p:cNvSpPr>
          <p:nvPr>
            <p:ph type="title"/>
          </p:nvPr>
        </p:nvSpPr>
        <p:spPr>
          <a:xfrm>
            <a:off x="466725" y="627063"/>
            <a:ext cx="777240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平时成绩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30%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941" name="Rectangle 3"/>
          <p:cNvSpPr>
            <a:spLocks noGrp="1"/>
          </p:cNvSpPr>
          <p:nvPr>
            <p:ph idx="1"/>
          </p:nvPr>
        </p:nvSpPr>
        <p:spPr>
          <a:xfrm>
            <a:off x="349885" y="1203598"/>
            <a:ext cx="8733790" cy="2232248"/>
          </a:xfrm>
          <a:noFill/>
          <a:ln>
            <a:noFill/>
          </a:ln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课后作业，须独立完成、按时在思源学堂提交</a:t>
            </a:r>
            <a:endParaRPr lang="en-US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次随堂测验（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3-5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分钟），上课带好纸笔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点名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考勤（缺勤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次无法考试）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课堂表现，缺勤须提前请假</a:t>
            </a:r>
            <a:endParaRPr lang="en-US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/>
          </p:cNvSpPr>
          <p:nvPr>
            <p:ph type="title"/>
          </p:nvPr>
        </p:nvSpPr>
        <p:spPr>
          <a:xfrm>
            <a:off x="467360" y="555625"/>
            <a:ext cx="7907020" cy="904875"/>
          </a:xfrm>
          <a:prstGeom prst="rect">
            <a:avLst/>
          </a:prstGeom>
          <a:noFill/>
          <a:ln w="9525">
            <a:noFill/>
          </a:ln>
        </p:spPr>
        <p:txBody>
          <a:bodyPr lIns="68592" tIns="34296" rIns="68592" bIns="34296" anchor="ctr"/>
          <a:lstStyle/>
          <a:p>
            <a:pPr eaLnBrk="1" hangingPunct="1"/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《</a:t>
            </a:r>
            <a:r>
              <a:rPr lang="en-US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数字逻辑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与数字系统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》</a:t>
            </a: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在计算机硬件学科体系中的地位：</a:t>
            </a:r>
            <a:endParaRPr lang="en-US" altLang="en-US" sz="2400" b="1" i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740" y="1347470"/>
            <a:ext cx="5986780" cy="30924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/>
          </p:cNvSpPr>
          <p:nvPr>
            <p:ph type="title"/>
          </p:nvPr>
        </p:nvSpPr>
        <p:spPr>
          <a:xfrm>
            <a:off x="1043305" y="340360"/>
            <a:ext cx="7907020" cy="904875"/>
          </a:xfrm>
          <a:prstGeom prst="rect">
            <a:avLst/>
          </a:prstGeom>
          <a:noFill/>
          <a:ln w="9525">
            <a:noFill/>
          </a:ln>
        </p:spPr>
        <p:txBody>
          <a:bodyPr lIns="68592" tIns="34296" rIns="68592" bIns="34296" anchor="ctr"/>
          <a:lstStyle/>
          <a:p>
            <a:pPr eaLnBrk="1" hangingPunct="1"/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《</a:t>
            </a:r>
            <a:r>
              <a:rPr lang="en-US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数字逻辑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与数字系统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》</a:t>
            </a: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教材分为</a:t>
            </a:r>
            <a:r>
              <a:rPr lang="en-US" altLang="zh-CN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5</a:t>
            </a: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章，具体为：</a:t>
            </a:r>
            <a:endParaRPr lang="en-US" altLang="en-US" sz="2400" b="1" i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746" name="Rectangle 3"/>
          <p:cNvSpPr>
            <a:spLocks noGrp="1"/>
          </p:cNvSpPr>
          <p:nvPr>
            <p:ph idx="1"/>
          </p:nvPr>
        </p:nvSpPr>
        <p:spPr>
          <a:xfrm>
            <a:off x="1101725" y="1080135"/>
            <a:ext cx="7848600" cy="37572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68592" tIns="34296" rIns="68592" bIns="34296" anchor="t"/>
          <a:lstStyle/>
          <a:p>
            <a:pPr marL="342900" indent="-342900" eaLnBrk="1" fontAlgn="base" hangingPunct="1">
              <a:lnSpc>
                <a:spcPct val="108000"/>
              </a:lnSpc>
              <a:spcBef>
                <a:spcPts val="625"/>
              </a:spcBef>
              <a:buAutoNum type="arabicPeriod"/>
            </a:pPr>
            <a:r>
              <a:rPr lang="zh-CN" altLang="en-US" sz="1800" strike="noStrike" noProof="1">
                <a:latin typeface="华文新魏" panose="02010800040101010101" pitchFamily="2" charset="-122"/>
                <a:ea typeface="华文新魏" panose="02010800040101010101" pitchFamily="2" charset="-122"/>
              </a:rPr>
              <a:t>数字逻辑基础</a:t>
            </a:r>
          </a:p>
          <a:p>
            <a:pPr marL="457200" lvl="1" indent="0" eaLnBrk="1" fontAlgn="base" hangingPunct="1">
              <a:lnSpc>
                <a:spcPct val="108000"/>
              </a:lnSpc>
              <a:spcBef>
                <a:spcPts val="625"/>
              </a:spcBef>
              <a:buNone/>
            </a:pPr>
            <a:r>
              <a:rPr lang="zh-CN" altLang="en-US" sz="1600" strike="noStrike" noProof="1">
                <a:latin typeface="华文新魏" panose="02010800040101010101" pitchFamily="2" charset="-122"/>
                <a:ea typeface="华文新魏" panose="02010800040101010101" pitchFamily="2" charset="-122"/>
              </a:rPr>
              <a:t> 数字技术的基本概念、数制与编码、逻辑代数基础和逻辑门电路</a:t>
            </a:r>
          </a:p>
          <a:p>
            <a:pPr marL="342900" indent="-342900" eaLnBrk="1" fontAlgn="base" hangingPunct="1">
              <a:lnSpc>
                <a:spcPct val="108000"/>
              </a:lnSpc>
              <a:spcBef>
                <a:spcPts val="625"/>
              </a:spcBef>
              <a:buAutoNum type="arabicPeriod"/>
            </a:pPr>
            <a:r>
              <a:rPr lang="zh-CN" altLang="en-US" sz="1800" strike="noStrike" noProof="1">
                <a:latin typeface="华文新魏" panose="02010800040101010101" pitchFamily="2" charset="-122"/>
                <a:ea typeface="华文新魏" panose="02010800040101010101" pitchFamily="2" charset="-122"/>
              </a:rPr>
              <a:t>组合逻辑电路 </a:t>
            </a:r>
          </a:p>
          <a:p>
            <a:pPr marL="457200" lvl="1" algn="l" eaLnBrk="1" fontAlgn="base" hangingPunct="1">
              <a:lnSpc>
                <a:spcPct val="108000"/>
              </a:lnSpc>
              <a:spcBef>
                <a:spcPts val="625"/>
              </a:spcBef>
              <a:buClrTx/>
              <a:buSzTx/>
              <a:buNone/>
            </a:pPr>
            <a:r>
              <a:rPr lang="zh-CN" altLang="en-US" sz="1600" strike="noStrike" noProof="1">
                <a:latin typeface="华文新魏" panose="02010800040101010101" pitchFamily="2" charset="-122"/>
                <a:ea typeface="华文新魏" panose="02010800040101010101" pitchFamily="2" charset="-122"/>
              </a:rPr>
              <a:t>   逻辑电路的描述、组合逻辑电路的分析设计、竞争与险象和常用</a:t>
            </a:r>
            <a:r>
              <a:rPr lang="en-US" altLang="zh-CN" sz="1600" strike="noStrike" noProof="1">
                <a:latin typeface="华文新魏" panose="02010800040101010101" pitchFamily="2" charset="-122"/>
                <a:ea typeface="华文新魏" panose="02010800040101010101" pitchFamily="2" charset="-122"/>
              </a:rPr>
              <a:t>MSI</a:t>
            </a:r>
            <a:r>
              <a:rPr lang="zh-CN" altLang="en-US" sz="1600" strike="noStrike" noProof="1">
                <a:latin typeface="华文新魏" panose="02010800040101010101" pitchFamily="2" charset="-122"/>
                <a:ea typeface="华文新魏" panose="02010800040101010101" pitchFamily="2" charset="-122"/>
              </a:rPr>
              <a:t>组合逻辑器件</a:t>
            </a:r>
          </a:p>
          <a:p>
            <a:pPr marL="342900" indent="-342900" eaLnBrk="1" fontAlgn="base" hangingPunct="1">
              <a:lnSpc>
                <a:spcPct val="108000"/>
              </a:lnSpc>
              <a:spcBef>
                <a:spcPts val="625"/>
              </a:spcBef>
              <a:buAutoNum type="arabicPeriod"/>
            </a:pPr>
            <a:r>
              <a:rPr lang="zh-CN" altLang="en-US" sz="1800" strike="noStrike" noProof="1">
                <a:latin typeface="华文新魏" panose="02010800040101010101" pitchFamily="2" charset="-122"/>
                <a:ea typeface="华文新魏" panose="02010800040101010101" pitchFamily="2" charset="-122"/>
              </a:rPr>
              <a:t>时序逻辑电路</a:t>
            </a:r>
          </a:p>
          <a:p>
            <a:pPr marL="457200" lvl="1" algn="l" eaLnBrk="1" fontAlgn="base" hangingPunct="1">
              <a:lnSpc>
                <a:spcPct val="108000"/>
              </a:lnSpc>
              <a:spcBef>
                <a:spcPts val="625"/>
              </a:spcBef>
              <a:buClrTx/>
              <a:buSzTx/>
              <a:buNone/>
            </a:pP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 时序逻辑电路基础、同步时序电路的分析设计、脉冲异步时序电路的分析设计和常用MSI组合逻辑器件</a:t>
            </a:r>
            <a:endParaRPr lang="zh-CN" altLang="en-US" sz="1600" strike="noStrike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fontAlgn="base" hangingPunct="1">
              <a:lnSpc>
                <a:spcPct val="108000"/>
              </a:lnSpc>
              <a:spcBef>
                <a:spcPts val="625"/>
              </a:spcBef>
              <a:buAutoNum type="arabicPeriod"/>
            </a:pPr>
            <a:r>
              <a:rPr lang="zh-CN" altLang="en-US" sz="1800" strike="noStrike" noProof="1">
                <a:latin typeface="华文新魏" panose="02010800040101010101" pitchFamily="2" charset="-122"/>
                <a:ea typeface="华文新魏" panose="02010800040101010101" pitchFamily="2" charset="-122"/>
              </a:rPr>
              <a:t>可编程逻辑器件</a:t>
            </a:r>
          </a:p>
          <a:p>
            <a:pPr marL="457200" lvl="1" algn="l" eaLnBrk="1" fontAlgn="base" hangingPunct="1">
              <a:lnSpc>
                <a:spcPct val="108000"/>
              </a:lnSpc>
              <a:spcBef>
                <a:spcPts val="625"/>
              </a:spcBef>
              <a:buClrTx/>
              <a:buSzTx/>
              <a:buNone/>
            </a:pP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可编程逻辑概述、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SPLD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CPLD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和硬件描述语言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VHDL</a:t>
            </a:r>
            <a:endParaRPr lang="zh-CN" altLang="en-US" sz="1600" strike="noStrike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fontAlgn="base" hangingPunct="1">
              <a:lnSpc>
                <a:spcPct val="108000"/>
              </a:lnSpc>
              <a:spcBef>
                <a:spcPts val="625"/>
              </a:spcBef>
              <a:buAutoNum type="arabicPeriod"/>
            </a:pPr>
            <a:r>
              <a:rPr lang="zh-CN" altLang="en-US" sz="1800" strike="noStrike" noProof="1">
                <a:latin typeface="华文新魏" panose="02010800040101010101" pitchFamily="2" charset="-122"/>
                <a:ea typeface="华文新魏" panose="02010800040101010101" pitchFamily="2" charset="-122"/>
              </a:rPr>
              <a:t>数字系统</a:t>
            </a:r>
          </a:p>
          <a:p>
            <a:pPr marL="457200" lvl="1" algn="l" eaLnBrk="1" fontAlgn="base" hangingPunct="1">
              <a:lnSpc>
                <a:spcPct val="108000"/>
              </a:lnSpc>
              <a:spcBef>
                <a:spcPts val="625"/>
              </a:spcBef>
              <a:buClrTx/>
              <a:buSzTx/>
              <a:buNone/>
            </a:pP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数字系统概述、</a:t>
            </a:r>
            <a:r>
              <a:rPr lang="zh-CN" altLang="en-US" sz="1600" u="sng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小型控制器设计、简易数字计算机系统和数模转换</a:t>
            </a:r>
            <a:endParaRPr lang="zh-CN" altLang="en-US" sz="1600" u="sng" strike="noStrike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/>
          </p:cNvSpPr>
          <p:nvPr>
            <p:ph type="title"/>
          </p:nvPr>
        </p:nvSpPr>
        <p:spPr>
          <a:xfrm>
            <a:off x="1115060" y="445135"/>
            <a:ext cx="5090795" cy="943610"/>
          </a:xfrm>
          <a:prstGeom prst="rect">
            <a:avLst/>
          </a:prstGeom>
          <a:noFill/>
          <a:ln w="9525">
            <a:noFill/>
          </a:ln>
        </p:spPr>
        <p:txBody>
          <a:bodyPr lIns="68592" tIns="34296" rIns="68592" bIns="34296" anchor="ctr"/>
          <a:lstStyle/>
          <a:p>
            <a:pPr eaLnBrk="1" hangingPunct="1"/>
            <a:r>
              <a:rPr lang="en-US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第1章 数字逻辑基础</a:t>
            </a:r>
            <a:endParaRPr lang="en-US" altLang="en-US" sz="2400" b="1" i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746" name="Rectangle 3"/>
          <p:cNvSpPr>
            <a:spLocks noGrp="1"/>
          </p:cNvSpPr>
          <p:nvPr>
            <p:ph idx="1"/>
          </p:nvPr>
        </p:nvSpPr>
        <p:spPr>
          <a:xfrm>
            <a:off x="1116013" y="1374775"/>
            <a:ext cx="7848600" cy="31416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68592" tIns="34296" rIns="68592" bIns="34296" anchor="t"/>
          <a:lstStyle/>
          <a:p>
            <a:pPr eaLnBrk="1" fontAlgn="base" hangingPunct="1">
              <a:lnSpc>
                <a:spcPct val="108000"/>
              </a:lnSpc>
              <a:spcBef>
                <a:spcPts val="625"/>
              </a:spcBef>
              <a:buNone/>
            </a:pPr>
            <a:r>
              <a:rPr lang="zh-CN" altLang="en-US" sz="2000" b="1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本章分为</a:t>
            </a:r>
            <a:r>
              <a:rPr lang="en-US" altLang="zh-CN" sz="2000" b="1" strike="noStrike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000" b="1" strike="noStrike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节</a:t>
            </a:r>
            <a:r>
              <a:rPr lang="zh-CN" altLang="en-US" sz="2000" b="1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，总的学习要求如下：</a:t>
            </a:r>
            <a:endParaRPr lang="zh-CN" altLang="en-US" sz="2000" b="1" strike="noStrike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fontAlgn="base" hangingPunct="1">
              <a:lnSpc>
                <a:spcPct val="150000"/>
              </a:lnSpc>
              <a:spcBef>
                <a:spcPts val="625"/>
              </a:spcBef>
              <a:buNone/>
            </a:pPr>
            <a:r>
              <a:rPr lang="zh-CN" altLang="en-US" sz="1800" strike="noStrike" noProof="1">
                <a:latin typeface="华文新魏" panose="02010800040101010101" pitchFamily="2" charset="-122"/>
                <a:ea typeface="华文新魏" panose="02010800040101010101" pitchFamily="2" charset="-122"/>
              </a:rPr>
              <a:t>● 区别物理量的模拟与数字表示法</a:t>
            </a:r>
            <a:r>
              <a:rPr lang="en-US" altLang="zh-CN" sz="1800" strike="noStrike" noProof="1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sz="1800" strike="noStrike" noProof="1">
                <a:latin typeface="华文新魏" panose="02010800040101010101" pitchFamily="2" charset="-122"/>
                <a:ea typeface="华文新魏" panose="02010800040101010101" pitchFamily="2" charset="-122"/>
              </a:rPr>
              <a:t>了解数字技术的优点和不足</a:t>
            </a:r>
          </a:p>
          <a:p>
            <a:pPr eaLnBrk="1" fontAlgn="base" hangingPunct="1">
              <a:lnSpc>
                <a:spcPct val="150000"/>
              </a:lnSpc>
              <a:spcBef>
                <a:spcPts val="625"/>
              </a:spcBef>
              <a:buNone/>
            </a:pPr>
            <a:r>
              <a:rPr lang="zh-CN" altLang="en-US" sz="1800" strike="noStrike" noProof="1">
                <a:latin typeface="华文新魏" panose="02010800040101010101" pitchFamily="2" charset="-122"/>
                <a:ea typeface="华文新魏" panose="02010800040101010101" pitchFamily="2" charset="-122"/>
              </a:rPr>
              <a:t>● 熟练掌握数制及其相互的转换，数字系统中数与编码的表示和运算</a:t>
            </a:r>
          </a:p>
          <a:p>
            <a:pPr eaLnBrk="1" fontAlgn="base" hangingPunct="1">
              <a:lnSpc>
                <a:spcPct val="150000"/>
              </a:lnSpc>
              <a:spcBef>
                <a:spcPts val="625"/>
              </a:spcBef>
              <a:buNone/>
            </a:pPr>
            <a:r>
              <a:rPr lang="zh-CN" altLang="en-US" sz="1800" strike="noStrike" noProof="1">
                <a:latin typeface="华文新魏" panose="02010800040101010101" pitchFamily="2" charset="-122"/>
                <a:ea typeface="华文新魏" panose="02010800040101010101" pitchFamily="2" charset="-122"/>
              </a:rPr>
              <a:t>● 掌握逻辑代数的相关概念、基本运算、定律、基本定理和基本规则</a:t>
            </a:r>
          </a:p>
          <a:p>
            <a:pPr eaLnBrk="1" fontAlgn="base" hangingPunct="1">
              <a:lnSpc>
                <a:spcPct val="150000"/>
              </a:lnSpc>
              <a:spcBef>
                <a:spcPts val="625"/>
              </a:spcBef>
              <a:buNone/>
            </a:pPr>
            <a:r>
              <a:rPr lang="zh-CN" altLang="en-US" sz="1800" strike="noStrike" noProof="1">
                <a:latin typeface="华文新魏" panose="02010800040101010101" pitchFamily="2" charset="-122"/>
                <a:ea typeface="华文新魏" panose="02010800040101010101" pitchFamily="2" charset="-122"/>
              </a:rPr>
              <a:t>● 熟练掌握逻辑函数的基本表达式、标准形式及逻辑函数的化简方法</a:t>
            </a:r>
          </a:p>
          <a:p>
            <a:pPr eaLnBrk="1" fontAlgn="base" hangingPunct="1">
              <a:lnSpc>
                <a:spcPct val="150000"/>
              </a:lnSpc>
              <a:spcBef>
                <a:spcPts val="625"/>
              </a:spcBef>
              <a:buNone/>
            </a:pPr>
            <a:r>
              <a:rPr lang="zh-CN" altLang="en-US" sz="1800" strike="noStrike" noProof="1">
                <a:latin typeface="华文新魏" panose="02010800040101010101" pitchFamily="2" charset="-122"/>
                <a:ea typeface="华文新魏" panose="02010800040101010101" pitchFamily="2" charset="-122"/>
              </a:rPr>
              <a:t>● 熟悉数字逻辑门电路、晶体管开关特性与集成电路类型及其使用特性</a:t>
            </a:r>
          </a:p>
          <a:p>
            <a:pPr eaLnBrk="1" fontAlgn="base" hangingPunct="1">
              <a:buNone/>
            </a:pPr>
            <a:endParaRPr lang="zh-CN" altLang="en-US" b="1" strike="noStrike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/>
          </p:cNvSpPr>
          <p:nvPr>
            <p:ph type="title"/>
          </p:nvPr>
        </p:nvSpPr>
        <p:spPr>
          <a:xfrm>
            <a:off x="682625" y="841375"/>
            <a:ext cx="4745038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68592" tIns="34296" rIns="68592" bIns="34296" anchor="ctr"/>
          <a:lstStyle/>
          <a:p>
            <a:pPr eaLnBrk="1" hangingPunct="1"/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1.1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数字技术的相关概念</a:t>
            </a:r>
          </a:p>
        </p:txBody>
      </p:sp>
      <p:sp>
        <p:nvSpPr>
          <p:cNvPr id="4100" name="Rectangle 3"/>
          <p:cNvSpPr>
            <a:spLocks noGrp="1"/>
          </p:cNvSpPr>
          <p:nvPr>
            <p:ph sz="half" idx="1"/>
          </p:nvPr>
        </p:nvSpPr>
        <p:spPr>
          <a:xfrm>
            <a:off x="1281113" y="1501775"/>
            <a:ext cx="7126287" cy="2941638"/>
          </a:xfrm>
          <a:prstGeom prst="rect">
            <a:avLst/>
          </a:prstGeom>
          <a:noFill/>
          <a:ln>
            <a:noFill/>
          </a:ln>
        </p:spPr>
        <p:txBody>
          <a:bodyPr lIns="68592" tIns="34296" rIns="68592" bIns="34296" anchor="t"/>
          <a:lstStyle/>
          <a:p>
            <a:pPr marL="342900" indent="-342900" defTabSz="91440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1.1.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20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物理量的表示</a:t>
            </a:r>
          </a:p>
          <a:p>
            <a:pPr marL="342900" indent="-342900" defTabSz="91440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物理量：几何量，运动量和质量等等类型</a:t>
            </a:r>
          </a:p>
          <a:p>
            <a:pPr marL="342900" indent="-342900" defTabSz="91440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物理量有两种表示（度量）方法：模拟表示法和数字表示法</a:t>
            </a:r>
          </a:p>
          <a:p>
            <a:pPr marL="342900" indent="-342900" defTabSz="914400" eaLnBrk="1" latinLnBrk="0" hangingPunct="1">
              <a:lnSpc>
                <a:spcPct val="130000"/>
              </a:lnSpc>
              <a:spcBef>
                <a:spcPts val="12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1.1.2</a:t>
            </a:r>
            <a:r>
              <a:rPr lang="en-US" altLang="zh-CN" sz="20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物理系统（模拟系统及模拟技术、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数字系统及数字技术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）</a:t>
            </a:r>
            <a:endParaRPr lang="zh-CN" altLang="en-US" sz="2000" b="1" dirty="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defTabSz="91440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数字系统和模拟系统</a:t>
            </a:r>
          </a:p>
          <a:p>
            <a:pPr marL="342900" indent="-342900" defTabSz="91440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数字技术的优缺点及未来</a:t>
            </a:r>
            <a:endParaRPr lang="zh-CN" altLang="en-US" b="1" dirty="0">
              <a:solidFill>
                <a:srgbClr val="FFC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2771" name="Text Box 7"/>
          <p:cNvSpPr txBox="1"/>
          <p:nvPr/>
        </p:nvSpPr>
        <p:spPr>
          <a:xfrm>
            <a:off x="5883275" y="123825"/>
            <a:ext cx="3228975" cy="3063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en-US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数字逻辑电路     第1章  第1节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/>
          </p:cNvSpPr>
          <p:nvPr>
            <p:ph type="title"/>
          </p:nvPr>
        </p:nvSpPr>
        <p:spPr>
          <a:xfrm>
            <a:off x="889000" y="712788"/>
            <a:ext cx="4745038" cy="534987"/>
          </a:xfrm>
          <a:prstGeom prst="rect">
            <a:avLst/>
          </a:prstGeom>
          <a:noFill/>
          <a:ln>
            <a:noFill/>
          </a:ln>
        </p:spPr>
        <p:txBody>
          <a:bodyPr lIns="68592" tIns="34296" rIns="68592" bIns="34296" anchor="ctr"/>
          <a:lstStyle/>
          <a:p>
            <a:pPr eaLnBrk="1" hangingPunct="1"/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1.1.1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物理量的表示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方法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</a:p>
        </p:txBody>
      </p:sp>
      <p:sp>
        <p:nvSpPr>
          <p:cNvPr id="20483" name="Rectangle 3"/>
          <p:cNvSpPr>
            <a:spLocks noGrp="1"/>
          </p:cNvSpPr>
          <p:nvPr>
            <p:ph sz="half" idx="1"/>
          </p:nvPr>
        </p:nvSpPr>
        <p:spPr>
          <a:xfrm>
            <a:off x="1050925" y="1349375"/>
            <a:ext cx="7121525" cy="3350895"/>
          </a:xfrm>
          <a:prstGeom prst="rect">
            <a:avLst/>
          </a:prstGeom>
          <a:noFill/>
          <a:ln>
            <a:noFill/>
          </a:ln>
        </p:spPr>
        <p:txBody>
          <a:bodyPr lIns="68592" tIns="34296" rIns="68592" bIns="34296" anchor="t"/>
          <a:lstStyle/>
          <a:p>
            <a:pPr marL="342900" indent="-342900" defTabSz="91440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物理量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：把物理学中度量物体属性或描述物体运动状态及其变化过程的量，如重量、速度、硬度、温度、电压、电流等称为物理量。物理量的度量方法，可分为模拟度量方法和数字度量方法。</a:t>
            </a:r>
          </a:p>
          <a:p>
            <a:pPr marL="685800" lvl="1" indent="-342900" defTabSz="91440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● </a:t>
            </a:r>
            <a:r>
              <a:rPr lang="zh-CN" altLang="en-US" sz="21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模拟量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：连续变化的物理量；</a:t>
            </a:r>
          </a:p>
          <a:p>
            <a:pPr marL="685800" lvl="1" indent="-342900" defTabSz="91440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●  数字量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：非连续变化的物理量。</a:t>
            </a:r>
          </a:p>
          <a:p>
            <a:pPr marL="342900" indent="-342900" defTabSz="91440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模拟量很难准确地保存、传递、加工。把模拟量截断到一个适当的精度，即把量值数字化；将一个可连续变化的量赋值并等于一个有限精度的数字，即用数字值来表示，而这些数字值也就是数字量或离散量。</a:t>
            </a:r>
            <a:endParaRPr lang="zh-CN" altLang="en-US" sz="1800" dirty="0">
              <a:solidFill>
                <a:srgbClr val="FFC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4819" name="Text Box 7"/>
          <p:cNvSpPr txBox="1"/>
          <p:nvPr/>
        </p:nvSpPr>
        <p:spPr>
          <a:xfrm>
            <a:off x="5881688" y="123825"/>
            <a:ext cx="3127375" cy="3063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数字逻辑电路     第</a:t>
            </a:r>
            <a:r>
              <a: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 第</a:t>
            </a:r>
            <a:r>
              <a: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</p:spPr>
        <p:txBody>
          <a:bodyPr wrap="square" lIns="91440" tIns="45720" rIns="91440" bIns="45720" numCol="1" anchor="ctr" anchorCtr="0" compatLnSpc="1"/>
          <a:lstStyle>
            <a:lvl1pPr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530" indent="-21463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0C38DE-2554-4055-9B88-63B194B31A3B}" type="slidenum">
              <a:rPr kumimoji="1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12</a:t>
            </a:fld>
            <a:endParaRPr kumimoji="1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27" name="Rectangle 3"/>
          <p:cNvSpPr>
            <a:spLocks noGrp="1"/>
          </p:cNvSpPr>
          <p:nvPr>
            <p:ph idx="1"/>
          </p:nvPr>
        </p:nvSpPr>
        <p:spPr>
          <a:xfrm>
            <a:off x="621030" y="1087120"/>
            <a:ext cx="7903845" cy="3510915"/>
          </a:xfrm>
          <a:noFill/>
          <a:ln>
            <a:noFill/>
          </a:ln>
        </p:spPr>
        <p:txBody>
          <a:bodyPr anchor="t"/>
          <a:lstStyle/>
          <a:p>
            <a:pPr marL="644525" indent="-644525" eaLnBrk="1" hangingPunct="1">
              <a:lnSpc>
                <a:spcPct val="125000"/>
              </a:lnSpc>
              <a:buClr>
                <a:schemeClr val="tx1"/>
              </a:buClr>
              <a:buFontTx/>
              <a:buAutoNum type="circleNumDbPlain"/>
            </a:pPr>
            <a:r>
              <a:rPr lang="zh-CN" altLang="en-US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关于</a:t>
            </a:r>
            <a:r>
              <a:rPr lang="zh-CN" altLang="en-US" b="1" dirty="0">
                <a:solidFill>
                  <a:srgbClr val="FF3300"/>
                </a:solidFill>
                <a:ea typeface="华文新魏" panose="02010800040101010101" pitchFamily="2" charset="-122"/>
              </a:rPr>
              <a:t>“</a:t>
            </a:r>
            <a:r>
              <a:rPr lang="zh-CN" altLang="en-US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模拟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Analog</a:t>
            </a:r>
            <a:r>
              <a:rPr lang="en-US" altLang="zh-CN" b="1" dirty="0">
                <a:solidFill>
                  <a:srgbClr val="FF3300"/>
                </a:solidFill>
                <a:ea typeface="华文新魏" panose="02010800040101010101" pitchFamily="2" charset="-122"/>
              </a:rPr>
              <a:t>”</a:t>
            </a:r>
            <a:r>
              <a:rPr lang="zh-CN" altLang="en-US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lang="zh-CN" altLang="en-US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</a:t>
            </a:r>
            <a:r>
              <a:rPr lang="en-US" altLang="zh-CN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Digital”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：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在计算机领域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digital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与其它词一起使用，主要用于区别</a:t>
            </a:r>
            <a:r>
              <a:rPr lang="zh-CN" altLang="en-US" sz="1800" b="1" dirty="0">
                <a:latin typeface="华文楷体" panose="02010600040101010101" pitchFamily="2" charset="-122"/>
                <a:ea typeface="华文新魏" panose="02010800040101010101" pitchFamily="2" charset="-122"/>
              </a:rPr>
              <a:t>“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模拟</a:t>
            </a:r>
            <a:r>
              <a:rPr lang="zh-CN" altLang="en-US" sz="1800" b="1" dirty="0">
                <a:latin typeface="华文楷体" panose="02010600040101010101" pitchFamily="2" charset="-122"/>
                <a:ea typeface="华文新魏" panose="02010800040101010101" pitchFamily="2" charset="-122"/>
              </a:rPr>
              <a:t>”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，特指将连续变化的模拟量用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二进制数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表达和处理。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44525" indent="-644525" eaLnBrk="1" latinLnBrk="0" hangingPunct="1">
              <a:spcBef>
                <a:spcPts val="700"/>
              </a:spcBef>
              <a:spcAft>
                <a:spcPts val="600"/>
              </a:spcAft>
              <a:buClr>
                <a:schemeClr val="tx1"/>
              </a:buClr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模拟量  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analog value 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 模拟电路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analog circuit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  <a:p>
            <a:pPr marL="644525" indent="-644525" eaLnBrk="1" latinLnBrk="0" hangingPunct="1">
              <a:spcBef>
                <a:spcPts val="700"/>
              </a:spcBef>
              <a:spcAft>
                <a:spcPts val="600"/>
              </a:spcAft>
              <a:buClr>
                <a:schemeClr val="tx1"/>
              </a:buClr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数字量  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digital value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 数字电路  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digital circuit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  <a:p>
            <a:pPr marL="644525" indent="-644525" eaLnBrk="1" latinLnBrk="0" hangingPunct="1">
              <a:spcBef>
                <a:spcPts val="700"/>
              </a:spcBef>
              <a:spcAft>
                <a:spcPts val="600"/>
              </a:spcAft>
              <a:buClr>
                <a:schemeClr val="tx1"/>
              </a:buClr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solidFill>
                  <a:srgbClr val="FF3300"/>
                </a:solidFill>
                <a:latin typeface="华文楷体" panose="02010600040101010101" pitchFamily="2" charset="-122"/>
                <a:ea typeface="华文新魏" panose="02010800040101010101" pitchFamily="2" charset="-122"/>
              </a:rPr>
              <a:t>•</a:t>
            </a:r>
            <a:r>
              <a:rPr lang="zh-CN" altLang="en-US" sz="18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模拟量的特点：取值上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连续不断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的物理量(时间和数值上均连续取值)。</a:t>
            </a:r>
          </a:p>
          <a:p>
            <a:pPr marL="644525" indent="-644525" eaLnBrk="1" latinLnBrk="0" hangingPunct="1">
              <a:spcBef>
                <a:spcPts val="700"/>
              </a:spcBef>
              <a:spcAft>
                <a:spcPts val="600"/>
              </a:spcAft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solidFill>
                  <a:srgbClr val="FF3300"/>
                </a:solidFill>
                <a:latin typeface="华文楷体" panose="02010600040101010101" pitchFamily="2" charset="-122"/>
                <a:ea typeface="华文新魏" panose="02010800040101010101" pitchFamily="2" charset="-122"/>
              </a:rPr>
              <a:t>•</a:t>
            </a:r>
            <a:r>
              <a:rPr lang="zh-CN" altLang="en-US" sz="18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数字量的特点：是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离散的、不连续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的物理量，用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和 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 电压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高和低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、逻辑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真和假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 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 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等表示。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/>
      <p:bldP spid="52227" grpI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</p:spPr>
        <p:txBody>
          <a:bodyPr wrap="square" lIns="91440" tIns="45720" rIns="91440" bIns="45720" numCol="1" anchor="ctr" anchorCtr="0" compatLnSpc="1"/>
          <a:lstStyle>
            <a:lvl1pPr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530" indent="-21463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D3046C5-22AC-4BCD-B70B-A9D524EB582B}" type="slidenum">
              <a:rPr kumimoji="1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13</a:t>
            </a:fld>
            <a:endParaRPr kumimoji="1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0" name="Rectangle 4"/>
          <p:cNvSpPr/>
          <p:nvPr/>
        </p:nvSpPr>
        <p:spPr>
          <a:xfrm>
            <a:off x="2087563" y="844550"/>
            <a:ext cx="5292725" cy="2514600"/>
          </a:xfrm>
          <a:prstGeom prst="rect">
            <a:avLst/>
          </a:prstGeom>
          <a:noFill/>
          <a:ln w="9525">
            <a:noFill/>
          </a:ln>
        </p:spPr>
        <p:txBody>
          <a:bodyPr lIns="69056" tIns="34529" rIns="69056" bIns="34529" anchor="t"/>
          <a:lstStyle/>
          <a:p>
            <a:pPr marL="342900" indent="-342900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24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1）、模拟信号</a:t>
            </a:r>
          </a:p>
        </p:txBody>
      </p:sp>
      <p:sp>
        <p:nvSpPr>
          <p:cNvPr id="81925" name="Line 5"/>
          <p:cNvSpPr/>
          <p:nvPr/>
        </p:nvSpPr>
        <p:spPr>
          <a:xfrm>
            <a:off x="3143250" y="1987550"/>
            <a:ext cx="40005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926" name="Freeform 6"/>
          <p:cNvSpPr/>
          <p:nvPr/>
        </p:nvSpPr>
        <p:spPr>
          <a:xfrm>
            <a:off x="3600450" y="1169988"/>
            <a:ext cx="3097213" cy="14732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2601" h="1237">
                <a:moveTo>
                  <a:pt x="0" y="675"/>
                </a:moveTo>
                <a:cubicBezTo>
                  <a:pt x="53" y="580"/>
                  <a:pt x="179" y="11"/>
                  <a:pt x="311" y="104"/>
                </a:cubicBezTo>
                <a:cubicBezTo>
                  <a:pt x="443" y="197"/>
                  <a:pt x="628" y="1237"/>
                  <a:pt x="790" y="1233"/>
                </a:cubicBezTo>
                <a:cubicBezTo>
                  <a:pt x="952" y="1229"/>
                  <a:pt x="1106" y="83"/>
                  <a:pt x="1282" y="81"/>
                </a:cubicBezTo>
                <a:cubicBezTo>
                  <a:pt x="1458" y="79"/>
                  <a:pt x="1688" y="1222"/>
                  <a:pt x="1849" y="1223"/>
                </a:cubicBezTo>
                <a:cubicBezTo>
                  <a:pt x="2010" y="1224"/>
                  <a:pt x="2123" y="180"/>
                  <a:pt x="2248" y="90"/>
                </a:cubicBezTo>
                <a:cubicBezTo>
                  <a:pt x="2373" y="0"/>
                  <a:pt x="2528" y="561"/>
                  <a:pt x="2601" y="685"/>
                </a:cubicBezTo>
              </a:path>
            </a:pathLst>
          </a:custGeom>
          <a:noFill/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27" name="Line 7"/>
          <p:cNvSpPr/>
          <p:nvPr/>
        </p:nvSpPr>
        <p:spPr>
          <a:xfrm>
            <a:off x="3143250" y="3759200"/>
            <a:ext cx="428625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928" name="Freeform 8"/>
          <p:cNvSpPr/>
          <p:nvPr/>
        </p:nvSpPr>
        <p:spPr>
          <a:xfrm>
            <a:off x="3429000" y="2835275"/>
            <a:ext cx="3886200" cy="1400175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3264" h="1176">
                <a:moveTo>
                  <a:pt x="0" y="776"/>
                </a:moveTo>
                <a:cubicBezTo>
                  <a:pt x="84" y="520"/>
                  <a:pt x="168" y="264"/>
                  <a:pt x="240" y="248"/>
                </a:cubicBezTo>
                <a:cubicBezTo>
                  <a:pt x="312" y="232"/>
                  <a:pt x="368" y="656"/>
                  <a:pt x="432" y="680"/>
                </a:cubicBezTo>
                <a:cubicBezTo>
                  <a:pt x="496" y="704"/>
                  <a:pt x="560" y="320"/>
                  <a:pt x="624" y="392"/>
                </a:cubicBezTo>
                <a:cubicBezTo>
                  <a:pt x="688" y="464"/>
                  <a:pt x="744" y="1152"/>
                  <a:pt x="816" y="1112"/>
                </a:cubicBezTo>
                <a:cubicBezTo>
                  <a:pt x="888" y="1072"/>
                  <a:pt x="976" y="200"/>
                  <a:pt x="1056" y="152"/>
                </a:cubicBezTo>
                <a:cubicBezTo>
                  <a:pt x="1136" y="104"/>
                  <a:pt x="1224" y="768"/>
                  <a:pt x="1296" y="824"/>
                </a:cubicBezTo>
                <a:cubicBezTo>
                  <a:pt x="1368" y="880"/>
                  <a:pt x="1416" y="520"/>
                  <a:pt x="1488" y="488"/>
                </a:cubicBezTo>
                <a:cubicBezTo>
                  <a:pt x="1560" y="456"/>
                  <a:pt x="1672" y="680"/>
                  <a:pt x="1728" y="632"/>
                </a:cubicBezTo>
                <a:cubicBezTo>
                  <a:pt x="1784" y="584"/>
                  <a:pt x="1768" y="112"/>
                  <a:pt x="1824" y="200"/>
                </a:cubicBezTo>
                <a:cubicBezTo>
                  <a:pt x="1880" y="288"/>
                  <a:pt x="1968" y="1176"/>
                  <a:pt x="2064" y="1160"/>
                </a:cubicBezTo>
                <a:cubicBezTo>
                  <a:pt x="2160" y="1144"/>
                  <a:pt x="2280" y="208"/>
                  <a:pt x="2400" y="104"/>
                </a:cubicBezTo>
                <a:cubicBezTo>
                  <a:pt x="2520" y="0"/>
                  <a:pt x="2672" y="488"/>
                  <a:pt x="2784" y="536"/>
                </a:cubicBezTo>
                <a:cubicBezTo>
                  <a:pt x="2896" y="584"/>
                  <a:pt x="2992" y="352"/>
                  <a:pt x="3072" y="392"/>
                </a:cubicBezTo>
                <a:cubicBezTo>
                  <a:pt x="3152" y="432"/>
                  <a:pt x="3208" y="604"/>
                  <a:pt x="3264" y="776"/>
                </a:cubicBezTo>
              </a:path>
            </a:pathLst>
          </a:custGeom>
          <a:noFill/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1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19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1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</p:spPr>
        <p:txBody>
          <a:bodyPr wrap="square" lIns="91440" tIns="45720" rIns="91440" bIns="45720" numCol="1" anchor="ctr" anchorCtr="0" compatLnSpc="1"/>
          <a:lstStyle>
            <a:lvl1pPr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530" indent="-21463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F766252-985A-45A4-A894-AECFD2379179}" type="slidenum">
              <a:rPr kumimoji="1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14</a:t>
            </a:fld>
            <a:endParaRPr kumimoji="1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8" name="Rectangle 4"/>
          <p:cNvSpPr/>
          <p:nvPr/>
        </p:nvSpPr>
        <p:spPr>
          <a:xfrm>
            <a:off x="2087563" y="1058863"/>
            <a:ext cx="5570537" cy="2514600"/>
          </a:xfrm>
          <a:prstGeom prst="rect">
            <a:avLst/>
          </a:prstGeom>
          <a:noFill/>
          <a:ln w="9525">
            <a:noFill/>
          </a:ln>
        </p:spPr>
        <p:txBody>
          <a:bodyPr lIns="69056" tIns="34529" rIns="69056" bIns="34529" anchor="t"/>
          <a:lstStyle/>
          <a:p>
            <a:pPr marL="342900" indent="-342900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24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2）、脉冲信号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</a:pPr>
            <a:endParaRPr lang="zh-CN" altLang="en-US" sz="24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</a:pPr>
            <a:endParaRPr lang="zh-CN" altLang="en-US" sz="24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</a:pPr>
            <a:endParaRPr lang="zh-CN" altLang="en-US" sz="24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24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3）、理想的数字信号</a:t>
            </a:r>
          </a:p>
        </p:txBody>
      </p:sp>
      <p:sp>
        <p:nvSpPr>
          <p:cNvPr id="82949" name="Line 5"/>
          <p:cNvSpPr/>
          <p:nvPr/>
        </p:nvSpPr>
        <p:spPr>
          <a:xfrm>
            <a:off x="3143250" y="2487613"/>
            <a:ext cx="40005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950" name="Line 6"/>
          <p:cNvSpPr/>
          <p:nvPr/>
        </p:nvSpPr>
        <p:spPr>
          <a:xfrm>
            <a:off x="3143250" y="3973513"/>
            <a:ext cx="428625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951" name="Freeform 7"/>
          <p:cNvSpPr/>
          <p:nvPr/>
        </p:nvSpPr>
        <p:spPr>
          <a:xfrm>
            <a:off x="3486150" y="1458913"/>
            <a:ext cx="742950" cy="1000125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624" h="840">
                <a:moveTo>
                  <a:pt x="0" y="840"/>
                </a:moveTo>
                <a:cubicBezTo>
                  <a:pt x="144" y="836"/>
                  <a:pt x="288" y="832"/>
                  <a:pt x="384" y="696"/>
                </a:cubicBezTo>
                <a:cubicBezTo>
                  <a:pt x="480" y="560"/>
                  <a:pt x="536" y="0"/>
                  <a:pt x="576" y="24"/>
                </a:cubicBezTo>
                <a:cubicBezTo>
                  <a:pt x="616" y="48"/>
                  <a:pt x="624" y="712"/>
                  <a:pt x="624" y="840"/>
                </a:cubicBezTo>
              </a:path>
            </a:pathLst>
          </a:custGeom>
          <a:noFill/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952" name="Freeform 8"/>
          <p:cNvSpPr/>
          <p:nvPr/>
        </p:nvSpPr>
        <p:spPr>
          <a:xfrm>
            <a:off x="4514850" y="1458913"/>
            <a:ext cx="742950" cy="1000125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624" h="840">
                <a:moveTo>
                  <a:pt x="0" y="840"/>
                </a:moveTo>
                <a:cubicBezTo>
                  <a:pt x="144" y="836"/>
                  <a:pt x="288" y="832"/>
                  <a:pt x="384" y="696"/>
                </a:cubicBezTo>
                <a:cubicBezTo>
                  <a:pt x="480" y="560"/>
                  <a:pt x="536" y="0"/>
                  <a:pt x="576" y="24"/>
                </a:cubicBezTo>
                <a:cubicBezTo>
                  <a:pt x="616" y="48"/>
                  <a:pt x="624" y="712"/>
                  <a:pt x="624" y="840"/>
                </a:cubicBezTo>
              </a:path>
            </a:pathLst>
          </a:custGeom>
          <a:noFill/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953" name="Freeform 9"/>
          <p:cNvSpPr/>
          <p:nvPr/>
        </p:nvSpPr>
        <p:spPr>
          <a:xfrm>
            <a:off x="5486400" y="1458913"/>
            <a:ext cx="742950" cy="1000125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624" h="840">
                <a:moveTo>
                  <a:pt x="0" y="840"/>
                </a:moveTo>
                <a:cubicBezTo>
                  <a:pt x="144" y="836"/>
                  <a:pt x="288" y="832"/>
                  <a:pt x="384" y="696"/>
                </a:cubicBezTo>
                <a:cubicBezTo>
                  <a:pt x="480" y="560"/>
                  <a:pt x="536" y="0"/>
                  <a:pt x="576" y="24"/>
                </a:cubicBezTo>
                <a:cubicBezTo>
                  <a:pt x="616" y="48"/>
                  <a:pt x="624" y="712"/>
                  <a:pt x="624" y="840"/>
                </a:cubicBezTo>
              </a:path>
            </a:pathLst>
          </a:custGeom>
          <a:noFill/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954" name="Freeform 10"/>
          <p:cNvSpPr/>
          <p:nvPr/>
        </p:nvSpPr>
        <p:spPr>
          <a:xfrm>
            <a:off x="3486150" y="3287713"/>
            <a:ext cx="3806825" cy="6858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3197" h="576">
                <a:moveTo>
                  <a:pt x="0" y="576"/>
                </a:moveTo>
                <a:lnTo>
                  <a:pt x="0" y="0"/>
                </a:lnTo>
                <a:lnTo>
                  <a:pt x="480" y="0"/>
                </a:lnTo>
                <a:lnTo>
                  <a:pt x="480" y="576"/>
                </a:lnTo>
                <a:lnTo>
                  <a:pt x="1056" y="576"/>
                </a:lnTo>
                <a:lnTo>
                  <a:pt x="1056" y="0"/>
                </a:lnTo>
                <a:lnTo>
                  <a:pt x="2256" y="0"/>
                </a:lnTo>
                <a:lnTo>
                  <a:pt x="2256" y="576"/>
                </a:lnTo>
                <a:lnTo>
                  <a:pt x="2784" y="576"/>
                </a:lnTo>
                <a:lnTo>
                  <a:pt x="2779" y="9"/>
                </a:lnTo>
                <a:lnTo>
                  <a:pt x="3197" y="9"/>
                </a:lnTo>
              </a:path>
            </a:pathLst>
          </a:custGeom>
          <a:noFill/>
          <a:ln w="2857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143750" y="1466369"/>
            <a:ext cx="18795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</a:rPr>
              <a:t>    </a:t>
            </a:r>
            <a:r>
              <a:rPr lang="zh-CN" altLang="en-US" sz="1600" dirty="0">
                <a:solidFill>
                  <a:srgbClr val="0000FF"/>
                </a:solidFill>
              </a:rPr>
              <a:t>脉冲信号是模拟信号还是数字信号？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8FE8E5F-0E58-4645-86BC-AFA0E7B53FB9}"/>
              </a:ext>
            </a:extLst>
          </p:cNvPr>
          <p:cNvSpPr txBox="1"/>
          <p:nvPr/>
        </p:nvSpPr>
        <p:spPr>
          <a:xfrm>
            <a:off x="107504" y="1635646"/>
            <a:ext cx="29065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</a:rPr>
              <a:t>特点：短暂的电信号</a:t>
            </a:r>
            <a:endParaRPr lang="en-US" altLang="zh-CN" sz="1600" dirty="0">
              <a:solidFill>
                <a:srgbClr val="FF0000"/>
              </a:solidFill>
            </a:endParaRPr>
          </a:p>
          <a:p>
            <a:r>
              <a:rPr lang="en-US" altLang="zh-CN" sz="1600" dirty="0">
                <a:solidFill>
                  <a:srgbClr val="FF0000"/>
                </a:solidFill>
              </a:rPr>
              <a:t>             </a:t>
            </a:r>
            <a:r>
              <a:rPr lang="zh-CN" altLang="en-US" sz="1600" dirty="0">
                <a:solidFill>
                  <a:srgbClr val="FF0000"/>
                </a:solidFill>
              </a:rPr>
              <a:t>周期性</a:t>
            </a:r>
            <a:endParaRPr lang="en-US" altLang="zh-CN" sz="1600" dirty="0">
              <a:solidFill>
                <a:srgbClr val="FF0000"/>
              </a:solidFill>
            </a:endParaRPr>
          </a:p>
          <a:p>
            <a:r>
              <a:rPr lang="en-US" altLang="zh-CN" sz="1600" dirty="0">
                <a:solidFill>
                  <a:srgbClr val="FF0000"/>
                </a:solidFill>
              </a:rPr>
              <a:t>             </a:t>
            </a:r>
            <a:r>
              <a:rPr lang="zh-CN" altLang="en-US" sz="1600" dirty="0">
                <a:solidFill>
                  <a:srgbClr val="FF0000"/>
                </a:solidFill>
              </a:rPr>
              <a:t>用于载波、时钟信号等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2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2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2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2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2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2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2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2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2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54" grpId="0" animBg="1"/>
      <p:bldP spid="2" grpId="1"/>
      <p:bldP spid="2" grpId="2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</p:spPr>
        <p:txBody>
          <a:bodyPr wrap="square" lIns="91440" tIns="45720" rIns="91440" bIns="45720" numCol="1" anchor="ctr" anchorCtr="0" compatLnSpc="1"/>
          <a:lstStyle>
            <a:lvl1pPr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530" indent="-21463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E93245A-E2F9-4CFF-9835-6255E4503AF9}" type="slidenum">
              <a:rPr kumimoji="1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15</a:t>
            </a:fld>
            <a:endParaRPr kumimoji="1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8" name="Rectangle 4"/>
          <p:cNvSpPr/>
          <p:nvPr/>
        </p:nvSpPr>
        <p:spPr>
          <a:xfrm>
            <a:off x="516254" y="843278"/>
            <a:ext cx="7196457" cy="359981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fontAlgn="base">
              <a:buChar char="•"/>
            </a:pPr>
            <a:r>
              <a:rPr lang="zh-CN" altLang="en-US" sz="2100" b="1" strike="noStrike" noProof="1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现实世界（自然界）物体的各种物理量是模拟的</a:t>
            </a:r>
            <a:endParaRPr lang="zh-CN" altLang="en-US" sz="2100" b="1" strike="noStrike" noProof="1">
              <a:solidFill>
                <a:srgbClr val="FF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fontAlgn="base">
              <a:buChar char="•"/>
            </a:pPr>
            <a:endParaRPr lang="zh-CN" altLang="en-US" sz="2100" b="1" strike="noStrike" noProof="1">
              <a:solidFill>
                <a:srgbClr val="FF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fontAlgn="base">
              <a:buChar char="•"/>
            </a:pPr>
            <a:r>
              <a:rPr lang="zh-CN" altLang="en-US" sz="2100" b="1" strike="noStrike" noProof="1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模拟电路</a:t>
            </a:r>
            <a:r>
              <a:rPr lang="zh-CN" altLang="en-US" sz="2100" b="1" strike="noStrike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：</a:t>
            </a:r>
            <a:r>
              <a:rPr lang="zh-CN" altLang="en-US" sz="1800" b="1" strike="noStrike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处理随时间变化的信号，信号值可以</a:t>
            </a:r>
            <a:endParaRPr lang="zh-CN" altLang="en-US" sz="1800" b="1" strike="noStrike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fontAlgn="base">
              <a:buFont typeface="Arial" panose="020B0604020202020204" pitchFamily="34" charset="0"/>
            </a:pPr>
            <a:r>
              <a:rPr lang="zh-CN" altLang="en-US" sz="1800" b="1" strike="noStrike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是在一定范围内连续变化的电压、电流或其他参量</a:t>
            </a:r>
            <a:r>
              <a:rPr lang="en-US" altLang="zh-CN" sz="1800" b="1" strike="noStrike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。</a:t>
            </a:r>
            <a:endParaRPr lang="en-US" altLang="zh-CN" sz="1800" b="1" strike="noStrike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fontAlgn="base">
              <a:buFont typeface="Arial" panose="020B0604020202020204" pitchFamily="34" charset="0"/>
            </a:pPr>
            <a:endParaRPr lang="en-US" altLang="zh-CN" sz="1800" b="1" strike="noStrike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fontAlgn="base">
              <a:buChar char="•"/>
            </a:pPr>
            <a:r>
              <a:rPr lang="zh-CN" altLang="en-US" sz="1800" b="1" strike="noStrike" noProof="1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lang="zh-CN" altLang="en-US" sz="2100" b="1" strike="noStrike" noProof="1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模拟电路要用到的基本元件</a:t>
            </a:r>
            <a:endParaRPr lang="zh-CN" altLang="en-US" sz="2100" b="1" strike="noStrike" noProof="1">
              <a:solidFill>
                <a:srgbClr val="FF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 indent="0" eaLnBrk="1" fontAlgn="base" hangingPunct="1">
              <a:buChar char="•"/>
            </a:pPr>
            <a:r>
              <a:rPr lang="zh-CN" altLang="en-US" sz="1800" b="1" strike="noStrike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三极管、二级管</a:t>
            </a:r>
            <a:endParaRPr lang="zh-CN" altLang="en-US" sz="1800" b="1" strike="noStrike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 indent="0" eaLnBrk="1" fontAlgn="base" hangingPunct="1">
              <a:buChar char="•"/>
            </a:pPr>
            <a:r>
              <a:rPr lang="zh-CN" altLang="en-US" sz="1800" b="1" strike="noStrike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电阻、电容和电感</a:t>
            </a:r>
            <a:endParaRPr lang="zh-CN" altLang="en-US" sz="1800" b="1" strike="noStrike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 indent="0" eaLnBrk="1" fontAlgn="base" hangingPunct="1">
              <a:buChar char="•"/>
            </a:pPr>
            <a:r>
              <a:rPr lang="zh-CN" altLang="en-US" sz="1800" b="1" strike="noStrike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磁铁、继电器、变压器</a:t>
            </a:r>
            <a:endParaRPr lang="en-US" altLang="zh-CN" sz="1800" b="1" strike="noStrike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 indent="0" eaLnBrk="1" fontAlgn="base" hangingPunct="1">
              <a:buChar char="•"/>
            </a:pPr>
            <a:r>
              <a:rPr lang="zh-CN" altLang="en-US" sz="1800" b="1" strike="noStrike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模拟集成电路（比较器、放大器）</a:t>
            </a:r>
            <a:endParaRPr lang="zh-CN" altLang="en-US" sz="1800" b="1" strike="noStrike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 indent="0" eaLnBrk="1" fontAlgn="base" hangingPunct="1">
              <a:buChar char="•"/>
            </a:pPr>
            <a:r>
              <a:rPr lang="zh-CN" altLang="en-US" sz="1800" strike="noStrike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华文新魏" panose="02010800040101010101" pitchFamily="2" charset="-122"/>
              </a:rPr>
              <a:t>其中最核心的元件是三级管：其符号及产品如</a:t>
            </a:r>
          </a:p>
          <a:p>
            <a:pPr lvl="1" eaLnBrk="1" fontAlgn="base" hangingPunct="1"/>
            <a:r>
              <a:rPr lang="zh-CN" altLang="en-US" sz="1800" strike="noStrike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华文新魏" panose="02010800040101010101" pitchFamily="2" charset="-122"/>
              </a:rPr>
              <a:t> 右图所示。</a:t>
            </a:r>
          </a:p>
        </p:txBody>
      </p:sp>
      <p:pic>
        <p:nvPicPr>
          <p:cNvPr id="41987" name="Picture 8" descr="u=498555202,2280705611&amp;fm=52&amp;gp=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7213" y="779463"/>
            <a:ext cx="1516062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988" name="Picture 10" descr="u=1485386835,3931913761&amp;fm=23&amp;gp=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163" y="2341563"/>
            <a:ext cx="2719387" cy="2771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Tm="2500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</p:spPr>
        <p:txBody>
          <a:bodyPr wrap="square" lIns="91440" tIns="45720" rIns="91440" bIns="45720" numCol="1" anchor="ctr" anchorCtr="0" compatLnSpc="1"/>
          <a:lstStyle>
            <a:lvl1pPr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530" indent="-21463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AEE40D3-7B8D-42D4-ADCC-5D2568EF6B13}" type="slidenum">
              <a:rPr kumimoji="1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16</a:t>
            </a:fld>
            <a:endParaRPr kumimoji="1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10" name="Rectangle 2"/>
          <p:cNvSpPr>
            <a:spLocks noGrp="1"/>
          </p:cNvSpPr>
          <p:nvPr>
            <p:ph type="title"/>
          </p:nvPr>
        </p:nvSpPr>
        <p:spPr>
          <a:xfrm>
            <a:off x="1166813" y="571500"/>
            <a:ext cx="2606675" cy="342900"/>
          </a:xfrm>
          <a:noFill/>
          <a:ln>
            <a:noFill/>
          </a:ln>
        </p:spPr>
        <p:txBody>
          <a:bodyPr anchor="t"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例：晶体管工作示意图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9940" name="Rectangle 4"/>
          <p:cNvSpPr>
            <a:spLocks noGrp="1" noChangeArrowheads="1"/>
          </p:cNvSpPr>
          <p:nvPr>
            <p:ph idx="1"/>
          </p:nvPr>
        </p:nvSpPr>
        <p:spPr>
          <a:xfrm>
            <a:off x="611188" y="3717925"/>
            <a:ext cx="8307388" cy="1374775"/>
          </a:xfrm>
        </p:spPr>
        <p:txBody>
          <a:bodyPr/>
          <a:lstStyle/>
          <a:p>
            <a:pPr marL="171450" marR="0" lvl="0" indent="-171450" algn="l" defTabSz="685800" rtl="0" eaLnBrk="1" fontAlgn="base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注意：</a:t>
            </a:r>
          </a:p>
          <a:p>
            <a:pPr marL="171450" marR="0" lvl="0" indent="-171450" algn="l" defTabSz="685800" rtl="0" eaLnBrk="1" fontAlgn="base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模拟器件和模拟系统是用来处理模拟信号的。</a:t>
            </a:r>
          </a:p>
          <a:p>
            <a:pPr marL="171450" marR="0" lvl="0" indent="-171450" algn="l" defTabSz="685800" rtl="0" eaLnBrk="1" fontAlgn="base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晶体管的开关特性是数字电路研究的重点，上例中物理量已逻辑约定成逻辑量 0 和 1。</a:t>
            </a:r>
          </a:p>
          <a:p>
            <a:pPr marL="171450" marR="0" lvl="0" indent="-171450" algn="l" defTabSz="685800" rtl="0" eaLnBrk="1" fontAlgn="base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数字电路同样具有模拟电路的特性，如时间延迟问题。</a:t>
            </a:r>
          </a:p>
        </p:txBody>
      </p:sp>
      <p:sp>
        <p:nvSpPr>
          <p:cNvPr id="39941" name="Line 5"/>
          <p:cNvSpPr/>
          <p:nvPr/>
        </p:nvSpPr>
        <p:spPr>
          <a:xfrm>
            <a:off x="4171950" y="2276475"/>
            <a:ext cx="3200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9942" name="Line 6"/>
          <p:cNvSpPr/>
          <p:nvPr/>
        </p:nvSpPr>
        <p:spPr>
          <a:xfrm flipV="1">
            <a:off x="4514850" y="857250"/>
            <a:ext cx="0" cy="1828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9943" name="Text Box 7"/>
          <p:cNvSpPr txBox="1"/>
          <p:nvPr/>
        </p:nvSpPr>
        <p:spPr>
          <a:xfrm>
            <a:off x="7429500" y="1990725"/>
            <a:ext cx="571500" cy="3698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Vi</a:t>
            </a:r>
          </a:p>
        </p:txBody>
      </p:sp>
      <p:sp>
        <p:nvSpPr>
          <p:cNvPr id="39944" name="Text Box 8"/>
          <p:cNvSpPr txBox="1"/>
          <p:nvPr/>
        </p:nvSpPr>
        <p:spPr>
          <a:xfrm>
            <a:off x="4114800" y="628650"/>
            <a:ext cx="571500" cy="3698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Vo</a:t>
            </a:r>
          </a:p>
        </p:txBody>
      </p:sp>
      <p:sp>
        <p:nvSpPr>
          <p:cNvPr id="39945" name="Line 9"/>
          <p:cNvSpPr/>
          <p:nvPr/>
        </p:nvSpPr>
        <p:spPr>
          <a:xfrm flipV="1">
            <a:off x="4186238" y="1266825"/>
            <a:ext cx="742950" cy="0"/>
          </a:xfrm>
          <a:prstGeom prst="line">
            <a:avLst/>
          </a:prstGeom>
          <a:ln w="28575" cap="flat" cmpd="sng">
            <a:solidFill>
              <a:srgbClr val="CC33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7658" name="Arc 10"/>
          <p:cNvSpPr/>
          <p:nvPr/>
        </p:nvSpPr>
        <p:spPr>
          <a:xfrm rot="-10678258">
            <a:off x="4918075" y="1309688"/>
            <a:ext cx="1485900" cy="8572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rect l="0" t="0" r="0" b="0"/>
            <a:pathLst>
              <a:path w="21600" h="21600" fill="none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 cap="flat" cmpd="sng">
            <a:solidFill>
              <a:srgbClr val="11E71B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47" name="Line 11"/>
          <p:cNvSpPr/>
          <p:nvPr/>
        </p:nvSpPr>
        <p:spPr>
          <a:xfrm flipV="1">
            <a:off x="6300788" y="2190750"/>
            <a:ext cx="857250" cy="0"/>
          </a:xfrm>
          <a:prstGeom prst="line">
            <a:avLst/>
          </a:prstGeom>
          <a:ln w="28575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9951" name="Text Box 15"/>
          <p:cNvSpPr txBox="1"/>
          <p:nvPr/>
        </p:nvSpPr>
        <p:spPr>
          <a:xfrm>
            <a:off x="4800600" y="2333625"/>
            <a:ext cx="571500" cy="3698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8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IL</a:t>
            </a:r>
          </a:p>
        </p:txBody>
      </p:sp>
      <p:sp>
        <p:nvSpPr>
          <p:cNvPr id="39953" name="Text Box 17"/>
          <p:cNvSpPr txBox="1"/>
          <p:nvPr/>
        </p:nvSpPr>
        <p:spPr>
          <a:xfrm>
            <a:off x="6115050" y="2333625"/>
            <a:ext cx="571500" cy="3698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8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IH</a:t>
            </a:r>
          </a:p>
        </p:txBody>
      </p:sp>
      <p:sp>
        <p:nvSpPr>
          <p:cNvPr id="39954" name="Text Box 18"/>
          <p:cNvSpPr txBox="1"/>
          <p:nvPr/>
        </p:nvSpPr>
        <p:spPr>
          <a:xfrm>
            <a:off x="3892550" y="1085850"/>
            <a:ext cx="622300" cy="36933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8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OH</a:t>
            </a:r>
          </a:p>
        </p:txBody>
      </p:sp>
      <p:sp>
        <p:nvSpPr>
          <p:cNvPr id="39955" name="Text Box 19"/>
          <p:cNvSpPr txBox="1"/>
          <p:nvPr/>
        </p:nvSpPr>
        <p:spPr>
          <a:xfrm>
            <a:off x="4086225" y="1876425"/>
            <a:ext cx="571500" cy="3698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8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OL</a:t>
            </a:r>
          </a:p>
        </p:txBody>
      </p:sp>
      <p:sp>
        <p:nvSpPr>
          <p:cNvPr id="39956" name="Line 20"/>
          <p:cNvSpPr/>
          <p:nvPr/>
        </p:nvSpPr>
        <p:spPr>
          <a:xfrm>
            <a:off x="4929188" y="1262063"/>
            <a:ext cx="0" cy="1028700"/>
          </a:xfrm>
          <a:prstGeom prst="line">
            <a:avLst/>
          </a:prstGeom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</p:sp>
      <p:sp>
        <p:nvSpPr>
          <p:cNvPr id="39957" name="Line 21"/>
          <p:cNvSpPr/>
          <p:nvPr/>
        </p:nvSpPr>
        <p:spPr>
          <a:xfrm>
            <a:off x="6286500" y="2162175"/>
            <a:ext cx="0" cy="114300"/>
          </a:xfrm>
          <a:prstGeom prst="line">
            <a:avLst/>
          </a:prstGeom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</p:sp>
      <p:sp>
        <p:nvSpPr>
          <p:cNvPr id="39971" name="AutoShape 35"/>
          <p:cNvSpPr/>
          <p:nvPr/>
        </p:nvSpPr>
        <p:spPr>
          <a:xfrm rot="-5467037">
            <a:off x="5540375" y="1787525"/>
            <a:ext cx="174625" cy="1257300"/>
          </a:xfrm>
          <a:prstGeom prst="leftBrace">
            <a:avLst>
              <a:gd name="adj1" fmla="val 59900"/>
              <a:gd name="adj2" fmla="val 50000"/>
            </a:avLst>
          </a:prstGeom>
          <a:noFill/>
          <a:ln w="9525" cap="flat" cmpd="sng">
            <a:solidFill>
              <a:srgbClr val="11E71B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eaVert" wrap="none" anchor="ctr"/>
          <a:lstStyle/>
          <a:p>
            <a:pPr>
              <a:buFont typeface="Arial" panose="020B0604020202020204" pitchFamily="34" charset="0"/>
            </a:pPr>
            <a:endParaRPr lang="zh-CN" altLang="en-US" sz="1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72" name="Line 36"/>
          <p:cNvSpPr/>
          <p:nvPr/>
        </p:nvSpPr>
        <p:spPr>
          <a:xfrm>
            <a:off x="5629275" y="2519363"/>
            <a:ext cx="114300" cy="400050"/>
          </a:xfrm>
          <a:prstGeom prst="line">
            <a:avLst/>
          </a:prstGeom>
          <a:ln w="9525" cap="flat" cmpd="sng">
            <a:solidFill>
              <a:srgbClr val="11E71B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9973" name="Text Box 37"/>
          <p:cNvSpPr txBox="1"/>
          <p:nvPr/>
        </p:nvSpPr>
        <p:spPr>
          <a:xfrm>
            <a:off x="5200650" y="2905125"/>
            <a:ext cx="1085850" cy="669925"/>
          </a:xfrm>
          <a:prstGeom prst="rect">
            <a:avLst/>
          </a:prstGeom>
          <a:noFill/>
          <a:ln w="9525" cap="flat" cmpd="sng">
            <a:solidFill>
              <a:srgbClr val="11E71B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模拟部分：</a:t>
            </a:r>
          </a:p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放大</a:t>
            </a:r>
          </a:p>
        </p:txBody>
      </p:sp>
      <p:sp>
        <p:nvSpPr>
          <p:cNvPr id="39974" name="Line 38"/>
          <p:cNvSpPr/>
          <p:nvPr/>
        </p:nvSpPr>
        <p:spPr>
          <a:xfrm>
            <a:off x="4514850" y="2181225"/>
            <a:ext cx="1771650" cy="0"/>
          </a:xfrm>
          <a:prstGeom prst="line">
            <a:avLst/>
          </a:prstGeom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</p:sp>
      <p:sp>
        <p:nvSpPr>
          <p:cNvPr id="39975" name="AutoShape 39"/>
          <p:cNvSpPr/>
          <p:nvPr/>
        </p:nvSpPr>
        <p:spPr>
          <a:xfrm rot="-5400000">
            <a:off x="4514850" y="2066925"/>
            <a:ext cx="171450" cy="628650"/>
          </a:xfrm>
          <a:prstGeom prst="leftBrace">
            <a:avLst>
              <a:gd name="adj1" fmla="val 30419"/>
              <a:gd name="adj2" fmla="val 50000"/>
            </a:avLst>
          </a:prstGeom>
          <a:noFill/>
          <a:ln w="9525" cap="flat" cmpd="sng">
            <a:solidFill>
              <a:srgbClr val="CC33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eaVert" wrap="none" anchor="ctr"/>
          <a:lstStyle/>
          <a:p>
            <a:pPr>
              <a:buFont typeface="Arial" panose="020B0604020202020204" pitchFamily="34" charset="0"/>
            </a:pPr>
            <a:endParaRPr lang="zh-CN" altLang="en-US" sz="1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76" name="Line 40"/>
          <p:cNvSpPr/>
          <p:nvPr/>
        </p:nvSpPr>
        <p:spPr>
          <a:xfrm flipH="1">
            <a:off x="4329113" y="2452688"/>
            <a:ext cx="257175" cy="219075"/>
          </a:xfrm>
          <a:prstGeom prst="line">
            <a:avLst/>
          </a:prstGeom>
          <a:ln w="9525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9977" name="Text Box 41"/>
          <p:cNvSpPr txBox="1"/>
          <p:nvPr/>
        </p:nvSpPr>
        <p:spPr>
          <a:xfrm>
            <a:off x="3657600" y="2667000"/>
            <a:ext cx="1143000" cy="1246188"/>
          </a:xfrm>
          <a:prstGeom prst="rect">
            <a:avLst/>
          </a:prstGeom>
          <a:noFill/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5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开关部分：</a:t>
            </a:r>
          </a:p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5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截止，</a:t>
            </a:r>
            <a:r>
              <a:rPr lang="en-US" altLang="zh-CN" sz="15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Vi=0</a:t>
            </a:r>
          </a:p>
          <a:p>
            <a:pPr algn="r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5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Vo=1</a:t>
            </a:r>
          </a:p>
        </p:txBody>
      </p:sp>
      <p:sp>
        <p:nvSpPr>
          <p:cNvPr id="39978" name="AutoShape 42"/>
          <p:cNvSpPr/>
          <p:nvPr/>
        </p:nvSpPr>
        <p:spPr>
          <a:xfrm rot="-5400000">
            <a:off x="6715125" y="1924050"/>
            <a:ext cx="171450" cy="914400"/>
          </a:xfrm>
          <a:prstGeom prst="leftBrace">
            <a:avLst>
              <a:gd name="adj1" fmla="val 44246"/>
              <a:gd name="adj2" fmla="val 50000"/>
            </a:avLst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eaVert" wrap="none" anchor="ctr"/>
          <a:lstStyle/>
          <a:p>
            <a:pPr>
              <a:buFont typeface="Arial" panose="020B0604020202020204" pitchFamily="34" charset="0"/>
            </a:pPr>
            <a:endParaRPr lang="zh-CN" altLang="en-US" sz="1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79" name="Line 43"/>
          <p:cNvSpPr/>
          <p:nvPr/>
        </p:nvSpPr>
        <p:spPr>
          <a:xfrm>
            <a:off x="6815138" y="2495550"/>
            <a:ext cx="228600" cy="171450"/>
          </a:xfrm>
          <a:prstGeom prst="line">
            <a:avLst/>
          </a:prstGeom>
          <a:ln w="9525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9980" name="Text Box 44"/>
          <p:cNvSpPr txBox="1"/>
          <p:nvPr/>
        </p:nvSpPr>
        <p:spPr>
          <a:xfrm>
            <a:off x="6572250" y="2667000"/>
            <a:ext cx="1143000" cy="1246188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5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开关部分：</a:t>
            </a:r>
          </a:p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5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饱和，</a:t>
            </a:r>
            <a:r>
              <a:rPr lang="en-US" altLang="zh-CN" sz="15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Vi=1</a:t>
            </a:r>
          </a:p>
          <a:p>
            <a:pPr algn="r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5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Vo=0</a:t>
            </a:r>
          </a:p>
        </p:txBody>
      </p:sp>
      <p:grpSp>
        <p:nvGrpSpPr>
          <p:cNvPr id="39983" name="Group 47"/>
          <p:cNvGrpSpPr/>
          <p:nvPr/>
        </p:nvGrpSpPr>
        <p:grpSpPr>
          <a:xfrm>
            <a:off x="900113" y="914400"/>
            <a:ext cx="2000250" cy="1828800"/>
            <a:chOff x="384" y="480"/>
            <a:chExt cx="1680" cy="1536"/>
          </a:xfrm>
        </p:grpSpPr>
        <p:grpSp>
          <p:nvGrpSpPr>
            <p:cNvPr id="43036" name="Group 34"/>
            <p:cNvGrpSpPr/>
            <p:nvPr/>
          </p:nvGrpSpPr>
          <p:grpSpPr>
            <a:xfrm>
              <a:off x="384" y="480"/>
              <a:ext cx="1680" cy="1536"/>
              <a:chOff x="144" y="48"/>
              <a:chExt cx="1680" cy="1536"/>
            </a:xfrm>
          </p:grpSpPr>
          <p:sp>
            <p:nvSpPr>
              <p:cNvPr id="43037" name="Line 23"/>
              <p:cNvSpPr/>
              <p:nvPr/>
            </p:nvSpPr>
            <p:spPr>
              <a:xfrm>
                <a:off x="432" y="1008"/>
                <a:ext cx="432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sp>
          <p:sp>
            <p:nvSpPr>
              <p:cNvPr id="43038" name="Line 24"/>
              <p:cNvSpPr/>
              <p:nvPr/>
            </p:nvSpPr>
            <p:spPr>
              <a:xfrm>
                <a:off x="864" y="864"/>
                <a:ext cx="0" cy="2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039" name="Line 25"/>
              <p:cNvSpPr/>
              <p:nvPr/>
            </p:nvSpPr>
            <p:spPr>
              <a:xfrm flipV="1">
                <a:off x="864" y="864"/>
                <a:ext cx="192" cy="14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040" name="Line 26"/>
              <p:cNvSpPr/>
              <p:nvPr/>
            </p:nvSpPr>
            <p:spPr>
              <a:xfrm>
                <a:off x="852" y="1008"/>
                <a:ext cx="240" cy="19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43041" name="Line 27"/>
              <p:cNvSpPr/>
              <p:nvPr/>
            </p:nvSpPr>
            <p:spPr>
              <a:xfrm>
                <a:off x="1056" y="240"/>
                <a:ext cx="0" cy="624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sp>
          <p:sp>
            <p:nvSpPr>
              <p:cNvPr id="43042" name="Line 28"/>
              <p:cNvSpPr/>
              <p:nvPr/>
            </p:nvSpPr>
            <p:spPr>
              <a:xfrm>
                <a:off x="1086" y="1200"/>
                <a:ext cx="0" cy="384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sp>
          <p:sp>
            <p:nvSpPr>
              <p:cNvPr id="43043" name="Line 29"/>
              <p:cNvSpPr/>
              <p:nvPr/>
            </p:nvSpPr>
            <p:spPr>
              <a:xfrm>
                <a:off x="1038" y="1584"/>
                <a:ext cx="96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sp>
          <p:sp>
            <p:nvSpPr>
              <p:cNvPr id="43044" name="Line 30"/>
              <p:cNvSpPr/>
              <p:nvPr/>
            </p:nvSpPr>
            <p:spPr>
              <a:xfrm>
                <a:off x="1056" y="624"/>
                <a:ext cx="336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sp>
          <p:sp>
            <p:nvSpPr>
              <p:cNvPr id="43045" name="Text Box 31"/>
              <p:cNvSpPr txBox="1"/>
              <p:nvPr/>
            </p:nvSpPr>
            <p:spPr>
              <a:xfrm>
                <a:off x="144" y="864"/>
                <a:ext cx="384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Vi</a:t>
                </a:r>
              </a:p>
            </p:txBody>
          </p:sp>
          <p:sp>
            <p:nvSpPr>
              <p:cNvPr id="43046" name="Text Box 32"/>
              <p:cNvSpPr txBox="1"/>
              <p:nvPr/>
            </p:nvSpPr>
            <p:spPr>
              <a:xfrm>
                <a:off x="1440" y="480"/>
                <a:ext cx="384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Vo</a:t>
                </a:r>
              </a:p>
            </p:txBody>
          </p:sp>
          <p:sp>
            <p:nvSpPr>
              <p:cNvPr id="43047" name="Text Box 33"/>
              <p:cNvSpPr txBox="1"/>
              <p:nvPr/>
            </p:nvSpPr>
            <p:spPr>
              <a:xfrm>
                <a:off x="1056" y="48"/>
                <a:ext cx="528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Vcc</a:t>
                </a:r>
              </a:p>
            </p:txBody>
          </p:sp>
        </p:grpSp>
        <p:sp>
          <p:nvSpPr>
            <p:cNvPr id="43048" name="Oval 46"/>
            <p:cNvSpPr/>
            <p:nvPr/>
          </p:nvSpPr>
          <p:spPr>
            <a:xfrm>
              <a:off x="1272" y="1032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9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0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0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8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5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90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9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5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10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 build="p" advAuto="1000"/>
      <p:bldP spid="39943" grpId="0"/>
      <p:bldP spid="39944" grpId="0"/>
      <p:bldP spid="39951" grpId="0"/>
      <p:bldP spid="39953" grpId="0"/>
      <p:bldP spid="39954" grpId="0"/>
      <p:bldP spid="39955" grpId="0"/>
      <p:bldP spid="39971" grpId="0" bldLvl="0" animBg="1"/>
      <p:bldP spid="39973" grpId="0" animBg="1"/>
      <p:bldP spid="39975" grpId="0" bldLvl="0" animBg="1"/>
      <p:bldP spid="39977" grpId="0" animBg="1"/>
      <p:bldP spid="39978" grpId="0" bldLvl="0" animBg="1"/>
      <p:bldP spid="3998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</p:spPr>
        <p:txBody>
          <a:bodyPr wrap="square" lIns="91440" tIns="45720" rIns="91440" bIns="45720" numCol="1" anchor="ctr" anchorCtr="0" compatLnSpc="1"/>
          <a:lstStyle>
            <a:lvl1pPr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530" indent="-21463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19EE040-8600-4623-9BB0-2E8F92B68135}" type="slidenum">
              <a:rPr kumimoji="1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17</a:t>
            </a:fld>
            <a:endParaRPr kumimoji="1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2" name="Rectangle 2"/>
          <p:cNvSpPr/>
          <p:nvPr/>
        </p:nvSpPr>
        <p:spPr>
          <a:xfrm>
            <a:off x="612458" y="376238"/>
            <a:ext cx="7920037" cy="2860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buFont typeface="Arial" panose="020B0604020202020204" pitchFamily="34" charset="0"/>
            </a:pP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Char char="•"/>
            </a:pPr>
            <a:r>
              <a:rPr lang="zh-CN" altLang="en-US" sz="18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现实世界（自然界）中的物理量是模拟的，如何进行数字化处理呢？</a:t>
            </a:r>
          </a:p>
          <a:p>
            <a:pPr lvl="1" indent="0">
              <a:buChar char="•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第一步把模拟信号转换成数字信号；</a:t>
            </a:r>
          </a:p>
          <a:p>
            <a:pPr lvl="1" indent="0">
              <a:buChar char="•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对数字信号进行加工、处理和保存；</a:t>
            </a:r>
          </a:p>
          <a:p>
            <a:pPr lvl="1" indent="0">
              <a:buChar char="•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把待输出的数字信号转换成模拟量。</a:t>
            </a:r>
          </a:p>
          <a:p>
            <a:pPr lvl="1" indent="0">
              <a:buChar char="•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这其中用到一个核心器件：模数转换器</a:t>
            </a:r>
            <a:r>
              <a:rPr lang="zh-CN" altLang="en-US" sz="18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（要考虑转换精度！）</a:t>
            </a:r>
          </a:p>
          <a:p>
            <a:pPr>
              <a:buFont typeface="Arial" panose="020B0604020202020204" pitchFamily="34" charset="0"/>
            </a:pPr>
            <a:endParaRPr lang="zh-CN" altLang="en-US" sz="1800" b="1" dirty="0">
              <a:solidFill>
                <a:srgbClr val="FF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模数转换：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模拟量经采样、量化可转换为数字量。数字量更便于加工、处理、传输、存储等，且可靠，抗干扰能力强，便于计算机处理。</a:t>
            </a:r>
          </a:p>
          <a:p>
            <a:pPr>
              <a:buFont typeface="Arial" panose="020B0604020202020204" pitchFamily="34" charset="0"/>
            </a:pPr>
            <a:endParaRPr lang="zh-CN" altLang="en-US" sz="1800" b="1" dirty="0">
              <a:solidFill>
                <a:srgbClr val="FF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46083" name="Picture 4" descr="u=1371564147,2506211154&amp;fm=23&amp;gp=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050" y="3682365"/>
            <a:ext cx="1343025" cy="9509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5285" y="3435985"/>
            <a:ext cx="2174240" cy="13398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5" y="2875280"/>
            <a:ext cx="2527300" cy="2166620"/>
          </a:xfrm>
          <a:prstGeom prst="rect">
            <a:avLst/>
          </a:prstGeom>
        </p:spPr>
      </p:pic>
    </p:spTree>
  </p:cSld>
  <p:clrMapOvr>
    <a:masterClrMapping/>
  </p:clrMapOvr>
  <p:transition advTm="2500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</p:spPr>
        <p:txBody>
          <a:bodyPr wrap="square" lIns="91440" tIns="45720" rIns="91440" bIns="45720" numCol="1" anchor="ctr" anchorCtr="0" compatLnSpc="1"/>
          <a:lstStyle>
            <a:lvl1pPr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530" indent="-21463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5A9A548-0D9A-4E38-8A3D-F8E70FA86BFE}" type="slidenum">
              <a:rPr kumimoji="1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18</a:t>
            </a:fld>
            <a:endParaRPr kumimoji="1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06" name="Rectangle 2"/>
          <p:cNvSpPr>
            <a:spLocks noGrp="1"/>
          </p:cNvSpPr>
          <p:nvPr>
            <p:ph type="title"/>
          </p:nvPr>
        </p:nvSpPr>
        <p:spPr>
          <a:xfrm>
            <a:off x="611188" y="688975"/>
            <a:ext cx="3170237" cy="571500"/>
          </a:xfrm>
          <a:noFill/>
          <a:ln>
            <a:noFill/>
          </a:ln>
        </p:spPr>
        <p:txBody>
          <a:bodyPr anchor="t"/>
          <a:lstStyle/>
          <a:p>
            <a:pPr eaLnBrk="1" hangingPunct="1">
              <a:buNone/>
            </a:pPr>
            <a:r>
              <a:rPr lang="zh-CN" altLang="en-US" sz="22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②  关于</a:t>
            </a:r>
            <a:r>
              <a:rPr lang="zh-CN" altLang="en-US" sz="2200" b="1" dirty="0">
                <a:solidFill>
                  <a:srgbClr val="FF3300"/>
                </a:solidFill>
                <a:ea typeface="华文新魏" panose="02010800040101010101" pitchFamily="2" charset="-122"/>
              </a:rPr>
              <a:t>“</a:t>
            </a:r>
            <a:r>
              <a:rPr lang="zh-CN" altLang="en-US" sz="22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  </a:t>
            </a:r>
            <a:r>
              <a:rPr lang="en-US" altLang="zh-CN" sz="2200" b="1" i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logic</a:t>
            </a:r>
            <a:r>
              <a:rPr lang="en-US" altLang="zh-CN" sz="2200" b="1" dirty="0">
                <a:solidFill>
                  <a:srgbClr val="FF3300"/>
                </a:solidFill>
                <a:ea typeface="华文新魏" panose="02010800040101010101" pitchFamily="2" charset="-122"/>
              </a:rPr>
              <a:t>”</a:t>
            </a:r>
            <a:endParaRPr lang="zh-CN" altLang="en-US" sz="2200" b="1" dirty="0">
              <a:solidFill>
                <a:srgbClr val="FF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1987" name="Rectangle 3"/>
          <p:cNvSpPr>
            <a:spLocks noGrp="1"/>
          </p:cNvSpPr>
          <p:nvPr>
            <p:ph idx="1"/>
          </p:nvPr>
        </p:nvSpPr>
        <p:spPr>
          <a:xfrm>
            <a:off x="468630" y="1132205"/>
            <a:ext cx="8425180" cy="2149475"/>
          </a:xfrm>
          <a:noFill/>
          <a:ln>
            <a:noFill/>
          </a:ln>
        </p:spPr>
        <p:txBody>
          <a:bodyPr anchor="t"/>
          <a:lstStyle/>
          <a:p>
            <a:pPr marL="361950" marR="0" indent="-292100" algn="l" defTabSz="685800" rtl="0" eaLnBrk="1" fontAlgn="base" latinLnBrk="0" hangingPunct="1">
              <a:lnSpc>
                <a:spcPct val="12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1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华文新魏" panose="02010800040101010101" pitchFamily="2" charset="-122"/>
                <a:cs typeface="+mn-cs"/>
              </a:rPr>
              <a:t>•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华文新魏" panose="02010800040101010101" pitchFamily="2" charset="-122"/>
                <a:cs typeface="+mn-cs"/>
              </a:rPr>
              <a:t>“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逻辑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华文新魏" panose="02010800040101010101" pitchFamily="2" charset="-122"/>
                <a:cs typeface="+mn-cs"/>
              </a:rPr>
              <a:t>”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一词我们经常会用到。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华文新魏" panose="02010800040101010101" pitchFamily="2" charset="-122"/>
                <a:cs typeface="+mn-cs"/>
              </a:rPr>
              <a:t>“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逻辑学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华文新魏" panose="02010800040101010101" pitchFamily="2" charset="-122"/>
                <a:cs typeface="+mn-cs"/>
              </a:rPr>
              <a:t>”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研究思维规律性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的一个学科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；研究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华文楷体" panose="02010600040101010101" pitchFamily="2" charset="-122"/>
                <a:ea typeface="华文新魏" panose="02010800040101010101" pitchFamily="2" charset="-122"/>
                <a:cs typeface="+mn-cs"/>
              </a:rPr>
              <a:t>“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因果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华文楷体" panose="02010600040101010101" pitchFamily="2" charset="-122"/>
                <a:ea typeface="华文新魏" panose="02010800040101010101" pitchFamily="2" charset="-122"/>
                <a:cs typeface="+mn-cs"/>
              </a:rPr>
              <a:t>”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关系，即逻辑函数关系，简称逻辑关系。逻辑函数中输入量、输出量均为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逻辑量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；</a:t>
            </a:r>
          </a:p>
          <a:p>
            <a:pPr marL="361950" marR="0" indent="-292100" algn="l" defTabSz="685800" rtl="0" eaLnBrk="1" fontAlgn="base" latinLnBrk="0" hangingPunct="1">
              <a:lnSpc>
                <a:spcPct val="12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1" i="0" u="none" strike="noStrike" kern="1200" cap="none" spc="0" normalizeH="0" baseline="0" noProof="1">
                <a:solidFill>
                  <a:srgbClr val="0000FF"/>
                </a:solidFill>
                <a:latin typeface="华文楷体" panose="02010600040101010101" pitchFamily="2" charset="-122"/>
                <a:ea typeface="华文新魏" panose="02010800040101010101" pitchFamily="2" charset="-122"/>
                <a:cs typeface="+mn-cs"/>
              </a:rPr>
              <a:t>•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参照初等代数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：将逻辑常量、变量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通过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逻辑运算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，实现的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逻辑关系系统为逻辑代数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；</a:t>
            </a:r>
          </a:p>
          <a:p>
            <a:pPr marL="361950" marR="0" indent="-292100" algn="l" defTabSz="685800" rtl="0" eaLnBrk="1" fontAlgn="base" latinLnBrk="0" hangingPunct="1">
              <a:lnSpc>
                <a:spcPct val="12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1" i="0" u="none" strike="noStrike" kern="1200" cap="none" spc="0" normalizeH="0" baseline="0" noProof="1">
                <a:solidFill>
                  <a:srgbClr val="0000FF"/>
                </a:solidFill>
                <a:latin typeface="华文楷体" panose="02010600040101010101" pitchFamily="2" charset="-122"/>
                <a:ea typeface="华文新魏" panose="02010800040101010101" pitchFamily="2" charset="-122"/>
                <a:cs typeface="+mn-cs"/>
              </a:rPr>
              <a:t>•  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逻辑代数简称为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逻辑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是由逻辑</a:t>
            </a:r>
            <a:r>
              <a:rPr kumimoji="0" lang="zh-CN" altLang="en-US" sz="1600" b="1" i="0" u="sng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常量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、</a:t>
            </a:r>
            <a:r>
              <a:rPr kumimoji="0" lang="zh-CN" altLang="en-US" sz="1600" b="1" i="0" u="sng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逻辑变量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、</a:t>
            </a:r>
            <a:r>
              <a:rPr kumimoji="0" lang="zh-CN" altLang="en-US" sz="1600" b="1" i="0" u="sng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逻辑运算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和</a:t>
            </a:r>
            <a:r>
              <a:rPr kumimoji="0" lang="zh-CN" altLang="en-US" sz="1600" b="1" i="0" u="sng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逻辑关系规则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所组成的集合。</a:t>
            </a:r>
          </a:p>
          <a:p>
            <a:pPr marL="361950" marR="0" indent="-292100" algn="l" defTabSz="685800" rtl="0" eaLnBrk="1" fontAlgn="base" latinLnBrk="0" hangingPunct="1">
              <a:lnSpc>
                <a:spcPct val="12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1" i="0" u="none" strike="noStrike" kern="1200" cap="none" spc="0" normalizeH="0" baseline="0" noProof="1">
                <a:solidFill>
                  <a:srgbClr val="0000FF"/>
                </a:solidFill>
                <a:latin typeface="华文楷体" panose="02010600040101010101" pitchFamily="2" charset="-122"/>
                <a:ea typeface="华文新魏" panose="02010800040101010101" pitchFamily="2" charset="-122"/>
                <a:cs typeface="+mn-cs"/>
              </a:rPr>
              <a:t>•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逻辑代数分为许多类型，其中最简单的是只涉及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二值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逻辑运算，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也称二值布尔代数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folHlink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，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又称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开关代数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。二值逻辑只有两种取值，如：真/假、开/关、高/低、有/无，1/0等。</a:t>
            </a:r>
            <a:endParaRPr kumimoji="0" lang="en-US" altLang="zh-CN" sz="1600" b="1" i="0" u="none" strike="noStrike" kern="1200" cap="none" spc="0" normalizeH="0" baseline="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2291" name="Rectangle 1026"/>
          <p:cNvSpPr>
            <a:spLocks noGrp="1" noChangeArrowheads="1"/>
          </p:cNvSpPr>
          <p:nvPr/>
        </p:nvSpPr>
        <p:spPr>
          <a:xfrm>
            <a:off x="556895" y="3528060"/>
            <a:ext cx="6870700" cy="457200"/>
          </a:xfrm>
          <a:prstGeom prst="rect">
            <a:avLst/>
          </a:prstGeom>
        </p:spPr>
        <p:txBody>
          <a:bodyPr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25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③  </a:t>
            </a:r>
            <a:r>
              <a:rPr kumimoji="0" lang="zh-CN" alt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关于“数字逻辑电路  </a:t>
            </a:r>
            <a:r>
              <a:rPr kumimoji="0" lang="en-US" altLang="zh-CN" sz="225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digital logic circuit</a:t>
            </a:r>
            <a:r>
              <a:rPr kumimoji="0" lang="en-US" altLang="zh-CN" sz="225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j-lt"/>
                <a:ea typeface="华文新魏" panose="02010800040101010101" pitchFamily="2" charset="-122"/>
                <a:cs typeface="+mj-cs"/>
              </a:rPr>
              <a:t>”</a:t>
            </a:r>
            <a:endParaRPr kumimoji="0" lang="zh-CN" altLang="en-US" sz="225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38915" name="Rectangle 1027"/>
          <p:cNvSpPr>
            <a:spLocks noGrp="1"/>
          </p:cNvSpPr>
          <p:nvPr/>
        </p:nvSpPr>
        <p:spPr>
          <a:xfrm>
            <a:off x="556895" y="4084320"/>
            <a:ext cx="8234680" cy="857885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25450" eaLnBrk="1" hangingPunct="1">
              <a:lnSpc>
                <a:spcPct val="125000"/>
              </a:lnSpc>
              <a:spcBef>
                <a:spcPts val="700"/>
              </a:spcBef>
              <a:buNone/>
            </a:pP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实现特定逻辑功能的一个电路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。通过分析数字电路中输入信号与输出信号之间的逻辑关系，运用布尔逻辑代数的基本原理和基本方法，设计出实现特定逻辑要求的逻辑器件（电路）。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/>
      <p:bldP spid="12291" grpId="1"/>
      <p:bldP spid="38915" grpId="0"/>
      <p:bldP spid="38915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</p:spPr>
        <p:txBody>
          <a:bodyPr wrap="square" lIns="91440" tIns="45720" rIns="91440" bIns="45720" numCol="1" anchor="ctr" anchorCtr="0" compatLnSpc="1"/>
          <a:lstStyle>
            <a:lvl1pPr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530" indent="-21463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6935A05-ED40-4241-A5CF-7F0AAF82AE63}" type="slidenum">
              <a:rPr kumimoji="1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19</a:t>
            </a:fld>
            <a:endParaRPr kumimoji="1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916" name="Text Box 1028"/>
          <p:cNvSpPr txBox="1"/>
          <p:nvPr/>
        </p:nvSpPr>
        <p:spPr>
          <a:xfrm>
            <a:off x="628650" y="1900238"/>
            <a:ext cx="7759700" cy="31226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2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⑤ 数字逻辑电路(器件)与模拟器件的比较</a:t>
            </a:r>
            <a:endParaRPr lang="zh-CN" altLang="en-US" sz="22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问题：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为什么目前，越来越多地用数字系统替代模拟系统呢？</a:t>
            </a:r>
            <a:r>
              <a:rPr lang="zh-CN" altLang="en-US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许多原来是模拟的系统现在都变成了数字系统。例如：</a:t>
            </a:r>
          </a:p>
          <a:p>
            <a:pPr lvl="1" indent="0" eaLnBrk="1" hangingPunct="1">
              <a:spcBef>
                <a:spcPct val="20000"/>
              </a:spcBef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1）照像机</a:t>
            </a:r>
          </a:p>
          <a:p>
            <a:pPr lvl="1" indent="0" eaLnBrk="1" hangingPunct="1">
              <a:spcBef>
                <a:spcPct val="20000"/>
              </a:spcBef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2）录像设备</a:t>
            </a:r>
          </a:p>
          <a:p>
            <a:pPr lvl="1" indent="0" eaLnBrk="1" hangingPunct="1">
              <a:spcBef>
                <a:spcPct val="20000"/>
              </a:spcBef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3）汽车的化油器等设备</a:t>
            </a:r>
          </a:p>
          <a:p>
            <a:pPr lvl="1" indent="0" eaLnBrk="1" hangingPunct="1">
              <a:spcBef>
                <a:spcPct val="20000"/>
              </a:spcBef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4）电话系统</a:t>
            </a:r>
          </a:p>
          <a:p>
            <a:pPr lvl="1" indent="0" eaLnBrk="1" hangingPunct="1">
              <a:spcBef>
                <a:spcPct val="20000"/>
              </a:spcBef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5）交通灯的控制</a:t>
            </a:r>
          </a:p>
          <a:p>
            <a:pPr lvl="1" indent="0" eaLnBrk="1" hangingPunct="1">
              <a:spcBef>
                <a:spcPct val="20000"/>
              </a:spcBef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6）电影的特技效果</a:t>
            </a:r>
            <a:r>
              <a:rPr lang="zh-CN" altLang="en-US" sz="1600" b="1" dirty="0">
                <a:solidFill>
                  <a:schemeClr val="tx1"/>
                </a:solidFill>
                <a:latin typeface="华文楷体" panose="02010600040101010101" pitchFamily="2" charset="-122"/>
                <a:ea typeface="华文新魏" panose="02010800040101010101" pitchFamily="2" charset="-122"/>
              </a:rPr>
              <a:t>…</a:t>
            </a:r>
          </a:p>
          <a:p>
            <a:pPr lvl="1" indent="0" eaLnBrk="1" hangingPunct="1">
              <a:spcBef>
                <a:spcPct val="20000"/>
              </a:spcBef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华文楷体" panose="020106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en-US" sz="1600" b="1" dirty="0">
                <a:solidFill>
                  <a:srgbClr val="FF0000"/>
                </a:solidFill>
                <a:latin typeface="华文楷体" panose="02010600040101010101" pitchFamily="2" charset="-122"/>
                <a:ea typeface="华文新魏" panose="02010800040101010101" pitchFamily="2" charset="-122"/>
              </a:rPr>
              <a:t>）还有啥例子呢？</a:t>
            </a:r>
          </a:p>
        </p:txBody>
      </p:sp>
      <p:pic>
        <p:nvPicPr>
          <p:cNvPr id="49157" name="Picture 1030" descr="u=3558779851,1697241086&amp;fm=52&amp;gp=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863" y="3292475"/>
            <a:ext cx="1571625" cy="1177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89" name="Text Box 5"/>
          <p:cNvSpPr txBox="1"/>
          <p:nvPr/>
        </p:nvSpPr>
        <p:spPr>
          <a:xfrm>
            <a:off x="628650" y="628015"/>
            <a:ext cx="8109585" cy="11830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200" b="1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  <a:sym typeface="+mn-ea"/>
              </a:rPr>
              <a:t>④ </a:t>
            </a:r>
            <a:r>
              <a:rPr lang="zh-CN" altLang="en-US" sz="22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关于</a:t>
            </a:r>
            <a:r>
              <a:rPr lang="zh-CN" altLang="en-US" sz="2200" b="1" dirty="0">
                <a:solidFill>
                  <a:srgbClr val="FF33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“</a:t>
            </a:r>
            <a:r>
              <a:rPr lang="zh-CN" altLang="en-US" sz="22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数字系统  </a:t>
            </a:r>
            <a:r>
              <a:rPr lang="en-US" altLang="zh-CN" sz="2200" b="1" i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digital  system</a:t>
            </a:r>
            <a:r>
              <a:rPr lang="en-US" altLang="zh-CN" sz="2200" b="1" dirty="0">
                <a:solidFill>
                  <a:srgbClr val="FF33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”</a:t>
            </a:r>
            <a:endParaRPr lang="en-US" altLang="zh-CN" sz="2200" b="1" dirty="0">
              <a:solidFill>
                <a:srgbClr val="FF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1600" b="1" dirty="0">
                <a:solidFill>
                  <a:srgbClr val="FF3300"/>
                </a:solidFill>
                <a:latin typeface="Calibri" panose="020F0502020204030204" pitchFamily="34" charset="0"/>
                <a:ea typeface="华文新魏" panose="02010800040101010101" pitchFamily="2" charset="-122"/>
              </a:rPr>
              <a:t>数字系统：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用数字量来储存、传递信息（物理量），并对其进行逻辑加工的系统； 由于这种逻辑加工(即逻辑运算)是建立在一套完整的逻辑理论(即逻辑代数)基础上，其科学严密性保证了系统的正确性和可靠性，并易于控制。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/>
      <p:bldP spid="38916" grpId="1"/>
      <p:bldP spid="41989" grpId="0"/>
      <p:bldP spid="41989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</p:spPr>
        <p:txBody>
          <a:bodyPr wrap="square" lIns="91440" tIns="45720" rIns="91440" bIns="45720" numCol="1" anchor="ctr" anchorCtr="0" compatLnSpc="1"/>
          <a:lstStyle>
            <a:lvl1pPr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530" indent="-21463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01C5FF8-32E8-4A8C-A821-0F2A13D3B887}" type="slidenum">
              <a:rPr kumimoji="1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</a:t>
            </a:fld>
            <a:endParaRPr kumimoji="1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2" name="Rectangle 2"/>
          <p:cNvSpPr>
            <a:spLocks noGrp="1"/>
          </p:cNvSpPr>
          <p:nvPr>
            <p:ph type="title"/>
          </p:nvPr>
        </p:nvSpPr>
        <p:spPr>
          <a:xfrm>
            <a:off x="415925" y="714375"/>
            <a:ext cx="5376863" cy="457200"/>
          </a:xfrm>
          <a:noFill/>
          <a:ln>
            <a:noFill/>
          </a:ln>
        </p:spPr>
        <p:txBody>
          <a:bodyPr anchor="t"/>
          <a:lstStyle/>
          <a:p>
            <a:pPr eaLnBrk="1" hangingPunct="1"/>
            <a:r>
              <a:rPr lang="zh-CN" altLang="en-US" sz="2100" b="1" dirty="0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⑥数字电路与模拟电路相比有什么优点呢？</a:t>
            </a:r>
          </a:p>
        </p:txBody>
      </p:sp>
      <p:sp>
        <p:nvSpPr>
          <p:cNvPr id="54275" name="Rectangle 3"/>
          <p:cNvSpPr>
            <a:spLocks noGrp="1"/>
          </p:cNvSpPr>
          <p:nvPr>
            <p:ph idx="1"/>
          </p:nvPr>
        </p:nvSpPr>
        <p:spPr>
          <a:xfrm>
            <a:off x="395288" y="1203325"/>
            <a:ext cx="8353425" cy="3711575"/>
          </a:xfrm>
          <a:noFill/>
          <a:ln>
            <a:noFill/>
          </a:ln>
        </p:spPr>
        <p:txBody>
          <a:bodyPr anchor="t"/>
          <a:lstStyle/>
          <a:p>
            <a:pPr marL="0" indent="212725" eaLnBrk="1" hangingPunct="1">
              <a:spcBef>
                <a:spcPct val="50000"/>
              </a:spcBef>
            </a:pPr>
            <a:r>
              <a:rPr lang="zh-CN" altLang="en-US" sz="1800" b="1" dirty="0">
                <a:solidFill>
                  <a:srgbClr val="FF8F8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稳定性好</a:t>
            </a:r>
          </a:p>
          <a:p>
            <a:pPr marL="0" indent="212725"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正确的数字电路，若给定一组确定的输入，总会给出相同的输出结果（确定的逻辑关系）。而模拟电路则表现得总是不太稳定，其输出还受温度、电源电压、器件老化等诸多因素影响。</a:t>
            </a:r>
          </a:p>
          <a:p>
            <a:pPr marL="0" indent="212725" eaLnBrk="1" hangingPunct="1">
              <a:spcBef>
                <a:spcPct val="50000"/>
              </a:spcBef>
            </a:pPr>
            <a:r>
              <a:rPr lang="zh-CN" altLang="en-US" sz="1800" b="1" dirty="0">
                <a:solidFill>
                  <a:srgbClr val="FF8F8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速度快</a:t>
            </a:r>
          </a:p>
          <a:p>
            <a:pPr marL="0" indent="212725"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目前的数字器件运行速度非常快。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rgbClr val="FF8F8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集成度高且成本低</a:t>
            </a:r>
          </a:p>
          <a:p>
            <a:pPr marL="0" indent="212725"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数字电路可以在一个很小的空间里提供许多功能。常用的电路均可以设计成集成电路芯片，且生产成本很低。现在市场上有许多用过不久就丢弃的计算器、手表、会唱歌的圣诞卡片等都是这一类产品。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uiExpand="1" build="p" advAuto="100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</p:spPr>
        <p:txBody>
          <a:bodyPr wrap="square" lIns="91440" tIns="45720" rIns="91440" bIns="45720" numCol="1" anchor="ctr" anchorCtr="0" compatLnSpc="1"/>
          <a:lstStyle>
            <a:lvl1pPr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530" indent="-21463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69800B2-8200-469F-8C96-67F249D7A4DD}" type="slidenum">
              <a:rPr kumimoji="1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21</a:t>
            </a:fld>
            <a:endParaRPr kumimoji="1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26" name="Rectangle 2"/>
          <p:cNvSpPr>
            <a:spLocks noGrp="1"/>
          </p:cNvSpPr>
          <p:nvPr>
            <p:ph type="title"/>
          </p:nvPr>
        </p:nvSpPr>
        <p:spPr>
          <a:xfrm>
            <a:off x="358775" y="601663"/>
            <a:ext cx="2057400" cy="457200"/>
          </a:xfrm>
          <a:noFill/>
          <a:ln>
            <a:noFill/>
          </a:ln>
        </p:spPr>
        <p:txBody>
          <a:bodyPr anchor="t"/>
          <a:lstStyle/>
          <a:p>
            <a:pPr eaLnBrk="1" hangingPunct="1">
              <a:buChar char="•"/>
            </a:pPr>
            <a:r>
              <a:rPr lang="zh-CN" altLang="en-US" sz="21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设计容易</a:t>
            </a:r>
          </a:p>
        </p:txBody>
      </p:sp>
      <p:sp>
        <p:nvSpPr>
          <p:cNvPr id="56323" name="Rectangle 3"/>
          <p:cNvSpPr>
            <a:spLocks noGrp="1"/>
          </p:cNvSpPr>
          <p:nvPr>
            <p:ph idx="1"/>
          </p:nvPr>
        </p:nvSpPr>
        <p:spPr>
          <a:xfrm>
            <a:off x="323850" y="1058863"/>
            <a:ext cx="8424863" cy="3708400"/>
          </a:xfrm>
          <a:noFill/>
          <a:ln>
            <a:noFill/>
          </a:ln>
        </p:spPr>
        <p:txBody>
          <a:bodyPr anchor="t"/>
          <a:lstStyle/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数字设计，即逻辑设计，输入输出要求合乎逻辑，</a:t>
            </a:r>
            <a:r>
              <a:rPr lang="zh-CN" altLang="en-US" sz="20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并不需要特别的技巧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。尤其是规模小的数字电路的逻辑特性很容易明白，也不需要很深入地了解诸如电容、晶体管和许多其他器件的微积分模型。</a:t>
            </a:r>
          </a:p>
          <a:p>
            <a:pPr marL="0" indent="0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功能灵活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当把实际问题简化为数字形式，就可以通过空间和时间上的一系列逻辑步骤加以处理。例如：很容易设计一个数字电路对一段录音进行加密，只有知道密码的人才能听出。但若只用模拟电路的技术要做到这点就很困难。</a:t>
            </a:r>
          </a:p>
          <a:p>
            <a:pPr marL="0" indent="0" eaLnBrk="1" hangingPunct="1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可编程性（软硬件可编程性）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zh-CN" altLang="en-US" sz="20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逻辑电路的设计完全可以用硬件描述语言来编程， 还可以编写它的可综合模型、仿真模型，并通过运行程序来 验证设计的正确性，然后把它下载到</a:t>
            </a:r>
            <a:r>
              <a:rPr lang="en-US" altLang="zh-CN" sz="20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CPLD</a:t>
            </a:r>
            <a:r>
              <a:rPr lang="zh-CN" altLang="en-US" sz="20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</a:t>
            </a:r>
            <a:r>
              <a:rPr lang="en-US" altLang="zh-CN" sz="20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FPGA</a:t>
            </a:r>
            <a:r>
              <a:rPr lang="zh-CN" altLang="en-US" sz="20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上（</a:t>
            </a:r>
            <a:r>
              <a:rPr lang="en-US" altLang="zh-CN" sz="20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sz="20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），或者制作成专用的</a:t>
            </a:r>
            <a:r>
              <a:rPr lang="en-US" altLang="zh-CN" sz="20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IC</a:t>
            </a:r>
            <a:r>
              <a:rPr lang="zh-CN" altLang="en-US" sz="20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zh-CN" altLang="en-US" sz="20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计算机、手机刷机（软件），可重编程设备与重构系统（软、硬）。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build="p" advAuto="100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</p:spPr>
        <p:txBody>
          <a:bodyPr wrap="square" lIns="91440" tIns="45720" rIns="91440" bIns="45720" numCol="1" anchor="ctr" anchorCtr="0" compatLnSpc="1"/>
          <a:lstStyle>
            <a:lvl1pPr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530" indent="-21463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133652F-7B7C-4CDB-8257-ECB394481C58}" type="slidenum">
              <a:rPr kumimoji="1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22</a:t>
            </a:fld>
            <a:endParaRPr kumimoji="1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50" name="Rectangle 2"/>
          <p:cNvSpPr>
            <a:spLocks noGrp="1"/>
          </p:cNvSpPr>
          <p:nvPr>
            <p:ph type="title"/>
          </p:nvPr>
        </p:nvSpPr>
        <p:spPr>
          <a:xfrm>
            <a:off x="974725" y="469900"/>
            <a:ext cx="2571750" cy="514350"/>
          </a:xfrm>
          <a:noFill/>
          <a:ln>
            <a:noFill/>
          </a:ln>
        </p:spPr>
        <p:txBody>
          <a:bodyPr anchor="t"/>
          <a:lstStyle/>
          <a:p>
            <a:pPr eaLnBrk="1" hangingPunct="1">
              <a:buChar char="•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不断进步的技术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800100"/>
            <a:ext cx="8077200" cy="1700213"/>
          </a:xfrm>
        </p:spPr>
        <p:txBody>
          <a:bodyPr/>
          <a:lstStyle/>
          <a:p>
            <a:pPr marL="0" marR="0" lvl="0" indent="426085" algn="l" defTabSz="685800" rtl="0" eaLnBrk="1" fontAlgn="base" latinLnBrk="0" hangingPunct="1">
              <a:lnSpc>
                <a:spcPct val="90000"/>
              </a:lnSpc>
              <a:spcBef>
                <a:spcPts val="70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数字设计师必须了解数字技术的发展，尤其在设计初始阶段必须考虑到这一点。例如：</a:t>
            </a:r>
            <a:r>
              <a:rPr kumimoji="0" lang="en-US" altLang="zh-CN" sz="16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PC</a:t>
            </a: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机的设计者在设计时就考虑到在机器中加扩展插糟，新器件出现后机器还可以升级。</a:t>
            </a:r>
          </a:p>
          <a:p>
            <a:pPr marL="0" marR="0" lvl="0" indent="426085" algn="l" defTabSz="6858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其他方面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新魏" panose="02010800040101010101" pitchFamily="2" charset="-122"/>
                <a:cs typeface="+mn-cs"/>
              </a:rPr>
              <a:t>…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57349" name="Rectangle 5"/>
          <p:cNvSpPr/>
          <p:nvPr/>
        </p:nvSpPr>
        <p:spPr>
          <a:xfrm>
            <a:off x="971550" y="2343150"/>
            <a:ext cx="2571750" cy="51435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>
              <a:buChar char="•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信息存储方便</a:t>
            </a:r>
          </a:p>
        </p:txBody>
      </p:sp>
      <p:sp>
        <p:nvSpPr>
          <p:cNvPr id="57350" name="Rectangle 6"/>
          <p:cNvSpPr/>
          <p:nvPr/>
        </p:nvSpPr>
        <p:spPr>
          <a:xfrm>
            <a:off x="971550" y="3543300"/>
            <a:ext cx="3579813" cy="51435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</a:t>
            </a:r>
            <a:r>
              <a:rPr kumimoji="0" lang="zh-CN" altLang="en-US" sz="2000" b="1" i="0" u="none" strike="noStrike" kern="1200" cap="none" spc="0" normalizeH="0" baseline="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总的可概括为：</a:t>
            </a:r>
            <a:br>
              <a:rPr lang="zh-CN" altLang="en-US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br>
              <a:rPr lang="zh-CN" altLang="en-US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kumimoji="0" lang="zh-CN" altLang="en-US" sz="2000" b="1" i="0" u="none" strike="noStrike" kern="1200" cap="none" spc="0" normalizeH="0" baseline="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  成本优势</a:t>
            </a:r>
            <a:br>
              <a:rPr lang="zh-CN" altLang="en-US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kumimoji="0" lang="zh-CN" altLang="en-US" sz="2000" b="1" i="0" u="none" strike="noStrike" kern="1200" cap="none" spc="0" normalizeH="0" baseline="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  性能优势</a:t>
            </a:r>
            <a:br>
              <a:rPr lang="zh-CN" altLang="en-US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kumimoji="0" lang="zh-CN" altLang="en-US" sz="2000" b="1" i="0" u="none" strike="noStrike" kern="1200" cap="none" spc="0" normalizeH="0" baseline="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  功能优势</a:t>
            </a:r>
          </a:p>
          <a:p>
            <a:pPr marL="0"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kumimoji="0" lang="zh-CN" altLang="en-US" sz="2000" b="1" i="0" u="none" strike="noStrike" kern="1200" cap="none" spc="0" normalizeH="0" baseline="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  功耗优势</a:t>
            </a:r>
          </a:p>
        </p:txBody>
      </p:sp>
      <p:pic>
        <p:nvPicPr>
          <p:cNvPr id="57352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433" y="2399030"/>
            <a:ext cx="800100" cy="2200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900" y="2857500"/>
            <a:ext cx="2540000" cy="1428750"/>
          </a:xfrm>
          <a:prstGeom prst="rect">
            <a:avLst/>
          </a:prstGeom>
        </p:spPr>
      </p:pic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7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7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build="p" advAuto="1000"/>
      <p:bldP spid="57349" grpId="0"/>
      <p:bldP spid="57349" grpId="1"/>
      <p:bldP spid="57350" grpId="0"/>
      <p:bldP spid="57350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3"/>
          <p:cNvSpPr>
            <a:spLocks noGrp="1"/>
          </p:cNvSpPr>
          <p:nvPr>
            <p:ph idx="1"/>
          </p:nvPr>
        </p:nvSpPr>
        <p:spPr>
          <a:xfrm>
            <a:off x="234950" y="741363"/>
            <a:ext cx="8242300" cy="4206875"/>
          </a:xfrm>
          <a:noFill/>
          <a:ln>
            <a:noFill/>
          </a:ln>
        </p:spPr>
        <p:txBody>
          <a:bodyPr anchor="t"/>
          <a:lstStyle/>
          <a:p>
            <a:pPr eaLnBrk="1" hangingPunct="1">
              <a:lnSpc>
                <a:spcPct val="120000"/>
              </a:lnSpc>
              <a:buNone/>
            </a:pPr>
            <a:r>
              <a:rPr lang="zh-CN" altLang="en-US" sz="2000" b="1" dirty="0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⑦</a:t>
            </a:r>
            <a:r>
              <a:rPr lang="en-US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数字技术的缺点（复杂性、费用和处理时间）</a:t>
            </a:r>
          </a:p>
          <a:p>
            <a:pPr eaLnBrk="1" hangingPunct="1">
              <a:buNone/>
            </a:pPr>
            <a:r>
              <a:rPr lang="en-US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数字技术的缺点比较少，其中两个最大的问题是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:</a:t>
            </a:r>
          </a:p>
          <a:p>
            <a:pPr eaLnBrk="1" hangingPunct="1">
              <a:buNone/>
            </a:pPr>
            <a:r>
              <a:rPr lang="en-US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现实世界</a:t>
            </a:r>
            <a:r>
              <a: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物理量</a:t>
            </a:r>
            <a:r>
              <a:rPr lang="en-US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主要是模拟量， 处理数字化信号费时间。第一个问题：</a:t>
            </a:r>
            <a:r>
              <a:rPr lang="en-US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系统中被监测、处理、控制的输入输出经常是模拟量。如温度、压力、速度、流速等。而习惯用数字表示这些量。</a:t>
            </a:r>
            <a:r>
              <a:rPr lang="en-US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比如，我们说温度是</a:t>
            </a:r>
            <a:r>
              <a:rPr lang="en-US" altLang="zh-CN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64</a:t>
            </a:r>
            <a:r>
              <a:rPr lang="en-US" altLang="zh-CN" sz="1800" baseline="3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</a:t>
            </a:r>
            <a:r>
              <a:rPr lang="en-US" altLang="zh-CN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，更确切地说是</a:t>
            </a:r>
            <a:r>
              <a:rPr lang="en-US" altLang="zh-CN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63.8</a:t>
            </a:r>
            <a:r>
              <a:rPr lang="en-US" altLang="zh-CN" sz="1800" baseline="3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</a:t>
            </a:r>
            <a:r>
              <a:rPr lang="en-US" altLang="zh-CN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，实际上是使用一个数字量来近似模拟量。</a:t>
            </a:r>
            <a:r>
              <a:rPr lang="en-US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当涉及到模拟输入、输出时，为了利用数字技术的优点，必须采取下述</a:t>
            </a:r>
            <a:r>
              <a:rPr lang="en-US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三个步骤：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  1) </a:t>
            </a:r>
            <a:r>
              <a:rPr lang="en-US" altLang="en-US" sz="1800" u="sng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把实际中的模拟输入转换为数字形式</a:t>
            </a:r>
            <a:r>
              <a:rPr lang="en-US" altLang="en-US" sz="18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；</a:t>
            </a:r>
            <a:endParaRPr lang="en-US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  2) </a:t>
            </a:r>
            <a:r>
              <a:rPr lang="en-US" altLang="en-US" sz="1800" u="sng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数字信息处理</a:t>
            </a:r>
            <a:r>
              <a:rPr lang="en-US" altLang="en-US" sz="18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；</a:t>
            </a:r>
            <a:endParaRPr lang="en-US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  3) </a:t>
            </a:r>
            <a:r>
              <a:rPr lang="en-US" altLang="en-US" sz="1800" u="sng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把数字输出变换为模拟输出</a:t>
            </a:r>
            <a:r>
              <a:rPr lang="en-US" altLang="en-US" sz="18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。</a:t>
            </a:r>
            <a:r>
              <a:rPr lang="en-US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</p:txBody>
      </p:sp>
      <p:sp>
        <p:nvSpPr>
          <p:cNvPr id="55298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2316163" cy="228600"/>
          </a:xfrm>
          <a:noFill/>
          <a:ln>
            <a:noFill/>
          </a:ln>
        </p:spPr>
        <p:txBody>
          <a:bodyPr anchor="t"/>
          <a:lstStyle/>
          <a:p>
            <a:pPr eaLnBrk="1" hangingPunct="1"/>
            <a:r>
              <a:rPr lang="zh-CN" altLang="en-US" sz="1800" i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第一章 数字逻辑基础</a:t>
            </a:r>
          </a:p>
        </p:txBody>
      </p:sp>
      <p:sp>
        <p:nvSpPr>
          <p:cNvPr id="55299" name="Text Box 7"/>
          <p:cNvSpPr txBox="1"/>
          <p:nvPr/>
        </p:nvSpPr>
        <p:spPr>
          <a:xfrm>
            <a:off x="5881688" y="123825"/>
            <a:ext cx="3127375" cy="3063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数字逻辑电路     第</a:t>
            </a:r>
            <a:r>
              <a: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 第</a:t>
            </a:r>
            <a:r>
              <a: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节</a:t>
            </a:r>
          </a:p>
        </p:txBody>
      </p:sp>
    </p:spTree>
  </p:cSld>
  <p:clrMapOvr>
    <a:masterClrMapping/>
  </p:clrMapOvr>
  <p:transition advTm="53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6"/>
          <p:cNvSpPr/>
          <p:nvPr/>
        </p:nvSpPr>
        <p:spPr>
          <a:xfrm>
            <a:off x="611188" y="2660650"/>
            <a:ext cx="8186737" cy="23069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</a:pPr>
            <a:endParaRPr lang="zh-CN" altLang="en-US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</a:pPr>
            <a:endParaRPr lang="en-US" altLang="zh-CN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开始所检测到的是模拟量表示的温度，然后通过 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ADC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把测量值（电压值）转换为数字量，由数字电路处理数字量，数字信号处理部分可能包括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MCU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。数字输出通过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DAC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变换为模拟量（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0-5V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电压、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4-20mA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电流），模拟输出输送到控制器，以便采取某种措施调节温度。</a:t>
            </a:r>
            <a:endParaRPr lang="en-US" altLang="zh-CN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6322" name="Rectangle 7"/>
          <p:cNvSpPr/>
          <p:nvPr/>
        </p:nvSpPr>
        <p:spPr>
          <a:xfrm>
            <a:off x="0" y="-200025"/>
            <a:ext cx="184150" cy="40005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>
              <a:buFont typeface="Arial" panose="020B0604020202020204" pitchFamily="34" charset="0"/>
            </a:pP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56323" name="Object 6" descr="纸莎草纸"/>
          <p:cNvGraphicFramePr>
            <a:graphicFrameLocks noChangeAspect="1"/>
          </p:cNvGraphicFramePr>
          <p:nvPr/>
        </p:nvGraphicFramePr>
        <p:xfrm>
          <a:off x="1328738" y="771525"/>
          <a:ext cx="6800850" cy="171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817100" imgH="1816100" progId="">
                  <p:embed/>
                </p:oleObj>
              </mc:Choice>
              <mc:Fallback>
                <p:oleObj r:id="rId3" imgW="9817100" imgH="1816100" progId="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8738" y="771525"/>
                        <a:ext cx="6800850" cy="1712913"/>
                      </a:xfrm>
                      <a:prstGeom prst="rect">
                        <a:avLst/>
                      </a:prstGeom>
                      <a:blipFill rotWithShape="0">
                        <a:blip r:embed="rId5"/>
                      </a:blip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4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2316163" cy="228600"/>
          </a:xfrm>
          <a:noFill/>
          <a:ln>
            <a:noFill/>
          </a:ln>
        </p:spPr>
        <p:txBody>
          <a:bodyPr anchor="t"/>
          <a:lstStyle/>
          <a:p>
            <a:pPr eaLnBrk="1" hangingPunct="1"/>
            <a:r>
              <a:rPr lang="zh-CN" altLang="en-US" sz="1800" i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第一章 数字逻辑基础</a:t>
            </a:r>
          </a:p>
        </p:txBody>
      </p:sp>
      <p:sp>
        <p:nvSpPr>
          <p:cNvPr id="56325" name="Text Box 7"/>
          <p:cNvSpPr txBox="1"/>
          <p:nvPr/>
        </p:nvSpPr>
        <p:spPr>
          <a:xfrm>
            <a:off x="5881688" y="123825"/>
            <a:ext cx="3127375" cy="3063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数字逻辑电路     第</a:t>
            </a:r>
            <a:r>
              <a: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 第</a:t>
            </a:r>
            <a:r>
              <a: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节</a:t>
            </a:r>
          </a:p>
        </p:txBody>
      </p:sp>
      <p:sp>
        <p:nvSpPr>
          <p:cNvPr id="56326" name="文本框 1"/>
          <p:cNvSpPr txBox="1"/>
          <p:nvPr/>
        </p:nvSpPr>
        <p:spPr>
          <a:xfrm>
            <a:off x="2009775" y="2649538"/>
            <a:ext cx="4908550" cy="39846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图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1.1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所示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，典型的温度控制系统的框图。</a:t>
            </a:r>
          </a:p>
        </p:txBody>
      </p:sp>
    </p:spTree>
  </p:cSld>
  <p:clrMapOvr>
    <a:masterClrMapping/>
  </p:clrMapOvr>
  <p:transition advTm="53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6"/>
          <p:cNvSpPr/>
          <p:nvPr/>
        </p:nvSpPr>
        <p:spPr>
          <a:xfrm>
            <a:off x="587375" y="685800"/>
            <a:ext cx="7654925" cy="432816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第一个问题：需要增加模数和数模转换器件（设备，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device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）。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第二个问题：通过数字技术处理物理量需要增加处理时间。</a:t>
            </a:r>
          </a:p>
          <a:p>
            <a:pPr>
              <a:lnSpc>
                <a:spcPct val="140000"/>
              </a:lnSpc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由于必须在信息的模拟形式与数字形式之间进行转换，从而增加了系统的复杂性和费用，物理量的处理时间延迟了。所需要的数据越精确，处理过程花费的时间越长。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4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模数转换在当今技术领域已相当普遍。</a:t>
            </a:r>
          </a:p>
          <a:p>
            <a:pPr>
              <a:lnSpc>
                <a:spcPct val="140000"/>
              </a:lnSpc>
              <a:buFont typeface="Arial" panose="020B0604020202020204" pitchFamily="34" charset="0"/>
            </a:pPr>
            <a:r>
              <a:rPr lang="zh-CN" altLang="en-US" sz="1800" b="1" i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然而，在有些情况下，采用模拟技术则比较简单或者比较经济。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40000"/>
              </a:lnSpc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为了充分利用各自的优点，在一个系统中经常会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同时采用模拟与数字技术。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在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设计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混合系统时最重要的一步是确定系统中哪一部分采用模拟形式，哪一部分采用数字形式。</a:t>
            </a:r>
            <a:endParaRPr lang="en-US" altLang="zh-CN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7346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2316163" cy="228600"/>
          </a:xfrm>
          <a:noFill/>
          <a:ln>
            <a:noFill/>
          </a:ln>
        </p:spPr>
        <p:txBody>
          <a:bodyPr anchor="t"/>
          <a:lstStyle/>
          <a:p>
            <a:pPr eaLnBrk="1" hangingPunct="1"/>
            <a:r>
              <a:rPr lang="zh-CN" altLang="en-US" sz="1800" i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第一章 数字逻辑基础</a:t>
            </a:r>
          </a:p>
        </p:txBody>
      </p:sp>
      <p:sp>
        <p:nvSpPr>
          <p:cNvPr id="57347" name="Text Box 7"/>
          <p:cNvSpPr txBox="1"/>
          <p:nvPr/>
        </p:nvSpPr>
        <p:spPr>
          <a:xfrm>
            <a:off x="5881688" y="123825"/>
            <a:ext cx="3127375" cy="3063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数字逻辑电路     第</a:t>
            </a:r>
            <a:r>
              <a: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 第</a:t>
            </a:r>
            <a:r>
              <a: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节</a:t>
            </a:r>
          </a:p>
        </p:txBody>
      </p:sp>
    </p:spTree>
  </p:cSld>
  <p:clrMapOvr>
    <a:masterClrMapping/>
  </p:clrMapOvr>
  <p:transition advTm="562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5"/>
          <p:cNvSpPr/>
          <p:nvPr/>
        </p:nvSpPr>
        <p:spPr>
          <a:xfrm>
            <a:off x="684213" y="987425"/>
            <a:ext cx="7316787" cy="341503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随着信号在系统中的流动，在</a:t>
            </a:r>
            <a:r>
              <a:rPr lang="zh-CN" altLang="en-US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输入通道中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尽可能早地使信号数字化，在</a:t>
            </a:r>
            <a:r>
              <a:rPr lang="zh-CN" altLang="en-US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输出通道中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尽可能晚地把信号变换成模拟信号。</a:t>
            </a:r>
            <a:r>
              <a:rPr lang="zh-CN" altLang="en-US" b="1" i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有些物理量的信号往往具有二值性，因此以</a:t>
            </a:r>
            <a:r>
              <a:rPr lang="zh-CN" altLang="en-US" b="1" u="sng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开关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来实现二值性的逻辑控制是最简单的例子。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开关理论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是研究如何最经济地实现一定的逻辑功能。并为此运用了一种专门的数学工具，即布尔代数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华文新魏" panose="02010800040101010101" pitchFamily="2" charset="-122"/>
              </a:rPr>
              <a:t>——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专门用来表达二值性的函数关系。</a:t>
            </a:r>
            <a:endParaRPr lang="en-US" altLang="zh-CN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8370" name="Text Box 7"/>
          <p:cNvSpPr txBox="1"/>
          <p:nvPr/>
        </p:nvSpPr>
        <p:spPr>
          <a:xfrm>
            <a:off x="5881688" y="123825"/>
            <a:ext cx="3127375" cy="3063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数字逻辑电路     第</a:t>
            </a:r>
            <a:r>
              <a: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 第</a:t>
            </a:r>
            <a:r>
              <a: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节</a:t>
            </a:r>
          </a:p>
        </p:txBody>
      </p:sp>
    </p:spTree>
  </p:cSld>
  <p:clrMapOvr>
    <a:masterClrMapping/>
  </p:clrMapOvr>
  <p:transition advTm="2652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矩形 6"/>
          <p:cNvSpPr/>
          <p:nvPr/>
        </p:nvSpPr>
        <p:spPr>
          <a:xfrm>
            <a:off x="511175" y="831850"/>
            <a:ext cx="7600950" cy="362140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1.1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节总结：未来将是数字化时代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在过去的年代里，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数字技术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发展速度十分惊人，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未来的发展速度会更快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。日常电子用品已逐渐从模拟形式变化为数字形式。 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除计算机、智能手机系统以外，我们可以列举出数码相机、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数字温度计、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血压计、数字化的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光片、磁共振成像仪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(MRl)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，以及医院使用的超声系统等以数字技术为核心的系统。这些仅是数字化革命所带来的应用的一小部分。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</a:p>
        </p:txBody>
      </p:sp>
      <p:sp>
        <p:nvSpPr>
          <p:cNvPr id="59394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2316163" cy="228600"/>
          </a:xfrm>
          <a:noFill/>
          <a:ln>
            <a:noFill/>
          </a:ln>
        </p:spPr>
        <p:txBody>
          <a:bodyPr anchor="t"/>
          <a:lstStyle/>
          <a:p>
            <a:pPr eaLnBrk="1" hangingPunct="1"/>
            <a:r>
              <a:rPr lang="zh-CN" altLang="en-US" sz="1800" i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第一章 数字逻辑基础</a:t>
            </a:r>
          </a:p>
        </p:txBody>
      </p:sp>
      <p:sp>
        <p:nvSpPr>
          <p:cNvPr id="59395" name="Text Box 7"/>
          <p:cNvSpPr txBox="1"/>
          <p:nvPr/>
        </p:nvSpPr>
        <p:spPr>
          <a:xfrm>
            <a:off x="5881688" y="123825"/>
            <a:ext cx="3127375" cy="3063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数字逻辑电路     第</a:t>
            </a:r>
            <a:r>
              <a: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 第</a:t>
            </a:r>
            <a:r>
              <a: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节</a:t>
            </a:r>
          </a:p>
        </p:txBody>
      </p:sp>
    </p:spTree>
  </p:cSld>
  <p:clrMapOvr>
    <a:masterClrMapping/>
  </p:clrMapOvr>
  <p:transition advTm="1092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矩形 3"/>
          <p:cNvSpPr/>
          <p:nvPr/>
        </p:nvSpPr>
        <p:spPr>
          <a:xfrm>
            <a:off x="323215" y="556260"/>
            <a:ext cx="8496300" cy="34309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609600" marR="0" indent="-6096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 </a:t>
            </a:r>
            <a:r>
              <a:rPr kumimoji="0" lang="zh-CN" altLang="en-US" sz="2000" b="1" i="0" u="none" strike="noStrike" kern="1200" cap="none" spc="0" normalizeH="0" baseline="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在未来的几年里</a:t>
            </a:r>
            <a:r>
              <a:rPr kumimoji="0" lang="zh-CN" altLang="en-US" sz="20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，借助低轨卫星，你的左右袖口或者耳机将作为中继</a:t>
            </a:r>
          </a:p>
          <a:p>
            <a:pPr marL="609600" marR="0" indent="-6096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线可与他人进行卫星通信（</a:t>
            </a:r>
            <a:r>
              <a:rPr kumimoji="0" lang="en-US" altLang="zh-CN" sz="2000" b="1" i="0" u="none" strike="noStrike" kern="1200" cap="none" spc="0" normalizeH="0" baseline="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6G</a:t>
            </a:r>
            <a:r>
              <a:rPr kumimoji="0" lang="zh-CN" altLang="en-US" sz="20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）；也可能具有更多的计算机，其功能比目</a:t>
            </a:r>
          </a:p>
          <a:p>
            <a:pPr marL="609600" marR="0" indent="-6096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前办公室或家中的计算机更强大。</a:t>
            </a:r>
            <a:endParaRPr kumimoji="0" lang="en-US" altLang="zh-CN" sz="2000" b="1" i="0" u="none" strike="noStrike" kern="1200" cap="none" spc="0" normalizeH="0" baseline="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609600" marR="0" indent="-609600" algn="l" defTabSz="91440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</a:t>
            </a:r>
            <a:r>
              <a:rPr kumimoji="0" lang="zh-CN" altLang="en-US" sz="2000" b="1" i="0" u="none" strike="noStrike" kern="1200" cap="none" spc="0" normalizeH="0" baseline="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换句话说</a:t>
            </a:r>
            <a:r>
              <a:rPr kumimoji="0" lang="zh-CN" altLang="en-US" sz="20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，数字技术</a:t>
            </a:r>
            <a:r>
              <a:rPr kumimoji="0" lang="zh-CN" altLang="en-US" sz="2000" b="1" i="0" u="none" strike="noStrike" kern="1200" cap="none" spc="0" normalizeH="0" baseline="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将持续高速进入我们的生活领域</a:t>
            </a:r>
            <a:r>
              <a:rPr kumimoji="0" lang="zh-CN" altLang="en-US" sz="20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，开创一个我们</a:t>
            </a:r>
          </a:p>
          <a:p>
            <a:pPr marL="609600" marR="0" indent="-609600" algn="l" defTabSz="91440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从未想像过的新天地。如今用以快速实现这些复杂数字系统的技术和工具</a:t>
            </a:r>
          </a:p>
          <a:p>
            <a:pPr marL="609600" marR="0" indent="-609600" algn="l" defTabSz="91440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已为我们准备就绪（</a:t>
            </a:r>
            <a:r>
              <a:rPr kumimoji="0" lang="zh-CN" altLang="en-US" sz="2000" b="1" i="0" u="none" strike="noStrike" kern="1200" cap="none" spc="0" normalizeH="0" baseline="0" noProof="1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硬件描述语言</a:t>
            </a:r>
            <a:r>
              <a:rPr kumimoji="0" lang="en-US" altLang="zh-CN" sz="2000" b="1" i="0" u="none" strike="noStrike" kern="1200" cap="none" spc="0" normalizeH="0" baseline="0" noProof="1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+EDA+</a:t>
            </a:r>
            <a:r>
              <a:rPr kumimoji="0" lang="en-US" altLang="zh-CN" sz="2000" b="1" i="0" u="none" strike="noStrike" kern="1200" cap="none" spc="0" normalizeH="0" baseline="0" noProof="0" dirty="0">
                <a:solidFill>
                  <a:srgbClr val="0000FF"/>
                </a:solidFill>
                <a:highlight>
                  <a:srgbClr val="FFFF00"/>
                </a:highligh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PLD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(CPLD/FPGA)</a:t>
            </a:r>
            <a:r>
              <a:rPr kumimoji="0" lang="zh-CN" altLang="en-US" sz="20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）。</a:t>
            </a:r>
            <a:endParaRPr kumimoji="0" lang="en-US" altLang="zh-CN" sz="2000" b="1" i="0" u="none" strike="noStrike" kern="1200" cap="none" spc="0" normalizeH="0" baseline="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609600" marR="0" indent="-609600" algn="l" defTabSz="91440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  </a:t>
            </a:r>
            <a:r>
              <a:rPr kumimoji="0" lang="en-US" altLang="zh-CN" sz="2000" b="1" i="0" u="none" strike="noStrike" kern="1200" cap="none" spc="0" normalizeH="0" baseline="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</a:t>
            </a:r>
            <a:r>
              <a:rPr kumimoji="0" lang="zh-CN" altLang="en-US" sz="2000" b="1" i="0" u="none" strike="noStrike" kern="1200" cap="none" spc="0" normalizeH="0" baseline="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把这门课学好，做到坚持不懈，定能设计出精妙的数字系统，为人类</a:t>
            </a:r>
          </a:p>
          <a:p>
            <a:pPr marL="609600" marR="0" indent="-609600" algn="l" defTabSz="91440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1" i="0" u="none" strike="noStrike" kern="1200" cap="none" spc="0" normalizeH="0" baseline="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社会发展做出自己的贡献</a:t>
            </a:r>
            <a:r>
              <a:rPr kumimoji="0" lang="en-US" altLang="zh-CN" sz="2000" b="1" i="0" u="none" strike="noStrike" kern="1200" cap="none" spc="0" normalizeH="0" baseline="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!</a:t>
            </a:r>
            <a:r>
              <a:rPr kumimoji="0" lang="zh-CN" altLang="en-US" sz="2000" b="1" i="0" u="none" strike="noStrike" kern="1200" cap="none" spc="0" normalizeH="0" baseline="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</a:p>
        </p:txBody>
      </p:sp>
      <p:sp>
        <p:nvSpPr>
          <p:cNvPr id="2" name="矩形 3"/>
          <p:cNvSpPr/>
          <p:nvPr/>
        </p:nvSpPr>
        <p:spPr>
          <a:xfrm>
            <a:off x="244475" y="4300220"/>
            <a:ext cx="8672830" cy="73834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609600" marR="0" indent="-6096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小结（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理解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）：</a:t>
            </a:r>
            <a:endParaRPr kumimoji="0" lang="en-US" altLang="zh-CN" sz="1800" b="1" i="0" u="none" strike="noStrike" kern="1200" cap="none" spc="0" normalizeH="0" baseline="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609600" marR="0" indent="-6096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模拟量、模拟器件、模拟电路、模拟系统；数字量、数字器件、数字电路和数字系统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WM1OWY0MGVhYmU5NTRkZGZlMzJmNTI0MzdiODI0Mjc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2620</Words>
  <Application>Microsoft Office PowerPoint</Application>
  <PresentationFormat>全屏显示(16:9)</PresentationFormat>
  <Paragraphs>218</Paragraphs>
  <Slides>28</Slides>
  <Notes>22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28</vt:i4>
      </vt:variant>
    </vt:vector>
  </HeadingPairs>
  <TitlesOfParts>
    <vt:vector size="41" baseType="lpstr">
      <vt:lpstr>等线</vt:lpstr>
      <vt:lpstr>方正综艺简体</vt:lpstr>
      <vt:lpstr>仿宋</vt:lpstr>
      <vt:lpstr>黑体</vt:lpstr>
      <vt:lpstr>华文楷体</vt:lpstr>
      <vt:lpstr>华文新魏</vt:lpstr>
      <vt:lpstr>Arial</vt:lpstr>
      <vt:lpstr>Calibri</vt:lpstr>
      <vt:lpstr>Calibri Light</vt:lpstr>
      <vt:lpstr>Times New Roman</vt:lpstr>
      <vt:lpstr>Wingdings</vt:lpstr>
      <vt:lpstr>自定义设计方案</vt:lpstr>
      <vt:lpstr>1_自定义设计方案</vt:lpstr>
      <vt:lpstr>数 字 逻 辑 电 路</vt:lpstr>
      <vt:lpstr>PowerPoint 演示文稿</vt:lpstr>
      <vt:lpstr>PowerPoint 演示文稿</vt:lpstr>
      <vt:lpstr>PowerPoint 演示文稿</vt:lpstr>
      <vt:lpstr>PowerPoint 演示文稿</vt:lpstr>
      <vt:lpstr>平时成绩30%</vt:lpstr>
      <vt:lpstr>《数字逻辑与数字系统》在计算机硬件学科体系中的地位：</vt:lpstr>
      <vt:lpstr>《数字逻辑与数字系统》教材分为5章，具体为：</vt:lpstr>
      <vt:lpstr>第1章 数字逻辑基础</vt:lpstr>
      <vt:lpstr>1.1   数字技术的相关概念</vt:lpstr>
      <vt:lpstr>1.1.1 物理量的表示（方法）</vt:lpstr>
      <vt:lpstr>PowerPoint 演示文稿</vt:lpstr>
      <vt:lpstr>PowerPoint 演示文稿</vt:lpstr>
      <vt:lpstr>PowerPoint 演示文稿</vt:lpstr>
      <vt:lpstr>PowerPoint 演示文稿</vt:lpstr>
      <vt:lpstr>例：晶体管工作示意图</vt:lpstr>
      <vt:lpstr>PowerPoint 演示文稿</vt:lpstr>
      <vt:lpstr>②  关于“逻辑  logic”</vt:lpstr>
      <vt:lpstr>PowerPoint 演示文稿</vt:lpstr>
      <vt:lpstr>⑥数字电路与模拟电路相比有什么优点呢？</vt:lpstr>
      <vt:lpstr>设计容易</vt:lpstr>
      <vt:lpstr>  不断进步的技术</vt:lpstr>
      <vt:lpstr>第一章 数字逻辑基础</vt:lpstr>
      <vt:lpstr>第一章 数字逻辑基础</vt:lpstr>
      <vt:lpstr>第一章 数字逻辑基础</vt:lpstr>
      <vt:lpstr>PowerPoint 演示文稿</vt:lpstr>
      <vt:lpstr>第一章 数字逻辑基础</vt:lpstr>
      <vt:lpstr>PowerPoint 演示文稿</vt:lpstr>
    </vt:vector>
  </TitlesOfParts>
  <Company>xjtu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同步时序电路的分析</dc:title>
  <dc:creator>mcx</dc:creator>
  <cp:lastModifiedBy>松 刘</cp:lastModifiedBy>
  <cp:revision>372</cp:revision>
  <dcterms:created xsi:type="dcterms:W3CDTF">2024-02-07T11:27:00Z</dcterms:created>
  <dcterms:modified xsi:type="dcterms:W3CDTF">2025-09-09T02:46:45Z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2052-12.1.0.16250</vt:lpwstr>
  </property>
  <property fmtid="{D5CDD505-2E9C-101B-9397-08002B2CF9AE}" pid="3" name="ICV">
    <vt:lpwstr>BA06674D1B614633BF21C04AE4FC6C15</vt:lpwstr>
  </property>
</Properties>
</file>