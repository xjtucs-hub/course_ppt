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2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tags/tag5.xml" ContentType="application/vnd.openxmlformats-officedocument.presentationml.tags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tags/tag6.xml" ContentType="application/vnd.openxmlformats-officedocument.presentationml.tags+xml"/>
  <Override PartName="/ppt/notesSlides/notesSlide22.xml" ContentType="application/vnd.openxmlformats-officedocument.presentationml.notesSlide+xml"/>
  <Override PartName="/ppt/tags/tag7.xml" ContentType="application/vnd.openxmlformats-officedocument.presentationml.tags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tags/tag8.xml" ContentType="application/vnd.openxmlformats-officedocument.presentationml.tags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tags/tag9.xml" ContentType="application/vnd.openxmlformats-officedocument.presentationml.tags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8"/>
  </p:notesMasterIdLst>
  <p:sldIdLst>
    <p:sldId id="528" r:id="rId2"/>
    <p:sldId id="529" r:id="rId3"/>
    <p:sldId id="530" r:id="rId4"/>
    <p:sldId id="531" r:id="rId5"/>
    <p:sldId id="588" r:id="rId6"/>
    <p:sldId id="532" r:id="rId7"/>
    <p:sldId id="533" r:id="rId8"/>
    <p:sldId id="534" r:id="rId9"/>
    <p:sldId id="535" r:id="rId10"/>
    <p:sldId id="536" r:id="rId11"/>
    <p:sldId id="537" r:id="rId12"/>
    <p:sldId id="538" r:id="rId13"/>
    <p:sldId id="539" r:id="rId14"/>
    <p:sldId id="540" r:id="rId15"/>
    <p:sldId id="541" r:id="rId16"/>
    <p:sldId id="645" r:id="rId17"/>
    <p:sldId id="542" r:id="rId18"/>
    <p:sldId id="543" r:id="rId19"/>
    <p:sldId id="544" r:id="rId20"/>
    <p:sldId id="646" r:id="rId21"/>
    <p:sldId id="546" r:id="rId22"/>
    <p:sldId id="547" r:id="rId23"/>
    <p:sldId id="548" r:id="rId24"/>
    <p:sldId id="549" r:id="rId25"/>
    <p:sldId id="550" r:id="rId26"/>
    <p:sldId id="551" r:id="rId27"/>
    <p:sldId id="552" r:id="rId28"/>
    <p:sldId id="553" r:id="rId29"/>
    <p:sldId id="554" r:id="rId30"/>
    <p:sldId id="555" r:id="rId31"/>
    <p:sldId id="556" r:id="rId32"/>
    <p:sldId id="557" r:id="rId33"/>
    <p:sldId id="558" r:id="rId34"/>
    <p:sldId id="559" r:id="rId35"/>
    <p:sldId id="560" r:id="rId36"/>
    <p:sldId id="561" r:id="rId37"/>
    <p:sldId id="562" r:id="rId38"/>
    <p:sldId id="563" r:id="rId39"/>
    <p:sldId id="564" r:id="rId40"/>
    <p:sldId id="565" r:id="rId41"/>
    <p:sldId id="566" r:id="rId42"/>
    <p:sldId id="567" r:id="rId43"/>
    <p:sldId id="568" r:id="rId44"/>
    <p:sldId id="569" r:id="rId45"/>
    <p:sldId id="570" r:id="rId46"/>
    <p:sldId id="571" r:id="rId47"/>
    <p:sldId id="572" r:id="rId48"/>
    <p:sldId id="573" r:id="rId49"/>
    <p:sldId id="648" r:id="rId50"/>
    <p:sldId id="649" r:id="rId51"/>
    <p:sldId id="650" r:id="rId52"/>
    <p:sldId id="574" r:id="rId53"/>
    <p:sldId id="575" r:id="rId54"/>
    <p:sldId id="576" r:id="rId55"/>
    <p:sldId id="577" r:id="rId56"/>
    <p:sldId id="578" r:id="rId57"/>
    <p:sldId id="579" r:id="rId58"/>
    <p:sldId id="580" r:id="rId59"/>
    <p:sldId id="581" r:id="rId60"/>
    <p:sldId id="582" r:id="rId61"/>
    <p:sldId id="583" r:id="rId62"/>
    <p:sldId id="584" r:id="rId63"/>
    <p:sldId id="585" r:id="rId64"/>
    <p:sldId id="586" r:id="rId65"/>
    <p:sldId id="587" r:id="rId66"/>
    <p:sldId id="651" r:id="rId67"/>
  </p:sldIdLst>
  <p:sldSz cx="9144000" cy="5143500" type="screen16x9"/>
  <p:notesSz cx="6858000" cy="9144000"/>
  <p:custDataLst>
    <p:tags r:id="rId69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57" userDrawn="1">
          <p15:clr>
            <a:srgbClr val="A4A3A4"/>
          </p15:clr>
        </p15:guide>
        <p15:guide id="2" pos="280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u" initials="w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00"/>
    <a:srgbClr val="FF0066"/>
    <a:srgbClr val="008000"/>
    <a:srgbClr val="339933"/>
    <a:srgbClr val="00CC00"/>
    <a:srgbClr val="FF9900"/>
    <a:srgbClr val="9966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254"/>
    <p:restoredTop sz="72167" autoAdjust="0"/>
  </p:normalViewPr>
  <p:slideViewPr>
    <p:cSldViewPr showGuides="1">
      <p:cViewPr>
        <p:scale>
          <a:sx n="80" d="100"/>
          <a:sy n="80" d="100"/>
        </p:scale>
        <p:origin x="717" y="114"/>
      </p:cViewPr>
      <p:guideLst>
        <p:guide orient="horz" pos="1557"/>
        <p:guide pos="280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 showFormatting="0">
    <p:cViewPr>
      <p:scale>
        <a:sx n="66" d="100"/>
        <a:sy n="66" d="100"/>
      </p:scale>
      <p:origin x="0" y="4388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gs" Target="tags/tag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buFont typeface="Arial" panose="020B0604020202020204" pitchFamily="34" charset="0"/>
              <a:buNone/>
              <a:defRPr sz="12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buFont typeface="Arial" panose="020B0604020202020204" pitchFamily="34" charset="0"/>
              <a:buNone/>
              <a:defRPr sz="12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65250FD-B401-4BE5-BA19-F98E15D474B6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2025/9/9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buFont typeface="Arial" panose="020B0604020202020204" pitchFamily="34" charset="0"/>
              <a:buNone/>
              <a:defRPr sz="12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40389D0-F3DB-4D06-97D0-EDDF170717C3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643172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9459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1946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1200" dirty="0"/>
              <a:t>8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注意：计算机里的单位</a:t>
            </a:r>
            <a:r>
              <a:rPr lang="en-US" altLang="zh-CN" dirty="0"/>
              <a:t>1K</a:t>
            </a:r>
            <a:r>
              <a:rPr lang="zh-CN" altLang="en-US" dirty="0"/>
              <a:t>不是</a:t>
            </a:r>
            <a:r>
              <a:rPr lang="en-US" altLang="zh-CN" dirty="0"/>
              <a:t>1000</a:t>
            </a:r>
            <a:r>
              <a:rPr lang="zh-CN" altLang="en-US" dirty="0"/>
              <a:t>，是</a:t>
            </a:r>
            <a:r>
              <a:rPr lang="en-US" altLang="zh-CN" dirty="0"/>
              <a:t>2</a:t>
            </a:r>
            <a:r>
              <a:rPr lang="zh-CN" altLang="en-US" dirty="0"/>
              <a:t>的</a:t>
            </a:r>
            <a:r>
              <a:rPr lang="en-US" altLang="zh-CN" dirty="0"/>
              <a:t>10</a:t>
            </a:r>
            <a:r>
              <a:rPr lang="zh-CN" altLang="en-US" dirty="0"/>
              <a:t>次方</a:t>
            </a:r>
            <a:r>
              <a:rPr lang="en-US" altLang="zh-CN" dirty="0"/>
              <a:t>=1024</a:t>
            </a:r>
            <a:r>
              <a:rPr lang="zh-CN" altLang="en-US" dirty="0"/>
              <a:t>，</a:t>
            </a:r>
            <a:r>
              <a:rPr lang="en-US" altLang="zh-CN" dirty="0"/>
              <a:t>1M</a:t>
            </a:r>
            <a:r>
              <a:rPr lang="zh-CN" altLang="en-US" dirty="0"/>
              <a:t>不是</a:t>
            </a:r>
            <a:r>
              <a:rPr lang="en-US" altLang="zh-CN" dirty="0"/>
              <a:t>1</a:t>
            </a:r>
            <a:r>
              <a:rPr lang="zh-CN" altLang="en-US" dirty="0"/>
              <a:t>百万，是</a:t>
            </a:r>
            <a:r>
              <a:rPr lang="en-US" altLang="zh-CN" dirty="0"/>
              <a:t>2</a:t>
            </a:r>
            <a:r>
              <a:rPr lang="zh-CN" altLang="en-US" dirty="0"/>
              <a:t>的</a:t>
            </a:r>
            <a:r>
              <a:rPr lang="en-US" altLang="zh-CN" dirty="0"/>
              <a:t>20</a:t>
            </a:r>
            <a:r>
              <a:rPr lang="zh-CN" altLang="en-US" dirty="0"/>
              <a:t>次方</a:t>
            </a:r>
            <a:r>
              <a:rPr lang="en-US" altLang="zh-CN" dirty="0"/>
              <a:t>=1048576</a:t>
            </a:r>
            <a:r>
              <a:rPr lang="zh-CN" altLang="en-US" dirty="0"/>
              <a:t>。</a:t>
            </a:r>
          </a:p>
          <a:p>
            <a:r>
              <a:rPr lang="en-US" altLang="zh-CN" dirty="0"/>
              <a:t>K=kilo</a:t>
            </a:r>
            <a:r>
              <a:rPr lang="zh-CN" altLang="en-US" dirty="0"/>
              <a:t>，</a:t>
            </a:r>
            <a:r>
              <a:rPr lang="en-US" altLang="zh-CN" dirty="0"/>
              <a:t>M=mega</a:t>
            </a:r>
            <a:r>
              <a:rPr lang="zh-CN" altLang="en-US" dirty="0"/>
              <a:t>，</a:t>
            </a:r>
            <a:r>
              <a:rPr lang="en-US" altLang="zh-CN" dirty="0"/>
              <a:t>G=giga</a:t>
            </a:r>
            <a:r>
              <a:rPr lang="zh-CN" altLang="en-US" dirty="0"/>
              <a:t>，</a:t>
            </a:r>
            <a:r>
              <a:rPr lang="en-US" altLang="zh-CN" dirty="0"/>
              <a:t>T=tera</a:t>
            </a:r>
            <a:r>
              <a:rPr lang="zh-CN" altLang="en-US" dirty="0"/>
              <a:t>，</a:t>
            </a:r>
            <a:r>
              <a:rPr lang="en-US" altLang="zh-CN" dirty="0"/>
              <a:t>P=</a:t>
            </a:r>
            <a:r>
              <a:rPr lang="en-US" altLang="zh-CN" dirty="0" err="1"/>
              <a:t>peta</a:t>
            </a:r>
            <a:r>
              <a:rPr lang="zh-CN" altLang="en-US" dirty="0"/>
              <a:t>，</a:t>
            </a:r>
            <a:r>
              <a:rPr lang="en-US" altLang="zh-CN" dirty="0"/>
              <a:t>E=</a:t>
            </a:r>
            <a:r>
              <a:rPr lang="en-US" altLang="zh-CN" dirty="0" err="1"/>
              <a:t>exa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40963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 eaLnBrk="1" hangingPunct="1"/>
            <a:endParaRPr lang="en-US" altLang="zh-CN" dirty="0"/>
          </a:p>
        </p:txBody>
      </p:sp>
      <p:sp>
        <p:nvSpPr>
          <p:cNvPr id="4096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</a:rPr>
              <a:t>28</a:t>
            </a:fld>
            <a:endParaRPr lang="en-US" altLang="zh-CN" sz="12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dirty="0"/>
              <a:t>word</a:t>
            </a:r>
            <a:r>
              <a:rPr lang="zh-CN" altLang="en-US" dirty="0"/>
              <a:t>：不固定；</a:t>
            </a:r>
            <a:r>
              <a:rPr lang="en-US" altLang="zh-CN" dirty="0"/>
              <a:t>byte</a:t>
            </a:r>
            <a:r>
              <a:rPr lang="zh-CN" altLang="en-US" dirty="0"/>
              <a:t>：</a:t>
            </a:r>
            <a:r>
              <a:rPr lang="en-US" altLang="zh-CN" dirty="0"/>
              <a:t>8</a:t>
            </a:r>
            <a:r>
              <a:rPr lang="zh-CN" altLang="en-US" dirty="0"/>
              <a:t>位；</a:t>
            </a:r>
            <a:r>
              <a:rPr lang="en-US" altLang="zh-CN" dirty="0"/>
              <a:t>bit</a:t>
            </a:r>
            <a:r>
              <a:rPr lang="zh-CN" altLang="en-US" dirty="0"/>
              <a:t>：</a:t>
            </a:r>
            <a:r>
              <a:rPr lang="en-US" altLang="zh-CN" dirty="0"/>
              <a:t>1</a:t>
            </a:r>
            <a:r>
              <a:rPr lang="zh-CN" altLang="en-US" dirty="0"/>
              <a:t>位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876"/>
            <a:ext cx="6858000" cy="1790921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862"/>
            <a:ext cx="6858000" cy="1241975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2D34E77-AA51-48F0-935B-1AD49497690F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D884019-65C5-4BD0-A72D-0126FE998E62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69388"/>
            <a:ext cx="7886700" cy="3263906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0E1AE41-DD0B-4FD5-A96D-D271362E9809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D1346BB-C7E2-48E0-B2BF-F25D225E9F56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462"/>
            <a:ext cx="7886700" cy="213981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3442522"/>
            <a:ext cx="7886700" cy="112527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DA842D7-BDBF-4F6C-90E5-BAAC9594A780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D5DB32F-60FA-4F7F-9EB6-8AEECFDEFB1D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78"/>
            <a:ext cx="7886700" cy="99429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369388"/>
            <a:ext cx="3886200" cy="3263906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369388"/>
            <a:ext cx="3886200" cy="3263906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11" name="日期占位符 4"/>
          <p:cNvSpPr>
            <a:spLocks noGrp="1"/>
          </p:cNvSpPr>
          <p:nvPr>
            <p:ph type="dt" sz="half" idx="1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4F12277-9DDA-4399-837A-FC87E0D56B75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5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75A90D3-568F-4D9B-9D99-E11B79E6B3B2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图片 9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273878"/>
            <a:ext cx="7886700" cy="99429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1" y="1261028"/>
            <a:ext cx="3868340" cy="618010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1" y="1879038"/>
            <a:ext cx="3868340" cy="276378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261028"/>
            <a:ext cx="3887391" cy="618010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1879038"/>
            <a:ext cx="3887391" cy="276378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11" name="日期占位符 6"/>
          <p:cNvSpPr>
            <a:spLocks noGrp="1"/>
          </p:cNvSpPr>
          <p:nvPr>
            <p:ph type="dt" sz="half" idx="1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20C5439-BE69-442F-8A10-0B1B3CBBB5A1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7"/>
          <p:cNvSpPr>
            <a:spLocks noGrp="1"/>
          </p:cNvSpPr>
          <p:nvPr>
            <p:ph type="ftr" sz="quarter" idx="1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8"/>
          <p:cNvSpPr>
            <a:spLocks noGrp="1"/>
          </p:cNvSpPr>
          <p:nvPr>
            <p:ph type="sldNum" sz="quarter" idx="1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8498F71-2861-499A-AF03-C6EABDEA5460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2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78"/>
            <a:ext cx="7886700" cy="99429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11" name="日期占位符 2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0D6B8F3-6BCC-4B6C-966D-29D1BE0A073D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3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3451F29-6C2B-459D-9A19-F92A4163ED9D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6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日期占位符 1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4DBA22D-A7DF-4A92-A429-83253D70D991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2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42A65FA-5C73-4B24-AC4C-9B653B0A73BF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42"/>
            <a:ext cx="2949178" cy="1200298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740660"/>
            <a:ext cx="4629150" cy="365567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240"/>
            <a:ext cx="2949178" cy="285904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FD9C11F-8B2D-45EA-9B15-B57566C87A7F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3679501-035F-464E-B7E5-E55831B5F94D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42"/>
            <a:ext cx="2949178" cy="1200298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740660"/>
            <a:ext cx="4629150" cy="365567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l" defTabSz="685800" rtl="0" eaLnBrk="0" fontAlgn="base" latinLnBrk="0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240"/>
            <a:ext cx="2949178" cy="285904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FD9C11F-8B2D-45EA-9B15-B57566C87A7F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3679501-035F-464E-B7E5-E55831B5F94D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78"/>
            <a:ext cx="7886700" cy="99429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369388"/>
            <a:ext cx="7886700" cy="3263906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FD9C11F-8B2D-45EA-9B15-B57566C87A7F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3679501-035F-464E-B7E5-E55831B5F94D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273878"/>
            <a:ext cx="1971675" cy="4359417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273878"/>
            <a:ext cx="5800725" cy="4359417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FD9C11F-8B2D-45EA-9B15-B57566C87A7F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3679501-035F-464E-B7E5-E55831B5F94D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28650" y="273878"/>
            <a:ext cx="7886700" cy="435941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FD9C11F-8B2D-45EA-9B15-B57566C87A7F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3679501-035F-464E-B7E5-E55831B5F94D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5800" y="1485900"/>
            <a:ext cx="7772400" cy="30861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10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774662B-7174-4D52-91AE-CF69F553F599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1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0B9624C-65E3-479D-85C4-69285262E7B1}" type="slidenum"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 advTm="25000">
    <p:rand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10" descr="电路幻灯片11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-36512" y="-20637"/>
            <a:ext cx="9175750" cy="5168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buFont typeface="Arial" panose="020B0604020202020204" pitchFamily="34" charset="0"/>
              <a:buNone/>
              <a:defRPr sz="900" noProof="1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FD9C11F-8B2D-45EA-9B15-B57566C87A7F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ctr" eaLnBrk="1" hangingPunct="1">
              <a:buFont typeface="Arial" panose="020B0604020202020204" pitchFamily="34" charset="0"/>
              <a:buNone/>
              <a:defRPr sz="900">
                <a:solidFill>
                  <a:srgbClr val="898989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buFont typeface="Arial" panose="020B0604020202020204" pitchFamily="34" charset="0"/>
              <a:buNone/>
              <a:defRPr sz="900">
                <a:solidFill>
                  <a:srgbClr val="898989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3679501-035F-464E-B7E5-E55831B5F94D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030" name="组合 9"/>
          <p:cNvGrpSpPr/>
          <p:nvPr userDrawn="1"/>
        </p:nvGrpSpPr>
        <p:grpSpPr>
          <a:xfrm>
            <a:off x="539750" y="52388"/>
            <a:ext cx="1628775" cy="487362"/>
            <a:chOff x="2077" y="3004"/>
            <a:chExt cx="5804" cy="1740"/>
          </a:xfrm>
        </p:grpSpPr>
        <p:pic>
          <p:nvPicPr>
            <p:cNvPr id="1031" name="图片 7" descr="交大矢量logo"/>
            <p:cNvPicPr>
              <a:picLocks noChangeAspect="1"/>
            </p:cNvPicPr>
            <p:nvPr userDrawn="1"/>
          </p:nvPicPr>
          <p:blipFill>
            <a:blip r:embed="rId16"/>
            <a:srcRect l="-1437" t="-9560" r="41219" b="-10179"/>
            <a:stretch>
              <a:fillRect/>
            </a:stretch>
          </p:blipFill>
          <p:spPr>
            <a:xfrm>
              <a:off x="2077" y="3004"/>
              <a:ext cx="5616" cy="174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" name="矩形 8"/>
            <p:cNvSpPr/>
            <p:nvPr/>
          </p:nvSpPr>
          <p:spPr>
            <a:xfrm>
              <a:off x="7542" y="4166"/>
              <a:ext cx="339" cy="3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9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日期占位符 2"/>
          <p:cNvSpPr txBox="1">
            <a:spLocks noGrp="1"/>
          </p:cNvSpPr>
          <p:nvPr>
            <p:ph type="dt" sz="half" idx="2"/>
          </p:nvPr>
        </p:nvSpPr>
        <p:spPr>
          <a:noFill/>
        </p:spPr>
        <p:txBody>
          <a:bodyPr lIns="91440" tIns="45720" rIns="91440" bIns="45720" rtlCol="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EDE099B-DB91-4533-B26E-407866867896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1267" name="灯片编号占位符 4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900" dirty="0">
                <a:solidFill>
                  <a:srgbClr val="898989"/>
                </a:solidFill>
                <a:latin typeface="Times New Roman" panose="02020603050405020304" pitchFamily="18" charset="0"/>
              </a:rPr>
              <a:t>1</a:t>
            </a:fld>
            <a:endParaRPr lang="zh-CN" altLang="en-US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1708150"/>
            <a:ext cx="9156700" cy="164306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269" name="标题 1"/>
          <p:cNvSpPr>
            <a:spLocks noGrp="1"/>
          </p:cNvSpPr>
          <p:nvPr>
            <p:ph type="title"/>
          </p:nvPr>
        </p:nvSpPr>
        <p:spPr>
          <a:xfrm>
            <a:off x="2566988" y="2020888"/>
            <a:ext cx="3852862" cy="9715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/>
          </a:ln>
        </p:spPr>
        <p:txBody>
          <a:bodyPr/>
          <a:lstStyle/>
          <a:p>
            <a:pPr eaLnBrk="1" hangingPunct="1"/>
            <a:r>
              <a:rPr lang="en-US" altLang="en-US" sz="3600" dirty="0">
                <a:latin typeface="方正综艺简体" charset="-122"/>
                <a:ea typeface="方正综艺简体" charset="-122"/>
              </a:rPr>
              <a:t>数 字 逻 辑 电 路</a:t>
            </a:r>
          </a:p>
        </p:txBody>
      </p:sp>
      <p:sp>
        <p:nvSpPr>
          <p:cNvPr id="11270" name="文本框 2"/>
          <p:cNvSpPr txBox="1"/>
          <p:nvPr/>
        </p:nvSpPr>
        <p:spPr>
          <a:xfrm>
            <a:off x="3703638" y="2646363"/>
            <a:ext cx="1073150" cy="3984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r>
              <a:rPr lang="zh-CN" altLang="en-US" dirty="0">
                <a:solidFill>
                  <a:schemeClr val="tx1"/>
                </a:solidFill>
                <a:latin typeface="方正综艺简体" charset="-122"/>
                <a:ea typeface="方正综艺简体" charset="-122"/>
              </a:rPr>
              <a:t>朱正东</a:t>
            </a:r>
          </a:p>
        </p:txBody>
      </p:sp>
      <p:sp>
        <p:nvSpPr>
          <p:cNvPr id="9" name="矩形 8"/>
          <p:cNvSpPr/>
          <p:nvPr/>
        </p:nvSpPr>
        <p:spPr>
          <a:xfrm>
            <a:off x="0" y="-20955"/>
            <a:ext cx="9166225" cy="51641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0" y="1563688"/>
            <a:ext cx="9169400" cy="16462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273" name="标题 1"/>
          <p:cNvSpPr/>
          <p:nvPr/>
        </p:nvSpPr>
        <p:spPr>
          <a:xfrm>
            <a:off x="2486025" y="1711325"/>
            <a:ext cx="6916738" cy="1190625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eaLnBrk="1" hangingPunct="1">
              <a:lnSpc>
                <a:spcPct val="90000"/>
              </a:lnSpc>
              <a:buFont typeface="Arial" panose="020B0604020202020204" pitchFamily="34" charset="0"/>
            </a:pPr>
            <a:r>
              <a:rPr lang="zh-CN" altLang="en-US" sz="4400" dirty="0">
                <a:solidFill>
                  <a:schemeClr val="tx1"/>
                </a:solidFill>
                <a:latin typeface="方正综艺简体" charset="-122"/>
                <a:ea typeface="方正综艺简体" charset="-122"/>
              </a:rPr>
              <a:t>数 字 逻 辑 电 路</a:t>
            </a:r>
          </a:p>
        </p:txBody>
      </p:sp>
      <p:sp>
        <p:nvSpPr>
          <p:cNvPr id="11274" name="文本框 11"/>
          <p:cNvSpPr txBox="1"/>
          <p:nvPr/>
        </p:nvSpPr>
        <p:spPr>
          <a:xfrm>
            <a:off x="4165600" y="2692400"/>
            <a:ext cx="1054100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r>
              <a:rPr lang="zh-CN" altLang="en-US" dirty="0">
                <a:solidFill>
                  <a:schemeClr val="tx1"/>
                </a:solidFill>
                <a:latin typeface="方正综艺简体" charset="-122"/>
                <a:ea typeface="方正综艺简体" charset="-122"/>
              </a:rPr>
              <a:t>刘</a:t>
            </a:r>
            <a:r>
              <a:rPr lang="en-US" altLang="zh-CN" dirty="0">
                <a:solidFill>
                  <a:schemeClr val="tx1"/>
                </a:solidFill>
                <a:latin typeface="方正综艺简体" charset="-122"/>
                <a:ea typeface="方正综艺简体" charset="-122"/>
              </a:rPr>
              <a:t> </a:t>
            </a:r>
            <a:r>
              <a:rPr lang="zh-CN" altLang="en-US" dirty="0">
                <a:solidFill>
                  <a:schemeClr val="tx1"/>
                </a:solidFill>
                <a:latin typeface="方正综艺简体" charset="-122"/>
                <a:ea typeface="方正综艺简体" charset="-122"/>
              </a:rPr>
              <a:t>松</a:t>
            </a:r>
          </a:p>
        </p:txBody>
      </p:sp>
      <p:grpSp>
        <p:nvGrpSpPr>
          <p:cNvPr id="11275" name="组合 12"/>
          <p:cNvGrpSpPr/>
          <p:nvPr/>
        </p:nvGrpSpPr>
        <p:grpSpPr>
          <a:xfrm>
            <a:off x="466725" y="268288"/>
            <a:ext cx="2322513" cy="696912"/>
            <a:chOff x="2077" y="3004"/>
            <a:chExt cx="5804" cy="1740"/>
          </a:xfrm>
        </p:grpSpPr>
        <p:pic>
          <p:nvPicPr>
            <p:cNvPr id="11276" name="图片 13" descr="交大矢量logo"/>
            <p:cNvPicPr>
              <a:picLocks noChangeAspect="1"/>
            </p:cNvPicPr>
            <p:nvPr/>
          </p:nvPicPr>
          <p:blipFill>
            <a:blip r:embed="rId3"/>
            <a:srcRect l="-1437" t="-9560" r="41219" b="-10179"/>
            <a:stretch>
              <a:fillRect/>
            </a:stretch>
          </p:blipFill>
          <p:spPr>
            <a:xfrm>
              <a:off x="2077" y="3004"/>
              <a:ext cx="5616" cy="174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5" name="矩形 14"/>
            <p:cNvSpPr/>
            <p:nvPr/>
          </p:nvSpPr>
          <p:spPr>
            <a:xfrm>
              <a:off x="7540" y="4165"/>
              <a:ext cx="341" cy="3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1"/>
          <p:cNvSpPr txBox="1">
            <a:spLocks noGrp="1"/>
          </p:cNvSpPr>
          <p:nvPr>
            <p:ph type="dt" sz="half" idx="2"/>
          </p:nvPr>
        </p:nvSpPr>
        <p:spPr>
          <a:noFill/>
        </p:spPr>
        <p:txBody>
          <a:bodyPr lIns="91440" tIns="45720" rIns="91440" bIns="45720" rtlCol="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105A22A-BE47-4644-99A4-8C4DEEB8EDAC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291" name="灯片编号占位符 3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900" dirty="0">
                <a:solidFill>
                  <a:srgbClr val="898989"/>
                </a:solidFill>
                <a:latin typeface="Times New Roman" panose="02020603050405020304" pitchFamily="18" charset="0"/>
              </a:rPr>
              <a:t>2</a:t>
            </a:fld>
            <a:endParaRPr lang="zh-CN" altLang="en-US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292" name="Text Box 10"/>
          <p:cNvSpPr txBox="1"/>
          <p:nvPr/>
        </p:nvSpPr>
        <p:spPr>
          <a:xfrm>
            <a:off x="715963" y="981075"/>
            <a:ext cx="7885112" cy="394589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514350" indent="-514350" eaLnBrk="1" hangingPunct="1">
              <a:spcBef>
                <a:spcPts val="600"/>
              </a:spcBef>
              <a:buFont typeface="Arial" panose="020B0604020202020204" pitchFamily="34" charset="0"/>
            </a:pP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1.2.1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 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数制及其相互转换</a:t>
            </a:r>
          </a:p>
          <a:p>
            <a:pPr marL="514350" indent="-514350" eaLnBrk="1" hangingPunct="1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十进位计数制的特点、表示法</a:t>
            </a:r>
            <a:endParaRPr lang="en-US" altLang="zh-CN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514350" indent="-514350" eaLnBrk="1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任意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进位计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数制的特点、表示法、运算规则及相互关系</a:t>
            </a:r>
          </a:p>
          <a:p>
            <a:pPr marL="514350" indent="-514350" eaLnBrk="1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多项式替代法，基数乘除法，桥梁法、直接转换法，小数位置的确定</a:t>
            </a:r>
            <a:endParaRPr lang="en-US" altLang="zh-CN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514350" indent="-514350" eaLnBrk="1" hangingPunct="1">
              <a:spcBef>
                <a:spcPts val="600"/>
              </a:spcBef>
              <a:buFont typeface="Arial" panose="020B0604020202020204" pitchFamily="34" charset="0"/>
            </a:pP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1.2.2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 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数的表示及其运算</a:t>
            </a:r>
            <a:endParaRPr lang="en-US" altLang="zh-CN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514350" indent="-514350" eaLnBrk="1" hangingPunct="1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数的小数点的表示：定点数、浮点数</a:t>
            </a:r>
          </a:p>
          <a:p>
            <a:pPr marL="514350" indent="-514350" eaLnBrk="1" hangingPunct="1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带符号数的代码表示及其运算：原码、反码和补码</a:t>
            </a:r>
          </a:p>
          <a:p>
            <a:pPr eaLnBrk="1" hangingPunct="1">
              <a:spcBef>
                <a:spcPts val="600"/>
              </a:spcBef>
              <a:buFont typeface="Wingdings" panose="05000000000000000000" pitchFamily="2" charset="2"/>
            </a:pP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1.2.3  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十进制数的代码表示及其运算</a:t>
            </a:r>
          </a:p>
          <a:p>
            <a:pPr marL="514350" indent="-514350" algn="l" eaLnBrk="1" hangingPunct="1">
              <a:spcBef>
                <a:spcPts val="60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BCD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2421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、余三码等</a:t>
            </a:r>
            <a:endParaRPr lang="zh-CN" altLang="en-US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514350" indent="-514350" algn="l" eaLnBrk="1" hangingPunct="1">
              <a:spcBef>
                <a:spcPts val="600"/>
              </a:spcBef>
              <a:buClrTx/>
              <a:buSzTx/>
              <a:buFont typeface="Arial" panose="020B0604020202020204" pitchFamily="34" charset="0"/>
            </a:pP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1.2.4</a:t>
            </a: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  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可靠性编码</a:t>
            </a:r>
            <a:endParaRPr lang="en-US" altLang="zh-CN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514350" indent="-514350" eaLnBrk="1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格雷码、奇偶校验码和海明码</a:t>
            </a:r>
          </a:p>
        </p:txBody>
      </p:sp>
      <p:sp>
        <p:nvSpPr>
          <p:cNvPr id="12293" name="Rectangle 13"/>
          <p:cNvSpPr>
            <a:spLocks noGrp="1"/>
          </p:cNvSpPr>
          <p:nvPr>
            <p:ph type="title"/>
          </p:nvPr>
        </p:nvSpPr>
        <p:spPr>
          <a:xfrm>
            <a:off x="644525" y="566738"/>
            <a:ext cx="3927475" cy="5143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1.2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数制与编码</a:t>
            </a:r>
          </a:p>
        </p:txBody>
      </p:sp>
      <p:sp>
        <p:nvSpPr>
          <p:cNvPr id="12294" name="Rectangle 2"/>
          <p:cNvSpPr txBox="1"/>
          <p:nvPr/>
        </p:nvSpPr>
        <p:spPr>
          <a:xfrm>
            <a:off x="5550535" y="52705"/>
            <a:ext cx="3078480" cy="44386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>
              <a:buFont typeface="Arial" panose="020B0604020202020204" pitchFamily="34" charset="0"/>
            </a:pPr>
            <a:r>
              <a:rPr lang="zh-CN" altLang="en-US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第</a:t>
            </a:r>
            <a:r>
              <a:rPr lang="en-US" altLang="zh-CN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1</a:t>
            </a:r>
            <a:r>
              <a:rPr lang="zh-CN" altLang="en-US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章 数字逻辑基础</a:t>
            </a:r>
          </a:p>
        </p:txBody>
      </p:sp>
    </p:spTree>
  </p:cSld>
  <p:clrMapOvr>
    <a:masterClrMapping/>
  </p:clrMapOvr>
  <p:transition advTm="6287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1"/>
          <p:cNvSpPr txBox="1">
            <a:spLocks noGrp="1"/>
          </p:cNvSpPr>
          <p:nvPr>
            <p:ph type="dt" sz="half" idx="2"/>
          </p:nvPr>
        </p:nvSpPr>
        <p:spPr>
          <a:noFill/>
        </p:spPr>
        <p:txBody>
          <a:bodyPr lIns="91440" tIns="45720" rIns="91440" bIns="45720" rtlCol="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105A22A-BE47-4644-99A4-8C4DEEB8EDAC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3315" name="灯片编号占位符 3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900" dirty="0">
                <a:solidFill>
                  <a:srgbClr val="898989"/>
                </a:solidFill>
                <a:latin typeface="Times New Roman" panose="02020603050405020304" pitchFamily="18" charset="0"/>
              </a:rPr>
              <a:t>3</a:t>
            </a:fld>
            <a:endParaRPr lang="zh-CN" altLang="en-US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16" name="Text Box 9"/>
          <p:cNvSpPr txBox="1"/>
          <p:nvPr/>
        </p:nvSpPr>
        <p:spPr>
          <a:xfrm>
            <a:off x="869950" y="1991995"/>
            <a:ext cx="8226425" cy="11890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514350" indent="-514350"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在日常生活中通常采用的是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十进制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计数制，</a:t>
            </a:r>
            <a:endParaRPr lang="en-US" altLang="zh-CN" sz="18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514350" indent="-514350"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计数规则“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逢十进一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”，</a:t>
            </a:r>
          </a:p>
          <a:p>
            <a:pPr marL="514350" indent="-514350"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例：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0,1,2,3,4,5,6,7,8,9,10,11, 12,…,99,100, …,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</a:p>
        </p:txBody>
      </p:sp>
      <p:sp>
        <p:nvSpPr>
          <p:cNvPr id="13317" name="Text Box 10"/>
          <p:cNvSpPr txBox="1"/>
          <p:nvPr/>
        </p:nvSpPr>
        <p:spPr>
          <a:xfrm>
            <a:off x="514985" y="1177925"/>
            <a:ext cx="8394700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所谓“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数制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”，教材中特指各种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进位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计数制，即一种用固定的符号和统一的规则来表示数值的方法。</a:t>
            </a:r>
          </a:p>
        </p:txBody>
      </p:sp>
      <p:sp>
        <p:nvSpPr>
          <p:cNvPr id="13318" name="Text Box 14"/>
          <p:cNvSpPr txBox="1"/>
          <p:nvPr/>
        </p:nvSpPr>
        <p:spPr>
          <a:xfrm>
            <a:off x="869950" y="3343910"/>
            <a:ext cx="7743825" cy="11988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在计算机中用的是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二进制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计数制，</a:t>
            </a:r>
            <a:endParaRPr lang="en-US" altLang="zh-CN" sz="18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计数规则“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逢二进一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”</a:t>
            </a:r>
            <a:endParaRPr lang="en-US" altLang="zh-CN" sz="18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例：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0,1,10,11,100,101,110,111,…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  <p:sp>
        <p:nvSpPr>
          <p:cNvPr id="13319" name="Rectangle 2"/>
          <p:cNvSpPr txBox="1"/>
          <p:nvPr/>
        </p:nvSpPr>
        <p:spPr>
          <a:xfrm>
            <a:off x="5508625" y="52705"/>
            <a:ext cx="3111500" cy="38608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>
              <a:buFont typeface="Arial" panose="020B0604020202020204" pitchFamily="34" charset="0"/>
            </a:pPr>
            <a:r>
              <a:rPr lang="zh-CN" altLang="en-US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第</a:t>
            </a:r>
            <a:r>
              <a:rPr lang="en-US" altLang="zh-CN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1</a:t>
            </a:r>
            <a:r>
              <a:rPr lang="zh-CN" altLang="en-US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章 数字逻辑基础</a:t>
            </a:r>
          </a:p>
        </p:txBody>
      </p:sp>
      <p:sp>
        <p:nvSpPr>
          <p:cNvPr id="14344" name="Rectangle 11"/>
          <p:cNvSpPr>
            <a:spLocks noGrp="1"/>
          </p:cNvSpPr>
          <p:nvPr/>
        </p:nvSpPr>
        <p:spPr>
          <a:xfrm>
            <a:off x="606425" y="641033"/>
            <a:ext cx="5511800" cy="4667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2pPr>
            <a:lvl3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3pPr>
            <a:lvl4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4pPr>
            <a:lvl5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5pPr>
            <a:lvl6pPr marL="4572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6pPr>
            <a:lvl7pPr marL="9144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7pPr>
            <a:lvl8pPr marL="13716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8pPr>
            <a:lvl9pPr marL="18288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1.2.1 </a:t>
            </a:r>
            <a:r>
              <a:rPr lang="en-US" altLang="zh-CN" sz="2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数制及其相互转换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5AC42CD-EF3A-F0E4-8795-F2BFDC42D5F6}"/>
              </a:ext>
            </a:extLst>
          </p:cNvPr>
          <p:cNvSpPr txBox="1"/>
          <p:nvPr/>
        </p:nvSpPr>
        <p:spPr>
          <a:xfrm>
            <a:off x="6012160" y="4169446"/>
            <a:ext cx="3240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00FF"/>
                </a:solidFill>
              </a:rPr>
              <a:t>你知道非进位计数制吗？</a:t>
            </a:r>
          </a:p>
        </p:txBody>
      </p:sp>
    </p:spTree>
  </p:cSld>
  <p:clrMapOvr>
    <a:masterClrMapping/>
  </p:clrMapOvr>
  <p:transition advTm="1856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日期占位符 1"/>
          <p:cNvSpPr txBox="1">
            <a:spLocks noGrp="1"/>
          </p:cNvSpPr>
          <p:nvPr>
            <p:ph type="dt" sz="half" idx="2"/>
          </p:nvPr>
        </p:nvSpPr>
        <p:spPr>
          <a:noFill/>
        </p:spPr>
        <p:txBody>
          <a:bodyPr lIns="91440" tIns="45720" rIns="91440" bIns="45720" rtlCol="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105A22A-BE47-4644-99A4-8C4DEEB8EDAC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4339" name="灯片编号占位符 3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900" dirty="0">
                <a:solidFill>
                  <a:srgbClr val="898989"/>
                </a:solidFill>
                <a:latin typeface="Times New Roman" panose="02020603050405020304" pitchFamily="18" charset="0"/>
              </a:rPr>
              <a:t>4</a:t>
            </a:fld>
            <a:endParaRPr lang="zh-CN" altLang="en-US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340" name="Text Box 4"/>
          <p:cNvSpPr txBox="1"/>
          <p:nvPr/>
        </p:nvSpPr>
        <p:spPr>
          <a:xfrm>
            <a:off x="658813" y="1319213"/>
            <a:ext cx="89154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）特点 </a:t>
            </a: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：⑴ </a:t>
            </a: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个有序的数字符号：</a:t>
            </a: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0,1,2,3,4,5,6,7,8,9 </a:t>
            </a:r>
          </a:p>
        </p:txBody>
      </p:sp>
      <p:sp>
        <p:nvSpPr>
          <p:cNvPr id="14341" name="Text Box 7"/>
          <p:cNvSpPr txBox="1"/>
          <p:nvPr/>
        </p:nvSpPr>
        <p:spPr>
          <a:xfrm>
            <a:off x="1009650" y="2760663"/>
            <a:ext cx="6910388" cy="8604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其中：“十”或</a:t>
            </a: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“10”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称为进位基数</a:t>
            </a: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，简称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基数</a:t>
            </a: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endParaRPr lang="zh-CN" altLang="en-US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342" name="Text Box 8"/>
          <p:cNvSpPr txBox="1"/>
          <p:nvPr/>
        </p:nvSpPr>
        <p:spPr>
          <a:xfrm>
            <a:off x="1908175" y="2211388"/>
            <a:ext cx="4811713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⑶ “</a:t>
            </a: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逢十进一”的计数规则</a:t>
            </a:r>
          </a:p>
        </p:txBody>
      </p:sp>
      <p:sp>
        <p:nvSpPr>
          <p:cNvPr id="14343" name="Text Box 10"/>
          <p:cNvSpPr txBox="1"/>
          <p:nvPr/>
        </p:nvSpPr>
        <p:spPr>
          <a:xfrm>
            <a:off x="1805305" y="1767205"/>
            <a:ext cx="7132955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⑵ </a:t>
            </a: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小数点及正负数符号三个特殊符号：“</a:t>
            </a: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.”</a:t>
            </a: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，“</a:t>
            </a: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+”</a:t>
            </a: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，“</a:t>
            </a: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-”</a:t>
            </a:r>
          </a:p>
        </p:txBody>
      </p:sp>
      <p:sp>
        <p:nvSpPr>
          <p:cNvPr id="14344" name="Rectangle 11"/>
          <p:cNvSpPr>
            <a:spLocks noGrp="1"/>
          </p:cNvSpPr>
          <p:nvPr>
            <p:ph type="title"/>
          </p:nvPr>
        </p:nvSpPr>
        <p:spPr>
          <a:xfrm>
            <a:off x="606425" y="712788"/>
            <a:ext cx="5511800" cy="46672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1.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十进位计数制的特点、表示法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345" name="Rectangle 12"/>
          <p:cNvSpPr/>
          <p:nvPr/>
        </p:nvSpPr>
        <p:spPr>
          <a:xfrm>
            <a:off x="658813" y="3432175"/>
            <a:ext cx="8610600" cy="685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eaLnBrk="1" hangingPunct="1">
              <a:lnSpc>
                <a:spcPct val="130000"/>
              </a:lnSpc>
              <a:buFont typeface="Arial" panose="020B0604020202020204" pitchFamily="34" charset="0"/>
            </a:pP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）表示法</a:t>
            </a: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：</a:t>
            </a: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并列表示法</a:t>
            </a:r>
          </a:p>
          <a:p>
            <a:pPr eaLnBrk="1" hangingPunct="1">
              <a:lnSpc>
                <a:spcPct val="130000"/>
              </a:lnSpc>
              <a:buFont typeface="Arial" panose="020B0604020202020204" pitchFamily="34" charset="0"/>
            </a:pP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	    	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多项式表示</a:t>
            </a:r>
            <a:r>
              <a:rPr lang="zh-CN" altLang="en-US" b="1" dirty="0">
                <a:solidFill>
                  <a:srgbClr val="FF0000"/>
                </a:solidFill>
                <a:latin typeface="Calibri" panose="020F0502020204030204" pitchFamily="34" charset="0"/>
              </a:rPr>
              <a:t>法</a:t>
            </a:r>
          </a:p>
        </p:txBody>
      </p:sp>
      <p:sp>
        <p:nvSpPr>
          <p:cNvPr id="14346" name="Text Box 15"/>
          <p:cNvSpPr txBox="1"/>
          <p:nvPr/>
        </p:nvSpPr>
        <p:spPr>
          <a:xfrm>
            <a:off x="1860550" y="3159125"/>
            <a:ext cx="46482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endParaRPr lang="zh-CN" altLang="en-US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347" name="Rectangle 2"/>
          <p:cNvSpPr txBox="1"/>
          <p:nvPr/>
        </p:nvSpPr>
        <p:spPr>
          <a:xfrm>
            <a:off x="5508625" y="52705"/>
            <a:ext cx="3111500" cy="35242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>
              <a:buFont typeface="Arial" panose="020B0604020202020204" pitchFamily="34" charset="0"/>
            </a:pPr>
            <a:r>
              <a:rPr lang="zh-CN" altLang="en-US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第</a:t>
            </a:r>
            <a:r>
              <a:rPr lang="en-US" altLang="zh-CN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1</a:t>
            </a:r>
            <a:r>
              <a:rPr lang="zh-CN" altLang="en-US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章 数字逻辑基础</a:t>
            </a:r>
          </a:p>
        </p:txBody>
      </p:sp>
    </p:spTree>
  </p:cSld>
  <p:clrMapOvr>
    <a:masterClrMapping/>
  </p:clrMapOvr>
  <p:transition advTm="2309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0" grpId="0"/>
      <p:bldP spid="14341" grpId="0"/>
      <p:bldP spid="14342" grpId="0"/>
      <p:bldP spid="14343" grpId="0"/>
      <p:bldP spid="1434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日期占位符 1"/>
          <p:cNvSpPr txBox="1">
            <a:spLocks noGrp="1"/>
          </p:cNvSpPr>
          <p:nvPr>
            <p:ph type="dt" sz="half" idx="2"/>
          </p:nvPr>
        </p:nvSpPr>
        <p:spPr>
          <a:noFill/>
        </p:spPr>
        <p:txBody>
          <a:bodyPr lIns="91440" tIns="45720" rIns="91440" bIns="45720" rtlCol="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105A22A-BE47-4644-99A4-8C4DEEB8EDAC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5363" name="灯片编号占位符 3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900" dirty="0">
                <a:solidFill>
                  <a:srgbClr val="898989"/>
                </a:solidFill>
                <a:latin typeface="Times New Roman" panose="02020603050405020304" pitchFamily="18" charset="0"/>
              </a:rPr>
              <a:t>5</a:t>
            </a:fld>
            <a:endParaRPr lang="zh-CN" altLang="en-US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364" name="Text Box 5"/>
          <p:cNvSpPr txBox="1"/>
          <p:nvPr/>
        </p:nvSpPr>
        <p:spPr>
          <a:xfrm>
            <a:off x="706438" y="2157413"/>
            <a:ext cx="81534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例：十进制数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1   2   3   1   5  .  6   1   8   0   9</a:t>
            </a:r>
          </a:p>
        </p:txBody>
      </p:sp>
      <p:sp>
        <p:nvSpPr>
          <p:cNvPr id="15365" name="Text Box 7"/>
          <p:cNvSpPr txBox="1"/>
          <p:nvPr/>
        </p:nvSpPr>
        <p:spPr>
          <a:xfrm>
            <a:off x="2163763" y="1893888"/>
            <a:ext cx="5886450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en-US" altLang="zh-CN" sz="1800" b="1" baseline="300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 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en-US" altLang="zh-CN" sz="1800" b="1" baseline="300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 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en-US" altLang="zh-CN" sz="1800" b="1" baseline="300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   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en-US" altLang="zh-CN" sz="1800" b="1" baseline="300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  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en-US" altLang="zh-CN" sz="1800" b="1" baseline="300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10</a:t>
            </a:r>
            <a:r>
              <a:rPr lang="en-US" altLang="zh-CN" sz="1800" b="1" baseline="300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-1 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en-US" altLang="zh-CN" sz="1800" b="1" baseline="300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-2 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en-US" altLang="zh-CN" sz="1800" b="1" baseline="300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-3 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en-US" altLang="zh-CN" sz="1800" b="1" baseline="300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-4 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en-US" altLang="zh-CN" sz="1800" b="1" baseline="300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-5</a:t>
            </a:r>
          </a:p>
        </p:txBody>
      </p:sp>
      <p:sp>
        <p:nvSpPr>
          <p:cNvPr id="15366" name="Text Box 8"/>
          <p:cNvSpPr txBox="1"/>
          <p:nvPr/>
        </p:nvSpPr>
        <p:spPr>
          <a:xfrm>
            <a:off x="515938" y="3211513"/>
            <a:ext cx="8016875" cy="78359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如上所示，处在不同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位置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的数字具有不同的“</a:t>
            </a:r>
            <a:r>
              <a:rPr lang="zh-CN" altLang="en-US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权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en-US" altLang="zh-CN" sz="1800" b="1" i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Weight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”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并列表示法，也称</a:t>
            </a:r>
            <a:r>
              <a:rPr lang="zh-CN" altLang="en-US" sz="1800" b="1" u="sng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位置计数法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  <p:sp>
        <p:nvSpPr>
          <p:cNvPr id="15367" name="Text Box 10"/>
          <p:cNvSpPr txBox="1"/>
          <p:nvPr/>
        </p:nvSpPr>
        <p:spPr>
          <a:xfrm>
            <a:off x="2163763" y="1016000"/>
            <a:ext cx="2392362" cy="7842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万  千  百  十  个</a:t>
            </a:r>
            <a:endParaRPr lang="en-US" altLang="zh-CN" sz="1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  位  位  位  位</a:t>
            </a:r>
          </a:p>
        </p:txBody>
      </p:sp>
      <p:grpSp>
        <p:nvGrpSpPr>
          <p:cNvPr id="15368" name="Group 13"/>
          <p:cNvGrpSpPr/>
          <p:nvPr/>
        </p:nvGrpSpPr>
        <p:grpSpPr>
          <a:xfrm>
            <a:off x="4013200" y="2497138"/>
            <a:ext cx="1447800" cy="593725"/>
            <a:chOff x="2888" y="912"/>
            <a:chExt cx="912" cy="499"/>
          </a:xfrm>
        </p:grpSpPr>
        <p:sp>
          <p:nvSpPr>
            <p:cNvPr id="15372" name="Text Box 11"/>
            <p:cNvSpPr txBox="1"/>
            <p:nvPr/>
          </p:nvSpPr>
          <p:spPr>
            <a:xfrm>
              <a:off x="2888" y="1104"/>
              <a:ext cx="912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sz="1800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小数点</a:t>
              </a:r>
            </a:p>
          </p:txBody>
        </p:sp>
        <p:sp>
          <p:nvSpPr>
            <p:cNvPr id="15373" name="Line 12"/>
            <p:cNvSpPr/>
            <p:nvPr/>
          </p:nvSpPr>
          <p:spPr>
            <a:xfrm flipH="1" flipV="1">
              <a:off x="3224" y="912"/>
              <a:ext cx="0" cy="192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15369" name="Text Box 15"/>
          <p:cNvSpPr txBox="1"/>
          <p:nvPr/>
        </p:nvSpPr>
        <p:spPr>
          <a:xfrm>
            <a:off x="4665980" y="1009650"/>
            <a:ext cx="264287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十  百  千  万  十万分  分  分  分  分  位  位  位  位  位</a:t>
            </a:r>
          </a:p>
        </p:txBody>
      </p:sp>
      <p:sp>
        <p:nvSpPr>
          <p:cNvPr id="15370" name="Rectangle 16"/>
          <p:cNvSpPr>
            <a:spLocks noGrp="1"/>
          </p:cNvSpPr>
          <p:nvPr>
            <p:ph type="title"/>
          </p:nvPr>
        </p:nvSpPr>
        <p:spPr>
          <a:xfrm>
            <a:off x="354330" y="721995"/>
            <a:ext cx="2743200" cy="52451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/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①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并列（式）表示法</a:t>
            </a:r>
          </a:p>
        </p:txBody>
      </p:sp>
      <p:sp>
        <p:nvSpPr>
          <p:cNvPr id="15371" name="Rectangle 2"/>
          <p:cNvSpPr txBox="1"/>
          <p:nvPr/>
        </p:nvSpPr>
        <p:spPr>
          <a:xfrm>
            <a:off x="5508625" y="52705"/>
            <a:ext cx="3111500" cy="40322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>
              <a:buFont typeface="Arial" panose="020B0604020202020204" pitchFamily="34" charset="0"/>
            </a:pPr>
            <a:r>
              <a:rPr lang="zh-CN" altLang="en-US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第</a:t>
            </a:r>
            <a:r>
              <a:rPr lang="en-US" altLang="zh-CN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1</a:t>
            </a:r>
            <a:r>
              <a:rPr lang="zh-CN" altLang="en-US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章 数字逻辑基础</a:t>
            </a: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1"/>
          <p:cNvSpPr txBox="1">
            <a:spLocks noGrp="1"/>
          </p:cNvSpPr>
          <p:nvPr>
            <p:ph type="dt" sz="half" idx="2"/>
          </p:nvPr>
        </p:nvSpPr>
        <p:spPr>
          <a:noFill/>
        </p:spPr>
        <p:txBody>
          <a:bodyPr lIns="91440" tIns="45720" rIns="91440" bIns="45720" rtlCol="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105A22A-BE47-4644-99A4-8C4DEEB8EDAC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6387" name="灯片编号占位符 3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900" dirty="0">
                <a:solidFill>
                  <a:srgbClr val="898989"/>
                </a:solidFill>
                <a:latin typeface="Times New Roman" panose="02020603050405020304" pitchFamily="18" charset="0"/>
              </a:rPr>
              <a:t>6</a:t>
            </a:fld>
            <a:endParaRPr lang="zh-CN" altLang="en-US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388" name="Text Box 6"/>
          <p:cNvSpPr txBox="1"/>
          <p:nvPr/>
        </p:nvSpPr>
        <p:spPr>
          <a:xfrm>
            <a:off x="604520" y="839788"/>
            <a:ext cx="8064500" cy="8655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4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②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多项式表示法： 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将并列式按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“权”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展开为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按权展开式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，称为多项式表示法。如下例： </a:t>
            </a:r>
          </a:p>
        </p:txBody>
      </p:sp>
      <p:sp>
        <p:nvSpPr>
          <p:cNvPr id="16389" name="Text Box 17"/>
          <p:cNvSpPr txBox="1"/>
          <p:nvPr/>
        </p:nvSpPr>
        <p:spPr>
          <a:xfrm>
            <a:off x="684213" y="1924050"/>
            <a:ext cx="7967662" cy="7842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12345.67809  = 1×10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+ 2×10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+ 3×10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+ 4×10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+ 5×10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 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+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6×10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-1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+ 7×10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-2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+ 8×10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-3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+ 0 ×10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-4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+ 9×10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-5</a:t>
            </a:r>
          </a:p>
        </p:txBody>
      </p:sp>
      <p:sp>
        <p:nvSpPr>
          <p:cNvPr id="16390" name="Rectangle 2"/>
          <p:cNvSpPr txBox="1"/>
          <p:nvPr/>
        </p:nvSpPr>
        <p:spPr>
          <a:xfrm>
            <a:off x="5508625" y="52705"/>
            <a:ext cx="3111500" cy="40322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>
              <a:buFont typeface="Arial" panose="020B0604020202020204" pitchFamily="34" charset="0"/>
            </a:pPr>
            <a:r>
              <a:rPr lang="zh-CN" altLang="en-US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第</a:t>
            </a:r>
            <a:r>
              <a:rPr lang="en-US" altLang="zh-CN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1</a:t>
            </a:r>
            <a:r>
              <a:rPr lang="zh-CN" altLang="en-US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章 数字逻辑基础</a:t>
            </a:r>
          </a:p>
        </p:txBody>
      </p:sp>
    </p:spTree>
  </p:cSld>
  <p:clrMapOvr>
    <a:masterClrMapping/>
  </p:clrMapOvr>
  <p:transition advTm="25000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B610CD7-486A-4020-95FE-34D37A018AC8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7411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  <a:t>7</a:t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412" name="Rectangle 2"/>
          <p:cNvSpPr>
            <a:spLocks noGrp="1"/>
          </p:cNvSpPr>
          <p:nvPr>
            <p:ph type="title"/>
          </p:nvPr>
        </p:nvSpPr>
        <p:spPr>
          <a:xfrm>
            <a:off x="1252538" y="534988"/>
            <a:ext cx="7389812" cy="57150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由此推出，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任意一个十进制数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 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可以表示成：</a:t>
            </a:r>
          </a:p>
        </p:txBody>
      </p:sp>
      <p:sp>
        <p:nvSpPr>
          <p:cNvPr id="17413" name="Rectangle 3"/>
          <p:cNvSpPr>
            <a:spLocks noGrp="1"/>
          </p:cNvSpPr>
          <p:nvPr>
            <p:ph idx="1"/>
          </p:nvPr>
        </p:nvSpPr>
        <p:spPr>
          <a:xfrm>
            <a:off x="430213" y="944563"/>
            <a:ext cx="9144000" cy="981075"/>
          </a:xfrm>
          <a:noFill/>
          <a:ln>
            <a:noFill/>
          </a:ln>
        </p:spPr>
        <p:txBody>
          <a:bodyPr/>
          <a:lstStyle/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①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并列表示法：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( K 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n-1 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K 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n-2 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…K 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1 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K 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0 </a:t>
            </a:r>
            <a:r>
              <a:rPr lang="en-US" altLang="zh-CN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K 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-1 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K 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-2 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…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K 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-m 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) 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10       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( 0 ≤ K 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i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 ≤ 9 ) </a:t>
            </a:r>
          </a:p>
        </p:txBody>
      </p:sp>
      <p:sp>
        <p:nvSpPr>
          <p:cNvPr id="17414" name="Text Box 9"/>
          <p:cNvSpPr txBox="1"/>
          <p:nvPr/>
        </p:nvSpPr>
        <p:spPr>
          <a:xfrm>
            <a:off x="468313" y="2066925"/>
            <a:ext cx="9202737" cy="14922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40000"/>
              </a:lnSpc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 K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n-1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×10 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n-1 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 K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n-2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×10 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n-2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… + K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×10 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</a:p>
          <a:p>
            <a:pPr eaLnBrk="1" hangingPunct="1">
              <a:lnSpc>
                <a:spcPct val="140000"/>
              </a:lnSpc>
              <a:buFont typeface="Arial" panose="020B0604020202020204" pitchFamily="34" charset="0"/>
            </a:pP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	            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K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×10 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 K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-1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×10 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-1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K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-2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×10 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-2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…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  <a:p>
            <a:pPr eaLnBrk="1" hangingPunct="1">
              <a:lnSpc>
                <a:spcPct val="140000"/>
              </a:lnSpc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	        +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K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-m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×10 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-m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= (∑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K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  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×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10 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     </a:t>
            </a:r>
          </a:p>
          <a:p>
            <a:pPr eaLnBrk="1" hangingPunct="1">
              <a:lnSpc>
                <a:spcPct val="140000"/>
              </a:lnSpc>
              <a:buFont typeface="Arial" panose="020B0604020202020204" pitchFamily="34" charset="0"/>
            </a:pP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                                                                                     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             </a:t>
            </a:r>
            <a:endParaRPr lang="en-US" altLang="zh-CN" sz="18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415" name="Text Box 11"/>
          <p:cNvSpPr txBox="1"/>
          <p:nvPr/>
        </p:nvSpPr>
        <p:spPr>
          <a:xfrm>
            <a:off x="430213" y="1630363"/>
            <a:ext cx="5638800" cy="50673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50000"/>
              </a:lnSpc>
              <a:buFont typeface="Arial" panose="020B0604020202020204" pitchFamily="34" charset="0"/>
            </a:pP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②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多项式表示法：</a:t>
            </a:r>
          </a:p>
        </p:txBody>
      </p:sp>
      <p:sp>
        <p:nvSpPr>
          <p:cNvPr id="17416" name="Text Box 13"/>
          <p:cNvSpPr txBox="1"/>
          <p:nvPr/>
        </p:nvSpPr>
        <p:spPr>
          <a:xfrm>
            <a:off x="310833" y="3630930"/>
            <a:ext cx="8832850" cy="10318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8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我们将这两种表示法记作：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en-US" altLang="zh-CN" sz="1800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zh-CN" altLang="en-US" sz="1800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读作：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的十进制表示。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如：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N=8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时，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 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读作：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的十进制表示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即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：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(8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 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。同时：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(N) </a:t>
            </a:r>
            <a:r>
              <a:rPr lang="en-US" altLang="zh-CN" sz="1800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zh-CN" altLang="en-US" sz="1800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读作：十进制的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N(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表示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(8) </a:t>
            </a:r>
            <a:r>
              <a:rPr lang="en-US" altLang="zh-CN" sz="1800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读作：十进制的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8(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表示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  <p:sp>
        <p:nvSpPr>
          <p:cNvPr id="17417" name="Text Box 14"/>
          <p:cNvSpPr txBox="1"/>
          <p:nvPr/>
        </p:nvSpPr>
        <p:spPr>
          <a:xfrm>
            <a:off x="4929188" y="2716213"/>
            <a:ext cx="588962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n-1</a:t>
            </a:r>
          </a:p>
        </p:txBody>
      </p:sp>
      <p:sp>
        <p:nvSpPr>
          <p:cNvPr id="17418" name="Rectangle 2"/>
          <p:cNvSpPr txBox="1"/>
          <p:nvPr/>
        </p:nvSpPr>
        <p:spPr>
          <a:xfrm>
            <a:off x="5508625" y="52705"/>
            <a:ext cx="3111500" cy="39497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>
              <a:buFont typeface="Arial" panose="020B0604020202020204" pitchFamily="34" charset="0"/>
            </a:pPr>
            <a:r>
              <a:rPr lang="zh-CN" altLang="en-US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第</a:t>
            </a:r>
            <a:r>
              <a:rPr lang="en-US" altLang="zh-CN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1</a:t>
            </a:r>
            <a:r>
              <a:rPr lang="zh-CN" altLang="en-US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章 数字逻辑基础</a:t>
            </a:r>
          </a:p>
        </p:txBody>
      </p:sp>
      <p:sp>
        <p:nvSpPr>
          <p:cNvPr id="17419" name="Text Box 7"/>
          <p:cNvSpPr txBox="1"/>
          <p:nvPr/>
        </p:nvSpPr>
        <p:spPr>
          <a:xfrm>
            <a:off x="4837113" y="3076575"/>
            <a:ext cx="1506537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 =-m</a:t>
            </a:r>
          </a:p>
        </p:txBody>
      </p:sp>
      <p:sp>
        <p:nvSpPr>
          <p:cNvPr id="17420" name="文本框 7"/>
          <p:cNvSpPr txBox="1"/>
          <p:nvPr/>
        </p:nvSpPr>
        <p:spPr>
          <a:xfrm>
            <a:off x="5651500" y="3178175"/>
            <a:ext cx="2160588" cy="4746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lnSpc>
                <a:spcPct val="140000"/>
              </a:lnSpc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Arial" panose="020B0604020202020204" pitchFamily="34" charset="0"/>
              </a:rPr>
              <a:t>( 0 ≤ K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Arial" panose="020B0604020202020204" pitchFamily="34" charset="0"/>
              </a:rPr>
              <a:t>i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Arial" panose="020B0604020202020204" pitchFamily="34" charset="0"/>
              </a:rPr>
              <a:t>≤ 9 ) </a:t>
            </a:r>
            <a:endParaRPr lang="zh-CN" altLang="en-US" sz="18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D44B935-348E-4893-A994-E9C90F0C604D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8435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  <a:t>8</a:t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436" name="Rectangle 2"/>
          <p:cNvSpPr>
            <a:spLocks noGrp="1"/>
          </p:cNvSpPr>
          <p:nvPr>
            <p:ph type="title"/>
          </p:nvPr>
        </p:nvSpPr>
        <p:spPr>
          <a:xfrm>
            <a:off x="949325" y="1171575"/>
            <a:ext cx="7410450" cy="487363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对于一个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进制的数，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为任意的进制数，有：</a:t>
            </a:r>
          </a:p>
        </p:txBody>
      </p:sp>
      <p:sp>
        <p:nvSpPr>
          <p:cNvPr id="18437" name="Rectangle 3"/>
          <p:cNvSpPr>
            <a:spLocks noGrp="1"/>
          </p:cNvSpPr>
          <p:nvPr>
            <p:ph idx="1"/>
          </p:nvPr>
        </p:nvSpPr>
        <p:spPr>
          <a:xfrm>
            <a:off x="990283" y="1609725"/>
            <a:ext cx="7640637" cy="2057400"/>
          </a:xfrm>
          <a:noFill/>
          <a:ln>
            <a:noFill/>
          </a:ln>
        </p:spPr>
        <p:txBody>
          <a:bodyPr/>
          <a:lstStyle/>
          <a:p>
            <a:pPr eaLnBrk="1" hangingPunct="1">
              <a:spcBef>
                <a:spcPct val="50000"/>
              </a:spcBef>
              <a:buNone/>
            </a:pP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）特点：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Font typeface="宋体" panose="02010600030101010101" pitchFamily="2" charset="-122"/>
              <a:buAutoNum type="circleNumDbPlain"/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R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个有序的数字符号：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、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…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R-1 ;</a:t>
            </a:r>
          </a:p>
          <a:p>
            <a:pPr eaLnBrk="1" hangingPunct="1">
              <a:spcBef>
                <a:spcPct val="50000"/>
              </a:spcBef>
              <a:buFont typeface="宋体" panose="02010600030101010101" pitchFamily="2" charset="-122"/>
              <a:buAutoNum type="circleNumDbPlain"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个特殊符号：“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.”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， “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+”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， “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-”</a:t>
            </a:r>
          </a:p>
          <a:p>
            <a:pPr eaLnBrk="1" hangingPunct="1">
              <a:spcBef>
                <a:spcPct val="50000"/>
              </a:spcBef>
              <a:buFont typeface="宋体" panose="02010600030101010101" pitchFamily="2" charset="-122"/>
              <a:buAutoNum type="circleNumDbPlain"/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“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逢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进一”的计数规则</a:t>
            </a:r>
          </a:p>
          <a:p>
            <a:pPr eaLnBrk="1" hangingPunct="1">
              <a:spcBef>
                <a:spcPct val="50000"/>
              </a:spcBef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    其中：“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R”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为进位基数或基数。</a:t>
            </a:r>
          </a:p>
        </p:txBody>
      </p:sp>
      <p:sp>
        <p:nvSpPr>
          <p:cNvPr id="18438" name="Text Box 5"/>
          <p:cNvSpPr txBox="1"/>
          <p:nvPr/>
        </p:nvSpPr>
        <p:spPr>
          <a:xfrm>
            <a:off x="304800" y="3751263"/>
            <a:ext cx="8610600" cy="11922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例：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R=2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 二进制，数字符号有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，逢二进一；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R=10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，十进制，数字符号有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0,1,2,3,4,5,6,7,8,9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，逢十进一；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… …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18439" name="矩形 5"/>
          <p:cNvSpPr/>
          <p:nvPr/>
        </p:nvSpPr>
        <p:spPr>
          <a:xfrm>
            <a:off x="322263" y="623888"/>
            <a:ext cx="80740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r>
              <a:rPr lang="en-US" altLang="zh-CN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（续）</a:t>
            </a:r>
            <a:r>
              <a:rPr lang="en-US" altLang="zh-CN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任意进位计数制的特点、表示法和运算规则</a:t>
            </a:r>
          </a:p>
        </p:txBody>
      </p:sp>
      <p:sp>
        <p:nvSpPr>
          <p:cNvPr id="18440" name="Rectangle 2"/>
          <p:cNvSpPr txBox="1"/>
          <p:nvPr/>
        </p:nvSpPr>
        <p:spPr>
          <a:xfrm>
            <a:off x="5508625" y="52705"/>
            <a:ext cx="3111500" cy="39433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>
              <a:buFont typeface="Arial" panose="020B0604020202020204" pitchFamily="34" charset="0"/>
            </a:pPr>
            <a:r>
              <a:rPr lang="zh-CN" altLang="en-US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第</a:t>
            </a:r>
            <a:r>
              <a:rPr lang="en-US" altLang="zh-CN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1</a:t>
            </a:r>
            <a:r>
              <a:rPr lang="zh-CN" altLang="en-US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章 数字逻辑基础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D5DD574-CF27-4D65-8D07-9B56DD300260}"/>
              </a:ext>
            </a:extLst>
          </p:cNvPr>
          <p:cNvSpPr txBox="1"/>
          <p:nvPr/>
        </p:nvSpPr>
        <p:spPr>
          <a:xfrm>
            <a:off x="6082494" y="3027735"/>
            <a:ext cx="28083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>
                <a:solidFill>
                  <a:srgbClr val="0000FF"/>
                </a:solidFill>
              </a:rPr>
              <a:t>任意</a:t>
            </a:r>
            <a:r>
              <a:rPr lang="en-US" altLang="zh-CN" sz="1800" dirty="0">
                <a:solidFill>
                  <a:srgbClr val="0000FF"/>
                </a:solidFill>
              </a:rPr>
              <a:t>R</a:t>
            </a:r>
            <a:r>
              <a:rPr lang="zh-CN" altLang="en-US" sz="1800" dirty="0">
                <a:solidFill>
                  <a:srgbClr val="0000FF"/>
                </a:solidFill>
              </a:rPr>
              <a:t>进制的基数可用“</a:t>
            </a:r>
            <a:r>
              <a:rPr lang="en-US" altLang="zh-CN" sz="1800" dirty="0">
                <a:solidFill>
                  <a:srgbClr val="0000FF"/>
                </a:solidFill>
              </a:rPr>
              <a:t>10</a:t>
            </a:r>
            <a:r>
              <a:rPr lang="zh-CN" altLang="en-US" sz="1800" dirty="0">
                <a:solidFill>
                  <a:srgbClr val="0000FF"/>
                </a:solidFill>
              </a:rPr>
              <a:t>”表示！</a:t>
            </a: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6" grpId="0"/>
      <p:bldP spid="18437" grpId="0" build="p"/>
      <p:bldP spid="18438" grpId="0"/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4"/>
          <p:cNvSpPr txBox="1">
            <a:spLocks noGrp="1" noChangeArrowheads="1"/>
          </p:cNvSpPr>
          <p:nvPr>
            <p:ph type="dt" sz="half" idx="2"/>
          </p:nvPr>
        </p:nvSpPr>
        <p:spPr>
          <a:xfrm>
            <a:off x="915670" y="4767263"/>
            <a:ext cx="2057400" cy="274638"/>
          </a:xfrm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9C4AB4D-1CA3-4063-B38C-664CC06FAA74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9459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74497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  <a:t>9</a:t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484" name="Rectangle 2"/>
          <p:cNvSpPr>
            <a:spLocks noGrp="1"/>
          </p:cNvSpPr>
          <p:nvPr>
            <p:ph type="title"/>
          </p:nvPr>
        </p:nvSpPr>
        <p:spPr>
          <a:xfrm>
            <a:off x="572770" y="554038"/>
            <a:ext cx="8020050" cy="36195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）表示法</a:t>
            </a:r>
          </a:p>
        </p:txBody>
      </p:sp>
      <p:sp>
        <p:nvSpPr>
          <p:cNvPr id="20485" name="Rectangle 3"/>
          <p:cNvSpPr>
            <a:spLocks noGrp="1"/>
          </p:cNvSpPr>
          <p:nvPr>
            <p:ph idx="1"/>
          </p:nvPr>
        </p:nvSpPr>
        <p:spPr>
          <a:xfrm>
            <a:off x="488633" y="787400"/>
            <a:ext cx="8716962" cy="950913"/>
          </a:xfrm>
          <a:noFill/>
          <a:ln>
            <a:noFill/>
          </a:ln>
        </p:spPr>
        <p:txBody>
          <a:bodyPr/>
          <a:lstStyle/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①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并列式表示法 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  (A 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n-1 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A 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n-2 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…A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1 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A 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0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A 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-1 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A 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-2 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…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A 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-m 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R      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(0≤A 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i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≤R-1)</a:t>
            </a:r>
          </a:p>
        </p:txBody>
      </p:sp>
      <p:sp>
        <p:nvSpPr>
          <p:cNvPr id="20486" name="Text Box 13"/>
          <p:cNvSpPr txBox="1"/>
          <p:nvPr/>
        </p:nvSpPr>
        <p:spPr>
          <a:xfrm>
            <a:off x="477520" y="1684338"/>
            <a:ext cx="5164138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②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多项式表示法</a:t>
            </a:r>
          </a:p>
        </p:txBody>
      </p:sp>
      <p:sp>
        <p:nvSpPr>
          <p:cNvPr id="20487" name="Rectangle 20"/>
          <p:cNvSpPr/>
          <p:nvPr/>
        </p:nvSpPr>
        <p:spPr>
          <a:xfrm>
            <a:off x="525145" y="2076450"/>
            <a:ext cx="8905875" cy="10287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(A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n-1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×10 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n-1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 A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n-2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×10 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n-2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… + A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×10 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×10 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 </a:t>
            </a:r>
          </a:p>
          <a:p>
            <a:pPr eaLnBrk="1" hangingPunct="1">
              <a:buFont typeface="Arial" panose="020B0604020202020204" pitchFamily="34" charset="0"/>
            </a:pPr>
            <a:endParaRPr lang="en-US" altLang="zh-CN" sz="18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 A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-1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×10 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-1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-2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×10 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-2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…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+A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-m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×10 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-m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 </a:t>
            </a:r>
            <a:endParaRPr lang="en-US" altLang="zh-CN" sz="18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488" name="Text Box 22"/>
          <p:cNvSpPr txBox="1"/>
          <p:nvPr/>
        </p:nvSpPr>
        <p:spPr>
          <a:xfrm>
            <a:off x="5654358" y="3036888"/>
            <a:ext cx="1352550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 = -m</a:t>
            </a:r>
          </a:p>
        </p:txBody>
      </p:sp>
      <p:sp>
        <p:nvSpPr>
          <p:cNvPr id="20489" name="Text Box 23"/>
          <p:cNvSpPr txBox="1"/>
          <p:nvPr/>
        </p:nvSpPr>
        <p:spPr>
          <a:xfrm>
            <a:off x="5757545" y="2481263"/>
            <a:ext cx="830263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 -1</a:t>
            </a:r>
          </a:p>
        </p:txBody>
      </p:sp>
      <p:sp>
        <p:nvSpPr>
          <p:cNvPr id="20490" name="Text Box 24"/>
          <p:cNvSpPr txBox="1"/>
          <p:nvPr/>
        </p:nvSpPr>
        <p:spPr>
          <a:xfrm>
            <a:off x="5397183" y="2716213"/>
            <a:ext cx="2819400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( ∑ A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× 10 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19467" name="Text Box 25"/>
          <p:cNvSpPr txBox="1"/>
          <p:nvPr/>
        </p:nvSpPr>
        <p:spPr>
          <a:xfrm>
            <a:off x="466408" y="3435350"/>
            <a:ext cx="7631112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其中：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代表整数位数，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代表小数位数 ，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0≤A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≤R-1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为进位基数。当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R=10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时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，则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括号及括号外的基数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可以省略。</a:t>
            </a:r>
          </a:p>
        </p:txBody>
      </p:sp>
      <p:sp>
        <p:nvSpPr>
          <p:cNvPr id="19468" name="Text Box 28"/>
          <p:cNvSpPr txBox="1"/>
          <p:nvPr/>
        </p:nvSpPr>
        <p:spPr>
          <a:xfrm>
            <a:off x="515620" y="4141788"/>
            <a:ext cx="8915400" cy="777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我们将这两种表示法记作：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en-US" altLang="zh-CN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zh-CN" altLang="en-US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读作：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进制表示（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为十进制数）。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如：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N=2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R=8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时，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读作：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的八进制表示，即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：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(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2)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20493" name="Rectangle 2"/>
          <p:cNvSpPr txBox="1"/>
          <p:nvPr/>
        </p:nvSpPr>
        <p:spPr>
          <a:xfrm>
            <a:off x="5795645" y="52705"/>
            <a:ext cx="3111500" cy="39497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>
              <a:buFont typeface="Arial" panose="020B0604020202020204" pitchFamily="34" charset="0"/>
            </a:pPr>
            <a:r>
              <a:rPr lang="zh-CN" altLang="en-US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第</a:t>
            </a:r>
            <a:r>
              <a:rPr lang="en-US" altLang="zh-CN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1</a:t>
            </a:r>
            <a:r>
              <a:rPr lang="zh-CN" altLang="en-US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章 数字逻辑基础</a:t>
            </a: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/>
      <p:bldP spid="19467" grpId="0"/>
      <p:bldP spid="1946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0E9BF36-3819-421B-9532-B2D68F1CA220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21507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  <a:t>10</a:t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508" name="Rectangle 3"/>
          <p:cNvSpPr>
            <a:spLocks noGrp="1"/>
          </p:cNvSpPr>
          <p:nvPr>
            <p:ph type="title"/>
          </p:nvPr>
        </p:nvSpPr>
        <p:spPr>
          <a:xfrm>
            <a:off x="541338" y="762000"/>
            <a:ext cx="7412037" cy="1514475"/>
          </a:xfrm>
          <a:noFill/>
          <a:ln>
            <a:noFill/>
          </a:ln>
        </p:spPr>
        <p:txBody>
          <a:bodyPr/>
          <a:lstStyle/>
          <a:p>
            <a:pPr eaLnBrk="1" hangingPunct="1">
              <a:lnSpc>
                <a:spcPct val="1000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不同进位计数制的数值具有等值表示关系：</a:t>
            </a:r>
            <a:br>
              <a:rPr lang="zh-CN" altLang="en-US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</a:br>
            <a:br>
              <a:rPr lang="zh-CN" altLang="en-US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zh-CN" altLang="en-US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</a:t>
            </a:r>
            <a:r>
              <a:rPr lang="en-US" altLang="zh-CN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  =  N</a:t>
            </a:r>
            <a:r>
              <a:rPr lang="en-US" altLang="zh-CN" sz="2000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en-US" altLang="zh-CN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zh-CN" altLang="en-US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zh-CN" altLang="en-US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en-US" altLang="zh-CN" sz="2000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  </a:t>
            </a:r>
            <a:r>
              <a:rPr lang="en-US" altLang="zh-CN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  N </a:t>
            </a:r>
            <a:r>
              <a:rPr lang="en-US" altLang="zh-CN" sz="2000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zh-CN" altLang="en-US" sz="2000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zh-CN" altLang="en-US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zh-CN" altLang="en-US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en-US" altLang="zh-CN" sz="2000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br>
              <a:rPr lang="en-US" altLang="zh-CN" sz="2000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en-US" altLang="zh-CN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              </a:t>
            </a:r>
            <a:r>
              <a:rPr lang="zh-CN" altLang="en-US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zh-CN" altLang="en-US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为十进制数）</a:t>
            </a:r>
          </a:p>
        </p:txBody>
      </p:sp>
      <p:sp>
        <p:nvSpPr>
          <p:cNvPr id="20485" name="Rectangle 21"/>
          <p:cNvSpPr>
            <a:spLocks noGrp="1"/>
          </p:cNvSpPr>
          <p:nvPr>
            <p:ph idx="1"/>
          </p:nvPr>
        </p:nvSpPr>
        <p:spPr>
          <a:xfrm>
            <a:off x="446088" y="2289175"/>
            <a:ext cx="8382000" cy="2405063"/>
          </a:xfrm>
          <a:noFill/>
          <a:ln>
            <a:noFill/>
          </a:ln>
        </p:spPr>
        <p:txBody>
          <a:bodyPr/>
          <a:lstStyle/>
          <a:p>
            <a:pPr eaLnBrk="1" hangingPunct="1">
              <a:spcBef>
                <a:spcPct val="50000"/>
              </a:spcBef>
              <a:buNone/>
            </a:pP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参见书 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P5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表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1.1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（见下页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PPT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）。如十进制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13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可查表得其八进制和二进制表示：</a:t>
            </a:r>
          </a:p>
          <a:p>
            <a:pPr eaLnBrk="1" hangingPunct="1">
              <a:spcBef>
                <a:spcPct val="50000"/>
              </a:spcBef>
              <a:buNone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            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13  = (13) </a:t>
            </a:r>
            <a:r>
              <a:rPr lang="en-US" altLang="zh-CN" sz="20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   </a:t>
            </a:r>
            <a:r>
              <a:rPr lang="en-US" altLang="zh-CN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= 13</a:t>
            </a:r>
            <a:r>
              <a:rPr lang="en-US" altLang="zh-CN" sz="2000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 = (15) </a:t>
            </a:r>
            <a:r>
              <a:rPr lang="en-US" altLang="zh-CN" sz="20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8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 = (1101) </a:t>
            </a:r>
            <a:r>
              <a:rPr lang="en-US" altLang="zh-CN" sz="20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 </a:t>
            </a:r>
          </a:p>
          <a:p>
            <a:pPr eaLnBrk="1" hangingPunct="1">
              <a:spcBef>
                <a:spcPct val="50000"/>
              </a:spcBef>
              <a:buNone/>
            </a:pPr>
            <a:r>
              <a:rPr lang="en-US" altLang="zh-CN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3</a:t>
            </a:r>
            <a:r>
              <a:rPr lang="zh-CN" altLang="en-US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）</a:t>
            </a:r>
            <a:r>
              <a:rPr lang="en-US" altLang="zh-CN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 </a:t>
            </a:r>
            <a:r>
              <a:rPr lang="zh-CN" altLang="en-US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运算规则：</a:t>
            </a:r>
          </a:p>
          <a:p>
            <a:pPr eaLnBrk="1" hangingPunct="1">
              <a:lnSpc>
                <a:spcPct val="120000"/>
              </a:lnSpc>
              <a:spcBef>
                <a:spcPts val="1200"/>
              </a:spcBef>
              <a:buNone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     在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R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进制中，相应的运算（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+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，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-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，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X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，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/ 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）规则与十进制一样。</a:t>
            </a:r>
            <a:r>
              <a:rPr lang="zh-CN" altLang="en-US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必须特别注意：逢</a:t>
            </a:r>
            <a:r>
              <a:rPr lang="en-US" altLang="zh-CN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R</a:t>
            </a:r>
            <a:r>
              <a:rPr lang="zh-CN" altLang="en-US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进一。</a:t>
            </a:r>
          </a:p>
        </p:txBody>
      </p:sp>
      <p:sp>
        <p:nvSpPr>
          <p:cNvPr id="21510" name="Rectangle 2"/>
          <p:cNvSpPr txBox="1"/>
          <p:nvPr/>
        </p:nvSpPr>
        <p:spPr>
          <a:xfrm>
            <a:off x="5508625" y="52705"/>
            <a:ext cx="3111500" cy="43624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>
              <a:buFont typeface="Arial" panose="020B0604020202020204" pitchFamily="34" charset="0"/>
            </a:pPr>
            <a:r>
              <a:rPr lang="zh-CN" altLang="en-US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第</a:t>
            </a:r>
            <a:r>
              <a:rPr lang="en-US" altLang="zh-CN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1</a:t>
            </a:r>
            <a:r>
              <a:rPr lang="zh-CN" altLang="en-US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章 数字逻辑基础</a:t>
            </a: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>
                                            <p:txEl>
                                              <p:charRg st="84" end="9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>
                                            <p:txEl>
                                              <p:charRg st="93" end="1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1"/>
          <p:cNvSpPr txBox="1">
            <a:spLocks noGrp="1"/>
          </p:cNvSpPr>
          <p:nvPr>
            <p:ph type="dt" sz="half" idx="2"/>
          </p:nvPr>
        </p:nvSpPr>
        <p:spPr>
          <a:noFill/>
        </p:spPr>
        <p:txBody>
          <a:bodyPr lIns="91440" tIns="45720" rIns="91440" bIns="45720" rtlCol="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105A22A-BE47-4644-99A4-8C4DEEB8EDAC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22531" name="灯片编号占位符 3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900" dirty="0">
                <a:solidFill>
                  <a:srgbClr val="898989"/>
                </a:solidFill>
                <a:latin typeface="Times New Roman" panose="02020603050405020304" pitchFamily="18" charset="0"/>
              </a:rPr>
              <a:t>11</a:t>
            </a:fld>
            <a:endParaRPr lang="zh-CN" altLang="en-US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33824" name="Group 32"/>
          <p:cNvGraphicFramePr>
            <a:graphicFrameLocks noGrp="1"/>
          </p:cNvGraphicFramePr>
          <p:nvPr/>
        </p:nvGraphicFramePr>
        <p:xfrm>
          <a:off x="609600" y="700088"/>
          <a:ext cx="7046912" cy="3971925"/>
        </p:xfrm>
        <a:graphic>
          <a:graphicData uri="http://schemas.openxmlformats.org/drawingml/2006/table">
            <a:tbl>
              <a:tblPr/>
              <a:tblGrid>
                <a:gridCol w="11327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56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75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38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38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531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145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R=10</a:t>
                      </a:r>
                    </a:p>
                  </a:txBody>
                  <a:tcPr marL="91436" marR="91436" marT="34286" marB="342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R=2</a:t>
                      </a:r>
                    </a:p>
                  </a:txBody>
                  <a:tcPr marL="91436" marR="91436" marT="34286" marB="342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R=3</a:t>
                      </a:r>
                    </a:p>
                  </a:txBody>
                  <a:tcPr marL="91436" marR="91436" marT="34286" marB="342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R=4</a:t>
                      </a:r>
                    </a:p>
                  </a:txBody>
                  <a:tcPr marL="91436" marR="91436" marT="34286" marB="342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R=8</a:t>
                      </a:r>
                    </a:p>
                  </a:txBody>
                  <a:tcPr marL="91436" marR="91436" marT="34286" marB="342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R=16</a:t>
                      </a:r>
                    </a:p>
                  </a:txBody>
                  <a:tcPr marL="91436" marR="91436" marT="34286" marB="342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04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…</a:t>
                      </a:r>
                    </a:p>
                  </a:txBody>
                  <a:tcPr marL="91436" marR="91436" marT="34286" marB="342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1001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1010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1011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1101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1110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1111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10001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…</a:t>
                      </a:r>
                    </a:p>
                  </a:txBody>
                  <a:tcPr marL="91436" marR="91436" marT="34286" marB="342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120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121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122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…</a:t>
                      </a:r>
                    </a:p>
                  </a:txBody>
                  <a:tcPr marL="91436" marR="91436" marT="34286" marB="342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…</a:t>
                      </a:r>
                    </a:p>
                  </a:txBody>
                  <a:tcPr marL="91436" marR="91436" marT="34286" marB="342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…</a:t>
                      </a:r>
                    </a:p>
                  </a:txBody>
                  <a:tcPr marL="91436" marR="91436" marT="34286" marB="342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…</a:t>
                      </a:r>
                    </a:p>
                  </a:txBody>
                  <a:tcPr marL="91436" marR="91436" marT="34286" marB="342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2555" name="Rectangle 2"/>
          <p:cNvSpPr txBox="1"/>
          <p:nvPr/>
        </p:nvSpPr>
        <p:spPr>
          <a:xfrm>
            <a:off x="5508625" y="52705"/>
            <a:ext cx="3111500" cy="40322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>
              <a:buFont typeface="Arial" panose="020B0604020202020204" pitchFamily="34" charset="0"/>
            </a:pPr>
            <a:r>
              <a:rPr lang="zh-CN" altLang="en-US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第</a:t>
            </a:r>
            <a:r>
              <a:rPr lang="en-US" altLang="zh-CN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1</a:t>
            </a:r>
            <a:r>
              <a:rPr lang="zh-CN" altLang="en-US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章 数字逻辑基础</a:t>
            </a:r>
          </a:p>
        </p:txBody>
      </p:sp>
      <p:cxnSp>
        <p:nvCxnSpPr>
          <p:cNvPr id="2" name="直接连接符 1"/>
          <p:cNvCxnSpPr/>
          <p:nvPr/>
        </p:nvCxnSpPr>
        <p:spPr>
          <a:xfrm flipV="1">
            <a:off x="556895" y="3515995"/>
            <a:ext cx="7152005" cy="2667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769F2E2-48C6-4FEC-804E-4AF7F7DC7CE2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23555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  <a:t>12</a:t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556" name="Rectangle 2"/>
          <p:cNvSpPr>
            <a:spLocks noGrp="1"/>
          </p:cNvSpPr>
          <p:nvPr>
            <p:ph type="title"/>
          </p:nvPr>
        </p:nvSpPr>
        <p:spPr>
          <a:xfrm>
            <a:off x="391160" y="601980"/>
            <a:ext cx="8228965" cy="40005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20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特例：二进制数为计算机中的表示和运算的基础，特予以关注：</a:t>
            </a:r>
          </a:p>
        </p:txBody>
      </p:sp>
      <p:sp>
        <p:nvSpPr>
          <p:cNvPr id="23557" name="Rectangle 67"/>
          <p:cNvSpPr>
            <a:spLocks noGrp="1"/>
          </p:cNvSpPr>
          <p:nvPr>
            <p:ph idx="1"/>
          </p:nvPr>
        </p:nvSpPr>
        <p:spPr>
          <a:xfrm>
            <a:off x="301625" y="1049338"/>
            <a:ext cx="8556625" cy="1874837"/>
          </a:xfrm>
          <a:noFill/>
          <a:ln>
            <a:noFill/>
          </a:ln>
        </p:spPr>
        <p:txBody>
          <a:bodyPr/>
          <a:lstStyle/>
          <a:p>
            <a:pPr marL="514350" indent="-514350" eaLnBrk="1" hangingPunct="1">
              <a:lnSpc>
                <a:spcPct val="80000"/>
              </a:lnSpc>
              <a:spcBef>
                <a:spcPct val="50000"/>
              </a:spcBef>
              <a:buFont typeface="宋体" panose="02010600030101010101" pitchFamily="2" charset="-122"/>
              <a:buAutoNum type="circleNumDbPlain"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运算规则： 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＋ 、－、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×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÷</a:t>
            </a:r>
          </a:p>
          <a:p>
            <a:pPr marL="514350" indent="-514350" eaLnBrk="1" hangingPunct="1"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（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×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、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÷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运算可以由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、 －运算来实现）</a:t>
            </a:r>
          </a:p>
          <a:p>
            <a:pPr marL="514350" indent="-514350" eaLnBrk="1" hangingPunct="1">
              <a:lnSpc>
                <a:spcPct val="80000"/>
              </a:lnSpc>
              <a:spcBef>
                <a:spcPct val="50000"/>
              </a:spcBef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加法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规则：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 + 0 = 0   0 + 1= 1+ 0 =1    1 + 1= 10</a:t>
            </a:r>
          </a:p>
          <a:p>
            <a:pPr marL="514350" indent="-514350" eaLnBrk="1" hangingPunct="1"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乘法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规则：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 ×0 = 0   0×1 = 1×0 =0    1×1 = 1</a:t>
            </a:r>
          </a:p>
          <a:p>
            <a:pPr marL="514350" indent="-514350" eaLnBrk="1" hangingPunct="1">
              <a:lnSpc>
                <a:spcPct val="80000"/>
              </a:lnSpc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②  常用的二进制常数要记住相应的十进制值（还要注意与通信上的术语差异）。</a:t>
            </a:r>
          </a:p>
        </p:txBody>
      </p:sp>
      <p:graphicFrame>
        <p:nvGraphicFramePr>
          <p:cNvPr id="28798" name="Group 126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903288" y="2890838"/>
          <a:ext cx="5881714" cy="2101850"/>
        </p:xfrm>
        <a:graphic>
          <a:graphicData uri="http://schemas.openxmlformats.org/drawingml/2006/table">
            <a:tbl>
              <a:tblPr/>
              <a:tblGrid>
                <a:gridCol w="515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81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84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67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2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065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88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  <a:endParaRPr kumimoji="1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5" marR="91435" marT="34286" marB="342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</a:t>
                      </a:r>
                      <a:r>
                        <a:rPr kumimoji="1" lang="en-US" altLang="zh-CN" sz="16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</a:p>
                  </a:txBody>
                  <a:tcPr marL="91435" marR="91435" marT="34286" marB="342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</a:p>
                  </a:txBody>
                  <a:tcPr marL="91435" marR="91435" marT="34286" marB="342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</a:t>
                      </a:r>
                      <a:r>
                        <a:rPr kumimoji="1" lang="en-US" altLang="zh-CN" sz="16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</a:p>
                  </a:txBody>
                  <a:tcPr marL="91435" marR="91435" marT="34286" marB="342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</a:p>
                  </a:txBody>
                  <a:tcPr marL="91435" marR="91435" marT="34286" marB="342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</a:t>
                      </a:r>
                      <a:r>
                        <a:rPr kumimoji="1" lang="en-US" altLang="zh-CN" sz="16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</a:p>
                  </a:txBody>
                  <a:tcPr marL="91435" marR="91435" marT="34286" marB="342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30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-1</a:t>
                      </a:r>
                    </a:p>
                  </a:txBody>
                  <a:tcPr marL="91435" marR="91435" marT="34286" marB="342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0.0078125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0.015625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0.03125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0.0625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0.125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0.25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0.5</a:t>
                      </a:r>
                    </a:p>
                  </a:txBody>
                  <a:tcPr marL="91435" marR="91435" marT="34286" marB="342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marL="91435" marR="91435" marT="34286" marB="342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1 </a:t>
                      </a: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16</a:t>
                      </a: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32</a:t>
                      </a: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64</a:t>
                      </a:r>
                    </a:p>
                  </a:txBody>
                  <a:tcPr marL="91435" marR="91435" marT="34286" marB="342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13</a:t>
                      </a:r>
                    </a:p>
                  </a:txBody>
                  <a:tcPr marL="91435" marR="91435" marT="34286" marB="342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128</a:t>
                      </a: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256</a:t>
                      </a: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512</a:t>
                      </a: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1024(K)</a:t>
                      </a: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2048</a:t>
                      </a: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4096</a:t>
                      </a: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8192</a:t>
                      </a:r>
                    </a:p>
                  </a:txBody>
                  <a:tcPr marL="91435" marR="91435" marT="34286" marB="342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3581" name="Rectangle 2"/>
          <p:cNvSpPr txBox="1"/>
          <p:nvPr/>
        </p:nvSpPr>
        <p:spPr>
          <a:xfrm>
            <a:off x="5508625" y="52705"/>
            <a:ext cx="3111500" cy="42799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>
              <a:buFont typeface="Arial" panose="020B0604020202020204" pitchFamily="34" charset="0"/>
            </a:pPr>
            <a:r>
              <a:rPr lang="zh-CN" altLang="en-US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第</a:t>
            </a:r>
            <a:r>
              <a:rPr lang="en-US" altLang="zh-CN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1</a:t>
            </a:r>
            <a:r>
              <a:rPr lang="zh-CN" altLang="en-US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章 数字逻辑基础</a:t>
            </a: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A42AD94-A963-4298-81E7-0EFB784E0427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24579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  <a:t>13</a:t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580" name="Rectangle 2"/>
          <p:cNvSpPr>
            <a:spLocks noGrp="1"/>
          </p:cNvSpPr>
          <p:nvPr>
            <p:ph type="title"/>
          </p:nvPr>
        </p:nvSpPr>
        <p:spPr>
          <a:xfrm>
            <a:off x="515938" y="974725"/>
            <a:ext cx="6005512" cy="606425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en-US" altLang="zh-CN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 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进位计数制的相互转换</a:t>
            </a:r>
            <a:endParaRPr lang="zh-CN" altLang="en-US" sz="2400" b="1" i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4581" name="Rectangle 3"/>
          <p:cNvSpPr>
            <a:spLocks noGrp="1"/>
          </p:cNvSpPr>
          <p:nvPr>
            <p:ph idx="1"/>
          </p:nvPr>
        </p:nvSpPr>
        <p:spPr>
          <a:xfrm>
            <a:off x="788988" y="2830513"/>
            <a:ext cx="8686800" cy="400050"/>
          </a:xfrm>
          <a:noFill/>
          <a:ln>
            <a:noFill/>
          </a:ln>
        </p:spPr>
        <p:txBody>
          <a:bodyPr/>
          <a:lstStyle/>
          <a:p>
            <a:pPr marL="609600" indent="-609600" eaLnBrk="1" hangingPunct="1">
              <a:buNone/>
            </a:pPr>
            <a:r>
              <a:rPr lang="en-US" altLang="zh-CN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）多项式替代法</a:t>
            </a:r>
          </a:p>
        </p:txBody>
      </p:sp>
      <p:grpSp>
        <p:nvGrpSpPr>
          <p:cNvPr id="24582" name="Group 11"/>
          <p:cNvGrpSpPr/>
          <p:nvPr/>
        </p:nvGrpSpPr>
        <p:grpSpPr>
          <a:xfrm>
            <a:off x="1222375" y="1665288"/>
            <a:ext cx="6405563" cy="955637"/>
            <a:chOff x="611" y="956"/>
            <a:chExt cx="4608" cy="802"/>
          </a:xfrm>
        </p:grpSpPr>
        <p:sp>
          <p:nvSpPr>
            <p:cNvPr id="24585" name="Text Box 5"/>
            <p:cNvSpPr txBox="1"/>
            <p:nvPr/>
          </p:nvSpPr>
          <p:spPr>
            <a:xfrm>
              <a:off x="611" y="956"/>
              <a:ext cx="4608" cy="80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lnSpc>
                  <a:spcPct val="70000"/>
                </a:lnSpc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数值转换：       </a:t>
              </a: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N</a:t>
              </a:r>
              <a:r>
                <a:rPr lang="en-US" altLang="zh-CN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α </a:t>
              </a: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Wingdings" panose="05000000000000000000" pitchFamily="2" charset="2"/>
                </a:rPr>
                <a:t>→</a:t>
              </a: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N</a:t>
              </a:r>
              <a:r>
                <a:rPr lang="en-US" altLang="zh-CN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β </a:t>
              </a:r>
              <a:br>
                <a:rPr lang="en-US" altLang="zh-CN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</a:br>
              <a:endParaRPr lang="en-US" altLang="zh-CN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eaLnBrk="1" hangingPunct="1">
                <a:lnSpc>
                  <a:spcPct val="70000"/>
                </a:lnSpc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转换是等值的 ：即 </a:t>
              </a: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N</a:t>
              </a:r>
              <a:r>
                <a:rPr lang="en-US" altLang="zh-CN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α</a:t>
              </a: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= N</a:t>
              </a:r>
              <a:r>
                <a:rPr lang="en-US" altLang="zh-CN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β </a:t>
              </a:r>
              <a:br>
                <a:rPr lang="en-US" altLang="zh-CN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</a:br>
              <a:endParaRPr lang="en-US" altLang="zh-CN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4586" name="Text Box 7"/>
            <p:cNvSpPr txBox="1"/>
            <p:nvPr/>
          </p:nvSpPr>
          <p:spPr>
            <a:xfrm>
              <a:off x="2736" y="1104"/>
              <a:ext cx="432" cy="43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endPara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4587" name="Text Box 9"/>
            <p:cNvSpPr txBox="1"/>
            <p:nvPr/>
          </p:nvSpPr>
          <p:spPr>
            <a:xfrm>
              <a:off x="3792" y="1104"/>
              <a:ext cx="480" cy="3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endPara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24583" name="Text Box 31"/>
          <p:cNvSpPr txBox="1"/>
          <p:nvPr/>
        </p:nvSpPr>
        <p:spPr>
          <a:xfrm>
            <a:off x="1158875" y="3287713"/>
            <a:ext cx="82296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要点：在</a:t>
            </a: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β</a:t>
            </a: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进制下完成 </a:t>
            </a: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en-US" altLang="zh-CN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α </a:t>
            </a: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→</a:t>
            </a: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N</a:t>
            </a:r>
            <a:r>
              <a:rPr lang="en-US" altLang="zh-CN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β</a:t>
            </a: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的转换</a:t>
            </a:r>
            <a:endParaRPr lang="en-US" altLang="zh-CN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4584" name="Rectangle 2"/>
          <p:cNvSpPr txBox="1"/>
          <p:nvPr/>
        </p:nvSpPr>
        <p:spPr>
          <a:xfrm>
            <a:off x="5508625" y="52705"/>
            <a:ext cx="3111500" cy="39497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>
              <a:buFont typeface="Arial" panose="020B0604020202020204" pitchFamily="34" charset="0"/>
            </a:pPr>
            <a:r>
              <a:rPr lang="zh-CN" altLang="en-US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第</a:t>
            </a:r>
            <a:r>
              <a:rPr lang="en-US" altLang="zh-CN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1</a:t>
            </a:r>
            <a:r>
              <a:rPr lang="zh-CN" altLang="en-US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章 数字逻辑基础</a:t>
            </a:r>
          </a:p>
        </p:txBody>
      </p:sp>
    </p:spTree>
  </p:cSld>
  <p:clrMapOvr>
    <a:masterClrMapping/>
  </p:clrMapOvr>
  <p:transition advTm="25000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2CD8C88-6123-48F2-BA7D-4B05510110C6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25603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  <a:t>14</a:t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04" name="Rectangle 4"/>
          <p:cNvSpPr>
            <a:spLocks noGrp="1"/>
          </p:cNvSpPr>
          <p:nvPr>
            <p:ph idx="1"/>
          </p:nvPr>
        </p:nvSpPr>
        <p:spPr>
          <a:xfrm>
            <a:off x="371475" y="844550"/>
            <a:ext cx="7543800" cy="742950"/>
          </a:xfrm>
          <a:noFill/>
          <a:ln>
            <a:noFill/>
          </a:ln>
        </p:spPr>
        <p:txBody>
          <a:bodyPr/>
          <a:lstStyle/>
          <a:p>
            <a:pPr marL="609600" indent="-609600" eaLnBrk="1" hangingPunct="1">
              <a:lnSpc>
                <a:spcPct val="150000"/>
              </a:lnSpc>
              <a:buNone/>
            </a:pPr>
            <a:r>
              <a:rPr lang="en-US" altLang="zh-CN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en-US" altLang="zh-CN" sz="20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α</a:t>
            </a:r>
            <a:r>
              <a:rPr lang="en-US" altLang="zh-CN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 (A </a:t>
            </a:r>
            <a:r>
              <a:rPr lang="en-US" altLang="zh-CN" sz="20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n-1 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A </a:t>
            </a:r>
            <a:r>
              <a:rPr lang="en-US" altLang="zh-CN" sz="20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n-2 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…A</a:t>
            </a:r>
            <a:r>
              <a:rPr lang="en-US" altLang="zh-CN" sz="20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1 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A </a:t>
            </a:r>
            <a:r>
              <a:rPr lang="en-US" altLang="zh-CN" sz="20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0 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.A </a:t>
            </a:r>
            <a:r>
              <a:rPr lang="en-US" altLang="zh-CN" sz="20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-1 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A </a:t>
            </a:r>
            <a:r>
              <a:rPr lang="en-US" altLang="zh-CN" sz="20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-2 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…</a:t>
            </a:r>
            <a:r>
              <a:rPr lang="en-US" altLang="zh-CN" sz="20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A </a:t>
            </a:r>
            <a:r>
              <a:rPr lang="en-US" altLang="zh-CN" sz="20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-m 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) </a:t>
            </a:r>
          </a:p>
        </p:txBody>
      </p:sp>
      <p:sp>
        <p:nvSpPr>
          <p:cNvPr id="25605" name="Text Box 22"/>
          <p:cNvSpPr txBox="1"/>
          <p:nvPr/>
        </p:nvSpPr>
        <p:spPr>
          <a:xfrm>
            <a:off x="900113" y="1346200"/>
            <a:ext cx="7110412" cy="1281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1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 = (A </a:t>
            </a:r>
            <a:r>
              <a:rPr lang="en-US" altLang="zh-CN" b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n-1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×10 </a:t>
            </a:r>
            <a:r>
              <a:rPr lang="en-US" altLang="zh-CN" b="1" baseline="30000" dirty="0">
                <a:solidFill>
                  <a:schemeClr val="tx1"/>
                </a:solidFill>
                <a:latin typeface="Times New Roman" panose="02020603050405020304" pitchFamily="18" charset="0"/>
              </a:rPr>
              <a:t>n-1 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+ A </a:t>
            </a:r>
            <a:r>
              <a:rPr lang="en-US" altLang="zh-CN" b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n-2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×10 </a:t>
            </a:r>
            <a:r>
              <a:rPr lang="en-US" altLang="zh-CN" b="1" baseline="30000" dirty="0">
                <a:solidFill>
                  <a:schemeClr val="tx1"/>
                </a:solidFill>
                <a:latin typeface="Times New Roman" panose="02020603050405020304" pitchFamily="18" charset="0"/>
              </a:rPr>
              <a:t>n-2 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b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… + A </a:t>
            </a:r>
            <a:r>
              <a:rPr lang="en-US" altLang="zh-CN" b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×10 </a:t>
            </a:r>
            <a:r>
              <a:rPr lang="en-US" altLang="zh-CN" b="1" baseline="30000" dirty="0">
                <a:solidFill>
                  <a:schemeClr val="tx1"/>
                </a:solidFill>
                <a:latin typeface="Times New Roman" panose="02020603050405020304" pitchFamily="18" charset="0"/>
              </a:rPr>
              <a:t>1 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b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A </a:t>
            </a:r>
            <a:r>
              <a:rPr lang="en-US" altLang="zh-CN" b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0  </a:t>
            </a:r>
          </a:p>
          <a:p>
            <a:pPr eaLnBrk="1" hangingPunct="1">
              <a:lnSpc>
                <a:spcPct val="140000"/>
              </a:lnSpc>
              <a:buFont typeface="Arial" panose="020B0604020202020204" pitchFamily="34" charset="0"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    ×10 </a:t>
            </a:r>
            <a:r>
              <a:rPr lang="en-US" altLang="zh-CN" b="1" baseline="30000" dirty="0">
                <a:solidFill>
                  <a:schemeClr val="tx1"/>
                </a:solidFill>
                <a:latin typeface="Times New Roman" panose="02020603050405020304" pitchFamily="18" charset="0"/>
              </a:rPr>
              <a:t>0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+ A </a:t>
            </a:r>
            <a:r>
              <a:rPr lang="en-US" altLang="zh-CN" b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-1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×10 </a:t>
            </a:r>
            <a:r>
              <a:rPr lang="en-US" altLang="zh-CN" b="1" baseline="30000" dirty="0">
                <a:solidFill>
                  <a:schemeClr val="tx1"/>
                </a:solidFill>
                <a:latin typeface="Times New Roman" panose="02020603050405020304" pitchFamily="18" charset="0"/>
              </a:rPr>
              <a:t>-1 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b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A </a:t>
            </a:r>
            <a:r>
              <a:rPr lang="en-US" altLang="zh-CN" b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-2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×10 </a:t>
            </a:r>
            <a:r>
              <a:rPr lang="en-US" altLang="zh-CN" b="1" baseline="30000" dirty="0">
                <a:solidFill>
                  <a:schemeClr val="tx1"/>
                </a:solidFill>
                <a:latin typeface="Times New Roman" panose="02020603050405020304" pitchFamily="18" charset="0"/>
              </a:rPr>
              <a:t>-2 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b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…</a:t>
            </a:r>
            <a:r>
              <a:rPr lang="en-US" altLang="zh-CN" b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+A</a:t>
            </a:r>
            <a:r>
              <a:rPr lang="en-US" altLang="zh-CN" b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-m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×10 </a:t>
            </a:r>
            <a:r>
              <a:rPr lang="en-US" altLang="zh-CN" b="1" baseline="30000" dirty="0">
                <a:solidFill>
                  <a:schemeClr val="tx1"/>
                </a:solidFill>
                <a:latin typeface="Times New Roman" panose="02020603050405020304" pitchFamily="18" charset="0"/>
              </a:rPr>
              <a:t>-m </a:t>
            </a:r>
            <a:r>
              <a:rPr lang="en-US" altLang="zh-CN" b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) </a:t>
            </a:r>
          </a:p>
          <a:p>
            <a:pPr eaLnBrk="1" hangingPunct="1">
              <a:lnSpc>
                <a:spcPct val="140000"/>
              </a:lnSpc>
              <a:buFont typeface="Arial" panose="020B0604020202020204" pitchFamily="34" charset="0"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 =</a:t>
            </a:r>
          </a:p>
        </p:txBody>
      </p:sp>
      <p:sp>
        <p:nvSpPr>
          <p:cNvPr id="25606" name="Rectangle 3"/>
          <p:cNvSpPr>
            <a:spLocks noGrp="1"/>
          </p:cNvSpPr>
          <p:nvPr>
            <p:ph type="title"/>
          </p:nvPr>
        </p:nvSpPr>
        <p:spPr>
          <a:xfrm>
            <a:off x="228600" y="586423"/>
            <a:ext cx="8686800" cy="62865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20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多项式替代法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的转换步骤，归纳如下，</a:t>
            </a:r>
          </a:p>
        </p:txBody>
      </p:sp>
      <p:sp>
        <p:nvSpPr>
          <p:cNvPr id="25607" name="Text Box 11"/>
          <p:cNvSpPr txBox="1"/>
          <p:nvPr/>
        </p:nvSpPr>
        <p:spPr>
          <a:xfrm>
            <a:off x="5470525" y="996950"/>
            <a:ext cx="6858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α</a:t>
            </a:r>
          </a:p>
        </p:txBody>
      </p:sp>
      <p:sp>
        <p:nvSpPr>
          <p:cNvPr id="25608" name="Text Box 12"/>
          <p:cNvSpPr txBox="1"/>
          <p:nvPr/>
        </p:nvSpPr>
        <p:spPr>
          <a:xfrm>
            <a:off x="6380163" y="1906588"/>
            <a:ext cx="5334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α</a:t>
            </a:r>
          </a:p>
        </p:txBody>
      </p:sp>
      <p:grpSp>
        <p:nvGrpSpPr>
          <p:cNvPr id="24585" name="Group 17"/>
          <p:cNvGrpSpPr/>
          <p:nvPr/>
        </p:nvGrpSpPr>
        <p:grpSpPr>
          <a:xfrm>
            <a:off x="58738" y="1958975"/>
            <a:ext cx="1111250" cy="2082856"/>
            <a:chOff x="192" y="2016"/>
            <a:chExt cx="700" cy="1749"/>
          </a:xfrm>
        </p:grpSpPr>
        <p:sp>
          <p:nvSpPr>
            <p:cNvPr id="25615" name="Text Box 14"/>
            <p:cNvSpPr txBox="1"/>
            <p:nvPr/>
          </p:nvSpPr>
          <p:spPr>
            <a:xfrm>
              <a:off x="192" y="2448"/>
              <a:ext cx="700" cy="1317"/>
            </a:xfrm>
            <a:prstGeom prst="rect">
              <a:avLst/>
            </a:prstGeom>
            <a:noFill/>
            <a:ln w="28575" cap="flat" cmpd="sng">
              <a:solidFill>
                <a:srgbClr val="C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sz="1600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将</a:t>
              </a:r>
              <a:r>
                <a:rPr lang="en-US" altLang="zh-CN" sz="1600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α</a:t>
              </a:r>
              <a:r>
                <a:rPr lang="zh-CN" altLang="en-US" sz="1600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进制下的</a:t>
              </a:r>
              <a:r>
                <a:rPr lang="en-US" altLang="zh-CN" sz="1600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1600" b="1" baseline="-25000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i</a:t>
              </a:r>
              <a:r>
                <a:rPr lang="zh-CN" altLang="en-US" sz="1600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、</a:t>
              </a:r>
              <a:r>
                <a:rPr lang="en-US" altLang="zh-CN" sz="1600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10 </a:t>
              </a:r>
              <a:r>
                <a:rPr lang="zh-CN" altLang="en-US" sz="1600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等值转换成</a:t>
              </a:r>
              <a:r>
                <a:rPr lang="en-US" altLang="zh-CN" sz="1600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β</a:t>
              </a:r>
              <a:r>
                <a:rPr lang="zh-CN" altLang="en-US" sz="1600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进制下的数值</a:t>
              </a:r>
            </a:p>
          </p:txBody>
        </p:sp>
        <p:sp>
          <p:nvSpPr>
            <p:cNvPr id="25616" name="Line 15"/>
            <p:cNvSpPr/>
            <p:nvPr/>
          </p:nvSpPr>
          <p:spPr>
            <a:xfrm flipV="1">
              <a:off x="576" y="2016"/>
              <a:ext cx="192" cy="432"/>
            </a:xfrm>
            <a:prstGeom prst="line">
              <a:avLst/>
            </a:prstGeom>
            <a:ln w="28575" cap="flat" cmpd="sng">
              <a:solidFill>
                <a:srgbClr val="C00000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25610" name="Text Box 16"/>
          <p:cNvSpPr txBox="1"/>
          <p:nvPr/>
        </p:nvSpPr>
        <p:spPr>
          <a:xfrm>
            <a:off x="1260475" y="2209800"/>
            <a:ext cx="6716713" cy="1098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10000"/>
              </a:lnSpc>
              <a:buFont typeface="Arial" panose="020B0604020202020204" pitchFamily="34" charset="0"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(B </a:t>
            </a:r>
            <a:r>
              <a:rPr lang="en-US" altLang="zh-CN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n-1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× 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γ </a:t>
            </a:r>
            <a:r>
              <a:rPr lang="en-US" altLang="zh-CN" b="1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n-1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+ B </a:t>
            </a:r>
            <a:r>
              <a:rPr lang="en-US" altLang="zh-CN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n-2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× γ </a:t>
            </a:r>
            <a:r>
              <a:rPr lang="en-US" altLang="zh-CN" b="1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n-2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… + B </a:t>
            </a:r>
            <a:r>
              <a:rPr lang="en-US" altLang="zh-CN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× γ </a:t>
            </a:r>
            <a:r>
              <a:rPr lang="en-US" altLang="zh-CN" b="1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1 </a:t>
            </a:r>
          </a:p>
          <a:p>
            <a:pPr eaLnBrk="1" hangingPunct="1">
              <a:lnSpc>
                <a:spcPct val="110000"/>
              </a:lnSpc>
              <a:buFont typeface="Arial" panose="020B0604020202020204" pitchFamily="34" charset="0"/>
            </a:pPr>
            <a:r>
              <a:rPr lang="en-US" altLang="zh-CN" b="1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          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B </a:t>
            </a:r>
            <a:r>
              <a:rPr lang="en-US" altLang="zh-CN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0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× γ </a:t>
            </a:r>
            <a:r>
              <a:rPr lang="en-US" altLang="zh-CN" b="1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0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+ B </a:t>
            </a:r>
            <a:r>
              <a:rPr lang="en-US" altLang="zh-CN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-1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× γ </a:t>
            </a:r>
            <a:r>
              <a:rPr lang="en-US" altLang="zh-CN" b="1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-1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B </a:t>
            </a:r>
            <a:r>
              <a:rPr lang="en-US" altLang="zh-CN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-2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× γ </a:t>
            </a:r>
            <a:r>
              <a:rPr lang="en-US" altLang="zh-CN" b="1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-2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…</a:t>
            </a:r>
            <a:r>
              <a:rPr lang="en-US" altLang="zh-CN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</a:p>
          <a:p>
            <a:pPr eaLnBrk="1" hangingPunct="1">
              <a:lnSpc>
                <a:spcPct val="110000"/>
              </a:lnSpc>
              <a:buFont typeface="Arial" panose="020B0604020202020204" pitchFamily="34" charset="0"/>
            </a:pPr>
            <a:r>
              <a:rPr lang="en-US" altLang="zh-CN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          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+ B </a:t>
            </a:r>
            <a:r>
              <a:rPr lang="en-US" altLang="zh-CN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-m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× γ </a:t>
            </a:r>
            <a:r>
              <a:rPr lang="en-US" altLang="zh-CN" b="1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-m </a:t>
            </a:r>
            <a:r>
              <a:rPr lang="en-US" altLang="zh-CN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)     = N</a:t>
            </a:r>
            <a:r>
              <a:rPr lang="en-US" altLang="zh-CN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 β</a:t>
            </a:r>
          </a:p>
        </p:txBody>
      </p:sp>
      <p:sp>
        <p:nvSpPr>
          <p:cNvPr id="25611" name="Text Box 18"/>
          <p:cNvSpPr txBox="1"/>
          <p:nvPr/>
        </p:nvSpPr>
        <p:spPr>
          <a:xfrm>
            <a:off x="3278188" y="3025775"/>
            <a:ext cx="57467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β</a:t>
            </a:r>
          </a:p>
        </p:txBody>
      </p:sp>
      <p:sp>
        <p:nvSpPr>
          <p:cNvPr id="25612" name="Text Box 20"/>
          <p:cNvSpPr txBox="1"/>
          <p:nvPr/>
        </p:nvSpPr>
        <p:spPr>
          <a:xfrm>
            <a:off x="528638" y="4156075"/>
            <a:ext cx="7754937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注意：多项式替代法是在</a:t>
            </a:r>
            <a:r>
              <a:rPr lang="en-US" altLang="zh-CN" sz="1800" b="1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β</a:t>
            </a:r>
            <a:r>
              <a:rPr lang="zh-CN" altLang="en-US" sz="1800" b="1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进制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下完成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α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到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β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的转换的，因此，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要求熟悉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β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进制的算术运算规则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  <p:sp>
        <p:nvSpPr>
          <p:cNvPr id="25613" name="Text Box 27"/>
          <p:cNvSpPr txBox="1"/>
          <p:nvPr/>
        </p:nvSpPr>
        <p:spPr>
          <a:xfrm>
            <a:off x="1260475" y="3549650"/>
            <a:ext cx="5564188" cy="3603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10000"/>
              </a:lnSpc>
              <a:buFont typeface="Arial" panose="020B0604020202020204" pitchFamily="34" charset="0"/>
            </a:pP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其中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 ( A</a:t>
            </a:r>
            <a:r>
              <a:rPr lang="en-US" altLang="zh-CN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) </a:t>
            </a:r>
            <a:r>
              <a:rPr lang="en-US" altLang="zh-CN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α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=(B</a:t>
            </a:r>
            <a:r>
              <a:rPr lang="en-US" altLang="zh-CN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en-US" altLang="zh-CN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β  ,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( 10 ) </a:t>
            </a:r>
            <a:r>
              <a:rPr lang="en-US" altLang="zh-CN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α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=(γ</a:t>
            </a:r>
            <a:r>
              <a:rPr lang="en-US" altLang="zh-CN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en-US" altLang="zh-CN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β</a:t>
            </a:r>
            <a:endParaRPr lang="en-US" altLang="zh-CN" sz="1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5614" name="Rectangle 2"/>
          <p:cNvSpPr txBox="1"/>
          <p:nvPr/>
        </p:nvSpPr>
        <p:spPr>
          <a:xfrm>
            <a:off x="5508625" y="52705"/>
            <a:ext cx="3111500" cy="40322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>
              <a:buFont typeface="Arial" panose="020B0604020202020204" pitchFamily="34" charset="0"/>
            </a:pPr>
            <a:r>
              <a:rPr lang="zh-CN" altLang="en-US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第</a:t>
            </a:r>
            <a:r>
              <a:rPr lang="en-US" altLang="zh-CN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1</a:t>
            </a:r>
            <a:r>
              <a:rPr lang="zh-CN" altLang="en-US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章 数字逻辑基础</a:t>
            </a: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705233F-50A7-4920-9774-08FB4287CBB6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26627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  <a:t>15</a:t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628" name="Text Box 14"/>
          <p:cNvSpPr txBox="1"/>
          <p:nvPr/>
        </p:nvSpPr>
        <p:spPr>
          <a:xfrm>
            <a:off x="381000" y="228600"/>
            <a:ext cx="838200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05" name="Text Box 15"/>
          <p:cNvSpPr txBox="1"/>
          <p:nvPr/>
        </p:nvSpPr>
        <p:spPr>
          <a:xfrm>
            <a:off x="1439863" y="1697038"/>
            <a:ext cx="6599237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r>
              <a:rPr lang="en-US" alt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 = (1</a:t>
            </a:r>
            <a:r>
              <a:rPr lang="en-US" alt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×16 </a:t>
            </a:r>
            <a:r>
              <a:rPr lang="en-US" altLang="zh-CN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 </a:t>
            </a:r>
            <a:r>
              <a:rPr lang="en-US" alt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+12×16 </a:t>
            </a:r>
            <a:r>
              <a:rPr lang="en-US" altLang="zh-CN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 </a:t>
            </a:r>
            <a:r>
              <a:rPr lang="en-US" alt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+ 14×16 </a:t>
            </a:r>
            <a:r>
              <a:rPr lang="en-US" altLang="zh-CN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</a:t>
            </a:r>
            <a:r>
              <a:rPr lang="en-US" alt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lang="en-US" altLang="zh-CN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8×16 </a:t>
            </a:r>
            <a:r>
              <a:rPr lang="en-US" altLang="zh-CN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 </a:t>
            </a:r>
            <a:r>
              <a:rPr lang="en-US" altLang="zh-CN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en-US" altLang="zh-CN" b="1" baseline="-25000" dirty="0">
                <a:solidFill>
                  <a:schemeClr val="tx1"/>
                </a:solidFill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</a:p>
        </p:txBody>
      </p:sp>
      <p:sp>
        <p:nvSpPr>
          <p:cNvPr id="25606" name="Text Box 16"/>
          <p:cNvSpPr txBox="1"/>
          <p:nvPr/>
        </p:nvSpPr>
        <p:spPr>
          <a:xfrm>
            <a:off x="1439863" y="2211388"/>
            <a:ext cx="42672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r>
              <a:rPr lang="en-US" alt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 = (4096</a:t>
            </a:r>
            <a:r>
              <a:rPr lang="en-US" altLang="zh-CN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+3072</a:t>
            </a:r>
            <a:r>
              <a:rPr lang="en-US" altLang="zh-CN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+ 224</a:t>
            </a:r>
            <a:r>
              <a:rPr lang="en-US" altLang="zh-CN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lang="en-US" altLang="zh-CN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8)</a:t>
            </a:r>
            <a:r>
              <a:rPr lang="en-US" altLang="zh-CN" b="1" baseline="-25000" dirty="0">
                <a:solidFill>
                  <a:schemeClr val="tx1"/>
                </a:solidFill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</a:p>
        </p:txBody>
      </p:sp>
      <p:sp>
        <p:nvSpPr>
          <p:cNvPr id="25607" name="Text Box 17"/>
          <p:cNvSpPr txBox="1"/>
          <p:nvPr/>
        </p:nvSpPr>
        <p:spPr>
          <a:xfrm>
            <a:off x="1439863" y="2703513"/>
            <a:ext cx="7123112" cy="3952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r>
              <a:rPr lang="en-US" alt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 = (7400</a:t>
            </a:r>
            <a:r>
              <a:rPr lang="en-US" alt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en-US" altLang="zh-CN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en-US" alt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(</a:t>
            </a:r>
            <a:r>
              <a:rPr lang="zh-CN" altLang="en-US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计算是按</a:t>
            </a:r>
            <a:r>
              <a:rPr lang="zh-CN" altLang="en-US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十</a:t>
            </a:r>
            <a:r>
              <a:rPr lang="zh-CN" altLang="en-US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进制计算规则进行的</a:t>
            </a:r>
            <a:r>
              <a:rPr lang="en-US" alt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</a:p>
        </p:txBody>
      </p:sp>
      <p:sp>
        <p:nvSpPr>
          <p:cNvPr id="25608" name="Text Box 18"/>
          <p:cNvSpPr txBox="1"/>
          <p:nvPr/>
        </p:nvSpPr>
        <p:spPr>
          <a:xfrm>
            <a:off x="1439863" y="3189288"/>
            <a:ext cx="65405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r>
              <a:rPr lang="en-US" alt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 = 7400           </a:t>
            </a:r>
            <a:r>
              <a:rPr lang="en-US" altLang="zh-CN" b="1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( </a:t>
            </a:r>
            <a:r>
              <a:rPr lang="zh-CN" altLang="en-US" b="1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十进制的</a:t>
            </a:r>
            <a:r>
              <a:rPr lang="en-US" altLang="zh-CN" b="1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R</a:t>
            </a:r>
            <a:r>
              <a:rPr lang="zh-CN" altLang="en-US" b="1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即“</a:t>
            </a:r>
            <a:r>
              <a:rPr lang="en-US" altLang="zh-CN" b="1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10</a:t>
            </a:r>
            <a:r>
              <a:rPr lang="zh-CN" altLang="en-US" b="1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”</a:t>
            </a:r>
            <a:r>
              <a:rPr lang="en-US" altLang="zh-CN" b="1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 </a:t>
            </a:r>
            <a:r>
              <a:rPr lang="zh-CN" altLang="en-US" b="1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可以省略</a:t>
            </a:r>
            <a:r>
              <a:rPr lang="en-US" altLang="zh-CN" b="1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)</a:t>
            </a:r>
            <a:endParaRPr lang="en-US" altLang="zh-CN" b="1" dirty="0">
              <a:solidFill>
                <a:srgbClr val="FF0066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5609" name="Text Box 19"/>
          <p:cNvSpPr txBox="1"/>
          <p:nvPr/>
        </p:nvSpPr>
        <p:spPr>
          <a:xfrm>
            <a:off x="403225" y="1223963"/>
            <a:ext cx="728027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(1CE8)</a:t>
            </a:r>
            <a:r>
              <a:rPr lang="en-US" altLang="zh-CN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16</a:t>
            </a:r>
            <a:r>
              <a:rPr lang="en-US" alt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= (1</a:t>
            </a:r>
            <a:r>
              <a:rPr lang="en-US" alt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×10 </a:t>
            </a:r>
            <a:r>
              <a:rPr lang="en-US" altLang="zh-CN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 </a:t>
            </a:r>
            <a:r>
              <a:rPr lang="en-US" alt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+C×10 </a:t>
            </a:r>
            <a:r>
              <a:rPr lang="en-US" altLang="zh-CN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 </a:t>
            </a:r>
            <a:r>
              <a:rPr lang="en-US" alt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 E×10 </a:t>
            </a:r>
            <a:r>
              <a:rPr lang="en-US" altLang="zh-CN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</a:t>
            </a:r>
            <a:r>
              <a:rPr lang="en-US" alt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lang="en-US" altLang="zh-CN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8×10 </a:t>
            </a:r>
            <a:r>
              <a:rPr lang="en-US" altLang="zh-CN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 </a:t>
            </a:r>
            <a:r>
              <a:rPr lang="en-US" altLang="zh-CN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en-US" altLang="zh-CN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16</a:t>
            </a:r>
          </a:p>
        </p:txBody>
      </p:sp>
      <p:sp>
        <p:nvSpPr>
          <p:cNvPr id="26634" name="Text Box 20"/>
          <p:cNvSpPr txBox="1"/>
          <p:nvPr/>
        </p:nvSpPr>
        <p:spPr>
          <a:xfrm>
            <a:off x="76200" y="746125"/>
            <a:ext cx="8382000" cy="3952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：将</a:t>
            </a:r>
            <a:r>
              <a:rPr lang="en-US" alt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(1CE8)</a:t>
            </a:r>
            <a:r>
              <a:rPr lang="en-US" altLang="zh-CN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16</a:t>
            </a:r>
            <a:r>
              <a:rPr lang="zh-CN" altLang="en-US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转换为十进制。</a:t>
            </a:r>
          </a:p>
        </p:txBody>
      </p:sp>
      <p:sp>
        <p:nvSpPr>
          <p:cNvPr id="26635" name="Rectangle 2"/>
          <p:cNvSpPr txBox="1"/>
          <p:nvPr/>
        </p:nvSpPr>
        <p:spPr>
          <a:xfrm>
            <a:off x="5508625" y="52705"/>
            <a:ext cx="3111500" cy="45339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>
              <a:buFont typeface="Arial" panose="020B0604020202020204" pitchFamily="34" charset="0"/>
            </a:pPr>
            <a:r>
              <a:rPr lang="zh-CN" altLang="en-US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第</a:t>
            </a:r>
            <a:r>
              <a:rPr lang="en-US" altLang="zh-CN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1</a:t>
            </a:r>
            <a:r>
              <a:rPr lang="zh-CN" altLang="en-US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章 数字逻辑基础</a:t>
            </a: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5" grpId="0"/>
      <p:bldP spid="25606" grpId="0"/>
      <p:bldP spid="25607" grpId="0"/>
      <p:bldP spid="25608" grpId="0"/>
      <p:bldP spid="2560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114C531-840C-43B8-AFBF-4A7248D34C8B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27651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  <a:t>16</a:t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652" name="Rectangle 2"/>
          <p:cNvSpPr>
            <a:spLocks noGrp="1"/>
          </p:cNvSpPr>
          <p:nvPr>
            <p:ph type="title"/>
          </p:nvPr>
        </p:nvSpPr>
        <p:spPr>
          <a:xfrm>
            <a:off x="358775" y="893763"/>
            <a:ext cx="8458200" cy="57150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：将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(121.2)</a:t>
            </a:r>
            <a:r>
              <a:rPr lang="en-US" altLang="zh-CN" sz="2000" b="1" baseline="-250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3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转换为二进制。</a:t>
            </a:r>
            <a:endParaRPr lang="zh-CN" altLang="en-US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6629" name="Rectangle 3"/>
          <p:cNvSpPr>
            <a:spLocks noGrp="1"/>
          </p:cNvSpPr>
          <p:nvPr>
            <p:ph idx="1"/>
          </p:nvPr>
        </p:nvSpPr>
        <p:spPr>
          <a:xfrm>
            <a:off x="904875" y="1593850"/>
            <a:ext cx="7715250" cy="1924685"/>
          </a:xfrm>
          <a:noFill/>
          <a:ln>
            <a:noFill/>
          </a:ln>
        </p:spPr>
        <p:txBody>
          <a:bodyPr/>
          <a:lstStyle/>
          <a:p>
            <a:pPr eaLnBrk="1" hangingPunct="1">
              <a:spcBef>
                <a:spcPct val="50000"/>
              </a:spcBef>
              <a:buNone/>
            </a:pP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(121.2)</a:t>
            </a:r>
            <a:r>
              <a:rPr lang="en-US" altLang="zh-CN" sz="2000" b="1" baseline="-250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3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 = (1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×10 </a:t>
            </a:r>
            <a:r>
              <a:rPr lang="en-US" altLang="zh-CN" sz="2000" b="1" baseline="30000" dirty="0">
                <a:latin typeface="黑体" panose="02010609060101010101" pitchFamily="49" charset="-122"/>
                <a:ea typeface="黑体" panose="02010609060101010101" pitchFamily="49" charset="-122"/>
              </a:rPr>
              <a:t>2 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+ 2×10 </a:t>
            </a:r>
            <a:r>
              <a:rPr lang="en-US" altLang="zh-CN" sz="2000" b="1" baseline="30000" dirty="0">
                <a:latin typeface="黑体" panose="02010609060101010101" pitchFamily="49" charset="-122"/>
                <a:ea typeface="黑体" panose="02010609060101010101" pitchFamily="49" charset="-122"/>
              </a:rPr>
              <a:t>1 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lang="en-US" altLang="zh-CN" sz="20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 1×10 </a:t>
            </a:r>
            <a:r>
              <a:rPr lang="en-US" altLang="zh-CN" sz="2000" b="1" baseline="30000" dirty="0">
                <a:latin typeface="黑体" panose="02010609060101010101" pitchFamily="49" charset="-122"/>
                <a:ea typeface="黑体" panose="02010609060101010101" pitchFamily="49" charset="-122"/>
              </a:rPr>
              <a:t>0 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+ 2×10 </a:t>
            </a:r>
            <a:r>
              <a:rPr lang="en-US" altLang="zh-CN" sz="2000" b="1" baseline="30000" dirty="0">
                <a:latin typeface="黑体" panose="02010609060101010101" pitchFamily="49" charset="-122"/>
                <a:ea typeface="黑体" panose="02010609060101010101" pitchFamily="49" charset="-122"/>
              </a:rPr>
              <a:t>-1</a:t>
            </a:r>
            <a:r>
              <a:rPr lang="en-US" altLang="zh-CN" sz="20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en-US" altLang="zh-CN" sz="2000" b="1" baseline="-25000" dirty="0">
                <a:solidFill>
                  <a:srgbClr val="FF0000"/>
                </a:solidFill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endParaRPr lang="en-US" altLang="zh-CN" sz="2000" b="1" baseline="-25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None/>
            </a:pP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              = (1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×11 </a:t>
            </a:r>
            <a:r>
              <a:rPr lang="en-US" altLang="zh-CN" sz="2000" b="1" baseline="30000" dirty="0">
                <a:latin typeface="黑体" panose="02010609060101010101" pitchFamily="49" charset="-122"/>
                <a:ea typeface="黑体" panose="02010609060101010101" pitchFamily="49" charset="-122"/>
              </a:rPr>
              <a:t>2 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+10×11 </a:t>
            </a:r>
            <a:r>
              <a:rPr lang="en-US" altLang="zh-CN" sz="2000" b="1" baseline="30000" dirty="0">
                <a:latin typeface="黑体" panose="02010609060101010101" pitchFamily="49" charset="-122"/>
                <a:ea typeface="黑体" panose="02010609060101010101" pitchFamily="49" charset="-122"/>
              </a:rPr>
              <a:t>1 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+ 1×11 </a:t>
            </a:r>
            <a:r>
              <a:rPr lang="en-US" altLang="zh-CN" sz="2000" b="1" baseline="30000" dirty="0">
                <a:latin typeface="黑体" panose="02010609060101010101" pitchFamily="49" charset="-122"/>
                <a:ea typeface="黑体" panose="02010609060101010101" pitchFamily="49" charset="-122"/>
              </a:rPr>
              <a:t>0 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lang="en-US" altLang="zh-CN" sz="20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 10×11 </a:t>
            </a:r>
            <a:r>
              <a:rPr lang="en-US" altLang="zh-CN" sz="2000" b="1" baseline="30000" dirty="0">
                <a:latin typeface="黑体" panose="02010609060101010101" pitchFamily="49" charset="-122"/>
                <a:ea typeface="黑体" panose="02010609060101010101" pitchFamily="49" charset="-122"/>
              </a:rPr>
              <a:t>-1 </a:t>
            </a:r>
            <a:r>
              <a:rPr lang="en-US" altLang="zh-CN" sz="20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en-US" altLang="zh-CN" sz="20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endParaRPr lang="en-US" altLang="zh-CN" sz="2000" b="1" baseline="-25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None/>
            </a:pP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              = (1001 + 110 + 1 + 0.101010…)</a:t>
            </a:r>
            <a:r>
              <a:rPr lang="en-US" altLang="zh-CN" sz="20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endParaRPr lang="en-US" altLang="zh-CN" sz="2000" b="1" baseline="-25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None/>
            </a:pP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              = ( 10000.101010 …)</a:t>
            </a:r>
            <a:r>
              <a:rPr lang="en-US" altLang="zh-CN" sz="20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endParaRPr lang="en-US" altLang="zh-CN" sz="2000" b="1" baseline="-25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None/>
            </a:pPr>
            <a:endParaRPr lang="en-US" altLang="zh-CN" sz="2000" b="1" baseline="-25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None/>
            </a:pP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     </a:t>
            </a:r>
          </a:p>
          <a:p>
            <a:pPr eaLnBrk="1" hangingPunct="1">
              <a:buNone/>
            </a:pPr>
            <a:endParaRPr lang="en-US" altLang="zh-CN" sz="2000" b="1" baseline="-25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7655" name="Text Box 14"/>
          <p:cNvSpPr txBox="1"/>
          <p:nvPr/>
        </p:nvSpPr>
        <p:spPr>
          <a:xfrm>
            <a:off x="381000" y="228600"/>
            <a:ext cx="838200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656" name="Rectangle 2"/>
          <p:cNvSpPr txBox="1"/>
          <p:nvPr/>
        </p:nvSpPr>
        <p:spPr>
          <a:xfrm>
            <a:off x="5508625" y="52705"/>
            <a:ext cx="3111500" cy="44386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>
              <a:buFont typeface="Arial" panose="020B0604020202020204" pitchFamily="34" charset="0"/>
            </a:pPr>
            <a:r>
              <a:rPr lang="zh-CN" altLang="en-US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第</a:t>
            </a:r>
            <a:r>
              <a:rPr lang="en-US" altLang="zh-CN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1</a:t>
            </a:r>
            <a:r>
              <a:rPr lang="zh-CN" altLang="en-US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章 数字逻辑基础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899285" y="3884295"/>
            <a:ext cx="4909820" cy="39878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   </a:t>
            </a:r>
            <a:r>
              <a:rPr lang="en-US" altLang="zh-CN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(</a:t>
            </a:r>
            <a:r>
              <a:rPr lang="zh-CN" altLang="en-US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计算是按二进制计算规则进行的。</a:t>
            </a:r>
            <a:r>
              <a:rPr lang="en-US" altLang="zh-CN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)</a:t>
            </a: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1C4ED09-00BE-457F-88FA-58E64250AF56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28675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  <a:t>17</a:t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676" name="Rectangle 3"/>
          <p:cNvSpPr>
            <a:spLocks noGrp="1"/>
          </p:cNvSpPr>
          <p:nvPr>
            <p:ph type="title"/>
          </p:nvPr>
        </p:nvSpPr>
        <p:spPr>
          <a:xfrm>
            <a:off x="309563" y="544513"/>
            <a:ext cx="7772400" cy="57150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基数乘除法</a:t>
            </a:r>
            <a:endParaRPr lang="zh-CN" altLang="en-US" sz="1800" b="1" i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8677" name="Rectangle 4"/>
          <p:cNvSpPr>
            <a:spLocks noGrp="1"/>
          </p:cNvSpPr>
          <p:nvPr>
            <p:ph idx="1"/>
          </p:nvPr>
        </p:nvSpPr>
        <p:spPr>
          <a:xfrm>
            <a:off x="228600" y="887413"/>
            <a:ext cx="7669213" cy="1257300"/>
          </a:xfrm>
          <a:noFill/>
          <a:ln>
            <a:noFill/>
          </a:ln>
        </p:spPr>
        <p:txBody>
          <a:bodyPr/>
          <a:lstStyle/>
          <a:p>
            <a:pPr eaLnBrk="1" hangingPunct="1">
              <a:spcBef>
                <a:spcPct val="50000"/>
              </a:spcBef>
              <a:buNone/>
            </a:pP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要点：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 在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α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进制下完成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en-US" altLang="zh-CN" sz="1800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α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→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N</a:t>
            </a:r>
            <a:r>
              <a:rPr lang="en-US" altLang="zh-CN" sz="1800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β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的转换</a:t>
            </a:r>
          </a:p>
          <a:p>
            <a:pPr eaLnBrk="1" hangingPunct="1">
              <a:spcBef>
                <a:spcPct val="50000"/>
              </a:spcBef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       ⑴ 整数部分转换用基数除法</a:t>
            </a:r>
          </a:p>
          <a:p>
            <a:pPr eaLnBrk="1" hangingPunct="1">
              <a:spcBef>
                <a:spcPct val="50000"/>
              </a:spcBef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       ⑵ 小数部分转换用基数乘法</a:t>
            </a:r>
          </a:p>
        </p:txBody>
      </p:sp>
      <p:sp>
        <p:nvSpPr>
          <p:cNvPr id="27654" name="Text Box 9"/>
          <p:cNvSpPr txBox="1"/>
          <p:nvPr/>
        </p:nvSpPr>
        <p:spPr>
          <a:xfrm>
            <a:off x="-411162" y="2374900"/>
            <a:ext cx="8050212" cy="78359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: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en-US" altLang="zh-CN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α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=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N</a:t>
            </a:r>
            <a:r>
              <a:rPr lang="en-US" altLang="zh-CN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β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=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 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(b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n-1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n-2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…b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   (0≤b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≤ β- 1)</a:t>
            </a:r>
          </a:p>
          <a:p>
            <a:pPr algn="ctr"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=  (b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n-1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×10 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n-1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 b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n-2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×10 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n-2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… + b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×10 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 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×10 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 </a:t>
            </a:r>
          </a:p>
        </p:txBody>
      </p:sp>
      <p:sp>
        <p:nvSpPr>
          <p:cNvPr id="27655" name="Text Box 10"/>
          <p:cNvSpPr txBox="1"/>
          <p:nvPr/>
        </p:nvSpPr>
        <p:spPr>
          <a:xfrm>
            <a:off x="325438" y="3228975"/>
            <a:ext cx="5173662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将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转换成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α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进制下的数，则</a:t>
            </a:r>
          </a:p>
        </p:txBody>
      </p:sp>
      <p:grpSp>
        <p:nvGrpSpPr>
          <p:cNvPr id="28680" name="Group 20"/>
          <p:cNvGrpSpPr/>
          <p:nvPr/>
        </p:nvGrpSpPr>
        <p:grpSpPr>
          <a:xfrm>
            <a:off x="4724400" y="857250"/>
            <a:ext cx="2133600" cy="365125"/>
            <a:chOff x="2976" y="720"/>
            <a:chExt cx="1344" cy="307"/>
          </a:xfrm>
        </p:grpSpPr>
        <p:sp>
          <p:nvSpPr>
            <p:cNvPr id="28689" name="Text Box 5"/>
            <p:cNvSpPr txBox="1"/>
            <p:nvPr/>
          </p:nvSpPr>
          <p:spPr>
            <a:xfrm>
              <a:off x="2976" y="720"/>
              <a:ext cx="432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690" name="Text Box 13"/>
            <p:cNvSpPr txBox="1"/>
            <p:nvPr/>
          </p:nvSpPr>
          <p:spPr>
            <a:xfrm>
              <a:off x="4032" y="720"/>
              <a:ext cx="288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endParaRPr lang="zh-CN" altLang="en-US" sz="1800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40976" name="Text Box 16"/>
          <p:cNvSpPr txBox="1"/>
          <p:nvPr/>
        </p:nvSpPr>
        <p:spPr>
          <a:xfrm>
            <a:off x="7218363" y="2887663"/>
            <a:ext cx="45720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β</a:t>
            </a:r>
          </a:p>
        </p:txBody>
      </p:sp>
      <p:sp>
        <p:nvSpPr>
          <p:cNvPr id="40977" name="Text Box 17"/>
          <p:cNvSpPr txBox="1"/>
          <p:nvPr/>
        </p:nvSpPr>
        <p:spPr>
          <a:xfrm>
            <a:off x="4302125" y="2489200"/>
            <a:ext cx="45720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β</a:t>
            </a:r>
          </a:p>
        </p:txBody>
      </p:sp>
      <p:grpSp>
        <p:nvGrpSpPr>
          <p:cNvPr id="27659" name="Group 22"/>
          <p:cNvGrpSpPr/>
          <p:nvPr/>
        </p:nvGrpSpPr>
        <p:grpSpPr>
          <a:xfrm>
            <a:off x="393700" y="3697287"/>
            <a:ext cx="8445500" cy="1073038"/>
            <a:chOff x="183" y="3408"/>
            <a:chExt cx="3173" cy="1270"/>
          </a:xfrm>
        </p:grpSpPr>
        <p:sp>
          <p:nvSpPr>
            <p:cNvPr id="28686" name="Text Box 18"/>
            <p:cNvSpPr txBox="1"/>
            <p:nvPr/>
          </p:nvSpPr>
          <p:spPr>
            <a:xfrm>
              <a:off x="183" y="3408"/>
              <a:ext cx="3173" cy="127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lnSpc>
                  <a:spcPct val="40000"/>
                </a:lnSpc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N </a:t>
              </a:r>
              <a:r>
                <a:rPr lang="en-US" altLang="zh-CN" sz="1800" b="1" baseline="-250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α</a:t>
              </a: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= (c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n-1</a:t>
              </a: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× γ</a:t>
              </a:r>
              <a:r>
                <a:rPr lang="en-US" altLang="zh-CN" sz="1800" b="1" baseline="30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n-1 </a:t>
              </a: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+ c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n-2</a:t>
              </a: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× γ</a:t>
              </a:r>
              <a:r>
                <a:rPr lang="en-US" altLang="zh-CN" sz="1800" b="1" baseline="30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n-2 </a:t>
              </a: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+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… + c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× γ</a:t>
              </a:r>
              <a:r>
                <a:rPr lang="en-US" altLang="zh-CN" sz="1800" b="1" baseline="30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 </a:t>
              </a: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+c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×γ</a:t>
              </a:r>
              <a:r>
                <a:rPr lang="en-US" altLang="zh-CN" sz="1800" b="1" baseline="30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)</a:t>
              </a:r>
            </a:p>
            <a:p>
              <a:pPr eaLnBrk="1" hangingPunct="1">
                <a:lnSpc>
                  <a:spcPct val="40000"/>
                </a:lnSpc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  </a:t>
              </a:r>
            </a:p>
            <a:p>
              <a:pPr eaLnBrk="1" hangingPunct="1">
                <a:lnSpc>
                  <a:spcPct val="40000"/>
                </a:lnSpc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   (0≤c 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i</a:t>
              </a: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≤ α-1)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eaLnBrk="1" hangingPunct="1">
                <a:lnSpc>
                  <a:spcPct val="40000"/>
                </a:lnSpc>
                <a:spcBef>
                  <a:spcPct val="50000"/>
                </a:spcBef>
                <a:buFont typeface="Arial" panose="020B0604020202020204" pitchFamily="34" charset="0"/>
              </a:pP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eaLnBrk="1" hangingPunct="1">
                <a:lnSpc>
                  <a:spcPct val="40000"/>
                </a:lnSpc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zh-CN" altLang="en-US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其中： </a:t>
              </a: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( b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i</a:t>
              </a: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)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β </a:t>
              </a: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= (c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i </a:t>
              </a: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)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α  , </a:t>
              </a: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( 10 )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β </a:t>
              </a: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=(γ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)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α ,</a:t>
              </a:r>
              <a:r>
                <a:rPr lang="zh-CN" altLang="en-US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则</a:t>
              </a: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: γ =β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α</a:t>
              </a:r>
            </a:p>
          </p:txBody>
        </p:sp>
        <p:sp>
          <p:nvSpPr>
            <p:cNvPr id="28687" name="Text Box 6"/>
            <p:cNvSpPr txBox="1"/>
            <p:nvPr/>
          </p:nvSpPr>
          <p:spPr>
            <a:xfrm>
              <a:off x="2456" y="3493"/>
              <a:ext cx="336" cy="23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lnSpc>
                  <a:spcPct val="40000"/>
                </a:lnSpc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α</a:t>
              </a:r>
            </a:p>
          </p:txBody>
        </p:sp>
        <p:sp>
          <p:nvSpPr>
            <p:cNvPr id="28688" name="Text Box 19"/>
            <p:cNvSpPr txBox="1"/>
            <p:nvPr/>
          </p:nvSpPr>
          <p:spPr>
            <a:xfrm>
              <a:off x="432" y="3560"/>
              <a:ext cx="432" cy="23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lnSpc>
                  <a:spcPct val="40000"/>
                </a:lnSpc>
                <a:spcBef>
                  <a:spcPct val="50000"/>
                </a:spcBef>
                <a:buFont typeface="Arial" panose="020B0604020202020204" pitchFamily="34" charset="0"/>
              </a:pPr>
              <a:endParaRPr lang="zh-CN" altLang="en-US" sz="1800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27660" name="Text Box 23"/>
          <p:cNvSpPr txBox="1"/>
          <p:nvPr/>
        </p:nvSpPr>
        <p:spPr>
          <a:xfrm>
            <a:off x="228600" y="2000250"/>
            <a:ext cx="861060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① 整数转换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基数除法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</a:p>
        </p:txBody>
      </p:sp>
      <p:sp>
        <p:nvSpPr>
          <p:cNvPr id="28685" name="Rectangle 2"/>
          <p:cNvSpPr txBox="1"/>
          <p:nvPr/>
        </p:nvSpPr>
        <p:spPr>
          <a:xfrm>
            <a:off x="5508625" y="52705"/>
            <a:ext cx="3111500" cy="37782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>
              <a:buFont typeface="Arial" panose="020B0604020202020204" pitchFamily="34" charset="0"/>
            </a:pPr>
            <a:r>
              <a:rPr lang="zh-CN" altLang="en-US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第</a:t>
            </a:r>
            <a:r>
              <a:rPr lang="en-US" altLang="zh-CN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1</a:t>
            </a:r>
            <a:r>
              <a:rPr lang="zh-CN" altLang="en-US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章 数字逻辑基础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8000365" y="3129915"/>
            <a:ext cx="880110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注意：</a:t>
            </a: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c</a:t>
            </a:r>
            <a:r>
              <a:rPr lang="en-US" altLang="zh-CN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i</a:t>
            </a:r>
            <a:r>
              <a:rPr lang="zh-CN" altLang="en-US" sz="16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和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γ</a:t>
            </a:r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不一定只是一个数字符号！</a:t>
            </a:r>
            <a:endParaRPr lang="zh-CN" altLang="en-US" sz="1600" baseline="-25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4" grpId="0"/>
      <p:bldP spid="27655" grpId="0"/>
      <p:bldP spid="40976" grpId="0"/>
      <p:bldP spid="40977" grpId="0"/>
      <p:bldP spid="27660" grpId="0"/>
      <p:bldP spid="2" grpId="0"/>
      <p:bldP spid="2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503F3E5-7C9B-456C-89E7-2CF8E7266990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29699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  <a:t>18</a:t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700" name="Rectangle 4"/>
          <p:cNvSpPr>
            <a:spLocks noGrp="1"/>
          </p:cNvSpPr>
          <p:nvPr>
            <p:ph idx="1"/>
          </p:nvPr>
        </p:nvSpPr>
        <p:spPr>
          <a:xfrm>
            <a:off x="384175" y="639763"/>
            <a:ext cx="8175625" cy="1160462"/>
          </a:xfrm>
          <a:noFill/>
          <a:ln>
            <a:noFill/>
          </a:ln>
        </p:spPr>
        <p:txBody>
          <a:bodyPr/>
          <a:lstStyle/>
          <a:p>
            <a:pPr eaLnBrk="1" hangingPunct="1">
              <a:lnSpc>
                <a:spcPct val="70000"/>
              </a:lnSpc>
              <a:spcBef>
                <a:spcPct val="50000"/>
              </a:spcBef>
              <a:buNone/>
            </a:pP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 </a:t>
            </a:r>
            <a:r>
              <a:rPr lang="en-US" altLang="zh-CN" sz="1800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α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= (((…((c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n-1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)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γ</a:t>
            </a:r>
            <a:r>
              <a:rPr lang="en-US" altLang="zh-CN" sz="1800" baseline="30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+ c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n-2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)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γ</a:t>
            </a:r>
            <a:r>
              <a:rPr lang="en-US" altLang="zh-CN" sz="1800" baseline="30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…)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γ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+ c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)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γ</a:t>
            </a:r>
            <a:r>
              <a:rPr lang="en-US" altLang="zh-CN" sz="1800" baseline="30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+c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) 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α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在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α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进制下，将该数除以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γ</a:t>
            </a:r>
            <a:r>
              <a:rPr lang="en-US" altLang="zh-CN" sz="1800" baseline="30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则余数分别为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: c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0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1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… , c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n-1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再转化为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β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进制下的并列表示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: b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0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1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…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n-1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None/>
            </a:pPr>
            <a:endParaRPr lang="en-US" altLang="zh-CN" sz="1800" baseline="-25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9701" name="Rectangle 42"/>
          <p:cNvSpPr/>
          <p:nvPr/>
        </p:nvSpPr>
        <p:spPr>
          <a:xfrm>
            <a:off x="231775" y="1654175"/>
            <a:ext cx="8686800" cy="5715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eaLnBrk="1" hangingPunct="1">
              <a:lnSpc>
                <a:spcPct val="70000"/>
              </a:lnSpc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将十进制的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179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转换成二进制数。  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γ=2 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（？）</a:t>
            </a:r>
          </a:p>
        </p:txBody>
      </p:sp>
      <p:sp>
        <p:nvSpPr>
          <p:cNvPr id="28678" name="Rectangle 43"/>
          <p:cNvSpPr/>
          <p:nvPr/>
        </p:nvSpPr>
        <p:spPr>
          <a:xfrm>
            <a:off x="374650" y="2076450"/>
            <a:ext cx="5810885" cy="312102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 algn="r" eaLnBrk="1" hangingPunct="1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179÷2 = 89              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余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1… …c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→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</a:p>
          <a:p>
            <a:pPr marL="342900" indent="-342900" algn="r" eaLnBrk="1" hangingPunct="1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89÷2 = 44              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余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1… …c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→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</a:p>
          <a:p>
            <a:pPr marL="342900" indent="-342900" algn="r" eaLnBrk="1" hangingPunct="1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44÷2 = 22              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余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0… …c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→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</a:p>
          <a:p>
            <a:pPr marL="342900" indent="-342900" algn="r" eaLnBrk="1" hangingPunct="1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22÷2 = 11              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余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0… …c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→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</a:p>
          <a:p>
            <a:pPr marL="342900" indent="-342900" algn="r" eaLnBrk="1" hangingPunct="1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11÷2 = 5                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余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1… …c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→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</a:p>
          <a:p>
            <a:pPr marL="342900" indent="-342900" algn="r" eaLnBrk="1" hangingPunct="1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5÷2 = 2                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余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1… …c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→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</a:p>
          <a:p>
            <a:pPr marL="342900" indent="-342900" algn="r" eaLnBrk="1" hangingPunct="1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2÷2 = 1                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余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0… …c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→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</a:t>
            </a:r>
          </a:p>
          <a:p>
            <a:pPr marL="342900" indent="-342900" algn="r" eaLnBrk="1" hangingPunct="1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</a:t>
            </a:r>
            <a:r>
              <a:rPr lang="en-US" altLang="zh-CN" sz="1800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1÷2 = 0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    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余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1… …c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→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</a:t>
            </a:r>
          </a:p>
        </p:txBody>
      </p:sp>
      <p:sp>
        <p:nvSpPr>
          <p:cNvPr id="28679" name="Text Box 44"/>
          <p:cNvSpPr txBox="1"/>
          <p:nvPr/>
        </p:nvSpPr>
        <p:spPr>
          <a:xfrm>
            <a:off x="684213" y="4446588"/>
            <a:ext cx="5334000" cy="28623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7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即	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(179)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= (10110011)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    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注意次序！</a:t>
            </a:r>
            <a:endParaRPr lang="en-US" altLang="zh-CN" sz="1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9704" name="Rectangle 2"/>
          <p:cNvSpPr txBox="1"/>
          <p:nvPr/>
        </p:nvSpPr>
        <p:spPr>
          <a:xfrm>
            <a:off x="5508625" y="52705"/>
            <a:ext cx="3111500" cy="40259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>
              <a:buFont typeface="Arial" panose="020B0604020202020204" pitchFamily="34" charset="0"/>
            </a:pPr>
            <a:r>
              <a:rPr lang="zh-CN" altLang="en-US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第</a:t>
            </a:r>
            <a:r>
              <a:rPr lang="en-US" altLang="zh-CN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1</a:t>
            </a:r>
            <a:r>
              <a:rPr lang="zh-CN" altLang="en-US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章 数字逻辑基础</a:t>
            </a:r>
          </a:p>
        </p:txBody>
      </p:sp>
      <p:sp>
        <p:nvSpPr>
          <p:cNvPr id="29705" name="文本框 1"/>
          <p:cNvSpPr txBox="1"/>
          <p:nvPr/>
        </p:nvSpPr>
        <p:spPr>
          <a:xfrm>
            <a:off x="6457950" y="3633788"/>
            <a:ext cx="2451100" cy="107721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16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一定要记得进展到商为零这一步！</a:t>
            </a:r>
            <a:endParaRPr lang="en-US" altLang="zh-CN" sz="160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r>
              <a:rPr lang="zh-CN" altLang="en-US" sz="16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余数为</a:t>
            </a:r>
            <a:r>
              <a:rPr lang="en-US" altLang="zh-CN" sz="16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α</a:t>
            </a:r>
            <a:r>
              <a:rPr lang="zh-CN" altLang="en-US" sz="16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进制的数，要转换成</a:t>
            </a:r>
            <a:r>
              <a:rPr lang="en-US" altLang="zh-CN" sz="16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β</a:t>
            </a:r>
            <a:r>
              <a:rPr lang="zh-CN" altLang="en-US" sz="16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进制的数！</a:t>
            </a: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9" grpId="0"/>
      <p:bldP spid="29705" grpId="1"/>
      <p:bldP spid="29705" grpId="2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BB3DBC6-39DA-4356-8F19-019ECBD142B1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30723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  <a:t>19</a:t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24" name="Rectangle 3"/>
          <p:cNvSpPr>
            <a:spLocks noGrp="1"/>
          </p:cNvSpPr>
          <p:nvPr>
            <p:ph type="title"/>
          </p:nvPr>
        </p:nvSpPr>
        <p:spPr>
          <a:xfrm>
            <a:off x="179388" y="554038"/>
            <a:ext cx="8534400" cy="57150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2  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将十进制的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3417 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转换成十六进制数。 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γ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 =16</a:t>
            </a:r>
          </a:p>
        </p:txBody>
      </p:sp>
      <p:sp>
        <p:nvSpPr>
          <p:cNvPr id="30725" name="Text Box 4"/>
          <p:cNvSpPr txBox="1"/>
          <p:nvPr/>
        </p:nvSpPr>
        <p:spPr>
          <a:xfrm>
            <a:off x="228600" y="2334260"/>
            <a:ext cx="89154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即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(3417)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= (D59)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16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注意：次序</a:t>
            </a:r>
          </a:p>
        </p:txBody>
      </p:sp>
      <p:sp>
        <p:nvSpPr>
          <p:cNvPr id="30726" name="Rectangle 5"/>
          <p:cNvSpPr>
            <a:spLocks noGrp="1"/>
          </p:cNvSpPr>
          <p:nvPr>
            <p:ph idx="1"/>
          </p:nvPr>
        </p:nvSpPr>
        <p:spPr>
          <a:xfrm>
            <a:off x="684213" y="915353"/>
            <a:ext cx="7924800" cy="1485900"/>
          </a:xfrm>
          <a:noFill/>
          <a:ln>
            <a:noFill/>
          </a:ln>
        </p:spPr>
        <p:txBody>
          <a:bodyPr/>
          <a:lstStyle/>
          <a:p>
            <a:pPr eaLnBrk="1" hangingPunct="1">
              <a:lnSpc>
                <a:spcPct val="110000"/>
              </a:lnSpc>
              <a:buNone/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16  3417                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余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9 … … c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→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</a:p>
          <a:p>
            <a:pPr eaLnBrk="1" hangingPunct="1">
              <a:lnSpc>
                <a:spcPct val="110000"/>
              </a:lnSpc>
              <a:buNone/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 16   213               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余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5 … … c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→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b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</a:p>
          <a:p>
            <a:pPr eaLnBrk="1" hangingPunct="1">
              <a:lnSpc>
                <a:spcPct val="110000"/>
              </a:lnSpc>
              <a:buNone/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16   13              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余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13  …  c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→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b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2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… … D</a:t>
            </a:r>
          </a:p>
          <a:p>
            <a:pPr eaLnBrk="1" hangingPunct="1">
              <a:lnSpc>
                <a:spcPct val="110000"/>
              </a:lnSpc>
              <a:buNone/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      0</a:t>
            </a:r>
          </a:p>
        </p:txBody>
      </p:sp>
      <p:sp>
        <p:nvSpPr>
          <p:cNvPr id="2" name="Line 6"/>
          <p:cNvSpPr/>
          <p:nvPr/>
        </p:nvSpPr>
        <p:spPr>
          <a:xfrm>
            <a:off x="1287463" y="1104900"/>
            <a:ext cx="0" cy="28575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Line 7"/>
          <p:cNvSpPr/>
          <p:nvPr/>
        </p:nvSpPr>
        <p:spPr>
          <a:xfrm>
            <a:off x="1304925" y="1373188"/>
            <a:ext cx="762000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Line 8"/>
          <p:cNvSpPr/>
          <p:nvPr/>
        </p:nvSpPr>
        <p:spPr>
          <a:xfrm>
            <a:off x="1439863" y="1487488"/>
            <a:ext cx="0" cy="28575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8679" name="Line 9"/>
          <p:cNvSpPr/>
          <p:nvPr/>
        </p:nvSpPr>
        <p:spPr>
          <a:xfrm flipV="1">
            <a:off x="1457325" y="1768475"/>
            <a:ext cx="604838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8680" name="Line 10"/>
          <p:cNvSpPr/>
          <p:nvPr/>
        </p:nvSpPr>
        <p:spPr>
          <a:xfrm>
            <a:off x="1592263" y="1887538"/>
            <a:ext cx="0" cy="28575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8681" name="Line 11"/>
          <p:cNvSpPr/>
          <p:nvPr/>
        </p:nvSpPr>
        <p:spPr>
          <a:xfrm flipV="1">
            <a:off x="1609725" y="2168525"/>
            <a:ext cx="460375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9709" name="Text Box 14"/>
          <p:cNvSpPr txBox="1"/>
          <p:nvPr/>
        </p:nvSpPr>
        <p:spPr>
          <a:xfrm>
            <a:off x="323850" y="2788920"/>
            <a:ext cx="8686800" cy="174307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 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将二进制的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1011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转换成三进制数。  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γ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=11</a:t>
            </a:r>
          </a:p>
          <a:p>
            <a:pPr eaLnBrk="1" hangingPunct="1">
              <a:lnSpc>
                <a:spcPct val="11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11  1011                  </a:t>
            </a:r>
            <a:endParaRPr lang="en-US" altLang="zh-CN" sz="1800" baseline="-25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1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11  11                 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余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10    … c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0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→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b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0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… 2</a:t>
            </a:r>
            <a:endParaRPr lang="en-US" altLang="zh-CN" sz="1800" baseline="-25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1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11 1                 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余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0  … … c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1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→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b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1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… 0</a:t>
            </a:r>
            <a:endParaRPr lang="en-US" altLang="zh-CN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1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0                 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余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1  … … c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2 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→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b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2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… 1</a:t>
            </a:r>
            <a:endParaRPr lang="en-US" altLang="zh-CN" sz="1800" baseline="-25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8683" name="Line 15"/>
          <p:cNvSpPr/>
          <p:nvPr/>
        </p:nvSpPr>
        <p:spPr>
          <a:xfrm>
            <a:off x="825500" y="3235325"/>
            <a:ext cx="0" cy="28575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8684" name="Line 16"/>
          <p:cNvSpPr/>
          <p:nvPr/>
        </p:nvSpPr>
        <p:spPr>
          <a:xfrm>
            <a:off x="842963" y="3503613"/>
            <a:ext cx="762000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Line 17"/>
          <p:cNvSpPr/>
          <p:nvPr/>
        </p:nvSpPr>
        <p:spPr>
          <a:xfrm>
            <a:off x="977900" y="3617913"/>
            <a:ext cx="0" cy="28575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8686" name="Line 18"/>
          <p:cNvSpPr/>
          <p:nvPr/>
        </p:nvSpPr>
        <p:spPr>
          <a:xfrm flipV="1">
            <a:off x="995363" y="3898900"/>
            <a:ext cx="604838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8687" name="Line 19"/>
          <p:cNvSpPr/>
          <p:nvPr/>
        </p:nvSpPr>
        <p:spPr>
          <a:xfrm>
            <a:off x="1130300" y="4017963"/>
            <a:ext cx="0" cy="28575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8688" name="Line 20"/>
          <p:cNvSpPr/>
          <p:nvPr/>
        </p:nvSpPr>
        <p:spPr>
          <a:xfrm flipV="1">
            <a:off x="1147763" y="4298950"/>
            <a:ext cx="460375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9716" name="Text Box 22"/>
          <p:cNvSpPr txBox="1"/>
          <p:nvPr/>
        </p:nvSpPr>
        <p:spPr>
          <a:xfrm>
            <a:off x="533400" y="4535805"/>
            <a:ext cx="541020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即	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(1011)</a:t>
            </a:r>
            <a:r>
              <a:rPr lang="en-US" altLang="zh-CN" sz="1800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= (102)</a:t>
            </a:r>
            <a:r>
              <a:rPr lang="en-US" altLang="zh-CN" sz="1800" baseline="-25000" dirty="0">
                <a:solidFill>
                  <a:schemeClr val="tx1"/>
                </a:solidFill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endParaRPr lang="en-US" altLang="zh-CN" sz="1800" b="1" baseline="-25000" dirty="0">
              <a:solidFill>
                <a:schemeClr val="tx1"/>
              </a:solidFill>
              <a:highlight>
                <a:srgbClr val="FFFF00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0741" name="Rectangle 2"/>
          <p:cNvSpPr txBox="1"/>
          <p:nvPr/>
        </p:nvSpPr>
        <p:spPr>
          <a:xfrm>
            <a:off x="5508625" y="52705"/>
            <a:ext cx="3111500" cy="43624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>
              <a:buFont typeface="Arial" panose="020B0604020202020204" pitchFamily="34" charset="0"/>
            </a:pPr>
            <a:r>
              <a:rPr lang="zh-CN" altLang="en-US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第</a:t>
            </a:r>
            <a:r>
              <a:rPr lang="en-US" altLang="zh-CN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1</a:t>
            </a:r>
            <a:r>
              <a:rPr lang="zh-CN" altLang="en-US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章 数字逻辑基础</a:t>
            </a: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5" grpId="0"/>
      <p:bldP spid="30725" grpId="1"/>
      <p:bldP spid="29709" grpId="0"/>
      <p:bldP spid="2971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/>
          <p:cNvSpPr txBox="1">
            <a:spLocks noGrp="1"/>
          </p:cNvSpPr>
          <p:nvPr>
            <p:ph type="dt" sz="half" idx="2"/>
          </p:nvPr>
        </p:nvSpPr>
        <p:spPr>
          <a:noFill/>
        </p:spPr>
        <p:txBody>
          <a:bodyPr lIns="91440" tIns="45720" rIns="91440" bIns="45720" rtlCol="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93E9378-BC9D-4A92-8572-B9FC42B12432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31747" name="灯片编号占位符 5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900" dirty="0">
                <a:solidFill>
                  <a:srgbClr val="898989"/>
                </a:solidFill>
                <a:latin typeface="Times New Roman" panose="02020603050405020304" pitchFamily="18" charset="0"/>
              </a:rPr>
              <a:t>20</a:t>
            </a:fld>
            <a:endParaRPr lang="zh-CN" altLang="en-US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748" name="Rectangle 3"/>
          <p:cNvSpPr>
            <a:spLocks noGrp="1"/>
          </p:cNvSpPr>
          <p:nvPr/>
        </p:nvSpPr>
        <p:spPr>
          <a:xfrm>
            <a:off x="481013" y="434975"/>
            <a:ext cx="8458200" cy="762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eaLnBrk="1" hangingPunct="1"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②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小数转换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基数乘法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en-US" altLang="zh-CN" sz="1800" b="1" i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1749" name="Rectangle 4"/>
          <p:cNvSpPr>
            <a:spLocks noGrp="1"/>
          </p:cNvSpPr>
          <p:nvPr/>
        </p:nvSpPr>
        <p:spPr>
          <a:xfrm>
            <a:off x="630238" y="1074738"/>
            <a:ext cx="8610600" cy="16954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 eaLnBrk="1" hangingPunct="1">
              <a:lnSpc>
                <a:spcPct val="12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：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en-US" altLang="zh-CN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α =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N</a:t>
            </a:r>
            <a:r>
              <a:rPr lang="en-US" altLang="zh-CN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β</a:t>
            </a:r>
            <a:br>
              <a:rPr lang="en-US" altLang="zh-CN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    =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( 0 . C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-1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-2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…C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-m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</a:p>
          <a:p>
            <a:pPr marL="342900" indent="-342900" eaLnBrk="1" hangingPunct="1">
              <a:lnSpc>
                <a:spcPct val="12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=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(C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-1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×10 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-1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 C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-2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×10 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-2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… + C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-m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×10 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-m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 </a:t>
            </a:r>
          </a:p>
          <a:p>
            <a:pPr marL="342900" indent="-342900" eaLnBrk="1" hangingPunct="1">
              <a:lnSpc>
                <a:spcPct val="12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   (0≤C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≤β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－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1)</a:t>
            </a:r>
          </a:p>
        </p:txBody>
      </p:sp>
      <p:sp>
        <p:nvSpPr>
          <p:cNvPr id="31750" name="Text Box 6"/>
          <p:cNvSpPr txBox="1"/>
          <p:nvPr/>
        </p:nvSpPr>
        <p:spPr>
          <a:xfrm>
            <a:off x="755015" y="2859405"/>
            <a:ext cx="6881495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将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转换成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α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进制下的数，则</a:t>
            </a:r>
          </a:p>
        </p:txBody>
      </p:sp>
      <p:sp>
        <p:nvSpPr>
          <p:cNvPr id="31751" name="Text Box 17"/>
          <p:cNvSpPr txBox="1"/>
          <p:nvPr/>
        </p:nvSpPr>
        <p:spPr>
          <a:xfrm>
            <a:off x="1146175" y="3305175"/>
            <a:ext cx="7578725" cy="11988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N</a:t>
            </a:r>
            <a:r>
              <a:rPr lang="en-US" altLang="zh-CN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α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( D</a:t>
            </a:r>
            <a:r>
              <a:rPr lang="en-US" altLang="zh-CN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-1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×γ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-1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 D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en-US" altLang="zh-CN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×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γ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-2 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 … + D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-m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×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γ</a:t>
            </a:r>
            <a:r>
              <a:rPr lang="en-US" altLang="zh-CN" sz="1800" b="1" baseline="30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-m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en-US" altLang="zh-CN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α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其中：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 C</a:t>
            </a:r>
            <a:r>
              <a:rPr lang="en-US" altLang="zh-CN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)</a:t>
            </a:r>
            <a:r>
              <a:rPr lang="en-US" altLang="zh-CN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β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=(D</a:t>
            </a:r>
            <a:r>
              <a:rPr lang="en-US" altLang="zh-CN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en-US" altLang="zh-CN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α  ,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( 10 )</a:t>
            </a:r>
            <a:r>
              <a:rPr lang="en-US" altLang="zh-CN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β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=(γ</a:t>
            </a:r>
            <a:r>
              <a:rPr lang="en-US" altLang="zh-CN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en-US" altLang="zh-CN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α ,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则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 γ =β </a:t>
            </a:r>
            <a:r>
              <a:rPr lang="en-US" altLang="zh-CN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α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                   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(0≤D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≤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α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－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1)</a:t>
            </a:r>
            <a:endParaRPr lang="en-US" altLang="zh-CN" sz="1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1752" name="Text Box 13"/>
          <p:cNvSpPr txBox="1"/>
          <p:nvPr/>
        </p:nvSpPr>
        <p:spPr>
          <a:xfrm>
            <a:off x="3924300" y="1490663"/>
            <a:ext cx="53657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β</a:t>
            </a:r>
          </a:p>
        </p:txBody>
      </p:sp>
      <p:sp>
        <p:nvSpPr>
          <p:cNvPr id="31753" name="Text Box 13"/>
          <p:cNvSpPr txBox="1"/>
          <p:nvPr/>
        </p:nvSpPr>
        <p:spPr>
          <a:xfrm>
            <a:off x="6157913" y="1995488"/>
            <a:ext cx="534987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β</a:t>
            </a: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A905B8-A63A-4A18-81F5-77AAEA06DEE5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32771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  <a:t>21</a:t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25" name="Rectangle 25"/>
          <p:cNvSpPr/>
          <p:nvPr/>
        </p:nvSpPr>
        <p:spPr>
          <a:xfrm>
            <a:off x="1044575" y="1303338"/>
            <a:ext cx="511175" cy="342900"/>
          </a:xfrm>
          <a:prstGeom prst="rect">
            <a:avLst/>
          </a:prstGeom>
          <a:ln w="28575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0730" name="Rectangle 21"/>
          <p:cNvSpPr/>
          <p:nvPr/>
        </p:nvSpPr>
        <p:spPr>
          <a:xfrm>
            <a:off x="2862263" y="2817813"/>
            <a:ext cx="542925" cy="354013"/>
          </a:xfrm>
          <a:prstGeom prst="rect">
            <a:avLst/>
          </a:prstGeom>
          <a:ln w="28575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2774" name="Rectangle 3"/>
          <p:cNvSpPr>
            <a:spLocks noGrp="1"/>
          </p:cNvSpPr>
          <p:nvPr>
            <p:ph type="title"/>
          </p:nvPr>
        </p:nvSpPr>
        <p:spPr>
          <a:xfrm>
            <a:off x="811213" y="760413"/>
            <a:ext cx="5638800" cy="57150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在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α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进制下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将该数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乘以 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γ 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得：</a:t>
            </a:r>
          </a:p>
        </p:txBody>
      </p:sp>
      <p:sp>
        <p:nvSpPr>
          <p:cNvPr id="32775" name="Text Box 17"/>
          <p:cNvSpPr txBox="1"/>
          <p:nvPr/>
        </p:nvSpPr>
        <p:spPr>
          <a:xfrm>
            <a:off x="887413" y="1301750"/>
            <a:ext cx="708660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-1 </a:t>
            </a:r>
            <a:r>
              <a:rPr lang="en-US" altLang="zh-CN" sz="1800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  D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-2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×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γ</a:t>
            </a:r>
            <a:r>
              <a:rPr lang="en-US" altLang="zh-CN" sz="1800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-1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… + D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-m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×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γ</a:t>
            </a:r>
            <a:r>
              <a:rPr lang="en-US" altLang="zh-CN" sz="1800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-m+1</a:t>
            </a:r>
          </a:p>
        </p:txBody>
      </p:sp>
      <p:sp>
        <p:nvSpPr>
          <p:cNvPr id="32776" name="Text Box 23"/>
          <p:cNvSpPr txBox="1"/>
          <p:nvPr/>
        </p:nvSpPr>
        <p:spPr>
          <a:xfrm>
            <a:off x="887413" y="2101850"/>
            <a:ext cx="845820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整数部分即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</a:t>
            </a:r>
            <a:r>
              <a:rPr lang="en-US" altLang="zh-CN" sz="1800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-1</a:t>
            </a:r>
            <a:r>
              <a:rPr lang="zh-CN" altLang="en-US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再转化为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β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进制下的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-1</a:t>
            </a:r>
            <a:endParaRPr lang="en-US" altLang="zh-CN" sz="1800" baseline="-25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0724" name="Line 24"/>
          <p:cNvSpPr/>
          <p:nvPr/>
        </p:nvSpPr>
        <p:spPr>
          <a:xfrm flipV="1">
            <a:off x="1233488" y="1693863"/>
            <a:ext cx="12700" cy="436563"/>
          </a:xfrm>
          <a:prstGeom prst="line">
            <a:avLst/>
          </a:prstGeom>
          <a:ln w="28575">
            <a:solidFill>
              <a:srgbClr val="C00000"/>
            </a:solidFill>
            <a:headEnd type="triangle" w="med" len="med"/>
            <a:tailEnd type="none" w="lg" len="lg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2778" name="Rectangle 4"/>
          <p:cNvSpPr txBox="1"/>
          <p:nvPr/>
        </p:nvSpPr>
        <p:spPr>
          <a:xfrm>
            <a:off x="965200" y="2676525"/>
            <a:ext cx="5257800" cy="5143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再乘以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γ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得：</a:t>
            </a:r>
          </a:p>
        </p:txBody>
      </p:sp>
      <p:sp>
        <p:nvSpPr>
          <p:cNvPr id="32779" name="Text Box 15"/>
          <p:cNvSpPr txBox="1"/>
          <p:nvPr/>
        </p:nvSpPr>
        <p:spPr>
          <a:xfrm>
            <a:off x="1117600" y="2828925"/>
            <a:ext cx="7086600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                D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-2 </a:t>
            </a:r>
            <a:r>
              <a:rPr lang="en-US" altLang="zh-CN" sz="1800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  D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-3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×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γ</a:t>
            </a:r>
            <a:r>
              <a:rPr lang="en-US" altLang="zh-CN" sz="1800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-1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… + D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-m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×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γ</a:t>
            </a:r>
            <a:r>
              <a:rPr lang="en-US" altLang="zh-CN" sz="1800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-m+2</a:t>
            </a:r>
          </a:p>
        </p:txBody>
      </p:sp>
      <p:sp>
        <p:nvSpPr>
          <p:cNvPr id="32780" name="Text Box 16"/>
          <p:cNvSpPr txBox="1"/>
          <p:nvPr/>
        </p:nvSpPr>
        <p:spPr>
          <a:xfrm>
            <a:off x="1041400" y="3570288"/>
            <a:ext cx="6335713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整数部分即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-2</a:t>
            </a:r>
            <a:r>
              <a:rPr lang="zh-CN" altLang="en-US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再转化为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β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进制下的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-2</a:t>
            </a:r>
          </a:p>
        </p:txBody>
      </p:sp>
      <p:sp>
        <p:nvSpPr>
          <p:cNvPr id="30729" name="Line 20"/>
          <p:cNvSpPr/>
          <p:nvPr/>
        </p:nvSpPr>
        <p:spPr>
          <a:xfrm flipV="1">
            <a:off x="3128963" y="3217863"/>
            <a:ext cx="0" cy="400050"/>
          </a:xfrm>
          <a:prstGeom prst="line">
            <a:avLst/>
          </a:prstGeom>
          <a:ln w="28575">
            <a:solidFill>
              <a:srgbClr val="C00000"/>
            </a:solidFill>
            <a:headEnd type="none" w="med" len="med"/>
            <a:tailEnd type="triangle" w="lg" len="lg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advTm="25000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179113C-5FB4-41AF-9287-77E963B5BC8D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33795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  <a:t>22</a:t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796" name="Rectangle 2"/>
          <p:cNvSpPr>
            <a:spLocks noGrp="1"/>
          </p:cNvSpPr>
          <p:nvPr>
            <p:ph type="title"/>
          </p:nvPr>
        </p:nvSpPr>
        <p:spPr>
          <a:xfrm>
            <a:off x="663575" y="330200"/>
            <a:ext cx="7772400" cy="74295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b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直至最后，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D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-m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 ×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γ</a:t>
            </a:r>
            <a:r>
              <a:rPr lang="en-US" altLang="zh-CN" sz="1800" b="1" baseline="30000" dirty="0">
                <a:latin typeface="黑体" panose="02010609060101010101" pitchFamily="49" charset="-122"/>
                <a:ea typeface="黑体" panose="02010609060101010101" pitchFamily="49" charset="-122"/>
              </a:rPr>
              <a:t>–1 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时，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再乘以 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γ 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得：</a:t>
            </a:r>
            <a:b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</a:br>
            <a:endParaRPr lang="zh-CN" altLang="en-US" sz="1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3797" name="Rectangle 3"/>
          <p:cNvSpPr>
            <a:spLocks noGrp="1"/>
          </p:cNvSpPr>
          <p:nvPr>
            <p:ph idx="1"/>
          </p:nvPr>
        </p:nvSpPr>
        <p:spPr>
          <a:xfrm>
            <a:off x="1062355" y="1016000"/>
            <a:ext cx="5715000" cy="1028700"/>
          </a:xfrm>
          <a:noFill/>
          <a:ln>
            <a:noFill/>
          </a:ln>
        </p:spPr>
        <p:txBody>
          <a:bodyPr/>
          <a:lstStyle/>
          <a:p>
            <a:pPr eaLnBrk="1" hangingPunct="1">
              <a:spcBef>
                <a:spcPct val="50000"/>
              </a:spcBef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则为       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D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-m</a:t>
            </a:r>
          </a:p>
        </p:txBody>
      </p:sp>
      <p:sp>
        <p:nvSpPr>
          <p:cNvPr id="33798" name="Text Box 25"/>
          <p:cNvSpPr txBox="1"/>
          <p:nvPr/>
        </p:nvSpPr>
        <p:spPr>
          <a:xfrm>
            <a:off x="1044575" y="1385888"/>
            <a:ext cx="8153400" cy="777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得到第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 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-m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再转化为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β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进制下的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 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-m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则转换结束。</a:t>
            </a:r>
          </a:p>
        </p:txBody>
      </p:sp>
      <p:sp>
        <p:nvSpPr>
          <p:cNvPr id="32775" name="Rectangle 3"/>
          <p:cNvSpPr txBox="1"/>
          <p:nvPr/>
        </p:nvSpPr>
        <p:spPr>
          <a:xfrm>
            <a:off x="820738" y="2211388"/>
            <a:ext cx="7354887" cy="427037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eaLnBrk="1" hangingPunct="1"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将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(0.4321)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转换成十六进制数。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γ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=16</a:t>
            </a:r>
          </a:p>
        </p:txBody>
      </p:sp>
      <p:sp>
        <p:nvSpPr>
          <p:cNvPr id="32776" name="Rectangle 4"/>
          <p:cNvSpPr txBox="1"/>
          <p:nvPr/>
        </p:nvSpPr>
        <p:spPr>
          <a:xfrm>
            <a:off x="860425" y="2714625"/>
            <a:ext cx="8229600" cy="21145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 eaLnBrk="1" hangingPunct="1">
              <a:lnSpc>
                <a:spcPct val="7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N = 0.4321    </a:t>
            </a:r>
          </a:p>
          <a:p>
            <a:pPr marL="342900" indent="-342900" eaLnBrk="1" hangingPunct="1">
              <a:lnSpc>
                <a:spcPct val="7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0.4321×16 = 6.9136  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得：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-1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= 6  (6) </a:t>
            </a:r>
          </a:p>
          <a:p>
            <a:pPr marL="342900" indent="-342900" eaLnBrk="1" hangingPunct="1">
              <a:lnSpc>
                <a:spcPct val="7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0.9136×16 =14.6176         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D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-2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= 14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(E) </a:t>
            </a:r>
          </a:p>
          <a:p>
            <a:pPr marL="342900" indent="-342900" eaLnBrk="1" hangingPunct="1">
              <a:lnSpc>
                <a:spcPct val="7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0.6176×16 = 9.8816             D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-3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= 9  (9) </a:t>
            </a:r>
          </a:p>
          <a:p>
            <a:pPr marL="342900" indent="-342900" eaLnBrk="1" hangingPunct="1">
              <a:lnSpc>
                <a:spcPct val="7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0.8816×16 =14.1056          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D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-4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= 14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(E) </a:t>
            </a:r>
          </a:p>
        </p:txBody>
      </p:sp>
      <p:sp>
        <p:nvSpPr>
          <p:cNvPr id="32777" name="Text Box 9"/>
          <p:cNvSpPr txBox="1"/>
          <p:nvPr/>
        </p:nvSpPr>
        <p:spPr>
          <a:xfrm>
            <a:off x="1171575" y="4378325"/>
            <a:ext cx="510540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即   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(0.4321)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 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≈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(0.6E9E)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16</a:t>
            </a: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5" grpId="0"/>
      <p:bldP spid="32776" grpId="0"/>
      <p:bldP spid="3277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61AAF3A-A53F-4FB0-A244-EBD8697FCD03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34819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  <a:t>23</a:t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820" name="Rectangle 3"/>
          <p:cNvSpPr>
            <a:spLocks noGrp="1"/>
          </p:cNvSpPr>
          <p:nvPr>
            <p:ph type="title"/>
          </p:nvPr>
        </p:nvSpPr>
        <p:spPr>
          <a:xfrm>
            <a:off x="520700" y="885825"/>
            <a:ext cx="8001000" cy="525463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2 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将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(0.375)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10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转换成二进制数。 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γ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=2 </a:t>
            </a:r>
          </a:p>
        </p:txBody>
      </p:sp>
      <p:sp>
        <p:nvSpPr>
          <p:cNvPr id="33797" name="Rectangle 4"/>
          <p:cNvSpPr>
            <a:spLocks noGrp="1"/>
          </p:cNvSpPr>
          <p:nvPr>
            <p:ph idx="1"/>
          </p:nvPr>
        </p:nvSpPr>
        <p:spPr>
          <a:xfrm>
            <a:off x="1435100" y="1374775"/>
            <a:ext cx="7212013" cy="2800350"/>
          </a:xfrm>
          <a:noFill/>
          <a:ln>
            <a:noFill/>
          </a:ln>
        </p:spPr>
        <p:txBody>
          <a:bodyPr/>
          <a:lstStyle/>
          <a:p>
            <a:pPr eaLnBrk="1" hangingPunct="1">
              <a:lnSpc>
                <a:spcPct val="70000"/>
              </a:lnSpc>
              <a:spcBef>
                <a:spcPct val="50000"/>
              </a:spcBef>
              <a:buNone/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 0   .  3 7 5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None/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×          2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None/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[0] . 7 5 0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	… …  D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-1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 = 0 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转化为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β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进制下的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C 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-1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None/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×          2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None/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[1] . 5 0 0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	… …  D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-2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 = 1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 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转化为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β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进制下的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C 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-2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None/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×          2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None/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[1] . 0 0 0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	… …  D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-3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 = 1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 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转化为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β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进制下的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C 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-3</a:t>
            </a:r>
          </a:p>
        </p:txBody>
      </p:sp>
      <p:grpSp>
        <p:nvGrpSpPr>
          <p:cNvPr id="33798" name="Group 19"/>
          <p:cNvGrpSpPr/>
          <p:nvPr/>
        </p:nvGrpSpPr>
        <p:grpSpPr>
          <a:xfrm>
            <a:off x="1358900" y="1989138"/>
            <a:ext cx="1854200" cy="1309687"/>
            <a:chOff x="720" y="1248"/>
            <a:chExt cx="1152" cy="1296"/>
          </a:xfrm>
        </p:grpSpPr>
        <p:sp>
          <p:nvSpPr>
            <p:cNvPr id="34824" name="Line 16"/>
            <p:cNvSpPr/>
            <p:nvPr/>
          </p:nvSpPr>
          <p:spPr>
            <a:xfrm>
              <a:off x="720" y="1248"/>
              <a:ext cx="1152" cy="0"/>
            </a:xfrm>
            <a:prstGeom prst="line">
              <a:avLst/>
            </a:prstGeom>
            <a:ln w="28575" cap="flat" cmpd="sng">
              <a:solidFill>
                <a:srgbClr val="C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25" name="Line 17"/>
            <p:cNvSpPr/>
            <p:nvPr/>
          </p:nvSpPr>
          <p:spPr>
            <a:xfrm>
              <a:off x="720" y="1872"/>
              <a:ext cx="1152" cy="0"/>
            </a:xfrm>
            <a:prstGeom prst="line">
              <a:avLst/>
            </a:prstGeom>
            <a:ln w="28575" cap="flat" cmpd="sng">
              <a:solidFill>
                <a:srgbClr val="C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26" name="Line 18"/>
            <p:cNvSpPr/>
            <p:nvPr/>
          </p:nvSpPr>
          <p:spPr>
            <a:xfrm>
              <a:off x="720" y="2544"/>
              <a:ext cx="1152" cy="0"/>
            </a:xfrm>
            <a:prstGeom prst="line">
              <a:avLst/>
            </a:prstGeom>
            <a:ln w="28575" cap="flat" cmpd="sng">
              <a:solidFill>
                <a:srgbClr val="C000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3799" name="Text Box 20"/>
          <p:cNvSpPr txBox="1"/>
          <p:nvPr/>
        </p:nvSpPr>
        <p:spPr>
          <a:xfrm>
            <a:off x="673100" y="3971925"/>
            <a:ext cx="7849235" cy="78359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即  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(0.375)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(0.011)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   </a:t>
            </a:r>
            <a:r>
              <a:rPr lang="zh-CN" altLang="en-US" sz="1800" b="1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注意：每次运算都产生结果；   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                                    不能搞错结果的排放次序。</a:t>
            </a: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7" grpId="0" build="p"/>
      <p:bldP spid="3379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4EE26E1-F1BE-423C-A63C-706818EF9F47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35843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  <a:t>24</a:t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844" name="Rectangle 3"/>
          <p:cNvSpPr>
            <a:spLocks noGrp="1"/>
          </p:cNvSpPr>
          <p:nvPr>
            <p:ph type="title"/>
          </p:nvPr>
        </p:nvSpPr>
        <p:spPr>
          <a:xfrm>
            <a:off x="376238" y="688975"/>
            <a:ext cx="8610600" cy="74295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任意两种进制之间的转换总结 </a:t>
            </a:r>
            <a:endParaRPr lang="zh-CN" altLang="en-US" sz="1800" b="1" baseline="300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4821" name="Rectangle 4"/>
          <p:cNvSpPr>
            <a:spLocks noGrp="1"/>
          </p:cNvSpPr>
          <p:nvPr>
            <p:ph idx="1"/>
          </p:nvPr>
        </p:nvSpPr>
        <p:spPr>
          <a:xfrm>
            <a:off x="301625" y="1601788"/>
            <a:ext cx="8591550" cy="3175000"/>
          </a:xfrm>
          <a:noFill/>
          <a:ln>
            <a:noFill/>
          </a:ln>
        </p:spPr>
        <p:txBody>
          <a:bodyPr/>
          <a:lstStyle/>
          <a:p>
            <a:pPr marL="514350" indent="-514350" eaLnBrk="1" hangingPunct="1">
              <a:lnSpc>
                <a:spcPct val="110000"/>
              </a:lnSpc>
              <a:spcBef>
                <a:spcPct val="50000"/>
              </a:spcBef>
              <a:buFont typeface="宋体" panose="02010600030101010101" pitchFamily="2" charset="-122"/>
              <a:buAutoNum type="circleNumDbPlain"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若熟悉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β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进制的运算规则，则采用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多项式替代法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完成转换。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要求熟悉单个数字字符的转换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</a:p>
          <a:p>
            <a:pPr marL="514350" indent="-514350" eaLnBrk="1" hangingPunct="1">
              <a:spcBef>
                <a:spcPct val="50000"/>
              </a:spcBef>
              <a:buFont typeface="宋体" panose="02010600030101010101" pitchFamily="2" charset="-122"/>
              <a:buAutoNum type="circleNumDbPlain"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若熟悉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α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进制的运算规则，则采用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基数乘除法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完成转换</a:t>
            </a:r>
          </a:p>
          <a:p>
            <a:pPr marL="514350" indent="-514350" eaLnBrk="1" hangingPunct="1">
              <a:spcBef>
                <a:spcPct val="50000"/>
              </a:spcBef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 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注意 ：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a. γ =β</a:t>
            </a:r>
            <a:r>
              <a:rPr lang="en-US" altLang="zh-CN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α;    </a:t>
            </a:r>
          </a:p>
          <a:p>
            <a:pPr marL="514350" indent="-514350" eaLnBrk="1" hangingPunct="1">
              <a:spcBef>
                <a:spcPct val="50000"/>
              </a:spcBef>
              <a:buNone/>
            </a:pPr>
            <a:r>
              <a:rPr lang="zh-CN" altLang="en-US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               </a:t>
            </a:r>
            <a:r>
              <a:rPr lang="zh-CN" altLang="en-US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b. 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整数（部分）除以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γ 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得余数，小数（部分）乘以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γ 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取整数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;   </a:t>
            </a:r>
          </a:p>
          <a:p>
            <a:pPr marL="514350" indent="-514350" eaLnBrk="1" hangingPunct="1">
              <a:spcBef>
                <a:spcPct val="50000"/>
              </a:spcBef>
              <a:buNone/>
            </a:pP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c. 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再将“余数”及“整数”从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α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进制转换为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β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进制；</a:t>
            </a:r>
            <a:endParaRPr lang="en-US" altLang="zh-CN" sz="1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514350" indent="-514350" eaLnBrk="1" hangingPunct="1">
              <a:spcBef>
                <a:spcPct val="50000"/>
              </a:spcBef>
              <a:buNone/>
            </a:pP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d. 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转换结果用位置计数法书写时，要注意小数点及字符的次序。</a:t>
            </a:r>
          </a:p>
          <a:p>
            <a:pPr marL="514350" indent="-514350" eaLnBrk="1" hangingPunct="1">
              <a:spcBef>
                <a:spcPct val="50000"/>
              </a:spcBef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③  若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不熟悉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α 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β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进制的运算规则，</a:t>
            </a:r>
            <a:r>
              <a:rPr lang="zh-CN" altLang="en-US" sz="1800" u="sng" dirty="0">
                <a:latin typeface="黑体" panose="02010609060101010101" pitchFamily="49" charset="-122"/>
                <a:ea typeface="黑体" panose="02010609060101010101" pitchFamily="49" charset="-122"/>
              </a:rPr>
              <a:t>则可</a:t>
            </a:r>
            <a:r>
              <a:rPr lang="zh-CN" altLang="en-US" sz="1800" u="sng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利用十进制</a:t>
            </a:r>
            <a:r>
              <a:rPr lang="zh-CN" altLang="en-US" sz="1800" u="sng" dirty="0">
                <a:latin typeface="黑体" panose="02010609060101010101" pitchFamily="49" charset="-122"/>
                <a:ea typeface="黑体" panose="02010609060101010101" pitchFamily="49" charset="-122"/>
              </a:rPr>
              <a:t>作为转换桥梁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  <p:grpSp>
        <p:nvGrpSpPr>
          <p:cNvPr id="35846" name="Group 11"/>
          <p:cNvGrpSpPr/>
          <p:nvPr/>
        </p:nvGrpSpPr>
        <p:grpSpPr>
          <a:xfrm>
            <a:off x="1824038" y="1125538"/>
            <a:ext cx="3962400" cy="523875"/>
            <a:chOff x="2160" y="683"/>
            <a:chExt cx="1920" cy="440"/>
          </a:xfrm>
        </p:grpSpPr>
        <p:sp>
          <p:nvSpPr>
            <p:cNvPr id="35847" name="Text Box 8"/>
            <p:cNvSpPr txBox="1"/>
            <p:nvPr/>
          </p:nvSpPr>
          <p:spPr>
            <a:xfrm>
              <a:off x="2160" y="683"/>
              <a:ext cx="1776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   N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α </a:t>
              </a: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Wingdings" panose="05000000000000000000" pitchFamily="2" charset="2"/>
                </a:rPr>
                <a:t>→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N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β 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35848" name="Text Box 9"/>
            <p:cNvSpPr txBox="1"/>
            <p:nvPr/>
          </p:nvSpPr>
          <p:spPr>
            <a:xfrm>
              <a:off x="2544" y="816"/>
              <a:ext cx="432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35849" name="Text Box 10"/>
            <p:cNvSpPr txBox="1"/>
            <p:nvPr/>
          </p:nvSpPr>
          <p:spPr>
            <a:xfrm>
              <a:off x="3600" y="816"/>
              <a:ext cx="480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>
                                            <p:txEl>
                                              <p:charRg st="90" end="14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>
                                            <p:txEl>
                                              <p:charRg st="144" end="18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>
                                            <p:txEl>
                                              <p:charRg st="182" end="2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>
                                            <p:txEl>
                                              <p:charRg st="225" end="25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726532C-53D3-4BD6-B390-DE0271F125FA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36867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  <a:t>25</a:t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36868" name="Rectangle 3"/>
          <p:cNvSpPr>
            <a:spLocks noGrp="1"/>
          </p:cNvSpPr>
          <p:nvPr>
            <p:ph type="title"/>
          </p:nvPr>
        </p:nvSpPr>
        <p:spPr>
          <a:xfrm>
            <a:off x="592138" y="860425"/>
            <a:ext cx="8839200" cy="80010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4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）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  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直接转换法 </a:t>
            </a:r>
            <a:endParaRPr lang="en-US" altLang="zh-CN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6869" name="Rectangle 4"/>
          <p:cNvSpPr>
            <a:spLocks noGrp="1"/>
          </p:cNvSpPr>
          <p:nvPr>
            <p:ph idx="1"/>
          </p:nvPr>
        </p:nvSpPr>
        <p:spPr>
          <a:xfrm>
            <a:off x="900430" y="1373505"/>
            <a:ext cx="7304405" cy="958850"/>
          </a:xfrm>
          <a:noFill/>
          <a:ln>
            <a:noFill/>
          </a:ln>
        </p:spPr>
        <p:txBody>
          <a:bodyPr/>
          <a:lstStyle/>
          <a:p>
            <a:pPr eaLnBrk="1" hangingPunct="1">
              <a:spcBef>
                <a:spcPct val="50000"/>
              </a:spcBef>
              <a:buNone/>
            </a:pP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二进制数是计算机内部真正使用的数，但由于它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的表示既</a:t>
            </a:r>
            <a:endParaRPr lang="zh-CN" altLang="en-US" sz="20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spcBef>
                <a:spcPct val="50000"/>
              </a:spcBef>
              <a:buNone/>
            </a:pP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易出错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也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不易交流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，故书写文档（或程序）时常常用八进制或十六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进制的形式表示。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  </a:t>
            </a:r>
            <a:endParaRPr lang="zh-CN" altLang="en-US" sz="20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spcBef>
                <a:spcPct val="50000"/>
              </a:spcBef>
              <a:buNone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          </a:t>
            </a:r>
          </a:p>
        </p:txBody>
      </p:sp>
      <p:sp>
        <p:nvSpPr>
          <p:cNvPr id="36870" name="Text Box 48"/>
          <p:cNvSpPr txBox="1"/>
          <p:nvPr/>
        </p:nvSpPr>
        <p:spPr>
          <a:xfrm>
            <a:off x="897255" y="2844800"/>
            <a:ext cx="6711315" cy="13220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二进制</a:t>
            </a:r>
            <a:r>
              <a:rPr lang="en-US" altLang="zh-CN" b="1" i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B</a:t>
            </a:r>
            <a:r>
              <a:rPr lang="en-US" altLang="zh-CN" b="1" i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inary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简称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B</a:t>
            </a: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，如 </a:t>
            </a:r>
            <a:r>
              <a: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(10)</a:t>
            </a:r>
            <a:r>
              <a:rPr lang="en-US" altLang="zh-CN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 </a:t>
            </a:r>
            <a:r>
              <a: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 (10)</a:t>
            </a:r>
            <a:r>
              <a:rPr lang="en-US" altLang="zh-CN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B</a:t>
            </a:r>
            <a:r>
              <a: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；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八进制</a:t>
            </a:r>
            <a:r>
              <a:rPr lang="en-US" altLang="zh-CN" b="1" i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O</a:t>
            </a:r>
            <a:r>
              <a:rPr lang="en-US" altLang="zh-CN" b="1" i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ctal</a:t>
            </a: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 简称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O </a:t>
            </a: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，如 </a:t>
            </a:r>
            <a:r>
              <a: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(10)</a:t>
            </a:r>
            <a:r>
              <a:rPr lang="en-US" altLang="zh-CN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8 </a:t>
            </a:r>
            <a:r>
              <a: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 (10)</a:t>
            </a:r>
            <a:r>
              <a:rPr lang="en-US" altLang="zh-CN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O</a:t>
            </a:r>
            <a:r>
              <a: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；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十六进制</a:t>
            </a:r>
            <a:r>
              <a:rPr lang="en-US" altLang="zh-CN" b="1" i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H</a:t>
            </a:r>
            <a:r>
              <a:rPr lang="en-US" altLang="zh-CN" b="1" i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exadecimal</a:t>
            </a: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，简称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H </a:t>
            </a: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，如 </a:t>
            </a:r>
            <a:r>
              <a: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(10)</a:t>
            </a:r>
            <a:r>
              <a:rPr lang="en-US" altLang="zh-CN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16 </a:t>
            </a:r>
            <a:r>
              <a: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 (10)</a:t>
            </a:r>
            <a:r>
              <a:rPr lang="en-US" altLang="zh-CN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H</a:t>
            </a:r>
            <a:r>
              <a: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</a:p>
        </p:txBody>
      </p:sp>
    </p:spTree>
  </p:cSld>
  <p:clrMapOvr>
    <a:masterClrMapping/>
  </p:clrMapOvr>
  <p:transition advTm="25000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70C4604-9963-46E2-B7D2-251CE3073BAB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37891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  <a:t>26</a:t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892" name="Rectangle 3"/>
          <p:cNvSpPr>
            <a:spLocks noGrp="1"/>
          </p:cNvSpPr>
          <p:nvPr>
            <p:ph type="title"/>
          </p:nvPr>
        </p:nvSpPr>
        <p:spPr>
          <a:xfrm>
            <a:off x="447675" y="746125"/>
            <a:ext cx="3048000" cy="68580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转换 ：       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37893" name="Rectangle 4"/>
          <p:cNvSpPr>
            <a:spLocks noGrp="1"/>
          </p:cNvSpPr>
          <p:nvPr>
            <p:ph idx="1"/>
          </p:nvPr>
        </p:nvSpPr>
        <p:spPr>
          <a:xfrm>
            <a:off x="295275" y="1373188"/>
            <a:ext cx="8915400" cy="457200"/>
          </a:xfrm>
          <a:noFill/>
          <a:ln>
            <a:noFill/>
          </a:ln>
        </p:spPr>
        <p:txBody>
          <a:bodyPr/>
          <a:lstStyle/>
          <a:p>
            <a:pPr eaLnBrk="1" hangingPunct="1">
              <a:spcBef>
                <a:spcPct val="50000"/>
              </a:spcBef>
              <a:buNone/>
            </a:pP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         </a:t>
            </a:r>
            <a:r>
              <a:rPr lang="zh-CN" altLang="en-US" sz="2000" u="sng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当基数</a:t>
            </a:r>
            <a:r>
              <a:rPr lang="en-US" altLang="zh-CN" sz="2000" u="sng" dirty="0">
                <a:latin typeface="黑体" panose="02010609060101010101" pitchFamily="49" charset="-122"/>
                <a:ea typeface="黑体" panose="02010609060101010101" pitchFamily="49" charset="-122"/>
              </a:rPr>
              <a:t>α </a:t>
            </a:r>
            <a:r>
              <a:rPr lang="zh-CN" altLang="en-US" sz="2000" u="sng" dirty="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2000" u="sng" dirty="0">
                <a:latin typeface="黑体" panose="02010609060101010101" pitchFamily="49" charset="-122"/>
                <a:ea typeface="黑体" panose="02010609060101010101" pitchFamily="49" charset="-122"/>
              </a:rPr>
              <a:t>β</a:t>
            </a:r>
            <a:r>
              <a:rPr lang="zh-CN" altLang="en-US" sz="2000" u="sng" dirty="0">
                <a:latin typeface="黑体" panose="02010609060101010101" pitchFamily="49" charset="-122"/>
                <a:ea typeface="黑体" panose="02010609060101010101" pitchFamily="49" charset="-122"/>
              </a:rPr>
              <a:t>均</a:t>
            </a:r>
            <a:r>
              <a:rPr lang="zh-CN" altLang="en-US" sz="2000" u="sng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是</a:t>
            </a:r>
            <a:r>
              <a:rPr lang="en-US" altLang="zh-CN" sz="2000" u="sng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2</a:t>
            </a:r>
            <a:r>
              <a:rPr lang="zh-CN" altLang="en-US" sz="2000" u="sng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的幂次方时，可以进行直接转换。</a:t>
            </a:r>
          </a:p>
        </p:txBody>
      </p:sp>
      <p:sp>
        <p:nvSpPr>
          <p:cNvPr id="37894" name="Text Box 26"/>
          <p:cNvSpPr txBox="1"/>
          <p:nvPr/>
        </p:nvSpPr>
        <p:spPr>
          <a:xfrm>
            <a:off x="449263" y="1944688"/>
            <a:ext cx="9163050" cy="8604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</a:t>
            </a: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基数为</a:t>
            </a: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2</a:t>
            </a:r>
            <a:r>
              <a:rPr lang="en-US" altLang="zh-CN" b="1" baseline="30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k </a:t>
            </a: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的进位制是将</a:t>
            </a:r>
            <a:r>
              <a:rPr lang="zh-CN" altLang="en-US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</a:t>
            </a: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个</a:t>
            </a: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k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</a:t>
            </a: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二进制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字符串</a:t>
            </a: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用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位</a:t>
            </a: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数字字符表示，如</a:t>
            </a: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(5)</a:t>
            </a:r>
            <a:r>
              <a:rPr lang="en-US" altLang="zh-CN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</a:t>
            </a: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en-US" altLang="zh-CN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(101)</a:t>
            </a:r>
            <a:r>
              <a:rPr lang="en-US" altLang="zh-CN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 </a:t>
            </a: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 </a:t>
            </a: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(5)</a:t>
            </a:r>
            <a:r>
              <a:rPr lang="en-US" altLang="zh-CN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16</a:t>
            </a: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en-US" altLang="zh-CN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(0101)</a:t>
            </a:r>
            <a:r>
              <a:rPr lang="en-US" altLang="zh-CN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endParaRPr lang="en-US" altLang="zh-CN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37895" name="Group 28"/>
          <p:cNvGrpSpPr/>
          <p:nvPr/>
        </p:nvGrpSpPr>
        <p:grpSpPr>
          <a:xfrm>
            <a:off x="2352675" y="715963"/>
            <a:ext cx="3810000" cy="636587"/>
            <a:chOff x="2160" y="720"/>
            <a:chExt cx="1920" cy="535"/>
          </a:xfrm>
        </p:grpSpPr>
        <p:sp>
          <p:nvSpPr>
            <p:cNvPr id="37897" name="Text Box 29"/>
            <p:cNvSpPr txBox="1"/>
            <p:nvPr/>
          </p:nvSpPr>
          <p:spPr>
            <a:xfrm>
              <a:off x="2160" y="720"/>
              <a:ext cx="1776" cy="49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30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8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N</a:t>
              </a:r>
              <a:r>
                <a:rPr lang="en-US" altLang="zh-CN" sz="3200" b="1" baseline="-2500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α</a:t>
              </a:r>
              <a:r>
                <a:rPr lang="en-US" altLang="zh-CN" sz="3200" b="1" baseline="-250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3200" b="1" dirty="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→</a:t>
              </a:r>
              <a:r>
                <a:rPr lang="en-US" altLang="zh-CN" sz="28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 N</a:t>
              </a:r>
              <a:r>
                <a:rPr lang="en-US" altLang="zh-CN" sz="3200" b="1" baseline="-250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 β</a:t>
              </a:r>
            </a:p>
          </p:txBody>
        </p:sp>
        <p:sp>
          <p:nvSpPr>
            <p:cNvPr id="37898" name="Text Box 30"/>
            <p:cNvSpPr txBox="1"/>
            <p:nvPr/>
          </p:nvSpPr>
          <p:spPr>
            <a:xfrm>
              <a:off x="2544" y="816"/>
              <a:ext cx="432" cy="43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endPara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7899" name="Text Box 31"/>
            <p:cNvSpPr txBox="1"/>
            <p:nvPr/>
          </p:nvSpPr>
          <p:spPr>
            <a:xfrm>
              <a:off x="3600" y="816"/>
              <a:ext cx="480" cy="3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endPara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36872" name="Text Box 32"/>
          <p:cNvSpPr txBox="1"/>
          <p:nvPr/>
        </p:nvSpPr>
        <p:spPr>
          <a:xfrm>
            <a:off x="447675" y="3219450"/>
            <a:ext cx="8610600" cy="16300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</a:t>
            </a: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因此，用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划分相应字符串</a:t>
            </a: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的方法实现基数为 </a:t>
            </a: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2</a:t>
            </a:r>
            <a:r>
              <a:rPr lang="en-US" altLang="zh-CN" b="1" baseline="30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k</a:t>
            </a:r>
            <a:r>
              <a:rPr lang="en-US" altLang="zh-CN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 </a:t>
            </a: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进位制与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二进制</a:t>
            </a: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之间的直接转换。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注意：以小数点位置为基准向左右划分，不足</a:t>
            </a: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K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位补</a:t>
            </a: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，但千万要注意</a:t>
            </a: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“0”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添加的位置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（只能在空挡处）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及个数。</a:t>
            </a: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7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F8E9A3A-2181-4678-A342-885CC935A20F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38915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  <a:t>27</a:t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16" name="Text Box 16"/>
          <p:cNvSpPr txBox="1"/>
          <p:nvPr/>
        </p:nvSpPr>
        <p:spPr>
          <a:xfrm>
            <a:off x="1476375" y="1293813"/>
            <a:ext cx="601980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二进制数 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11 111 010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011 1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00</a:t>
            </a:r>
          </a:p>
        </p:txBody>
      </p:sp>
      <p:sp>
        <p:nvSpPr>
          <p:cNvPr id="38917" name="Rectangle 2"/>
          <p:cNvSpPr>
            <a:spLocks noGrp="1"/>
          </p:cNvSpPr>
          <p:nvPr>
            <p:ph type="title"/>
          </p:nvPr>
        </p:nvSpPr>
        <p:spPr>
          <a:xfrm>
            <a:off x="333375" y="836613"/>
            <a:ext cx="7772400" cy="51435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1 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将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(11111010.0111) 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转换为八进制数。</a:t>
            </a:r>
          </a:p>
        </p:txBody>
      </p:sp>
      <p:grpSp>
        <p:nvGrpSpPr>
          <p:cNvPr id="38918" name="Group 24"/>
          <p:cNvGrpSpPr/>
          <p:nvPr/>
        </p:nvGrpSpPr>
        <p:grpSpPr>
          <a:xfrm>
            <a:off x="2717800" y="1576705"/>
            <a:ext cx="2433955" cy="76200"/>
            <a:chOff x="1584" y="3648"/>
            <a:chExt cx="1750" cy="0"/>
          </a:xfrm>
        </p:grpSpPr>
        <p:sp>
          <p:nvSpPr>
            <p:cNvPr id="2" name="Line 17"/>
            <p:cNvSpPr/>
            <p:nvPr/>
          </p:nvSpPr>
          <p:spPr>
            <a:xfrm>
              <a:off x="2278" y="3648"/>
              <a:ext cx="288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Line 18"/>
            <p:cNvSpPr/>
            <p:nvPr/>
          </p:nvSpPr>
          <p:spPr>
            <a:xfrm>
              <a:off x="1920" y="3648"/>
              <a:ext cx="289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Line 19"/>
            <p:cNvSpPr/>
            <p:nvPr/>
          </p:nvSpPr>
          <p:spPr>
            <a:xfrm>
              <a:off x="1584" y="3648"/>
              <a:ext cx="288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" name="Line 20"/>
            <p:cNvSpPr/>
            <p:nvPr/>
          </p:nvSpPr>
          <p:spPr>
            <a:xfrm>
              <a:off x="3046" y="3648"/>
              <a:ext cx="288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Line 21"/>
            <p:cNvSpPr/>
            <p:nvPr/>
          </p:nvSpPr>
          <p:spPr>
            <a:xfrm>
              <a:off x="2709" y="3648"/>
              <a:ext cx="289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38919" name="Text Box 22"/>
          <p:cNvSpPr txBox="1"/>
          <p:nvPr/>
        </p:nvSpPr>
        <p:spPr>
          <a:xfrm>
            <a:off x="1476375" y="1651000"/>
            <a:ext cx="6019800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八进制数 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3   7   2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3   4</a:t>
            </a:r>
          </a:p>
        </p:txBody>
      </p:sp>
      <p:sp>
        <p:nvSpPr>
          <p:cNvPr id="38920" name="Text Box 23"/>
          <p:cNvSpPr txBox="1"/>
          <p:nvPr/>
        </p:nvSpPr>
        <p:spPr>
          <a:xfrm>
            <a:off x="1028065" y="2020888"/>
            <a:ext cx="5562600" cy="3841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即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(11111010.0111) 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(372.34)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</a:t>
            </a:r>
          </a:p>
        </p:txBody>
      </p:sp>
      <p:sp>
        <p:nvSpPr>
          <p:cNvPr id="37897" name="Text Box 37"/>
          <p:cNvSpPr txBox="1"/>
          <p:nvPr/>
        </p:nvSpPr>
        <p:spPr>
          <a:xfrm>
            <a:off x="314325" y="2459038"/>
            <a:ext cx="6172200" cy="3841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rgbClr val="FF0000"/>
                </a:solidFill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1800" dirty="0">
                <a:solidFill>
                  <a:srgbClr val="FF0000"/>
                </a:solidFill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将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(AF.16C) 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16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转换为八进制数。</a:t>
            </a:r>
          </a:p>
        </p:txBody>
      </p:sp>
      <p:sp>
        <p:nvSpPr>
          <p:cNvPr id="37898" name="Text Box 38"/>
          <p:cNvSpPr txBox="1"/>
          <p:nvPr/>
        </p:nvSpPr>
        <p:spPr>
          <a:xfrm>
            <a:off x="1628775" y="2913063"/>
            <a:ext cx="6934200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十六进制数      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        F   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1       6       C</a:t>
            </a:r>
          </a:p>
        </p:txBody>
      </p:sp>
      <p:sp>
        <p:nvSpPr>
          <p:cNvPr id="37899" name="Text Box 39"/>
          <p:cNvSpPr txBox="1"/>
          <p:nvPr/>
        </p:nvSpPr>
        <p:spPr>
          <a:xfrm>
            <a:off x="2092325" y="3273425"/>
            <a:ext cx="6386513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二进制数  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1 0 1 0  1 1 1 1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.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0 0 0 1 0 1 1 0 1 1 0 0</a:t>
            </a:r>
          </a:p>
        </p:txBody>
      </p:sp>
      <p:sp>
        <p:nvSpPr>
          <p:cNvPr id="37900" name="Text Box 40"/>
          <p:cNvSpPr txBox="1"/>
          <p:nvPr/>
        </p:nvSpPr>
        <p:spPr>
          <a:xfrm>
            <a:off x="1019175" y="4202113"/>
            <a:ext cx="5562600" cy="3841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即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 AF.16C ) 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16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(257.0554) 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</a:t>
            </a:r>
          </a:p>
        </p:txBody>
      </p:sp>
      <p:grpSp>
        <p:nvGrpSpPr>
          <p:cNvPr id="37901" name="Group 41"/>
          <p:cNvGrpSpPr/>
          <p:nvPr/>
        </p:nvGrpSpPr>
        <p:grpSpPr>
          <a:xfrm>
            <a:off x="3481388" y="3579813"/>
            <a:ext cx="4762500" cy="0"/>
            <a:chOff x="1754" y="2640"/>
            <a:chExt cx="3299" cy="0"/>
          </a:xfrm>
        </p:grpSpPr>
        <p:sp>
          <p:nvSpPr>
            <p:cNvPr id="38928" name="Line 42"/>
            <p:cNvSpPr/>
            <p:nvPr/>
          </p:nvSpPr>
          <p:spPr>
            <a:xfrm>
              <a:off x="1754" y="2640"/>
              <a:ext cx="550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929" name="Line 43"/>
            <p:cNvSpPr/>
            <p:nvPr/>
          </p:nvSpPr>
          <p:spPr>
            <a:xfrm>
              <a:off x="2457" y="2640"/>
              <a:ext cx="501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930" name="Line 44"/>
            <p:cNvSpPr/>
            <p:nvPr/>
          </p:nvSpPr>
          <p:spPr>
            <a:xfrm>
              <a:off x="3206" y="2640"/>
              <a:ext cx="551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931" name="Line 45"/>
            <p:cNvSpPr/>
            <p:nvPr/>
          </p:nvSpPr>
          <p:spPr>
            <a:xfrm>
              <a:off x="3908" y="2640"/>
              <a:ext cx="497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932" name="Line 46"/>
            <p:cNvSpPr/>
            <p:nvPr/>
          </p:nvSpPr>
          <p:spPr>
            <a:xfrm>
              <a:off x="4525" y="2640"/>
              <a:ext cx="528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2021205" y="3710940"/>
            <a:ext cx="7853045" cy="450215"/>
            <a:chOff x="3183" y="5844"/>
            <a:chExt cx="12367" cy="709"/>
          </a:xfrm>
        </p:grpSpPr>
        <p:sp>
          <p:nvSpPr>
            <p:cNvPr id="37902" name="Text Box 47"/>
            <p:cNvSpPr txBox="1"/>
            <p:nvPr/>
          </p:nvSpPr>
          <p:spPr>
            <a:xfrm>
              <a:off x="3183" y="5973"/>
              <a:ext cx="12367" cy="58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八进制数    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2     5     7 </a:t>
              </a: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.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 0     5     5     4</a:t>
              </a:r>
            </a:p>
          </p:txBody>
        </p:sp>
        <p:sp>
          <p:nvSpPr>
            <p:cNvPr id="38935" name="Line 49"/>
            <p:cNvSpPr/>
            <p:nvPr/>
          </p:nvSpPr>
          <p:spPr>
            <a:xfrm>
              <a:off x="7493" y="5855"/>
              <a:ext cx="760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936" name="Line 50"/>
            <p:cNvSpPr/>
            <p:nvPr/>
          </p:nvSpPr>
          <p:spPr>
            <a:xfrm flipV="1">
              <a:off x="6138" y="5854"/>
              <a:ext cx="1175" cy="1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937" name="Line 51"/>
            <p:cNvSpPr/>
            <p:nvPr/>
          </p:nvSpPr>
          <p:spPr>
            <a:xfrm>
              <a:off x="5045" y="5854"/>
              <a:ext cx="832" cy="2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938" name="Line 52"/>
            <p:cNvSpPr/>
            <p:nvPr/>
          </p:nvSpPr>
          <p:spPr>
            <a:xfrm flipV="1">
              <a:off x="8788" y="5844"/>
              <a:ext cx="907" cy="1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939" name="Line 53"/>
            <p:cNvSpPr/>
            <p:nvPr/>
          </p:nvSpPr>
          <p:spPr>
            <a:xfrm>
              <a:off x="10002" y="5855"/>
              <a:ext cx="757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940" name="Line 54"/>
            <p:cNvSpPr/>
            <p:nvPr/>
          </p:nvSpPr>
          <p:spPr>
            <a:xfrm>
              <a:off x="11053" y="5855"/>
              <a:ext cx="755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941" name="Line 55"/>
            <p:cNvSpPr/>
            <p:nvPr/>
          </p:nvSpPr>
          <p:spPr>
            <a:xfrm>
              <a:off x="12181" y="5855"/>
              <a:ext cx="760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C3793B79-DF28-4E9D-AB77-66D9F153A0E8}"/>
              </a:ext>
            </a:extLst>
          </p:cNvPr>
          <p:cNvSpPr txBox="1"/>
          <p:nvPr/>
        </p:nvSpPr>
        <p:spPr>
          <a:xfrm>
            <a:off x="3121348" y="3284180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endParaRPr lang="zh-CN" altLang="en-US" sz="18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7" grpId="0"/>
      <p:bldP spid="37898" grpId="0"/>
      <p:bldP spid="37899" grpId="0"/>
      <p:bldP spid="37900" grpId="0"/>
      <p:bldP spid="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E4507E3-6E30-4630-8E24-2DAD1200E7FD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39939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  <a:t>28</a:t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940" name="Rectangle 2"/>
          <p:cNvSpPr>
            <a:spLocks noGrp="1"/>
          </p:cNvSpPr>
          <p:nvPr>
            <p:ph type="title"/>
          </p:nvPr>
        </p:nvSpPr>
        <p:spPr>
          <a:xfrm>
            <a:off x="466725" y="627063"/>
            <a:ext cx="7772400" cy="51435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）数制转换时小数位数的确定</a:t>
            </a:r>
          </a:p>
        </p:txBody>
      </p:sp>
      <p:sp>
        <p:nvSpPr>
          <p:cNvPr id="39941" name="Rectangle 3"/>
          <p:cNvSpPr>
            <a:spLocks noGrp="1"/>
          </p:cNvSpPr>
          <p:nvPr>
            <p:ph idx="1"/>
          </p:nvPr>
        </p:nvSpPr>
        <p:spPr>
          <a:xfrm>
            <a:off x="466725" y="1060450"/>
            <a:ext cx="7900035" cy="660400"/>
          </a:xfrm>
          <a:noFill/>
          <a:ln>
            <a:noFill/>
          </a:ln>
        </p:spPr>
        <p:txBody>
          <a:bodyPr/>
          <a:lstStyle/>
          <a:p>
            <a:pPr>
              <a:buNone/>
            </a:pP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 α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进制的小数有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k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位有效位，转换成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β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进制后，至少具有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相同精度的小数</a:t>
            </a:r>
            <a:endParaRPr lang="zh-CN" altLang="en-US" sz="18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buNone/>
            </a:pP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j 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位，则</a:t>
            </a:r>
          </a:p>
        </p:txBody>
      </p:sp>
      <p:sp>
        <p:nvSpPr>
          <p:cNvPr id="39942" name="Rectangle 8"/>
          <p:cNvSpPr/>
          <p:nvPr/>
        </p:nvSpPr>
        <p:spPr>
          <a:xfrm>
            <a:off x="3347720" y="1492250"/>
            <a:ext cx="509524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0.1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&gt;=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0.1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确保最少的有效位数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en-US" altLang="zh-CN" sz="1800" baseline="-25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9943" name="Text Box 9"/>
          <p:cNvSpPr txBox="1"/>
          <p:nvPr/>
        </p:nvSpPr>
        <p:spPr>
          <a:xfrm>
            <a:off x="459130" y="1882776"/>
            <a:ext cx="381000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在十进制中可表示为：</a:t>
            </a:r>
          </a:p>
        </p:txBody>
      </p:sp>
      <p:grpSp>
        <p:nvGrpSpPr>
          <p:cNvPr id="39944" name="Group 10"/>
          <p:cNvGrpSpPr/>
          <p:nvPr/>
        </p:nvGrpSpPr>
        <p:grpSpPr>
          <a:xfrm>
            <a:off x="4408488" y="1301750"/>
            <a:ext cx="655637" cy="615950"/>
            <a:chOff x="1536" y="846"/>
            <a:chExt cx="413" cy="517"/>
          </a:xfrm>
        </p:grpSpPr>
        <p:sp>
          <p:nvSpPr>
            <p:cNvPr id="39972" name="Text Box 11"/>
            <p:cNvSpPr txBox="1"/>
            <p:nvPr/>
          </p:nvSpPr>
          <p:spPr>
            <a:xfrm>
              <a:off x="1536" y="1056"/>
              <a:ext cx="384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α</a:t>
              </a:r>
            </a:p>
          </p:txBody>
        </p:sp>
        <p:sp>
          <p:nvSpPr>
            <p:cNvPr id="39973" name="Text Box 12"/>
            <p:cNvSpPr txBox="1"/>
            <p:nvPr/>
          </p:nvSpPr>
          <p:spPr>
            <a:xfrm>
              <a:off x="1565" y="846"/>
              <a:ext cx="384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k</a:t>
              </a:r>
            </a:p>
          </p:txBody>
        </p:sp>
      </p:grpSp>
      <p:grpSp>
        <p:nvGrpSpPr>
          <p:cNvPr id="39945" name="Group 13"/>
          <p:cNvGrpSpPr/>
          <p:nvPr/>
        </p:nvGrpSpPr>
        <p:grpSpPr>
          <a:xfrm>
            <a:off x="5672138" y="1352550"/>
            <a:ext cx="473075" cy="642938"/>
            <a:chOff x="3151" y="823"/>
            <a:chExt cx="396" cy="540"/>
          </a:xfrm>
        </p:grpSpPr>
        <p:sp>
          <p:nvSpPr>
            <p:cNvPr id="39970" name="Text Box 14"/>
            <p:cNvSpPr txBox="1"/>
            <p:nvPr/>
          </p:nvSpPr>
          <p:spPr>
            <a:xfrm>
              <a:off x="3151" y="1056"/>
              <a:ext cx="384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β</a:t>
              </a:r>
            </a:p>
          </p:txBody>
        </p:sp>
        <p:sp>
          <p:nvSpPr>
            <p:cNvPr id="39971" name="Text Box 15"/>
            <p:cNvSpPr txBox="1"/>
            <p:nvPr/>
          </p:nvSpPr>
          <p:spPr>
            <a:xfrm>
              <a:off x="3163" y="823"/>
              <a:ext cx="384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j</a:t>
              </a:r>
            </a:p>
          </p:txBody>
        </p:sp>
      </p:grpSp>
      <p:grpSp>
        <p:nvGrpSpPr>
          <p:cNvPr id="39946" name="Group 16"/>
          <p:cNvGrpSpPr/>
          <p:nvPr/>
        </p:nvGrpSpPr>
        <p:grpSpPr>
          <a:xfrm>
            <a:off x="4238625" y="2025650"/>
            <a:ext cx="1143000" cy="687388"/>
            <a:chOff x="1008" y="2666"/>
            <a:chExt cx="720" cy="577"/>
          </a:xfrm>
        </p:grpSpPr>
        <p:sp>
          <p:nvSpPr>
            <p:cNvPr id="39966" name="Text Box 17"/>
            <p:cNvSpPr txBox="1"/>
            <p:nvPr/>
          </p:nvSpPr>
          <p:spPr>
            <a:xfrm>
              <a:off x="1126" y="2666"/>
              <a:ext cx="192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</a:p>
          </p:txBody>
        </p:sp>
        <p:sp>
          <p:nvSpPr>
            <p:cNvPr id="39967" name="Text Box 18"/>
            <p:cNvSpPr txBox="1"/>
            <p:nvPr/>
          </p:nvSpPr>
          <p:spPr>
            <a:xfrm>
              <a:off x="1125" y="2936"/>
              <a:ext cx="365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α</a:t>
              </a:r>
            </a:p>
          </p:txBody>
        </p:sp>
        <p:sp>
          <p:nvSpPr>
            <p:cNvPr id="39968" name="Text Box 19"/>
            <p:cNvSpPr txBox="1"/>
            <p:nvPr/>
          </p:nvSpPr>
          <p:spPr>
            <a:xfrm>
              <a:off x="1008" y="2784"/>
              <a:ext cx="720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(</a:t>
              </a: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—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)</a:t>
              </a:r>
            </a:p>
          </p:txBody>
        </p:sp>
        <p:sp>
          <p:nvSpPr>
            <p:cNvPr id="39969" name="Text Box 20"/>
            <p:cNvSpPr txBox="1"/>
            <p:nvPr/>
          </p:nvSpPr>
          <p:spPr>
            <a:xfrm>
              <a:off x="1392" y="2678"/>
              <a:ext cx="240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k</a:t>
              </a:r>
            </a:p>
          </p:txBody>
        </p:sp>
      </p:grpSp>
      <p:sp>
        <p:nvSpPr>
          <p:cNvPr id="39947" name="Text Box 21"/>
          <p:cNvSpPr txBox="1"/>
          <p:nvPr/>
        </p:nvSpPr>
        <p:spPr>
          <a:xfrm>
            <a:off x="5364163" y="2211388"/>
            <a:ext cx="720725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&gt;=</a:t>
            </a:r>
          </a:p>
        </p:txBody>
      </p:sp>
      <p:grpSp>
        <p:nvGrpSpPr>
          <p:cNvPr id="39948" name="Group 22"/>
          <p:cNvGrpSpPr/>
          <p:nvPr/>
        </p:nvGrpSpPr>
        <p:grpSpPr>
          <a:xfrm>
            <a:off x="6146800" y="2070100"/>
            <a:ext cx="1143000" cy="636698"/>
            <a:chOff x="1008" y="2666"/>
            <a:chExt cx="720" cy="477"/>
          </a:xfrm>
        </p:grpSpPr>
        <p:sp>
          <p:nvSpPr>
            <p:cNvPr id="39962" name="Text Box 25"/>
            <p:cNvSpPr txBox="1"/>
            <p:nvPr/>
          </p:nvSpPr>
          <p:spPr>
            <a:xfrm>
              <a:off x="1008" y="2784"/>
              <a:ext cx="720" cy="27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(</a:t>
              </a: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—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)</a:t>
              </a:r>
            </a:p>
          </p:txBody>
        </p:sp>
        <p:sp>
          <p:nvSpPr>
            <p:cNvPr id="39963" name="Text Box 23"/>
            <p:cNvSpPr txBox="1"/>
            <p:nvPr/>
          </p:nvSpPr>
          <p:spPr>
            <a:xfrm>
              <a:off x="1126" y="2666"/>
              <a:ext cx="192" cy="27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</a:p>
          </p:txBody>
        </p:sp>
        <p:sp>
          <p:nvSpPr>
            <p:cNvPr id="39964" name="Text Box 24"/>
            <p:cNvSpPr txBox="1"/>
            <p:nvPr/>
          </p:nvSpPr>
          <p:spPr>
            <a:xfrm>
              <a:off x="1116" y="2867"/>
              <a:ext cx="288" cy="27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β</a:t>
              </a:r>
            </a:p>
          </p:txBody>
        </p:sp>
        <p:sp>
          <p:nvSpPr>
            <p:cNvPr id="39965" name="Text Box 26"/>
            <p:cNvSpPr txBox="1"/>
            <p:nvPr/>
          </p:nvSpPr>
          <p:spPr>
            <a:xfrm>
              <a:off x="1392" y="2678"/>
              <a:ext cx="240" cy="27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j</a:t>
              </a:r>
            </a:p>
          </p:txBody>
        </p:sp>
      </p:grpSp>
      <p:sp>
        <p:nvSpPr>
          <p:cNvPr id="39949" name="Text Box 27"/>
          <p:cNvSpPr txBox="1"/>
          <p:nvPr/>
        </p:nvSpPr>
        <p:spPr>
          <a:xfrm>
            <a:off x="692150" y="2711450"/>
            <a:ext cx="5391150" cy="10493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8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即                        </a:t>
            </a:r>
            <a:r>
              <a:rPr lang="en-US" altLang="zh-CN" sz="18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α</a:t>
            </a:r>
            <a:r>
              <a:rPr lang="en-US" altLang="zh-CN" sz="1800" baseline="300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k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=&lt;   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β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j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两边取对数                ㏒</a:t>
            </a:r>
            <a:r>
              <a:rPr lang="zh-CN" altLang="en-US" sz="18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α</a:t>
            </a:r>
            <a:r>
              <a:rPr lang="en-US" altLang="zh-CN" sz="1800" baseline="300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k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=&lt; ㏒ 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β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j    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即                        </a:t>
            </a:r>
            <a:r>
              <a:rPr lang="en-US" altLang="zh-CN" sz="18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k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㏒ </a:t>
            </a:r>
            <a:r>
              <a:rPr lang="en-US" altLang="zh-CN" sz="18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α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=&lt; 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j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㏒ 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β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                                            </a:t>
            </a:r>
          </a:p>
        </p:txBody>
      </p:sp>
      <p:sp>
        <p:nvSpPr>
          <p:cNvPr id="39950" name="Text Box 28"/>
          <p:cNvSpPr txBox="1"/>
          <p:nvPr/>
        </p:nvSpPr>
        <p:spPr>
          <a:xfrm>
            <a:off x="539750" y="4445000"/>
            <a:ext cx="449580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则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j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应满足不等式的整数：</a:t>
            </a:r>
          </a:p>
        </p:txBody>
      </p:sp>
      <p:grpSp>
        <p:nvGrpSpPr>
          <p:cNvPr id="39951" name="Group 29"/>
          <p:cNvGrpSpPr/>
          <p:nvPr/>
        </p:nvGrpSpPr>
        <p:grpSpPr>
          <a:xfrm>
            <a:off x="1600200" y="3600450"/>
            <a:ext cx="2514600" cy="719138"/>
            <a:chOff x="1344" y="2688"/>
            <a:chExt cx="1200" cy="604"/>
          </a:xfrm>
        </p:grpSpPr>
        <p:sp>
          <p:nvSpPr>
            <p:cNvPr id="39959" name="Text Box 32"/>
            <p:cNvSpPr txBox="1"/>
            <p:nvPr/>
          </p:nvSpPr>
          <p:spPr>
            <a:xfrm>
              <a:off x="1344" y="2784"/>
              <a:ext cx="1200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j</a:t>
              </a: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&gt;= k </a:t>
              </a: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——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39960" name="Text Box 30"/>
            <p:cNvSpPr txBox="1"/>
            <p:nvPr/>
          </p:nvSpPr>
          <p:spPr>
            <a:xfrm>
              <a:off x="1824" y="2688"/>
              <a:ext cx="672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㏒ </a:t>
              </a:r>
              <a:r>
                <a:rPr lang="en-US" altLang="zh-CN" sz="1800" dirty="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α</a:t>
              </a:r>
            </a:p>
          </p:txBody>
        </p:sp>
        <p:sp>
          <p:nvSpPr>
            <p:cNvPr id="39961" name="Text Box 31"/>
            <p:cNvSpPr txBox="1"/>
            <p:nvPr/>
          </p:nvSpPr>
          <p:spPr>
            <a:xfrm>
              <a:off x="1824" y="2985"/>
              <a:ext cx="672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㏒ </a:t>
              </a:r>
              <a:r>
                <a:rPr lang="en-US" altLang="zh-CN" sz="1800" dirty="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β</a:t>
              </a:r>
            </a:p>
          </p:txBody>
        </p:sp>
      </p:grpSp>
      <p:grpSp>
        <p:nvGrpSpPr>
          <p:cNvPr id="39952" name="Group 33"/>
          <p:cNvGrpSpPr/>
          <p:nvPr/>
        </p:nvGrpSpPr>
        <p:grpSpPr>
          <a:xfrm>
            <a:off x="3419475" y="4300538"/>
            <a:ext cx="3816350" cy="719137"/>
            <a:chOff x="3072" y="3600"/>
            <a:chExt cx="2496" cy="604"/>
          </a:xfrm>
        </p:grpSpPr>
        <p:sp>
          <p:nvSpPr>
            <p:cNvPr id="39954" name="Text Box 36"/>
            <p:cNvSpPr txBox="1"/>
            <p:nvPr/>
          </p:nvSpPr>
          <p:spPr>
            <a:xfrm>
              <a:off x="3072" y="3745"/>
              <a:ext cx="2496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k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——</a:t>
              </a:r>
              <a:r>
                <a:rPr lang="en-US" altLang="zh-CN" sz="1800" dirty="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≤ </a:t>
              </a:r>
              <a:r>
                <a:rPr lang="en-US" altLang="zh-CN" sz="1800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j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&lt; k </a:t>
              </a: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——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+ 1</a:t>
              </a:r>
            </a:p>
          </p:txBody>
        </p:sp>
        <p:sp>
          <p:nvSpPr>
            <p:cNvPr id="39955" name="Text Box 34"/>
            <p:cNvSpPr txBox="1"/>
            <p:nvPr/>
          </p:nvSpPr>
          <p:spPr>
            <a:xfrm>
              <a:off x="3120" y="3600"/>
              <a:ext cx="672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㏒ </a:t>
              </a:r>
              <a:r>
                <a:rPr lang="en-US" altLang="zh-CN" sz="1800" dirty="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α</a:t>
              </a:r>
            </a:p>
          </p:txBody>
        </p:sp>
        <p:sp>
          <p:nvSpPr>
            <p:cNvPr id="39956" name="Text Box 35"/>
            <p:cNvSpPr txBox="1"/>
            <p:nvPr/>
          </p:nvSpPr>
          <p:spPr>
            <a:xfrm>
              <a:off x="3120" y="3897"/>
              <a:ext cx="672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㏒ </a:t>
              </a:r>
              <a:r>
                <a:rPr lang="en-US" altLang="zh-CN" sz="1800" dirty="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β</a:t>
              </a:r>
            </a:p>
          </p:txBody>
        </p:sp>
        <p:sp>
          <p:nvSpPr>
            <p:cNvPr id="39957" name="Text Box 37"/>
            <p:cNvSpPr txBox="1"/>
            <p:nvPr/>
          </p:nvSpPr>
          <p:spPr>
            <a:xfrm>
              <a:off x="4320" y="3600"/>
              <a:ext cx="672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㏒ </a:t>
              </a:r>
              <a:r>
                <a:rPr lang="en-US" altLang="zh-CN" sz="1800" dirty="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α</a:t>
              </a:r>
            </a:p>
          </p:txBody>
        </p:sp>
        <p:sp>
          <p:nvSpPr>
            <p:cNvPr id="39958" name="Text Box 38"/>
            <p:cNvSpPr txBox="1"/>
            <p:nvPr/>
          </p:nvSpPr>
          <p:spPr>
            <a:xfrm>
              <a:off x="4320" y="3897"/>
              <a:ext cx="672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㏒ </a:t>
              </a:r>
              <a:r>
                <a:rPr lang="en-US" altLang="zh-CN" sz="1800" dirty="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β</a:t>
              </a:r>
            </a:p>
          </p:txBody>
        </p:sp>
      </p:grpSp>
      <p:sp>
        <p:nvSpPr>
          <p:cNvPr id="39953" name="Text Box 39"/>
          <p:cNvSpPr txBox="1"/>
          <p:nvPr/>
        </p:nvSpPr>
        <p:spPr>
          <a:xfrm>
            <a:off x="4276725" y="3819525"/>
            <a:ext cx="426720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j 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取最小的整数）</a:t>
            </a:r>
          </a:p>
        </p:txBody>
      </p:sp>
    </p:spTree>
  </p:cSld>
  <p:clrMapOvr>
    <a:masterClrMapping/>
  </p:clrMapOvr>
  <p:transition advTm="25000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03F77CE-EE68-4434-9ACF-BCDCD1855309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41987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  <a:t>29</a:t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988" name="Rectangle 3"/>
          <p:cNvSpPr>
            <a:spLocks noGrp="1"/>
          </p:cNvSpPr>
          <p:nvPr>
            <p:ph type="title"/>
          </p:nvPr>
        </p:nvSpPr>
        <p:spPr>
          <a:xfrm>
            <a:off x="358775" y="1028700"/>
            <a:ext cx="9144000" cy="742950"/>
          </a:xfrm>
          <a:noFill/>
          <a:ln>
            <a:noFill/>
          </a:ln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例：将</a:t>
            </a:r>
            <a:r>
              <a:rPr lang="en-US" altLang="zh-CN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(0.4321)</a:t>
            </a:r>
            <a:r>
              <a:rPr lang="en-US" altLang="zh-CN" sz="2000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zh-CN" altLang="en-US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转换成十六进制时，小数位数应取几位？</a:t>
            </a:r>
          </a:p>
        </p:txBody>
      </p:sp>
      <p:grpSp>
        <p:nvGrpSpPr>
          <p:cNvPr id="41989" name="Group 38"/>
          <p:cNvGrpSpPr/>
          <p:nvPr/>
        </p:nvGrpSpPr>
        <p:grpSpPr>
          <a:xfrm>
            <a:off x="2720975" y="1985963"/>
            <a:ext cx="5495925" cy="750887"/>
            <a:chOff x="1488" y="1427"/>
            <a:chExt cx="3513" cy="630"/>
          </a:xfrm>
        </p:grpSpPr>
        <p:sp>
          <p:nvSpPr>
            <p:cNvPr id="41993" name="Text Box 30"/>
            <p:cNvSpPr txBox="1"/>
            <p:nvPr/>
          </p:nvSpPr>
          <p:spPr>
            <a:xfrm>
              <a:off x="1776" y="1427"/>
              <a:ext cx="703" cy="33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㏒ 10</a:t>
              </a:r>
            </a:p>
          </p:txBody>
        </p:sp>
        <p:sp>
          <p:nvSpPr>
            <p:cNvPr id="41994" name="Text Box 31"/>
            <p:cNvSpPr txBox="1"/>
            <p:nvPr/>
          </p:nvSpPr>
          <p:spPr>
            <a:xfrm>
              <a:off x="1776" y="1724"/>
              <a:ext cx="703" cy="33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㏒ 16</a:t>
              </a:r>
            </a:p>
          </p:txBody>
        </p:sp>
        <p:sp>
          <p:nvSpPr>
            <p:cNvPr id="41995" name="Text Box 32"/>
            <p:cNvSpPr txBox="1"/>
            <p:nvPr/>
          </p:nvSpPr>
          <p:spPr>
            <a:xfrm>
              <a:off x="1488" y="1545"/>
              <a:ext cx="3513" cy="33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4</a:t>
              </a: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———</a:t>
              </a: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 ≤ </a:t>
              </a:r>
              <a:r>
                <a:rPr lang="en-US" altLang="zh-CN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j</a:t>
              </a: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&lt;  4  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———</a:t>
              </a: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+ 1</a:t>
              </a:r>
            </a:p>
          </p:txBody>
        </p:sp>
        <p:sp>
          <p:nvSpPr>
            <p:cNvPr id="41996" name="Text Box 33"/>
            <p:cNvSpPr txBox="1"/>
            <p:nvPr/>
          </p:nvSpPr>
          <p:spPr>
            <a:xfrm>
              <a:off x="3401" y="1427"/>
              <a:ext cx="703" cy="33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㏒ </a:t>
              </a:r>
              <a:r>
                <a:rPr lang="en-US" altLang="zh-CN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10</a:t>
              </a:r>
            </a:p>
          </p:txBody>
        </p:sp>
        <p:sp>
          <p:nvSpPr>
            <p:cNvPr id="41997" name="Text Box 34"/>
            <p:cNvSpPr txBox="1"/>
            <p:nvPr/>
          </p:nvSpPr>
          <p:spPr>
            <a:xfrm>
              <a:off x="3401" y="1724"/>
              <a:ext cx="703" cy="33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㏒ </a:t>
              </a:r>
              <a:r>
                <a:rPr lang="en-US" altLang="zh-CN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16</a:t>
              </a:r>
            </a:p>
          </p:txBody>
        </p:sp>
      </p:grpSp>
      <p:sp>
        <p:nvSpPr>
          <p:cNvPr id="41990" name="Rectangle 35"/>
          <p:cNvSpPr>
            <a:spLocks noGrp="1"/>
          </p:cNvSpPr>
          <p:nvPr>
            <p:ph idx="1"/>
          </p:nvPr>
        </p:nvSpPr>
        <p:spPr>
          <a:xfrm>
            <a:off x="1196975" y="1573213"/>
            <a:ext cx="7332663" cy="392112"/>
          </a:xfrm>
          <a:noFill/>
          <a:ln>
            <a:noFill/>
          </a:ln>
        </p:spPr>
        <p:txBody>
          <a:bodyPr/>
          <a:lstStyle/>
          <a:p>
            <a:pPr eaLnBrk="1" hangingPunct="1">
              <a:spcBef>
                <a:spcPct val="50000"/>
              </a:spcBef>
              <a:buNone/>
            </a:pPr>
            <a:r>
              <a:rPr lang="en-US" altLang="zh-CN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j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应满足下列不等式：</a:t>
            </a:r>
          </a:p>
        </p:txBody>
      </p:sp>
      <p:sp>
        <p:nvSpPr>
          <p:cNvPr id="41991" name="Text Box 36"/>
          <p:cNvSpPr txBox="1"/>
          <p:nvPr/>
        </p:nvSpPr>
        <p:spPr>
          <a:xfrm>
            <a:off x="1196975" y="2798763"/>
            <a:ext cx="517842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即             </a:t>
            </a: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3.320 ≤ </a:t>
            </a:r>
            <a:r>
              <a:rPr lang="en-US" altLang="zh-CN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j</a:t>
            </a:r>
            <a:r>
              <a:rPr lang="en-US" alt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&lt;  4.320</a:t>
            </a:r>
          </a:p>
        </p:txBody>
      </p:sp>
      <p:sp>
        <p:nvSpPr>
          <p:cNvPr id="41992" name="Text Box 37"/>
          <p:cNvSpPr txBox="1"/>
          <p:nvPr/>
        </p:nvSpPr>
        <p:spPr>
          <a:xfrm>
            <a:off x="1196975" y="3341688"/>
            <a:ext cx="4670425" cy="3952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所以，小数位数应取</a:t>
            </a:r>
            <a:r>
              <a:rPr lang="en-US" altLang="zh-CN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位。</a:t>
            </a:r>
          </a:p>
        </p:txBody>
      </p:sp>
      <p:sp>
        <p:nvSpPr>
          <p:cNvPr id="2" name="Text Box 37"/>
          <p:cNvSpPr txBox="1"/>
          <p:nvPr/>
        </p:nvSpPr>
        <p:spPr>
          <a:xfrm>
            <a:off x="1180465" y="4186238"/>
            <a:ext cx="4670425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数制转换总是会考试的，请大家掌握好。</a:t>
            </a: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1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allAtOnce" bldLvl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D08ABD4-BDB3-4D88-953F-C142E95A8E50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43011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  <a:t>30</a:t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012" name="Rectangle 3"/>
          <p:cNvSpPr>
            <a:spLocks noGrp="1"/>
          </p:cNvSpPr>
          <p:nvPr>
            <p:ph type="title"/>
          </p:nvPr>
        </p:nvSpPr>
        <p:spPr>
          <a:xfrm>
            <a:off x="165100" y="658813"/>
            <a:ext cx="7620000" cy="62865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en-US" altLang="zh-CN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1.2.2  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数的表示及其运算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3013" name="Rectangle 10"/>
          <p:cNvSpPr>
            <a:spLocks noGrp="1"/>
          </p:cNvSpPr>
          <p:nvPr>
            <p:ph idx="1"/>
          </p:nvPr>
        </p:nvSpPr>
        <p:spPr>
          <a:xfrm>
            <a:off x="532130" y="1135380"/>
            <a:ext cx="7850505" cy="1887220"/>
          </a:xfrm>
          <a:noFill/>
          <a:ln>
            <a:noFill/>
          </a:ln>
        </p:spPr>
        <p:txBody>
          <a:bodyPr/>
          <a:lstStyle/>
          <a:p>
            <a:pPr eaLnBrk="1" hangingPunct="1">
              <a:lnSpc>
                <a:spcPct val="100000"/>
              </a:lnSpc>
              <a:buNone/>
            </a:pP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 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数的小数点的表示</a:t>
            </a:r>
          </a:p>
          <a:p>
            <a:pPr eaLnBrk="1" hangingPunct="1">
              <a:lnSpc>
                <a:spcPct val="100000"/>
              </a:lnSpc>
              <a:buNone/>
            </a:pP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     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小数点的位置在计算机中是怎样表示的呢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?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实际上，</a:t>
            </a:r>
            <a:r>
              <a:rPr lang="zh-CN" altLang="en-US" sz="1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小数点在机器中并不存在，它只是人们约定的一个位置。</a:t>
            </a:r>
            <a:endParaRPr lang="en-US" altLang="zh-CN" sz="1800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00000"/>
              </a:lnSpc>
              <a:buNone/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 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计算机中表示小数点位置的方法通常有两种：</a:t>
            </a:r>
          </a:p>
          <a:p>
            <a:pPr eaLnBrk="1" hangingPunct="1">
              <a:lnSpc>
                <a:spcPct val="100000"/>
              </a:lnSpc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  一种是定点表示法；另一种是浮点表示法。</a:t>
            </a:r>
          </a:p>
        </p:txBody>
      </p:sp>
      <p:sp>
        <p:nvSpPr>
          <p:cNvPr id="41990" name="Rectangle 85"/>
          <p:cNvSpPr/>
          <p:nvPr/>
        </p:nvSpPr>
        <p:spPr>
          <a:xfrm>
            <a:off x="478155" y="3022600"/>
            <a:ext cx="8345805" cy="175387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宋体" panose="02010600030101010101" pitchFamily="2" charset="-122"/>
            </a:pP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1)  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数的定点表示法</a:t>
            </a:r>
          </a:p>
          <a:p>
            <a:pPr marL="457200" indent="-457200" eaLnBrk="1" hangingPunct="1">
              <a:lnSpc>
                <a:spcPct val="11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所谓定点表示法，在计算机中数的小数点位置是固定的，一般固定在数的最高（有效）位之前或数的最低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（有效）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位之后。</a:t>
            </a:r>
          </a:p>
          <a:p>
            <a:pPr marL="457200" indent="-457200" eaLnBrk="1" hangingPunct="1">
              <a:lnSpc>
                <a:spcPct val="11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即采用定点小数表示法；或定点整数表示法。</a:t>
            </a:r>
          </a:p>
          <a:p>
            <a:pPr marL="457200" indent="-457200" eaLnBrk="1" hangingPunct="1">
              <a:lnSpc>
                <a:spcPct val="11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通常将小数点约定在符号位之后、最高有效位之前，即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定点小数表示法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9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2AFFEC0-F4B8-45E5-9221-E58A4F1246D0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44035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  <a:t>31</a:t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012" name="Rectangle 3"/>
          <p:cNvSpPr>
            <a:spLocks noGrp="1"/>
          </p:cNvSpPr>
          <p:nvPr>
            <p:ph idx="1"/>
          </p:nvPr>
        </p:nvSpPr>
        <p:spPr>
          <a:xfrm>
            <a:off x="190500" y="498475"/>
            <a:ext cx="8042275" cy="2159000"/>
          </a:xfrm>
          <a:noFill/>
          <a:ln>
            <a:noFill/>
          </a:ln>
        </p:spPr>
        <p:txBody>
          <a:bodyPr/>
          <a:lstStyle/>
          <a:p>
            <a:pPr eaLnBrk="1" hangingPunct="1"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但实际处理的数可能既有整数部分，又有小数部分。这就需要选取比例因子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对数值进行规格化处理。</a:t>
            </a:r>
            <a:endParaRPr lang="zh-CN" alt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ts val="600"/>
              </a:spcBef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 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假设某计算机字长（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word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位，规定最高位用来表示数的正、负号，其余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位表示数值。现有一组二进制数：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1101.01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-100.111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1110.1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，若用定点整数表示，可选取比例因子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1800" baseline="40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，并用该比例因子乘上述各数，可得</a:t>
            </a:r>
          </a:p>
        </p:txBody>
      </p:sp>
      <p:sp>
        <p:nvSpPr>
          <p:cNvPr id="43013" name="Rectangle 4"/>
          <p:cNvSpPr/>
          <p:nvPr/>
        </p:nvSpPr>
        <p:spPr>
          <a:xfrm>
            <a:off x="569913" y="2422525"/>
            <a:ext cx="6562725" cy="22891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   1101.01×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1800" baseline="40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= 1101010</a:t>
            </a:r>
          </a:p>
          <a:p>
            <a:pPr marL="342900" indent="-342900"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  -100.111×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1800" baseline="40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= -</a:t>
            </a:r>
            <a:r>
              <a:rPr lang="en-US" altLang="zh-CN" sz="1800" dirty="0">
                <a:solidFill>
                  <a:schemeClr val="tx1"/>
                </a:solidFill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100111</a:t>
            </a:r>
          </a:p>
          <a:p>
            <a:pPr marL="342900" indent="-342900"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    1110.1×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2</a:t>
            </a:r>
            <a:r>
              <a:rPr lang="en-US" altLang="zh-CN" sz="1800" baseline="40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= 1110100</a:t>
            </a:r>
          </a:p>
          <a:p>
            <a:pPr marL="342900" indent="-342900"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它们在机器中的表示形式为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1800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原码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：</a:t>
            </a:r>
          </a:p>
          <a:p>
            <a:pPr marL="342900" indent="-342900"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</a:t>
            </a:r>
            <a:r>
              <a:rPr lang="en-US" altLang="zh-CN" sz="1800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1    1    0    1    0    1    0</a:t>
            </a:r>
          </a:p>
          <a:p>
            <a:pPr marL="342900" indent="-342900"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</a:t>
            </a:r>
            <a:r>
              <a:rPr lang="en-US" altLang="zh-CN" sz="1800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0    l    0    0    1    1    1</a:t>
            </a:r>
          </a:p>
          <a:p>
            <a:pPr marL="342900" indent="-342900"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</a:t>
            </a:r>
            <a:r>
              <a:rPr lang="en-US" altLang="zh-CN" sz="1800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1    1    1    0    1    0    0</a:t>
            </a: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0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0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30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30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30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30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30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30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30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30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30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30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30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30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30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30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8E5F7D1-48E6-4FE9-AD06-2F9601DD049D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45059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  <a:t>32</a:t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036" name="Rectangle 3"/>
          <p:cNvSpPr>
            <a:spLocks noGrp="1"/>
          </p:cNvSpPr>
          <p:nvPr>
            <p:ph idx="1"/>
          </p:nvPr>
        </p:nvSpPr>
        <p:spPr>
          <a:xfrm>
            <a:off x="542925" y="515938"/>
            <a:ext cx="7569200" cy="4203700"/>
          </a:xfrm>
          <a:noFill/>
          <a:ln>
            <a:noFill/>
          </a:ln>
        </p:spPr>
        <p:txBody>
          <a:bodyPr/>
          <a:lstStyle/>
          <a:p>
            <a:pPr eaLnBrk="1" hangingPunct="1">
              <a:buNone/>
            </a:pP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ts val="600"/>
              </a:spcBef>
              <a:buNone/>
            </a:pP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若要用定点小数表示，则需提取比例因子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1800" baseline="40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-4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，可得</a:t>
            </a:r>
          </a:p>
          <a:p>
            <a:pPr eaLnBrk="1" hangingPunct="1">
              <a:spcBef>
                <a:spcPts val="600"/>
              </a:spcBef>
              <a:buNone/>
            </a:pP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1101.01 × 2</a:t>
            </a:r>
            <a:r>
              <a:rPr lang="en-US" altLang="zh-CN" sz="1800" baseline="40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-4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 0.110101           </a:t>
            </a:r>
          </a:p>
          <a:p>
            <a:pPr eaLnBrk="1" hangingPunct="1">
              <a:spcBef>
                <a:spcPts val="600"/>
              </a:spcBef>
              <a:buNone/>
            </a:pP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-100.111 × 2</a:t>
            </a:r>
            <a:r>
              <a:rPr lang="en-US" altLang="zh-CN" sz="1800" baseline="40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-4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 -0.0100111</a:t>
            </a:r>
          </a:p>
          <a:p>
            <a:pPr eaLnBrk="1" hangingPunct="1">
              <a:spcBef>
                <a:spcPts val="600"/>
              </a:spcBef>
              <a:buNone/>
            </a:pP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1110.1 × 2</a:t>
            </a:r>
            <a:r>
              <a:rPr lang="en-US" altLang="zh-CN" sz="1800" baseline="40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-4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 0.11101</a:t>
            </a:r>
          </a:p>
          <a:p>
            <a:pPr eaLnBrk="1" hangingPunct="1">
              <a:spcBef>
                <a:spcPts val="600"/>
              </a:spcBef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它们在机器中的表示形式为</a:t>
            </a:r>
            <a:r>
              <a:rPr lang="en-US" altLang="zh-CN" dirty="0"/>
              <a:t>(</a:t>
            </a:r>
            <a:r>
              <a:rPr lang="zh-CN" altLang="en-US" dirty="0">
                <a:solidFill>
                  <a:srgbClr val="FF0066"/>
                </a:solidFill>
              </a:rPr>
              <a:t>原码</a:t>
            </a:r>
            <a:r>
              <a:rPr lang="en-US" altLang="zh-CN" dirty="0"/>
              <a:t>)</a:t>
            </a:r>
            <a:r>
              <a:rPr lang="zh-CN" altLang="en-US" dirty="0"/>
              <a:t>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</a:p>
          <a:p>
            <a:pPr eaLnBrk="1" hangingPunct="1">
              <a:spcBef>
                <a:spcPts val="600"/>
              </a:spcBef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    </a:t>
            </a:r>
            <a:r>
              <a:rPr lang="en-US" altLang="zh-CN" sz="1800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1    1    0    1    0    1    0</a:t>
            </a:r>
          </a:p>
          <a:p>
            <a:pPr eaLnBrk="1" hangingPunct="1">
              <a:spcBef>
                <a:spcPts val="600"/>
              </a:spcBef>
              <a:buNone/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    </a:t>
            </a:r>
            <a:r>
              <a:rPr lang="en-US" altLang="zh-CN" sz="1800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  0    1    0    0    1    1    1</a:t>
            </a:r>
          </a:p>
          <a:p>
            <a:pPr eaLnBrk="1" hangingPunct="1">
              <a:spcBef>
                <a:spcPts val="600"/>
              </a:spcBef>
              <a:buNone/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    </a:t>
            </a:r>
            <a:r>
              <a:rPr lang="en-US" altLang="zh-CN" sz="1800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1    1    1    0    1    0    0</a:t>
            </a:r>
          </a:p>
          <a:p>
            <a:pPr eaLnBrk="1" latinLnBrk="0" hangingPunct="1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 数的浮点表示法</a:t>
            </a:r>
          </a:p>
          <a:p>
            <a:pPr eaLnBrk="1" hangingPunct="1">
              <a:lnSpc>
                <a:spcPct val="110000"/>
              </a:lnSpc>
              <a:spcBef>
                <a:spcPts val="600"/>
              </a:spcBef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 所谓浮点表示法，就是计算机中数的小数点位置不是固定的，而是浮动的。因而，必须在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计算机中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表示出小数点位置的浮动情况。</a:t>
            </a:r>
          </a:p>
          <a:p>
            <a:pPr eaLnBrk="1" hangingPunct="1">
              <a:lnSpc>
                <a:spcPct val="110000"/>
              </a:lnSpc>
              <a:spcBef>
                <a:spcPts val="600"/>
              </a:spcBef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charRg st="290" end="29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charRg st="299" end="3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CDB6E9F-B052-4E15-9A1B-06F8FA0E42FB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46083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  <a:t>33</a:t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45060" name="Rectangle 3"/>
          <p:cNvSpPr>
            <a:spLocks noGrp="1"/>
          </p:cNvSpPr>
          <p:nvPr>
            <p:ph idx="1"/>
          </p:nvPr>
        </p:nvSpPr>
        <p:spPr>
          <a:xfrm>
            <a:off x="395605" y="266700"/>
            <a:ext cx="8547735" cy="4778375"/>
          </a:xfrm>
          <a:noFill/>
          <a:ln>
            <a:noFill/>
          </a:ln>
        </p:spPr>
        <p:txBody>
          <a:bodyPr/>
          <a:lstStyle/>
          <a:p>
            <a:pPr eaLnBrk="1" hangingPunct="1">
              <a:buNone/>
            </a:pP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00000"/>
              </a:lnSpc>
              <a:spcBef>
                <a:spcPts val="600"/>
              </a:spcBef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在数学中，我们学过数字的“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记阶表示法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”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也称“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科学表示法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科学记数法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”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。一般说来，十进制数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可表示为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N=10</a:t>
            </a:r>
            <a:r>
              <a:rPr lang="en-US" altLang="zh-CN" sz="1800" baseline="30000" dirty="0">
                <a:latin typeface="黑体" panose="02010609060101010101" pitchFamily="49" charset="-122"/>
                <a:ea typeface="黑体" panose="02010609060101010101" pitchFamily="49" charset="-122"/>
              </a:rPr>
              <a:t>J</a:t>
            </a:r>
            <a:r>
              <a:rPr lang="zh-CN" altLang="zh-CN" sz="1800" baseline="30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x S</a:t>
            </a:r>
          </a:p>
          <a:p>
            <a:pPr eaLnBrk="1" hangingPunct="1">
              <a:lnSpc>
                <a:spcPct val="110000"/>
              </a:lnSpc>
              <a:spcBef>
                <a:spcPts val="600"/>
              </a:spcBef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其中，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J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是整数，称为阶码；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S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为小数，称为尾数。显然，只要有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J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S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，即可表示出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的值。</a:t>
            </a:r>
            <a:endParaRPr lang="zh-CN" altLang="en-US" sz="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10000"/>
              </a:lnSpc>
              <a:spcBef>
                <a:spcPts val="600"/>
              </a:spcBef>
              <a:buNone/>
            </a:pP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例如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，十进制数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2.537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可表示为：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2.537 = </a:t>
            </a:r>
            <a:r>
              <a:rPr lang="en-US" altLang="zh-CN" sz="1800" dirty="0"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en-US" altLang="zh-CN" sz="1800" baseline="30000" dirty="0"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1  </a:t>
            </a:r>
            <a:r>
              <a:rPr lang="en-US" altLang="zh-CN" sz="1800" dirty="0"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×</a:t>
            </a:r>
            <a:r>
              <a:rPr lang="en-US" altLang="zh-CN" sz="1800" baseline="30000" dirty="0"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0.2537</a:t>
            </a:r>
          </a:p>
          <a:p>
            <a:pPr eaLnBrk="1" hangingPunct="1">
              <a:spcBef>
                <a:spcPts val="600"/>
              </a:spcBef>
              <a:buNone/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                                 = 10</a:t>
            </a:r>
            <a:r>
              <a:rPr lang="en-US" altLang="zh-CN" sz="1800" baseline="30000" dirty="0">
                <a:latin typeface="黑体" panose="02010609060101010101" pitchFamily="49" charset="-122"/>
                <a:ea typeface="黑体" panose="02010609060101010101" pitchFamily="49" charset="-122"/>
              </a:rPr>
              <a:t>2 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×</a:t>
            </a:r>
            <a:r>
              <a:rPr lang="en-US" altLang="zh-CN" sz="1800" baseline="30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0.02537</a:t>
            </a:r>
          </a:p>
          <a:p>
            <a:pPr eaLnBrk="1" hangingPunct="1">
              <a:spcBef>
                <a:spcPts val="600"/>
              </a:spcBef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  而数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0.002 537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也可表示为：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0.002 537 = 10</a:t>
            </a:r>
            <a:r>
              <a:rPr lang="en-US" altLang="zh-CN" sz="1800" baseline="30000" dirty="0">
                <a:latin typeface="黑体" panose="02010609060101010101" pitchFamily="49" charset="-122"/>
                <a:ea typeface="黑体" panose="02010609060101010101" pitchFamily="49" charset="-122"/>
              </a:rPr>
              <a:t>-1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×</a:t>
            </a:r>
            <a:r>
              <a:rPr lang="en-US" altLang="zh-CN" sz="1800" baseline="30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0.02537    </a:t>
            </a:r>
          </a:p>
          <a:p>
            <a:pPr eaLnBrk="1" hangingPunct="1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                                 = </a:t>
            </a:r>
            <a:r>
              <a:rPr lang="en-US" altLang="zh-CN" sz="1800" dirty="0"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en-US" altLang="zh-CN" sz="1800" baseline="30000" dirty="0"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-2 </a:t>
            </a:r>
            <a:r>
              <a:rPr lang="en-US" altLang="zh-CN" sz="1800" dirty="0"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×</a:t>
            </a:r>
            <a:r>
              <a:rPr lang="en-US" altLang="zh-CN" sz="1800" baseline="30000" dirty="0"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0.2537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zh-CN" altLang="en-US" sz="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 同样，二进制数也可用这种方法表示，其中的基数“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10”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是十进制中的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2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，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latinLnBrk="0" hangingPunct="1"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 即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(10)</a:t>
            </a:r>
            <a:r>
              <a:rPr lang="en-US" altLang="zh-CN" sz="1800" baseline="-100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=(2)</a:t>
            </a:r>
            <a:r>
              <a:rPr lang="en-US" altLang="zh-CN" sz="1800" baseline="-10000" dirty="0"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。    </a:t>
            </a:r>
          </a:p>
          <a:p>
            <a:pPr eaLnBrk="1" latinLnBrk="0" hangingPunct="1"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例如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，二进制数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101.1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10.11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可表示为</a:t>
            </a:r>
          </a:p>
          <a:p>
            <a:pPr eaLnBrk="1" hangingPunct="1">
              <a:spcBef>
                <a:spcPts val="600"/>
              </a:spcBef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101.1=(10)</a:t>
            </a:r>
            <a:r>
              <a:rPr lang="en-US" altLang="zh-CN" sz="1800" baseline="20000" dirty="0">
                <a:latin typeface="黑体" panose="02010609060101010101" pitchFamily="49" charset="-122"/>
                <a:ea typeface="黑体" panose="02010609060101010101" pitchFamily="49" charset="-122"/>
              </a:rPr>
              <a:t>11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× 0.1011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和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10.11=(10)</a:t>
            </a:r>
            <a:r>
              <a:rPr lang="en-US" altLang="zh-CN" sz="1800" baseline="20000" dirty="0">
                <a:latin typeface="黑体" panose="02010609060101010101" pitchFamily="49" charset="-122"/>
                <a:ea typeface="黑体" panose="02010609060101010101" pitchFamily="49" charset="-122"/>
              </a:rPr>
              <a:t>10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× 0.1011   </a:t>
            </a: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50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50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50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50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50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50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50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50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50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50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506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506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506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506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506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506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506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506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5B0CC7C-48DD-4131-AACE-05B5F85A11CB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47107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  <a:t>34</a:t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46084" name="Rectangle 4"/>
          <p:cNvSpPr>
            <a:spLocks noGrp="1"/>
          </p:cNvSpPr>
          <p:nvPr>
            <p:ph idx="1"/>
          </p:nvPr>
        </p:nvSpPr>
        <p:spPr>
          <a:xfrm>
            <a:off x="532130" y="581025"/>
            <a:ext cx="8049260" cy="4640580"/>
          </a:xfrm>
          <a:noFill/>
          <a:ln>
            <a:noFill/>
          </a:ln>
        </p:spPr>
        <p:txBody>
          <a:bodyPr/>
          <a:lstStyle/>
          <a:p>
            <a:pPr eaLnBrk="1" hangingPunct="1">
              <a:lnSpc>
                <a:spcPct val="100000"/>
              </a:lnSpc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因此，这两个二进制数可用阶码和尾数表示为：</a:t>
            </a:r>
          </a:p>
          <a:p>
            <a:pPr eaLnBrk="1" hangingPunct="1">
              <a:lnSpc>
                <a:spcPct val="100000"/>
              </a:lnSpc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 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101.1—&gt;11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， 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0.1011</a:t>
            </a:r>
          </a:p>
          <a:p>
            <a:pPr eaLnBrk="1" hangingPunct="1">
              <a:lnSpc>
                <a:spcPct val="100000"/>
              </a:lnSpc>
              <a:buNone/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  10.11—&gt;10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， 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0.1011</a:t>
            </a:r>
          </a:p>
          <a:p>
            <a:pPr eaLnBrk="1" hangingPunct="1">
              <a:lnSpc>
                <a:spcPct val="100000"/>
              </a:lnSpc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不难看出，其尾数完全相同，仅阶码不同。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这种用阶码和尾数表示数（值）的方法就是数的浮点表示法。</a:t>
            </a:r>
          </a:p>
          <a:p>
            <a:pPr eaLnBrk="1" latinLnBrk="0" hangingPunct="1">
              <a:lnSpc>
                <a:spcPct val="100000"/>
              </a:lnSpc>
              <a:spcBef>
                <a:spcPts val="700"/>
              </a:spcBef>
              <a:spcAft>
                <a:spcPts val="600"/>
              </a:spcAft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表示浮点数时，需将计算机中的一个字长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（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word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）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划分为两部分，其中一部分表示阶码，另一部分表示尾数，其最高位都定为符号位。</a:t>
            </a:r>
          </a:p>
          <a:p>
            <a:pPr eaLnBrk="1" latinLnBrk="0" hangingPunct="1">
              <a:lnSpc>
                <a:spcPct val="100000"/>
              </a:lnSpc>
              <a:spcBef>
                <a:spcPts val="700"/>
              </a:spcBef>
              <a:spcAft>
                <a:spcPts val="600"/>
              </a:spcAft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例如，假定计算机的字长为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16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位，字的前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位表示阶码的符号及数值，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00000"/>
              </a:lnSpc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后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11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位表示尾数的符号及数值，如下所示：</a:t>
            </a:r>
          </a:p>
          <a:p>
            <a:pPr eaLnBrk="1" hangingPunct="1">
              <a:lnSpc>
                <a:spcPct val="100000"/>
              </a:lnSpc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按此规定，数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101.1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10.11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的实际表示形式为：</a:t>
            </a:r>
          </a:p>
          <a:p>
            <a:pPr eaLnBrk="1" hangingPunct="1">
              <a:lnSpc>
                <a:spcPct val="100000"/>
              </a:lnSpc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     </a:t>
            </a:r>
            <a:r>
              <a:rPr lang="en-US" altLang="zh-CN" sz="1800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  0011   </a:t>
            </a:r>
            <a:r>
              <a:rPr lang="en-US" altLang="zh-CN" sz="1800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 1011000000   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 R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中：</a:t>
            </a:r>
            <a:r>
              <a:rPr lang="en-US" altLang="zh-CN" sz="1800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0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0011</a:t>
            </a:r>
            <a:r>
              <a:rPr lang="en-US" altLang="zh-CN" sz="1800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0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1011000000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00000"/>
              </a:lnSpc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     </a:t>
            </a:r>
            <a:r>
              <a:rPr lang="en-US" altLang="zh-CN" sz="1800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 0010   </a:t>
            </a:r>
            <a:r>
              <a:rPr lang="en-US" altLang="zh-CN" sz="1800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 1011000000   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；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 R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中：</a:t>
            </a:r>
            <a:r>
              <a:rPr lang="en-US" altLang="zh-CN" sz="1800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0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0010</a:t>
            </a:r>
            <a:r>
              <a:rPr lang="en-US" altLang="zh-CN" sz="1800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0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1011000000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2400BB8-986F-40FD-BDEC-4C8BE1670E56}"/>
              </a:ext>
            </a:extLst>
          </p:cNvPr>
          <p:cNvSpPr txBox="1"/>
          <p:nvPr/>
        </p:nvSpPr>
        <p:spPr>
          <a:xfrm>
            <a:off x="6026875" y="3723878"/>
            <a:ext cx="30963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FF0000"/>
                </a:solidFill>
              </a:rPr>
              <a:t>计算机中阶码一般用移码表示，尾数一般用补码表示。</a:t>
            </a: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>
                                            <p:txEl>
                                              <p:charRg st="119" end="17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>
                                            <p:txEl>
                                              <p:charRg st="173" end="20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>
                                            <p:txEl>
                                              <p:charRg st="201" end="2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>
                                            <p:txEl>
                                              <p:charRg st="228" end="2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>
                                            <p:txEl>
                                              <p:charRg st="256" end="29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>
                                            <p:txEl>
                                              <p:charRg st="297" end="3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950AC81-C4DB-4BBC-8970-A3ECFB827A33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48131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  <a:t>35</a:t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132" name="Rectangle 2"/>
          <p:cNvSpPr>
            <a:spLocks noGrp="1"/>
          </p:cNvSpPr>
          <p:nvPr>
            <p:ph type="title"/>
          </p:nvPr>
        </p:nvSpPr>
        <p:spPr>
          <a:xfrm>
            <a:off x="395288" y="626745"/>
            <a:ext cx="7620000" cy="530225"/>
          </a:xfrm>
          <a:noFill/>
          <a:ln>
            <a:noFill/>
          </a:ln>
        </p:spPr>
        <p:txBody>
          <a:bodyPr/>
          <a:lstStyle/>
          <a:p>
            <a:pPr eaLnBrk="1" latinLnBrk="0" hangingPunct="1">
              <a:spcBef>
                <a:spcPts val="600"/>
              </a:spcBef>
              <a:spcAft>
                <a:spcPts val="600"/>
              </a:spcAft>
            </a:pPr>
            <a:r>
              <a:rPr lang="en-US" altLang="zh-CN" sz="1800" b="1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1800" b="1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带符号数的代码表示及其运算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en-US" altLang="zh-CN" sz="1800" b="1" i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7109" name="Rectangle 3"/>
          <p:cNvSpPr>
            <a:spLocks noGrp="1"/>
          </p:cNvSpPr>
          <p:nvPr>
            <p:ph idx="1"/>
          </p:nvPr>
        </p:nvSpPr>
        <p:spPr>
          <a:xfrm>
            <a:off x="461963" y="3515043"/>
            <a:ext cx="8305800" cy="1428750"/>
          </a:xfrm>
          <a:noFill/>
          <a:ln>
            <a:noFill/>
          </a:ln>
        </p:spPr>
        <p:txBody>
          <a:bodyPr/>
          <a:lstStyle/>
          <a:p>
            <a:pPr eaLnBrk="1" hangingPunct="1"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带符号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二进制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的代码表示是指（在计算机中）：</a:t>
            </a:r>
          </a:p>
          <a:p>
            <a:pPr eaLnBrk="1" hangingPunct="1">
              <a:lnSpc>
                <a:spcPct val="120000"/>
              </a:lnSpc>
              <a:spcBef>
                <a:spcPts val="600"/>
              </a:spcBef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  带符号数的数值位和符号位都用统一的代码形式，即仅取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0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和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1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两种数字符   </a:t>
            </a:r>
          </a:p>
          <a:p>
            <a:pPr eaLnBrk="1" hangingPunct="1">
              <a:lnSpc>
                <a:spcPct val="120000"/>
              </a:lnSpc>
              <a:spcBef>
                <a:spcPts val="600"/>
              </a:spcBef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  号表示，并且数值位为二进制数。  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有三种代码表示：原码、反码和补码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  <p:graphicFrame>
        <p:nvGraphicFramePr>
          <p:cNvPr id="161796" name="Group 4"/>
          <p:cNvGraphicFramePr>
            <a:graphicFrameLocks noGrp="1"/>
          </p:cNvGraphicFramePr>
          <p:nvPr/>
        </p:nvGraphicFramePr>
        <p:xfrm>
          <a:off x="497205" y="1171575"/>
          <a:ext cx="6324600" cy="1054735"/>
        </p:xfrm>
        <a:graphic>
          <a:graphicData uri="http://schemas.openxmlformats.org/drawingml/2006/table">
            <a:tbl>
              <a:tblPr/>
              <a:tblGrid>
                <a:gridCol w="1695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3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98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带符号数</a:t>
                      </a:r>
                    </a:p>
                  </a:txBody>
                  <a:tcPr marT="34282" marB="34282" horzOverflow="overflow">
                    <a:lnL w="12700" cap="flat" cmpd="sng" algn="ctr">
                      <a:solidFill>
                        <a:srgbClr val="00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真值</a:t>
                      </a:r>
                    </a:p>
                  </a:txBody>
                  <a:tcPr marT="34282" marB="34282" horzOverflow="overflow">
                    <a:lnL w="12700" cap="flat" cmpd="sng" algn="ctr">
                      <a:solidFill>
                        <a:srgbClr val="00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符号位</a:t>
                      </a:r>
                    </a:p>
                  </a:txBody>
                  <a:tcPr marT="34282" marB="34282" horzOverflow="overflow">
                    <a:lnL w="12700" cap="flat" cmpd="sng" algn="ctr">
                      <a:solidFill>
                        <a:srgbClr val="00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数值位</a:t>
                      </a:r>
                    </a:p>
                  </a:txBody>
                  <a:tcPr marT="34282" marB="34282" horzOverflow="overflow">
                    <a:lnL w="12700" cap="flat" cmpd="sng" algn="ctr">
                      <a:solidFill>
                        <a:srgbClr val="00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6755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x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y</a:t>
                      </a:r>
                    </a:p>
                  </a:txBody>
                  <a:tcPr marT="34282" marB="34282" horzOverflow="overflow">
                    <a:lnL w="12700" cap="flat" cmpd="sng" algn="ctr">
                      <a:solidFill>
                        <a:srgbClr val="00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＋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－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7</a:t>
                      </a:r>
                    </a:p>
                  </a:txBody>
                  <a:tcPr marT="34282" marB="34282" horzOverflow="overflow">
                    <a:lnL w="12700" cap="flat" cmpd="sng" algn="ctr">
                      <a:solidFill>
                        <a:srgbClr val="00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＋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－</a:t>
                      </a:r>
                    </a:p>
                  </a:txBody>
                  <a:tcPr marT="34282" marB="34282" horzOverflow="overflow">
                    <a:lnL w="12700" cap="flat" cmpd="sng" algn="ctr">
                      <a:solidFill>
                        <a:srgbClr val="00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7</a:t>
                      </a:r>
                    </a:p>
                  </a:txBody>
                  <a:tcPr marT="34282" marB="34282" horzOverflow="overflow">
                    <a:lnL w="12700" cap="flat" cmpd="sng" algn="ctr">
                      <a:solidFill>
                        <a:srgbClr val="00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7127" name="Line 21"/>
          <p:cNvSpPr/>
          <p:nvPr/>
        </p:nvSpPr>
        <p:spPr>
          <a:xfrm flipV="1">
            <a:off x="2711450" y="2228215"/>
            <a:ext cx="0" cy="400050"/>
          </a:xfrm>
          <a:prstGeom prst="line">
            <a:avLst/>
          </a:prstGeom>
          <a:ln w="28575" cap="flat" cmpd="sng">
            <a:solidFill>
              <a:srgbClr val="0D0D0D"/>
            </a:solidFill>
            <a:prstDash val="sysDot"/>
            <a:headEnd type="none" w="med" len="med"/>
            <a:tailEnd type="triangle" w="lg" len="lg"/>
          </a:ln>
        </p:spPr>
      </p:sp>
      <p:sp>
        <p:nvSpPr>
          <p:cNvPr id="47128" name="Text Box 22"/>
          <p:cNvSpPr txBox="1"/>
          <p:nvPr/>
        </p:nvSpPr>
        <p:spPr>
          <a:xfrm>
            <a:off x="723900" y="2687955"/>
            <a:ext cx="7696200" cy="7556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带符号（进位计数制）数的真值表示：      </a:t>
            </a:r>
          </a:p>
          <a:p>
            <a:pPr eaLnBrk="1" hangingPunct="1">
              <a:lnSpc>
                <a:spcPct val="120000"/>
              </a:lnSpc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如：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(-111)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是带符号（二进制）数的真值表示</a:t>
            </a: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9" grpId="0" uiExpand="1" build="p"/>
      <p:bldP spid="47128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5D87EF0-3502-4F2B-B07F-4ED21827627C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49155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  <a:t>36</a:t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156" name="Rectangle 3"/>
          <p:cNvSpPr>
            <a:spLocks noGrp="1"/>
          </p:cNvSpPr>
          <p:nvPr>
            <p:ph type="title"/>
          </p:nvPr>
        </p:nvSpPr>
        <p:spPr>
          <a:xfrm>
            <a:off x="381000" y="658813"/>
            <a:ext cx="8534400" cy="62865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① 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原码（</a:t>
            </a:r>
            <a:r>
              <a:rPr lang="en-US" altLang="zh-CN" sz="1800" b="1" i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Ture form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），又称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“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符号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数值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”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表示法</a:t>
            </a:r>
            <a:endParaRPr lang="en-US" altLang="zh-CN" sz="1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9157" name="Rectangle 4"/>
          <p:cNvSpPr>
            <a:spLocks noGrp="1"/>
          </p:cNvSpPr>
          <p:nvPr>
            <p:ph idx="1"/>
          </p:nvPr>
        </p:nvSpPr>
        <p:spPr>
          <a:xfrm>
            <a:off x="706438" y="1023938"/>
            <a:ext cx="2655887" cy="419100"/>
          </a:xfrm>
          <a:noFill/>
          <a:ln>
            <a:noFill/>
          </a:ln>
        </p:spPr>
        <p:txBody>
          <a:bodyPr/>
          <a:lstStyle/>
          <a:p>
            <a:pPr eaLnBrk="1" hangingPunct="1">
              <a:lnSpc>
                <a:spcPct val="130000"/>
              </a:lnSpc>
              <a:spcBef>
                <a:spcPct val="50000"/>
              </a:spcBef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原码的形成规则：</a:t>
            </a:r>
          </a:p>
        </p:txBody>
      </p:sp>
      <p:sp>
        <p:nvSpPr>
          <p:cNvPr id="48134" name="Text Box 13"/>
          <p:cNvSpPr txBox="1"/>
          <p:nvPr/>
        </p:nvSpPr>
        <p:spPr>
          <a:xfrm>
            <a:off x="609600" y="2565400"/>
            <a:ext cx="5648325" cy="873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5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用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二进制代码表示的原码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 =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＋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     [x]</a:t>
            </a:r>
            <a:r>
              <a:rPr lang="zh-CN" altLang="en-US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0000101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y =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－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     [y]</a:t>
            </a:r>
            <a:r>
              <a:rPr lang="zh-CN" altLang="en-US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0000111</a:t>
            </a:r>
          </a:p>
        </p:txBody>
      </p:sp>
      <p:sp>
        <p:nvSpPr>
          <p:cNvPr id="48135" name="Text Box 28"/>
          <p:cNvSpPr txBox="1"/>
          <p:nvPr/>
        </p:nvSpPr>
        <p:spPr>
          <a:xfrm>
            <a:off x="641350" y="3600450"/>
            <a:ext cx="7675563" cy="10588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5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 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由原码写出所对应的十进制数值：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[x]</a:t>
            </a:r>
            <a:r>
              <a:rPr lang="zh-CN" altLang="en-US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01010101  x =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＋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85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；    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[x]</a:t>
            </a:r>
            <a:r>
              <a:rPr lang="zh-CN" altLang="en-US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11010101  x =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－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85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[x]</a:t>
            </a:r>
            <a:r>
              <a:rPr lang="zh-CN" altLang="en-US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01111111  x =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＋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127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；   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[x]</a:t>
            </a:r>
            <a:r>
              <a:rPr lang="zh-CN" altLang="en-US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11111111  x =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－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127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[x]</a:t>
            </a:r>
            <a:r>
              <a:rPr lang="zh-CN" altLang="en-US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00000000  x =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＋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；     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[x]</a:t>
            </a:r>
            <a:r>
              <a:rPr lang="zh-CN" altLang="en-US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10000000  x =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－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</a:p>
        </p:txBody>
      </p:sp>
      <p:graphicFrame>
        <p:nvGraphicFramePr>
          <p:cNvPr id="68852" name="Group 24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628900" y="1058863"/>
          <a:ext cx="3670300" cy="1220787"/>
        </p:xfrm>
        <a:graphic>
          <a:graphicData uri="http://schemas.openxmlformats.org/drawingml/2006/table">
            <a:tbl>
              <a:tblPr/>
              <a:tblGrid>
                <a:gridCol w="831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9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9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7375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真值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x</a:t>
                      </a:r>
                    </a:p>
                  </a:txBody>
                  <a:tcPr marL="91456" marR="91456" marT="34299" marB="34299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符号位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S</a:t>
                      </a:r>
                    </a:p>
                  </a:txBody>
                  <a:tcPr marL="91456" marR="91456" marT="34299" marB="34299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数值位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(</a:t>
                      </a: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二进制数</a:t>
                      </a: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)</a:t>
                      </a:r>
                    </a:p>
                  </a:txBody>
                  <a:tcPr marL="91456" marR="91456" marT="34299" marB="34299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3412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原码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[x]</a:t>
                      </a:r>
                      <a:r>
                        <a:rPr kumimoji="1" lang="zh-CN" alt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原</a:t>
                      </a:r>
                    </a:p>
                  </a:txBody>
                  <a:tcPr marL="91456" marR="91456" marT="34299" marB="34299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＋ →</a:t>
                      </a: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－ →</a:t>
                      </a: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 </a:t>
                      </a:r>
                    </a:p>
                  </a:txBody>
                  <a:tcPr marL="91456" marR="91456" marT="34299" marB="34299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不变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不变</a:t>
                      </a:r>
                    </a:p>
                  </a:txBody>
                  <a:tcPr marL="91456" marR="91456" marT="34299" marB="34299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2" name="直接连接符 1"/>
          <p:cNvCxnSpPr>
            <a:endCxn id="5" idx="4"/>
          </p:cNvCxnSpPr>
          <p:nvPr/>
        </p:nvCxnSpPr>
        <p:spPr>
          <a:xfrm flipV="1">
            <a:off x="706755" y="4648829"/>
            <a:ext cx="7264524" cy="577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圆角矩形标注 4"/>
          <p:cNvSpPr/>
          <p:nvPr/>
        </p:nvSpPr>
        <p:spPr>
          <a:xfrm rot="10800000" flipV="1">
            <a:off x="6876256" y="2445385"/>
            <a:ext cx="1827689" cy="702945"/>
          </a:xfrm>
          <a:prstGeom prst="wedgeRoundRectCallout">
            <a:avLst>
              <a:gd name="adj1" fmla="val -9913"/>
              <a:gd name="adj2" fmla="val 263459"/>
              <a:gd name="adj3" fmla="val 16667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rgbClr val="FF0000"/>
                </a:solidFill>
              </a:rPr>
              <a:t>注意：原码的</a:t>
            </a:r>
            <a:r>
              <a:rPr lang="en-US" altLang="zh-CN" sz="1600" dirty="0">
                <a:solidFill>
                  <a:srgbClr val="FF0000"/>
                </a:solidFill>
              </a:rPr>
              <a:t>“0”</a:t>
            </a:r>
            <a:r>
              <a:rPr lang="zh-CN" altLang="en-US" sz="1600" dirty="0">
                <a:solidFill>
                  <a:srgbClr val="FF0000"/>
                </a:solidFill>
              </a:rPr>
              <a:t>有两种表示法！</a:t>
            </a:r>
            <a:endParaRPr lang="zh-CN" altLang="en-US" sz="1600" dirty="0"/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4" grpId="0"/>
      <p:bldP spid="48135" grpId="0"/>
      <p:bldP spid="5" grpId="0" bldLvl="0" animBg="1"/>
      <p:bldP spid="5" grpId="1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44E86D9-E115-44E2-A141-074FC27A740A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0179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  <a:t>37</a:t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50180" name="Text Box 6"/>
          <p:cNvSpPr txBox="1"/>
          <p:nvPr/>
        </p:nvSpPr>
        <p:spPr>
          <a:xfrm>
            <a:off x="169863" y="855663"/>
            <a:ext cx="8686800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8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原码的运算规则：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[z]</a:t>
            </a:r>
            <a:r>
              <a:rPr lang="zh-CN" altLang="en-US" sz="1800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  </a:t>
            </a:r>
            <a:r>
              <a:rPr lang="en-US" altLang="zh-CN" sz="1800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[x]</a:t>
            </a:r>
            <a:r>
              <a:rPr lang="zh-CN" altLang="en-US" sz="1800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 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＋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[y]</a:t>
            </a:r>
            <a:r>
              <a:rPr lang="zh-CN" altLang="en-US" sz="1800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</a:t>
            </a:r>
          </a:p>
        </p:txBody>
      </p:sp>
      <p:sp>
        <p:nvSpPr>
          <p:cNvPr id="50181" name="Text Box 25"/>
          <p:cNvSpPr txBox="1"/>
          <p:nvPr/>
        </p:nvSpPr>
        <p:spPr>
          <a:xfrm>
            <a:off x="262255" y="1184275"/>
            <a:ext cx="8252460" cy="7556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当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[x]</a:t>
            </a:r>
            <a:r>
              <a:rPr lang="zh-CN" altLang="en-US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 、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[y]</a:t>
            </a:r>
            <a:r>
              <a:rPr lang="zh-CN" altLang="en-US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符号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 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相同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时，则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[z]</a:t>
            </a:r>
            <a:r>
              <a:rPr lang="zh-CN" altLang="en-US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的符号同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[x]</a:t>
            </a:r>
            <a:r>
              <a:rPr lang="zh-CN" altLang="en-US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的符号，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[z]</a:t>
            </a:r>
            <a:r>
              <a:rPr lang="zh-CN" altLang="en-US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的数值为两加数的数值之和；</a:t>
            </a:r>
          </a:p>
        </p:txBody>
      </p:sp>
      <p:sp>
        <p:nvSpPr>
          <p:cNvPr id="50182" name="Text Box 26"/>
          <p:cNvSpPr txBox="1"/>
          <p:nvPr/>
        </p:nvSpPr>
        <p:spPr>
          <a:xfrm>
            <a:off x="311150" y="1990725"/>
            <a:ext cx="8313420" cy="7556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当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[x]</a:t>
            </a:r>
            <a:r>
              <a:rPr lang="zh-CN" altLang="en-US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 、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[y]</a:t>
            </a:r>
            <a:r>
              <a:rPr lang="zh-CN" altLang="en-US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符号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 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不同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时，先判断两加数真值的绝对值的大小，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[z]</a:t>
            </a:r>
            <a:r>
              <a:rPr lang="zh-CN" altLang="en-US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的符号同绝对值大的数的原码符号，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[z]</a:t>
            </a:r>
            <a:r>
              <a:rPr lang="zh-CN" altLang="en-US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的数值为用大数减去小数的差。</a:t>
            </a:r>
          </a:p>
        </p:txBody>
      </p:sp>
      <p:sp>
        <p:nvSpPr>
          <p:cNvPr id="49159" name="Rectangle 3"/>
          <p:cNvSpPr>
            <a:spLocks noGrp="1"/>
          </p:cNvSpPr>
          <p:nvPr>
            <p:ph type="title"/>
          </p:nvPr>
        </p:nvSpPr>
        <p:spPr>
          <a:xfrm>
            <a:off x="0" y="2874010"/>
            <a:ext cx="6821805" cy="45720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②  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反码（</a:t>
            </a:r>
            <a:r>
              <a:rPr lang="en-US" altLang="zh-CN" sz="1800" b="1" i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Negative Number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），又称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“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的补码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”</a:t>
            </a:r>
          </a:p>
        </p:txBody>
      </p:sp>
      <p:sp>
        <p:nvSpPr>
          <p:cNvPr id="49160" name="Rectangle 4"/>
          <p:cNvSpPr txBox="1"/>
          <p:nvPr/>
        </p:nvSpPr>
        <p:spPr>
          <a:xfrm>
            <a:off x="628650" y="3545840"/>
            <a:ext cx="2798763" cy="45402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 eaLnBrk="1" hangingPunct="1">
              <a:lnSpc>
                <a:spcPct val="13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反码的形成规则：</a:t>
            </a:r>
          </a:p>
        </p:txBody>
      </p:sp>
      <p:graphicFrame>
        <p:nvGraphicFramePr>
          <p:cNvPr id="2" name="Group 45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3500438" y="3504883"/>
          <a:ext cx="4672012" cy="1235075"/>
        </p:xfrm>
        <a:graphic>
          <a:graphicData uri="http://schemas.openxmlformats.org/drawingml/2006/table">
            <a:tbl>
              <a:tblPr/>
              <a:tblGrid>
                <a:gridCol w="1060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49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6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1663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真值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X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符号位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S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数值位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(</a:t>
                      </a: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二进制数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)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3412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反码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[x]</a:t>
                      </a:r>
                      <a:r>
                        <a:rPr kumimoji="0" lang="zh-CN" altLang="en-US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反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＋ →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－ →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不变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按位变反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5295900" y="666115"/>
            <a:ext cx="35604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>
                <a:solidFill>
                  <a:srgbClr val="FF0000"/>
                </a:solidFill>
              </a:rPr>
              <a:t>原码适不适合用数字电路实现？</a:t>
            </a: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9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9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9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9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9" grpId="0"/>
      <p:bldP spid="49159" grpId="1"/>
      <p:bldP spid="49160" grpId="0"/>
      <p:bldP spid="49160" grpId="1"/>
      <p:bldP spid="3" grpId="0"/>
      <p:bldP spid="3" grpId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21A1D3B-957F-4425-A0BA-276E2C7FF055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1203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  <a:t>38</a:t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204" name="Text Box 5"/>
          <p:cNvSpPr txBox="1"/>
          <p:nvPr/>
        </p:nvSpPr>
        <p:spPr>
          <a:xfrm>
            <a:off x="620713" y="555625"/>
            <a:ext cx="7696200" cy="1641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 用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位二进制代码表示的原码、反码</a:t>
            </a:r>
          </a:p>
          <a:p>
            <a:pPr eaLnBrk="1" hangingPunct="1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 =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＋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     [x]</a:t>
            </a:r>
            <a:r>
              <a:rPr lang="zh-CN" altLang="en-US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0000101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[x]</a:t>
            </a:r>
            <a:r>
              <a:rPr lang="zh-CN" altLang="en-US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反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0000101</a:t>
            </a:r>
          </a:p>
          <a:p>
            <a:pPr eaLnBrk="1" hangingPunct="1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y =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－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     [y]</a:t>
            </a:r>
            <a:r>
              <a:rPr lang="zh-CN" altLang="en-US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0000111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[y]</a:t>
            </a:r>
            <a:r>
              <a:rPr lang="zh-CN" altLang="en-US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反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en-US" altLang="zh-CN" sz="1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1111000</a:t>
            </a:r>
          </a:p>
          <a:p>
            <a:pPr eaLnBrk="1" hangingPunct="1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[z]</a:t>
            </a:r>
            <a:r>
              <a:rPr lang="zh-CN" altLang="en-US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反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0000000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[z]</a:t>
            </a:r>
            <a:r>
              <a:rPr lang="zh-CN" altLang="en-US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反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1111111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z = 0</a:t>
            </a:r>
          </a:p>
        </p:txBody>
      </p:sp>
      <p:sp>
        <p:nvSpPr>
          <p:cNvPr id="51205" name="Text Box 15"/>
          <p:cNvSpPr txBox="1"/>
          <p:nvPr/>
        </p:nvSpPr>
        <p:spPr>
          <a:xfrm>
            <a:off x="552450" y="2580005"/>
            <a:ext cx="830580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endParaRPr lang="zh-CN" altLang="en-US" sz="18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0182" name="Text Box 16"/>
          <p:cNvSpPr txBox="1"/>
          <p:nvPr/>
        </p:nvSpPr>
        <p:spPr>
          <a:xfrm>
            <a:off x="974408" y="2579688"/>
            <a:ext cx="6400800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8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反码的运算规则：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[z]</a:t>
            </a:r>
            <a:r>
              <a:rPr lang="zh-CN" altLang="en-US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反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[x]</a:t>
            </a:r>
            <a:r>
              <a:rPr lang="zh-CN" altLang="en-US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反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＋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[y]</a:t>
            </a:r>
            <a:r>
              <a:rPr lang="zh-CN" altLang="en-US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反</a:t>
            </a:r>
          </a:p>
        </p:txBody>
      </p:sp>
      <p:sp>
        <p:nvSpPr>
          <p:cNvPr id="50183" name="Text Box 17"/>
          <p:cNvSpPr txBox="1"/>
          <p:nvPr/>
        </p:nvSpPr>
        <p:spPr>
          <a:xfrm>
            <a:off x="544195" y="3200083"/>
            <a:ext cx="8455025" cy="7556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457200" indent="-457200"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把符号位看作一位数值位参与运算，一律按加法规则来处理，所得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结果的符号位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也就是正确结果的符号（不出现进位）。</a:t>
            </a:r>
          </a:p>
        </p:txBody>
      </p:sp>
      <p:sp>
        <p:nvSpPr>
          <p:cNvPr id="50184" name="Text Box 18"/>
          <p:cNvSpPr txBox="1"/>
          <p:nvPr/>
        </p:nvSpPr>
        <p:spPr>
          <a:xfrm>
            <a:off x="544195" y="4156710"/>
            <a:ext cx="6925310" cy="4235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当符号位产生进位时，将产生的进位加到数值位的最低位。</a:t>
            </a:r>
          </a:p>
        </p:txBody>
      </p:sp>
      <p:sp>
        <p:nvSpPr>
          <p:cNvPr id="5" name="圆角矩形标注 4"/>
          <p:cNvSpPr/>
          <p:nvPr/>
        </p:nvSpPr>
        <p:spPr>
          <a:xfrm>
            <a:off x="7839075" y="807085"/>
            <a:ext cx="981397" cy="1260609"/>
          </a:xfrm>
          <a:prstGeom prst="wedgeRoundRectCallout">
            <a:avLst>
              <a:gd name="adj1" fmla="val -207460"/>
              <a:gd name="adj2" fmla="val -25906"/>
              <a:gd name="adj3" fmla="val 16667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>
                <a:solidFill>
                  <a:srgbClr val="FF0000"/>
                </a:solidFill>
              </a:rPr>
              <a:t>注意符号要占用一位！</a:t>
            </a:r>
            <a:endParaRPr lang="zh-CN" altLang="en-US" sz="1800" dirty="0"/>
          </a:p>
        </p:txBody>
      </p:sp>
      <p:cxnSp>
        <p:nvCxnSpPr>
          <p:cNvPr id="2" name="直接连接符 1"/>
          <p:cNvCxnSpPr/>
          <p:nvPr/>
        </p:nvCxnSpPr>
        <p:spPr>
          <a:xfrm flipV="1">
            <a:off x="1586865" y="2211705"/>
            <a:ext cx="5864860" cy="431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圆角矩形标注 2"/>
          <p:cNvSpPr/>
          <p:nvPr/>
        </p:nvSpPr>
        <p:spPr>
          <a:xfrm rot="10800000" flipV="1">
            <a:off x="6981825" y="2445385"/>
            <a:ext cx="1857375" cy="702945"/>
          </a:xfrm>
          <a:prstGeom prst="wedgeRoundRectCallout">
            <a:avLst>
              <a:gd name="adj1" fmla="val 25368"/>
              <a:gd name="adj2" fmla="val -86043"/>
              <a:gd name="adj3" fmla="val 16667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rgbClr val="FF0000"/>
                </a:solidFill>
              </a:rPr>
              <a:t>反码的</a:t>
            </a:r>
            <a:r>
              <a:rPr lang="en-US" altLang="zh-CN" sz="1600" dirty="0">
                <a:solidFill>
                  <a:srgbClr val="FF0000"/>
                </a:solidFill>
              </a:rPr>
              <a:t>“0”</a:t>
            </a:r>
            <a:r>
              <a:rPr lang="zh-CN" altLang="en-US" sz="1600" dirty="0">
                <a:solidFill>
                  <a:srgbClr val="FF0000"/>
                </a:solidFill>
              </a:rPr>
              <a:t>也有两种表示法！</a:t>
            </a:r>
            <a:endParaRPr lang="zh-CN" altLang="en-US" sz="1600" dirty="0"/>
          </a:p>
        </p:txBody>
      </p:sp>
      <p:sp>
        <p:nvSpPr>
          <p:cNvPr id="4" name="文本框 3"/>
          <p:cNvSpPr txBox="1"/>
          <p:nvPr/>
        </p:nvSpPr>
        <p:spPr>
          <a:xfrm>
            <a:off x="7181850" y="4201795"/>
            <a:ext cx="18662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FF0000"/>
                </a:solidFill>
              </a:rPr>
              <a:t>进位还可能出现了溢出，需要修正！</a:t>
            </a: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82" grpId="0"/>
      <p:bldP spid="50183" grpId="0"/>
      <p:bldP spid="50184" grpId="0"/>
      <p:bldP spid="5" grpId="0" bldLvl="0" animBg="1"/>
      <p:bldP spid="5" grpId="1" animBg="1"/>
      <p:bldP spid="3" grpId="0" bldLvl="0" animBg="1"/>
      <p:bldP spid="3" grpId="1" animBg="1"/>
      <p:bldP spid="4" grpId="0"/>
      <p:bldP spid="4" grpId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 txBox="1">
            <a:spLocks noGrp="1" noChangeArrowheads="1"/>
          </p:cNvSpPr>
          <p:nvPr>
            <p:ph type="dt" sz="half" idx="2"/>
          </p:nvPr>
        </p:nvSpPr>
        <p:spPr>
          <a:xfrm>
            <a:off x="915670" y="4767263"/>
            <a:ext cx="2057400" cy="274638"/>
          </a:xfrm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4ED0DD7-42FF-46DB-96AE-98FEED34F21B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2227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74497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  <a:t>39</a:t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228" name="Rectangle 3"/>
          <p:cNvSpPr>
            <a:spLocks noGrp="1"/>
          </p:cNvSpPr>
          <p:nvPr>
            <p:ph type="title"/>
          </p:nvPr>
        </p:nvSpPr>
        <p:spPr>
          <a:xfrm>
            <a:off x="549275" y="659765"/>
            <a:ext cx="8534400" cy="62865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en-US" altLang="zh-CN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③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补码（</a:t>
            </a:r>
            <a:r>
              <a:rPr lang="en-US" altLang="zh-CN" sz="2000" b="1" i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complement number</a:t>
            </a:r>
            <a:r>
              <a:rPr lang="zh-CN" altLang="en-US" sz="2000" b="1" i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），又称</a:t>
            </a:r>
            <a:r>
              <a:rPr lang="en-US" altLang="zh-CN" sz="2000" b="1" i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“</a:t>
            </a:r>
            <a:r>
              <a:rPr lang="zh-CN" altLang="en-US" sz="2000" b="1" i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</a:t>
            </a:r>
            <a:r>
              <a:rPr lang="en-US" altLang="zh-CN" sz="2000" b="1" i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000" b="1" i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的补码</a:t>
            </a:r>
            <a:r>
              <a:rPr lang="en-US" altLang="zh-CN" sz="2000" b="1" i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”</a:t>
            </a:r>
          </a:p>
        </p:txBody>
      </p:sp>
      <p:sp>
        <p:nvSpPr>
          <p:cNvPr id="52229" name="Rectangle 4"/>
          <p:cNvSpPr>
            <a:spLocks noGrp="1"/>
          </p:cNvSpPr>
          <p:nvPr>
            <p:ph idx="1"/>
          </p:nvPr>
        </p:nvSpPr>
        <p:spPr>
          <a:xfrm>
            <a:off x="515620" y="1228725"/>
            <a:ext cx="2859088" cy="455613"/>
          </a:xfrm>
          <a:noFill/>
          <a:ln>
            <a:noFill/>
          </a:ln>
        </p:spPr>
        <p:txBody>
          <a:bodyPr/>
          <a:lstStyle/>
          <a:p>
            <a:pPr eaLnBrk="1" hangingPunct="1">
              <a:lnSpc>
                <a:spcPct val="130000"/>
              </a:lnSpc>
              <a:spcBef>
                <a:spcPct val="50000"/>
              </a:spcBef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补码的形成规则：</a:t>
            </a:r>
          </a:p>
        </p:txBody>
      </p:sp>
      <p:sp>
        <p:nvSpPr>
          <p:cNvPr id="51206" name="Text Box 5"/>
          <p:cNvSpPr txBox="1"/>
          <p:nvPr/>
        </p:nvSpPr>
        <p:spPr>
          <a:xfrm>
            <a:off x="466408" y="3027363"/>
            <a:ext cx="7696200" cy="161353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7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 用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位二进制代码表示的原码、补码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 = 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＋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     [x]</a:t>
            </a:r>
            <a:r>
              <a:rPr lang="zh-CN" altLang="en-US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0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0000101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[x]</a:t>
            </a:r>
            <a:r>
              <a:rPr lang="zh-CN" altLang="en-US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补  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0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0000101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y = 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－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     [y]</a:t>
            </a:r>
            <a:r>
              <a:rPr lang="zh-CN" altLang="en-US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0000111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[y]</a:t>
            </a:r>
            <a:r>
              <a:rPr lang="zh-CN" altLang="en-US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补  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1111001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z = 0       [y]</a:t>
            </a:r>
            <a:r>
              <a:rPr lang="zh-CN" altLang="en-US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0000000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[z]</a:t>
            </a:r>
            <a:r>
              <a:rPr lang="zh-CN" altLang="en-US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补  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00000000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Z=-128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             [z]</a:t>
            </a:r>
            <a:r>
              <a:rPr lang="zh-CN" altLang="en-US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补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10000000</a:t>
            </a:r>
          </a:p>
        </p:txBody>
      </p:sp>
      <p:graphicFrame>
        <p:nvGraphicFramePr>
          <p:cNvPr id="72735" name="Group 31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3087370" y="1428750"/>
          <a:ext cx="4638675" cy="1428750"/>
        </p:xfrm>
        <a:graphic>
          <a:graphicData uri="http://schemas.openxmlformats.org/drawingml/2006/table">
            <a:tbl>
              <a:tblPr/>
              <a:tblGrid>
                <a:gridCol w="10525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3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22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4375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真值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x</a:t>
                      </a:r>
                    </a:p>
                  </a:txBody>
                  <a:tcPr marL="91427" marR="91427" marT="34290" marB="34290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符号位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S</a:t>
                      </a:r>
                    </a:p>
                  </a:txBody>
                  <a:tcPr marL="91427" marR="91427" marT="34290" marB="34290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数值位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(</a:t>
                      </a: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二进制数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)</a:t>
                      </a:r>
                    </a:p>
                  </a:txBody>
                  <a:tcPr marL="91427" marR="91427" marT="34290" marB="34290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4375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补码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[x]</a:t>
                      </a:r>
                      <a:r>
                        <a:rPr kumimoji="1" lang="zh-CN" altLang="en-US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补</a:t>
                      </a:r>
                    </a:p>
                  </a:txBody>
                  <a:tcPr marL="91427" marR="91427" marT="34290" marB="34290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＋ →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－ →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</a:p>
                  </a:txBody>
                  <a:tcPr marL="91427" marR="91427" marT="34290" marB="34290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不变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按位变反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+1</a:t>
                      </a:r>
                    </a:p>
                  </a:txBody>
                  <a:tcPr marL="91427" marR="91427" marT="34290" marB="34290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圆角矩形标注 2"/>
          <p:cNvSpPr/>
          <p:nvPr/>
        </p:nvSpPr>
        <p:spPr>
          <a:xfrm rot="10800000" flipV="1">
            <a:off x="7087870" y="3992880"/>
            <a:ext cx="1610995" cy="702945"/>
          </a:xfrm>
          <a:prstGeom prst="wedgeRoundRectCallout">
            <a:avLst>
              <a:gd name="adj1" fmla="val 70512"/>
              <a:gd name="adj2" fmla="val -22990"/>
              <a:gd name="adj3" fmla="val 16667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rgbClr val="FF0000"/>
                </a:solidFill>
              </a:rPr>
              <a:t>补码的</a:t>
            </a:r>
            <a:r>
              <a:rPr lang="en-US" altLang="zh-CN" sz="1600" dirty="0">
                <a:solidFill>
                  <a:srgbClr val="FF0000"/>
                </a:solidFill>
              </a:rPr>
              <a:t>“0”</a:t>
            </a:r>
            <a:r>
              <a:rPr lang="zh-CN" altLang="en-US" sz="1600" dirty="0">
                <a:solidFill>
                  <a:srgbClr val="FF0000"/>
                </a:solidFill>
              </a:rPr>
              <a:t>只有一种表示法！</a:t>
            </a:r>
            <a:endParaRPr lang="zh-CN" altLang="en-US" sz="1600" dirty="0"/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6" grpId="0"/>
      <p:bldP spid="3" grpId="0" bldLvl="0" animBg="1"/>
      <p:bldP spid="3" grpId="1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/>
          <p:cNvSpPr txBox="1">
            <a:spLocks noGrp="1" noChangeArrowheads="1"/>
          </p:cNvSpPr>
          <p:nvPr>
            <p:ph type="dt" sz="half" idx="2"/>
          </p:nvPr>
        </p:nvSpPr>
        <p:spPr>
          <a:xfrm>
            <a:off x="773113" y="4767263"/>
            <a:ext cx="2057400" cy="274638"/>
          </a:xfrm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002A9D7-47FD-4EFE-B72C-7F1AE7964C45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3251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602413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  <a:t>40</a:t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53252" name="Text Box 19"/>
          <p:cNvSpPr txBox="1"/>
          <p:nvPr/>
        </p:nvSpPr>
        <p:spPr>
          <a:xfrm>
            <a:off x="736600" y="598170"/>
            <a:ext cx="6400800" cy="3413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补码的运算规则：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[z]</a:t>
            </a:r>
            <a:r>
              <a:rPr lang="zh-CN" altLang="en-US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补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[x]</a:t>
            </a:r>
            <a:r>
              <a:rPr lang="zh-CN" altLang="en-US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补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＋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[y]</a:t>
            </a:r>
            <a:r>
              <a:rPr lang="zh-CN" altLang="en-US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补</a:t>
            </a:r>
          </a:p>
        </p:txBody>
      </p:sp>
      <p:sp>
        <p:nvSpPr>
          <p:cNvPr id="53253" name="Text Box 20"/>
          <p:cNvSpPr txBox="1"/>
          <p:nvPr/>
        </p:nvSpPr>
        <p:spPr>
          <a:xfrm>
            <a:off x="890905" y="1054100"/>
            <a:ext cx="7840980" cy="6654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457200" indent="-457200" eaLnBrk="1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把符号位看作一位数值位，一律按加法规则来处理，所得结果的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符</a:t>
            </a:r>
            <a:endParaRPr lang="zh-CN" altLang="en-US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indent="-457200" eaLnBrk="1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号位也就是正确结果的符号。</a:t>
            </a:r>
          </a:p>
        </p:txBody>
      </p:sp>
      <p:sp>
        <p:nvSpPr>
          <p:cNvPr id="53254" name="Text Box 21"/>
          <p:cNvSpPr txBox="1"/>
          <p:nvPr/>
        </p:nvSpPr>
        <p:spPr>
          <a:xfrm>
            <a:off x="890588" y="1771333"/>
            <a:ext cx="6583362" cy="3413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当符号位产生进位时，将产生的进位丢掉。</a:t>
            </a:r>
          </a:p>
        </p:txBody>
      </p:sp>
      <p:sp>
        <p:nvSpPr>
          <p:cNvPr id="52231" name="Rectangle 2"/>
          <p:cNvSpPr>
            <a:spLocks noGrp="1"/>
          </p:cNvSpPr>
          <p:nvPr>
            <p:ph type="title"/>
          </p:nvPr>
        </p:nvSpPr>
        <p:spPr>
          <a:xfrm>
            <a:off x="709295" y="2141538"/>
            <a:ext cx="3451225" cy="430212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补码的概念：</a:t>
            </a:r>
            <a:endParaRPr lang="zh-CN" altLang="en-US" sz="2400" b="1" i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2232" name="矩形 16"/>
          <p:cNvSpPr/>
          <p:nvPr/>
        </p:nvSpPr>
        <p:spPr>
          <a:xfrm>
            <a:off x="685800" y="2646998"/>
            <a:ext cx="8278813" cy="229425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457200" indent="-457200" eaLnBrk="1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由于补码加、减运算的简便性，导致了它在计算机中被广泛应用，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为</a:t>
            </a:r>
            <a:endParaRPr lang="en-US" altLang="zh-CN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indent="-457200" eaLnBrk="1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了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理解补码，有必要对补码的本质做进一步的说明。</a:t>
            </a:r>
          </a:p>
          <a:p>
            <a:pPr marL="457200" indent="-457200" eaLnBrk="1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1800" u="sng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从数学上讲，补码与其真值构成了一个以某一值</a:t>
            </a:r>
            <a:r>
              <a:rPr lang="en-US" altLang="zh-CN" sz="1800" u="sng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1800" u="sng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由计算机字长或其</a:t>
            </a:r>
          </a:p>
          <a:p>
            <a:pPr marL="457200" indent="-457200" eaLnBrk="1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</a:pPr>
            <a:r>
              <a:rPr lang="zh-CN" altLang="en-US" sz="1800" u="sng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他规定所决定</a:t>
            </a:r>
            <a:r>
              <a:rPr lang="en-US" altLang="zh-CN" sz="1800" u="sng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1800" u="sng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为模的“模数系统”，或者说构成了一个“同余”结构的</a:t>
            </a:r>
          </a:p>
          <a:p>
            <a:pPr marL="457200" indent="-457200" eaLnBrk="1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</a:pPr>
            <a:r>
              <a:rPr lang="zh-CN" altLang="en-US" sz="1800" u="sng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代数系统。</a:t>
            </a:r>
            <a:endParaRPr lang="en-US" altLang="zh-CN" sz="1800" u="sng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indent="-457200" eaLnBrk="1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在此基础上，不仅能容易地构成二进制数的各种不同模数的补码，而</a:t>
            </a:r>
          </a:p>
          <a:p>
            <a:pPr marL="457200" indent="-457200" eaLnBrk="1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且能很容易地构成十进制或任何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进制中的补码。 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5292090" y="555625"/>
            <a:ext cx="34772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计算机中符号位真实采用的是</a:t>
            </a:r>
            <a:r>
              <a:rPr lang="en-US" altLang="zh-CN" sz="1400" dirty="0">
                <a:solidFill>
                  <a:srgbClr val="FF0000"/>
                </a:solidFill>
              </a:rPr>
              <a:t>2</a:t>
            </a:r>
            <a:r>
              <a:rPr lang="zh-CN" altLang="en-US" sz="1400" dirty="0">
                <a:solidFill>
                  <a:srgbClr val="FF0000"/>
                </a:solidFill>
              </a:rPr>
              <a:t>位二进制，</a:t>
            </a:r>
            <a:r>
              <a:rPr lang="en-US" altLang="zh-CN" sz="1400" dirty="0">
                <a:solidFill>
                  <a:srgbClr val="FF0000"/>
                </a:solidFill>
              </a:rPr>
              <a:t>+</a:t>
            </a:r>
            <a:r>
              <a:rPr lang="zh-CN" altLang="en-US" sz="1400" dirty="0">
                <a:solidFill>
                  <a:srgbClr val="FF0000"/>
                </a:solidFill>
              </a:rPr>
              <a:t>：</a:t>
            </a:r>
            <a:r>
              <a:rPr lang="en-US" altLang="zh-CN" sz="1400" dirty="0">
                <a:solidFill>
                  <a:srgbClr val="FF0000"/>
                </a:solidFill>
              </a:rPr>
              <a:t>00</a:t>
            </a:r>
            <a:r>
              <a:rPr lang="zh-CN" altLang="en-US" sz="1400" dirty="0">
                <a:solidFill>
                  <a:srgbClr val="FF0000"/>
                </a:solidFill>
              </a:rPr>
              <a:t>，</a:t>
            </a:r>
            <a:r>
              <a:rPr lang="en-US" altLang="zh-CN" sz="1400" dirty="0">
                <a:solidFill>
                  <a:srgbClr val="FF0000"/>
                </a:solidFill>
              </a:rPr>
              <a:t>—</a:t>
            </a:r>
            <a:r>
              <a:rPr lang="zh-CN" altLang="en-US" sz="1400" dirty="0">
                <a:solidFill>
                  <a:srgbClr val="FF0000"/>
                </a:solidFill>
              </a:rPr>
              <a:t>：</a:t>
            </a:r>
            <a:r>
              <a:rPr lang="en-US" altLang="zh-CN" sz="1400" dirty="0">
                <a:solidFill>
                  <a:srgbClr val="FF0000"/>
                </a:solidFill>
              </a:rPr>
              <a:t>11</a:t>
            </a: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31" grpId="0"/>
      <p:bldP spid="52231" grpId="1"/>
      <p:bldP spid="52232" grpId="0"/>
      <p:bldP spid="52232" grpId="1"/>
      <p:bldP spid="2" grpId="0"/>
      <p:bldP spid="2" grpId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3A90896-693F-4F28-AB7C-7EC13739B318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4275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  <a:t>41</a:t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53252" name="Rectangle 3"/>
          <p:cNvSpPr>
            <a:spLocks noGrp="1"/>
          </p:cNvSpPr>
          <p:nvPr>
            <p:ph idx="1"/>
          </p:nvPr>
        </p:nvSpPr>
        <p:spPr>
          <a:xfrm>
            <a:off x="450850" y="608330"/>
            <a:ext cx="8064500" cy="4086225"/>
          </a:xfrm>
          <a:noFill/>
          <a:ln>
            <a:noFill/>
          </a:ln>
        </p:spPr>
        <p:txBody>
          <a:bodyPr/>
          <a:lstStyle/>
          <a:p>
            <a:pPr marL="0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“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模”或称为“模数”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，就好比一个计量器的容量，一个计量器就构成了一个模数系统。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例如：我们的指针盘手表可显示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12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个小时，这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12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就是这个手表的模数，手表也构成一个模为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12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的模数系统。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在模数系统中，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模数减去一个数的值等于该数的补，或称这两个数互补。</a:t>
            </a:r>
          </a:p>
          <a:p>
            <a:pPr marL="0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例如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12-1=11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，我们将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11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称为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的补，或称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11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互补。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在模数系统中，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减去一个数就等于加上这个数的补。</a:t>
            </a:r>
          </a:p>
          <a:p>
            <a:pPr marL="0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例如在手表中，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X-1=X+11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，假如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X=3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，则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X-1=2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而且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X+11=14,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在手表上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14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就是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r>
              <a:rPr lang="zh-CN" altLang="en-US" sz="1800" u="sng" dirty="0">
                <a:latin typeface="黑体" panose="02010609060101010101" pitchFamily="49" charset="-122"/>
                <a:ea typeface="黑体" panose="02010609060101010101" pitchFamily="49" charset="-122"/>
              </a:rPr>
              <a:t>在这里我们也把</a:t>
            </a:r>
            <a:r>
              <a:rPr lang="en-US" altLang="zh-CN" sz="1800" u="sng" dirty="0">
                <a:latin typeface="黑体" panose="02010609060101010101" pitchFamily="49" charset="-122"/>
                <a:ea typeface="黑体" panose="02010609060101010101" pitchFamily="49" charset="-122"/>
              </a:rPr>
              <a:t>14</a:t>
            </a:r>
            <a:r>
              <a:rPr lang="zh-CN" altLang="en-US" sz="1800" u="sng" dirty="0"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en-US" altLang="zh-CN" sz="1800" u="sng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1800" u="sng" dirty="0">
                <a:latin typeface="黑体" panose="02010609060101010101" pitchFamily="49" charset="-122"/>
                <a:ea typeface="黑体" panose="02010609060101010101" pitchFamily="49" charset="-122"/>
              </a:rPr>
              <a:t>称为同余数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>
                                            <p:txEl>
                                              <p:charRg st="131" end="16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>
                                            <p:txEl>
                                              <p:charRg st="166" end="19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>
                                            <p:txEl>
                                              <p:charRg st="194" end="26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9CC180B-504B-485A-B5E9-15A8B47E10E3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5299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  <a:t>42</a:t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276" name="Rectangle 3"/>
          <p:cNvSpPr>
            <a:spLocks noGrp="1"/>
          </p:cNvSpPr>
          <p:nvPr>
            <p:ph idx="1"/>
          </p:nvPr>
        </p:nvSpPr>
        <p:spPr>
          <a:xfrm>
            <a:off x="463550" y="546100"/>
            <a:ext cx="8051800" cy="4327525"/>
          </a:xfrm>
          <a:noFill/>
          <a:ln>
            <a:noFill/>
          </a:ln>
        </p:spPr>
        <p:txBody>
          <a:bodyPr/>
          <a:lstStyle/>
          <a:p>
            <a:pPr marL="71755" indent="-172085">
              <a:lnSpc>
                <a:spcPct val="140000"/>
              </a:lnSpc>
              <a:spcBef>
                <a:spcPts val="1200"/>
              </a:spcBef>
              <a:buFontTx/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在二进制的计算机系统中，对于字长为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8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的机器，它表示正整数的容量是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256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，因为减去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等于加上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255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，所以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255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互补，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是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255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的补，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255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是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的补，通常称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“-1”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的补码就是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255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，也就是说减去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等于加上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“-1”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的补码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255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。实际上，这是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256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求补。如果对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255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求补，则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的补就是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254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，但是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，这里往往不将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254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称为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“-1”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的补码。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71755" indent="-172085">
              <a:lnSpc>
                <a:spcPct val="140000"/>
              </a:lnSpc>
              <a:spcBef>
                <a:spcPts val="1200"/>
              </a:spcBef>
              <a:buFontTx/>
              <a:buNone/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1800" u="sng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补码</a:t>
            </a:r>
            <a:r>
              <a:rPr lang="zh-CN" altLang="en-US" sz="1800" u="sng" dirty="0">
                <a:latin typeface="黑体" panose="02010609060101010101" pitchFamily="49" charset="-122"/>
                <a:ea typeface="黑体" panose="02010609060101010101" pitchFamily="49" charset="-122"/>
              </a:rPr>
              <a:t>是二进制数字系统中带符号数的一种表示方式。</a:t>
            </a:r>
          </a:p>
          <a:p>
            <a:pPr marL="71755" indent="-172085">
              <a:lnSpc>
                <a:spcPct val="140000"/>
              </a:lnSpc>
              <a:spcBef>
                <a:spcPts val="1200"/>
              </a:spcBef>
              <a:buFontTx/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在书中，常常也说，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对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求补是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1,1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对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求补是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，实际上是求反；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对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于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自补码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对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9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求补是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7,7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对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9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求补是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，也是求反。所以书中常把求反称为求补就是这个原因。</a:t>
            </a:r>
            <a:r>
              <a:rPr lang="zh-CN" altLang="en-US" sz="1800" u="sng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求补是针对某个模数来说的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r>
              <a:rPr lang="zh-CN" altLang="en-US" sz="1800" u="sng" dirty="0">
                <a:latin typeface="黑体" panose="02010609060101010101" pitchFamily="49" charset="-122"/>
                <a:ea typeface="黑体" panose="02010609060101010101" pitchFamily="49" charset="-122"/>
              </a:rPr>
              <a:t>但</a:t>
            </a:r>
            <a:r>
              <a:rPr lang="zh-CN" altLang="en-US" sz="1800" u="sng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补码</a:t>
            </a:r>
            <a:r>
              <a:rPr lang="zh-CN" altLang="en-US" sz="1800" u="sng" dirty="0">
                <a:latin typeface="黑体" panose="02010609060101010101" pitchFamily="49" charset="-122"/>
                <a:ea typeface="黑体" panose="02010609060101010101" pitchFamily="49" charset="-122"/>
              </a:rPr>
              <a:t>针对的数是二进制系统字长所表示的带符号数的模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charRg st="166" end="19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charRg st="194" end="3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4"/>
          <p:cNvSpPr txBox="1">
            <a:spLocks noGrp="1" noChangeArrowheads="1"/>
          </p:cNvSpPr>
          <p:nvPr>
            <p:ph type="dt" sz="half" idx="2"/>
          </p:nvPr>
        </p:nvSpPr>
        <p:spPr>
          <a:xfrm>
            <a:off x="628650" y="4767580"/>
            <a:ext cx="2057400" cy="274955"/>
          </a:xfrm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1D21C9B-4BA6-4109-98A9-F667BFE4A46E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6323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60146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  <a:t>43</a:t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56324" name="Group 18"/>
          <p:cNvGrpSpPr/>
          <p:nvPr/>
        </p:nvGrpSpPr>
        <p:grpSpPr>
          <a:xfrm>
            <a:off x="3998595" y="2857500"/>
            <a:ext cx="4267200" cy="1028700"/>
            <a:chOff x="3024" y="1008"/>
            <a:chExt cx="2688" cy="864"/>
          </a:xfrm>
        </p:grpSpPr>
        <p:sp>
          <p:nvSpPr>
            <p:cNvPr id="56339" name="Line 19"/>
            <p:cNvSpPr/>
            <p:nvPr/>
          </p:nvSpPr>
          <p:spPr>
            <a:xfrm>
              <a:off x="3606" y="1008"/>
              <a:ext cx="0" cy="86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triangle" w="med" len="med"/>
              <a:tailEnd type="triangle" w="med" len="med"/>
            </a:ln>
          </p:spPr>
        </p:sp>
        <p:sp>
          <p:nvSpPr>
            <p:cNvPr id="56340" name="Text Box 20"/>
            <p:cNvSpPr txBox="1"/>
            <p:nvPr/>
          </p:nvSpPr>
          <p:spPr>
            <a:xfrm>
              <a:off x="3024" y="1267"/>
              <a:ext cx="1872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S </a:t>
              </a:r>
              <a:r>
                <a: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不变，数值位</a:t>
              </a:r>
            </a:p>
          </p:txBody>
        </p:sp>
        <p:sp>
          <p:nvSpPr>
            <p:cNvPr id="3" name="AutoShape 21"/>
            <p:cNvSpPr/>
            <p:nvPr/>
          </p:nvSpPr>
          <p:spPr>
            <a:xfrm>
              <a:off x="4368" y="1200"/>
              <a:ext cx="96" cy="432"/>
            </a:xfrm>
            <a:prstGeom prst="leftBrace">
              <a:avLst>
                <a:gd name="adj1" fmla="val 37500"/>
                <a:gd name="adj2" fmla="val 50000"/>
              </a:avLst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56342" name="Text Box 22"/>
            <p:cNvSpPr txBox="1"/>
            <p:nvPr/>
          </p:nvSpPr>
          <p:spPr>
            <a:xfrm>
              <a:off x="4512" y="1104"/>
              <a:ext cx="1200" cy="3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sz="18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不变</a:t>
              </a:r>
              <a:r>
                <a:rPr lang="en-US" altLang="zh-CN" sz="18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(S=0)</a:t>
              </a:r>
            </a:p>
          </p:txBody>
        </p:sp>
        <p:sp>
          <p:nvSpPr>
            <p:cNvPr id="56343" name="Text Box 23"/>
            <p:cNvSpPr txBox="1"/>
            <p:nvPr/>
          </p:nvSpPr>
          <p:spPr>
            <a:xfrm>
              <a:off x="4512" y="1440"/>
              <a:ext cx="1200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变反加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1(S=1)</a:t>
              </a:r>
            </a:p>
          </p:txBody>
        </p:sp>
      </p:grpSp>
      <p:sp>
        <p:nvSpPr>
          <p:cNvPr id="56325" name="Rectangle 2"/>
          <p:cNvSpPr>
            <a:spLocks noGrp="1"/>
          </p:cNvSpPr>
          <p:nvPr>
            <p:ph type="title"/>
          </p:nvPr>
        </p:nvSpPr>
        <p:spPr>
          <a:xfrm>
            <a:off x="613410" y="679133"/>
            <a:ext cx="7772400" cy="68580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原码、反码和补码之间的关系如下图</a:t>
            </a:r>
          </a:p>
        </p:txBody>
      </p:sp>
      <p:sp>
        <p:nvSpPr>
          <p:cNvPr id="56326" name="Text Box 5"/>
          <p:cNvSpPr txBox="1"/>
          <p:nvPr/>
        </p:nvSpPr>
        <p:spPr>
          <a:xfrm>
            <a:off x="452120" y="2514600"/>
            <a:ext cx="1143000" cy="365125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真值</a:t>
            </a:r>
          </a:p>
        </p:txBody>
      </p:sp>
      <p:sp>
        <p:nvSpPr>
          <p:cNvPr id="56327" name="Text Box 6"/>
          <p:cNvSpPr txBox="1"/>
          <p:nvPr/>
        </p:nvSpPr>
        <p:spPr>
          <a:xfrm>
            <a:off x="4458970" y="2508250"/>
            <a:ext cx="1066800" cy="36830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[x]</a:t>
            </a:r>
            <a:r>
              <a:rPr lang="zh-CN" altLang="en-US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</a:t>
            </a:r>
          </a:p>
        </p:txBody>
      </p:sp>
      <p:sp>
        <p:nvSpPr>
          <p:cNvPr id="56328" name="Text Box 7"/>
          <p:cNvSpPr txBox="1"/>
          <p:nvPr/>
        </p:nvSpPr>
        <p:spPr>
          <a:xfrm>
            <a:off x="4387533" y="1143000"/>
            <a:ext cx="1066800" cy="36830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[x]</a:t>
            </a:r>
            <a:r>
              <a:rPr lang="zh-CN" altLang="en-US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反</a:t>
            </a:r>
          </a:p>
        </p:txBody>
      </p:sp>
      <p:sp>
        <p:nvSpPr>
          <p:cNvPr id="56329" name="Text Box 8"/>
          <p:cNvSpPr txBox="1"/>
          <p:nvPr/>
        </p:nvSpPr>
        <p:spPr>
          <a:xfrm>
            <a:off x="4458970" y="3879850"/>
            <a:ext cx="1066800" cy="36830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[x]</a:t>
            </a:r>
            <a:r>
              <a:rPr lang="zh-CN" altLang="en-US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补</a:t>
            </a:r>
          </a:p>
        </p:txBody>
      </p:sp>
      <p:grpSp>
        <p:nvGrpSpPr>
          <p:cNvPr id="56330" name="Group 16"/>
          <p:cNvGrpSpPr/>
          <p:nvPr/>
        </p:nvGrpSpPr>
        <p:grpSpPr>
          <a:xfrm>
            <a:off x="1620520" y="2373630"/>
            <a:ext cx="2838450" cy="783896"/>
            <a:chOff x="1104" y="1728"/>
            <a:chExt cx="2256" cy="660"/>
          </a:xfrm>
        </p:grpSpPr>
        <p:sp>
          <p:nvSpPr>
            <p:cNvPr id="56337" name="Line 9"/>
            <p:cNvSpPr/>
            <p:nvPr/>
          </p:nvSpPr>
          <p:spPr>
            <a:xfrm>
              <a:off x="1104" y="2016"/>
              <a:ext cx="225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triangle" w="med" len="med"/>
              <a:tailEnd type="triangle" w="med" len="med"/>
            </a:ln>
          </p:spPr>
        </p:sp>
        <p:sp>
          <p:nvSpPr>
            <p:cNvPr id="56338" name="Text Box 10"/>
            <p:cNvSpPr txBox="1"/>
            <p:nvPr/>
          </p:nvSpPr>
          <p:spPr>
            <a:xfrm>
              <a:off x="1200" y="1728"/>
              <a:ext cx="2064" cy="66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符号＋、－←→</a:t>
              </a: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S 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0</a:t>
              </a:r>
              <a:r>
                <a: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、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</a:p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数值位不变</a:t>
              </a:r>
            </a:p>
          </p:txBody>
        </p:sp>
      </p:grpSp>
      <p:grpSp>
        <p:nvGrpSpPr>
          <p:cNvPr id="56331" name="Group 17"/>
          <p:cNvGrpSpPr/>
          <p:nvPr/>
        </p:nvGrpSpPr>
        <p:grpSpPr>
          <a:xfrm>
            <a:off x="3998595" y="1485900"/>
            <a:ext cx="4267200" cy="1028700"/>
            <a:chOff x="3024" y="1008"/>
            <a:chExt cx="2688" cy="864"/>
          </a:xfrm>
        </p:grpSpPr>
        <p:sp>
          <p:nvSpPr>
            <p:cNvPr id="56332" name="Text Box 12"/>
            <p:cNvSpPr txBox="1"/>
            <p:nvPr/>
          </p:nvSpPr>
          <p:spPr>
            <a:xfrm>
              <a:off x="3024" y="1267"/>
              <a:ext cx="1872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S </a:t>
              </a:r>
              <a:r>
                <a: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不变，数值位</a:t>
              </a:r>
            </a:p>
          </p:txBody>
        </p:sp>
        <p:sp>
          <p:nvSpPr>
            <p:cNvPr id="56333" name="Line 11"/>
            <p:cNvSpPr/>
            <p:nvPr/>
          </p:nvSpPr>
          <p:spPr>
            <a:xfrm>
              <a:off x="3606" y="1008"/>
              <a:ext cx="0" cy="86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triangle" w="med" len="med"/>
              <a:tailEnd type="triangle" w="med" len="med"/>
            </a:ln>
          </p:spPr>
        </p:sp>
        <p:sp>
          <p:nvSpPr>
            <p:cNvPr id="2" name="AutoShape 13"/>
            <p:cNvSpPr/>
            <p:nvPr/>
          </p:nvSpPr>
          <p:spPr>
            <a:xfrm>
              <a:off x="4368" y="1200"/>
              <a:ext cx="96" cy="432"/>
            </a:xfrm>
            <a:prstGeom prst="leftBrace">
              <a:avLst>
                <a:gd name="adj1" fmla="val 37500"/>
                <a:gd name="adj2" fmla="val 50000"/>
              </a:avLst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56335" name="Text Box 14"/>
            <p:cNvSpPr txBox="1"/>
            <p:nvPr/>
          </p:nvSpPr>
          <p:spPr>
            <a:xfrm>
              <a:off x="4512" y="1104"/>
              <a:ext cx="1200" cy="3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sz="18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不变</a:t>
              </a:r>
              <a:r>
                <a:rPr lang="en-US" altLang="zh-CN" sz="18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(S=0)</a:t>
              </a:r>
            </a:p>
          </p:txBody>
        </p:sp>
        <p:sp>
          <p:nvSpPr>
            <p:cNvPr id="56336" name="Text Box 15"/>
            <p:cNvSpPr txBox="1"/>
            <p:nvPr/>
          </p:nvSpPr>
          <p:spPr>
            <a:xfrm>
              <a:off x="4512" y="1440"/>
              <a:ext cx="1200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变反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(S=1)</a:t>
              </a:r>
            </a:p>
          </p:txBody>
        </p:sp>
      </p:grpSp>
    </p:spTree>
  </p:cSld>
  <p:clrMapOvr>
    <a:masterClrMapping/>
  </p:clrMapOvr>
  <p:transition advTm="25000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341B354-4A68-47BD-89ED-E971B7B08779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7347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  <a:t>44</a:t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124075" y="4083050"/>
            <a:ext cx="1727200" cy="793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7349" name="Rectangle 2"/>
          <p:cNvSpPr>
            <a:spLocks noGrp="1"/>
          </p:cNvSpPr>
          <p:nvPr>
            <p:ph type="title"/>
          </p:nvPr>
        </p:nvSpPr>
        <p:spPr>
          <a:xfrm>
            <a:off x="304800" y="587375"/>
            <a:ext cx="8153400" cy="608013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④带符号数的加、减运算举例</a:t>
            </a:r>
            <a:endParaRPr lang="zh-CN" altLang="en-US" sz="1800" b="1" i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7350" name="Rectangle 8"/>
          <p:cNvSpPr>
            <a:spLocks noGrp="1"/>
          </p:cNvSpPr>
          <p:nvPr>
            <p:ph idx="1"/>
          </p:nvPr>
        </p:nvSpPr>
        <p:spPr>
          <a:xfrm>
            <a:off x="685800" y="971550"/>
            <a:ext cx="8153400" cy="571500"/>
          </a:xfrm>
          <a:noFill/>
          <a:ln>
            <a:noFill/>
          </a:ln>
        </p:spPr>
        <p:txBody>
          <a:bodyPr/>
          <a:lstStyle/>
          <a:p>
            <a:pPr eaLnBrk="1" hangingPunct="1">
              <a:lnSpc>
                <a:spcPct val="120000"/>
              </a:lnSpc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1  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求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z = x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－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y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， 其中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x =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＋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1010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y =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＋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0011</a:t>
            </a:r>
          </a:p>
        </p:txBody>
      </p:sp>
      <p:sp>
        <p:nvSpPr>
          <p:cNvPr id="56327" name="Text Box 9"/>
          <p:cNvSpPr txBox="1"/>
          <p:nvPr/>
        </p:nvSpPr>
        <p:spPr>
          <a:xfrm>
            <a:off x="685800" y="1431925"/>
            <a:ext cx="7848600" cy="11080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⑴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原码运算：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[x]</a:t>
            </a:r>
            <a:r>
              <a:rPr lang="zh-CN" altLang="en-US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1010            [y]</a:t>
            </a:r>
            <a:r>
              <a:rPr lang="zh-CN" altLang="en-US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0011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∵ x 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绝对值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&gt; y 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绝对值 </a:t>
            </a:r>
            <a:r>
              <a:rPr lang="en-US" altLang="zh-CN" sz="1800" b="1" i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1800" b="1" i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假如</a:t>
            </a:r>
            <a:r>
              <a:rPr lang="en-US" altLang="zh-CN" sz="1800" b="1" i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x=+0011</a:t>
            </a:r>
            <a:r>
              <a:rPr lang="zh-CN" altLang="en-US" sz="1800" b="1" i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1800" b="1" i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y=-1010)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∴ 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[z]</a:t>
            </a:r>
            <a:r>
              <a:rPr lang="zh-CN" altLang="en-US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=[ 01010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－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00011]</a:t>
            </a:r>
            <a:r>
              <a:rPr lang="zh-CN" altLang="en-US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00111       z = 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＋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0111</a:t>
            </a:r>
          </a:p>
        </p:txBody>
      </p:sp>
      <p:sp>
        <p:nvSpPr>
          <p:cNvPr id="56328" name="Text Box 10"/>
          <p:cNvSpPr txBox="1"/>
          <p:nvPr/>
        </p:nvSpPr>
        <p:spPr>
          <a:xfrm>
            <a:off x="685800" y="2830513"/>
            <a:ext cx="8001000" cy="7254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⑵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补码运算：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[x]</a:t>
            </a:r>
            <a:r>
              <a:rPr lang="zh-CN" altLang="en-US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补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1010 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                        [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－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y]</a:t>
            </a:r>
            <a:r>
              <a:rPr lang="zh-CN" altLang="en-US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补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[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－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0011 ]</a:t>
            </a:r>
            <a:r>
              <a:rPr lang="zh-CN" altLang="en-US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补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1101</a:t>
            </a:r>
          </a:p>
        </p:txBody>
      </p:sp>
      <p:grpSp>
        <p:nvGrpSpPr>
          <p:cNvPr id="56329" name="Group 11"/>
          <p:cNvGrpSpPr/>
          <p:nvPr/>
        </p:nvGrpSpPr>
        <p:grpSpPr>
          <a:xfrm>
            <a:off x="989013" y="3587750"/>
            <a:ext cx="4114800" cy="1049338"/>
            <a:chOff x="1008" y="3120"/>
            <a:chExt cx="2592" cy="881"/>
          </a:xfrm>
        </p:grpSpPr>
        <p:sp>
          <p:nvSpPr>
            <p:cNvPr id="57355" name="Text Box 12"/>
            <p:cNvSpPr txBox="1"/>
            <p:nvPr/>
          </p:nvSpPr>
          <p:spPr>
            <a:xfrm>
              <a:off x="1008" y="3120"/>
              <a:ext cx="2592" cy="88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lnSpc>
                  <a:spcPct val="80000"/>
                </a:lnSpc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∵           01010</a:t>
              </a:r>
            </a:p>
            <a:p>
              <a:pPr eaLnBrk="1" hangingPunct="1">
                <a:lnSpc>
                  <a:spcPct val="80000"/>
                </a:lnSpc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          </a:t>
              </a:r>
              <a:r>
                <a: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＋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11101</a:t>
              </a:r>
            </a:p>
            <a:p>
              <a:pPr eaLnBrk="1" hangingPunct="1">
                <a:lnSpc>
                  <a:spcPct val="80000"/>
                </a:lnSpc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          1 00111</a:t>
              </a:r>
            </a:p>
          </p:txBody>
        </p:sp>
        <p:sp>
          <p:nvSpPr>
            <p:cNvPr id="3" name="Line 13"/>
            <p:cNvSpPr/>
            <p:nvPr/>
          </p:nvSpPr>
          <p:spPr>
            <a:xfrm>
              <a:off x="1581" y="3684"/>
              <a:ext cx="960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7357" name="Rectangle 14"/>
            <p:cNvSpPr/>
            <p:nvPr/>
          </p:nvSpPr>
          <p:spPr>
            <a:xfrm>
              <a:off x="1812" y="3720"/>
              <a:ext cx="240" cy="240"/>
            </a:xfrm>
            <a:prstGeom prst="rect">
              <a:avLst/>
            </a:prstGeom>
            <a:noFill/>
            <a:ln w="38100" cap="rnd" cmpd="sng">
              <a:solidFill>
                <a:schemeClr val="tx1"/>
              </a:solidFill>
              <a:prstDash val="sysDot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7358" name="Text Box 15"/>
            <p:cNvSpPr txBox="1"/>
            <p:nvPr/>
          </p:nvSpPr>
          <p:spPr>
            <a:xfrm>
              <a:off x="1188" y="3672"/>
              <a:ext cx="768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sz="18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丢掉←</a:t>
              </a:r>
            </a:p>
          </p:txBody>
        </p:sp>
      </p:grpSp>
      <p:sp>
        <p:nvSpPr>
          <p:cNvPr id="56330" name="Text Box 16"/>
          <p:cNvSpPr txBox="1"/>
          <p:nvPr/>
        </p:nvSpPr>
        <p:spPr>
          <a:xfrm>
            <a:off x="4876800" y="3771900"/>
            <a:ext cx="3124200" cy="777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∴ [z]</a:t>
            </a:r>
            <a:r>
              <a:rPr lang="zh-CN" altLang="en-US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补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00111 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z = 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＋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0111</a:t>
            </a:r>
          </a:p>
        </p:txBody>
      </p:sp>
      <p:sp>
        <p:nvSpPr>
          <p:cNvPr id="4" name="圆角矩形标注 3"/>
          <p:cNvSpPr/>
          <p:nvPr/>
        </p:nvSpPr>
        <p:spPr>
          <a:xfrm>
            <a:off x="6657975" y="807085"/>
            <a:ext cx="1000125" cy="1628775"/>
          </a:xfrm>
          <a:prstGeom prst="wedgeRoundRectCallout">
            <a:avLst>
              <a:gd name="adj1" fmla="val -384793"/>
              <a:gd name="adj2" fmla="val -2241"/>
              <a:gd name="adj3" fmla="val 16667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rgbClr val="FF0000"/>
                </a:solidFill>
              </a:rPr>
              <a:t>注意符号要占用一位！</a:t>
            </a:r>
            <a:endParaRPr lang="zh-CN" altLang="en-US"/>
          </a:p>
        </p:txBody>
      </p:sp>
      <p:sp>
        <p:nvSpPr>
          <p:cNvPr id="5" name="圆角矩形标注 4"/>
          <p:cNvSpPr/>
          <p:nvPr/>
        </p:nvSpPr>
        <p:spPr>
          <a:xfrm>
            <a:off x="7839075" y="807085"/>
            <a:ext cx="1000125" cy="1628775"/>
          </a:xfrm>
          <a:prstGeom prst="wedgeRoundRectCallout">
            <a:avLst>
              <a:gd name="adj1" fmla="val -240222"/>
              <a:gd name="adj2" fmla="val -4035"/>
              <a:gd name="adj3" fmla="val 16667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rgbClr val="FF0000"/>
                </a:solidFill>
              </a:rPr>
              <a:t>注意符号要占用一位！</a:t>
            </a:r>
            <a:endParaRPr lang="zh-CN" altLang="en-US"/>
          </a:p>
        </p:txBody>
      </p:sp>
    </p:spTree>
  </p:cSld>
  <p:clrMapOvr>
    <a:masterClrMapping/>
  </p:clrMapOvr>
  <p:transition advTm="25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6327" grpId="0"/>
      <p:bldP spid="56328" grpId="0"/>
      <p:bldP spid="56330" grpId="0"/>
      <p:bldP spid="4" grpId="0" bldLvl="0" animBg="1"/>
      <p:bldP spid="4" grpId="1" animBg="1"/>
      <p:bldP spid="5" grpId="0" bldLvl="0" animBg="1"/>
      <p:bldP spid="5" grpId="1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0830357-65DF-4024-985C-9C6604333CB6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8371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  <a:t>45</a:t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58372" name="Rectangle 4"/>
          <p:cNvSpPr>
            <a:spLocks noGrp="1"/>
          </p:cNvSpPr>
          <p:nvPr>
            <p:ph idx="1"/>
          </p:nvPr>
        </p:nvSpPr>
        <p:spPr>
          <a:xfrm>
            <a:off x="566738" y="700088"/>
            <a:ext cx="8153400" cy="571500"/>
          </a:xfrm>
          <a:noFill/>
          <a:ln>
            <a:noFill/>
          </a:ln>
        </p:spPr>
        <p:txBody>
          <a:bodyPr/>
          <a:lstStyle/>
          <a:p>
            <a:pPr eaLnBrk="1" hangingPunct="1">
              <a:lnSpc>
                <a:spcPct val="120000"/>
              </a:lnSpc>
              <a:buNone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（续）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求 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z = x-y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， 其中 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x =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＋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1010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y =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＋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0011</a:t>
            </a:r>
          </a:p>
        </p:txBody>
      </p:sp>
      <p:sp>
        <p:nvSpPr>
          <p:cNvPr id="57349" name="Text Box 6"/>
          <p:cNvSpPr txBox="1"/>
          <p:nvPr/>
        </p:nvSpPr>
        <p:spPr>
          <a:xfrm>
            <a:off x="685800" y="1314450"/>
            <a:ext cx="8001000" cy="8540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⑶</a:t>
            </a: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反码运算：  </a:t>
            </a: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[x]</a:t>
            </a:r>
            <a:r>
              <a:rPr lang="zh-CN" altLang="en-US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反</a:t>
            </a: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01010 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  [</a:t>
            </a: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－</a:t>
            </a: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y]</a:t>
            </a:r>
            <a:r>
              <a:rPr lang="zh-CN" altLang="en-US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反</a:t>
            </a: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[</a:t>
            </a: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－ </a:t>
            </a: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0011 ]</a:t>
            </a:r>
            <a:r>
              <a:rPr lang="zh-CN" altLang="en-US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反</a:t>
            </a: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11100</a:t>
            </a:r>
          </a:p>
        </p:txBody>
      </p:sp>
      <p:sp>
        <p:nvSpPr>
          <p:cNvPr id="57350" name="Text Box 12"/>
          <p:cNvSpPr txBox="1"/>
          <p:nvPr/>
        </p:nvSpPr>
        <p:spPr>
          <a:xfrm>
            <a:off x="5029200" y="2527300"/>
            <a:ext cx="3124200" cy="8540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∴ [z]</a:t>
            </a:r>
            <a:r>
              <a:rPr lang="zh-CN" altLang="en-US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反</a:t>
            </a: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00111 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z = 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＋ </a:t>
            </a: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0111</a:t>
            </a:r>
          </a:p>
        </p:txBody>
      </p:sp>
      <p:grpSp>
        <p:nvGrpSpPr>
          <p:cNvPr id="57351" name="Group 16"/>
          <p:cNvGrpSpPr/>
          <p:nvPr/>
        </p:nvGrpSpPr>
        <p:grpSpPr>
          <a:xfrm>
            <a:off x="1214438" y="2408238"/>
            <a:ext cx="4221162" cy="1924050"/>
            <a:chOff x="765" y="2023"/>
            <a:chExt cx="2659" cy="1616"/>
          </a:xfrm>
        </p:grpSpPr>
        <p:sp>
          <p:nvSpPr>
            <p:cNvPr id="58376" name="Text Box 8"/>
            <p:cNvSpPr txBox="1"/>
            <p:nvPr/>
          </p:nvSpPr>
          <p:spPr>
            <a:xfrm>
              <a:off x="765" y="2023"/>
              <a:ext cx="2659" cy="1616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lnSpc>
                  <a:spcPct val="80000"/>
                </a:lnSpc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∵           01010</a:t>
              </a:r>
            </a:p>
            <a:p>
              <a:pPr eaLnBrk="1" hangingPunct="1">
                <a:lnSpc>
                  <a:spcPct val="80000"/>
                </a:lnSpc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         </a:t>
              </a:r>
              <a:r>
                <a:rPr lang="zh-CN" altLang="en-US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＋ </a:t>
              </a: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11100</a:t>
              </a:r>
            </a:p>
            <a:p>
              <a:pPr eaLnBrk="1" hangingPunct="1">
                <a:lnSpc>
                  <a:spcPct val="80000"/>
                </a:lnSpc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          1 00110</a:t>
              </a:r>
            </a:p>
            <a:p>
              <a:pPr eaLnBrk="1" hangingPunct="1">
                <a:lnSpc>
                  <a:spcPct val="80000"/>
                </a:lnSpc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       </a:t>
              </a:r>
              <a:r>
                <a:rPr lang="zh-CN" altLang="en-US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＋       </a:t>
              </a: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</a:p>
            <a:p>
              <a:pPr eaLnBrk="1" hangingPunct="1">
                <a:lnSpc>
                  <a:spcPct val="80000"/>
                </a:lnSpc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            00111</a:t>
              </a:r>
            </a:p>
          </p:txBody>
        </p:sp>
        <p:sp>
          <p:nvSpPr>
            <p:cNvPr id="58377" name="Line 9"/>
            <p:cNvSpPr/>
            <p:nvPr/>
          </p:nvSpPr>
          <p:spPr>
            <a:xfrm>
              <a:off x="1248" y="2651"/>
              <a:ext cx="960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378" name="Rectangle 10"/>
            <p:cNvSpPr/>
            <p:nvPr/>
          </p:nvSpPr>
          <p:spPr>
            <a:xfrm>
              <a:off x="1659" y="2687"/>
              <a:ext cx="240" cy="240"/>
            </a:xfrm>
            <a:prstGeom prst="rect">
              <a:avLst/>
            </a:prstGeom>
            <a:noFill/>
            <a:ln w="28575" cap="rnd" cmpd="sng">
              <a:solidFill>
                <a:srgbClr val="C00000"/>
              </a:solidFill>
              <a:prstDash val="sysDot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8379" name="Line 13"/>
            <p:cNvSpPr/>
            <p:nvPr/>
          </p:nvSpPr>
          <p:spPr>
            <a:xfrm>
              <a:off x="1488" y="2976"/>
              <a:ext cx="0" cy="240"/>
            </a:xfrm>
            <a:prstGeom prst="line">
              <a:avLst/>
            </a:prstGeom>
            <a:ln w="9525" cap="rnd" cmpd="sng">
              <a:solidFill>
                <a:srgbClr val="FFFF00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58380" name="Line 14"/>
            <p:cNvSpPr/>
            <p:nvPr/>
          </p:nvSpPr>
          <p:spPr>
            <a:xfrm>
              <a:off x="1803" y="3156"/>
              <a:ext cx="480" cy="0"/>
            </a:xfrm>
            <a:prstGeom prst="line">
              <a:avLst/>
            </a:prstGeom>
            <a:ln w="28575" cap="rnd" cmpd="sng">
              <a:solidFill>
                <a:srgbClr val="C00000"/>
              </a:solidFill>
              <a:prstDash val="sysDot"/>
              <a:headEnd type="none" w="med" len="med"/>
              <a:tailEnd type="triangle" w="med" len="med"/>
            </a:ln>
          </p:spPr>
        </p:sp>
        <p:sp>
          <p:nvSpPr>
            <p:cNvPr id="58381" name="Line 15"/>
            <p:cNvSpPr/>
            <p:nvPr/>
          </p:nvSpPr>
          <p:spPr>
            <a:xfrm>
              <a:off x="1248" y="3360"/>
              <a:ext cx="960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41992" name="Text Box 37"/>
          <p:cNvSpPr txBox="1"/>
          <p:nvPr/>
        </p:nvSpPr>
        <p:spPr>
          <a:xfrm>
            <a:off x="751840" y="4368800"/>
            <a:ext cx="7413625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啥是二进制数的代码表示？其加减运算有何特点？大家清楚了吗？</a:t>
            </a: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19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19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9" grpId="0"/>
      <p:bldP spid="57350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8A018EC-F4AE-41F2-9A2A-C67D23EF6F78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9395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  <a:t>46</a:t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59396" name="Rectangle 2"/>
          <p:cNvSpPr>
            <a:spLocks noGrp="1"/>
          </p:cNvSpPr>
          <p:nvPr>
            <p:ph type="title"/>
          </p:nvPr>
        </p:nvSpPr>
        <p:spPr>
          <a:xfrm>
            <a:off x="371475" y="673100"/>
            <a:ext cx="8086725" cy="40640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1.2.3  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十进制数的编码（代码）表示及其运算 </a:t>
            </a:r>
            <a:endParaRPr lang="zh-CN" altLang="en-US" sz="1800" b="1" i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9397" name="Rectangle 3"/>
          <p:cNvSpPr>
            <a:spLocks noGrp="1"/>
          </p:cNvSpPr>
          <p:nvPr>
            <p:ph idx="1"/>
          </p:nvPr>
        </p:nvSpPr>
        <p:spPr>
          <a:xfrm>
            <a:off x="343535" y="1214755"/>
            <a:ext cx="8251825" cy="3427413"/>
          </a:xfrm>
          <a:noFill/>
          <a:ln>
            <a:noFill/>
          </a:ln>
        </p:spPr>
        <p:txBody>
          <a:bodyPr/>
          <a:lstStyle/>
          <a:p>
            <a:pPr eaLnBrk="1" hangingPunct="1">
              <a:lnSpc>
                <a:spcPct val="110000"/>
              </a:lnSpc>
              <a:buNone/>
            </a:pP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十进制数的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编码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表示：</a:t>
            </a:r>
            <a:endParaRPr lang="en-US" altLang="zh-CN" sz="1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10000"/>
              </a:lnSpc>
            </a:pP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既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具有二进制数的形式，又具有十进制数的特点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，即用</a:t>
            </a:r>
            <a:r>
              <a:rPr lang="zh-CN" altLang="en-US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四位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二进制数表示一位十进制数；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可按位直接相互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转换；如，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12.35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，编码成：</a:t>
            </a:r>
            <a:r>
              <a:rPr lang="en-US" altLang="zh-CN" sz="18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000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1 0010.0011 0101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可按位直接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运算（要修正）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  <a:p>
            <a:pPr eaLnBrk="1" hangingPunct="1">
              <a:lnSpc>
                <a:spcPct val="110000"/>
              </a:lnSpc>
            </a:pPr>
            <a:endParaRPr lang="zh-CN" altLang="en-US" sz="1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10000"/>
              </a:lnSpc>
              <a:buNone/>
            </a:pP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主要有：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“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8421”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码，常称为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BCD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码（ </a:t>
            </a:r>
            <a:r>
              <a:rPr lang="en-US" altLang="zh-CN" sz="1800" b="1" i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Binary coded decimal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）或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nBCD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码；</a:t>
            </a:r>
          </a:p>
          <a:p>
            <a:pPr eaLnBrk="1" hangingPunct="1">
              <a:lnSpc>
                <a:spcPct val="110000"/>
              </a:lnSpc>
              <a:buNone/>
            </a:pP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“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2421”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码；</a:t>
            </a:r>
          </a:p>
          <a:p>
            <a:pPr eaLnBrk="1" hangingPunct="1">
              <a:lnSpc>
                <a:spcPct val="110000"/>
              </a:lnSpc>
              <a:buNone/>
            </a:pP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“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余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3”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码 </a:t>
            </a:r>
            <a:r>
              <a:rPr lang="en-US" altLang="zh-CN" sz="1800" b="1" i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(Excess-3)等</a:t>
            </a:r>
            <a:r>
              <a:rPr lang="zh-CN" altLang="en-US" sz="1800" b="1" i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  <p:sp>
        <p:nvSpPr>
          <p:cNvPr id="3" name="圆角矩形标注 2"/>
          <p:cNvSpPr/>
          <p:nvPr/>
        </p:nvSpPr>
        <p:spPr>
          <a:xfrm rot="10800000" flipV="1">
            <a:off x="5397500" y="3939540"/>
            <a:ext cx="2967990" cy="702945"/>
          </a:xfrm>
          <a:prstGeom prst="wedgeRoundRectCallout">
            <a:avLst>
              <a:gd name="adj1" fmla="val 96893"/>
              <a:gd name="adj2" fmla="val -52981"/>
              <a:gd name="adj3" fmla="val 16667"/>
            </a:avLst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>
                <a:solidFill>
                  <a:srgbClr val="0000FF"/>
                </a:solidFill>
              </a:rPr>
              <a:t>前两种有权码或加权码（</a:t>
            </a:r>
            <a:r>
              <a:rPr lang="en-US" altLang="zh-CN">
                <a:solidFill>
                  <a:srgbClr val="0000FF"/>
                </a:solidFill>
              </a:rPr>
              <a:t>weighted  code</a:t>
            </a:r>
            <a:r>
              <a:rPr lang="zh-CN">
                <a:solidFill>
                  <a:srgbClr val="0000FF"/>
                </a:solidFill>
              </a:rPr>
              <a:t>）</a:t>
            </a:r>
            <a:r>
              <a:rPr lang="zh-CN" altLang="en-US">
                <a:solidFill>
                  <a:srgbClr val="0000FF"/>
                </a:solidFill>
              </a:rPr>
              <a:t>！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4575175" y="4629150"/>
            <a:ext cx="309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3" grpId="1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1"/>
          <p:cNvSpPr txBox="1">
            <a:spLocks noGrp="1"/>
          </p:cNvSpPr>
          <p:nvPr>
            <p:ph type="dt" sz="half" idx="2"/>
          </p:nvPr>
        </p:nvSpPr>
        <p:spPr>
          <a:noFill/>
        </p:spPr>
        <p:txBody>
          <a:bodyPr lIns="91440" tIns="45720" rIns="91440" bIns="45720" rtlCol="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105A22A-BE47-4644-99A4-8C4DEEB8EDAC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60419" name="灯片编号占位符 3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900" dirty="0">
                <a:solidFill>
                  <a:srgbClr val="898989"/>
                </a:solidFill>
                <a:latin typeface="Times New Roman" panose="02020603050405020304" pitchFamily="18" charset="0"/>
              </a:rPr>
              <a:t>47</a:t>
            </a:fld>
            <a:endParaRPr lang="zh-CN" altLang="en-US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60420" name="Rectangle 3"/>
          <p:cNvSpPr>
            <a:spLocks noGrp="1"/>
          </p:cNvSpPr>
          <p:nvPr>
            <p:ph type="title"/>
          </p:nvPr>
        </p:nvSpPr>
        <p:spPr>
          <a:xfrm>
            <a:off x="2263775" y="587375"/>
            <a:ext cx="7772400" cy="5143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表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1—3  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三种十进制数的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编码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表示法</a:t>
            </a:r>
          </a:p>
        </p:txBody>
      </p:sp>
      <p:graphicFrame>
        <p:nvGraphicFramePr>
          <p:cNvPr id="91187" name="Group 51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708025" y="1074738"/>
          <a:ext cx="7162800" cy="3582987"/>
        </p:xfrm>
        <a:graphic>
          <a:graphicData uri="http://schemas.openxmlformats.org/drawingml/2006/table">
            <a:tbl>
              <a:tblPr/>
              <a:tblGrid>
                <a:gridCol w="175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16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十进制整数</a:t>
                      </a:r>
                    </a:p>
                  </a:txBody>
                  <a:tcPr marT="34261" marB="34261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8421</a:t>
                      </a:r>
                      <a:r>
                        <a:rPr kumimoji="1" lang="zh-CN" alt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码</a:t>
                      </a:r>
                    </a:p>
                  </a:txBody>
                  <a:tcPr marT="34261" marB="3426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2421</a:t>
                      </a:r>
                      <a:r>
                        <a:rPr kumimoji="1" lang="zh-CN" alt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码</a:t>
                      </a:r>
                    </a:p>
                  </a:txBody>
                  <a:tcPr marT="34261" marB="3426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余</a:t>
                      </a: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1" lang="zh-CN" alt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码</a:t>
                      </a:r>
                    </a:p>
                  </a:txBody>
                  <a:tcPr marT="34261" marB="3426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5771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</a:t>
                      </a:r>
                    </a:p>
                  </a:txBody>
                  <a:tcPr marT="34261" marB="34261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0000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0001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0010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0011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0100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0101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0110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0111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1000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1001</a:t>
                      </a:r>
                    </a:p>
                  </a:txBody>
                  <a:tcPr marT="34261" marB="3426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0000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0001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0010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0011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0100</a:t>
                      </a:r>
                      <a:endParaRPr kumimoji="1" lang="en-US" altLang="zh-CN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1011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1100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1101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1110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1111</a:t>
                      </a:r>
                    </a:p>
                  </a:txBody>
                  <a:tcPr marT="34261" marB="3426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0011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0100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0101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0110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0111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1000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1001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1010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1011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1100</a:t>
                      </a:r>
                    </a:p>
                  </a:txBody>
                  <a:tcPr marT="34261" marB="3426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1835785" y="1491615"/>
            <a:ext cx="1151255" cy="829945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US" altLang="zh-CN" sz="1200">
                <a:solidFill>
                  <a:srgbClr val="FF0000"/>
                </a:solidFill>
              </a:rPr>
              <a:t>0000—1111</a:t>
            </a:r>
            <a:r>
              <a:rPr lang="zh-CN" altLang="en-US" sz="1200">
                <a:solidFill>
                  <a:srgbClr val="FF0000"/>
                </a:solidFill>
              </a:rPr>
              <a:t>共</a:t>
            </a:r>
            <a:r>
              <a:rPr lang="en-US" altLang="zh-CN" sz="1200">
                <a:solidFill>
                  <a:srgbClr val="FF0000"/>
                </a:solidFill>
              </a:rPr>
              <a:t>16</a:t>
            </a:r>
            <a:r>
              <a:rPr lang="zh-CN" altLang="en-US" sz="1200">
                <a:solidFill>
                  <a:srgbClr val="FF0000"/>
                </a:solidFill>
              </a:rPr>
              <a:t>个二进制代码，</a:t>
            </a:r>
            <a:r>
              <a:rPr lang="en-US" altLang="zh-CN" sz="1200">
                <a:solidFill>
                  <a:srgbClr val="FF0000"/>
                </a:solidFill>
              </a:rPr>
              <a:t>8421</a:t>
            </a:r>
            <a:r>
              <a:rPr lang="zh-CN" altLang="en-US" sz="1200">
                <a:solidFill>
                  <a:srgbClr val="FF0000"/>
                </a:solidFill>
              </a:rPr>
              <a:t>码采用了前</a:t>
            </a:r>
            <a:r>
              <a:rPr lang="en-US" altLang="zh-CN" sz="1200">
                <a:solidFill>
                  <a:srgbClr val="FF0000"/>
                </a:solidFill>
              </a:rPr>
              <a:t>10</a:t>
            </a:r>
            <a:r>
              <a:rPr lang="zh-CN" altLang="en-US" sz="1200">
                <a:solidFill>
                  <a:srgbClr val="FF0000"/>
                </a:solidFill>
              </a:rPr>
              <a:t>个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3923665" y="1491615"/>
            <a:ext cx="953770" cy="645160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FF0000"/>
                </a:solidFill>
              </a:rPr>
              <a:t>2</a:t>
            </a:r>
            <a:r>
              <a:rPr lang="en-US" altLang="zh-CN" sz="1200">
                <a:solidFill>
                  <a:srgbClr val="FF0000"/>
                </a:solidFill>
              </a:rPr>
              <a:t>421</a:t>
            </a:r>
            <a:r>
              <a:rPr lang="zh-CN" altLang="en-US" sz="1200">
                <a:solidFill>
                  <a:srgbClr val="FF0000"/>
                </a:solidFill>
              </a:rPr>
              <a:t>码采用了前</a:t>
            </a:r>
            <a:r>
              <a:rPr lang="en-US" altLang="zh-CN" sz="1200">
                <a:solidFill>
                  <a:srgbClr val="FF0000"/>
                </a:solidFill>
              </a:rPr>
              <a:t>5</a:t>
            </a:r>
            <a:r>
              <a:rPr lang="zh-CN" altLang="en-US" sz="1200">
                <a:solidFill>
                  <a:srgbClr val="FF0000"/>
                </a:solidFill>
              </a:rPr>
              <a:t>个和后</a:t>
            </a:r>
            <a:r>
              <a:rPr lang="en-US" altLang="zh-CN" sz="1200">
                <a:solidFill>
                  <a:srgbClr val="FF0000"/>
                </a:solidFill>
              </a:rPr>
              <a:t>5</a:t>
            </a:r>
            <a:r>
              <a:rPr lang="zh-CN" altLang="en-US" sz="1200">
                <a:solidFill>
                  <a:srgbClr val="FF0000"/>
                </a:solidFill>
              </a:rPr>
              <a:t>个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5923915" y="1491615"/>
            <a:ext cx="730885" cy="645160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zh-CN" altLang="en-US" sz="1200">
                <a:solidFill>
                  <a:srgbClr val="FF0000"/>
                </a:solidFill>
              </a:rPr>
              <a:t>余</a:t>
            </a:r>
            <a:r>
              <a:rPr lang="en-US" altLang="zh-CN" sz="1200">
                <a:solidFill>
                  <a:srgbClr val="FF0000"/>
                </a:solidFill>
              </a:rPr>
              <a:t>3</a:t>
            </a:r>
            <a:r>
              <a:rPr lang="zh-CN" altLang="en-US" sz="1200">
                <a:solidFill>
                  <a:srgbClr val="FF0000"/>
                </a:solidFill>
              </a:rPr>
              <a:t>码采用了</a:t>
            </a:r>
            <a:r>
              <a:rPr lang="zh-CN" sz="1200">
                <a:solidFill>
                  <a:srgbClr val="FF0000"/>
                </a:solidFill>
              </a:rPr>
              <a:t>中间</a:t>
            </a:r>
            <a:r>
              <a:rPr lang="en-US" altLang="zh-CN" sz="1200">
                <a:solidFill>
                  <a:srgbClr val="FF0000"/>
                </a:solidFill>
              </a:rPr>
              <a:t>10</a:t>
            </a:r>
            <a:r>
              <a:rPr lang="zh-CN" altLang="en-US" sz="1200">
                <a:solidFill>
                  <a:srgbClr val="FF0000"/>
                </a:solidFill>
              </a:rPr>
              <a:t>个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B0A7A98-F877-403B-81A2-FDA5DB6FF411}"/>
              </a:ext>
            </a:extLst>
          </p:cNvPr>
          <p:cNvSpPr txBox="1"/>
          <p:nvPr/>
        </p:nvSpPr>
        <p:spPr>
          <a:xfrm>
            <a:off x="6115924" y="479683"/>
            <a:ext cx="14401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对</a:t>
            </a:r>
            <a:r>
              <a:rPr lang="en-US" altLang="zh-CN" dirty="0">
                <a:solidFill>
                  <a:srgbClr val="FF0000"/>
                </a:solidFill>
              </a:rPr>
              <a:t>9</a:t>
            </a:r>
            <a:r>
              <a:rPr lang="zh-CN" altLang="en-US" dirty="0">
                <a:solidFill>
                  <a:srgbClr val="FF0000"/>
                </a:solidFill>
              </a:rPr>
              <a:t>自补</a:t>
            </a:r>
          </a:p>
        </p:txBody>
      </p:sp>
      <p:sp>
        <p:nvSpPr>
          <p:cNvPr id="7" name="右大括号 6">
            <a:extLst>
              <a:ext uri="{FF2B5EF4-FFF2-40B4-BE49-F238E27FC236}">
                <a16:creationId xmlns:a16="http://schemas.microsoft.com/office/drawing/2014/main" id="{CD857A9D-73AE-4016-9320-19DB8EA15E97}"/>
              </a:ext>
            </a:extLst>
          </p:cNvPr>
          <p:cNvSpPr/>
          <p:nvPr/>
        </p:nvSpPr>
        <p:spPr>
          <a:xfrm rot="16200000">
            <a:off x="6456574" y="-32905"/>
            <a:ext cx="191294" cy="194421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5" grpId="0" bldLvl="0" animBg="1"/>
      <p:bldP spid="5" grpId="1" animBg="1"/>
      <p:bldP spid="6" grpId="0" bldLvl="0" animBg="1"/>
      <p:bldP spid="6" grpId="1" animBg="1"/>
      <p:bldP spid="2" grpId="0"/>
      <p:bldP spid="7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1"/>
          <p:cNvSpPr txBox="1">
            <a:spLocks noGrp="1"/>
          </p:cNvSpPr>
          <p:nvPr>
            <p:ph type="dt" sz="half" idx="2"/>
          </p:nvPr>
        </p:nvSpPr>
        <p:spPr>
          <a:noFill/>
        </p:spPr>
        <p:txBody>
          <a:bodyPr lIns="91440" tIns="45720" rIns="91440" bIns="45720" rtlCol="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105A22A-BE47-4644-99A4-8C4DEEB8EDAC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61443" name="灯片编号占位符 3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900" dirty="0">
                <a:solidFill>
                  <a:srgbClr val="898989"/>
                </a:solidFill>
                <a:latin typeface="Times New Roman" panose="02020603050405020304" pitchFamily="18" charset="0"/>
              </a:rPr>
              <a:t>48</a:t>
            </a:fld>
            <a:endParaRPr lang="zh-CN" altLang="en-US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444" name="Rectangle 3"/>
          <p:cNvSpPr>
            <a:spLocks noGrp="1"/>
          </p:cNvSpPr>
          <p:nvPr>
            <p:ph type="title"/>
          </p:nvPr>
        </p:nvSpPr>
        <p:spPr>
          <a:xfrm>
            <a:off x="152400" y="528638"/>
            <a:ext cx="7772400" cy="5143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设：代码为  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3 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2 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1 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</a:p>
        </p:txBody>
      </p:sp>
      <p:graphicFrame>
        <p:nvGraphicFramePr>
          <p:cNvPr id="95311" name="Group 79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96863" y="1022350"/>
          <a:ext cx="7724775" cy="3194051"/>
        </p:xfrm>
        <a:graphic>
          <a:graphicData uri="http://schemas.openxmlformats.org/drawingml/2006/table">
            <a:tbl>
              <a:tblPr/>
              <a:tblGrid>
                <a:gridCol w="9985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30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957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20689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代码</a:t>
                      </a:r>
                    </a:p>
                  </a:txBody>
                  <a:tcPr marT="34283" marB="3428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 </a:t>
                      </a:r>
                      <a:r>
                        <a:rPr kumimoji="1" lang="zh-CN" alt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对应的十进制数值</a:t>
                      </a:r>
                    </a:p>
                  </a:txBody>
                  <a:tcPr marT="34283" marB="3428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编码</a:t>
                      </a:r>
                      <a:r>
                        <a:rPr kumimoji="1" lang="zh-CN" alt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直接按位转换</a:t>
                      </a:r>
                    </a:p>
                  </a:txBody>
                  <a:tcPr marT="34283" marB="3428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1962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8421</a:t>
                      </a:r>
                      <a:r>
                        <a:rPr kumimoji="1" lang="zh-CN" alt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码</a:t>
                      </a:r>
                    </a:p>
                  </a:txBody>
                  <a:tcPr marT="34283" marB="3428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有权码 </a:t>
                      </a: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(</a:t>
                      </a:r>
                      <a:r>
                        <a:rPr kumimoji="1" lang="en-US" altLang="zh-CN" sz="17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Weighted code</a:t>
                      </a: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)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8 A</a:t>
                      </a:r>
                      <a:r>
                        <a:rPr kumimoji="1" lang="en-US" altLang="zh-CN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</a:t>
                      </a:r>
                      <a:r>
                        <a:rPr kumimoji="1" lang="zh-CN" alt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＋</a:t>
                      </a: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4</a:t>
                      </a:r>
                      <a:r>
                        <a:rPr kumimoji="1" lang="en-US" altLang="zh-CN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 </a:t>
                      </a: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A</a:t>
                      </a:r>
                      <a:r>
                        <a:rPr kumimoji="1" lang="en-US" altLang="zh-CN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 </a:t>
                      </a:r>
                      <a:r>
                        <a:rPr kumimoji="1" lang="zh-CN" alt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＋</a:t>
                      </a: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</a:t>
                      </a:r>
                      <a:r>
                        <a:rPr kumimoji="1" lang="en-US" altLang="zh-CN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 </a:t>
                      </a: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A</a:t>
                      </a:r>
                      <a:r>
                        <a:rPr kumimoji="1" lang="en-US" altLang="zh-CN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 </a:t>
                      </a:r>
                      <a:r>
                        <a:rPr kumimoji="1" lang="zh-CN" alt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＋</a:t>
                      </a: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  <a:r>
                        <a:rPr kumimoji="1" lang="en-US" altLang="zh-CN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 </a:t>
                      </a: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A</a:t>
                      </a:r>
                      <a:r>
                        <a:rPr kumimoji="1" lang="en-US" altLang="zh-CN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</a:t>
                      </a:r>
                    </a:p>
                  </a:txBody>
                  <a:tcPr marT="34283" marB="3428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(1</a:t>
                      </a: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CC66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</a:t>
                      </a: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)</a:t>
                      </a:r>
                      <a:r>
                        <a:rPr kumimoji="1" lang="en-US" altLang="zh-CN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 </a:t>
                      </a: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= (0001</a:t>
                      </a: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CC66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0011</a:t>
                      </a: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) </a:t>
                      </a:r>
                      <a:r>
                        <a:rPr kumimoji="1" lang="en-US" altLang="zh-CN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BCD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(0001</a:t>
                      </a: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CC66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0111</a:t>
                      </a: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0101</a:t>
                      </a: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CC66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0000</a:t>
                      </a: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) </a:t>
                      </a:r>
                      <a:r>
                        <a:rPr kumimoji="1" lang="en-US" altLang="zh-CN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BCD </a:t>
                      </a: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= (1</a:t>
                      </a: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CC66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7</a:t>
                      </a: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</a:t>
                      </a: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CC66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</a:t>
                      </a: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)</a:t>
                      </a:r>
                      <a:r>
                        <a:rPr kumimoji="1" lang="en-US" altLang="zh-CN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</a:t>
                      </a:r>
                    </a:p>
                  </a:txBody>
                  <a:tcPr marT="34283" marB="3428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1962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2421</a:t>
                      </a:r>
                      <a:r>
                        <a:rPr kumimoji="1" lang="zh-CN" alt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码</a:t>
                      </a:r>
                    </a:p>
                  </a:txBody>
                  <a:tcPr marT="34283" marB="3428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有权码、</a:t>
                      </a:r>
                      <a:r>
                        <a:rPr kumimoji="1" lang="zh-CN" alt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对</a:t>
                      </a: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9</a:t>
                      </a:r>
                      <a:r>
                        <a:rPr kumimoji="1" lang="zh-CN" alt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自补码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 A</a:t>
                      </a:r>
                      <a:r>
                        <a:rPr kumimoji="1" lang="en-US" altLang="zh-CN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 </a:t>
                      </a:r>
                      <a:r>
                        <a:rPr kumimoji="1" lang="zh-CN" alt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＋</a:t>
                      </a: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4</a:t>
                      </a:r>
                      <a:r>
                        <a:rPr kumimoji="1" lang="en-US" altLang="zh-CN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 </a:t>
                      </a: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A</a:t>
                      </a:r>
                      <a:r>
                        <a:rPr kumimoji="1" lang="en-US" altLang="zh-CN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 </a:t>
                      </a:r>
                      <a:r>
                        <a:rPr kumimoji="1" lang="zh-CN" alt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＋</a:t>
                      </a: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</a:t>
                      </a:r>
                      <a:r>
                        <a:rPr kumimoji="1" lang="en-US" altLang="zh-CN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 </a:t>
                      </a: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A</a:t>
                      </a:r>
                      <a:r>
                        <a:rPr kumimoji="1" lang="en-US" altLang="zh-CN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 </a:t>
                      </a:r>
                      <a:r>
                        <a:rPr kumimoji="1" lang="zh-CN" alt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＋</a:t>
                      </a: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  <a:r>
                        <a:rPr kumimoji="1" lang="en-US" altLang="zh-CN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 </a:t>
                      </a: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A</a:t>
                      </a:r>
                      <a:r>
                        <a:rPr kumimoji="1" lang="en-US" altLang="zh-CN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</a:t>
                      </a:r>
                    </a:p>
                  </a:txBody>
                  <a:tcPr marT="34283" marB="3428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(1</a:t>
                      </a: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CC66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</a:t>
                      </a: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)</a:t>
                      </a:r>
                      <a:r>
                        <a:rPr kumimoji="1" lang="en-US" altLang="zh-CN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 </a:t>
                      </a: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= (0001</a:t>
                      </a: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CC66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0011</a:t>
                      </a: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) </a:t>
                      </a:r>
                      <a:r>
                        <a:rPr kumimoji="1" lang="en-US" altLang="zh-CN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2421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(0001</a:t>
                      </a: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CC66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1101</a:t>
                      </a: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1011</a:t>
                      </a: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CC66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0000</a:t>
                      </a: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) </a:t>
                      </a:r>
                      <a:r>
                        <a:rPr kumimoji="1" lang="en-US" altLang="zh-CN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2421 </a:t>
                      </a: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= (1</a:t>
                      </a: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CC66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7</a:t>
                      </a: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</a:t>
                      </a: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CC66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</a:t>
                      </a: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)</a:t>
                      </a:r>
                      <a:r>
                        <a:rPr kumimoji="1" lang="en-US" altLang="zh-CN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</a:t>
                      </a:r>
                    </a:p>
                  </a:txBody>
                  <a:tcPr marT="34283" marB="3428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9438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余</a:t>
                      </a: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</a:t>
                      </a:r>
                      <a:r>
                        <a:rPr kumimoji="1" lang="zh-CN" alt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码</a:t>
                      </a:r>
                    </a:p>
                  </a:txBody>
                  <a:tcPr marT="34283" marB="3428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无权码、对</a:t>
                      </a: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9</a:t>
                      </a:r>
                      <a:r>
                        <a:rPr kumimoji="1" lang="zh-CN" alt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自补码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8 A</a:t>
                      </a:r>
                      <a:r>
                        <a:rPr kumimoji="1" lang="en-US" altLang="zh-CN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 </a:t>
                      </a:r>
                      <a:r>
                        <a:rPr kumimoji="1" lang="zh-CN" alt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＋</a:t>
                      </a: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4</a:t>
                      </a:r>
                      <a:r>
                        <a:rPr kumimoji="1" lang="en-US" altLang="zh-CN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 </a:t>
                      </a: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A</a:t>
                      </a:r>
                      <a:r>
                        <a:rPr kumimoji="1" lang="en-US" altLang="zh-CN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 </a:t>
                      </a:r>
                      <a:r>
                        <a:rPr kumimoji="1" lang="zh-CN" alt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＋</a:t>
                      </a: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</a:t>
                      </a:r>
                      <a:r>
                        <a:rPr kumimoji="1" lang="en-US" altLang="zh-CN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 </a:t>
                      </a: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A</a:t>
                      </a:r>
                      <a:r>
                        <a:rPr kumimoji="1" lang="en-US" altLang="zh-CN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 </a:t>
                      </a:r>
                      <a:r>
                        <a:rPr kumimoji="1" lang="zh-CN" alt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＋</a:t>
                      </a: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  <a:r>
                        <a:rPr kumimoji="1" lang="en-US" altLang="zh-CN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 </a:t>
                      </a: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A</a:t>
                      </a:r>
                      <a:endParaRPr kumimoji="1" lang="en-US" altLang="zh-CN" sz="17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－</a:t>
                      </a: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0011 (?)</a:t>
                      </a:r>
                    </a:p>
                  </a:txBody>
                  <a:tcPr marT="34283" marB="3428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(1</a:t>
                      </a: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CC66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</a:t>
                      </a: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)</a:t>
                      </a:r>
                      <a:r>
                        <a:rPr kumimoji="1" lang="en-US" altLang="zh-CN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 </a:t>
                      </a: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= (0100</a:t>
                      </a: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CC66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0110</a:t>
                      </a: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) </a:t>
                      </a:r>
                      <a:r>
                        <a:rPr kumimoji="1" lang="zh-CN" altLang="en-US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余</a:t>
                      </a:r>
                      <a:r>
                        <a:rPr kumimoji="1" lang="en-US" altLang="zh-CN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(0100</a:t>
                      </a: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CC66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1010</a:t>
                      </a: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1000</a:t>
                      </a: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CC66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0011</a:t>
                      </a: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) </a:t>
                      </a:r>
                      <a:r>
                        <a:rPr kumimoji="1" lang="zh-CN" altLang="en-US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余</a:t>
                      </a:r>
                      <a:r>
                        <a:rPr kumimoji="1" lang="en-US" altLang="zh-CN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 </a:t>
                      </a: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= (1</a:t>
                      </a: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CC66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7</a:t>
                      </a: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</a:t>
                      </a: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CC66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</a:t>
                      </a: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)</a:t>
                      </a:r>
                      <a:r>
                        <a:rPr kumimoji="1" lang="en-US" altLang="zh-CN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</a:t>
                      </a:r>
                    </a:p>
                  </a:txBody>
                  <a:tcPr marT="34283" marB="3428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1467" name="Rectangle 78"/>
          <p:cNvSpPr/>
          <p:nvPr/>
        </p:nvSpPr>
        <p:spPr>
          <a:xfrm>
            <a:off x="304800" y="4257675"/>
            <a:ext cx="8686800" cy="51435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eaLnBrk="1" hangingPunct="1"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代码运算若直接按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二进制数运算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，则运算</a:t>
            </a:r>
            <a:r>
              <a:rPr lang="zh-CN" altLang="en-US" sz="1800" b="1" u="sng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结果要修正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sz="1800" b="1" baseline="-25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241165" y="565785"/>
            <a:ext cx="45694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</a:rPr>
              <a:t>8421</a:t>
            </a:r>
            <a:r>
              <a:rPr lang="zh-CN" altLang="en-US">
                <a:solidFill>
                  <a:srgbClr val="FF0000"/>
                </a:solidFill>
              </a:rPr>
              <a:t>码</a:t>
            </a:r>
            <a:r>
              <a:rPr lang="en-US" altLang="zh-CN">
                <a:solidFill>
                  <a:srgbClr val="FF0000"/>
                </a:solidFill>
              </a:rPr>
              <a:t>1+5</a:t>
            </a:r>
            <a:r>
              <a:rPr lang="zh-CN" altLang="en-US">
                <a:solidFill>
                  <a:srgbClr val="FF0000"/>
                </a:solidFill>
              </a:rPr>
              <a:t>和</a:t>
            </a:r>
            <a:r>
              <a:rPr lang="en-US" altLang="zh-CN">
                <a:solidFill>
                  <a:srgbClr val="FF0000"/>
                </a:solidFill>
              </a:rPr>
              <a:t>4+6</a:t>
            </a:r>
            <a:r>
              <a:rPr lang="zh-CN" altLang="en-US">
                <a:solidFill>
                  <a:srgbClr val="FF0000"/>
                </a:solidFill>
              </a:rPr>
              <a:t>运算结果是否正确？</a:t>
            </a: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日期占位符 3"/>
          <p:cNvSpPr txBox="1">
            <a:spLocks noGrp="1"/>
          </p:cNvSpPr>
          <p:nvPr/>
        </p:nvSpPr>
        <p:spPr>
          <a:xfrm>
            <a:off x="0" y="-7937"/>
            <a:ext cx="827088" cy="185737"/>
          </a:xfrm>
          <a:prstGeom prst="rect">
            <a:avLst/>
          </a:prstGeom>
          <a:noFill/>
          <a:ln w="9525" cap="flat" cmpd="sng">
            <a:solidFill>
              <a:srgbClr val="FF0066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>
            <a:spAutoFit/>
          </a:bodyPr>
          <a:lstStyle/>
          <a:p>
            <a:pPr eaLnBrk="1" hangingPunct="1">
              <a:buFont typeface="Arial" panose="020B0604020202020204" pitchFamily="34" charset="0"/>
            </a:pPr>
            <a:fld id="{BB962C8B-B14F-4D97-AF65-F5344CB8AC3E}" type="datetime1">
              <a:rPr lang="zh-CN" altLang="en-US" sz="12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2025/9/9</a:t>
            </a:fld>
            <a:endParaRPr lang="zh-CN" altLang="en-US" sz="1200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2467" name="灯片编号占位符 4"/>
          <p:cNvSpPr txBox="1">
            <a:spLocks noGrp="1"/>
          </p:cNvSpPr>
          <p:nvPr/>
        </p:nvSpPr>
        <p:spPr>
          <a:xfrm>
            <a:off x="8785225" y="4894263"/>
            <a:ext cx="395288" cy="249237"/>
          </a:xfrm>
          <a:prstGeom prst="rect">
            <a:avLst/>
          </a:prstGeom>
          <a:solidFill>
            <a:srgbClr val="CC99FF"/>
          </a:solidFill>
          <a:ln w="9525">
            <a:noFill/>
          </a:ln>
        </p:spPr>
        <p:txBody>
          <a:bodyPr/>
          <a:lstStyle/>
          <a:p>
            <a:pPr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49</a:t>
            </a:fld>
            <a:endParaRPr lang="en-US" altLang="zh-CN" sz="1400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62468" name="Picture 4"/>
          <p:cNvPicPr>
            <a:picLocks noGrp="1" noChangeAspect="1"/>
          </p:cNvPicPr>
          <p:nvPr>
            <p:ph type="body"/>
          </p:nvPr>
        </p:nvPicPr>
        <p:blipFill>
          <a:blip r:embed="rId3"/>
          <a:stretch>
            <a:fillRect/>
          </a:stretch>
        </p:blipFill>
        <p:spPr>
          <a:xfrm>
            <a:off x="323850" y="1222375"/>
            <a:ext cx="8496300" cy="29146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5908040" y="1302385"/>
            <a:ext cx="1256030" cy="3987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2" grpId="1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日期占位符 3"/>
          <p:cNvSpPr txBox="1">
            <a:spLocks noGrp="1"/>
          </p:cNvSpPr>
          <p:nvPr/>
        </p:nvSpPr>
        <p:spPr>
          <a:xfrm>
            <a:off x="0" y="-7937"/>
            <a:ext cx="827088" cy="185737"/>
          </a:xfrm>
          <a:prstGeom prst="rect">
            <a:avLst/>
          </a:prstGeom>
          <a:noFill/>
          <a:ln w="9525" cap="flat" cmpd="sng">
            <a:solidFill>
              <a:srgbClr val="FF0066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>
            <a:spAutoFit/>
          </a:bodyPr>
          <a:lstStyle/>
          <a:p>
            <a:pPr eaLnBrk="1" hangingPunct="1">
              <a:buFont typeface="Arial" panose="020B0604020202020204" pitchFamily="34" charset="0"/>
            </a:pPr>
            <a:fld id="{BB962C8B-B14F-4D97-AF65-F5344CB8AC3E}" type="datetime1">
              <a:rPr lang="zh-CN" altLang="en-US" sz="12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2025/9/9</a:t>
            </a:fld>
            <a:endParaRPr lang="zh-CN" altLang="en-US" sz="1200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3491" name="灯片编号占位符 4"/>
          <p:cNvSpPr txBox="1">
            <a:spLocks noGrp="1"/>
          </p:cNvSpPr>
          <p:nvPr/>
        </p:nvSpPr>
        <p:spPr>
          <a:xfrm>
            <a:off x="8785225" y="4894263"/>
            <a:ext cx="395288" cy="249237"/>
          </a:xfrm>
          <a:prstGeom prst="rect">
            <a:avLst/>
          </a:prstGeom>
          <a:solidFill>
            <a:srgbClr val="CC99FF"/>
          </a:solidFill>
          <a:ln w="9525">
            <a:noFill/>
          </a:ln>
        </p:spPr>
        <p:txBody>
          <a:bodyPr/>
          <a:lstStyle/>
          <a:p>
            <a:pPr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50</a:t>
            </a:fld>
            <a:endParaRPr lang="en-US" altLang="zh-CN" sz="1400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3492" name="Rectangle 3"/>
          <p:cNvSpPr>
            <a:spLocks noGrp="1"/>
          </p:cNvSpPr>
          <p:nvPr>
            <p:ph type="body"/>
          </p:nvPr>
        </p:nvSpPr>
        <p:spPr>
          <a:xfrm>
            <a:off x="323850" y="555625"/>
            <a:ext cx="8569325" cy="417671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>
              <a:lnSpc>
                <a:spcPct val="115000"/>
              </a:lnSpc>
            </a:pP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常见的有权码编码方法：</a:t>
            </a: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8421</a:t>
            </a: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码，</a:t>
            </a: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2421</a:t>
            </a: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码、</a:t>
            </a:r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5211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码、</a:t>
            </a:r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4311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码和</a:t>
            </a:r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84-2-1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码</a:t>
            </a: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( </a:t>
            </a: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四位二进制位的位权分别为</a:t>
            </a: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8</a:t>
            </a: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-2</a:t>
            </a: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-1)</a:t>
            </a: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等。</a:t>
            </a:r>
            <a:endParaRPr lang="en-US" altLang="zh-CN" sz="20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15000"/>
              </a:lnSpc>
            </a:pPr>
            <a:r>
              <a:rPr lang="zh-CN" altLang="en-US" sz="2000" dirty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其最方便使用的共同特点为：</a:t>
            </a:r>
            <a:br>
              <a:rPr lang="zh-CN" altLang="en-US" sz="2000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</a:b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(1) </a:t>
            </a: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对于</a:t>
            </a: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2421</a:t>
            </a: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码、</a:t>
            </a: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5211</a:t>
            </a: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码、</a:t>
            </a: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4311</a:t>
            </a: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码，任何两个十进制数位，采用这三种编码的任何一种编码，它们相加之和等于或大于</a:t>
            </a: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10</a:t>
            </a: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时，其结果的最高位向左产生进位，小于</a:t>
            </a: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10</a:t>
            </a: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时则不产生进位。</a:t>
            </a:r>
            <a:r>
              <a:rPr lang="zh-CN" altLang="en-US" sz="2000" dirty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这一特点有利于实现</a:t>
            </a:r>
            <a:r>
              <a:rPr lang="zh-CN" altLang="en-US" sz="2000" dirty="0">
                <a:solidFill>
                  <a:srgbClr val="FF0066"/>
                </a:solidFill>
                <a:ea typeface="华文新魏" panose="02010800040101010101" pitchFamily="2" charset="-122"/>
              </a:rPr>
              <a:t>“</a:t>
            </a:r>
            <a:r>
              <a:rPr lang="zh-CN" altLang="en-US" sz="2000" dirty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逢十进位</a:t>
            </a:r>
            <a:r>
              <a:rPr lang="zh-CN" altLang="en-US" sz="2000" dirty="0">
                <a:solidFill>
                  <a:srgbClr val="FF0066"/>
                </a:solidFill>
                <a:ea typeface="华文新魏" panose="02010800040101010101" pitchFamily="2" charset="-122"/>
              </a:rPr>
              <a:t>”</a:t>
            </a:r>
            <a:r>
              <a:rPr lang="zh-CN" altLang="en-US" sz="2000" dirty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的计数和加法规则</a:t>
            </a: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endParaRPr lang="zh-CN" altLang="en-US" sz="2000" dirty="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15000"/>
              </a:lnSpc>
            </a:pP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(2) </a:t>
            </a: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对于</a:t>
            </a: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2421</a:t>
            </a: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码、</a:t>
            </a: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5211</a:t>
            </a: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码、</a:t>
            </a: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4311</a:t>
            </a: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码和</a:t>
            </a: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84-2-1</a:t>
            </a: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码，任何两个十进制数位，采用这四种编码的任何一种编码，它们相加其和等于</a:t>
            </a: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9</a:t>
            </a: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时，即它们的二进制编码位互为反码，则其结果的四个二进制位一定是</a:t>
            </a: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1111</a:t>
            </a: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lang="zh-CN" altLang="en-US" sz="2000" dirty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能较好地体现十进制的按</a:t>
            </a:r>
            <a:r>
              <a:rPr lang="en-US" altLang="zh-CN" sz="2000" dirty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9</a:t>
            </a:r>
            <a:r>
              <a:rPr lang="zh-CN" altLang="en-US" sz="2000" dirty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取补与二进制的按</a:t>
            </a:r>
            <a:r>
              <a:rPr lang="en-US" altLang="zh-CN" sz="2000" dirty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2000" dirty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取补的对应关系，这对减法很有用</a:t>
            </a: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</a:p>
        </p:txBody>
      </p:sp>
    </p:spTree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日期占位符 3"/>
          <p:cNvSpPr txBox="1">
            <a:spLocks noGrp="1"/>
          </p:cNvSpPr>
          <p:nvPr/>
        </p:nvSpPr>
        <p:spPr>
          <a:xfrm>
            <a:off x="0" y="-7937"/>
            <a:ext cx="827088" cy="185737"/>
          </a:xfrm>
          <a:prstGeom prst="rect">
            <a:avLst/>
          </a:prstGeom>
          <a:noFill/>
          <a:ln w="9525" cap="flat" cmpd="sng">
            <a:solidFill>
              <a:srgbClr val="FF0066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>
            <a:spAutoFit/>
          </a:bodyPr>
          <a:lstStyle/>
          <a:p>
            <a:pPr eaLnBrk="1" hangingPunct="1">
              <a:buFont typeface="Arial" panose="020B0604020202020204" pitchFamily="34" charset="0"/>
            </a:pPr>
            <a:fld id="{BB962C8B-B14F-4D97-AF65-F5344CB8AC3E}" type="datetime1">
              <a:rPr lang="zh-CN" altLang="en-US" sz="12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2025/9/9</a:t>
            </a:fld>
            <a:endParaRPr lang="zh-CN" altLang="en-US" sz="1200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515" name="灯片编号占位符 4"/>
          <p:cNvSpPr txBox="1">
            <a:spLocks noGrp="1"/>
          </p:cNvSpPr>
          <p:nvPr/>
        </p:nvSpPr>
        <p:spPr>
          <a:xfrm>
            <a:off x="8820150" y="4894263"/>
            <a:ext cx="396875" cy="250825"/>
          </a:xfrm>
          <a:prstGeom prst="rect">
            <a:avLst/>
          </a:prstGeom>
          <a:solidFill>
            <a:srgbClr val="CC99FF"/>
          </a:solidFill>
          <a:ln w="9525">
            <a:noFill/>
          </a:ln>
        </p:spPr>
        <p:txBody>
          <a:bodyPr/>
          <a:lstStyle/>
          <a:p>
            <a:pPr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51</a:t>
            </a:fld>
            <a:endParaRPr lang="en-US" altLang="zh-CN" sz="1400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516" name="Rectangle 2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8572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/>
            <a:r>
              <a:rPr lang="en-US" altLang="zh-CN" b="1" dirty="0">
                <a:solidFill>
                  <a:srgbClr val="FF0066"/>
                </a:solidFill>
              </a:rPr>
              <a:t>M</a:t>
            </a:r>
            <a:r>
              <a:rPr lang="zh-CN" altLang="en-US" b="1" dirty="0">
                <a:solidFill>
                  <a:srgbClr val="FF0066"/>
                </a:solidFill>
              </a:rPr>
              <a:t>中取</a:t>
            </a:r>
            <a:r>
              <a:rPr lang="en-US" altLang="zh-CN" b="1" dirty="0">
                <a:solidFill>
                  <a:srgbClr val="FF0066"/>
                </a:solidFill>
              </a:rPr>
              <a:t>N</a:t>
            </a:r>
            <a:r>
              <a:rPr lang="zh-CN" altLang="en-US" b="1" dirty="0">
                <a:solidFill>
                  <a:srgbClr val="FF0066"/>
                </a:solidFill>
              </a:rPr>
              <a:t>码</a:t>
            </a:r>
          </a:p>
        </p:txBody>
      </p:sp>
      <p:pic>
        <p:nvPicPr>
          <p:cNvPr id="86021" name="Picture 4" descr="1-9"/>
          <p:cNvPicPr>
            <a:picLocks noGrp="1" noChangeAspect="1"/>
          </p:cNvPicPr>
          <p:nvPr>
            <p:ph type="body"/>
          </p:nvPr>
        </p:nvPicPr>
        <p:blipFill>
          <a:blip r:embed="rId3"/>
          <a:stretch>
            <a:fillRect/>
          </a:stretch>
        </p:blipFill>
        <p:spPr>
          <a:xfrm>
            <a:off x="750888" y="1485900"/>
            <a:ext cx="7642225" cy="30861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1992" name="Text Box 37"/>
          <p:cNvSpPr txBox="1"/>
          <p:nvPr/>
        </p:nvSpPr>
        <p:spPr>
          <a:xfrm>
            <a:off x="3491865" y="555308"/>
            <a:ext cx="4670425" cy="70675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记住十进制数的最常用三种代码表示，了解其作用！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60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60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2000"/>
                                        <p:tgtEl>
                                          <p:spTgt spid="419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日期占位符 1"/>
          <p:cNvSpPr txBox="1">
            <a:spLocks noGrp="1"/>
          </p:cNvSpPr>
          <p:nvPr>
            <p:ph type="dt" sz="half" idx="2"/>
          </p:nvPr>
        </p:nvSpPr>
        <p:spPr>
          <a:noFill/>
        </p:spPr>
        <p:txBody>
          <a:bodyPr lIns="91440" tIns="45720" rIns="91440" bIns="45720" rtlCol="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105A22A-BE47-4644-99A4-8C4DEEB8EDAC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ea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ea"/>
            </a:endParaRPr>
          </a:p>
        </p:txBody>
      </p:sp>
      <p:sp>
        <p:nvSpPr>
          <p:cNvPr id="65539" name="灯片编号占位符 3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900" dirty="0">
                <a:solidFill>
                  <a:srgbClr val="898989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52</a:t>
            </a:fld>
            <a:endParaRPr lang="zh-CN" altLang="en-US" sz="900" dirty="0">
              <a:solidFill>
                <a:srgbClr val="898989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5540" name="Text Box 6"/>
          <p:cNvSpPr txBox="1"/>
          <p:nvPr/>
        </p:nvSpPr>
        <p:spPr>
          <a:xfrm>
            <a:off x="892175" y="1446213"/>
            <a:ext cx="8305800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目的</a:t>
            </a:r>
            <a:r>
              <a: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：解决代码在</a:t>
            </a: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形成或传输</a:t>
            </a:r>
            <a:r>
              <a: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过程中可能会发生</a:t>
            </a:r>
          </a:p>
        </p:txBody>
      </p:sp>
      <p:sp>
        <p:nvSpPr>
          <p:cNvPr id="65541" name="Text Box 8"/>
          <p:cNvSpPr txBox="1"/>
          <p:nvPr/>
        </p:nvSpPr>
        <p:spPr>
          <a:xfrm>
            <a:off x="1680845" y="1903413"/>
            <a:ext cx="6477000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的错误，提高数字系统的安全性</a:t>
            </a:r>
          </a:p>
        </p:txBody>
      </p:sp>
      <p:sp>
        <p:nvSpPr>
          <p:cNvPr id="65542" name="Text Box 9"/>
          <p:cNvSpPr txBox="1"/>
          <p:nvPr/>
        </p:nvSpPr>
        <p:spPr>
          <a:xfrm>
            <a:off x="892175" y="2439988"/>
            <a:ext cx="8610600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方法</a:t>
            </a:r>
            <a:r>
              <a: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：使代码自身具有一种</a:t>
            </a: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特征或抗破坏能力</a:t>
            </a:r>
          </a:p>
        </p:txBody>
      </p:sp>
      <p:sp>
        <p:nvSpPr>
          <p:cNvPr id="65543" name="Text Box 10"/>
          <p:cNvSpPr txBox="1"/>
          <p:nvPr/>
        </p:nvSpPr>
        <p:spPr>
          <a:xfrm>
            <a:off x="892175" y="2989263"/>
            <a:ext cx="4114800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作用</a:t>
            </a:r>
            <a:r>
              <a: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      </a:t>
            </a:r>
            <a:r>
              <a:rPr lang="en-US" altLang="zh-CN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1. </a:t>
            </a:r>
            <a:r>
              <a: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不易出错</a:t>
            </a:r>
          </a:p>
        </p:txBody>
      </p:sp>
      <p:sp>
        <p:nvSpPr>
          <p:cNvPr id="65544" name="Text Box 11"/>
          <p:cNvSpPr txBox="1"/>
          <p:nvPr/>
        </p:nvSpPr>
        <p:spPr>
          <a:xfrm>
            <a:off x="2035175" y="3474403"/>
            <a:ext cx="4724400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2. </a:t>
            </a:r>
            <a:r>
              <a: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若出错时易发现错误</a:t>
            </a:r>
          </a:p>
        </p:txBody>
      </p:sp>
      <p:sp>
        <p:nvSpPr>
          <p:cNvPr id="65545" name="Text Box 12"/>
          <p:cNvSpPr txBox="1"/>
          <p:nvPr/>
        </p:nvSpPr>
        <p:spPr>
          <a:xfrm>
            <a:off x="2035175" y="3960813"/>
            <a:ext cx="6248400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3. </a:t>
            </a:r>
            <a:r>
              <a: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出错时易查错且易纠错</a:t>
            </a:r>
          </a:p>
        </p:txBody>
      </p:sp>
      <p:sp>
        <p:nvSpPr>
          <p:cNvPr id="65546" name="Rectangle 15"/>
          <p:cNvSpPr>
            <a:spLocks noGrp="1"/>
          </p:cNvSpPr>
          <p:nvPr>
            <p:ph type="title"/>
          </p:nvPr>
        </p:nvSpPr>
        <p:spPr>
          <a:xfrm>
            <a:off x="739775" y="768033"/>
            <a:ext cx="8458200" cy="8572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/>
            <a:r>
              <a:rPr lang="en-US" altLang="zh-CN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1.2.4  </a:t>
            </a:r>
            <a:r>
              <a:rPr lang="zh-CN" altLang="en-US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可靠性编码（一种特殊的编码技术，使用广泛）	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2270" y="1683385"/>
            <a:ext cx="2144395" cy="3010535"/>
          </a:xfrm>
          <a:prstGeom prst="rect">
            <a:avLst/>
          </a:prstGeom>
        </p:spPr>
      </p:pic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6519616-D2AC-4045-8484-604F71821478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ea"/>
              </a:rPr>
              <a:t>2025/9/9</a:t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ea"/>
            </a:endParaRPr>
          </a:p>
        </p:txBody>
      </p:sp>
      <p:sp>
        <p:nvSpPr>
          <p:cNvPr id="66563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53</a:t>
            </a:fld>
            <a:endParaRPr lang="en-US" altLang="zh-CN" sz="900" dirty="0">
              <a:solidFill>
                <a:srgbClr val="898989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5540" name="Oval 22"/>
          <p:cNvSpPr/>
          <p:nvPr/>
        </p:nvSpPr>
        <p:spPr>
          <a:xfrm>
            <a:off x="1120775" y="3200400"/>
            <a:ext cx="4267200" cy="628650"/>
          </a:xfrm>
          <a:prstGeom prst="ellipse">
            <a:avLst/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eaLnBrk="1" hangingPunct="1">
              <a:buFont typeface="Arial" panose="020B0604020202020204" pitchFamily="34" charset="0"/>
            </a:pPr>
            <a:endParaRPr lang="zh-CN" altLang="en-US" sz="18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5541" name="Text Box 27"/>
          <p:cNvSpPr txBox="1"/>
          <p:nvPr/>
        </p:nvSpPr>
        <p:spPr>
          <a:xfrm>
            <a:off x="3940175" y="2817813"/>
            <a:ext cx="1981200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b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状态先变化</a:t>
            </a:r>
          </a:p>
        </p:txBody>
      </p:sp>
      <p:sp>
        <p:nvSpPr>
          <p:cNvPr id="65542" name="Text Box 26"/>
          <p:cNvSpPr txBox="1"/>
          <p:nvPr/>
        </p:nvSpPr>
        <p:spPr>
          <a:xfrm>
            <a:off x="1120775" y="2828925"/>
            <a:ext cx="1981200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b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状态先变化</a:t>
            </a:r>
          </a:p>
        </p:txBody>
      </p:sp>
      <p:sp>
        <p:nvSpPr>
          <p:cNvPr id="66567" name="Rectangle 2"/>
          <p:cNvSpPr>
            <a:spLocks noGrp="1"/>
          </p:cNvSpPr>
          <p:nvPr>
            <p:ph type="title"/>
          </p:nvPr>
        </p:nvSpPr>
        <p:spPr>
          <a:xfrm>
            <a:off x="533400" y="574675"/>
            <a:ext cx="7772400" cy="85725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1)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格雷码（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Gray)</a:t>
            </a:r>
          </a:p>
        </p:txBody>
      </p:sp>
      <p:sp>
        <p:nvSpPr>
          <p:cNvPr id="66568" name="Rectangle 3"/>
          <p:cNvSpPr>
            <a:spLocks noGrp="1"/>
          </p:cNvSpPr>
          <p:nvPr>
            <p:ph idx="1"/>
          </p:nvPr>
        </p:nvSpPr>
        <p:spPr>
          <a:xfrm>
            <a:off x="654050" y="1030288"/>
            <a:ext cx="8763000" cy="1657350"/>
          </a:xfrm>
          <a:noFill/>
          <a:ln>
            <a:noFill/>
          </a:ln>
        </p:spPr>
        <p:txBody>
          <a:bodyPr/>
          <a:lstStyle/>
          <a:p>
            <a:pPr eaLnBrk="1" hangingPunct="1">
              <a:spcBef>
                <a:spcPct val="50000"/>
              </a:spcBef>
              <a:buNone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特点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：任意两个相邻数的代码只有一位二进制数不同</a:t>
            </a:r>
          </a:p>
          <a:p>
            <a:pPr eaLnBrk="1" hangingPunct="1">
              <a:spcBef>
                <a:spcPct val="50000"/>
              </a:spcBef>
              <a:buNone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目的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：减少代码生成时发生错误</a:t>
            </a:r>
          </a:p>
          <a:p>
            <a:pPr eaLnBrk="1" hangingPunct="1">
              <a:spcBef>
                <a:spcPct val="50000"/>
              </a:spcBef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例：四位二进制加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计数器，工作时有如下情况出现</a:t>
            </a:r>
          </a:p>
        </p:txBody>
      </p:sp>
      <p:grpSp>
        <p:nvGrpSpPr>
          <p:cNvPr id="65545" name="Group 5"/>
          <p:cNvGrpSpPr/>
          <p:nvPr/>
        </p:nvGrpSpPr>
        <p:grpSpPr>
          <a:xfrm>
            <a:off x="2111375" y="3143250"/>
            <a:ext cx="914400" cy="587375"/>
            <a:chOff x="1872" y="2496"/>
            <a:chExt cx="576" cy="493"/>
          </a:xfrm>
        </p:grpSpPr>
        <p:sp>
          <p:nvSpPr>
            <p:cNvPr id="66592" name="Line 6"/>
            <p:cNvSpPr/>
            <p:nvPr/>
          </p:nvSpPr>
          <p:spPr>
            <a:xfrm flipH="1">
              <a:off x="2160" y="2496"/>
              <a:ext cx="144" cy="19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6593" name="Text Box 7"/>
            <p:cNvSpPr txBox="1"/>
            <p:nvPr/>
          </p:nvSpPr>
          <p:spPr>
            <a:xfrm>
              <a:off x="1872" y="2682"/>
              <a:ext cx="576" cy="307"/>
            </a:xfrm>
            <a:prstGeom prst="rect">
              <a:avLst/>
            </a:prstGeom>
            <a:solidFill>
              <a:srgbClr val="FFCC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0000</a:t>
              </a:r>
            </a:p>
          </p:txBody>
        </p:sp>
      </p:grpSp>
      <p:grpSp>
        <p:nvGrpSpPr>
          <p:cNvPr id="65546" name="Group 8"/>
          <p:cNvGrpSpPr/>
          <p:nvPr/>
        </p:nvGrpSpPr>
        <p:grpSpPr>
          <a:xfrm>
            <a:off x="2797175" y="2571750"/>
            <a:ext cx="914400" cy="587375"/>
            <a:chOff x="2304" y="2016"/>
            <a:chExt cx="576" cy="493"/>
          </a:xfrm>
        </p:grpSpPr>
        <p:sp>
          <p:nvSpPr>
            <p:cNvPr id="66590" name="Line 9"/>
            <p:cNvSpPr/>
            <p:nvPr/>
          </p:nvSpPr>
          <p:spPr>
            <a:xfrm>
              <a:off x="2592" y="2016"/>
              <a:ext cx="0" cy="19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6591" name="Text Box 10"/>
            <p:cNvSpPr txBox="1"/>
            <p:nvPr/>
          </p:nvSpPr>
          <p:spPr>
            <a:xfrm>
              <a:off x="2304" y="2202"/>
              <a:ext cx="576" cy="307"/>
            </a:xfrm>
            <a:prstGeom prst="rect">
              <a:avLst/>
            </a:prstGeom>
            <a:solidFill>
              <a:srgbClr val="FFFFCC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0001</a:t>
              </a:r>
            </a:p>
          </p:txBody>
        </p:sp>
      </p:grpSp>
      <p:grpSp>
        <p:nvGrpSpPr>
          <p:cNvPr id="65547" name="Group 11"/>
          <p:cNvGrpSpPr/>
          <p:nvPr/>
        </p:nvGrpSpPr>
        <p:grpSpPr>
          <a:xfrm>
            <a:off x="3556000" y="3143250"/>
            <a:ext cx="917575" cy="800100"/>
            <a:chOff x="2782" y="2496"/>
            <a:chExt cx="578" cy="672"/>
          </a:xfrm>
        </p:grpSpPr>
        <p:sp>
          <p:nvSpPr>
            <p:cNvPr id="66585" name="Text Box 13"/>
            <p:cNvSpPr txBox="1"/>
            <p:nvPr/>
          </p:nvSpPr>
          <p:spPr>
            <a:xfrm>
              <a:off x="2784" y="2682"/>
              <a:ext cx="576" cy="310"/>
            </a:xfrm>
            <a:prstGeom prst="rect">
              <a:avLst/>
            </a:prstGeom>
            <a:solidFill>
              <a:srgbClr val="FFCC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0011</a:t>
              </a:r>
            </a:p>
          </p:txBody>
        </p:sp>
        <p:sp>
          <p:nvSpPr>
            <p:cNvPr id="66586" name="Line 12"/>
            <p:cNvSpPr/>
            <p:nvPr/>
          </p:nvSpPr>
          <p:spPr>
            <a:xfrm>
              <a:off x="2880" y="2496"/>
              <a:ext cx="192" cy="192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6587" name="Line 14"/>
            <p:cNvSpPr/>
            <p:nvPr/>
          </p:nvSpPr>
          <p:spPr>
            <a:xfrm flipH="1">
              <a:off x="2880" y="2976"/>
              <a:ext cx="144" cy="19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6588" name="Text Box 13"/>
            <p:cNvSpPr txBox="1"/>
            <p:nvPr/>
          </p:nvSpPr>
          <p:spPr>
            <a:xfrm>
              <a:off x="2782" y="2686"/>
              <a:ext cx="576" cy="310"/>
            </a:xfrm>
            <a:prstGeom prst="rect">
              <a:avLst/>
            </a:prstGeom>
            <a:solidFill>
              <a:srgbClr val="FFCC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0011</a:t>
              </a:r>
            </a:p>
          </p:txBody>
        </p:sp>
        <p:sp>
          <p:nvSpPr>
            <p:cNvPr id="66589" name="Line 12"/>
            <p:cNvSpPr/>
            <p:nvPr/>
          </p:nvSpPr>
          <p:spPr>
            <a:xfrm>
              <a:off x="2878" y="2500"/>
              <a:ext cx="192" cy="19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65548" name="Group 15"/>
          <p:cNvGrpSpPr/>
          <p:nvPr/>
        </p:nvGrpSpPr>
        <p:grpSpPr>
          <a:xfrm>
            <a:off x="2568575" y="3714750"/>
            <a:ext cx="1143000" cy="587375"/>
            <a:chOff x="2160" y="2976"/>
            <a:chExt cx="720" cy="493"/>
          </a:xfrm>
        </p:grpSpPr>
        <p:sp>
          <p:nvSpPr>
            <p:cNvPr id="66583" name="Line 16"/>
            <p:cNvSpPr/>
            <p:nvPr/>
          </p:nvSpPr>
          <p:spPr>
            <a:xfrm>
              <a:off x="2160" y="2976"/>
              <a:ext cx="144" cy="19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6584" name="Text Box 17"/>
            <p:cNvSpPr txBox="1"/>
            <p:nvPr/>
          </p:nvSpPr>
          <p:spPr>
            <a:xfrm>
              <a:off x="2304" y="3162"/>
              <a:ext cx="576" cy="307"/>
            </a:xfrm>
            <a:prstGeom prst="rect">
              <a:avLst/>
            </a:prstGeom>
            <a:solidFill>
              <a:srgbClr val="FFFFCC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0010</a:t>
              </a:r>
            </a:p>
          </p:txBody>
        </p:sp>
      </p:grpSp>
      <p:grpSp>
        <p:nvGrpSpPr>
          <p:cNvPr id="65549" name="Group 18"/>
          <p:cNvGrpSpPr/>
          <p:nvPr/>
        </p:nvGrpSpPr>
        <p:grpSpPr>
          <a:xfrm>
            <a:off x="2797175" y="4286250"/>
            <a:ext cx="914400" cy="800100"/>
            <a:chOff x="2304" y="3456"/>
            <a:chExt cx="576" cy="672"/>
          </a:xfrm>
        </p:grpSpPr>
        <p:sp>
          <p:nvSpPr>
            <p:cNvPr id="66580" name="Line 19"/>
            <p:cNvSpPr/>
            <p:nvPr/>
          </p:nvSpPr>
          <p:spPr>
            <a:xfrm>
              <a:off x="2592" y="3456"/>
              <a:ext cx="0" cy="19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6581" name="Text Box 20"/>
            <p:cNvSpPr txBox="1"/>
            <p:nvPr/>
          </p:nvSpPr>
          <p:spPr>
            <a:xfrm>
              <a:off x="2304" y="3642"/>
              <a:ext cx="576" cy="310"/>
            </a:xfrm>
            <a:prstGeom prst="rect">
              <a:avLst/>
            </a:prstGeom>
            <a:solidFill>
              <a:srgbClr val="FFFFCC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0011</a:t>
              </a:r>
            </a:p>
          </p:txBody>
        </p:sp>
        <p:sp>
          <p:nvSpPr>
            <p:cNvPr id="66582" name="Line 21"/>
            <p:cNvSpPr/>
            <p:nvPr/>
          </p:nvSpPr>
          <p:spPr>
            <a:xfrm>
              <a:off x="2592" y="3936"/>
              <a:ext cx="0" cy="19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65550" name="Group 23"/>
          <p:cNvGrpSpPr/>
          <p:nvPr/>
        </p:nvGrpSpPr>
        <p:grpSpPr>
          <a:xfrm>
            <a:off x="1273175" y="2171700"/>
            <a:ext cx="2438400" cy="425450"/>
            <a:chOff x="1344" y="1680"/>
            <a:chExt cx="1536" cy="358"/>
          </a:xfrm>
        </p:grpSpPr>
        <p:sp>
          <p:nvSpPr>
            <p:cNvPr id="66578" name="Text Box 24"/>
            <p:cNvSpPr txBox="1"/>
            <p:nvPr/>
          </p:nvSpPr>
          <p:spPr>
            <a:xfrm>
              <a:off x="2304" y="1728"/>
              <a:ext cx="576" cy="310"/>
            </a:xfrm>
            <a:prstGeom prst="rect">
              <a:avLst/>
            </a:prstGeom>
            <a:solidFill>
              <a:srgbClr val="FFFFCC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0000</a:t>
              </a:r>
            </a:p>
          </p:txBody>
        </p:sp>
        <p:sp>
          <p:nvSpPr>
            <p:cNvPr id="66579" name="Text Box 25"/>
            <p:cNvSpPr txBox="1"/>
            <p:nvPr/>
          </p:nvSpPr>
          <p:spPr>
            <a:xfrm>
              <a:off x="1344" y="1680"/>
              <a:ext cx="1104" cy="3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b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3</a:t>
              </a: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b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b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b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</a:p>
          </p:txBody>
        </p:sp>
      </p:grpSp>
      <p:grpSp>
        <p:nvGrpSpPr>
          <p:cNvPr id="65551" name="Group 28"/>
          <p:cNvGrpSpPr/>
          <p:nvPr/>
        </p:nvGrpSpPr>
        <p:grpSpPr>
          <a:xfrm>
            <a:off x="5387975" y="3257550"/>
            <a:ext cx="2057400" cy="647700"/>
            <a:chOff x="3936" y="2554"/>
            <a:chExt cx="1488" cy="543"/>
          </a:xfrm>
        </p:grpSpPr>
        <p:sp>
          <p:nvSpPr>
            <p:cNvPr id="66576" name="Text Box 29"/>
            <p:cNvSpPr txBox="1"/>
            <p:nvPr/>
          </p:nvSpPr>
          <p:spPr>
            <a:xfrm>
              <a:off x="4224" y="2554"/>
              <a:ext cx="1200" cy="543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不应当出现的暂态</a:t>
              </a:r>
            </a:p>
          </p:txBody>
        </p:sp>
        <p:sp>
          <p:nvSpPr>
            <p:cNvPr id="66577" name="Line 30"/>
            <p:cNvSpPr/>
            <p:nvPr/>
          </p:nvSpPr>
          <p:spPr>
            <a:xfrm>
              <a:off x="3936" y="2794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triangle" w="med" len="med"/>
              <a:tailEnd type="none" w="med" len="med"/>
            </a:ln>
          </p:spPr>
        </p:sp>
      </p:grp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40" grpId="0" animBg="1"/>
      <p:bldP spid="65541" grpId="0"/>
      <p:bldP spid="65542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1"/>
          <p:cNvSpPr txBox="1">
            <a:spLocks noGrp="1"/>
          </p:cNvSpPr>
          <p:nvPr>
            <p:ph type="dt" sz="half" idx="2"/>
          </p:nvPr>
        </p:nvSpPr>
        <p:spPr>
          <a:noFill/>
        </p:spPr>
        <p:txBody>
          <a:bodyPr lIns="91440" tIns="45720" rIns="91440" bIns="45720" rtlCol="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105A22A-BE47-4644-99A4-8C4DEEB8EDAC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67587" name="灯片编号占位符 3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900" dirty="0">
                <a:solidFill>
                  <a:srgbClr val="898989"/>
                </a:solidFill>
                <a:latin typeface="Times New Roman" panose="02020603050405020304" pitchFamily="18" charset="0"/>
              </a:rPr>
              <a:t>54</a:t>
            </a:fld>
            <a:endParaRPr lang="zh-CN" altLang="en-US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67588" name="Rectangle 3"/>
          <p:cNvSpPr>
            <a:spLocks noGrp="1"/>
          </p:cNvSpPr>
          <p:nvPr>
            <p:ph type="title"/>
          </p:nvPr>
        </p:nvSpPr>
        <p:spPr>
          <a:xfrm>
            <a:off x="228600" y="546100"/>
            <a:ext cx="8763000" cy="5127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/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表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－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4  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几种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Gray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码、步进码和二进制码对照表</a:t>
            </a:r>
          </a:p>
        </p:txBody>
      </p:sp>
      <p:graphicFrame>
        <p:nvGraphicFramePr>
          <p:cNvPr id="98345" name="Group 41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393700" y="1054100"/>
          <a:ext cx="7781925" cy="3654425"/>
        </p:xfrm>
        <a:graphic>
          <a:graphicData uri="http://schemas.openxmlformats.org/drawingml/2006/table">
            <a:tbl>
              <a:tblPr/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8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3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0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8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1175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十进制数</a:t>
                      </a:r>
                    </a:p>
                  </a:txBody>
                  <a:tcPr marL="91447" marR="91447" marT="34292" marB="34292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二进制数</a:t>
                      </a:r>
                    </a:p>
                  </a:txBody>
                  <a:tcPr marL="91447" marR="91447" marT="34292" marB="3429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典型</a:t>
                      </a:r>
                      <a:r>
                        <a:rPr kumimoji="1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Gray</a:t>
                      </a:r>
                    </a:p>
                  </a:txBody>
                  <a:tcPr marL="91447" marR="91447" marT="34292" marB="3429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十进制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Gray</a:t>
                      </a:r>
                      <a:r>
                        <a:rPr kumimoji="1" lang="zh-CN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码⑴ </a:t>
                      </a:r>
                    </a:p>
                  </a:txBody>
                  <a:tcPr marL="91447" marR="91447" marT="34292" marB="3429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十进制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Gray</a:t>
                      </a:r>
                      <a:r>
                        <a:rPr kumimoji="1" lang="zh-CN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码⑵</a:t>
                      </a:r>
                    </a:p>
                  </a:txBody>
                  <a:tcPr marL="91447" marR="91447" marT="34292" marB="3429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步进码</a:t>
                      </a:r>
                    </a:p>
                  </a:txBody>
                  <a:tcPr marL="91447" marR="91447" marT="34292" marB="3429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325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4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6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7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8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9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12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13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14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15</a:t>
                      </a:r>
                    </a:p>
                  </a:txBody>
                  <a:tcPr marL="91447" marR="91447" marT="34292" marB="34292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0000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0001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0010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0011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0100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0101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0110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0111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1000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1001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1010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1011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1100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1101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1110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1111</a:t>
                      </a:r>
                    </a:p>
                  </a:txBody>
                  <a:tcPr marL="91447" marR="91447" marT="34292" marB="3429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0000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0001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0011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0010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0110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0111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0101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0100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1100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1101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1111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1110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1010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1011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1001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1000</a:t>
                      </a:r>
                    </a:p>
                  </a:txBody>
                  <a:tcPr marL="91447" marR="91447" marT="34292" marB="3429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0000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0001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0011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0010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0110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1110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1010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1011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1001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1000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47" marR="91447" marT="34292" marB="3429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0000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0001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0011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0010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0110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0111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0101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0100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1100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1000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47" marR="91447" marT="34292" marB="3429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00000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00001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00011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00111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01111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11111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11110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11100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11000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10000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47" marR="91447" marT="34292" marB="3429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2" name="直接连接符 1"/>
          <p:cNvCxnSpPr/>
          <p:nvPr/>
        </p:nvCxnSpPr>
        <p:spPr>
          <a:xfrm flipV="1">
            <a:off x="1700530" y="3507105"/>
            <a:ext cx="6475095" cy="1587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7524115" y="549275"/>
            <a:ext cx="11950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>
                <a:solidFill>
                  <a:srgbClr val="FF0000"/>
                </a:solidFill>
              </a:rPr>
              <a:t>高位求反，然后循环左移</a:t>
            </a: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日期占位符 1"/>
          <p:cNvSpPr txBox="1">
            <a:spLocks noGrp="1"/>
          </p:cNvSpPr>
          <p:nvPr>
            <p:ph type="dt" sz="half" idx="2"/>
          </p:nvPr>
        </p:nvSpPr>
        <p:spPr>
          <a:noFill/>
        </p:spPr>
        <p:txBody>
          <a:bodyPr lIns="91440" tIns="45720" rIns="91440" bIns="45720" rtlCol="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105A22A-BE47-4644-99A4-8C4DEEB8EDAC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68611" name="灯片编号占位符 3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900" dirty="0">
                <a:solidFill>
                  <a:srgbClr val="898989"/>
                </a:solidFill>
                <a:latin typeface="Times New Roman" panose="02020603050405020304" pitchFamily="18" charset="0"/>
              </a:rPr>
              <a:t>55</a:t>
            </a:fld>
            <a:endParaRPr lang="zh-CN" altLang="en-US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68612" name="Text Box 6"/>
          <p:cNvSpPr txBox="1"/>
          <p:nvPr/>
        </p:nvSpPr>
        <p:spPr>
          <a:xfrm>
            <a:off x="827088" y="1563688"/>
            <a:ext cx="723900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设：二进制码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 B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n-1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n-2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…  B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</a:p>
        </p:txBody>
      </p:sp>
      <p:sp>
        <p:nvSpPr>
          <p:cNvPr id="68613" name="Text Box 8"/>
          <p:cNvSpPr txBox="1"/>
          <p:nvPr/>
        </p:nvSpPr>
        <p:spPr>
          <a:xfrm>
            <a:off x="1282700" y="2503488"/>
            <a:ext cx="27432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典型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Gray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码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en-US" altLang="zh-CN" sz="1800" baseline="-25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68614" name="Group 64"/>
          <p:cNvGrpSpPr/>
          <p:nvPr/>
        </p:nvGrpSpPr>
        <p:grpSpPr>
          <a:xfrm>
            <a:off x="5051425" y="1866900"/>
            <a:ext cx="398463" cy="704850"/>
            <a:chOff x="4704" y="1056"/>
            <a:chExt cx="384" cy="768"/>
          </a:xfrm>
        </p:grpSpPr>
        <p:sp>
          <p:nvSpPr>
            <p:cNvPr id="68665" name="Text Box 10"/>
            <p:cNvSpPr txBox="1"/>
            <p:nvPr/>
          </p:nvSpPr>
          <p:spPr>
            <a:xfrm>
              <a:off x="4707" y="1248"/>
              <a:ext cx="288" cy="399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⊕</a:t>
              </a:r>
            </a:p>
          </p:txBody>
        </p:sp>
        <p:sp>
          <p:nvSpPr>
            <p:cNvPr id="68666" name="Line 11"/>
            <p:cNvSpPr/>
            <p:nvPr/>
          </p:nvSpPr>
          <p:spPr>
            <a:xfrm flipH="1">
              <a:off x="4944" y="1056"/>
              <a:ext cx="144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8667" name="Line 12"/>
            <p:cNvSpPr/>
            <p:nvPr/>
          </p:nvSpPr>
          <p:spPr>
            <a:xfrm>
              <a:off x="4704" y="1056"/>
              <a:ext cx="192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8668" name="Line 13"/>
            <p:cNvSpPr/>
            <p:nvPr/>
          </p:nvSpPr>
          <p:spPr>
            <a:xfrm>
              <a:off x="4944" y="1536"/>
              <a:ext cx="0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68615" name="Text Box 30"/>
          <p:cNvSpPr txBox="1"/>
          <p:nvPr/>
        </p:nvSpPr>
        <p:spPr>
          <a:xfrm>
            <a:off x="3517900" y="1563688"/>
            <a:ext cx="60960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</a:p>
        </p:txBody>
      </p:sp>
      <p:sp>
        <p:nvSpPr>
          <p:cNvPr id="68616" name="Text Box 31"/>
          <p:cNvSpPr txBox="1"/>
          <p:nvPr/>
        </p:nvSpPr>
        <p:spPr>
          <a:xfrm>
            <a:off x="798513" y="2997200"/>
            <a:ext cx="7342187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例：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二进制码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1     1    1    0</a:t>
            </a:r>
            <a:endParaRPr lang="en-US" altLang="zh-CN" sz="1800" baseline="-25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8617" name="Text Box 32"/>
          <p:cNvSpPr txBox="1"/>
          <p:nvPr/>
        </p:nvSpPr>
        <p:spPr>
          <a:xfrm>
            <a:off x="1282700" y="4044950"/>
            <a:ext cx="3048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典型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Gray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码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en-US" altLang="zh-CN" sz="1800" baseline="-25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8618" name="Text Box 54"/>
          <p:cNvSpPr txBox="1"/>
          <p:nvPr/>
        </p:nvSpPr>
        <p:spPr>
          <a:xfrm>
            <a:off x="3348355" y="2997200"/>
            <a:ext cx="897890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</a:p>
        </p:txBody>
      </p:sp>
      <p:sp>
        <p:nvSpPr>
          <p:cNvPr id="68619" name="Text Box 56"/>
          <p:cNvSpPr txBox="1"/>
          <p:nvPr/>
        </p:nvSpPr>
        <p:spPr>
          <a:xfrm>
            <a:off x="5172075" y="2514600"/>
            <a:ext cx="76200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endParaRPr lang="en-US" altLang="zh-CN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8620" name="Text Box 57"/>
          <p:cNvSpPr txBox="1"/>
          <p:nvPr/>
        </p:nvSpPr>
        <p:spPr>
          <a:xfrm>
            <a:off x="4092575" y="2514600"/>
            <a:ext cx="91440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n-2</a:t>
            </a:r>
          </a:p>
        </p:txBody>
      </p:sp>
      <p:sp>
        <p:nvSpPr>
          <p:cNvPr id="68621" name="Text Box 58"/>
          <p:cNvSpPr txBox="1"/>
          <p:nvPr/>
        </p:nvSpPr>
        <p:spPr>
          <a:xfrm>
            <a:off x="3689350" y="2514600"/>
            <a:ext cx="91440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n-1</a:t>
            </a:r>
          </a:p>
        </p:txBody>
      </p:sp>
      <p:sp>
        <p:nvSpPr>
          <p:cNvPr id="68622" name="Text Box 59"/>
          <p:cNvSpPr txBox="1"/>
          <p:nvPr/>
        </p:nvSpPr>
        <p:spPr>
          <a:xfrm>
            <a:off x="4246563" y="4078288"/>
            <a:ext cx="609600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</a:p>
        </p:txBody>
      </p:sp>
      <p:sp>
        <p:nvSpPr>
          <p:cNvPr id="68623" name="Text Box 60"/>
          <p:cNvSpPr txBox="1"/>
          <p:nvPr/>
        </p:nvSpPr>
        <p:spPr>
          <a:xfrm>
            <a:off x="4884738" y="4078288"/>
            <a:ext cx="609600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</a:p>
        </p:txBody>
      </p:sp>
      <p:sp>
        <p:nvSpPr>
          <p:cNvPr id="68624" name="Text Box 61"/>
          <p:cNvSpPr txBox="1"/>
          <p:nvPr/>
        </p:nvSpPr>
        <p:spPr>
          <a:xfrm>
            <a:off x="5422900" y="4078288"/>
            <a:ext cx="609600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</a:p>
        </p:txBody>
      </p:sp>
      <p:sp>
        <p:nvSpPr>
          <p:cNvPr id="68625" name="Text Box 62"/>
          <p:cNvSpPr txBox="1"/>
          <p:nvPr/>
        </p:nvSpPr>
        <p:spPr>
          <a:xfrm>
            <a:off x="3613150" y="4078288"/>
            <a:ext cx="609600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</a:p>
        </p:txBody>
      </p:sp>
      <p:grpSp>
        <p:nvGrpSpPr>
          <p:cNvPr id="68626" name="Group 65"/>
          <p:cNvGrpSpPr/>
          <p:nvPr/>
        </p:nvGrpSpPr>
        <p:grpSpPr>
          <a:xfrm>
            <a:off x="5518150" y="1866900"/>
            <a:ext cx="398463" cy="704850"/>
            <a:chOff x="4704" y="1056"/>
            <a:chExt cx="384" cy="768"/>
          </a:xfrm>
        </p:grpSpPr>
        <p:sp>
          <p:nvSpPr>
            <p:cNvPr id="68661" name="Text Box 66"/>
            <p:cNvSpPr txBox="1"/>
            <p:nvPr/>
          </p:nvSpPr>
          <p:spPr>
            <a:xfrm>
              <a:off x="4707" y="1248"/>
              <a:ext cx="288" cy="399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⊕</a:t>
              </a:r>
            </a:p>
          </p:txBody>
        </p:sp>
        <p:sp>
          <p:nvSpPr>
            <p:cNvPr id="68662" name="Line 67"/>
            <p:cNvSpPr/>
            <p:nvPr/>
          </p:nvSpPr>
          <p:spPr>
            <a:xfrm flipH="1">
              <a:off x="4944" y="1056"/>
              <a:ext cx="144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8663" name="Line 68"/>
            <p:cNvSpPr/>
            <p:nvPr/>
          </p:nvSpPr>
          <p:spPr>
            <a:xfrm>
              <a:off x="4704" y="1056"/>
              <a:ext cx="192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8664" name="Line 69"/>
            <p:cNvSpPr/>
            <p:nvPr/>
          </p:nvSpPr>
          <p:spPr>
            <a:xfrm>
              <a:off x="4944" y="1536"/>
              <a:ext cx="0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68627" name="Group 70"/>
          <p:cNvGrpSpPr/>
          <p:nvPr/>
        </p:nvGrpSpPr>
        <p:grpSpPr>
          <a:xfrm>
            <a:off x="4156075" y="1866900"/>
            <a:ext cx="396875" cy="704850"/>
            <a:chOff x="4704" y="1056"/>
            <a:chExt cx="384" cy="768"/>
          </a:xfrm>
        </p:grpSpPr>
        <p:sp>
          <p:nvSpPr>
            <p:cNvPr id="68657" name="Text Box 71"/>
            <p:cNvSpPr txBox="1"/>
            <p:nvPr/>
          </p:nvSpPr>
          <p:spPr>
            <a:xfrm>
              <a:off x="4707" y="1248"/>
              <a:ext cx="288" cy="399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⊕</a:t>
              </a:r>
            </a:p>
          </p:txBody>
        </p:sp>
        <p:sp>
          <p:nvSpPr>
            <p:cNvPr id="68658" name="Line 72"/>
            <p:cNvSpPr/>
            <p:nvPr/>
          </p:nvSpPr>
          <p:spPr>
            <a:xfrm flipH="1">
              <a:off x="4944" y="1056"/>
              <a:ext cx="144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8659" name="Line 73"/>
            <p:cNvSpPr/>
            <p:nvPr/>
          </p:nvSpPr>
          <p:spPr>
            <a:xfrm>
              <a:off x="4704" y="1056"/>
              <a:ext cx="192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8660" name="Line 74"/>
            <p:cNvSpPr/>
            <p:nvPr/>
          </p:nvSpPr>
          <p:spPr>
            <a:xfrm>
              <a:off x="4944" y="1536"/>
              <a:ext cx="0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68628" name="Group 75"/>
          <p:cNvGrpSpPr/>
          <p:nvPr/>
        </p:nvGrpSpPr>
        <p:grpSpPr>
          <a:xfrm>
            <a:off x="3679825" y="1866900"/>
            <a:ext cx="398463" cy="704850"/>
            <a:chOff x="4704" y="1056"/>
            <a:chExt cx="384" cy="768"/>
          </a:xfrm>
        </p:grpSpPr>
        <p:sp>
          <p:nvSpPr>
            <p:cNvPr id="68653" name="Text Box 76"/>
            <p:cNvSpPr txBox="1"/>
            <p:nvPr/>
          </p:nvSpPr>
          <p:spPr>
            <a:xfrm>
              <a:off x="4707" y="1291"/>
              <a:ext cx="318" cy="399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⊕</a:t>
              </a:r>
            </a:p>
          </p:txBody>
        </p:sp>
        <p:sp>
          <p:nvSpPr>
            <p:cNvPr id="68654" name="Line 77"/>
            <p:cNvSpPr/>
            <p:nvPr/>
          </p:nvSpPr>
          <p:spPr>
            <a:xfrm flipH="1">
              <a:off x="4944" y="1056"/>
              <a:ext cx="144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8655" name="Line 78"/>
            <p:cNvSpPr/>
            <p:nvPr/>
          </p:nvSpPr>
          <p:spPr>
            <a:xfrm>
              <a:off x="4704" y="1056"/>
              <a:ext cx="192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8656" name="Line 79"/>
            <p:cNvSpPr/>
            <p:nvPr/>
          </p:nvSpPr>
          <p:spPr>
            <a:xfrm>
              <a:off x="4944" y="1536"/>
              <a:ext cx="0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68629" name="Group 80"/>
          <p:cNvGrpSpPr/>
          <p:nvPr/>
        </p:nvGrpSpPr>
        <p:grpSpPr>
          <a:xfrm>
            <a:off x="5307013" y="3408363"/>
            <a:ext cx="398462" cy="704850"/>
            <a:chOff x="4704" y="1056"/>
            <a:chExt cx="384" cy="768"/>
          </a:xfrm>
        </p:grpSpPr>
        <p:sp>
          <p:nvSpPr>
            <p:cNvPr id="68649" name="Text Box 81"/>
            <p:cNvSpPr txBox="1"/>
            <p:nvPr/>
          </p:nvSpPr>
          <p:spPr>
            <a:xfrm>
              <a:off x="4707" y="1248"/>
              <a:ext cx="288" cy="399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⊕</a:t>
              </a:r>
            </a:p>
          </p:txBody>
        </p:sp>
        <p:sp>
          <p:nvSpPr>
            <p:cNvPr id="68650" name="Line 82"/>
            <p:cNvSpPr/>
            <p:nvPr/>
          </p:nvSpPr>
          <p:spPr>
            <a:xfrm flipH="1">
              <a:off x="4944" y="1056"/>
              <a:ext cx="144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8651" name="Line 83"/>
            <p:cNvSpPr/>
            <p:nvPr/>
          </p:nvSpPr>
          <p:spPr>
            <a:xfrm>
              <a:off x="4704" y="1056"/>
              <a:ext cx="192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8652" name="Line 84"/>
            <p:cNvSpPr/>
            <p:nvPr/>
          </p:nvSpPr>
          <p:spPr>
            <a:xfrm>
              <a:off x="4944" y="1536"/>
              <a:ext cx="0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68630" name="Group 85"/>
          <p:cNvGrpSpPr/>
          <p:nvPr/>
        </p:nvGrpSpPr>
        <p:grpSpPr>
          <a:xfrm>
            <a:off x="4765675" y="3408363"/>
            <a:ext cx="396875" cy="704850"/>
            <a:chOff x="4704" y="1056"/>
            <a:chExt cx="384" cy="768"/>
          </a:xfrm>
        </p:grpSpPr>
        <p:sp>
          <p:nvSpPr>
            <p:cNvPr id="68645" name="Text Box 86"/>
            <p:cNvSpPr txBox="1"/>
            <p:nvPr/>
          </p:nvSpPr>
          <p:spPr>
            <a:xfrm>
              <a:off x="4707" y="1248"/>
              <a:ext cx="288" cy="399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⊕</a:t>
              </a:r>
            </a:p>
          </p:txBody>
        </p:sp>
        <p:sp>
          <p:nvSpPr>
            <p:cNvPr id="68646" name="Line 87"/>
            <p:cNvSpPr/>
            <p:nvPr/>
          </p:nvSpPr>
          <p:spPr>
            <a:xfrm flipH="1">
              <a:off x="4944" y="1056"/>
              <a:ext cx="144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8647" name="Line 88"/>
            <p:cNvSpPr/>
            <p:nvPr/>
          </p:nvSpPr>
          <p:spPr>
            <a:xfrm>
              <a:off x="4704" y="1056"/>
              <a:ext cx="192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8648" name="Line 89"/>
            <p:cNvSpPr/>
            <p:nvPr/>
          </p:nvSpPr>
          <p:spPr>
            <a:xfrm>
              <a:off x="4944" y="1536"/>
              <a:ext cx="0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68631" name="Group 90"/>
          <p:cNvGrpSpPr/>
          <p:nvPr/>
        </p:nvGrpSpPr>
        <p:grpSpPr>
          <a:xfrm>
            <a:off x="4151313" y="3408363"/>
            <a:ext cx="398462" cy="704850"/>
            <a:chOff x="4704" y="1056"/>
            <a:chExt cx="384" cy="768"/>
          </a:xfrm>
        </p:grpSpPr>
        <p:sp>
          <p:nvSpPr>
            <p:cNvPr id="68641" name="Text Box 91"/>
            <p:cNvSpPr txBox="1"/>
            <p:nvPr/>
          </p:nvSpPr>
          <p:spPr>
            <a:xfrm>
              <a:off x="4707" y="1248"/>
              <a:ext cx="288" cy="399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⊕</a:t>
              </a:r>
            </a:p>
          </p:txBody>
        </p:sp>
        <p:sp>
          <p:nvSpPr>
            <p:cNvPr id="68642" name="Line 92"/>
            <p:cNvSpPr/>
            <p:nvPr/>
          </p:nvSpPr>
          <p:spPr>
            <a:xfrm flipH="1">
              <a:off x="4944" y="1056"/>
              <a:ext cx="144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8643" name="Line 93"/>
            <p:cNvSpPr/>
            <p:nvPr/>
          </p:nvSpPr>
          <p:spPr>
            <a:xfrm>
              <a:off x="4704" y="1056"/>
              <a:ext cx="192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8644" name="Line 94"/>
            <p:cNvSpPr/>
            <p:nvPr/>
          </p:nvSpPr>
          <p:spPr>
            <a:xfrm>
              <a:off x="4944" y="1536"/>
              <a:ext cx="0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68632" name="Group 95"/>
          <p:cNvGrpSpPr/>
          <p:nvPr/>
        </p:nvGrpSpPr>
        <p:grpSpPr>
          <a:xfrm>
            <a:off x="3536950" y="3408363"/>
            <a:ext cx="398463" cy="704850"/>
            <a:chOff x="4704" y="1056"/>
            <a:chExt cx="384" cy="768"/>
          </a:xfrm>
        </p:grpSpPr>
        <p:sp>
          <p:nvSpPr>
            <p:cNvPr id="68637" name="Text Box 96"/>
            <p:cNvSpPr txBox="1"/>
            <p:nvPr/>
          </p:nvSpPr>
          <p:spPr>
            <a:xfrm>
              <a:off x="4707" y="1248"/>
              <a:ext cx="288" cy="399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⊕</a:t>
              </a:r>
            </a:p>
          </p:txBody>
        </p:sp>
        <p:sp>
          <p:nvSpPr>
            <p:cNvPr id="68638" name="Line 97"/>
            <p:cNvSpPr/>
            <p:nvPr/>
          </p:nvSpPr>
          <p:spPr>
            <a:xfrm flipH="1">
              <a:off x="4944" y="1056"/>
              <a:ext cx="144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8639" name="Line 98"/>
            <p:cNvSpPr/>
            <p:nvPr/>
          </p:nvSpPr>
          <p:spPr>
            <a:xfrm>
              <a:off x="4704" y="1056"/>
              <a:ext cx="192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8640" name="Line 99"/>
            <p:cNvSpPr/>
            <p:nvPr/>
          </p:nvSpPr>
          <p:spPr>
            <a:xfrm>
              <a:off x="4944" y="1536"/>
              <a:ext cx="0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68633" name="Text Box 100"/>
          <p:cNvSpPr txBox="1"/>
          <p:nvPr/>
        </p:nvSpPr>
        <p:spPr>
          <a:xfrm>
            <a:off x="925830" y="1087438"/>
            <a:ext cx="67818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通过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“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异或运算（运算符⊕）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”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完成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i+1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⊕ B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 ,</a:t>
            </a:r>
          </a:p>
        </p:txBody>
      </p:sp>
      <p:sp>
        <p:nvSpPr>
          <p:cNvPr id="68634" name="Text Box 101"/>
          <p:cNvSpPr txBox="1"/>
          <p:nvPr/>
        </p:nvSpPr>
        <p:spPr>
          <a:xfrm>
            <a:off x="4638675" y="2457450"/>
            <a:ext cx="68580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…</a:t>
            </a:r>
            <a:endParaRPr lang="en-US" altLang="zh-CN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8635" name="Rectangle 102"/>
          <p:cNvSpPr>
            <a:spLocks noGrp="1"/>
          </p:cNvSpPr>
          <p:nvPr>
            <p:ph type="title"/>
          </p:nvPr>
        </p:nvSpPr>
        <p:spPr>
          <a:xfrm>
            <a:off x="628650" y="658813"/>
            <a:ext cx="7772400" cy="5715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典型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Gray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码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是由二进制码生成的。</a:t>
            </a:r>
          </a:p>
        </p:txBody>
      </p:sp>
      <p:sp>
        <p:nvSpPr>
          <p:cNvPr id="68636" name="Text Box 55"/>
          <p:cNvSpPr txBox="1"/>
          <p:nvPr/>
        </p:nvSpPr>
        <p:spPr>
          <a:xfrm>
            <a:off x="5634038" y="2503488"/>
            <a:ext cx="76200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endParaRPr lang="en-US" altLang="zh-CN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299835" y="627380"/>
            <a:ext cx="27216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异或运算也叫模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2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和运算</a:t>
            </a: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日期占位符 1"/>
          <p:cNvSpPr txBox="1">
            <a:spLocks noGrp="1"/>
          </p:cNvSpPr>
          <p:nvPr>
            <p:ph type="dt" sz="half" idx="2"/>
          </p:nvPr>
        </p:nvSpPr>
        <p:spPr>
          <a:noFill/>
        </p:spPr>
        <p:txBody>
          <a:bodyPr lIns="91440" tIns="45720" rIns="91440" bIns="45720" rtlCol="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105A22A-BE47-4644-99A4-8C4DEEB8EDAC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69635" name="灯片编号占位符 3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900" dirty="0">
                <a:solidFill>
                  <a:srgbClr val="898989"/>
                </a:solidFill>
                <a:latin typeface="Times New Roman" panose="02020603050405020304" pitchFamily="18" charset="0"/>
              </a:rPr>
              <a:t>56</a:t>
            </a:fld>
            <a:endParaRPr lang="zh-CN" altLang="en-US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69636" name="Text Box 5"/>
          <p:cNvSpPr txBox="1"/>
          <p:nvPr/>
        </p:nvSpPr>
        <p:spPr>
          <a:xfrm>
            <a:off x="2187575" y="1933575"/>
            <a:ext cx="548640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</a:t>
            </a:r>
            <a:r>
              <a:rPr lang="en-US" altLang="zh-CN" sz="1800" b="1" baseline="-250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 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en-US" altLang="zh-CN" sz="1800" b="1" baseline="-250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="1" baseline="-250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i+1 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⊕ B</a:t>
            </a:r>
            <a:r>
              <a:rPr lang="en-US" altLang="zh-CN" sz="1800" b="1" baseline="-250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</a:t>
            </a:r>
          </a:p>
        </p:txBody>
      </p:sp>
      <p:sp>
        <p:nvSpPr>
          <p:cNvPr id="69637" name="Text Box 6"/>
          <p:cNvSpPr txBox="1"/>
          <p:nvPr/>
        </p:nvSpPr>
        <p:spPr>
          <a:xfrm>
            <a:off x="1751648" y="1933575"/>
            <a:ext cx="76200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∵</a:t>
            </a:r>
          </a:p>
        </p:txBody>
      </p:sp>
      <p:sp>
        <p:nvSpPr>
          <p:cNvPr id="69638" name="Text Box 7"/>
          <p:cNvSpPr txBox="1"/>
          <p:nvPr/>
        </p:nvSpPr>
        <p:spPr>
          <a:xfrm>
            <a:off x="1779588" y="3175000"/>
            <a:ext cx="68580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∴</a:t>
            </a:r>
          </a:p>
        </p:txBody>
      </p:sp>
      <p:sp>
        <p:nvSpPr>
          <p:cNvPr id="69639" name="Text Box 9"/>
          <p:cNvSpPr txBox="1"/>
          <p:nvPr/>
        </p:nvSpPr>
        <p:spPr>
          <a:xfrm>
            <a:off x="1196975" y="3571875"/>
            <a:ext cx="426720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故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n-2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n-2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⊕ B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n-1</a:t>
            </a:r>
          </a:p>
        </p:txBody>
      </p:sp>
      <p:sp>
        <p:nvSpPr>
          <p:cNvPr id="69640" name="Text Box 10"/>
          <p:cNvSpPr txBox="1"/>
          <p:nvPr/>
        </p:nvSpPr>
        <p:spPr>
          <a:xfrm>
            <a:off x="1273175" y="2332038"/>
            <a:ext cx="554355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则等式两边同时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⊕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i+1 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</a:p>
        </p:txBody>
      </p:sp>
      <p:sp>
        <p:nvSpPr>
          <p:cNvPr id="69641" name="Text Box 11"/>
          <p:cNvSpPr txBox="1"/>
          <p:nvPr/>
        </p:nvSpPr>
        <p:spPr>
          <a:xfrm>
            <a:off x="2263775" y="2776538"/>
            <a:ext cx="510540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</a:t>
            </a:r>
            <a:r>
              <a:rPr lang="en-US" altLang="zh-CN" sz="1800" b="1" baseline="-250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 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⊕ B</a:t>
            </a:r>
            <a:r>
              <a:rPr lang="en-US" altLang="zh-CN" sz="1800" b="1" baseline="-250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i+1 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en-US" altLang="zh-CN" sz="1800" b="1" baseline="-250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="1" baseline="-250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i+1 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⊕ B</a:t>
            </a:r>
            <a:r>
              <a:rPr lang="en-US" altLang="zh-CN" sz="1800" b="1" baseline="-250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 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⊕ B</a:t>
            </a:r>
            <a:r>
              <a:rPr lang="en-US" altLang="zh-CN" sz="1800" b="1" baseline="-250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i+1</a:t>
            </a:r>
          </a:p>
        </p:txBody>
      </p:sp>
      <p:sp>
        <p:nvSpPr>
          <p:cNvPr id="69642" name="Text Box 13"/>
          <p:cNvSpPr txBox="1"/>
          <p:nvPr/>
        </p:nvSpPr>
        <p:spPr>
          <a:xfrm>
            <a:off x="1492250" y="1089025"/>
            <a:ext cx="7696200" cy="78359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设：典型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Gray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码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n-1 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n-2 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…  G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 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∵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</a:t>
            </a:r>
            <a:r>
              <a:rPr lang="en-US" altLang="zh-CN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n-1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en-US" altLang="zh-CN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n-1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⊕ 0 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∴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n-1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en-US" altLang="zh-CN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</a:t>
            </a:r>
            <a:r>
              <a:rPr lang="en-US" altLang="zh-CN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n-1</a:t>
            </a:r>
          </a:p>
        </p:txBody>
      </p:sp>
      <p:sp>
        <p:nvSpPr>
          <p:cNvPr id="69643" name="Text Box 14"/>
          <p:cNvSpPr txBox="1"/>
          <p:nvPr/>
        </p:nvSpPr>
        <p:spPr>
          <a:xfrm>
            <a:off x="2263775" y="3175000"/>
            <a:ext cx="4853305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="1" baseline="-250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 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en-US" altLang="zh-CN" sz="1800" b="1" baseline="-250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</a:t>
            </a:r>
            <a:r>
              <a:rPr lang="en-US" altLang="zh-CN" sz="1800" b="1" baseline="-250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⊕ B</a:t>
            </a:r>
            <a:r>
              <a:rPr lang="en-US" altLang="zh-CN" sz="1800" b="1" baseline="-250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 +1      </a:t>
            </a:r>
            <a:r>
              <a:rPr lang="en-US" altLang="zh-CN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zh-CN" altLang="en-US" sz="1800" b="1" baseline="-250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9644" name="Text Box 23"/>
          <p:cNvSpPr txBox="1"/>
          <p:nvPr/>
        </p:nvSpPr>
        <p:spPr>
          <a:xfrm>
            <a:off x="2326640" y="4345305"/>
            <a:ext cx="28194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  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  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⊕ B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</a:p>
        </p:txBody>
      </p:sp>
      <p:grpSp>
        <p:nvGrpSpPr>
          <p:cNvPr id="65546" name="Group 122"/>
          <p:cNvGrpSpPr/>
          <p:nvPr/>
        </p:nvGrpSpPr>
        <p:grpSpPr>
          <a:xfrm>
            <a:off x="2949575" y="3999230"/>
            <a:ext cx="76200" cy="285750"/>
            <a:chOff x="1632" y="3456"/>
            <a:chExt cx="48" cy="240"/>
          </a:xfrm>
          <a:solidFill>
            <a:schemeClr val="tx1"/>
          </a:solidFill>
        </p:grpSpPr>
        <p:sp>
          <p:nvSpPr>
            <p:cNvPr id="65547" name="Oval 118"/>
            <p:cNvSpPr/>
            <p:nvPr/>
          </p:nvSpPr>
          <p:spPr>
            <a:xfrm>
              <a:off x="1632" y="3456"/>
              <a:ext cx="48" cy="48"/>
            </a:xfrm>
            <a:prstGeom prst="ellipse">
              <a:avLst/>
            </a:prstGeom>
            <a:grpFill/>
            <a:ln w="28575" cap="flat" cmpd="sng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65548" name="Oval 119"/>
            <p:cNvSpPr/>
            <p:nvPr/>
          </p:nvSpPr>
          <p:spPr>
            <a:xfrm>
              <a:off x="1632" y="3552"/>
              <a:ext cx="48" cy="48"/>
            </a:xfrm>
            <a:prstGeom prst="ellipse">
              <a:avLst/>
            </a:prstGeom>
            <a:grpFill/>
            <a:ln w="28575" cap="flat" cmpd="sng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65549" name="Oval 120"/>
            <p:cNvSpPr/>
            <p:nvPr/>
          </p:nvSpPr>
          <p:spPr>
            <a:xfrm>
              <a:off x="1632" y="3648"/>
              <a:ext cx="48" cy="48"/>
            </a:xfrm>
            <a:prstGeom prst="ellipse">
              <a:avLst/>
            </a:prstGeom>
            <a:grpFill/>
            <a:ln w="28575" cap="flat" cmpd="sng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</p:grpSp>
      <p:sp>
        <p:nvSpPr>
          <p:cNvPr id="69646" name="Rectangle 121"/>
          <p:cNvSpPr>
            <a:spLocks noGrp="1"/>
          </p:cNvSpPr>
          <p:nvPr>
            <p:ph type="title"/>
          </p:nvPr>
        </p:nvSpPr>
        <p:spPr>
          <a:xfrm>
            <a:off x="803275" y="715963"/>
            <a:ext cx="84582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/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反之，由典型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Gray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码也可以得到二进制码，如下：</a:t>
            </a:r>
          </a:p>
        </p:txBody>
      </p:sp>
    </p:spTree>
  </p:cSld>
  <p:clrMapOvr>
    <a:masterClrMapping/>
  </p:clrMapOvr>
  <p:transition advTm="25000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日期占位符 1"/>
          <p:cNvSpPr txBox="1">
            <a:spLocks noGrp="1"/>
          </p:cNvSpPr>
          <p:nvPr>
            <p:ph type="dt" sz="half" idx="2"/>
          </p:nvPr>
        </p:nvSpPr>
        <p:spPr>
          <a:noFill/>
        </p:spPr>
        <p:txBody>
          <a:bodyPr lIns="91440" tIns="45720" rIns="91440" bIns="45720" rtlCol="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105A22A-BE47-4644-99A4-8C4DEEB8EDAC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70659" name="灯片编号占位符 3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900" dirty="0">
                <a:solidFill>
                  <a:srgbClr val="898989"/>
                </a:solidFill>
                <a:latin typeface="Times New Roman" panose="02020603050405020304" pitchFamily="18" charset="0"/>
              </a:rPr>
              <a:t>57</a:t>
            </a:fld>
            <a:endParaRPr lang="zh-CN" altLang="en-US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70660" name="Group 4"/>
          <p:cNvGrpSpPr/>
          <p:nvPr/>
        </p:nvGrpSpPr>
        <p:grpSpPr>
          <a:xfrm>
            <a:off x="5010150" y="2840038"/>
            <a:ext cx="495300" cy="714375"/>
            <a:chOff x="2784" y="624"/>
            <a:chExt cx="432" cy="768"/>
          </a:xfrm>
        </p:grpSpPr>
        <p:sp>
          <p:nvSpPr>
            <p:cNvPr id="70702" name="Text Box 5"/>
            <p:cNvSpPr txBox="1"/>
            <p:nvPr/>
          </p:nvSpPr>
          <p:spPr>
            <a:xfrm>
              <a:off x="2832" y="816"/>
              <a:ext cx="288" cy="393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⊕</a:t>
              </a:r>
            </a:p>
          </p:txBody>
        </p:sp>
        <p:sp>
          <p:nvSpPr>
            <p:cNvPr id="70703" name="Line 6"/>
            <p:cNvSpPr/>
            <p:nvPr/>
          </p:nvSpPr>
          <p:spPr>
            <a:xfrm flipH="1">
              <a:off x="3024" y="624"/>
              <a:ext cx="144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0704" name="Line 7"/>
            <p:cNvSpPr/>
            <p:nvPr/>
          </p:nvSpPr>
          <p:spPr>
            <a:xfrm>
              <a:off x="3024" y="1104"/>
              <a:ext cx="192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0705" name="Line 8"/>
            <p:cNvSpPr/>
            <p:nvPr/>
          </p:nvSpPr>
          <p:spPr>
            <a:xfrm flipV="1">
              <a:off x="2784" y="1056"/>
              <a:ext cx="192" cy="33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70661" name="Group 9"/>
          <p:cNvGrpSpPr/>
          <p:nvPr/>
        </p:nvGrpSpPr>
        <p:grpSpPr>
          <a:xfrm>
            <a:off x="4248150" y="2840038"/>
            <a:ext cx="495300" cy="714375"/>
            <a:chOff x="2784" y="624"/>
            <a:chExt cx="432" cy="768"/>
          </a:xfrm>
        </p:grpSpPr>
        <p:sp>
          <p:nvSpPr>
            <p:cNvPr id="70698" name="Text Box 10"/>
            <p:cNvSpPr txBox="1"/>
            <p:nvPr/>
          </p:nvSpPr>
          <p:spPr>
            <a:xfrm>
              <a:off x="2832" y="816"/>
              <a:ext cx="288" cy="393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⊕</a:t>
              </a:r>
            </a:p>
          </p:txBody>
        </p:sp>
        <p:sp>
          <p:nvSpPr>
            <p:cNvPr id="70699" name="Line 11"/>
            <p:cNvSpPr/>
            <p:nvPr/>
          </p:nvSpPr>
          <p:spPr>
            <a:xfrm flipH="1">
              <a:off x="3024" y="624"/>
              <a:ext cx="144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0700" name="Line 12"/>
            <p:cNvSpPr/>
            <p:nvPr/>
          </p:nvSpPr>
          <p:spPr>
            <a:xfrm>
              <a:off x="3024" y="1104"/>
              <a:ext cx="192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0701" name="Line 13"/>
            <p:cNvSpPr/>
            <p:nvPr/>
          </p:nvSpPr>
          <p:spPr>
            <a:xfrm flipV="1">
              <a:off x="2784" y="1056"/>
              <a:ext cx="192" cy="33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70662" name="Group 14"/>
          <p:cNvGrpSpPr/>
          <p:nvPr/>
        </p:nvGrpSpPr>
        <p:grpSpPr>
          <a:xfrm>
            <a:off x="3486150" y="2840038"/>
            <a:ext cx="495300" cy="714375"/>
            <a:chOff x="2784" y="624"/>
            <a:chExt cx="432" cy="768"/>
          </a:xfrm>
        </p:grpSpPr>
        <p:sp>
          <p:nvSpPr>
            <p:cNvPr id="70694" name="Text Box 15"/>
            <p:cNvSpPr txBox="1"/>
            <p:nvPr/>
          </p:nvSpPr>
          <p:spPr>
            <a:xfrm>
              <a:off x="2832" y="816"/>
              <a:ext cx="288" cy="393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⊕</a:t>
              </a:r>
            </a:p>
          </p:txBody>
        </p:sp>
        <p:sp>
          <p:nvSpPr>
            <p:cNvPr id="70695" name="Line 16"/>
            <p:cNvSpPr/>
            <p:nvPr/>
          </p:nvSpPr>
          <p:spPr>
            <a:xfrm flipH="1">
              <a:off x="3024" y="624"/>
              <a:ext cx="144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0696" name="Line 17"/>
            <p:cNvSpPr/>
            <p:nvPr/>
          </p:nvSpPr>
          <p:spPr>
            <a:xfrm>
              <a:off x="3024" y="1104"/>
              <a:ext cx="192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0697" name="Line 18"/>
            <p:cNvSpPr/>
            <p:nvPr/>
          </p:nvSpPr>
          <p:spPr>
            <a:xfrm flipV="1">
              <a:off x="2784" y="1056"/>
              <a:ext cx="192" cy="33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70663" name="Line 19"/>
          <p:cNvSpPr/>
          <p:nvPr/>
        </p:nvSpPr>
        <p:spPr>
          <a:xfrm>
            <a:off x="3487738" y="2795588"/>
            <a:ext cx="0" cy="758825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0664" name="Text Box 20"/>
          <p:cNvSpPr txBox="1"/>
          <p:nvPr/>
        </p:nvSpPr>
        <p:spPr>
          <a:xfrm>
            <a:off x="1156335" y="3541713"/>
            <a:ext cx="25908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二进制码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 </a:t>
            </a:r>
          </a:p>
        </p:txBody>
      </p:sp>
      <p:sp>
        <p:nvSpPr>
          <p:cNvPr id="70665" name="Text Box 21"/>
          <p:cNvSpPr txBox="1"/>
          <p:nvPr/>
        </p:nvSpPr>
        <p:spPr>
          <a:xfrm>
            <a:off x="4016375" y="3519488"/>
            <a:ext cx="609600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</a:p>
        </p:txBody>
      </p:sp>
      <p:sp>
        <p:nvSpPr>
          <p:cNvPr id="70666" name="Text Box 22"/>
          <p:cNvSpPr txBox="1"/>
          <p:nvPr/>
        </p:nvSpPr>
        <p:spPr>
          <a:xfrm>
            <a:off x="4778375" y="3519488"/>
            <a:ext cx="609600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</a:p>
        </p:txBody>
      </p:sp>
      <p:sp>
        <p:nvSpPr>
          <p:cNvPr id="70667" name="Text Box 23"/>
          <p:cNvSpPr txBox="1"/>
          <p:nvPr/>
        </p:nvSpPr>
        <p:spPr>
          <a:xfrm>
            <a:off x="5540375" y="3519488"/>
            <a:ext cx="609600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</a:p>
        </p:txBody>
      </p:sp>
      <p:sp>
        <p:nvSpPr>
          <p:cNvPr id="70668" name="Text Box 24"/>
          <p:cNvSpPr txBox="1"/>
          <p:nvPr/>
        </p:nvSpPr>
        <p:spPr>
          <a:xfrm>
            <a:off x="3254375" y="3519488"/>
            <a:ext cx="609600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</a:p>
        </p:txBody>
      </p:sp>
      <p:sp>
        <p:nvSpPr>
          <p:cNvPr id="70669" name="Text Box 25"/>
          <p:cNvSpPr txBox="1"/>
          <p:nvPr/>
        </p:nvSpPr>
        <p:spPr>
          <a:xfrm>
            <a:off x="658813" y="2484438"/>
            <a:ext cx="73152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例：典型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Gray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码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1   1      1     0</a:t>
            </a:r>
          </a:p>
        </p:txBody>
      </p:sp>
      <p:grpSp>
        <p:nvGrpSpPr>
          <p:cNvPr id="70670" name="Group 26"/>
          <p:cNvGrpSpPr/>
          <p:nvPr/>
        </p:nvGrpSpPr>
        <p:grpSpPr>
          <a:xfrm>
            <a:off x="5483225" y="1220788"/>
            <a:ext cx="374650" cy="652462"/>
            <a:chOff x="2784" y="624"/>
            <a:chExt cx="432" cy="768"/>
          </a:xfrm>
        </p:grpSpPr>
        <p:sp>
          <p:nvSpPr>
            <p:cNvPr id="70690" name="Text Box 27"/>
            <p:cNvSpPr txBox="1"/>
            <p:nvPr/>
          </p:nvSpPr>
          <p:spPr>
            <a:xfrm>
              <a:off x="2832" y="816"/>
              <a:ext cx="288" cy="43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⊕</a:t>
              </a:r>
            </a:p>
          </p:txBody>
        </p:sp>
        <p:sp>
          <p:nvSpPr>
            <p:cNvPr id="70691" name="Line 28"/>
            <p:cNvSpPr/>
            <p:nvPr/>
          </p:nvSpPr>
          <p:spPr>
            <a:xfrm flipH="1">
              <a:off x="3024" y="624"/>
              <a:ext cx="144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0692" name="Line 29"/>
            <p:cNvSpPr/>
            <p:nvPr/>
          </p:nvSpPr>
          <p:spPr>
            <a:xfrm>
              <a:off x="3024" y="1104"/>
              <a:ext cx="192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0693" name="Line 30"/>
            <p:cNvSpPr/>
            <p:nvPr/>
          </p:nvSpPr>
          <p:spPr>
            <a:xfrm flipV="1">
              <a:off x="2784" y="1056"/>
              <a:ext cx="192" cy="33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70671" name="Group 31"/>
          <p:cNvGrpSpPr/>
          <p:nvPr/>
        </p:nvGrpSpPr>
        <p:grpSpPr>
          <a:xfrm>
            <a:off x="4721225" y="1220788"/>
            <a:ext cx="374650" cy="652462"/>
            <a:chOff x="2784" y="624"/>
            <a:chExt cx="432" cy="768"/>
          </a:xfrm>
        </p:grpSpPr>
        <p:sp>
          <p:nvSpPr>
            <p:cNvPr id="70686" name="Text Box 32"/>
            <p:cNvSpPr txBox="1"/>
            <p:nvPr/>
          </p:nvSpPr>
          <p:spPr>
            <a:xfrm>
              <a:off x="2832" y="816"/>
              <a:ext cx="288" cy="43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⊕</a:t>
              </a:r>
            </a:p>
          </p:txBody>
        </p:sp>
        <p:sp>
          <p:nvSpPr>
            <p:cNvPr id="70687" name="Line 33"/>
            <p:cNvSpPr/>
            <p:nvPr/>
          </p:nvSpPr>
          <p:spPr>
            <a:xfrm flipH="1">
              <a:off x="3024" y="624"/>
              <a:ext cx="144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0688" name="Line 34"/>
            <p:cNvSpPr/>
            <p:nvPr/>
          </p:nvSpPr>
          <p:spPr>
            <a:xfrm>
              <a:off x="3024" y="1104"/>
              <a:ext cx="192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0689" name="Line 35"/>
            <p:cNvSpPr/>
            <p:nvPr/>
          </p:nvSpPr>
          <p:spPr>
            <a:xfrm flipV="1">
              <a:off x="2784" y="1056"/>
              <a:ext cx="192" cy="33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70672" name="Group 36"/>
          <p:cNvGrpSpPr/>
          <p:nvPr/>
        </p:nvGrpSpPr>
        <p:grpSpPr>
          <a:xfrm>
            <a:off x="3344863" y="1220788"/>
            <a:ext cx="374650" cy="652462"/>
            <a:chOff x="2784" y="624"/>
            <a:chExt cx="432" cy="768"/>
          </a:xfrm>
        </p:grpSpPr>
        <p:sp>
          <p:nvSpPr>
            <p:cNvPr id="70682" name="Text Box 37"/>
            <p:cNvSpPr txBox="1"/>
            <p:nvPr/>
          </p:nvSpPr>
          <p:spPr>
            <a:xfrm>
              <a:off x="2832" y="816"/>
              <a:ext cx="288" cy="43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⊕</a:t>
              </a:r>
            </a:p>
          </p:txBody>
        </p:sp>
        <p:sp>
          <p:nvSpPr>
            <p:cNvPr id="70683" name="Line 38"/>
            <p:cNvSpPr/>
            <p:nvPr/>
          </p:nvSpPr>
          <p:spPr>
            <a:xfrm flipH="1">
              <a:off x="3024" y="624"/>
              <a:ext cx="144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0684" name="Line 39"/>
            <p:cNvSpPr/>
            <p:nvPr/>
          </p:nvSpPr>
          <p:spPr>
            <a:xfrm>
              <a:off x="3024" y="1104"/>
              <a:ext cx="192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0685" name="Line 40"/>
            <p:cNvSpPr/>
            <p:nvPr/>
          </p:nvSpPr>
          <p:spPr>
            <a:xfrm flipV="1">
              <a:off x="2784" y="1056"/>
              <a:ext cx="192" cy="33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70673" name="Line 41"/>
          <p:cNvSpPr/>
          <p:nvPr/>
        </p:nvSpPr>
        <p:spPr>
          <a:xfrm>
            <a:off x="3268663" y="1179513"/>
            <a:ext cx="1587" cy="693737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0674" name="Text Box 42"/>
          <p:cNvSpPr txBox="1"/>
          <p:nvPr/>
        </p:nvSpPr>
        <p:spPr>
          <a:xfrm>
            <a:off x="1165225" y="1944688"/>
            <a:ext cx="24384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二进制码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en-US" altLang="zh-CN" sz="1800" b="1" baseline="-25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0675" name="Text Box 43"/>
          <p:cNvSpPr txBox="1"/>
          <p:nvPr/>
        </p:nvSpPr>
        <p:spPr>
          <a:xfrm>
            <a:off x="6086475" y="1920875"/>
            <a:ext cx="76200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endParaRPr lang="en-US" altLang="zh-CN" sz="18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0676" name="Text Box 44"/>
          <p:cNvSpPr txBox="1"/>
          <p:nvPr/>
        </p:nvSpPr>
        <p:spPr>
          <a:xfrm>
            <a:off x="5400675" y="1933575"/>
            <a:ext cx="76200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endParaRPr lang="en-US" altLang="zh-CN" sz="18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0677" name="Text Box 45"/>
          <p:cNvSpPr txBox="1"/>
          <p:nvPr/>
        </p:nvSpPr>
        <p:spPr>
          <a:xfrm>
            <a:off x="3800475" y="1933575"/>
            <a:ext cx="91440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n-2</a:t>
            </a:r>
          </a:p>
        </p:txBody>
      </p:sp>
      <p:sp>
        <p:nvSpPr>
          <p:cNvPr id="70678" name="Text Box 46"/>
          <p:cNvSpPr txBox="1"/>
          <p:nvPr/>
        </p:nvSpPr>
        <p:spPr>
          <a:xfrm>
            <a:off x="3038475" y="1933575"/>
            <a:ext cx="106680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n-1</a:t>
            </a:r>
          </a:p>
        </p:txBody>
      </p:sp>
      <p:sp>
        <p:nvSpPr>
          <p:cNvPr id="70679" name="Text Box 47"/>
          <p:cNvSpPr txBox="1"/>
          <p:nvPr/>
        </p:nvSpPr>
        <p:spPr>
          <a:xfrm>
            <a:off x="4562475" y="1887538"/>
            <a:ext cx="68580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…</a:t>
            </a:r>
            <a:endParaRPr lang="en-US" altLang="zh-CN" sz="18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0680" name="Text Box 48"/>
          <p:cNvSpPr txBox="1"/>
          <p:nvPr/>
        </p:nvSpPr>
        <p:spPr>
          <a:xfrm>
            <a:off x="3059113" y="744538"/>
            <a:ext cx="4465637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n-1</a:t>
            </a:r>
            <a:r>
              <a:rPr lang="zh-CN" altLang="en-US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n-2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…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G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G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</a:p>
        </p:txBody>
      </p:sp>
      <p:sp>
        <p:nvSpPr>
          <p:cNvPr id="70681" name="Rectangle 49"/>
          <p:cNvSpPr>
            <a:spLocks noGrp="1"/>
          </p:cNvSpPr>
          <p:nvPr>
            <p:ph type="title"/>
          </p:nvPr>
        </p:nvSpPr>
        <p:spPr>
          <a:xfrm>
            <a:off x="587375" y="860425"/>
            <a:ext cx="3733800" cy="8572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设：典型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Gray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码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</a:t>
            </a:r>
          </a:p>
        </p:txBody>
      </p:sp>
    </p:spTree>
  </p:cSld>
  <p:clrMapOvr>
    <a:masterClrMapping/>
  </p:clrMapOvr>
  <p:transition advTm="25000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1EAAB41-636D-4C28-8BDC-C23F7590A7EE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71683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  <a:t>58</a:t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70660" name="Rectangle 3"/>
          <p:cNvSpPr>
            <a:spLocks noGrp="1"/>
          </p:cNvSpPr>
          <p:nvPr>
            <p:ph idx="1"/>
          </p:nvPr>
        </p:nvSpPr>
        <p:spPr>
          <a:xfrm>
            <a:off x="822325" y="700088"/>
            <a:ext cx="7853363" cy="4067175"/>
          </a:xfrm>
          <a:noFill/>
          <a:ln>
            <a:noFill/>
          </a:ln>
        </p:spPr>
        <p:txBody>
          <a:bodyPr/>
          <a:lstStyle/>
          <a:p>
            <a:pPr eaLnBrk="1" hangingPunct="1">
              <a:buNone/>
            </a:pP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这种典型格雷码还有一个特点：</a:t>
            </a:r>
          </a:p>
          <a:p>
            <a:pPr eaLnBrk="1" hangingPunct="1">
              <a:buNone/>
            </a:pP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所有对应于十进制数</a:t>
            </a:r>
            <a:r>
              <a:rPr lang="en-US" altLang="zh-CN" sz="1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 </a:t>
            </a:r>
            <a:r>
              <a:rPr lang="en-US" altLang="zh-CN" sz="1800" baseline="30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m </a:t>
            </a:r>
            <a:r>
              <a:rPr lang="en-US" altLang="zh-CN" sz="1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-1 </a:t>
            </a: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(m</a:t>
            </a: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为正整数）的格雷码，都仅在</a:t>
            </a:r>
            <a:r>
              <a:rPr lang="en-US" altLang="zh-CN" sz="1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m</a:t>
            </a:r>
            <a:r>
              <a:rPr lang="zh-CN" altLang="en-US" sz="1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位上有 </a:t>
            </a:r>
            <a:r>
              <a:rPr lang="en-US" altLang="zh-CN" sz="1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endParaRPr lang="en-US" altLang="zh-CN" sz="18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buNone/>
            </a:pP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其他位都为</a:t>
            </a: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</a:p>
          <a:p>
            <a:pPr eaLnBrk="1" hangingPunct="1">
              <a:buNone/>
            </a:pP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例：</a:t>
            </a:r>
            <a:endParaRPr lang="zh-CN" altLang="en-US" sz="18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buNone/>
            </a:pP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m = 1 ,  2 </a:t>
            </a:r>
            <a:r>
              <a:rPr lang="en-US" altLang="zh-CN" sz="1800" baseline="30000" dirty="0">
                <a:latin typeface="华文新魏" panose="02010800040101010101" pitchFamily="2" charset="-122"/>
                <a:ea typeface="华文新魏" panose="02010800040101010101" pitchFamily="2" charset="-122"/>
              </a:rPr>
              <a:t>m</a:t>
            </a: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-1 = 1,       1</a:t>
            </a: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的典型格雷码是</a:t>
            </a: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0001</a:t>
            </a: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；</a:t>
            </a:r>
          </a:p>
          <a:p>
            <a:pPr eaLnBrk="1" hangingPunct="1">
              <a:buNone/>
            </a:pP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m = 2 ,  2 </a:t>
            </a:r>
            <a:r>
              <a:rPr lang="en-US" altLang="zh-CN" sz="1800" baseline="30000" dirty="0">
                <a:latin typeface="华文新魏" panose="02010800040101010101" pitchFamily="2" charset="-122"/>
                <a:ea typeface="华文新魏" panose="02010800040101010101" pitchFamily="2" charset="-122"/>
              </a:rPr>
              <a:t>m</a:t>
            </a: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-1 = 3,       3</a:t>
            </a: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的典型格雷码是</a:t>
            </a: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0010</a:t>
            </a: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；</a:t>
            </a:r>
          </a:p>
          <a:p>
            <a:pPr eaLnBrk="1" hangingPunct="1">
              <a:buNone/>
            </a:pP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m = 3 ,  2 </a:t>
            </a:r>
            <a:r>
              <a:rPr lang="en-US" altLang="zh-CN" sz="1800" baseline="30000" dirty="0">
                <a:latin typeface="华文新魏" panose="02010800040101010101" pitchFamily="2" charset="-122"/>
                <a:ea typeface="华文新魏" panose="02010800040101010101" pitchFamily="2" charset="-122"/>
              </a:rPr>
              <a:t>m</a:t>
            </a: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-1 = 7,       7</a:t>
            </a: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的典型格雷码是</a:t>
            </a: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0100</a:t>
            </a: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；</a:t>
            </a:r>
          </a:p>
          <a:p>
            <a:pPr eaLnBrk="1" hangingPunct="1">
              <a:buNone/>
            </a:pP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m = 4 ,  2 </a:t>
            </a:r>
            <a:r>
              <a:rPr lang="en-US" altLang="zh-CN" sz="1800" baseline="30000" dirty="0">
                <a:latin typeface="华文新魏" panose="02010800040101010101" pitchFamily="2" charset="-122"/>
                <a:ea typeface="华文新魏" panose="02010800040101010101" pitchFamily="2" charset="-122"/>
              </a:rPr>
              <a:t>m</a:t>
            </a: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-1 = 15,      15</a:t>
            </a: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的典型格雷码是</a:t>
            </a: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1000</a:t>
            </a: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</a:p>
          <a:p>
            <a:pPr eaLnBrk="1" hangingPunct="1">
              <a:buNone/>
            </a:pP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   </a:t>
            </a:r>
          </a:p>
          <a:p>
            <a:pPr eaLnBrk="1" hangingPunct="1">
              <a:buNone/>
            </a:pP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这些数与 </a:t>
            </a: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0 </a:t>
            </a: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之间只有一位的差别，回到 </a:t>
            </a: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仍能保持一位差别的特点，</a:t>
            </a:r>
            <a:endParaRPr lang="en-US" altLang="zh-CN" sz="18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buNone/>
            </a:pP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所以称作</a:t>
            </a:r>
            <a:r>
              <a:rPr lang="zh-CN" altLang="en-US" sz="1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循环码</a:t>
            </a: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，特别适用做二进制码计数器的编码。</a:t>
            </a:r>
          </a:p>
          <a:p>
            <a:pPr eaLnBrk="1" hangingPunct="1">
              <a:buNone/>
            </a:pPr>
            <a:endParaRPr lang="en-US" altLang="zh-CN" sz="18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>
                                            <p:txEl>
                                              <p:charRg st="70" end="7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>
                                            <p:txEl>
                                              <p:charRg st="73" end="1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>
                                            <p:txEl>
                                              <p:charRg st="118" end="16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>
                                            <p:txEl>
                                              <p:charRg st="161" end="20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>
                                            <p:txEl>
                                              <p:charRg st="204" end="2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>
                                            <p:txEl>
                                              <p:charRg st="248" end="25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>
                                            <p:txEl>
                                              <p:charRg st="259" end="30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>
                                            <p:txEl>
                                              <p:charRg st="301" end="3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14469E7-86DF-42DB-9967-93334B0B5AFE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72707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  <a:t>59</a:t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72708" name="Rectangle 2"/>
          <p:cNvSpPr>
            <a:spLocks noGrp="1"/>
          </p:cNvSpPr>
          <p:nvPr>
            <p:ph type="title"/>
          </p:nvPr>
        </p:nvSpPr>
        <p:spPr>
          <a:xfrm>
            <a:off x="917575" y="949325"/>
            <a:ext cx="7031990" cy="49149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十进制</a:t>
            </a:r>
            <a:r>
              <a:rPr lang="en-US" altLang="zh-CN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Gray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码：代码特征应符合</a:t>
            </a:r>
            <a:r>
              <a:rPr lang="en-US" altLang="zh-CN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Gray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码的要求，且十六选十。</a:t>
            </a:r>
          </a:p>
        </p:txBody>
      </p:sp>
      <p:sp>
        <p:nvSpPr>
          <p:cNvPr id="72709" name="Rectangle 6"/>
          <p:cNvSpPr>
            <a:spLocks noGrp="1"/>
          </p:cNvSpPr>
          <p:nvPr>
            <p:ph idx="1"/>
          </p:nvPr>
        </p:nvSpPr>
        <p:spPr>
          <a:xfrm>
            <a:off x="1019810" y="1681480"/>
            <a:ext cx="7772400" cy="2845435"/>
          </a:xfrm>
          <a:noFill/>
          <a:ln>
            <a:noFill/>
          </a:ln>
        </p:spPr>
        <p:txBody>
          <a:bodyPr/>
          <a:lstStyle/>
          <a:p>
            <a:pPr eaLnBrk="1" hangingPunct="1">
              <a:buNone/>
            </a:pP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使得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9 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回到 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0 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也只有一位差别，并保持</a:t>
            </a:r>
          </a:p>
          <a:p>
            <a:pPr eaLnBrk="1" hangingPunct="1">
              <a:buNone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循环码的特色，表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1-4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中已列出了其中二种（教材中只给出了一种）：</a:t>
            </a:r>
          </a:p>
          <a:p>
            <a:pPr eaLnBrk="1" hangingPunct="1">
              <a:buNone/>
            </a:pP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 十进制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Gray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码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(1)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kumimoji="1" lang="en-US" altLang="zh-CN" sz="2000" b="1">
                <a:ln>
                  <a:noFill/>
                </a:ln>
                <a:effectLst/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0000,0001,0011,0010,0110,</a:t>
            </a:r>
            <a:endParaRPr kumimoji="1" lang="en-US" altLang="zh-CN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000" b="1">
                <a:ln>
                  <a:noFill/>
                </a:ln>
                <a:effectLst/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                 1110,1010,1011,1001,1000</a:t>
            </a:r>
            <a:endParaRPr kumimoji="1" lang="en-US" altLang="zh-CN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十进制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Gray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码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(2)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：</a:t>
            </a:r>
            <a:r>
              <a:rPr kumimoji="1" lang="en-US" altLang="zh-CN" sz="2000" b="1">
                <a:ln>
                  <a:noFill/>
                </a:ln>
                <a:effectLst/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0000</a:t>
            </a:r>
            <a:r>
              <a:rPr kumimoji="1" lang="en-US" altLang="zh-CN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kumimoji="1" lang="en-US" altLang="zh-CN" sz="2000" b="1">
                <a:ln>
                  <a:noFill/>
                </a:ln>
                <a:effectLst/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0001,0011</a:t>
            </a:r>
            <a:r>
              <a:rPr kumimoji="1" lang="en-US" altLang="zh-CN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kumimoji="1" lang="en-US" altLang="zh-CN" sz="2000" b="1">
                <a:ln>
                  <a:noFill/>
                </a:ln>
                <a:effectLst/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0010</a:t>
            </a:r>
            <a:r>
              <a:rPr kumimoji="1" lang="en-US" altLang="zh-CN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kumimoji="1" lang="en-US" altLang="zh-CN" sz="2000" b="1">
                <a:ln>
                  <a:noFill/>
                </a:ln>
                <a:effectLst/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0110,</a:t>
            </a:r>
            <a:endParaRPr kumimoji="1" lang="en-US" altLang="zh-CN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000" b="1">
                <a:ln>
                  <a:noFill/>
                </a:ln>
                <a:effectLst/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                 0111</a:t>
            </a:r>
            <a:r>
              <a:rPr kumimoji="1" lang="en-US" altLang="zh-CN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kumimoji="1" lang="en-US" altLang="zh-CN" sz="2000" b="1">
                <a:ln>
                  <a:noFill/>
                </a:ln>
                <a:effectLst/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0101,0100,1100,1000</a:t>
            </a:r>
            <a:endParaRPr kumimoji="1" lang="en-US" altLang="zh-CN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 eaLnBrk="1" hangingPunct="1">
              <a:buNone/>
            </a:pP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advTm="25000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B81B4FA-CC3C-4BBE-B998-15C345DF7FF2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73731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  <a:t>60</a:t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73732" name="Rectangle 2"/>
          <p:cNvSpPr>
            <a:spLocks noGrp="1"/>
          </p:cNvSpPr>
          <p:nvPr>
            <p:ph type="title"/>
          </p:nvPr>
        </p:nvSpPr>
        <p:spPr>
          <a:xfrm>
            <a:off x="684213" y="771525"/>
            <a:ext cx="7772400" cy="68580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2) 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奇偶校验码（</a:t>
            </a:r>
            <a:r>
              <a:rPr lang="en-US" altLang="zh-CN" sz="1800" b="1" i="1" dirty="0">
                <a:latin typeface="黑体" panose="02010609060101010101" pitchFamily="49" charset="-122"/>
                <a:ea typeface="黑体" panose="02010609060101010101" pitchFamily="49" charset="-122"/>
              </a:rPr>
              <a:t>Parity Code</a:t>
            </a:r>
            <a:r>
              <a:rPr lang="zh-CN" altLang="en-US" sz="1800" b="1" i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</p:txBody>
      </p:sp>
      <p:sp>
        <p:nvSpPr>
          <p:cNvPr id="72709" name="Rectangle 3"/>
          <p:cNvSpPr>
            <a:spLocks noGrp="1"/>
          </p:cNvSpPr>
          <p:nvPr>
            <p:ph idx="1"/>
          </p:nvPr>
        </p:nvSpPr>
        <p:spPr>
          <a:xfrm>
            <a:off x="654050" y="1987550"/>
            <a:ext cx="8915400" cy="3086100"/>
          </a:xfrm>
          <a:noFill/>
          <a:ln>
            <a:noFill/>
          </a:ln>
        </p:spPr>
        <p:txBody>
          <a:bodyPr/>
          <a:lstStyle/>
          <a:p>
            <a:pPr eaLnBrk="1" hangingPunct="1">
              <a:lnSpc>
                <a:spcPct val="100000"/>
              </a:lnSpc>
            </a:pP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偶校验：</a:t>
            </a:r>
            <a:endParaRPr lang="zh-CN" altLang="en-US" sz="1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00000"/>
              </a:lnSpc>
              <a:buNone/>
            </a:pP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     校验位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的取值使校验码中“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1”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的个数是偶数；</a:t>
            </a:r>
          </a:p>
          <a:p>
            <a:pPr eaLnBrk="1" hangingPunct="1">
              <a:lnSpc>
                <a:spcPct val="100000"/>
              </a:lnSpc>
              <a:buNone/>
            </a:pP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             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lang="zh-CN" altLang="en-US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偶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= B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zh-CN" altLang="en-US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－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 ⊕ B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zh-CN" altLang="en-US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－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 ⊕ …⊕ B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 ⊕ B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</a:p>
          <a:p>
            <a:pPr eaLnBrk="1" hangingPunct="1">
              <a:lnSpc>
                <a:spcPct val="100000"/>
              </a:lnSpc>
            </a:pPr>
            <a:r>
              <a:rPr lang="zh-CN" altLang="en-US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奇校验：</a:t>
            </a:r>
            <a:endParaRPr lang="zh-CN" altLang="en-US" sz="1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00000"/>
              </a:lnSpc>
              <a:buNone/>
            </a:pP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      校验位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的取值使校验码中“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1”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的个数是奇数；</a:t>
            </a:r>
          </a:p>
          <a:p>
            <a:pPr eaLnBrk="1" hangingPunct="1">
              <a:lnSpc>
                <a:spcPct val="100000"/>
              </a:lnSpc>
              <a:buNone/>
            </a:pP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             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lang="zh-CN" altLang="en-US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奇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= B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zh-CN" altLang="en-US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－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 ⊕ B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zh-CN" altLang="en-US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－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 ⊕ …⊕ B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 ⊕ B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0 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⊕1</a:t>
            </a:r>
            <a:endParaRPr lang="en-US" altLang="zh-CN" sz="1800" b="1" baseline="-25000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3734" name="Text Box 6"/>
          <p:cNvSpPr txBox="1"/>
          <p:nvPr/>
        </p:nvSpPr>
        <p:spPr>
          <a:xfrm>
            <a:off x="3048000" y="1387475"/>
            <a:ext cx="2820144" cy="369332"/>
          </a:xfrm>
          <a:prstGeom prst="rect">
            <a:avLst/>
          </a:prstGeom>
          <a:noFill/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zh-CN" altLang="en-US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－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B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n</a:t>
            </a:r>
            <a:r>
              <a:rPr lang="zh-CN" altLang="en-US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－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1 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1800" b="1" dirty="0">
                <a:solidFill>
                  <a:schemeClr val="tx1"/>
                </a:solidFill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～ </a:t>
            </a:r>
            <a:r>
              <a:rPr lang="zh-CN" altLang="en-US" sz="1800" b="1" dirty="0">
                <a:solidFill>
                  <a:schemeClr val="tx1"/>
                </a:solidFill>
                <a:uFillTx/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B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1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</a:t>
            </a:r>
            <a:r>
              <a:rPr lang="zh-CN" altLang="en-US" sz="1800" b="1" dirty="0">
                <a:solidFill>
                  <a:schemeClr val="tx1"/>
                </a:solidFill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B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 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</a:p>
        </p:txBody>
      </p:sp>
      <p:sp>
        <p:nvSpPr>
          <p:cNvPr id="73735" name="Line 8"/>
          <p:cNvSpPr/>
          <p:nvPr/>
        </p:nvSpPr>
        <p:spPr>
          <a:xfrm rot="120000">
            <a:off x="5528945" y="1387475"/>
            <a:ext cx="13335" cy="3683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3736" name="Text Box 9"/>
          <p:cNvSpPr txBox="1"/>
          <p:nvPr/>
        </p:nvSpPr>
        <p:spPr>
          <a:xfrm>
            <a:off x="838200" y="1387475"/>
            <a:ext cx="1897380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奇偶校验码模式：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716655" y="1726565"/>
            <a:ext cx="118237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n</a:t>
            </a:r>
            <a:r>
              <a:rPr lang="zh-CN" altLang="en-US" sz="16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位信息位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245735" y="1798320"/>
            <a:ext cx="98933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1</a:t>
            </a:r>
            <a:r>
              <a:rPr lang="zh-CN" altLang="en-US" sz="1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位校验位</a:t>
            </a: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E22470B-E46A-4196-A9DA-E4435BB09F9C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74755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  <a:t>61</a:t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74756" name="Rectangle 2"/>
          <p:cNvSpPr>
            <a:spLocks noGrp="1"/>
          </p:cNvSpPr>
          <p:nvPr>
            <p:ph type="title"/>
          </p:nvPr>
        </p:nvSpPr>
        <p:spPr>
          <a:xfrm>
            <a:off x="744538" y="957263"/>
            <a:ext cx="8686800" cy="85725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问题：① 奇偶校验码能发现单错，但不能对单错定位；</a:t>
            </a:r>
            <a:b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  ② 奇偶校验码不能发现双错；</a:t>
            </a:r>
          </a:p>
        </p:txBody>
      </p:sp>
      <p:sp>
        <p:nvSpPr>
          <p:cNvPr id="74757" name="Rectangle 3"/>
          <p:cNvSpPr>
            <a:spLocks noGrp="1"/>
          </p:cNvSpPr>
          <p:nvPr>
            <p:ph idx="1"/>
          </p:nvPr>
        </p:nvSpPr>
        <p:spPr>
          <a:xfrm>
            <a:off x="730250" y="1928813"/>
            <a:ext cx="8686800" cy="1257300"/>
          </a:xfrm>
          <a:noFill/>
          <a:ln>
            <a:noFill/>
          </a:ln>
        </p:spPr>
        <p:txBody>
          <a:bodyPr/>
          <a:lstStyle/>
          <a:p>
            <a:pPr eaLnBrk="1" hangingPunct="1"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对于问题① ，或要求重新再发；</a:t>
            </a:r>
          </a:p>
          <a:p>
            <a:pPr eaLnBrk="1" hangingPunct="1"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         或在信息传送中采用横向及纵向奇偶</a:t>
            </a:r>
          </a:p>
          <a:p>
            <a:pPr eaLnBrk="1" hangingPunct="1"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         校验，即可对单错定位（按组为单位进行纵向编码）。</a:t>
            </a:r>
          </a:p>
        </p:txBody>
      </p:sp>
      <p:sp>
        <p:nvSpPr>
          <p:cNvPr id="74758" name="Text Box 6"/>
          <p:cNvSpPr txBox="1"/>
          <p:nvPr/>
        </p:nvSpPr>
        <p:spPr>
          <a:xfrm>
            <a:off x="730250" y="3228975"/>
            <a:ext cx="868680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对于问题② ，试想：为什么奇偶校验码不能发现双错？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7588F75-39EA-4889-8D83-5085FF46159B}"/>
              </a:ext>
            </a:extLst>
          </p:cNvPr>
          <p:cNvSpPr txBox="1"/>
          <p:nvPr/>
        </p:nvSpPr>
        <p:spPr>
          <a:xfrm>
            <a:off x="1763688" y="4083918"/>
            <a:ext cx="41044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奇偶校验码的优势是什么？</a:t>
            </a: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837C8F5-D43E-4915-B5FC-EF279A27CCF6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75779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  <a:t>62</a:t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780" name="Rectangle 2"/>
          <p:cNvSpPr>
            <a:spLocks noGrp="1"/>
          </p:cNvSpPr>
          <p:nvPr>
            <p:ph type="title"/>
          </p:nvPr>
        </p:nvSpPr>
        <p:spPr>
          <a:xfrm>
            <a:off x="533400" y="688975"/>
            <a:ext cx="7772400" cy="62865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3)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海明校验码（</a:t>
            </a:r>
            <a:r>
              <a:rPr lang="en-US" altLang="zh-CN" sz="2400" b="1" i="1" dirty="0">
                <a:latin typeface="黑体" panose="02010609060101010101" pitchFamily="49" charset="-122"/>
                <a:ea typeface="黑体" panose="02010609060101010101" pitchFamily="49" charset="-122"/>
              </a:rPr>
              <a:t>Hamming codes</a:t>
            </a:r>
            <a:r>
              <a:rPr lang="zh-CN" altLang="en-US" sz="2400" b="1" i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</p:txBody>
      </p:sp>
      <p:sp>
        <p:nvSpPr>
          <p:cNvPr id="75781" name="Rectangle 3"/>
          <p:cNvSpPr>
            <a:spLocks noGrp="1"/>
          </p:cNvSpPr>
          <p:nvPr>
            <p:ph idx="1"/>
          </p:nvPr>
        </p:nvSpPr>
        <p:spPr>
          <a:xfrm>
            <a:off x="685800" y="1030288"/>
            <a:ext cx="7772400" cy="971550"/>
          </a:xfrm>
          <a:noFill/>
          <a:ln>
            <a:noFill/>
          </a:ln>
        </p:spPr>
        <p:txBody>
          <a:bodyPr/>
          <a:lstStyle/>
          <a:p>
            <a:pPr eaLnBrk="1" hangingPunct="1"/>
            <a:endParaRPr lang="zh-CN" altLang="en-US" sz="1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/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目的：不仅能检测出单错，还能校正单错</a:t>
            </a:r>
          </a:p>
          <a:p>
            <a:pPr eaLnBrk="1" hangingPunct="1"/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方法：增加校验位及相应的异或运算</a:t>
            </a:r>
          </a:p>
        </p:txBody>
      </p:sp>
      <p:sp>
        <p:nvSpPr>
          <p:cNvPr id="75782" name="Text Box 5"/>
          <p:cNvSpPr txBox="1"/>
          <p:nvPr/>
        </p:nvSpPr>
        <p:spPr>
          <a:xfrm>
            <a:off x="-107950" y="2211388"/>
            <a:ext cx="8272463" cy="11890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以四位信息位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为例，在传输前生成它的海明校验码：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⑴  位序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7   6   5   4   3 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  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      B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  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 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   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lang="en-US" altLang="zh-CN" sz="1800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 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lang="en-US" altLang="zh-CN" sz="1800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 sz="1800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lang="en-US" altLang="zh-CN" sz="1800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</a:p>
        </p:txBody>
      </p:sp>
      <p:sp>
        <p:nvSpPr>
          <p:cNvPr id="75783" name="Text Box 6"/>
          <p:cNvSpPr txBox="1"/>
          <p:nvPr/>
        </p:nvSpPr>
        <p:spPr>
          <a:xfrm>
            <a:off x="658813" y="3506788"/>
            <a:ext cx="7256462" cy="11988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⑵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校验位的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生成公式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＝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⊕ B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⊕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 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                     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＝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⊕ B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⊕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                     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＝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⊕ B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⊕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  </a:t>
            </a:r>
            <a:r>
              <a:rPr lang="zh-CN" altLang="en-US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偶校验</a:t>
            </a:r>
          </a:p>
        </p:txBody>
      </p:sp>
    </p:spTree>
  </p:cSld>
  <p:clrMapOvr>
    <a:masterClrMapping/>
  </p:clrMapOvr>
  <p:transition advTm="25000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1"/>
          <p:cNvSpPr txBox="1">
            <a:spLocks noGrp="1"/>
          </p:cNvSpPr>
          <p:nvPr>
            <p:ph type="dt" sz="half" idx="2"/>
          </p:nvPr>
        </p:nvSpPr>
        <p:spPr>
          <a:noFill/>
        </p:spPr>
        <p:txBody>
          <a:bodyPr lIns="91440" tIns="45720" rIns="91440" bIns="45720" rtlCol="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105A22A-BE47-4644-99A4-8C4DEEB8EDAC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76803" name="灯片编号占位符 3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900" dirty="0">
                <a:solidFill>
                  <a:srgbClr val="898989"/>
                </a:solidFill>
                <a:latin typeface="Times New Roman" panose="02020603050405020304" pitchFamily="18" charset="0"/>
              </a:rPr>
              <a:t>63</a:t>
            </a:fld>
            <a:endParaRPr lang="zh-CN" altLang="en-US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76804" name="Rectangle 3"/>
          <p:cNvSpPr>
            <a:spLocks noGrp="1"/>
          </p:cNvSpPr>
          <p:nvPr>
            <p:ph type="title"/>
          </p:nvPr>
        </p:nvSpPr>
        <p:spPr>
          <a:xfrm>
            <a:off x="398463" y="458788"/>
            <a:ext cx="7772400" cy="31432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algn="ctr" eaLnBrk="1" hangingPunct="1"/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表</a:t>
            </a:r>
            <a:r>
              <a:rPr lang="en-US" altLang="zh-CN" sz="1600" dirty="0">
                <a:latin typeface="黑体" panose="02010609060101010101" pitchFamily="49" charset="-122"/>
                <a:ea typeface="黑体" panose="02010609060101010101" pitchFamily="49" charset="-122"/>
              </a:rPr>
              <a:t>1-6  “8421”</a:t>
            </a: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海明码</a:t>
            </a:r>
          </a:p>
        </p:txBody>
      </p:sp>
      <p:graphicFrame>
        <p:nvGraphicFramePr>
          <p:cNvPr id="109703" name="Group 135"/>
          <p:cNvGraphicFramePr>
            <a:graphicFrameLocks noGrp="1"/>
          </p:cNvGraphicFramePr>
          <p:nvPr/>
        </p:nvGraphicFramePr>
        <p:xfrm>
          <a:off x="712788" y="744538"/>
          <a:ext cx="7239000" cy="4046541"/>
        </p:xfrm>
        <a:graphic>
          <a:graphicData uri="http://schemas.openxmlformats.org/drawingml/2006/table">
            <a:tbl>
              <a:tblPr/>
              <a:tblGrid>
                <a:gridCol w="90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768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位序</a:t>
                      </a:r>
                    </a:p>
                  </a:txBody>
                  <a:tcPr marT="34286" marB="3428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9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     .</a:t>
                      </a:r>
                    </a:p>
                  </a:txBody>
                  <a:tcPr marT="34286" marB="3428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r>
                        <a:rPr kumimoji="1" lang="en-US" altLang="zh-CN" sz="21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r>
                        <a:rPr kumimoji="1" lang="en-US" altLang="zh-CN" sz="21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r>
                        <a:rPr kumimoji="1" lang="en-US" altLang="zh-CN" sz="21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</a:t>
                      </a:r>
                      <a:r>
                        <a:rPr kumimoji="1" lang="en-US" altLang="zh-CN" sz="2100" b="1" i="0" u="none" strike="noStrike" cap="none" normalizeH="0" baseline="-2500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r>
                        <a:rPr kumimoji="1" lang="en-US" altLang="zh-CN" sz="21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</a:t>
                      </a:r>
                      <a:r>
                        <a:rPr kumimoji="1" lang="en-US" altLang="zh-CN" sz="2100" b="1" i="0" u="none" strike="noStrike" cap="none" normalizeH="0" baseline="-2500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</a:t>
                      </a:r>
                      <a:r>
                        <a:rPr kumimoji="1" lang="en-US" altLang="zh-CN" sz="2100" b="1" i="0" u="none" strike="noStrike" cap="none" normalizeH="0" baseline="-2500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68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34286" marB="3428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768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34286" marB="3428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768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T="34286" marB="3428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768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T="34286" marB="3428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768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T="34286" marB="3428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768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T="34286" marB="3428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768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marT="34286" marB="3428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768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marT="34286" marB="3428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768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marT="34286" marB="3428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768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</a:t>
                      </a:r>
                    </a:p>
                  </a:txBody>
                  <a:tcPr marT="34286" marB="3428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76924" name="Line 125"/>
          <p:cNvSpPr/>
          <p:nvPr/>
        </p:nvSpPr>
        <p:spPr>
          <a:xfrm>
            <a:off x="1143000" y="1058863"/>
            <a:ext cx="914400" cy="0"/>
          </a:xfrm>
          <a:prstGeom prst="line">
            <a:avLst/>
          </a:prstGeom>
          <a:ln w="9525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ransition advTm="25000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4039009-4750-47B7-A32F-CC457F09A79D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77827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  <a:t>64</a:t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77828" name="Rectangle 3"/>
          <p:cNvSpPr>
            <a:spLocks noGrp="1"/>
          </p:cNvSpPr>
          <p:nvPr>
            <p:ph type="title"/>
          </p:nvPr>
        </p:nvSpPr>
        <p:spPr>
          <a:xfrm>
            <a:off x="533400" y="615950"/>
            <a:ext cx="7772400" cy="51435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对传输后的海明码进行检错和校错：</a:t>
            </a:r>
          </a:p>
        </p:txBody>
      </p:sp>
      <p:sp>
        <p:nvSpPr>
          <p:cNvPr id="77829" name="Rectangle 4"/>
          <p:cNvSpPr>
            <a:spLocks noGrp="1"/>
          </p:cNvSpPr>
          <p:nvPr>
            <p:ph idx="1"/>
          </p:nvPr>
        </p:nvSpPr>
        <p:spPr>
          <a:xfrm>
            <a:off x="533400" y="1146175"/>
            <a:ext cx="7772400" cy="954088"/>
          </a:xfrm>
          <a:noFill/>
          <a:ln>
            <a:noFill/>
          </a:ln>
        </p:spPr>
        <p:txBody>
          <a:bodyPr/>
          <a:lstStyle/>
          <a:p>
            <a:pPr>
              <a:buNone/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⑶ 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校验和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S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＝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4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⊕ B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3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⊕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2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⊕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b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              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S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2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＝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4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⊕ B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3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⊕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1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⊕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2 </a:t>
            </a:r>
            <a:b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              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S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1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＝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4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⊕ B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2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⊕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1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⊕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</a:p>
        </p:txBody>
      </p:sp>
      <p:sp>
        <p:nvSpPr>
          <p:cNvPr id="77830" name="Text Box 5"/>
          <p:cNvSpPr txBox="1"/>
          <p:nvPr/>
        </p:nvSpPr>
        <p:spPr>
          <a:xfrm>
            <a:off x="533400" y="2100263"/>
            <a:ext cx="8382000" cy="11988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① 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当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=S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=S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0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时，接收到的信息是正确的；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②  当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1≤S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S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S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≤7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时，则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S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S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所表示的二进制值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便是出错的那一位的位序值。</a:t>
            </a:r>
          </a:p>
        </p:txBody>
      </p:sp>
      <p:sp>
        <p:nvSpPr>
          <p:cNvPr id="76807" name="Text Box 7"/>
          <p:cNvSpPr txBox="1"/>
          <p:nvPr/>
        </p:nvSpPr>
        <p:spPr>
          <a:xfrm>
            <a:off x="533400" y="3373438"/>
            <a:ext cx="8382000" cy="10493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8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例：接收到的海明码为：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7   6   5   4  3   2   1 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            B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  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 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  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 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 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            0   0   0   1  0   1   0</a:t>
            </a:r>
          </a:p>
        </p:txBody>
      </p:sp>
      <p:sp>
        <p:nvSpPr>
          <p:cNvPr id="76808" name="Text Box 10"/>
          <p:cNvSpPr txBox="1"/>
          <p:nvPr/>
        </p:nvSpPr>
        <p:spPr>
          <a:xfrm>
            <a:off x="1066800" y="4630738"/>
            <a:ext cx="7772400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8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则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S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S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=110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，表示第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(B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出错，改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  <p:sp>
        <p:nvSpPr>
          <p:cNvPr id="73734" name="Rectangle 11"/>
          <p:cNvSpPr/>
          <p:nvPr/>
        </p:nvSpPr>
        <p:spPr>
          <a:xfrm>
            <a:off x="3727450" y="4011930"/>
            <a:ext cx="376555" cy="40005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 cap="flat" cmpd="sng">
            <a:solidFill>
              <a:srgbClr val="003366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altLang="zh-CN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0</a:t>
            </a:r>
          </a:p>
        </p:txBody>
      </p:sp>
      <p:sp>
        <p:nvSpPr>
          <p:cNvPr id="107529" name="Text Box 9"/>
          <p:cNvSpPr txBox="1"/>
          <p:nvPr/>
        </p:nvSpPr>
        <p:spPr>
          <a:xfrm>
            <a:off x="3756343" y="4075113"/>
            <a:ext cx="301625" cy="27463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noFill/>
            <a:miter/>
          </a:ln>
        </p:spPr>
        <p:txBody>
          <a:bodyPr tIns="0" bIns="0">
            <a:spAutoFit/>
          </a:bodyPr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altLang="zh-CN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1</a:t>
            </a: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7" grpId="0"/>
      <p:bldP spid="76808" grpId="0"/>
      <p:bldP spid="73734" grpId="0" bldLvl="0" animBg="1"/>
      <p:bldP spid="107529" grpId="0" bldLvl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4C347C1-5C4C-44B4-94F5-D1EF769B2E2C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78851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  <a:t>65</a:t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78852" name="Rectangle 2"/>
          <p:cNvSpPr>
            <a:spLocks noGrp="1"/>
          </p:cNvSpPr>
          <p:nvPr>
            <p:ph type="title"/>
          </p:nvPr>
        </p:nvSpPr>
        <p:spPr>
          <a:xfrm>
            <a:off x="685800" y="487363"/>
            <a:ext cx="7772400" cy="457200"/>
          </a:xfrm>
          <a:noFill/>
          <a:ln>
            <a:noFill/>
          </a:ln>
        </p:spPr>
        <p:txBody>
          <a:bodyPr/>
          <a:lstStyle/>
          <a:p>
            <a:pPr algn="ctr" eaLnBrk="1" hangingPunct="1"/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表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1-7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出错表的确定</a:t>
            </a:r>
          </a:p>
        </p:txBody>
      </p:sp>
      <p:sp>
        <p:nvSpPr>
          <p:cNvPr id="77829" name="Rectangle 3"/>
          <p:cNvSpPr>
            <a:spLocks noGrp="1"/>
          </p:cNvSpPr>
          <p:nvPr>
            <p:ph idx="1"/>
          </p:nvPr>
        </p:nvSpPr>
        <p:spPr>
          <a:xfrm>
            <a:off x="381000" y="3246438"/>
            <a:ext cx="8534400" cy="415925"/>
          </a:xfrm>
          <a:noFill/>
          <a:ln>
            <a:noFill/>
          </a:ln>
        </p:spPr>
        <p:txBody>
          <a:bodyPr/>
          <a:lstStyle/>
          <a:p>
            <a:pPr marL="609600" indent="-609600" eaLnBrk="1" hangingPunct="1">
              <a:lnSpc>
                <a:spcPct val="70000"/>
              </a:lnSpc>
              <a:spcBef>
                <a:spcPct val="50000"/>
              </a:spcBef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设：信息位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位，校验位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k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位 则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(2</a:t>
            </a:r>
            <a:r>
              <a:rPr lang="en-US" altLang="zh-CN" sz="1800" baseline="30000" dirty="0">
                <a:latin typeface="黑体" panose="02010609060101010101" pitchFamily="49" charset="-122"/>
                <a:ea typeface="黑体" panose="02010609060101010101" pitchFamily="49" charset="-122"/>
              </a:rPr>
              <a:t>k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－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1)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－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k ≥ n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或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(2</a:t>
            </a:r>
            <a:r>
              <a:rPr lang="en-US" altLang="zh-CN" sz="1800" baseline="30000" dirty="0">
                <a:latin typeface="黑体" panose="02010609060101010101" pitchFamily="49" charset="-122"/>
                <a:ea typeface="黑体" panose="02010609060101010101" pitchFamily="49" charset="-122"/>
              </a:rPr>
              <a:t>k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－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1) ≥ n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＋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k  (?? n=5)</a:t>
            </a:r>
          </a:p>
        </p:txBody>
      </p:sp>
      <p:graphicFrame>
        <p:nvGraphicFramePr>
          <p:cNvPr id="110643" name="Group 51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381000" y="873125"/>
          <a:ext cx="7932738" cy="2212976"/>
        </p:xfrm>
        <a:graphic>
          <a:graphicData uri="http://schemas.openxmlformats.org/drawingml/2006/table">
            <a:tbl>
              <a:tblPr/>
              <a:tblGrid>
                <a:gridCol w="1700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32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68388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S</a:t>
                      </a:r>
                      <a:r>
                        <a:rPr kumimoji="1" lang="en-US" altLang="zh-CN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</a:t>
                      </a: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 </a:t>
                      </a: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＝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S</a:t>
                      </a:r>
                      <a:r>
                        <a:rPr kumimoji="1" lang="en-US" altLang="zh-CN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 </a:t>
                      </a: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＝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S</a:t>
                      </a:r>
                      <a:r>
                        <a:rPr kumimoji="1" lang="en-US" altLang="zh-CN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 </a:t>
                      </a: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＝</a:t>
                      </a:r>
                      <a:endParaRPr kumimoji="1" lang="zh-CN" altLang="en-US" sz="18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36" marR="91436" marT="35005" marB="3500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B</a:t>
                      </a:r>
                      <a:r>
                        <a:rPr kumimoji="1" lang="en-US" altLang="zh-CN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4  </a:t>
                      </a: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⊕   B</a:t>
                      </a:r>
                      <a:r>
                        <a:rPr kumimoji="1" lang="en-US" altLang="zh-CN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  </a:t>
                      </a: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⊕ </a:t>
                      </a:r>
                      <a:r>
                        <a:rPr kumimoji="1" lang="en-US" altLang="zh-CN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 </a:t>
                      </a: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B</a:t>
                      </a:r>
                      <a:r>
                        <a:rPr kumimoji="1" lang="en-US" altLang="zh-CN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  </a:t>
                      </a: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⊕ </a:t>
                      </a:r>
                      <a:r>
                        <a:rPr kumimoji="1" lang="en-US" altLang="zh-CN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 </a:t>
                      </a: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P</a:t>
                      </a:r>
                      <a:r>
                        <a:rPr kumimoji="1" lang="en-US" altLang="zh-CN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B</a:t>
                      </a:r>
                      <a:r>
                        <a:rPr kumimoji="1" lang="en-US" altLang="zh-CN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4  </a:t>
                      </a: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⊕   B</a:t>
                      </a:r>
                      <a:r>
                        <a:rPr kumimoji="1" lang="en-US" altLang="zh-CN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                        </a:t>
                      </a: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⊕ </a:t>
                      </a:r>
                      <a:r>
                        <a:rPr kumimoji="1" lang="en-US" altLang="zh-CN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 </a:t>
                      </a: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B</a:t>
                      </a:r>
                      <a:r>
                        <a:rPr kumimoji="1" lang="en-US" altLang="zh-CN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  </a:t>
                      </a: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⊕</a:t>
                      </a:r>
                      <a:r>
                        <a:rPr kumimoji="1" lang="en-US" altLang="zh-CN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    </a:t>
                      </a: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P</a:t>
                      </a:r>
                      <a:r>
                        <a:rPr kumimoji="1" lang="en-US" altLang="zh-CN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B</a:t>
                      </a:r>
                      <a:r>
                        <a:rPr kumimoji="1" lang="en-US" altLang="zh-CN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4              </a:t>
                      </a: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⊕  B</a:t>
                      </a:r>
                      <a:r>
                        <a:rPr kumimoji="1" lang="en-US" altLang="zh-CN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              </a:t>
                      </a: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⊕ </a:t>
                      </a:r>
                      <a:r>
                        <a:rPr kumimoji="1" lang="en-US" altLang="zh-CN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 </a:t>
                      </a: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B</a:t>
                      </a:r>
                      <a:r>
                        <a:rPr kumimoji="1" lang="en-US" altLang="zh-CN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             </a:t>
                      </a: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⊕ </a:t>
                      </a:r>
                      <a:r>
                        <a:rPr kumimoji="1" lang="en-US" altLang="zh-CN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 </a:t>
                      </a: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P</a:t>
                      </a:r>
                      <a:r>
                        <a:rPr kumimoji="1" lang="en-US" altLang="zh-CN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</a:p>
                  </a:txBody>
                  <a:tcPr marL="91436" marR="91436" marT="35005" marB="3500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838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S</a:t>
                      </a:r>
                      <a:r>
                        <a:rPr kumimoji="1" lang="en-US" altLang="zh-CN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</a:t>
                      </a: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 S</a:t>
                      </a:r>
                      <a:r>
                        <a:rPr kumimoji="1" lang="en-US" altLang="zh-CN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</a:t>
                      </a: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 S</a:t>
                      </a:r>
                      <a:r>
                        <a:rPr kumimoji="1" lang="en-US" altLang="zh-CN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</a:p>
                  </a:txBody>
                  <a:tcPr marL="91436" marR="91436" marT="35005" marB="3500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111    110    101    100    011     010   001   000</a:t>
                      </a:r>
                    </a:p>
                  </a:txBody>
                  <a:tcPr marL="91436" marR="91436" marT="35005" marB="3500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875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出错位序列</a:t>
                      </a:r>
                    </a:p>
                  </a:txBody>
                  <a:tcPr marL="91436" marR="91436" marT="35005" marB="3500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 7      6      5      4      3       2     1</a:t>
                      </a:r>
                    </a:p>
                  </a:txBody>
                  <a:tcPr marL="91436" marR="91436" marT="35005" marB="3500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875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出错位</a:t>
                      </a:r>
                    </a:p>
                  </a:txBody>
                  <a:tcPr marL="91436" marR="91436" marT="35005" marB="3500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 B</a:t>
                      </a:r>
                      <a:r>
                        <a:rPr kumimoji="1" lang="en-US" altLang="zh-CN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4 </a:t>
                      </a: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     B</a:t>
                      </a:r>
                      <a:r>
                        <a:rPr kumimoji="1" lang="en-US" altLang="zh-CN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 </a:t>
                      </a: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     B</a:t>
                      </a:r>
                      <a:r>
                        <a:rPr kumimoji="1" lang="en-US" altLang="zh-CN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 </a:t>
                      </a: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    P</a:t>
                      </a:r>
                      <a:r>
                        <a:rPr kumimoji="1" lang="en-US" altLang="zh-CN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        </a:t>
                      </a: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B</a:t>
                      </a:r>
                      <a:r>
                        <a:rPr kumimoji="1" lang="en-US" altLang="zh-CN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 </a:t>
                      </a: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      P</a:t>
                      </a:r>
                      <a:r>
                        <a:rPr kumimoji="1" lang="en-US" altLang="zh-CN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      </a:t>
                      </a: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P</a:t>
                      </a:r>
                      <a:r>
                        <a:rPr kumimoji="1" lang="en-US" altLang="zh-CN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</a:p>
                  </a:txBody>
                  <a:tcPr marL="91436" marR="91436" marT="35005" marB="3500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10645" name="Group 53"/>
          <p:cNvGraphicFramePr>
            <a:graphicFrameLocks noGrp="1"/>
          </p:cNvGraphicFramePr>
          <p:nvPr/>
        </p:nvGraphicFramePr>
        <p:xfrm>
          <a:off x="363538" y="3571875"/>
          <a:ext cx="7964487" cy="1460504"/>
        </p:xfrm>
        <a:graphic>
          <a:graphicData uri="http://schemas.openxmlformats.org/drawingml/2006/table">
            <a:tbl>
              <a:tblPr/>
              <a:tblGrid>
                <a:gridCol w="1768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0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6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45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8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43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032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99804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校验位数</a:t>
                      </a: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k</a:t>
                      </a:r>
                    </a:p>
                  </a:txBody>
                  <a:tcPr marL="91444" marR="91444" marT="34249" marB="34249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</a:p>
                  </a:txBody>
                  <a:tcPr marL="91444" marR="91444" marT="34249" marB="3424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</a:t>
                      </a:r>
                    </a:p>
                  </a:txBody>
                  <a:tcPr marL="91444" marR="91444" marT="34249" marB="3424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</a:t>
                      </a:r>
                    </a:p>
                  </a:txBody>
                  <a:tcPr marL="91444" marR="91444" marT="34249" marB="3424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4</a:t>
                      </a:r>
                    </a:p>
                  </a:txBody>
                  <a:tcPr marL="91444" marR="91444" marT="34249" marB="3424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</a:t>
                      </a:r>
                    </a:p>
                  </a:txBody>
                  <a:tcPr marL="91444" marR="91444" marT="34249" marB="3424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6</a:t>
                      </a:r>
                    </a:p>
                  </a:txBody>
                  <a:tcPr marL="91444" marR="91444" marT="34249" marB="3424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7</a:t>
                      </a:r>
                    </a:p>
                  </a:txBody>
                  <a:tcPr marL="91444" marR="91444" marT="34249" marB="3424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8</a:t>
                      </a:r>
                    </a:p>
                  </a:txBody>
                  <a:tcPr marL="91444" marR="91444" marT="34249" marB="3424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98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最大信息位数</a:t>
                      </a: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n</a:t>
                      </a:r>
                    </a:p>
                  </a:txBody>
                  <a:tcPr marL="91444" marR="91444" marT="34249" marB="34249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</a:t>
                      </a:r>
                    </a:p>
                  </a:txBody>
                  <a:tcPr marL="91444" marR="91444" marT="34249" marB="3424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</a:p>
                  </a:txBody>
                  <a:tcPr marL="91444" marR="91444" marT="34249" marB="3424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4</a:t>
                      </a:r>
                    </a:p>
                  </a:txBody>
                  <a:tcPr marL="91444" marR="91444" marT="34249" marB="3424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11</a:t>
                      </a:r>
                    </a:p>
                  </a:txBody>
                  <a:tcPr marL="91444" marR="91444" marT="34249" marB="3424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26</a:t>
                      </a:r>
                    </a:p>
                  </a:txBody>
                  <a:tcPr marL="91444" marR="91444" marT="34249" marB="3424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57</a:t>
                      </a:r>
                    </a:p>
                  </a:txBody>
                  <a:tcPr marL="91444" marR="91444" marT="34249" marB="3424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120</a:t>
                      </a:r>
                    </a:p>
                  </a:txBody>
                  <a:tcPr marL="91444" marR="91444" marT="34249" marB="3424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247</a:t>
                      </a:r>
                    </a:p>
                  </a:txBody>
                  <a:tcPr marL="91444" marR="91444" marT="34249" marB="3424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1998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海明码位数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(2</a:t>
                      </a:r>
                      <a:r>
                        <a:rPr kumimoji="1" lang="en-US" altLang="zh-CN" sz="1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k</a:t>
                      </a: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 </a:t>
                      </a: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－</a:t>
                      </a: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1) </a:t>
                      </a:r>
                    </a:p>
                  </a:txBody>
                  <a:tcPr marL="91444" marR="91444" marT="34249" marB="34249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</a:p>
                  </a:txBody>
                  <a:tcPr marL="91444" marR="91444" marT="34249" marB="3424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</a:t>
                      </a:r>
                    </a:p>
                  </a:txBody>
                  <a:tcPr marL="91444" marR="91444" marT="34249" marB="3424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7</a:t>
                      </a:r>
                    </a:p>
                  </a:txBody>
                  <a:tcPr marL="91444" marR="91444" marT="34249" marB="3424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15</a:t>
                      </a:r>
                    </a:p>
                  </a:txBody>
                  <a:tcPr marL="91444" marR="91444" marT="34249" marB="3424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31</a:t>
                      </a:r>
                    </a:p>
                  </a:txBody>
                  <a:tcPr marL="91444" marR="91444" marT="34249" marB="3424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63</a:t>
                      </a:r>
                    </a:p>
                  </a:txBody>
                  <a:tcPr marL="91444" marR="91444" marT="34249" marB="3424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127</a:t>
                      </a:r>
                    </a:p>
                  </a:txBody>
                  <a:tcPr marL="91444" marR="91444" marT="34249" marB="3424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255</a:t>
                      </a:r>
                    </a:p>
                  </a:txBody>
                  <a:tcPr marL="91444" marR="91444" marT="34249" marB="3424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8624570" y="541020"/>
            <a:ext cx="411480" cy="452310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1800">
                <a:solidFill>
                  <a:srgbClr val="FF006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仿宋" panose="02010600040101010101" charset="-122"/>
                <a:ea typeface="华文仿宋" panose="02010600040101010101" charset="-122"/>
              </a:rPr>
              <a:t>可靠性编码</a:t>
            </a:r>
          </a:p>
          <a:p>
            <a:r>
              <a:rPr lang="zh-CN" altLang="en-US" sz="1800">
                <a:solidFill>
                  <a:srgbClr val="FF006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仿宋" panose="02010600040101010101" charset="-122"/>
                <a:ea typeface="华文仿宋" panose="02010600040101010101" charset="-122"/>
              </a:rPr>
              <a:t>类型很多、使用无处不在</a:t>
            </a: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29" grpId="0" build="p"/>
      <p:bldP spid="2" grpId="0" bldLvl="0" animBg="1"/>
      <p:bldP spid="2" grpId="1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1"/>
          <p:cNvSpPr txBox="1">
            <a:spLocks noGrp="1"/>
          </p:cNvSpPr>
          <p:nvPr>
            <p:ph type="dt" sz="half" idx="2"/>
          </p:nvPr>
        </p:nvSpPr>
        <p:spPr>
          <a:noFill/>
        </p:spPr>
        <p:txBody>
          <a:bodyPr lIns="91440" tIns="45720" rIns="91440" bIns="45720" rtlCol="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105A22A-BE47-4644-99A4-8C4DEEB8EDAC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79875" name="灯片编号占位符 3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900" dirty="0">
                <a:solidFill>
                  <a:srgbClr val="898989"/>
                </a:solidFill>
                <a:latin typeface="Times New Roman" panose="02020603050405020304" pitchFamily="18" charset="0"/>
              </a:rPr>
              <a:t>66</a:t>
            </a:fld>
            <a:endParaRPr lang="zh-CN" altLang="en-US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60420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555625"/>
            <a:ext cx="8229600" cy="5080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6858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华文新魏" panose="02010800040101010101" pitchFamily="2" charset="-122"/>
                <a:cs typeface="+mj-cs"/>
              </a:rPr>
              <a:t>作业</a:t>
            </a:r>
          </a:p>
        </p:txBody>
      </p:sp>
      <p:sp>
        <p:nvSpPr>
          <p:cNvPr id="60421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57200" y="915988"/>
            <a:ext cx="8229600" cy="385127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171450" marR="0" lvl="0" indent="-171450" algn="l" defTabSz="685800" rtl="0" eaLnBrk="0" fontAlgn="base" latinLnBrk="0" hangingPunct="0">
              <a:lnSpc>
                <a:spcPct val="8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1.2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：  （</a:t>
            </a: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1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）、（</a:t>
            </a: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3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）、（</a:t>
            </a: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5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）</a:t>
            </a:r>
          </a:p>
          <a:p>
            <a:pPr marL="171450" marR="0" lvl="0" indent="-171450" algn="l" defTabSz="685800" rtl="0" eaLnBrk="0" fontAlgn="base" latinLnBrk="0" hangingPunct="0">
              <a:lnSpc>
                <a:spcPct val="8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1.3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：  （</a:t>
            </a: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2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）、（</a:t>
            </a: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3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）</a:t>
            </a:r>
          </a:p>
          <a:p>
            <a:pPr marL="171450" marR="0" lvl="0" indent="-171450" algn="l" defTabSz="685800" rtl="0" eaLnBrk="0" fontAlgn="base" latinLnBrk="0" hangingPunct="0">
              <a:lnSpc>
                <a:spcPct val="8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1.4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：  （</a:t>
            </a: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1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）、（</a:t>
            </a: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3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）</a:t>
            </a:r>
          </a:p>
          <a:p>
            <a:pPr marL="171450" marR="0" lvl="0" indent="-171450" algn="l" defTabSz="685800" rtl="0" eaLnBrk="0" fontAlgn="base" latinLnBrk="0" hangingPunct="0">
              <a:lnSpc>
                <a:spcPct val="8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1.5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：  （</a:t>
            </a: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1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）、（</a:t>
            </a: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3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）、（</a:t>
            </a: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5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）</a:t>
            </a:r>
          </a:p>
          <a:p>
            <a:pPr marL="171450" marR="0" lvl="0" indent="-171450" algn="l" defTabSz="685800" rtl="0" eaLnBrk="0" fontAlgn="base" latinLnBrk="0" hangingPunct="0">
              <a:lnSpc>
                <a:spcPct val="8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1.7: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      （</a:t>
            </a: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1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）、（</a:t>
            </a: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3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）、（</a:t>
            </a: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5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）</a:t>
            </a:r>
            <a:endParaRPr kumimoji="0" lang="en-US" altLang="zh-CN" sz="1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Wingdings" panose="05000000000000000000" pitchFamily="2" charset="2"/>
            </a:endParaRPr>
          </a:p>
          <a:p>
            <a:pPr marL="171450" marR="0" lvl="0" indent="-171450" algn="l" defTabSz="685800" rtl="0" eaLnBrk="0" fontAlgn="base" latinLnBrk="0" hangingPunct="0">
              <a:lnSpc>
                <a:spcPct val="8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1.8: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      （</a:t>
            </a: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2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）、（</a:t>
            </a: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4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）、（</a:t>
            </a: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6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）</a:t>
            </a:r>
            <a:endParaRPr kumimoji="0" lang="en-US" altLang="zh-CN" sz="1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Wingdings" panose="05000000000000000000" pitchFamily="2" charset="2"/>
            </a:endParaRPr>
          </a:p>
          <a:p>
            <a:pPr marL="171450" marR="0" lvl="0" indent="-171450" algn="l" defTabSz="685800" rtl="0" eaLnBrk="0" fontAlgn="base" latinLnBrk="0" hangingPunct="0">
              <a:lnSpc>
                <a:spcPct val="8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1.9:         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改为计算 </a:t>
            </a: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z=</a:t>
            </a:r>
            <a:r>
              <a:rPr kumimoji="0" lang="en-US" altLang="zh-CN" sz="1900" b="0" i="0" u="none" strike="noStrike" kern="1200" cap="none" spc="0" normalizeH="0" baseline="0" noProof="0" dirty="0" err="1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x+y</a:t>
            </a:r>
            <a:r>
              <a:rPr kumimoji="0" lang="zh-CN" altLang="en-US" sz="1900" b="0" i="0" u="none" strike="noStrike" kern="1200" cap="none" spc="0" normalizeH="0" baseline="0" noProof="0" dirty="0" err="1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（老版教材有错误）</a:t>
            </a:r>
            <a:endParaRPr kumimoji="0" lang="en-US" altLang="zh-CN" sz="1900" b="0" i="0" u="none" strike="noStrike" kern="1200" cap="none" spc="0" normalizeH="0" baseline="0" noProof="0" dirty="0">
              <a:ln>
                <a:noFill/>
              </a:ln>
              <a:solidFill>
                <a:srgbClr val="FF0066"/>
              </a:solidFill>
              <a:effectLst/>
              <a:uLnTx/>
              <a:uFillTx/>
              <a:latin typeface="+mn-lt"/>
              <a:ea typeface="+mn-ea"/>
              <a:cs typeface="+mn-cs"/>
              <a:sym typeface="Wingdings" panose="05000000000000000000" pitchFamily="2" charset="2"/>
            </a:endParaRPr>
          </a:p>
          <a:p>
            <a:pPr marL="171450" marR="0" lvl="0" indent="-171450" algn="l" defTabSz="685800" rtl="0" eaLnBrk="0" fontAlgn="base" latinLnBrk="0" hangingPunct="0">
              <a:lnSpc>
                <a:spcPct val="8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1.10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：（</a:t>
            </a: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2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）、（</a:t>
            </a: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4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）、（</a:t>
            </a: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6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）</a:t>
            </a:r>
          </a:p>
          <a:p>
            <a:pPr marL="171450" marR="0" lvl="0" indent="-171450" algn="l" defTabSz="685800" rtl="0" eaLnBrk="0" fontAlgn="base" latinLnBrk="0" hangingPunct="0">
              <a:lnSpc>
                <a:spcPct val="8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1.11</a:t>
            </a:r>
            <a:endParaRPr kumimoji="0" lang="zh-CN" altLang="en-US" sz="1900" b="0" i="0" u="none" strike="noStrike" kern="1200" cap="none" spc="0" normalizeH="0" baseline="0" noProof="0" dirty="0">
              <a:ln>
                <a:noFill/>
              </a:ln>
              <a:solidFill>
                <a:srgbClr val="FF0066"/>
              </a:solidFill>
              <a:effectLst/>
              <a:uLnTx/>
              <a:uFillTx/>
              <a:latin typeface="+mn-lt"/>
              <a:ea typeface="+mn-ea"/>
              <a:cs typeface="+mn-cs"/>
              <a:sym typeface="Wingdings" panose="05000000000000000000" pitchFamily="2" charset="2"/>
            </a:endParaRPr>
          </a:p>
          <a:p>
            <a:pPr marL="171450" marR="0" lvl="0" indent="-171450" algn="l" defTabSz="685800" rtl="0" eaLnBrk="0" fontAlgn="base" latinLnBrk="0" hangingPunct="0">
              <a:lnSpc>
                <a:spcPct val="8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1.12</a:t>
            </a:r>
            <a:endParaRPr kumimoji="0" lang="zh-CN" altLang="en-US" sz="1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Wingdings" panose="05000000000000000000" pitchFamily="2" charset="2"/>
            </a:endParaRPr>
          </a:p>
          <a:p>
            <a:pPr marL="171450" marR="0" lvl="0" indent="-171450" algn="l" defTabSz="685800" rtl="0" eaLnBrk="0" fontAlgn="base" latinLnBrk="0" hangingPunct="0">
              <a:lnSpc>
                <a:spcPct val="8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1.13</a:t>
            </a:r>
            <a:endParaRPr kumimoji="0" lang="zh-CN" altLang="en-US" sz="1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Wingdings" panose="05000000000000000000" pitchFamily="2" charset="2"/>
            </a:endParaRPr>
          </a:p>
          <a:p>
            <a:pPr marL="171450" marR="0" lvl="0" indent="-171450" algn="l" defTabSz="685800" rtl="0" eaLnBrk="0" fontAlgn="base" latinLnBrk="0" hangingPunct="0">
              <a:lnSpc>
                <a:spcPct val="8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1.14</a:t>
            </a:r>
            <a:endParaRPr kumimoji="0" lang="zh-CN" altLang="en-US" sz="1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Wingdings" panose="05000000000000000000" pitchFamily="2" charset="2"/>
            </a:endParaRPr>
          </a:p>
        </p:txBody>
      </p:sp>
      <p:sp>
        <p:nvSpPr>
          <p:cNvPr id="41992" name="Text Box 37"/>
          <p:cNvSpPr txBox="1"/>
          <p:nvPr/>
        </p:nvSpPr>
        <p:spPr>
          <a:xfrm>
            <a:off x="3924300" y="3868103"/>
            <a:ext cx="4670425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了解三种可靠性编码的作用及编码原理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419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a330e4c1-978a-4e9a-a690-808d8a7f277e"/>
  <p:tag name="COMMONDATA" val="eyJoZGlkIjoiYWM1OWY0MGVhYmU5NTRkZGZlMzJmNTI0MzdiODI0Mjc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0d1f1d91-ebc1-4232-8e98-2b1a8115b9ae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97eb3eff-06e7-4d83-8c9f-488ec5d6f5fd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1008f167-a234-4872-8f54-e0f49b0eb227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992a2bdb-7469-4f34-86ef-49139dd9d5b6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2c2095e2-fc04-437e-a896-b208958fb4f3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e8272d05-63d1-4eac-b44e-7e229faa5aa9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b04cd0fd-efaf-401a-bb3c-c03913cfd4ad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59e189f2-a1da-4511-9ee3-18ce1e4c7900}"/>
</p:tagLst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544</TotalTime>
  <Words>8171</Words>
  <Application>Microsoft Office PowerPoint</Application>
  <PresentationFormat>全屏显示(16:9)</PresentationFormat>
  <Paragraphs>1284</Paragraphs>
  <Slides>66</Slides>
  <Notes>33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66</vt:i4>
      </vt:variant>
    </vt:vector>
  </HeadingPairs>
  <TitlesOfParts>
    <vt:vector size="77" baseType="lpstr">
      <vt:lpstr>方正综艺简体</vt:lpstr>
      <vt:lpstr>黑体</vt:lpstr>
      <vt:lpstr>华文仿宋</vt:lpstr>
      <vt:lpstr>华文新魏</vt:lpstr>
      <vt:lpstr>宋体</vt:lpstr>
      <vt:lpstr>Arial</vt:lpstr>
      <vt:lpstr>Calibri</vt:lpstr>
      <vt:lpstr>Calibri Light</vt:lpstr>
      <vt:lpstr>Times New Roman</vt:lpstr>
      <vt:lpstr>Wingdings</vt:lpstr>
      <vt:lpstr>自定义设计方案</vt:lpstr>
      <vt:lpstr>数 字 逻 辑 电 路</vt:lpstr>
      <vt:lpstr>1.2   数制与编码</vt:lpstr>
      <vt:lpstr>PowerPoint 演示文稿</vt:lpstr>
      <vt:lpstr>1. 十进位计数制的特点、表示法</vt:lpstr>
      <vt:lpstr>①并列（式）表示法</vt:lpstr>
      <vt:lpstr>PowerPoint 演示文稿</vt:lpstr>
      <vt:lpstr>由此推出，任意一个十进制数 N 可以表示成：</vt:lpstr>
      <vt:lpstr>对于一个R进制的数，R为任意的进制数，有：</vt:lpstr>
      <vt:lpstr>2）表示法</vt:lpstr>
      <vt:lpstr>不同进位计数制的数值具有等值表示关系：        N  =  N10=（N）10  =   N R =（N）R                           （N为十进制数）</vt:lpstr>
      <vt:lpstr>PowerPoint 演示文稿</vt:lpstr>
      <vt:lpstr>特例：二进制数为计算机中的表示和运算的基础，特予以关注：</vt:lpstr>
      <vt:lpstr>2. 进位计数制的相互转换</vt:lpstr>
      <vt:lpstr>多项式替代法的转换步骤，归纳如下，</vt:lpstr>
      <vt:lpstr>PowerPoint 演示文稿</vt:lpstr>
      <vt:lpstr>  例2：将(121.2)3转换为二进制。</vt:lpstr>
      <vt:lpstr>2） 基数乘除法</vt:lpstr>
      <vt:lpstr>PowerPoint 演示文稿</vt:lpstr>
      <vt:lpstr>例2  将十进制的3417 转换成十六进制数。 γ =16</vt:lpstr>
      <vt:lpstr>PowerPoint 演示文稿</vt:lpstr>
      <vt:lpstr>在α进制下, 将该数乘以 γ 得：</vt:lpstr>
      <vt:lpstr>    直至最后，D-m × γ–1 时，再乘以 γ 得： </vt:lpstr>
      <vt:lpstr>例2  将 (0.375)10 转换成二进制数。 γ=2 </vt:lpstr>
      <vt:lpstr>3） 任意两种进制之间的转换总结 </vt:lpstr>
      <vt:lpstr>4）  直接转换法 </vt:lpstr>
      <vt:lpstr>转换 ：        </vt:lpstr>
      <vt:lpstr>例1  将(11111010.0111) 2转换为八进制数。</vt:lpstr>
      <vt:lpstr>5）数制转换时小数位数的确定</vt:lpstr>
      <vt:lpstr>例：将(0.4321)10转换成十六进制时，小数位数应取几位？</vt:lpstr>
      <vt:lpstr>1.2.2  数的表示及其运算 </vt:lpstr>
      <vt:lpstr>PowerPoint 演示文稿</vt:lpstr>
      <vt:lpstr>PowerPoint 演示文稿</vt:lpstr>
      <vt:lpstr>PowerPoint 演示文稿</vt:lpstr>
      <vt:lpstr>PowerPoint 演示文稿</vt:lpstr>
      <vt:lpstr>2 带符号数的代码表示及其运算 </vt:lpstr>
      <vt:lpstr>① 原码（Ture form ），又称“符号-数值”表示法</vt:lpstr>
      <vt:lpstr>  ②  反码（Negative Number），又称“对1的补码”</vt:lpstr>
      <vt:lpstr>PowerPoint 演示文稿</vt:lpstr>
      <vt:lpstr>③补码（complement number），又称“对2的补码”</vt:lpstr>
      <vt:lpstr>补码的概念：</vt:lpstr>
      <vt:lpstr>PowerPoint 演示文稿</vt:lpstr>
      <vt:lpstr>PowerPoint 演示文稿</vt:lpstr>
      <vt:lpstr>原码、反码和补码之间的关系如下图</vt:lpstr>
      <vt:lpstr>④带符号数的加、减运算举例</vt:lpstr>
      <vt:lpstr>PowerPoint 演示文稿</vt:lpstr>
      <vt:lpstr>1.2.3  十进制数的编码（代码）表示及其运算 </vt:lpstr>
      <vt:lpstr>表1—3  三种十进制数的编码表示法</vt:lpstr>
      <vt:lpstr>设：代码为  A3 A2 A1 A0</vt:lpstr>
      <vt:lpstr>PowerPoint 演示文稿</vt:lpstr>
      <vt:lpstr>PowerPoint 演示文稿</vt:lpstr>
      <vt:lpstr>M中取N码</vt:lpstr>
      <vt:lpstr>1.2.4  可靠性编码（一种特殊的编码技术，使用广泛） </vt:lpstr>
      <vt:lpstr>1) 格雷码（Gray)</vt:lpstr>
      <vt:lpstr>表1－4   几种Gray码、步进码和二进制码对照表</vt:lpstr>
      <vt:lpstr>典型Gray码是由二进制码生成的。</vt:lpstr>
      <vt:lpstr>反之，由典型Gray码也可以得到二进制码，如下：</vt:lpstr>
      <vt:lpstr>设：典型Gray码 G</vt:lpstr>
      <vt:lpstr>PowerPoint 演示文稿</vt:lpstr>
      <vt:lpstr>十进制Gray码：代码特征应符合Gray码的要求，且十六选十。</vt:lpstr>
      <vt:lpstr>2) 奇偶校验码（Parity Code）</vt:lpstr>
      <vt:lpstr>问题：① 奇偶校验码能发现单错，但不能对单错定位；       ② 奇偶校验码不能发现双错；</vt:lpstr>
      <vt:lpstr>3) 海明校验码（Hamming codes）</vt:lpstr>
      <vt:lpstr>表1-6  “8421”海明码</vt:lpstr>
      <vt:lpstr>对传输后的海明码进行检错和校错：</vt:lpstr>
      <vt:lpstr>表1-7 出错表的确定</vt:lpstr>
      <vt:lpstr>作业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 字 逻 辑 电 路</dc:title>
  <dc:creator>Microsoft Office 用户</dc:creator>
  <cp:lastModifiedBy>松 刘</cp:lastModifiedBy>
  <cp:revision>245</cp:revision>
  <dcterms:created xsi:type="dcterms:W3CDTF">2024-02-11T04:43:00Z</dcterms:created>
  <dcterms:modified xsi:type="dcterms:W3CDTF">2025-09-09T02:42:17Z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2052-12.1.0.16250</vt:lpwstr>
  </property>
  <property fmtid="{D5CDD505-2E9C-101B-9397-08002B2CF9AE}" pid="3" name="ICV">
    <vt:lpwstr>095253D4A2724ACB989CC6534BF52801</vt:lpwstr>
  </property>
</Properties>
</file>