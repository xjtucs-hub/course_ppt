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528" r:id="rId2"/>
    <p:sldId id="529" r:id="rId3"/>
    <p:sldId id="530" r:id="rId4"/>
    <p:sldId id="531" r:id="rId5"/>
    <p:sldId id="532" r:id="rId6"/>
    <p:sldId id="533" r:id="rId7"/>
    <p:sldId id="534" r:id="rId8"/>
    <p:sldId id="535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9" r:id="rId17"/>
    <p:sldId id="556" r:id="rId18"/>
    <p:sldId id="550" r:id="rId19"/>
    <p:sldId id="551" r:id="rId20"/>
    <p:sldId id="552" r:id="rId21"/>
    <p:sldId id="553" r:id="rId22"/>
    <p:sldId id="554" r:id="rId23"/>
    <p:sldId id="555" r:id="rId24"/>
  </p:sldIdLst>
  <p:sldSz cx="9144000" cy="5143500" type="screen16x9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5">
          <p15:clr>
            <a:srgbClr val="A4A3A4"/>
          </p15:clr>
        </p15:guide>
        <p15:guide id="2" pos="2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339933"/>
    <a:srgbClr val="00CC00"/>
    <a:srgbClr val="FF9900"/>
    <a:srgbClr val="996633"/>
    <a:srgbClr val="FFFF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/>
    <p:restoredTop sz="80686" autoAdjust="0"/>
  </p:normalViewPr>
  <p:slideViewPr>
    <p:cSldViewPr showGuides="1">
      <p:cViewPr varScale="1">
        <p:scale>
          <a:sx n="94" d="100"/>
          <a:sy n="94" d="100"/>
        </p:scale>
        <p:origin x="540" y="51"/>
      </p:cViewPr>
      <p:guideLst>
        <p:guide orient="horz" pos="1585"/>
        <p:guide pos="2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EDDD9F-66D7-456F-A1F6-F849F9D13DE1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2B5AB4-49ED-4178-B1FC-F0E125A6889B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9DB513A-447B-4E5C-8B5E-109E3372EFC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1638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22EE31-D992-4F4E-9D55-F5ED643846E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5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2025/9/9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23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0965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558CF1-5781-4850-BE07-DCB274050DD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0F6F95-19D5-4AF5-A193-71E190B104A0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198BB9-967A-4037-9AA1-4D377D7EF6F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206E25-0133-472B-837E-5BB8ADC254EC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D59FE56-7881-4B99-BF38-A1FA890AC2D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FD5A7CA-9D61-45AE-95D2-3831DAA5572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225116B-5D2D-4B89-AE6C-55D26F16893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223359-4FF4-4B70-9912-8A85D468C30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E903E9-AE1F-4604-8403-50F98C46FB4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BE6A91-891D-459C-82DE-9C826BA24D8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0D32FF-4DB2-4B61-AC69-16550131E8B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2AC9F5-0051-4FA0-AD99-65F483EC67A7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E84A85-19D5-4724-84FA-28362AEC914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57CE6C-EF66-4ACD-A2A0-39D3BE8A507F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78F726-C430-4DDF-8FE0-A308298C64D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9E4D7B-940B-4995-9B38-847682CBACD9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DB2619-230C-42D8-95AF-47EE5A6B4BE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C208B3-4BAF-408D-9C62-532ED5205B3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22261E-EA72-487E-A716-80F96CC9A6D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3A1A48-F0B4-4042-A86E-E16427F20EA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1ACE7DA-8B2C-4F7E-B21C-4C8D2EFC5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B7C8D2-3167-43CE-B902-590FAE7E4B67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BC236-9A06-4DDE-80C7-0C65A9F8F6A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E1939C-5322-45D3-928E-7659FD6044B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53E947E-670B-4C91-9F53-A7E013364990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EDE563-1CAE-4B42-8229-D27B2AAF785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BAD4B2-C36A-40BA-A616-94232EDD026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638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-36195" y="-5207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6392" name="文本框 11"/>
          <p:cNvSpPr txBox="1"/>
          <p:nvPr/>
        </p:nvSpPr>
        <p:spPr>
          <a:xfrm>
            <a:off x="4165600" y="2692400"/>
            <a:ext cx="14287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松</a:t>
            </a:r>
          </a:p>
        </p:txBody>
      </p:sp>
      <p:grpSp>
        <p:nvGrpSpPr>
          <p:cNvPr id="1639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6394" name="图片 13" descr="交大矢量logo"/>
            <p:cNvPicPr>
              <a:picLocks noChangeAspect="1"/>
            </p:cNvPicPr>
            <p:nvPr/>
          </p:nvPicPr>
          <p:blipFill>
            <a:blip r:embed="rId3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矩形 2"/>
          <p:cNvSpPr/>
          <p:nvPr/>
        </p:nvSpPr>
        <p:spPr>
          <a:xfrm>
            <a:off x="1214438" y="1090613"/>
            <a:ext cx="6740525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竞争现象</a:t>
            </a:r>
          </a:p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静态险象：功能险象、逻辑险象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动态险象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3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险象的判别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卡诺图法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逻辑表达式法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险象的消除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增加多余项法和乘以多余因子法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连接低通环节与增加选通脉冲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type="title"/>
          </p:nvPr>
        </p:nvSpPr>
        <p:spPr>
          <a:xfrm>
            <a:off x="285750" y="609600"/>
            <a:ext cx="8208963" cy="4857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3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en-US" altLang="zh-CN" sz="3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3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３、组合电路中的竞争与险象</a:t>
            </a:r>
            <a:endParaRPr lang="zh-CN" altLang="en-US" sz="30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" grpId="0"/>
      <p:bldP spid="122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>
            <a:spLocks noGrp="1"/>
          </p:cNvSpPr>
          <p:nvPr>
            <p:ph idx="1"/>
          </p:nvPr>
        </p:nvSpPr>
        <p:spPr>
          <a:xfrm>
            <a:off x="429260" y="1344295"/>
            <a:ext cx="7815580" cy="9588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在实际电路中，信号变化不是即时的，存在边沿转换时间；信号在电路中传送必定有导线上的传播时延，信号通过门电路也必定有时间延迟。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" y="686435"/>
            <a:ext cx="4260850" cy="514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65" y="486410"/>
            <a:ext cx="3912870" cy="914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" y="2571750"/>
            <a:ext cx="2482850" cy="1511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175" y="2457450"/>
            <a:ext cx="2698750" cy="2686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075" y="2495550"/>
            <a:ext cx="2800350" cy="2647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45" y="2098040"/>
            <a:ext cx="7586345" cy="43116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C9935DC-7DBC-4DD0-B2D4-A94E10DB7D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4047" y="1131590"/>
            <a:ext cx="5165895" cy="131226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3"/>
          <p:cNvSpPr>
            <a:spLocks noGrp="1"/>
          </p:cNvSpPr>
          <p:nvPr>
            <p:ph type="title"/>
          </p:nvPr>
        </p:nvSpPr>
        <p:spPr>
          <a:xfrm>
            <a:off x="586740" y="662305"/>
            <a:ext cx="7950200" cy="9017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上述这些时延都可能使电路的输出产生错误的信号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。为简化讨论，下面假设信号变化的边沿转换时间为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“0”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 仅考虑逻辑门的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时延时间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(Delays)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sp>
        <p:nvSpPr>
          <p:cNvPr id="14338" name="Rectangle 4"/>
          <p:cNvSpPr>
            <a:spLocks noGrp="1"/>
          </p:cNvSpPr>
          <p:nvPr>
            <p:ph idx="1"/>
          </p:nvPr>
        </p:nvSpPr>
        <p:spPr>
          <a:xfrm>
            <a:off x="539750" y="1778953"/>
            <a:ext cx="7875588" cy="14287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.竞争现象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竞争定义：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某一个信号或同时变化的多个信号，经过不同路径到达某一点时  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有时差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，这 种现象称为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竞争。</a:t>
            </a:r>
          </a:p>
        </p:txBody>
      </p:sp>
      <p:sp>
        <p:nvSpPr>
          <p:cNvPr id="19460" name="Text Box 5"/>
          <p:cNvSpPr txBox="1"/>
          <p:nvPr/>
        </p:nvSpPr>
        <p:spPr>
          <a:xfrm>
            <a:off x="395605" y="3014345"/>
            <a:ext cx="8097520" cy="1074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竞争分类：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对于有错误输出的竞争称之为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临界竞争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，对于未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产生错误输出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　　　　　　 的竞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争称之为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非临界竞争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40" name="Text Box 6"/>
          <p:cNvSpPr txBox="1"/>
          <p:nvPr/>
        </p:nvSpPr>
        <p:spPr>
          <a:xfrm>
            <a:off x="1617980" y="4011295"/>
            <a:ext cx="65633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  出现竞争的电路图和时间图如下页所示。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760" y="3507740"/>
            <a:ext cx="2482850" cy="1511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" grpId="0"/>
      <p:bldP spid="14337" grpId="1"/>
      <p:bldP spid="14338" grpId="0" build="p"/>
      <p:bldP spid="14338" grpId="1" build="p"/>
      <p:bldP spid="19460" grpId="0"/>
      <p:bldP spid="19460" grpId="1"/>
      <p:bldP spid="14340" grpId="0"/>
      <p:bldP spid="1434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title"/>
          </p:nvPr>
        </p:nvSpPr>
        <p:spPr>
          <a:xfrm>
            <a:off x="428625" y="769938"/>
            <a:ext cx="12192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20483" name="Rectangle 4"/>
          <p:cNvSpPr>
            <a:spLocks noGrp="1"/>
          </p:cNvSpPr>
          <p:nvPr>
            <p:ph idx="1"/>
          </p:nvPr>
        </p:nvSpPr>
        <p:spPr>
          <a:xfrm>
            <a:off x="1571625" y="769938"/>
            <a:ext cx="5737225" cy="53975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F = AC + BC  </a:t>
            </a:r>
            <a:r>
              <a:rPr lang="zh-CN" altLang="en-US" sz="2000" b="1" dirty="0"/>
              <a:t>且   </a:t>
            </a:r>
            <a:r>
              <a:rPr lang="en-US" altLang="zh-CN" sz="2000" b="1" dirty="0"/>
              <a:t>A = B = 1   </a:t>
            </a:r>
            <a:r>
              <a:rPr lang="zh-CN" altLang="en-US" sz="2000" b="1" dirty="0"/>
              <a:t>，则逻辑上：</a:t>
            </a:r>
            <a:r>
              <a:rPr lang="en-US" altLang="zh-CN" sz="2000" b="1" dirty="0"/>
              <a:t>F= C+C=1</a:t>
            </a:r>
          </a:p>
        </p:txBody>
      </p:sp>
      <p:sp>
        <p:nvSpPr>
          <p:cNvPr id="21508" name="Line 5"/>
          <p:cNvSpPr/>
          <p:nvPr/>
        </p:nvSpPr>
        <p:spPr>
          <a:xfrm>
            <a:off x="2533650" y="534988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485" name="Group 202"/>
          <p:cNvGrpSpPr/>
          <p:nvPr/>
        </p:nvGrpSpPr>
        <p:grpSpPr>
          <a:xfrm>
            <a:off x="4622800" y="1444625"/>
            <a:ext cx="3765550" cy="3143250"/>
            <a:chOff x="2880" y="1056"/>
            <a:chExt cx="2880" cy="2640"/>
          </a:xfrm>
        </p:grpSpPr>
        <p:grpSp>
          <p:nvGrpSpPr>
            <p:cNvPr id="21552" name="Group 81"/>
            <p:cNvGrpSpPr/>
            <p:nvPr/>
          </p:nvGrpSpPr>
          <p:grpSpPr>
            <a:xfrm>
              <a:off x="2880" y="1056"/>
              <a:ext cx="2880" cy="2640"/>
              <a:chOff x="2880" y="1536"/>
              <a:chExt cx="2880" cy="2640"/>
            </a:xfrm>
          </p:grpSpPr>
          <p:sp>
            <p:nvSpPr>
              <p:cNvPr id="21601" name="Rectangle 82"/>
              <p:cNvSpPr/>
              <p:nvPr/>
            </p:nvSpPr>
            <p:spPr>
              <a:xfrm>
                <a:off x="2880" y="1536"/>
                <a:ext cx="2880" cy="26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21602" name="Group 83"/>
              <p:cNvGrpSpPr/>
              <p:nvPr/>
            </p:nvGrpSpPr>
            <p:grpSpPr>
              <a:xfrm>
                <a:off x="3072" y="1575"/>
                <a:ext cx="2400" cy="384"/>
                <a:chOff x="3072" y="1047"/>
                <a:chExt cx="2400" cy="384"/>
              </a:xfrm>
            </p:grpSpPr>
            <p:sp>
              <p:nvSpPr>
                <p:cNvPr id="21606" name="Line 84"/>
                <p:cNvSpPr/>
                <p:nvPr/>
              </p:nvSpPr>
              <p:spPr>
                <a:xfrm>
                  <a:off x="3408" y="1200"/>
                  <a:ext cx="20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07" name="Text Box 85"/>
                <p:cNvSpPr txBox="1"/>
                <p:nvPr/>
              </p:nvSpPr>
              <p:spPr>
                <a:xfrm>
                  <a:off x="3072" y="1047"/>
                  <a:ext cx="2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21603" name="Group 86"/>
              <p:cNvGrpSpPr/>
              <p:nvPr/>
            </p:nvGrpSpPr>
            <p:grpSpPr>
              <a:xfrm>
                <a:off x="3072" y="1878"/>
                <a:ext cx="2400" cy="384"/>
                <a:chOff x="3072" y="1350"/>
                <a:chExt cx="2400" cy="384"/>
              </a:xfrm>
            </p:grpSpPr>
            <p:sp>
              <p:nvSpPr>
                <p:cNvPr id="21604" name="Line 87"/>
                <p:cNvSpPr/>
                <p:nvPr/>
              </p:nvSpPr>
              <p:spPr>
                <a:xfrm>
                  <a:off x="3408" y="1440"/>
                  <a:ext cx="20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605" name="Text Box 88"/>
                <p:cNvSpPr txBox="1"/>
                <p:nvPr/>
              </p:nvSpPr>
              <p:spPr>
                <a:xfrm>
                  <a:off x="3072" y="1350"/>
                  <a:ext cx="24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  <p:grpSp>
          <p:nvGrpSpPr>
            <p:cNvPr id="21553" name="Group 89"/>
            <p:cNvGrpSpPr/>
            <p:nvPr/>
          </p:nvGrpSpPr>
          <p:grpSpPr>
            <a:xfrm>
              <a:off x="3072" y="1688"/>
              <a:ext cx="1266" cy="384"/>
              <a:chOff x="3072" y="2168"/>
              <a:chExt cx="1266" cy="384"/>
            </a:xfrm>
          </p:grpSpPr>
          <p:sp>
            <p:nvSpPr>
              <p:cNvPr id="21597" name="Line 90"/>
              <p:cNvSpPr/>
              <p:nvPr/>
            </p:nvSpPr>
            <p:spPr>
              <a:xfrm>
                <a:off x="3408" y="2256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8" name="Line 91"/>
              <p:cNvSpPr/>
              <p:nvPr/>
            </p:nvSpPr>
            <p:spPr>
              <a:xfrm>
                <a:off x="3744" y="2448"/>
                <a:ext cx="59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9" name="Line 92"/>
              <p:cNvSpPr/>
              <p:nvPr/>
            </p:nvSpPr>
            <p:spPr>
              <a:xfrm>
                <a:off x="3744" y="2256"/>
                <a:ext cx="0" cy="19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600" name="Text Box 93"/>
              <p:cNvSpPr txBox="1"/>
              <p:nvPr/>
            </p:nvSpPr>
            <p:spPr>
              <a:xfrm>
                <a:off x="3072" y="2168"/>
                <a:ext cx="24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21554" name="Group 94"/>
            <p:cNvGrpSpPr/>
            <p:nvPr/>
          </p:nvGrpSpPr>
          <p:grpSpPr>
            <a:xfrm>
              <a:off x="3072" y="2112"/>
              <a:ext cx="1390" cy="384"/>
              <a:chOff x="3072" y="2592"/>
              <a:chExt cx="1390" cy="384"/>
            </a:xfrm>
          </p:grpSpPr>
          <p:sp>
            <p:nvSpPr>
              <p:cNvPr id="21592" name="Line 95"/>
              <p:cNvSpPr/>
              <p:nvPr/>
            </p:nvSpPr>
            <p:spPr>
              <a:xfrm>
                <a:off x="3850" y="2612"/>
                <a:ext cx="61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3" name="Line 96"/>
              <p:cNvSpPr/>
              <p:nvPr/>
            </p:nvSpPr>
            <p:spPr>
              <a:xfrm>
                <a:off x="3418" y="2804"/>
                <a:ext cx="43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4" name="Line 97"/>
              <p:cNvSpPr/>
              <p:nvPr/>
            </p:nvSpPr>
            <p:spPr>
              <a:xfrm>
                <a:off x="3850" y="2612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5" name="Text Box 98"/>
              <p:cNvSpPr txBox="1"/>
              <p:nvPr/>
            </p:nvSpPr>
            <p:spPr>
              <a:xfrm>
                <a:off x="3072" y="2592"/>
                <a:ext cx="24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1596" name="Line 99"/>
              <p:cNvSpPr/>
              <p:nvPr/>
            </p:nvSpPr>
            <p:spPr>
              <a:xfrm>
                <a:off x="3150" y="2640"/>
                <a:ext cx="144" cy="0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1555" name="Group 100"/>
            <p:cNvGrpSpPr/>
            <p:nvPr/>
          </p:nvGrpSpPr>
          <p:grpSpPr>
            <a:xfrm>
              <a:off x="2932" y="2784"/>
              <a:ext cx="1677" cy="384"/>
              <a:chOff x="2932" y="3264"/>
              <a:chExt cx="1677" cy="384"/>
            </a:xfrm>
          </p:grpSpPr>
          <p:sp>
            <p:nvSpPr>
              <p:cNvPr id="21587" name="Line 101"/>
              <p:cNvSpPr/>
              <p:nvPr/>
            </p:nvSpPr>
            <p:spPr>
              <a:xfrm>
                <a:off x="3398" y="3504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8" name="Line 102"/>
              <p:cNvSpPr/>
              <p:nvPr/>
            </p:nvSpPr>
            <p:spPr>
              <a:xfrm>
                <a:off x="3974" y="3312"/>
                <a:ext cx="635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9" name="Line 103"/>
              <p:cNvSpPr/>
              <p:nvPr/>
            </p:nvSpPr>
            <p:spPr>
              <a:xfrm>
                <a:off x="3974" y="3312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90" name="Text Box 104"/>
              <p:cNvSpPr txBox="1"/>
              <p:nvPr/>
            </p:nvSpPr>
            <p:spPr>
              <a:xfrm>
                <a:off x="2932" y="3264"/>
                <a:ext cx="82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AC</a:t>
                </a:r>
              </a:p>
            </p:txBody>
          </p:sp>
          <p:sp>
            <p:nvSpPr>
              <p:cNvPr id="21591" name="Line 105"/>
              <p:cNvSpPr/>
              <p:nvPr/>
            </p:nvSpPr>
            <p:spPr>
              <a:xfrm>
                <a:off x="3168" y="3312"/>
                <a:ext cx="144" cy="0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56" name="Line 106"/>
            <p:cNvSpPr/>
            <p:nvPr/>
          </p:nvSpPr>
          <p:spPr>
            <a:xfrm>
              <a:off x="3734" y="1962"/>
              <a:ext cx="0" cy="144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57" name="Line 107"/>
            <p:cNvSpPr/>
            <p:nvPr/>
          </p:nvSpPr>
          <p:spPr>
            <a:xfrm>
              <a:off x="3860" y="2208"/>
              <a:ext cx="0" cy="1174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58" name="Line 108"/>
            <p:cNvSpPr/>
            <p:nvPr/>
          </p:nvSpPr>
          <p:spPr>
            <a:xfrm>
              <a:off x="3973" y="2928"/>
              <a:ext cx="0" cy="48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1559" name="Group 109"/>
            <p:cNvGrpSpPr/>
            <p:nvPr/>
          </p:nvGrpSpPr>
          <p:grpSpPr>
            <a:xfrm>
              <a:off x="4332" y="1776"/>
              <a:ext cx="1084" cy="192"/>
              <a:chOff x="4368" y="2256"/>
              <a:chExt cx="1084" cy="192"/>
            </a:xfrm>
          </p:grpSpPr>
          <p:sp>
            <p:nvSpPr>
              <p:cNvPr id="21585" name="Line 110"/>
              <p:cNvSpPr/>
              <p:nvPr/>
            </p:nvSpPr>
            <p:spPr>
              <a:xfrm flipV="1">
                <a:off x="4368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6" name="Line 111"/>
              <p:cNvSpPr/>
              <p:nvPr/>
            </p:nvSpPr>
            <p:spPr>
              <a:xfrm>
                <a:off x="4368" y="2256"/>
                <a:ext cx="108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60" name="Line 112"/>
            <p:cNvSpPr/>
            <p:nvPr/>
          </p:nvSpPr>
          <p:spPr>
            <a:xfrm>
              <a:off x="4332" y="1968"/>
              <a:ext cx="0" cy="14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61" name="Line 113"/>
            <p:cNvSpPr/>
            <p:nvPr/>
          </p:nvSpPr>
          <p:spPr>
            <a:xfrm>
              <a:off x="4464" y="2304"/>
              <a:ext cx="0" cy="1104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1562" name="Line 114"/>
            <p:cNvSpPr/>
            <p:nvPr/>
          </p:nvSpPr>
          <p:spPr>
            <a:xfrm>
              <a:off x="4608" y="2880"/>
              <a:ext cx="0" cy="528"/>
            </a:xfrm>
            <a:prstGeom prst="line">
              <a:avLst/>
            </a:prstGeom>
            <a:ln w="9525" cap="flat" cmpd="sng">
              <a:solidFill>
                <a:srgbClr val="FF66FF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1563" name="Group 115"/>
            <p:cNvGrpSpPr/>
            <p:nvPr/>
          </p:nvGrpSpPr>
          <p:grpSpPr>
            <a:xfrm>
              <a:off x="4464" y="2124"/>
              <a:ext cx="957" cy="192"/>
              <a:chOff x="4464" y="2604"/>
              <a:chExt cx="957" cy="192"/>
            </a:xfrm>
          </p:grpSpPr>
          <p:sp>
            <p:nvSpPr>
              <p:cNvPr id="21583" name="Line 116"/>
              <p:cNvSpPr/>
              <p:nvPr/>
            </p:nvSpPr>
            <p:spPr>
              <a:xfrm>
                <a:off x="4464" y="2604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4" name="Line 117"/>
              <p:cNvSpPr/>
              <p:nvPr/>
            </p:nvSpPr>
            <p:spPr>
              <a:xfrm>
                <a:off x="4464" y="2784"/>
                <a:ext cx="957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1564" name="Group 118"/>
            <p:cNvGrpSpPr/>
            <p:nvPr/>
          </p:nvGrpSpPr>
          <p:grpSpPr>
            <a:xfrm>
              <a:off x="4472" y="2496"/>
              <a:ext cx="925" cy="192"/>
              <a:chOff x="4484" y="2976"/>
              <a:chExt cx="925" cy="192"/>
            </a:xfrm>
          </p:grpSpPr>
          <p:sp>
            <p:nvSpPr>
              <p:cNvPr id="21581" name="Line 119"/>
              <p:cNvSpPr/>
              <p:nvPr/>
            </p:nvSpPr>
            <p:spPr>
              <a:xfrm flipV="1">
                <a:off x="4484" y="297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2" name="Line 120"/>
              <p:cNvSpPr/>
              <p:nvPr/>
            </p:nvSpPr>
            <p:spPr>
              <a:xfrm>
                <a:off x="4484" y="2976"/>
                <a:ext cx="925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1565" name="Group 121"/>
            <p:cNvGrpSpPr/>
            <p:nvPr/>
          </p:nvGrpSpPr>
          <p:grpSpPr>
            <a:xfrm>
              <a:off x="4611" y="2832"/>
              <a:ext cx="821" cy="192"/>
              <a:chOff x="4611" y="3312"/>
              <a:chExt cx="821" cy="192"/>
            </a:xfrm>
          </p:grpSpPr>
          <p:sp>
            <p:nvSpPr>
              <p:cNvPr id="21579" name="Line 122"/>
              <p:cNvSpPr/>
              <p:nvPr/>
            </p:nvSpPr>
            <p:spPr>
              <a:xfrm>
                <a:off x="4611" y="3312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80" name="Line 123"/>
              <p:cNvSpPr/>
              <p:nvPr/>
            </p:nvSpPr>
            <p:spPr>
              <a:xfrm>
                <a:off x="4611" y="3492"/>
                <a:ext cx="821" cy="0"/>
              </a:xfrm>
              <a:prstGeom prst="line">
                <a:avLst/>
              </a:prstGeom>
              <a:ln w="38100" cap="flat" cmpd="sng">
                <a:solidFill>
                  <a:srgbClr val="FF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1566" name="Group 201"/>
            <p:cNvGrpSpPr/>
            <p:nvPr/>
          </p:nvGrpSpPr>
          <p:grpSpPr>
            <a:xfrm>
              <a:off x="2973" y="2450"/>
              <a:ext cx="1496" cy="384"/>
              <a:chOff x="2973" y="2450"/>
              <a:chExt cx="1496" cy="384"/>
            </a:xfrm>
          </p:grpSpPr>
          <p:sp>
            <p:nvSpPr>
              <p:cNvPr id="21575" name="Text Box 128"/>
              <p:cNvSpPr txBox="1"/>
              <p:nvPr/>
            </p:nvSpPr>
            <p:spPr>
              <a:xfrm>
                <a:off x="2973" y="2450"/>
                <a:ext cx="8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BC</a:t>
                </a:r>
              </a:p>
            </p:txBody>
          </p:sp>
          <p:sp>
            <p:nvSpPr>
              <p:cNvPr id="21576" name="Line 125"/>
              <p:cNvSpPr/>
              <p:nvPr/>
            </p:nvSpPr>
            <p:spPr>
              <a:xfrm>
                <a:off x="3868" y="2688"/>
                <a:ext cx="601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7" name="Line 126"/>
              <p:cNvSpPr/>
              <p:nvPr/>
            </p:nvSpPr>
            <p:spPr>
              <a:xfrm>
                <a:off x="3436" y="249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8" name="Line 127"/>
              <p:cNvSpPr/>
              <p:nvPr/>
            </p:nvSpPr>
            <p:spPr>
              <a:xfrm>
                <a:off x="3868" y="249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1567" name="Group 129"/>
            <p:cNvGrpSpPr/>
            <p:nvPr/>
          </p:nvGrpSpPr>
          <p:grpSpPr>
            <a:xfrm>
              <a:off x="3118" y="3120"/>
              <a:ext cx="1605" cy="384"/>
              <a:chOff x="3118" y="3600"/>
              <a:chExt cx="1605" cy="384"/>
            </a:xfrm>
          </p:grpSpPr>
          <p:sp>
            <p:nvSpPr>
              <p:cNvPr id="21569" name="Line 130"/>
              <p:cNvSpPr/>
              <p:nvPr/>
            </p:nvSpPr>
            <p:spPr>
              <a:xfrm>
                <a:off x="3406" y="3696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0" name="Line 131"/>
              <p:cNvSpPr/>
              <p:nvPr/>
            </p:nvSpPr>
            <p:spPr>
              <a:xfrm>
                <a:off x="4106" y="369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1" name="Line 132"/>
              <p:cNvSpPr/>
              <p:nvPr/>
            </p:nvSpPr>
            <p:spPr>
              <a:xfrm>
                <a:off x="3982" y="369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2" name="Line 133"/>
              <p:cNvSpPr/>
              <p:nvPr/>
            </p:nvSpPr>
            <p:spPr>
              <a:xfrm>
                <a:off x="3982" y="3878"/>
                <a:ext cx="125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3" name="Line 134"/>
              <p:cNvSpPr/>
              <p:nvPr/>
            </p:nvSpPr>
            <p:spPr>
              <a:xfrm>
                <a:off x="4106" y="3696"/>
                <a:ext cx="617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4" name="Text Box 135"/>
              <p:cNvSpPr txBox="1"/>
              <p:nvPr/>
            </p:nvSpPr>
            <p:spPr>
              <a:xfrm>
                <a:off x="3118" y="3600"/>
                <a:ext cx="615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sp>
          <p:nvSpPr>
            <p:cNvPr id="21568" name="Line 136"/>
            <p:cNvSpPr/>
            <p:nvPr/>
          </p:nvSpPr>
          <p:spPr>
            <a:xfrm>
              <a:off x="4704" y="3216"/>
              <a:ext cx="720" cy="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486" name="Group 196"/>
          <p:cNvGrpSpPr/>
          <p:nvPr/>
        </p:nvGrpSpPr>
        <p:grpSpPr>
          <a:xfrm>
            <a:off x="755793" y="2032716"/>
            <a:ext cx="3419475" cy="2047477"/>
            <a:chOff x="134" y="1051"/>
            <a:chExt cx="2592" cy="1720"/>
          </a:xfrm>
        </p:grpSpPr>
        <p:sp>
          <p:nvSpPr>
            <p:cNvPr id="21513" name="Rectangle 6"/>
            <p:cNvSpPr/>
            <p:nvPr/>
          </p:nvSpPr>
          <p:spPr>
            <a:xfrm>
              <a:off x="134" y="1051"/>
              <a:ext cx="2592" cy="1707"/>
            </a:xfrm>
            <a:prstGeom prst="rect">
              <a:avLst/>
            </a:prstGeom>
            <a:solidFill>
              <a:srgbClr val="BDD7EE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" name="Line 7"/>
            <p:cNvSpPr/>
            <p:nvPr/>
          </p:nvSpPr>
          <p:spPr>
            <a:xfrm>
              <a:off x="1160" y="1584"/>
              <a:ext cx="272" cy="1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15" name="Text Box 8"/>
            <p:cNvSpPr txBox="1"/>
            <p:nvPr/>
          </p:nvSpPr>
          <p:spPr>
            <a:xfrm>
              <a:off x="331" y="1478"/>
              <a:ext cx="23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6" name="Line 11"/>
            <p:cNvSpPr/>
            <p:nvPr/>
          </p:nvSpPr>
          <p:spPr>
            <a:xfrm>
              <a:off x="568" y="1305"/>
              <a:ext cx="8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17" name="Oval 12"/>
            <p:cNvSpPr/>
            <p:nvPr/>
          </p:nvSpPr>
          <p:spPr>
            <a:xfrm>
              <a:off x="652" y="1563"/>
              <a:ext cx="48" cy="48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Line 15"/>
            <p:cNvSpPr/>
            <p:nvPr/>
          </p:nvSpPr>
          <p:spPr>
            <a:xfrm>
              <a:off x="537" y="1584"/>
              <a:ext cx="300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16"/>
            <p:cNvSpPr/>
            <p:nvPr/>
          </p:nvSpPr>
          <p:spPr>
            <a:xfrm>
              <a:off x="672" y="1584"/>
              <a:ext cx="0" cy="617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8"/>
            <p:cNvSpPr/>
            <p:nvPr/>
          </p:nvSpPr>
          <p:spPr>
            <a:xfrm>
              <a:off x="2400" y="1861"/>
              <a:ext cx="238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21" name="Text Box 19"/>
            <p:cNvSpPr txBox="1"/>
            <p:nvPr/>
          </p:nvSpPr>
          <p:spPr>
            <a:xfrm>
              <a:off x="2491" y="1518"/>
              <a:ext cx="18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rgbClr val="843C0B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1522" name="Line 24"/>
            <p:cNvSpPr/>
            <p:nvPr/>
          </p:nvSpPr>
          <p:spPr>
            <a:xfrm>
              <a:off x="1715" y="1434"/>
              <a:ext cx="19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" name="Line 25"/>
            <p:cNvSpPr/>
            <p:nvPr/>
          </p:nvSpPr>
          <p:spPr>
            <a:xfrm>
              <a:off x="1718" y="2294"/>
              <a:ext cx="193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24" name="Line 26"/>
            <p:cNvSpPr/>
            <p:nvPr/>
          </p:nvSpPr>
          <p:spPr>
            <a:xfrm>
              <a:off x="1902" y="1427"/>
              <a:ext cx="0" cy="3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" name="Line 27"/>
            <p:cNvSpPr/>
            <p:nvPr/>
          </p:nvSpPr>
          <p:spPr>
            <a:xfrm>
              <a:off x="1902" y="1962"/>
              <a:ext cx="0" cy="336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28"/>
            <p:cNvSpPr/>
            <p:nvPr/>
          </p:nvSpPr>
          <p:spPr>
            <a:xfrm>
              <a:off x="1904" y="1968"/>
              <a:ext cx="194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27" name="Line 29"/>
            <p:cNvSpPr/>
            <p:nvPr/>
          </p:nvSpPr>
          <p:spPr>
            <a:xfrm>
              <a:off x="1910" y="1756"/>
              <a:ext cx="19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8" name="Text Box 30"/>
            <p:cNvSpPr txBox="1"/>
            <p:nvPr/>
          </p:nvSpPr>
          <p:spPr>
            <a:xfrm>
              <a:off x="335" y="1142"/>
              <a:ext cx="22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1529" name="Text Box 31"/>
            <p:cNvSpPr txBox="1"/>
            <p:nvPr/>
          </p:nvSpPr>
          <p:spPr>
            <a:xfrm>
              <a:off x="332" y="2294"/>
              <a:ext cx="22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0" name="Line 32"/>
            <p:cNvSpPr/>
            <p:nvPr/>
          </p:nvSpPr>
          <p:spPr>
            <a:xfrm>
              <a:off x="672" y="2198"/>
              <a:ext cx="746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33"/>
            <p:cNvSpPr/>
            <p:nvPr/>
          </p:nvSpPr>
          <p:spPr>
            <a:xfrm>
              <a:off x="537" y="2438"/>
              <a:ext cx="88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532" name="Group 34"/>
            <p:cNvGrpSpPr/>
            <p:nvPr/>
          </p:nvGrpSpPr>
          <p:grpSpPr>
            <a:xfrm>
              <a:off x="1703" y="1098"/>
              <a:ext cx="432" cy="333"/>
              <a:chOff x="1703" y="1098"/>
              <a:chExt cx="432" cy="333"/>
            </a:xfrm>
          </p:grpSpPr>
          <p:sp>
            <p:nvSpPr>
              <p:cNvPr id="21550" name="Text Box 35"/>
              <p:cNvSpPr txBox="1"/>
              <p:nvPr/>
            </p:nvSpPr>
            <p:spPr>
              <a:xfrm>
                <a:off x="1703" y="1098"/>
                <a:ext cx="432" cy="3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AC</a:t>
                </a:r>
              </a:p>
            </p:txBody>
          </p:sp>
          <p:sp>
            <p:nvSpPr>
              <p:cNvPr id="24" name="Line 36"/>
              <p:cNvSpPr/>
              <p:nvPr/>
            </p:nvSpPr>
            <p:spPr>
              <a:xfrm>
                <a:off x="1920" y="1131"/>
                <a:ext cx="142" cy="0"/>
              </a:xfrm>
              <a:prstGeom prst="line">
                <a:avLst/>
              </a:prstGeom>
              <a:ln w="19050"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533" name="Group 37"/>
            <p:cNvGrpSpPr/>
            <p:nvPr/>
          </p:nvGrpSpPr>
          <p:grpSpPr>
            <a:xfrm>
              <a:off x="1159" y="1702"/>
              <a:ext cx="233" cy="333"/>
              <a:chOff x="1111" y="1702"/>
              <a:chExt cx="233" cy="333"/>
            </a:xfrm>
          </p:grpSpPr>
          <p:sp>
            <p:nvSpPr>
              <p:cNvPr id="21548" name="Text Box 38"/>
              <p:cNvSpPr txBox="1"/>
              <p:nvPr/>
            </p:nvSpPr>
            <p:spPr>
              <a:xfrm>
                <a:off x="1111" y="1702"/>
                <a:ext cx="233" cy="3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27" name="Line 39"/>
              <p:cNvSpPr/>
              <p:nvPr/>
            </p:nvSpPr>
            <p:spPr>
              <a:xfrm>
                <a:off x="1160" y="1744"/>
                <a:ext cx="144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1534" name="Text Box 40"/>
            <p:cNvSpPr txBox="1"/>
            <p:nvPr/>
          </p:nvSpPr>
          <p:spPr>
            <a:xfrm>
              <a:off x="1776" y="2438"/>
              <a:ext cx="57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grpSp>
          <p:nvGrpSpPr>
            <p:cNvPr id="21535" name="Group 172"/>
            <p:cNvGrpSpPr/>
            <p:nvPr/>
          </p:nvGrpSpPr>
          <p:grpSpPr>
            <a:xfrm>
              <a:off x="1428" y="1248"/>
              <a:ext cx="321" cy="384"/>
              <a:chOff x="2071" y="624"/>
              <a:chExt cx="321" cy="384"/>
            </a:xfrm>
          </p:grpSpPr>
          <p:sp>
            <p:nvSpPr>
              <p:cNvPr id="21546" name="Rectangle 153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547" name="Text Box 154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36" name="Group 173"/>
            <p:cNvGrpSpPr/>
            <p:nvPr/>
          </p:nvGrpSpPr>
          <p:grpSpPr>
            <a:xfrm>
              <a:off x="1419" y="2112"/>
              <a:ext cx="321" cy="384"/>
              <a:chOff x="2071" y="624"/>
              <a:chExt cx="321" cy="384"/>
            </a:xfrm>
          </p:grpSpPr>
          <p:sp>
            <p:nvSpPr>
              <p:cNvPr id="21544" name="Rectangle 174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545" name="Text Box 175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37" name="Group 194"/>
            <p:cNvGrpSpPr/>
            <p:nvPr/>
          </p:nvGrpSpPr>
          <p:grpSpPr>
            <a:xfrm>
              <a:off x="839" y="1392"/>
              <a:ext cx="361" cy="384"/>
              <a:chOff x="724" y="3540"/>
              <a:chExt cx="361" cy="384"/>
            </a:xfrm>
          </p:grpSpPr>
          <p:sp>
            <p:nvSpPr>
              <p:cNvPr id="21541" name="Rectangle 189"/>
              <p:cNvSpPr/>
              <p:nvPr/>
            </p:nvSpPr>
            <p:spPr>
              <a:xfrm>
                <a:off x="724" y="354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542" name="Text Box 190"/>
              <p:cNvSpPr txBox="1"/>
              <p:nvPr/>
            </p:nvSpPr>
            <p:spPr>
              <a:xfrm>
                <a:off x="753" y="3592"/>
                <a:ext cx="192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1543" name="Oval 191"/>
              <p:cNvSpPr/>
              <p:nvPr/>
            </p:nvSpPr>
            <p:spPr>
              <a:xfrm>
                <a:off x="1012" y="368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21538" name="Group 195"/>
            <p:cNvGrpSpPr/>
            <p:nvPr/>
          </p:nvGrpSpPr>
          <p:grpSpPr>
            <a:xfrm>
              <a:off x="2100" y="1656"/>
              <a:ext cx="376" cy="384"/>
              <a:chOff x="1301" y="3372"/>
              <a:chExt cx="376" cy="384"/>
            </a:xfrm>
          </p:grpSpPr>
          <p:sp>
            <p:nvSpPr>
              <p:cNvPr id="21539" name="Rectangle 192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540" name="Text Box 193"/>
              <p:cNvSpPr txBox="1"/>
              <p:nvPr/>
            </p:nvSpPr>
            <p:spPr>
              <a:xfrm>
                <a:off x="1301" y="3431"/>
                <a:ext cx="376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≥1</a:t>
                </a:r>
              </a:p>
            </p:txBody>
          </p:sp>
        </p:grpSp>
      </p:grpSp>
      <p:sp>
        <p:nvSpPr>
          <p:cNvPr id="20487" name="Line 103"/>
          <p:cNvSpPr/>
          <p:nvPr/>
        </p:nvSpPr>
        <p:spPr>
          <a:xfrm>
            <a:off x="2162175" y="800100"/>
            <a:ext cx="1444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" name="Line 103"/>
          <p:cNvSpPr/>
          <p:nvPr/>
        </p:nvSpPr>
        <p:spPr>
          <a:xfrm>
            <a:off x="6288088" y="812800"/>
            <a:ext cx="144462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3"/>
          <p:cNvSpPr>
            <a:spLocks noGrp="1"/>
          </p:cNvSpPr>
          <p:nvPr>
            <p:ph type="title"/>
          </p:nvPr>
        </p:nvSpPr>
        <p:spPr>
          <a:xfrm>
            <a:off x="644525" y="609600"/>
            <a:ext cx="4572000" cy="3778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  </a:t>
            </a:r>
            <a:r>
              <a:rPr lang="en-US" altLang="zh-CN" sz="24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Hazard</a:t>
            </a:r>
          </a:p>
        </p:txBody>
      </p:sp>
      <p:sp>
        <p:nvSpPr>
          <p:cNvPr id="17410" name="Rectangle 4"/>
          <p:cNvSpPr>
            <a:spLocks noGrp="1"/>
          </p:cNvSpPr>
          <p:nvPr>
            <p:ph idx="1"/>
          </p:nvPr>
        </p:nvSpPr>
        <p:spPr>
          <a:xfrm>
            <a:off x="673735" y="1252220"/>
            <a:ext cx="8084820" cy="1174750"/>
          </a:xfrm>
          <a:noFill/>
          <a:ln>
            <a:noFill/>
          </a:ln>
        </p:spPr>
        <p:txBody>
          <a:bodyPr/>
          <a:lstStyle/>
          <a:p>
            <a:pPr marL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险象定义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：由于临界竞争的存在，在输出端得到稳定输出之前，输出中有一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短暂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的错误输出（干扰），这种现象称之为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险象一定是竞争的结果</a:t>
            </a:r>
            <a:r>
              <a:rPr lang="zh-CN" altLang="en-US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险象分类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：通常将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险象分为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静态险象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动态险象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两种类型。</a:t>
            </a:r>
          </a:p>
        </p:txBody>
      </p:sp>
      <p:sp>
        <p:nvSpPr>
          <p:cNvPr id="22532" name="Text Box 5"/>
          <p:cNvSpPr txBox="1"/>
          <p:nvPr/>
        </p:nvSpPr>
        <p:spPr>
          <a:xfrm>
            <a:off x="538480" y="2566035"/>
            <a:ext cx="8281988" cy="2249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）静态险象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Static Hazards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当输入信号变化时，按逻辑表达式，输出不应有变化的情况下，而实际上会在输出端产生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一个与逻辑状态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对应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的高低窄（矮）脉冲的情况，则称之为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静态险象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。它可进一步分为：</a:t>
            </a:r>
          </a:p>
          <a:p>
            <a:pPr lvl="1" indent="-285750" algn="l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charset="0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功能险象</a:t>
            </a:r>
          </a:p>
          <a:p>
            <a:pPr lvl="1" indent="-285750" algn="l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charset="0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逻辑险象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" grpId="0"/>
      <p:bldP spid="225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/>
          </p:cNvSpPr>
          <p:nvPr>
            <p:ph type="title"/>
          </p:nvPr>
        </p:nvSpPr>
        <p:spPr>
          <a:xfrm>
            <a:off x="142875" y="484188"/>
            <a:ext cx="6754813" cy="4841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功能险象       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功能险象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产生的（必要）条件如下：</a:t>
            </a:r>
          </a:p>
        </p:txBody>
      </p:sp>
      <p:sp>
        <p:nvSpPr>
          <p:cNvPr id="18434" name="Rectangle 4"/>
          <p:cNvSpPr>
            <a:spLocks noGrp="1"/>
          </p:cNvSpPr>
          <p:nvPr>
            <p:ph idx="1"/>
          </p:nvPr>
        </p:nvSpPr>
        <p:spPr>
          <a:xfrm>
            <a:off x="539750" y="982663"/>
            <a:ext cx="6769100" cy="1084262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buFont typeface="Arial" panose="020B0604020202020204" pitchFamily="34" charset="0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K(K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个信号同时发生变化；</a:t>
            </a:r>
          </a:p>
          <a:p>
            <a:pPr marL="609600" indent="-609600" eaLnBrk="1" hangingPunct="1">
              <a:buFont typeface="Arial" panose="020B0604020202020204" pitchFamily="34" charset="0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变化的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个变量组合所对应的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中必定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既有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，又有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marL="609600" indent="-609600" eaLnBrk="1" hangingPunct="1">
              <a:buFont typeface="Arial" panose="020B0604020202020204" pitchFamily="34" charset="0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输入变量变化前后的稳态输出相同。</a:t>
            </a:r>
          </a:p>
        </p:txBody>
      </p:sp>
      <p:graphicFrame>
        <p:nvGraphicFramePr>
          <p:cNvPr id="23556" name="Group 5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2338" y="4295775"/>
          <a:ext cx="2209800" cy="72390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latin typeface="华文新魏" panose="02010800040101010101" pitchFamily="2" charset="-122"/>
                          <a:ea typeface="华文新魏" panose="02010800040101010101" pitchFamily="2" charset="-122"/>
                          <a:sym typeface="+mn-ea"/>
                        </a:rPr>
                        <a:t>0</a:t>
                      </a: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452" name="Group 92"/>
          <p:cNvGrpSpPr/>
          <p:nvPr/>
        </p:nvGrpSpPr>
        <p:grpSpPr>
          <a:xfrm>
            <a:off x="462280" y="2227962"/>
            <a:ext cx="7570788" cy="571118"/>
            <a:chOff x="288" y="1750"/>
            <a:chExt cx="4769" cy="479"/>
          </a:xfrm>
        </p:grpSpPr>
        <p:sp>
          <p:nvSpPr>
            <p:cNvPr id="24643" name="Text Box 41"/>
            <p:cNvSpPr txBox="1"/>
            <p:nvPr/>
          </p:nvSpPr>
          <p:spPr>
            <a:xfrm>
              <a:off x="288" y="1783"/>
              <a:ext cx="4769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如图所示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 = AC + BC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  设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A=1      </a:t>
              </a:r>
            </a:p>
            <a:p>
              <a:pPr eaLnBrk="1" hangingPunct="1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当  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BC </a:t>
              </a: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：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 →11 </a:t>
              </a: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时，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应当恒为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6442" name="Line 60"/>
            <p:cNvSpPr/>
            <p:nvPr/>
          </p:nvSpPr>
          <p:spPr>
            <a:xfrm>
              <a:off x="1515" y="1750"/>
              <a:ext cx="72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574" name="Text Box 63"/>
          <p:cNvSpPr txBox="1"/>
          <p:nvPr/>
        </p:nvSpPr>
        <p:spPr>
          <a:xfrm>
            <a:off x="611188" y="2800350"/>
            <a:ext cx="411321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情况一：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100 →110 →111</a:t>
            </a:r>
          </a:p>
        </p:txBody>
      </p:sp>
      <p:sp>
        <p:nvSpPr>
          <p:cNvPr id="18456" name="Line 66"/>
          <p:cNvSpPr/>
          <p:nvPr/>
        </p:nvSpPr>
        <p:spPr>
          <a:xfrm>
            <a:off x="3006090" y="4528820"/>
            <a:ext cx="635" cy="283845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57" name="Text Box 67"/>
          <p:cNvSpPr txBox="1"/>
          <p:nvPr/>
        </p:nvSpPr>
        <p:spPr>
          <a:xfrm>
            <a:off x="395288" y="3157538"/>
            <a:ext cx="41005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　　则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无险象</a:t>
            </a:r>
          </a:p>
        </p:txBody>
      </p:sp>
      <p:sp>
        <p:nvSpPr>
          <p:cNvPr id="23577" name="Text Box 68"/>
          <p:cNvSpPr txBox="1"/>
          <p:nvPr/>
        </p:nvSpPr>
        <p:spPr>
          <a:xfrm>
            <a:off x="611188" y="3543300"/>
            <a:ext cx="411321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情况二：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100 →101 →111</a:t>
            </a:r>
          </a:p>
        </p:txBody>
      </p:sp>
      <p:sp>
        <p:nvSpPr>
          <p:cNvPr id="18459" name="Text Box 70"/>
          <p:cNvSpPr txBox="1"/>
          <p:nvPr/>
        </p:nvSpPr>
        <p:spPr>
          <a:xfrm>
            <a:off x="395605" y="3829050"/>
            <a:ext cx="4100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　　则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→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→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有险象</a:t>
            </a:r>
          </a:p>
        </p:txBody>
      </p:sp>
      <p:grpSp>
        <p:nvGrpSpPr>
          <p:cNvPr id="18460" name="Group 196"/>
          <p:cNvGrpSpPr/>
          <p:nvPr/>
        </p:nvGrpSpPr>
        <p:grpSpPr>
          <a:xfrm>
            <a:off x="5003800" y="2355850"/>
            <a:ext cx="3419475" cy="2041525"/>
            <a:chOff x="144" y="1056"/>
            <a:chExt cx="2592" cy="1715"/>
          </a:xfrm>
        </p:grpSpPr>
        <p:sp>
          <p:nvSpPr>
            <p:cNvPr id="24604" name="Rectangle 6"/>
            <p:cNvSpPr/>
            <p:nvPr/>
          </p:nvSpPr>
          <p:spPr>
            <a:xfrm>
              <a:off x="144" y="1056"/>
              <a:ext cx="2592" cy="170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399" name="Line 7"/>
            <p:cNvSpPr/>
            <p:nvPr/>
          </p:nvSpPr>
          <p:spPr>
            <a:xfrm>
              <a:off x="1160" y="1584"/>
              <a:ext cx="272" cy="1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606" name="Text Box 8"/>
            <p:cNvSpPr txBox="1"/>
            <p:nvPr/>
          </p:nvSpPr>
          <p:spPr>
            <a:xfrm>
              <a:off x="331" y="1478"/>
              <a:ext cx="23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14401" name="Line 11"/>
            <p:cNvSpPr/>
            <p:nvPr/>
          </p:nvSpPr>
          <p:spPr>
            <a:xfrm>
              <a:off x="568" y="1305"/>
              <a:ext cx="8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608" name="Oval 12"/>
            <p:cNvSpPr/>
            <p:nvPr/>
          </p:nvSpPr>
          <p:spPr>
            <a:xfrm>
              <a:off x="652" y="1563"/>
              <a:ext cx="48" cy="48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403" name="Line 15"/>
            <p:cNvSpPr/>
            <p:nvPr/>
          </p:nvSpPr>
          <p:spPr>
            <a:xfrm>
              <a:off x="537" y="1584"/>
              <a:ext cx="300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04" name="Line 16"/>
            <p:cNvSpPr/>
            <p:nvPr/>
          </p:nvSpPr>
          <p:spPr>
            <a:xfrm>
              <a:off x="672" y="1584"/>
              <a:ext cx="0" cy="617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05" name="Line 18"/>
            <p:cNvSpPr/>
            <p:nvPr/>
          </p:nvSpPr>
          <p:spPr>
            <a:xfrm>
              <a:off x="2400" y="1861"/>
              <a:ext cx="238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612" name="Text Box 19"/>
            <p:cNvSpPr txBox="1"/>
            <p:nvPr/>
          </p:nvSpPr>
          <p:spPr>
            <a:xfrm>
              <a:off x="2491" y="1518"/>
              <a:ext cx="18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843C0B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24613" name="Line 24"/>
            <p:cNvSpPr/>
            <p:nvPr/>
          </p:nvSpPr>
          <p:spPr>
            <a:xfrm>
              <a:off x="1713" y="1436"/>
              <a:ext cx="19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08" name="Line 25"/>
            <p:cNvSpPr/>
            <p:nvPr/>
          </p:nvSpPr>
          <p:spPr>
            <a:xfrm>
              <a:off x="1718" y="2294"/>
              <a:ext cx="19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615" name="Line 26"/>
            <p:cNvSpPr/>
            <p:nvPr/>
          </p:nvSpPr>
          <p:spPr>
            <a:xfrm>
              <a:off x="1902" y="1430"/>
              <a:ext cx="0" cy="3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410" name="Line 27"/>
            <p:cNvSpPr/>
            <p:nvPr/>
          </p:nvSpPr>
          <p:spPr>
            <a:xfrm>
              <a:off x="1902" y="1968"/>
              <a:ext cx="0" cy="33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11" name="Line 28"/>
            <p:cNvSpPr/>
            <p:nvPr/>
          </p:nvSpPr>
          <p:spPr>
            <a:xfrm>
              <a:off x="1900" y="1968"/>
              <a:ext cx="19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618" name="Line 29"/>
            <p:cNvSpPr/>
            <p:nvPr/>
          </p:nvSpPr>
          <p:spPr>
            <a:xfrm>
              <a:off x="1910" y="1756"/>
              <a:ext cx="19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9" name="Text Box 30"/>
            <p:cNvSpPr txBox="1"/>
            <p:nvPr/>
          </p:nvSpPr>
          <p:spPr>
            <a:xfrm>
              <a:off x="335" y="1142"/>
              <a:ext cx="22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4620" name="Text Box 31"/>
            <p:cNvSpPr txBox="1"/>
            <p:nvPr/>
          </p:nvSpPr>
          <p:spPr>
            <a:xfrm>
              <a:off x="332" y="2294"/>
              <a:ext cx="22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14415" name="Line 32"/>
            <p:cNvSpPr/>
            <p:nvPr/>
          </p:nvSpPr>
          <p:spPr>
            <a:xfrm>
              <a:off x="672" y="2198"/>
              <a:ext cx="746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16" name="Line 33"/>
            <p:cNvSpPr/>
            <p:nvPr/>
          </p:nvSpPr>
          <p:spPr>
            <a:xfrm>
              <a:off x="537" y="2438"/>
              <a:ext cx="88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4623" name="Group 34"/>
            <p:cNvGrpSpPr/>
            <p:nvPr/>
          </p:nvGrpSpPr>
          <p:grpSpPr>
            <a:xfrm>
              <a:off x="1733" y="1121"/>
              <a:ext cx="432" cy="333"/>
              <a:chOff x="1733" y="1121"/>
              <a:chExt cx="432" cy="333"/>
            </a:xfrm>
          </p:grpSpPr>
          <p:sp>
            <p:nvSpPr>
              <p:cNvPr id="24641" name="Text Box 35"/>
              <p:cNvSpPr txBox="1"/>
              <p:nvPr/>
            </p:nvSpPr>
            <p:spPr>
              <a:xfrm>
                <a:off x="1733" y="1121"/>
                <a:ext cx="432" cy="3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b="1" dirty="0">
                    <a:solidFill>
                      <a:srgbClr val="0000FF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AC</a:t>
                </a:r>
              </a:p>
            </p:txBody>
          </p:sp>
          <p:sp>
            <p:nvSpPr>
              <p:cNvPr id="14419" name="Line 36"/>
              <p:cNvSpPr/>
              <p:nvPr/>
            </p:nvSpPr>
            <p:spPr>
              <a:xfrm>
                <a:off x="1938" y="1131"/>
                <a:ext cx="144" cy="0"/>
              </a:xfrm>
              <a:prstGeom prst="line">
                <a:avLst/>
              </a:prstGeom>
              <a:ln w="19050"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624" name="Group 37"/>
            <p:cNvGrpSpPr/>
            <p:nvPr/>
          </p:nvGrpSpPr>
          <p:grpSpPr>
            <a:xfrm>
              <a:off x="1159" y="1660"/>
              <a:ext cx="233" cy="333"/>
              <a:chOff x="1111" y="1660"/>
              <a:chExt cx="233" cy="333"/>
            </a:xfrm>
          </p:grpSpPr>
          <p:sp>
            <p:nvSpPr>
              <p:cNvPr id="24639" name="Text Box 38"/>
              <p:cNvSpPr txBox="1"/>
              <p:nvPr/>
            </p:nvSpPr>
            <p:spPr>
              <a:xfrm>
                <a:off x="1111" y="1660"/>
                <a:ext cx="233" cy="3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</a:p>
            </p:txBody>
          </p:sp>
          <p:sp>
            <p:nvSpPr>
              <p:cNvPr id="14422" name="Line 39"/>
              <p:cNvSpPr/>
              <p:nvPr/>
            </p:nvSpPr>
            <p:spPr>
              <a:xfrm>
                <a:off x="1160" y="1660"/>
                <a:ext cx="144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4625" name="Text Box 40"/>
            <p:cNvSpPr txBox="1"/>
            <p:nvPr/>
          </p:nvSpPr>
          <p:spPr>
            <a:xfrm>
              <a:off x="1776" y="2438"/>
              <a:ext cx="57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C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BC</a:t>
              </a:r>
            </a:p>
          </p:txBody>
        </p:sp>
        <p:grpSp>
          <p:nvGrpSpPr>
            <p:cNvPr id="24626" name="Group 172"/>
            <p:cNvGrpSpPr/>
            <p:nvPr/>
          </p:nvGrpSpPr>
          <p:grpSpPr>
            <a:xfrm>
              <a:off x="1428" y="1248"/>
              <a:ext cx="321" cy="384"/>
              <a:chOff x="2071" y="624"/>
              <a:chExt cx="321" cy="384"/>
            </a:xfrm>
          </p:grpSpPr>
          <p:sp>
            <p:nvSpPr>
              <p:cNvPr id="24637" name="Rectangle 153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8" name="Text Box 154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</p:grpSp>
        <p:grpSp>
          <p:nvGrpSpPr>
            <p:cNvPr id="24627" name="Group 173"/>
            <p:cNvGrpSpPr/>
            <p:nvPr/>
          </p:nvGrpSpPr>
          <p:grpSpPr>
            <a:xfrm>
              <a:off x="1419" y="2112"/>
              <a:ext cx="321" cy="384"/>
              <a:chOff x="2071" y="624"/>
              <a:chExt cx="321" cy="384"/>
            </a:xfrm>
          </p:grpSpPr>
          <p:sp>
            <p:nvSpPr>
              <p:cNvPr id="24635" name="Rectangle 174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6" name="Text Box 175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</p:grpSp>
        <p:grpSp>
          <p:nvGrpSpPr>
            <p:cNvPr id="24628" name="Group 194"/>
            <p:cNvGrpSpPr/>
            <p:nvPr/>
          </p:nvGrpSpPr>
          <p:grpSpPr>
            <a:xfrm>
              <a:off x="839" y="1392"/>
              <a:ext cx="361" cy="384"/>
              <a:chOff x="724" y="3540"/>
              <a:chExt cx="361" cy="384"/>
            </a:xfrm>
          </p:grpSpPr>
          <p:sp>
            <p:nvSpPr>
              <p:cNvPr id="24632" name="Rectangle 189"/>
              <p:cNvSpPr/>
              <p:nvPr/>
            </p:nvSpPr>
            <p:spPr>
              <a:xfrm>
                <a:off x="724" y="354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Text Box 190"/>
              <p:cNvSpPr txBox="1"/>
              <p:nvPr/>
            </p:nvSpPr>
            <p:spPr>
              <a:xfrm>
                <a:off x="753" y="3592"/>
                <a:ext cx="192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</a:p>
            </p:txBody>
          </p:sp>
          <p:sp>
            <p:nvSpPr>
              <p:cNvPr id="24634" name="Oval 191"/>
              <p:cNvSpPr/>
              <p:nvPr/>
            </p:nvSpPr>
            <p:spPr>
              <a:xfrm>
                <a:off x="1012" y="368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24629" name="Group 195"/>
            <p:cNvGrpSpPr/>
            <p:nvPr/>
          </p:nvGrpSpPr>
          <p:grpSpPr>
            <a:xfrm>
              <a:off x="2100" y="1656"/>
              <a:ext cx="376" cy="384"/>
              <a:chOff x="1301" y="3372"/>
              <a:chExt cx="376" cy="384"/>
            </a:xfrm>
          </p:grpSpPr>
          <p:sp>
            <p:nvSpPr>
              <p:cNvPr id="24630" name="Rectangle 192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Text Box 193"/>
              <p:cNvSpPr txBox="1"/>
              <p:nvPr/>
            </p:nvSpPr>
            <p:spPr>
              <a:xfrm>
                <a:off x="1301" y="3431"/>
                <a:ext cx="376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</a:p>
            </p:txBody>
          </p:sp>
        </p:grpSp>
      </p:grpSp>
      <p:cxnSp>
        <p:nvCxnSpPr>
          <p:cNvPr id="2" name="直接箭头连接符 1"/>
          <p:cNvCxnSpPr/>
          <p:nvPr/>
        </p:nvCxnSpPr>
        <p:spPr>
          <a:xfrm flipH="1">
            <a:off x="2412365" y="4444365"/>
            <a:ext cx="28829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>
            <a:off x="2412365" y="4587875"/>
            <a:ext cx="0" cy="215900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ine 66"/>
          <p:cNvSpPr/>
          <p:nvPr/>
        </p:nvSpPr>
        <p:spPr>
          <a:xfrm flipH="1" flipV="1">
            <a:off x="2454275" y="4902200"/>
            <a:ext cx="312420" cy="254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C8903-BB89-4074-8200-200EBD87D26E}"/>
              </a:ext>
            </a:extLst>
          </p:cNvPr>
          <p:cNvSpPr txBox="1"/>
          <p:nvPr/>
        </p:nvSpPr>
        <p:spPr>
          <a:xfrm>
            <a:off x="6516216" y="771550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功能险象无法消除！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" grpId="0"/>
      <p:bldP spid="18433" grpId="1"/>
      <p:bldP spid="23574" grpId="0"/>
      <p:bldP spid="23574" grpId="1"/>
      <p:bldP spid="18457" grpId="0"/>
      <p:bldP spid="18457" grpId="1"/>
      <p:bldP spid="23577" grpId="0"/>
      <p:bldP spid="23577" grpId="1"/>
      <p:bldP spid="18459" grpId="0"/>
      <p:bldP spid="18459" grpId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/>
          <p:cNvSpPr>
            <a:spLocks noGrp="1"/>
          </p:cNvSpPr>
          <p:nvPr>
            <p:ph type="title"/>
          </p:nvPr>
        </p:nvSpPr>
        <p:spPr>
          <a:xfrm>
            <a:off x="142875" y="574675"/>
            <a:ext cx="6248400" cy="287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）逻辑险象产生的（必要）条件</a:t>
            </a:r>
          </a:p>
        </p:txBody>
      </p:sp>
      <p:sp>
        <p:nvSpPr>
          <p:cNvPr id="19458" name="Rectangle 4"/>
          <p:cNvSpPr>
            <a:spLocks noGrp="1"/>
          </p:cNvSpPr>
          <p:nvPr>
            <p:ph idx="1"/>
          </p:nvPr>
        </p:nvSpPr>
        <p:spPr>
          <a:xfrm>
            <a:off x="758825" y="984250"/>
            <a:ext cx="6477000" cy="660400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仅有一个输入信号发生变化；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 输入变量变化前后的稳态输出相同。</a:t>
            </a:r>
          </a:p>
        </p:txBody>
      </p:sp>
      <p:grpSp>
        <p:nvGrpSpPr>
          <p:cNvPr id="19459" name="Group 131"/>
          <p:cNvGrpSpPr/>
          <p:nvPr/>
        </p:nvGrpSpPr>
        <p:grpSpPr>
          <a:xfrm>
            <a:off x="179388" y="1716088"/>
            <a:ext cx="8964612" cy="808037"/>
            <a:chOff x="96" y="1200"/>
            <a:chExt cx="5664" cy="678"/>
          </a:xfrm>
        </p:grpSpPr>
        <p:sp>
          <p:nvSpPr>
            <p:cNvPr id="25702" name="Text Box 59"/>
            <p:cNvSpPr txBox="1"/>
            <p:nvPr/>
          </p:nvSpPr>
          <p:spPr>
            <a:xfrm>
              <a:off x="96" y="1224"/>
              <a:ext cx="5664" cy="6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例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如图 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 = AC+BC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，当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 = B = 1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 = C + C ≡1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。实际上</a:t>
              </a:r>
            </a:p>
            <a:p>
              <a:pPr eaLnBrk="1" hangingPunct="1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lnSpc>
                  <a:spcPct val="70000"/>
                </a:lnSpc>
                <a:spcBef>
                  <a:spcPct val="2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当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：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 → 0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时 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 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产生险象。</a:t>
              </a:r>
            </a:p>
          </p:txBody>
        </p:sp>
        <p:sp>
          <p:nvSpPr>
            <p:cNvPr id="25703" name="Line 60"/>
            <p:cNvSpPr/>
            <p:nvPr/>
          </p:nvSpPr>
          <p:spPr>
            <a:xfrm>
              <a:off x="1608" y="1200"/>
              <a:ext cx="141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704" name="Line 89"/>
            <p:cNvSpPr/>
            <p:nvPr/>
          </p:nvSpPr>
          <p:spPr>
            <a:xfrm>
              <a:off x="4644" y="1200"/>
              <a:ext cx="141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81" name="Group 109"/>
          <p:cNvGrpSpPr/>
          <p:nvPr/>
        </p:nvGrpSpPr>
        <p:grpSpPr>
          <a:xfrm>
            <a:off x="4941888" y="2211388"/>
            <a:ext cx="3733800" cy="2779712"/>
            <a:chOff x="2971" y="1393"/>
            <a:chExt cx="2352" cy="1751"/>
          </a:xfrm>
        </p:grpSpPr>
        <p:grpSp>
          <p:nvGrpSpPr>
            <p:cNvPr id="25647" name="Group 132"/>
            <p:cNvGrpSpPr/>
            <p:nvPr/>
          </p:nvGrpSpPr>
          <p:grpSpPr>
            <a:xfrm>
              <a:off x="2971" y="1393"/>
              <a:ext cx="2352" cy="1751"/>
              <a:chOff x="2880" y="1536"/>
              <a:chExt cx="2880" cy="2640"/>
            </a:xfrm>
          </p:grpSpPr>
          <p:sp>
            <p:nvSpPr>
              <p:cNvPr id="25695" name="Rectangle 90"/>
              <p:cNvSpPr/>
              <p:nvPr/>
            </p:nvSpPr>
            <p:spPr>
              <a:xfrm>
                <a:off x="2880" y="1536"/>
                <a:ext cx="2880" cy="26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5696" name="Group 91"/>
              <p:cNvGrpSpPr/>
              <p:nvPr/>
            </p:nvGrpSpPr>
            <p:grpSpPr>
              <a:xfrm>
                <a:off x="3072" y="1632"/>
                <a:ext cx="2400" cy="347"/>
                <a:chOff x="3072" y="1104"/>
                <a:chExt cx="2400" cy="347"/>
              </a:xfrm>
            </p:grpSpPr>
            <p:sp>
              <p:nvSpPr>
                <p:cNvPr id="25700" name="Line 92"/>
                <p:cNvSpPr/>
                <p:nvPr/>
              </p:nvSpPr>
              <p:spPr>
                <a:xfrm>
                  <a:off x="3408" y="1200"/>
                  <a:ext cx="20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701" name="Text Box 93"/>
                <p:cNvSpPr txBox="1"/>
                <p:nvPr/>
              </p:nvSpPr>
              <p:spPr>
                <a:xfrm>
                  <a:off x="3072" y="1104"/>
                  <a:ext cx="240" cy="3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1800" b="1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</a:t>
                  </a:r>
                </a:p>
              </p:txBody>
            </p:sp>
          </p:grpSp>
          <p:grpSp>
            <p:nvGrpSpPr>
              <p:cNvPr id="25697" name="Group 94"/>
              <p:cNvGrpSpPr/>
              <p:nvPr/>
            </p:nvGrpSpPr>
            <p:grpSpPr>
              <a:xfrm>
                <a:off x="3072" y="1920"/>
                <a:ext cx="2400" cy="347"/>
                <a:chOff x="3072" y="1392"/>
                <a:chExt cx="2400" cy="347"/>
              </a:xfrm>
            </p:grpSpPr>
            <p:sp>
              <p:nvSpPr>
                <p:cNvPr id="25698" name="Line 95"/>
                <p:cNvSpPr/>
                <p:nvPr/>
              </p:nvSpPr>
              <p:spPr>
                <a:xfrm>
                  <a:off x="3408" y="1440"/>
                  <a:ext cx="20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5699" name="Text Box 96"/>
                <p:cNvSpPr txBox="1"/>
                <p:nvPr/>
              </p:nvSpPr>
              <p:spPr>
                <a:xfrm>
                  <a:off x="3072" y="1392"/>
                  <a:ext cx="240" cy="34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1800" b="1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B</a:t>
                  </a:r>
                </a:p>
              </p:txBody>
            </p:sp>
          </p:grpSp>
        </p:grpSp>
        <p:grpSp>
          <p:nvGrpSpPr>
            <p:cNvPr id="25648" name="Group 133"/>
            <p:cNvGrpSpPr/>
            <p:nvPr/>
          </p:nvGrpSpPr>
          <p:grpSpPr>
            <a:xfrm>
              <a:off x="3128" y="1812"/>
              <a:ext cx="1034" cy="230"/>
              <a:chOff x="3072" y="2168"/>
              <a:chExt cx="1266" cy="347"/>
            </a:xfrm>
          </p:grpSpPr>
          <p:sp>
            <p:nvSpPr>
              <p:cNvPr id="25691" name="Line 98"/>
              <p:cNvSpPr/>
              <p:nvPr/>
            </p:nvSpPr>
            <p:spPr>
              <a:xfrm>
                <a:off x="3408" y="2256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2" name="Line 99"/>
              <p:cNvSpPr/>
              <p:nvPr/>
            </p:nvSpPr>
            <p:spPr>
              <a:xfrm>
                <a:off x="3744" y="2448"/>
                <a:ext cx="59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3" name="Line 100"/>
              <p:cNvSpPr/>
              <p:nvPr/>
            </p:nvSpPr>
            <p:spPr>
              <a:xfrm>
                <a:off x="3744" y="2256"/>
                <a:ext cx="0" cy="19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94" name="Text Box 101"/>
              <p:cNvSpPr txBox="1"/>
              <p:nvPr/>
            </p:nvSpPr>
            <p:spPr>
              <a:xfrm>
                <a:off x="3072" y="2168"/>
                <a:ext cx="240" cy="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</a:p>
            </p:txBody>
          </p:sp>
        </p:grpSp>
        <p:grpSp>
          <p:nvGrpSpPr>
            <p:cNvPr id="25649" name="Group 149"/>
            <p:cNvGrpSpPr/>
            <p:nvPr/>
          </p:nvGrpSpPr>
          <p:grpSpPr>
            <a:xfrm>
              <a:off x="3128" y="2093"/>
              <a:ext cx="1135" cy="231"/>
              <a:chOff x="3072" y="2592"/>
              <a:chExt cx="1390" cy="347"/>
            </a:xfrm>
          </p:grpSpPr>
          <p:sp>
            <p:nvSpPr>
              <p:cNvPr id="25686" name="Line 103"/>
              <p:cNvSpPr/>
              <p:nvPr/>
            </p:nvSpPr>
            <p:spPr>
              <a:xfrm>
                <a:off x="3850" y="2612"/>
                <a:ext cx="61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7" name="Line 104"/>
              <p:cNvSpPr/>
              <p:nvPr/>
            </p:nvSpPr>
            <p:spPr>
              <a:xfrm>
                <a:off x="3418" y="2804"/>
                <a:ext cx="43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8" name="Line 105"/>
              <p:cNvSpPr/>
              <p:nvPr/>
            </p:nvSpPr>
            <p:spPr>
              <a:xfrm>
                <a:off x="3850" y="2612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9" name="Text Box 106"/>
              <p:cNvSpPr txBox="1"/>
              <p:nvPr/>
            </p:nvSpPr>
            <p:spPr>
              <a:xfrm>
                <a:off x="3072" y="2592"/>
                <a:ext cx="240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</a:p>
            </p:txBody>
          </p:sp>
          <p:sp>
            <p:nvSpPr>
              <p:cNvPr id="25690" name="Line 107"/>
              <p:cNvSpPr/>
              <p:nvPr/>
            </p:nvSpPr>
            <p:spPr>
              <a:xfrm>
                <a:off x="3120" y="264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50" name="Line 114"/>
            <p:cNvSpPr/>
            <p:nvPr/>
          </p:nvSpPr>
          <p:spPr>
            <a:xfrm>
              <a:off x="3394" y="2698"/>
              <a:ext cx="470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1" name="Line 115"/>
            <p:cNvSpPr/>
            <p:nvPr/>
          </p:nvSpPr>
          <p:spPr>
            <a:xfrm>
              <a:off x="3864" y="2571"/>
              <a:ext cx="519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2" name="Line 116"/>
            <p:cNvSpPr/>
            <p:nvPr/>
          </p:nvSpPr>
          <p:spPr>
            <a:xfrm>
              <a:off x="3864" y="2571"/>
              <a:ext cx="0" cy="12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3" name="Text Box 117"/>
            <p:cNvSpPr txBox="1"/>
            <p:nvPr/>
          </p:nvSpPr>
          <p:spPr>
            <a:xfrm>
              <a:off x="3049" y="2539"/>
              <a:ext cx="35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AC</a:t>
              </a:r>
            </a:p>
          </p:txBody>
        </p:sp>
        <p:sp>
          <p:nvSpPr>
            <p:cNvPr id="25654" name="Line 118"/>
            <p:cNvSpPr/>
            <p:nvPr/>
          </p:nvSpPr>
          <p:spPr>
            <a:xfrm>
              <a:off x="3193" y="2571"/>
              <a:ext cx="117" cy="0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5" name="Line 126"/>
            <p:cNvSpPr/>
            <p:nvPr/>
          </p:nvSpPr>
          <p:spPr>
            <a:xfrm>
              <a:off x="3668" y="1994"/>
              <a:ext cx="0" cy="95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56" name="Line 127"/>
            <p:cNvSpPr/>
            <p:nvPr/>
          </p:nvSpPr>
          <p:spPr>
            <a:xfrm>
              <a:off x="3771" y="2157"/>
              <a:ext cx="0" cy="779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57" name="Line 128"/>
            <p:cNvSpPr/>
            <p:nvPr/>
          </p:nvSpPr>
          <p:spPr>
            <a:xfrm>
              <a:off x="3864" y="2635"/>
              <a:ext cx="0" cy="318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5658" name="Group 143"/>
            <p:cNvGrpSpPr/>
            <p:nvPr/>
          </p:nvGrpSpPr>
          <p:grpSpPr>
            <a:xfrm>
              <a:off x="4157" y="1871"/>
              <a:ext cx="885" cy="127"/>
              <a:chOff x="4368" y="2256"/>
              <a:chExt cx="1084" cy="192"/>
            </a:xfrm>
          </p:grpSpPr>
          <p:sp>
            <p:nvSpPr>
              <p:cNvPr id="25684" name="Line 139"/>
              <p:cNvSpPr/>
              <p:nvPr/>
            </p:nvSpPr>
            <p:spPr>
              <a:xfrm flipV="1">
                <a:off x="4368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5" name="Line 142"/>
              <p:cNvSpPr/>
              <p:nvPr/>
            </p:nvSpPr>
            <p:spPr>
              <a:xfrm>
                <a:off x="4368" y="2256"/>
                <a:ext cx="1084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59" name="Line 145"/>
            <p:cNvSpPr/>
            <p:nvPr/>
          </p:nvSpPr>
          <p:spPr>
            <a:xfrm>
              <a:off x="4157" y="1998"/>
              <a:ext cx="0" cy="955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60" name="Line 146"/>
            <p:cNvSpPr/>
            <p:nvPr/>
          </p:nvSpPr>
          <p:spPr>
            <a:xfrm>
              <a:off x="4265" y="2221"/>
              <a:ext cx="0" cy="732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61" name="Line 147"/>
            <p:cNvSpPr/>
            <p:nvPr/>
          </p:nvSpPr>
          <p:spPr>
            <a:xfrm>
              <a:off x="4382" y="2603"/>
              <a:ext cx="0" cy="350"/>
            </a:xfrm>
            <a:prstGeom prst="line">
              <a:avLst/>
            </a:prstGeom>
            <a:ln w="9525" cap="flat" cmpd="sng">
              <a:solidFill>
                <a:srgbClr val="FF66FF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5662" name="Group 154"/>
            <p:cNvGrpSpPr/>
            <p:nvPr/>
          </p:nvGrpSpPr>
          <p:grpSpPr>
            <a:xfrm>
              <a:off x="4265" y="2101"/>
              <a:ext cx="781" cy="128"/>
              <a:chOff x="4464" y="2604"/>
              <a:chExt cx="957" cy="192"/>
            </a:xfrm>
          </p:grpSpPr>
          <p:sp>
            <p:nvSpPr>
              <p:cNvPr id="25682" name="Line 152"/>
              <p:cNvSpPr/>
              <p:nvPr/>
            </p:nvSpPr>
            <p:spPr>
              <a:xfrm>
                <a:off x="4464" y="2604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3" name="Line 153"/>
              <p:cNvSpPr/>
              <p:nvPr/>
            </p:nvSpPr>
            <p:spPr>
              <a:xfrm>
                <a:off x="4464" y="2784"/>
                <a:ext cx="957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63" name="Group 158"/>
            <p:cNvGrpSpPr/>
            <p:nvPr/>
          </p:nvGrpSpPr>
          <p:grpSpPr>
            <a:xfrm>
              <a:off x="4271" y="2348"/>
              <a:ext cx="756" cy="127"/>
              <a:chOff x="4484" y="2976"/>
              <a:chExt cx="925" cy="192"/>
            </a:xfrm>
          </p:grpSpPr>
          <p:sp>
            <p:nvSpPr>
              <p:cNvPr id="25680" name="Line 156"/>
              <p:cNvSpPr/>
              <p:nvPr/>
            </p:nvSpPr>
            <p:spPr>
              <a:xfrm flipV="1">
                <a:off x="4484" y="2976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81" name="Line 157"/>
              <p:cNvSpPr/>
              <p:nvPr/>
            </p:nvSpPr>
            <p:spPr>
              <a:xfrm>
                <a:off x="4484" y="2976"/>
                <a:ext cx="925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64" name="Group 174"/>
            <p:cNvGrpSpPr/>
            <p:nvPr/>
          </p:nvGrpSpPr>
          <p:grpSpPr>
            <a:xfrm>
              <a:off x="4385" y="2571"/>
              <a:ext cx="670" cy="127"/>
              <a:chOff x="4611" y="3312"/>
              <a:chExt cx="821" cy="192"/>
            </a:xfrm>
          </p:grpSpPr>
          <p:sp>
            <p:nvSpPr>
              <p:cNvPr id="25678" name="Line 161"/>
              <p:cNvSpPr/>
              <p:nvPr/>
            </p:nvSpPr>
            <p:spPr>
              <a:xfrm>
                <a:off x="4611" y="3312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66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9" name="Line 162"/>
              <p:cNvSpPr/>
              <p:nvPr/>
            </p:nvSpPr>
            <p:spPr>
              <a:xfrm>
                <a:off x="4611" y="3492"/>
                <a:ext cx="821" cy="0"/>
              </a:xfrm>
              <a:prstGeom prst="line">
                <a:avLst/>
              </a:prstGeom>
              <a:ln w="38100" cap="flat" cmpd="sng">
                <a:solidFill>
                  <a:srgbClr val="FF66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65" name="Group 231"/>
            <p:cNvGrpSpPr/>
            <p:nvPr/>
          </p:nvGrpSpPr>
          <p:grpSpPr>
            <a:xfrm>
              <a:off x="3061" y="2300"/>
              <a:ext cx="1220" cy="230"/>
              <a:chOff x="2976" y="2928"/>
              <a:chExt cx="1493" cy="347"/>
            </a:xfrm>
          </p:grpSpPr>
          <p:sp>
            <p:nvSpPr>
              <p:cNvPr id="25674" name="Line 109"/>
              <p:cNvSpPr/>
              <p:nvPr/>
            </p:nvSpPr>
            <p:spPr>
              <a:xfrm>
                <a:off x="3868" y="3168"/>
                <a:ext cx="601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5" name="Line 110"/>
              <p:cNvSpPr/>
              <p:nvPr/>
            </p:nvSpPr>
            <p:spPr>
              <a:xfrm>
                <a:off x="3436" y="2976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6" name="Line 111"/>
              <p:cNvSpPr/>
              <p:nvPr/>
            </p:nvSpPr>
            <p:spPr>
              <a:xfrm>
                <a:off x="3868" y="297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7" name="Text Box 112"/>
              <p:cNvSpPr txBox="1"/>
              <p:nvPr/>
            </p:nvSpPr>
            <p:spPr>
              <a:xfrm>
                <a:off x="2976" y="2928"/>
                <a:ext cx="432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BC</a:t>
                </a:r>
              </a:p>
            </p:txBody>
          </p:sp>
        </p:grpSp>
        <p:grpSp>
          <p:nvGrpSpPr>
            <p:cNvPr id="25666" name="Group 182"/>
            <p:cNvGrpSpPr/>
            <p:nvPr/>
          </p:nvGrpSpPr>
          <p:grpSpPr>
            <a:xfrm>
              <a:off x="3165" y="2762"/>
              <a:ext cx="1311" cy="230"/>
              <a:chOff x="3118" y="3600"/>
              <a:chExt cx="1605" cy="347"/>
            </a:xfrm>
          </p:grpSpPr>
          <p:sp>
            <p:nvSpPr>
              <p:cNvPr id="25668" name="Line 176"/>
              <p:cNvSpPr/>
              <p:nvPr/>
            </p:nvSpPr>
            <p:spPr>
              <a:xfrm>
                <a:off x="3406" y="3696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69" name="Line 177"/>
              <p:cNvSpPr/>
              <p:nvPr/>
            </p:nvSpPr>
            <p:spPr>
              <a:xfrm>
                <a:off x="4106" y="369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0" name="Line 178"/>
              <p:cNvSpPr/>
              <p:nvPr/>
            </p:nvSpPr>
            <p:spPr>
              <a:xfrm>
                <a:off x="3982" y="369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1" name="Line 179"/>
              <p:cNvSpPr/>
              <p:nvPr/>
            </p:nvSpPr>
            <p:spPr>
              <a:xfrm>
                <a:off x="3982" y="3878"/>
                <a:ext cx="125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2" name="Line 180"/>
              <p:cNvSpPr/>
              <p:nvPr/>
            </p:nvSpPr>
            <p:spPr>
              <a:xfrm>
                <a:off x="4106" y="3696"/>
                <a:ext cx="617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73" name="Text Box 181"/>
              <p:cNvSpPr txBox="1"/>
              <p:nvPr/>
            </p:nvSpPr>
            <p:spPr>
              <a:xfrm>
                <a:off x="3118" y="3600"/>
                <a:ext cx="384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</a:t>
                </a:r>
              </a:p>
            </p:txBody>
          </p:sp>
        </p:grpSp>
        <p:sp>
          <p:nvSpPr>
            <p:cNvPr id="25667" name="Line 183"/>
            <p:cNvSpPr/>
            <p:nvPr/>
          </p:nvSpPr>
          <p:spPr>
            <a:xfrm>
              <a:off x="4461" y="2826"/>
              <a:ext cx="588" cy="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82" name="Group 108"/>
          <p:cNvGrpSpPr/>
          <p:nvPr/>
        </p:nvGrpSpPr>
        <p:grpSpPr>
          <a:xfrm>
            <a:off x="0" y="2935288"/>
            <a:ext cx="4500563" cy="2041525"/>
            <a:chOff x="0" y="1849"/>
            <a:chExt cx="2835" cy="1286"/>
          </a:xfrm>
        </p:grpSpPr>
        <p:sp>
          <p:nvSpPr>
            <p:cNvPr id="25609" name="Rectangle 6"/>
            <p:cNvSpPr/>
            <p:nvPr/>
          </p:nvSpPr>
          <p:spPr>
            <a:xfrm>
              <a:off x="0" y="1849"/>
              <a:ext cx="2835" cy="12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399" name="Line 7"/>
            <p:cNvSpPr/>
            <p:nvPr/>
          </p:nvSpPr>
          <p:spPr>
            <a:xfrm>
              <a:off x="1111" y="2245"/>
              <a:ext cx="298" cy="1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1" name="Text Box 8"/>
            <p:cNvSpPr txBox="1"/>
            <p:nvPr/>
          </p:nvSpPr>
          <p:spPr>
            <a:xfrm>
              <a:off x="205" y="2165"/>
              <a:ext cx="2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14401" name="Line 11"/>
            <p:cNvSpPr/>
            <p:nvPr/>
          </p:nvSpPr>
          <p:spPr>
            <a:xfrm>
              <a:off x="464" y="2036"/>
              <a:ext cx="94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3" name="Oval 12"/>
            <p:cNvSpPr/>
            <p:nvPr/>
          </p:nvSpPr>
          <p:spPr>
            <a:xfrm>
              <a:off x="556" y="2229"/>
              <a:ext cx="52" cy="36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403" name="Line 15"/>
            <p:cNvSpPr/>
            <p:nvPr/>
          </p:nvSpPr>
          <p:spPr>
            <a:xfrm>
              <a:off x="430" y="2245"/>
              <a:ext cx="328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04" name="Line 16"/>
            <p:cNvSpPr/>
            <p:nvPr/>
          </p:nvSpPr>
          <p:spPr>
            <a:xfrm>
              <a:off x="578" y="2245"/>
              <a:ext cx="0" cy="463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05" name="Line 18"/>
            <p:cNvSpPr/>
            <p:nvPr/>
          </p:nvSpPr>
          <p:spPr>
            <a:xfrm>
              <a:off x="2468" y="2453"/>
              <a:ext cx="261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7" name="Text Box 19"/>
            <p:cNvSpPr txBox="1"/>
            <p:nvPr/>
          </p:nvSpPr>
          <p:spPr>
            <a:xfrm>
              <a:off x="2567" y="2195"/>
              <a:ext cx="2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843C0B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25618" name="Line 24"/>
            <p:cNvSpPr/>
            <p:nvPr/>
          </p:nvSpPr>
          <p:spPr>
            <a:xfrm>
              <a:off x="1722" y="2137"/>
              <a:ext cx="2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9" name="Line 25"/>
            <p:cNvSpPr/>
            <p:nvPr/>
          </p:nvSpPr>
          <p:spPr>
            <a:xfrm>
              <a:off x="1714" y="2777"/>
              <a:ext cx="211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5620" name="Line 26"/>
            <p:cNvSpPr/>
            <p:nvPr/>
          </p:nvSpPr>
          <p:spPr>
            <a:xfrm>
              <a:off x="1931" y="2129"/>
              <a:ext cx="0" cy="25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1" name="Line 27"/>
            <p:cNvSpPr/>
            <p:nvPr/>
          </p:nvSpPr>
          <p:spPr>
            <a:xfrm>
              <a:off x="1923" y="2533"/>
              <a:ext cx="0" cy="252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5622" name="Line 28"/>
            <p:cNvSpPr/>
            <p:nvPr/>
          </p:nvSpPr>
          <p:spPr>
            <a:xfrm>
              <a:off x="1925" y="2533"/>
              <a:ext cx="211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5623" name="Line 29"/>
            <p:cNvSpPr/>
            <p:nvPr/>
          </p:nvSpPr>
          <p:spPr>
            <a:xfrm>
              <a:off x="1932" y="2374"/>
              <a:ext cx="2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Text Box 30"/>
            <p:cNvSpPr txBox="1"/>
            <p:nvPr/>
          </p:nvSpPr>
          <p:spPr>
            <a:xfrm>
              <a:off x="209" y="1913"/>
              <a:ext cx="24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5625" name="Text Box 31"/>
            <p:cNvSpPr txBox="1"/>
            <p:nvPr/>
          </p:nvSpPr>
          <p:spPr>
            <a:xfrm>
              <a:off x="206" y="2777"/>
              <a:ext cx="24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14415" name="Line 32"/>
            <p:cNvSpPr/>
            <p:nvPr/>
          </p:nvSpPr>
          <p:spPr>
            <a:xfrm>
              <a:off x="578" y="2705"/>
              <a:ext cx="815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16" name="Line 33"/>
            <p:cNvSpPr/>
            <p:nvPr/>
          </p:nvSpPr>
          <p:spPr>
            <a:xfrm>
              <a:off x="430" y="2885"/>
              <a:ext cx="9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28" name="Text Box 35"/>
            <p:cNvSpPr txBox="1"/>
            <p:nvPr/>
          </p:nvSpPr>
          <p:spPr>
            <a:xfrm>
              <a:off x="1734" y="1895"/>
              <a:ext cx="470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AC</a:t>
              </a:r>
            </a:p>
          </p:txBody>
        </p:sp>
        <p:sp>
          <p:nvSpPr>
            <p:cNvPr id="14419" name="Line 36"/>
            <p:cNvSpPr/>
            <p:nvPr/>
          </p:nvSpPr>
          <p:spPr>
            <a:xfrm>
              <a:off x="1944" y="1905"/>
              <a:ext cx="157" cy="0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5630" name="Group 37"/>
            <p:cNvGrpSpPr/>
            <p:nvPr/>
          </p:nvGrpSpPr>
          <p:grpSpPr>
            <a:xfrm>
              <a:off x="1110" y="2302"/>
              <a:ext cx="255" cy="250"/>
              <a:chOff x="1111" y="1660"/>
              <a:chExt cx="233" cy="333"/>
            </a:xfrm>
          </p:grpSpPr>
          <p:sp>
            <p:nvSpPr>
              <p:cNvPr id="25645" name="Text Box 38"/>
              <p:cNvSpPr txBox="1"/>
              <p:nvPr/>
            </p:nvSpPr>
            <p:spPr>
              <a:xfrm>
                <a:off x="1111" y="1660"/>
                <a:ext cx="233" cy="3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</a:p>
            </p:txBody>
          </p:sp>
          <p:sp>
            <p:nvSpPr>
              <p:cNvPr id="14422" name="Line 39"/>
              <p:cNvSpPr/>
              <p:nvPr/>
            </p:nvSpPr>
            <p:spPr>
              <a:xfrm>
                <a:off x="1160" y="1660"/>
                <a:ext cx="143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5631" name="Text Box 40"/>
            <p:cNvSpPr txBox="1"/>
            <p:nvPr/>
          </p:nvSpPr>
          <p:spPr>
            <a:xfrm>
              <a:off x="1785" y="2885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BC</a:t>
              </a:r>
            </a:p>
          </p:txBody>
        </p:sp>
        <p:grpSp>
          <p:nvGrpSpPr>
            <p:cNvPr id="25632" name="Group 172"/>
            <p:cNvGrpSpPr/>
            <p:nvPr/>
          </p:nvGrpSpPr>
          <p:grpSpPr>
            <a:xfrm>
              <a:off x="1404" y="1993"/>
              <a:ext cx="351" cy="288"/>
              <a:chOff x="2071" y="624"/>
              <a:chExt cx="321" cy="384"/>
            </a:xfrm>
          </p:grpSpPr>
          <p:sp>
            <p:nvSpPr>
              <p:cNvPr id="25643" name="Rectangle 153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5644" name="Text Box 154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</p:grpSp>
        <p:grpSp>
          <p:nvGrpSpPr>
            <p:cNvPr id="25633" name="Group 173"/>
            <p:cNvGrpSpPr/>
            <p:nvPr/>
          </p:nvGrpSpPr>
          <p:grpSpPr>
            <a:xfrm>
              <a:off x="1395" y="2641"/>
              <a:ext cx="351" cy="288"/>
              <a:chOff x="2071" y="624"/>
              <a:chExt cx="321" cy="384"/>
            </a:xfrm>
          </p:grpSpPr>
          <p:sp>
            <p:nvSpPr>
              <p:cNvPr id="25641" name="Rectangle 174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5642" name="Text Box 175"/>
              <p:cNvSpPr txBox="1"/>
              <p:nvPr/>
            </p:nvSpPr>
            <p:spPr>
              <a:xfrm>
                <a:off x="2108" y="699"/>
                <a:ext cx="284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</p:grpSp>
        <p:grpSp>
          <p:nvGrpSpPr>
            <p:cNvPr id="25634" name="Group 194"/>
            <p:cNvGrpSpPr/>
            <p:nvPr/>
          </p:nvGrpSpPr>
          <p:grpSpPr>
            <a:xfrm>
              <a:off x="760" y="2101"/>
              <a:ext cx="395" cy="288"/>
              <a:chOff x="724" y="3540"/>
              <a:chExt cx="361" cy="384"/>
            </a:xfrm>
          </p:grpSpPr>
          <p:sp>
            <p:nvSpPr>
              <p:cNvPr id="25638" name="Rectangle 189"/>
              <p:cNvSpPr/>
              <p:nvPr/>
            </p:nvSpPr>
            <p:spPr>
              <a:xfrm>
                <a:off x="724" y="354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5639" name="Text Box 190"/>
              <p:cNvSpPr txBox="1"/>
              <p:nvPr/>
            </p:nvSpPr>
            <p:spPr>
              <a:xfrm>
                <a:off x="753" y="3592"/>
                <a:ext cx="192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</a:p>
            </p:txBody>
          </p:sp>
          <p:sp>
            <p:nvSpPr>
              <p:cNvPr id="25640" name="Oval 191"/>
              <p:cNvSpPr/>
              <p:nvPr/>
            </p:nvSpPr>
            <p:spPr>
              <a:xfrm>
                <a:off x="1012" y="368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25635" name="Group 195"/>
            <p:cNvGrpSpPr/>
            <p:nvPr/>
          </p:nvGrpSpPr>
          <p:grpSpPr>
            <a:xfrm>
              <a:off x="2139" y="2299"/>
              <a:ext cx="412" cy="288"/>
              <a:chOff x="1301" y="3372"/>
              <a:chExt cx="376" cy="384"/>
            </a:xfrm>
          </p:grpSpPr>
          <p:sp>
            <p:nvSpPr>
              <p:cNvPr id="25636" name="Rectangle 192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5637" name="Text Box 193"/>
              <p:cNvSpPr txBox="1"/>
              <p:nvPr/>
            </p:nvSpPr>
            <p:spPr>
              <a:xfrm>
                <a:off x="1301" y="3431"/>
                <a:ext cx="376" cy="2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</a:p>
            </p:txBody>
          </p:sp>
        </p:grpSp>
      </p:grpSp>
      <p:sp>
        <p:nvSpPr>
          <p:cNvPr id="24583" name="Line 106"/>
          <p:cNvSpPr/>
          <p:nvPr/>
        </p:nvSpPr>
        <p:spPr>
          <a:xfrm>
            <a:off x="1833880" y="1707833"/>
            <a:ext cx="2159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107"/>
          <p:cNvSpPr/>
          <p:nvPr/>
        </p:nvSpPr>
        <p:spPr>
          <a:xfrm>
            <a:off x="4572000" y="1708150"/>
            <a:ext cx="2159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" grpId="0"/>
      <p:bldP spid="1945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/>
          </p:cNvSpPr>
          <p:nvPr>
            <p:ph idx="1"/>
          </p:nvPr>
        </p:nvSpPr>
        <p:spPr>
          <a:xfrm>
            <a:off x="253364" y="916305"/>
            <a:ext cx="8783131" cy="3671570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总之，静态险象的产生是：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由于输入信号经过不同的路径又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汇合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到同一个门上的竞争所引起的。</a:t>
            </a:r>
          </a:p>
          <a:p>
            <a:pPr marL="609600" indent="-609600">
              <a:spcBef>
                <a:spcPct val="50000"/>
              </a:spcBef>
              <a:buNone/>
            </a:pP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</a:t>
            </a:r>
          </a:p>
          <a:p>
            <a:pPr marL="609600" indent="-609600" latinLnBrk="0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　　　　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在电路中，若输入信号变化前后，稳态的输出均为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逻辑状态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（即高电平），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且在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状态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“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1”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对应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高电平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输出上出现一个负向窄脉冲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，则该险象称为</a:t>
            </a:r>
            <a:r>
              <a:rPr lang="en-US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静态 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 </a:t>
            </a:r>
            <a:r>
              <a:rPr lang="en-US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，如前例所示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endParaRPr lang="en-US" altLang="en-US" sz="2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marL="609600" indent="-609600" latinLnBrk="0">
              <a:lnSpc>
                <a:spcPct val="140000"/>
              </a:lnSpc>
              <a:spcBef>
                <a:spcPts val="1200"/>
              </a:spcBef>
              <a:buNone/>
            </a:pP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　　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反之若稳态输出为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逻辑状态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，且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在状态“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0”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对应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低电平</a:t>
            </a:r>
            <a:r>
              <a:rPr lang="en-US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输出上出现一个正向窄脉冲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，则该险象称为</a:t>
            </a:r>
            <a:r>
              <a:rPr lang="en-US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静态 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 </a:t>
            </a:r>
            <a:r>
              <a:rPr lang="en-US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险象，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如下例所示。</a:t>
            </a:r>
            <a:endParaRPr lang="en-US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5580380" y="67945"/>
            <a:ext cx="3503930" cy="1587500"/>
            <a:chOff x="8788" y="107"/>
            <a:chExt cx="5518" cy="2500"/>
          </a:xfrm>
        </p:grpSpPr>
        <p:sp>
          <p:nvSpPr>
            <p:cNvPr id="21" name="矩形 20"/>
            <p:cNvSpPr/>
            <p:nvPr/>
          </p:nvSpPr>
          <p:spPr>
            <a:xfrm>
              <a:off x="8788" y="107"/>
              <a:ext cx="5519" cy="25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/>
            </a:p>
            <a:p>
              <a:pPr algn="l"/>
              <a:endParaRPr lang="zh-CN" altLang="en-US" sz="160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832" y="195"/>
              <a:ext cx="514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静态</a:t>
              </a:r>
              <a:r>
                <a:rPr lang="en-US" altLang="en-US" sz="1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险象</a:t>
              </a:r>
              <a:r>
                <a:rPr lang="zh-CN" altLang="en-US" sz="1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出现在什么电路？</a:t>
              </a:r>
            </a:p>
          </p:txBody>
        </p:sp>
      </p:grpSp>
      <p:sp>
        <p:nvSpPr>
          <p:cNvPr id="27650" name="Rectangle 3"/>
          <p:cNvSpPr>
            <a:spLocks noGrp="1"/>
          </p:cNvSpPr>
          <p:nvPr>
            <p:ph type="title"/>
          </p:nvPr>
        </p:nvSpPr>
        <p:spPr>
          <a:xfrm>
            <a:off x="539750" y="627063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具有静态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险象的电路及时间图</a:t>
            </a:r>
          </a:p>
        </p:txBody>
      </p:sp>
      <p:sp>
        <p:nvSpPr>
          <p:cNvPr id="126980" name="Rectangle 4"/>
          <p:cNvSpPr>
            <a:spLocks noGrp="1"/>
          </p:cNvSpPr>
          <p:nvPr>
            <p:ph idx="1"/>
          </p:nvPr>
        </p:nvSpPr>
        <p:spPr>
          <a:xfrm>
            <a:off x="1063308" y="992505"/>
            <a:ext cx="7313612" cy="10858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如图所示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= (A + B + C) (C + D) (B + D)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 = B = D = 0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= C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·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 ≡ 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实际上，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→ 1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产生静态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险象。</a:t>
            </a:r>
          </a:p>
        </p:txBody>
      </p:sp>
      <p:grpSp>
        <p:nvGrpSpPr>
          <p:cNvPr id="2" name="Group 72"/>
          <p:cNvGrpSpPr/>
          <p:nvPr/>
        </p:nvGrpSpPr>
        <p:grpSpPr>
          <a:xfrm>
            <a:off x="4500563" y="811213"/>
            <a:ext cx="2605087" cy="314325"/>
            <a:chOff x="2931" y="552"/>
            <a:chExt cx="1641" cy="264"/>
          </a:xfrm>
        </p:grpSpPr>
        <p:sp>
          <p:nvSpPr>
            <p:cNvPr id="27778" name="Line 68"/>
            <p:cNvSpPr/>
            <p:nvPr/>
          </p:nvSpPr>
          <p:spPr>
            <a:xfrm>
              <a:off x="2931" y="552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9" name="Line 69"/>
            <p:cNvSpPr/>
            <p:nvPr/>
          </p:nvSpPr>
          <p:spPr>
            <a:xfrm>
              <a:off x="4032" y="552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0" name="Line 70"/>
            <p:cNvSpPr/>
            <p:nvPr/>
          </p:nvSpPr>
          <p:spPr>
            <a:xfrm>
              <a:off x="4428" y="552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1" name="Line 71"/>
            <p:cNvSpPr/>
            <p:nvPr/>
          </p:nvSpPr>
          <p:spPr>
            <a:xfrm>
              <a:off x="3648" y="816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7053" name="Rectangle 77"/>
          <p:cNvSpPr/>
          <p:nvPr/>
        </p:nvSpPr>
        <p:spPr>
          <a:xfrm>
            <a:off x="4699000" y="2014855"/>
            <a:ext cx="3875405" cy="307467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140"/>
          <p:cNvGrpSpPr/>
          <p:nvPr/>
        </p:nvGrpSpPr>
        <p:grpSpPr>
          <a:xfrm>
            <a:off x="4762500" y="1989138"/>
            <a:ext cx="3810000" cy="365125"/>
            <a:chOff x="3072" y="1543"/>
            <a:chExt cx="2400" cy="307"/>
          </a:xfrm>
        </p:grpSpPr>
        <p:sp>
          <p:nvSpPr>
            <p:cNvPr id="27776" name="Line 79"/>
            <p:cNvSpPr/>
            <p:nvPr/>
          </p:nvSpPr>
          <p:spPr>
            <a:xfrm>
              <a:off x="3408" y="1749"/>
              <a:ext cx="20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7" name="Text Box 80"/>
            <p:cNvSpPr txBox="1"/>
            <p:nvPr/>
          </p:nvSpPr>
          <p:spPr>
            <a:xfrm>
              <a:off x="3072" y="1543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</p:grpSp>
      <p:grpSp>
        <p:nvGrpSpPr>
          <p:cNvPr id="4" name="Group 141"/>
          <p:cNvGrpSpPr/>
          <p:nvPr/>
        </p:nvGrpSpPr>
        <p:grpSpPr>
          <a:xfrm>
            <a:off x="4762500" y="2274888"/>
            <a:ext cx="3810000" cy="365125"/>
            <a:chOff x="3072" y="1852"/>
            <a:chExt cx="2400" cy="307"/>
          </a:xfrm>
        </p:grpSpPr>
        <p:sp>
          <p:nvSpPr>
            <p:cNvPr id="27774" name="Line 82"/>
            <p:cNvSpPr/>
            <p:nvPr/>
          </p:nvSpPr>
          <p:spPr>
            <a:xfrm>
              <a:off x="3408" y="2058"/>
              <a:ext cx="20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5" name="Text Box 83"/>
            <p:cNvSpPr txBox="1"/>
            <p:nvPr/>
          </p:nvSpPr>
          <p:spPr>
            <a:xfrm>
              <a:off x="3072" y="1852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</p:grpSp>
      <p:grpSp>
        <p:nvGrpSpPr>
          <p:cNvPr id="5" name="Group 142"/>
          <p:cNvGrpSpPr/>
          <p:nvPr/>
        </p:nvGrpSpPr>
        <p:grpSpPr>
          <a:xfrm>
            <a:off x="4762500" y="2560638"/>
            <a:ext cx="3810000" cy="365125"/>
            <a:chOff x="3072" y="2161"/>
            <a:chExt cx="2400" cy="307"/>
          </a:xfrm>
        </p:grpSpPr>
        <p:sp>
          <p:nvSpPr>
            <p:cNvPr id="27772" name="Line 84"/>
            <p:cNvSpPr/>
            <p:nvPr/>
          </p:nvSpPr>
          <p:spPr>
            <a:xfrm>
              <a:off x="3408" y="2367"/>
              <a:ext cx="20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3" name="Text Box 85"/>
            <p:cNvSpPr txBox="1"/>
            <p:nvPr/>
          </p:nvSpPr>
          <p:spPr>
            <a:xfrm>
              <a:off x="3072" y="2161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</a:p>
          </p:txBody>
        </p:sp>
      </p:grpSp>
      <p:grpSp>
        <p:nvGrpSpPr>
          <p:cNvPr id="6" name="Group 151"/>
          <p:cNvGrpSpPr/>
          <p:nvPr/>
        </p:nvGrpSpPr>
        <p:grpSpPr>
          <a:xfrm>
            <a:off x="4762500" y="2917748"/>
            <a:ext cx="2009775" cy="365125"/>
            <a:chOff x="3072" y="2268"/>
            <a:chExt cx="1266" cy="307"/>
          </a:xfrm>
        </p:grpSpPr>
        <p:sp>
          <p:nvSpPr>
            <p:cNvPr id="27768" name="Line 88"/>
            <p:cNvSpPr/>
            <p:nvPr/>
          </p:nvSpPr>
          <p:spPr>
            <a:xfrm>
              <a:off x="3408" y="2476"/>
              <a:ext cx="3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9" name="Line 89"/>
            <p:cNvSpPr/>
            <p:nvPr/>
          </p:nvSpPr>
          <p:spPr>
            <a:xfrm>
              <a:off x="3744" y="2296"/>
              <a:ext cx="59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0" name="Line 90"/>
            <p:cNvSpPr/>
            <p:nvPr/>
          </p:nvSpPr>
          <p:spPr>
            <a:xfrm>
              <a:off x="3744" y="2298"/>
              <a:ext cx="0" cy="19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1" name="Text Box 91"/>
            <p:cNvSpPr txBox="1"/>
            <p:nvPr/>
          </p:nvSpPr>
          <p:spPr>
            <a:xfrm>
              <a:off x="3072" y="2268"/>
              <a:ext cx="240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</p:grpSp>
      <p:grpSp>
        <p:nvGrpSpPr>
          <p:cNvPr id="7" name="Group 152"/>
          <p:cNvGrpSpPr/>
          <p:nvPr/>
        </p:nvGrpSpPr>
        <p:grpSpPr>
          <a:xfrm>
            <a:off x="4762500" y="3289300"/>
            <a:ext cx="2224088" cy="365125"/>
            <a:chOff x="3072" y="2580"/>
            <a:chExt cx="1401" cy="307"/>
          </a:xfrm>
        </p:grpSpPr>
        <p:sp>
          <p:nvSpPr>
            <p:cNvPr id="27763" name="Line 93"/>
            <p:cNvSpPr/>
            <p:nvPr/>
          </p:nvSpPr>
          <p:spPr>
            <a:xfrm>
              <a:off x="3850" y="2796"/>
              <a:ext cx="623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4" name="Line 94"/>
            <p:cNvSpPr/>
            <p:nvPr/>
          </p:nvSpPr>
          <p:spPr>
            <a:xfrm>
              <a:off x="3418" y="2604"/>
              <a:ext cx="43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5" name="Line 95"/>
            <p:cNvSpPr/>
            <p:nvPr/>
          </p:nvSpPr>
          <p:spPr>
            <a:xfrm>
              <a:off x="3850" y="2600"/>
              <a:ext cx="0" cy="19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6" name="Text Box 96"/>
            <p:cNvSpPr txBox="1"/>
            <p:nvPr/>
          </p:nvSpPr>
          <p:spPr>
            <a:xfrm>
              <a:off x="3072" y="2580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27767" name="Line 97"/>
            <p:cNvSpPr/>
            <p:nvPr/>
          </p:nvSpPr>
          <p:spPr>
            <a:xfrm>
              <a:off x="3120" y="2613"/>
              <a:ext cx="144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54"/>
          <p:cNvGrpSpPr/>
          <p:nvPr/>
        </p:nvGrpSpPr>
        <p:grpSpPr>
          <a:xfrm>
            <a:off x="4800600" y="3589338"/>
            <a:ext cx="2401888" cy="365125"/>
            <a:chOff x="3096" y="2832"/>
            <a:chExt cx="1513" cy="307"/>
          </a:xfrm>
        </p:grpSpPr>
        <p:sp>
          <p:nvSpPr>
            <p:cNvPr id="27759" name="Line 99"/>
            <p:cNvSpPr/>
            <p:nvPr/>
          </p:nvSpPr>
          <p:spPr>
            <a:xfrm>
              <a:off x="3398" y="2928"/>
              <a:ext cx="57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0" name="Line 100"/>
            <p:cNvSpPr/>
            <p:nvPr/>
          </p:nvSpPr>
          <p:spPr>
            <a:xfrm>
              <a:off x="3974" y="3120"/>
              <a:ext cx="635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1" name="Line 101"/>
            <p:cNvSpPr/>
            <p:nvPr/>
          </p:nvSpPr>
          <p:spPr>
            <a:xfrm>
              <a:off x="3974" y="2928"/>
              <a:ext cx="0" cy="19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Text Box 102"/>
            <p:cNvSpPr txBox="1"/>
            <p:nvPr/>
          </p:nvSpPr>
          <p:spPr>
            <a:xfrm>
              <a:off x="3096" y="2832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</p:grpSp>
      <p:sp>
        <p:nvSpPr>
          <p:cNvPr id="127080" name="Line 104"/>
          <p:cNvSpPr/>
          <p:nvPr/>
        </p:nvSpPr>
        <p:spPr>
          <a:xfrm>
            <a:off x="5813425" y="3054350"/>
            <a:ext cx="15875" cy="2026920"/>
          </a:xfrm>
          <a:prstGeom prst="line">
            <a:avLst/>
          </a:prstGeom>
          <a:ln w="9525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27081" name="Line 105"/>
          <p:cNvSpPr/>
          <p:nvPr/>
        </p:nvSpPr>
        <p:spPr>
          <a:xfrm>
            <a:off x="6013450" y="3375025"/>
            <a:ext cx="12700" cy="1706245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9" name="Group 156"/>
          <p:cNvGrpSpPr/>
          <p:nvPr/>
        </p:nvGrpSpPr>
        <p:grpSpPr>
          <a:xfrm>
            <a:off x="6762750" y="2951163"/>
            <a:ext cx="1720850" cy="228600"/>
            <a:chOff x="4332" y="2296"/>
            <a:chExt cx="1084" cy="192"/>
          </a:xfrm>
        </p:grpSpPr>
        <p:sp>
          <p:nvSpPr>
            <p:cNvPr id="27757" name="Line 108"/>
            <p:cNvSpPr/>
            <p:nvPr/>
          </p:nvSpPr>
          <p:spPr>
            <a:xfrm flipV="1">
              <a:off x="4332" y="2296"/>
              <a:ext cx="0" cy="1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8" name="Line 109"/>
            <p:cNvSpPr/>
            <p:nvPr/>
          </p:nvSpPr>
          <p:spPr>
            <a:xfrm>
              <a:off x="4332" y="2484"/>
              <a:ext cx="108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7086" name="Line 110"/>
          <p:cNvSpPr/>
          <p:nvPr/>
        </p:nvSpPr>
        <p:spPr>
          <a:xfrm>
            <a:off x="6762750" y="3018155"/>
            <a:ext cx="635" cy="2062480"/>
          </a:xfrm>
          <a:prstGeom prst="line">
            <a:avLst/>
          </a:prstGeom>
          <a:ln w="9525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27087" name="Line 111"/>
          <p:cNvSpPr/>
          <p:nvPr/>
        </p:nvSpPr>
        <p:spPr>
          <a:xfrm>
            <a:off x="6972300" y="3418205"/>
            <a:ext cx="635" cy="1659890"/>
          </a:xfrm>
          <a:prstGeom prst="line">
            <a:avLst/>
          </a:prstGeom>
          <a:ln w="9525" cap="flat" cmpd="sng">
            <a:solidFill>
              <a:srgbClr val="3333FF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27088" name="Line 112"/>
          <p:cNvSpPr/>
          <p:nvPr/>
        </p:nvSpPr>
        <p:spPr>
          <a:xfrm>
            <a:off x="7181850" y="3903980"/>
            <a:ext cx="20955" cy="1130300"/>
          </a:xfrm>
          <a:prstGeom prst="line">
            <a:avLst/>
          </a:prstGeom>
          <a:ln w="9525" cap="flat" cmpd="sng">
            <a:solidFill>
              <a:srgbClr val="FF66FF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10" name="Group 157"/>
          <p:cNvGrpSpPr/>
          <p:nvPr/>
        </p:nvGrpSpPr>
        <p:grpSpPr>
          <a:xfrm>
            <a:off x="6972300" y="3303588"/>
            <a:ext cx="1519238" cy="228600"/>
            <a:chOff x="4464" y="2592"/>
            <a:chExt cx="957" cy="192"/>
          </a:xfrm>
        </p:grpSpPr>
        <p:sp>
          <p:nvSpPr>
            <p:cNvPr id="27755" name="Line 114"/>
            <p:cNvSpPr/>
            <p:nvPr/>
          </p:nvSpPr>
          <p:spPr>
            <a:xfrm>
              <a:off x="4464" y="2592"/>
              <a:ext cx="0" cy="19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6" name="Line 115"/>
            <p:cNvSpPr/>
            <p:nvPr/>
          </p:nvSpPr>
          <p:spPr>
            <a:xfrm>
              <a:off x="4464" y="2592"/>
              <a:ext cx="957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158"/>
          <p:cNvGrpSpPr/>
          <p:nvPr/>
        </p:nvGrpSpPr>
        <p:grpSpPr>
          <a:xfrm>
            <a:off x="7205663" y="3703638"/>
            <a:ext cx="1303337" cy="228600"/>
            <a:chOff x="4611" y="2928"/>
            <a:chExt cx="821" cy="192"/>
          </a:xfrm>
        </p:grpSpPr>
        <p:sp>
          <p:nvSpPr>
            <p:cNvPr id="27753" name="Line 120"/>
            <p:cNvSpPr/>
            <p:nvPr/>
          </p:nvSpPr>
          <p:spPr>
            <a:xfrm>
              <a:off x="4611" y="2928"/>
              <a:ext cx="0" cy="192"/>
            </a:xfrm>
            <a:prstGeom prst="line">
              <a:avLst/>
            </a:prstGeom>
            <a:ln w="38100" cap="flat" cmpd="sng">
              <a:solidFill>
                <a:srgbClr val="FF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121"/>
            <p:cNvSpPr/>
            <p:nvPr/>
          </p:nvSpPr>
          <p:spPr>
            <a:xfrm>
              <a:off x="4611" y="2928"/>
              <a:ext cx="821" cy="0"/>
            </a:xfrm>
            <a:prstGeom prst="line">
              <a:avLst/>
            </a:prstGeom>
            <a:ln w="38100" cap="flat" cmpd="sng">
              <a:solidFill>
                <a:srgbClr val="FF66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159"/>
          <p:cNvGrpSpPr/>
          <p:nvPr/>
        </p:nvGrpSpPr>
        <p:grpSpPr>
          <a:xfrm>
            <a:off x="6985000" y="4089400"/>
            <a:ext cx="1468438" cy="228600"/>
            <a:chOff x="4472" y="3252"/>
            <a:chExt cx="925" cy="192"/>
          </a:xfrm>
        </p:grpSpPr>
        <p:sp>
          <p:nvSpPr>
            <p:cNvPr id="27751" name="Line 117"/>
            <p:cNvSpPr/>
            <p:nvPr/>
          </p:nvSpPr>
          <p:spPr>
            <a:xfrm flipV="1">
              <a:off x="4472" y="3252"/>
              <a:ext cx="0" cy="192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2" name="Line 118"/>
            <p:cNvSpPr/>
            <p:nvPr/>
          </p:nvSpPr>
          <p:spPr>
            <a:xfrm>
              <a:off x="4472" y="3408"/>
              <a:ext cx="925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160"/>
          <p:cNvGrpSpPr/>
          <p:nvPr/>
        </p:nvGrpSpPr>
        <p:grpSpPr>
          <a:xfrm>
            <a:off x="4800600" y="3989388"/>
            <a:ext cx="2197100" cy="365125"/>
            <a:chOff x="3096" y="3168"/>
            <a:chExt cx="1384" cy="307"/>
          </a:xfrm>
        </p:grpSpPr>
        <p:sp>
          <p:nvSpPr>
            <p:cNvPr id="27747" name="Line 123"/>
            <p:cNvSpPr/>
            <p:nvPr/>
          </p:nvSpPr>
          <p:spPr>
            <a:xfrm>
              <a:off x="3868" y="3240"/>
              <a:ext cx="612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8" name="Line 124"/>
            <p:cNvSpPr/>
            <p:nvPr/>
          </p:nvSpPr>
          <p:spPr>
            <a:xfrm>
              <a:off x="3436" y="3420"/>
              <a:ext cx="432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9" name="Line 125"/>
            <p:cNvSpPr/>
            <p:nvPr/>
          </p:nvSpPr>
          <p:spPr>
            <a:xfrm>
              <a:off x="3868" y="3252"/>
              <a:ext cx="0" cy="19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Text Box 126"/>
            <p:cNvSpPr txBox="1"/>
            <p:nvPr/>
          </p:nvSpPr>
          <p:spPr>
            <a:xfrm>
              <a:off x="3096" y="316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</p:grpSp>
      <p:sp>
        <p:nvSpPr>
          <p:cNvPr id="127110" name="Line 134"/>
          <p:cNvSpPr/>
          <p:nvPr/>
        </p:nvSpPr>
        <p:spPr>
          <a:xfrm>
            <a:off x="7353300" y="5033963"/>
            <a:ext cx="1143000" cy="0"/>
          </a:xfrm>
          <a:prstGeom prst="line">
            <a:avLst/>
          </a:prstGeom>
          <a:ln w="381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7082" name="Line 106"/>
          <p:cNvSpPr/>
          <p:nvPr/>
        </p:nvSpPr>
        <p:spPr>
          <a:xfrm flipH="1">
            <a:off x="6193155" y="3804285"/>
            <a:ext cx="635" cy="1285240"/>
          </a:xfrm>
          <a:prstGeom prst="line">
            <a:avLst/>
          </a:prstGeom>
          <a:ln w="9525" cap="flat" cmpd="sng">
            <a:solidFill>
              <a:srgbClr val="FF00FF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14" name="Group 149"/>
          <p:cNvGrpSpPr/>
          <p:nvPr/>
        </p:nvGrpSpPr>
        <p:grpSpPr>
          <a:xfrm>
            <a:off x="4838700" y="4748213"/>
            <a:ext cx="2547938" cy="365125"/>
            <a:chOff x="3120" y="3504"/>
            <a:chExt cx="1605" cy="307"/>
          </a:xfrm>
        </p:grpSpPr>
        <p:sp>
          <p:nvSpPr>
            <p:cNvPr id="27741" name="Line 128"/>
            <p:cNvSpPr/>
            <p:nvPr/>
          </p:nvSpPr>
          <p:spPr>
            <a:xfrm>
              <a:off x="3408" y="3744"/>
              <a:ext cx="576" cy="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Line 129"/>
            <p:cNvSpPr/>
            <p:nvPr/>
          </p:nvSpPr>
          <p:spPr>
            <a:xfrm>
              <a:off x="4108" y="3552"/>
              <a:ext cx="0" cy="192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3" name="Line 130"/>
            <p:cNvSpPr/>
            <p:nvPr/>
          </p:nvSpPr>
          <p:spPr>
            <a:xfrm>
              <a:off x="3984" y="3552"/>
              <a:ext cx="0" cy="192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4" name="Line 131"/>
            <p:cNvSpPr/>
            <p:nvPr/>
          </p:nvSpPr>
          <p:spPr>
            <a:xfrm>
              <a:off x="3984" y="3552"/>
              <a:ext cx="125" cy="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132"/>
            <p:cNvSpPr/>
            <p:nvPr/>
          </p:nvSpPr>
          <p:spPr>
            <a:xfrm>
              <a:off x="4108" y="3744"/>
              <a:ext cx="617" cy="0"/>
            </a:xfrm>
            <a:prstGeom prst="line">
              <a:avLst/>
            </a:prstGeom>
            <a:ln w="381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Text Box 133"/>
            <p:cNvSpPr txBox="1"/>
            <p:nvPr/>
          </p:nvSpPr>
          <p:spPr>
            <a:xfrm>
              <a:off x="3120" y="3504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</p:grpSp>
      <p:sp>
        <p:nvSpPr>
          <p:cNvPr id="27673" name="Rectangle 73"/>
          <p:cNvSpPr/>
          <p:nvPr/>
        </p:nvSpPr>
        <p:spPr>
          <a:xfrm>
            <a:off x="684213" y="2076450"/>
            <a:ext cx="3895725" cy="275431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en-US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522" name="Line 6"/>
          <p:cNvSpPr/>
          <p:nvPr/>
        </p:nvSpPr>
        <p:spPr>
          <a:xfrm>
            <a:off x="2316163" y="2595563"/>
            <a:ext cx="21590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75" name="Text Box 7"/>
          <p:cNvSpPr txBox="1"/>
          <p:nvPr/>
        </p:nvSpPr>
        <p:spPr>
          <a:xfrm>
            <a:off x="719138" y="2674938"/>
            <a:ext cx="334962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</a:p>
        </p:txBody>
      </p:sp>
      <p:sp>
        <p:nvSpPr>
          <p:cNvPr id="19524" name="Line 10"/>
          <p:cNvSpPr/>
          <p:nvPr/>
        </p:nvSpPr>
        <p:spPr>
          <a:xfrm>
            <a:off x="1063625" y="2274888"/>
            <a:ext cx="14795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77" name="Oval 11"/>
          <p:cNvSpPr/>
          <p:nvPr/>
        </p:nvSpPr>
        <p:spPr>
          <a:xfrm>
            <a:off x="1187450" y="2413000"/>
            <a:ext cx="76200" cy="5715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78" name="Line 12"/>
          <p:cNvSpPr/>
          <p:nvPr/>
        </p:nvSpPr>
        <p:spPr>
          <a:xfrm>
            <a:off x="1025525" y="2822575"/>
            <a:ext cx="582613" cy="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79" name="Line 13"/>
          <p:cNvSpPr/>
          <p:nvPr/>
        </p:nvSpPr>
        <p:spPr>
          <a:xfrm>
            <a:off x="1387475" y="2828925"/>
            <a:ext cx="0" cy="315913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0" name="Line 21"/>
          <p:cNvSpPr/>
          <p:nvPr/>
        </p:nvSpPr>
        <p:spPr>
          <a:xfrm>
            <a:off x="2971800" y="2446338"/>
            <a:ext cx="304800" cy="0"/>
          </a:xfrm>
          <a:prstGeom prst="line">
            <a:avLst/>
          </a:prstGeom>
          <a:ln w="19050" cap="flat" cmpd="sng">
            <a:solidFill>
              <a:srgbClr val="FF66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1" name="Line 22"/>
          <p:cNvSpPr/>
          <p:nvPr/>
        </p:nvSpPr>
        <p:spPr>
          <a:xfrm>
            <a:off x="2971800" y="4092575"/>
            <a:ext cx="304800" cy="0"/>
          </a:xfrm>
          <a:prstGeom prst="line">
            <a:avLst/>
          </a:prstGeom>
          <a:ln w="19050" cap="flat" cmpd="sng">
            <a:solidFill>
              <a:srgbClr val="00966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2" name="Line 23"/>
          <p:cNvSpPr/>
          <p:nvPr/>
        </p:nvSpPr>
        <p:spPr>
          <a:xfrm>
            <a:off x="3278188" y="2446338"/>
            <a:ext cx="0" cy="669925"/>
          </a:xfrm>
          <a:prstGeom prst="line">
            <a:avLst/>
          </a:prstGeom>
          <a:ln w="19050" cap="flat" cmpd="sng">
            <a:solidFill>
              <a:srgbClr val="FF66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3" name="Line 24"/>
          <p:cNvSpPr/>
          <p:nvPr/>
        </p:nvSpPr>
        <p:spPr>
          <a:xfrm>
            <a:off x="3278188" y="3452813"/>
            <a:ext cx="0" cy="642937"/>
          </a:xfrm>
          <a:prstGeom prst="line">
            <a:avLst/>
          </a:prstGeom>
          <a:ln w="19050" cap="flat" cmpd="sng">
            <a:solidFill>
              <a:srgbClr val="00966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4" name="Line 25"/>
          <p:cNvSpPr/>
          <p:nvPr/>
        </p:nvSpPr>
        <p:spPr>
          <a:xfrm>
            <a:off x="3275013" y="3446463"/>
            <a:ext cx="304800" cy="0"/>
          </a:xfrm>
          <a:prstGeom prst="line">
            <a:avLst/>
          </a:prstGeom>
          <a:ln w="19050" cap="flat" cmpd="sng">
            <a:solidFill>
              <a:srgbClr val="00966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5" name="Line 26"/>
          <p:cNvSpPr/>
          <p:nvPr/>
        </p:nvSpPr>
        <p:spPr>
          <a:xfrm>
            <a:off x="3276600" y="3119438"/>
            <a:ext cx="304800" cy="0"/>
          </a:xfrm>
          <a:prstGeom prst="line">
            <a:avLst/>
          </a:prstGeom>
          <a:ln w="19050" cap="flat" cmpd="sng">
            <a:solidFill>
              <a:srgbClr val="FF66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6" name="Text Box 27"/>
          <p:cNvSpPr txBox="1"/>
          <p:nvPr/>
        </p:nvSpPr>
        <p:spPr>
          <a:xfrm>
            <a:off x="711200" y="2103438"/>
            <a:ext cx="336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</a:p>
        </p:txBody>
      </p:sp>
      <p:sp>
        <p:nvSpPr>
          <p:cNvPr id="27687" name="Text Box 28"/>
          <p:cNvSpPr txBox="1"/>
          <p:nvPr/>
        </p:nvSpPr>
        <p:spPr>
          <a:xfrm>
            <a:off x="720725" y="2320925"/>
            <a:ext cx="3190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</a:p>
        </p:txBody>
      </p:sp>
      <p:sp>
        <p:nvSpPr>
          <p:cNvPr id="27688" name="Line 29"/>
          <p:cNvSpPr/>
          <p:nvPr/>
        </p:nvSpPr>
        <p:spPr>
          <a:xfrm>
            <a:off x="1387475" y="3141663"/>
            <a:ext cx="1147763" cy="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537" name="Line 30"/>
          <p:cNvSpPr/>
          <p:nvPr/>
        </p:nvSpPr>
        <p:spPr>
          <a:xfrm>
            <a:off x="1235075" y="4503738"/>
            <a:ext cx="3921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90" name="Text Box 32"/>
          <p:cNvSpPr txBox="1"/>
          <p:nvPr/>
        </p:nvSpPr>
        <p:spPr>
          <a:xfrm>
            <a:off x="2103438" y="2882900"/>
            <a:ext cx="334962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</a:p>
        </p:txBody>
      </p:sp>
      <p:sp>
        <p:nvSpPr>
          <p:cNvPr id="27691" name="Line 33"/>
          <p:cNvSpPr/>
          <p:nvPr/>
        </p:nvSpPr>
        <p:spPr>
          <a:xfrm>
            <a:off x="2168525" y="2903538"/>
            <a:ext cx="228600" cy="0"/>
          </a:xfrm>
          <a:prstGeom prst="line">
            <a:avLst/>
          </a:prstGeom>
          <a:ln w="1905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92" name="Text Box 34"/>
          <p:cNvSpPr txBox="1"/>
          <p:nvPr/>
        </p:nvSpPr>
        <p:spPr>
          <a:xfrm>
            <a:off x="2944813" y="2068513"/>
            <a:ext cx="52705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b="1" baseline="-25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</a:p>
          <a:p>
            <a:pPr algn="ctr" eaLnBrk="1" hangingPunct="1">
              <a:buFont typeface="Arial" panose="020B0604020202020204" pitchFamily="34" charset="0"/>
            </a:pPr>
            <a:endParaRPr lang="en-US" altLang="zh-CN" sz="1800" b="1" baseline="-25000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93" name="Line 39"/>
          <p:cNvSpPr/>
          <p:nvPr/>
        </p:nvSpPr>
        <p:spPr>
          <a:xfrm>
            <a:off x="2987675" y="3282950"/>
            <a:ext cx="6096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542" name="Line 40"/>
          <p:cNvSpPr/>
          <p:nvPr/>
        </p:nvSpPr>
        <p:spPr>
          <a:xfrm>
            <a:off x="1049338" y="2446338"/>
            <a:ext cx="14795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543" name="Line 41"/>
          <p:cNvSpPr/>
          <p:nvPr/>
        </p:nvSpPr>
        <p:spPr>
          <a:xfrm>
            <a:off x="2101850" y="2822575"/>
            <a:ext cx="21590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544" name="Line 42"/>
          <p:cNvSpPr/>
          <p:nvPr/>
        </p:nvSpPr>
        <p:spPr>
          <a:xfrm>
            <a:off x="2316163" y="2595563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97" name="Oval 43"/>
          <p:cNvSpPr/>
          <p:nvPr/>
        </p:nvSpPr>
        <p:spPr>
          <a:xfrm>
            <a:off x="1349375" y="2789238"/>
            <a:ext cx="76200" cy="57150"/>
          </a:xfrm>
          <a:prstGeom prst="ellipse">
            <a:avLst/>
          </a:prstGeom>
          <a:solidFill>
            <a:srgbClr val="FF3300"/>
          </a:solidFill>
          <a:ln w="190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546" name="Line 50"/>
          <p:cNvSpPr/>
          <p:nvPr/>
        </p:nvSpPr>
        <p:spPr>
          <a:xfrm>
            <a:off x="2136775" y="3965575"/>
            <a:ext cx="40322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99" name="Line 51"/>
          <p:cNvSpPr/>
          <p:nvPr/>
        </p:nvSpPr>
        <p:spPr>
          <a:xfrm>
            <a:off x="2133600" y="4467225"/>
            <a:ext cx="187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548" name="Line 52"/>
          <p:cNvSpPr/>
          <p:nvPr/>
        </p:nvSpPr>
        <p:spPr>
          <a:xfrm>
            <a:off x="2317750" y="4241800"/>
            <a:ext cx="223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549" name="Line 53"/>
          <p:cNvSpPr/>
          <p:nvPr/>
        </p:nvSpPr>
        <p:spPr>
          <a:xfrm>
            <a:off x="2316163" y="4241800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550" name="Line 54"/>
          <p:cNvSpPr/>
          <p:nvPr/>
        </p:nvSpPr>
        <p:spPr>
          <a:xfrm>
            <a:off x="1058863" y="3417888"/>
            <a:ext cx="14795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703" name="Text Box 55"/>
          <p:cNvSpPr txBox="1"/>
          <p:nvPr/>
        </p:nvSpPr>
        <p:spPr>
          <a:xfrm>
            <a:off x="711200" y="3246438"/>
            <a:ext cx="35083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</a:p>
        </p:txBody>
      </p:sp>
      <p:sp>
        <p:nvSpPr>
          <p:cNvPr id="19552" name="Line 56"/>
          <p:cNvSpPr/>
          <p:nvPr/>
        </p:nvSpPr>
        <p:spPr>
          <a:xfrm>
            <a:off x="1235075" y="2446338"/>
            <a:ext cx="0" cy="205422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553" name="Line 57"/>
          <p:cNvSpPr/>
          <p:nvPr/>
        </p:nvSpPr>
        <p:spPr>
          <a:xfrm>
            <a:off x="1446213" y="3417888"/>
            <a:ext cx="0" cy="5730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706" name="Line 58"/>
          <p:cNvSpPr/>
          <p:nvPr/>
        </p:nvSpPr>
        <p:spPr>
          <a:xfrm>
            <a:off x="1447800" y="3989388"/>
            <a:ext cx="187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07" name="Oval 59"/>
          <p:cNvSpPr/>
          <p:nvPr/>
        </p:nvSpPr>
        <p:spPr>
          <a:xfrm>
            <a:off x="1414463" y="3398838"/>
            <a:ext cx="76200" cy="5715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708" name="Text Box 60"/>
          <p:cNvSpPr txBox="1"/>
          <p:nvPr/>
        </p:nvSpPr>
        <p:spPr>
          <a:xfrm>
            <a:off x="2905760" y="2935605"/>
            <a:ext cx="477520" cy="5473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</a:p>
          <a:p>
            <a:pPr algn="ctr" eaLnBrk="1" hangingPunct="1">
              <a:buFont typeface="Arial" panose="020B0604020202020204" pitchFamily="34" charset="0"/>
            </a:pPr>
            <a:endParaRPr lang="en-US" altLang="zh-CN" sz="1800" b="1" baseline="-25000" dirty="0">
              <a:solidFill>
                <a:srgbClr val="C55A1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709" name="Text Box 61"/>
          <p:cNvSpPr txBox="1"/>
          <p:nvPr/>
        </p:nvSpPr>
        <p:spPr>
          <a:xfrm>
            <a:off x="2871788" y="4013200"/>
            <a:ext cx="68580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b="1" baseline="-25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</a:p>
          <a:p>
            <a:pPr algn="ctr" eaLnBrk="1" hangingPunct="1">
              <a:buFont typeface="Arial" panose="020B0604020202020204" pitchFamily="34" charset="0"/>
            </a:pPr>
            <a:endParaRPr lang="en-US" altLang="zh-CN" sz="1800" b="1" baseline="-25000" dirty="0">
              <a:solidFill>
                <a:srgbClr val="008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710" name="Line 17"/>
          <p:cNvSpPr/>
          <p:nvPr/>
        </p:nvSpPr>
        <p:spPr>
          <a:xfrm>
            <a:off x="4050983" y="3247708"/>
            <a:ext cx="381000" cy="0"/>
          </a:xfrm>
          <a:prstGeom prst="line">
            <a:avLst/>
          </a:prstGeom>
          <a:ln w="19050" cap="flat" cmpd="sng">
            <a:solidFill>
              <a:srgbClr val="66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1" name="Text Box 18"/>
          <p:cNvSpPr txBox="1"/>
          <p:nvPr/>
        </p:nvSpPr>
        <p:spPr>
          <a:xfrm>
            <a:off x="4206875" y="2888933"/>
            <a:ext cx="381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</p:txBody>
      </p:sp>
      <p:grpSp>
        <p:nvGrpSpPr>
          <p:cNvPr id="27712" name="Group 196"/>
          <p:cNvGrpSpPr/>
          <p:nvPr/>
        </p:nvGrpSpPr>
        <p:grpSpPr>
          <a:xfrm>
            <a:off x="1616075" y="4260850"/>
            <a:ext cx="573088" cy="457200"/>
            <a:chOff x="724" y="3540"/>
            <a:chExt cx="361" cy="384"/>
          </a:xfrm>
        </p:grpSpPr>
        <p:sp>
          <p:nvSpPr>
            <p:cNvPr id="27738" name="Rectangle 197"/>
            <p:cNvSpPr/>
            <p:nvPr/>
          </p:nvSpPr>
          <p:spPr>
            <a:xfrm>
              <a:off x="724" y="354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39" name="Text Box 198"/>
            <p:cNvSpPr txBox="1"/>
            <p:nvPr/>
          </p:nvSpPr>
          <p:spPr>
            <a:xfrm>
              <a:off x="753" y="3592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7740" name="Oval 199"/>
            <p:cNvSpPr/>
            <p:nvPr/>
          </p:nvSpPr>
          <p:spPr>
            <a:xfrm>
              <a:off x="1012" y="3688"/>
              <a:ext cx="73" cy="7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713" name="Group 200"/>
          <p:cNvGrpSpPr/>
          <p:nvPr/>
        </p:nvGrpSpPr>
        <p:grpSpPr>
          <a:xfrm>
            <a:off x="2509838" y="2203450"/>
            <a:ext cx="596900" cy="457200"/>
            <a:chOff x="1288" y="3372"/>
            <a:chExt cx="376" cy="384"/>
          </a:xfrm>
        </p:grpSpPr>
        <p:sp>
          <p:nvSpPr>
            <p:cNvPr id="27736" name="Rectangle 201"/>
            <p:cNvSpPr/>
            <p:nvPr/>
          </p:nvSpPr>
          <p:spPr>
            <a:xfrm>
              <a:off x="1308" y="337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37" name="Text Box 202"/>
            <p:cNvSpPr txBox="1"/>
            <p:nvPr/>
          </p:nvSpPr>
          <p:spPr>
            <a:xfrm>
              <a:off x="1288" y="3441"/>
              <a:ext cx="3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</p:grpSp>
      <p:grpSp>
        <p:nvGrpSpPr>
          <p:cNvPr id="27714" name="Group 193"/>
          <p:cNvGrpSpPr/>
          <p:nvPr/>
        </p:nvGrpSpPr>
        <p:grpSpPr>
          <a:xfrm>
            <a:off x="3592513" y="3005138"/>
            <a:ext cx="593725" cy="457200"/>
            <a:chOff x="2063" y="94"/>
            <a:chExt cx="374" cy="384"/>
          </a:xfrm>
        </p:grpSpPr>
        <p:sp>
          <p:nvSpPr>
            <p:cNvPr id="27734" name="Rectangle 194"/>
            <p:cNvSpPr/>
            <p:nvPr/>
          </p:nvSpPr>
          <p:spPr>
            <a:xfrm>
              <a:off x="2063" y="94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35" name="Text Box 195"/>
            <p:cNvSpPr txBox="1"/>
            <p:nvPr/>
          </p:nvSpPr>
          <p:spPr>
            <a:xfrm>
              <a:off x="2153" y="94"/>
              <a:ext cx="2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</p:grpSp>
      <p:grpSp>
        <p:nvGrpSpPr>
          <p:cNvPr id="27715" name="Group 203"/>
          <p:cNvGrpSpPr/>
          <p:nvPr/>
        </p:nvGrpSpPr>
        <p:grpSpPr>
          <a:xfrm>
            <a:off x="2530475" y="3875088"/>
            <a:ext cx="601663" cy="457200"/>
            <a:chOff x="1301" y="3372"/>
            <a:chExt cx="379" cy="384"/>
          </a:xfrm>
        </p:grpSpPr>
        <p:sp>
          <p:nvSpPr>
            <p:cNvPr id="27732" name="Rectangle 204"/>
            <p:cNvSpPr/>
            <p:nvPr/>
          </p:nvSpPr>
          <p:spPr>
            <a:xfrm>
              <a:off x="1308" y="337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33" name="Text Box 205"/>
            <p:cNvSpPr txBox="1"/>
            <p:nvPr/>
          </p:nvSpPr>
          <p:spPr>
            <a:xfrm>
              <a:off x="1301" y="3431"/>
              <a:ext cx="379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</p:grpSp>
      <p:grpSp>
        <p:nvGrpSpPr>
          <p:cNvPr id="27716" name="Group 206"/>
          <p:cNvGrpSpPr/>
          <p:nvPr/>
        </p:nvGrpSpPr>
        <p:grpSpPr>
          <a:xfrm>
            <a:off x="2530793" y="3046413"/>
            <a:ext cx="596900" cy="457200"/>
            <a:chOff x="1301" y="3372"/>
            <a:chExt cx="376" cy="384"/>
          </a:xfrm>
        </p:grpSpPr>
        <p:sp>
          <p:nvSpPr>
            <p:cNvPr id="27730" name="Rectangle 207"/>
            <p:cNvSpPr/>
            <p:nvPr/>
          </p:nvSpPr>
          <p:spPr>
            <a:xfrm>
              <a:off x="1308" y="337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31" name="Text Box 208"/>
            <p:cNvSpPr txBox="1"/>
            <p:nvPr/>
          </p:nvSpPr>
          <p:spPr>
            <a:xfrm>
              <a:off x="1301" y="3430"/>
              <a:ext cx="3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</p:grpSp>
      <p:grpSp>
        <p:nvGrpSpPr>
          <p:cNvPr id="27717" name="Group 209"/>
          <p:cNvGrpSpPr/>
          <p:nvPr/>
        </p:nvGrpSpPr>
        <p:grpSpPr>
          <a:xfrm>
            <a:off x="1616075" y="3745230"/>
            <a:ext cx="573088" cy="457200"/>
            <a:chOff x="724" y="3540"/>
            <a:chExt cx="361" cy="384"/>
          </a:xfrm>
        </p:grpSpPr>
        <p:sp>
          <p:nvSpPr>
            <p:cNvPr id="27727" name="Rectangle 210"/>
            <p:cNvSpPr/>
            <p:nvPr/>
          </p:nvSpPr>
          <p:spPr>
            <a:xfrm>
              <a:off x="724" y="354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28" name="Text Box 211"/>
            <p:cNvSpPr txBox="1"/>
            <p:nvPr/>
          </p:nvSpPr>
          <p:spPr>
            <a:xfrm>
              <a:off x="753" y="3592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7729" name="Oval 212"/>
            <p:cNvSpPr/>
            <p:nvPr/>
          </p:nvSpPr>
          <p:spPr>
            <a:xfrm>
              <a:off x="1012" y="3688"/>
              <a:ext cx="73" cy="7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718" name="Group 213"/>
          <p:cNvGrpSpPr/>
          <p:nvPr/>
        </p:nvGrpSpPr>
        <p:grpSpPr>
          <a:xfrm>
            <a:off x="1528763" y="2583498"/>
            <a:ext cx="573087" cy="457200"/>
            <a:chOff x="724" y="3540"/>
            <a:chExt cx="361" cy="384"/>
          </a:xfrm>
        </p:grpSpPr>
        <p:sp>
          <p:nvSpPr>
            <p:cNvPr id="27724" name="Rectangle 214"/>
            <p:cNvSpPr/>
            <p:nvPr/>
          </p:nvSpPr>
          <p:spPr>
            <a:xfrm>
              <a:off x="724" y="354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725" name="Text Box 215"/>
            <p:cNvSpPr txBox="1"/>
            <p:nvPr/>
          </p:nvSpPr>
          <p:spPr>
            <a:xfrm>
              <a:off x="753" y="3592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27726" name="Oval 216"/>
            <p:cNvSpPr/>
            <p:nvPr/>
          </p:nvSpPr>
          <p:spPr>
            <a:xfrm>
              <a:off x="1012" y="3688"/>
              <a:ext cx="73" cy="7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6695" name="Group 133"/>
          <p:cNvGrpSpPr/>
          <p:nvPr/>
        </p:nvGrpSpPr>
        <p:grpSpPr>
          <a:xfrm>
            <a:off x="3441700" y="979805"/>
            <a:ext cx="1804885" cy="0"/>
            <a:chOff x="2019" y="625"/>
            <a:chExt cx="995" cy="0"/>
          </a:xfrm>
        </p:grpSpPr>
        <p:sp>
          <p:nvSpPr>
            <p:cNvPr id="27721" name="Line 130"/>
            <p:cNvSpPr/>
            <p:nvPr/>
          </p:nvSpPr>
          <p:spPr>
            <a:xfrm>
              <a:off x="2019" y="625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Line 131"/>
            <p:cNvSpPr/>
            <p:nvPr/>
          </p:nvSpPr>
          <p:spPr>
            <a:xfrm>
              <a:off x="2647" y="625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Line 132"/>
            <p:cNvSpPr/>
            <p:nvPr/>
          </p:nvSpPr>
          <p:spPr>
            <a:xfrm>
              <a:off x="2878" y="625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696" name="Line 134"/>
          <p:cNvSpPr/>
          <p:nvPr/>
        </p:nvSpPr>
        <p:spPr>
          <a:xfrm>
            <a:off x="4661853" y="1308100"/>
            <a:ext cx="2159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84"/>
          <p:cNvSpPr/>
          <p:nvPr/>
        </p:nvSpPr>
        <p:spPr>
          <a:xfrm>
            <a:off x="5279390" y="4511040"/>
            <a:ext cx="3276600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Text Box 126"/>
          <p:cNvSpPr txBox="1"/>
          <p:nvPr/>
        </p:nvSpPr>
        <p:spPr>
          <a:xfrm>
            <a:off x="4806950" y="4379913"/>
            <a:ext cx="53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507990" y="483870"/>
            <a:ext cx="36652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静态1险象：两级与或、两级与非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-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与非</a:t>
            </a:r>
            <a:r>
              <a:rPr 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电路，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1—&gt;0</a:t>
            </a:r>
          </a:p>
          <a:p>
            <a:pPr algn="l"/>
            <a:r>
              <a:rPr 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静态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险象：两级或与、两级或非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-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或非</a:t>
            </a:r>
            <a:r>
              <a:rPr 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电路，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0—&gt;1</a:t>
            </a:r>
            <a:endParaRPr lang="zh-CN" alt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/>
      <p:bldP spid="127053" grpId="0" bldLvl="0" animBg="1"/>
      <p:bldP spid="18" grpId="0"/>
      <p:bldP spid="18" grpId="1"/>
      <p:bldP spid="22" grpId="0"/>
      <p:bldP spid="2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type="title"/>
          </p:nvPr>
        </p:nvSpPr>
        <p:spPr>
          <a:xfrm>
            <a:off x="755650" y="771525"/>
            <a:ext cx="7772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2）动态险象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Ddynamic Hazards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)</a:t>
            </a:r>
            <a:endParaRPr lang="en-US" altLang="zh-CN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482" name="Rectangle 4"/>
          <p:cNvSpPr>
            <a:spLocks noGrp="1"/>
          </p:cNvSpPr>
          <p:nvPr>
            <p:ph idx="1"/>
          </p:nvPr>
        </p:nvSpPr>
        <p:spPr>
          <a:xfrm>
            <a:off x="1043305" y="1303020"/>
            <a:ext cx="7387590" cy="302641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40000"/>
              </a:lnSpc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多级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组合逻辑电路中，若输入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信号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的变化通过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多条路径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向输出端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汇合</a:t>
            </a:r>
            <a:endParaRPr lang="en-US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latinLnBrk="0" hangingPunct="1">
              <a:lnSpc>
                <a:spcPct val="140000"/>
              </a:lnSpc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时，使在输出稳定之前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输出变化三次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其间经过暂时状态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或者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</a:p>
          <a:p>
            <a:pPr eaLnBrk="1" latinLnBrk="0" hangingPunct="1">
              <a:lnSpc>
                <a:spcPct val="140000"/>
              </a:lnSpc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这种险象称之为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动态险象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latinLnBrk="0" hangingPunct="1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输入变化的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第一次会合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只可能产生静态险象，只有在产生了静态险象，</a:t>
            </a:r>
          </a:p>
          <a:p>
            <a:pPr eaLnBrk="1" latinLnBrk="0" hangingPunct="1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输入变化的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再一次会合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，才有可能产生动态险象。动态险象是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由静态险</a:t>
            </a:r>
          </a:p>
          <a:p>
            <a:pPr eaLnBrk="1" latinLnBrk="0" hangingPunct="1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象引起的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，它也是竞争的结果。同样，在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两级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“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与或”和“或与”电路中都不会发生。</a:t>
            </a:r>
            <a:endParaRPr lang="en-US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latinLnBrk="0" hangingPunct="1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消除了静态险象，则动态险象也不会出现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！</a:t>
            </a:r>
            <a:endParaRPr lang="en-US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>
              <a:buNone/>
            </a:pPr>
            <a:endParaRPr lang="en-US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/>
      <p:bldP spid="22529" grpId="1"/>
      <p:bldP spid="20482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9" name="Group 168"/>
          <p:cNvGrpSpPr/>
          <p:nvPr/>
        </p:nvGrpSpPr>
        <p:grpSpPr>
          <a:xfrm>
            <a:off x="1692275" y="1058863"/>
            <a:ext cx="5029200" cy="1600200"/>
            <a:chOff x="528" y="576"/>
            <a:chExt cx="3168" cy="1344"/>
          </a:xfrm>
        </p:grpSpPr>
        <p:sp>
          <p:nvSpPr>
            <p:cNvPr id="21512" name="Rectangle 12"/>
            <p:cNvSpPr/>
            <p:nvPr/>
          </p:nvSpPr>
          <p:spPr>
            <a:xfrm>
              <a:off x="528" y="576"/>
              <a:ext cx="3168" cy="134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1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767" name="Text Box 13"/>
            <p:cNvSpPr txBox="1"/>
            <p:nvPr/>
          </p:nvSpPr>
          <p:spPr>
            <a:xfrm>
              <a:off x="646" y="1200"/>
              <a:ext cx="18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21514" name="Line 14"/>
            <p:cNvSpPr/>
            <p:nvPr/>
          </p:nvSpPr>
          <p:spPr>
            <a:xfrm>
              <a:off x="852" y="816"/>
              <a:ext cx="93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15" name="Line 15"/>
            <p:cNvSpPr/>
            <p:nvPr/>
          </p:nvSpPr>
          <p:spPr>
            <a:xfrm>
              <a:off x="828" y="1324"/>
              <a:ext cx="9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70" name="Line 16"/>
            <p:cNvSpPr/>
            <p:nvPr/>
          </p:nvSpPr>
          <p:spPr>
            <a:xfrm>
              <a:off x="2075" y="934"/>
              <a:ext cx="170" cy="0"/>
            </a:xfrm>
            <a:prstGeom prst="line">
              <a:avLst/>
            </a:prstGeom>
            <a:ln w="190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1" name="Line 17"/>
            <p:cNvSpPr/>
            <p:nvPr/>
          </p:nvSpPr>
          <p:spPr>
            <a:xfrm>
              <a:off x="2247" y="933"/>
              <a:ext cx="0" cy="177"/>
            </a:xfrm>
            <a:prstGeom prst="line">
              <a:avLst/>
            </a:prstGeom>
            <a:ln w="190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8" name="Line 18"/>
            <p:cNvSpPr/>
            <p:nvPr/>
          </p:nvSpPr>
          <p:spPr>
            <a:xfrm flipV="1">
              <a:off x="2256" y="1318"/>
              <a:ext cx="166" cy="1"/>
            </a:xfrm>
            <a:prstGeom prst="line">
              <a:avLst/>
            </a:prstGeom>
            <a:ln w="19050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19" name="Line 19"/>
            <p:cNvSpPr/>
            <p:nvPr/>
          </p:nvSpPr>
          <p:spPr>
            <a:xfrm>
              <a:off x="2064" y="1488"/>
              <a:ext cx="192" cy="0"/>
            </a:xfrm>
            <a:prstGeom prst="line">
              <a:avLst/>
            </a:prstGeom>
            <a:ln w="19050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4" name="Text Box 20"/>
            <p:cNvSpPr txBox="1"/>
            <p:nvPr/>
          </p:nvSpPr>
          <p:spPr>
            <a:xfrm>
              <a:off x="641" y="720"/>
              <a:ext cx="18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9775" name="Text Box 21"/>
            <p:cNvSpPr txBox="1"/>
            <p:nvPr/>
          </p:nvSpPr>
          <p:spPr>
            <a:xfrm>
              <a:off x="641" y="902"/>
              <a:ext cx="18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9776" name="Line 22"/>
            <p:cNvSpPr/>
            <p:nvPr/>
          </p:nvSpPr>
          <p:spPr>
            <a:xfrm>
              <a:off x="1044" y="1597"/>
              <a:ext cx="156" cy="0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7" name="Text Box 23"/>
            <p:cNvSpPr txBox="1"/>
            <p:nvPr/>
          </p:nvSpPr>
          <p:spPr>
            <a:xfrm>
              <a:off x="2143" y="625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9778" name="Line 24"/>
            <p:cNvSpPr/>
            <p:nvPr/>
          </p:nvSpPr>
          <p:spPr>
            <a:xfrm>
              <a:off x="859" y="1056"/>
              <a:ext cx="932" cy="0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9" name="Line 25"/>
            <p:cNvSpPr/>
            <p:nvPr/>
          </p:nvSpPr>
          <p:spPr>
            <a:xfrm>
              <a:off x="1526" y="1593"/>
              <a:ext cx="277" cy="0"/>
            </a:xfrm>
            <a:prstGeom prst="line">
              <a:avLst/>
            </a:prstGeom>
            <a:ln w="19050" cap="flat" cmpd="sng">
              <a:solidFill>
                <a:srgbClr val="2E75B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26"/>
            <p:cNvSpPr/>
            <p:nvPr/>
          </p:nvSpPr>
          <p:spPr>
            <a:xfrm>
              <a:off x="1632" y="1728"/>
              <a:ext cx="1248" cy="1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81" name="Line 27"/>
            <p:cNvSpPr/>
            <p:nvPr/>
          </p:nvSpPr>
          <p:spPr>
            <a:xfrm>
              <a:off x="1038" y="1078"/>
              <a:ext cx="0" cy="530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2" name="Line 28"/>
            <p:cNvSpPr/>
            <p:nvPr/>
          </p:nvSpPr>
          <p:spPr>
            <a:xfrm>
              <a:off x="1632" y="1584"/>
              <a:ext cx="0" cy="150"/>
            </a:xfrm>
            <a:prstGeom prst="line">
              <a:avLst/>
            </a:prstGeom>
            <a:ln w="19050" cap="flat" cmpd="sng">
              <a:solidFill>
                <a:srgbClr val="2E75B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3" name="Oval 29"/>
            <p:cNvSpPr/>
            <p:nvPr/>
          </p:nvSpPr>
          <p:spPr>
            <a:xfrm>
              <a:off x="1606" y="1562"/>
              <a:ext cx="48" cy="48"/>
            </a:xfrm>
            <a:prstGeom prst="ellipse">
              <a:avLst/>
            </a:prstGeom>
            <a:solidFill>
              <a:srgbClr val="2E75B6"/>
            </a:solidFill>
            <a:ln w="9525" cap="flat" cmpd="sng">
              <a:solidFill>
                <a:srgbClr val="2E75B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9784" name="Group 30"/>
            <p:cNvGrpSpPr/>
            <p:nvPr/>
          </p:nvGrpSpPr>
          <p:grpSpPr>
            <a:xfrm>
              <a:off x="1595" y="1348"/>
              <a:ext cx="156" cy="308"/>
              <a:chOff x="1062" y="4122"/>
              <a:chExt cx="156" cy="308"/>
            </a:xfrm>
          </p:grpSpPr>
          <p:sp>
            <p:nvSpPr>
              <p:cNvPr id="29813" name="Text Box 31"/>
              <p:cNvSpPr txBox="1"/>
              <p:nvPr/>
            </p:nvSpPr>
            <p:spPr>
              <a:xfrm>
                <a:off x="1062" y="4122"/>
                <a:ext cx="156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21532" name="Line 32"/>
              <p:cNvSpPr/>
              <p:nvPr/>
            </p:nvSpPr>
            <p:spPr>
              <a:xfrm>
                <a:off x="1064" y="4177"/>
                <a:ext cx="144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9785" name="Oval 33"/>
            <p:cNvSpPr/>
            <p:nvPr/>
          </p:nvSpPr>
          <p:spPr>
            <a:xfrm>
              <a:off x="1008" y="1030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534" name="Line 34"/>
            <p:cNvSpPr/>
            <p:nvPr/>
          </p:nvSpPr>
          <p:spPr>
            <a:xfrm>
              <a:off x="2256" y="1319"/>
              <a:ext cx="0" cy="176"/>
            </a:xfrm>
            <a:prstGeom prst="line">
              <a:avLst/>
            </a:prstGeom>
            <a:ln w="19050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7" name="Text Box 35"/>
            <p:cNvSpPr txBox="1"/>
            <p:nvPr/>
          </p:nvSpPr>
          <p:spPr>
            <a:xfrm>
              <a:off x="2064" y="1419"/>
              <a:ext cx="336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3857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aseline="-25000" dirty="0">
                  <a:solidFill>
                    <a:srgbClr val="3857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29788" name="Line 36"/>
            <p:cNvSpPr/>
            <p:nvPr/>
          </p:nvSpPr>
          <p:spPr>
            <a:xfrm>
              <a:off x="2252" y="1104"/>
              <a:ext cx="170" cy="0"/>
            </a:xfrm>
            <a:prstGeom prst="line">
              <a:avLst/>
            </a:prstGeom>
            <a:ln w="190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7" name="Line 40"/>
            <p:cNvSpPr/>
            <p:nvPr/>
          </p:nvSpPr>
          <p:spPr>
            <a:xfrm>
              <a:off x="2699" y="1211"/>
              <a:ext cx="17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38" name="Line 41"/>
            <p:cNvSpPr/>
            <p:nvPr/>
          </p:nvSpPr>
          <p:spPr>
            <a:xfrm>
              <a:off x="2872" y="1204"/>
              <a:ext cx="0" cy="17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91" name="Text Box 42"/>
            <p:cNvSpPr txBox="1"/>
            <p:nvPr/>
          </p:nvSpPr>
          <p:spPr>
            <a:xfrm>
              <a:off x="2736" y="949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21540" name="Line 43"/>
            <p:cNvSpPr/>
            <p:nvPr/>
          </p:nvSpPr>
          <p:spPr>
            <a:xfrm>
              <a:off x="2876" y="1381"/>
              <a:ext cx="17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93" name="Line 44"/>
            <p:cNvSpPr/>
            <p:nvPr/>
          </p:nvSpPr>
          <p:spPr>
            <a:xfrm>
              <a:off x="3312" y="1466"/>
              <a:ext cx="240" cy="0"/>
            </a:xfrm>
            <a:prstGeom prst="line">
              <a:avLst/>
            </a:prstGeom>
            <a:ln w="9525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4" name="Text Box 45"/>
            <p:cNvSpPr txBox="1"/>
            <p:nvPr/>
          </p:nvSpPr>
          <p:spPr>
            <a:xfrm>
              <a:off x="3432" y="1200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29795" name="Line 46"/>
            <p:cNvSpPr/>
            <p:nvPr/>
          </p:nvSpPr>
          <p:spPr>
            <a:xfrm>
              <a:off x="2880" y="1551"/>
              <a:ext cx="0" cy="177"/>
            </a:xfrm>
            <a:prstGeom prst="line">
              <a:avLst/>
            </a:prstGeom>
            <a:ln w="19050" cap="flat" cmpd="sng">
              <a:solidFill>
                <a:srgbClr val="2E75B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6" name="Line 47"/>
            <p:cNvSpPr/>
            <p:nvPr/>
          </p:nvSpPr>
          <p:spPr>
            <a:xfrm>
              <a:off x="2880" y="1547"/>
              <a:ext cx="170" cy="0"/>
            </a:xfrm>
            <a:prstGeom prst="line">
              <a:avLst/>
            </a:prstGeom>
            <a:ln w="19050" cap="flat" cmpd="sng">
              <a:solidFill>
                <a:srgbClr val="2E75B6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9797" name="Group 51"/>
            <p:cNvGrpSpPr/>
            <p:nvPr/>
          </p:nvGrpSpPr>
          <p:grpSpPr>
            <a:xfrm>
              <a:off x="1200" y="1408"/>
              <a:ext cx="361" cy="384"/>
              <a:chOff x="724" y="3540"/>
              <a:chExt cx="361" cy="384"/>
            </a:xfrm>
          </p:grpSpPr>
          <p:sp>
            <p:nvSpPr>
              <p:cNvPr id="29810" name="Rectangle 52"/>
              <p:cNvSpPr/>
              <p:nvPr/>
            </p:nvSpPr>
            <p:spPr>
              <a:xfrm>
                <a:off x="724" y="354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811" name="Text Box 53"/>
              <p:cNvSpPr txBox="1"/>
              <p:nvPr/>
            </p:nvSpPr>
            <p:spPr>
              <a:xfrm>
                <a:off x="753" y="3592"/>
                <a:ext cx="192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812" name="Oval 54"/>
              <p:cNvSpPr/>
              <p:nvPr/>
            </p:nvSpPr>
            <p:spPr>
              <a:xfrm>
                <a:off x="1012" y="368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9798" name="Group 55"/>
            <p:cNvGrpSpPr/>
            <p:nvPr/>
          </p:nvGrpSpPr>
          <p:grpSpPr>
            <a:xfrm>
              <a:off x="1776" y="1270"/>
              <a:ext cx="376" cy="384"/>
              <a:chOff x="1301" y="3372"/>
              <a:chExt cx="376" cy="384"/>
            </a:xfrm>
          </p:grpSpPr>
          <p:sp>
            <p:nvSpPr>
              <p:cNvPr id="29808" name="Rectangle 56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809" name="Text Box 57"/>
              <p:cNvSpPr txBox="1"/>
              <p:nvPr/>
            </p:nvSpPr>
            <p:spPr>
              <a:xfrm>
                <a:off x="1301" y="3430"/>
                <a:ext cx="376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</a:p>
            </p:txBody>
          </p:sp>
        </p:grpSp>
        <p:grpSp>
          <p:nvGrpSpPr>
            <p:cNvPr id="29799" name="Group 58"/>
            <p:cNvGrpSpPr/>
            <p:nvPr/>
          </p:nvGrpSpPr>
          <p:grpSpPr>
            <a:xfrm>
              <a:off x="1782" y="742"/>
              <a:ext cx="380" cy="384"/>
              <a:chOff x="1299" y="3372"/>
              <a:chExt cx="380" cy="384"/>
            </a:xfrm>
          </p:grpSpPr>
          <p:sp>
            <p:nvSpPr>
              <p:cNvPr id="29806" name="Rectangle 59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807" name="Text Box 60"/>
              <p:cNvSpPr txBox="1"/>
              <p:nvPr/>
            </p:nvSpPr>
            <p:spPr>
              <a:xfrm>
                <a:off x="1299" y="3376"/>
                <a:ext cx="380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</a:p>
            </p:txBody>
          </p:sp>
        </p:grpSp>
        <p:grpSp>
          <p:nvGrpSpPr>
            <p:cNvPr id="29800" name="Group 37"/>
            <p:cNvGrpSpPr/>
            <p:nvPr/>
          </p:nvGrpSpPr>
          <p:grpSpPr>
            <a:xfrm>
              <a:off x="3032" y="1272"/>
              <a:ext cx="376" cy="384"/>
              <a:chOff x="1301" y="3372"/>
              <a:chExt cx="376" cy="384"/>
            </a:xfrm>
          </p:grpSpPr>
          <p:sp>
            <p:nvSpPr>
              <p:cNvPr id="29804" name="Rectangle 38"/>
              <p:cNvSpPr/>
              <p:nvPr/>
            </p:nvSpPr>
            <p:spPr>
              <a:xfrm>
                <a:off x="1308" y="3372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805" name="Text Box 39"/>
              <p:cNvSpPr txBox="1"/>
              <p:nvPr/>
            </p:nvSpPr>
            <p:spPr>
              <a:xfrm>
                <a:off x="1301" y="3430"/>
                <a:ext cx="376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</a:p>
            </p:txBody>
          </p:sp>
        </p:grpSp>
        <p:grpSp>
          <p:nvGrpSpPr>
            <p:cNvPr id="29801" name="Group 48"/>
            <p:cNvGrpSpPr/>
            <p:nvPr/>
          </p:nvGrpSpPr>
          <p:grpSpPr>
            <a:xfrm>
              <a:off x="2412" y="1020"/>
              <a:ext cx="321" cy="384"/>
              <a:chOff x="2071" y="624"/>
              <a:chExt cx="321" cy="384"/>
            </a:xfrm>
          </p:grpSpPr>
          <p:sp>
            <p:nvSpPr>
              <p:cNvPr id="29802" name="Rectangle 49"/>
              <p:cNvSpPr/>
              <p:nvPr/>
            </p:nvSpPr>
            <p:spPr>
              <a:xfrm>
                <a:off x="2071" y="624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803" name="Text Box 50"/>
              <p:cNvSpPr txBox="1"/>
              <p:nvPr/>
            </p:nvSpPr>
            <p:spPr>
              <a:xfrm>
                <a:off x="2108" y="699"/>
                <a:ext cx="284" cy="3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</a:p>
            </p:txBody>
          </p:sp>
        </p:grpSp>
      </p:grpSp>
      <p:grpSp>
        <p:nvGrpSpPr>
          <p:cNvPr id="23609" name="Group 167"/>
          <p:cNvGrpSpPr/>
          <p:nvPr/>
        </p:nvGrpSpPr>
        <p:grpSpPr>
          <a:xfrm>
            <a:off x="1714500" y="2698750"/>
            <a:ext cx="5029200" cy="2357438"/>
            <a:chOff x="528" y="1968"/>
            <a:chExt cx="3168" cy="2208"/>
          </a:xfrm>
        </p:grpSpPr>
        <p:sp>
          <p:nvSpPr>
            <p:cNvPr id="29705" name="Rectangle 62"/>
            <p:cNvSpPr/>
            <p:nvPr/>
          </p:nvSpPr>
          <p:spPr>
            <a:xfrm>
              <a:off x="528" y="1968"/>
              <a:ext cx="3168" cy="22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706" name="Line 77"/>
            <p:cNvSpPr/>
            <p:nvPr/>
          </p:nvSpPr>
          <p:spPr>
            <a:xfrm>
              <a:off x="1440" y="2332"/>
              <a:ext cx="1" cy="172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07" name="Line 78"/>
            <p:cNvSpPr/>
            <p:nvPr/>
          </p:nvSpPr>
          <p:spPr>
            <a:xfrm>
              <a:off x="1584" y="2649"/>
              <a:ext cx="1" cy="140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08" name="Line 79"/>
            <p:cNvSpPr/>
            <p:nvPr/>
          </p:nvSpPr>
          <p:spPr>
            <a:xfrm>
              <a:off x="1743" y="3312"/>
              <a:ext cx="9" cy="713"/>
            </a:xfrm>
            <a:prstGeom prst="line">
              <a:avLst/>
            </a:prstGeom>
            <a:ln w="9525" cap="flat" cmpd="sng">
              <a:solidFill>
                <a:srgbClr val="00966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09" name="Line 80"/>
            <p:cNvSpPr/>
            <p:nvPr/>
          </p:nvSpPr>
          <p:spPr>
            <a:xfrm flipV="1">
              <a:off x="1907" y="3600"/>
              <a:ext cx="1" cy="425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9710" name="Group 90"/>
            <p:cNvGrpSpPr/>
            <p:nvPr/>
          </p:nvGrpSpPr>
          <p:grpSpPr>
            <a:xfrm>
              <a:off x="835" y="2112"/>
              <a:ext cx="1421" cy="343"/>
              <a:chOff x="835" y="2112"/>
              <a:chExt cx="1421" cy="343"/>
            </a:xfrm>
          </p:grpSpPr>
          <p:sp>
            <p:nvSpPr>
              <p:cNvPr id="29762" name="Text Box 72"/>
              <p:cNvSpPr txBox="1"/>
              <p:nvPr/>
            </p:nvSpPr>
            <p:spPr>
              <a:xfrm>
                <a:off x="835" y="2112"/>
                <a:ext cx="188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29763" name="Line 87"/>
              <p:cNvSpPr/>
              <p:nvPr/>
            </p:nvSpPr>
            <p:spPr>
              <a:xfrm>
                <a:off x="1056" y="2352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4" name="Line 88"/>
              <p:cNvSpPr/>
              <p:nvPr/>
            </p:nvSpPr>
            <p:spPr>
              <a:xfrm flipV="1">
                <a:off x="1440" y="211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5" name="Line 89"/>
              <p:cNvSpPr/>
              <p:nvPr/>
            </p:nvSpPr>
            <p:spPr>
              <a:xfrm>
                <a:off x="1440" y="2112"/>
                <a:ext cx="81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1" name="Group 103"/>
            <p:cNvGrpSpPr/>
            <p:nvPr/>
          </p:nvGrpSpPr>
          <p:grpSpPr>
            <a:xfrm>
              <a:off x="835" y="2443"/>
              <a:ext cx="1565" cy="367"/>
              <a:chOff x="835" y="2443"/>
              <a:chExt cx="1565" cy="367"/>
            </a:xfrm>
          </p:grpSpPr>
          <p:sp>
            <p:nvSpPr>
              <p:cNvPr id="29757" name="Text Box 83"/>
              <p:cNvSpPr txBox="1"/>
              <p:nvPr/>
            </p:nvSpPr>
            <p:spPr>
              <a:xfrm>
                <a:off x="835" y="2467"/>
                <a:ext cx="188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29758" name="Line 85"/>
              <p:cNvSpPr/>
              <p:nvPr/>
            </p:nvSpPr>
            <p:spPr>
              <a:xfrm>
                <a:off x="864" y="2500"/>
                <a:ext cx="122" cy="0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9" name="Line 93"/>
              <p:cNvSpPr/>
              <p:nvPr/>
            </p:nvSpPr>
            <p:spPr>
              <a:xfrm>
                <a:off x="1056" y="2448"/>
                <a:ext cx="519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0" name="Line 94"/>
              <p:cNvSpPr/>
              <p:nvPr/>
            </p:nvSpPr>
            <p:spPr>
              <a:xfrm flipV="1">
                <a:off x="1584" y="2443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1" name="Line 95"/>
              <p:cNvSpPr/>
              <p:nvPr/>
            </p:nvSpPr>
            <p:spPr>
              <a:xfrm>
                <a:off x="1584" y="2688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2" name="Group 111"/>
            <p:cNvGrpSpPr/>
            <p:nvPr/>
          </p:nvGrpSpPr>
          <p:grpSpPr>
            <a:xfrm>
              <a:off x="842" y="2755"/>
              <a:ext cx="1560" cy="343"/>
              <a:chOff x="842" y="2755"/>
              <a:chExt cx="1560" cy="343"/>
            </a:xfrm>
          </p:grpSpPr>
          <p:sp>
            <p:nvSpPr>
              <p:cNvPr id="29753" name="Text Box 73"/>
              <p:cNvSpPr txBox="1"/>
              <p:nvPr/>
            </p:nvSpPr>
            <p:spPr>
              <a:xfrm>
                <a:off x="842" y="2755"/>
                <a:ext cx="236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754" name="Line 100"/>
              <p:cNvSpPr/>
              <p:nvPr/>
            </p:nvSpPr>
            <p:spPr>
              <a:xfrm>
                <a:off x="1058" y="3024"/>
                <a:ext cx="519" cy="0"/>
              </a:xfrm>
              <a:prstGeom prst="line">
                <a:avLst/>
              </a:prstGeom>
              <a:ln w="38100" cap="flat" cmpd="sng">
                <a:solidFill>
                  <a:srgbClr val="FF4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5" name="Line 101"/>
              <p:cNvSpPr/>
              <p:nvPr/>
            </p:nvSpPr>
            <p:spPr>
              <a:xfrm flipV="1">
                <a:off x="1586" y="278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4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6" name="Line 102"/>
              <p:cNvSpPr/>
              <p:nvPr/>
            </p:nvSpPr>
            <p:spPr>
              <a:xfrm>
                <a:off x="1586" y="2784"/>
                <a:ext cx="816" cy="0"/>
              </a:xfrm>
              <a:prstGeom prst="line">
                <a:avLst/>
              </a:prstGeom>
              <a:ln w="38100" cap="flat" cmpd="sng">
                <a:solidFill>
                  <a:srgbClr val="FF49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3" name="Group 128"/>
            <p:cNvGrpSpPr/>
            <p:nvPr/>
          </p:nvGrpSpPr>
          <p:grpSpPr>
            <a:xfrm>
              <a:off x="842" y="3091"/>
              <a:ext cx="1716" cy="343"/>
              <a:chOff x="842" y="3091"/>
              <a:chExt cx="1716" cy="343"/>
            </a:xfrm>
          </p:grpSpPr>
          <p:sp>
            <p:nvSpPr>
              <p:cNvPr id="29749" name="Text Box 74"/>
              <p:cNvSpPr txBox="1"/>
              <p:nvPr/>
            </p:nvSpPr>
            <p:spPr>
              <a:xfrm>
                <a:off x="842" y="3091"/>
                <a:ext cx="236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29750" name="Line 107"/>
              <p:cNvSpPr/>
              <p:nvPr/>
            </p:nvSpPr>
            <p:spPr>
              <a:xfrm>
                <a:off x="1056" y="3125"/>
                <a:ext cx="678" cy="0"/>
              </a:xfrm>
              <a:prstGeom prst="line">
                <a:avLst/>
              </a:prstGeom>
              <a:ln w="38100" cap="flat" cmpd="sng">
                <a:solidFill>
                  <a:srgbClr val="00966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1" name="Line 108"/>
              <p:cNvSpPr/>
              <p:nvPr/>
            </p:nvSpPr>
            <p:spPr>
              <a:xfrm flipV="1">
                <a:off x="1742" y="3120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00966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2" name="Line 109"/>
              <p:cNvSpPr/>
              <p:nvPr/>
            </p:nvSpPr>
            <p:spPr>
              <a:xfrm>
                <a:off x="1742" y="3365"/>
                <a:ext cx="816" cy="0"/>
              </a:xfrm>
              <a:prstGeom prst="line">
                <a:avLst/>
              </a:prstGeom>
              <a:ln w="38100" cap="flat" cmpd="sng">
                <a:solidFill>
                  <a:srgbClr val="00966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4" name="Group 130"/>
            <p:cNvGrpSpPr/>
            <p:nvPr/>
          </p:nvGrpSpPr>
          <p:grpSpPr>
            <a:xfrm>
              <a:off x="848" y="3427"/>
              <a:ext cx="1869" cy="343"/>
              <a:chOff x="848" y="3427"/>
              <a:chExt cx="1869" cy="343"/>
            </a:xfrm>
          </p:grpSpPr>
          <p:sp>
            <p:nvSpPr>
              <p:cNvPr id="29743" name="Text Box 75"/>
              <p:cNvSpPr txBox="1"/>
              <p:nvPr/>
            </p:nvSpPr>
            <p:spPr>
              <a:xfrm>
                <a:off x="848" y="3427"/>
                <a:ext cx="236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29744" name="Line 114"/>
              <p:cNvSpPr/>
              <p:nvPr/>
            </p:nvSpPr>
            <p:spPr>
              <a:xfrm>
                <a:off x="1056" y="3696"/>
                <a:ext cx="701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5" name="Line 115"/>
              <p:cNvSpPr/>
              <p:nvPr/>
            </p:nvSpPr>
            <p:spPr>
              <a:xfrm flipV="1">
                <a:off x="1752" y="3456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6" name="Line 116"/>
              <p:cNvSpPr/>
              <p:nvPr/>
            </p:nvSpPr>
            <p:spPr>
              <a:xfrm>
                <a:off x="1752" y="3456"/>
                <a:ext cx="147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7" name="Line 117"/>
              <p:cNvSpPr/>
              <p:nvPr/>
            </p:nvSpPr>
            <p:spPr>
              <a:xfrm flipV="1">
                <a:off x="1908" y="3456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8" name="Line 118"/>
              <p:cNvSpPr/>
              <p:nvPr/>
            </p:nvSpPr>
            <p:spPr>
              <a:xfrm>
                <a:off x="1903" y="3696"/>
                <a:ext cx="814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5" name="Group 155"/>
            <p:cNvGrpSpPr/>
            <p:nvPr/>
          </p:nvGrpSpPr>
          <p:grpSpPr>
            <a:xfrm>
              <a:off x="834" y="3763"/>
              <a:ext cx="1730" cy="343"/>
              <a:chOff x="834" y="3763"/>
              <a:chExt cx="1730" cy="343"/>
            </a:xfrm>
          </p:grpSpPr>
          <p:sp>
            <p:nvSpPr>
              <p:cNvPr id="29735" name="Text Box 76"/>
              <p:cNvSpPr txBox="1"/>
              <p:nvPr/>
            </p:nvSpPr>
            <p:spPr>
              <a:xfrm>
                <a:off x="834" y="3763"/>
                <a:ext cx="188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</a:p>
            </p:txBody>
          </p:sp>
          <p:sp>
            <p:nvSpPr>
              <p:cNvPr id="29736" name="Line 120"/>
              <p:cNvSpPr/>
              <p:nvPr/>
            </p:nvSpPr>
            <p:spPr>
              <a:xfrm>
                <a:off x="1056" y="3792"/>
                <a:ext cx="694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7" name="Line 121"/>
              <p:cNvSpPr/>
              <p:nvPr/>
            </p:nvSpPr>
            <p:spPr>
              <a:xfrm>
                <a:off x="1752" y="3792"/>
                <a:ext cx="0" cy="238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8" name="Line 122"/>
              <p:cNvSpPr/>
              <p:nvPr/>
            </p:nvSpPr>
            <p:spPr>
              <a:xfrm>
                <a:off x="1752" y="4020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9" name="Line 123"/>
              <p:cNvSpPr/>
              <p:nvPr/>
            </p:nvSpPr>
            <p:spPr>
              <a:xfrm>
                <a:off x="1908" y="3792"/>
                <a:ext cx="0" cy="238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0" name="Line 124"/>
              <p:cNvSpPr/>
              <p:nvPr/>
            </p:nvSpPr>
            <p:spPr>
              <a:xfrm>
                <a:off x="1907" y="3792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1" name="Line 125"/>
              <p:cNvSpPr/>
              <p:nvPr/>
            </p:nvSpPr>
            <p:spPr>
              <a:xfrm>
                <a:off x="2052" y="3792"/>
                <a:ext cx="0" cy="238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2" name="Line 126"/>
              <p:cNvSpPr/>
              <p:nvPr/>
            </p:nvSpPr>
            <p:spPr>
              <a:xfrm>
                <a:off x="2052" y="4020"/>
                <a:ext cx="512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6" name="Group 138"/>
            <p:cNvGrpSpPr/>
            <p:nvPr/>
          </p:nvGrpSpPr>
          <p:grpSpPr>
            <a:xfrm>
              <a:off x="2256" y="2112"/>
              <a:ext cx="1043" cy="240"/>
              <a:chOff x="2256" y="2112"/>
              <a:chExt cx="1043" cy="240"/>
            </a:xfrm>
          </p:grpSpPr>
          <p:sp>
            <p:nvSpPr>
              <p:cNvPr id="29733" name="Line 135"/>
              <p:cNvSpPr/>
              <p:nvPr/>
            </p:nvSpPr>
            <p:spPr>
              <a:xfrm flipV="1">
                <a:off x="2258" y="211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4" name="Line 136"/>
              <p:cNvSpPr/>
              <p:nvPr/>
            </p:nvSpPr>
            <p:spPr>
              <a:xfrm>
                <a:off x="2256" y="2352"/>
                <a:ext cx="1043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7" name="Group 142"/>
            <p:cNvGrpSpPr/>
            <p:nvPr/>
          </p:nvGrpSpPr>
          <p:grpSpPr>
            <a:xfrm>
              <a:off x="2401" y="2448"/>
              <a:ext cx="907" cy="240"/>
              <a:chOff x="2401" y="2448"/>
              <a:chExt cx="907" cy="240"/>
            </a:xfrm>
          </p:grpSpPr>
          <p:sp>
            <p:nvSpPr>
              <p:cNvPr id="29731" name="Line 140"/>
              <p:cNvSpPr/>
              <p:nvPr/>
            </p:nvSpPr>
            <p:spPr>
              <a:xfrm flipV="1">
                <a:off x="2403" y="244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2" name="Line 141"/>
              <p:cNvSpPr/>
              <p:nvPr/>
            </p:nvSpPr>
            <p:spPr>
              <a:xfrm>
                <a:off x="2401" y="2448"/>
                <a:ext cx="907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18" name="Group 165"/>
            <p:cNvGrpSpPr/>
            <p:nvPr/>
          </p:nvGrpSpPr>
          <p:grpSpPr>
            <a:xfrm>
              <a:off x="2549" y="3132"/>
              <a:ext cx="771" cy="240"/>
              <a:chOff x="2561" y="3132"/>
              <a:chExt cx="771" cy="240"/>
            </a:xfrm>
          </p:grpSpPr>
          <p:sp>
            <p:nvSpPr>
              <p:cNvPr id="29729" name="Line 148"/>
              <p:cNvSpPr/>
              <p:nvPr/>
            </p:nvSpPr>
            <p:spPr>
              <a:xfrm flipV="1">
                <a:off x="2563" y="313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00966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30" name="Line 149"/>
              <p:cNvSpPr/>
              <p:nvPr/>
            </p:nvSpPr>
            <p:spPr>
              <a:xfrm>
                <a:off x="2561" y="3132"/>
                <a:ext cx="771" cy="0"/>
              </a:xfrm>
              <a:prstGeom prst="line">
                <a:avLst/>
              </a:prstGeom>
              <a:ln w="38100" cap="flat" cmpd="sng">
                <a:solidFill>
                  <a:srgbClr val="00966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9719" name="Line 154"/>
            <p:cNvSpPr/>
            <p:nvPr/>
          </p:nvSpPr>
          <p:spPr>
            <a:xfrm>
              <a:off x="2677" y="3696"/>
              <a:ext cx="635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0" name="Line 159"/>
            <p:cNvSpPr/>
            <p:nvPr/>
          </p:nvSpPr>
          <p:spPr>
            <a:xfrm>
              <a:off x="2256" y="2304"/>
              <a:ext cx="1" cy="172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21" name="Line 160"/>
            <p:cNvSpPr/>
            <p:nvPr/>
          </p:nvSpPr>
          <p:spPr>
            <a:xfrm>
              <a:off x="2400" y="2621"/>
              <a:ext cx="1" cy="140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22" name="Line 161"/>
            <p:cNvSpPr/>
            <p:nvPr/>
          </p:nvSpPr>
          <p:spPr>
            <a:xfrm>
              <a:off x="2547" y="3284"/>
              <a:ext cx="9" cy="713"/>
            </a:xfrm>
            <a:prstGeom prst="line">
              <a:avLst/>
            </a:prstGeom>
            <a:ln w="9525" cap="flat" cmpd="sng">
              <a:solidFill>
                <a:srgbClr val="00966F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29723" name="Group 146"/>
            <p:cNvGrpSpPr/>
            <p:nvPr/>
          </p:nvGrpSpPr>
          <p:grpSpPr>
            <a:xfrm>
              <a:off x="2400" y="2784"/>
              <a:ext cx="907" cy="240"/>
              <a:chOff x="2400" y="2784"/>
              <a:chExt cx="907" cy="240"/>
            </a:xfrm>
          </p:grpSpPr>
          <p:sp>
            <p:nvSpPr>
              <p:cNvPr id="29727" name="Line 144"/>
              <p:cNvSpPr/>
              <p:nvPr/>
            </p:nvSpPr>
            <p:spPr>
              <a:xfrm flipV="1">
                <a:off x="2402" y="2784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F4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28" name="Line 145"/>
              <p:cNvSpPr/>
              <p:nvPr/>
            </p:nvSpPr>
            <p:spPr>
              <a:xfrm>
                <a:off x="2400" y="3024"/>
                <a:ext cx="907" cy="0"/>
              </a:xfrm>
              <a:prstGeom prst="line">
                <a:avLst/>
              </a:prstGeom>
              <a:ln w="38100" cap="flat" cmpd="sng">
                <a:solidFill>
                  <a:srgbClr val="FF49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24" name="Group 166"/>
            <p:cNvGrpSpPr/>
            <p:nvPr/>
          </p:nvGrpSpPr>
          <p:grpSpPr>
            <a:xfrm>
              <a:off x="2556" y="3792"/>
              <a:ext cx="771" cy="240"/>
              <a:chOff x="2556" y="3792"/>
              <a:chExt cx="771" cy="240"/>
            </a:xfrm>
          </p:grpSpPr>
          <p:sp>
            <p:nvSpPr>
              <p:cNvPr id="29725" name="Line 157"/>
              <p:cNvSpPr/>
              <p:nvPr/>
            </p:nvSpPr>
            <p:spPr>
              <a:xfrm flipV="1">
                <a:off x="2558" y="379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26" name="Line 158"/>
              <p:cNvSpPr/>
              <p:nvPr/>
            </p:nvSpPr>
            <p:spPr>
              <a:xfrm>
                <a:off x="2556" y="3792"/>
                <a:ext cx="771" cy="0"/>
              </a:xfrm>
              <a:prstGeom prst="line">
                <a:avLst/>
              </a:prstGeom>
              <a:ln w="38100" cap="flat" cmpd="sng">
                <a:solidFill>
                  <a:srgbClr val="99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" y="421640"/>
            <a:ext cx="6209030" cy="5162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48170" y="4466590"/>
            <a:ext cx="2149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F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：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—&gt;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—&gt;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—&gt;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Grp="1"/>
          </p:cNvSpPr>
          <p:nvPr>
            <p:ph type="title"/>
          </p:nvPr>
        </p:nvSpPr>
        <p:spPr>
          <a:xfrm>
            <a:off x="500063" y="573088"/>
            <a:ext cx="7772400" cy="4349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.险象的判别 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Finding Static Hazards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22531" name="Text Box 7"/>
          <p:cNvSpPr txBox="1"/>
          <p:nvPr/>
        </p:nvSpPr>
        <p:spPr>
          <a:xfrm>
            <a:off x="466725" y="1219200"/>
            <a:ext cx="8558530" cy="3644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）卡诺图判别法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Using Maps</a:t>
            </a:r>
          </a:p>
          <a:p>
            <a:pPr marL="171450" indent="-171450" defTabSz="685800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用卡诺图可以判别出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两级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“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与或电路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两级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“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或与电路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是否存在静态险象。</a:t>
            </a:r>
          </a:p>
          <a:p>
            <a:pPr marL="171450" indent="-171450" defTabSz="685800" eaLnBrk="1" hangingPunct="1">
              <a:lnSpc>
                <a:spcPct val="90000"/>
              </a:lnSpc>
              <a:spcBef>
                <a:spcPts val="1200"/>
              </a:spcBef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）静态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险象判别</a:t>
            </a:r>
          </a:p>
          <a:p>
            <a:pPr marL="171450" indent="-171450" defTabSz="685800" eaLnBrk="1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在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两级“与或”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电路或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两级“与非-与非</a:t>
            </a:r>
            <a:r>
              <a:rPr lang="en-US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电路中只可能出现静态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险象。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思考题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171450" indent="-171450" defTabSz="685800" eaLnBrk="1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在卡诺图中，与或式中的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每个与项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对应于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的一个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卡诺圈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，如果两个卡诺圈存</a:t>
            </a:r>
          </a:p>
          <a:p>
            <a:pPr marL="171450" indent="-171450" defTabSz="685800" eaLnBrk="1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</a:pP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在着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部分“相切”，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而这个“相切”的部分又没有被另外的卡诺圈所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包含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，则该电路必然存在静态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 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险象。</a:t>
            </a:r>
            <a:endParaRPr lang="en-US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charRg st="2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5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charRg st="59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73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charRg st="73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1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531">
                                            <p:txEl>
                                              <p:charRg st="114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52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charRg st="152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/>
          </p:cNvSpPr>
          <p:nvPr>
            <p:ph type="title"/>
          </p:nvPr>
        </p:nvSpPr>
        <p:spPr>
          <a:xfrm>
            <a:off x="428625" y="717550"/>
            <a:ext cx="8424863" cy="3444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静态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险象的判别与消除电路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8" name="Line 43"/>
          <p:cNvSpPr/>
          <p:nvPr/>
        </p:nvSpPr>
        <p:spPr>
          <a:xfrm>
            <a:off x="2225675" y="1089025"/>
            <a:ext cx="212725" cy="1588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04" name="Group 196"/>
          <p:cNvGrpSpPr/>
          <p:nvPr/>
        </p:nvGrpSpPr>
        <p:grpSpPr>
          <a:xfrm>
            <a:off x="479425" y="3538538"/>
            <a:ext cx="852488" cy="469900"/>
            <a:chOff x="288" y="2714"/>
            <a:chExt cx="537" cy="396"/>
          </a:xfrm>
        </p:grpSpPr>
        <p:sp>
          <p:nvSpPr>
            <p:cNvPr id="31859" name="Line 94"/>
            <p:cNvSpPr/>
            <p:nvPr/>
          </p:nvSpPr>
          <p:spPr>
            <a:xfrm>
              <a:off x="394" y="2770"/>
              <a:ext cx="192" cy="24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0" name="Text Box 95"/>
            <p:cNvSpPr txBox="1"/>
            <p:nvPr/>
          </p:nvSpPr>
          <p:spPr>
            <a:xfrm>
              <a:off x="528" y="2714"/>
              <a:ext cx="297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</a:p>
          </p:txBody>
        </p:sp>
        <p:sp>
          <p:nvSpPr>
            <p:cNvPr id="31861" name="Text Box 96"/>
            <p:cNvSpPr txBox="1"/>
            <p:nvPr/>
          </p:nvSpPr>
          <p:spPr>
            <a:xfrm>
              <a:off x="288" y="2801"/>
              <a:ext cx="211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</p:grpSp>
      <p:graphicFrame>
        <p:nvGraphicFramePr>
          <p:cNvPr id="131267" name="Group 19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0600" y="3906838"/>
          <a:ext cx="2362200" cy="78105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63" name="Rectangle 197"/>
          <p:cNvSpPr/>
          <p:nvPr/>
        </p:nvSpPr>
        <p:spPr>
          <a:xfrm>
            <a:off x="2286000" y="3963988"/>
            <a:ext cx="914400" cy="2857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64" name="Rectangle 198"/>
          <p:cNvSpPr/>
          <p:nvPr/>
        </p:nvSpPr>
        <p:spPr>
          <a:xfrm>
            <a:off x="1752600" y="4364038"/>
            <a:ext cx="914400" cy="2857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47" name="Text Box 283"/>
          <p:cNvSpPr txBox="1"/>
          <p:nvPr/>
        </p:nvSpPr>
        <p:spPr>
          <a:xfrm>
            <a:off x="4427855" y="3695700"/>
            <a:ext cx="31623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增加的与项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AB=11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如何变化，使输出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，从而消除了险象。</a:t>
            </a:r>
          </a:p>
        </p:txBody>
      </p:sp>
      <p:sp>
        <p:nvSpPr>
          <p:cNvPr id="25715" name="Rectangle 223"/>
          <p:cNvSpPr/>
          <p:nvPr/>
        </p:nvSpPr>
        <p:spPr>
          <a:xfrm>
            <a:off x="2286000" y="3978275"/>
            <a:ext cx="422275" cy="64293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48" name="Line 118"/>
          <p:cNvSpPr/>
          <p:nvPr/>
        </p:nvSpPr>
        <p:spPr>
          <a:xfrm>
            <a:off x="717550" y="3641725"/>
            <a:ext cx="287338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05" y="1419860"/>
            <a:ext cx="3079750" cy="1943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855" y="1482090"/>
            <a:ext cx="3162300" cy="1841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80" y="998855"/>
            <a:ext cx="3076575" cy="38671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152650" y="4300220"/>
            <a:ext cx="6191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63" grpId="0" animBg="1"/>
      <p:bldP spid="25664" grpId="0" animBg="1"/>
      <p:bldP spid="30747" grpId="0"/>
      <p:bldP spid="257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467995" y="825500"/>
            <a:ext cx="77216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）静态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险象判别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196850" y="1456055"/>
            <a:ext cx="8877300" cy="1701800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两级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电路或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两级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或非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或非</a:t>
            </a:r>
            <a:r>
              <a:rPr lang="zh-CN" altLang="en-US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只可能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出现静态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险象。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（思考题）</a:t>
            </a:r>
          </a:p>
          <a:p>
            <a:pPr marL="0" indent="0" eaLnBrk="1" latinLnBrk="0" hangingPunct="1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在卡诺图中，按照圈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单元的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卡诺圈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是否存在着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部分相切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，而这个相切的部分又没有被另外的卡诺圈所</a:t>
            </a: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包含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，则该电路必然存在静态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 </a:t>
            </a:r>
            <a:r>
              <a:rPr lang="en-US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险象。</a:t>
            </a:r>
            <a:endParaRPr lang="en-US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55650" y="2859405"/>
            <a:ext cx="5825490" cy="641350"/>
            <a:chOff x="1259" y="5722"/>
            <a:chExt cx="9174" cy="1010"/>
          </a:xfrm>
        </p:grpSpPr>
        <p:sp>
          <p:nvSpPr>
            <p:cNvPr id="31749" name="Line 10"/>
            <p:cNvSpPr/>
            <p:nvPr/>
          </p:nvSpPr>
          <p:spPr>
            <a:xfrm>
              <a:off x="6064" y="5750"/>
              <a:ext cx="2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0" name="Line 11"/>
            <p:cNvSpPr/>
            <p:nvPr/>
          </p:nvSpPr>
          <p:spPr>
            <a:xfrm>
              <a:off x="7745" y="5750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1" name="Line 12"/>
            <p:cNvSpPr/>
            <p:nvPr/>
          </p:nvSpPr>
          <p:spPr>
            <a:xfrm>
              <a:off x="8182" y="5750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" name="组合 2"/>
            <p:cNvGrpSpPr/>
            <p:nvPr/>
          </p:nvGrpSpPr>
          <p:grpSpPr>
            <a:xfrm>
              <a:off x="1259" y="5722"/>
              <a:ext cx="9174" cy="1010"/>
              <a:chOff x="1259" y="5722"/>
              <a:chExt cx="9174" cy="1010"/>
            </a:xfrm>
          </p:grpSpPr>
          <p:grpSp>
            <p:nvGrpSpPr>
              <p:cNvPr id="26627" name="Group 79"/>
              <p:cNvGrpSpPr/>
              <p:nvPr/>
            </p:nvGrpSpPr>
            <p:grpSpPr>
              <a:xfrm>
                <a:off x="1283" y="5893"/>
                <a:ext cx="9151" cy="579"/>
                <a:chOff x="336" y="2208"/>
                <a:chExt cx="4944" cy="308"/>
              </a:xfrm>
            </p:grpSpPr>
            <p:sp>
              <p:nvSpPr>
                <p:cNvPr id="32776" name="Text Box 6"/>
                <p:cNvSpPr txBox="1"/>
                <p:nvPr/>
              </p:nvSpPr>
              <p:spPr>
                <a:xfrm>
                  <a:off x="336" y="2208"/>
                  <a:ext cx="4944" cy="3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20000"/>
                    </a:spcBef>
                    <a:buFont typeface="Arial" panose="020B0604020202020204" pitchFamily="34" charset="0"/>
                  </a:pPr>
                  <a:r>
                    <a:rPr lang="zh-CN" altLang="en-US" sz="1800" b="1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例  如图所示电路  </a:t>
                  </a:r>
                  <a:r>
                    <a:rPr lang="en-US" altLang="zh-CN" sz="1800" b="1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F = (A+B+C) (C+D) (B+D)</a:t>
                  </a:r>
                </a:p>
              </p:txBody>
            </p:sp>
            <p:sp>
              <p:nvSpPr>
                <p:cNvPr id="32777" name="Line 9"/>
                <p:cNvSpPr/>
                <p:nvPr/>
              </p:nvSpPr>
              <p:spPr>
                <a:xfrm>
                  <a:off x="3195" y="2256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8" name="Line 10"/>
                <p:cNvSpPr/>
                <p:nvPr/>
              </p:nvSpPr>
              <p:spPr>
                <a:xfrm>
                  <a:off x="4131" y="2258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779" name="Line 11"/>
                <p:cNvSpPr/>
                <p:nvPr/>
              </p:nvSpPr>
              <p:spPr>
                <a:xfrm>
                  <a:off x="4443" y="2256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" y="5722"/>
                <a:ext cx="8040" cy="1010"/>
              </a:xfrm>
              <a:prstGeom prst="rect">
                <a:avLst/>
              </a:prstGeom>
            </p:spPr>
          </p:pic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D39E242C-BF3D-44CD-B148-0198FB9F761F}"/>
              </a:ext>
            </a:extLst>
          </p:cNvPr>
          <p:cNvSpPr txBox="1"/>
          <p:nvPr/>
        </p:nvSpPr>
        <p:spPr>
          <a:xfrm>
            <a:off x="1619672" y="379588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大家画出卡诺图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charRg st="42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 txBox="1">
            <a:spLocks noGrp="1"/>
          </p:cNvSpPr>
          <p:nvPr/>
        </p:nvSpPr>
        <p:spPr>
          <a:xfrm>
            <a:off x="0" y="123825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795" name="灯片编号占位符 5"/>
          <p:cNvSpPr txBox="1">
            <a:spLocks noGrp="1"/>
          </p:cNvSpPr>
          <p:nvPr/>
        </p:nvSpPr>
        <p:spPr>
          <a:xfrm>
            <a:off x="8604250" y="4892675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16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33796" name="Group 304"/>
          <p:cNvGrpSpPr/>
          <p:nvPr/>
        </p:nvGrpSpPr>
        <p:grpSpPr>
          <a:xfrm>
            <a:off x="4781550" y="944563"/>
            <a:ext cx="3886200" cy="2614612"/>
            <a:chOff x="192" y="96"/>
            <a:chExt cx="2448" cy="2196"/>
          </a:xfrm>
        </p:grpSpPr>
        <p:sp>
          <p:nvSpPr>
            <p:cNvPr id="33857" name="Line 147"/>
            <p:cNvSpPr/>
            <p:nvPr/>
          </p:nvSpPr>
          <p:spPr>
            <a:xfrm>
              <a:off x="1212" y="518"/>
              <a:ext cx="13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8" name="Text Box 148"/>
            <p:cNvSpPr txBox="1"/>
            <p:nvPr/>
          </p:nvSpPr>
          <p:spPr>
            <a:xfrm>
              <a:off x="192" y="576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3859" name="Line 149"/>
            <p:cNvSpPr/>
            <p:nvPr/>
          </p:nvSpPr>
          <p:spPr>
            <a:xfrm>
              <a:off x="420" y="240"/>
              <a:ext cx="9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0" name="Oval 150"/>
            <p:cNvSpPr/>
            <p:nvPr/>
          </p:nvSpPr>
          <p:spPr>
            <a:xfrm>
              <a:off x="498" y="35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61" name="Line 151"/>
            <p:cNvSpPr/>
            <p:nvPr/>
          </p:nvSpPr>
          <p:spPr>
            <a:xfrm>
              <a:off x="396" y="700"/>
              <a:ext cx="3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2" name="Line 152"/>
            <p:cNvSpPr/>
            <p:nvPr/>
          </p:nvSpPr>
          <p:spPr>
            <a:xfrm>
              <a:off x="624" y="706"/>
              <a:ext cx="0" cy="26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3" name="Line 153"/>
            <p:cNvSpPr/>
            <p:nvPr/>
          </p:nvSpPr>
          <p:spPr>
            <a:xfrm>
              <a:off x="1622" y="38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4" name="Line 154"/>
            <p:cNvSpPr/>
            <p:nvPr/>
          </p:nvSpPr>
          <p:spPr>
            <a:xfrm>
              <a:off x="1622" y="176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5" name="Line 155"/>
            <p:cNvSpPr/>
            <p:nvPr/>
          </p:nvSpPr>
          <p:spPr>
            <a:xfrm>
              <a:off x="1815" y="380"/>
              <a:ext cx="0" cy="5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6" name="Line 156"/>
            <p:cNvSpPr/>
            <p:nvPr/>
          </p:nvSpPr>
          <p:spPr>
            <a:xfrm>
              <a:off x="1809" y="1228"/>
              <a:ext cx="0" cy="5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7" name="Line 157"/>
            <p:cNvSpPr/>
            <p:nvPr/>
          </p:nvSpPr>
          <p:spPr>
            <a:xfrm>
              <a:off x="1804" y="122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8" name="Line 158"/>
            <p:cNvSpPr/>
            <p:nvPr/>
          </p:nvSpPr>
          <p:spPr>
            <a:xfrm>
              <a:off x="1814" y="94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9" name="Text Box 159"/>
            <p:cNvSpPr txBox="1"/>
            <p:nvPr/>
          </p:nvSpPr>
          <p:spPr>
            <a:xfrm>
              <a:off x="192" y="96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3870" name="Text Box 160"/>
            <p:cNvSpPr txBox="1"/>
            <p:nvPr/>
          </p:nvSpPr>
          <p:spPr>
            <a:xfrm>
              <a:off x="192" y="278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3871" name="Line 161"/>
            <p:cNvSpPr/>
            <p:nvPr/>
          </p:nvSpPr>
          <p:spPr>
            <a:xfrm>
              <a:off x="624" y="968"/>
              <a:ext cx="72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2" name="Line 162"/>
            <p:cNvSpPr/>
            <p:nvPr/>
          </p:nvSpPr>
          <p:spPr>
            <a:xfrm>
              <a:off x="528" y="2112"/>
              <a:ext cx="24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3" name="Text Box 163"/>
            <p:cNvSpPr txBox="1"/>
            <p:nvPr/>
          </p:nvSpPr>
          <p:spPr>
            <a:xfrm>
              <a:off x="1488" y="144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1500" b="1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3874" name="Line 164"/>
            <p:cNvSpPr/>
            <p:nvPr/>
          </p:nvSpPr>
          <p:spPr>
            <a:xfrm>
              <a:off x="1632" y="108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5" name="Line 165"/>
            <p:cNvSpPr/>
            <p:nvPr/>
          </p:nvSpPr>
          <p:spPr>
            <a:xfrm>
              <a:off x="411" y="384"/>
              <a:ext cx="9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6" name="Line 166"/>
            <p:cNvSpPr/>
            <p:nvPr/>
          </p:nvSpPr>
          <p:spPr>
            <a:xfrm>
              <a:off x="1080" y="708"/>
              <a:ext cx="13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7" name="Line 167"/>
            <p:cNvSpPr/>
            <p:nvPr/>
          </p:nvSpPr>
          <p:spPr>
            <a:xfrm>
              <a:off x="1212" y="51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8" name="Oval 168"/>
            <p:cNvSpPr/>
            <p:nvPr/>
          </p:nvSpPr>
          <p:spPr>
            <a:xfrm>
              <a:off x="600" y="67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79" name="Line 169"/>
            <p:cNvSpPr/>
            <p:nvPr/>
          </p:nvSpPr>
          <p:spPr>
            <a:xfrm>
              <a:off x="1096" y="1660"/>
              <a:ext cx="2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0" name="Line 170"/>
            <p:cNvSpPr/>
            <p:nvPr/>
          </p:nvSpPr>
          <p:spPr>
            <a:xfrm>
              <a:off x="1094" y="2082"/>
              <a:ext cx="1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1" name="Line 171"/>
            <p:cNvSpPr/>
            <p:nvPr/>
          </p:nvSpPr>
          <p:spPr>
            <a:xfrm>
              <a:off x="1210" y="1892"/>
              <a:ext cx="1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2" name="Line 172"/>
            <p:cNvSpPr/>
            <p:nvPr/>
          </p:nvSpPr>
          <p:spPr>
            <a:xfrm>
              <a:off x="1212" y="189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3" name="Line 173"/>
            <p:cNvSpPr/>
            <p:nvPr/>
          </p:nvSpPr>
          <p:spPr>
            <a:xfrm>
              <a:off x="408" y="1200"/>
              <a:ext cx="9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4" name="Text Box 174"/>
            <p:cNvSpPr txBox="1"/>
            <p:nvPr/>
          </p:nvSpPr>
          <p:spPr>
            <a:xfrm>
              <a:off x="192" y="1056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33885" name="Line 175"/>
            <p:cNvSpPr/>
            <p:nvPr/>
          </p:nvSpPr>
          <p:spPr>
            <a:xfrm>
              <a:off x="528" y="384"/>
              <a:ext cx="0" cy="17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6" name="Line 176"/>
            <p:cNvSpPr/>
            <p:nvPr/>
          </p:nvSpPr>
          <p:spPr>
            <a:xfrm>
              <a:off x="643" y="1200"/>
              <a:ext cx="0" cy="46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7" name="Line 177"/>
            <p:cNvSpPr/>
            <p:nvPr/>
          </p:nvSpPr>
          <p:spPr>
            <a:xfrm>
              <a:off x="648" y="1668"/>
              <a:ext cx="132" cy="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88" name="Oval 178"/>
            <p:cNvSpPr/>
            <p:nvPr/>
          </p:nvSpPr>
          <p:spPr>
            <a:xfrm>
              <a:off x="620" y="117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89" name="Text Box 179"/>
            <p:cNvSpPr txBox="1"/>
            <p:nvPr/>
          </p:nvSpPr>
          <p:spPr>
            <a:xfrm>
              <a:off x="1466" y="816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1500" b="1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2</a:t>
              </a:r>
              <a:endParaRPr lang="en-US" altLang="zh-CN" sz="1500" b="1" baseline="-25000" dirty="0">
                <a:solidFill>
                  <a:srgbClr val="66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90" name="Text Box 180"/>
            <p:cNvSpPr txBox="1"/>
            <p:nvPr/>
          </p:nvSpPr>
          <p:spPr>
            <a:xfrm>
              <a:off x="1536" y="1785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1500" b="1" baseline="-25000" dirty="0">
                  <a:solidFill>
                    <a:schemeClr val="tx1"/>
                  </a:solidFill>
                  <a:latin typeface="Arial" panose="020B0604020202020204" pitchFamily="34" charset="0"/>
                </a:rPr>
                <a:t>3</a:t>
              </a:r>
              <a:endParaRPr lang="en-US" altLang="zh-CN" sz="1500" b="1" baseline="-25000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91" name="Line 181"/>
            <p:cNvSpPr/>
            <p:nvPr/>
          </p:nvSpPr>
          <p:spPr>
            <a:xfrm>
              <a:off x="2284" y="110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92" name="Text Box 182"/>
            <p:cNvSpPr txBox="1"/>
            <p:nvPr/>
          </p:nvSpPr>
          <p:spPr>
            <a:xfrm>
              <a:off x="2400" y="81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7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F</a:t>
              </a:r>
            </a:p>
          </p:txBody>
        </p:sp>
        <p:grpSp>
          <p:nvGrpSpPr>
            <p:cNvPr id="33893" name="Group 183"/>
            <p:cNvGrpSpPr/>
            <p:nvPr/>
          </p:nvGrpSpPr>
          <p:grpSpPr>
            <a:xfrm>
              <a:off x="1992" y="900"/>
              <a:ext cx="321" cy="384"/>
              <a:chOff x="0" y="0"/>
              <a:chExt cx="321" cy="384"/>
            </a:xfrm>
          </p:grpSpPr>
          <p:sp>
            <p:nvSpPr>
              <p:cNvPr id="33918" name="Rectangle 184"/>
              <p:cNvSpPr/>
              <p:nvPr/>
            </p:nvSpPr>
            <p:spPr>
              <a:xfrm>
                <a:off x="0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19" name="Text Box 185"/>
              <p:cNvSpPr txBox="1"/>
              <p:nvPr/>
            </p:nvSpPr>
            <p:spPr>
              <a:xfrm>
                <a:off x="37" y="75"/>
                <a:ext cx="2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&amp;</a:t>
                </a:r>
                <a:endParaRPr lang="en-US" altLang="zh-CN" sz="13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33894" name="Group 186"/>
            <p:cNvGrpSpPr/>
            <p:nvPr/>
          </p:nvGrpSpPr>
          <p:grpSpPr>
            <a:xfrm>
              <a:off x="1344" y="1584"/>
              <a:ext cx="376" cy="384"/>
              <a:chOff x="0" y="0"/>
              <a:chExt cx="376" cy="384"/>
            </a:xfrm>
          </p:grpSpPr>
          <p:sp>
            <p:nvSpPr>
              <p:cNvPr id="33916" name="Rectangle 187"/>
              <p:cNvSpPr/>
              <p:nvPr/>
            </p:nvSpPr>
            <p:spPr>
              <a:xfrm>
                <a:off x="7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17" name="Text Box 188"/>
              <p:cNvSpPr txBox="1"/>
              <p:nvPr/>
            </p:nvSpPr>
            <p:spPr>
              <a:xfrm>
                <a:off x="0" y="58"/>
                <a:ext cx="37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1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≥1</a:t>
                </a:r>
              </a:p>
            </p:txBody>
          </p:sp>
        </p:grpSp>
        <p:grpSp>
          <p:nvGrpSpPr>
            <p:cNvPr id="33895" name="Group 189"/>
            <p:cNvGrpSpPr/>
            <p:nvPr/>
          </p:nvGrpSpPr>
          <p:grpSpPr>
            <a:xfrm>
              <a:off x="1344" y="888"/>
              <a:ext cx="376" cy="384"/>
              <a:chOff x="0" y="0"/>
              <a:chExt cx="376" cy="384"/>
            </a:xfrm>
          </p:grpSpPr>
          <p:sp>
            <p:nvSpPr>
              <p:cNvPr id="33914" name="Rectangle 190"/>
              <p:cNvSpPr/>
              <p:nvPr/>
            </p:nvSpPr>
            <p:spPr>
              <a:xfrm>
                <a:off x="7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15" name="Text Box 191"/>
              <p:cNvSpPr txBox="1"/>
              <p:nvPr/>
            </p:nvSpPr>
            <p:spPr>
              <a:xfrm>
                <a:off x="0" y="58"/>
                <a:ext cx="37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1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≥1</a:t>
                </a:r>
              </a:p>
            </p:txBody>
          </p:sp>
        </p:grpSp>
        <p:grpSp>
          <p:nvGrpSpPr>
            <p:cNvPr id="33896" name="Group 192"/>
            <p:cNvGrpSpPr/>
            <p:nvPr/>
          </p:nvGrpSpPr>
          <p:grpSpPr>
            <a:xfrm>
              <a:off x="768" y="1476"/>
              <a:ext cx="361" cy="384"/>
              <a:chOff x="0" y="0"/>
              <a:chExt cx="361" cy="384"/>
            </a:xfrm>
          </p:grpSpPr>
          <p:sp>
            <p:nvSpPr>
              <p:cNvPr id="33911" name="Rectangle 193"/>
              <p:cNvSpPr/>
              <p:nvPr/>
            </p:nvSpPr>
            <p:spPr>
              <a:xfrm>
                <a:off x="0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12" name="Text Box 194"/>
              <p:cNvSpPr txBox="1"/>
              <p:nvPr/>
            </p:nvSpPr>
            <p:spPr>
              <a:xfrm>
                <a:off x="29" y="52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913" name="Oval 195"/>
              <p:cNvSpPr/>
              <p:nvPr/>
            </p:nvSpPr>
            <p:spPr>
              <a:xfrm>
                <a:off x="288" y="14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3897" name="Group 196"/>
            <p:cNvGrpSpPr/>
            <p:nvPr/>
          </p:nvGrpSpPr>
          <p:grpSpPr>
            <a:xfrm>
              <a:off x="768" y="528"/>
              <a:ext cx="361" cy="384"/>
              <a:chOff x="0" y="0"/>
              <a:chExt cx="361" cy="384"/>
            </a:xfrm>
          </p:grpSpPr>
          <p:sp>
            <p:nvSpPr>
              <p:cNvPr id="33908" name="Rectangle 197"/>
              <p:cNvSpPr/>
              <p:nvPr/>
            </p:nvSpPr>
            <p:spPr>
              <a:xfrm>
                <a:off x="0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09" name="Text Box 198"/>
              <p:cNvSpPr txBox="1"/>
              <p:nvPr/>
            </p:nvSpPr>
            <p:spPr>
              <a:xfrm>
                <a:off x="29" y="52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910" name="Oval 199"/>
              <p:cNvSpPr/>
              <p:nvPr/>
            </p:nvSpPr>
            <p:spPr>
              <a:xfrm>
                <a:off x="288" y="14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3898" name="Group 200"/>
            <p:cNvGrpSpPr/>
            <p:nvPr/>
          </p:nvGrpSpPr>
          <p:grpSpPr>
            <a:xfrm>
              <a:off x="1344" y="180"/>
              <a:ext cx="376" cy="384"/>
              <a:chOff x="0" y="0"/>
              <a:chExt cx="376" cy="384"/>
            </a:xfrm>
          </p:grpSpPr>
          <p:sp>
            <p:nvSpPr>
              <p:cNvPr id="33906" name="Rectangle 201"/>
              <p:cNvSpPr/>
              <p:nvPr/>
            </p:nvSpPr>
            <p:spPr>
              <a:xfrm>
                <a:off x="7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07" name="Text Box 202"/>
              <p:cNvSpPr txBox="1"/>
              <p:nvPr/>
            </p:nvSpPr>
            <p:spPr>
              <a:xfrm>
                <a:off x="0" y="58"/>
                <a:ext cx="37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1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≥1</a:t>
                </a:r>
              </a:p>
            </p:txBody>
          </p:sp>
        </p:grpSp>
        <p:grpSp>
          <p:nvGrpSpPr>
            <p:cNvPr id="33899" name="Group 203"/>
            <p:cNvGrpSpPr/>
            <p:nvPr/>
          </p:nvGrpSpPr>
          <p:grpSpPr>
            <a:xfrm>
              <a:off x="768" y="1908"/>
              <a:ext cx="361" cy="384"/>
              <a:chOff x="0" y="0"/>
              <a:chExt cx="361" cy="384"/>
            </a:xfrm>
          </p:grpSpPr>
          <p:sp>
            <p:nvSpPr>
              <p:cNvPr id="33903" name="Rectangle 204"/>
              <p:cNvSpPr/>
              <p:nvPr/>
            </p:nvSpPr>
            <p:spPr>
              <a:xfrm>
                <a:off x="0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3904" name="Text Box 205"/>
              <p:cNvSpPr txBox="1"/>
              <p:nvPr/>
            </p:nvSpPr>
            <p:spPr>
              <a:xfrm>
                <a:off x="29" y="52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905" name="Oval 206"/>
              <p:cNvSpPr/>
              <p:nvPr/>
            </p:nvSpPr>
            <p:spPr>
              <a:xfrm>
                <a:off x="288" y="148"/>
                <a:ext cx="73" cy="7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3900" name="Group 207"/>
            <p:cNvGrpSpPr/>
            <p:nvPr/>
          </p:nvGrpSpPr>
          <p:grpSpPr>
            <a:xfrm>
              <a:off x="1112" y="1440"/>
              <a:ext cx="232" cy="250"/>
              <a:chOff x="0" y="0"/>
              <a:chExt cx="232" cy="250"/>
            </a:xfrm>
          </p:grpSpPr>
          <p:sp>
            <p:nvSpPr>
              <p:cNvPr id="33901" name="Text Box 208"/>
              <p:cNvSpPr txBox="1"/>
              <p:nvPr/>
            </p:nvSpPr>
            <p:spPr>
              <a:xfrm>
                <a:off x="0" y="0"/>
                <a:ext cx="2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buFont typeface="Arial" panose="020B0604020202020204" pitchFamily="34" charset="0"/>
                </a:pPr>
                <a:r>
                  <a:rPr lang="en-US" altLang="zh-CN" sz="15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33902" name="Line 209"/>
              <p:cNvSpPr/>
              <p:nvPr/>
            </p:nvSpPr>
            <p:spPr>
              <a:xfrm>
                <a:off x="48" y="3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3797" name="Group 216"/>
          <p:cNvGrpSpPr/>
          <p:nvPr/>
        </p:nvGrpSpPr>
        <p:grpSpPr>
          <a:xfrm>
            <a:off x="381000" y="769938"/>
            <a:ext cx="1012825" cy="579437"/>
            <a:chOff x="0" y="0"/>
            <a:chExt cx="638" cy="486"/>
          </a:xfrm>
        </p:grpSpPr>
        <p:sp>
          <p:nvSpPr>
            <p:cNvPr id="33854" name="Line 9"/>
            <p:cNvSpPr/>
            <p:nvPr/>
          </p:nvSpPr>
          <p:spPr>
            <a:xfrm>
              <a:off x="154" y="56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5" name="Text Box 10"/>
            <p:cNvSpPr txBox="1"/>
            <p:nvPr/>
          </p:nvSpPr>
          <p:spPr>
            <a:xfrm>
              <a:off x="288" y="0"/>
              <a:ext cx="35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AB</a:t>
              </a:r>
            </a:p>
          </p:txBody>
        </p:sp>
        <p:sp>
          <p:nvSpPr>
            <p:cNvPr id="33856" name="Text Box 215"/>
            <p:cNvSpPr txBox="1"/>
            <p:nvPr/>
          </p:nvSpPr>
          <p:spPr>
            <a:xfrm>
              <a:off x="0" y="217"/>
              <a:ext cx="37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CD</a:t>
              </a:r>
            </a:p>
          </p:txBody>
        </p:sp>
      </p:grpSp>
      <p:graphicFrame>
        <p:nvGraphicFramePr>
          <p:cNvPr id="110602" name="Group 77"/>
          <p:cNvGraphicFramePr>
            <a:graphicFrameLocks noGrp="1"/>
          </p:cNvGraphicFramePr>
          <p:nvPr/>
        </p:nvGraphicFramePr>
        <p:xfrm>
          <a:off x="900113" y="1092200"/>
          <a:ext cx="2133600" cy="1547812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5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5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95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5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0" marB="456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5" name="Rectangle 244"/>
          <p:cNvSpPr/>
          <p:nvPr/>
        </p:nvSpPr>
        <p:spPr>
          <a:xfrm>
            <a:off x="990600" y="1131888"/>
            <a:ext cx="1981200" cy="2286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826" name="Rectangle 67"/>
          <p:cNvSpPr/>
          <p:nvPr/>
        </p:nvSpPr>
        <p:spPr>
          <a:xfrm>
            <a:off x="1524000" y="1541463"/>
            <a:ext cx="914400" cy="6286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827" name="Rectangle 68"/>
          <p:cNvSpPr/>
          <p:nvPr/>
        </p:nvSpPr>
        <p:spPr>
          <a:xfrm>
            <a:off x="990600" y="1927860"/>
            <a:ext cx="381000" cy="6286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828" name="Text Box 296"/>
          <p:cNvSpPr txBox="1"/>
          <p:nvPr/>
        </p:nvSpPr>
        <p:spPr>
          <a:xfrm>
            <a:off x="728663" y="2859088"/>
            <a:ext cx="4419600" cy="314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两圈相切于在变量</a:t>
            </a:r>
            <a:r>
              <a:rPr lang="en-US" altLang="zh-CN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的交替面</a:t>
            </a:r>
          </a:p>
        </p:txBody>
      </p:sp>
      <p:sp>
        <p:nvSpPr>
          <p:cNvPr id="33829" name="Text Box 297"/>
          <p:cNvSpPr txBox="1"/>
          <p:nvPr/>
        </p:nvSpPr>
        <p:spPr>
          <a:xfrm>
            <a:off x="228600" y="4043363"/>
            <a:ext cx="8610600" cy="615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有三处相切，对应着三个静态</a:t>
            </a:r>
            <a:r>
              <a:rPr lang="en-US" altLang="zh-CN" sz="1700" b="1" dirty="0">
                <a:solidFill>
                  <a:schemeClr val="tx1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0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险象；分别增加三个卡诺圈，使输出</a:t>
            </a: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总是</a:t>
            </a:r>
            <a:r>
              <a:rPr lang="en-US" altLang="zh-CN" sz="1700" b="1" dirty="0">
                <a:solidFill>
                  <a:schemeClr val="tx1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0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，从而消除险象。</a:t>
            </a:r>
          </a:p>
        </p:txBody>
      </p:sp>
      <p:sp>
        <p:nvSpPr>
          <p:cNvPr id="33830" name="Text Box 298"/>
          <p:cNvSpPr txBox="1"/>
          <p:nvPr/>
        </p:nvSpPr>
        <p:spPr>
          <a:xfrm>
            <a:off x="728663" y="3219450"/>
            <a:ext cx="4419600" cy="314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两圈相切于在变量</a:t>
            </a:r>
            <a:r>
              <a:rPr lang="en-US" altLang="zh-CN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的交替面</a:t>
            </a:r>
          </a:p>
        </p:txBody>
      </p:sp>
      <p:sp>
        <p:nvSpPr>
          <p:cNvPr id="33831" name="Text Box 299"/>
          <p:cNvSpPr txBox="1"/>
          <p:nvPr/>
        </p:nvSpPr>
        <p:spPr>
          <a:xfrm>
            <a:off x="728663" y="3579813"/>
            <a:ext cx="4419600" cy="314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两圈相切于在变量</a:t>
            </a:r>
            <a:r>
              <a:rPr lang="en-US" altLang="zh-CN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6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的交替面</a:t>
            </a:r>
          </a:p>
        </p:txBody>
      </p:sp>
      <p:sp>
        <p:nvSpPr>
          <p:cNvPr id="118904" name="Line 300"/>
          <p:cNvSpPr/>
          <p:nvPr/>
        </p:nvSpPr>
        <p:spPr>
          <a:xfrm>
            <a:off x="1476375" y="1471613"/>
            <a:ext cx="1008063" cy="0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18905" name="Group 307"/>
          <p:cNvGrpSpPr/>
          <p:nvPr/>
        </p:nvGrpSpPr>
        <p:grpSpPr>
          <a:xfrm>
            <a:off x="914400" y="1112838"/>
            <a:ext cx="533400" cy="1485900"/>
            <a:chOff x="0" y="0"/>
            <a:chExt cx="336" cy="1248"/>
          </a:xfrm>
        </p:grpSpPr>
        <p:sp>
          <p:nvSpPr>
            <p:cNvPr id="33852" name="Line 301"/>
            <p:cNvSpPr/>
            <p:nvPr/>
          </p:nvSpPr>
          <p:spPr>
            <a:xfrm>
              <a:off x="0" y="1248"/>
              <a:ext cx="336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3" name="Line 302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8908" name="Line 303"/>
          <p:cNvSpPr/>
          <p:nvPr/>
        </p:nvSpPr>
        <p:spPr>
          <a:xfrm>
            <a:off x="1447800" y="1855788"/>
            <a:ext cx="0" cy="342900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909" name="Rectangle 277"/>
          <p:cNvSpPr/>
          <p:nvPr/>
        </p:nvSpPr>
        <p:spPr>
          <a:xfrm>
            <a:off x="990600" y="1851025"/>
            <a:ext cx="914400" cy="342900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8910" name="Rectangle 278"/>
          <p:cNvSpPr/>
          <p:nvPr/>
        </p:nvSpPr>
        <p:spPr>
          <a:xfrm>
            <a:off x="1543050" y="1162050"/>
            <a:ext cx="838200" cy="636905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18911" name="Group 308"/>
          <p:cNvGrpSpPr/>
          <p:nvPr/>
        </p:nvGrpSpPr>
        <p:grpSpPr>
          <a:xfrm>
            <a:off x="1028700" y="1033463"/>
            <a:ext cx="304800" cy="1609725"/>
            <a:chOff x="0" y="0"/>
            <a:chExt cx="192" cy="1344"/>
          </a:xfrm>
        </p:grpSpPr>
        <p:grpSp>
          <p:nvGrpSpPr>
            <p:cNvPr id="33844" name="Group 292"/>
            <p:cNvGrpSpPr/>
            <p:nvPr/>
          </p:nvGrpSpPr>
          <p:grpSpPr>
            <a:xfrm rot="10800000">
              <a:off x="0" y="1056"/>
              <a:ext cx="192" cy="288"/>
              <a:chOff x="0" y="0"/>
              <a:chExt cx="240" cy="336"/>
            </a:xfrm>
          </p:grpSpPr>
          <p:sp>
            <p:nvSpPr>
              <p:cNvPr id="33849" name="Line 293"/>
              <p:cNvSpPr/>
              <p:nvPr/>
            </p:nvSpPr>
            <p:spPr>
              <a:xfrm>
                <a:off x="0" y="0"/>
                <a:ext cx="0" cy="336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50" name="Line 294"/>
              <p:cNvSpPr/>
              <p:nvPr/>
            </p:nvSpPr>
            <p:spPr>
              <a:xfrm>
                <a:off x="232" y="0"/>
                <a:ext cx="0" cy="336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51" name="Line 295"/>
              <p:cNvSpPr/>
              <p:nvPr/>
            </p:nvSpPr>
            <p:spPr>
              <a:xfrm>
                <a:off x="0" y="336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3845" name="Group 279"/>
            <p:cNvGrpSpPr/>
            <p:nvPr/>
          </p:nvGrpSpPr>
          <p:grpSpPr>
            <a:xfrm>
              <a:off x="0" y="0"/>
              <a:ext cx="192" cy="303"/>
              <a:chOff x="0" y="0"/>
              <a:chExt cx="240" cy="353"/>
            </a:xfrm>
          </p:grpSpPr>
          <p:sp>
            <p:nvSpPr>
              <p:cNvPr id="33846" name="Line 280"/>
              <p:cNvSpPr/>
              <p:nvPr/>
            </p:nvSpPr>
            <p:spPr>
              <a:xfrm>
                <a:off x="0" y="0"/>
                <a:ext cx="0" cy="336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47" name="Line 281"/>
              <p:cNvSpPr/>
              <p:nvPr/>
            </p:nvSpPr>
            <p:spPr>
              <a:xfrm>
                <a:off x="232" y="0"/>
                <a:ext cx="0" cy="336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48" name="Line 282"/>
              <p:cNvSpPr/>
              <p:nvPr/>
            </p:nvSpPr>
            <p:spPr>
              <a:xfrm>
                <a:off x="0" y="353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pic>
        <p:nvPicPr>
          <p:cNvPr id="33838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341313"/>
            <a:ext cx="8064500" cy="400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735" name="Picture 1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4687888"/>
            <a:ext cx="7488238" cy="38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3557270" y="1419860"/>
            <a:ext cx="681038" cy="331788"/>
          </a:xfrm>
          <a:prstGeom prst="wedgeRoundRectCallout">
            <a:avLst>
              <a:gd name="adj1" fmla="val -207500"/>
              <a:gd name="adj2" fmla="val -3534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0" name="圆角矩形标注 99"/>
          <p:cNvSpPr/>
          <p:nvPr/>
        </p:nvSpPr>
        <p:spPr>
          <a:xfrm>
            <a:off x="3636010" y="1995488"/>
            <a:ext cx="681038" cy="349250"/>
          </a:xfrm>
          <a:prstGeom prst="wedgeRoundRectCallout">
            <a:avLst>
              <a:gd name="adj1" fmla="val -372866"/>
              <a:gd name="adj2" fmla="val -55245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B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1" name="圆角矩形标注 100"/>
          <p:cNvSpPr/>
          <p:nvPr/>
        </p:nvSpPr>
        <p:spPr>
          <a:xfrm>
            <a:off x="3487738" y="2401888"/>
            <a:ext cx="773112" cy="252412"/>
          </a:xfrm>
          <a:prstGeom prst="wedgeRoundRectCallout">
            <a:avLst>
              <a:gd name="adj1" fmla="val -320611"/>
              <a:gd name="adj2" fmla="val 30602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圆角矩形标注 101"/>
          <p:cNvSpPr/>
          <p:nvPr/>
        </p:nvSpPr>
        <p:spPr>
          <a:xfrm>
            <a:off x="3465513" y="1025525"/>
            <a:ext cx="773112" cy="252413"/>
          </a:xfrm>
          <a:prstGeom prst="wedgeRoundRectCallout">
            <a:avLst>
              <a:gd name="adj1" fmla="val -317944"/>
              <a:gd name="adj2" fmla="val -29319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8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8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8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8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8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8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1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8" grpId="0"/>
      <p:bldP spid="33828" grpId="1"/>
      <p:bldP spid="33829" grpId="0"/>
      <p:bldP spid="33829" grpId="1"/>
      <p:bldP spid="33830" grpId="0"/>
      <p:bldP spid="33830" grpId="1"/>
      <p:bldP spid="33831" grpId="0"/>
      <p:bldP spid="33831" grpId="1"/>
      <p:bldP spid="118909" grpId="0" bldLvl="0" animBg="1"/>
      <p:bldP spid="118910" grpId="0" bldLvl="0" animBg="1"/>
      <p:bldP spid="2" grpId="0" bldLvl="0" animBg="1"/>
      <p:bldP spid="100" grpId="0" bldLvl="0" animBg="1"/>
      <p:bldP spid="101" grpId="0" animBg="1"/>
      <p:bldP spid="10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 txBox="1">
            <a:spLocks noGrp="1"/>
          </p:cNvSpPr>
          <p:nvPr/>
        </p:nvSpPr>
        <p:spPr>
          <a:xfrm>
            <a:off x="0" y="123825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795" name="灯片编号占位符 5"/>
          <p:cNvSpPr txBox="1">
            <a:spLocks noGrp="1"/>
          </p:cNvSpPr>
          <p:nvPr/>
        </p:nvSpPr>
        <p:spPr>
          <a:xfrm>
            <a:off x="8604250" y="4892675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17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829" name="Text Box 297"/>
          <p:cNvSpPr txBox="1"/>
          <p:nvPr/>
        </p:nvSpPr>
        <p:spPr>
          <a:xfrm>
            <a:off x="323850" y="915353"/>
            <a:ext cx="8610600" cy="2157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多选题：下面描述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正确的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是（</a:t>
            </a: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A.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逻辑电路中竞争可以消除。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B.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功能险象无法被消除。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C.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两级</a:t>
            </a: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与或</a:t>
            </a: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电路可能出现静态</a:t>
            </a: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D.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动态险象只会出现在多级组合电路中，且由静态险象引起。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E.</a:t>
            </a:r>
            <a:r>
              <a:rPr lang="zh-CN" altLang="en-US" sz="17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静态险象的消除会导致电路成本和复杂度增加。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04210" y="915670"/>
            <a:ext cx="706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9" grpId="0"/>
      <p:bldP spid="33829" grpId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819" name="灯片编号占位符 5"/>
          <p:cNvSpPr txBox="1">
            <a:spLocks noGrp="1"/>
          </p:cNvSpPr>
          <p:nvPr/>
        </p:nvSpPr>
        <p:spPr>
          <a:xfrm>
            <a:off x="8711883" y="4947603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18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685800" y="530225"/>
            <a:ext cx="7772400" cy="4572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eaLnBrk="1" hangingPunct="1"/>
            <a:r>
              <a:rPr lang="zh-CN" altLang="en-US" sz="21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二、逻辑表达式判别法</a:t>
            </a:r>
          </a:p>
        </p:txBody>
      </p:sp>
      <p:sp>
        <p:nvSpPr>
          <p:cNvPr id="34821" name="Rectangle 4"/>
          <p:cNvSpPr>
            <a:spLocks noGrp="1"/>
          </p:cNvSpPr>
          <p:nvPr>
            <p:ph type="body"/>
          </p:nvPr>
        </p:nvSpPr>
        <p:spPr>
          <a:xfrm>
            <a:off x="685800" y="1311275"/>
            <a:ext cx="7771765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如果电路中存在出现险象的可能性，其逻辑表达式有如下特点：</a:t>
            </a:r>
          </a:p>
          <a:p>
            <a:pPr eaLnBrk="1" hangingPunct="1">
              <a:spcBef>
                <a:spcPct val="50000"/>
              </a:spcBef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9814" name="Text Box 8"/>
          <p:cNvSpPr txBox="1"/>
          <p:nvPr/>
        </p:nvSpPr>
        <p:spPr>
          <a:xfrm>
            <a:off x="815975" y="1943100"/>
            <a:ext cx="7716838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⑴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当某一变量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原变量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反变量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的形式出现在逻辑表达式中，则该变量就具备了竞争的条件。</a:t>
            </a:r>
          </a:p>
        </p:txBody>
      </p:sp>
      <p:sp>
        <p:nvSpPr>
          <p:cNvPr id="119815" name="Text Box 9"/>
          <p:cNvSpPr txBox="1"/>
          <p:nvPr/>
        </p:nvSpPr>
        <p:spPr>
          <a:xfrm>
            <a:off x="800100" y="2860675"/>
            <a:ext cx="7732713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⑵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保留被研究变量，消去其他变量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其他变量取某些固定值，这些固定值是被研究变量产生竞争的条件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sp>
        <p:nvSpPr>
          <p:cNvPr id="119816" name="Text Box 10"/>
          <p:cNvSpPr txBox="1"/>
          <p:nvPr/>
        </p:nvSpPr>
        <p:spPr>
          <a:xfrm>
            <a:off x="811530" y="4058920"/>
            <a:ext cx="807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⑶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若得到的表达式为下列形式之一，则有险象存在：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/>
      <p:bldP spid="119815" grpId="0"/>
      <p:bldP spid="1198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5843" name="灯片编号占位符 5"/>
          <p:cNvSpPr txBox="1">
            <a:spLocks noGrp="1"/>
          </p:cNvSpPr>
          <p:nvPr/>
        </p:nvSpPr>
        <p:spPr>
          <a:xfrm>
            <a:off x="8676323" y="4947603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19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4572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eaLnBrk="1" hangingPunct="1"/>
            <a:r>
              <a:rPr lang="zh-CN" altLang="en-US" sz="2200" b="1" dirty="0">
                <a:solidFill>
                  <a:srgbClr val="FF0000"/>
                </a:solidFill>
                <a:ea typeface="华文新魏" panose="02010800040101010101" pitchFamily="2" charset="-122"/>
              </a:rPr>
              <a:t>有险象存在的表达式形式</a:t>
            </a:r>
          </a:p>
        </p:txBody>
      </p:sp>
      <p:pic>
        <p:nvPicPr>
          <p:cNvPr id="11266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967105"/>
            <a:ext cx="6581775" cy="658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6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779588"/>
            <a:ext cx="6477000" cy="1584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6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463925"/>
            <a:ext cx="7753350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6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" y="4371975"/>
            <a:ext cx="7781925" cy="666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755650" y="4732020"/>
            <a:ext cx="5688330" cy="288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1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灯片编号占位符 5"/>
          <p:cNvSpPr txBox="1">
            <a:spLocks noGrp="1"/>
          </p:cNvSpPr>
          <p:nvPr/>
        </p:nvSpPr>
        <p:spPr>
          <a:xfrm>
            <a:off x="8676323" y="4947603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20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685800" y="328613"/>
            <a:ext cx="7772400" cy="5143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ea typeface="华文新魏" panose="02010800040101010101" pitchFamily="2" charset="-122"/>
              </a:rPr>
              <a:t>有险象存在的表达式形式</a:t>
            </a:r>
            <a:r>
              <a:rPr lang="en-US" altLang="zh-CN" sz="2000" b="1" dirty="0">
                <a:solidFill>
                  <a:srgbClr val="FF0000"/>
                </a:solidFill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ea typeface="华文新魏" panose="02010800040101010101" pitchFamily="2" charset="-122"/>
              </a:rPr>
              <a:t>续</a:t>
            </a:r>
            <a:r>
              <a:rPr lang="en-US" altLang="zh-CN" sz="2000" b="1" dirty="0">
                <a:solidFill>
                  <a:srgbClr val="FF0000"/>
                </a:solidFill>
                <a:ea typeface="华文新魏" panose="02010800040101010101" pitchFamily="2" charset="-122"/>
              </a:rPr>
              <a:t>)</a:t>
            </a:r>
          </a:p>
        </p:txBody>
      </p:sp>
      <p:pic>
        <p:nvPicPr>
          <p:cNvPr id="113686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05" y="861695"/>
            <a:ext cx="6245860" cy="342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87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085" y="1286510"/>
            <a:ext cx="6626860" cy="564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88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205" y="1955800"/>
            <a:ext cx="6697345" cy="615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89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450" y="2733675"/>
            <a:ext cx="6409055" cy="6305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92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450" y="3444875"/>
            <a:ext cx="4714875" cy="422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93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313" y="4064000"/>
            <a:ext cx="8296275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23850" y="4444365"/>
            <a:ext cx="6552565" cy="699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3DC7F-31C1-460D-BA44-28B14A9CE73F}"/>
              </a:ext>
            </a:extLst>
          </p:cNvPr>
          <p:cNvSpPr txBox="1"/>
          <p:nvPr/>
        </p:nvSpPr>
        <p:spPr>
          <a:xfrm>
            <a:off x="6372200" y="3651870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如何变换，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zh-CN" altLang="en-US" dirty="0">
                <a:solidFill>
                  <a:srgbClr val="0000FF"/>
                </a:solidFill>
              </a:rPr>
              <a:t>有险象？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1000"/>
                                        <p:tgtEl>
                                          <p:spTgt spid="11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7891" name="灯片编号占位符 5"/>
          <p:cNvSpPr txBox="1">
            <a:spLocks noGrp="1"/>
          </p:cNvSpPr>
          <p:nvPr/>
        </p:nvSpPr>
        <p:spPr>
          <a:xfrm>
            <a:off x="8675688" y="4947603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21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381000" y="490538"/>
            <a:ext cx="7772400" cy="857250"/>
          </a:xfrm>
          <a:solidFill>
            <a:srgbClr val="FFFFFF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eaLnBrk="1" hangingPunct="1"/>
            <a:r>
              <a:rPr lang="en-US" altLang="zh-CN" sz="2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3.4.4  </a:t>
            </a:r>
            <a:r>
              <a:rPr lang="zh-CN" altLang="en-US" sz="2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险象的消除</a:t>
            </a:r>
            <a:br>
              <a:rPr lang="zh-CN" altLang="en-US" sz="21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2100" b="1" dirty="0">
                <a:solidFill>
                  <a:schemeClr val="accent2"/>
                </a:solidFill>
              </a:rPr>
              <a:t>          </a:t>
            </a:r>
            <a:r>
              <a:rPr lang="en-US" altLang="zh-CN" sz="2100" b="1" i="1" dirty="0">
                <a:solidFill>
                  <a:schemeClr val="accent2"/>
                </a:solidFill>
              </a:rPr>
              <a:t>Designing Hazard-free circuit</a:t>
            </a:r>
          </a:p>
        </p:txBody>
      </p:sp>
      <p:sp>
        <p:nvSpPr>
          <p:cNvPr id="57349" name="Rectangle 4"/>
          <p:cNvSpPr>
            <a:spLocks noGrp="1"/>
          </p:cNvSpPr>
          <p:nvPr>
            <p:ph type="body"/>
          </p:nvPr>
        </p:nvSpPr>
        <p:spPr>
          <a:xfrm>
            <a:off x="452438" y="1304925"/>
            <a:ext cx="7935912" cy="10509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latinLnBrk="0" hangingPunct="1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schemeClr val="bg1"/>
                </a:solidFill>
              </a:rPr>
              <a:t>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消除险象的方法主要有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一、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增加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多余项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与项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或乘以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多余因子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或项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消除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逻辑险象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</a:p>
        </p:txBody>
      </p:sp>
      <p:graphicFrame>
        <p:nvGraphicFramePr>
          <p:cNvPr id="122886" name="Group 6"/>
          <p:cNvGraphicFramePr>
            <a:graphicFrameLocks noGrp="1"/>
          </p:cNvGraphicFramePr>
          <p:nvPr/>
        </p:nvGraphicFramePr>
        <p:xfrm>
          <a:off x="6308725" y="2551113"/>
          <a:ext cx="2133600" cy="144786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58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7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2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7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T="45699" marB="4569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921" name="Rectangle 82"/>
          <p:cNvSpPr/>
          <p:nvPr/>
        </p:nvSpPr>
        <p:spPr>
          <a:xfrm>
            <a:off x="7505700" y="2614613"/>
            <a:ext cx="762000" cy="2476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922" name="Rectangle 83"/>
          <p:cNvSpPr/>
          <p:nvPr/>
        </p:nvSpPr>
        <p:spPr>
          <a:xfrm>
            <a:off x="6991350" y="2986088"/>
            <a:ext cx="762000" cy="6286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7923" name="Group 113"/>
          <p:cNvGrpSpPr/>
          <p:nvPr/>
        </p:nvGrpSpPr>
        <p:grpSpPr>
          <a:xfrm>
            <a:off x="6172200" y="3371850"/>
            <a:ext cx="2362200" cy="628650"/>
            <a:chOff x="0" y="0"/>
            <a:chExt cx="1488" cy="528"/>
          </a:xfrm>
        </p:grpSpPr>
        <p:grpSp>
          <p:nvGrpSpPr>
            <p:cNvPr id="37978" name="Group 84"/>
            <p:cNvGrpSpPr/>
            <p:nvPr/>
          </p:nvGrpSpPr>
          <p:grpSpPr>
            <a:xfrm>
              <a:off x="0" y="0"/>
              <a:ext cx="336" cy="528"/>
              <a:chOff x="0" y="0"/>
              <a:chExt cx="336" cy="673"/>
            </a:xfrm>
          </p:grpSpPr>
          <p:sp>
            <p:nvSpPr>
              <p:cNvPr id="37983" name="Line 85"/>
              <p:cNvSpPr/>
              <p:nvPr/>
            </p:nvSpPr>
            <p:spPr>
              <a:xfrm>
                <a:off x="0" y="0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84" name="Line 86"/>
              <p:cNvSpPr/>
              <p:nvPr/>
            </p:nvSpPr>
            <p:spPr>
              <a:xfrm>
                <a:off x="0" y="67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85" name="Line 87"/>
              <p:cNvSpPr/>
              <p:nvPr/>
            </p:nvSpPr>
            <p:spPr>
              <a:xfrm>
                <a:off x="328" y="0"/>
                <a:ext cx="0" cy="673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979" name="Group 88"/>
            <p:cNvGrpSpPr/>
            <p:nvPr/>
          </p:nvGrpSpPr>
          <p:grpSpPr>
            <a:xfrm rot="10800000">
              <a:off x="1152" y="0"/>
              <a:ext cx="336" cy="528"/>
              <a:chOff x="0" y="0"/>
              <a:chExt cx="336" cy="673"/>
            </a:xfrm>
          </p:grpSpPr>
          <p:sp>
            <p:nvSpPr>
              <p:cNvPr id="37980" name="Line 89"/>
              <p:cNvSpPr/>
              <p:nvPr/>
            </p:nvSpPr>
            <p:spPr>
              <a:xfrm>
                <a:off x="0" y="0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81" name="Line 90"/>
              <p:cNvSpPr/>
              <p:nvPr/>
            </p:nvSpPr>
            <p:spPr>
              <a:xfrm>
                <a:off x="0" y="67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82" name="Line 91"/>
              <p:cNvSpPr/>
              <p:nvPr/>
            </p:nvSpPr>
            <p:spPr>
              <a:xfrm>
                <a:off x="328" y="0"/>
                <a:ext cx="0" cy="673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2924" name="Rectangle 93"/>
          <p:cNvSpPr/>
          <p:nvPr/>
        </p:nvSpPr>
        <p:spPr>
          <a:xfrm>
            <a:off x="6400800" y="3343275"/>
            <a:ext cx="1905000" cy="285750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925" name="Text Box 104"/>
          <p:cNvSpPr txBox="1"/>
          <p:nvPr/>
        </p:nvSpPr>
        <p:spPr>
          <a:xfrm>
            <a:off x="365125" y="2759075"/>
            <a:ext cx="184150" cy="3429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endParaRPr lang="en-US" altLang="zh-CN" sz="17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14727" name="Text Box 106"/>
          <p:cNvSpPr txBox="1"/>
          <p:nvPr/>
        </p:nvSpPr>
        <p:spPr>
          <a:xfrm>
            <a:off x="1258888" y="3236913"/>
            <a:ext cx="4114800" cy="8940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将相切的部分均用多余的卡诺圈包含起来，则可消除静态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险象，得到：</a:t>
            </a:r>
          </a:p>
        </p:txBody>
      </p:sp>
      <p:grpSp>
        <p:nvGrpSpPr>
          <p:cNvPr id="37927" name="Group 112"/>
          <p:cNvGrpSpPr/>
          <p:nvPr/>
        </p:nvGrpSpPr>
        <p:grpSpPr>
          <a:xfrm>
            <a:off x="5779770" y="2143125"/>
            <a:ext cx="1066800" cy="571500"/>
            <a:chOff x="0" y="0"/>
            <a:chExt cx="672" cy="480"/>
          </a:xfrm>
        </p:grpSpPr>
        <p:sp>
          <p:nvSpPr>
            <p:cNvPr id="37975" name="Text Box 108"/>
            <p:cNvSpPr txBox="1"/>
            <p:nvPr/>
          </p:nvSpPr>
          <p:spPr>
            <a:xfrm>
              <a:off x="240" y="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7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AB</a:t>
              </a:r>
            </a:p>
          </p:txBody>
        </p:sp>
        <p:sp>
          <p:nvSpPr>
            <p:cNvPr id="37976" name="Text Box 109"/>
            <p:cNvSpPr txBox="1"/>
            <p:nvPr/>
          </p:nvSpPr>
          <p:spPr>
            <a:xfrm>
              <a:off x="0" y="192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7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CD</a:t>
              </a:r>
            </a:p>
          </p:txBody>
        </p:sp>
        <p:sp>
          <p:nvSpPr>
            <p:cNvPr id="37977" name="Line 111"/>
            <p:cNvSpPr/>
            <p:nvPr/>
          </p:nvSpPr>
          <p:spPr>
            <a:xfrm>
              <a:off x="149" y="72"/>
              <a:ext cx="196" cy="288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36" name="Line 126"/>
          <p:cNvSpPr/>
          <p:nvPr/>
        </p:nvSpPr>
        <p:spPr>
          <a:xfrm>
            <a:off x="7410450" y="2914650"/>
            <a:ext cx="457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2937" name="Group 137"/>
          <p:cNvGrpSpPr/>
          <p:nvPr/>
        </p:nvGrpSpPr>
        <p:grpSpPr>
          <a:xfrm>
            <a:off x="6858000" y="3343275"/>
            <a:ext cx="1066800" cy="285750"/>
            <a:chOff x="0" y="0"/>
            <a:chExt cx="672" cy="240"/>
          </a:xfrm>
        </p:grpSpPr>
        <p:sp>
          <p:nvSpPr>
            <p:cNvPr id="37973" name="Line 130"/>
            <p:cNvSpPr/>
            <p:nvPr/>
          </p:nvSpPr>
          <p:spPr>
            <a:xfrm>
              <a:off x="0" y="0"/>
              <a:ext cx="0" cy="24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4" name="Line 131"/>
            <p:cNvSpPr/>
            <p:nvPr/>
          </p:nvSpPr>
          <p:spPr>
            <a:xfrm>
              <a:off x="672" y="0"/>
              <a:ext cx="0" cy="24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2940" name="Group 138"/>
          <p:cNvGrpSpPr/>
          <p:nvPr/>
        </p:nvGrpSpPr>
        <p:grpSpPr>
          <a:xfrm>
            <a:off x="7943850" y="2571750"/>
            <a:ext cx="457200" cy="1485900"/>
            <a:chOff x="0" y="0"/>
            <a:chExt cx="288" cy="1248"/>
          </a:xfrm>
        </p:grpSpPr>
        <p:sp>
          <p:nvSpPr>
            <p:cNvPr id="37971" name="Line 135"/>
            <p:cNvSpPr/>
            <p:nvPr/>
          </p:nvSpPr>
          <p:spPr>
            <a:xfrm>
              <a:off x="0" y="0"/>
              <a:ext cx="288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2" name="Line 136"/>
            <p:cNvSpPr/>
            <p:nvPr/>
          </p:nvSpPr>
          <p:spPr>
            <a:xfrm>
              <a:off x="0" y="1248"/>
              <a:ext cx="288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51" name="Rectangle 92"/>
          <p:cNvSpPr/>
          <p:nvPr/>
        </p:nvSpPr>
        <p:spPr>
          <a:xfrm>
            <a:off x="7467600" y="2614613"/>
            <a:ext cx="381000" cy="628650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2952" name="Group 141"/>
          <p:cNvGrpSpPr/>
          <p:nvPr/>
        </p:nvGrpSpPr>
        <p:grpSpPr>
          <a:xfrm>
            <a:off x="8058150" y="2457450"/>
            <a:ext cx="304800" cy="1714500"/>
            <a:chOff x="0" y="0"/>
            <a:chExt cx="192" cy="1440"/>
          </a:xfrm>
        </p:grpSpPr>
        <p:grpSp>
          <p:nvGrpSpPr>
            <p:cNvPr id="37963" name="Group 98"/>
            <p:cNvGrpSpPr/>
            <p:nvPr/>
          </p:nvGrpSpPr>
          <p:grpSpPr>
            <a:xfrm>
              <a:off x="0" y="0"/>
              <a:ext cx="192" cy="384"/>
              <a:chOff x="0" y="0"/>
              <a:chExt cx="288" cy="384"/>
            </a:xfrm>
          </p:grpSpPr>
          <p:sp>
            <p:nvSpPr>
              <p:cNvPr id="37968" name="Line 99"/>
              <p:cNvSpPr/>
              <p:nvPr/>
            </p:nvSpPr>
            <p:spPr>
              <a:xfrm>
                <a:off x="0" y="0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9" name="Line 100"/>
              <p:cNvSpPr/>
              <p:nvPr/>
            </p:nvSpPr>
            <p:spPr>
              <a:xfrm>
                <a:off x="288" y="0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70" name="Line 101"/>
              <p:cNvSpPr/>
              <p:nvPr/>
            </p:nvSpPr>
            <p:spPr>
              <a:xfrm>
                <a:off x="0" y="376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964" name="Group 94"/>
            <p:cNvGrpSpPr/>
            <p:nvPr/>
          </p:nvGrpSpPr>
          <p:grpSpPr>
            <a:xfrm rot="10800000">
              <a:off x="0" y="1056"/>
              <a:ext cx="192" cy="384"/>
              <a:chOff x="0" y="0"/>
              <a:chExt cx="288" cy="384"/>
            </a:xfrm>
          </p:grpSpPr>
          <p:sp>
            <p:nvSpPr>
              <p:cNvPr id="37965" name="Line 95"/>
              <p:cNvSpPr/>
              <p:nvPr/>
            </p:nvSpPr>
            <p:spPr>
              <a:xfrm>
                <a:off x="0" y="0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6" name="Line 96"/>
              <p:cNvSpPr/>
              <p:nvPr/>
            </p:nvSpPr>
            <p:spPr>
              <a:xfrm>
                <a:off x="288" y="0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7" name="Line 97"/>
              <p:cNvSpPr/>
              <p:nvPr/>
            </p:nvSpPr>
            <p:spPr>
              <a:xfrm>
                <a:off x="0" y="376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00B05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pic>
        <p:nvPicPr>
          <p:cNvPr id="114769" name="Pictur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913" y="2245360"/>
            <a:ext cx="3790950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770" name="Picture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8" y="4351338"/>
            <a:ext cx="6477000" cy="43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962" name="Rectangle 82"/>
          <p:cNvSpPr/>
          <p:nvPr/>
        </p:nvSpPr>
        <p:spPr>
          <a:xfrm>
            <a:off x="7524750" y="2625725"/>
            <a:ext cx="762000" cy="2476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buFont typeface="Arial" panose="020B0604020202020204" pitchFamily="34" charset="0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65570" y="1563370"/>
            <a:ext cx="2718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卡诺图有几个面相切？</a:t>
            </a:r>
            <a:endParaRPr lang="en-US" altLang="zh-CN" sz="18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哪些变量的交替面相切？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29455" y="818515"/>
            <a:ext cx="457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只能消除逻辑险象，不能消除功能险象！</a:t>
            </a:r>
          </a:p>
        </p:txBody>
      </p:sp>
      <p:sp>
        <p:nvSpPr>
          <p:cNvPr id="4" name="矩形 3"/>
          <p:cNvSpPr/>
          <p:nvPr/>
        </p:nvSpPr>
        <p:spPr>
          <a:xfrm>
            <a:off x="5796280" y="2139950"/>
            <a:ext cx="2952115" cy="208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2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2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14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4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4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1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uiExpand="1" build="p" animBg="1"/>
      <p:bldP spid="122924" grpId="0" bldLvl="0" animBg="1"/>
      <p:bldP spid="122951" grpId="0" bldLvl="0" animBg="1"/>
      <p:bldP spid="2" grpId="0"/>
      <p:bldP spid="2" grpId="1"/>
      <p:bldP spid="3" grpId="0"/>
      <p:bldP spid="3" grpId="1"/>
      <p:bldP spid="4" grpId="0" animBg="1"/>
      <p:bldP spid="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 txBox="1">
            <a:spLocks noGrp="1"/>
          </p:cNvSpPr>
          <p:nvPr/>
        </p:nvSpPr>
        <p:spPr>
          <a:xfrm>
            <a:off x="0" y="307975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8915" name="灯片编号占位符 5"/>
          <p:cNvSpPr txBox="1">
            <a:spLocks noGrp="1"/>
          </p:cNvSpPr>
          <p:nvPr/>
        </p:nvSpPr>
        <p:spPr>
          <a:xfrm>
            <a:off x="8675688" y="4947920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22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532765" y="574675"/>
            <a:ext cx="8077200" cy="6286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  <a:ea typeface="华文新魏" panose="02010800040101010101" pitchFamily="2" charset="-122"/>
              </a:rPr>
              <a:t>二、在输出端连接低通环节以减弱干扰</a:t>
            </a:r>
          </a:p>
        </p:txBody>
      </p:sp>
      <p:sp>
        <p:nvSpPr>
          <p:cNvPr id="37893" name="Rectangle 4"/>
          <p:cNvSpPr>
            <a:spLocks noGrp="1"/>
          </p:cNvSpPr>
          <p:nvPr>
            <p:ph type="body"/>
          </p:nvPr>
        </p:nvSpPr>
        <p:spPr>
          <a:xfrm>
            <a:off x="533400" y="1362710"/>
            <a:ext cx="8077200" cy="11252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latinLnBrk="0" hangingPunct="1">
              <a:lnSpc>
                <a:spcPct val="17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bg1"/>
                </a:solidFill>
              </a:rPr>
              <a:t>    </a:t>
            </a:r>
            <a:r>
              <a:rPr lang="zh-CN" altLang="en-US" sz="1800" b="1" dirty="0"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FF0000"/>
                </a:solidFill>
                <a:ea typeface="华文新魏" panose="02010800040101010101" pitchFamily="2" charset="-122"/>
              </a:rPr>
              <a:t>低通滤波电路</a:t>
            </a:r>
            <a:r>
              <a:rPr lang="zh-CN" altLang="en-US" sz="1800" b="1" dirty="0">
                <a:ea typeface="华文新魏" panose="02010800040101010101" pitchFamily="2" charset="-122"/>
              </a:rPr>
              <a:t>滤掉矮脉冲干扰，但将使输出变化的上升、下降沿增大，降低工作速度也使信号质量变坏。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endParaRPr lang="zh-CN" altLang="en-US" sz="1800" b="1" dirty="0">
              <a:ea typeface="华文新魏" panose="02010800040101010101" pitchFamily="2" charset="-122"/>
            </a:endParaRPr>
          </a:p>
        </p:txBody>
      </p:sp>
      <p:grpSp>
        <p:nvGrpSpPr>
          <p:cNvPr id="37894" name="Group 47"/>
          <p:cNvGrpSpPr/>
          <p:nvPr/>
        </p:nvGrpSpPr>
        <p:grpSpPr>
          <a:xfrm>
            <a:off x="441325" y="3419475"/>
            <a:ext cx="3359150" cy="628650"/>
            <a:chOff x="182" y="336"/>
            <a:chExt cx="2116" cy="528"/>
          </a:xfrm>
        </p:grpSpPr>
        <p:sp>
          <p:nvSpPr>
            <p:cNvPr id="38945" name="Rectangle 5"/>
            <p:cNvSpPr/>
            <p:nvPr/>
          </p:nvSpPr>
          <p:spPr>
            <a:xfrm>
              <a:off x="768" y="336"/>
              <a:ext cx="528" cy="14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6" name="Line 6"/>
            <p:cNvSpPr/>
            <p:nvPr/>
          </p:nvSpPr>
          <p:spPr>
            <a:xfrm>
              <a:off x="288" y="38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7" name="Line 7"/>
            <p:cNvSpPr/>
            <p:nvPr/>
          </p:nvSpPr>
          <p:spPr>
            <a:xfrm>
              <a:off x="288" y="816"/>
              <a:ext cx="17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8" name="Line 8"/>
            <p:cNvSpPr/>
            <p:nvPr/>
          </p:nvSpPr>
          <p:spPr>
            <a:xfrm>
              <a:off x="1296" y="384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9" name="Line 9"/>
            <p:cNvSpPr/>
            <p:nvPr/>
          </p:nvSpPr>
          <p:spPr>
            <a:xfrm>
              <a:off x="1776" y="384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0" name="Line 10"/>
            <p:cNvSpPr/>
            <p:nvPr/>
          </p:nvSpPr>
          <p:spPr>
            <a:xfrm>
              <a:off x="1776" y="6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1" name="Line 11"/>
            <p:cNvSpPr/>
            <p:nvPr/>
          </p:nvSpPr>
          <p:spPr>
            <a:xfrm>
              <a:off x="1680" y="528"/>
              <a:ext cx="19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2" name="Line 12"/>
            <p:cNvSpPr/>
            <p:nvPr/>
          </p:nvSpPr>
          <p:spPr>
            <a:xfrm>
              <a:off x="1680" y="624"/>
              <a:ext cx="19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3" name="Oval 13"/>
            <p:cNvSpPr/>
            <p:nvPr/>
          </p:nvSpPr>
          <p:spPr>
            <a:xfrm>
              <a:off x="240" y="3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54" name="Oval 14"/>
            <p:cNvSpPr/>
            <p:nvPr/>
          </p:nvSpPr>
          <p:spPr>
            <a:xfrm>
              <a:off x="240" y="7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55" name="Oval 15"/>
            <p:cNvSpPr/>
            <p:nvPr/>
          </p:nvSpPr>
          <p:spPr>
            <a:xfrm>
              <a:off x="2064" y="7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56" name="Oval 16"/>
            <p:cNvSpPr/>
            <p:nvPr/>
          </p:nvSpPr>
          <p:spPr>
            <a:xfrm>
              <a:off x="2064" y="3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57" name="Text Box 17"/>
            <p:cNvSpPr txBox="1"/>
            <p:nvPr/>
          </p:nvSpPr>
          <p:spPr>
            <a:xfrm>
              <a:off x="182" y="503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3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V1</a:t>
              </a:r>
            </a:p>
          </p:txBody>
        </p:sp>
        <p:sp>
          <p:nvSpPr>
            <p:cNvPr id="38958" name="Text Box 18"/>
            <p:cNvSpPr txBox="1"/>
            <p:nvPr/>
          </p:nvSpPr>
          <p:spPr>
            <a:xfrm>
              <a:off x="2006" y="503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3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V2</a:t>
              </a:r>
            </a:p>
          </p:txBody>
        </p:sp>
        <p:sp>
          <p:nvSpPr>
            <p:cNvPr id="38959" name="Text Box 19"/>
            <p:cNvSpPr txBox="1"/>
            <p:nvPr/>
          </p:nvSpPr>
          <p:spPr>
            <a:xfrm>
              <a:off x="950" y="455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3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38960" name="Text Box 20"/>
            <p:cNvSpPr txBox="1"/>
            <p:nvPr/>
          </p:nvSpPr>
          <p:spPr>
            <a:xfrm>
              <a:off x="1478" y="455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3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37895" name="Group 52"/>
          <p:cNvGrpSpPr/>
          <p:nvPr/>
        </p:nvGrpSpPr>
        <p:grpSpPr>
          <a:xfrm>
            <a:off x="4114800" y="2725738"/>
            <a:ext cx="4876800" cy="1771650"/>
            <a:chOff x="96" y="480"/>
            <a:chExt cx="3072" cy="1488"/>
          </a:xfrm>
        </p:grpSpPr>
        <p:sp>
          <p:nvSpPr>
            <p:cNvPr id="38920" name="Line 22"/>
            <p:cNvSpPr/>
            <p:nvPr/>
          </p:nvSpPr>
          <p:spPr>
            <a:xfrm>
              <a:off x="144" y="720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1" name="Line 23"/>
            <p:cNvSpPr/>
            <p:nvPr/>
          </p:nvSpPr>
          <p:spPr>
            <a:xfrm>
              <a:off x="720" y="480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2" name="Line 24"/>
            <p:cNvSpPr/>
            <p:nvPr/>
          </p:nvSpPr>
          <p:spPr>
            <a:xfrm>
              <a:off x="1296" y="72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3" name="Line 25"/>
            <p:cNvSpPr/>
            <p:nvPr/>
          </p:nvSpPr>
          <p:spPr>
            <a:xfrm>
              <a:off x="2400" y="48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4" name="Line 26"/>
            <p:cNvSpPr/>
            <p:nvPr/>
          </p:nvSpPr>
          <p:spPr>
            <a:xfrm>
              <a:off x="2304" y="720"/>
              <a:ext cx="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5" name="Line 27"/>
            <p:cNvSpPr/>
            <p:nvPr/>
          </p:nvSpPr>
          <p:spPr>
            <a:xfrm>
              <a:off x="1488" y="480"/>
              <a:ext cx="8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6" name="Line 28"/>
            <p:cNvSpPr/>
            <p:nvPr/>
          </p:nvSpPr>
          <p:spPr>
            <a:xfrm>
              <a:off x="2496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7" name="Line 29"/>
            <p:cNvSpPr/>
            <p:nvPr/>
          </p:nvSpPr>
          <p:spPr>
            <a:xfrm>
              <a:off x="2400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8" name="Line 30"/>
            <p:cNvSpPr/>
            <p:nvPr/>
          </p:nvSpPr>
          <p:spPr>
            <a:xfrm>
              <a:off x="2304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9" name="Line 31"/>
            <p:cNvSpPr/>
            <p:nvPr/>
          </p:nvSpPr>
          <p:spPr>
            <a:xfrm>
              <a:off x="1488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0" name="Line 32"/>
            <p:cNvSpPr/>
            <p:nvPr/>
          </p:nvSpPr>
          <p:spPr>
            <a:xfrm>
              <a:off x="1296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1" name="Line 33"/>
            <p:cNvSpPr/>
            <p:nvPr/>
          </p:nvSpPr>
          <p:spPr>
            <a:xfrm>
              <a:off x="720" y="48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2" name="Line 34"/>
            <p:cNvSpPr/>
            <p:nvPr/>
          </p:nvSpPr>
          <p:spPr>
            <a:xfrm>
              <a:off x="96" y="182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3" name="Line 35"/>
            <p:cNvSpPr/>
            <p:nvPr/>
          </p:nvSpPr>
          <p:spPr>
            <a:xfrm>
              <a:off x="2496" y="720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4" name="Line 36"/>
            <p:cNvSpPr/>
            <p:nvPr/>
          </p:nvSpPr>
          <p:spPr>
            <a:xfrm>
              <a:off x="720" y="720"/>
              <a:ext cx="0" cy="120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35" name="Freeform 37"/>
            <p:cNvSpPr/>
            <p:nvPr/>
          </p:nvSpPr>
          <p:spPr>
            <a:xfrm>
              <a:off x="720" y="1528"/>
              <a:ext cx="576" cy="296"/>
            </a:xfrm>
            <a:custGeom>
              <a:avLst/>
              <a:gdLst/>
              <a:ahLst/>
              <a:cxnLst>
                <a:cxn ang="0">
                  <a:pos x="0" y="296"/>
                </a:cxn>
                <a:cxn ang="0">
                  <a:pos x="48" y="152"/>
                </a:cxn>
                <a:cxn ang="0">
                  <a:pos x="192" y="56"/>
                </a:cxn>
                <a:cxn ang="0">
                  <a:pos x="384" y="8"/>
                </a:cxn>
                <a:cxn ang="0">
                  <a:pos x="576" y="8"/>
                </a:cxn>
              </a:cxnLst>
              <a:rect l="0" t="0" r="0" b="0"/>
              <a:pathLst>
                <a:path w="576" h="296">
                  <a:moveTo>
                    <a:pt x="0" y="296"/>
                  </a:moveTo>
                  <a:cubicBezTo>
                    <a:pt x="8" y="244"/>
                    <a:pt x="16" y="192"/>
                    <a:pt x="48" y="152"/>
                  </a:cubicBezTo>
                  <a:cubicBezTo>
                    <a:pt x="80" y="112"/>
                    <a:pt x="136" y="80"/>
                    <a:pt x="192" y="56"/>
                  </a:cubicBezTo>
                  <a:cubicBezTo>
                    <a:pt x="248" y="32"/>
                    <a:pt x="320" y="16"/>
                    <a:pt x="384" y="8"/>
                  </a:cubicBezTo>
                  <a:cubicBezTo>
                    <a:pt x="448" y="0"/>
                    <a:pt x="544" y="8"/>
                    <a:pt x="576" y="8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8"/>
            <p:cNvSpPr/>
            <p:nvPr/>
          </p:nvSpPr>
          <p:spPr>
            <a:xfrm>
              <a:off x="1296" y="720"/>
              <a:ext cx="0" cy="1248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37" name="Line 39"/>
            <p:cNvSpPr/>
            <p:nvPr/>
          </p:nvSpPr>
          <p:spPr>
            <a:xfrm>
              <a:off x="1488" y="720"/>
              <a:ext cx="0" cy="1248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38" name="Line 40"/>
            <p:cNvSpPr/>
            <p:nvPr/>
          </p:nvSpPr>
          <p:spPr>
            <a:xfrm>
              <a:off x="2304" y="684"/>
              <a:ext cx="0" cy="1248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39" name="Line 41"/>
            <p:cNvSpPr/>
            <p:nvPr/>
          </p:nvSpPr>
          <p:spPr>
            <a:xfrm>
              <a:off x="2400" y="720"/>
              <a:ext cx="0" cy="1248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40" name="Line 42"/>
            <p:cNvSpPr/>
            <p:nvPr/>
          </p:nvSpPr>
          <p:spPr>
            <a:xfrm>
              <a:off x="2496" y="720"/>
              <a:ext cx="0" cy="1248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38941" name="Freeform 43"/>
            <p:cNvSpPr/>
            <p:nvPr/>
          </p:nvSpPr>
          <p:spPr>
            <a:xfrm>
              <a:off x="1296" y="1524"/>
              <a:ext cx="1072" cy="176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96" y="152"/>
                </a:cxn>
                <a:cxn ang="0">
                  <a:pos x="192" y="152"/>
                </a:cxn>
                <a:cxn ang="0">
                  <a:pos x="240" y="56"/>
                </a:cxn>
                <a:cxn ang="0">
                  <a:pos x="288" y="8"/>
                </a:cxn>
                <a:cxn ang="0">
                  <a:pos x="384" y="8"/>
                </a:cxn>
                <a:cxn ang="0">
                  <a:pos x="1008" y="8"/>
                </a:cxn>
                <a:cxn ang="0">
                  <a:pos x="768" y="8"/>
                </a:cxn>
                <a:cxn ang="0">
                  <a:pos x="960" y="8"/>
                </a:cxn>
              </a:cxnLst>
              <a:rect l="0" t="0" r="0" b="0"/>
              <a:pathLst>
                <a:path w="1072" h="176">
                  <a:moveTo>
                    <a:pt x="0" y="8"/>
                  </a:moveTo>
                  <a:cubicBezTo>
                    <a:pt x="32" y="68"/>
                    <a:pt x="64" y="128"/>
                    <a:pt x="96" y="152"/>
                  </a:cubicBezTo>
                  <a:cubicBezTo>
                    <a:pt x="128" y="176"/>
                    <a:pt x="168" y="168"/>
                    <a:pt x="192" y="152"/>
                  </a:cubicBezTo>
                  <a:cubicBezTo>
                    <a:pt x="216" y="136"/>
                    <a:pt x="224" y="80"/>
                    <a:pt x="240" y="56"/>
                  </a:cubicBezTo>
                  <a:cubicBezTo>
                    <a:pt x="256" y="32"/>
                    <a:pt x="264" y="16"/>
                    <a:pt x="288" y="8"/>
                  </a:cubicBezTo>
                  <a:cubicBezTo>
                    <a:pt x="312" y="0"/>
                    <a:pt x="264" y="8"/>
                    <a:pt x="384" y="8"/>
                  </a:cubicBezTo>
                  <a:cubicBezTo>
                    <a:pt x="504" y="8"/>
                    <a:pt x="944" y="8"/>
                    <a:pt x="1008" y="8"/>
                  </a:cubicBezTo>
                  <a:cubicBezTo>
                    <a:pt x="1072" y="8"/>
                    <a:pt x="776" y="8"/>
                    <a:pt x="768" y="8"/>
                  </a:cubicBezTo>
                  <a:cubicBezTo>
                    <a:pt x="760" y="8"/>
                    <a:pt x="860" y="8"/>
                    <a:pt x="960" y="8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Freeform 44"/>
            <p:cNvSpPr/>
            <p:nvPr/>
          </p:nvSpPr>
          <p:spPr>
            <a:xfrm>
              <a:off x="2301" y="1542"/>
              <a:ext cx="106" cy="1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" y="117"/>
                </a:cxn>
              </a:cxnLst>
              <a:rect l="0" t="0" r="0" b="0"/>
              <a:pathLst>
                <a:path w="106" h="117">
                  <a:moveTo>
                    <a:pt x="0" y="0"/>
                  </a:moveTo>
                  <a:cubicBezTo>
                    <a:pt x="18" y="54"/>
                    <a:pt x="30" y="117"/>
                    <a:pt x="106" y="117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Freeform 50"/>
            <p:cNvSpPr/>
            <p:nvPr/>
          </p:nvSpPr>
          <p:spPr>
            <a:xfrm>
              <a:off x="2496" y="1536"/>
              <a:ext cx="672" cy="2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40"/>
                </a:cxn>
                <a:cxn ang="0">
                  <a:pos x="1" y="288"/>
                </a:cxn>
                <a:cxn ang="0">
                  <a:pos x="1" y="288"/>
                </a:cxn>
              </a:cxnLst>
              <a:rect l="0" t="0" r="0" b="0"/>
              <a:pathLst>
                <a:path w="912" h="296">
                  <a:moveTo>
                    <a:pt x="0" y="0"/>
                  </a:moveTo>
                  <a:cubicBezTo>
                    <a:pt x="52" y="96"/>
                    <a:pt x="104" y="192"/>
                    <a:pt x="192" y="240"/>
                  </a:cubicBezTo>
                  <a:cubicBezTo>
                    <a:pt x="280" y="288"/>
                    <a:pt x="408" y="280"/>
                    <a:pt x="528" y="288"/>
                  </a:cubicBezTo>
                  <a:cubicBezTo>
                    <a:pt x="648" y="296"/>
                    <a:pt x="848" y="288"/>
                    <a:pt x="912" y="288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Freeform 51"/>
            <p:cNvSpPr/>
            <p:nvPr/>
          </p:nvSpPr>
          <p:spPr>
            <a:xfrm>
              <a:off x="2400" y="1536"/>
              <a:ext cx="96" cy="144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8" y="48"/>
                </a:cxn>
                <a:cxn ang="0">
                  <a:pos x="96" y="0"/>
                </a:cxn>
              </a:cxnLst>
              <a:rect l="0" t="0" r="0" b="0"/>
              <a:pathLst>
                <a:path w="96" h="144">
                  <a:moveTo>
                    <a:pt x="0" y="144"/>
                  </a:moveTo>
                  <a:cubicBezTo>
                    <a:pt x="16" y="108"/>
                    <a:pt x="32" y="72"/>
                    <a:pt x="48" y="48"/>
                  </a:cubicBezTo>
                  <a:cubicBezTo>
                    <a:pt x="64" y="24"/>
                    <a:pt x="88" y="8"/>
                    <a:pt x="96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 Box 17"/>
          <p:cNvSpPr txBox="1"/>
          <p:nvPr/>
        </p:nvSpPr>
        <p:spPr>
          <a:xfrm>
            <a:off x="3797300" y="2812494"/>
            <a:ext cx="463550" cy="27503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300" b="1" dirty="0">
                <a:solidFill>
                  <a:schemeClr val="tx1"/>
                </a:solidFill>
                <a:latin typeface="Arial" panose="020B0604020202020204" pitchFamily="34" charset="0"/>
              </a:rPr>
              <a:t>V1</a:t>
            </a:r>
          </a:p>
        </p:txBody>
      </p:sp>
      <p:sp>
        <p:nvSpPr>
          <p:cNvPr id="3" name="Text Box 17"/>
          <p:cNvSpPr txBox="1"/>
          <p:nvPr/>
        </p:nvSpPr>
        <p:spPr>
          <a:xfrm>
            <a:off x="3780790" y="4087574"/>
            <a:ext cx="384810" cy="2705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1300" b="1" dirty="0">
                <a:solidFill>
                  <a:schemeClr val="tx1"/>
                </a:solidFill>
                <a:latin typeface="Arial" panose="020B0604020202020204" pitchFamily="34" charset="0"/>
              </a:rPr>
              <a:t>V2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98115" y="4675505"/>
            <a:ext cx="2809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注意选择合适的</a:t>
            </a:r>
            <a:r>
              <a:rPr lang="en-US" altLang="zh-CN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参数！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ldLvl="0" animBg="1"/>
      <p:bldP spid="37893" grpId="0" build="p" animBg="1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15:06:48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9939" name="灯片编号占位符 5"/>
          <p:cNvSpPr txBox="1">
            <a:spLocks noGrp="1"/>
          </p:cNvSpPr>
          <p:nvPr/>
        </p:nvSpPr>
        <p:spPr>
          <a:xfrm>
            <a:off x="8675688" y="500030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 dirty="0">
                <a:solidFill>
                  <a:schemeClr val="tx1"/>
                </a:solidFill>
                <a:latin typeface="Calibri" panose="020F0502020204030204" pitchFamily="34" charset="0"/>
              </a:rPr>
              <a:t>23</a:t>
            </a:fld>
            <a:endParaRPr lang="en-US" altLang="zh-CN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685800" y="430213"/>
            <a:ext cx="7759700" cy="628650"/>
          </a:xfrm>
          <a:solidFill>
            <a:srgbClr val="FFFFFF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eaLnBrk="1" hangingPunct="1"/>
            <a:r>
              <a:rPr lang="zh-CN" altLang="en-US" sz="2100" b="1" dirty="0">
                <a:solidFill>
                  <a:srgbClr val="FF0000"/>
                </a:solidFill>
                <a:ea typeface="华文新魏" panose="02010800040101010101" pitchFamily="2" charset="-122"/>
              </a:rPr>
              <a:t>三、利用取样脉冲避开险象</a:t>
            </a:r>
          </a:p>
        </p:txBody>
      </p:sp>
      <p:sp>
        <p:nvSpPr>
          <p:cNvPr id="38917" name="Rectangle 4"/>
          <p:cNvSpPr>
            <a:spLocks noGrp="1"/>
          </p:cNvSpPr>
          <p:nvPr>
            <p:ph type="body"/>
          </p:nvPr>
        </p:nvSpPr>
        <p:spPr>
          <a:xfrm>
            <a:off x="600710" y="3160395"/>
            <a:ext cx="4548505" cy="423545"/>
          </a:xfrm>
          <a:prstGeom prst="rect">
            <a:avLst/>
          </a:prstGeom>
          <a:solidFill>
            <a:srgbClr val="FFFFFF"/>
          </a:solidFill>
          <a:ln w="9525" cap="flat" cmpd="sng">
            <a:noFill/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7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改电平控制为脉冲控制。</a:t>
            </a:r>
          </a:p>
        </p:txBody>
      </p:sp>
      <p:grpSp>
        <p:nvGrpSpPr>
          <p:cNvPr id="38918" name="Group 145"/>
          <p:cNvGrpSpPr/>
          <p:nvPr/>
        </p:nvGrpSpPr>
        <p:grpSpPr>
          <a:xfrm>
            <a:off x="5676900" y="846138"/>
            <a:ext cx="2443163" cy="1782762"/>
            <a:chOff x="72" y="134"/>
            <a:chExt cx="1539" cy="1498"/>
          </a:xfrm>
        </p:grpSpPr>
        <p:sp>
          <p:nvSpPr>
            <p:cNvPr id="40011" name="Freeform 31"/>
            <p:cNvSpPr/>
            <p:nvPr/>
          </p:nvSpPr>
          <p:spPr>
            <a:xfrm>
              <a:off x="371" y="176"/>
              <a:ext cx="1192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8" y="0"/>
                </a:cxn>
                <a:cxn ang="0">
                  <a:pos x="528" y="192"/>
                </a:cxn>
                <a:cxn ang="0">
                  <a:pos x="1192" y="192"/>
                </a:cxn>
              </a:cxnLst>
              <a:rect l="0" t="0" r="0" b="0"/>
              <a:pathLst>
                <a:path w="1192" h="192">
                  <a:moveTo>
                    <a:pt x="0" y="0"/>
                  </a:moveTo>
                  <a:lnTo>
                    <a:pt x="528" y="0"/>
                  </a:lnTo>
                  <a:lnTo>
                    <a:pt x="528" y="192"/>
                  </a:lnTo>
                  <a:lnTo>
                    <a:pt x="1192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2" name="Freeform 32"/>
            <p:cNvSpPr/>
            <p:nvPr/>
          </p:nvSpPr>
          <p:spPr>
            <a:xfrm>
              <a:off x="400" y="480"/>
              <a:ext cx="1184" cy="193"/>
            </a:xfrm>
            <a:custGeom>
              <a:avLst/>
              <a:gdLst/>
              <a:ahLst/>
              <a:cxnLst>
                <a:cxn ang="0">
                  <a:pos x="0" y="11962"/>
                </a:cxn>
                <a:cxn ang="0">
                  <a:pos x="632" y="11962"/>
                </a:cxn>
                <a:cxn ang="0">
                  <a:pos x="632" y="0"/>
                </a:cxn>
                <a:cxn ang="0">
                  <a:pos x="1184" y="0"/>
                </a:cxn>
              </a:cxnLst>
              <a:rect l="0" t="0" r="0" b="0"/>
              <a:pathLst>
                <a:path w="1184" h="160">
                  <a:moveTo>
                    <a:pt x="0" y="160"/>
                  </a:moveTo>
                  <a:lnTo>
                    <a:pt x="632" y="160"/>
                  </a:lnTo>
                  <a:lnTo>
                    <a:pt x="632" y="0"/>
                  </a:lnTo>
                  <a:lnTo>
                    <a:pt x="118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3" name="Line 33"/>
            <p:cNvSpPr/>
            <p:nvPr/>
          </p:nvSpPr>
          <p:spPr>
            <a:xfrm>
              <a:off x="899" y="288"/>
              <a:ext cx="13" cy="1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14" name="Line 34"/>
            <p:cNvSpPr/>
            <p:nvPr/>
          </p:nvSpPr>
          <p:spPr>
            <a:xfrm>
              <a:off x="1040" y="540"/>
              <a:ext cx="1" cy="10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15" name="Line 35"/>
            <p:cNvSpPr/>
            <p:nvPr/>
          </p:nvSpPr>
          <p:spPr>
            <a:xfrm flipH="1">
              <a:off x="1176" y="960"/>
              <a:ext cx="3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16" name="Line 36"/>
            <p:cNvSpPr/>
            <p:nvPr/>
          </p:nvSpPr>
          <p:spPr>
            <a:xfrm flipH="1">
              <a:off x="1320" y="1105"/>
              <a:ext cx="0" cy="5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17" name="Freeform 37"/>
            <p:cNvSpPr/>
            <p:nvPr/>
          </p:nvSpPr>
          <p:spPr>
            <a:xfrm>
              <a:off x="403" y="792"/>
              <a:ext cx="1208" cy="1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6" y="0"/>
                </a:cxn>
                <a:cxn ang="0">
                  <a:pos x="776" y="36926"/>
                </a:cxn>
                <a:cxn ang="0">
                  <a:pos x="1208" y="36926"/>
                </a:cxn>
              </a:cxnLst>
              <a:rect l="0" t="0" r="0" b="0"/>
              <a:pathLst>
                <a:path w="1208" h="152">
                  <a:moveTo>
                    <a:pt x="0" y="0"/>
                  </a:moveTo>
                  <a:lnTo>
                    <a:pt x="776" y="0"/>
                  </a:lnTo>
                  <a:lnTo>
                    <a:pt x="776" y="152"/>
                  </a:lnTo>
                  <a:lnTo>
                    <a:pt x="1208" y="15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Text Box 40"/>
            <p:cNvSpPr txBox="1"/>
            <p:nvPr/>
          </p:nvSpPr>
          <p:spPr>
            <a:xfrm>
              <a:off x="108" y="13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0019" name="Text Box 41"/>
            <p:cNvSpPr txBox="1"/>
            <p:nvPr/>
          </p:nvSpPr>
          <p:spPr>
            <a:xfrm>
              <a:off x="113" y="439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0020" name="Text Box 42"/>
            <p:cNvSpPr txBox="1"/>
            <p:nvPr/>
          </p:nvSpPr>
          <p:spPr>
            <a:xfrm>
              <a:off x="72" y="758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40021" name="Text Box 43"/>
            <p:cNvSpPr txBox="1"/>
            <p:nvPr/>
          </p:nvSpPr>
          <p:spPr>
            <a:xfrm>
              <a:off x="72" y="1008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40022" name="Text Box 44"/>
            <p:cNvSpPr txBox="1"/>
            <p:nvPr/>
          </p:nvSpPr>
          <p:spPr>
            <a:xfrm>
              <a:off x="122" y="1296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40023" name="Line 133"/>
            <p:cNvSpPr/>
            <p:nvPr/>
          </p:nvSpPr>
          <p:spPr>
            <a:xfrm>
              <a:off x="156" y="468"/>
              <a:ext cx="1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4" name="Freeform 134"/>
            <p:cNvSpPr/>
            <p:nvPr/>
          </p:nvSpPr>
          <p:spPr>
            <a:xfrm>
              <a:off x="408" y="1103"/>
              <a:ext cx="1184" cy="193"/>
            </a:xfrm>
            <a:custGeom>
              <a:avLst/>
              <a:gdLst/>
              <a:ahLst/>
              <a:cxnLst>
                <a:cxn ang="0">
                  <a:pos x="0" y="11962"/>
                </a:cxn>
                <a:cxn ang="0">
                  <a:pos x="632" y="11962"/>
                </a:cxn>
                <a:cxn ang="0">
                  <a:pos x="632" y="0"/>
                </a:cxn>
                <a:cxn ang="0">
                  <a:pos x="1184" y="0"/>
                </a:cxn>
              </a:cxnLst>
              <a:rect l="0" t="0" r="0" b="0"/>
              <a:pathLst>
                <a:path w="1184" h="160">
                  <a:moveTo>
                    <a:pt x="0" y="160"/>
                  </a:moveTo>
                  <a:lnTo>
                    <a:pt x="632" y="160"/>
                  </a:lnTo>
                  <a:lnTo>
                    <a:pt x="632" y="0"/>
                  </a:lnTo>
                  <a:lnTo>
                    <a:pt x="118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5" name="Line 136"/>
            <p:cNvSpPr/>
            <p:nvPr/>
          </p:nvSpPr>
          <p:spPr>
            <a:xfrm>
              <a:off x="408" y="1392"/>
              <a:ext cx="76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6" name="Line 140"/>
            <p:cNvSpPr/>
            <p:nvPr/>
          </p:nvSpPr>
          <p:spPr>
            <a:xfrm>
              <a:off x="1176" y="1392"/>
              <a:ext cx="0" cy="1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7" name="Line 142"/>
            <p:cNvSpPr/>
            <p:nvPr/>
          </p:nvSpPr>
          <p:spPr>
            <a:xfrm>
              <a:off x="1320" y="1392"/>
              <a:ext cx="0" cy="1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8" name="Line 143"/>
            <p:cNvSpPr/>
            <p:nvPr/>
          </p:nvSpPr>
          <p:spPr>
            <a:xfrm>
              <a:off x="1164" y="1584"/>
              <a:ext cx="15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9" name="Line 144"/>
            <p:cNvSpPr/>
            <p:nvPr/>
          </p:nvSpPr>
          <p:spPr>
            <a:xfrm>
              <a:off x="1322" y="1392"/>
              <a:ext cx="23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19" name="Group 163"/>
          <p:cNvGrpSpPr/>
          <p:nvPr/>
        </p:nvGrpSpPr>
        <p:grpSpPr>
          <a:xfrm>
            <a:off x="464185" y="1075055"/>
            <a:ext cx="4073525" cy="2012950"/>
            <a:chOff x="0" y="86"/>
            <a:chExt cx="2566" cy="1690"/>
          </a:xfrm>
        </p:grpSpPr>
        <p:sp>
          <p:nvSpPr>
            <p:cNvPr id="39968" name="Line 13"/>
            <p:cNvSpPr/>
            <p:nvPr/>
          </p:nvSpPr>
          <p:spPr>
            <a:xfrm>
              <a:off x="207" y="239"/>
              <a:ext cx="100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Line 14"/>
            <p:cNvSpPr/>
            <p:nvPr/>
          </p:nvSpPr>
          <p:spPr>
            <a:xfrm>
              <a:off x="983" y="468"/>
              <a:ext cx="2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0" name="Line 15"/>
            <p:cNvSpPr/>
            <p:nvPr/>
          </p:nvSpPr>
          <p:spPr>
            <a:xfrm>
              <a:off x="245" y="480"/>
              <a:ext cx="379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1" name="Freeform 17"/>
            <p:cNvSpPr/>
            <p:nvPr/>
          </p:nvSpPr>
          <p:spPr>
            <a:xfrm>
              <a:off x="1056" y="360"/>
              <a:ext cx="183" cy="1128"/>
            </a:xfrm>
            <a:custGeom>
              <a:avLst/>
              <a:gdLst/>
              <a:ahLst/>
              <a:cxnLst>
                <a:cxn ang="0">
                  <a:pos x="3501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0" b="0"/>
              <a:pathLst>
                <a:path w="160" h="1736">
                  <a:moveTo>
                    <a:pt x="160" y="0"/>
                  </a:moveTo>
                  <a:lnTo>
                    <a:pt x="0" y="0"/>
                  </a:lnTo>
                  <a:lnTo>
                    <a:pt x="0" y="1736"/>
                  </a:lnTo>
                </a:path>
              </a:pathLst>
            </a:custGeom>
            <a:noFill/>
            <a:ln w="952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2" name="Freeform 20"/>
            <p:cNvSpPr/>
            <p:nvPr/>
          </p:nvSpPr>
          <p:spPr>
            <a:xfrm>
              <a:off x="895" y="1536"/>
              <a:ext cx="353" cy="19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0" b="0"/>
              <a:pathLst>
                <a:path w="752" h="256">
                  <a:moveTo>
                    <a:pt x="0" y="256"/>
                  </a:moveTo>
                  <a:lnTo>
                    <a:pt x="240" y="256"/>
                  </a:lnTo>
                  <a:lnTo>
                    <a:pt x="240" y="0"/>
                  </a:lnTo>
                  <a:lnTo>
                    <a:pt x="496" y="0"/>
                  </a:lnTo>
                  <a:lnTo>
                    <a:pt x="496" y="256"/>
                  </a:lnTo>
                  <a:lnTo>
                    <a:pt x="752" y="256"/>
                  </a:lnTo>
                </a:path>
              </a:pathLst>
            </a:custGeom>
            <a:noFill/>
            <a:ln w="952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3" name="Text Box 24"/>
            <p:cNvSpPr txBox="1"/>
            <p:nvPr/>
          </p:nvSpPr>
          <p:spPr>
            <a:xfrm>
              <a:off x="8" y="86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974" name="Text Box 25"/>
            <p:cNvSpPr txBox="1"/>
            <p:nvPr/>
          </p:nvSpPr>
          <p:spPr>
            <a:xfrm>
              <a:off x="17" y="336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975" name="Text Box 26"/>
            <p:cNvSpPr txBox="1"/>
            <p:nvPr/>
          </p:nvSpPr>
          <p:spPr>
            <a:xfrm>
              <a:off x="0" y="100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9976" name="Text Box 27"/>
            <p:cNvSpPr txBox="1"/>
            <p:nvPr/>
          </p:nvSpPr>
          <p:spPr>
            <a:xfrm>
              <a:off x="2352" y="543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9977" name="Text Box 28"/>
            <p:cNvSpPr txBox="1"/>
            <p:nvPr/>
          </p:nvSpPr>
          <p:spPr>
            <a:xfrm>
              <a:off x="1512" y="111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39978" name="Text Box 29"/>
            <p:cNvSpPr txBox="1"/>
            <p:nvPr/>
          </p:nvSpPr>
          <p:spPr>
            <a:xfrm>
              <a:off x="1540" y="1056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39979" name="Text Box 30"/>
            <p:cNvSpPr txBox="1"/>
            <p:nvPr/>
          </p:nvSpPr>
          <p:spPr>
            <a:xfrm>
              <a:off x="624" y="1526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rgbClr val="FF3300"/>
                  </a:solidFill>
                  <a:latin typeface="Arial" panose="020B0604020202020204" pitchFamily="34" charset="0"/>
                </a:rPr>
                <a:t>SP</a:t>
              </a:r>
            </a:p>
          </p:txBody>
        </p:sp>
        <p:sp>
          <p:nvSpPr>
            <p:cNvPr id="39980" name="Oval 65"/>
            <p:cNvSpPr/>
            <p:nvPr/>
          </p:nvSpPr>
          <p:spPr>
            <a:xfrm>
              <a:off x="1032" y="1032"/>
              <a:ext cx="48" cy="48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9981" name="Group 104"/>
            <p:cNvGrpSpPr/>
            <p:nvPr/>
          </p:nvGrpSpPr>
          <p:grpSpPr>
            <a:xfrm>
              <a:off x="1776" y="480"/>
              <a:ext cx="356" cy="384"/>
              <a:chOff x="0" y="0"/>
              <a:chExt cx="356" cy="384"/>
            </a:xfrm>
          </p:grpSpPr>
          <p:sp>
            <p:nvSpPr>
              <p:cNvPr id="40007" name="Oval 12"/>
              <p:cNvSpPr/>
              <p:nvPr/>
            </p:nvSpPr>
            <p:spPr>
              <a:xfrm>
                <a:off x="288" y="156"/>
                <a:ext cx="68" cy="6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0008" name="Group 88"/>
              <p:cNvGrpSpPr/>
              <p:nvPr/>
            </p:nvGrpSpPr>
            <p:grpSpPr>
              <a:xfrm>
                <a:off x="0" y="0"/>
                <a:ext cx="321" cy="384"/>
                <a:chOff x="0" y="0"/>
                <a:chExt cx="321" cy="384"/>
              </a:xfrm>
            </p:grpSpPr>
            <p:sp>
              <p:nvSpPr>
                <p:cNvPr id="40009" name="Rectangle 89"/>
                <p:cNvSpPr/>
                <p:nvPr/>
              </p:nvSpPr>
              <p:spPr>
                <a:xfrm>
                  <a:off x="0" y="0"/>
                  <a:ext cx="288" cy="384"/>
                </a:xfrm>
                <a:prstGeom prst="rect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90000"/>
                    </a:lnSpc>
                    <a:buFont typeface="Arial" panose="020B0604020202020204" pitchFamily="34" charset="0"/>
                  </a:pPr>
                  <a:endParaRPr lang="zh-CN" altLang="en-US" sz="1500" b="1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0" name="Text Box 90"/>
                <p:cNvSpPr txBox="1"/>
                <p:nvPr/>
              </p:nvSpPr>
              <p:spPr>
                <a:xfrm>
                  <a:off x="37" y="75"/>
                  <a:ext cx="284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lnSpc>
                      <a:spcPct val="90000"/>
                    </a:lnSpc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13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&amp;</a:t>
                  </a:r>
                  <a:endPara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9982" name="Group 115"/>
            <p:cNvGrpSpPr/>
            <p:nvPr/>
          </p:nvGrpSpPr>
          <p:grpSpPr>
            <a:xfrm>
              <a:off x="624" y="288"/>
              <a:ext cx="356" cy="384"/>
              <a:chOff x="0" y="0"/>
              <a:chExt cx="356" cy="384"/>
            </a:xfrm>
          </p:grpSpPr>
          <p:sp>
            <p:nvSpPr>
              <p:cNvPr id="40003" name="Oval 116"/>
              <p:cNvSpPr/>
              <p:nvPr/>
            </p:nvSpPr>
            <p:spPr>
              <a:xfrm>
                <a:off x="288" y="156"/>
                <a:ext cx="68" cy="6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0004" name="Group 117"/>
              <p:cNvGrpSpPr/>
              <p:nvPr/>
            </p:nvGrpSpPr>
            <p:grpSpPr>
              <a:xfrm>
                <a:off x="0" y="0"/>
                <a:ext cx="321" cy="384"/>
                <a:chOff x="0" y="0"/>
                <a:chExt cx="321" cy="384"/>
              </a:xfrm>
            </p:grpSpPr>
            <p:sp>
              <p:nvSpPr>
                <p:cNvPr id="40005" name="Rectangle 118"/>
                <p:cNvSpPr/>
                <p:nvPr/>
              </p:nvSpPr>
              <p:spPr>
                <a:xfrm>
                  <a:off x="0" y="0"/>
                  <a:ext cx="288" cy="384"/>
                </a:xfrm>
                <a:prstGeom prst="rect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90000"/>
                    </a:lnSpc>
                    <a:buFont typeface="Arial" panose="020B0604020202020204" pitchFamily="34" charset="0"/>
                  </a:pPr>
                  <a:endParaRPr lang="zh-CN" altLang="en-US" sz="1500" b="1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6" name="Text Box 119"/>
                <p:cNvSpPr txBox="1"/>
                <p:nvPr/>
              </p:nvSpPr>
              <p:spPr>
                <a:xfrm>
                  <a:off x="37" y="75"/>
                  <a:ext cx="284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lnSpc>
                      <a:spcPct val="90000"/>
                    </a:lnSpc>
                    <a:spcBef>
                      <a:spcPct val="50000"/>
                    </a:spcBef>
                    <a:buFont typeface="Arial" panose="020B0604020202020204" pitchFamily="34" charset="0"/>
                  </a:pPr>
                  <a:r>
                    <a:rPr lang="en-US" altLang="zh-CN" sz="13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&amp;</a:t>
                  </a:r>
                  <a:endPara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39983" name="Line 120"/>
            <p:cNvSpPr/>
            <p:nvPr/>
          </p:nvSpPr>
          <p:spPr>
            <a:xfrm flipV="1">
              <a:off x="1057" y="1056"/>
              <a:ext cx="143" cy="1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4" name="Oval 121"/>
            <p:cNvSpPr/>
            <p:nvPr/>
          </p:nvSpPr>
          <p:spPr>
            <a:xfrm>
              <a:off x="450" y="45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5" name="Line 122"/>
            <p:cNvSpPr/>
            <p:nvPr/>
          </p:nvSpPr>
          <p:spPr>
            <a:xfrm>
              <a:off x="473" y="480"/>
              <a:ext cx="0" cy="4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6" name="Line 123"/>
            <p:cNvSpPr/>
            <p:nvPr/>
          </p:nvSpPr>
          <p:spPr>
            <a:xfrm>
              <a:off x="470" y="96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7" name="Line 124"/>
            <p:cNvSpPr/>
            <p:nvPr/>
          </p:nvSpPr>
          <p:spPr>
            <a:xfrm>
              <a:off x="192" y="1151"/>
              <a:ext cx="100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8" name="Line 125"/>
            <p:cNvSpPr/>
            <p:nvPr/>
          </p:nvSpPr>
          <p:spPr>
            <a:xfrm>
              <a:off x="1548" y="336"/>
              <a:ext cx="8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9" name="Line 126"/>
            <p:cNvSpPr/>
            <p:nvPr/>
          </p:nvSpPr>
          <p:spPr>
            <a:xfrm>
              <a:off x="1631" y="337"/>
              <a:ext cx="1" cy="2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Line 127"/>
            <p:cNvSpPr/>
            <p:nvPr/>
          </p:nvSpPr>
          <p:spPr>
            <a:xfrm>
              <a:off x="1632" y="5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1" name="Line 128"/>
            <p:cNvSpPr/>
            <p:nvPr/>
          </p:nvSpPr>
          <p:spPr>
            <a:xfrm>
              <a:off x="1632" y="76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2" name="Line 129"/>
            <p:cNvSpPr/>
            <p:nvPr/>
          </p:nvSpPr>
          <p:spPr>
            <a:xfrm>
              <a:off x="1632" y="76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3" name="Line 130"/>
            <p:cNvSpPr/>
            <p:nvPr/>
          </p:nvSpPr>
          <p:spPr>
            <a:xfrm flipV="1">
              <a:off x="1548" y="1056"/>
              <a:ext cx="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4" name="Oval 106"/>
            <p:cNvSpPr/>
            <p:nvPr/>
          </p:nvSpPr>
          <p:spPr>
            <a:xfrm>
              <a:off x="1489" y="299"/>
              <a:ext cx="68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9995" name="Group 107"/>
            <p:cNvGrpSpPr/>
            <p:nvPr/>
          </p:nvGrpSpPr>
          <p:grpSpPr>
            <a:xfrm>
              <a:off x="1200" y="156"/>
              <a:ext cx="321" cy="384"/>
              <a:chOff x="0" y="0"/>
              <a:chExt cx="321" cy="384"/>
            </a:xfrm>
          </p:grpSpPr>
          <p:sp>
            <p:nvSpPr>
              <p:cNvPr id="40001" name="Rectangle 108"/>
              <p:cNvSpPr/>
              <p:nvPr/>
            </p:nvSpPr>
            <p:spPr>
              <a:xfrm>
                <a:off x="0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02" name="Text Box 109"/>
              <p:cNvSpPr txBox="1"/>
              <p:nvPr/>
            </p:nvSpPr>
            <p:spPr>
              <a:xfrm>
                <a:off x="37" y="75"/>
                <a:ext cx="2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&amp;</a:t>
                </a:r>
                <a:endParaRPr lang="en-US" altLang="zh-CN" sz="13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9996" name="Line 131"/>
            <p:cNvSpPr/>
            <p:nvPr/>
          </p:nvSpPr>
          <p:spPr>
            <a:xfrm>
              <a:off x="2136" y="66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7" name="Oval 111"/>
            <p:cNvSpPr/>
            <p:nvPr/>
          </p:nvSpPr>
          <p:spPr>
            <a:xfrm>
              <a:off x="1488" y="1020"/>
              <a:ext cx="68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buFont typeface="Arial" panose="020B0604020202020204" pitchFamily="34" charset="0"/>
              </a:pP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9998" name="Group 112"/>
            <p:cNvGrpSpPr/>
            <p:nvPr/>
          </p:nvGrpSpPr>
          <p:grpSpPr>
            <a:xfrm>
              <a:off x="1193" y="864"/>
              <a:ext cx="328" cy="384"/>
              <a:chOff x="-7" y="0"/>
              <a:chExt cx="328" cy="384"/>
            </a:xfrm>
          </p:grpSpPr>
          <p:sp>
            <p:nvSpPr>
              <p:cNvPr id="39999" name="Rectangle 113"/>
              <p:cNvSpPr/>
              <p:nvPr/>
            </p:nvSpPr>
            <p:spPr>
              <a:xfrm>
                <a:off x="-7" y="0"/>
                <a:ext cx="288" cy="38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 typeface="Arial" panose="020B0604020202020204" pitchFamily="34" charset="0"/>
                </a:pPr>
                <a:endParaRPr lang="zh-CN" altLang="en-US" sz="1500" b="1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00" name="Text Box 114"/>
              <p:cNvSpPr txBox="1"/>
              <p:nvPr/>
            </p:nvSpPr>
            <p:spPr>
              <a:xfrm>
                <a:off x="37" y="75"/>
                <a:ext cx="2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3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&amp;</a:t>
                </a:r>
                <a:endParaRPr lang="en-US" altLang="zh-CN" sz="13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38920" name="Group 168"/>
          <p:cNvGrpSpPr/>
          <p:nvPr/>
        </p:nvGrpSpPr>
        <p:grpSpPr>
          <a:xfrm>
            <a:off x="5648325" y="3074988"/>
            <a:ext cx="2797175" cy="2024062"/>
            <a:chOff x="54" y="96"/>
            <a:chExt cx="1762" cy="1700"/>
          </a:xfrm>
        </p:grpSpPr>
        <p:sp>
          <p:nvSpPr>
            <p:cNvPr id="39946" name="Freeform 46"/>
            <p:cNvSpPr/>
            <p:nvPr/>
          </p:nvSpPr>
          <p:spPr>
            <a:xfrm>
              <a:off x="284" y="106"/>
              <a:ext cx="1252" cy="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3501"/>
                </a:cxn>
                <a:cxn ang="0">
                  <a:pos x="4" y="3501"/>
                </a:cxn>
              </a:cxnLst>
              <a:rect l="0" t="0" r="0" b="0"/>
              <a:pathLst>
                <a:path w="1632" h="160">
                  <a:moveTo>
                    <a:pt x="0" y="0"/>
                  </a:moveTo>
                  <a:lnTo>
                    <a:pt x="296" y="0"/>
                  </a:lnTo>
                  <a:lnTo>
                    <a:pt x="296" y="160"/>
                  </a:lnTo>
                  <a:lnTo>
                    <a:pt x="1632" y="16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Freeform 47"/>
            <p:cNvSpPr/>
            <p:nvPr/>
          </p:nvSpPr>
          <p:spPr>
            <a:xfrm>
              <a:off x="348" y="376"/>
              <a:ext cx="1284" cy="193"/>
            </a:xfrm>
            <a:custGeom>
              <a:avLst/>
              <a:gdLst/>
              <a:ahLst/>
              <a:cxnLst>
                <a:cxn ang="0">
                  <a:pos x="0" y="88"/>
                </a:cxn>
                <a:cxn ang="0">
                  <a:pos x="2" y="88"/>
                </a:cxn>
                <a:cxn ang="0">
                  <a:pos x="2" y="0"/>
                </a:cxn>
                <a:cxn ang="0">
                  <a:pos x="9" y="0"/>
                </a:cxn>
              </a:cxnLst>
              <a:rect l="0" t="0" r="0" b="0"/>
              <a:pathLst>
                <a:path w="1608" h="200">
                  <a:moveTo>
                    <a:pt x="0" y="200"/>
                  </a:moveTo>
                  <a:lnTo>
                    <a:pt x="352" y="200"/>
                  </a:lnTo>
                  <a:lnTo>
                    <a:pt x="352" y="0"/>
                  </a:lnTo>
                  <a:lnTo>
                    <a:pt x="1608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Freeform 48"/>
            <p:cNvSpPr/>
            <p:nvPr/>
          </p:nvSpPr>
          <p:spPr>
            <a:xfrm>
              <a:off x="364" y="681"/>
              <a:ext cx="1268" cy="193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2" y="37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37"/>
                </a:cxn>
                <a:cxn ang="0">
                  <a:pos x="3" y="37"/>
                </a:cxn>
              </a:cxnLst>
              <a:rect l="0" t="0" r="0" b="0"/>
              <a:pathLst>
                <a:path w="1680" h="208">
                  <a:moveTo>
                    <a:pt x="0" y="208"/>
                  </a:moveTo>
                  <a:lnTo>
                    <a:pt x="808" y="208"/>
                  </a:lnTo>
                  <a:lnTo>
                    <a:pt x="808" y="0"/>
                  </a:lnTo>
                  <a:lnTo>
                    <a:pt x="1144" y="0"/>
                  </a:lnTo>
                  <a:lnTo>
                    <a:pt x="1144" y="208"/>
                  </a:lnTo>
                  <a:lnTo>
                    <a:pt x="1680" y="208"/>
                  </a:ln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Text Box 52"/>
            <p:cNvSpPr txBox="1"/>
            <p:nvPr/>
          </p:nvSpPr>
          <p:spPr>
            <a:xfrm>
              <a:off x="113" y="96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950" name="Text Box 53"/>
            <p:cNvSpPr txBox="1"/>
            <p:nvPr/>
          </p:nvSpPr>
          <p:spPr>
            <a:xfrm>
              <a:off x="113" y="39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951" name="Text Box 54"/>
            <p:cNvSpPr txBox="1"/>
            <p:nvPr/>
          </p:nvSpPr>
          <p:spPr>
            <a:xfrm>
              <a:off x="54" y="682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rgbClr val="FF3300"/>
                  </a:solidFill>
                  <a:latin typeface="Arial" panose="020B0604020202020204" pitchFamily="34" charset="0"/>
                </a:rPr>
                <a:t>SP</a:t>
              </a:r>
            </a:p>
          </p:txBody>
        </p:sp>
        <p:sp>
          <p:nvSpPr>
            <p:cNvPr id="39952" name="Text Box 55"/>
            <p:cNvSpPr txBox="1"/>
            <p:nvPr/>
          </p:nvSpPr>
          <p:spPr>
            <a:xfrm>
              <a:off x="72" y="970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39953" name="Text Box 56"/>
            <p:cNvSpPr txBox="1"/>
            <p:nvPr/>
          </p:nvSpPr>
          <p:spPr>
            <a:xfrm>
              <a:off x="72" y="1258"/>
              <a:ext cx="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39954" name="Text Box 57"/>
            <p:cNvSpPr txBox="1"/>
            <p:nvPr/>
          </p:nvSpPr>
          <p:spPr>
            <a:xfrm>
              <a:off x="1584" y="125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9955" name="Text Box 58"/>
            <p:cNvSpPr txBox="1"/>
            <p:nvPr/>
          </p:nvSpPr>
          <p:spPr>
            <a:xfrm>
              <a:off x="96" y="1546"/>
              <a:ext cx="2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9956" name="Line 147"/>
            <p:cNvSpPr/>
            <p:nvPr/>
          </p:nvSpPr>
          <p:spPr>
            <a:xfrm flipV="1">
              <a:off x="144" y="418"/>
              <a:ext cx="1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7" name="Line 149"/>
            <p:cNvSpPr/>
            <p:nvPr/>
          </p:nvSpPr>
          <p:spPr>
            <a:xfrm>
              <a:off x="336" y="994"/>
              <a:ext cx="7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8" name="Line 150"/>
            <p:cNvSpPr/>
            <p:nvPr/>
          </p:nvSpPr>
          <p:spPr>
            <a:xfrm>
              <a:off x="1092" y="1000"/>
              <a:ext cx="0" cy="19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9" name="Line 151"/>
            <p:cNvSpPr/>
            <p:nvPr/>
          </p:nvSpPr>
          <p:spPr>
            <a:xfrm>
              <a:off x="1323" y="997"/>
              <a:ext cx="3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0" name="Line 152"/>
            <p:cNvSpPr/>
            <p:nvPr/>
          </p:nvSpPr>
          <p:spPr>
            <a:xfrm flipV="1">
              <a:off x="1335" y="99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1" name="Line 153"/>
            <p:cNvSpPr/>
            <p:nvPr/>
          </p:nvSpPr>
          <p:spPr>
            <a:xfrm>
              <a:off x="1095" y="119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2" name="Line 154"/>
            <p:cNvSpPr/>
            <p:nvPr/>
          </p:nvSpPr>
          <p:spPr>
            <a:xfrm flipH="1">
              <a:off x="384" y="1306"/>
              <a:ext cx="12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3" name="Line 156"/>
            <p:cNvSpPr/>
            <p:nvPr/>
          </p:nvSpPr>
          <p:spPr>
            <a:xfrm>
              <a:off x="336" y="1738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4" name="Line 157"/>
            <p:cNvSpPr/>
            <p:nvPr/>
          </p:nvSpPr>
          <p:spPr>
            <a:xfrm flipV="1">
              <a:off x="1200" y="154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5" name="Line 158"/>
            <p:cNvSpPr/>
            <p:nvPr/>
          </p:nvSpPr>
          <p:spPr>
            <a:xfrm flipV="1">
              <a:off x="1440" y="154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6" name="Line 165"/>
            <p:cNvSpPr/>
            <p:nvPr/>
          </p:nvSpPr>
          <p:spPr>
            <a:xfrm>
              <a:off x="1200" y="154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7" name="Line 167"/>
            <p:cNvSpPr/>
            <p:nvPr/>
          </p:nvSpPr>
          <p:spPr>
            <a:xfrm>
              <a:off x="1440" y="172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21" name="Rectangle 169"/>
          <p:cNvSpPr/>
          <p:nvPr/>
        </p:nvSpPr>
        <p:spPr>
          <a:xfrm>
            <a:off x="184785" y="3569335"/>
            <a:ext cx="5078730" cy="130746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7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在特定的电路系统中采用的方法。在一般的组合电路中慎用。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选通信号的产生时机和脉冲宽度很重要，否则适得其反！</a:t>
            </a:r>
          </a:p>
          <a:p>
            <a:pPr marL="171450" indent="-171450" defTabSz="6858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75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750"/>
                                        <p:tgtEl>
                                          <p:spTgt spid="389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75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ldLvl="0" animBg="1"/>
      <p:bldP spid="38917" grpId="0" uiExpand="1" build="p" animBg="1"/>
      <p:bldP spid="389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d52f01e-ca2a-4846-aca0-d24d012018e2"/>
  <p:tag name="COMMONDATA" val="eyJoZGlkIjoiYWM1OWY0MGVhYmU5NTRkZGZlMzJmNTI0MzdiODI0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fd00a8c-d0e9-4548-b647-28ec13087d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7ecab22-a35c-4af2-a065-b780e4b3a20c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1682</Words>
  <Application>Microsoft Office PowerPoint</Application>
  <PresentationFormat>全屏显示(16:9)</PresentationFormat>
  <Paragraphs>323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方正综艺简体</vt:lpstr>
      <vt:lpstr>黑体</vt:lpstr>
      <vt:lpstr>华文新魏</vt:lpstr>
      <vt:lpstr>Arial</vt:lpstr>
      <vt:lpstr>Calibri</vt:lpstr>
      <vt:lpstr>Calibri Light</vt:lpstr>
      <vt:lpstr>Times New Roman</vt:lpstr>
      <vt:lpstr>Wingdings</vt:lpstr>
      <vt:lpstr>自定义设计方案</vt:lpstr>
      <vt:lpstr>数 字 逻 辑 电 路</vt:lpstr>
      <vt:lpstr>２.３、组合电路中的竞争与险象</vt:lpstr>
      <vt:lpstr>PowerPoint 演示文稿</vt:lpstr>
      <vt:lpstr>    上述这些时延都可能使电路的输出产生错误的信号。为简化讨论，下面假设信号变化的边沿转换时间为“0”， 仅考虑逻辑门的时延时间td(Delays) 。</vt:lpstr>
      <vt:lpstr>例</vt:lpstr>
      <vt:lpstr>2.险象  Hazard</vt:lpstr>
      <vt:lpstr>（1）  功能险象         功能险象产生的（必要）条件如下：</vt:lpstr>
      <vt:lpstr>（2）逻辑险象产生的（必要）条件</vt:lpstr>
      <vt:lpstr>PowerPoint 演示文稿</vt:lpstr>
      <vt:lpstr>例  具有静态 0 险象的电路及时间图</vt:lpstr>
      <vt:lpstr>2）动态险象 ( Ddynamic Hazards )</vt:lpstr>
      <vt:lpstr>PowerPoint 演示文稿</vt:lpstr>
      <vt:lpstr>3.险象的判别 （Finding Static Hazards ）</vt:lpstr>
      <vt:lpstr>例  静态 1 险象的判别与消除电路</vt:lpstr>
      <vt:lpstr>（2）静态 0 险象判别</vt:lpstr>
      <vt:lpstr>PowerPoint 演示文稿</vt:lpstr>
      <vt:lpstr>PowerPoint 演示文稿</vt:lpstr>
      <vt:lpstr>二、逻辑表达式判别法</vt:lpstr>
      <vt:lpstr>有险象存在的表达式形式</vt:lpstr>
      <vt:lpstr>有险象存在的表达式形式(续)</vt:lpstr>
      <vt:lpstr>3.4.4  险象的消除           Designing Hazard-free circuit</vt:lpstr>
      <vt:lpstr>二、在输出端连接低通环节以减弱干扰</vt:lpstr>
      <vt:lpstr>三、利用取样脉冲避开险象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松 刘</cp:lastModifiedBy>
  <cp:revision>370</cp:revision>
  <dcterms:created xsi:type="dcterms:W3CDTF">2025-03-16T11:03:30Z</dcterms:created>
  <dcterms:modified xsi:type="dcterms:W3CDTF">2025-09-09T07:08:56Z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2052-4.6.1.7451</vt:lpwstr>
  </property>
  <property fmtid="{D5CDD505-2E9C-101B-9397-08002B2CF9AE}" pid="3" name="ICV">
    <vt:lpwstr>8276161671BE43879C5C6EB598B4192D</vt:lpwstr>
  </property>
</Properties>
</file>