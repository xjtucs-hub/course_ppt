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4"/>
  </p:notesMasterIdLst>
  <p:sldIdLst>
    <p:sldId id="665" r:id="rId3"/>
    <p:sldId id="666" r:id="rId4"/>
    <p:sldId id="613" r:id="rId5"/>
    <p:sldId id="614" r:id="rId6"/>
    <p:sldId id="667" r:id="rId7"/>
    <p:sldId id="668" r:id="rId8"/>
    <p:sldId id="669" r:id="rId9"/>
    <p:sldId id="670" r:id="rId10"/>
    <p:sldId id="671" r:id="rId11"/>
    <p:sldId id="615" r:id="rId12"/>
    <p:sldId id="672" r:id="rId13"/>
  </p:sldIdLst>
  <p:sldSz cx="9144000" cy="5143500" type="screen16x9"/>
  <p:notesSz cx="6858000" cy="9144000"/>
  <p:custDataLst>
    <p:tags r:id="rId1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2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6"/>
    <p:restoredTop sz="79329" autoAdjust="0"/>
  </p:normalViewPr>
  <p:slideViewPr>
    <p:cSldViewPr showGuides="1">
      <p:cViewPr varScale="1">
        <p:scale>
          <a:sx n="171" d="100"/>
          <a:sy n="171" d="100"/>
        </p:scale>
        <p:origin x="1392" y="108"/>
      </p:cViewPr>
      <p:guideLst>
        <p:guide orient="horz" pos="1572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jinyu" userId="4ef73c0e9951af0c" providerId="LiveId" clId="{42EE5B44-2DC6-4F9B-86E1-90E1929C2124}"/>
    <pc:docChg chg="modSld">
      <pc:chgData name="wang jinyu" userId="4ef73c0e9951af0c" providerId="LiveId" clId="{42EE5B44-2DC6-4F9B-86E1-90E1929C2124}" dt="2026-03-23T09:08:05.476" v="115" actId="207"/>
      <pc:docMkLst>
        <pc:docMk/>
      </pc:docMkLst>
      <pc:sldChg chg="modSp mod">
        <pc:chgData name="wang jinyu" userId="4ef73c0e9951af0c" providerId="LiveId" clId="{42EE5B44-2DC6-4F9B-86E1-90E1929C2124}" dt="2026-03-23T09:08:05.476" v="115" actId="207"/>
        <pc:sldMkLst>
          <pc:docMk/>
          <pc:sldMk cId="0" sldId="665"/>
        </pc:sldMkLst>
        <pc:spChg chg="mod">
          <ac:chgData name="wang jinyu" userId="4ef73c0e9951af0c" providerId="LiveId" clId="{42EE5B44-2DC6-4F9B-86E1-90E1929C2124}" dt="2026-03-23T09:08:05.476" v="115" actId="207"/>
          <ac:spMkLst>
            <pc:docMk/>
            <pc:sldMk cId="0" sldId="665"/>
            <ac:spMk id="4" creationId="{76FDCD74-50DE-4181-BEBE-9979C7A5F6C0}"/>
          </ac:spMkLst>
        </pc:spChg>
      </pc:sldChg>
    </pc:docChg>
  </pc:docChgLst>
  <pc:docChgLst>
    <pc:chgData name="wang jinyu" userId="4ef73c0e9951af0c" providerId="LiveId" clId="{E899C2CB-8123-4846-95A2-4FE9C7D79785}"/>
    <pc:docChg chg="custSel addSld modSld">
      <pc:chgData name="wang jinyu" userId="4ef73c0e9951af0c" providerId="LiveId" clId="{E899C2CB-8123-4846-95A2-4FE9C7D79785}" dt="2026-06-15T07:28:32.538" v="15" actId="1076"/>
      <pc:docMkLst>
        <pc:docMk/>
      </pc:docMkLst>
      <pc:sldChg chg="addSp delSp modSp add mod modAnim">
        <pc:chgData name="wang jinyu" userId="4ef73c0e9951af0c" providerId="LiveId" clId="{E899C2CB-8123-4846-95A2-4FE9C7D79785}" dt="2026-06-15T07:28:32.538" v="15" actId="1076"/>
        <pc:sldMkLst>
          <pc:docMk/>
          <pc:sldMk cId="3051759418" sldId="666"/>
        </pc:sldMkLst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3" creationId="{86CB5FE5-D624-4F52-8D86-5793237C3507}"/>
          </ac:spMkLst>
        </pc:spChg>
        <pc:spChg chg="del">
          <ac:chgData name="wang jinyu" userId="4ef73c0e9951af0c" providerId="LiveId" clId="{E899C2CB-8123-4846-95A2-4FE9C7D79785}" dt="2026-06-15T07:20:28.620" v="1" actId="478"/>
          <ac:spMkLst>
            <pc:docMk/>
            <pc:sldMk cId="3051759418" sldId="666"/>
            <ac:spMk id="4" creationId="{76FDCD74-50DE-4181-BEBE-9979C7A5F6C0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6" creationId="{99B37A60-6DF8-458A-9C81-6B92447590A3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0" creationId="{439D261F-5849-496C-99E0-C909CE924028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2" creationId="{77D07AC9-1CDC-4DA0-A53F-F2019E9577C3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3" creationId="{0C3DAA37-6D48-4068-86A5-42C6102C4389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4" creationId="{5A703AE7-9B47-4BDC-BD1B-D5C08F98460C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5" creationId="{A33DC315-A247-41EC-A442-BA241A9BA490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6" creationId="{FE2AEF05-1CF8-4881-9AC9-43640C42029F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7" creationId="{3BE856D1-97C3-4906-80C1-A04D19F751C0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8" creationId="{0D873AA4-0D55-43E1-89A9-9AA2C9E02CE3}"/>
          </ac:spMkLst>
        </pc:spChg>
        <pc:spChg chg="del">
          <ac:chgData name="wang jinyu" userId="4ef73c0e9951af0c" providerId="LiveId" clId="{E899C2CB-8123-4846-95A2-4FE9C7D79785}" dt="2026-06-15T07:20:31.022" v="2" actId="478"/>
          <ac:spMkLst>
            <pc:docMk/>
            <pc:sldMk cId="3051759418" sldId="666"/>
            <ac:spMk id="19" creationId="{DE0AFF7F-6495-4687-8142-A1BF99D5525F}"/>
          </ac:spMkLst>
        </pc:spChg>
        <pc:picChg chg="add mod">
          <ac:chgData name="wang jinyu" userId="4ef73c0e9951af0c" providerId="LiveId" clId="{E899C2CB-8123-4846-95A2-4FE9C7D79785}" dt="2026-06-15T07:28:32.538" v="15" actId="1076"/>
          <ac:picMkLst>
            <pc:docMk/>
            <pc:sldMk cId="3051759418" sldId="666"/>
            <ac:picMk id="3" creationId="{A5A05F30-FD10-4A40-8DCF-6DED024C6FD9}"/>
          </ac:picMkLst>
        </pc:picChg>
        <pc:picChg chg="add del mod">
          <ac:chgData name="wang jinyu" userId="4ef73c0e9951af0c" providerId="LiveId" clId="{E899C2CB-8123-4846-95A2-4FE9C7D79785}" dt="2026-06-15T07:28:13.125" v="9" actId="478"/>
          <ac:picMkLst>
            <pc:docMk/>
            <pc:sldMk cId="3051759418" sldId="666"/>
            <ac:picMk id="5" creationId="{A72EEF7D-3BD2-4418-A0C3-CA16F0FC6BDB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58A5280-9430-4BB1-A8C2-1EBDA1770B8D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2026/6/16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D5C8B24-404C-4FE2-8A97-0709006C002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8309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3921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9559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936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40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1DD2F1-73CE-46DD-9D48-6EB9D6B782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3F2242-5B42-4DBD-892E-C872DBA4031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1A52EF-2F0A-40B2-94EC-F3B4BB785C6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26F87C-C52D-4DB8-A42E-D6F7C0DCB7A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758E11-6F36-48BE-8EDA-9F94715C00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6F7068-4761-4F1C-BBD9-C712A4E502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24BFFF-60A3-4BFB-8B69-7E9D266697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17424-E725-4E6A-BEBF-9E442FAF6F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1894"/>
            <a:ext cx="9087850" cy="51119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9841" y="4845704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4188C-3082-479D-B72A-72F370A3032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845704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876256" y="4845704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5E44B1-C0C6-4B15-8A5C-BDBE245920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6538CB-C907-4553-B931-00C598DC52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114C3C-8192-4FD5-971E-C2FA6970F8E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54B5EB-44F1-4D51-9EFF-B02AEE69376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D28763-E8D3-40F9-A2EC-F8CAE93F6B5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9D66578-A4B0-4728-A59E-771CF9BE5615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13449"/>
      </p:ext>
    </p:extLst>
  </p:cSld>
  <p:clrMapOvr>
    <a:masterClrMapping/>
  </p:clrMapOvr>
  <p:transition spd="med" advTm="25000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1DD2F1-73CE-46DD-9D48-6EB9D6B782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3F2242-5B42-4DBD-892E-C872DBA4031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21A52EF-2F0A-40B2-94EC-F3B4BB785C6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26F87C-C52D-4DB8-A42E-D6F7C0DCB7A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8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758E11-6F36-48BE-8EDA-9F94715C00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6F7068-4761-4F1C-BBD9-C712A4E502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24BFFF-60A3-4BFB-8B69-7E9D266697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717424-E725-4E6A-BEBF-9E442FAF6F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4188C-3082-479D-B72A-72F370A3032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25E44B1-C0C6-4B15-8A5C-BDBE245920D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46538CB-C907-4553-B931-00C598DC52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114C3C-8192-4FD5-971E-C2FA6970F8E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F54B5EB-44F1-4D51-9EFF-B02AEE69376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FD28763-E8D3-40F9-A2EC-F8CAE93F6B5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5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F8A37D-0EDC-45D5-8406-0CA0F7A9CC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2026/6/16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39F73E-ED95-46D5-9DC9-0A8D1EED106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2055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6FDCD74-50DE-4181-BEBE-9979C7A5F6C0}"/>
              </a:ext>
            </a:extLst>
          </p:cNvPr>
          <p:cNvSpPr/>
          <p:nvPr/>
        </p:nvSpPr>
        <p:spPr>
          <a:xfrm>
            <a:off x="179512" y="771550"/>
            <a:ext cx="8496300" cy="361374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indent="-609600" eaLnBrk="1" hangingPunct="1">
              <a:lnSpc>
                <a:spcPct val="120000"/>
              </a:lnSpc>
            </a:pP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堂测验：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第一章</a:t>
            </a:r>
            <a:r>
              <a:rPr lang="zh-CN" altLang="en-US" sz="18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（要求：给出关键计算步骤，否则不得分。）</a:t>
            </a:r>
            <a:endParaRPr kumimoji="0" lang="en-US" altLang="zh-CN" sz="1800" b="0" i="0" u="none" strike="noStrike" kern="1200" cap="none" spc="0" normalizeH="0" baseline="0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algn="just">
              <a:lnSpc>
                <a:spcPct val="120000"/>
              </a:lnSpc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(675.05)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=(   )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( 130)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=(   )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</a:p>
          <a:p>
            <a:pPr marL="396000" algn="just">
              <a:lnSpc>
                <a:spcPct val="120000"/>
              </a:lnSpc>
            </a:pPr>
            <a:endParaRPr lang="en-US" altLang="zh-CN" sz="1800" baseline="-250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、已知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x=+(0.1101)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,y=-(0.0011)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，机器字长为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位，用原码和补码计算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z=x+y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，则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[z]</a:t>
            </a:r>
            <a:r>
              <a:rPr lang="zh-CN" altLang="en-US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zh-CN" altLang="en-US" sz="1800" u="heavy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[z]</a:t>
            </a:r>
            <a:r>
              <a:rPr lang="zh-CN" altLang="en-US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补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zh-CN" altLang="en-US" sz="1800" u="heavy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典型格雷码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111001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是由二进制码</a:t>
            </a:r>
            <a:r>
              <a:rPr lang="zh-CN" altLang="en-US" sz="1800" u="heavy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编码生成，对该二进制码按奇校验编码的</a:t>
            </a:r>
            <a:r>
              <a:rPr lang="zh-CN" altLang="en-US" sz="18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校验位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</a:t>
            </a:r>
            <a:r>
              <a:rPr lang="zh-CN" altLang="en-US" sz="1800" u="heavy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algn="just">
              <a:lnSpc>
                <a:spcPct val="120000"/>
              </a:lnSpc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、用卡诺图化简 </a:t>
            </a:r>
            <a:r>
              <a:rPr lang="en-US" altLang="zh-CN" sz="14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F=</a:t>
            </a:r>
            <a:r>
              <a:rPr lang="en-US" altLang="zh-CN" sz="14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ABC+ACD+ACD+ABD+ABCD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为最简与或式。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</p:txBody>
      </p:sp>
      <p:sp>
        <p:nvSpPr>
          <p:cNvPr id="3" name="Line 63">
            <a:extLst>
              <a:ext uri="{FF2B5EF4-FFF2-40B4-BE49-F238E27FC236}">
                <a16:creationId xmlns:a16="http://schemas.microsoft.com/office/drawing/2014/main" id="{86CB5FE5-D624-4F52-8D86-5793237C3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62" y="4083917"/>
            <a:ext cx="71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Line 63">
            <a:extLst>
              <a:ext uri="{FF2B5EF4-FFF2-40B4-BE49-F238E27FC236}">
                <a16:creationId xmlns:a16="http://schemas.microsoft.com/office/drawing/2014/main" id="{99B37A60-6DF8-458A-9C81-6B92447590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07519" y="4083916"/>
            <a:ext cx="71438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Line 63">
            <a:extLst>
              <a:ext uri="{FF2B5EF4-FFF2-40B4-BE49-F238E27FC236}">
                <a16:creationId xmlns:a16="http://schemas.microsoft.com/office/drawing/2014/main" id="{439D261F-5849-496C-99E0-C909CE924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5816" y="4083916"/>
            <a:ext cx="71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Line 63">
            <a:extLst>
              <a:ext uri="{FF2B5EF4-FFF2-40B4-BE49-F238E27FC236}">
                <a16:creationId xmlns:a16="http://schemas.microsoft.com/office/drawing/2014/main" id="{77D07AC9-1CDC-4DA0-A53F-F2019E9577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832" y="4083915"/>
            <a:ext cx="71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Line 63">
            <a:extLst>
              <a:ext uri="{FF2B5EF4-FFF2-40B4-BE49-F238E27FC236}">
                <a16:creationId xmlns:a16="http://schemas.microsoft.com/office/drawing/2014/main" id="{0C3DAA37-6D48-4068-86A5-42C6102C43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69196" y="4083509"/>
            <a:ext cx="71438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Line 63">
            <a:extLst>
              <a:ext uri="{FF2B5EF4-FFF2-40B4-BE49-F238E27FC236}">
                <a16:creationId xmlns:a16="http://schemas.microsoft.com/office/drawing/2014/main" id="{5A703AE7-9B47-4BDC-BD1B-D5C08F984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872" y="4083509"/>
            <a:ext cx="71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63">
            <a:extLst>
              <a:ext uri="{FF2B5EF4-FFF2-40B4-BE49-F238E27FC236}">
                <a16:creationId xmlns:a16="http://schemas.microsoft.com/office/drawing/2014/main" id="{A33DC315-A247-41EC-A442-BA241A9BA4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1943" y="4083918"/>
            <a:ext cx="71438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63">
            <a:extLst>
              <a:ext uri="{FF2B5EF4-FFF2-40B4-BE49-F238E27FC236}">
                <a16:creationId xmlns:a16="http://schemas.microsoft.com/office/drawing/2014/main" id="{FE2AEF05-1CF8-4881-9AC9-43640C42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6771" y="4081395"/>
            <a:ext cx="71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63">
            <a:extLst>
              <a:ext uri="{FF2B5EF4-FFF2-40B4-BE49-F238E27FC236}">
                <a16:creationId xmlns:a16="http://schemas.microsoft.com/office/drawing/2014/main" id="{3BE856D1-97C3-4906-80C1-A04D19F751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3928" y="4081394"/>
            <a:ext cx="71438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63">
            <a:extLst>
              <a:ext uri="{FF2B5EF4-FFF2-40B4-BE49-F238E27FC236}">
                <a16:creationId xmlns:a16="http://schemas.microsoft.com/office/drawing/2014/main" id="{0D873AA4-0D55-43E1-89A9-9AA2C9E02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4803" y="4081395"/>
            <a:ext cx="714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63">
            <a:extLst>
              <a:ext uri="{FF2B5EF4-FFF2-40B4-BE49-F238E27FC236}">
                <a16:creationId xmlns:a16="http://schemas.microsoft.com/office/drawing/2014/main" id="{DE0AFF7F-6495-4687-8142-A1BF99D552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1960" y="4081394"/>
            <a:ext cx="71438" cy="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A05F30-FD10-4A40-8DCF-6DED024C6F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483518"/>
            <a:ext cx="5040560" cy="672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5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0"/>
    </mc:Choice>
    <mc:Fallback xmlns="">
      <p:transition spd="slow" advTm="2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323215" y="556260"/>
            <a:ext cx="8496300" cy="43947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indent="-609600">
              <a:lnSpc>
                <a:spcPct val="120000"/>
              </a:lnSpc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随堂测验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第二章第一次</a:t>
            </a:r>
            <a:r>
              <a:rPr lang="zh-CN" altLang="en-US" sz="18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（要求：给出关键计算步骤，否则不得分。）</a:t>
            </a:r>
            <a:endParaRPr kumimoji="0" lang="en-US" altLang="zh-CN" sz="1800" b="0" i="0" u="none" strike="noStrike" kern="1200" cap="none" spc="0" normalizeH="0" baseline="0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、分析电路功能，给出逻辑函数并化简，给出电路功能。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、用“或与式”电路设计一个三人否决器，仅写出逻辑表达式。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输入：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ABC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，输出：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功能：有两个及以上人员输入为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时，输出为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                                              判断是否存在逻辑险象，若有，存在哪种险象，  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如何消除。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5050D0AB-8F21-4219-8F1C-A6A96F3087AB}"/>
              </a:ext>
            </a:extLst>
          </p:cNvPr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E636FE7-E623-404F-9570-D1551991C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3608" y="4218187"/>
          <a:ext cx="2721073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4" imgW="1871738" imgH="248075" progId="Equation.DSMT4">
                  <p:embed/>
                </p:oleObj>
              </mc:Choice>
              <mc:Fallback>
                <p:oleObj name="Equation" r:id="rId4" imgW="1871738" imgH="248075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E636FE7-E623-404F-9570-D1551991CA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3608" y="4218187"/>
                        <a:ext cx="2721073" cy="360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F148A82D-EBAA-4D02-9F0F-6C0F1F540B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3046" y="1275606"/>
            <a:ext cx="3797908" cy="1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535828"/>
      </p:ext>
    </p:extLst>
  </p:cSld>
  <p:clrMapOvr>
    <a:masterClrMapping/>
  </p:clrMapOvr>
  <p:transition advTm="25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>
            <a:extLst>
              <a:ext uri="{FF2B5EF4-FFF2-40B4-BE49-F238E27FC236}">
                <a16:creationId xmlns:a16="http://schemas.microsoft.com/office/drawing/2014/main" id="{5050D0AB-8F21-4219-8F1C-A6A96F3087AB}"/>
              </a:ext>
            </a:extLst>
          </p:cNvPr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2D1180-D6A1-4D4B-A300-904E194BB7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3219" y="-48021"/>
            <a:ext cx="4913587" cy="655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84817"/>
      </p:ext>
    </p:extLst>
  </p:cSld>
  <p:clrMapOvr>
    <a:masterClrMapping/>
  </p:clrMapOvr>
  <p:transition advTm="2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117113" y="464061"/>
            <a:ext cx="8496300" cy="306513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indent="-609600">
              <a:lnSpc>
                <a:spcPct val="120000"/>
              </a:lnSpc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随堂测验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第二章第二次</a:t>
            </a:r>
            <a:r>
              <a:rPr lang="zh-CN" altLang="en-US" sz="18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（要求：给出关键计算步骤，否则不得分。）</a:t>
            </a:r>
            <a:endParaRPr kumimoji="0" lang="en-US" altLang="zh-CN" sz="1800" b="0" i="0" u="none" strike="noStrike" kern="1200" cap="none" spc="0" normalizeH="0" baseline="0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9624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24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、采用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片四输入 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位多路选择器 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74LS153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和基本逻辑门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24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实现逻辑函数                                                                         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24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要求用</a:t>
            </a:r>
            <a:r>
              <a:rPr lang="zh-CN" altLang="en-US" sz="18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卡诺图法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，规定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为最高有效位，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为最低有效位。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24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24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24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、用 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位二进制加法器 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74LS283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实现 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码转余 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码电路。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240" marR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码输入为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，余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码输出为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aseline="-250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80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9C7E159-B3A2-49D7-BA57-B80486E37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19622"/>
            <a:ext cx="4054604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527F13E-D415-496B-A014-66E37410F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483518"/>
            <a:ext cx="1152128" cy="232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E682D7A-69A7-4656-9A79-73DA41769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328" y="2778510"/>
            <a:ext cx="1383324" cy="2241165"/>
          </a:xfrm>
          <a:prstGeom prst="rect">
            <a:avLst/>
          </a:prstGeom>
        </p:spPr>
      </p:pic>
    </p:spTree>
  </p:cSld>
  <p:clrMapOvr>
    <a:masterClrMapping/>
  </p:clrMapOvr>
  <p:transition advTm="2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/>
          <p:cNvSpPr txBox="1"/>
          <p:nvPr/>
        </p:nvSpPr>
        <p:spPr>
          <a:xfrm>
            <a:off x="5881688" y="123825"/>
            <a:ext cx="3127375" cy="3063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数字逻辑电路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ED54321-344D-4051-BC95-B75DA75610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0"/>
            <a:ext cx="49272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69015"/>
      </p:ext>
    </p:extLst>
  </p:cSld>
  <p:clrMapOvr>
    <a:masterClrMapping/>
  </p:clrMapOvr>
  <p:transition advTm="2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">
            <a:extLst>
              <a:ext uri="{FF2B5EF4-FFF2-40B4-BE49-F238E27FC236}">
                <a16:creationId xmlns:a16="http://schemas.microsoft.com/office/drawing/2014/main" id="{7F88912D-2539-453F-9D7C-06F07D3EFD6E}"/>
              </a:ext>
            </a:extLst>
          </p:cNvPr>
          <p:cNvSpPr/>
          <p:nvPr/>
        </p:nvSpPr>
        <p:spPr>
          <a:xfrm>
            <a:off x="0" y="474465"/>
            <a:ext cx="8928992" cy="151490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随堂测验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章第一次（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要求：给出具体步骤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9624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、对图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所示的原始状态表进行状态化简。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9624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、对图</a:t>
            </a:r>
            <a:r>
              <a:rPr lang="en-US" altLang="zh-CN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所示的最小化状态表进行状态编码。</a:t>
            </a:r>
            <a:endParaRPr lang="en-US" altLang="zh-CN" sz="18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24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、对图</a:t>
            </a:r>
            <a:r>
              <a:rPr lang="en-US" altLang="zh-CN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所示的二进制状态表采用</a:t>
            </a:r>
            <a:r>
              <a:rPr lang="en-US" altLang="zh-CN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触发器设计，写出激励函数和输出函数。</a:t>
            </a:r>
            <a:endParaRPr lang="en-US" altLang="zh-CN" sz="18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" name="Group 3">
            <a:extLst>
              <a:ext uri="{FF2B5EF4-FFF2-40B4-BE49-F238E27FC236}">
                <a16:creationId xmlns:a16="http://schemas.microsoft.com/office/drawing/2014/main" id="{8E40BD82-DC57-411D-9B33-E76613990623}"/>
              </a:ext>
            </a:extLst>
          </p:cNvPr>
          <p:cNvGraphicFramePr>
            <a:graphicFrameLocks noGrp="1"/>
          </p:cNvGraphicFramePr>
          <p:nvPr/>
        </p:nvGraphicFramePr>
        <p:xfrm>
          <a:off x="35496" y="2485644"/>
          <a:ext cx="2952328" cy="2057400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B/0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d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B/0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d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A/d</a:t>
                      </a:r>
                      <a:endParaRPr kumimoji="0" lang="en-US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A/d</a:t>
                      </a:r>
                      <a:endParaRPr kumimoji="0" lang="en-US" altLang="zh-CN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</a:rPr>
                        <a:t>D/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B/1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Box 33">
            <a:extLst>
              <a:ext uri="{FF2B5EF4-FFF2-40B4-BE49-F238E27FC236}">
                <a16:creationId xmlns:a16="http://schemas.microsoft.com/office/drawing/2014/main" id="{71050A52-F7AE-4A77-99E3-98A4BC449972}"/>
              </a:ext>
            </a:extLst>
          </p:cNvPr>
          <p:cNvSpPr txBox="1"/>
          <p:nvPr/>
        </p:nvSpPr>
        <p:spPr>
          <a:xfrm>
            <a:off x="541309" y="2067694"/>
            <a:ext cx="242411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</a:t>
            </a:r>
            <a:r>
              <a:rPr lang="zh-CN" altLang="en-US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原始状态表</a:t>
            </a:r>
          </a:p>
        </p:txBody>
      </p:sp>
      <p:grpSp>
        <p:nvGrpSpPr>
          <p:cNvPr id="10" name="Group 34">
            <a:extLst>
              <a:ext uri="{FF2B5EF4-FFF2-40B4-BE49-F238E27FC236}">
                <a16:creationId xmlns:a16="http://schemas.microsoft.com/office/drawing/2014/main" id="{177A82C3-226D-43F1-B820-3A55C61886B9}"/>
              </a:ext>
            </a:extLst>
          </p:cNvPr>
          <p:cNvGrpSpPr/>
          <p:nvPr/>
        </p:nvGrpSpPr>
        <p:grpSpPr>
          <a:xfrm>
            <a:off x="251520" y="2405596"/>
            <a:ext cx="990600" cy="514350"/>
            <a:chOff x="0" y="0"/>
            <a:chExt cx="624" cy="432"/>
          </a:xfrm>
        </p:grpSpPr>
        <p:sp>
          <p:nvSpPr>
            <p:cNvPr id="11" name="Text Box 35">
              <a:extLst>
                <a:ext uri="{FF2B5EF4-FFF2-40B4-BE49-F238E27FC236}">
                  <a16:creationId xmlns:a16="http://schemas.microsoft.com/office/drawing/2014/main" id="{7348BB25-9FDF-4870-B00B-BF9E1750CCC5}"/>
                </a:ext>
              </a:extLst>
            </p:cNvPr>
            <p:cNvSpPr txBox="1"/>
            <p:nvPr/>
          </p:nvSpPr>
          <p:spPr>
            <a:xfrm>
              <a:off x="240" y="0"/>
              <a:ext cx="38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000" b="1" dirty="0">
                  <a:latin typeface="Calibri" panose="020F050202020403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2" name="Text Box 36">
              <a:extLst>
                <a:ext uri="{FF2B5EF4-FFF2-40B4-BE49-F238E27FC236}">
                  <a16:creationId xmlns:a16="http://schemas.microsoft.com/office/drawing/2014/main" id="{9004250E-3B90-48F8-B225-4E0B28F7AB25}"/>
                </a:ext>
              </a:extLst>
            </p:cNvPr>
            <p:cNvSpPr txBox="1"/>
            <p:nvPr/>
          </p:nvSpPr>
          <p:spPr>
            <a:xfrm>
              <a:off x="0" y="96"/>
              <a:ext cx="38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000" b="1" dirty="0">
                  <a:latin typeface="Calibri" panose="020F050202020403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</p:grpSp>
      <p:graphicFrame>
        <p:nvGraphicFramePr>
          <p:cNvPr id="13" name="Group 3">
            <a:extLst>
              <a:ext uri="{FF2B5EF4-FFF2-40B4-BE49-F238E27FC236}">
                <a16:creationId xmlns:a16="http://schemas.microsoft.com/office/drawing/2014/main" id="{1058401F-7212-4AB8-A946-B4AC35C50E16}"/>
              </a:ext>
            </a:extLst>
          </p:cNvPr>
          <p:cNvGraphicFramePr>
            <a:graphicFrameLocks noGrp="1"/>
          </p:cNvGraphicFramePr>
          <p:nvPr/>
        </p:nvGraphicFramePr>
        <p:xfrm>
          <a:off x="3151669" y="2742498"/>
          <a:ext cx="2860491" cy="1714500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2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C/0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C/0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D/0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A/1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B/</a:t>
                      </a:r>
                      <a:r>
                        <a:rPr kumimoji="0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Box 33">
            <a:extLst>
              <a:ext uri="{FF2B5EF4-FFF2-40B4-BE49-F238E27FC236}">
                <a16:creationId xmlns:a16="http://schemas.microsoft.com/office/drawing/2014/main" id="{490A2FBB-77B3-4489-86C5-9A81AABF7AAB}"/>
              </a:ext>
            </a:extLst>
          </p:cNvPr>
          <p:cNvSpPr txBox="1"/>
          <p:nvPr/>
        </p:nvSpPr>
        <p:spPr>
          <a:xfrm>
            <a:off x="3709661" y="2338586"/>
            <a:ext cx="242411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</a:t>
            </a:r>
            <a:r>
              <a:rPr lang="zh-CN" altLang="en-US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最小化状态表</a:t>
            </a:r>
          </a:p>
        </p:txBody>
      </p:sp>
      <p:grpSp>
        <p:nvGrpSpPr>
          <p:cNvPr id="15" name="Group 34">
            <a:extLst>
              <a:ext uri="{FF2B5EF4-FFF2-40B4-BE49-F238E27FC236}">
                <a16:creationId xmlns:a16="http://schemas.microsoft.com/office/drawing/2014/main" id="{39AC264C-90EE-456E-957C-476FF2514EA9}"/>
              </a:ext>
            </a:extLst>
          </p:cNvPr>
          <p:cNvGrpSpPr/>
          <p:nvPr/>
        </p:nvGrpSpPr>
        <p:grpSpPr>
          <a:xfrm>
            <a:off x="3339006" y="2639979"/>
            <a:ext cx="990600" cy="514350"/>
            <a:chOff x="0" y="0"/>
            <a:chExt cx="624" cy="432"/>
          </a:xfrm>
        </p:grpSpPr>
        <p:sp>
          <p:nvSpPr>
            <p:cNvPr id="16" name="Text Box 35">
              <a:extLst>
                <a:ext uri="{FF2B5EF4-FFF2-40B4-BE49-F238E27FC236}">
                  <a16:creationId xmlns:a16="http://schemas.microsoft.com/office/drawing/2014/main" id="{FDECC6CC-D6C0-4C81-9728-7E3A99454875}"/>
                </a:ext>
              </a:extLst>
            </p:cNvPr>
            <p:cNvSpPr txBox="1"/>
            <p:nvPr/>
          </p:nvSpPr>
          <p:spPr>
            <a:xfrm>
              <a:off x="240" y="0"/>
              <a:ext cx="38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000" b="1" dirty="0">
                  <a:latin typeface="Calibri" panose="020F0502020204030204" pitchFamily="34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7" name="Text Box 36">
              <a:extLst>
                <a:ext uri="{FF2B5EF4-FFF2-40B4-BE49-F238E27FC236}">
                  <a16:creationId xmlns:a16="http://schemas.microsoft.com/office/drawing/2014/main" id="{EB9EAB3D-DB28-45FA-A98C-1BCFB2576383}"/>
                </a:ext>
              </a:extLst>
            </p:cNvPr>
            <p:cNvSpPr txBox="1"/>
            <p:nvPr/>
          </p:nvSpPr>
          <p:spPr>
            <a:xfrm>
              <a:off x="0" y="96"/>
              <a:ext cx="38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000" b="1" dirty="0">
                  <a:latin typeface="Calibri" panose="020F0502020204030204" pitchFamily="34" charset="0"/>
                  <a:ea typeface="宋体" panose="02010600030101010101" pitchFamily="2" charset="-122"/>
                </a:rPr>
                <a:t>y</a:t>
              </a:r>
            </a:p>
          </p:txBody>
        </p:sp>
      </p:grpSp>
      <p:graphicFrame>
        <p:nvGraphicFramePr>
          <p:cNvPr id="18" name="Group 44">
            <a:extLst>
              <a:ext uri="{FF2B5EF4-FFF2-40B4-BE49-F238E27FC236}">
                <a16:creationId xmlns:a16="http://schemas.microsoft.com/office/drawing/2014/main" id="{851EE5FA-C3CE-4670-BDEC-D3F4EE44F5E1}"/>
              </a:ext>
            </a:extLst>
          </p:cNvPr>
          <p:cNvGraphicFramePr>
            <a:graphicFrameLocks noGrp="1"/>
          </p:cNvGraphicFramePr>
          <p:nvPr/>
        </p:nvGraphicFramePr>
        <p:xfrm>
          <a:off x="6244650" y="2872928"/>
          <a:ext cx="2647830" cy="1489075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39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15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70" marB="3427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39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</a:t>
                      </a:r>
                    </a:p>
                  </a:txBody>
                  <a:tcPr marT="34270" marB="3427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265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</a:t>
                      </a:r>
                    </a:p>
                  </a:txBody>
                  <a:tcPr marT="34270" marB="3427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11/0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01/1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265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T="34270" marB="3427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11/0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01/1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265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T="34270" marB="3427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10/0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indent="-1143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indent="-2286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indent="-3429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indent="-4572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indent="-4572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01/0</a:t>
                      </a:r>
                    </a:p>
                  </a:txBody>
                  <a:tcPr marT="34270" marB="3427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Box 36">
            <a:extLst>
              <a:ext uri="{FF2B5EF4-FFF2-40B4-BE49-F238E27FC236}">
                <a16:creationId xmlns:a16="http://schemas.microsoft.com/office/drawing/2014/main" id="{692B5A04-6935-4F39-899B-0AB0F6B1C262}"/>
              </a:ext>
            </a:extLst>
          </p:cNvPr>
          <p:cNvSpPr txBox="1"/>
          <p:nvPr/>
        </p:nvSpPr>
        <p:spPr>
          <a:xfrm>
            <a:off x="6156176" y="2825738"/>
            <a:ext cx="745293" cy="400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2000" b="1" baseline="-250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y</a:t>
            </a:r>
            <a:r>
              <a:rPr lang="en-US" altLang="zh-CN" sz="2000" b="1" baseline="-2500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C425880-A123-40D9-927B-C7D5B020E901}"/>
              </a:ext>
            </a:extLst>
          </p:cNvPr>
          <p:cNvCxnSpPr/>
          <p:nvPr/>
        </p:nvCxnSpPr>
        <p:spPr>
          <a:xfrm>
            <a:off x="6228184" y="2903845"/>
            <a:ext cx="899262" cy="2439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Box 35">
            <a:extLst>
              <a:ext uri="{FF2B5EF4-FFF2-40B4-BE49-F238E27FC236}">
                <a16:creationId xmlns:a16="http://schemas.microsoft.com/office/drawing/2014/main" id="{D4A296F2-4851-4D52-A5DD-6CD292B8EF04}"/>
              </a:ext>
            </a:extLst>
          </p:cNvPr>
          <p:cNvSpPr txBox="1"/>
          <p:nvPr/>
        </p:nvSpPr>
        <p:spPr>
          <a:xfrm>
            <a:off x="6800933" y="2733189"/>
            <a:ext cx="6096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22" name="Text Box 33">
            <a:extLst>
              <a:ext uri="{FF2B5EF4-FFF2-40B4-BE49-F238E27FC236}">
                <a16:creationId xmlns:a16="http://schemas.microsoft.com/office/drawing/2014/main" id="{BD89FA6F-CB95-478D-A9C9-A97AC7453445}"/>
              </a:ext>
            </a:extLst>
          </p:cNvPr>
          <p:cNvSpPr txBox="1"/>
          <p:nvPr/>
        </p:nvSpPr>
        <p:spPr>
          <a:xfrm>
            <a:off x="6528822" y="2427734"/>
            <a:ext cx="242411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</a:t>
            </a:r>
            <a:r>
              <a:rPr lang="zh-CN" altLang="en-US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二进制状态表</a:t>
            </a:r>
          </a:p>
        </p:txBody>
      </p:sp>
    </p:spTree>
  </p:cSld>
  <p:clrMapOvr>
    <a:masterClrMapping/>
  </p:clrMapOvr>
  <p:transition advTm="2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21D8BCF-4CE5-4E38-8A6E-53B043FD4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-92546"/>
            <a:ext cx="5904656" cy="787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44449"/>
      </p:ext>
    </p:extLst>
  </p:cSld>
  <p:clrMapOvr>
    <a:masterClrMapping/>
  </p:clrMapOvr>
  <p:transition advTm="2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-1" y="558570"/>
            <a:ext cx="6838901" cy="188942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indent="-609600">
              <a:lnSpc>
                <a:spcPct val="120000"/>
              </a:lnSpc>
              <a:spcAft>
                <a:spcPts val="600"/>
              </a:spcAft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随堂测验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章第二次（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要求：给出具体步骤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）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609600" marR="0" lvl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96000" lvl="0" algn="just">
              <a:lnSpc>
                <a:spcPct val="120000"/>
              </a:lnSpc>
              <a:defRPr/>
            </a:pP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采用右图所示的</a:t>
            </a:r>
            <a:r>
              <a:rPr lang="en-US" altLang="zh-CN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触发器，设计一个“</a:t>
            </a:r>
            <a:r>
              <a:rPr lang="en-US" altLang="zh-CN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5-4-3-2-1-5-4-....”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减</a:t>
            </a:r>
            <a:r>
              <a:rPr lang="en-US" altLang="zh-CN" sz="18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计数器（</a:t>
            </a:r>
            <a:r>
              <a:rPr lang="zh-CN" altLang="en-US" sz="180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预置位电路</a:t>
            </a: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）。</a:t>
            </a:r>
            <a:endParaRPr lang="en-US" altLang="zh-CN" sz="1800" noProof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lvl="0" algn="just">
              <a:lnSpc>
                <a:spcPct val="120000"/>
              </a:lnSpc>
              <a:defRPr/>
            </a:pPr>
            <a:r>
              <a:rPr lang="zh-CN" altLang="en-US" sz="18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写出设计步骤，并画出电路图。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FE9D14-73A5-454A-A38A-F53F003953F4}"/>
              </a:ext>
            </a:extLst>
          </p:cNvPr>
          <p:cNvSpPr/>
          <p:nvPr/>
        </p:nvSpPr>
        <p:spPr>
          <a:xfrm>
            <a:off x="7452320" y="1119490"/>
            <a:ext cx="792088" cy="1152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0DBF88-5C38-4B7F-97E1-93A1DD94C6AE}"/>
              </a:ext>
            </a:extLst>
          </p:cNvPr>
          <p:cNvSpPr txBox="1"/>
          <p:nvPr/>
        </p:nvSpPr>
        <p:spPr>
          <a:xfrm>
            <a:off x="7447757" y="1259380"/>
            <a:ext cx="379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79CAA4-9F3F-4123-BAC4-51F8F618B8BA}"/>
              </a:ext>
            </a:extLst>
          </p:cNvPr>
          <p:cNvSpPr txBox="1"/>
          <p:nvPr/>
        </p:nvSpPr>
        <p:spPr>
          <a:xfrm>
            <a:off x="7505733" y="1752904"/>
            <a:ext cx="603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9905C6B-37E3-4EC7-A28D-D1EC01491C2E}"/>
              </a:ext>
            </a:extLst>
          </p:cNvPr>
          <p:cNvSpPr txBox="1"/>
          <p:nvPr/>
        </p:nvSpPr>
        <p:spPr>
          <a:xfrm>
            <a:off x="7360816" y="1729140"/>
            <a:ext cx="379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0724752-2EB4-47E3-8F8D-DD527957678A}"/>
              </a:ext>
            </a:extLst>
          </p:cNvPr>
          <p:cNvSpPr/>
          <p:nvPr/>
        </p:nvSpPr>
        <p:spPr>
          <a:xfrm>
            <a:off x="8244408" y="1856649"/>
            <a:ext cx="72008" cy="72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5B155BD-CE81-4F61-ADB8-42D3440A4DDA}"/>
              </a:ext>
            </a:extLst>
          </p:cNvPr>
          <p:cNvSpPr/>
          <p:nvPr/>
        </p:nvSpPr>
        <p:spPr>
          <a:xfrm>
            <a:off x="7827293" y="2271221"/>
            <a:ext cx="72008" cy="72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3F37822-F1D0-446F-A5FD-737C9CB57AFA}"/>
              </a:ext>
            </a:extLst>
          </p:cNvPr>
          <p:cNvSpPr/>
          <p:nvPr/>
        </p:nvSpPr>
        <p:spPr>
          <a:xfrm>
            <a:off x="7810694" y="1038907"/>
            <a:ext cx="72008" cy="7161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EC23EA2-DA10-4F25-9647-E7165E4FED30}"/>
              </a:ext>
            </a:extLst>
          </p:cNvPr>
          <p:cNvSpPr txBox="1"/>
          <p:nvPr/>
        </p:nvSpPr>
        <p:spPr>
          <a:xfrm>
            <a:off x="7656040" y="1088031"/>
            <a:ext cx="428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73A2954-96E0-4DB3-BDBD-089B3DF60CE1}"/>
              </a:ext>
            </a:extLst>
          </p:cNvPr>
          <p:cNvSpPr txBox="1"/>
          <p:nvPr/>
        </p:nvSpPr>
        <p:spPr>
          <a:xfrm>
            <a:off x="7599346" y="2006595"/>
            <a:ext cx="688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AAFB74-52BC-4C57-A5F5-30908C912123}"/>
              </a:ext>
            </a:extLst>
          </p:cNvPr>
          <p:cNvSpPr txBox="1"/>
          <p:nvPr/>
        </p:nvSpPr>
        <p:spPr>
          <a:xfrm>
            <a:off x="7969301" y="1273778"/>
            <a:ext cx="379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56DB222-9D42-4875-A5B6-D758A69288F9}"/>
              </a:ext>
            </a:extLst>
          </p:cNvPr>
          <p:cNvSpPr txBox="1"/>
          <p:nvPr/>
        </p:nvSpPr>
        <p:spPr>
          <a:xfrm>
            <a:off x="7943607" y="1741833"/>
            <a:ext cx="379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/Q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6C742AD-E06F-4FC4-B26A-6B2927284F24}"/>
              </a:ext>
            </a:extLst>
          </p:cNvPr>
          <p:cNvCxnSpPr>
            <a:endCxn id="5" idx="1"/>
          </p:cNvCxnSpPr>
          <p:nvPr/>
        </p:nvCxnSpPr>
        <p:spPr>
          <a:xfrm>
            <a:off x="7020272" y="1413268"/>
            <a:ext cx="427485" cy="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1C7F7BDD-0601-41D6-9AA5-46C6CD5C3362}"/>
              </a:ext>
            </a:extLst>
          </p:cNvPr>
          <p:cNvCxnSpPr/>
          <p:nvPr/>
        </p:nvCxnSpPr>
        <p:spPr>
          <a:xfrm>
            <a:off x="8244106" y="1413268"/>
            <a:ext cx="427485" cy="1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04B3F8DE-E0B7-4C4A-9826-9C5180A5F3C3}"/>
              </a:ext>
            </a:extLst>
          </p:cNvPr>
          <p:cNvCxnSpPr>
            <a:cxnSpLocks/>
          </p:cNvCxnSpPr>
          <p:nvPr/>
        </p:nvCxnSpPr>
        <p:spPr>
          <a:xfrm>
            <a:off x="7065278" y="1898417"/>
            <a:ext cx="38704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DAA19D9-D95C-4119-B41D-9649DFEE13C3}"/>
              </a:ext>
            </a:extLst>
          </p:cNvPr>
          <p:cNvCxnSpPr>
            <a:cxnSpLocks/>
          </p:cNvCxnSpPr>
          <p:nvPr/>
        </p:nvCxnSpPr>
        <p:spPr>
          <a:xfrm>
            <a:off x="8323143" y="1901820"/>
            <a:ext cx="32992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6CE4B47D-6661-47CF-A9B1-7C9EFB6E6D9C}"/>
              </a:ext>
            </a:extLst>
          </p:cNvPr>
          <p:cNvCxnSpPr>
            <a:cxnSpLocks/>
          </p:cNvCxnSpPr>
          <p:nvPr/>
        </p:nvCxnSpPr>
        <p:spPr>
          <a:xfrm flipV="1">
            <a:off x="7863297" y="2342374"/>
            <a:ext cx="0" cy="26735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3580ACFE-9C38-4CF9-BA62-522182E1282C}"/>
              </a:ext>
            </a:extLst>
          </p:cNvPr>
          <p:cNvCxnSpPr>
            <a:cxnSpLocks/>
          </p:cNvCxnSpPr>
          <p:nvPr/>
        </p:nvCxnSpPr>
        <p:spPr>
          <a:xfrm flipV="1">
            <a:off x="7846698" y="771550"/>
            <a:ext cx="0" cy="26735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772333"/>
      </p:ext>
    </p:extLst>
  </p:cSld>
  <p:clrMapOvr>
    <a:masterClrMapping/>
  </p:clrMapOvr>
  <p:transition advTm="25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10D9C9-643F-489B-939E-364EC546D8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0"/>
            <a:ext cx="2893219" cy="51435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5912B49-ECD3-4C58-BE5D-C49420FBB540}"/>
              </a:ext>
            </a:extLst>
          </p:cNvPr>
          <p:cNvSpPr txBox="1"/>
          <p:nvPr/>
        </p:nvSpPr>
        <p:spPr>
          <a:xfrm>
            <a:off x="6300192" y="2427734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要画出电路图</a:t>
            </a:r>
          </a:p>
        </p:txBody>
      </p:sp>
    </p:spTree>
    <p:extLst>
      <p:ext uri="{BB962C8B-B14F-4D97-AF65-F5344CB8AC3E}">
        <p14:creationId xmlns:p14="http://schemas.microsoft.com/office/powerpoint/2010/main" val="1430543081"/>
      </p:ext>
    </p:extLst>
  </p:cSld>
  <p:clrMapOvr>
    <a:masterClrMapping/>
  </p:clrMapOvr>
  <p:transition advTm="25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矩形 3"/>
          <p:cNvSpPr/>
          <p:nvPr/>
        </p:nvSpPr>
        <p:spPr>
          <a:xfrm>
            <a:off x="179512" y="483518"/>
            <a:ext cx="6120679" cy="521033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609600" marR="0" lvl="0" indent="-6096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随堂测验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-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第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4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章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96000" lvl="0" algn="just">
              <a:lnSpc>
                <a:spcPct val="120000"/>
              </a:lnSpc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、多选题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）下面关于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SPLD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的描述中，正确的有（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ABD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）。</a:t>
            </a:r>
            <a:endParaRPr lang="en-US" altLang="zh-CN" sz="16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A. 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PROM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OTP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       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B.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PLA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的与、或阵列都可编程</a:t>
            </a:r>
            <a:endParaRPr lang="en-US" altLang="zh-CN" sz="16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C.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PAL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的输出结构仅有组合输出  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D.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GAL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可重复编程，输出可配置</a:t>
            </a:r>
            <a:endParaRPr lang="en-US" altLang="zh-CN" sz="16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6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下面关于</a:t>
            </a:r>
            <a:r>
              <a:rPr lang="en-US" altLang="zh-CN" sz="16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sz="16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的描述中，正确的有（ </a:t>
            </a:r>
            <a:r>
              <a:rPr lang="en-US" altLang="zh-CN" sz="16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en-US" altLang="zh-CN" sz="16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6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）。</a:t>
            </a:r>
            <a:endParaRPr lang="en-US" altLang="zh-CN" sz="1600" dirty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A. 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是一种定制的专用集成电路，无法在现场重新编程</a:t>
            </a:r>
            <a:endParaRPr lang="en-US" altLang="zh-CN" sz="16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B.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其结构分为可配置逻辑块、可编程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I/O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模块和可编程内部连线</a:t>
            </a:r>
            <a:endParaRPr lang="en-US" altLang="zh-CN" sz="16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C.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FPGA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的逻辑功能由硬件描述语言（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HDL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）编写的程序决定</a:t>
            </a:r>
            <a:endParaRPr lang="en-US" altLang="zh-CN" sz="16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600" noProof="1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D.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主要采用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LUT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技术和</a:t>
            </a:r>
            <a:r>
              <a:rPr lang="en-US" altLang="zh-CN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SRAM</a:t>
            </a:r>
            <a:r>
              <a:rPr lang="zh-CN" altLang="en-US" sz="1600" noProof="1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存储</a:t>
            </a:r>
            <a:endParaRPr lang="en-US" altLang="zh-CN" sz="1600" noProof="1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marR="0" indent="152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dirty="0">
              <a:solidFill>
                <a:prstClr val="blac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96000" lvl="0" algn="just">
              <a:lnSpc>
                <a:spcPct val="120000"/>
              </a:lnSpc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4DD0D3C-5021-4512-922A-1B1CAEA69FD8}"/>
              </a:ext>
            </a:extLst>
          </p:cNvPr>
          <p:cNvSpPr txBox="1"/>
          <p:nvPr/>
        </p:nvSpPr>
        <p:spPr>
          <a:xfrm>
            <a:off x="5148064" y="545625"/>
            <a:ext cx="3816424" cy="40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algn="just">
              <a:lnSpc>
                <a:spcPct val="120000"/>
              </a:lnSpc>
              <a:defRPr/>
            </a:pPr>
            <a:r>
              <a:rPr lang="en-US" altLang="zh-CN" sz="18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</a:t>
            </a:r>
            <a:r>
              <a:rPr lang="zh-CN" altLang="en-US" sz="18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简述什么是</a:t>
            </a:r>
            <a:r>
              <a:rPr lang="en-US" altLang="zh-CN" sz="18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ISP</a:t>
            </a:r>
            <a:r>
              <a:rPr lang="zh-CN" altLang="en-US" sz="1800" dirty="0">
                <a:solidFill>
                  <a:prstClr val="blac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以及其主要优点。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D7EF22-F79D-4C56-9928-8046BC5BF763}"/>
              </a:ext>
            </a:extLst>
          </p:cNvPr>
          <p:cNvSpPr txBox="1"/>
          <p:nvPr/>
        </p:nvSpPr>
        <p:spPr>
          <a:xfrm>
            <a:off x="5696703" y="1013677"/>
            <a:ext cx="32677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</a:rPr>
              <a:t>    在系统可编程</a:t>
            </a:r>
            <a:r>
              <a:rPr lang="en-US" altLang="zh-CN" sz="1200" dirty="0">
                <a:solidFill>
                  <a:schemeClr val="tx1"/>
                </a:solidFill>
              </a:rPr>
              <a:t>ISP</a:t>
            </a:r>
            <a:r>
              <a:rPr lang="zh-CN" altLang="en-US" sz="1200" dirty="0">
                <a:solidFill>
                  <a:schemeClr val="tx1"/>
                </a:solidFill>
              </a:rPr>
              <a:t>是指逻辑器件焊接在印制电路板上后，无需从电路板取下芯片，直接通过外部下载接口，在线完成擦除、编程、校验的编程方式。支持 </a:t>
            </a:r>
            <a:r>
              <a:rPr lang="en-US" altLang="zh-CN" sz="1200" dirty="0">
                <a:solidFill>
                  <a:schemeClr val="tx1"/>
                </a:solidFill>
              </a:rPr>
              <a:t>ISP </a:t>
            </a:r>
            <a:r>
              <a:rPr lang="zh-CN" altLang="en-US" sz="1200" dirty="0">
                <a:solidFill>
                  <a:schemeClr val="tx1"/>
                </a:solidFill>
              </a:rPr>
              <a:t>的器件称为 </a:t>
            </a:r>
            <a:r>
              <a:rPr lang="en-US" altLang="zh-CN" sz="1200" dirty="0">
                <a:solidFill>
                  <a:schemeClr val="tx1"/>
                </a:solidFill>
              </a:rPr>
              <a:t>ISP </a:t>
            </a:r>
            <a:r>
              <a:rPr lang="zh-CN" altLang="en-US" sz="1200" dirty="0">
                <a:solidFill>
                  <a:schemeClr val="tx1"/>
                </a:solidFill>
              </a:rPr>
              <a:t>器件，依靠电可擦除存储单元实现反复改写。</a:t>
            </a:r>
            <a:endParaRPr lang="en-US" altLang="zh-CN" sz="1200" dirty="0">
              <a:solidFill>
                <a:schemeClr val="tx1"/>
              </a:solidFill>
            </a:endParaRPr>
          </a:p>
          <a:p>
            <a:r>
              <a:rPr lang="en-US" altLang="zh-CN" sz="1200" dirty="0">
                <a:solidFill>
                  <a:schemeClr val="tx1"/>
                </a:solidFill>
              </a:rPr>
              <a:t>    </a:t>
            </a:r>
            <a:r>
              <a:rPr lang="zh-CN" altLang="en-US" sz="1200" dirty="0">
                <a:solidFill>
                  <a:schemeClr val="tx1"/>
                </a:solidFill>
              </a:rPr>
              <a:t>其主要优点：</a:t>
            </a:r>
            <a:r>
              <a:rPr lang="en-US" altLang="zh-CN" sz="1200" dirty="0">
                <a:solidFill>
                  <a:schemeClr val="tx1"/>
                </a:solidFill>
              </a:rPr>
              <a:t>1.</a:t>
            </a:r>
            <a:r>
              <a:rPr lang="zh-CN" altLang="en-US" sz="1200" dirty="0">
                <a:solidFill>
                  <a:schemeClr val="tx1"/>
                </a:solidFill>
              </a:rPr>
              <a:t>无需拆焊芯片，简化调试流程。</a:t>
            </a:r>
            <a:r>
              <a:rPr lang="en-US" altLang="zh-CN" sz="1200" dirty="0">
                <a:solidFill>
                  <a:schemeClr val="tx1"/>
                </a:solidFill>
              </a:rPr>
              <a:t>2.</a:t>
            </a:r>
            <a:r>
              <a:rPr lang="zh-CN" altLang="en-US" sz="1200" dirty="0">
                <a:solidFill>
                  <a:schemeClr val="tx1"/>
                </a:solidFill>
              </a:rPr>
              <a:t>支持多次重复编程，研发阶段方便修改设计，产品出厂后也能在线更新程序。</a:t>
            </a:r>
            <a:r>
              <a:rPr lang="en-US" altLang="zh-CN" sz="1200" dirty="0">
                <a:solidFill>
                  <a:schemeClr val="tx1"/>
                </a:solidFill>
              </a:rPr>
              <a:t>3.</a:t>
            </a:r>
            <a:r>
              <a:rPr lang="zh-CN" altLang="en-US" sz="1200" dirty="0">
                <a:solidFill>
                  <a:schemeClr val="tx1"/>
                </a:solidFill>
              </a:rPr>
              <a:t>简化生产制造流程，便于现场维护与故障修复，等等。（回答</a:t>
            </a:r>
            <a:r>
              <a:rPr lang="en-US" altLang="zh-CN" sz="1200" dirty="0">
                <a:solidFill>
                  <a:schemeClr val="tx1"/>
                </a:solidFill>
              </a:rPr>
              <a:t>2</a:t>
            </a:r>
            <a:r>
              <a:rPr lang="zh-CN" altLang="en-US" sz="1200" dirty="0">
                <a:solidFill>
                  <a:schemeClr val="tx1"/>
                </a:solidFill>
              </a:rPr>
              <a:t>条即可）</a:t>
            </a:r>
          </a:p>
        </p:txBody>
      </p:sp>
    </p:spTree>
    <p:extLst>
      <p:ext uri="{BB962C8B-B14F-4D97-AF65-F5344CB8AC3E}">
        <p14:creationId xmlns:p14="http://schemas.microsoft.com/office/powerpoint/2010/main" val="352200160"/>
      </p:ext>
    </p:extLst>
  </p:cSld>
  <p:clrMapOvr>
    <a:masterClrMapping/>
  </p:clrMapOvr>
  <p:transition advTm="2500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M3NDI0YjMzMTI2Y2UyY2IzNzVhYTc5MGY3OTVlO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850</Words>
  <Application>Microsoft Office PowerPoint</Application>
  <PresentationFormat>全屏显示(16:9)</PresentationFormat>
  <Paragraphs>120</Paragraphs>
  <Slides>11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等线</vt:lpstr>
      <vt:lpstr>黑体</vt:lpstr>
      <vt:lpstr>华文新魏</vt:lpstr>
      <vt:lpstr>Arial</vt:lpstr>
      <vt:lpstr>Calibri</vt:lpstr>
      <vt:lpstr>Calibri Light</vt:lpstr>
      <vt:lpstr>Times New Roman</vt:lpstr>
      <vt:lpstr>自定义设计方案</vt:lpstr>
      <vt:lpstr>1_自定义设计方案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NUC</cp:lastModifiedBy>
  <cp:revision>361</cp:revision>
  <dcterms:created xsi:type="dcterms:W3CDTF">2002-09-09T07:46:00Z</dcterms:created>
  <dcterms:modified xsi:type="dcterms:W3CDTF">2026-06-16T02:55:59Z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BA06674D1B614633BF21C04AE4FC6C15</vt:lpwstr>
  </property>
</Properties>
</file>