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8" r:id="rId2"/>
    <p:sldId id="259" r:id="rId3"/>
    <p:sldId id="308" r:id="rId4"/>
    <p:sldId id="309" r:id="rId5"/>
    <p:sldId id="310" r:id="rId6"/>
    <p:sldId id="315" r:id="rId7"/>
    <p:sldId id="311" r:id="rId8"/>
    <p:sldId id="316" r:id="rId9"/>
    <p:sldId id="317" r:id="rId10"/>
    <p:sldId id="318" r:id="rId11"/>
    <p:sldId id="321" r:id="rId12"/>
    <p:sldId id="319" r:id="rId13"/>
    <p:sldId id="320" r:id="rId14"/>
    <p:sldId id="307" r:id="rId15"/>
  </p:sldIdLst>
  <p:sldSz cx="9144000" cy="6858000" type="screen4x3"/>
  <p:notesSz cx="9942513" cy="676116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AFC6"/>
    <a:srgbClr val="5482A3"/>
    <a:srgbClr val="F5F5F5"/>
    <a:srgbClr val="8BABC3"/>
    <a:srgbClr val="A6A6A6"/>
    <a:srgbClr val="789BB5"/>
    <a:srgbClr val="D54A47"/>
    <a:srgbClr val="5B868F"/>
    <a:srgbClr val="75A380"/>
    <a:srgbClr val="E3A4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812" y="1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yu wang" userId="4ef73c0e9951af0c" providerId="LiveId" clId="{F0F0B6FD-6E8B-44AF-8BAF-95C0B8F4E94F}"/>
    <pc:docChg chg="modSld">
      <pc:chgData name="jinyu wang" userId="4ef73c0e9951af0c" providerId="LiveId" clId="{F0F0B6FD-6E8B-44AF-8BAF-95C0B8F4E94F}" dt="2024-06-02T09:04:29.273" v="0" actId="1076"/>
      <pc:docMkLst>
        <pc:docMk/>
      </pc:docMkLst>
      <pc:sldChg chg="modSp mod">
        <pc:chgData name="jinyu wang" userId="4ef73c0e9951af0c" providerId="LiveId" clId="{F0F0B6FD-6E8B-44AF-8BAF-95C0B8F4E94F}" dt="2024-06-02T09:04:29.273" v="0" actId="1076"/>
        <pc:sldMkLst>
          <pc:docMk/>
          <pc:sldMk cId="0" sldId="315"/>
        </pc:sldMkLst>
        <pc:picChg chg="mod">
          <ac:chgData name="jinyu wang" userId="4ef73c0e9951af0c" providerId="LiveId" clId="{F0F0B6FD-6E8B-44AF-8BAF-95C0B8F4E94F}" dt="2024-06-02T09:04:29.273" v="0" actId="1076"/>
          <ac:picMkLst>
            <pc:docMk/>
            <pc:sldMk cId="0" sldId="315"/>
            <ac:picMk id="3" creationId="{00000000-0000-0000-0000-000000000000}"/>
          </ac:picMkLst>
        </pc:picChg>
      </pc:sldChg>
    </pc:docChg>
  </pc:docChgLst>
  <pc:docChgLst>
    <pc:chgData name="wang jinyu" userId="4ef73c0e9951af0c" providerId="LiveId" clId="{FE6A212B-72B7-4EC7-8132-C1FF9DBD7420}"/>
    <pc:docChg chg="undo custSel modSld">
      <pc:chgData name="wang jinyu" userId="4ef73c0e9951af0c" providerId="LiveId" clId="{FE6A212B-72B7-4EC7-8132-C1FF9DBD7420}" dt="2024-06-10T14:22:12.395" v="4"/>
      <pc:docMkLst>
        <pc:docMk/>
      </pc:docMkLst>
      <pc:sldChg chg="modSp mod">
        <pc:chgData name="wang jinyu" userId="4ef73c0e9951af0c" providerId="LiveId" clId="{FE6A212B-72B7-4EC7-8132-C1FF9DBD7420}" dt="2024-06-10T14:22:12.395" v="4"/>
        <pc:sldMkLst>
          <pc:docMk/>
          <pc:sldMk cId="0" sldId="259"/>
        </pc:sldMkLst>
        <pc:spChg chg="mod">
          <ac:chgData name="wang jinyu" userId="4ef73c0e9951af0c" providerId="LiveId" clId="{FE6A212B-72B7-4EC7-8132-C1FF9DBD7420}" dt="2024-06-10T14:22:12.395" v="4"/>
          <ac:spMkLst>
            <pc:docMk/>
            <pc:sldMk cId="0" sldId="259"/>
            <ac:spMk id="100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8422" cy="3392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1790" y="1"/>
            <a:ext cx="4308422" cy="3392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80AA6-A04A-47F3-97F7-EFC1BAA645F9}" type="datetimeFigureOut">
              <a:rPr lang="zh-CN" altLang="en-US" smtClean="0"/>
              <a:t>2024/6/10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21932"/>
            <a:ext cx="4308422" cy="3392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1790" y="6421932"/>
            <a:ext cx="4308422" cy="3392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8F9CAD-5B3E-4948-B48C-79864FEC51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8422" cy="3392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31790" y="1"/>
            <a:ext cx="4308422" cy="3392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84553-D4CB-4436-A308-FC56A8E3EF4D}" type="datetimeFigureOut">
              <a:rPr lang="zh-CN" altLang="en-US" smtClean="0"/>
              <a:t>2024/6/10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49638" y="844550"/>
            <a:ext cx="3043237" cy="2282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4252" y="3253809"/>
            <a:ext cx="7954010" cy="266220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21932"/>
            <a:ext cx="4308422" cy="3392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31790" y="6421932"/>
            <a:ext cx="4308422" cy="3392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A6B7D-4A1A-4A4D-93B7-D784EA5E4BF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13" y="140481"/>
            <a:ext cx="3194092" cy="85556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2228850" y="2492944"/>
            <a:ext cx="6915151" cy="4365057"/>
          </a:xfrm>
          <a:prstGeom prst="rect">
            <a:avLst/>
          </a:prstGeom>
          <a:blipFill dpi="0" rotWithShape="1">
            <a:blip r:embed="rId3">
              <a:alphaModFix amt="1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4" name="矩形 3"/>
          <p:cNvSpPr/>
          <p:nvPr userDrawn="1"/>
        </p:nvSpPr>
        <p:spPr>
          <a:xfrm>
            <a:off x="179613" y="1798271"/>
            <a:ext cx="8792938" cy="15245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2228850" y="2492944"/>
            <a:ext cx="6915151" cy="4365057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13955" y="2093081"/>
            <a:ext cx="7916091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500" b="1" dirty="0">
                <a:solidFill>
                  <a:schemeClr val="bg1"/>
                </a:solidFill>
              </a:rPr>
              <a:t>数电第六次作业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29949" y="1027305"/>
            <a:ext cx="8209016" cy="35394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4.1 </a:t>
            </a:r>
            <a:endParaRPr lang="zh-CN" sz="2400" b="0" dirty="0">
              <a:ea typeface="宋体" panose="02010600030101010101" pitchFamily="2" charset="-122"/>
            </a:endParaRPr>
          </a:p>
          <a:p>
            <a:pPr indent="0"/>
            <a:r>
              <a:rPr lang="zh-CN" sz="2000" b="0" dirty="0">
                <a:ea typeface="宋体" panose="02010600030101010101" pitchFamily="2" charset="-122"/>
              </a:rPr>
              <a:t>简单可编程逻辑器件（</a:t>
            </a:r>
            <a:r>
              <a:rPr 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SPLD</a:t>
            </a:r>
            <a:r>
              <a:rPr lang="zh-CN" sz="2000" b="0" dirty="0">
                <a:ea typeface="宋体" panose="02010600030101010101" pitchFamily="2" charset="-122"/>
              </a:rPr>
              <a:t>）包括可编程只读存储器</a:t>
            </a:r>
            <a:r>
              <a:rPr 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(PROM)</a:t>
            </a:r>
            <a:r>
              <a:rPr lang="zh-CN" sz="2000" b="0" dirty="0">
                <a:ea typeface="宋体" panose="02010600030101010101" pitchFamily="2" charset="-122"/>
              </a:rPr>
              <a:t>、可编程逻辑阵列器件（</a:t>
            </a:r>
            <a:r>
              <a:rPr 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PLA</a:t>
            </a:r>
            <a:r>
              <a:rPr lang="zh-CN" sz="2000" b="0" dirty="0">
                <a:ea typeface="宋体" panose="02010600030101010101" pitchFamily="2" charset="-122"/>
              </a:rPr>
              <a:t>）、可编程阵列逻辑器件（</a:t>
            </a:r>
            <a:r>
              <a:rPr 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PAL</a:t>
            </a:r>
            <a:r>
              <a:rPr lang="zh-CN" sz="2000" b="0" dirty="0">
                <a:ea typeface="宋体" panose="02010600030101010101" pitchFamily="2" charset="-122"/>
              </a:rPr>
              <a:t>），以及通用阵列逻辑器件（</a:t>
            </a:r>
            <a:r>
              <a:rPr 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GAL</a:t>
            </a:r>
            <a:r>
              <a:rPr lang="zh-CN" sz="2000" b="0" dirty="0">
                <a:ea typeface="宋体" panose="02010600030101010101" pitchFamily="2" charset="-122"/>
              </a:rPr>
              <a:t>）。</a:t>
            </a:r>
          </a:p>
          <a:p>
            <a:pPr indent="0"/>
            <a:r>
              <a:rPr lang="zh-CN" sz="2000" b="0" dirty="0">
                <a:ea typeface="宋体" panose="02010600030101010101" pitchFamily="2" charset="-122"/>
              </a:rPr>
              <a:t>它们的共同点是以与阵列和或阵列作为核心逻辑资源，能够以</a:t>
            </a:r>
            <a:r>
              <a:rPr 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sz="2000" b="0" dirty="0">
                <a:ea typeface="宋体" panose="02010600030101010101" pitchFamily="2" charset="-122"/>
              </a:rPr>
              <a:t>积之和</a:t>
            </a:r>
            <a:r>
              <a:rPr 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sz="2000" b="0" dirty="0">
                <a:ea typeface="宋体" panose="02010600030101010101" pitchFamily="2" charset="-122"/>
              </a:rPr>
              <a:t>的形式实现布尔逻辑函数。</a:t>
            </a:r>
            <a:endParaRPr lang="en-US" sz="20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PROM</a:t>
            </a:r>
            <a:r>
              <a:rPr lang="zh-CN" sz="2000" b="0" dirty="0">
                <a:ea typeface="宋体" panose="02010600030101010101" pitchFamily="2" charset="-122"/>
              </a:rPr>
              <a:t>的特点是</a:t>
            </a:r>
            <a:r>
              <a:rPr 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zh-CN" sz="2000" b="0" dirty="0">
                <a:ea typeface="宋体" panose="02010600030101010101" pitchFamily="2" charset="-122"/>
              </a:rPr>
              <a:t>与阵列固定，或阵列可编程。</a:t>
            </a:r>
            <a:endParaRPr lang="en-US" sz="20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PLA</a:t>
            </a:r>
            <a:r>
              <a:rPr lang="zh-CN" sz="2000" b="0" dirty="0">
                <a:ea typeface="宋体" panose="02010600030101010101" pitchFamily="2" charset="-122"/>
              </a:rPr>
              <a:t>的特点是：与阵列和或阵列都可编程。</a:t>
            </a:r>
            <a:endParaRPr lang="en-US" sz="20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PAL</a:t>
            </a:r>
            <a:r>
              <a:rPr lang="zh-CN" sz="2000" b="0" dirty="0">
                <a:ea typeface="宋体" panose="02010600030101010101" pitchFamily="2" charset="-122"/>
              </a:rPr>
              <a:t>的特点是：与阵列</a:t>
            </a:r>
            <a:r>
              <a:rPr lang="zh-CN" altLang="zh-CN" sz="2000" b="0" dirty="0">
                <a:ea typeface="宋体" panose="02010600030101010101" pitchFamily="2" charset="-122"/>
              </a:rPr>
              <a:t>可编程</a:t>
            </a:r>
            <a:r>
              <a:rPr lang="zh-CN" sz="2000" b="0" dirty="0">
                <a:ea typeface="宋体" panose="02010600030101010101" pitchFamily="2" charset="-122"/>
              </a:rPr>
              <a:t>，</a:t>
            </a:r>
            <a:r>
              <a:rPr lang="zh-CN" sz="2000" b="0">
                <a:ea typeface="宋体" panose="02010600030101010101" pitchFamily="2" charset="-122"/>
              </a:rPr>
              <a:t>或阵列</a:t>
            </a:r>
            <a:r>
              <a:rPr lang="zh-CN" altLang="zh-CN" sz="2000" b="0">
                <a:ea typeface="宋体" panose="02010600030101010101" pitchFamily="2" charset="-122"/>
              </a:rPr>
              <a:t>固定</a:t>
            </a:r>
            <a:r>
              <a:rPr lang="zh-CN" sz="2000" b="0">
                <a:ea typeface="宋体" panose="02010600030101010101" pitchFamily="2" charset="-122"/>
              </a:rPr>
              <a:t>。</a:t>
            </a:r>
            <a:endParaRPr lang="en-US" sz="20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GAL</a:t>
            </a:r>
            <a:r>
              <a:rPr lang="zh-CN" sz="2000" b="0" dirty="0">
                <a:ea typeface="宋体" panose="02010600030101010101" pitchFamily="2" charset="-122"/>
              </a:rPr>
              <a:t>的特点是：它是在</a:t>
            </a:r>
            <a:r>
              <a:rPr 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PAL</a:t>
            </a:r>
            <a:r>
              <a:rPr lang="zh-CN" sz="2000" b="0" dirty="0">
                <a:ea typeface="宋体" panose="02010600030101010101" pitchFamily="2" charset="-122"/>
              </a:rPr>
              <a:t>的基础上，吸收了先进的浮栅技术，输出端都集成着一个可编程的输出逻辑宏单元（</a:t>
            </a:r>
            <a:r>
              <a:rPr lang="en-US" sz="2000" b="0" dirty="0">
                <a:latin typeface="Times New Roman" panose="02020603050405020304" pitchFamily="18" charset="0"/>
                <a:ea typeface="宋体" panose="02010600030101010101" pitchFamily="2" charset="-122"/>
              </a:rPr>
              <a:t>OLMC</a:t>
            </a:r>
            <a:r>
              <a:rPr lang="zh-CN" sz="2000" b="0" dirty="0">
                <a:ea typeface="宋体" panose="02010600030101010101" pitchFamily="2" charset="-122"/>
              </a:rPr>
              <a:t>），通用性更强。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43560" y="271145"/>
            <a:ext cx="5864860" cy="414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1050" b="0">
                <a:ea typeface="宋体" panose="02010600030101010101" pitchFamily="2" charset="-122"/>
              </a:rPr>
              <a:t>4.2</a:t>
            </a:r>
            <a:r>
              <a:rPr lang="zh-CN" sz="1050" b="0">
                <a:ea typeface="宋体" panose="02010600030101010101" pitchFamily="2" charset="-122"/>
              </a:rPr>
              <a:t>（</a:t>
            </a:r>
            <a:r>
              <a:rPr lang="en-US" sz="105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sz="1050" b="0">
                <a:ea typeface="宋体" panose="02010600030101010101" pitchFamily="2" charset="-122"/>
              </a:rPr>
              <a:t>）二进制码转至</a:t>
            </a:r>
            <a:r>
              <a:rPr lang="en-US" sz="1050" b="0">
                <a:latin typeface="Times New Roman" panose="02020603050405020304" pitchFamily="18" charset="0"/>
                <a:ea typeface="宋体" panose="02010600030101010101" pitchFamily="2" charset="-122"/>
              </a:rPr>
              <a:t>2421</a:t>
            </a:r>
            <a:endParaRPr lang="zh-CN" sz="1050" b="0">
              <a:ea typeface="宋体" panose="02010600030101010101" pitchFamily="2" charset="-122"/>
            </a:endParaRPr>
          </a:p>
          <a:p>
            <a:pPr indent="0"/>
            <a:r>
              <a:rPr lang="zh-CN" sz="1050" b="0">
                <a:ea typeface="宋体" panose="02010600030101010101" pitchFamily="2" charset="-122"/>
              </a:rPr>
              <a:t>真值表如下：</a:t>
            </a:r>
            <a:r>
              <a:rPr lang="en-US" sz="1050" b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sz="1050" b="0">
                <a:ea typeface="宋体" panose="02010600030101010101" pitchFamily="2" charset="-122"/>
              </a:rPr>
              <a:t>为二进制码，</a:t>
            </a:r>
            <a:r>
              <a:rPr lang="en-US" sz="1050" b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sz="1050" b="0">
                <a:ea typeface="宋体" panose="02010600030101010101" pitchFamily="2" charset="-122"/>
              </a:rPr>
              <a:t>为</a:t>
            </a:r>
            <a:r>
              <a:rPr lang="en-US" sz="1050" b="0">
                <a:latin typeface="Times New Roman" panose="02020603050405020304" pitchFamily="18" charset="0"/>
                <a:ea typeface="宋体" panose="02010600030101010101" pitchFamily="2" charset="-122"/>
              </a:rPr>
              <a:t>2421</a:t>
            </a:r>
            <a:r>
              <a:rPr lang="zh-CN" sz="1050" b="0">
                <a:ea typeface="宋体" panose="02010600030101010101" pitchFamily="2" charset="-122"/>
              </a:rPr>
              <a:t>码</a:t>
            </a:r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59485" y="725170"/>
          <a:ext cx="4797425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5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91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65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B3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G10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G3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S0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01" name="文本框 100"/>
          <p:cNvSpPr txBox="1"/>
          <p:nvPr/>
        </p:nvSpPr>
        <p:spPr>
          <a:xfrm>
            <a:off x="543560" y="4053205"/>
            <a:ext cx="5864860" cy="3003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endParaRPr lang="en-US" sz="1050" b="0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050" b="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543560" y="4558665"/>
            <a:ext cx="5864860" cy="1955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1050" b="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/>
          </a:p>
        </p:txBody>
      </p:sp>
      <p:sp>
        <p:nvSpPr>
          <p:cNvPr id="104" name="文本框 103"/>
          <p:cNvSpPr txBox="1"/>
          <p:nvPr/>
        </p:nvSpPr>
        <p:spPr>
          <a:xfrm>
            <a:off x="543560" y="5268595"/>
            <a:ext cx="5864860" cy="1955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1050" b="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61695" y="3326130"/>
            <a:ext cx="5080000" cy="252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zh-CN" sz="1050" b="0">
                <a:ea typeface="宋体" panose="02010600030101010101" pitchFamily="2" charset="-122"/>
              </a:rPr>
              <a:t>最小项表达式为：</a:t>
            </a:r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861695" y="3578860"/>
            <a:ext cx="2026920" cy="4610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/>
          <p:cNvPicPr/>
          <p:nvPr/>
        </p:nvPicPr>
        <p:blipFill>
          <a:blip r:embed="rId4"/>
          <a:stretch>
            <a:fillRect/>
          </a:stretch>
        </p:blipFill>
        <p:spPr>
          <a:xfrm>
            <a:off x="880745" y="3952240"/>
            <a:ext cx="1590675" cy="4610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7" name="文本框 106"/>
          <p:cNvSpPr txBox="1"/>
          <p:nvPr/>
        </p:nvSpPr>
        <p:spPr>
          <a:xfrm>
            <a:off x="861695" y="4393565"/>
            <a:ext cx="5080000" cy="1955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en-US" sz="1050" b="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/>
          </a:p>
        </p:txBody>
      </p:sp>
      <p:pic>
        <p:nvPicPr>
          <p:cNvPr id="13" name="图片 12"/>
          <p:cNvPicPr/>
          <p:nvPr/>
        </p:nvPicPr>
        <p:blipFill>
          <a:blip r:embed="rId5"/>
          <a:stretch>
            <a:fillRect/>
          </a:stretch>
        </p:blipFill>
        <p:spPr>
          <a:xfrm>
            <a:off x="861695" y="4369435"/>
            <a:ext cx="1612265" cy="4610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8" name="图片 107"/>
          <p:cNvPicPr/>
          <p:nvPr/>
        </p:nvPicPr>
        <p:blipFill>
          <a:blip r:embed="rId6"/>
          <a:stretch>
            <a:fillRect/>
          </a:stretch>
        </p:blipFill>
        <p:spPr>
          <a:xfrm>
            <a:off x="861695" y="4846320"/>
            <a:ext cx="1983105" cy="4610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9" name="文本框 108"/>
          <p:cNvSpPr txBox="1"/>
          <p:nvPr/>
        </p:nvSpPr>
        <p:spPr>
          <a:xfrm>
            <a:off x="861695" y="5103495"/>
            <a:ext cx="5080000" cy="1955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en-US" sz="1050" b="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endParaRPr lang="zh-CN" altLang="en-US"/>
          </a:p>
        </p:txBody>
      </p:sp>
      <p:pic>
        <p:nvPicPr>
          <p:cNvPr id="14" name="图片 13"/>
          <p:cNvPicPr/>
          <p:nvPr/>
        </p:nvPicPr>
        <p:blipFill>
          <a:blip r:embed="rId7"/>
          <a:stretch>
            <a:fillRect/>
          </a:stretch>
        </p:blipFill>
        <p:spPr>
          <a:xfrm>
            <a:off x="861695" y="5299075"/>
            <a:ext cx="1950085" cy="4610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0" name="文本框 109"/>
          <p:cNvSpPr txBox="1"/>
          <p:nvPr/>
        </p:nvSpPr>
        <p:spPr>
          <a:xfrm>
            <a:off x="861695" y="5556250"/>
            <a:ext cx="5080000" cy="414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endParaRPr lang="zh-CN" sz="1050" b="0">
              <a:ea typeface="宋体" panose="02010600030101010101" pitchFamily="2" charset="-122"/>
            </a:endParaRPr>
          </a:p>
          <a:p>
            <a:pPr indent="0"/>
            <a:r>
              <a:rPr lang="zh-CN" sz="1050" b="0">
                <a:ea typeface="宋体" panose="02010600030101010101" pitchFamily="2" charset="-122"/>
              </a:rPr>
              <a:t>阵列图为：略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240030" y="68580"/>
            <a:ext cx="5251450" cy="414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1050" b="0">
                <a:latin typeface="Times New Roman" panose="02020603050405020304" pitchFamily="18" charset="0"/>
                <a:ea typeface="宋体" panose="02010600030101010101" pitchFamily="2" charset="-122"/>
              </a:rPr>
              <a:t>(3)</a:t>
            </a:r>
            <a:r>
              <a:rPr lang="zh-CN" sz="1050" b="0">
                <a:ea typeface="宋体" panose="02010600030101010101" pitchFamily="2" charset="-122"/>
              </a:rPr>
              <a:t>典型</a:t>
            </a:r>
            <a:r>
              <a:rPr lang="en-US" sz="1050" b="0">
                <a:latin typeface="Times New Roman" panose="02020603050405020304" pitchFamily="18" charset="0"/>
                <a:ea typeface="宋体" panose="02010600030101010101" pitchFamily="2" charset="-122"/>
              </a:rPr>
              <a:t>Gray</a:t>
            </a:r>
            <a:r>
              <a:rPr lang="zh-CN" sz="1050" b="0">
                <a:ea typeface="宋体" panose="02010600030101010101" pitchFamily="2" charset="-122"/>
              </a:rPr>
              <a:t>码至</a:t>
            </a:r>
            <a:r>
              <a:rPr lang="en-US" sz="1050" b="0">
                <a:latin typeface="Times New Roman" panose="02020603050405020304" pitchFamily="18" charset="0"/>
                <a:ea typeface="宋体" panose="02010600030101010101" pitchFamily="2" charset="-122"/>
              </a:rPr>
              <a:t>8421</a:t>
            </a:r>
            <a:endParaRPr lang="zh-CN" sz="1050" b="0">
              <a:ea typeface="宋体" panose="02010600030101010101" pitchFamily="2" charset="-122"/>
            </a:endParaRPr>
          </a:p>
          <a:p>
            <a:pPr indent="0"/>
            <a:r>
              <a:rPr lang="zh-CN" sz="1050" b="0">
                <a:ea typeface="宋体" panose="02010600030101010101" pitchFamily="2" charset="-122"/>
              </a:rPr>
              <a:t>真值表如下：</a:t>
            </a:r>
            <a:r>
              <a:rPr lang="en-US" sz="1050" b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sz="1050" b="0">
                <a:ea typeface="宋体" panose="02010600030101010101" pitchFamily="2" charset="-122"/>
              </a:rPr>
              <a:t>为典型</a:t>
            </a:r>
            <a:r>
              <a:rPr lang="en-US" sz="1050" b="0">
                <a:latin typeface="Times New Roman" panose="02020603050405020304" pitchFamily="18" charset="0"/>
                <a:ea typeface="宋体" panose="02010600030101010101" pitchFamily="2" charset="-122"/>
              </a:rPr>
              <a:t>Grey</a:t>
            </a:r>
            <a:r>
              <a:rPr lang="zh-CN" sz="1050" b="0">
                <a:ea typeface="宋体" panose="02010600030101010101" pitchFamily="2" charset="-122"/>
              </a:rPr>
              <a:t>码，</a:t>
            </a:r>
            <a:r>
              <a:rPr lang="en-US" sz="1050" b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sz="1050" b="0">
                <a:ea typeface="宋体" panose="02010600030101010101" pitchFamily="2" charset="-122"/>
              </a:rPr>
              <a:t>为</a:t>
            </a:r>
            <a:r>
              <a:rPr lang="en-US" sz="1050" b="0">
                <a:latin typeface="Times New Roman" panose="02020603050405020304" pitchFamily="18" charset="0"/>
                <a:ea typeface="宋体" panose="02010600030101010101" pitchFamily="2" charset="-122"/>
              </a:rPr>
              <a:t>8421</a:t>
            </a:r>
            <a:r>
              <a:rPr lang="zh-CN" sz="1050" b="0">
                <a:ea typeface="宋体" panose="02010600030101010101" pitchFamily="2" charset="-122"/>
              </a:rPr>
              <a:t>码</a:t>
            </a:r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407670" y="620395"/>
          <a:ext cx="2852420" cy="4188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5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1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13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B3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G10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G3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S0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571240" y="814070"/>
            <a:ext cx="5283835" cy="252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1050" b="0">
                <a:ea typeface="宋体" panose="02010600030101010101" pitchFamily="2" charset="-122"/>
              </a:rPr>
              <a:t>最小项表达式为：</a:t>
            </a:r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3571240" y="1066800"/>
            <a:ext cx="1703705" cy="4197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1" name="文本框 110"/>
          <p:cNvSpPr txBox="1"/>
          <p:nvPr/>
        </p:nvSpPr>
        <p:spPr>
          <a:xfrm>
            <a:off x="3571240" y="1323975"/>
            <a:ext cx="5283835" cy="3003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endParaRPr lang="en-US" sz="1050" b="0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050" b="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4"/>
          <a:stretch>
            <a:fillRect/>
          </a:stretch>
        </p:blipFill>
        <p:spPr>
          <a:xfrm>
            <a:off x="3571240" y="1624330"/>
            <a:ext cx="1089660" cy="4197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" name="文本框 111"/>
          <p:cNvSpPr txBox="1"/>
          <p:nvPr/>
        </p:nvSpPr>
        <p:spPr>
          <a:xfrm>
            <a:off x="3571240" y="1881505"/>
            <a:ext cx="5283835" cy="1955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1050" b="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5"/>
          <a:stretch>
            <a:fillRect/>
          </a:stretch>
        </p:blipFill>
        <p:spPr>
          <a:xfrm>
            <a:off x="3571240" y="2077085"/>
            <a:ext cx="1397000" cy="4197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" name="图片 112"/>
          <p:cNvPicPr/>
          <p:nvPr/>
        </p:nvPicPr>
        <p:blipFill>
          <a:blip r:embed="rId6"/>
          <a:stretch>
            <a:fillRect/>
          </a:stretch>
        </p:blipFill>
        <p:spPr>
          <a:xfrm>
            <a:off x="3571240" y="2541270"/>
            <a:ext cx="1505585" cy="4197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/>
          <p:nvPr/>
        </p:nvPicPr>
        <p:blipFill>
          <a:blip r:embed="rId7"/>
          <a:stretch>
            <a:fillRect/>
          </a:stretch>
        </p:blipFill>
        <p:spPr>
          <a:xfrm>
            <a:off x="3571240" y="3005455"/>
            <a:ext cx="1802765" cy="4197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5" name="文本框 114"/>
          <p:cNvSpPr txBox="1"/>
          <p:nvPr/>
        </p:nvSpPr>
        <p:spPr>
          <a:xfrm>
            <a:off x="3440430" y="3631565"/>
            <a:ext cx="5283835" cy="414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endParaRPr lang="zh-CN" sz="1050" b="0">
              <a:ea typeface="宋体" panose="02010600030101010101" pitchFamily="2" charset="-122"/>
            </a:endParaRPr>
          </a:p>
          <a:p>
            <a:pPr indent="0"/>
            <a:r>
              <a:rPr lang="zh-CN" sz="1050" b="0">
                <a:ea typeface="宋体" panose="02010600030101010101" pitchFamily="2" charset="-122"/>
              </a:rPr>
              <a:t>阵列图为：略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0" y="132715"/>
            <a:ext cx="592264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1200" b="1">
                <a:latin typeface="Times New Roman" panose="02020603050405020304" pitchFamily="18" charset="0"/>
                <a:ea typeface="宋体" panose="02010600030101010101" pitchFamily="2" charset="-122"/>
              </a:rPr>
              <a:t>4.3 </a:t>
            </a:r>
            <a:r>
              <a:rPr lang="zh-CN" sz="1200" b="1">
                <a:ea typeface="宋体" panose="02010600030101010101" pitchFamily="2" charset="-122"/>
              </a:rPr>
              <a:t>二位加法器</a:t>
            </a:r>
            <a:endParaRPr lang="zh-CN" sz="1050" b="0">
              <a:ea typeface="宋体" panose="02010600030101010101" pitchFamily="2" charset="-122"/>
            </a:endParaRPr>
          </a:p>
          <a:p>
            <a:pPr indent="0"/>
            <a:r>
              <a:rPr lang="zh-CN" sz="1050" b="0">
                <a:ea typeface="宋体" panose="02010600030101010101" pitchFamily="2" charset="-122"/>
              </a:rPr>
              <a:t>设</a:t>
            </a:r>
            <a:r>
              <a:rPr lang="en-US" sz="1050" b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sz="1050" b="0">
                <a:ea typeface="宋体" panose="02010600030101010101" pitchFamily="2" charset="-122"/>
              </a:rPr>
              <a:t>，</a:t>
            </a:r>
            <a:r>
              <a:rPr lang="en-US" sz="1050" b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sz="1050" b="0">
                <a:ea typeface="宋体" panose="02010600030101010101" pitchFamily="2" charset="-122"/>
              </a:rPr>
              <a:t>为两个二位二进制数，</a:t>
            </a:r>
            <a:r>
              <a:rPr lang="en-US" sz="1050" b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sz="1050" b="0">
                <a:ea typeface="宋体" panose="02010600030101010101" pitchFamily="2" charset="-122"/>
              </a:rPr>
              <a:t>为相加结果，真值表如下：</a:t>
            </a:r>
            <a:endParaRPr lang="en-US" sz="105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05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301625" y="887730"/>
          <a:ext cx="3246120" cy="44259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1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8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S3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  <a:endParaRPr lang="en-US" altLang="en-US" sz="10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US" sz="10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3705225" y="474028"/>
            <a:ext cx="1733550" cy="257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6" name="文本框 115"/>
          <p:cNvSpPr txBox="1"/>
          <p:nvPr/>
        </p:nvSpPr>
        <p:spPr>
          <a:xfrm>
            <a:off x="3705225" y="731203"/>
            <a:ext cx="5080000" cy="1955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en-US" sz="1050" b="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4"/>
          <a:stretch>
            <a:fillRect/>
          </a:stretch>
        </p:blipFill>
        <p:spPr>
          <a:xfrm>
            <a:off x="3705225" y="926783"/>
            <a:ext cx="1685925" cy="257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7" name="文本框 116"/>
          <p:cNvSpPr txBox="1"/>
          <p:nvPr/>
        </p:nvSpPr>
        <p:spPr>
          <a:xfrm>
            <a:off x="3705225" y="1183958"/>
            <a:ext cx="5080000" cy="1955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en-US" sz="1050" b="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5"/>
          <a:stretch>
            <a:fillRect/>
          </a:stretch>
        </p:blipFill>
        <p:spPr>
          <a:xfrm>
            <a:off x="3705225" y="1379537"/>
            <a:ext cx="1733550" cy="257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745" y="1693545"/>
            <a:ext cx="3953510" cy="4063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347345" y="351155"/>
            <a:ext cx="5595620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1200" b="1">
                <a:latin typeface="Times New Roman" panose="02020603050405020304" pitchFamily="18" charset="0"/>
                <a:ea typeface="宋体" panose="02010600030101010101" pitchFamily="2" charset="-122"/>
              </a:rPr>
              <a:t>4.4</a:t>
            </a:r>
            <a:endParaRPr lang="zh-CN" altLang="en-US"/>
          </a:p>
        </p:txBody>
      </p: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347345" y="626745"/>
            <a:ext cx="2673350" cy="3086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9" name="文本框 118"/>
          <p:cNvSpPr txBox="1"/>
          <p:nvPr/>
        </p:nvSpPr>
        <p:spPr>
          <a:xfrm>
            <a:off x="60960" y="2554922"/>
            <a:ext cx="5080000" cy="4375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en-US" sz="1200" b="1">
                <a:latin typeface="Times New Roman" panose="02020603050405020304" pitchFamily="18" charset="0"/>
                <a:ea typeface="宋体" panose="02010600030101010101" pitchFamily="2" charset="-122"/>
              </a:rPr>
              <a:t>4.5</a:t>
            </a:r>
            <a:endParaRPr lang="zh-CN" sz="1050" b="0">
              <a:ea typeface="宋体" panose="02010600030101010101" pitchFamily="2" charset="-122"/>
            </a:endParaRPr>
          </a:p>
          <a:p>
            <a:pPr indent="0"/>
            <a:r>
              <a:rPr lang="zh-CN" sz="1050" b="0">
                <a:ea typeface="宋体" panose="02010600030101010101" pitchFamily="2" charset="-122"/>
              </a:rPr>
              <a:t>可以利用</a:t>
            </a:r>
            <a:r>
              <a:rPr lang="en-US" sz="1050" b="0">
                <a:latin typeface="Times New Roman" panose="02020603050405020304" pitchFamily="18" charset="0"/>
                <a:ea typeface="宋体" panose="02010600030101010101" pitchFamily="2" charset="-122"/>
              </a:rPr>
              <a:t>PLA</a:t>
            </a:r>
            <a:r>
              <a:rPr lang="zh-CN" sz="1050" b="0">
                <a:ea typeface="宋体" panose="02010600030101010101" pitchFamily="2" charset="-122"/>
              </a:rPr>
              <a:t>阵列图表示所要求实现的逻辑函数，</a:t>
            </a:r>
            <a:r>
              <a:rPr lang="zh-CN" sz="1050" b="0">
                <a:latin typeface="Times New Roman" panose="02020603050405020304" pitchFamily="18" charset="0"/>
                <a:ea typeface="宋体" panose="02010600030101010101" pitchFamily="2" charset="-122"/>
              </a:rPr>
              <a:t>如图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693" y="440016"/>
            <a:ext cx="4007485" cy="52298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63855" y="1685290"/>
                <a:ext cx="5595620" cy="200152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indent="0"/>
                <a:r>
                  <a:rPr lang="en-US" sz="12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4.8</a:t>
                </a:r>
                <a:r>
                  <a:rPr lang="zh-CN" altLang="en-US" sz="12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列出次态方程</a:t>
                </a:r>
              </a:p>
              <a:p>
                <a:pPr indent="0"/>
                <a:endParaRPr lang="en-US" altLang="zh-CN" sz="1200" b="1" i="1" baseline="30000">
                  <a:latin typeface="Cambria Math" panose="02040503050406030204" charset="0"/>
                  <a:ea typeface="宋体" panose="02010600030101010101" pitchFamily="2" charset="-122"/>
                  <a:cs typeface="Cambria Math" panose="02040503050406030204" charset="0"/>
                </a:endParaRPr>
              </a:p>
              <a:p>
                <a:pPr indent="0"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1" i="1" baseline="300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sz="2400" b="1" i="1" baseline="3000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𝑸</m:t>
                        </m:r>
                      </m:e>
                      <m:sub>
                        <m:r>
                          <a:rPr lang="en-US" altLang="zh-CN" sz="2400" b="1" i="1" baseline="3000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 baseline="3000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𝒏</m:t>
                        </m:r>
                        <m:r>
                          <a:rPr lang="en-US" altLang="zh-CN" sz="2400" b="1" i="1" baseline="3000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sz="2400" b="1" i="1" baseline="3000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altLang="zh-CN" sz="2400" b="1" i="1" baseline="30000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baseline="300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b="1" i="1" baseline="3000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𝑸</m:t>
                        </m:r>
                      </m:e>
                      <m:sub>
                        <m:r>
                          <a:rPr lang="en-US" altLang="zh-CN" sz="2400" b="1" i="1" baseline="3000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𝟕</m:t>
                        </m:r>
                      </m:sub>
                    </m:sSub>
                  </m:oMath>
                </a14:m>
                <a:endParaRPr lang="en-US" altLang="zh-CN" sz="1200" b="1" i="1" baseline="30000">
                  <a:latin typeface="Cambria Math" panose="02040503050406030204" charset="0"/>
                  <a:ea typeface="宋体" panose="02010600030101010101" pitchFamily="2" charset="-122"/>
                  <a:cs typeface="Cambria Math" panose="02040503050406030204" charset="0"/>
                </a:endParaRPr>
              </a:p>
              <a:p>
                <a:pPr indent="0"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1" i="1" baseline="300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sz="2400" b="1" i="1" baseline="3000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𝑸</m:t>
                        </m:r>
                      </m:e>
                      <m:sub>
                        <m:r>
                          <a:rPr lang="en-US" altLang="zh-CN" sz="2400" b="1" i="1" baseline="3000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 baseline="3000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𝒏</m:t>
                        </m:r>
                        <m:r>
                          <a:rPr lang="en-US" altLang="zh-CN" sz="2400" b="1" i="1" baseline="3000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sz="2400" b="1" i="1" baseline="3000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altLang="zh-CN" sz="2400" b="1" i="1" baseline="30000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baseline="300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b="1" i="1" baseline="3000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𝑸</m:t>
                        </m:r>
                      </m:e>
                      <m:sub>
                        <m:r>
                          <a:rPr lang="en-US" altLang="zh-CN" sz="2400" b="1" i="1" baseline="3000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altLang="zh-CN" sz="2400" b="1" i="1" baseline="30000">
                  <a:latin typeface="Cambria Math" panose="02040503050406030204" charset="0"/>
                  <a:ea typeface="宋体" panose="02010600030101010101" pitchFamily="2" charset="-122"/>
                  <a:cs typeface="Cambria Math" panose="02040503050406030204" charset="0"/>
                </a:endParaRPr>
              </a:p>
              <a:p>
                <a:pPr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baseline="30000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⋯</m:t>
                      </m:r>
                    </m:oMath>
                  </m:oMathPara>
                </a14:m>
                <a:endParaRPr lang="en-US" altLang="zh-CN" sz="2400" b="1" i="1" baseline="30000">
                  <a:latin typeface="Cambria Math" panose="02040503050406030204" charset="0"/>
                  <a:ea typeface="宋体" panose="02010600030101010101" pitchFamily="2" charset="-122"/>
                  <a:cs typeface="Cambria Math" panose="02040503050406030204" charset="0"/>
                </a:endParaRPr>
              </a:p>
              <a:p>
                <a:pPr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b="1" i="1" baseline="300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400" b="1" i="1" baseline="30000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400" b="1" i="1" baseline="30000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𝟕</m:t>
                          </m:r>
                        </m:sub>
                        <m:sup>
                          <m:r>
                            <a:rPr lang="en-US" altLang="zh-CN" sz="2400" b="1" i="1" baseline="30000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𝒏</m:t>
                          </m:r>
                          <m:r>
                            <a:rPr lang="en-US" altLang="zh-CN" sz="2400" b="1" i="1" baseline="30000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sz="2400" b="1" i="1" baseline="30000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𝟏</m:t>
                          </m:r>
                        </m:sup>
                      </m:sSubSup>
                      <m:r>
                        <a:rPr lang="en-US" altLang="zh-CN" sz="2400" b="1" i="1" baseline="30000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baseline="300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b="1" i="1" baseline="30000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sz="2400" b="1" i="1" baseline="30000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en-US" altLang="zh-CN" sz="2400" b="1" i="1" baseline="30000">
                  <a:latin typeface="Cambria Math" panose="02040503050406030204" charset="0"/>
                  <a:ea typeface="宋体" panose="02010600030101010101" pitchFamily="2" charset="-122"/>
                  <a:cs typeface="Cambria Math" panose="02040503050406030204" charset="0"/>
                </a:endParaRPr>
              </a:p>
              <a:p>
                <a:pPr indent="0"/>
                <a:endParaRPr lang="en-US" altLang="zh-CN" sz="2400" b="1" i="1" baseline="30000">
                  <a:latin typeface="Cambria Math" panose="02040503050406030204" charset="0"/>
                  <a:ea typeface="宋体" panose="02010600030101010101" pitchFamily="2" charset="-122"/>
                  <a:cs typeface="Cambria Math" panose="02040503050406030204" charset="0"/>
                </a:endParaRPr>
              </a:p>
              <a:p>
                <a:pPr indent="0"/>
                <a:r>
                  <a:rPr lang="zh-CN" altLang="en-US" sz="12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可参考书</a:t>
                </a:r>
                <a:r>
                  <a:rPr lang="en-US" altLang="zh-CN" sz="12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p159</a:t>
                </a:r>
                <a:r>
                  <a:rPr lang="zh-CN" altLang="en-US" sz="1200" b="1">
                    <a:latin typeface="Times New Roman" panose="02020603050405020304" pitchFamily="18" charset="0"/>
                    <a:ea typeface="宋体" panose="02010600030101010101" pitchFamily="2" charset="-122"/>
                    <a:sym typeface="+mn-ea"/>
                  </a:rPr>
                  <a:t>图</a:t>
                </a:r>
                <a:r>
                  <a:rPr lang="en-US" altLang="zh-CN" sz="1200" b="1">
                    <a:latin typeface="Times New Roman" panose="02020603050405020304" pitchFamily="18" charset="0"/>
                    <a:ea typeface="宋体" panose="02010600030101010101" pitchFamily="2" charset="-122"/>
                    <a:sym typeface="+mn-ea"/>
                  </a:rPr>
                  <a:t>4.15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55" y="1685290"/>
                <a:ext cx="5595620" cy="20015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469900" y="325120"/>
            <a:ext cx="827087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4.10</a:t>
            </a:r>
            <a:endParaRPr lang="en-US" sz="20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GAL</a:t>
            </a:r>
            <a:r>
              <a:rPr lang="zh-CN" sz="2000" b="0">
                <a:ea typeface="宋体" panose="02010600030101010101" pitchFamily="2" charset="-122"/>
              </a:rPr>
              <a:t>器件在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PAL</a:t>
            </a:r>
            <a:r>
              <a:rPr lang="zh-CN" sz="2000" b="0">
                <a:ea typeface="宋体" panose="02010600030101010101" pitchFamily="2" charset="-122"/>
              </a:rPr>
              <a:t>器件的基础上做了一些改进。在工艺方面，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GAL</a:t>
            </a:r>
            <a:r>
              <a:rPr lang="zh-CN" sz="2000" b="0">
                <a:ea typeface="宋体" panose="02010600030101010101" pitchFamily="2" charset="-122"/>
              </a:rPr>
              <a:t>器件采用高速电可擦除除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CMOS</a:t>
            </a:r>
            <a:r>
              <a:rPr lang="zh-CN" sz="2000" b="0">
                <a:ea typeface="宋体" panose="02010600030101010101" pitchFamily="2" charset="-122"/>
              </a:rPr>
              <a:t>的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sz="2000" b="0" baseline="30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CMOS</a:t>
            </a:r>
            <a:r>
              <a:rPr lang="zh-CN" sz="2000" b="0">
                <a:ea typeface="宋体" panose="02010600030101010101" pitchFamily="2" charset="-122"/>
              </a:rPr>
              <a:t>工艺制作，使其具有了可测试性、低功耗、高集成性、高速率和可重复编程性。在结构方面，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GAL</a:t>
            </a:r>
            <a:r>
              <a:rPr lang="zh-CN" sz="2000" b="0">
                <a:ea typeface="宋体" panose="02010600030101010101" pitchFamily="2" charset="-122"/>
              </a:rPr>
              <a:t>器件的结构是通用的，为设计者提供了最大的灵活性。器件内增加了可被编程的保密位，以防对逻辑的复制。</a:t>
            </a: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469900" y="2827655"/>
            <a:ext cx="8092440" cy="16300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sz="2000">
                <a:ea typeface="宋体" panose="02010600030101010101" pitchFamily="2" charset="-122"/>
              </a:rPr>
              <a:t>4.13</a:t>
            </a:r>
            <a:endParaRPr lang="zh-CN" sz="2000" b="0"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sz="2000" b="0">
                <a:ea typeface="宋体" panose="02010600030101010101" pitchFamily="2" charset="-122"/>
              </a:rPr>
              <a:t>MAX7000S是在系统可编程的CPLD器件，内部结构是基于乘积项，也就是与或阵列结构。采用E2PROM工艺，采用多电压的I/O接口，其I/O既能够和5V的器件兼容，又能和3.3V的器件兼容。MAX7000是高成本CPLD，规模比较大。</a:t>
            </a:r>
            <a:endParaRPr lang="zh-CN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452755" y="231140"/>
            <a:ext cx="7845425" cy="31692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4.15</a:t>
            </a:r>
            <a:endParaRPr lang="en-US" sz="20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XC400</a:t>
            </a:r>
            <a:r>
              <a:rPr lang="zh-CN" sz="2000" b="0">
                <a:ea typeface="宋体" panose="02010600030101010101" pitchFamily="2" charset="-122"/>
              </a:rPr>
              <a:t>主要由可编程逻辑块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CLB</a:t>
            </a:r>
            <a:r>
              <a:rPr lang="zh-CN" sz="2000" b="0">
                <a:ea typeface="宋体" panose="02010600030101010101" pitchFamily="2" charset="-122"/>
              </a:rPr>
              <a:t>、可配置存储器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sz="2000" b="0">
                <a:ea typeface="宋体" panose="02010600030101010101" pitchFamily="2" charset="-122"/>
              </a:rPr>
              <a:t>阵列、可编程输出输出块以及可编程内部连线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PI</a:t>
            </a:r>
            <a:r>
              <a:rPr lang="zh-CN" sz="2000" b="0">
                <a:ea typeface="宋体" panose="02010600030101010101" pitchFamily="2" charset="-122"/>
              </a:rPr>
              <a:t>组成。</a:t>
            </a:r>
            <a:endParaRPr lang="en-US" sz="20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CLB</a:t>
            </a:r>
            <a:r>
              <a:rPr lang="zh-CN" sz="2000" b="0">
                <a:ea typeface="宋体" panose="02010600030101010101" pitchFamily="2" charset="-122"/>
              </a:rPr>
              <a:t>给予查找表结构，还包括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sz="2000" b="0">
                <a:ea typeface="宋体" panose="02010600030101010101" pitchFamily="2" charset="-122"/>
              </a:rPr>
              <a:t>个触发器，用来实现时序逻辑。</a:t>
            </a:r>
          </a:p>
          <a:p>
            <a:pPr indent="0"/>
            <a:r>
              <a:rPr lang="zh-CN" sz="2000" b="0">
                <a:ea typeface="宋体" panose="02010600030101010101" pitchFamily="2" charset="-122"/>
              </a:rPr>
              <a:t>可配置存储器是一种静态存储器，由两个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CMOS</a:t>
            </a:r>
            <a:r>
              <a:rPr lang="zh-CN" sz="2000" b="0">
                <a:ea typeface="宋体" panose="02010600030101010101" pitchFamily="2" charset="-122"/>
              </a:rPr>
              <a:t>反相器和一个用来控制读写的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MOS</a:t>
            </a:r>
            <a:r>
              <a:rPr lang="zh-CN" sz="2000" b="0">
                <a:ea typeface="宋体" panose="02010600030101010101" pitchFamily="2" charset="-122"/>
              </a:rPr>
              <a:t>传输开关构成。</a:t>
            </a:r>
          </a:p>
          <a:p>
            <a:pPr indent="0"/>
            <a:r>
              <a:rPr lang="zh-CN" sz="2000" b="0">
                <a:ea typeface="宋体" panose="02010600030101010101" pitchFamily="2" charset="-122"/>
              </a:rPr>
              <a:t>可编程输入输出块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IOB</a:t>
            </a:r>
            <a:r>
              <a:rPr lang="zh-CN" sz="2000" b="0">
                <a:ea typeface="宋体" panose="02010600030101010101" pitchFamily="2" charset="-122"/>
              </a:rPr>
              <a:t>可以灵活编程，以实现不同逻辑功能，满足不同逻辑的需求。</a:t>
            </a:r>
          </a:p>
          <a:p>
            <a:pPr indent="0"/>
            <a:r>
              <a:rPr lang="zh-CN" sz="2000" b="0">
                <a:ea typeface="宋体" panose="02010600030101010101" pitchFamily="2" charset="-122"/>
              </a:rPr>
              <a:t>可编程内部连线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PI</a:t>
            </a:r>
            <a:r>
              <a:rPr lang="zh-CN" sz="2000" b="0">
                <a:ea typeface="宋体" panose="02010600030101010101" pitchFamily="2" charset="-122"/>
              </a:rPr>
              <a:t>是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XC4000</a:t>
            </a:r>
            <a:r>
              <a:rPr lang="zh-CN" sz="2000" b="0">
                <a:ea typeface="宋体" panose="02010600030101010101" pitchFamily="2" charset="-122"/>
              </a:rPr>
              <a:t>系列中特殊的内部连线，连线资源由水平和垂直的布线通道构成。</a:t>
            </a:r>
            <a:endParaRPr lang="zh-CN" alt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681990" y="219075"/>
            <a:ext cx="4482465" cy="53232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4.17</a:t>
            </a:r>
            <a:endParaRPr lang="zh-CN" sz="2000" b="0">
              <a:ea typeface="宋体" panose="02010600030101010101" pitchFamily="2" charset="-122"/>
            </a:endParaRPr>
          </a:p>
          <a:p>
            <a:pPr indent="0"/>
            <a:r>
              <a:rPr lang="zh-CN" sz="2000" b="0">
                <a:ea typeface="宋体" panose="02010600030101010101" pitchFamily="2" charset="-122"/>
              </a:rPr>
              <a:t>源代码：</a:t>
            </a:r>
            <a:endParaRPr lang="en-US" sz="20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LIBRARY  IEEE</a:t>
            </a:r>
            <a:r>
              <a:rPr lang="zh-CN" sz="2000" b="0">
                <a:ea typeface="宋体" panose="02010600030101010101" pitchFamily="2" charset="-122"/>
              </a:rPr>
              <a:t>；</a:t>
            </a:r>
            <a:endParaRPr lang="en-US" sz="20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USE  IEEE.STD_LOGIC_1164.ALL</a:t>
            </a:r>
            <a:r>
              <a:rPr lang="zh-CN" sz="2000" b="0">
                <a:ea typeface="宋体" panose="02010600030101010101" pitchFamily="2" charset="-122"/>
              </a:rPr>
              <a:t>；</a:t>
            </a:r>
            <a:endParaRPr lang="en-US" sz="20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ENTITY  sop  IS</a:t>
            </a: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PORT (a</a:t>
            </a:r>
            <a:r>
              <a:rPr lang="zh-CN" sz="2000" b="0">
                <a:ea typeface="宋体" panose="02010600030101010101" pitchFamily="2" charset="-122"/>
              </a:rPr>
              <a:t>，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sz="2000" b="0">
                <a:ea typeface="宋体" panose="02010600030101010101" pitchFamily="2" charset="-122"/>
              </a:rPr>
              <a:t>，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sz="2000" b="0">
                <a:ea typeface="宋体" panose="02010600030101010101" pitchFamily="2" charset="-122"/>
              </a:rPr>
              <a:t>，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sz="2000" b="0">
                <a:ea typeface="宋体" panose="02010600030101010101" pitchFamily="2" charset="-122"/>
              </a:rPr>
              <a:t>，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sz="2000" b="0">
                <a:ea typeface="宋体" panose="02010600030101010101" pitchFamily="2" charset="-122"/>
              </a:rPr>
              <a:t>，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sz="2000" b="0">
                <a:ea typeface="宋体" panose="02010600030101010101" pitchFamily="2" charset="-122"/>
              </a:rPr>
              <a:t>：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IN STD_LOGIC</a:t>
            </a:r>
            <a:r>
              <a:rPr lang="zh-CN" sz="2000" b="0">
                <a:ea typeface="宋体" panose="02010600030101010101" pitchFamily="2" charset="-122"/>
              </a:rPr>
              <a:t>；</a:t>
            </a:r>
            <a:endParaRPr lang="en-US" sz="20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x</a:t>
            </a:r>
            <a:r>
              <a:rPr lang="zh-CN" sz="2000" b="0">
                <a:ea typeface="宋体" panose="02010600030101010101" pitchFamily="2" charset="-122"/>
              </a:rPr>
              <a:t>：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OUT STD_LOGIC</a:t>
            </a:r>
            <a:r>
              <a:rPr lang="zh-CN" sz="2000" b="0">
                <a:ea typeface="宋体" panose="02010600030101010101" pitchFamily="2" charset="-122"/>
              </a:rPr>
              <a:t>）；</a:t>
            </a:r>
            <a:endParaRPr lang="en-US" sz="20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END sop</a:t>
            </a:r>
            <a:r>
              <a:rPr lang="zh-CN" sz="2000" b="0">
                <a:ea typeface="宋体" panose="02010600030101010101" pitchFamily="2" charset="-122"/>
              </a:rPr>
              <a:t>；</a:t>
            </a:r>
            <a:endParaRPr lang="en-US" sz="20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ARCHITECTURE sop_arc OF sop IS</a:t>
            </a: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BEGIN</a:t>
            </a: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x</a:t>
            </a:r>
            <a:r>
              <a:rPr lang="zh-CN" sz="2000" b="0">
                <a:ea typeface="宋体" panose="02010600030101010101" pitchFamily="2" charset="-122"/>
              </a:rPr>
              <a:t>＜＝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(a AND b) OR (c AND d) OR (e AND f)</a:t>
            </a:r>
            <a:r>
              <a:rPr lang="zh-CN" sz="2000" b="0">
                <a:ea typeface="宋体" panose="02010600030101010101" pitchFamily="2" charset="-122"/>
              </a:rPr>
              <a:t>；</a:t>
            </a:r>
            <a:endParaRPr lang="en-US" sz="20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END sop_arc</a:t>
            </a:r>
            <a:r>
              <a:rPr lang="zh-CN" sz="2000" b="0">
                <a:ea typeface="宋体" panose="02010600030101010101" pitchFamily="2" charset="-122"/>
              </a:rPr>
              <a:t>；</a:t>
            </a:r>
            <a:endParaRPr lang="zh-CN" alt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616585" y="228917"/>
            <a:ext cx="5080000" cy="53232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4.18</a:t>
            </a:r>
            <a:endParaRPr lang="zh-CN" sz="2000" b="0">
              <a:ea typeface="宋体" panose="02010600030101010101" pitchFamily="2" charset="-122"/>
            </a:endParaRPr>
          </a:p>
          <a:p>
            <a:pPr indent="0"/>
            <a:r>
              <a:rPr lang="zh-CN" sz="2000" b="0">
                <a:ea typeface="宋体" panose="02010600030101010101" pitchFamily="2" charset="-122"/>
              </a:rPr>
              <a:t>源代码：</a:t>
            </a:r>
            <a:endParaRPr lang="en-US" sz="20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LIBRARY  IEEE</a:t>
            </a:r>
            <a:r>
              <a:rPr lang="zh-CN" sz="2000" b="0">
                <a:ea typeface="宋体" panose="02010600030101010101" pitchFamily="2" charset="-122"/>
              </a:rPr>
              <a:t>；</a:t>
            </a:r>
            <a:endParaRPr lang="en-US" sz="20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USE  IEEE.STD_LOGIC_1164.ALL</a:t>
            </a:r>
            <a:r>
              <a:rPr lang="zh-CN" sz="2000" b="0">
                <a:ea typeface="宋体" panose="02010600030101010101" pitchFamily="2" charset="-122"/>
              </a:rPr>
              <a:t>；</a:t>
            </a:r>
            <a:endParaRPr lang="en-US" sz="20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ENTITY  boolean  IS</a:t>
            </a: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PORT (a</a:t>
            </a:r>
            <a:r>
              <a:rPr lang="zh-CN" sz="2000" b="0">
                <a:ea typeface="宋体" panose="02010600030101010101" pitchFamily="2" charset="-122"/>
              </a:rPr>
              <a:t>，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sz="2000" b="0">
                <a:ea typeface="宋体" panose="02010600030101010101" pitchFamily="2" charset="-122"/>
              </a:rPr>
              <a:t>，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sz="2000" b="0">
                <a:ea typeface="宋体" panose="02010600030101010101" pitchFamily="2" charset="-122"/>
              </a:rPr>
              <a:t>：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IN STD_LOGIC</a:t>
            </a:r>
            <a:r>
              <a:rPr lang="zh-CN" sz="2000" b="0">
                <a:ea typeface="宋体" panose="02010600030101010101" pitchFamily="2" charset="-122"/>
              </a:rPr>
              <a:t>；</a:t>
            </a:r>
            <a:endParaRPr lang="en-US" sz="20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f</a:t>
            </a:r>
            <a:r>
              <a:rPr lang="zh-CN" sz="2000" b="0">
                <a:ea typeface="宋体" panose="02010600030101010101" pitchFamily="2" charset="-122"/>
              </a:rPr>
              <a:t>：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OUT STD_LOGIC</a:t>
            </a:r>
            <a:r>
              <a:rPr lang="zh-CN" sz="2000" b="0">
                <a:ea typeface="宋体" panose="02010600030101010101" pitchFamily="2" charset="-122"/>
              </a:rPr>
              <a:t>）；</a:t>
            </a:r>
            <a:endParaRPr lang="en-US" sz="20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END boolean </a:t>
            </a:r>
            <a:r>
              <a:rPr lang="zh-CN" sz="2000" b="0">
                <a:ea typeface="宋体" panose="02010600030101010101" pitchFamily="2" charset="-122"/>
              </a:rPr>
              <a:t>；</a:t>
            </a:r>
            <a:endParaRPr lang="en-US" sz="20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ARCHITECTURE boolean_arc OF boolean IS</a:t>
            </a: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BEGIN</a:t>
            </a: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f</a:t>
            </a:r>
            <a:r>
              <a:rPr lang="zh-CN" sz="2000" b="0">
                <a:ea typeface="宋体" panose="02010600030101010101" pitchFamily="2" charset="-122"/>
              </a:rPr>
              <a:t>＜＝</a:t>
            </a:r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(a OR (NOT b) OR c) AND (a OR b OR (NOT c)) AND ((NOT a) OR (NOT b) OR (NOT c))</a:t>
            </a:r>
            <a:r>
              <a:rPr lang="zh-CN" sz="2000" b="0">
                <a:ea typeface="宋体" panose="02010600030101010101" pitchFamily="2" charset="-122"/>
              </a:rPr>
              <a:t>；</a:t>
            </a:r>
            <a:endParaRPr lang="en-US" sz="20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2000" b="0">
                <a:latin typeface="Times New Roman" panose="02020603050405020304" pitchFamily="18" charset="0"/>
                <a:ea typeface="宋体" panose="02010600030101010101" pitchFamily="2" charset="-122"/>
              </a:rPr>
              <a:t>        END boolean_arc</a:t>
            </a:r>
            <a:r>
              <a:rPr lang="zh-CN" sz="2000" b="0">
                <a:ea typeface="宋体" panose="02010600030101010101" pitchFamily="2" charset="-122"/>
              </a:rPr>
              <a:t>；</a:t>
            </a:r>
            <a:endParaRPr lang="zh-CN" alt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354330" y="50483"/>
            <a:ext cx="5080000" cy="6000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en-US" sz="1200" b="1">
                <a:latin typeface="Times New Roman" panose="02020603050405020304" pitchFamily="18" charset="0"/>
                <a:ea typeface="宋体" panose="02010600030101010101" pitchFamily="2" charset="-122"/>
              </a:rPr>
              <a:t>4.19</a:t>
            </a:r>
            <a:endParaRPr lang="zh-CN" sz="1200" b="0">
              <a:ea typeface="宋体" panose="02010600030101010101" pitchFamily="2" charset="-122"/>
            </a:endParaRPr>
          </a:p>
          <a:p>
            <a:pPr indent="0"/>
            <a:r>
              <a:rPr lang="zh-CN" sz="1200" b="0">
                <a:ea typeface="宋体" panose="02010600030101010101" pitchFamily="2" charset="-122"/>
              </a:rPr>
              <a:t>源代码：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LIBRARY  IEEE</a:t>
            </a:r>
            <a:r>
              <a:rPr lang="zh-CN" sz="1200" b="0">
                <a:ea typeface="宋体" panose="02010600030101010101" pitchFamily="2" charset="-122"/>
              </a:rPr>
              <a:t>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USE  IEEE.STD_LOGIC_1164.ALL</a:t>
            </a:r>
            <a:r>
              <a:rPr lang="zh-CN" sz="1200" b="0">
                <a:ea typeface="宋体" panose="02010600030101010101" pitchFamily="2" charset="-122"/>
              </a:rPr>
              <a:t>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ENTITY  decoder_3_to_8  IS</a:t>
            </a: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PORT </a:t>
            </a:r>
            <a:r>
              <a:rPr lang="zh-CN" sz="1200" b="0">
                <a:ea typeface="宋体" panose="02010600030101010101" pitchFamily="2" charset="-122"/>
              </a:rPr>
              <a:t>（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sz="1200" b="0">
                <a:ea typeface="宋体" panose="02010600030101010101" pitchFamily="2" charset="-122"/>
              </a:rPr>
              <a:t>，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sz="1200" b="0">
                <a:ea typeface="宋体" panose="02010600030101010101" pitchFamily="2" charset="-122"/>
              </a:rPr>
              <a:t>，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sz="1200" b="0">
                <a:ea typeface="宋体" panose="02010600030101010101" pitchFamily="2" charset="-122"/>
              </a:rPr>
              <a:t>，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g1</a:t>
            </a:r>
            <a:r>
              <a:rPr lang="zh-CN" sz="1200" b="0">
                <a:ea typeface="宋体" panose="02010600030101010101" pitchFamily="2" charset="-122"/>
              </a:rPr>
              <a:t>，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g2a</a:t>
            </a:r>
            <a:r>
              <a:rPr lang="zh-CN" sz="1200" b="0">
                <a:ea typeface="宋体" panose="02010600030101010101" pitchFamily="2" charset="-122"/>
              </a:rPr>
              <a:t>，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g2b</a:t>
            </a:r>
            <a:r>
              <a:rPr lang="zh-CN" sz="1200" b="0">
                <a:ea typeface="宋体" panose="02010600030101010101" pitchFamily="2" charset="-122"/>
              </a:rPr>
              <a:t>：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IN STD_LOGIC</a:t>
            </a:r>
            <a:r>
              <a:rPr lang="zh-CN" sz="1200" b="0">
                <a:ea typeface="宋体" panose="02010600030101010101" pitchFamily="2" charset="-122"/>
              </a:rPr>
              <a:t>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y</a:t>
            </a:r>
            <a:r>
              <a:rPr lang="zh-CN" sz="1200" b="0">
                <a:ea typeface="宋体" panose="02010600030101010101" pitchFamily="2" charset="-122"/>
              </a:rPr>
              <a:t>：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OUT  STD_LOGIC _VECTOR</a:t>
            </a:r>
            <a:r>
              <a:rPr lang="zh-CN" sz="1200" b="0">
                <a:ea typeface="宋体" panose="02010600030101010101" pitchFamily="2" charset="-122"/>
              </a:rPr>
              <a:t>（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7 downto 0</a:t>
            </a:r>
            <a:r>
              <a:rPr lang="zh-CN" sz="1200" b="0">
                <a:ea typeface="宋体" panose="02010600030101010101" pitchFamily="2" charset="-122"/>
              </a:rPr>
              <a:t>））；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END  decoder_3_to_8</a:t>
            </a:r>
            <a:r>
              <a:rPr lang="zh-CN" sz="1200" b="0">
                <a:ea typeface="宋体" panose="02010600030101010101" pitchFamily="2" charset="-122"/>
              </a:rPr>
              <a:t>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ARCHITECTURE  rt1  OF  decoder_3_to_8  IS</a:t>
            </a: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SIGNAL  indata</a:t>
            </a:r>
            <a:r>
              <a:rPr lang="zh-CN" sz="1200" b="0">
                <a:ea typeface="宋体" panose="02010600030101010101" pitchFamily="2" charset="-122"/>
              </a:rPr>
              <a:t>：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STD_LOGIC _VECTOR</a:t>
            </a:r>
            <a:r>
              <a:rPr lang="zh-CN" sz="1200" b="0">
                <a:ea typeface="宋体" panose="02010600030101010101" pitchFamily="2" charset="-122"/>
              </a:rPr>
              <a:t>（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2 downto 0</a:t>
            </a:r>
            <a:r>
              <a:rPr lang="zh-CN" sz="1200" b="0">
                <a:ea typeface="宋体" panose="02010600030101010101" pitchFamily="2" charset="-122"/>
              </a:rPr>
              <a:t>）；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BEGIN</a:t>
            </a: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indata</a:t>
            </a:r>
            <a:r>
              <a:rPr lang="zh-CN" sz="1200" b="0">
                <a:ea typeface="宋体" panose="02010600030101010101" pitchFamily="2" charset="-122"/>
              </a:rPr>
              <a:t>＜＝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c &amp; b &amp; a</a:t>
            </a:r>
            <a:r>
              <a:rPr lang="zh-CN" sz="1200" b="0">
                <a:ea typeface="宋体" panose="02010600030101010101" pitchFamily="2" charset="-122"/>
              </a:rPr>
              <a:t>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PROCESS</a:t>
            </a:r>
            <a:r>
              <a:rPr lang="zh-CN" sz="1200" b="0">
                <a:ea typeface="宋体" panose="02010600030101010101" pitchFamily="2" charset="-122"/>
              </a:rPr>
              <a:t>（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indata</a:t>
            </a:r>
            <a:r>
              <a:rPr lang="zh-CN" sz="1200" b="0">
                <a:ea typeface="宋体" panose="02010600030101010101" pitchFamily="2" charset="-122"/>
              </a:rPr>
              <a:t>，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g1</a:t>
            </a:r>
            <a:r>
              <a:rPr lang="zh-CN" sz="1200" b="0">
                <a:ea typeface="宋体" panose="02010600030101010101" pitchFamily="2" charset="-122"/>
              </a:rPr>
              <a:t>，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g2a</a:t>
            </a:r>
            <a:r>
              <a:rPr lang="zh-CN" sz="1200" b="0">
                <a:ea typeface="宋体" panose="02010600030101010101" pitchFamily="2" charset="-122"/>
              </a:rPr>
              <a:t>，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g2b</a:t>
            </a:r>
            <a:r>
              <a:rPr lang="zh-CN" sz="1200" b="0">
                <a:ea typeface="宋体" panose="02010600030101010101" pitchFamily="2" charset="-122"/>
              </a:rPr>
              <a:t>）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BEGIN</a:t>
            </a: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IF</a:t>
            </a:r>
            <a:r>
              <a:rPr lang="zh-CN" sz="1200" b="0">
                <a:ea typeface="宋体" panose="02010600030101010101" pitchFamily="2" charset="-122"/>
              </a:rPr>
              <a:t>（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g1</a:t>
            </a:r>
            <a:r>
              <a:rPr lang="zh-CN" sz="1200" b="0">
                <a:ea typeface="宋体" panose="02010600030101010101" pitchFamily="2" charset="-122"/>
              </a:rPr>
              <a:t>＝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′1′ AND g2a</a:t>
            </a:r>
            <a:r>
              <a:rPr lang="zh-CN" sz="1200" b="0">
                <a:ea typeface="宋体" panose="02010600030101010101" pitchFamily="2" charset="-122"/>
              </a:rPr>
              <a:t>＝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′0′ AND g2b</a:t>
            </a:r>
            <a:r>
              <a:rPr lang="zh-CN" sz="1200" b="0">
                <a:ea typeface="宋体" panose="02010600030101010101" pitchFamily="2" charset="-122"/>
              </a:rPr>
              <a:t>＝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′0′</a:t>
            </a:r>
            <a:r>
              <a:rPr lang="zh-CN" sz="1200" b="0">
                <a:ea typeface="宋体" panose="02010600030101010101" pitchFamily="2" charset="-122"/>
              </a:rPr>
              <a:t>）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THEN </a:t>
            </a: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CASE  indata  IS</a:t>
            </a: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WHEN "000"</a:t>
            </a:r>
            <a:r>
              <a:rPr lang="zh-CN" sz="1200" b="0">
                <a:ea typeface="宋体" panose="02010600030101010101" pitchFamily="2" charset="-122"/>
              </a:rPr>
              <a:t>＝＞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sz="1200" b="0">
                <a:ea typeface="宋体" panose="02010600030101010101" pitchFamily="2" charset="-122"/>
              </a:rPr>
              <a:t>＜＝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"11111110"</a:t>
            </a:r>
            <a:r>
              <a:rPr lang="zh-CN" sz="1200" b="0">
                <a:ea typeface="宋体" panose="02010600030101010101" pitchFamily="2" charset="-122"/>
              </a:rPr>
              <a:t>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WHEN "001"</a:t>
            </a:r>
            <a:r>
              <a:rPr lang="zh-CN" sz="1200" b="0">
                <a:ea typeface="宋体" panose="02010600030101010101" pitchFamily="2" charset="-122"/>
              </a:rPr>
              <a:t>＝＞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sz="1200" b="0">
                <a:ea typeface="宋体" panose="02010600030101010101" pitchFamily="2" charset="-122"/>
              </a:rPr>
              <a:t>＜＝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"11111101"</a:t>
            </a:r>
            <a:r>
              <a:rPr lang="zh-CN" sz="1200" b="0">
                <a:ea typeface="宋体" panose="02010600030101010101" pitchFamily="2" charset="-122"/>
              </a:rPr>
              <a:t>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WHEN "010"</a:t>
            </a:r>
            <a:r>
              <a:rPr lang="zh-CN" sz="1200" b="0">
                <a:ea typeface="宋体" panose="02010600030101010101" pitchFamily="2" charset="-122"/>
              </a:rPr>
              <a:t>＝＞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sz="1200" b="0">
                <a:ea typeface="宋体" panose="02010600030101010101" pitchFamily="2" charset="-122"/>
              </a:rPr>
              <a:t>＜＝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"11111011"</a:t>
            </a:r>
            <a:r>
              <a:rPr lang="zh-CN" sz="1200" b="0">
                <a:ea typeface="宋体" panose="02010600030101010101" pitchFamily="2" charset="-122"/>
              </a:rPr>
              <a:t>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WHEN "011"</a:t>
            </a:r>
            <a:r>
              <a:rPr lang="zh-CN" sz="1200" b="0">
                <a:ea typeface="宋体" panose="02010600030101010101" pitchFamily="2" charset="-122"/>
              </a:rPr>
              <a:t>＝＞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sz="1200" b="0">
                <a:ea typeface="宋体" panose="02010600030101010101" pitchFamily="2" charset="-122"/>
              </a:rPr>
              <a:t>＜＝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"11110111"</a:t>
            </a:r>
            <a:r>
              <a:rPr lang="zh-CN" sz="1200" b="0">
                <a:ea typeface="宋体" panose="02010600030101010101" pitchFamily="2" charset="-122"/>
              </a:rPr>
              <a:t>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WHEN "100"</a:t>
            </a:r>
            <a:r>
              <a:rPr lang="zh-CN" sz="1200" b="0">
                <a:ea typeface="宋体" panose="02010600030101010101" pitchFamily="2" charset="-122"/>
              </a:rPr>
              <a:t>＝＞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sz="1200" b="0">
                <a:ea typeface="宋体" panose="02010600030101010101" pitchFamily="2" charset="-122"/>
              </a:rPr>
              <a:t>＜＝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"11101111"</a:t>
            </a:r>
            <a:r>
              <a:rPr lang="zh-CN" sz="1200" b="0">
                <a:ea typeface="宋体" panose="02010600030101010101" pitchFamily="2" charset="-122"/>
              </a:rPr>
              <a:t>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WHEN "101"</a:t>
            </a:r>
            <a:r>
              <a:rPr lang="zh-CN" sz="1200" b="0">
                <a:ea typeface="宋体" panose="02010600030101010101" pitchFamily="2" charset="-122"/>
              </a:rPr>
              <a:t>＝＞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sz="1200" b="0">
                <a:ea typeface="宋体" panose="02010600030101010101" pitchFamily="2" charset="-122"/>
              </a:rPr>
              <a:t>＜＝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"11011111"</a:t>
            </a:r>
            <a:r>
              <a:rPr lang="zh-CN" sz="1200" b="0">
                <a:ea typeface="宋体" panose="02010600030101010101" pitchFamily="2" charset="-122"/>
              </a:rPr>
              <a:t>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WHEN "110"</a:t>
            </a:r>
            <a:r>
              <a:rPr lang="zh-CN" sz="1200" b="0">
                <a:ea typeface="宋体" panose="02010600030101010101" pitchFamily="2" charset="-122"/>
              </a:rPr>
              <a:t>＝＞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sz="1200" b="0">
                <a:ea typeface="宋体" panose="02010600030101010101" pitchFamily="2" charset="-122"/>
              </a:rPr>
              <a:t>＜＝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"10111111"</a:t>
            </a:r>
            <a:r>
              <a:rPr lang="zh-CN" sz="1200" b="0">
                <a:ea typeface="宋体" panose="02010600030101010101" pitchFamily="2" charset="-122"/>
              </a:rPr>
              <a:t>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WHEN others</a:t>
            </a:r>
            <a:r>
              <a:rPr lang="zh-CN" sz="1200" b="0">
                <a:ea typeface="宋体" panose="02010600030101010101" pitchFamily="2" charset="-122"/>
              </a:rPr>
              <a:t>＝＞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sz="1200" b="0">
                <a:ea typeface="宋体" panose="02010600030101010101" pitchFamily="2" charset="-122"/>
              </a:rPr>
              <a:t>＜＝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"01111111"</a:t>
            </a:r>
            <a:r>
              <a:rPr lang="zh-CN" sz="1200" b="0">
                <a:ea typeface="宋体" panose="02010600030101010101" pitchFamily="2" charset="-122"/>
              </a:rPr>
              <a:t>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END CASE</a:t>
            </a:r>
            <a:r>
              <a:rPr lang="zh-CN" sz="1200" b="0">
                <a:ea typeface="宋体" panose="02010600030101010101" pitchFamily="2" charset="-122"/>
              </a:rPr>
              <a:t>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ELSE</a:t>
            </a: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y</a:t>
            </a:r>
            <a:r>
              <a:rPr lang="zh-CN" sz="1200" b="0">
                <a:ea typeface="宋体" panose="02010600030101010101" pitchFamily="2" charset="-122"/>
              </a:rPr>
              <a:t>＜＝</a:t>
            </a:r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"11111111"</a:t>
            </a:r>
            <a:r>
              <a:rPr lang="zh-CN" sz="1200" b="0">
                <a:ea typeface="宋体" panose="02010600030101010101" pitchFamily="2" charset="-122"/>
              </a:rPr>
              <a:t>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END IF</a:t>
            </a:r>
            <a:r>
              <a:rPr lang="zh-CN" sz="1200" b="0">
                <a:ea typeface="宋体" panose="02010600030101010101" pitchFamily="2" charset="-122"/>
              </a:rPr>
              <a:t>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END PROCESS</a:t>
            </a:r>
            <a:r>
              <a:rPr lang="zh-CN" sz="1200" b="0">
                <a:ea typeface="宋体" panose="02010600030101010101" pitchFamily="2" charset="-122"/>
              </a:rPr>
              <a:t>；</a:t>
            </a:r>
            <a:endParaRPr lang="en-US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200" b="0">
                <a:latin typeface="Times New Roman" panose="02020603050405020304" pitchFamily="18" charset="0"/>
                <a:ea typeface="宋体" panose="02010600030101010101" pitchFamily="2" charset="-122"/>
              </a:rPr>
              <a:t>        END  rt1</a:t>
            </a:r>
            <a:r>
              <a:rPr lang="zh-CN" sz="1200" b="0">
                <a:ea typeface="宋体" panose="02010600030101010101" pitchFamily="2" charset="-122"/>
              </a:rPr>
              <a:t>；</a:t>
            </a:r>
            <a:endParaRPr lang="zh-CN" altLang="en-US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143510" y="161925"/>
            <a:ext cx="5080000" cy="61239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4.20</a:t>
            </a:r>
            <a:endParaRPr 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LIBRARY  IEEE</a:t>
            </a:r>
            <a:r>
              <a:rPr lang="zh-CN" sz="1400" b="0">
                <a:ea typeface="宋体" panose="02010600030101010101" pitchFamily="2" charset="-122"/>
              </a:rPr>
              <a:t>；</a:t>
            </a:r>
            <a:endParaRPr 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USE  IEEE.STD_LOGIC_1164.ALL</a:t>
            </a:r>
            <a:r>
              <a:rPr lang="zh-CN" sz="1400" b="0">
                <a:ea typeface="宋体" panose="02010600030101010101" pitchFamily="2" charset="-122"/>
              </a:rPr>
              <a:t>；</a:t>
            </a:r>
            <a:endParaRPr 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ENTITY  gray_count  IS</a:t>
            </a: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   PORT </a:t>
            </a:r>
            <a:r>
              <a:rPr lang="zh-CN" sz="1400" b="0">
                <a:ea typeface="宋体" panose="02010600030101010101" pitchFamily="2" charset="-122"/>
              </a:rPr>
              <a:t>（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clk</a:t>
            </a:r>
            <a:r>
              <a:rPr lang="zh-CN" sz="1400" b="0">
                <a:ea typeface="宋体" panose="02010600030101010101" pitchFamily="2" charset="-122"/>
              </a:rPr>
              <a:t>，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sz="1400" b="0">
                <a:ea typeface="宋体" panose="02010600030101010101" pitchFamily="2" charset="-122"/>
              </a:rPr>
              <a:t>：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IN STD_LOGIC</a:t>
            </a:r>
            <a:r>
              <a:rPr lang="zh-CN" sz="1400" b="0">
                <a:ea typeface="宋体" panose="02010600030101010101" pitchFamily="2" charset="-122"/>
              </a:rPr>
              <a:t>；</a:t>
            </a:r>
            <a:endParaRPr 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qout</a:t>
            </a:r>
            <a:r>
              <a:rPr lang="zh-CN" sz="1400" b="0">
                <a:ea typeface="宋体" panose="02010600030101010101" pitchFamily="2" charset="-122"/>
              </a:rPr>
              <a:t>：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OUT STD_LOGIC _VECTOR</a:t>
            </a:r>
            <a:r>
              <a:rPr lang="zh-CN" sz="1400" b="0">
                <a:ea typeface="宋体" panose="02010600030101010101" pitchFamily="2" charset="-122"/>
              </a:rPr>
              <a:t>（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 downto 0</a:t>
            </a:r>
            <a:r>
              <a:rPr lang="zh-CN" sz="1400" b="0">
                <a:ea typeface="宋体" panose="02010600030101010101" pitchFamily="2" charset="-122"/>
              </a:rPr>
              <a:t>））；</a:t>
            </a:r>
            <a:endParaRPr 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END  gray_count</a:t>
            </a:r>
            <a:r>
              <a:rPr lang="zh-CN" sz="1400" b="0">
                <a:ea typeface="宋体" panose="02010600030101010101" pitchFamily="2" charset="-122"/>
              </a:rPr>
              <a:t>；</a:t>
            </a:r>
            <a:endParaRPr 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ARCHITECTURE  arch_gray  OF  gray_count  IS</a:t>
            </a: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SIGNAL  iq</a:t>
            </a:r>
            <a:r>
              <a:rPr lang="zh-CN" sz="1400" b="0">
                <a:ea typeface="宋体" panose="02010600030101010101" pitchFamily="2" charset="-122"/>
              </a:rPr>
              <a:t>： 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STD_LOGIC _VECTOR</a:t>
            </a:r>
            <a:r>
              <a:rPr lang="zh-CN" sz="1400" b="0">
                <a:ea typeface="宋体" panose="02010600030101010101" pitchFamily="2" charset="-122"/>
              </a:rPr>
              <a:t>（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 downto 0</a:t>
            </a:r>
            <a:r>
              <a:rPr lang="zh-CN" sz="1400" b="0">
                <a:ea typeface="宋体" panose="02010600030101010101" pitchFamily="2" charset="-122"/>
              </a:rPr>
              <a:t>）；</a:t>
            </a:r>
            <a:endParaRPr 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BEGIN</a:t>
            </a: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     PROCESS</a:t>
            </a:r>
            <a:r>
              <a:rPr lang="zh-CN" sz="1400" b="0">
                <a:ea typeface="宋体" panose="02010600030101010101" pitchFamily="2" charset="-122"/>
              </a:rPr>
              <a:t>（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clk</a:t>
            </a:r>
            <a:r>
              <a:rPr lang="zh-CN" sz="1400" b="0">
                <a:ea typeface="宋体" panose="02010600030101010101" pitchFamily="2" charset="-122"/>
              </a:rPr>
              <a:t>）</a:t>
            </a:r>
            <a:endParaRPr 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         BEGIN</a:t>
            </a: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 IF  (clk′event  AND  clk</a:t>
            </a:r>
            <a:r>
              <a:rPr lang="zh-CN" sz="1400" b="0">
                <a:ea typeface="宋体" panose="02010600030101010101" pitchFamily="2" charset="-122"/>
              </a:rPr>
              <a:t>＝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′1′ )  THEN</a:t>
            </a: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IF</a:t>
            </a:r>
            <a:r>
              <a:rPr lang="zh-CN" sz="1400" b="0">
                <a:ea typeface="宋体" panose="02010600030101010101" pitchFamily="2" charset="-122"/>
              </a:rPr>
              <a:t>（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sz="1400" b="0">
                <a:ea typeface="宋体" panose="02010600030101010101" pitchFamily="2" charset="-122"/>
              </a:rPr>
              <a:t>＝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′1′</a:t>
            </a:r>
            <a:r>
              <a:rPr lang="zh-CN" sz="1400" b="0">
                <a:ea typeface="宋体" panose="02010600030101010101" pitchFamily="2" charset="-122"/>
              </a:rPr>
              <a:t>）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THEN</a:t>
            </a: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     CASE  iq  IS</a:t>
            </a: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WHEN  "000"</a:t>
            </a:r>
            <a:r>
              <a:rPr lang="zh-CN" sz="1400" b="0">
                <a:ea typeface="宋体" panose="02010600030101010101" pitchFamily="2" charset="-122"/>
              </a:rPr>
              <a:t>＝＞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iq</a:t>
            </a:r>
            <a:r>
              <a:rPr lang="zh-CN" sz="1400" b="0">
                <a:ea typeface="宋体" panose="02010600030101010101" pitchFamily="2" charset="-122"/>
              </a:rPr>
              <a:t>＜＝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"001"</a:t>
            </a:r>
            <a:r>
              <a:rPr lang="zh-CN" sz="1400" b="0">
                <a:ea typeface="宋体" panose="02010600030101010101" pitchFamily="2" charset="-122"/>
              </a:rPr>
              <a:t>；</a:t>
            </a:r>
            <a:endParaRPr 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WHEN  "001"</a:t>
            </a:r>
            <a:r>
              <a:rPr lang="zh-CN" sz="1400" b="0">
                <a:ea typeface="宋体" panose="02010600030101010101" pitchFamily="2" charset="-122"/>
              </a:rPr>
              <a:t>＝＞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iq</a:t>
            </a:r>
            <a:r>
              <a:rPr lang="zh-CN" sz="1400" b="0">
                <a:ea typeface="宋体" panose="02010600030101010101" pitchFamily="2" charset="-122"/>
              </a:rPr>
              <a:t>＜＝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"011"</a:t>
            </a:r>
            <a:r>
              <a:rPr lang="zh-CN" sz="1400" b="0">
                <a:ea typeface="宋体" panose="02010600030101010101" pitchFamily="2" charset="-122"/>
              </a:rPr>
              <a:t>；</a:t>
            </a:r>
            <a:endParaRPr 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WHEN  "011"</a:t>
            </a:r>
            <a:r>
              <a:rPr lang="zh-CN" sz="1400" b="0">
                <a:ea typeface="宋体" panose="02010600030101010101" pitchFamily="2" charset="-122"/>
              </a:rPr>
              <a:t>＝＞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iq</a:t>
            </a:r>
            <a:r>
              <a:rPr lang="zh-CN" sz="1400" b="0">
                <a:ea typeface="宋体" panose="02010600030101010101" pitchFamily="2" charset="-122"/>
              </a:rPr>
              <a:t>＜＝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"010"</a:t>
            </a:r>
            <a:r>
              <a:rPr lang="zh-CN" sz="1400" b="0">
                <a:ea typeface="宋体" panose="02010600030101010101" pitchFamily="2" charset="-122"/>
              </a:rPr>
              <a:t>；</a:t>
            </a:r>
            <a:endParaRPr 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WHEN  "010"</a:t>
            </a:r>
            <a:r>
              <a:rPr lang="zh-CN" sz="1400" b="0">
                <a:ea typeface="宋体" panose="02010600030101010101" pitchFamily="2" charset="-122"/>
              </a:rPr>
              <a:t>＝＞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iq</a:t>
            </a:r>
            <a:r>
              <a:rPr lang="zh-CN" sz="1400" b="0">
                <a:ea typeface="宋体" panose="02010600030101010101" pitchFamily="2" charset="-122"/>
              </a:rPr>
              <a:t>＜＝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"110"</a:t>
            </a:r>
            <a:r>
              <a:rPr lang="zh-CN" sz="1400" b="0">
                <a:ea typeface="宋体" panose="02010600030101010101" pitchFamily="2" charset="-122"/>
              </a:rPr>
              <a:t>；</a:t>
            </a:r>
            <a:endParaRPr 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WHEN  "110"</a:t>
            </a:r>
            <a:r>
              <a:rPr lang="zh-CN" sz="1400" b="0">
                <a:ea typeface="宋体" panose="02010600030101010101" pitchFamily="2" charset="-122"/>
              </a:rPr>
              <a:t>＝＞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iq</a:t>
            </a:r>
            <a:r>
              <a:rPr lang="zh-CN" sz="1400" b="0">
                <a:ea typeface="宋体" panose="02010600030101010101" pitchFamily="2" charset="-122"/>
              </a:rPr>
              <a:t>＜＝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"111"</a:t>
            </a:r>
            <a:r>
              <a:rPr lang="zh-CN" sz="1400" b="0">
                <a:ea typeface="宋体" panose="02010600030101010101" pitchFamily="2" charset="-122"/>
              </a:rPr>
              <a:t>；</a:t>
            </a:r>
            <a:endParaRPr 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WHEN  "111"</a:t>
            </a:r>
            <a:r>
              <a:rPr lang="zh-CN" sz="1400" b="0">
                <a:ea typeface="宋体" panose="02010600030101010101" pitchFamily="2" charset="-122"/>
              </a:rPr>
              <a:t>＝＞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iq</a:t>
            </a:r>
            <a:r>
              <a:rPr lang="zh-CN" sz="1400" b="0">
                <a:ea typeface="宋体" panose="02010600030101010101" pitchFamily="2" charset="-122"/>
              </a:rPr>
              <a:t>＜＝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"101"</a:t>
            </a:r>
            <a:r>
              <a:rPr lang="zh-CN" sz="1400" b="0">
                <a:ea typeface="宋体" panose="02010600030101010101" pitchFamily="2" charset="-122"/>
              </a:rPr>
              <a:t>；</a:t>
            </a:r>
            <a:endParaRPr 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WHEN  "101"</a:t>
            </a:r>
            <a:r>
              <a:rPr lang="zh-CN" sz="1400" b="0">
                <a:ea typeface="宋体" panose="02010600030101010101" pitchFamily="2" charset="-122"/>
              </a:rPr>
              <a:t>＝＞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iq</a:t>
            </a:r>
            <a:r>
              <a:rPr lang="zh-CN" sz="1400" b="0">
                <a:ea typeface="宋体" panose="02010600030101010101" pitchFamily="2" charset="-122"/>
              </a:rPr>
              <a:t>＜＝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"100"</a:t>
            </a:r>
            <a:r>
              <a:rPr lang="zh-CN" sz="1400" b="0">
                <a:ea typeface="宋体" panose="02010600030101010101" pitchFamily="2" charset="-122"/>
              </a:rPr>
              <a:t>；</a:t>
            </a:r>
            <a:endParaRPr 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WHEN  others</a:t>
            </a:r>
            <a:r>
              <a:rPr lang="zh-CN" sz="1400" b="0">
                <a:ea typeface="宋体" panose="02010600030101010101" pitchFamily="2" charset="-122"/>
              </a:rPr>
              <a:t>＝＞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iq</a:t>
            </a:r>
            <a:r>
              <a:rPr lang="zh-CN" sz="1400" b="0">
                <a:ea typeface="宋体" panose="02010600030101010101" pitchFamily="2" charset="-122"/>
              </a:rPr>
              <a:t>＜＝</a:t>
            </a:r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"000"</a:t>
            </a:r>
            <a:r>
              <a:rPr lang="zh-CN" sz="1400" b="0">
                <a:ea typeface="宋体" panose="02010600030101010101" pitchFamily="2" charset="-122"/>
              </a:rPr>
              <a:t>；</a:t>
            </a:r>
            <a:endParaRPr 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END CASE</a:t>
            </a:r>
            <a:r>
              <a:rPr lang="zh-CN" sz="1400" b="0">
                <a:ea typeface="宋体" panose="02010600030101010101" pitchFamily="2" charset="-122"/>
              </a:rPr>
              <a:t>；</a:t>
            </a:r>
            <a:endParaRPr 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r>
              <a:rPr 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END IF</a:t>
            </a:r>
            <a:r>
              <a:rPr lang="zh-CN" sz="1400" b="0">
                <a:ea typeface="宋体" panose="02010600030101010101" pitchFamily="2" charset="-122"/>
              </a:rPr>
              <a:t>；</a:t>
            </a:r>
            <a:endParaRPr lang="en-US" sz="1400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/>
            <a:endParaRPr lang="zh-CN" altLang="en-US" sz="1400"/>
          </a:p>
        </p:txBody>
      </p:sp>
      <p:sp>
        <p:nvSpPr>
          <p:cNvPr id="2" name="文本框 1"/>
          <p:cNvSpPr txBox="1"/>
          <p:nvPr/>
        </p:nvSpPr>
        <p:spPr>
          <a:xfrm>
            <a:off x="4866005" y="242570"/>
            <a:ext cx="3785235" cy="37534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续</a:t>
            </a:r>
            <a:endParaRPr lang="en-US" sz="140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IF</a:t>
            </a:r>
            <a:r>
              <a:rPr lang="zh-CN" sz="1400">
                <a:ea typeface="宋体" panose="02010600030101010101" pitchFamily="2" charset="-122"/>
                <a:sym typeface="+mn-ea"/>
              </a:rPr>
              <a:t>（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y</a:t>
            </a:r>
            <a:r>
              <a:rPr lang="zh-CN" sz="1400">
                <a:ea typeface="宋体" panose="02010600030101010101" pitchFamily="2" charset="-122"/>
                <a:sym typeface="+mn-ea"/>
              </a:rPr>
              <a:t>＝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′0′</a:t>
            </a:r>
            <a:r>
              <a:rPr lang="zh-CN" sz="1400">
                <a:ea typeface="宋体" panose="02010600030101010101" pitchFamily="2" charset="-122"/>
                <a:sym typeface="+mn-ea"/>
              </a:rPr>
              <a:t>）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THEN</a:t>
            </a:r>
          </a:p>
          <a:p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CASE  iq  IS</a:t>
            </a:r>
          </a:p>
          <a:p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                WHEN  "000"</a:t>
            </a:r>
            <a:r>
              <a:rPr lang="zh-CN" sz="1400">
                <a:ea typeface="宋体" panose="02010600030101010101" pitchFamily="2" charset="-122"/>
                <a:sym typeface="+mn-ea"/>
              </a:rPr>
              <a:t>＝＞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iq</a:t>
            </a:r>
            <a:r>
              <a:rPr lang="zh-CN" sz="1400">
                <a:ea typeface="宋体" panose="02010600030101010101" pitchFamily="2" charset="-122"/>
                <a:sym typeface="+mn-ea"/>
              </a:rPr>
              <a:t>＜＝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"100"</a:t>
            </a:r>
            <a:r>
              <a:rPr lang="zh-CN" sz="1400">
                <a:ea typeface="宋体" panose="02010600030101010101" pitchFamily="2" charset="-122"/>
                <a:sym typeface="+mn-ea"/>
              </a:rPr>
              <a:t>；</a:t>
            </a:r>
            <a:endParaRPr lang="en-US" sz="140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                WHEN  "100"</a:t>
            </a:r>
            <a:r>
              <a:rPr lang="zh-CN" sz="1400">
                <a:ea typeface="宋体" panose="02010600030101010101" pitchFamily="2" charset="-122"/>
                <a:sym typeface="+mn-ea"/>
              </a:rPr>
              <a:t>＝＞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iq</a:t>
            </a:r>
            <a:r>
              <a:rPr lang="zh-CN" sz="1400">
                <a:ea typeface="宋体" panose="02010600030101010101" pitchFamily="2" charset="-122"/>
                <a:sym typeface="+mn-ea"/>
              </a:rPr>
              <a:t>＜＝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"101"</a:t>
            </a:r>
            <a:r>
              <a:rPr lang="zh-CN" sz="1400">
                <a:ea typeface="宋体" panose="02010600030101010101" pitchFamily="2" charset="-122"/>
                <a:sym typeface="+mn-ea"/>
              </a:rPr>
              <a:t>；</a:t>
            </a:r>
            <a:endParaRPr lang="en-US" sz="140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                WHEN  "101"</a:t>
            </a:r>
            <a:r>
              <a:rPr lang="zh-CN" sz="1400">
                <a:ea typeface="宋体" panose="02010600030101010101" pitchFamily="2" charset="-122"/>
                <a:sym typeface="+mn-ea"/>
              </a:rPr>
              <a:t>＝＞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iq</a:t>
            </a:r>
            <a:r>
              <a:rPr lang="zh-CN" sz="1400">
                <a:ea typeface="宋体" panose="02010600030101010101" pitchFamily="2" charset="-122"/>
                <a:sym typeface="+mn-ea"/>
              </a:rPr>
              <a:t>＜＝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"111"</a:t>
            </a:r>
            <a:r>
              <a:rPr lang="zh-CN" sz="1400">
                <a:ea typeface="宋体" panose="02010600030101010101" pitchFamily="2" charset="-122"/>
                <a:sym typeface="+mn-ea"/>
              </a:rPr>
              <a:t>；</a:t>
            </a:r>
            <a:endParaRPr lang="en-US" sz="140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                WHEN  "111"</a:t>
            </a:r>
            <a:r>
              <a:rPr lang="zh-CN" sz="1400">
                <a:ea typeface="宋体" panose="02010600030101010101" pitchFamily="2" charset="-122"/>
                <a:sym typeface="+mn-ea"/>
              </a:rPr>
              <a:t>＝＞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iq</a:t>
            </a:r>
            <a:r>
              <a:rPr lang="zh-CN" sz="1400">
                <a:ea typeface="宋体" panose="02010600030101010101" pitchFamily="2" charset="-122"/>
                <a:sym typeface="+mn-ea"/>
              </a:rPr>
              <a:t>＜＝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"110"</a:t>
            </a:r>
            <a:r>
              <a:rPr lang="zh-CN" sz="1400">
                <a:ea typeface="宋体" panose="02010600030101010101" pitchFamily="2" charset="-122"/>
                <a:sym typeface="+mn-ea"/>
              </a:rPr>
              <a:t>；</a:t>
            </a:r>
            <a:endParaRPr lang="en-US" sz="140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                WHEN  "110"</a:t>
            </a:r>
            <a:r>
              <a:rPr lang="zh-CN" sz="1400">
                <a:ea typeface="宋体" panose="02010600030101010101" pitchFamily="2" charset="-122"/>
                <a:sym typeface="+mn-ea"/>
              </a:rPr>
              <a:t>＝＞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iq</a:t>
            </a:r>
            <a:r>
              <a:rPr lang="zh-CN" sz="1400">
                <a:ea typeface="宋体" panose="02010600030101010101" pitchFamily="2" charset="-122"/>
                <a:sym typeface="+mn-ea"/>
              </a:rPr>
              <a:t>＜＝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"010"</a:t>
            </a:r>
            <a:r>
              <a:rPr lang="zh-CN" sz="1400">
                <a:ea typeface="宋体" panose="02010600030101010101" pitchFamily="2" charset="-122"/>
                <a:sym typeface="+mn-ea"/>
              </a:rPr>
              <a:t>；</a:t>
            </a:r>
            <a:endParaRPr lang="en-US" sz="140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                WHEN  "010"</a:t>
            </a:r>
            <a:r>
              <a:rPr lang="zh-CN" sz="1400">
                <a:ea typeface="宋体" panose="02010600030101010101" pitchFamily="2" charset="-122"/>
                <a:sym typeface="+mn-ea"/>
              </a:rPr>
              <a:t>＝＞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iq</a:t>
            </a:r>
            <a:r>
              <a:rPr lang="zh-CN" sz="1400">
                <a:ea typeface="宋体" panose="02010600030101010101" pitchFamily="2" charset="-122"/>
                <a:sym typeface="+mn-ea"/>
              </a:rPr>
              <a:t>＜＝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"011"</a:t>
            </a:r>
            <a:r>
              <a:rPr lang="zh-CN" sz="1400">
                <a:ea typeface="宋体" panose="02010600030101010101" pitchFamily="2" charset="-122"/>
                <a:sym typeface="+mn-ea"/>
              </a:rPr>
              <a:t>；</a:t>
            </a:r>
            <a:endParaRPr lang="en-US" sz="140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                WHEN  "011"</a:t>
            </a:r>
            <a:r>
              <a:rPr lang="zh-CN" sz="1400">
                <a:ea typeface="宋体" panose="02010600030101010101" pitchFamily="2" charset="-122"/>
                <a:sym typeface="+mn-ea"/>
              </a:rPr>
              <a:t>＝＞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iq</a:t>
            </a:r>
            <a:r>
              <a:rPr lang="zh-CN" sz="1400">
                <a:ea typeface="宋体" panose="02010600030101010101" pitchFamily="2" charset="-122"/>
                <a:sym typeface="+mn-ea"/>
              </a:rPr>
              <a:t>＜＝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"001"</a:t>
            </a:r>
            <a:r>
              <a:rPr lang="zh-CN" sz="1400">
                <a:ea typeface="宋体" panose="02010600030101010101" pitchFamily="2" charset="-122"/>
                <a:sym typeface="+mn-ea"/>
              </a:rPr>
              <a:t>；</a:t>
            </a:r>
            <a:endParaRPr lang="en-US" sz="140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                WHEN  others</a:t>
            </a:r>
            <a:r>
              <a:rPr lang="zh-CN" sz="1400">
                <a:ea typeface="宋体" panose="02010600030101010101" pitchFamily="2" charset="-122"/>
                <a:sym typeface="+mn-ea"/>
              </a:rPr>
              <a:t>＝＞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iq</a:t>
            </a:r>
            <a:r>
              <a:rPr lang="zh-CN" sz="1400">
                <a:ea typeface="宋体" panose="02010600030101010101" pitchFamily="2" charset="-122"/>
                <a:sym typeface="+mn-ea"/>
              </a:rPr>
              <a:t>＜＝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"000"</a:t>
            </a:r>
            <a:r>
              <a:rPr lang="zh-CN" sz="1400">
                <a:ea typeface="宋体" panose="02010600030101010101" pitchFamily="2" charset="-122"/>
                <a:sym typeface="+mn-ea"/>
              </a:rPr>
              <a:t>；</a:t>
            </a:r>
            <a:endParaRPr lang="en-US" sz="140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             END CASE</a:t>
            </a:r>
            <a:r>
              <a:rPr lang="zh-CN" sz="1400">
                <a:ea typeface="宋体" panose="02010600030101010101" pitchFamily="2" charset="-122"/>
                <a:sym typeface="+mn-ea"/>
              </a:rPr>
              <a:t>；</a:t>
            </a:r>
            <a:endParaRPr lang="en-US" sz="140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         END IF</a:t>
            </a:r>
            <a:r>
              <a:rPr lang="zh-CN" sz="1400">
                <a:ea typeface="宋体" panose="02010600030101010101" pitchFamily="2" charset="-122"/>
                <a:sym typeface="+mn-ea"/>
              </a:rPr>
              <a:t>；</a:t>
            </a:r>
            <a:endParaRPr lang="en-US" sz="140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    END IF</a:t>
            </a:r>
            <a:r>
              <a:rPr lang="zh-CN" sz="1400">
                <a:ea typeface="宋体" panose="02010600030101010101" pitchFamily="2" charset="-122"/>
                <a:sym typeface="+mn-ea"/>
              </a:rPr>
              <a:t>；</a:t>
            </a:r>
            <a:endParaRPr lang="en-US" sz="140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END PROCESS</a:t>
            </a:r>
            <a:r>
              <a:rPr lang="zh-CN" sz="1400">
                <a:ea typeface="宋体" panose="02010600030101010101" pitchFamily="2" charset="-122"/>
                <a:sym typeface="+mn-ea"/>
              </a:rPr>
              <a:t>；</a:t>
            </a:r>
            <a:endParaRPr lang="en-US" sz="140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qout</a:t>
            </a:r>
            <a:r>
              <a:rPr lang="zh-CN" sz="1400">
                <a:ea typeface="宋体" panose="02010600030101010101" pitchFamily="2" charset="-122"/>
                <a:sym typeface="+mn-ea"/>
              </a:rPr>
              <a:t>＜＝</a:t>
            </a:r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iq</a:t>
            </a:r>
            <a:r>
              <a:rPr lang="zh-CN" sz="1400">
                <a:ea typeface="宋体" panose="02010600030101010101" pitchFamily="2" charset="-122"/>
                <a:sym typeface="+mn-ea"/>
              </a:rPr>
              <a:t>；</a:t>
            </a:r>
            <a:endParaRPr lang="en-US" sz="140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lang="en-US" sz="1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END  arch_gray</a:t>
            </a:r>
            <a:r>
              <a:rPr lang="zh-CN" sz="1400">
                <a:ea typeface="宋体" panose="02010600030101010101" pitchFamily="2" charset="-122"/>
                <a:sym typeface="+mn-ea"/>
              </a:rPr>
              <a:t>；</a:t>
            </a:r>
            <a:endParaRPr lang="zh-CN" alt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1080" y="1874006"/>
            <a:ext cx="79160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谢谢大家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c131a80-5f38-409e-b9fb-82bbd223824b}"/>
  <p:tag name="TABLE_ENDDRAG_ORIGIN_RECT" val="377*204"/>
  <p:tag name="TABLE_ENDDRAG_RECT" val="75*57*377*20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1f8ba65-f48f-41e7-8a21-f79188d3084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5347460-7107-49d3-8b8c-3f600718110e}"/>
  <p:tag name="TABLE_ENDDRAG_ORIGIN_RECT" val="255*348"/>
  <p:tag name="TABLE_ENDDRAG_RECT" val="23*69*255*348"/>
</p:tagLst>
</file>

<file path=ppt/theme/theme1.xml><?xml version="1.0" encoding="utf-8"?>
<a:theme xmlns:a="http://schemas.openxmlformats.org/drawingml/2006/main" name="Office 主题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自定义 2">
      <a:majorFont>
        <a:latin typeface="Broadway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第一次作业讲解</Template>
  <TotalTime>20</TotalTime>
  <Words>1798</Words>
  <Application>Microsoft Office PowerPoint</Application>
  <PresentationFormat>全屏显示(4:3)</PresentationFormat>
  <Paragraphs>583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隶书</vt:lpstr>
      <vt:lpstr>微软雅黑</vt:lpstr>
      <vt:lpstr>Arial</vt:lpstr>
      <vt:lpstr>Calibri</vt:lpstr>
      <vt:lpstr>Cambria Math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张増源</dc:creator>
  <cp:lastModifiedBy>wang jinyu</cp:lastModifiedBy>
  <cp:revision>13</cp:revision>
  <cp:lastPrinted>2015-03-12T14:31:00Z</cp:lastPrinted>
  <dcterms:created xsi:type="dcterms:W3CDTF">2021-03-26T14:42:00Z</dcterms:created>
  <dcterms:modified xsi:type="dcterms:W3CDTF">2024-06-10T14:22:12Z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55AF524A526E48FC8D6CC0BDAC36F912</vt:lpwstr>
  </property>
  <property fmtid="{D5CDD505-2E9C-101B-9397-08002B2CF9AE}" pid="3" name="KSOProductBuildVer">
    <vt:lpwstr>2052-11.1.0.10495</vt:lpwstr>
  </property>
</Properties>
</file>