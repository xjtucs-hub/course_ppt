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14.xml" ContentType="application/vnd.openxmlformats-officedocument.presentationml.notesSlide+xml"/>
  <Override PartName="/ppt/tags/tag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6" r:id="rId5"/>
    <p:sldMasterId id="2147483708" r:id="rId6"/>
    <p:sldMasterId id="2147483720" r:id="rId7"/>
    <p:sldMasterId id="2147483732" r:id="rId8"/>
    <p:sldMasterId id="2147483744" r:id="rId9"/>
  </p:sldMasterIdLst>
  <p:notesMasterIdLst>
    <p:notesMasterId r:id="rId35"/>
  </p:notesMasterIdLst>
  <p:sldIdLst>
    <p:sldId id="528" r:id="rId10"/>
    <p:sldId id="529" r:id="rId11"/>
    <p:sldId id="530" r:id="rId12"/>
    <p:sldId id="531" r:id="rId13"/>
    <p:sldId id="532" r:id="rId14"/>
    <p:sldId id="552" r:id="rId15"/>
    <p:sldId id="533" r:id="rId16"/>
    <p:sldId id="534" r:id="rId17"/>
    <p:sldId id="535" r:id="rId18"/>
    <p:sldId id="536" r:id="rId19"/>
    <p:sldId id="537" r:id="rId20"/>
    <p:sldId id="538" r:id="rId21"/>
    <p:sldId id="539" r:id="rId22"/>
    <p:sldId id="540" r:id="rId23"/>
    <p:sldId id="541" r:id="rId24"/>
    <p:sldId id="542" r:id="rId25"/>
    <p:sldId id="543" r:id="rId26"/>
    <p:sldId id="544" r:id="rId27"/>
    <p:sldId id="545" r:id="rId28"/>
    <p:sldId id="546" r:id="rId29"/>
    <p:sldId id="547" r:id="rId30"/>
    <p:sldId id="548" r:id="rId31"/>
    <p:sldId id="549" r:id="rId32"/>
    <p:sldId id="550" r:id="rId33"/>
    <p:sldId id="551" r:id="rId34"/>
  </p:sldIdLst>
  <p:sldSz cx="9144000" cy="5143500" type="screen16x9"/>
  <p:notesSz cx="6858000" cy="9144000"/>
  <p:custDataLst>
    <p:tags r:id="rId36"/>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57">
          <p15:clr>
            <a:srgbClr val="A4A3A4"/>
          </p15:clr>
        </p15:guide>
        <p15:guide id="2" pos="29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008000"/>
    <a:srgbClr val="339933"/>
    <a:srgbClr val="00CC00"/>
    <a:srgbClr val="FF9900"/>
    <a:srgbClr val="9966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812" autoAdjust="0"/>
  </p:normalViewPr>
  <p:slideViewPr>
    <p:cSldViewPr showGuides="1">
      <p:cViewPr varScale="1">
        <p:scale>
          <a:sx n="166" d="100"/>
          <a:sy n="166" d="100"/>
        </p:scale>
        <p:origin x="1640" y="88"/>
      </p:cViewPr>
      <p:guideLst>
        <p:guide orient="horz" pos="1557"/>
        <p:guide pos="295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theme" Target="theme/theme1.xml"/><Relationship Id="rId21" Type="http://schemas.openxmlformats.org/officeDocument/2006/relationships/slide" Target="slides/slide12.xml"/><Relationship Id="rId34" Type="http://schemas.openxmlformats.org/officeDocument/2006/relationships/slide" Target="slides/slide25.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tags" Target="tags/tag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notesMaster" Target="notesMasters/notesMaster1.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3"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D0D58E4-B260-49D4-B92D-508694A9B120}" type="datetimeFigureOut">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t>2025/9/18</a:t>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0356" name="幻灯片图像占位符 3"/>
          <p:cNvSpPr>
            <a:spLocks noGrp="1" noRot="1" noChangeAspect="1"/>
          </p:cNvSpPr>
          <p:nvPr>
            <p:ph type="sldImg" idx="2"/>
          </p:nvPr>
        </p:nvSpPr>
        <p:spPr>
          <a:xfrm>
            <a:off x="381000" y="685800"/>
            <a:ext cx="6096000" cy="3429000"/>
          </a:xfrm>
          <a:prstGeom prst="rect">
            <a:avLst/>
          </a:prstGeom>
          <a:noFill/>
          <a:ln w="12700">
            <a:noFill/>
          </a:ln>
        </p:spPr>
      </p:sp>
      <p:sp>
        <p:nvSpPr>
          <p:cNvPr id="10245"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10246"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7"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8C33FB-E636-475A-99BD-8FBB693314AC}" type="slidenum">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p:sp>
      <p:sp>
        <p:nvSpPr>
          <p:cNvPr id="121859" name="备注占位符 2"/>
          <p:cNvSpPr>
            <a:spLocks noGrp="1"/>
          </p:cNvSpPr>
          <p:nvPr>
            <p:ph type="body" idx="1"/>
          </p:nvPr>
        </p:nvSpPr>
        <p:spPr>
          <a:ln w="12700"/>
        </p:spPr>
        <p:txBody>
          <a:bodyPr wrap="square" lIns="91440" tIns="45720" rIns="91440" bIns="45720" anchor="ctr"/>
          <a:lstStyle/>
          <a:p>
            <a:pPr lvl="0"/>
            <a:endParaRPr lang="zh-CN" altLang="en-US" dirty="0"/>
          </a:p>
        </p:txBody>
      </p:sp>
      <p:sp>
        <p:nvSpPr>
          <p:cNvPr id="121860"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20</a:t>
            </a:fld>
            <a:endParaRPr lang="zh-CN" alt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p:sp>
      <p:sp>
        <p:nvSpPr>
          <p:cNvPr id="123907" name="备注占位符 2"/>
          <p:cNvSpPr>
            <a:spLocks noGrp="1"/>
          </p:cNvSpPr>
          <p:nvPr>
            <p:ph type="body" idx="1"/>
          </p:nvPr>
        </p:nvSpPr>
        <p:spPr>
          <a:ln w="12700"/>
        </p:spPr>
        <p:txBody>
          <a:bodyPr wrap="square" lIns="91440" tIns="45720" rIns="91440" bIns="45720" anchor="ctr"/>
          <a:lstStyle/>
          <a:p>
            <a:pPr lvl="0"/>
            <a:endParaRPr lang="zh-CN" altLang="en-US" dirty="0"/>
          </a:p>
        </p:txBody>
      </p:sp>
      <p:sp>
        <p:nvSpPr>
          <p:cNvPr id="12390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21</a:t>
            </a:fld>
            <a:endParaRPr lang="zh-CN" alt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p:sp>
      <p:sp>
        <p:nvSpPr>
          <p:cNvPr id="125955" name="备注占位符 2"/>
          <p:cNvSpPr>
            <a:spLocks noGrp="1"/>
          </p:cNvSpPr>
          <p:nvPr>
            <p:ph type="body" idx="1"/>
          </p:nvPr>
        </p:nvSpPr>
        <p:spPr>
          <a:ln w="12700"/>
        </p:spPr>
        <p:txBody>
          <a:bodyPr wrap="square" lIns="91440" tIns="45720" rIns="91440" bIns="45720" anchor="ctr"/>
          <a:lstStyle/>
          <a:p>
            <a:pPr lvl="0"/>
            <a:endParaRPr lang="zh-CN" altLang="en-US" dirty="0"/>
          </a:p>
        </p:txBody>
      </p:sp>
      <p:sp>
        <p:nvSpPr>
          <p:cNvPr id="125956"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22</a:t>
            </a:fld>
            <a:endParaRPr lang="zh-CN" alt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TextEdit="1"/>
          </p:cNvSpPr>
          <p:nvPr>
            <p:ph type="sldImg"/>
          </p:nvPr>
        </p:nvSpPr>
        <p:spPr/>
      </p:sp>
      <p:sp>
        <p:nvSpPr>
          <p:cNvPr id="129027" name="Rectangle 3"/>
          <p:cNvSpPr>
            <a:spLocks noGrp="1"/>
          </p:cNvSpPr>
          <p:nvPr>
            <p:ph type="body" idx="1"/>
          </p:nvPr>
        </p:nvSpPr>
        <p:spPr>
          <a:ln w="12700"/>
        </p:spPr>
        <p:txBody>
          <a:bodyPr wrap="square" lIns="91440" tIns="45720" rIns="91440" bIns="45720" anchor="ctr"/>
          <a:lstStyle/>
          <a:p>
            <a:pPr lvl="0"/>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158ABE7-6827-4199-8010-B0204CFC24D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4A576ED-24B2-42CF-A076-ADA17930F8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E6CEAEE-D490-4450-87F0-232885F4434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42439C8-52B9-4489-AB9A-7AA5E1E4774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E683462-ECE9-4258-8DCC-C90C533D4F8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65087CF-E4FA-4053-AC31-D074E6E3985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CB2D966-6C33-4420-870A-B74E9E7DB89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ADD002-E5CD-4464-8000-C9617C7D6F3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3E2BBA-D500-4A20-93AB-BA438D5E8A7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085DA2-AC42-47B8-8958-C82B53350F8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9"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BE61F1C-7D67-48A4-B571-5A28740ECB9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43934B-55E0-4C69-8A19-A576BCEAF1B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848ED54-99AE-4B15-BE8C-A96DBA931A3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1CA655D-A291-47BC-8E2E-57E3C93B039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135010F-6E5E-4720-A317-9849F5A2E0F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F6D0CA-0A8B-49F3-8F69-5474A69ADDC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033C17-1031-4FDB-947E-3B6AC53A23A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0139956-0710-43CD-8AB4-84257EE6642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C66EAF8-D8C1-40E6-AAAD-CD7DE3D9C9D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77920EB-848C-419B-84FE-BB31018AA16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FF5299E-AD38-472E-B146-5ED04E4ECFD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1DA75FA-3EC9-439B-B4F5-3BC8D8D0623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27C6F9F-9479-485E-B585-BC12312261B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C424909-C188-4613-9333-B05C7E796D0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42B9D5A-F59C-4398-80E3-5139112055E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D9F76D5-5AC8-447F-96C7-31E1B83B5FC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E575A6-4261-4C41-B1BC-90B025F8197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4175339-7F44-4779-A34A-B43FA3B249B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990AF87-2196-46B3-A5ED-BF56308DE82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0AC325C-76C1-4A12-9F6A-9AC18135151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B859BB3-4029-4019-A2C1-3CA1D74B261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AC1263-A4F4-4D24-802A-66F875499BD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97F3E8C-A1F5-4F65-BE6E-B811B3730A7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719C596-3B52-45AF-B32D-D90B0E852D6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AD0323F-FE07-481D-BA96-6BFE0398DE0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E3AE150-EAC5-4E29-9FD5-4D3B2E37C17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80409C0-E6E6-423A-8FDB-6468A64EDA3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3C5D7E6-032C-46CA-8562-BDBD56D10DB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DFE86C-1791-4AEC-A2C3-27F5F2FC061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BF4BC0A-976C-43E6-9CD4-D8DBB6BCDA0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C09E615-06E2-407E-807F-2A6D0CB521C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6A05E66-4799-4C28-A829-910162064CC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CA9CD5-2067-4486-B2E9-D6503F87D65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09FE3C-B828-4CAC-8716-C986916432E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8F08651-6894-45B7-8D57-231BE2C8146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1C02457-A447-4BEE-B084-35798B25724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7D0EEB3-9C12-4F15-8436-28CC162A293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BDB2418-EEB9-43D2-9A74-38DCA1E02B8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60DEFD-DAEC-47C8-AC56-9388DDC0A2A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9764378-B927-4562-AA4D-53BF89A2D92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DFE3390-3E88-4322-9DB3-0AA30221B76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25537B5-8B70-4508-BD0A-5E636D6E0CB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D750DC-BEB8-4731-BDD6-DE8A1B92AC8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91A871-C541-44F4-B066-C86D479D71C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228B810-CF9D-4854-8140-98CA3916561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FA14B4A-A44C-4606-A114-AB85F630C7E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FF77F6B-ECA9-4BFA-9EDC-E59F9201B6A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5A412EC-6947-4DFA-A629-9921DECEEB3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DD4DB11-B4E7-4EC7-AD71-C031609754E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B2822AB-FE73-48E9-91F5-6E364340EB4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9BE4BB0-54DF-4FBD-98F7-A6FA3237F4C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E6A375A-E265-4733-A409-E8672F97C31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E74128-99BE-42E8-9D01-C4C7C257CF8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E4F1E5E-E021-447B-8D17-47AD1D4D9EA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D50DE3C-9C0E-4BA0-9D00-48D8D706570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07C463C-267B-4C96-8711-DEF0D098C24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C39E72D-747E-481D-9944-4B69D5831B8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CBF341-6ED9-491A-97F5-3B66E6A18CC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05FDCD1-603B-41BE-A0D5-AB44BFFE371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A5931A4-7735-4303-91D9-5B73CF63714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F908F8-3661-4A1C-8CAC-9EA12056940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7866E3A-19C3-45F9-8068-A07355887BC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4710659-5412-4020-8487-CE87A276C05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F1ABF4F-BBC7-4F33-90C3-F80A36643FB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2D2022D-A789-4E4C-86E0-966A15E1794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5ACA993-4DCA-410D-B0DA-8F343AE70F0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91AE633-7D65-4249-A98F-713D27E8EFF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8C6F860-4262-4937-9844-B943E321A0E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2B8F2BB-07E7-422A-AE55-8C93A417A56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155305B-C07A-48DD-84C0-C861DD60ADE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F1D2A9C-F1FF-4735-8B22-0BF422ACDE0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5DD1DDD-7DD1-40A5-AACF-A538FADA786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6E821B-D506-4626-85F4-51EBBC9FC8F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97C2FDA-1FDC-4B60-8A86-45BE47EF512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CCB48BC-2BCF-4D37-86D0-547A596E30E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7238548-716B-4464-97B3-B55EC17AC9C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8FF7D3A-E890-4030-B9E1-F50BAE46789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580EDB4-DF53-4FF9-BA85-DD78CD32FB1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468EBBC-D832-4DA8-8FC9-8FCA8AD0DDD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E7BE2B9-587D-404C-8A58-D0F71031CFB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6A98072-D40F-4739-8A92-F443A34D944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B26E0BD-E29C-488B-81B0-49542E038CF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96DE70F-1076-4E35-BE45-8F7EBD85944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11A7FE-2E56-452D-8903-F1C2876A1BA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DA4C2DA-CA89-4348-AE08-1AC064ADA77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273A9A7-B585-492E-A393-ED818443841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CE5FBCD-4223-4416-B316-4DCB86F987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8C38E85-85AE-4F7C-8CCD-DADFF61F415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A92FAF4-D4E5-4E10-9506-EA32107B25C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E3028B5-E965-4843-A308-70A06DAE0A6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1B8DC35-A5F6-47A3-8735-716C071D444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3870E3-5C89-4E23-B392-21E768049F5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59D4651-761F-4349-A9D8-84CFB388822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BD16198-E266-492D-88A4-C577CDB4B24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9621A5-97F7-4556-8DC8-7A35350553B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71519F8-89DB-44E1-B557-5CA35A4600F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86E36E-F937-489C-B44D-D2C55370349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89AF19B-63DB-4B1E-9996-02A21A53829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AA35A4-25BC-477E-8D90-C27E2BA5FD1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FFE16F9-43A4-414E-8BCE-73555B5EA34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F55960C-A45B-473E-BA92-B39DA0D2409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2AA5B5E-AB62-4613-B6B9-C0AFB885196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75F00C-D9BE-4BE2-AEE3-08B3416124D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8233FFE-0C5E-48CF-9AFB-B33BCEDCD21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EA94455-602A-408A-8CD3-B33200988B6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E36A85-4E29-4592-9903-1CD56D4EEF7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402AC19-D789-44D4-9C2E-066BD401831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344186C-3B20-4EB5-99CA-C9FD714E078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65568A-F852-4CAE-AF67-0354D1AF4AD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9CFED24-FDBD-4B23-B68E-B59F4389E05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33DA3E2-E918-45F3-8320-CF0EF760DE2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7C6AEE-C976-49D9-A245-9A46E0C3DEF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308B62-71EF-4064-9164-C716EEBC09C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8A262A-C122-4513-B940-305546DE00A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2998AA6-8343-49D8-AA8D-B2262F2C6E5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51C7C67-FF04-4374-BACD-8E6C7806E64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B337B53-1DA8-4E50-8F7F-9780E64B634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AEA47C1-9EAB-48D1-944F-85A490A95ED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B98563D-1824-4DD1-939A-CEE43497AA0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33AE6CA-5FD6-4EE5-BCC8-A06E25761D9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5B887F2-CFFD-4FEF-90ED-EB95AE292EB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BBD156A-6942-4EE2-BC0F-7340AC3B82A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F224E40-BF9E-4871-A1FE-DB6FBB827C1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864DCD-44A5-4A62-9434-3FAE559DECC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87350FF-8D53-4B1B-A6E4-206411D3788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E58B1E-DDCA-4451-B453-7922A1D2B83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645ACA3-67F0-43C3-AFD0-CA44277CAE1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C1C3C6-CF12-4F89-91BD-DCF53075538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9DDD761-23C7-4242-BDAB-1E23A628610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CF237F3-A85D-4712-B285-4A9CF027312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6E4A74F-22A9-4776-AB85-46DF8D1B26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265FBEE-9406-4E30-A66A-F27634EA13D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DECF04C-A280-423F-BC94-6AF60D5DEF4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35608F2-E1B9-45FF-9681-A62AC492F7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4098935-C44A-478C-A594-78452A66791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CC800CC-5144-4C51-86F6-616C9CDE16B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6226B27-6E1D-4A46-BD12-CFD2532CE5C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E2C7CB-3EC9-4ED7-B7B8-95A9427E88C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F9F7FFD-8BE5-4216-A44F-2C2EA527E18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53B786A-3198-4B05-95A4-958129EC527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855611A-9078-4F5F-B27D-297CC5FCF79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65E6B8-B1A5-4FEE-8D52-D17D3F692A5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C3C6A46-846A-4BB5-824E-0759E3D7453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2E4B57B-055C-4256-B532-846BC03D7B3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8230F7C-60E2-4CFF-A147-6592C5406FA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27B0803-D038-4F3D-AC68-3D3979947BF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0FDC6A0-4A69-4F62-9E4B-AE2516B2B20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549C9C-C575-4844-8937-62DE523FB8F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90AA1F6-DFBD-4C78-B5E5-CA85D2D3DB4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F7F9DD-06D7-40C5-BF2F-344095A3D0F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58F9DDA-A589-488C-B8C5-D954627664D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8340DC-8FC0-4F64-BE7E-5ECADCB9162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C8F93A4-9FDF-46F9-AD22-336C5F87BB7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1DA3A44-0218-4704-92EF-18985B93BB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385322A-828B-40F5-B2DF-1A7BDEF0449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87597D-D422-4250-8EC3-E69DC69F05B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9FF263F-D70B-4AE0-9285-58407AF05D1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483F05F-0E0C-4FF7-B6E4-7223DABB61D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4D61322-F19A-46D4-960B-BDD229936F6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76DABB2-5917-4653-AA78-4D9A3DE173E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92A1B67-9DE4-4DA8-B4E6-D3499EBAE4C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006EDEF-47F2-46E1-A4B0-0C6E413B1B1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2A036C2-03C6-4C88-BA62-558C438B631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522381C-BF90-462E-878F-2FEB78FE6FF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311EBEA-6A82-4024-884E-B7247E9F27E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2025/9/18</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03F9634-A412-4517-B792-BF63BD0DE3D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pn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3.pn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image" Target="../media/image3.png"/><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2.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image" Target="../media/image3.png"/><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image" Target="../media/image2.jpe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3.pn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image" Target="../media/image2.jpe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1.pn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sp>
        <p:nvSpPr>
          <p:cNvPr id="1027"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8"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29"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F57E715-777E-4068-A51F-2E7782D25BD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0" y="0"/>
            <a:chExt cx="5804" cy="1740"/>
          </a:xfrm>
        </p:grpSpPr>
        <p:pic>
          <p:nvPicPr>
            <p:cNvPr id="1031"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1032"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2051" name="组合 9"/>
          <p:cNvGrpSpPr/>
          <p:nvPr userDrawn="1"/>
        </p:nvGrpSpPr>
        <p:grpSpPr>
          <a:xfrm>
            <a:off x="539750" y="52388"/>
            <a:ext cx="1628775" cy="487362"/>
            <a:chOff x="0" y="0"/>
            <a:chExt cx="5804" cy="1740"/>
          </a:xfrm>
        </p:grpSpPr>
        <p:pic>
          <p:nvPicPr>
            <p:cNvPr id="205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205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2052"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2055"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57"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ED1345-BC00-4595-ADF1-E8357F1FF59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3075" name="组合 9"/>
          <p:cNvGrpSpPr/>
          <p:nvPr userDrawn="1"/>
        </p:nvGrpSpPr>
        <p:grpSpPr>
          <a:xfrm>
            <a:off x="539750" y="52388"/>
            <a:ext cx="1628775" cy="487362"/>
            <a:chOff x="0" y="0"/>
            <a:chExt cx="5804" cy="1740"/>
          </a:xfrm>
        </p:grpSpPr>
        <p:pic>
          <p:nvPicPr>
            <p:cNvPr id="3080"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307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076"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3079"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1"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4191A7-88F0-4CB9-9BCC-3F1A36D5331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098"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4099" name="组合 9"/>
          <p:cNvGrpSpPr/>
          <p:nvPr userDrawn="1"/>
        </p:nvGrpSpPr>
        <p:grpSpPr>
          <a:xfrm>
            <a:off x="539750" y="52388"/>
            <a:ext cx="1628775" cy="487362"/>
            <a:chOff x="0" y="0"/>
            <a:chExt cx="5804" cy="1740"/>
          </a:xfrm>
        </p:grpSpPr>
        <p:pic>
          <p:nvPicPr>
            <p:cNvPr id="4104"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410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100"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4103"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5"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495E46-E54F-42B6-A842-5AEEB1C344D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5123" name="组合 9"/>
          <p:cNvGrpSpPr/>
          <p:nvPr userDrawn="1"/>
        </p:nvGrpSpPr>
        <p:grpSpPr>
          <a:xfrm>
            <a:off x="539750" y="52388"/>
            <a:ext cx="1628775" cy="487362"/>
            <a:chOff x="0" y="0"/>
            <a:chExt cx="5804" cy="1740"/>
          </a:xfrm>
        </p:grpSpPr>
        <p:pic>
          <p:nvPicPr>
            <p:cNvPr id="5128"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512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124"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5127" name="日期占位符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灯片编号占位符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A5CB1B4-86E1-4288-9A3B-A9F4875961D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6147" name="组合 9"/>
          <p:cNvGrpSpPr/>
          <p:nvPr userDrawn="1"/>
        </p:nvGrpSpPr>
        <p:grpSpPr>
          <a:xfrm>
            <a:off x="539750" y="52388"/>
            <a:ext cx="1628775" cy="487362"/>
            <a:chOff x="0" y="0"/>
            <a:chExt cx="5804" cy="1740"/>
          </a:xfrm>
        </p:grpSpPr>
        <p:pic>
          <p:nvPicPr>
            <p:cNvPr id="6152"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614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6148" name="图片 9"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6151" name="日期占位符 6"/>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7"/>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灯片编号占位符 8"/>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A3E7E6C-8E0A-452D-94B7-41CCFD6C171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170"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7171" name="组合 9"/>
          <p:cNvGrpSpPr/>
          <p:nvPr userDrawn="1"/>
        </p:nvGrpSpPr>
        <p:grpSpPr>
          <a:xfrm>
            <a:off x="539750" y="52388"/>
            <a:ext cx="1628775" cy="487362"/>
            <a:chOff x="0" y="0"/>
            <a:chExt cx="5804" cy="1740"/>
          </a:xfrm>
        </p:grpSpPr>
        <p:pic>
          <p:nvPicPr>
            <p:cNvPr id="717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717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7172"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7175" name="日期占位符 2"/>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3"/>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7" name="灯片编号占位符 4"/>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16C68CB-4E67-497B-803B-7916ACA7136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8195" name="组合 9"/>
          <p:cNvGrpSpPr/>
          <p:nvPr userDrawn="1"/>
        </p:nvGrpSpPr>
        <p:grpSpPr>
          <a:xfrm>
            <a:off x="539750" y="52388"/>
            <a:ext cx="1628775" cy="487362"/>
            <a:chOff x="0" y="0"/>
            <a:chExt cx="5804" cy="1740"/>
          </a:xfrm>
        </p:grpSpPr>
        <p:pic>
          <p:nvPicPr>
            <p:cNvPr id="8200"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819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8196"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8199" name="日期占位符 1"/>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2"/>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201" name="灯片编号占位符 3"/>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C4C17E1-2A68-4FCB-9726-637FFDA7E65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218"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9219" name="组合 9"/>
          <p:cNvGrpSpPr/>
          <p:nvPr userDrawn="1"/>
        </p:nvGrpSpPr>
        <p:grpSpPr>
          <a:xfrm>
            <a:off x="539750" y="52388"/>
            <a:ext cx="1628775" cy="487362"/>
            <a:chOff x="0" y="0"/>
            <a:chExt cx="5804" cy="1740"/>
          </a:xfrm>
        </p:grpSpPr>
        <p:pic>
          <p:nvPicPr>
            <p:cNvPr id="9223"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922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222" name="Rectangle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Rectangle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224" name="Rectangle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7FA4C1-ED00-4BC9-94AE-F4076393A1C6}"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9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9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5.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9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6.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15.xml"/><Relationship Id="rId7" Type="http://schemas.openxmlformats.org/officeDocument/2006/relationships/image" Target="../media/image10.png"/><Relationship Id="rId2" Type="http://schemas.openxmlformats.org/officeDocument/2006/relationships/slideLayout" Target="../slideLayouts/slideLayout95.xml"/><Relationship Id="rId1" Type="http://schemas.openxmlformats.org/officeDocument/2006/relationships/tags" Target="../tags/tag4.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矩形 3"/>
          <p:cNvSpPr/>
          <p:nvPr/>
        </p:nvSpPr>
        <p:spPr>
          <a:xfrm>
            <a:off x="0" y="1708150"/>
            <a:ext cx="9156700" cy="1643063"/>
          </a:xfrm>
          <a:prstGeom prst="rect">
            <a:avLst/>
          </a:prstGeom>
          <a:solidFill>
            <a:srgbClr val="BDD7EE"/>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01379" name="标题 1"/>
          <p:cNvSpPr>
            <a:spLocks noGrp="1"/>
          </p:cNvSpPr>
          <p:nvPr>
            <p:ph type="title"/>
          </p:nvPr>
        </p:nvSpPr>
        <p:spPr>
          <a:xfrm>
            <a:off x="2566988" y="2020888"/>
            <a:ext cx="3852862" cy="971550"/>
          </a:xfrm>
          <a:prstGeom prst="rect">
            <a:avLst/>
          </a:prstGeom>
          <a:noFill/>
          <a:ln w="9525">
            <a:noFill/>
          </a:ln>
        </p:spPr>
        <p:txBody>
          <a:bodyPr/>
          <a:lstStyle/>
          <a:p>
            <a:pPr eaLnBrk="1" hangingPunct="1"/>
            <a:r>
              <a:rPr lang="en-US" altLang="en-US" sz="3600" dirty="0">
                <a:latin typeface="方正综艺简体" charset="-122"/>
                <a:ea typeface="方正综艺简体" charset="-122"/>
              </a:rPr>
              <a:t>数 字 逻 辑 电 路</a:t>
            </a:r>
          </a:p>
        </p:txBody>
      </p:sp>
      <p:sp>
        <p:nvSpPr>
          <p:cNvPr id="101380" name="文本框 2"/>
          <p:cNvSpPr txBox="1"/>
          <p:nvPr/>
        </p:nvSpPr>
        <p:spPr>
          <a:xfrm>
            <a:off x="3703638" y="2646363"/>
            <a:ext cx="1073150" cy="398462"/>
          </a:xfrm>
          <a:prstGeom prst="rect">
            <a:avLst/>
          </a:prstGeom>
          <a:noFill/>
          <a:ln w="9525">
            <a:noFill/>
          </a:ln>
        </p:spPr>
        <p:txBody>
          <a:bodyPr>
            <a:spAutoFit/>
          </a:bodyPr>
          <a:lstStyle/>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p>
        </p:txBody>
      </p:sp>
      <p:sp>
        <p:nvSpPr>
          <p:cNvPr id="101381" name="矩形 8"/>
          <p:cNvSpPr/>
          <p:nvPr/>
        </p:nvSpPr>
        <p:spPr>
          <a:xfrm>
            <a:off x="0" y="-92075"/>
            <a:ext cx="9166225" cy="5164138"/>
          </a:xfrm>
          <a:prstGeom prst="rect">
            <a:avLst/>
          </a:prstGeom>
          <a:solidFill>
            <a:schemeClr val="bg1"/>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01382" name="矩形 9"/>
          <p:cNvSpPr/>
          <p:nvPr/>
        </p:nvSpPr>
        <p:spPr>
          <a:xfrm>
            <a:off x="0" y="1563688"/>
            <a:ext cx="9169400" cy="1646237"/>
          </a:xfrm>
          <a:prstGeom prst="rect">
            <a:avLst/>
          </a:prstGeom>
          <a:solidFill>
            <a:srgbClr val="BDD7EE"/>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01383" name="标题 1"/>
          <p:cNvSpPr/>
          <p:nvPr/>
        </p:nvSpPr>
        <p:spPr>
          <a:xfrm>
            <a:off x="2486025" y="1711325"/>
            <a:ext cx="6916738" cy="1190625"/>
          </a:xfrm>
          <a:prstGeom prst="rect">
            <a:avLst/>
          </a:prstGeom>
          <a:noFill/>
          <a:ln w="9525">
            <a:noFill/>
          </a:ln>
        </p:spPr>
        <p:txBody>
          <a:bodyPr anchor="ctr"/>
          <a:lstStyle/>
          <a:p>
            <a:pPr eaLnBrk="1" hangingPunct="1">
              <a:lnSpc>
                <a:spcPct val="90000"/>
              </a:lnSpc>
              <a:buFont typeface="Arial" panose="020B0604020202020204" pitchFamily="34" charset="0"/>
            </a:pPr>
            <a:r>
              <a:rPr lang="zh-CN" altLang="en-US" sz="4400" dirty="0">
                <a:solidFill>
                  <a:schemeClr val="tx1"/>
                </a:solidFill>
                <a:latin typeface="黑体" panose="02010609060101010101" pitchFamily="49" charset="-122"/>
                <a:ea typeface="黑体" panose="02010609060101010101" pitchFamily="49" charset="-122"/>
              </a:rPr>
              <a:t>数 字 逻 辑 电 路</a:t>
            </a:r>
          </a:p>
        </p:txBody>
      </p:sp>
      <p:grpSp>
        <p:nvGrpSpPr>
          <p:cNvPr id="101385" name="组合 12"/>
          <p:cNvGrpSpPr/>
          <p:nvPr/>
        </p:nvGrpSpPr>
        <p:grpSpPr>
          <a:xfrm>
            <a:off x="466725" y="268288"/>
            <a:ext cx="2322513" cy="696912"/>
            <a:chOff x="0" y="0"/>
            <a:chExt cx="5804" cy="1740"/>
          </a:xfrm>
        </p:grpSpPr>
        <p:pic>
          <p:nvPicPr>
            <p:cNvPr id="101386" name="图片 13" descr="交大矢量logo"/>
            <p:cNvPicPr>
              <a:picLocks noChangeAspect="1"/>
            </p:cNvPicPr>
            <p:nvPr/>
          </p:nvPicPr>
          <p:blipFill>
            <a:blip r:embed="rId2"/>
            <a:srcRect l="-1437" t="-9560" r="41219" b="-10179"/>
            <a:stretch>
              <a:fillRect/>
            </a:stretch>
          </p:blipFill>
          <p:spPr>
            <a:xfrm>
              <a:off x="0" y="0"/>
              <a:ext cx="5616" cy="1741"/>
            </a:xfrm>
            <a:prstGeom prst="rect">
              <a:avLst/>
            </a:prstGeom>
            <a:noFill/>
            <a:ln w="9525">
              <a:noFill/>
            </a:ln>
          </p:spPr>
        </p:pic>
        <p:sp>
          <p:nvSpPr>
            <p:cNvPr id="101387" name="矩形 14"/>
            <p:cNvSpPr/>
            <p:nvPr/>
          </p:nvSpPr>
          <p:spPr>
            <a:xfrm>
              <a:off x="5463" y="1161"/>
              <a:ext cx="341" cy="337"/>
            </a:xfrm>
            <a:prstGeom prst="rect">
              <a:avLst/>
            </a:prstGeom>
            <a:solidFill>
              <a:schemeClr val="bg1"/>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p:cNvSpPr>
          <p:nvPr>
            <p:ph type="title"/>
          </p:nvPr>
        </p:nvSpPr>
        <p:spPr>
          <a:xfrm>
            <a:off x="500063" y="657225"/>
            <a:ext cx="6324600" cy="685800"/>
          </a:xfrm>
          <a:prstGeom prst="rect">
            <a:avLst/>
          </a:prstGeom>
          <a:noFill/>
          <a:ln w="9525">
            <a:noFill/>
          </a:ln>
        </p:spPr>
        <p:txBody>
          <a:bodyPr/>
          <a:lstStyle/>
          <a:p>
            <a:pPr eaLnBrk="1" hangingPunct="1">
              <a:lnSpc>
                <a:spcPct val="80000"/>
              </a:lnSpc>
            </a:pPr>
            <a:r>
              <a:rPr lang="zh-CN" altLang="en-US" sz="2800" b="1" dirty="0">
                <a:solidFill>
                  <a:srgbClr val="FF0000"/>
                </a:solidFill>
                <a:latin typeface="华文新魏" panose="02010800040101010101" pitchFamily="2" charset="-122"/>
                <a:ea typeface="华文新魏" panose="02010800040101010101" pitchFamily="2" charset="-122"/>
              </a:rPr>
              <a:t>３</a:t>
            </a:r>
            <a:r>
              <a:rPr lang="en-US" altLang="zh-CN" sz="2800" b="1" dirty="0">
                <a:solidFill>
                  <a:srgbClr val="FF0000"/>
                </a:solidFill>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３、异步时序电路的分析与设计 </a:t>
            </a:r>
          </a:p>
        </p:txBody>
      </p:sp>
      <p:sp>
        <p:nvSpPr>
          <p:cNvPr id="102403" name="Rectangle 3"/>
          <p:cNvSpPr>
            <a:spLocks noGrp="1"/>
          </p:cNvSpPr>
          <p:nvPr>
            <p:ph type="body" sz="half"/>
          </p:nvPr>
        </p:nvSpPr>
        <p:spPr>
          <a:xfrm>
            <a:off x="600075" y="1106488"/>
            <a:ext cx="7643813" cy="3770312"/>
          </a:xfrm>
          <a:prstGeom prst="rect">
            <a:avLst/>
          </a:prstGeom>
          <a:noFill/>
          <a:ln w="9525">
            <a:noFill/>
          </a:ln>
        </p:spPr>
        <p:txBody>
          <a:bodyPr/>
          <a:lstStyle>
            <a:lvl1pPr lvl="0">
              <a:buClrTx/>
              <a:buSzTx/>
              <a:buFont typeface="Arial" panose="020B0604020202020204" pitchFamily="34" charset="0"/>
              <a:defRPr sz="1900"/>
            </a:lvl1pPr>
            <a:lvl2pPr lvl="1">
              <a:buClrTx/>
              <a:buSzTx/>
              <a:buFont typeface="Arial" panose="020B0604020202020204" pitchFamily="34" charset="0"/>
              <a:defRPr sz="2400"/>
            </a:lvl2pPr>
            <a:lvl3pPr lvl="2">
              <a:buClrTx/>
              <a:buSzTx/>
              <a:buFont typeface="Arial" panose="020B0604020202020204" pitchFamily="34" charset="0"/>
              <a:defRPr sz="1300"/>
            </a:lvl3pPr>
            <a:lvl4pPr lvl="3">
              <a:buClrTx/>
              <a:buSzTx/>
              <a:buFont typeface="Arial" panose="020B0604020202020204" pitchFamily="34" charset="0"/>
              <a:defRPr sz="1100"/>
            </a:lvl4pPr>
            <a:lvl5pPr lvl="4">
              <a:buClrTx/>
              <a:buSzTx/>
              <a:buFont typeface="Arial" panose="020B0604020202020204" pitchFamily="34" charset="0"/>
              <a:defRPr sz="1100"/>
            </a:lvl5pPr>
          </a:lstStyle>
          <a:p>
            <a:pPr lvl="0" eaLnBrk="1" hangingPunct="1">
              <a:lnSpc>
                <a:spcPct val="110000"/>
              </a:lnSpc>
              <a:buNone/>
            </a:pPr>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脉冲异步时序电路概述</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脉冲异步时序电路与同步时序电路的相同点</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脉冲异步时序电路与同步时序电路的差异点</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脉冲异步时序电路输入的限制</a:t>
            </a:r>
            <a:r>
              <a:rPr lang="en-US" altLang="zh-CN" sz="2000" b="1" dirty="0">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教材限定</a:t>
            </a:r>
            <a:r>
              <a:rPr lang="en-US" altLang="zh-CN" sz="2000" b="1" dirty="0">
                <a:latin typeface="华文新魏" panose="02010800040101010101" pitchFamily="2" charset="-122"/>
                <a:ea typeface="华文新魏" panose="02010800040101010101" pitchFamily="2" charset="-122"/>
              </a:rPr>
              <a:t>)</a:t>
            </a:r>
          </a:p>
          <a:p>
            <a:pPr lvl="0" eaLnBrk="1" hangingPunct="1">
              <a:lnSpc>
                <a:spcPct val="110000"/>
              </a:lnSpc>
              <a:spcBef>
                <a:spcPts val="1800"/>
              </a:spcBef>
              <a:buNone/>
            </a:pPr>
            <a:r>
              <a:rPr lang="en-US" altLang="zh-CN" sz="2000" b="1" dirty="0">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脉冲异步时序电路的分析步骤</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脉冲异步时序电路分析举例</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110000"/>
              </a:lnSpc>
              <a:spcBef>
                <a:spcPts val="1200"/>
              </a:spcBef>
              <a:buNone/>
            </a:pPr>
            <a:r>
              <a:rPr lang="en-US" altLang="zh-CN" sz="2000" b="1" dirty="0">
                <a:latin typeface="华文新魏" panose="02010800040101010101" pitchFamily="2" charset="-122"/>
                <a:ea typeface="华文新魏" panose="02010800040101010101" pitchFamily="2" charset="-122"/>
              </a:rPr>
              <a:t>3. </a:t>
            </a:r>
            <a:r>
              <a:rPr lang="zh-CN" altLang="en-US" sz="2000" b="1" dirty="0">
                <a:latin typeface="华文新魏" panose="02010800040101010101" pitchFamily="2" charset="-122"/>
                <a:ea typeface="华文新魏" panose="02010800040101010101" pitchFamily="2" charset="-122"/>
              </a:rPr>
              <a:t>脉冲异步时序电路的设计步骤</a:t>
            </a:r>
            <a:endParaRPr lang="en-US" altLang="zh-CN" sz="2000" b="1" dirty="0">
              <a:latin typeface="华文新魏" panose="02010800040101010101" pitchFamily="2" charset="-122"/>
              <a:ea typeface="华文新魏" panose="02010800040101010101" pitchFamily="2" charset="-122"/>
            </a:endParaRPr>
          </a:p>
          <a:p>
            <a:pPr lvl="1" eaLnBrk="1" hangingPunct="1">
              <a:lnSpc>
                <a:spcPct val="11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脉冲异步时序电路设计举例</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110000"/>
              </a:lnSpc>
              <a:buNone/>
            </a:pPr>
            <a:r>
              <a:rPr lang="en-US" altLang="zh-CN" sz="2000" b="1" dirty="0">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p:cNvSpPr>
            <a:spLocks noGrp="1"/>
          </p:cNvSpPr>
          <p:nvPr>
            <p:ph type="title"/>
          </p:nvPr>
        </p:nvSpPr>
        <p:spPr>
          <a:xfrm>
            <a:off x="317500" y="474663"/>
            <a:ext cx="7162800" cy="571500"/>
          </a:xfrm>
          <a:prstGeom prst="rect">
            <a:avLst/>
          </a:prstGeom>
          <a:noFill/>
          <a:ln w="9525">
            <a:noFill/>
          </a:ln>
        </p:spPr>
        <p:txBody>
          <a:bodyPr/>
          <a:lstStyle/>
          <a:p>
            <a:pPr eaLnBrk="1" hangingPunct="1"/>
            <a:r>
              <a:rPr lang="zh-CN" altLang="en-US" sz="2800" b="1" dirty="0">
                <a:solidFill>
                  <a:srgbClr val="FF0000"/>
                </a:solidFill>
                <a:latin typeface="华文新魏" panose="02010800040101010101" pitchFamily="2" charset="-122"/>
                <a:ea typeface="华文新魏" panose="02010800040101010101" pitchFamily="2" charset="-122"/>
              </a:rPr>
              <a:t>３</a:t>
            </a:r>
            <a:r>
              <a:rPr lang="en-US" altLang="zh-CN" sz="2800" b="1" dirty="0">
                <a:solidFill>
                  <a:srgbClr val="FF0000"/>
                </a:solidFill>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３、 异步时序电路的分析与设计 </a:t>
            </a:r>
          </a:p>
        </p:txBody>
      </p:sp>
      <p:sp>
        <p:nvSpPr>
          <p:cNvPr id="103427" name="Rectangle 89"/>
          <p:cNvSpPr/>
          <p:nvPr/>
        </p:nvSpPr>
        <p:spPr>
          <a:xfrm>
            <a:off x="469265" y="1160780"/>
            <a:ext cx="8442960" cy="3911600"/>
          </a:xfrm>
          <a:prstGeom prst="rect">
            <a:avLst/>
          </a:prstGeom>
          <a:noFill/>
          <a:ln w="9525">
            <a:noFill/>
          </a:ln>
        </p:spPr>
        <p:txBody>
          <a:bodyPr anchor="ctr"/>
          <a:lstStyle/>
          <a:p>
            <a:pPr eaLnBrk="1" hangingPunct="1">
              <a:lnSpc>
                <a:spcPct val="14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时序电路的分类：</a:t>
            </a:r>
            <a:r>
              <a:rPr lang="zh-CN" altLang="en-US" b="1" dirty="0">
                <a:solidFill>
                  <a:schemeClr val="tx1"/>
                </a:solidFill>
                <a:latin typeface="华文新魏" panose="02010800040101010101" pitchFamily="2" charset="-122"/>
                <a:ea typeface="华文新魏" panose="02010800040101010101" pitchFamily="2" charset="-122"/>
              </a:rPr>
              <a:t>按其引起状态发生变化的原因不同而分类</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rgbClr val="FF0000"/>
                </a:solidFill>
                <a:latin typeface="华文新魏" panose="02010800040101010101" pitchFamily="2" charset="-122"/>
                <a:ea typeface="华文新魏" panose="02010800040101010101" pitchFamily="2" charset="-122"/>
              </a:rPr>
              <a:t>同步时序电路</a:t>
            </a:r>
            <a:r>
              <a:rPr lang="zh-CN" altLang="en-US" b="1" dirty="0">
                <a:solidFill>
                  <a:schemeClr val="tx1"/>
                </a:solidFill>
                <a:latin typeface="华文新魏" panose="02010800040101010101" pitchFamily="2" charset="-122"/>
                <a:ea typeface="华文新魏" panose="02010800040101010101" pitchFamily="2" charset="-122"/>
              </a:rPr>
              <a:t>受统一的时钟脉冲控制，</a:t>
            </a:r>
            <a:r>
              <a:rPr lang="zh-CN" altLang="en-US" b="1" dirty="0">
                <a:solidFill>
                  <a:srgbClr val="FF0000"/>
                </a:solidFill>
                <a:latin typeface="华文新魏" panose="02010800040101010101" pitchFamily="2" charset="-122"/>
                <a:ea typeface="华文新魏" panose="02010800040101010101" pitchFamily="2" charset="-122"/>
              </a:rPr>
              <a:t>工作特点</a:t>
            </a:r>
            <a:r>
              <a:rPr lang="zh-CN" altLang="en-US" b="1" dirty="0">
                <a:solidFill>
                  <a:schemeClr val="tx1"/>
                </a:solidFill>
                <a:latin typeface="华文新魏" panose="02010800040101010101" pitchFamily="2" charset="-122"/>
                <a:ea typeface="华文新魏" panose="02010800040101010101" pitchFamily="2" charset="-122"/>
              </a:rPr>
              <a:t>为：</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）时钟脉冲同时到达各记忆器件，电路状态方能发生预期改变。</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2</a:t>
            </a:r>
            <a:r>
              <a:rPr lang="zh-CN" altLang="en-US" b="1" dirty="0">
                <a:solidFill>
                  <a:schemeClr val="tx1"/>
                </a:solidFill>
                <a:latin typeface="华文新魏" panose="02010800040101010101" pitchFamily="2" charset="-122"/>
                <a:ea typeface="华文新魏" panose="02010800040101010101" pitchFamily="2" charset="-122"/>
              </a:rPr>
              <a:t>）只有前一个脉冲引起的电路响应完全结束后，第二个脉冲方能到来。</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T=</a:t>
            </a:r>
            <a:r>
              <a:rPr lang="zh-CN" altLang="en-US" b="1" dirty="0">
                <a:solidFill>
                  <a:schemeClr val="tx1"/>
                </a:solidFill>
                <a:latin typeface="华文新魏" panose="02010800040101010101" pitchFamily="2" charset="-122"/>
                <a:ea typeface="华文新魏" panose="02010800040101010101" pitchFamily="2" charset="-122"/>
              </a:rPr>
              <a:t>最大路径延迟时间</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组合险象的消失时间。）</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3</a:t>
            </a:r>
            <a:r>
              <a:rPr lang="zh-CN" altLang="en-US" b="1" dirty="0">
                <a:solidFill>
                  <a:schemeClr val="tx1"/>
                </a:solidFill>
                <a:latin typeface="华文新魏" panose="02010800040101010101" pitchFamily="2" charset="-122"/>
                <a:ea typeface="华文新魏" panose="02010800040101010101" pitchFamily="2" charset="-122"/>
              </a:rPr>
              <a:t>）外部输入信号的变化应满足触发器正常工作所需的建立和保持时间。</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    这些特点简化了电路分析与设计工作。但电路的</a:t>
            </a:r>
            <a:r>
              <a:rPr lang="zh-CN" altLang="en-US" b="1" dirty="0">
                <a:solidFill>
                  <a:srgbClr val="FF0000"/>
                </a:solidFill>
                <a:latin typeface="华文新魏" panose="02010800040101010101" pitchFamily="2" charset="-122"/>
                <a:ea typeface="华文新魏" panose="02010800040101010101" pitchFamily="2" charset="-122"/>
              </a:rPr>
              <a:t>工作速度</a:t>
            </a:r>
            <a:r>
              <a:rPr lang="zh-CN" altLang="en-US" b="1" dirty="0">
                <a:solidFill>
                  <a:schemeClr val="tx1"/>
                </a:solidFill>
                <a:latin typeface="华文新魏" panose="02010800040101010101" pitchFamily="2" charset="-122"/>
                <a:ea typeface="华文新魏" panose="02010800040101010101" pitchFamily="2" charset="-122"/>
              </a:rPr>
              <a:t>的提高受到了限制，且对时钟脉冲到达各记忆器件的时间及外部信号的变化有较严格的要求。</a:t>
            </a:r>
            <a:br>
              <a:rPr lang="zh-CN" altLang="en-US" b="1" dirty="0">
                <a:solidFill>
                  <a:schemeClr val="tx1"/>
                </a:solidFill>
                <a:latin typeface="华文新魏" panose="02010800040101010101" pitchFamily="2" charset="-122"/>
                <a:ea typeface="华文新魏" panose="02010800040101010101" pitchFamily="2" charset="-122"/>
              </a:rPr>
            </a:b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 calcmode="lin" valueType="num">
                                      <p:cBhvr additive="base">
                                        <p:cTn id="7" dur="500" fill="hold"/>
                                        <p:tgtEl>
                                          <p:spTgt spid="1034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Grp="1"/>
          </p:cNvSpPr>
          <p:nvPr>
            <p:ph type="title"/>
          </p:nvPr>
        </p:nvSpPr>
        <p:spPr>
          <a:xfrm>
            <a:off x="533400" y="530225"/>
            <a:ext cx="7162800" cy="571500"/>
          </a:xfrm>
          <a:prstGeom prst="rect">
            <a:avLst/>
          </a:prstGeom>
          <a:noFill/>
          <a:ln w="9525">
            <a:noFill/>
          </a:ln>
        </p:spPr>
        <p:txBody>
          <a:bodyPr/>
          <a:lstStyle/>
          <a:p>
            <a:pPr eaLnBrk="1" hangingPunct="1"/>
            <a:r>
              <a:rPr lang="zh-CN" altLang="en-US" sz="2800" b="1" dirty="0">
                <a:solidFill>
                  <a:srgbClr val="FF0000"/>
                </a:solidFill>
                <a:latin typeface="华文新魏" panose="02010800040101010101" pitchFamily="2" charset="-122"/>
                <a:ea typeface="华文新魏" panose="02010800040101010101" pitchFamily="2" charset="-122"/>
              </a:rPr>
              <a:t>３</a:t>
            </a:r>
            <a:r>
              <a:rPr lang="en-US" altLang="zh-CN" sz="2800" b="1" dirty="0">
                <a:solidFill>
                  <a:srgbClr val="FF0000"/>
                </a:solidFill>
                <a:latin typeface="华文新魏" panose="02010800040101010101" pitchFamily="2" charset="-122"/>
                <a:ea typeface="华文新魏" panose="02010800040101010101" pitchFamily="2" charset="-122"/>
              </a:rPr>
              <a:t>.</a:t>
            </a:r>
            <a:r>
              <a:rPr lang="zh-CN" altLang="en-US" sz="2800" b="1" dirty="0">
                <a:solidFill>
                  <a:srgbClr val="FF0000"/>
                </a:solidFill>
                <a:latin typeface="华文新魏" panose="02010800040101010101" pitchFamily="2" charset="-122"/>
                <a:ea typeface="华文新魏" panose="02010800040101010101" pitchFamily="2" charset="-122"/>
              </a:rPr>
              <a:t>３、 异步时序电路的分析与设计 </a:t>
            </a:r>
          </a:p>
        </p:txBody>
      </p:sp>
      <p:sp>
        <p:nvSpPr>
          <p:cNvPr id="104451" name="Rectangle 89"/>
          <p:cNvSpPr/>
          <p:nvPr/>
        </p:nvSpPr>
        <p:spPr>
          <a:xfrm>
            <a:off x="612775" y="935038"/>
            <a:ext cx="8062913" cy="4213225"/>
          </a:xfrm>
          <a:prstGeom prst="rect">
            <a:avLst/>
          </a:prstGeom>
          <a:noFill/>
          <a:ln w="9525">
            <a:noFill/>
          </a:ln>
        </p:spPr>
        <p:txBody>
          <a:bodyPr anchor="ctr"/>
          <a:lstStyle/>
          <a:p>
            <a:pPr eaLnBrk="1" hangingPunct="1">
              <a:lnSpc>
                <a:spcPct val="12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异步时序电路的特点</a:t>
            </a:r>
            <a:r>
              <a:rPr lang="zh-CN" altLang="en-US" b="1" dirty="0">
                <a:solidFill>
                  <a:schemeClr val="tx1"/>
                </a:solidFill>
                <a:latin typeface="华文新魏" panose="02010800040101010101" pitchFamily="2" charset="-122"/>
                <a:ea typeface="华文新魏" panose="02010800040101010101" pitchFamily="2" charset="-122"/>
              </a:rPr>
              <a:t>：没有统一的同步时钟脉冲，电路状态的改变是由</a:t>
            </a:r>
            <a:r>
              <a:rPr lang="zh-CN" altLang="en-US" b="1" dirty="0">
                <a:solidFill>
                  <a:srgbClr val="FF0000"/>
                </a:solidFill>
                <a:latin typeface="华文新魏" panose="02010800040101010101" pitchFamily="2" charset="-122"/>
                <a:ea typeface="华文新魏" panose="02010800040101010101" pitchFamily="2" charset="-122"/>
              </a:rPr>
              <a:t>外部输入信号的</a:t>
            </a:r>
            <a:r>
              <a:rPr lang="zh-CN" altLang="en-US" b="1" dirty="0">
                <a:solidFill>
                  <a:schemeClr val="tx1"/>
                </a:solidFill>
                <a:latin typeface="华文新魏" panose="02010800040101010101" pitchFamily="2" charset="-122"/>
                <a:ea typeface="华文新魏" panose="02010800040101010101" pitchFamily="2" charset="-122"/>
              </a:rPr>
              <a:t>变化</a:t>
            </a:r>
            <a:r>
              <a:rPr lang="zh-CN" altLang="en-US" b="1" dirty="0">
                <a:solidFill>
                  <a:srgbClr val="FF0000"/>
                </a:solidFill>
                <a:latin typeface="华文新魏" panose="02010800040101010101" pitchFamily="2" charset="-122"/>
                <a:ea typeface="华文新魏" panose="02010800040101010101" pitchFamily="2" charset="-122"/>
              </a:rPr>
              <a:t>直接</a:t>
            </a:r>
            <a:r>
              <a:rPr lang="zh-CN" altLang="en-US" b="1" dirty="0">
                <a:solidFill>
                  <a:schemeClr val="tx1"/>
                </a:solidFill>
                <a:latin typeface="华文新魏" panose="02010800040101010101" pitchFamily="2" charset="-122"/>
                <a:ea typeface="华文新魏" panose="02010800040101010101" pitchFamily="2" charset="-122"/>
              </a:rPr>
              <a:t>引起的。</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按输入信号的特征分为：脉冲型与电平型。</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脉冲型</a:t>
            </a:r>
            <a:r>
              <a:rPr lang="zh-CN" altLang="en-US" b="1" dirty="0">
                <a:solidFill>
                  <a:schemeClr val="tx1"/>
                </a:solidFill>
                <a:latin typeface="华文新魏" panose="02010800040101010101" pitchFamily="2" charset="-122"/>
                <a:ea typeface="华文新魏" panose="02010800040101010101" pitchFamily="2" charset="-122"/>
              </a:rPr>
              <a:t>：输入是脉冲信号，即输入信号的电平变化是“高</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低</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高”或“低</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高</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低”，且在输入脉冲的一个周期内使电路状态只改变一次。所以分析与设计方法与同步时序类似。</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差别：异步脉冲电路的特殊规定引起的。</a:t>
            </a:r>
            <a:br>
              <a:rPr lang="zh-CN" altLang="en-US" b="1" dirty="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电平型</a:t>
            </a:r>
            <a:r>
              <a:rPr lang="zh-CN" altLang="en-US" b="1" dirty="0">
                <a:solidFill>
                  <a:schemeClr val="tx1"/>
                </a:solidFill>
                <a:latin typeface="华文新魏" panose="02010800040101010101" pitchFamily="2" charset="-122"/>
                <a:ea typeface="华文新魏" panose="02010800040101010101" pitchFamily="2" charset="-122"/>
              </a:rPr>
              <a:t>：输入是电平信号，即输入信号的电平变化是“高</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低”或“低</a:t>
            </a:r>
            <a:r>
              <a:rPr lang="en-US" altLang="zh-CN" b="1" dirty="0">
                <a:solidFill>
                  <a:schemeClr val="tx1"/>
                </a:solidFill>
                <a:latin typeface="华文新魏" panose="02010800040101010101" pitchFamily="2" charset="-122"/>
                <a:ea typeface="华文新魏" panose="02010800040101010101" pitchFamily="2" charset="-122"/>
              </a:rPr>
              <a:t>-&gt;</a:t>
            </a:r>
            <a:r>
              <a:rPr lang="zh-CN" altLang="en-US" b="1" dirty="0">
                <a:solidFill>
                  <a:schemeClr val="tx1"/>
                </a:solidFill>
                <a:latin typeface="华文新魏" panose="02010800040101010101" pitchFamily="2" charset="-122"/>
                <a:ea typeface="华文新魏" panose="02010800040101010101" pitchFamily="2" charset="-122"/>
              </a:rPr>
              <a:t>高”，且在电平变化后的一段时间里，电路可能发生多次改变状态，最后才趋于稳定。因此，输入与输出间存在延迟与竞争现象，设计比较复杂。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4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451">
                                            <p:txEl>
                                              <p:charRg st="159" end="28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5"/>
          <p:cNvSpPr/>
          <p:nvPr/>
        </p:nvSpPr>
        <p:spPr>
          <a:xfrm>
            <a:off x="13970" y="512764"/>
            <a:ext cx="7744460" cy="571500"/>
          </a:xfrm>
          <a:prstGeom prst="rect">
            <a:avLst/>
          </a:prstGeom>
          <a:noFill/>
          <a:ln w="9525">
            <a:noFill/>
          </a:ln>
        </p:spPr>
        <p:txBody>
          <a:bodyPr anchor="ctr"/>
          <a:lstStyle/>
          <a:p>
            <a:pPr algn="ctr" eaLnBrk="1" hangingPunct="1">
              <a:buFont typeface="Arial" panose="020B0604020202020204" pitchFamily="34" charset="0"/>
            </a:pPr>
            <a:r>
              <a:rPr lang="zh-CN" altLang="en-US" sz="3200" b="1" dirty="0">
                <a:solidFill>
                  <a:srgbClr val="FF0000"/>
                </a:solidFill>
                <a:latin typeface="华文新魏" panose="02010800040101010101" pitchFamily="2" charset="-122"/>
                <a:ea typeface="华文新魏" panose="02010800040101010101" pitchFamily="2" charset="-122"/>
              </a:rPr>
              <a:t>３</a:t>
            </a:r>
            <a:r>
              <a:rPr lang="en-US" altLang="zh-CN" sz="3200" b="1" dirty="0">
                <a:solidFill>
                  <a:srgbClr val="FF0000"/>
                </a:solidFill>
                <a:latin typeface="华文新魏" panose="02010800040101010101" pitchFamily="2" charset="-122"/>
                <a:ea typeface="华文新魏" panose="02010800040101010101" pitchFamily="2" charset="-122"/>
              </a:rPr>
              <a:t>.</a:t>
            </a:r>
            <a:r>
              <a:rPr lang="zh-CN" altLang="en-US" sz="3200" b="1" dirty="0">
                <a:solidFill>
                  <a:srgbClr val="FF0000"/>
                </a:solidFill>
                <a:latin typeface="华文新魏" panose="02010800040101010101" pitchFamily="2" charset="-122"/>
                <a:ea typeface="华文新魏" panose="02010800040101010101" pitchFamily="2" charset="-122"/>
              </a:rPr>
              <a:t>３、异步时序电路的分析与设计 </a:t>
            </a:r>
          </a:p>
        </p:txBody>
      </p:sp>
      <p:sp>
        <p:nvSpPr>
          <p:cNvPr id="105475" name="Rectangle 6"/>
          <p:cNvSpPr/>
          <p:nvPr/>
        </p:nvSpPr>
        <p:spPr>
          <a:xfrm>
            <a:off x="609600" y="1062198"/>
            <a:ext cx="5867400" cy="514350"/>
          </a:xfrm>
          <a:prstGeom prst="rect">
            <a:avLst/>
          </a:prstGeom>
          <a:noFill/>
          <a:ln w="9525">
            <a:noFill/>
          </a:ln>
        </p:spPr>
        <p:txBody>
          <a:bodyPr/>
          <a:lstStyle/>
          <a:p>
            <a:pPr marL="342900" indent="-342900" eaLnBrk="1" hangingPunct="1">
              <a:lnSpc>
                <a:spcPct val="130000"/>
              </a:lnSpc>
              <a:spcBef>
                <a:spcPct val="2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1.  </a:t>
            </a:r>
            <a:r>
              <a:rPr lang="zh-CN" altLang="en-US" sz="2400" b="1" dirty="0">
                <a:solidFill>
                  <a:schemeClr val="tx1"/>
                </a:solidFill>
                <a:latin typeface="华文新魏" panose="02010800040101010101" pitchFamily="2" charset="-122"/>
                <a:ea typeface="华文新魏" panose="02010800040101010101" pitchFamily="2" charset="-122"/>
              </a:rPr>
              <a:t>脉冲异步时序电路概述</a:t>
            </a:r>
            <a:r>
              <a:rPr lang="zh-CN" altLang="en-US" sz="2400" dirty="0">
                <a:solidFill>
                  <a:schemeClr val="tx1"/>
                </a:solidFill>
                <a:latin typeface="华文新魏" panose="02010800040101010101" pitchFamily="2" charset="-122"/>
                <a:ea typeface="华文新魏" panose="02010800040101010101" pitchFamily="2" charset="-122"/>
              </a:rPr>
              <a:t>             </a:t>
            </a:r>
          </a:p>
        </p:txBody>
      </p:sp>
      <p:sp>
        <p:nvSpPr>
          <p:cNvPr id="105476" name="Text Box 8"/>
          <p:cNvSpPr txBox="1"/>
          <p:nvPr/>
        </p:nvSpPr>
        <p:spPr>
          <a:xfrm>
            <a:off x="2308225" y="3775075"/>
            <a:ext cx="2662238" cy="347663"/>
          </a:xfrm>
          <a:prstGeom prst="rect">
            <a:avLst/>
          </a:prstGeom>
          <a:noFill/>
          <a:ln w="9525">
            <a:noFill/>
          </a:ln>
        </p:spPr>
        <p:txBody>
          <a:bodyPr/>
          <a:lstStyle/>
          <a:p>
            <a:pPr algn="just">
              <a:buFont typeface="Arial" panose="020B0604020202020204" pitchFamily="34" charset="0"/>
            </a:pPr>
            <a:r>
              <a:rPr lang="en-US" altLang="zh-CN" sz="2400" dirty="0">
                <a:solidFill>
                  <a:srgbClr val="FF0000"/>
                </a:solidFill>
                <a:latin typeface="华文新魏" panose="02010800040101010101" pitchFamily="2" charset="-122"/>
                <a:ea typeface="华文新魏" panose="02010800040101010101" pitchFamily="2" charset="-122"/>
              </a:rPr>
              <a:t>Mealy</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型电路结构</a:t>
            </a:r>
          </a:p>
        </p:txBody>
      </p:sp>
      <p:sp>
        <p:nvSpPr>
          <p:cNvPr id="105477" name="Rectangle 9"/>
          <p:cNvSpPr/>
          <p:nvPr/>
        </p:nvSpPr>
        <p:spPr>
          <a:xfrm>
            <a:off x="6826250" y="2089150"/>
            <a:ext cx="646113" cy="860425"/>
          </a:xfrm>
          <a:prstGeom prst="rect">
            <a:avLst/>
          </a:prstGeom>
          <a:solidFill>
            <a:schemeClr val="accent1"/>
          </a:solidFill>
          <a:ln w="28575" cap="flat" cmpd="sng">
            <a:solidFill>
              <a:schemeClr val="tx1"/>
            </a:solidFill>
            <a:prstDash val="solid"/>
            <a:miter/>
            <a:headEnd type="none" w="med" len="med"/>
            <a:tailEnd type="none" w="med" len="med"/>
          </a:ln>
        </p:spPr>
        <p:txBody>
          <a:bodyPr/>
          <a:lstStyle/>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5478" name="Rectangle 10"/>
          <p:cNvSpPr/>
          <p:nvPr/>
        </p:nvSpPr>
        <p:spPr>
          <a:xfrm>
            <a:off x="4495800" y="2492375"/>
            <a:ext cx="914400" cy="860425"/>
          </a:xfrm>
          <a:prstGeom prst="rect">
            <a:avLst/>
          </a:prstGeom>
          <a:solidFill>
            <a:schemeClr val="accent1"/>
          </a:solidFill>
          <a:ln w="28575" cap="flat" cmpd="sng">
            <a:solidFill>
              <a:schemeClr val="tx1"/>
            </a:solidFill>
            <a:prstDash val="solid"/>
            <a:miter/>
            <a:headEnd type="none" w="med" len="med"/>
            <a:tailEnd type="none" w="med" len="med"/>
          </a:ln>
        </p:spPr>
        <p:txBody>
          <a:bodyPr/>
          <a:lstStyle/>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5479" name="Text Box 11"/>
          <p:cNvSpPr txBox="1"/>
          <p:nvPr/>
        </p:nvSpPr>
        <p:spPr>
          <a:xfrm>
            <a:off x="152400" y="2373313"/>
            <a:ext cx="838200" cy="290512"/>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输入</a:t>
            </a:r>
          </a:p>
        </p:txBody>
      </p:sp>
      <p:sp>
        <p:nvSpPr>
          <p:cNvPr id="105480" name="Text Box 12"/>
          <p:cNvSpPr txBox="1"/>
          <p:nvPr/>
        </p:nvSpPr>
        <p:spPr>
          <a:xfrm>
            <a:off x="96520" y="2715895"/>
            <a:ext cx="1503680" cy="314960"/>
          </a:xfrm>
          <a:prstGeom prst="rect">
            <a:avLst/>
          </a:prstGeom>
          <a:noFill/>
          <a:ln w="9525">
            <a:noFill/>
          </a:ln>
        </p:spPr>
        <p:txBody>
          <a:bodyPr/>
          <a:lstStyle/>
          <a:p>
            <a:pPr>
              <a:buFont typeface="Arial" panose="020B0604020202020204" pitchFamily="34" charset="0"/>
            </a:pPr>
            <a:r>
              <a:rPr lang="en-US" altLang="zh-CN" sz="1800" b="1" dirty="0">
                <a:solidFill>
                  <a:schemeClr val="tx1"/>
                </a:solidFill>
                <a:latin typeface="Arial Unicode MS" panose="020B0604020202020204" charset="-122"/>
                <a:ea typeface="Arial Unicode MS" panose="020B0604020202020204" charset="-122"/>
              </a:rPr>
              <a:t>x</a:t>
            </a:r>
            <a:r>
              <a:rPr lang="en-US" altLang="zh-CN" sz="1800" b="1" baseline="-25000" dirty="0">
                <a:solidFill>
                  <a:schemeClr val="tx1"/>
                </a:solidFill>
                <a:latin typeface="Arial Unicode MS" panose="020B0604020202020204" charset="-122"/>
                <a:ea typeface="Arial Unicode MS" panose="020B0604020202020204" charset="-122"/>
              </a:rPr>
              <a:t>1</a:t>
            </a:r>
            <a:r>
              <a:rPr lang="en-US" altLang="zh-CN" sz="1800" b="1" dirty="0">
                <a:solidFill>
                  <a:schemeClr val="tx1"/>
                </a:solidFill>
                <a:latin typeface="Arial Unicode MS" panose="020B0604020202020204" charset="-122"/>
                <a:ea typeface="Arial Unicode MS" panose="020B0604020202020204" charset="-122"/>
              </a:rPr>
              <a:t>,x</a:t>
            </a:r>
            <a:r>
              <a:rPr lang="en-US" altLang="zh-CN" sz="1800" b="1" baseline="-25000" dirty="0">
                <a:solidFill>
                  <a:schemeClr val="tx1"/>
                </a:solidFill>
                <a:latin typeface="Arial Unicode MS" panose="020B0604020202020204" charset="-122"/>
                <a:ea typeface="Arial Unicode MS" panose="020B0604020202020204" charset="-122"/>
              </a:rPr>
              <a:t>2</a:t>
            </a:r>
            <a:r>
              <a:rPr lang="en-US" altLang="zh-CN" sz="18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800" b="1" dirty="0">
                <a:solidFill>
                  <a:schemeClr val="tx1"/>
                </a:solidFill>
                <a:latin typeface="Arial Unicode MS" panose="020B0604020202020204" charset="-122"/>
                <a:ea typeface="Arial Unicode MS" panose="020B0604020202020204" charset="-122"/>
              </a:rPr>
              <a:t>,x</a:t>
            </a:r>
            <a:r>
              <a:rPr lang="en-US" altLang="zh-CN" sz="1800" b="1" baseline="-25000" dirty="0">
                <a:solidFill>
                  <a:schemeClr val="tx1"/>
                </a:solidFill>
                <a:latin typeface="Arial Unicode MS" panose="020B0604020202020204" charset="-122"/>
                <a:ea typeface="Arial Unicode MS" panose="020B0604020202020204" charset="-122"/>
              </a:rPr>
              <a:t>n</a:t>
            </a:r>
            <a:endParaRPr lang="en-US" altLang="zh-CN" sz="1800" b="1" dirty="0">
              <a:solidFill>
                <a:schemeClr val="tx1"/>
              </a:solidFill>
              <a:latin typeface="Arial Unicode MS" panose="020B0604020202020204" charset="-122"/>
              <a:ea typeface="Arial Unicode MS" panose="020B0604020202020204" charset="-122"/>
            </a:endParaRPr>
          </a:p>
        </p:txBody>
      </p:sp>
      <p:sp>
        <p:nvSpPr>
          <p:cNvPr id="105481" name="Text Box 13"/>
          <p:cNvSpPr txBox="1"/>
          <p:nvPr/>
        </p:nvSpPr>
        <p:spPr>
          <a:xfrm>
            <a:off x="2286000" y="3006725"/>
            <a:ext cx="2286000" cy="285750"/>
          </a:xfrm>
          <a:prstGeom prst="rect">
            <a:avLst/>
          </a:prstGeom>
          <a:noFill/>
          <a:ln w="9525">
            <a:noFill/>
          </a:ln>
        </p:spPr>
        <p:txBody>
          <a:bodyPr/>
          <a:lstStyle/>
          <a:p>
            <a:pPr algn="ctr">
              <a:buFont typeface="Arial" panose="020B0604020202020204" pitchFamily="34" charset="0"/>
            </a:pP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1</a:t>
            </a: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2</a:t>
            </a:r>
            <a:r>
              <a:rPr lang="en-US" altLang="zh-CN" sz="1600" b="1" dirty="0">
                <a:solidFill>
                  <a:srgbClr val="FF0000"/>
                </a:solidFill>
                <a:latin typeface="Arial Unicode MS" panose="020B0604020202020204" charset="-122"/>
                <a:ea typeface="Arial Unicode MS" panose="020B0604020202020204" charset="-122"/>
              </a:rPr>
              <a:t>,</a:t>
            </a:r>
            <a:r>
              <a:rPr lang="en-US" altLang="zh-CN" sz="1000" b="1" dirty="0">
                <a:solidFill>
                  <a:srgbClr val="FF0000"/>
                </a:solidFill>
                <a:latin typeface="Arial Unicode MS" panose="020B0604020202020204" charset="-122"/>
                <a:ea typeface="Arial Unicode MS" panose="020B0604020202020204" charset="-122"/>
              </a:rPr>
              <a:t>···</a:t>
            </a: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r</a:t>
            </a:r>
            <a:endParaRPr lang="en-US" altLang="zh-CN" sz="1600" b="1" dirty="0">
              <a:solidFill>
                <a:srgbClr val="FF0000"/>
              </a:solidFill>
              <a:latin typeface="Arial Unicode MS" panose="020B0604020202020204" charset="-122"/>
              <a:ea typeface="Arial Unicode MS" panose="020B0604020202020204" charset="-122"/>
            </a:endParaRPr>
          </a:p>
        </p:txBody>
      </p:sp>
      <p:sp>
        <p:nvSpPr>
          <p:cNvPr id="105482" name="Text Box 14"/>
          <p:cNvSpPr txBox="1"/>
          <p:nvPr/>
        </p:nvSpPr>
        <p:spPr>
          <a:xfrm>
            <a:off x="2514600" y="2320925"/>
            <a:ext cx="1371600" cy="342900"/>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控制变量</a:t>
            </a:r>
          </a:p>
        </p:txBody>
      </p:sp>
      <p:sp>
        <p:nvSpPr>
          <p:cNvPr id="105483" name="Text Box 15"/>
          <p:cNvSpPr txBox="1"/>
          <p:nvPr/>
        </p:nvSpPr>
        <p:spPr>
          <a:xfrm>
            <a:off x="5080000" y="2314575"/>
            <a:ext cx="2085975" cy="285750"/>
          </a:xfrm>
          <a:prstGeom prst="rect">
            <a:avLst/>
          </a:prstGeom>
          <a:noFill/>
          <a:ln w="9525">
            <a:noFill/>
          </a:ln>
        </p:spPr>
        <p:txBody>
          <a:bodyPr/>
          <a:lstStyle/>
          <a:p>
            <a:pPr algn="ctr">
              <a:buFont typeface="Arial" panose="020B0604020202020204" pitchFamily="34" charset="0"/>
            </a:pP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r</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5484" name="Text Box 16"/>
          <p:cNvSpPr txBox="1"/>
          <p:nvPr/>
        </p:nvSpPr>
        <p:spPr>
          <a:xfrm>
            <a:off x="7543800" y="2124075"/>
            <a:ext cx="1781175" cy="395288"/>
          </a:xfrm>
          <a:prstGeom prst="rect">
            <a:avLst/>
          </a:prstGeom>
          <a:noFill/>
          <a:ln w="9525">
            <a:noFill/>
          </a:ln>
        </p:spPr>
        <p:txBody>
          <a:bodyPr/>
          <a:lstStyle/>
          <a:p>
            <a:pPr algn="just">
              <a:buFont typeface="Arial" panose="020B0604020202020204" pitchFamily="34" charset="0"/>
            </a:pP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a:t>
            </a: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a:t>
            </a: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m</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5485" name="Text Box 17"/>
          <p:cNvSpPr txBox="1"/>
          <p:nvPr/>
        </p:nvSpPr>
        <p:spPr>
          <a:xfrm>
            <a:off x="7693025" y="1919288"/>
            <a:ext cx="917575" cy="331787"/>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a:t>
            </a:r>
          </a:p>
        </p:txBody>
      </p:sp>
      <p:sp>
        <p:nvSpPr>
          <p:cNvPr id="105486" name="Text Box 18"/>
          <p:cNvSpPr txBox="1"/>
          <p:nvPr/>
        </p:nvSpPr>
        <p:spPr>
          <a:xfrm>
            <a:off x="5481638" y="2135188"/>
            <a:ext cx="763587" cy="342900"/>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现态</a:t>
            </a:r>
          </a:p>
        </p:txBody>
      </p:sp>
      <p:sp>
        <p:nvSpPr>
          <p:cNvPr id="105487" name="Text Box 19"/>
          <p:cNvSpPr txBox="1"/>
          <p:nvPr/>
        </p:nvSpPr>
        <p:spPr>
          <a:xfrm>
            <a:off x="2514600" y="2778125"/>
            <a:ext cx="1658938" cy="285750"/>
          </a:xfrm>
          <a:prstGeom prst="rect">
            <a:avLst/>
          </a:prstGeom>
          <a:noFill/>
          <a:ln w="9525">
            <a:noFill/>
          </a:ln>
        </p:spPr>
        <p:txBody>
          <a:bodyPr/>
          <a:lstStyle/>
          <a:p>
            <a:pPr algn="just">
              <a:buFont typeface="Arial" panose="020B0604020202020204" pitchFamily="34" charset="0"/>
            </a:pP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r</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5488" name="Text Box 20"/>
          <p:cNvSpPr txBox="1"/>
          <p:nvPr/>
        </p:nvSpPr>
        <p:spPr>
          <a:xfrm>
            <a:off x="6808788" y="2220913"/>
            <a:ext cx="862012" cy="542925"/>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a:t>
            </a: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逻辑</a:t>
            </a:r>
          </a:p>
        </p:txBody>
      </p:sp>
      <p:sp>
        <p:nvSpPr>
          <p:cNvPr id="105489" name="Line 21"/>
          <p:cNvSpPr/>
          <p:nvPr/>
        </p:nvSpPr>
        <p:spPr>
          <a:xfrm>
            <a:off x="0" y="2720975"/>
            <a:ext cx="1600200" cy="0"/>
          </a:xfrm>
          <a:prstGeom prst="line">
            <a:avLst/>
          </a:prstGeom>
          <a:ln w="76200" cap="flat" cmpd="sng">
            <a:solidFill>
              <a:schemeClr val="tx1"/>
            </a:solidFill>
            <a:prstDash val="solid"/>
            <a:headEnd type="none" w="med" len="med"/>
            <a:tailEnd type="triangle" w="med" len="med"/>
          </a:ln>
        </p:spPr>
      </p:sp>
      <p:sp>
        <p:nvSpPr>
          <p:cNvPr id="105490" name="Line 22"/>
          <p:cNvSpPr/>
          <p:nvPr/>
        </p:nvSpPr>
        <p:spPr>
          <a:xfrm flipV="1">
            <a:off x="990600" y="1920875"/>
            <a:ext cx="0" cy="800100"/>
          </a:xfrm>
          <a:prstGeom prst="line">
            <a:avLst/>
          </a:prstGeom>
          <a:ln w="76200" cap="flat" cmpd="sng">
            <a:solidFill>
              <a:schemeClr val="tx1"/>
            </a:solidFill>
            <a:prstDash val="solid"/>
            <a:headEnd type="none" w="med" len="med"/>
            <a:tailEnd type="none" w="med" len="med"/>
          </a:ln>
        </p:spPr>
      </p:sp>
      <p:sp>
        <p:nvSpPr>
          <p:cNvPr id="105491" name="Line 23"/>
          <p:cNvSpPr/>
          <p:nvPr/>
        </p:nvSpPr>
        <p:spPr>
          <a:xfrm>
            <a:off x="952500" y="1920875"/>
            <a:ext cx="5561013" cy="0"/>
          </a:xfrm>
          <a:prstGeom prst="line">
            <a:avLst/>
          </a:prstGeom>
          <a:ln w="76200" cap="flat" cmpd="sng">
            <a:solidFill>
              <a:schemeClr val="tx1"/>
            </a:solidFill>
            <a:prstDash val="solid"/>
            <a:headEnd type="none" w="med" len="med"/>
            <a:tailEnd type="none" w="med" len="med"/>
          </a:ln>
        </p:spPr>
      </p:sp>
      <p:sp>
        <p:nvSpPr>
          <p:cNvPr id="105492" name="Line 24"/>
          <p:cNvSpPr/>
          <p:nvPr/>
        </p:nvSpPr>
        <p:spPr>
          <a:xfrm>
            <a:off x="6477000" y="1949450"/>
            <a:ext cx="0" cy="285750"/>
          </a:xfrm>
          <a:prstGeom prst="line">
            <a:avLst/>
          </a:prstGeom>
          <a:ln w="76200" cap="flat" cmpd="sng">
            <a:solidFill>
              <a:schemeClr val="tx1"/>
            </a:solidFill>
            <a:prstDash val="solid"/>
            <a:headEnd type="none" w="med" len="med"/>
            <a:tailEnd type="none" w="med" len="med"/>
          </a:ln>
        </p:spPr>
      </p:sp>
      <p:sp>
        <p:nvSpPr>
          <p:cNvPr id="105493" name="Line 25"/>
          <p:cNvSpPr/>
          <p:nvPr/>
        </p:nvSpPr>
        <p:spPr>
          <a:xfrm>
            <a:off x="6477000" y="2206625"/>
            <a:ext cx="360363" cy="0"/>
          </a:xfrm>
          <a:prstGeom prst="line">
            <a:avLst/>
          </a:prstGeom>
          <a:ln w="76200" cap="flat" cmpd="sng">
            <a:solidFill>
              <a:schemeClr val="tx1"/>
            </a:solidFill>
            <a:prstDash val="solid"/>
            <a:headEnd type="none" w="med" len="med"/>
            <a:tailEnd type="triangle" w="med" len="med"/>
          </a:ln>
        </p:spPr>
      </p:sp>
      <p:sp>
        <p:nvSpPr>
          <p:cNvPr id="105494" name="Line 26"/>
          <p:cNvSpPr/>
          <p:nvPr/>
        </p:nvSpPr>
        <p:spPr>
          <a:xfrm>
            <a:off x="2286000" y="2720975"/>
            <a:ext cx="2209800" cy="0"/>
          </a:xfrm>
          <a:prstGeom prst="line">
            <a:avLst/>
          </a:prstGeom>
          <a:ln w="76200" cap="flat" cmpd="sng">
            <a:solidFill>
              <a:schemeClr val="tx1"/>
            </a:solidFill>
            <a:prstDash val="solid"/>
            <a:headEnd type="none" w="med" len="med"/>
            <a:tailEnd type="triangle" w="med" len="med"/>
          </a:ln>
        </p:spPr>
      </p:sp>
      <p:sp>
        <p:nvSpPr>
          <p:cNvPr id="105495" name="Line 27"/>
          <p:cNvSpPr/>
          <p:nvPr/>
        </p:nvSpPr>
        <p:spPr>
          <a:xfrm>
            <a:off x="5434013" y="2720975"/>
            <a:ext cx="1366837" cy="0"/>
          </a:xfrm>
          <a:prstGeom prst="line">
            <a:avLst/>
          </a:prstGeom>
          <a:ln w="76200" cap="flat" cmpd="sng">
            <a:solidFill>
              <a:schemeClr val="tx1"/>
            </a:solidFill>
            <a:prstDash val="solid"/>
            <a:headEnd type="none" w="med" len="med"/>
            <a:tailEnd type="triangle" w="med" len="med"/>
          </a:ln>
        </p:spPr>
      </p:sp>
      <p:sp>
        <p:nvSpPr>
          <p:cNvPr id="105496" name="Line 28"/>
          <p:cNvSpPr/>
          <p:nvPr/>
        </p:nvSpPr>
        <p:spPr>
          <a:xfrm>
            <a:off x="5943600" y="2362200"/>
            <a:ext cx="0" cy="0"/>
          </a:xfrm>
          <a:prstGeom prst="line">
            <a:avLst/>
          </a:prstGeom>
          <a:ln w="9525" cap="flat" cmpd="sng">
            <a:solidFill>
              <a:schemeClr val="tx1"/>
            </a:solidFill>
            <a:prstDash val="solid"/>
            <a:headEnd type="none" w="med" len="med"/>
            <a:tailEnd type="none" w="med" len="med"/>
          </a:ln>
        </p:spPr>
      </p:sp>
      <p:sp>
        <p:nvSpPr>
          <p:cNvPr id="105497" name="Line 29"/>
          <p:cNvSpPr/>
          <p:nvPr/>
        </p:nvSpPr>
        <p:spPr>
          <a:xfrm>
            <a:off x="5867400" y="2720975"/>
            <a:ext cx="0" cy="914400"/>
          </a:xfrm>
          <a:prstGeom prst="line">
            <a:avLst/>
          </a:prstGeom>
          <a:ln w="76200" cap="flat" cmpd="sng">
            <a:solidFill>
              <a:schemeClr val="tx1"/>
            </a:solidFill>
            <a:prstDash val="solid"/>
            <a:headEnd type="none" w="med" len="med"/>
            <a:tailEnd type="none" w="med" len="med"/>
          </a:ln>
        </p:spPr>
      </p:sp>
      <p:sp>
        <p:nvSpPr>
          <p:cNvPr id="105498" name="Line 30"/>
          <p:cNvSpPr/>
          <p:nvPr/>
        </p:nvSpPr>
        <p:spPr>
          <a:xfrm>
            <a:off x="876300" y="3635375"/>
            <a:ext cx="5029200" cy="0"/>
          </a:xfrm>
          <a:prstGeom prst="line">
            <a:avLst/>
          </a:prstGeom>
          <a:ln w="76200" cap="flat" cmpd="sng">
            <a:solidFill>
              <a:schemeClr val="tx1"/>
            </a:solidFill>
            <a:prstDash val="solid"/>
            <a:headEnd type="none" w="med" len="med"/>
            <a:tailEnd type="none" w="med" len="med"/>
          </a:ln>
        </p:spPr>
      </p:sp>
      <p:sp>
        <p:nvSpPr>
          <p:cNvPr id="105499" name="Line 31"/>
          <p:cNvSpPr/>
          <p:nvPr/>
        </p:nvSpPr>
        <p:spPr>
          <a:xfrm>
            <a:off x="914400" y="3178175"/>
            <a:ext cx="0" cy="457200"/>
          </a:xfrm>
          <a:prstGeom prst="line">
            <a:avLst/>
          </a:prstGeom>
          <a:ln w="76200" cap="flat" cmpd="sng">
            <a:solidFill>
              <a:schemeClr val="tx1"/>
            </a:solidFill>
            <a:prstDash val="solid"/>
            <a:headEnd type="none" w="med" len="med"/>
            <a:tailEnd type="none" w="med" len="med"/>
          </a:ln>
        </p:spPr>
      </p:sp>
      <p:sp>
        <p:nvSpPr>
          <p:cNvPr id="105500" name="Line 32"/>
          <p:cNvSpPr/>
          <p:nvPr/>
        </p:nvSpPr>
        <p:spPr>
          <a:xfrm>
            <a:off x="876300" y="3178175"/>
            <a:ext cx="719138" cy="0"/>
          </a:xfrm>
          <a:prstGeom prst="line">
            <a:avLst/>
          </a:prstGeom>
          <a:ln w="76200" cap="flat" cmpd="sng">
            <a:solidFill>
              <a:schemeClr val="tx1"/>
            </a:solidFill>
            <a:prstDash val="solid"/>
            <a:headEnd type="none" w="med" len="med"/>
            <a:tailEnd type="triangle" w="med" len="med"/>
          </a:ln>
        </p:spPr>
      </p:sp>
      <p:sp>
        <p:nvSpPr>
          <p:cNvPr id="105501" name="Text Box 33"/>
          <p:cNvSpPr txBox="1"/>
          <p:nvPr/>
        </p:nvSpPr>
        <p:spPr>
          <a:xfrm>
            <a:off x="4437063" y="2554288"/>
            <a:ext cx="1035050" cy="552450"/>
          </a:xfrm>
          <a:prstGeom prst="rect">
            <a:avLst/>
          </a:prstGeom>
          <a:noFill/>
          <a:ln w="9525">
            <a:noFill/>
          </a:ln>
        </p:spPr>
        <p:txBody>
          <a:bodyPr/>
          <a:lstStyle/>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状态</a:t>
            </a:r>
          </a:p>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存储器</a:t>
            </a:r>
          </a:p>
        </p:txBody>
      </p:sp>
      <p:sp>
        <p:nvSpPr>
          <p:cNvPr id="105502" name="Rectangle 34"/>
          <p:cNvSpPr/>
          <p:nvPr/>
        </p:nvSpPr>
        <p:spPr>
          <a:xfrm>
            <a:off x="1616075" y="2517775"/>
            <a:ext cx="774700" cy="858838"/>
          </a:xfrm>
          <a:prstGeom prst="rect">
            <a:avLst/>
          </a:prstGeom>
          <a:solidFill>
            <a:schemeClr val="accent1"/>
          </a:solidFill>
          <a:ln w="38100" cap="flat" cmpd="sng">
            <a:solidFill>
              <a:schemeClr val="tx1"/>
            </a:solidFill>
            <a:prstDash val="solid"/>
            <a:miter/>
            <a:headEnd type="none" w="med" len="med"/>
            <a:tailEnd type="none" w="med" len="med"/>
          </a:ln>
        </p:spPr>
        <p:txBody>
          <a:bodyPr/>
          <a:lstStyle/>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5503" name="Text Box 35"/>
          <p:cNvSpPr txBox="1"/>
          <p:nvPr/>
        </p:nvSpPr>
        <p:spPr>
          <a:xfrm>
            <a:off x="1635125" y="2625725"/>
            <a:ext cx="803275" cy="552450"/>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次态</a:t>
            </a: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逻辑</a:t>
            </a:r>
          </a:p>
        </p:txBody>
      </p:sp>
      <p:sp>
        <p:nvSpPr>
          <p:cNvPr id="105504" name="Line 36"/>
          <p:cNvSpPr/>
          <p:nvPr/>
        </p:nvSpPr>
        <p:spPr>
          <a:xfrm>
            <a:off x="7467600" y="2549525"/>
            <a:ext cx="1143000" cy="0"/>
          </a:xfrm>
          <a:prstGeom prst="line">
            <a:avLst/>
          </a:prstGeom>
          <a:ln w="76200" cap="flat" cmpd="sng">
            <a:solidFill>
              <a:schemeClr val="tx1"/>
            </a:solidFill>
            <a:prstDash val="solid"/>
            <a:headEnd type="none" w="med" len="med"/>
            <a:tailEnd type="triangle" w="med" len="med"/>
          </a:ln>
        </p:spPr>
      </p:sp>
      <p:sp>
        <p:nvSpPr>
          <p:cNvPr id="105505" name="Line 53"/>
          <p:cNvSpPr/>
          <p:nvPr/>
        </p:nvSpPr>
        <p:spPr>
          <a:xfrm>
            <a:off x="6096000" y="4403725"/>
            <a:ext cx="0" cy="0"/>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5"/>
          <p:cNvSpPr/>
          <p:nvPr/>
        </p:nvSpPr>
        <p:spPr>
          <a:xfrm>
            <a:off x="0" y="519907"/>
            <a:ext cx="7998460" cy="571500"/>
          </a:xfrm>
          <a:prstGeom prst="rect">
            <a:avLst/>
          </a:prstGeom>
          <a:noFill/>
          <a:ln w="9525">
            <a:noFill/>
          </a:ln>
        </p:spPr>
        <p:txBody>
          <a:bodyPr anchor="ctr"/>
          <a:lstStyle/>
          <a:p>
            <a:pPr algn="ctr" eaLnBrk="1" hangingPunct="1">
              <a:buFont typeface="Arial" panose="020B0604020202020204" pitchFamily="34" charset="0"/>
            </a:pPr>
            <a:r>
              <a:rPr lang="zh-CN" altLang="en-US" sz="3200" b="1" dirty="0">
                <a:solidFill>
                  <a:srgbClr val="FF0000"/>
                </a:solidFill>
                <a:latin typeface="华文新魏" panose="02010800040101010101" pitchFamily="2" charset="-122"/>
                <a:ea typeface="华文新魏" panose="02010800040101010101" pitchFamily="2" charset="-122"/>
              </a:rPr>
              <a:t>３</a:t>
            </a:r>
            <a:r>
              <a:rPr lang="en-US" altLang="zh-CN" sz="3200" b="1" dirty="0">
                <a:solidFill>
                  <a:srgbClr val="FF0000"/>
                </a:solidFill>
                <a:latin typeface="华文新魏" panose="02010800040101010101" pitchFamily="2" charset="-122"/>
                <a:ea typeface="华文新魏" panose="02010800040101010101" pitchFamily="2" charset="-122"/>
              </a:rPr>
              <a:t>.</a:t>
            </a:r>
            <a:r>
              <a:rPr lang="zh-CN" altLang="en-US" sz="3200" b="1" dirty="0">
                <a:solidFill>
                  <a:srgbClr val="FF0000"/>
                </a:solidFill>
                <a:latin typeface="华文新魏" panose="02010800040101010101" pitchFamily="2" charset="-122"/>
                <a:ea typeface="华文新魏" panose="02010800040101010101" pitchFamily="2" charset="-122"/>
              </a:rPr>
              <a:t>３、异步时序电路的分析与设计 </a:t>
            </a:r>
          </a:p>
        </p:txBody>
      </p:sp>
      <p:sp>
        <p:nvSpPr>
          <p:cNvPr id="106499" name="Rectangle 6"/>
          <p:cNvSpPr/>
          <p:nvPr/>
        </p:nvSpPr>
        <p:spPr>
          <a:xfrm>
            <a:off x="682625" y="1145381"/>
            <a:ext cx="5867400" cy="514350"/>
          </a:xfrm>
          <a:prstGeom prst="rect">
            <a:avLst/>
          </a:prstGeom>
          <a:noFill/>
          <a:ln w="9525">
            <a:noFill/>
          </a:ln>
        </p:spPr>
        <p:txBody>
          <a:bodyPr/>
          <a:lstStyle/>
          <a:p>
            <a:pPr marL="342900" indent="-342900" eaLnBrk="1" hangingPunct="1">
              <a:lnSpc>
                <a:spcPct val="130000"/>
              </a:lnSpc>
              <a:spcBef>
                <a:spcPct val="2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1.  </a:t>
            </a:r>
            <a:r>
              <a:rPr lang="zh-CN" altLang="en-US" sz="2400" b="1" dirty="0">
                <a:solidFill>
                  <a:schemeClr val="tx1"/>
                </a:solidFill>
                <a:latin typeface="华文新魏" panose="02010800040101010101" pitchFamily="2" charset="-122"/>
                <a:ea typeface="华文新魏" panose="02010800040101010101" pitchFamily="2" charset="-122"/>
              </a:rPr>
              <a:t>脉冲异步时序电路概述</a:t>
            </a:r>
            <a:r>
              <a:rPr lang="zh-CN" altLang="en-US" sz="2400" dirty="0">
                <a:solidFill>
                  <a:schemeClr val="tx1"/>
                </a:solidFill>
                <a:latin typeface="华文新魏" panose="02010800040101010101" pitchFamily="2" charset="-122"/>
                <a:ea typeface="华文新魏" panose="02010800040101010101" pitchFamily="2" charset="-122"/>
              </a:rPr>
              <a:t>             </a:t>
            </a:r>
          </a:p>
        </p:txBody>
      </p:sp>
      <p:sp>
        <p:nvSpPr>
          <p:cNvPr id="106500" name="Line 28"/>
          <p:cNvSpPr/>
          <p:nvPr/>
        </p:nvSpPr>
        <p:spPr>
          <a:xfrm>
            <a:off x="5943600" y="2146300"/>
            <a:ext cx="0" cy="0"/>
          </a:xfrm>
          <a:prstGeom prst="line">
            <a:avLst/>
          </a:prstGeom>
          <a:ln w="9525" cap="flat" cmpd="sng">
            <a:solidFill>
              <a:schemeClr val="tx1"/>
            </a:solidFill>
            <a:prstDash val="solid"/>
            <a:headEnd type="none" w="med" len="med"/>
            <a:tailEnd type="none" w="med" len="med"/>
          </a:ln>
        </p:spPr>
      </p:sp>
      <p:sp>
        <p:nvSpPr>
          <p:cNvPr id="106501" name="Rectangle 38"/>
          <p:cNvSpPr/>
          <p:nvPr/>
        </p:nvSpPr>
        <p:spPr>
          <a:xfrm>
            <a:off x="6978650" y="2012315"/>
            <a:ext cx="646430" cy="838200"/>
          </a:xfrm>
          <a:prstGeom prst="rect">
            <a:avLst/>
          </a:prstGeom>
          <a:solidFill>
            <a:schemeClr val="accent1"/>
          </a:solidFill>
          <a:ln w="28575" cap="flat" cmpd="sng">
            <a:solidFill>
              <a:schemeClr val="tx1"/>
            </a:solidFill>
            <a:prstDash val="solid"/>
            <a:miter/>
            <a:headEnd type="none" w="med" len="med"/>
            <a:tailEnd type="none" w="med" len="med"/>
          </a:ln>
        </p:spPr>
        <p:txBody>
          <a:bodyPr/>
          <a:lstStyle/>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6502" name="Rectangle 39"/>
          <p:cNvSpPr/>
          <p:nvPr/>
        </p:nvSpPr>
        <p:spPr>
          <a:xfrm>
            <a:off x="4648200" y="2165350"/>
            <a:ext cx="914400" cy="858838"/>
          </a:xfrm>
          <a:prstGeom prst="rect">
            <a:avLst/>
          </a:prstGeom>
          <a:solidFill>
            <a:schemeClr val="accent1"/>
          </a:solidFill>
          <a:ln w="28575" cap="flat" cmpd="sng">
            <a:solidFill>
              <a:schemeClr val="tx1"/>
            </a:solidFill>
            <a:prstDash val="solid"/>
            <a:miter/>
            <a:headEnd type="none" w="med" len="med"/>
            <a:tailEnd type="none" w="med" len="med"/>
          </a:ln>
        </p:spPr>
        <p:txBody>
          <a:bodyPr/>
          <a:lstStyle/>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6503" name="Text Box 40"/>
          <p:cNvSpPr txBox="1"/>
          <p:nvPr/>
        </p:nvSpPr>
        <p:spPr>
          <a:xfrm>
            <a:off x="304800" y="1979613"/>
            <a:ext cx="914400" cy="285750"/>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输入</a:t>
            </a:r>
          </a:p>
        </p:txBody>
      </p:sp>
      <p:sp>
        <p:nvSpPr>
          <p:cNvPr id="106504" name="Text Box 41"/>
          <p:cNvSpPr txBox="1"/>
          <p:nvPr/>
        </p:nvSpPr>
        <p:spPr>
          <a:xfrm>
            <a:off x="125412" y="2311766"/>
            <a:ext cx="1511935" cy="301625"/>
          </a:xfrm>
          <a:prstGeom prst="rect">
            <a:avLst/>
          </a:prstGeom>
          <a:noFill/>
          <a:ln w="9525">
            <a:noFill/>
          </a:ln>
        </p:spPr>
        <p:txBody>
          <a:bodyPr/>
          <a:lstStyle/>
          <a:p>
            <a:pPr>
              <a:buFont typeface="Arial" panose="020B0604020202020204" pitchFamily="34" charset="0"/>
            </a:pPr>
            <a:r>
              <a:rPr lang="en-US" altLang="zh-CN" sz="1800" b="1" dirty="0">
                <a:solidFill>
                  <a:schemeClr val="tx1"/>
                </a:solidFill>
                <a:latin typeface="Arial Unicode MS" panose="020B0604020202020204" charset="-122"/>
                <a:ea typeface="Arial Unicode MS" panose="020B0604020202020204" charset="-122"/>
              </a:rPr>
              <a:t>x</a:t>
            </a:r>
            <a:r>
              <a:rPr lang="en-US" altLang="zh-CN" sz="1800" b="1" baseline="-25000" dirty="0">
                <a:solidFill>
                  <a:schemeClr val="tx1"/>
                </a:solidFill>
                <a:latin typeface="Arial Unicode MS" panose="020B0604020202020204" charset="-122"/>
                <a:ea typeface="Arial Unicode MS" panose="020B0604020202020204" charset="-122"/>
              </a:rPr>
              <a:t>1</a:t>
            </a:r>
            <a:r>
              <a:rPr lang="en-US" altLang="zh-CN" sz="1800" b="1" dirty="0">
                <a:solidFill>
                  <a:schemeClr val="tx1"/>
                </a:solidFill>
                <a:latin typeface="Arial Unicode MS" panose="020B0604020202020204" charset="-122"/>
                <a:ea typeface="Arial Unicode MS" panose="020B0604020202020204" charset="-122"/>
              </a:rPr>
              <a:t>,x</a:t>
            </a:r>
            <a:r>
              <a:rPr lang="en-US" altLang="zh-CN" sz="1800" b="1" baseline="-25000" dirty="0">
                <a:solidFill>
                  <a:schemeClr val="tx1"/>
                </a:solidFill>
                <a:latin typeface="Arial Unicode MS" panose="020B0604020202020204" charset="-122"/>
                <a:ea typeface="Arial Unicode MS" panose="020B0604020202020204" charset="-122"/>
              </a:rPr>
              <a:t>2</a:t>
            </a:r>
            <a:r>
              <a:rPr lang="en-US" altLang="zh-CN" sz="18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800" b="1" dirty="0">
                <a:solidFill>
                  <a:schemeClr val="tx1"/>
                </a:solidFill>
                <a:latin typeface="Arial Unicode MS" panose="020B0604020202020204" charset="-122"/>
                <a:ea typeface="Arial Unicode MS" panose="020B0604020202020204" charset="-122"/>
              </a:rPr>
              <a:t>,x</a:t>
            </a:r>
            <a:r>
              <a:rPr lang="en-US" altLang="zh-CN" sz="1800" b="1" baseline="-25000" dirty="0">
                <a:solidFill>
                  <a:schemeClr val="tx1"/>
                </a:solidFill>
                <a:latin typeface="Arial Unicode MS" panose="020B0604020202020204" charset="-122"/>
                <a:ea typeface="Arial Unicode MS" panose="020B0604020202020204" charset="-122"/>
              </a:rPr>
              <a:t>n</a:t>
            </a:r>
            <a:endParaRPr lang="en-US" altLang="zh-CN" sz="1800" b="1" dirty="0">
              <a:solidFill>
                <a:schemeClr val="tx1"/>
              </a:solidFill>
              <a:latin typeface="Arial Unicode MS" panose="020B0604020202020204" charset="-122"/>
              <a:ea typeface="Arial Unicode MS" panose="020B0604020202020204" charset="-122"/>
            </a:endParaRPr>
          </a:p>
        </p:txBody>
      </p:sp>
      <p:sp>
        <p:nvSpPr>
          <p:cNvPr id="106505" name="Text Box 42"/>
          <p:cNvSpPr txBox="1"/>
          <p:nvPr/>
        </p:nvSpPr>
        <p:spPr>
          <a:xfrm>
            <a:off x="2438400" y="2679700"/>
            <a:ext cx="2286000" cy="285750"/>
          </a:xfrm>
          <a:prstGeom prst="rect">
            <a:avLst/>
          </a:prstGeom>
          <a:noFill/>
          <a:ln w="9525">
            <a:noFill/>
          </a:ln>
        </p:spPr>
        <p:txBody>
          <a:bodyPr/>
          <a:lstStyle/>
          <a:p>
            <a:pPr algn="ctr">
              <a:buFont typeface="Arial" panose="020B0604020202020204" pitchFamily="34" charset="0"/>
            </a:pP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1</a:t>
            </a: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2</a:t>
            </a:r>
            <a:r>
              <a:rPr lang="en-US" altLang="zh-CN" sz="1600" b="1" dirty="0">
                <a:solidFill>
                  <a:srgbClr val="FF0000"/>
                </a:solidFill>
                <a:latin typeface="Arial Unicode MS" panose="020B0604020202020204" charset="-122"/>
                <a:ea typeface="Arial Unicode MS" panose="020B0604020202020204" charset="-122"/>
              </a:rPr>
              <a:t>,</a:t>
            </a:r>
            <a:r>
              <a:rPr lang="en-US" altLang="zh-CN" sz="1000" b="1" dirty="0">
                <a:solidFill>
                  <a:srgbClr val="FF0000"/>
                </a:solidFill>
                <a:latin typeface="Arial Unicode MS" panose="020B0604020202020204" charset="-122"/>
                <a:ea typeface="Arial Unicode MS" panose="020B0604020202020204" charset="-122"/>
              </a:rPr>
              <a:t>···</a:t>
            </a:r>
            <a:r>
              <a:rPr lang="en-US" altLang="zh-CN" sz="1600" b="1" dirty="0">
                <a:solidFill>
                  <a:srgbClr val="FF0000"/>
                </a:solidFill>
                <a:latin typeface="Arial Unicode MS" panose="020B0604020202020204" charset="-122"/>
                <a:ea typeface="Arial Unicode MS" panose="020B0604020202020204" charset="-122"/>
              </a:rPr>
              <a:t>,CLK</a:t>
            </a:r>
            <a:r>
              <a:rPr lang="en-US" altLang="zh-CN" sz="1600" b="1" baseline="-25000" dirty="0">
                <a:solidFill>
                  <a:srgbClr val="FF0000"/>
                </a:solidFill>
                <a:latin typeface="Arial Unicode MS" panose="020B0604020202020204" charset="-122"/>
                <a:ea typeface="Arial Unicode MS" panose="020B0604020202020204" charset="-122"/>
              </a:rPr>
              <a:t>r</a:t>
            </a:r>
            <a:endParaRPr lang="en-US" altLang="zh-CN" sz="1600" b="1" dirty="0">
              <a:solidFill>
                <a:srgbClr val="FF0000"/>
              </a:solidFill>
              <a:latin typeface="Arial Unicode MS" panose="020B0604020202020204" charset="-122"/>
              <a:ea typeface="Arial Unicode MS" panose="020B0604020202020204" charset="-122"/>
            </a:endParaRPr>
          </a:p>
        </p:txBody>
      </p:sp>
      <p:sp>
        <p:nvSpPr>
          <p:cNvPr id="106506" name="Text Box 43"/>
          <p:cNvSpPr txBox="1"/>
          <p:nvPr/>
        </p:nvSpPr>
        <p:spPr>
          <a:xfrm>
            <a:off x="2895600" y="1979613"/>
            <a:ext cx="1371600" cy="342900"/>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控制变量</a:t>
            </a:r>
          </a:p>
        </p:txBody>
      </p:sp>
      <p:sp>
        <p:nvSpPr>
          <p:cNvPr id="106507" name="Text Box 44"/>
          <p:cNvSpPr txBox="1"/>
          <p:nvPr/>
        </p:nvSpPr>
        <p:spPr>
          <a:xfrm>
            <a:off x="5503863" y="2036763"/>
            <a:ext cx="1430337" cy="285750"/>
          </a:xfrm>
          <a:prstGeom prst="rect">
            <a:avLst/>
          </a:prstGeom>
          <a:noFill/>
          <a:ln w="9525">
            <a:noFill/>
          </a:ln>
        </p:spPr>
        <p:txBody>
          <a:bodyPr/>
          <a:lstStyle/>
          <a:p>
            <a:pPr algn="ctr">
              <a:buFont typeface="Arial" panose="020B0604020202020204" pitchFamily="34" charset="0"/>
            </a:pP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r</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6508" name="Text Box 45"/>
          <p:cNvSpPr txBox="1"/>
          <p:nvPr/>
        </p:nvSpPr>
        <p:spPr>
          <a:xfrm>
            <a:off x="7620000" y="2399030"/>
            <a:ext cx="1524000" cy="394970"/>
          </a:xfrm>
          <a:prstGeom prst="rect">
            <a:avLst/>
          </a:prstGeom>
          <a:noFill/>
          <a:ln w="9525">
            <a:noFill/>
          </a:ln>
        </p:spPr>
        <p:txBody>
          <a:bodyPr/>
          <a:lstStyle/>
          <a:p>
            <a:pPr algn="just">
              <a:buFont typeface="Arial" panose="020B0604020202020204" pitchFamily="34" charset="0"/>
            </a:pP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a:t>
            </a: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a:t>
            </a:r>
            <a:r>
              <a:rPr lang="en-US" altLang="zh-CN" b="1" dirty="0">
                <a:solidFill>
                  <a:schemeClr val="tx1"/>
                </a:solidFill>
                <a:latin typeface="Arial Unicode MS" panose="020B0604020202020204" charset="-122"/>
                <a:ea typeface="Arial Unicode MS" panose="020B0604020202020204" charset="-122"/>
              </a:rPr>
              <a:t>z</a:t>
            </a:r>
            <a:r>
              <a:rPr lang="en-US" altLang="zh-CN" sz="1600" b="1" baseline="-25000" dirty="0">
                <a:solidFill>
                  <a:schemeClr val="tx1"/>
                </a:solidFill>
                <a:latin typeface="Arial Unicode MS" panose="020B0604020202020204" charset="-122"/>
                <a:ea typeface="Arial Unicode MS" panose="020B0604020202020204" charset="-122"/>
              </a:rPr>
              <a:t>m</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6509" name="Text Box 46"/>
          <p:cNvSpPr txBox="1"/>
          <p:nvPr/>
        </p:nvSpPr>
        <p:spPr>
          <a:xfrm>
            <a:off x="7772400" y="1997075"/>
            <a:ext cx="841375" cy="331788"/>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a:t>
            </a:r>
          </a:p>
        </p:txBody>
      </p:sp>
      <p:sp>
        <p:nvSpPr>
          <p:cNvPr id="106510" name="Text Box 47"/>
          <p:cNvSpPr txBox="1"/>
          <p:nvPr/>
        </p:nvSpPr>
        <p:spPr>
          <a:xfrm>
            <a:off x="5786438" y="1808163"/>
            <a:ext cx="763587" cy="342900"/>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现态</a:t>
            </a:r>
          </a:p>
        </p:txBody>
      </p:sp>
      <p:sp>
        <p:nvSpPr>
          <p:cNvPr id="106511" name="Text Box 48"/>
          <p:cNvSpPr txBox="1"/>
          <p:nvPr/>
        </p:nvSpPr>
        <p:spPr>
          <a:xfrm>
            <a:off x="2667000" y="2451100"/>
            <a:ext cx="1658938" cy="285750"/>
          </a:xfrm>
          <a:prstGeom prst="rect">
            <a:avLst/>
          </a:prstGeom>
          <a:noFill/>
          <a:ln w="9525">
            <a:noFill/>
          </a:ln>
        </p:spPr>
        <p:txBody>
          <a:bodyPr/>
          <a:lstStyle/>
          <a:p>
            <a:pPr algn="just">
              <a:buFont typeface="Arial" panose="020B0604020202020204" pitchFamily="34" charset="0"/>
            </a:pP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1</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2</a:t>
            </a:r>
            <a:r>
              <a:rPr lang="en-US" altLang="zh-CN" sz="1600" b="1" dirty="0">
                <a:solidFill>
                  <a:schemeClr val="tx1"/>
                </a:solidFill>
                <a:latin typeface="Arial Unicode MS" panose="020B0604020202020204" charset="-122"/>
                <a:ea typeface="Arial Unicode MS" panose="020B0604020202020204" charset="-122"/>
              </a:rPr>
              <a:t>,</a:t>
            </a:r>
            <a:r>
              <a:rPr lang="en-US" altLang="zh-CN" sz="1000" b="1" dirty="0">
                <a:solidFill>
                  <a:schemeClr val="tx1"/>
                </a:solidFill>
                <a:latin typeface="Arial Unicode MS" panose="020B0604020202020204" charset="-122"/>
                <a:ea typeface="Arial Unicode MS" panose="020B0604020202020204" charset="-122"/>
              </a:rPr>
              <a:t>···</a:t>
            </a:r>
            <a:r>
              <a:rPr lang="en-US" altLang="zh-CN" sz="1600" b="1" dirty="0">
                <a:solidFill>
                  <a:schemeClr val="tx1"/>
                </a:solidFill>
                <a:latin typeface="Arial Unicode MS" panose="020B0604020202020204" charset="-122"/>
                <a:ea typeface="Arial Unicode MS" panose="020B0604020202020204" charset="-122"/>
              </a:rPr>
              <a:t>,Y</a:t>
            </a:r>
            <a:r>
              <a:rPr lang="en-US" altLang="zh-CN" sz="1600" b="1" baseline="-25000" dirty="0">
                <a:solidFill>
                  <a:schemeClr val="tx1"/>
                </a:solidFill>
                <a:latin typeface="Arial Unicode MS" panose="020B0604020202020204" charset="-122"/>
                <a:ea typeface="Arial Unicode MS" panose="020B0604020202020204" charset="-122"/>
              </a:rPr>
              <a:t>r</a:t>
            </a:r>
            <a:endParaRPr lang="en-US" altLang="zh-CN" sz="1600" b="1" dirty="0">
              <a:solidFill>
                <a:schemeClr val="tx1"/>
              </a:solidFill>
              <a:latin typeface="Arial Unicode MS" panose="020B0604020202020204" charset="-122"/>
              <a:ea typeface="Arial Unicode MS" panose="020B0604020202020204" charset="-122"/>
            </a:endParaRPr>
          </a:p>
        </p:txBody>
      </p:sp>
      <p:sp>
        <p:nvSpPr>
          <p:cNvPr id="106512" name="Text Box 49"/>
          <p:cNvSpPr txBox="1"/>
          <p:nvPr/>
        </p:nvSpPr>
        <p:spPr>
          <a:xfrm>
            <a:off x="6961188" y="2136775"/>
            <a:ext cx="862012" cy="542925"/>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a:t>
            </a: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逻辑</a:t>
            </a:r>
          </a:p>
        </p:txBody>
      </p:sp>
      <p:sp>
        <p:nvSpPr>
          <p:cNvPr id="106513" name="Line 50"/>
          <p:cNvSpPr/>
          <p:nvPr/>
        </p:nvSpPr>
        <p:spPr>
          <a:xfrm>
            <a:off x="152400" y="2393950"/>
            <a:ext cx="1600200" cy="0"/>
          </a:xfrm>
          <a:prstGeom prst="line">
            <a:avLst/>
          </a:prstGeom>
          <a:ln w="76200" cap="flat" cmpd="sng">
            <a:solidFill>
              <a:schemeClr val="tx1"/>
            </a:solidFill>
            <a:prstDash val="solid"/>
            <a:headEnd type="none" w="med" len="med"/>
            <a:tailEnd type="triangle" w="med" len="med"/>
          </a:ln>
        </p:spPr>
      </p:sp>
      <p:sp>
        <p:nvSpPr>
          <p:cNvPr id="106514" name="Line 51"/>
          <p:cNvSpPr/>
          <p:nvPr/>
        </p:nvSpPr>
        <p:spPr>
          <a:xfrm>
            <a:off x="2438400" y="2393950"/>
            <a:ext cx="2209800" cy="0"/>
          </a:xfrm>
          <a:prstGeom prst="line">
            <a:avLst/>
          </a:prstGeom>
          <a:ln w="76200" cap="flat" cmpd="sng">
            <a:solidFill>
              <a:schemeClr val="tx1"/>
            </a:solidFill>
            <a:prstDash val="solid"/>
            <a:headEnd type="none" w="med" len="med"/>
            <a:tailEnd type="triangle" w="med" len="med"/>
          </a:ln>
        </p:spPr>
      </p:sp>
      <p:sp>
        <p:nvSpPr>
          <p:cNvPr id="106515" name="Line 52"/>
          <p:cNvSpPr/>
          <p:nvPr/>
        </p:nvSpPr>
        <p:spPr>
          <a:xfrm>
            <a:off x="5586413" y="2393950"/>
            <a:ext cx="1366837" cy="0"/>
          </a:xfrm>
          <a:prstGeom prst="line">
            <a:avLst/>
          </a:prstGeom>
          <a:ln w="76200" cap="flat" cmpd="sng">
            <a:solidFill>
              <a:schemeClr val="tx1"/>
            </a:solidFill>
            <a:prstDash val="solid"/>
            <a:headEnd type="none" w="med" len="med"/>
            <a:tailEnd type="triangle" w="med" len="med"/>
          </a:ln>
        </p:spPr>
      </p:sp>
      <p:sp>
        <p:nvSpPr>
          <p:cNvPr id="106516" name="Line 53"/>
          <p:cNvSpPr/>
          <p:nvPr/>
        </p:nvSpPr>
        <p:spPr>
          <a:xfrm>
            <a:off x="6096000" y="4187825"/>
            <a:ext cx="0" cy="0"/>
          </a:xfrm>
          <a:prstGeom prst="line">
            <a:avLst/>
          </a:prstGeom>
          <a:ln w="9525" cap="flat" cmpd="sng">
            <a:solidFill>
              <a:schemeClr val="tx1"/>
            </a:solidFill>
            <a:prstDash val="solid"/>
            <a:headEnd type="none" w="med" len="med"/>
            <a:tailEnd type="none" w="med" len="med"/>
          </a:ln>
        </p:spPr>
      </p:sp>
      <p:sp>
        <p:nvSpPr>
          <p:cNvPr id="106517" name="Line 54"/>
          <p:cNvSpPr/>
          <p:nvPr/>
        </p:nvSpPr>
        <p:spPr>
          <a:xfrm>
            <a:off x="6019800" y="2393950"/>
            <a:ext cx="0" cy="914400"/>
          </a:xfrm>
          <a:prstGeom prst="line">
            <a:avLst/>
          </a:prstGeom>
          <a:ln w="76200" cap="flat" cmpd="sng">
            <a:solidFill>
              <a:schemeClr val="tx1"/>
            </a:solidFill>
            <a:prstDash val="solid"/>
            <a:headEnd type="none" w="med" len="med"/>
            <a:tailEnd type="none" w="med" len="med"/>
          </a:ln>
        </p:spPr>
      </p:sp>
      <p:sp>
        <p:nvSpPr>
          <p:cNvPr id="106518" name="Line 55"/>
          <p:cNvSpPr/>
          <p:nvPr/>
        </p:nvSpPr>
        <p:spPr>
          <a:xfrm>
            <a:off x="1028700" y="3308350"/>
            <a:ext cx="5029200" cy="0"/>
          </a:xfrm>
          <a:prstGeom prst="line">
            <a:avLst/>
          </a:prstGeom>
          <a:ln w="76200" cap="flat" cmpd="sng">
            <a:solidFill>
              <a:schemeClr val="tx1"/>
            </a:solidFill>
            <a:prstDash val="solid"/>
            <a:headEnd type="none" w="med" len="med"/>
            <a:tailEnd type="none" w="med" len="med"/>
          </a:ln>
        </p:spPr>
      </p:sp>
      <p:sp>
        <p:nvSpPr>
          <p:cNvPr id="106519" name="Line 56"/>
          <p:cNvSpPr/>
          <p:nvPr/>
        </p:nvSpPr>
        <p:spPr>
          <a:xfrm>
            <a:off x="1066800" y="2851150"/>
            <a:ext cx="0" cy="457200"/>
          </a:xfrm>
          <a:prstGeom prst="line">
            <a:avLst/>
          </a:prstGeom>
          <a:ln w="76200" cap="flat" cmpd="sng">
            <a:solidFill>
              <a:schemeClr val="tx1"/>
            </a:solidFill>
            <a:prstDash val="solid"/>
            <a:headEnd type="none" w="med" len="med"/>
            <a:tailEnd type="none" w="med" len="med"/>
          </a:ln>
        </p:spPr>
      </p:sp>
      <p:sp>
        <p:nvSpPr>
          <p:cNvPr id="106520" name="Line 57"/>
          <p:cNvSpPr/>
          <p:nvPr/>
        </p:nvSpPr>
        <p:spPr>
          <a:xfrm>
            <a:off x="1028700" y="2851150"/>
            <a:ext cx="719138" cy="0"/>
          </a:xfrm>
          <a:prstGeom prst="line">
            <a:avLst/>
          </a:prstGeom>
          <a:ln w="76200" cap="flat" cmpd="sng">
            <a:solidFill>
              <a:schemeClr val="tx1"/>
            </a:solidFill>
            <a:prstDash val="solid"/>
            <a:headEnd type="none" w="med" len="med"/>
            <a:tailEnd type="triangle" w="med" len="med"/>
          </a:ln>
        </p:spPr>
      </p:sp>
      <p:sp>
        <p:nvSpPr>
          <p:cNvPr id="106521" name="Text Box 58"/>
          <p:cNvSpPr txBox="1"/>
          <p:nvPr/>
        </p:nvSpPr>
        <p:spPr>
          <a:xfrm>
            <a:off x="4589463" y="2298700"/>
            <a:ext cx="1035050" cy="552450"/>
          </a:xfrm>
          <a:prstGeom prst="rect">
            <a:avLst/>
          </a:prstGeom>
          <a:noFill/>
          <a:ln w="9525">
            <a:noFill/>
          </a:ln>
        </p:spPr>
        <p:txBody>
          <a:bodyPr/>
          <a:lstStyle/>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状态</a:t>
            </a:r>
          </a:p>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存储器</a:t>
            </a:r>
          </a:p>
        </p:txBody>
      </p:sp>
      <p:sp>
        <p:nvSpPr>
          <p:cNvPr id="106522" name="Rectangle 59"/>
          <p:cNvSpPr/>
          <p:nvPr/>
        </p:nvSpPr>
        <p:spPr>
          <a:xfrm>
            <a:off x="1768475" y="2190750"/>
            <a:ext cx="774700" cy="858838"/>
          </a:xfrm>
          <a:prstGeom prst="rect">
            <a:avLst/>
          </a:prstGeom>
          <a:solidFill>
            <a:schemeClr val="accent1"/>
          </a:solidFill>
          <a:ln w="38100" cap="flat" cmpd="sng">
            <a:solidFill>
              <a:schemeClr val="tx1"/>
            </a:solidFill>
            <a:prstDash val="solid"/>
            <a:miter/>
            <a:headEnd type="none" w="med" len="med"/>
            <a:tailEnd type="none" w="med" len="med"/>
          </a:ln>
        </p:spPr>
        <p:txBody>
          <a:bodyPr/>
          <a:lstStyle/>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06523" name="Text Box 60"/>
          <p:cNvSpPr txBox="1"/>
          <p:nvPr/>
        </p:nvSpPr>
        <p:spPr>
          <a:xfrm>
            <a:off x="1787525" y="2298700"/>
            <a:ext cx="803275" cy="552450"/>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次态</a:t>
            </a: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逻辑</a:t>
            </a:r>
          </a:p>
        </p:txBody>
      </p:sp>
      <p:sp>
        <p:nvSpPr>
          <p:cNvPr id="106524" name="Text Box 61"/>
          <p:cNvSpPr txBox="1"/>
          <p:nvPr/>
        </p:nvSpPr>
        <p:spPr>
          <a:xfrm>
            <a:off x="2235200" y="3362325"/>
            <a:ext cx="2819400" cy="347663"/>
          </a:xfrm>
          <a:prstGeom prst="rect">
            <a:avLst/>
          </a:prstGeom>
          <a:noFill/>
          <a:ln w="9525">
            <a:noFill/>
          </a:ln>
        </p:spPr>
        <p:txBody>
          <a:bodyPr/>
          <a:lstStyle/>
          <a:p>
            <a:pPr algn="just">
              <a:buFont typeface="Arial" panose="020B0604020202020204" pitchFamily="34" charset="0"/>
            </a:pPr>
            <a:r>
              <a:rPr lang="en-US" altLang="zh-CN" sz="2400" dirty="0">
                <a:solidFill>
                  <a:srgbClr val="FF0000"/>
                </a:solidFill>
                <a:latin typeface="华文新魏" panose="02010800040101010101" pitchFamily="2" charset="-122"/>
                <a:ea typeface="华文新魏" panose="02010800040101010101" pitchFamily="2" charset="-122"/>
              </a:rPr>
              <a:t>Moore</a:t>
            </a: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型电路结构</a:t>
            </a:r>
          </a:p>
        </p:txBody>
      </p:sp>
      <p:sp>
        <p:nvSpPr>
          <p:cNvPr id="106525" name="Line 62"/>
          <p:cNvSpPr/>
          <p:nvPr/>
        </p:nvSpPr>
        <p:spPr>
          <a:xfrm>
            <a:off x="7620000" y="2393950"/>
            <a:ext cx="1143000" cy="0"/>
          </a:xfrm>
          <a:prstGeom prst="line">
            <a:avLst/>
          </a:prstGeom>
          <a:ln w="76200" cap="flat" cmpd="sng">
            <a:solidFill>
              <a:schemeClr val="tx1"/>
            </a:solidFill>
            <a:prstDash val="solid"/>
            <a:headEnd type="none" w="med" len="med"/>
            <a:tailEnd type="triangle" w="med" len="me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p:cNvSpPr>
            <a:spLocks noGrp="1"/>
          </p:cNvSpPr>
          <p:nvPr>
            <p:ph type="title"/>
          </p:nvPr>
        </p:nvSpPr>
        <p:spPr>
          <a:xfrm>
            <a:off x="539750" y="771525"/>
            <a:ext cx="8097838" cy="1485900"/>
          </a:xfrm>
          <a:prstGeom prst="rect">
            <a:avLst/>
          </a:prstGeom>
          <a:noFill/>
          <a:ln w="9525">
            <a:noFill/>
          </a:ln>
        </p:spPr>
        <p:txBody>
          <a:bodyPr/>
          <a:lstStyle/>
          <a:p>
            <a:pPr eaLnBrk="1" hangingPunct="1">
              <a:lnSpc>
                <a:spcPct val="130000"/>
              </a:lnSpc>
            </a:pPr>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脉冲</a:t>
            </a:r>
            <a:r>
              <a:rPr lang="zh-CN" altLang="en-US" sz="2000" b="1" dirty="0">
                <a:solidFill>
                  <a:srgbClr val="FF0000"/>
                </a:solidFill>
                <a:latin typeface="华文新魏" panose="02010800040101010101" pitchFamily="2" charset="-122"/>
                <a:ea typeface="华文新魏" panose="02010800040101010101" pitchFamily="2" charset="-122"/>
              </a:rPr>
              <a:t>异步时序</a:t>
            </a:r>
            <a:r>
              <a:rPr lang="zh-CN" altLang="en-US" sz="2000" b="1" dirty="0">
                <a:latin typeface="华文新魏" panose="02010800040101010101" pitchFamily="2" charset="-122"/>
                <a:ea typeface="华文新魏" panose="02010800040101010101" pitchFamily="2" charset="-122"/>
              </a:rPr>
              <a:t>电路与</a:t>
            </a:r>
            <a:r>
              <a:rPr lang="zh-CN" altLang="en-US" sz="2000" b="1" dirty="0">
                <a:solidFill>
                  <a:srgbClr val="FF0000"/>
                </a:solidFill>
                <a:latin typeface="华文新魏" panose="02010800040101010101" pitchFamily="2" charset="-122"/>
                <a:ea typeface="华文新魏" panose="02010800040101010101" pitchFamily="2" charset="-122"/>
              </a:rPr>
              <a:t>同步时序</a:t>
            </a:r>
            <a:r>
              <a:rPr lang="zh-CN" altLang="en-US" sz="2000" b="1" dirty="0">
                <a:latin typeface="华文新魏" panose="02010800040101010101" pitchFamily="2" charset="-122"/>
                <a:ea typeface="华文新魏" panose="02010800040101010101" pitchFamily="2" charset="-122"/>
              </a:rPr>
              <a:t>电路</a:t>
            </a:r>
            <a:r>
              <a:rPr lang="zh-CN" altLang="en-US" sz="2000" b="1" dirty="0">
                <a:solidFill>
                  <a:srgbClr val="0000FF"/>
                </a:solidFill>
                <a:latin typeface="华文新魏" panose="02010800040101010101" pitchFamily="2" charset="-122"/>
                <a:ea typeface="华文新魏" panose="02010800040101010101" pitchFamily="2" charset="-122"/>
              </a:rPr>
              <a:t>相同点</a:t>
            </a:r>
            <a:r>
              <a:rPr lang="zh-CN" altLang="en-US" sz="2000" b="1" dirty="0">
                <a:latin typeface="华文新魏" panose="02010800040101010101" pitchFamily="2" charset="-122"/>
                <a:ea typeface="华文新魏" panose="02010800040101010101" pitchFamily="2" charset="-122"/>
              </a:rPr>
              <a:t>是：</a:t>
            </a:r>
            <a:br>
              <a:rPr lang="zh-CN" altLang="en-US" sz="2000" b="1" dirty="0">
                <a:latin typeface="华文新魏" panose="02010800040101010101" pitchFamily="2" charset="-122"/>
                <a:ea typeface="华文新魏" panose="02010800040101010101" pitchFamily="2" charset="-122"/>
              </a:rPr>
            </a:b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 存储元件都是</a:t>
            </a:r>
            <a:r>
              <a:rPr lang="zh-CN" altLang="en-US" sz="2000" b="1" u="sng" dirty="0">
                <a:latin typeface="华文新魏" panose="02010800040101010101" pitchFamily="2" charset="-122"/>
                <a:ea typeface="华文新魏" panose="02010800040101010101" pitchFamily="2" charset="-122"/>
              </a:rPr>
              <a:t>触发器/锁存器</a:t>
            </a:r>
            <a:r>
              <a:rPr lang="zh-CN" altLang="en-US" sz="2000" b="1" dirty="0">
                <a:latin typeface="华文新魏" panose="02010800040101010101" pitchFamily="2" charset="-122"/>
                <a:ea typeface="华文新魏" panose="02010800040101010101" pitchFamily="2" charset="-122"/>
              </a:rPr>
              <a:t>。</a:t>
            </a:r>
            <a:br>
              <a:rPr lang="zh-CN" altLang="en-US" sz="2000" b="1" dirty="0">
                <a:latin typeface="华文新魏" panose="02010800040101010101" pitchFamily="2" charset="-122"/>
                <a:ea typeface="华文新魏" panose="02010800040101010101" pitchFamily="2" charset="-122"/>
              </a:rPr>
            </a:b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2</a:t>
            </a:r>
            <a:r>
              <a:rPr lang="zh-CN" altLang="en-US"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sym typeface="+mn-ea"/>
              </a:rPr>
              <a:t> 状态的改变都依赖于</a:t>
            </a:r>
            <a:r>
              <a:rPr lang="zh-CN" altLang="en-US" sz="2000" b="1" u="sng" dirty="0">
                <a:latin typeface="华文新魏" panose="02010800040101010101" pitchFamily="2" charset="-122"/>
                <a:ea typeface="华文新魏" panose="02010800040101010101" pitchFamily="2" charset="-122"/>
                <a:sym typeface="+mn-ea"/>
              </a:rPr>
              <a:t>外部输入（脉冲）和电路当前状态</a:t>
            </a:r>
            <a:r>
              <a:rPr lang="zh-CN" altLang="en-US" sz="2000" b="1" dirty="0">
                <a:latin typeface="华文新魏" panose="02010800040101010101" pitchFamily="2" charset="-122"/>
                <a:ea typeface="华文新魏" panose="02010800040101010101" pitchFamily="2" charset="-122"/>
                <a:sym typeface="+mn-ea"/>
              </a:rPr>
              <a:t>。</a:t>
            </a:r>
            <a:br>
              <a:rPr lang="zh-CN" altLang="en-US" sz="2000" b="1" dirty="0">
                <a:latin typeface="华文新魏" panose="02010800040101010101" pitchFamily="2" charset="-122"/>
                <a:ea typeface="华文新魏" panose="02010800040101010101" pitchFamily="2" charset="-122"/>
                <a:sym typeface="+mn-ea"/>
              </a:rPr>
            </a:br>
            <a:endParaRPr lang="zh-CN" altLang="en-US" sz="2000" b="1" dirty="0">
              <a:latin typeface="华文新魏" panose="02010800040101010101" pitchFamily="2" charset="-122"/>
              <a:ea typeface="华文新魏" panose="02010800040101010101" pitchFamily="2" charset="-122"/>
            </a:endParaRPr>
          </a:p>
        </p:txBody>
      </p:sp>
      <p:sp>
        <p:nvSpPr>
          <p:cNvPr id="107523" name="矩形 5"/>
          <p:cNvSpPr/>
          <p:nvPr/>
        </p:nvSpPr>
        <p:spPr>
          <a:xfrm>
            <a:off x="506413" y="2301875"/>
            <a:ext cx="8386068" cy="2691765"/>
          </a:xfrm>
          <a:prstGeom prst="rect">
            <a:avLst/>
          </a:prstGeom>
          <a:noFill/>
          <a:ln w="9525">
            <a:noFill/>
          </a:ln>
        </p:spPr>
        <p:txBody>
          <a:bodyPr wrap="square">
            <a:spAutoFit/>
          </a:bodyPr>
          <a:lstStyle/>
          <a:p>
            <a:pPr eaLnBrk="1" fontAlgn="t" hangingPunct="1">
              <a:lnSpc>
                <a:spcPct val="120000"/>
              </a:lnSpc>
              <a:spcBef>
                <a:spcPts val="6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2) </a:t>
            </a:r>
            <a:r>
              <a:rPr lang="zh-CN" altLang="en-US" b="1" dirty="0">
                <a:solidFill>
                  <a:schemeClr val="tx1"/>
                </a:solidFill>
                <a:latin typeface="华文新魏" panose="02010800040101010101" pitchFamily="2" charset="-122"/>
                <a:ea typeface="华文新魏" panose="02010800040101010101" pitchFamily="2" charset="-122"/>
              </a:rPr>
              <a:t>脉冲</a:t>
            </a:r>
            <a:r>
              <a:rPr lang="zh-CN" altLang="en-US" b="1" dirty="0">
                <a:solidFill>
                  <a:srgbClr val="FF0000"/>
                </a:solidFill>
                <a:latin typeface="华文新魏" panose="02010800040101010101" pitchFamily="2" charset="-122"/>
                <a:ea typeface="华文新魏" panose="02010800040101010101" pitchFamily="2" charset="-122"/>
              </a:rPr>
              <a:t>异步时序</a:t>
            </a:r>
            <a:r>
              <a:rPr lang="zh-CN" altLang="en-US" b="1" dirty="0">
                <a:solidFill>
                  <a:schemeClr val="tx1"/>
                </a:solidFill>
                <a:latin typeface="华文新魏" panose="02010800040101010101" pitchFamily="2" charset="-122"/>
                <a:ea typeface="华文新魏" panose="02010800040101010101" pitchFamily="2" charset="-122"/>
              </a:rPr>
              <a:t>电路与</a:t>
            </a:r>
            <a:r>
              <a:rPr lang="zh-CN" altLang="en-US" b="1" dirty="0">
                <a:solidFill>
                  <a:srgbClr val="FF0000"/>
                </a:solidFill>
                <a:latin typeface="华文新魏" panose="02010800040101010101" pitchFamily="2" charset="-122"/>
                <a:ea typeface="华文新魏" panose="02010800040101010101" pitchFamily="2" charset="-122"/>
              </a:rPr>
              <a:t>同步</a:t>
            </a:r>
            <a:r>
              <a:rPr lang="zh-CN" altLang="en-US" b="1" dirty="0">
                <a:solidFill>
                  <a:schemeClr val="tx1"/>
                </a:solidFill>
                <a:latin typeface="华文新魏" panose="02010800040101010101" pitchFamily="2" charset="-122"/>
                <a:ea typeface="华文新魏" panose="02010800040101010101" pitchFamily="2" charset="-122"/>
              </a:rPr>
              <a:t>时序电路的</a:t>
            </a:r>
            <a:r>
              <a:rPr lang="zh-CN" altLang="en-US" b="1" dirty="0">
                <a:solidFill>
                  <a:srgbClr val="0000FF"/>
                </a:solidFill>
                <a:latin typeface="华文新魏" panose="02010800040101010101" pitchFamily="2" charset="-122"/>
                <a:ea typeface="华文新魏" panose="02010800040101010101" pitchFamily="2" charset="-122"/>
              </a:rPr>
              <a:t>差异</a:t>
            </a:r>
            <a:r>
              <a:rPr lang="zh-CN" altLang="en-US" b="1" dirty="0">
                <a:solidFill>
                  <a:schemeClr val="tx1"/>
                </a:solidFill>
                <a:latin typeface="华文新魏" panose="02010800040101010101" pitchFamily="2" charset="-122"/>
                <a:ea typeface="华文新魏" panose="02010800040101010101" pitchFamily="2" charset="-122"/>
              </a:rPr>
              <a:t>是： </a:t>
            </a:r>
          </a:p>
          <a:p>
            <a:pPr algn="just" eaLnBrk="1" fontAlgn="t" hangingPunct="1">
              <a:lnSpc>
                <a:spcPct val="120000"/>
              </a:lnSpc>
              <a:spcBef>
                <a:spcPts val="6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⑴ 脉冲异步时序电路</a:t>
            </a:r>
            <a:r>
              <a:rPr lang="zh-CN" altLang="en-US" b="1" dirty="0">
                <a:solidFill>
                  <a:srgbClr val="FF0000"/>
                </a:solidFill>
                <a:latin typeface="华文新魏" panose="02010800040101010101" pitchFamily="2" charset="-122"/>
                <a:ea typeface="华文新魏" panose="02010800040101010101" pitchFamily="2" charset="-122"/>
              </a:rPr>
              <a:t>无外加的统一</a:t>
            </a:r>
            <a:r>
              <a:rPr lang="zh-CN" altLang="en-US" b="1" dirty="0">
                <a:solidFill>
                  <a:schemeClr val="tx1"/>
                </a:solidFill>
                <a:latin typeface="华文新魏" panose="02010800040101010101" pitchFamily="2" charset="-122"/>
                <a:ea typeface="华文新魏" panose="02010800040101010101" pitchFamily="2" charset="-122"/>
              </a:rPr>
              <a:t>的时钟脉冲。</a:t>
            </a:r>
          </a:p>
          <a:p>
            <a:pPr algn="just" eaLnBrk="1" fontAlgn="t" hangingPunct="1">
              <a:lnSpc>
                <a:spcPct val="120000"/>
              </a:lnSpc>
              <a:spcBef>
                <a:spcPts val="6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⑵ </a:t>
            </a:r>
            <a:r>
              <a:rPr lang="zh-CN" altLang="en-US" b="1" dirty="0">
                <a:solidFill>
                  <a:srgbClr val="FF0000"/>
                </a:solidFill>
                <a:latin typeface="华文新魏" panose="02010800040101010101" pitchFamily="2" charset="-122"/>
                <a:ea typeface="华文新魏" panose="02010800040101010101" pitchFamily="2" charset="-122"/>
              </a:rPr>
              <a:t>输入变量</a:t>
            </a:r>
            <a:r>
              <a:rPr lang="zh-CN" altLang="en-US" b="1" dirty="0">
                <a:solidFill>
                  <a:schemeClr val="tx1"/>
                </a:solidFill>
                <a:latin typeface="华文新魏" panose="02010800040101010101" pitchFamily="2" charset="-122"/>
                <a:ea typeface="华文新魏" panose="02010800040101010101" pitchFamily="2" charset="-122"/>
              </a:rPr>
              <a:t>为脉冲信号，由</a:t>
            </a:r>
            <a:r>
              <a:rPr lang="zh-CN" altLang="en-US" b="1" dirty="0">
                <a:solidFill>
                  <a:srgbClr val="FF0000"/>
                </a:solidFill>
                <a:latin typeface="华文新魏" panose="02010800040101010101" pitchFamily="2" charset="-122"/>
                <a:ea typeface="华文新魏" panose="02010800040101010101" pitchFamily="2" charset="-122"/>
              </a:rPr>
              <a:t>输入脉冲直接引起</a:t>
            </a:r>
            <a:r>
              <a:rPr lang="zh-CN" altLang="en-US" b="1" dirty="0">
                <a:solidFill>
                  <a:schemeClr val="tx1"/>
                </a:solidFill>
                <a:latin typeface="华文新魏" panose="02010800040101010101" pitchFamily="2" charset="-122"/>
                <a:ea typeface="华文新魏" panose="02010800040101010101" pitchFamily="2" charset="-122"/>
              </a:rPr>
              <a:t>电路的状态改变。</a:t>
            </a:r>
          </a:p>
          <a:p>
            <a:pPr algn="just" eaLnBrk="1" fontAlgn="t" hangingPunct="1">
              <a:lnSpc>
                <a:spcPct val="120000"/>
              </a:lnSpc>
              <a:spcBef>
                <a:spcPts val="6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⑶ 由次态逻辑电路产生各触发器</a:t>
            </a:r>
            <a:r>
              <a:rPr lang="zh-CN" altLang="en-US" b="1" dirty="0">
                <a:solidFill>
                  <a:srgbClr val="FF0000"/>
                </a:solidFill>
                <a:latin typeface="华文新魏" panose="02010800040101010101" pitchFamily="2" charset="-122"/>
                <a:ea typeface="华文新魏" panose="02010800040101010101" pitchFamily="2" charset="-122"/>
              </a:rPr>
              <a:t>控制输入（激励）信号</a:t>
            </a:r>
            <a:r>
              <a:rPr lang="en-US" altLang="zh-CN" b="1" dirty="0">
                <a:solidFill>
                  <a:srgbClr val="FF0000"/>
                </a:solidFill>
                <a:latin typeface="华文新魏" panose="02010800040101010101" pitchFamily="2" charset="-122"/>
                <a:ea typeface="华文新魏" panose="02010800040101010101" pitchFamily="2" charset="-122"/>
              </a:rPr>
              <a:t>(Y</a:t>
            </a:r>
            <a:r>
              <a:rPr lang="en-US" altLang="zh-CN" b="1" baseline="-25000" dirty="0">
                <a:solidFill>
                  <a:srgbClr val="FF0000"/>
                </a:solidFill>
                <a:latin typeface="华文新魏" panose="02010800040101010101" pitchFamily="2" charset="-122"/>
                <a:ea typeface="华文新魏" panose="02010800040101010101" pitchFamily="2" charset="-122"/>
              </a:rPr>
              <a:t>1</a:t>
            </a:r>
            <a:r>
              <a:rPr lang="en-US" altLang="zh-CN" b="1" dirty="0">
                <a:solidFill>
                  <a:srgbClr val="FF0000"/>
                </a:solidFill>
                <a:latin typeface="华文新魏" panose="02010800040101010101" pitchFamily="2" charset="-122"/>
                <a:ea typeface="华文新魏" panose="02010800040101010101" pitchFamily="2" charset="-122"/>
              </a:rPr>
              <a:t>, Y</a:t>
            </a:r>
            <a:r>
              <a:rPr lang="en-US" altLang="zh-CN" b="1" baseline="-25000" dirty="0">
                <a:solidFill>
                  <a:srgbClr val="FF0000"/>
                </a:solidFill>
                <a:latin typeface="华文新魏" panose="02010800040101010101" pitchFamily="2" charset="-122"/>
                <a:ea typeface="华文新魏" panose="02010800040101010101" pitchFamily="2" charset="-122"/>
              </a:rPr>
              <a:t>2 ,</a:t>
            </a:r>
            <a:r>
              <a:rPr lang="en-US" altLang="zh-CN" b="1" dirty="0">
                <a:solidFill>
                  <a:srgbClr val="FF0000"/>
                </a:solidFill>
                <a:latin typeface="华文新魏" panose="02010800040101010101" pitchFamily="2" charset="-122"/>
                <a:ea typeface="华文新魏" panose="02010800040101010101" pitchFamily="2" charset="-122"/>
              </a:rPr>
              <a:t> </a:t>
            </a:r>
            <a:r>
              <a:rPr lang="en-US" altLang="zh-CN" b="1" baseline="-25000"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Y</a:t>
            </a:r>
            <a:r>
              <a:rPr lang="en-US" altLang="zh-CN" b="1" baseline="-25000" dirty="0">
                <a:solidFill>
                  <a:srgbClr val="FF0000"/>
                </a:solidFill>
                <a:latin typeface="华文新魏" panose="02010800040101010101" pitchFamily="2" charset="-122"/>
                <a:ea typeface="华文新魏" panose="02010800040101010101" pitchFamily="2" charset="-122"/>
              </a:rPr>
              <a:t>r</a:t>
            </a:r>
            <a:r>
              <a:rPr lang="en-US" altLang="zh-CN" b="1" dirty="0">
                <a:solidFill>
                  <a:srgbClr val="FF0000"/>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a:t>
            </a:r>
          </a:p>
          <a:p>
            <a:pPr algn="just" eaLnBrk="1" fontAlgn="t" hangingPunct="1">
              <a:lnSpc>
                <a:spcPct val="120000"/>
              </a:lnSpc>
              <a:spcBef>
                <a:spcPts val="6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而且还产生时间有先后的各触发器的</a:t>
            </a:r>
            <a:r>
              <a:rPr lang="zh-CN" altLang="en-US" b="1" dirty="0">
                <a:solidFill>
                  <a:srgbClr val="FF0000"/>
                </a:solidFill>
                <a:latin typeface="华文新魏" panose="02010800040101010101" pitchFamily="2" charset="-122"/>
                <a:ea typeface="华文新魏" panose="02010800040101010101" pitchFamily="2" charset="-122"/>
              </a:rPr>
              <a:t>时钟控制信号</a:t>
            </a:r>
          </a:p>
          <a:p>
            <a:pPr algn="just" eaLnBrk="1" fontAlgn="t" hangingPunct="1">
              <a:lnSpc>
                <a:spcPct val="120000"/>
              </a:lnSpc>
              <a:spcBef>
                <a:spcPts val="6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(CLK</a:t>
            </a:r>
            <a:r>
              <a:rPr lang="en-US" altLang="zh-CN" b="1" baseline="-25000" dirty="0">
                <a:solidFill>
                  <a:srgbClr val="FF0000"/>
                </a:solidFill>
                <a:latin typeface="华文新魏" panose="02010800040101010101" pitchFamily="2" charset="-122"/>
                <a:ea typeface="华文新魏" panose="02010800040101010101" pitchFamily="2" charset="-122"/>
              </a:rPr>
              <a:t>1</a:t>
            </a:r>
            <a:r>
              <a:rPr lang="en-US" altLang="zh-CN" b="1" dirty="0">
                <a:solidFill>
                  <a:srgbClr val="FF0000"/>
                </a:solidFill>
                <a:latin typeface="华文新魏" panose="02010800040101010101" pitchFamily="2" charset="-122"/>
                <a:ea typeface="华文新魏" panose="02010800040101010101" pitchFamily="2" charset="-122"/>
              </a:rPr>
              <a:t>, CLK</a:t>
            </a:r>
            <a:r>
              <a:rPr lang="en-US" altLang="zh-CN" b="1" baseline="-25000" dirty="0">
                <a:solidFill>
                  <a:srgbClr val="FF0000"/>
                </a:solidFill>
                <a:latin typeface="华文新魏" panose="02010800040101010101" pitchFamily="2" charset="-122"/>
                <a:ea typeface="华文新魏" panose="02010800040101010101" pitchFamily="2" charset="-122"/>
              </a:rPr>
              <a:t>2</a:t>
            </a:r>
            <a:r>
              <a:rPr lang="en-US" altLang="zh-CN" b="1" dirty="0">
                <a:solidFill>
                  <a:srgbClr val="FF0000"/>
                </a:solidFill>
                <a:latin typeface="华文新魏" panose="02010800040101010101" pitchFamily="2" charset="-122"/>
                <a:ea typeface="华文新魏" panose="02010800040101010101" pitchFamily="2" charset="-122"/>
              </a:rPr>
              <a:t>, …,CLK</a:t>
            </a:r>
            <a:r>
              <a:rPr lang="en-US" altLang="zh-CN" b="1" baseline="-25000" dirty="0">
                <a:solidFill>
                  <a:srgbClr val="FF0000"/>
                </a:solidFill>
                <a:latin typeface="华文新魏" panose="02010800040101010101" pitchFamily="2" charset="-122"/>
                <a:ea typeface="华文新魏" panose="02010800040101010101" pitchFamily="2" charset="-122"/>
              </a:rPr>
              <a:t>r</a:t>
            </a: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 calcmode="lin" valueType="num">
                                      <p:cBhvr additive="base">
                                        <p:cTn id="7" dur="500" fill="hold"/>
                                        <p:tgtEl>
                                          <p:spTgt spid="1075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75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7523">
                                            <p:txEl>
                                              <p:pRg st="1" end="1"/>
                                            </p:txEl>
                                          </p:spTgt>
                                        </p:tgtEl>
                                        <p:attrNameLst>
                                          <p:attrName>style.visibility</p:attrName>
                                        </p:attrNameLst>
                                      </p:cBhvr>
                                      <p:to>
                                        <p:strVal val="visible"/>
                                      </p:to>
                                    </p:set>
                                    <p:anim calcmode="lin" valueType="num">
                                      <p:cBhvr additive="base">
                                        <p:cTn id="13" dur="500" fill="hold"/>
                                        <p:tgtEl>
                                          <p:spTgt spid="1075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75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7523">
                                            <p:txEl>
                                              <p:pRg st="2" end="2"/>
                                            </p:txEl>
                                          </p:spTgt>
                                        </p:tgtEl>
                                        <p:attrNameLst>
                                          <p:attrName>style.visibility</p:attrName>
                                        </p:attrNameLst>
                                      </p:cBhvr>
                                      <p:to>
                                        <p:strVal val="visible"/>
                                      </p:to>
                                    </p:set>
                                    <p:anim calcmode="lin" valueType="num">
                                      <p:cBhvr additive="base">
                                        <p:cTn id="19" dur="500" fill="hold"/>
                                        <p:tgtEl>
                                          <p:spTgt spid="1075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75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7523">
                                            <p:txEl>
                                              <p:pRg st="3" end="3"/>
                                            </p:txEl>
                                          </p:spTgt>
                                        </p:tgtEl>
                                        <p:attrNameLst>
                                          <p:attrName>style.visibility</p:attrName>
                                        </p:attrNameLst>
                                      </p:cBhvr>
                                      <p:to>
                                        <p:strVal val="visible"/>
                                      </p:to>
                                    </p:set>
                                    <p:anim calcmode="lin" valueType="num">
                                      <p:cBhvr additive="base">
                                        <p:cTn id="25" dur="500" fill="hold"/>
                                        <p:tgtEl>
                                          <p:spTgt spid="1075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752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7523">
                                            <p:txEl>
                                              <p:pRg st="4" end="4"/>
                                            </p:txEl>
                                          </p:spTgt>
                                        </p:tgtEl>
                                        <p:attrNameLst>
                                          <p:attrName>style.visibility</p:attrName>
                                        </p:attrNameLst>
                                      </p:cBhvr>
                                      <p:to>
                                        <p:strVal val="visible"/>
                                      </p:to>
                                    </p:set>
                                    <p:anim calcmode="lin" valueType="num">
                                      <p:cBhvr additive="base">
                                        <p:cTn id="29" dur="500" fill="hold"/>
                                        <p:tgtEl>
                                          <p:spTgt spid="10752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752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07523">
                                            <p:txEl>
                                              <p:pRg st="5" end="5"/>
                                            </p:txEl>
                                          </p:spTgt>
                                        </p:tgtEl>
                                        <p:attrNameLst>
                                          <p:attrName>style.visibility</p:attrName>
                                        </p:attrNameLst>
                                      </p:cBhvr>
                                      <p:to>
                                        <p:strVal val="visible"/>
                                      </p:to>
                                    </p:set>
                                    <p:anim calcmode="lin" valueType="num">
                                      <p:cBhvr additive="base">
                                        <p:cTn id="33" dur="500" fill="hold"/>
                                        <p:tgtEl>
                                          <p:spTgt spid="10752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75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p:cNvSpPr>
          <p:nvPr>
            <p:ph type="title"/>
          </p:nvPr>
        </p:nvSpPr>
        <p:spPr>
          <a:xfrm>
            <a:off x="828675" y="556895"/>
            <a:ext cx="4660265" cy="411480"/>
          </a:xfrm>
          <a:prstGeom prst="rect">
            <a:avLst/>
          </a:prstGeom>
          <a:noFill/>
          <a:ln w="9525">
            <a:noFill/>
          </a:ln>
        </p:spPr>
        <p:txBody>
          <a:bodyPr/>
          <a:lstStyle/>
          <a:p>
            <a:pPr eaLnBrk="1" hangingPunct="1"/>
            <a:r>
              <a:rPr lang="en-US" altLang="zh-CN" sz="2400" b="1" u="sng" dirty="0">
                <a:latin typeface="华文新魏" panose="02010800040101010101" pitchFamily="2" charset="-122"/>
                <a:ea typeface="华文新魏" panose="02010800040101010101" pitchFamily="2" charset="-122"/>
              </a:rPr>
              <a:t>3) </a:t>
            </a:r>
            <a:r>
              <a:rPr lang="zh-CN" altLang="en-US" sz="2400" b="1" u="sng" dirty="0">
                <a:latin typeface="华文新魏" panose="02010800040101010101" pitchFamily="2" charset="-122"/>
                <a:ea typeface="华文新魏" panose="02010800040101010101" pitchFamily="2" charset="-122"/>
              </a:rPr>
              <a:t>脉冲异步时序电路</a:t>
            </a:r>
            <a:r>
              <a:rPr lang="zh-CN" altLang="en-US" sz="2400" b="1" u="sng" dirty="0">
                <a:solidFill>
                  <a:srgbClr val="FF0000"/>
                </a:solidFill>
                <a:latin typeface="华文新魏" panose="02010800040101010101" pitchFamily="2" charset="-122"/>
                <a:ea typeface="华文新魏" panose="02010800040101010101" pitchFamily="2" charset="-122"/>
              </a:rPr>
              <a:t>输入的限制</a:t>
            </a:r>
            <a:r>
              <a:rPr lang="zh-CN" altLang="en-US" sz="2400" b="1" dirty="0">
                <a:solidFill>
                  <a:srgbClr val="FF0000"/>
                </a:solidFill>
                <a:latin typeface="华文新魏" panose="02010800040101010101" pitchFamily="2" charset="-122"/>
                <a:ea typeface="华文新魏" panose="02010800040101010101" pitchFamily="2" charset="-122"/>
              </a:rPr>
              <a:t>：</a:t>
            </a:r>
          </a:p>
        </p:txBody>
      </p:sp>
      <p:sp>
        <p:nvSpPr>
          <p:cNvPr id="108547" name="Rectangle 3"/>
          <p:cNvSpPr>
            <a:spLocks noGrp="1"/>
          </p:cNvSpPr>
          <p:nvPr>
            <p:ph type="body"/>
          </p:nvPr>
        </p:nvSpPr>
        <p:spPr>
          <a:xfrm>
            <a:off x="828675" y="1071245"/>
            <a:ext cx="7912735" cy="3990975"/>
          </a:xfrm>
          <a:prstGeom prst="rect">
            <a:avLst/>
          </a:prstGeom>
          <a:noFill/>
          <a:ln w="9525">
            <a:noFill/>
          </a:ln>
        </p:spPr>
        <p:txBody>
          <a:bodyPr/>
          <a:lstStyle/>
          <a:p>
            <a:pPr eaLnBrk="1" hangingPunct="1">
              <a:lnSpc>
                <a:spcPct val="110000"/>
              </a:lnSpc>
              <a:spcBef>
                <a:spcPct val="0"/>
              </a:spcBef>
              <a:buNone/>
            </a:pPr>
            <a:r>
              <a:rPr lang="en-US" altLang="zh-CN" sz="2000" b="1" dirty="0">
                <a:latin typeface="华文新魏" panose="02010800040101010101" pitchFamily="2" charset="-122"/>
                <a:ea typeface="华文新魏" panose="02010800040101010101" pitchFamily="2" charset="-122"/>
              </a:rPr>
              <a:t>⑴ </a:t>
            </a:r>
            <a:r>
              <a:rPr lang="zh-CN" altLang="en-US" sz="2000" b="1" dirty="0">
                <a:solidFill>
                  <a:srgbClr val="FF0000"/>
                </a:solidFill>
                <a:latin typeface="华文新魏" panose="02010800040101010101" pitchFamily="2" charset="-122"/>
                <a:ea typeface="华文新魏" panose="02010800040101010101" pitchFamily="2" charset="-122"/>
              </a:rPr>
              <a:t>不允许</a:t>
            </a:r>
            <a:r>
              <a:rPr lang="zh-CN" altLang="en-US" sz="2000" b="1" dirty="0">
                <a:latin typeface="华文新魏" panose="02010800040101010101" pitchFamily="2" charset="-122"/>
                <a:ea typeface="华文新魏" panose="02010800040101010101" pitchFamily="2" charset="-122"/>
              </a:rPr>
              <a:t>两根或两根以上输入线上</a:t>
            </a:r>
            <a:r>
              <a:rPr lang="zh-CN" altLang="en-US" sz="2000" b="1" dirty="0">
                <a:solidFill>
                  <a:srgbClr val="FF0000"/>
                </a:solidFill>
                <a:latin typeface="华文新魏" panose="02010800040101010101" pitchFamily="2" charset="-122"/>
                <a:ea typeface="华文新魏" panose="02010800040101010101" pitchFamily="2" charset="-122"/>
              </a:rPr>
              <a:t>同时有</a:t>
            </a:r>
            <a:r>
              <a:rPr lang="zh-CN" altLang="en-US" sz="2000" b="1" dirty="0">
                <a:latin typeface="华文新魏" panose="02010800040101010101" pitchFamily="2" charset="-122"/>
                <a:ea typeface="华文新魏" panose="02010800040101010101" pitchFamily="2" charset="-122"/>
              </a:rPr>
              <a:t>输入脉冲。</a:t>
            </a:r>
          </a:p>
          <a:p>
            <a:pPr algn="just" eaLnBrk="1" hangingPunct="1">
              <a:lnSpc>
                <a:spcPct val="110000"/>
              </a:lnSpc>
              <a:spcBef>
                <a:spcPts val="600"/>
              </a:spcBef>
              <a:buNone/>
            </a:pPr>
            <a:r>
              <a:rPr lang="zh-CN" altLang="en-US" sz="2000" b="1" dirty="0">
                <a:latin typeface="华文新魏" panose="02010800040101010101" pitchFamily="2" charset="-122"/>
                <a:ea typeface="华文新魏" panose="02010800040101010101" pitchFamily="2" charset="-122"/>
              </a:rPr>
              <a:t>⑵ 在上一个输入脉冲引起的电路状态变化</a:t>
            </a:r>
            <a:r>
              <a:rPr lang="zh-CN" altLang="en-US" sz="2000" b="1" dirty="0">
                <a:solidFill>
                  <a:srgbClr val="FF0000"/>
                </a:solidFill>
                <a:latin typeface="华文新魏" panose="02010800040101010101" pitchFamily="2" charset="-122"/>
                <a:ea typeface="华文新魏" panose="02010800040101010101" pitchFamily="2" charset="-122"/>
              </a:rPr>
              <a:t>未稳定以前</a:t>
            </a:r>
            <a:r>
              <a:rPr lang="zh-CN" altLang="en-US" sz="2000" b="1" dirty="0">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不允许</a:t>
            </a:r>
            <a:r>
              <a:rPr lang="zh-CN" altLang="en-US" sz="2000" b="1" dirty="0">
                <a:latin typeface="华文新魏" panose="02010800040101010101" pitchFamily="2" charset="-122"/>
                <a:ea typeface="华文新魏" panose="02010800040101010101" pitchFamily="2" charset="-122"/>
              </a:rPr>
              <a:t>加入新的输入脉冲。</a:t>
            </a:r>
            <a:endParaRPr lang="en-US" altLang="zh-CN" sz="2000" b="1" dirty="0">
              <a:latin typeface="华文新魏" panose="02010800040101010101" pitchFamily="2" charset="-122"/>
              <a:ea typeface="华文新魏" panose="02010800040101010101" pitchFamily="2" charset="-122"/>
            </a:endParaRPr>
          </a:p>
          <a:p>
            <a:pPr algn="just" eaLnBrk="1" hangingPunct="1">
              <a:lnSpc>
                <a:spcPct val="110000"/>
              </a:lnSpc>
              <a:spcBef>
                <a:spcPts val="600"/>
              </a:spcBef>
              <a:buNone/>
            </a:pPr>
            <a:r>
              <a:rPr lang="zh-CN" altLang="en-US"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为了使电路可靠工作，电路状态变化可预知，对脉冲异步时序电路的输入作如上规定。</a:t>
            </a:r>
          </a:p>
          <a:p>
            <a:pPr algn="just" eaLnBrk="1" hangingPunct="1">
              <a:lnSpc>
                <a:spcPct val="110000"/>
              </a:lnSpc>
              <a:spcBef>
                <a:spcPts val="600"/>
              </a:spcBef>
              <a:buNone/>
            </a:pPr>
            <a:endParaRPr lang="zh-CN" altLang="en-US" sz="2000" b="1" dirty="0">
              <a:solidFill>
                <a:srgbClr val="FF0000"/>
              </a:solidFill>
              <a:latin typeface="华文新魏" panose="02010800040101010101" pitchFamily="2" charset="-122"/>
              <a:ea typeface="华文新魏" panose="02010800040101010101" pitchFamily="2" charset="-122"/>
            </a:endParaRPr>
          </a:p>
          <a:p>
            <a:pPr algn="just" eaLnBrk="1" hangingPunct="1">
              <a:lnSpc>
                <a:spcPct val="110000"/>
              </a:lnSpc>
              <a:spcBef>
                <a:spcPct val="0"/>
              </a:spcBef>
              <a:buNone/>
            </a:pPr>
            <a:endParaRPr lang="zh-CN" altLang="en-US" sz="800" b="1" dirty="0">
              <a:latin typeface="华文新魏" panose="02010800040101010101" pitchFamily="2" charset="-122"/>
              <a:ea typeface="华文新魏" panose="02010800040101010101" pitchFamily="2" charset="-122"/>
            </a:endParaRPr>
          </a:p>
          <a:p>
            <a:pPr algn="just" eaLnBrk="1" latinLnBrk="0" hangingPunct="1">
              <a:lnSpc>
                <a:spcPct val="110000"/>
              </a:lnSpc>
              <a:spcBef>
                <a:spcPts val="60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 可将同步时序电路的分析与设计及工具稍作修改直接应用于脉冲异步电路。</a:t>
            </a:r>
            <a:r>
              <a:rPr lang="zh-CN" altLang="en-US" sz="2000" b="1" dirty="0">
                <a:solidFill>
                  <a:srgbClr val="FF0000"/>
                </a:solidFill>
                <a:latin typeface="华文新魏" panose="02010800040101010101" pitchFamily="2" charset="-122"/>
                <a:ea typeface="华文新魏" panose="02010800040101010101" pitchFamily="2" charset="-122"/>
              </a:rPr>
              <a:t>每个外部输入脉冲加入时</a:t>
            </a:r>
            <a:r>
              <a:rPr lang="zh-CN" altLang="en-US" sz="2000" b="1" dirty="0">
                <a:latin typeface="华文新魏" panose="02010800040101010101" pitchFamily="2" charset="-122"/>
                <a:ea typeface="华文新魏" panose="02010800040101010101" pitchFamily="2" charset="-122"/>
              </a:rPr>
              <a:t>，电路中所有的触发器均发生现态到次态的转换。如果其中触发器的时钟端</a:t>
            </a:r>
            <a:r>
              <a:rPr lang="zh-CN" altLang="en-US" sz="2000" b="1" dirty="0">
                <a:solidFill>
                  <a:srgbClr val="FF0000"/>
                </a:solidFill>
                <a:latin typeface="华文新魏" panose="02010800040101010101" pitchFamily="2" charset="-122"/>
                <a:ea typeface="华文新魏" panose="02010800040101010101" pitchFamily="2" charset="-122"/>
              </a:rPr>
              <a:t>无时钟脉冲，则认为该触发器的次态等于现态</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p:txBody>
      </p:sp>
      <p:sp>
        <p:nvSpPr>
          <p:cNvPr id="2" name="Rectangle 2"/>
          <p:cNvSpPr>
            <a:spLocks noGrp="1"/>
          </p:cNvSpPr>
          <p:nvPr/>
        </p:nvSpPr>
        <p:spPr>
          <a:xfrm>
            <a:off x="786130" y="3081655"/>
            <a:ext cx="4660265" cy="411480"/>
          </a:xfrm>
          <a:prstGeom prst="rect">
            <a:avLst/>
          </a:prstGeom>
          <a:noFill/>
          <a:ln w="9525">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en-US" altLang="zh-CN" sz="2400" b="1" u="sng" dirty="0">
                <a:latin typeface="华文新魏" panose="02010800040101010101" pitchFamily="2" charset="-122"/>
                <a:ea typeface="华文新魏" panose="02010800040101010101" pitchFamily="2" charset="-122"/>
              </a:rPr>
              <a:t>4) </a:t>
            </a:r>
            <a:r>
              <a:rPr lang="zh-CN" altLang="en-US" sz="2400" b="1" u="sng" dirty="0">
                <a:latin typeface="华文新魏" panose="02010800040101010101" pitchFamily="2" charset="-122"/>
                <a:ea typeface="华文新魏" panose="02010800040101010101" pitchFamily="2" charset="-122"/>
              </a:rPr>
              <a:t>脉冲异步时序电路分析方法</a:t>
            </a:r>
            <a:r>
              <a:rPr lang="zh-CN" altLang="en-US" sz="2400" b="1" dirty="0">
                <a:solidFill>
                  <a:schemeClr val="tx1"/>
                </a:solidFill>
                <a:latin typeface="华文新魏" panose="02010800040101010101" pitchFamily="2" charset="-122"/>
                <a:ea typeface="华文新魏" panose="02010800040101010101"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8547">
                                            <p:txEl>
                                              <p:pRg st="5" end="5"/>
                                            </p:txEl>
                                          </p:spTgt>
                                        </p:tgtEl>
                                        <p:attrNameLst>
                                          <p:attrName>style.visibility</p:attrName>
                                        </p:attrNameLst>
                                      </p:cBhvr>
                                      <p:to>
                                        <p:strVal val="visible"/>
                                      </p:to>
                                    </p:set>
                                    <p:animEffect transition="in" filter="blinds(horizontal)">
                                      <p:cBhvr>
                                        <p:cTn id="12" dur="500"/>
                                        <p:tgtEl>
                                          <p:spTgt spid="1085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Grp="1"/>
          </p:cNvSpPr>
          <p:nvPr>
            <p:ph type="title"/>
          </p:nvPr>
        </p:nvSpPr>
        <p:spPr>
          <a:xfrm>
            <a:off x="457200" y="587375"/>
            <a:ext cx="6858000" cy="514350"/>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脉冲异步时序电路的分析</a:t>
            </a:r>
          </a:p>
        </p:txBody>
      </p:sp>
      <p:sp>
        <p:nvSpPr>
          <p:cNvPr id="109571" name="Rectangle 4"/>
          <p:cNvSpPr>
            <a:spLocks noGrp="1"/>
          </p:cNvSpPr>
          <p:nvPr>
            <p:ph type="body"/>
          </p:nvPr>
        </p:nvSpPr>
        <p:spPr>
          <a:xfrm>
            <a:off x="746125" y="1030604"/>
            <a:ext cx="8035290" cy="3989417"/>
          </a:xfrm>
          <a:prstGeom prst="rect">
            <a:avLst/>
          </a:prstGeom>
          <a:noFill/>
          <a:ln w="9525">
            <a:noFill/>
          </a:ln>
        </p:spPr>
        <p:txBody>
          <a:bodyPr/>
          <a:lstStyle/>
          <a:p>
            <a:pPr eaLnBrk="1" hangingPunct="1">
              <a:lnSpc>
                <a:spcPct val="120000"/>
              </a:lnSpc>
              <a:buNone/>
            </a:pP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脉冲异步时序电路的分析步骤基本上</a:t>
            </a:r>
            <a:r>
              <a:rPr lang="zh-CN" altLang="en-US" sz="2000" b="1" dirty="0">
                <a:solidFill>
                  <a:srgbClr val="FF0000"/>
                </a:solidFill>
                <a:latin typeface="华文新魏" panose="02010800040101010101" pitchFamily="2" charset="-122"/>
                <a:ea typeface="华文新魏" panose="02010800040101010101" pitchFamily="2" charset="-122"/>
              </a:rPr>
              <a:t>与同步电路一样</a:t>
            </a:r>
            <a:r>
              <a:rPr lang="zh-CN" altLang="en-US" sz="2000" b="1" dirty="0">
                <a:latin typeface="华文新魏" panose="02010800040101010101" pitchFamily="2" charset="-122"/>
                <a:ea typeface="华文新魏" panose="02010800040101010101" pitchFamily="2" charset="-122"/>
              </a:rPr>
              <a:t>，仅作以下修改：</a:t>
            </a: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⑴  输入变量</a:t>
            </a:r>
            <a:r>
              <a:rPr lang="zh-CN" altLang="en-US" sz="2000" b="1" dirty="0">
                <a:solidFill>
                  <a:srgbClr val="FF0000"/>
                </a:solidFill>
                <a:latin typeface="华文新魏" panose="02010800040101010101" pitchFamily="2" charset="-122"/>
                <a:ea typeface="华文新魏" panose="02010800040101010101" pitchFamily="2" charset="-122"/>
              </a:rPr>
              <a:t>取值为</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表示</a:t>
            </a:r>
            <a:r>
              <a:rPr lang="zh-CN" altLang="en-US" sz="2000" b="1" dirty="0">
                <a:solidFill>
                  <a:srgbClr val="FF0000"/>
                </a:solidFill>
                <a:latin typeface="华文新魏" panose="02010800040101010101" pitchFamily="2" charset="-122"/>
                <a:ea typeface="华文新魏" panose="02010800040101010101" pitchFamily="2" charset="-122"/>
              </a:rPr>
              <a:t>有脉冲信号</a:t>
            </a:r>
            <a:r>
              <a:rPr lang="zh-CN" altLang="en-US" sz="2000" b="1" dirty="0">
                <a:latin typeface="华文新魏" panose="02010800040101010101" pitchFamily="2" charset="-122"/>
                <a:ea typeface="华文新魏" panose="02010800040101010101" pitchFamily="2" charset="-122"/>
              </a:rPr>
              <a:t>，取值为 </a:t>
            </a:r>
            <a:r>
              <a:rPr lang="en-US" altLang="zh-CN" sz="2000" b="1" dirty="0">
                <a:latin typeface="华文新魏" panose="02010800040101010101" pitchFamily="2" charset="-122"/>
                <a:ea typeface="华文新魏" panose="02010800040101010101" pitchFamily="2" charset="-122"/>
              </a:rPr>
              <a:t>0 </a:t>
            </a:r>
            <a:r>
              <a:rPr lang="zh-CN" altLang="en-US" sz="2000" b="1" dirty="0">
                <a:latin typeface="华文新魏" panose="02010800040101010101" pitchFamily="2" charset="-122"/>
                <a:ea typeface="华文新魏" panose="02010800040101010101" pitchFamily="2" charset="-122"/>
              </a:rPr>
              <a:t>表示</a:t>
            </a:r>
            <a:r>
              <a:rPr lang="zh-CN" altLang="en-US" sz="2000" b="1" dirty="0">
                <a:solidFill>
                  <a:srgbClr val="FF0000"/>
                </a:solidFill>
                <a:latin typeface="华文新魏" panose="02010800040101010101" pitchFamily="2" charset="-122"/>
                <a:ea typeface="华文新魏" panose="02010800040101010101" pitchFamily="2" charset="-122"/>
              </a:rPr>
              <a:t>无</a:t>
            </a:r>
            <a:r>
              <a:rPr lang="zh-CN" altLang="en-US" sz="2000" b="1" dirty="0">
                <a:latin typeface="华文新魏" panose="02010800040101010101" pitchFamily="2" charset="-122"/>
                <a:ea typeface="华文新魏" panose="02010800040101010101" pitchFamily="2" charset="-122"/>
              </a:rPr>
              <a:t>脉冲信号。</a:t>
            </a: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触发器的</a:t>
            </a:r>
            <a:r>
              <a:rPr lang="zh-CN" altLang="en-US" sz="2000" b="1" dirty="0">
                <a:solidFill>
                  <a:srgbClr val="FF0000"/>
                </a:solidFill>
                <a:latin typeface="华文新魏" panose="02010800040101010101" pitchFamily="2" charset="-122"/>
                <a:ea typeface="华文新魏" panose="02010800040101010101" pitchFamily="2" charset="-122"/>
              </a:rPr>
              <a:t>时钟输入端</a:t>
            </a:r>
            <a:r>
              <a:rPr lang="zh-CN" altLang="en-US" sz="2000" b="1" dirty="0">
                <a:latin typeface="华文新魏" panose="02010800040101010101" pitchFamily="2" charset="-122"/>
                <a:ea typeface="华文新魏" panose="02010800040101010101" pitchFamily="2" charset="-122"/>
              </a:rPr>
              <a:t>也按上述规定。</a:t>
            </a: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⑵ 控制函数包括触发器的控制（激励）输入</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2 , …,</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n</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及触发器的时钟输入</a:t>
            </a:r>
            <a:r>
              <a:rPr lang="en-US" altLang="zh-CN" sz="2000" b="1" dirty="0">
                <a:solidFill>
                  <a:srgbClr val="FF0000"/>
                </a:solidFill>
                <a:latin typeface="华文新魏" panose="02010800040101010101" pitchFamily="2" charset="-122"/>
                <a:ea typeface="华文新魏" panose="02010800040101010101" pitchFamily="2" charset="-122"/>
              </a:rPr>
              <a:t>(CLK</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 CLK</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 …,CLK</a:t>
            </a:r>
            <a:r>
              <a:rPr lang="en-US" altLang="zh-CN" sz="2000" b="1" baseline="-25000" dirty="0">
                <a:solidFill>
                  <a:srgbClr val="FF0000"/>
                </a:solidFill>
                <a:latin typeface="华文新魏" panose="02010800040101010101" pitchFamily="2" charset="-122"/>
                <a:ea typeface="华文新魏" panose="02010800040101010101" pitchFamily="2" charset="-122"/>
              </a:rPr>
              <a:t>r</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a:t>
            </a:r>
          </a:p>
          <a:p>
            <a:pPr eaLnBrk="1" hangingPunct="1">
              <a:lnSpc>
                <a:spcPct val="120000"/>
              </a:lnSpc>
              <a:buNone/>
            </a:pPr>
            <a:r>
              <a:rPr lang="zh-CN" altLang="en-US" sz="2000" b="1" dirty="0">
                <a:latin typeface="华文新魏" panose="02010800040101010101" pitchFamily="2" charset="-122"/>
                <a:ea typeface="华文新魏" panose="02010800040101010101" pitchFamily="2" charset="-122"/>
              </a:rPr>
              <a:t>     ⑶ 两个或两个以上的输入变量</a:t>
            </a:r>
            <a:r>
              <a:rPr lang="zh-CN" altLang="en-US" sz="2000" b="1" dirty="0">
                <a:solidFill>
                  <a:srgbClr val="FF0000"/>
                </a:solidFill>
                <a:latin typeface="华文新魏" panose="02010800040101010101" pitchFamily="2" charset="-122"/>
                <a:ea typeface="华文新魏" panose="02010800040101010101" pitchFamily="2" charset="-122"/>
              </a:rPr>
              <a:t>不能同时为</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；输入变量</a:t>
            </a:r>
            <a:r>
              <a:rPr lang="zh-CN" altLang="en-US" sz="2000" b="1" dirty="0">
                <a:solidFill>
                  <a:srgbClr val="FF0000"/>
                </a:solidFill>
                <a:latin typeface="华文新魏" panose="02010800040101010101" pitchFamily="2" charset="-122"/>
                <a:ea typeface="华文新魏" panose="02010800040101010101" pitchFamily="2" charset="-122"/>
              </a:rPr>
              <a:t>全为</a:t>
            </a:r>
            <a:r>
              <a:rPr lang="en-US" altLang="zh-CN" sz="2000" b="1" dirty="0">
                <a:solidFill>
                  <a:srgbClr val="FF0000"/>
                </a:solidFill>
                <a:latin typeface="华文新魏" panose="02010800040101010101" pitchFamily="2" charset="-122"/>
                <a:ea typeface="华文新魏" panose="02010800040101010101" pitchFamily="2" charset="-122"/>
              </a:rPr>
              <a:t>0</a:t>
            </a:r>
            <a:r>
              <a:rPr lang="zh-CN" altLang="en-US" sz="2000" b="1" dirty="0">
                <a:latin typeface="华文新魏" panose="02010800040101010101" pitchFamily="2" charset="-122"/>
                <a:ea typeface="华文新魏" panose="02010800040101010101" pitchFamily="2" charset="-122"/>
              </a:rPr>
              <a:t>时，电路</a:t>
            </a:r>
            <a:r>
              <a:rPr lang="zh-CN" altLang="en-US" sz="2000" b="1" dirty="0">
                <a:solidFill>
                  <a:srgbClr val="FF0000"/>
                </a:solidFill>
                <a:latin typeface="华文新魏" panose="02010800040101010101" pitchFamily="2" charset="-122"/>
                <a:ea typeface="华文新魏" panose="02010800040101010101" pitchFamily="2" charset="-122"/>
              </a:rPr>
              <a:t>状态不变</a:t>
            </a:r>
            <a:r>
              <a:rPr lang="zh-CN" altLang="en-US" sz="2000" b="1" dirty="0">
                <a:latin typeface="华文新魏" panose="02010800040101010101" pitchFamily="2" charset="-122"/>
                <a:ea typeface="华文新魏" panose="02010800040101010101" pitchFamily="2" charset="-122"/>
              </a:rPr>
              <a:t>。</a:t>
            </a:r>
          </a:p>
        </p:txBody>
      </p:sp>
      <p:sp>
        <p:nvSpPr>
          <p:cNvPr id="2" name="圆角矩形标注 1"/>
          <p:cNvSpPr/>
          <p:nvPr/>
        </p:nvSpPr>
        <p:spPr>
          <a:xfrm>
            <a:off x="3059831" y="4232910"/>
            <a:ext cx="5721583" cy="646430"/>
          </a:xfrm>
          <a:prstGeom prst="wedgeRoundRectCallout">
            <a:avLst>
              <a:gd name="adj1" fmla="val -61329"/>
              <a:gd name="adj2" fmla="val -45399"/>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8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电路状态不变，可以让</a:t>
            </a:r>
            <a:r>
              <a:rPr kumimoji="0" lang="en-US" altLang="zh-CN" sz="18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CLK</a:t>
            </a:r>
            <a:r>
              <a:rPr kumimoji="0" lang="zh-CN" altLang="en-US" sz="18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为</a:t>
            </a:r>
            <a:r>
              <a:rPr kumimoji="0" lang="en-US" altLang="zh-CN" sz="18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0</a:t>
            </a:r>
            <a:r>
              <a:rPr kumimoji="0" lang="zh-CN" altLang="en-US" sz="18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，使激励信号成为无关项，有利于激励函数化简（脉冲异步时序电路设计）。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57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957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957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Grp="1"/>
          </p:cNvSpPr>
          <p:nvPr>
            <p:ph type="body"/>
          </p:nvPr>
        </p:nvSpPr>
        <p:spPr>
          <a:xfrm>
            <a:off x="533400" y="473075"/>
            <a:ext cx="5562600" cy="571500"/>
          </a:xfrm>
          <a:prstGeom prst="rect">
            <a:avLst/>
          </a:prstGeom>
          <a:noFill/>
          <a:ln w="28575">
            <a:noFill/>
          </a:ln>
        </p:spPr>
        <p:txBody>
          <a:bodyPr/>
          <a:lstStyle/>
          <a:p>
            <a:pPr eaLnBrk="1" hangingPunct="1">
              <a:lnSpc>
                <a:spcPct val="110000"/>
              </a:lnSpc>
              <a:buNone/>
            </a:pPr>
            <a:r>
              <a:rPr lang="zh-CN" altLang="en-US" sz="2000" b="1" dirty="0">
                <a:latin typeface="华文新魏" panose="02010800040101010101" pitchFamily="2" charset="-122"/>
                <a:ea typeface="华文新魏" panose="02010800040101010101" pitchFamily="2" charset="-122"/>
              </a:rPr>
              <a:t>例</a:t>
            </a:r>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试分析如图所示电路。</a:t>
            </a:r>
          </a:p>
        </p:txBody>
      </p:sp>
      <p:grpSp>
        <p:nvGrpSpPr>
          <p:cNvPr id="110595" name="组合 2"/>
          <p:cNvGrpSpPr/>
          <p:nvPr/>
        </p:nvGrpSpPr>
        <p:grpSpPr>
          <a:xfrm>
            <a:off x="395246" y="1044347"/>
            <a:ext cx="5763937" cy="4079786"/>
            <a:chOff x="1393970" y="1276402"/>
            <a:chExt cx="5032064" cy="3775168"/>
          </a:xfrm>
        </p:grpSpPr>
        <p:sp>
          <p:nvSpPr>
            <p:cNvPr id="110597" name="矩形 1"/>
            <p:cNvSpPr/>
            <p:nvPr/>
          </p:nvSpPr>
          <p:spPr>
            <a:xfrm>
              <a:off x="1457481" y="1276672"/>
              <a:ext cx="4968553" cy="3774898"/>
            </a:xfrm>
            <a:prstGeom prst="rect">
              <a:avLst/>
            </a:prstGeom>
            <a:solidFill>
              <a:schemeClr val="tx1"/>
            </a:solidFill>
            <a:ln w="9525" cap="flat" cmpd="sng">
              <a:solidFill>
                <a:schemeClr val="tx1"/>
              </a:solidFill>
              <a:prstDash val="solid"/>
              <a:round/>
              <a:headEnd type="none" w="med" len="med"/>
              <a:tailEnd type="none" w="med" len="med"/>
            </a:ln>
          </p:spPr>
          <p:txBody>
            <a:bodyPr/>
            <a:lstStyle/>
            <a:p>
              <a:pPr eaLnBrk="1" hangingPunct="1">
                <a:buFont typeface="Arial" panose="020B0604020202020204" pitchFamily="34" charset="0"/>
              </a:pPr>
              <a:endParaRPr lang="zh-CN" altLang="en-US" sz="1600" dirty="0">
                <a:latin typeface="Calibri" panose="020F0502020204030204" pitchFamily="34" charset="0"/>
              </a:endParaRPr>
            </a:p>
          </p:txBody>
        </p:sp>
        <p:grpSp>
          <p:nvGrpSpPr>
            <p:cNvPr id="110598" name="Group 4"/>
            <p:cNvGrpSpPr/>
            <p:nvPr/>
          </p:nvGrpSpPr>
          <p:grpSpPr>
            <a:xfrm>
              <a:off x="1393970" y="1276402"/>
              <a:ext cx="4952970" cy="3467633"/>
              <a:chOff x="56" y="315"/>
              <a:chExt cx="4450" cy="3304"/>
            </a:xfrm>
          </p:grpSpPr>
          <p:sp>
            <p:nvSpPr>
              <p:cNvPr id="311" name="Rectangle 5"/>
              <p:cNvSpPr>
                <a:spLocks noChangeArrowheads="1"/>
              </p:cNvSpPr>
              <p:nvPr/>
            </p:nvSpPr>
            <p:spPr bwMode="auto">
              <a:xfrm>
                <a:off x="960" y="864"/>
                <a:ext cx="720" cy="480"/>
              </a:xfrm>
              <a:prstGeom prst="rect">
                <a:avLst/>
              </a:prstGeom>
              <a:solidFill>
                <a:schemeClr val="accent1"/>
              </a:solidFill>
              <a:ln w="381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12" name="Oval 6"/>
              <p:cNvSpPr>
                <a:spLocks noChangeArrowheads="1"/>
              </p:cNvSpPr>
              <p:nvPr/>
            </p:nvSpPr>
            <p:spPr bwMode="auto">
              <a:xfrm>
                <a:off x="1082" y="1355"/>
                <a:ext cx="70" cy="70"/>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13" name="Oval 7"/>
              <p:cNvSpPr>
                <a:spLocks noChangeArrowheads="1"/>
              </p:cNvSpPr>
              <p:nvPr/>
            </p:nvSpPr>
            <p:spPr bwMode="auto">
              <a:xfrm>
                <a:off x="1078" y="780"/>
                <a:ext cx="70" cy="70"/>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14" name="Text Box 8"/>
              <p:cNvSpPr txBox="1">
                <a:spLocks noChangeArrowheads="1"/>
              </p:cNvSpPr>
              <p:nvPr/>
            </p:nvSpPr>
            <p:spPr bwMode="auto">
              <a:xfrm>
                <a:off x="934" y="1104"/>
                <a:ext cx="58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CLK</a:t>
                </a:r>
              </a:p>
            </p:txBody>
          </p:sp>
          <p:sp>
            <p:nvSpPr>
              <p:cNvPr id="315" name="Text Box 9"/>
              <p:cNvSpPr txBox="1">
                <a:spLocks noChangeArrowheads="1"/>
              </p:cNvSpPr>
              <p:nvPr/>
            </p:nvSpPr>
            <p:spPr bwMode="auto">
              <a:xfrm>
                <a:off x="1004" y="820"/>
                <a:ext cx="38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p>
            </p:txBody>
          </p:sp>
          <p:sp>
            <p:nvSpPr>
              <p:cNvPr id="316" name="Text Box 10"/>
              <p:cNvSpPr txBox="1">
                <a:spLocks noChangeArrowheads="1"/>
              </p:cNvSpPr>
              <p:nvPr/>
            </p:nvSpPr>
            <p:spPr bwMode="auto">
              <a:xfrm>
                <a:off x="1380" y="816"/>
                <a:ext cx="38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Q</a:t>
                </a:r>
              </a:p>
            </p:txBody>
          </p:sp>
          <p:sp>
            <p:nvSpPr>
              <p:cNvPr id="317" name="Text Box 11"/>
              <p:cNvSpPr txBox="1">
                <a:spLocks noChangeArrowheads="1"/>
              </p:cNvSpPr>
              <p:nvPr/>
            </p:nvSpPr>
            <p:spPr bwMode="auto">
              <a:xfrm>
                <a:off x="1373" y="1104"/>
                <a:ext cx="259"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D</a:t>
                </a:r>
              </a:p>
            </p:txBody>
          </p:sp>
          <p:sp>
            <p:nvSpPr>
              <p:cNvPr id="318" name="Rectangle 12"/>
              <p:cNvSpPr>
                <a:spLocks noChangeArrowheads="1"/>
              </p:cNvSpPr>
              <p:nvPr/>
            </p:nvSpPr>
            <p:spPr bwMode="auto">
              <a:xfrm>
                <a:off x="2378" y="854"/>
                <a:ext cx="720" cy="480"/>
              </a:xfrm>
              <a:prstGeom prst="rect">
                <a:avLst/>
              </a:prstGeom>
              <a:solidFill>
                <a:schemeClr val="accent1"/>
              </a:solidFill>
              <a:ln w="381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19" name="Oval 13"/>
              <p:cNvSpPr>
                <a:spLocks noChangeArrowheads="1"/>
              </p:cNvSpPr>
              <p:nvPr/>
            </p:nvSpPr>
            <p:spPr bwMode="auto">
              <a:xfrm>
                <a:off x="2500" y="1344"/>
                <a:ext cx="70" cy="70"/>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0" name="Oval 14"/>
              <p:cNvSpPr>
                <a:spLocks noChangeArrowheads="1"/>
              </p:cNvSpPr>
              <p:nvPr/>
            </p:nvSpPr>
            <p:spPr bwMode="auto">
              <a:xfrm>
                <a:off x="2497" y="768"/>
                <a:ext cx="71" cy="70"/>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1" name="Text Box 15"/>
              <p:cNvSpPr txBox="1">
                <a:spLocks noChangeArrowheads="1"/>
              </p:cNvSpPr>
              <p:nvPr/>
            </p:nvSpPr>
            <p:spPr bwMode="auto">
              <a:xfrm>
                <a:off x="2352" y="1093"/>
                <a:ext cx="52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CLK</a:t>
                </a:r>
              </a:p>
            </p:txBody>
          </p:sp>
          <p:sp>
            <p:nvSpPr>
              <p:cNvPr id="322" name="Text Box 16"/>
              <p:cNvSpPr txBox="1">
                <a:spLocks noChangeArrowheads="1"/>
              </p:cNvSpPr>
              <p:nvPr/>
            </p:nvSpPr>
            <p:spPr bwMode="auto">
              <a:xfrm>
                <a:off x="2422" y="809"/>
                <a:ext cx="38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Q</a:t>
                </a:r>
              </a:p>
            </p:txBody>
          </p:sp>
          <p:sp>
            <p:nvSpPr>
              <p:cNvPr id="323" name="Text Box 17"/>
              <p:cNvSpPr txBox="1">
                <a:spLocks noChangeArrowheads="1"/>
              </p:cNvSpPr>
              <p:nvPr/>
            </p:nvSpPr>
            <p:spPr bwMode="auto">
              <a:xfrm>
                <a:off x="2798" y="805"/>
                <a:ext cx="384"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Q</a:t>
                </a:r>
              </a:p>
            </p:txBody>
          </p:sp>
          <p:sp>
            <p:nvSpPr>
              <p:cNvPr id="324" name="Text Box 18"/>
              <p:cNvSpPr txBox="1">
                <a:spLocks noChangeArrowheads="1"/>
              </p:cNvSpPr>
              <p:nvPr/>
            </p:nvSpPr>
            <p:spPr bwMode="auto">
              <a:xfrm>
                <a:off x="2790" y="1097"/>
                <a:ext cx="38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D</a:t>
                </a:r>
              </a:p>
            </p:txBody>
          </p:sp>
          <p:sp>
            <p:nvSpPr>
              <p:cNvPr id="325" name="Line 19"/>
              <p:cNvSpPr>
                <a:spLocks noChangeShapeType="1"/>
              </p:cNvSpPr>
              <p:nvPr/>
            </p:nvSpPr>
            <p:spPr bwMode="auto">
              <a:xfrm>
                <a:off x="1114" y="584"/>
                <a:ext cx="0" cy="19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6" name="Line 20"/>
              <p:cNvSpPr>
                <a:spLocks noChangeShapeType="1"/>
              </p:cNvSpPr>
              <p:nvPr/>
            </p:nvSpPr>
            <p:spPr bwMode="auto">
              <a:xfrm>
                <a:off x="2535" y="448"/>
                <a:ext cx="0" cy="308"/>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7" name="Line 21"/>
              <p:cNvSpPr>
                <a:spLocks noChangeShapeType="1"/>
              </p:cNvSpPr>
              <p:nvPr/>
            </p:nvSpPr>
            <p:spPr bwMode="auto">
              <a:xfrm>
                <a:off x="1957" y="446"/>
                <a:ext cx="578"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8" name="Line 22"/>
              <p:cNvSpPr>
                <a:spLocks noChangeShapeType="1"/>
              </p:cNvSpPr>
              <p:nvPr/>
            </p:nvSpPr>
            <p:spPr bwMode="auto">
              <a:xfrm>
                <a:off x="1957" y="448"/>
                <a:ext cx="0" cy="269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29" name="Line 23"/>
              <p:cNvSpPr>
                <a:spLocks noChangeShapeType="1"/>
              </p:cNvSpPr>
              <p:nvPr/>
            </p:nvSpPr>
            <p:spPr bwMode="auto">
              <a:xfrm flipV="1">
                <a:off x="432" y="444"/>
                <a:ext cx="1043"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0" name="Line 24"/>
              <p:cNvSpPr>
                <a:spLocks noChangeShapeType="1"/>
              </p:cNvSpPr>
              <p:nvPr/>
            </p:nvSpPr>
            <p:spPr bwMode="auto">
              <a:xfrm>
                <a:off x="1484" y="444"/>
                <a:ext cx="0" cy="418"/>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1" name="Line 25"/>
              <p:cNvSpPr>
                <a:spLocks noChangeShapeType="1"/>
              </p:cNvSpPr>
              <p:nvPr/>
            </p:nvSpPr>
            <p:spPr bwMode="auto">
              <a:xfrm>
                <a:off x="2910" y="432"/>
                <a:ext cx="0" cy="417"/>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2" name="Line 26"/>
              <p:cNvSpPr>
                <a:spLocks noChangeShapeType="1"/>
              </p:cNvSpPr>
              <p:nvPr/>
            </p:nvSpPr>
            <p:spPr bwMode="auto">
              <a:xfrm>
                <a:off x="2917" y="432"/>
                <a:ext cx="442"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3" name="Rectangle 27"/>
              <p:cNvSpPr>
                <a:spLocks noChangeArrowheads="1"/>
              </p:cNvSpPr>
              <p:nvPr/>
            </p:nvSpPr>
            <p:spPr bwMode="auto">
              <a:xfrm>
                <a:off x="4076" y="843"/>
                <a:ext cx="289" cy="239"/>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4" name="Text Box 28"/>
              <p:cNvSpPr txBox="1">
                <a:spLocks noChangeArrowheads="1"/>
              </p:cNvSpPr>
              <p:nvPr/>
            </p:nvSpPr>
            <p:spPr bwMode="auto">
              <a:xfrm>
                <a:off x="4128" y="822"/>
                <a:ext cx="336"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1</a:t>
                </a:r>
              </a:p>
            </p:txBody>
          </p:sp>
          <p:sp>
            <p:nvSpPr>
              <p:cNvPr id="335" name="Oval 29"/>
              <p:cNvSpPr>
                <a:spLocks noChangeArrowheads="1"/>
              </p:cNvSpPr>
              <p:nvPr/>
            </p:nvSpPr>
            <p:spPr bwMode="auto">
              <a:xfrm>
                <a:off x="4183" y="763"/>
                <a:ext cx="77" cy="77"/>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6" name="Rectangle 30"/>
              <p:cNvSpPr>
                <a:spLocks noChangeArrowheads="1"/>
              </p:cNvSpPr>
              <p:nvPr/>
            </p:nvSpPr>
            <p:spPr bwMode="auto">
              <a:xfrm>
                <a:off x="2392" y="1850"/>
                <a:ext cx="288" cy="241"/>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7" name="Text Box 31"/>
              <p:cNvSpPr txBox="1">
                <a:spLocks noChangeArrowheads="1"/>
              </p:cNvSpPr>
              <p:nvPr/>
            </p:nvSpPr>
            <p:spPr bwMode="auto">
              <a:xfrm>
                <a:off x="2370" y="1817"/>
                <a:ext cx="33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p>
            </p:txBody>
          </p:sp>
          <p:sp>
            <p:nvSpPr>
              <p:cNvPr id="338" name="Oval 32"/>
              <p:cNvSpPr>
                <a:spLocks noChangeArrowheads="1"/>
              </p:cNvSpPr>
              <p:nvPr/>
            </p:nvSpPr>
            <p:spPr bwMode="auto">
              <a:xfrm>
                <a:off x="2499" y="1772"/>
                <a:ext cx="77" cy="77"/>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39" name="Rectangle 33"/>
              <p:cNvSpPr>
                <a:spLocks noChangeArrowheads="1"/>
              </p:cNvSpPr>
              <p:nvPr/>
            </p:nvSpPr>
            <p:spPr bwMode="auto">
              <a:xfrm>
                <a:off x="2134" y="2581"/>
                <a:ext cx="288"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0" name="Text Box 34"/>
              <p:cNvSpPr txBox="1">
                <a:spLocks noChangeArrowheads="1"/>
              </p:cNvSpPr>
              <p:nvPr/>
            </p:nvSpPr>
            <p:spPr bwMode="auto">
              <a:xfrm>
                <a:off x="2112" y="2550"/>
                <a:ext cx="33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p>
            </p:txBody>
          </p:sp>
          <p:sp>
            <p:nvSpPr>
              <p:cNvPr id="341" name="Rectangle 35"/>
              <p:cNvSpPr>
                <a:spLocks noChangeArrowheads="1"/>
              </p:cNvSpPr>
              <p:nvPr/>
            </p:nvSpPr>
            <p:spPr bwMode="auto">
              <a:xfrm>
                <a:off x="2640" y="2581"/>
                <a:ext cx="288"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2" name="Text Box 36"/>
              <p:cNvSpPr txBox="1">
                <a:spLocks noChangeArrowheads="1"/>
              </p:cNvSpPr>
              <p:nvPr/>
            </p:nvSpPr>
            <p:spPr bwMode="auto">
              <a:xfrm>
                <a:off x="2617" y="2550"/>
                <a:ext cx="33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p>
            </p:txBody>
          </p:sp>
          <p:sp>
            <p:nvSpPr>
              <p:cNvPr id="343" name="Oval 37"/>
              <p:cNvSpPr>
                <a:spLocks noChangeArrowheads="1"/>
              </p:cNvSpPr>
              <p:nvPr/>
            </p:nvSpPr>
            <p:spPr bwMode="auto">
              <a:xfrm>
                <a:off x="2747" y="2501"/>
                <a:ext cx="77" cy="77"/>
              </a:xfrm>
              <a:prstGeom prst="ellipse">
                <a:avLst/>
              </a:prstGeom>
              <a:solidFill>
                <a:srgbClr val="000099"/>
              </a:solidFill>
              <a:ln w="19050">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4" name="Rectangle 38"/>
              <p:cNvSpPr>
                <a:spLocks noChangeArrowheads="1"/>
              </p:cNvSpPr>
              <p:nvPr/>
            </p:nvSpPr>
            <p:spPr bwMode="auto">
              <a:xfrm>
                <a:off x="968" y="1856"/>
                <a:ext cx="289" cy="238"/>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5" name="Text Box 39"/>
              <p:cNvSpPr txBox="1">
                <a:spLocks noChangeArrowheads="1"/>
              </p:cNvSpPr>
              <p:nvPr/>
            </p:nvSpPr>
            <p:spPr bwMode="auto">
              <a:xfrm>
                <a:off x="945" y="1821"/>
                <a:ext cx="33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&amp;</a:t>
                </a:r>
              </a:p>
            </p:txBody>
          </p:sp>
          <p:sp>
            <p:nvSpPr>
              <p:cNvPr id="346" name="Oval 40"/>
              <p:cNvSpPr>
                <a:spLocks noChangeArrowheads="1"/>
              </p:cNvSpPr>
              <p:nvPr/>
            </p:nvSpPr>
            <p:spPr bwMode="auto">
              <a:xfrm>
                <a:off x="1075" y="1775"/>
                <a:ext cx="76" cy="77"/>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7" name="Rectangle 41"/>
              <p:cNvSpPr>
                <a:spLocks noChangeArrowheads="1"/>
              </p:cNvSpPr>
              <p:nvPr/>
            </p:nvSpPr>
            <p:spPr bwMode="auto">
              <a:xfrm>
                <a:off x="720" y="2574"/>
                <a:ext cx="289"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48" name="Text Box 42"/>
              <p:cNvSpPr txBox="1">
                <a:spLocks noChangeArrowheads="1"/>
              </p:cNvSpPr>
              <p:nvPr/>
            </p:nvSpPr>
            <p:spPr bwMode="auto">
              <a:xfrm>
                <a:off x="699" y="2543"/>
                <a:ext cx="335"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p>
            </p:txBody>
          </p:sp>
          <p:sp>
            <p:nvSpPr>
              <p:cNvPr id="349" name="Rectangle 43"/>
              <p:cNvSpPr>
                <a:spLocks noChangeArrowheads="1"/>
              </p:cNvSpPr>
              <p:nvPr/>
            </p:nvSpPr>
            <p:spPr bwMode="auto">
              <a:xfrm>
                <a:off x="1212" y="2574"/>
                <a:ext cx="289"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0" name="Text Box 44"/>
              <p:cNvSpPr txBox="1">
                <a:spLocks noChangeArrowheads="1"/>
              </p:cNvSpPr>
              <p:nvPr/>
            </p:nvSpPr>
            <p:spPr bwMode="auto">
              <a:xfrm>
                <a:off x="1189" y="2543"/>
                <a:ext cx="33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p>
            </p:txBody>
          </p:sp>
          <p:sp>
            <p:nvSpPr>
              <p:cNvPr id="351" name="Rectangle 45"/>
              <p:cNvSpPr>
                <a:spLocks noChangeArrowheads="1"/>
              </p:cNvSpPr>
              <p:nvPr/>
            </p:nvSpPr>
            <p:spPr bwMode="auto">
              <a:xfrm>
                <a:off x="4087" y="1481"/>
                <a:ext cx="289" cy="242"/>
              </a:xfrm>
              <a:prstGeom prst="rect">
                <a:avLst/>
              </a:prstGeom>
              <a:solidFill>
                <a:schemeClr val="accent1"/>
              </a:solidFill>
              <a:ln w="12700">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2" name="Text Box 46"/>
              <p:cNvSpPr txBox="1">
                <a:spLocks noChangeArrowheads="1"/>
              </p:cNvSpPr>
              <p:nvPr/>
            </p:nvSpPr>
            <p:spPr bwMode="auto">
              <a:xfrm>
                <a:off x="4066" y="1449"/>
                <a:ext cx="33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&amp;</a:t>
                </a:r>
              </a:p>
            </p:txBody>
          </p:sp>
          <p:sp>
            <p:nvSpPr>
              <p:cNvPr id="353" name="Oval 47"/>
              <p:cNvSpPr>
                <a:spLocks noChangeArrowheads="1"/>
              </p:cNvSpPr>
              <p:nvPr/>
            </p:nvSpPr>
            <p:spPr bwMode="auto">
              <a:xfrm>
                <a:off x="4183" y="1401"/>
                <a:ext cx="76" cy="77"/>
              </a:xfrm>
              <a:prstGeom prst="ellipse">
                <a:avLst/>
              </a:prstGeom>
              <a:noFill/>
              <a:ln w="19050">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4" name="Line 48"/>
              <p:cNvSpPr>
                <a:spLocks noChangeShapeType="1"/>
              </p:cNvSpPr>
              <p:nvPr/>
            </p:nvSpPr>
            <p:spPr bwMode="auto">
              <a:xfrm>
                <a:off x="4217" y="315"/>
                <a:ext cx="0" cy="45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5" name="Line 49"/>
              <p:cNvSpPr>
                <a:spLocks noChangeShapeType="1"/>
              </p:cNvSpPr>
              <p:nvPr/>
            </p:nvSpPr>
            <p:spPr bwMode="auto">
              <a:xfrm>
                <a:off x="4222" y="1088"/>
                <a:ext cx="0" cy="316"/>
              </a:xfrm>
              <a:prstGeom prst="line">
                <a:avLst/>
              </a:prstGeom>
              <a:noFill/>
              <a:ln w="127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56" name="Text Box 50"/>
              <p:cNvSpPr txBox="1">
                <a:spLocks noChangeArrowheads="1"/>
              </p:cNvSpPr>
              <p:nvPr/>
            </p:nvSpPr>
            <p:spPr bwMode="auto">
              <a:xfrm>
                <a:off x="4240" y="315"/>
                <a:ext cx="26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0000"/>
                    </a:solidFill>
                    <a:latin typeface="Times New Roman" panose="02020603050405020304" pitchFamily="18" charset="0"/>
                    <a:ea typeface="华文新魏" panose="02010800040101010101" pitchFamily="2" charset="-122"/>
                    <a:cs typeface="+mn-cs"/>
                  </a:rPr>
                  <a:t>z</a:t>
                </a:r>
              </a:p>
            </p:txBody>
          </p:sp>
          <p:sp>
            <p:nvSpPr>
              <p:cNvPr id="357" name="Text Box 51"/>
              <p:cNvSpPr txBox="1">
                <a:spLocks noChangeArrowheads="1"/>
              </p:cNvSpPr>
              <p:nvPr/>
            </p:nvSpPr>
            <p:spPr bwMode="auto">
              <a:xfrm>
                <a:off x="1473" y="528"/>
                <a:ext cx="303"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2</a:t>
                </a:r>
              </a:p>
            </p:txBody>
          </p:sp>
          <p:sp>
            <p:nvSpPr>
              <p:cNvPr id="358" name="Text Box 52"/>
              <p:cNvSpPr txBox="1">
                <a:spLocks noChangeArrowheads="1"/>
              </p:cNvSpPr>
              <p:nvPr/>
            </p:nvSpPr>
            <p:spPr bwMode="auto">
              <a:xfrm>
                <a:off x="816" y="528"/>
                <a:ext cx="432"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2</a:t>
                </a:r>
              </a:p>
            </p:txBody>
          </p:sp>
          <p:sp>
            <p:nvSpPr>
              <p:cNvPr id="359" name="Text Box 53"/>
              <p:cNvSpPr txBox="1">
                <a:spLocks noChangeArrowheads="1"/>
              </p:cNvSpPr>
              <p:nvPr/>
            </p:nvSpPr>
            <p:spPr bwMode="auto">
              <a:xfrm>
                <a:off x="2238" y="532"/>
                <a:ext cx="431"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rgbClr val="FFFF45"/>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dirty="0">
                    <a:solidFill>
                      <a:srgbClr val="FFFF45"/>
                    </a:solidFill>
                    <a:latin typeface="Times New Roman" panose="02020603050405020304" pitchFamily="18" charset="0"/>
                    <a:ea typeface="华文新魏" panose="02010800040101010101" pitchFamily="2" charset="-122"/>
                    <a:cs typeface="+mn-cs"/>
                  </a:rPr>
                  <a:t>1</a:t>
                </a:r>
              </a:p>
            </p:txBody>
          </p:sp>
          <p:sp>
            <p:nvSpPr>
              <p:cNvPr id="360" name="Text Box 54"/>
              <p:cNvSpPr txBox="1">
                <a:spLocks noChangeArrowheads="1"/>
              </p:cNvSpPr>
              <p:nvPr/>
            </p:nvSpPr>
            <p:spPr bwMode="auto">
              <a:xfrm>
                <a:off x="2924" y="528"/>
                <a:ext cx="294"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1</a:t>
                </a:r>
              </a:p>
            </p:txBody>
          </p:sp>
          <p:sp>
            <p:nvSpPr>
              <p:cNvPr id="361" name="Line 55"/>
              <p:cNvSpPr>
                <a:spLocks noChangeShapeType="1"/>
              </p:cNvSpPr>
              <p:nvPr/>
            </p:nvSpPr>
            <p:spPr bwMode="auto">
              <a:xfrm>
                <a:off x="1488" y="1344"/>
                <a:ext cx="0" cy="242"/>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2" name="Line 56"/>
              <p:cNvSpPr>
                <a:spLocks noChangeShapeType="1"/>
              </p:cNvSpPr>
              <p:nvPr/>
            </p:nvSpPr>
            <p:spPr bwMode="auto">
              <a:xfrm>
                <a:off x="2910" y="1342"/>
                <a:ext cx="0" cy="239"/>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3" name="Line 57"/>
              <p:cNvSpPr>
                <a:spLocks noChangeShapeType="1"/>
              </p:cNvSpPr>
              <p:nvPr/>
            </p:nvSpPr>
            <p:spPr bwMode="auto">
              <a:xfrm>
                <a:off x="1488" y="1581"/>
                <a:ext cx="1422" cy="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4" name="Oval 58"/>
              <p:cNvSpPr>
                <a:spLocks noChangeArrowheads="1"/>
              </p:cNvSpPr>
              <p:nvPr/>
            </p:nvSpPr>
            <p:spPr bwMode="auto">
              <a:xfrm>
                <a:off x="1923" y="1554"/>
                <a:ext cx="61" cy="60"/>
              </a:xfrm>
              <a:prstGeom prst="ellipse">
                <a:avLst/>
              </a:prstGeom>
              <a:solidFill>
                <a:schemeClr val="bg1"/>
              </a:solidFill>
              <a:ln w="952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5" name="Line 59"/>
              <p:cNvSpPr>
                <a:spLocks noChangeShapeType="1"/>
              </p:cNvSpPr>
              <p:nvPr/>
            </p:nvSpPr>
            <p:spPr bwMode="auto">
              <a:xfrm>
                <a:off x="1114" y="1440"/>
                <a:ext cx="0" cy="336"/>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6" name="Line 60"/>
              <p:cNvSpPr>
                <a:spLocks noChangeShapeType="1"/>
              </p:cNvSpPr>
              <p:nvPr/>
            </p:nvSpPr>
            <p:spPr bwMode="auto">
              <a:xfrm>
                <a:off x="2540" y="1433"/>
                <a:ext cx="0" cy="336"/>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7" name="Line 61"/>
              <p:cNvSpPr>
                <a:spLocks noChangeShapeType="1"/>
              </p:cNvSpPr>
              <p:nvPr/>
            </p:nvSpPr>
            <p:spPr bwMode="auto">
              <a:xfrm>
                <a:off x="1034" y="2091"/>
                <a:ext cx="0" cy="20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8" name="Line 62"/>
              <p:cNvSpPr>
                <a:spLocks noChangeShapeType="1"/>
              </p:cNvSpPr>
              <p:nvPr/>
            </p:nvSpPr>
            <p:spPr bwMode="auto">
              <a:xfrm>
                <a:off x="1189" y="2101"/>
                <a:ext cx="0" cy="204"/>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69" name="Line 63"/>
              <p:cNvSpPr>
                <a:spLocks noChangeShapeType="1"/>
              </p:cNvSpPr>
              <p:nvPr/>
            </p:nvSpPr>
            <p:spPr bwMode="auto">
              <a:xfrm>
                <a:off x="2448" y="2091"/>
                <a:ext cx="0" cy="20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0" name="Line 64"/>
              <p:cNvSpPr>
                <a:spLocks noChangeShapeType="1"/>
              </p:cNvSpPr>
              <p:nvPr/>
            </p:nvSpPr>
            <p:spPr bwMode="auto">
              <a:xfrm>
                <a:off x="2614" y="2091"/>
                <a:ext cx="0" cy="20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1" name="Line 65"/>
              <p:cNvSpPr>
                <a:spLocks noChangeShapeType="1"/>
              </p:cNvSpPr>
              <p:nvPr/>
            </p:nvSpPr>
            <p:spPr bwMode="auto">
              <a:xfrm>
                <a:off x="875" y="2294"/>
                <a:ext cx="158"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2" name="Line 66"/>
              <p:cNvSpPr>
                <a:spLocks noChangeShapeType="1"/>
              </p:cNvSpPr>
              <p:nvPr/>
            </p:nvSpPr>
            <p:spPr bwMode="auto">
              <a:xfrm>
                <a:off x="1185" y="2304"/>
                <a:ext cx="171"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3" name="Line 67"/>
              <p:cNvSpPr>
                <a:spLocks noChangeShapeType="1"/>
              </p:cNvSpPr>
              <p:nvPr/>
            </p:nvSpPr>
            <p:spPr bwMode="auto">
              <a:xfrm>
                <a:off x="2277" y="2294"/>
                <a:ext cx="171"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4" name="Line 68"/>
              <p:cNvSpPr>
                <a:spLocks noChangeShapeType="1"/>
              </p:cNvSpPr>
              <p:nvPr/>
            </p:nvSpPr>
            <p:spPr bwMode="auto">
              <a:xfrm>
                <a:off x="2624" y="2294"/>
                <a:ext cx="159"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5" name="Line 69"/>
              <p:cNvSpPr>
                <a:spLocks noChangeShapeType="1"/>
              </p:cNvSpPr>
              <p:nvPr/>
            </p:nvSpPr>
            <p:spPr bwMode="auto">
              <a:xfrm>
                <a:off x="875" y="2294"/>
                <a:ext cx="0" cy="21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6" name="Line 70"/>
              <p:cNvSpPr>
                <a:spLocks noChangeShapeType="1"/>
              </p:cNvSpPr>
              <p:nvPr/>
            </p:nvSpPr>
            <p:spPr bwMode="auto">
              <a:xfrm>
                <a:off x="1355" y="2304"/>
                <a:ext cx="0" cy="211"/>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7" name="Line 71"/>
              <p:cNvSpPr>
                <a:spLocks noChangeShapeType="1"/>
              </p:cNvSpPr>
              <p:nvPr/>
            </p:nvSpPr>
            <p:spPr bwMode="auto">
              <a:xfrm>
                <a:off x="2277" y="2297"/>
                <a:ext cx="0" cy="21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8" name="Line 72"/>
              <p:cNvSpPr>
                <a:spLocks noChangeShapeType="1"/>
              </p:cNvSpPr>
              <p:nvPr/>
            </p:nvSpPr>
            <p:spPr bwMode="auto">
              <a:xfrm>
                <a:off x="2784" y="2298"/>
                <a:ext cx="0" cy="21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79" name="Line 73"/>
              <p:cNvSpPr>
                <a:spLocks noChangeShapeType="1"/>
              </p:cNvSpPr>
              <p:nvPr/>
            </p:nvSpPr>
            <p:spPr bwMode="auto">
              <a:xfrm>
                <a:off x="1429" y="2823"/>
                <a:ext cx="0" cy="304"/>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0" name="Line 74"/>
              <p:cNvSpPr>
                <a:spLocks noChangeShapeType="1"/>
              </p:cNvSpPr>
              <p:nvPr/>
            </p:nvSpPr>
            <p:spPr bwMode="auto">
              <a:xfrm>
                <a:off x="1434" y="3128"/>
                <a:ext cx="518"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1" name="Line 75"/>
              <p:cNvSpPr>
                <a:spLocks noChangeShapeType="1"/>
              </p:cNvSpPr>
              <p:nvPr/>
            </p:nvSpPr>
            <p:spPr bwMode="auto">
              <a:xfrm>
                <a:off x="432" y="444"/>
                <a:ext cx="0" cy="288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2" name="Line 76"/>
              <p:cNvSpPr>
                <a:spLocks noChangeShapeType="1"/>
              </p:cNvSpPr>
              <p:nvPr/>
            </p:nvSpPr>
            <p:spPr bwMode="auto">
              <a:xfrm>
                <a:off x="432" y="3313"/>
                <a:ext cx="3792"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3" name="Line 77"/>
              <p:cNvSpPr>
                <a:spLocks noChangeShapeType="1"/>
              </p:cNvSpPr>
              <p:nvPr/>
            </p:nvSpPr>
            <p:spPr bwMode="auto">
              <a:xfrm>
                <a:off x="801" y="2820"/>
                <a:ext cx="0" cy="48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4" name="Oval 78"/>
              <p:cNvSpPr>
                <a:spLocks noChangeArrowheads="1"/>
              </p:cNvSpPr>
              <p:nvPr/>
            </p:nvSpPr>
            <p:spPr bwMode="auto">
              <a:xfrm>
                <a:off x="767" y="3275"/>
                <a:ext cx="59" cy="59"/>
              </a:xfrm>
              <a:prstGeom prst="ellipse">
                <a:avLst/>
              </a:prstGeom>
              <a:solidFill>
                <a:schemeClr val="bg1"/>
              </a:solidFill>
              <a:ln w="952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5" name="Line 79"/>
              <p:cNvSpPr>
                <a:spLocks noChangeShapeType="1"/>
              </p:cNvSpPr>
              <p:nvPr/>
            </p:nvSpPr>
            <p:spPr bwMode="auto">
              <a:xfrm>
                <a:off x="2208" y="2820"/>
                <a:ext cx="0" cy="48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6" name="Oval 80"/>
              <p:cNvSpPr>
                <a:spLocks noChangeArrowheads="1"/>
              </p:cNvSpPr>
              <p:nvPr/>
            </p:nvSpPr>
            <p:spPr bwMode="auto">
              <a:xfrm>
                <a:off x="2177" y="3285"/>
                <a:ext cx="61" cy="60"/>
              </a:xfrm>
              <a:prstGeom prst="ellipse">
                <a:avLst/>
              </a:prstGeom>
              <a:solidFill>
                <a:schemeClr val="bg1"/>
              </a:solidFill>
              <a:ln w="952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7" name="Line 81"/>
              <p:cNvSpPr>
                <a:spLocks noChangeShapeType="1"/>
              </p:cNvSpPr>
              <p:nvPr/>
            </p:nvSpPr>
            <p:spPr bwMode="auto">
              <a:xfrm>
                <a:off x="4224" y="1730"/>
                <a:ext cx="0" cy="1582"/>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8" name="Line 82"/>
              <p:cNvSpPr>
                <a:spLocks noChangeShapeType="1"/>
              </p:cNvSpPr>
              <p:nvPr/>
            </p:nvSpPr>
            <p:spPr bwMode="auto">
              <a:xfrm>
                <a:off x="911" y="2820"/>
                <a:ext cx="0" cy="635"/>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89" name="Line 83"/>
              <p:cNvSpPr>
                <a:spLocks noChangeShapeType="1"/>
              </p:cNvSpPr>
              <p:nvPr/>
            </p:nvSpPr>
            <p:spPr bwMode="auto">
              <a:xfrm>
                <a:off x="228" y="3457"/>
                <a:ext cx="4082" cy="0"/>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0" name="Text Box 84"/>
              <p:cNvSpPr txBox="1">
                <a:spLocks noChangeArrowheads="1"/>
              </p:cNvSpPr>
              <p:nvPr/>
            </p:nvSpPr>
            <p:spPr bwMode="auto">
              <a:xfrm>
                <a:off x="56" y="3202"/>
                <a:ext cx="432" cy="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0000"/>
                    </a:solidFill>
                    <a:latin typeface="Times New Roman" panose="02020603050405020304" pitchFamily="18" charset="0"/>
                    <a:ea typeface="华文新魏" panose="02010800040101010101" pitchFamily="2" charset="-122"/>
                    <a:cs typeface="+mn-cs"/>
                  </a:rPr>
                  <a:t>x</a:t>
                </a:r>
              </a:p>
            </p:txBody>
          </p:sp>
          <p:sp>
            <p:nvSpPr>
              <p:cNvPr id="391" name="Line 85"/>
              <p:cNvSpPr>
                <a:spLocks noChangeShapeType="1"/>
              </p:cNvSpPr>
              <p:nvPr/>
            </p:nvSpPr>
            <p:spPr bwMode="auto">
              <a:xfrm>
                <a:off x="4316" y="1730"/>
                <a:ext cx="0" cy="1729"/>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2" name="Line 86"/>
              <p:cNvSpPr>
                <a:spLocks noChangeShapeType="1"/>
              </p:cNvSpPr>
              <p:nvPr/>
            </p:nvSpPr>
            <p:spPr bwMode="auto">
              <a:xfrm>
                <a:off x="3360" y="432"/>
                <a:ext cx="0" cy="2573"/>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3" name="Line 87"/>
              <p:cNvSpPr>
                <a:spLocks noChangeShapeType="1"/>
              </p:cNvSpPr>
              <p:nvPr/>
            </p:nvSpPr>
            <p:spPr bwMode="auto">
              <a:xfrm>
                <a:off x="2832" y="3013"/>
                <a:ext cx="528"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4" name="Line 88"/>
              <p:cNvSpPr>
                <a:spLocks noChangeShapeType="1"/>
              </p:cNvSpPr>
              <p:nvPr/>
            </p:nvSpPr>
            <p:spPr bwMode="auto">
              <a:xfrm>
                <a:off x="2832" y="2820"/>
                <a:ext cx="0" cy="19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5" name="Line 89"/>
              <p:cNvSpPr>
                <a:spLocks noChangeShapeType="1"/>
              </p:cNvSpPr>
              <p:nvPr/>
            </p:nvSpPr>
            <p:spPr bwMode="auto">
              <a:xfrm>
                <a:off x="4139" y="1730"/>
                <a:ext cx="0" cy="238"/>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6" name="Line 90"/>
              <p:cNvSpPr>
                <a:spLocks noChangeShapeType="1"/>
              </p:cNvSpPr>
              <p:nvPr/>
            </p:nvSpPr>
            <p:spPr bwMode="auto">
              <a:xfrm>
                <a:off x="3350" y="1968"/>
                <a:ext cx="792"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7" name="Oval 91"/>
              <p:cNvSpPr>
                <a:spLocks noChangeArrowheads="1"/>
              </p:cNvSpPr>
              <p:nvPr/>
            </p:nvSpPr>
            <p:spPr bwMode="auto">
              <a:xfrm>
                <a:off x="3333" y="1940"/>
                <a:ext cx="59" cy="59"/>
              </a:xfrm>
              <a:prstGeom prst="ellipse">
                <a:avLst/>
              </a:prstGeom>
              <a:solidFill>
                <a:schemeClr val="bg1"/>
              </a:solidFill>
              <a:ln w="952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8" name="Line 92"/>
              <p:cNvSpPr>
                <a:spLocks noChangeShapeType="1"/>
              </p:cNvSpPr>
              <p:nvPr/>
            </p:nvSpPr>
            <p:spPr bwMode="auto">
              <a:xfrm>
                <a:off x="1307" y="2820"/>
                <a:ext cx="0" cy="621"/>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399" name="Line 93"/>
              <p:cNvSpPr>
                <a:spLocks noChangeShapeType="1"/>
              </p:cNvSpPr>
              <p:nvPr/>
            </p:nvSpPr>
            <p:spPr bwMode="auto">
              <a:xfrm>
                <a:off x="2352" y="2820"/>
                <a:ext cx="0" cy="621"/>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0" name="Line 94"/>
              <p:cNvSpPr>
                <a:spLocks noChangeShapeType="1"/>
              </p:cNvSpPr>
              <p:nvPr/>
            </p:nvSpPr>
            <p:spPr bwMode="auto">
              <a:xfrm>
                <a:off x="2721" y="2826"/>
                <a:ext cx="0" cy="621"/>
              </a:xfrm>
              <a:prstGeom prst="line">
                <a:avLst/>
              </a:prstGeom>
              <a:noFill/>
              <a:ln w="9525">
                <a:solidFill>
                  <a:srgbClr val="FFFF4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1" name="Oval 95"/>
              <p:cNvSpPr>
                <a:spLocks noChangeArrowheads="1"/>
              </p:cNvSpPr>
              <p:nvPr/>
            </p:nvSpPr>
            <p:spPr bwMode="auto">
              <a:xfrm>
                <a:off x="2321" y="3436"/>
                <a:ext cx="59" cy="59"/>
              </a:xfrm>
              <a:prstGeom prst="ellipse">
                <a:avLst/>
              </a:prstGeom>
              <a:solidFill>
                <a:srgbClr val="FFFF45"/>
              </a:solidFill>
              <a:ln w="9525">
                <a:solidFill>
                  <a:srgbClr val="FFFF45"/>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2" name="Oval 96"/>
              <p:cNvSpPr>
                <a:spLocks noChangeArrowheads="1"/>
              </p:cNvSpPr>
              <p:nvPr/>
            </p:nvSpPr>
            <p:spPr bwMode="auto">
              <a:xfrm>
                <a:off x="2688" y="3429"/>
                <a:ext cx="59" cy="60"/>
              </a:xfrm>
              <a:prstGeom prst="ellipse">
                <a:avLst/>
              </a:prstGeom>
              <a:solidFill>
                <a:srgbClr val="FFFF45"/>
              </a:solidFill>
              <a:ln w="9525">
                <a:solidFill>
                  <a:srgbClr val="FFFF45"/>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3" name="Oval 97"/>
              <p:cNvSpPr>
                <a:spLocks noChangeArrowheads="1"/>
              </p:cNvSpPr>
              <p:nvPr/>
            </p:nvSpPr>
            <p:spPr bwMode="auto">
              <a:xfrm>
                <a:off x="1276" y="3425"/>
                <a:ext cx="59" cy="59"/>
              </a:xfrm>
              <a:prstGeom prst="ellipse">
                <a:avLst/>
              </a:prstGeom>
              <a:solidFill>
                <a:srgbClr val="FFFF45"/>
              </a:solidFill>
              <a:ln w="9525">
                <a:solidFill>
                  <a:srgbClr val="FFFF45"/>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4" name="Text Box 98"/>
              <p:cNvSpPr txBox="1">
                <a:spLocks noChangeArrowheads="1"/>
              </p:cNvSpPr>
              <p:nvPr/>
            </p:nvSpPr>
            <p:spPr bwMode="auto">
              <a:xfrm>
                <a:off x="2112" y="1344"/>
                <a:ext cx="659"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dirty="0">
                    <a:solidFill>
                      <a:srgbClr val="FF0000"/>
                    </a:solidFill>
                    <a:latin typeface="Times New Roman" panose="02020603050405020304" pitchFamily="18" charset="0"/>
                    <a:ea typeface="华文新魏" panose="02010800040101010101" pitchFamily="2" charset="-122"/>
                    <a:cs typeface="+mn-cs"/>
                  </a:rPr>
                  <a:t>CLK</a:t>
                </a:r>
                <a:r>
                  <a:rPr kumimoji="0" lang="en-US" altLang="zh-CN" sz="1400" b="1" kern="1200" cap="none" spc="0" normalizeH="0" baseline="-25000" noProof="0" dirty="0">
                    <a:solidFill>
                      <a:srgbClr val="FF0000"/>
                    </a:solidFill>
                    <a:latin typeface="Times New Roman" panose="02020603050405020304" pitchFamily="18" charset="0"/>
                    <a:ea typeface="华文新魏" panose="02010800040101010101" pitchFamily="2" charset="-122"/>
                    <a:cs typeface="+mn-cs"/>
                  </a:rPr>
                  <a:t>1</a:t>
                </a:r>
              </a:p>
            </p:txBody>
          </p:sp>
          <p:sp>
            <p:nvSpPr>
              <p:cNvPr id="405" name="Text Box 99"/>
              <p:cNvSpPr txBox="1">
                <a:spLocks noChangeArrowheads="1"/>
              </p:cNvSpPr>
              <p:nvPr/>
            </p:nvSpPr>
            <p:spPr bwMode="auto">
              <a:xfrm>
                <a:off x="672" y="1344"/>
                <a:ext cx="574"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0000"/>
                    </a:solidFill>
                    <a:latin typeface="Times New Roman" panose="02020603050405020304" pitchFamily="18" charset="0"/>
                    <a:ea typeface="华文新魏" panose="02010800040101010101" pitchFamily="2" charset="-122"/>
                    <a:cs typeface="+mn-cs"/>
                  </a:rPr>
                  <a:t>CLK</a:t>
                </a:r>
                <a:r>
                  <a:rPr kumimoji="0" lang="en-US" altLang="zh-CN" sz="1400" b="1" kern="1200" cap="none" spc="0" normalizeH="0" baseline="-25000" noProof="0">
                    <a:solidFill>
                      <a:srgbClr val="FF0000"/>
                    </a:solidFill>
                    <a:latin typeface="Times New Roman" panose="02020603050405020304" pitchFamily="18" charset="0"/>
                    <a:ea typeface="华文新魏" panose="02010800040101010101" pitchFamily="2" charset="-122"/>
                    <a:cs typeface="+mn-cs"/>
                  </a:rPr>
                  <a:t>2</a:t>
                </a:r>
              </a:p>
            </p:txBody>
          </p:sp>
          <p:sp>
            <p:nvSpPr>
              <p:cNvPr id="406" name="Text Box 100"/>
              <p:cNvSpPr txBox="1">
                <a:spLocks noChangeArrowheads="1"/>
              </p:cNvSpPr>
              <p:nvPr/>
            </p:nvSpPr>
            <p:spPr bwMode="auto">
              <a:xfrm>
                <a:off x="1488" y="1334"/>
                <a:ext cx="43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D</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2</a:t>
                </a:r>
              </a:p>
            </p:txBody>
          </p:sp>
          <p:sp>
            <p:nvSpPr>
              <p:cNvPr id="407" name="Text Box 101"/>
              <p:cNvSpPr txBox="1">
                <a:spLocks noChangeArrowheads="1"/>
              </p:cNvSpPr>
              <p:nvPr/>
            </p:nvSpPr>
            <p:spPr bwMode="auto">
              <a:xfrm>
                <a:off x="2924" y="1344"/>
                <a:ext cx="432"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rgbClr val="FFFF45"/>
                    </a:solidFill>
                    <a:latin typeface="Times New Roman" panose="02020603050405020304" pitchFamily="18" charset="0"/>
                    <a:ea typeface="华文新魏" panose="02010800040101010101" pitchFamily="2" charset="-122"/>
                    <a:cs typeface="+mn-cs"/>
                  </a:rPr>
                  <a:t>D</a:t>
                </a:r>
                <a:r>
                  <a:rPr kumimoji="0" lang="en-US" altLang="zh-CN" sz="1600" b="1" kern="1200" cap="none" spc="0" normalizeH="0" baseline="-25000" noProof="0">
                    <a:solidFill>
                      <a:srgbClr val="FFFF45"/>
                    </a:solidFill>
                    <a:latin typeface="Times New Roman" panose="02020603050405020304" pitchFamily="18" charset="0"/>
                    <a:ea typeface="华文新魏" panose="02010800040101010101" pitchFamily="2" charset="-122"/>
                    <a:cs typeface="+mn-cs"/>
                  </a:rPr>
                  <a:t>1</a:t>
                </a:r>
              </a:p>
            </p:txBody>
          </p:sp>
          <p:sp>
            <p:nvSpPr>
              <p:cNvPr id="408" name="Oval 102"/>
              <p:cNvSpPr>
                <a:spLocks noChangeArrowheads="1"/>
              </p:cNvSpPr>
              <p:nvPr/>
            </p:nvSpPr>
            <p:spPr bwMode="auto">
              <a:xfrm>
                <a:off x="882" y="3422"/>
                <a:ext cx="61" cy="60"/>
              </a:xfrm>
              <a:prstGeom prst="ellipse">
                <a:avLst/>
              </a:prstGeom>
              <a:solidFill>
                <a:srgbClr val="FFFF45"/>
              </a:solidFill>
              <a:ln w="9525">
                <a:solidFill>
                  <a:srgbClr val="FFFF45"/>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09" name="Oval 103"/>
              <p:cNvSpPr>
                <a:spLocks noChangeArrowheads="1"/>
              </p:cNvSpPr>
              <p:nvPr/>
            </p:nvSpPr>
            <p:spPr bwMode="auto">
              <a:xfrm>
                <a:off x="2241" y="2501"/>
                <a:ext cx="77" cy="77"/>
              </a:xfrm>
              <a:prstGeom prst="ellipse">
                <a:avLst/>
              </a:prstGeom>
              <a:solidFill>
                <a:srgbClr val="000099"/>
              </a:solidFill>
              <a:ln w="19050">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10" name="Oval 104"/>
              <p:cNvSpPr>
                <a:spLocks noChangeArrowheads="1"/>
              </p:cNvSpPr>
              <p:nvPr/>
            </p:nvSpPr>
            <p:spPr bwMode="auto">
              <a:xfrm>
                <a:off x="1317" y="2494"/>
                <a:ext cx="77" cy="77"/>
              </a:xfrm>
              <a:prstGeom prst="ellipse">
                <a:avLst/>
              </a:prstGeom>
              <a:solidFill>
                <a:srgbClr val="000099"/>
              </a:solidFill>
              <a:ln w="19050">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411" name="Oval 105"/>
              <p:cNvSpPr>
                <a:spLocks noChangeArrowheads="1"/>
              </p:cNvSpPr>
              <p:nvPr/>
            </p:nvSpPr>
            <p:spPr bwMode="auto">
              <a:xfrm>
                <a:off x="833" y="2494"/>
                <a:ext cx="77" cy="77"/>
              </a:xfrm>
              <a:prstGeom prst="ellipse">
                <a:avLst/>
              </a:prstGeom>
              <a:solidFill>
                <a:srgbClr val="000099"/>
              </a:solidFill>
              <a:ln w="19050">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pic>
        <p:nvPicPr>
          <p:cNvPr id="414" name="Picture 106"/>
          <p:cNvPicPr>
            <a:picLocks noChangeAspect="1" noChangeArrowheads="1"/>
          </p:cNvPicPr>
          <p:nvPr/>
        </p:nvPicPr>
        <p:blipFill>
          <a:blip r:embed="rId3"/>
          <a:srcRect/>
          <a:stretch>
            <a:fillRect/>
          </a:stretch>
        </p:blipFill>
        <p:spPr bwMode="auto">
          <a:xfrm>
            <a:off x="6356033" y="2860675"/>
            <a:ext cx="2570163" cy="208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91155" name="Text Box 124"/>
          <p:cNvSpPr txBox="1"/>
          <p:nvPr/>
        </p:nvSpPr>
        <p:spPr>
          <a:xfrm>
            <a:off x="6285230" y="1587500"/>
            <a:ext cx="2390775" cy="706755"/>
          </a:xfrm>
          <a:prstGeom prst="rect">
            <a:avLst/>
          </a:prstGeom>
          <a:noFill/>
          <a:ln w="9525">
            <a:noFill/>
          </a:ln>
        </p:spPr>
        <p:txBody>
          <a:bodyPr wrap="square">
            <a:spAutoFit/>
          </a:bodyPr>
          <a:lstStyle/>
          <a:p>
            <a:pPr eaLnBrk="1" hangingPunct="1">
              <a:spcBef>
                <a:spcPct val="50000"/>
              </a:spcBef>
              <a:buFont typeface="宋体" panose="02010600030101010101" pitchFamily="2" charset="-122"/>
            </a:pPr>
            <a:r>
              <a:rPr lang="zh-CN" altLang="en-US" sz="2000" b="1" dirty="0">
                <a:highlight>
                  <a:srgbClr val="FF0000"/>
                </a:highlight>
                <a:latin typeface="华文新魏" panose="02010800040101010101" pitchFamily="2" charset="-122"/>
                <a:ea typeface="华文新魏" panose="02010800040101010101" pitchFamily="2" charset="-122"/>
              </a:rPr>
              <a:t>两个触发器少了输入限定性符号！</a:t>
            </a:r>
          </a:p>
        </p:txBody>
      </p:sp>
      <p:sp>
        <p:nvSpPr>
          <p:cNvPr id="3" name="文本框 2"/>
          <p:cNvSpPr txBox="1"/>
          <p:nvPr/>
        </p:nvSpPr>
        <p:spPr>
          <a:xfrm rot="16200000">
            <a:off x="1639570" y="2031365"/>
            <a:ext cx="234950" cy="306705"/>
          </a:xfrm>
          <a:prstGeom prst="rect">
            <a:avLst/>
          </a:prstGeom>
          <a:noFill/>
        </p:spPr>
        <p:txBody>
          <a:bodyPr wrap="square" rtlCol="0">
            <a:spAutoFit/>
          </a:bodyPr>
          <a:lstStyle/>
          <a:p>
            <a:r>
              <a:rPr lang="en-US" altLang="zh-CN" sz="1400" b="1">
                <a:solidFill>
                  <a:srgbClr val="FF0000"/>
                </a:solidFill>
              </a:rPr>
              <a:t>&gt;</a:t>
            </a:r>
          </a:p>
        </p:txBody>
      </p:sp>
      <p:sp>
        <p:nvSpPr>
          <p:cNvPr id="4" name="文本框 3"/>
          <p:cNvSpPr txBox="1"/>
          <p:nvPr/>
        </p:nvSpPr>
        <p:spPr>
          <a:xfrm rot="16200000">
            <a:off x="3418205" y="2008505"/>
            <a:ext cx="234950" cy="306705"/>
          </a:xfrm>
          <a:prstGeom prst="rect">
            <a:avLst/>
          </a:prstGeom>
          <a:noFill/>
        </p:spPr>
        <p:txBody>
          <a:bodyPr wrap="square" rtlCol="0">
            <a:spAutoFit/>
          </a:bodyPr>
          <a:lstStyle/>
          <a:p>
            <a:r>
              <a:rPr lang="en-US" altLang="zh-CN" sz="1400" b="1">
                <a:solidFill>
                  <a:srgbClr val="FF0000"/>
                </a:solidFill>
              </a:rPr>
              <a:t>&gt;</a:t>
            </a:r>
          </a:p>
        </p:txBody>
      </p:sp>
      <p:sp>
        <p:nvSpPr>
          <p:cNvPr id="2" name="文本框 1"/>
          <p:cNvSpPr txBox="1"/>
          <p:nvPr/>
        </p:nvSpPr>
        <p:spPr>
          <a:xfrm>
            <a:off x="6228080" y="589915"/>
            <a:ext cx="2837180" cy="337185"/>
          </a:xfrm>
          <a:prstGeom prst="rect">
            <a:avLst/>
          </a:prstGeom>
          <a:noFill/>
        </p:spPr>
        <p:txBody>
          <a:bodyPr wrap="square" rtlCol="0">
            <a:spAutoFit/>
          </a:bodyPr>
          <a:lstStyle/>
          <a:p>
            <a:r>
              <a:rPr lang="en-US" altLang="zh-CN" sz="1600" dirty="0">
                <a:solidFill>
                  <a:schemeClr val="tx1"/>
                </a:solidFill>
                <a:latin typeface="华文新魏" panose="02010800040101010101" pitchFamily="2" charset="-122"/>
                <a:ea typeface="华文新魏" panose="02010800040101010101" pitchFamily="2" charset="-122"/>
              </a:rPr>
              <a:t>Mealy</a:t>
            </a:r>
            <a:r>
              <a:rPr lang="zh-CN" altLang="en-US" sz="1600" dirty="0">
                <a:solidFill>
                  <a:schemeClr val="tx1"/>
                </a:solidFill>
                <a:latin typeface="华文新魏" panose="02010800040101010101" pitchFamily="2" charset="-122"/>
                <a:ea typeface="华文新魏" panose="02010800040101010101" pitchFamily="2" charset="-122"/>
              </a:rPr>
              <a:t>型还是</a:t>
            </a:r>
            <a:r>
              <a:rPr lang="en-US" altLang="zh-CN" sz="1600" dirty="0">
                <a:solidFill>
                  <a:schemeClr val="tx1"/>
                </a:solidFill>
                <a:latin typeface="华文新魏" panose="02010800040101010101" pitchFamily="2" charset="-122"/>
                <a:ea typeface="华文新魏" panose="02010800040101010101" pitchFamily="2" charset="-122"/>
              </a:rPr>
              <a:t>Moore</a:t>
            </a:r>
            <a:r>
              <a:rPr lang="zh-CN" altLang="en-US" sz="1600" dirty="0">
                <a:solidFill>
                  <a:schemeClr val="tx1"/>
                </a:solidFill>
                <a:latin typeface="华文新魏" panose="02010800040101010101" pitchFamily="2" charset="-122"/>
                <a:ea typeface="华文新魏" panose="02010800040101010101" pitchFamily="2" charset="-122"/>
              </a:rPr>
              <a:t>型电路？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1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14"/>
                                        </p:tgtEl>
                                        <p:attrNameLst>
                                          <p:attrName>style.visibility</p:attrName>
                                        </p:attrNameLst>
                                      </p:cBhvr>
                                      <p:to>
                                        <p:strVal val="visible"/>
                                      </p:to>
                                    </p:set>
                                    <p:animEffect transition="in" filter="blinds(horizontal)">
                                      <p:cBhvr>
                                        <p:cTn id="25" dur="500"/>
                                        <p:tgtEl>
                                          <p:spTgt spid="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55" grpId="0"/>
      <p:bldP spid="91155" grpId="1"/>
      <p:bldP spid="3" grpId="0"/>
      <p:bldP spid="3" grpId="1"/>
      <p:bldP spid="4" grpId="0"/>
      <p:bldP spid="4" grpId="1"/>
      <p:bldP spid="2" grpId="0"/>
      <p:bldP spid="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p:cNvSpPr>
          <p:nvPr>
            <p:ph type="title"/>
          </p:nvPr>
        </p:nvSpPr>
        <p:spPr>
          <a:xfrm>
            <a:off x="1262063" y="555625"/>
            <a:ext cx="2794000" cy="431800"/>
          </a:xfrm>
          <a:prstGeom prst="rect">
            <a:avLst/>
          </a:prstGeom>
          <a:noFill/>
          <a:ln w="952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分析步骤如下：</a:t>
            </a:r>
          </a:p>
        </p:txBody>
      </p:sp>
      <p:sp>
        <p:nvSpPr>
          <p:cNvPr id="111619" name="Rectangle 3"/>
          <p:cNvSpPr>
            <a:spLocks noGrp="1"/>
          </p:cNvSpPr>
          <p:nvPr>
            <p:ph type="body"/>
          </p:nvPr>
        </p:nvSpPr>
        <p:spPr>
          <a:xfrm>
            <a:off x="1262380" y="987425"/>
            <a:ext cx="6624638" cy="3933825"/>
          </a:xfrm>
          <a:prstGeom prst="rect">
            <a:avLst/>
          </a:prstGeom>
          <a:noFill/>
          <a:ln w="9525">
            <a:noFill/>
          </a:ln>
        </p:spPr>
        <p:txBody>
          <a:bodyPr/>
          <a:lstStyle/>
          <a:p>
            <a:pPr eaLnBrk="1" hangingPunct="1">
              <a:spcBef>
                <a:spcPct val="50000"/>
              </a:spcBef>
              <a:buNone/>
            </a:pPr>
            <a:r>
              <a:rPr lang="en-US" altLang="zh-CN" sz="2000" b="1" u="sng" dirty="0">
                <a:latin typeface="华文新魏" panose="02010800040101010101" pitchFamily="2" charset="-122"/>
                <a:ea typeface="华文新魏" panose="02010800040101010101" pitchFamily="2" charset="-122"/>
              </a:rPr>
              <a:t>⑴ </a:t>
            </a:r>
            <a:r>
              <a:rPr lang="zh-CN" altLang="en-US" sz="2000" b="1" u="sng" dirty="0">
                <a:latin typeface="华文新魏" panose="02010800040101010101" pitchFamily="2" charset="-122"/>
                <a:ea typeface="华文新魏" panose="02010800040101010101" pitchFamily="2" charset="-122"/>
              </a:rPr>
              <a:t>列出</a:t>
            </a:r>
            <a:r>
              <a:rPr lang="zh-CN" altLang="en-US" sz="2000" b="1" u="sng" dirty="0">
                <a:solidFill>
                  <a:srgbClr val="000099"/>
                </a:solidFill>
                <a:latin typeface="华文新魏" panose="02010800040101010101" pitchFamily="2" charset="-122"/>
                <a:ea typeface="华文新魏" panose="02010800040101010101" pitchFamily="2" charset="-122"/>
              </a:rPr>
              <a:t>输出函数</a:t>
            </a:r>
            <a:r>
              <a:rPr lang="zh-CN" altLang="en-US" sz="2000" b="1" u="sng" dirty="0">
                <a:latin typeface="华文新魏" panose="02010800040101010101" pitchFamily="2" charset="-122"/>
                <a:ea typeface="华文新魏" panose="02010800040101010101" pitchFamily="2" charset="-122"/>
              </a:rPr>
              <a:t>和</a:t>
            </a:r>
            <a:r>
              <a:rPr lang="zh-CN" altLang="en-US" sz="2000" b="1" u="sng" dirty="0">
                <a:solidFill>
                  <a:srgbClr val="000099"/>
                </a:solidFill>
                <a:latin typeface="华文新魏" panose="02010800040101010101" pitchFamily="2" charset="-122"/>
                <a:ea typeface="华文新魏" panose="02010800040101010101" pitchFamily="2" charset="-122"/>
              </a:rPr>
              <a:t>控制函数</a:t>
            </a:r>
            <a:r>
              <a:rPr lang="zh-CN" altLang="en-US" sz="2000" b="1" u="sng" dirty="0">
                <a:latin typeface="华文新魏" panose="02010800040101010101" pitchFamily="2" charset="-122"/>
                <a:ea typeface="华文新魏" panose="02010800040101010101" pitchFamily="2" charset="-122"/>
              </a:rPr>
              <a:t>表达式：</a:t>
            </a:r>
          </a:p>
          <a:p>
            <a:pPr eaLnBrk="1" hangingPunct="1">
              <a:spcBef>
                <a:spcPct val="50000"/>
              </a:spcBef>
              <a:buNone/>
            </a:pPr>
            <a:r>
              <a:rPr lang="zh-CN" altLang="en-US" sz="2000" b="1" u="sng" dirty="0">
                <a:latin typeface="黑体" panose="02010609060101010101" pitchFamily="49" charset="-122"/>
                <a:ea typeface="黑体" panose="02010609060101010101" pitchFamily="49" charset="-122"/>
              </a:rPr>
              <a:t> </a:t>
            </a:r>
            <a:endParaRPr lang="zh-CN" altLang="en-US" sz="2000" b="1" u="sng" baseline="-25000" dirty="0">
              <a:latin typeface="黑体" panose="02010609060101010101" pitchFamily="49" charset="-122"/>
              <a:ea typeface="黑体" panose="02010609060101010101" pitchFamily="49" charset="-122"/>
            </a:endParaRPr>
          </a:p>
          <a:p>
            <a:pPr eaLnBrk="1" hangingPunct="1">
              <a:spcBef>
                <a:spcPct val="50000"/>
              </a:spcBef>
              <a:buNone/>
            </a:pPr>
            <a:r>
              <a:rPr lang="zh-CN" altLang="en-US" sz="2000" b="1" u="sng" dirty="0">
                <a:latin typeface="黑体" panose="02010609060101010101" pitchFamily="49" charset="-122"/>
                <a:ea typeface="黑体" panose="02010609060101010101" pitchFamily="49" charset="-122"/>
              </a:rPr>
              <a:t> </a:t>
            </a:r>
            <a:r>
              <a:rPr lang="zh-CN" altLang="en-US" sz="2000" b="1" u="sng" baseline="-25000" dirty="0">
                <a:latin typeface="黑体" panose="02010609060101010101" pitchFamily="49" charset="-122"/>
                <a:ea typeface="黑体" panose="02010609060101010101" pitchFamily="49" charset="-122"/>
              </a:rPr>
              <a:t> </a:t>
            </a:r>
            <a:endParaRPr lang="zh-CN" altLang="en-US" sz="2000" b="1" u="sng" baseline="-25000" dirty="0">
              <a:latin typeface="黑体" panose="02010609060101010101" pitchFamily="49" charset="-122"/>
              <a:ea typeface="黑体" panose="02010609060101010101" pitchFamily="49" charset="-122"/>
              <a:sym typeface="Arial" panose="020B0604020202020204" pitchFamily="34" charset="0"/>
            </a:endParaRPr>
          </a:p>
          <a:p>
            <a:pPr eaLnBrk="1" hangingPunct="1">
              <a:spcBef>
                <a:spcPct val="50000"/>
              </a:spcBef>
              <a:buNone/>
            </a:pPr>
            <a:r>
              <a:rPr lang="zh-CN" altLang="en-US" sz="2000" b="1" u="sng" baseline="-25000" dirty="0">
                <a:latin typeface="黑体" panose="02010609060101010101" pitchFamily="49" charset="-122"/>
                <a:ea typeface="黑体" panose="02010609060101010101" pitchFamily="49" charset="-122"/>
              </a:rPr>
              <a:t>   </a:t>
            </a:r>
            <a:endParaRPr lang="zh-CN" altLang="en-US" sz="2000" b="1" u="sng" dirty="0">
              <a:latin typeface="黑体" panose="02010609060101010101" pitchFamily="49" charset="-122"/>
              <a:ea typeface="黑体" panose="02010609060101010101" pitchFamily="49" charset="-122"/>
            </a:endParaRPr>
          </a:p>
          <a:p>
            <a:pPr eaLnBrk="1" hangingPunct="1">
              <a:spcBef>
                <a:spcPct val="50000"/>
              </a:spcBef>
              <a:buNone/>
            </a:pPr>
            <a:r>
              <a:rPr lang="zh-CN" altLang="en-US" sz="2000" b="1" u="sng" dirty="0">
                <a:latin typeface="华文新魏" panose="02010800040101010101" pitchFamily="2" charset="-122"/>
                <a:ea typeface="华文新魏" panose="02010800040101010101" pitchFamily="2" charset="-122"/>
              </a:rPr>
              <a:t>⑵ 列出</a:t>
            </a:r>
            <a:r>
              <a:rPr lang="zh-CN" altLang="en-US" sz="2000" b="1" u="sng" dirty="0">
                <a:solidFill>
                  <a:srgbClr val="000099"/>
                </a:solidFill>
                <a:latin typeface="华文新魏" panose="02010800040101010101" pitchFamily="2" charset="-122"/>
                <a:ea typeface="华文新魏" panose="02010800040101010101" pitchFamily="2" charset="-122"/>
              </a:rPr>
              <a:t>状态真值表</a:t>
            </a:r>
            <a:r>
              <a:rPr lang="zh-CN" altLang="en-US" sz="2000" b="1" u="sng" dirty="0">
                <a:latin typeface="华文新魏" panose="02010800040101010101" pitchFamily="2" charset="-122"/>
                <a:ea typeface="华文新魏" panose="02010800040101010101" pitchFamily="2" charset="-122"/>
              </a:rPr>
              <a:t>和</a:t>
            </a:r>
            <a:r>
              <a:rPr lang="zh-CN" altLang="en-US" sz="2000" b="1" u="sng" dirty="0">
                <a:solidFill>
                  <a:srgbClr val="000099"/>
                </a:solidFill>
                <a:latin typeface="华文新魏" panose="02010800040101010101" pitchFamily="2" charset="-122"/>
                <a:ea typeface="华文新魏" panose="02010800040101010101" pitchFamily="2" charset="-122"/>
              </a:rPr>
              <a:t>次态真值表</a:t>
            </a:r>
            <a:r>
              <a:rPr lang="zh-CN" altLang="en-US" sz="2000" b="1" u="sng" dirty="0">
                <a:latin typeface="华文新魏" panose="02010800040101010101" pitchFamily="2" charset="-122"/>
                <a:ea typeface="华文新魏" panose="02010800040101010101" pitchFamily="2" charset="-122"/>
              </a:rPr>
              <a:t>，见下页。</a:t>
            </a:r>
          </a:p>
          <a:p>
            <a:pPr eaLnBrk="1" hangingPunct="1">
              <a:spcBef>
                <a:spcPct val="50000"/>
              </a:spcBef>
              <a:buNone/>
            </a:pPr>
            <a:r>
              <a:rPr lang="zh-CN" altLang="en-US" sz="2000" b="1" u="sng" dirty="0">
                <a:latin typeface="华文新魏" panose="02010800040101010101" pitchFamily="2" charset="-122"/>
                <a:ea typeface="华文新魏" panose="02010800040101010101" pitchFamily="2" charset="-122"/>
              </a:rPr>
              <a:t>当</a:t>
            </a:r>
            <a:r>
              <a:rPr lang="zh-CN" altLang="en-US" sz="2000" b="1" u="sng" dirty="0">
                <a:solidFill>
                  <a:srgbClr val="FF0000"/>
                </a:solidFill>
                <a:latin typeface="华文新魏" panose="02010800040101010101" pitchFamily="2" charset="-122"/>
                <a:ea typeface="华文新魏" panose="02010800040101010101" pitchFamily="2" charset="-122"/>
              </a:rPr>
              <a:t> </a:t>
            </a:r>
            <a:r>
              <a:rPr lang="en-US" altLang="zh-CN" sz="2000" b="1" u="sng" dirty="0">
                <a:solidFill>
                  <a:srgbClr val="FF0000"/>
                </a:solidFill>
                <a:latin typeface="华文新魏" panose="02010800040101010101" pitchFamily="2" charset="-122"/>
                <a:ea typeface="华文新魏" panose="02010800040101010101" pitchFamily="2" charset="-122"/>
              </a:rPr>
              <a:t>x = 0</a:t>
            </a:r>
            <a:r>
              <a:rPr lang="en-US" altLang="zh-CN" sz="2000" b="1" u="sng" dirty="0">
                <a:latin typeface="华文新魏" panose="02010800040101010101" pitchFamily="2" charset="-122"/>
                <a:ea typeface="华文新魏" panose="02010800040101010101" pitchFamily="2" charset="-122"/>
              </a:rPr>
              <a:t> </a:t>
            </a:r>
            <a:r>
              <a:rPr lang="zh-CN" altLang="en-US" sz="2000" b="1" u="sng" dirty="0">
                <a:latin typeface="华文新魏" panose="02010800040101010101" pitchFamily="2" charset="-122"/>
                <a:ea typeface="华文新魏" panose="02010800040101010101" pitchFamily="2" charset="-122"/>
              </a:rPr>
              <a:t>时，电路状态不变，讨论</a:t>
            </a:r>
            <a:r>
              <a:rPr lang="en-US" altLang="zh-CN" sz="2000" b="1" u="sng" dirty="0">
                <a:latin typeface="华文新魏" panose="02010800040101010101" pitchFamily="2" charset="-122"/>
                <a:ea typeface="华文新魏" panose="02010800040101010101" pitchFamily="2" charset="-122"/>
              </a:rPr>
              <a:t>(</a:t>
            </a:r>
            <a:r>
              <a:rPr lang="zh-CN" altLang="en-US" sz="2000" b="1" u="sng" dirty="0">
                <a:latin typeface="华文新魏" panose="02010800040101010101" pitchFamily="2" charset="-122"/>
                <a:ea typeface="华文新魏" panose="02010800040101010101" pitchFamily="2" charset="-122"/>
              </a:rPr>
              <a:t>略</a:t>
            </a:r>
            <a:r>
              <a:rPr lang="en-US" altLang="zh-CN" sz="2000" b="1" u="sng" dirty="0">
                <a:latin typeface="华文新魏" panose="02010800040101010101" pitchFamily="2" charset="-122"/>
                <a:ea typeface="华文新魏" panose="02010800040101010101" pitchFamily="2" charset="-122"/>
              </a:rPr>
              <a:t>)</a:t>
            </a:r>
            <a:r>
              <a:rPr lang="zh-CN" altLang="en-US" sz="2000" b="1" u="sng" dirty="0">
                <a:latin typeface="华文新魏" panose="02010800040101010101" pitchFamily="2" charset="-122"/>
                <a:ea typeface="华文新魏" panose="02010800040101010101" pitchFamily="2" charset="-122"/>
              </a:rPr>
              <a:t>；</a:t>
            </a:r>
          </a:p>
          <a:p>
            <a:pPr eaLnBrk="1" hangingPunct="1">
              <a:spcBef>
                <a:spcPct val="50000"/>
              </a:spcBef>
              <a:buNone/>
            </a:pPr>
            <a:r>
              <a:rPr lang="zh-CN" altLang="en-US" sz="2000" b="1" dirty="0">
                <a:latin typeface="华文新魏" panose="02010800040101010101" pitchFamily="2" charset="-122"/>
                <a:ea typeface="华文新魏" panose="02010800040101010101" pitchFamily="2" charset="-122"/>
              </a:rPr>
              <a:t>当 </a:t>
            </a:r>
            <a:r>
              <a:rPr lang="en-US" altLang="zh-CN" sz="2000" b="1" dirty="0">
                <a:solidFill>
                  <a:srgbClr val="FF0000"/>
                </a:solidFill>
                <a:latin typeface="华文新魏" panose="02010800040101010101" pitchFamily="2" charset="-122"/>
                <a:ea typeface="华文新魏" panose="02010800040101010101" pitchFamily="2" charset="-122"/>
              </a:rPr>
              <a:t>x = 1 </a:t>
            </a:r>
            <a:r>
              <a:rPr lang="zh-CN" altLang="en-US" sz="2000" b="1" dirty="0">
                <a:latin typeface="华文新魏" panose="02010800040101010101" pitchFamily="2" charset="-122"/>
                <a:ea typeface="华文新魏" panose="02010800040101010101" pitchFamily="2" charset="-122"/>
              </a:rPr>
              <a:t>时，列次态真值表的原则是：</a:t>
            </a:r>
          </a:p>
          <a:p>
            <a:pPr eaLnBrk="1" hangingPunct="1">
              <a:spcBef>
                <a:spcPct val="50000"/>
              </a:spcBef>
              <a:buNone/>
            </a:pPr>
            <a:r>
              <a:rPr lang="zh-CN" altLang="en-US" sz="2000" b="1" dirty="0">
                <a:latin typeface="Arial Unicode MS" panose="020B0604020202020204" charset="-122"/>
                <a:ea typeface="Arial Unicode MS" panose="020B0604020202020204" charset="-122"/>
              </a:rPr>
              <a:t>    </a:t>
            </a:r>
            <a:r>
              <a:rPr lang="en-US" altLang="zh-CN" sz="2000" b="1" dirty="0">
                <a:latin typeface="Arial Unicode MS" panose="020B0604020202020204" charset="-122"/>
                <a:ea typeface="Arial Unicode MS" panose="020B0604020202020204" charset="-122"/>
              </a:rPr>
              <a:t> </a:t>
            </a:r>
            <a:r>
              <a:rPr lang="zh-CN" altLang="en-US" sz="2000" b="1" dirty="0">
                <a:latin typeface="华文新魏" panose="02010800040101010101" pitchFamily="2" charset="-122"/>
                <a:ea typeface="华文新魏" panose="02010800040101010101" pitchFamily="2" charset="-122"/>
              </a:rPr>
              <a:t>当 </a:t>
            </a:r>
            <a:r>
              <a:rPr lang="en-US" altLang="zh-CN" sz="2000" b="1" dirty="0">
                <a:solidFill>
                  <a:srgbClr val="FF0000"/>
                </a:solidFill>
                <a:latin typeface="华文新魏" panose="02010800040101010101" pitchFamily="2" charset="-122"/>
                <a:ea typeface="华文新魏" panose="02010800040101010101" pitchFamily="2" charset="-122"/>
              </a:rPr>
              <a:t>CLK = 0</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时，    则 </a:t>
            </a:r>
            <a:r>
              <a:rPr lang="en-US" altLang="zh-CN" sz="2000" b="1" dirty="0">
                <a:solidFill>
                  <a:srgbClr val="FF0000"/>
                </a:solidFill>
                <a:latin typeface="华文新魏" panose="02010800040101010101" pitchFamily="2" charset="-122"/>
                <a:ea typeface="华文新魏" panose="02010800040101010101" pitchFamily="2" charset="-122"/>
              </a:rPr>
              <a:t>Q</a:t>
            </a:r>
            <a:r>
              <a:rPr lang="en-US" altLang="zh-CN" sz="2000" b="1" baseline="30000" dirty="0">
                <a:solidFill>
                  <a:srgbClr val="FF0000"/>
                </a:solidFill>
                <a:latin typeface="华文新魏" panose="02010800040101010101" pitchFamily="2" charset="-122"/>
                <a:ea typeface="华文新魏" panose="02010800040101010101" pitchFamily="2" charset="-122"/>
              </a:rPr>
              <a:t>n+1</a:t>
            </a:r>
            <a:r>
              <a:rPr lang="en-US" altLang="zh-CN" sz="2000" b="1" dirty="0">
                <a:solidFill>
                  <a:srgbClr val="FF0000"/>
                </a:solidFill>
                <a:latin typeface="华文新魏" panose="02010800040101010101" pitchFamily="2" charset="-122"/>
                <a:ea typeface="华文新魏" panose="02010800040101010101" pitchFamily="2" charset="-122"/>
              </a:rPr>
              <a:t>= Q</a:t>
            </a:r>
          </a:p>
          <a:p>
            <a:pPr eaLnBrk="1" hangingPunct="1">
              <a:spcBef>
                <a:spcPct val="5000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当 </a:t>
            </a:r>
            <a:r>
              <a:rPr lang="en-US" altLang="zh-CN" sz="2000" b="1" dirty="0">
                <a:solidFill>
                  <a:srgbClr val="FF0000"/>
                </a:solidFill>
                <a:latin typeface="华文新魏" panose="02010800040101010101" pitchFamily="2" charset="-122"/>
                <a:ea typeface="华文新魏" panose="02010800040101010101" pitchFamily="2" charset="-122"/>
              </a:rPr>
              <a:t>CLK = 1 </a:t>
            </a:r>
            <a:r>
              <a:rPr lang="zh-CN" altLang="en-US" sz="2000" b="1" dirty="0">
                <a:latin typeface="华文新魏" panose="02010800040101010101" pitchFamily="2" charset="-122"/>
                <a:ea typeface="华文新魏" panose="02010800040101010101" pitchFamily="2" charset="-122"/>
              </a:rPr>
              <a:t>时，</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    则 </a:t>
            </a:r>
            <a:r>
              <a:rPr lang="en-US" altLang="zh-CN" sz="2000" b="1" dirty="0">
                <a:solidFill>
                  <a:srgbClr val="FF0000"/>
                </a:solidFill>
                <a:latin typeface="华文新魏" panose="02010800040101010101" pitchFamily="2" charset="-122"/>
                <a:ea typeface="华文新魏" panose="02010800040101010101" pitchFamily="2" charset="-122"/>
              </a:rPr>
              <a:t>Q</a:t>
            </a:r>
            <a:r>
              <a:rPr lang="en-US" altLang="zh-CN" sz="2000" b="1" baseline="30000" dirty="0">
                <a:solidFill>
                  <a:srgbClr val="FF0000"/>
                </a:solidFill>
                <a:latin typeface="华文新魏" panose="02010800040101010101" pitchFamily="2" charset="-122"/>
                <a:ea typeface="华文新魏" panose="02010800040101010101" pitchFamily="2" charset="-122"/>
              </a:rPr>
              <a:t>n+1</a:t>
            </a:r>
            <a:r>
              <a:rPr lang="en-US" altLang="zh-CN" sz="2000" b="1" dirty="0">
                <a:solidFill>
                  <a:srgbClr val="FF0000"/>
                </a:solidFill>
                <a:latin typeface="华文新魏" panose="02010800040101010101" pitchFamily="2" charset="-122"/>
                <a:ea typeface="华文新魏" panose="02010800040101010101" pitchFamily="2" charset="-122"/>
              </a:rPr>
              <a:t>= D</a:t>
            </a:r>
          </a:p>
        </p:txBody>
      </p:sp>
      <p:sp>
        <p:nvSpPr>
          <p:cNvPr id="111620" name="Text Box 5"/>
          <p:cNvSpPr txBox="1"/>
          <p:nvPr/>
        </p:nvSpPr>
        <p:spPr>
          <a:xfrm>
            <a:off x="1871980" y="1360805"/>
            <a:ext cx="4568190" cy="1222375"/>
          </a:xfrm>
          <a:prstGeom prst="rect">
            <a:avLst/>
          </a:prstGeom>
          <a:noFill/>
          <a:ln w="9525">
            <a:noFill/>
          </a:ln>
        </p:spPr>
        <p:txBody>
          <a:bodyPr wrap="square">
            <a:noAutofit/>
          </a:bodyPr>
          <a:lstStyle/>
          <a:p>
            <a:pPr eaLnBrk="1" hangingPunct="1">
              <a:spcBef>
                <a:spcPct val="50000"/>
              </a:spcBef>
              <a:buFont typeface="Arial" panose="020B0604020202020204" pitchFamily="34" charset="0"/>
            </a:pPr>
            <a:r>
              <a:rPr lang="en-US" altLang="zh-CN" b="1" dirty="0">
                <a:solidFill>
                  <a:srgbClr val="FF0000"/>
                </a:solidFill>
                <a:latin typeface="Arial Unicode MS" panose="020B0604020202020204" charset="-122"/>
                <a:ea typeface="Arial Unicode MS" panose="020B0604020202020204" charset="-122"/>
              </a:rPr>
              <a:t>D</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 y</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D</a:t>
            </a:r>
            <a:r>
              <a:rPr lang="en-US" altLang="zh-CN" b="1" baseline="-25000" dirty="0">
                <a:solidFill>
                  <a:srgbClr val="FF0000"/>
                </a:solidFill>
                <a:latin typeface="Arial Unicode MS" panose="020B0604020202020204" charset="-122"/>
                <a:ea typeface="Arial Unicode MS" panose="020B0604020202020204" charset="-122"/>
              </a:rPr>
              <a:t>2 </a:t>
            </a:r>
            <a:r>
              <a:rPr lang="en-US" altLang="zh-CN" b="1" dirty="0">
                <a:solidFill>
                  <a:srgbClr val="FF0000"/>
                </a:solidFill>
                <a:latin typeface="Arial Unicode MS" panose="020B0604020202020204" charset="-122"/>
                <a:ea typeface="Arial Unicode MS" panose="020B0604020202020204" charset="-122"/>
              </a:rPr>
              <a:t> = y</a:t>
            </a:r>
            <a:r>
              <a:rPr lang="en-US" altLang="zh-CN" b="1" baseline="-25000" dirty="0">
                <a:solidFill>
                  <a:srgbClr val="FF0000"/>
                </a:solidFill>
                <a:latin typeface="Arial Unicode MS" panose="020B0604020202020204" charset="-122"/>
                <a:ea typeface="Arial Unicode MS" panose="020B0604020202020204" charset="-122"/>
              </a:rPr>
              <a:t>1 </a:t>
            </a:r>
          </a:p>
          <a:p>
            <a:pPr eaLnBrk="1" hangingPunct="1">
              <a:spcBef>
                <a:spcPct val="50000"/>
              </a:spcBef>
              <a:buFont typeface="Arial" panose="020B0604020202020204" pitchFamily="34" charset="0"/>
            </a:pPr>
            <a:r>
              <a:rPr lang="en-US" altLang="zh-CN" b="1" dirty="0">
                <a:solidFill>
                  <a:srgbClr val="FF0000"/>
                </a:solidFill>
                <a:latin typeface="Arial Unicode MS" panose="020B0604020202020204" charset="-122"/>
                <a:ea typeface="Arial Unicode MS" panose="020B0604020202020204" charset="-122"/>
              </a:rPr>
              <a:t>CLK</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 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2     </a:t>
            </a:r>
            <a:r>
              <a:rPr lang="en-US" altLang="zh-CN" b="1" dirty="0">
                <a:solidFill>
                  <a:srgbClr val="FF0000"/>
                </a:solidFill>
                <a:latin typeface="Arial Unicode MS" panose="020B0604020202020204" charset="-122"/>
                <a:ea typeface="Arial Unicode MS" panose="020B0604020202020204" charset="-122"/>
              </a:rPr>
              <a:t>CLK</a:t>
            </a:r>
            <a:r>
              <a:rPr lang="en-US" altLang="zh-CN" b="1" baseline="-25000" dirty="0">
                <a:solidFill>
                  <a:srgbClr val="FF0000"/>
                </a:solidFill>
                <a:latin typeface="Arial Unicode MS" panose="020B0604020202020204" charset="-122"/>
                <a:ea typeface="Arial Unicode MS" panose="020B0604020202020204" charset="-122"/>
              </a:rPr>
              <a:t>2 </a:t>
            </a:r>
            <a:r>
              <a:rPr lang="en-US" altLang="zh-CN" b="1" dirty="0">
                <a:solidFill>
                  <a:srgbClr val="FF0000"/>
                </a:solidFill>
                <a:latin typeface="Arial Unicode MS" panose="020B0604020202020204" charset="-122"/>
                <a:ea typeface="Arial Unicode MS" panose="020B0604020202020204" charset="-122"/>
              </a:rPr>
              <a:t>=</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2 </a:t>
            </a:r>
            <a:r>
              <a:rPr lang="en-US" altLang="zh-CN" b="1" dirty="0">
                <a:solidFill>
                  <a:srgbClr val="FF0000"/>
                </a:solidFill>
                <a:latin typeface="Arial Unicode MS" panose="020B0604020202020204" charset="-122"/>
                <a:ea typeface="Arial Unicode MS" panose="020B0604020202020204" charset="-122"/>
              </a:rPr>
              <a:t>+ 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1 </a:t>
            </a:r>
          </a:p>
          <a:p>
            <a:pPr eaLnBrk="1" hangingPunct="1">
              <a:spcBef>
                <a:spcPct val="50000"/>
              </a:spcBef>
              <a:buFont typeface="Arial" panose="020B0604020202020204" pitchFamily="34" charset="0"/>
            </a:pPr>
            <a:r>
              <a:rPr lang="en-US" altLang="zh-CN" b="1" dirty="0">
                <a:solidFill>
                  <a:srgbClr val="FF0000"/>
                </a:solidFill>
                <a:latin typeface="Arial Unicode MS" panose="020B0604020202020204" charset="-122"/>
                <a:ea typeface="Arial Unicode MS" panose="020B0604020202020204" charset="-122"/>
              </a:rPr>
              <a:t>Z = x</a:t>
            </a:r>
            <a:r>
              <a:rPr lang="en-US" altLang="zh-CN" b="1" baseline="-25000" dirty="0">
                <a:solidFill>
                  <a:srgbClr val="FF0000"/>
                </a:solidFill>
                <a:latin typeface="Arial Unicode MS" panose="020B0604020202020204" charset="-122"/>
                <a:ea typeface="Arial Unicode MS" panose="020B0604020202020204" charset="-122"/>
              </a:rPr>
              <a:t>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1 </a:t>
            </a:r>
            <a:r>
              <a:rPr lang="en-US" altLang="zh-CN" b="1" dirty="0">
                <a:solidFill>
                  <a:srgbClr val="FF0000"/>
                </a:solidFill>
                <a:latin typeface="Arial Unicode MS" panose="020B0604020202020204" charset="-122"/>
                <a:ea typeface="Arial Unicode MS" panose="020B0604020202020204" charset="-122"/>
              </a:rPr>
              <a:t>y</a:t>
            </a:r>
            <a:r>
              <a:rPr lang="en-US" altLang="zh-CN" b="1" baseline="-25000" dirty="0">
                <a:solidFill>
                  <a:srgbClr val="FF0000"/>
                </a:solidFill>
                <a:latin typeface="Arial Unicode MS" panose="020B0604020202020204" charset="-122"/>
                <a:ea typeface="Arial Unicode MS" panose="020B0604020202020204" charset="-122"/>
              </a:rPr>
              <a:t>2</a:t>
            </a:r>
          </a:p>
        </p:txBody>
      </p:sp>
      <p:sp>
        <p:nvSpPr>
          <p:cNvPr id="111621" name="Line 6"/>
          <p:cNvSpPr/>
          <p:nvPr/>
        </p:nvSpPr>
        <p:spPr>
          <a:xfrm>
            <a:off x="2484438" y="1492250"/>
            <a:ext cx="195262" cy="0"/>
          </a:xfrm>
          <a:prstGeom prst="line">
            <a:avLst/>
          </a:prstGeom>
          <a:ln w="19050" cap="flat" cmpd="sng">
            <a:solidFill>
              <a:srgbClr val="FF0000"/>
            </a:solidFill>
            <a:prstDash val="solid"/>
            <a:headEnd type="none" w="med" len="med"/>
            <a:tailEnd type="none" w="med" len="med"/>
          </a:ln>
        </p:spPr>
      </p:sp>
      <p:sp>
        <p:nvSpPr>
          <p:cNvPr id="111622" name="Line 6"/>
          <p:cNvSpPr/>
          <p:nvPr/>
        </p:nvSpPr>
        <p:spPr>
          <a:xfrm>
            <a:off x="4283968" y="1477079"/>
            <a:ext cx="193675" cy="0"/>
          </a:xfrm>
          <a:prstGeom prst="line">
            <a:avLst/>
          </a:prstGeom>
          <a:ln w="19050" cap="flat" cmpd="sng">
            <a:solidFill>
              <a:srgbClr val="FF0000"/>
            </a:solidFill>
            <a:prstDash val="solid"/>
            <a:headEnd type="none" w="med" len="med"/>
            <a:tailEnd type="none" w="med" len="med"/>
          </a:ln>
        </p:spPr>
      </p:sp>
      <p:sp>
        <p:nvSpPr>
          <p:cNvPr id="111623" name="Line 6"/>
          <p:cNvSpPr/>
          <p:nvPr/>
        </p:nvSpPr>
        <p:spPr>
          <a:xfrm>
            <a:off x="5868144" y="1923678"/>
            <a:ext cx="195262" cy="0"/>
          </a:xfrm>
          <a:prstGeom prst="line">
            <a:avLst/>
          </a:prstGeom>
          <a:ln w="19050" cap="flat" cmpd="sng">
            <a:solidFill>
              <a:srgbClr val="FF0000"/>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161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161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1619">
                                            <p:txEl>
                                              <p:charRg st="94" end="12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1619">
                                            <p:txEl>
                                              <p:charRg st="128" end="16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p:cNvSpPr>
            <a:spLocks noGrp="1"/>
          </p:cNvSpPr>
          <p:nvPr>
            <p:ph type="title"/>
          </p:nvPr>
        </p:nvSpPr>
        <p:spPr>
          <a:xfrm>
            <a:off x="1779588" y="592138"/>
            <a:ext cx="4160564" cy="514350"/>
          </a:xfrm>
          <a:prstGeom prst="rect">
            <a:avLst/>
          </a:prstGeom>
          <a:noFill/>
          <a:ln w="952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（简化）状态真值表和次态真值表</a:t>
            </a:r>
          </a:p>
        </p:txBody>
      </p:sp>
      <p:graphicFrame>
        <p:nvGraphicFramePr>
          <p:cNvPr id="22531" name="Group 3"/>
          <p:cNvGraphicFramePr>
            <a:graphicFrameLocks noGrp="1"/>
          </p:cNvGraphicFramePr>
          <p:nvPr/>
        </p:nvGraphicFramePr>
        <p:xfrm>
          <a:off x="323850" y="1016000"/>
          <a:ext cx="6630987" cy="3457578"/>
        </p:xfrm>
        <a:graphic>
          <a:graphicData uri="http://schemas.openxmlformats.org/drawingml/2006/table">
            <a:tbl>
              <a:tblPr/>
              <a:tblGrid>
                <a:gridCol w="750887">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854075">
                  <a:extLst>
                    <a:ext uri="{9D8B030D-6E8A-4147-A177-3AD203B41FA5}">
                      <a16:colId xmlns:a16="http://schemas.microsoft.com/office/drawing/2014/main" val="20002"/>
                    </a:ext>
                  </a:extLst>
                </a:gridCol>
                <a:gridCol w="806450">
                  <a:extLst>
                    <a:ext uri="{9D8B030D-6E8A-4147-A177-3AD203B41FA5}">
                      <a16:colId xmlns:a16="http://schemas.microsoft.com/office/drawing/2014/main" val="20003"/>
                    </a:ext>
                  </a:extLst>
                </a:gridCol>
                <a:gridCol w="682625">
                  <a:extLst>
                    <a:ext uri="{9D8B030D-6E8A-4147-A177-3AD203B41FA5}">
                      <a16:colId xmlns:a16="http://schemas.microsoft.com/office/drawing/2014/main" val="20004"/>
                    </a:ext>
                  </a:extLst>
                </a:gridCol>
                <a:gridCol w="681038">
                  <a:extLst>
                    <a:ext uri="{9D8B030D-6E8A-4147-A177-3AD203B41FA5}">
                      <a16:colId xmlns:a16="http://schemas.microsoft.com/office/drawing/2014/main" val="20005"/>
                    </a:ext>
                  </a:extLst>
                </a:gridCol>
                <a:gridCol w="731837">
                  <a:extLst>
                    <a:ext uri="{9D8B030D-6E8A-4147-A177-3AD203B41FA5}">
                      <a16:colId xmlns:a16="http://schemas.microsoft.com/office/drawing/2014/main" val="20006"/>
                    </a:ext>
                  </a:extLst>
                </a:gridCol>
                <a:gridCol w="1374775">
                  <a:extLst>
                    <a:ext uri="{9D8B030D-6E8A-4147-A177-3AD203B41FA5}">
                      <a16:colId xmlns:a16="http://schemas.microsoft.com/office/drawing/2014/main" val="20007"/>
                    </a:ext>
                  </a:extLst>
                </a:gridCol>
              </a:tblGrid>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zh-CN" altLang="en-US" sz="2100" b="1"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现态</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rgbClr val="FF33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zh-CN" altLang="en-US"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输入</a:t>
                      </a:r>
                    </a:p>
                  </a:txBody>
                  <a:tcPr marT="34290" marB="34290" anchor="ctr" anchorCtr="1" horzOverflow="overflow">
                    <a:lnL w="12700" cap="flat" cmpd="sng" algn="ctr">
                      <a:solidFill>
                        <a:srgbClr val="FF3300"/>
                      </a:solidFill>
                      <a:prstDash val="solid"/>
                      <a:round/>
                      <a:headEnd type="none" w="med" len="med"/>
                      <a:tailEnd type="none" w="med" len="med"/>
                    </a:lnL>
                    <a:lnR w="38100" cap="flat" cmpd="sng" algn="ctr">
                      <a:solidFill>
                        <a:srgbClr val="FF33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endParaRPr>
                    </a:p>
                  </a:txBody>
                  <a:tcPr marT="34290" marB="34290" anchor="ctr" anchorCtr="1" horzOverflow="overflow">
                    <a:lnL>
                      <a:noFill/>
                    </a:lnL>
                    <a:lnR w="38100" cap="flat" cmpd="sng" algn="ctr">
                      <a:solidFill>
                        <a:srgbClr val="FF33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r"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次态</a:t>
                      </a: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FF3300"/>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0"/>
                  </a:ext>
                </a:extLst>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y</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2 </a:t>
                      </a: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y</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x</a:t>
                      </a:r>
                    </a:p>
                  </a:txBody>
                  <a:tcPr marT="34290" marB="34290" anchor="ctr" anchorCtr="1" horzOverflow="overflow">
                    <a:lnL w="12700" cap="flat" cmpd="sng" algn="ctr">
                      <a:solidFill>
                        <a:srgbClr val="FF3300"/>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CLK</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2</a:t>
                      </a:r>
                      <a:endPar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CLK</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D</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2</a:t>
                      </a:r>
                      <a:endPar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D</a:t>
                      </a:r>
                      <a:r>
                        <a:rPr kumimoji="0" lang="en-US" altLang="zh-CN" sz="2100" b="1" i="0" u="none" strike="noStrike" cap="none" normalizeH="0" baseline="-25000" dirty="0">
                          <a:ln>
                            <a:noFill/>
                          </a:ln>
                          <a:solidFill>
                            <a:srgbClr val="FF0000"/>
                          </a:solidFill>
                          <a:effectLst/>
                          <a:latin typeface="华文新魏" panose="02010800040101010101" pitchFamily="2" charset="-122"/>
                          <a:ea typeface="华文新魏" panose="02010800040101010101" pitchFamily="2" charset="-122"/>
                        </a:rPr>
                        <a:t>1</a:t>
                      </a:r>
                      <a:endParaRPr kumimoji="0" lang="en-US" altLang="zh-CN" sz="2100" b="1"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rgbClr val="FF3300"/>
                      </a:solidFill>
                      <a:prstDash val="solid"/>
                      <a:round/>
                      <a:headEnd type="none" w="med" len="med"/>
                      <a:tailEnd type="none" w="med" len="med"/>
                    </a:lnL>
                    <a:lnR w="127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5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Z</a:t>
                      </a:r>
                    </a:p>
                  </a:txBody>
                  <a:tcPr marT="34290" marB="34290" anchor="ctr" anchorCtr="1" horzOverflow="overflow">
                    <a:lnL w="12700" cap="flat" cmpd="sng" algn="ctr">
                      <a:solidFill>
                        <a:srgbClr val="FF3300"/>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y</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2</a:t>
                      </a:r>
                      <a:r>
                        <a:rPr kumimoji="0" lang="en-US" altLang="zh-CN" sz="2100" b="1" i="0" u="none" strike="noStrike" cap="none" normalizeH="0" baseline="30000">
                          <a:ln>
                            <a:noFill/>
                          </a:ln>
                          <a:solidFill>
                            <a:srgbClr val="FF0000"/>
                          </a:solidFill>
                          <a:effectLst/>
                          <a:latin typeface="华文新魏" panose="02010800040101010101" pitchFamily="2" charset="-122"/>
                          <a:ea typeface="华文新魏" panose="02010800040101010101" pitchFamily="2" charset="-122"/>
                        </a:rPr>
                        <a:t>n+1</a:t>
                      </a:r>
                      <a:r>
                        <a:rPr kumimoji="0" lang="en-US" altLang="zh-CN" sz="21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y</a:t>
                      </a:r>
                      <a:r>
                        <a:rPr kumimoji="0" lang="en-US" altLang="zh-CN" sz="2100" b="1" i="0" u="none" strike="noStrike" cap="none" normalizeH="0" baseline="-25000">
                          <a:ln>
                            <a:noFill/>
                          </a:ln>
                          <a:solidFill>
                            <a:srgbClr val="FF0000"/>
                          </a:solidFill>
                          <a:effectLst/>
                          <a:latin typeface="华文新魏" panose="02010800040101010101" pitchFamily="2" charset="-122"/>
                          <a:ea typeface="华文新魏" panose="02010800040101010101" pitchFamily="2" charset="-122"/>
                        </a:rPr>
                        <a:t>1</a:t>
                      </a:r>
                      <a:r>
                        <a:rPr kumimoji="0" lang="en-US" altLang="zh-CN" sz="2100" b="1" i="0" u="none" strike="noStrike" cap="none" normalizeH="0" baseline="30000">
                          <a:ln>
                            <a:noFill/>
                          </a:ln>
                          <a:solidFill>
                            <a:srgbClr val="FF0000"/>
                          </a:solidFill>
                          <a:effectLst/>
                          <a:latin typeface="华文新魏" panose="02010800040101010101" pitchFamily="2" charset="-122"/>
                          <a:ea typeface="华文新魏" panose="02010800040101010101" pitchFamily="2" charset="-122"/>
                        </a:rPr>
                        <a:t>n+1</a:t>
                      </a: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FF3300"/>
                      </a:solidFill>
                      <a:prstDash val="solid"/>
                      <a:round/>
                      <a:headEnd type="none" w="med" len="med"/>
                      <a:tailEnd type="none" w="med" len="med"/>
                    </a:lnT>
                    <a:lnB w="38100" cap="flat" cmpd="sng" algn="ctr">
                      <a:solidFill>
                        <a:srgbClr val="FF3300"/>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1"/>
                  </a:ext>
                </a:extLst>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FF33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2"/>
                  </a:ext>
                </a:extLst>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3"/>
                  </a:ext>
                </a:extLst>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4"/>
                  </a:ext>
                </a:extLst>
              </a:tr>
              <a:tr h="576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5FFF4"/>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38100" cap="flat" cmpd="sng" algn="ctr">
                      <a:solidFill>
                        <a:srgbClr val="FF33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38100" cap="flat" cmpd="sng" algn="ctr">
                      <a:solidFill>
                        <a:srgbClr val="FF33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BEB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a:t>
                      </a:r>
                    </a:p>
                  </a:txBody>
                  <a:tcPr marT="34290" marB="34290" anchor="ctr" anchorCtr="1" horzOverflow="overflow">
                    <a:lnL w="38100" cap="flat" cmpd="sng" algn="ctr">
                      <a:solidFill>
                        <a:srgbClr val="FF33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5"/>
                  </a:ext>
                </a:extLst>
              </a:tr>
            </a:tbl>
          </a:graphicData>
        </a:graphic>
      </p:graphicFrame>
      <p:sp>
        <p:nvSpPr>
          <p:cNvPr id="112715" name="Rectangle 78"/>
          <p:cNvSpPr>
            <a:spLocks noGrp="1"/>
          </p:cNvSpPr>
          <p:nvPr>
            <p:ph type="body"/>
          </p:nvPr>
        </p:nvSpPr>
        <p:spPr>
          <a:xfrm>
            <a:off x="2195513" y="1106488"/>
            <a:ext cx="3048000" cy="457200"/>
          </a:xfrm>
          <a:prstGeom prst="rect">
            <a:avLst/>
          </a:prstGeom>
          <a:noFill/>
          <a:ln w="9525">
            <a:noFill/>
          </a:ln>
        </p:spPr>
        <p:txBody>
          <a:bodyPr/>
          <a:lstStyle/>
          <a:p>
            <a:pPr eaLnBrk="1" hangingPunct="1">
              <a:buNone/>
            </a:pPr>
            <a:r>
              <a:rPr lang="zh-CN" altLang="en-US" sz="2000" b="1" dirty="0">
                <a:latin typeface="华文新魏" panose="02010800040101010101" pitchFamily="2" charset="-122"/>
                <a:ea typeface="华文新魏" panose="02010800040101010101" pitchFamily="2" charset="-122"/>
              </a:rPr>
              <a:t>组 合 电 路 输 出</a:t>
            </a:r>
          </a:p>
        </p:txBody>
      </p:sp>
      <p:sp>
        <p:nvSpPr>
          <p:cNvPr id="112716" name="Text Box 111"/>
          <p:cNvSpPr txBox="1"/>
          <p:nvPr/>
        </p:nvSpPr>
        <p:spPr>
          <a:xfrm>
            <a:off x="5580063" y="4516438"/>
            <a:ext cx="13843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Calibri" panose="020F0502020204030204" pitchFamily="34" charset="0"/>
              </a:rPr>
              <a:t> </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r>
              <a:rPr lang="en-US" altLang="zh-CN" b="1" baseline="30000" dirty="0">
                <a:solidFill>
                  <a:schemeClr val="tx1"/>
                </a:solidFill>
                <a:latin typeface="Calibri" panose="020F0502020204030204" pitchFamily="34" charset="0"/>
              </a:rPr>
              <a:t>n+1 </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baseline="30000" dirty="0">
                <a:solidFill>
                  <a:schemeClr val="tx1"/>
                </a:solidFill>
                <a:latin typeface="Calibri" panose="020F0502020204030204" pitchFamily="34" charset="0"/>
              </a:rPr>
              <a:t>n+1</a:t>
            </a:r>
          </a:p>
        </p:txBody>
      </p:sp>
      <p:pic>
        <p:nvPicPr>
          <p:cNvPr id="6" name="Picture 106"/>
          <p:cNvPicPr>
            <a:picLocks noChangeAspect="1" noChangeArrowheads="1"/>
          </p:cNvPicPr>
          <p:nvPr/>
        </p:nvPicPr>
        <p:blipFill>
          <a:blip r:embed="rId3"/>
          <a:srcRect/>
          <a:stretch>
            <a:fillRect/>
          </a:stretch>
        </p:blipFill>
        <p:spPr bwMode="auto">
          <a:xfrm>
            <a:off x="7178675" y="1971040"/>
            <a:ext cx="1857375" cy="210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2" name="文本框 1"/>
          <p:cNvSpPr txBox="1"/>
          <p:nvPr/>
        </p:nvSpPr>
        <p:spPr>
          <a:xfrm>
            <a:off x="7178675" y="597130"/>
            <a:ext cx="1857374" cy="1477328"/>
          </a:xfrm>
          <a:prstGeom prst="rect">
            <a:avLst/>
          </a:prstGeom>
          <a:noFill/>
        </p:spPr>
        <p:txBody>
          <a:bodyPr wrap="square" rtlCol="0">
            <a:spAutoFit/>
          </a:bodyPr>
          <a:lstStyle/>
          <a:p>
            <a:r>
              <a:rPr lang="zh-CN" altLang="en-US" sz="1800" b="1" dirty="0">
                <a:solidFill>
                  <a:schemeClr val="tx1"/>
                </a:solidFill>
                <a:latin typeface="华文新魏" panose="02010800040101010101" pitchFamily="2" charset="-122"/>
                <a:ea typeface="华文新魏" panose="02010800040101010101" pitchFamily="2" charset="-122"/>
                <a:sym typeface="+mn-ea"/>
              </a:rPr>
              <a:t>当 </a:t>
            </a:r>
            <a:r>
              <a:rPr lang="en-US" altLang="zh-CN" sz="1800" b="1" dirty="0">
                <a:solidFill>
                  <a:srgbClr val="FF0000"/>
                </a:solidFill>
                <a:latin typeface="华文新魏" panose="02010800040101010101" pitchFamily="2" charset="-122"/>
                <a:ea typeface="华文新魏" panose="02010800040101010101" pitchFamily="2" charset="-122"/>
                <a:sym typeface="+mn-ea"/>
              </a:rPr>
              <a:t>CLK = 1 </a:t>
            </a:r>
            <a:r>
              <a:rPr lang="zh-CN" altLang="en-US" sz="1800" b="1" dirty="0">
                <a:solidFill>
                  <a:schemeClr val="tx1"/>
                </a:solidFill>
                <a:latin typeface="华文新魏" panose="02010800040101010101" pitchFamily="2" charset="-122"/>
                <a:ea typeface="华文新魏" panose="02010800040101010101" pitchFamily="2" charset="-122"/>
                <a:sym typeface="+mn-ea"/>
              </a:rPr>
              <a:t>时，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30000" dirty="0">
                <a:solidFill>
                  <a:srgbClr val="FF0000"/>
                </a:solidFill>
                <a:latin typeface="华文新魏" panose="02010800040101010101" pitchFamily="2" charset="-122"/>
                <a:ea typeface="华文新魏" panose="02010800040101010101" pitchFamily="2" charset="-122"/>
                <a:sym typeface="+mn-ea"/>
              </a:rPr>
              <a:t>n+1</a:t>
            </a:r>
            <a:r>
              <a:rPr lang="en-US" altLang="zh-CN" sz="1800" b="1" dirty="0">
                <a:solidFill>
                  <a:srgbClr val="FF0000"/>
                </a:solidFill>
                <a:latin typeface="华文新魏" panose="02010800040101010101" pitchFamily="2" charset="-122"/>
                <a:ea typeface="华文新魏" panose="02010800040101010101" pitchFamily="2" charset="-122"/>
                <a:sym typeface="+mn-ea"/>
              </a:rPr>
              <a:t>= D</a:t>
            </a:r>
            <a:r>
              <a:rPr lang="zh-CN" altLang="en-US" sz="1800" b="1" dirty="0">
                <a:solidFill>
                  <a:schemeClr val="tx1"/>
                </a:solidFill>
                <a:latin typeface="华文新魏" panose="02010800040101010101" pitchFamily="2" charset="-122"/>
                <a:ea typeface="华文新魏" panose="02010800040101010101" pitchFamily="2" charset="-122"/>
                <a:sym typeface="+mn-ea"/>
              </a:rPr>
              <a:t>；</a:t>
            </a:r>
            <a:endParaRPr lang="en-US" altLang="zh-CN" sz="1800" b="1" dirty="0">
              <a:solidFill>
                <a:schemeClr val="tx1"/>
              </a:solidFill>
              <a:latin typeface="华文新魏" panose="02010800040101010101" pitchFamily="2" charset="-122"/>
              <a:ea typeface="华文新魏" panose="02010800040101010101" pitchFamily="2" charset="-122"/>
              <a:sym typeface="+mn-ea"/>
            </a:endParaRPr>
          </a:p>
          <a:p>
            <a:r>
              <a:rPr lang="zh-CN" altLang="en-US" sz="1800" b="1" dirty="0">
                <a:solidFill>
                  <a:schemeClr val="tx1"/>
                </a:solidFill>
                <a:latin typeface="华文新魏" panose="02010800040101010101" pitchFamily="2" charset="-122"/>
                <a:ea typeface="华文新魏" panose="02010800040101010101" pitchFamily="2" charset="-122"/>
                <a:sym typeface="+mn-ea"/>
              </a:rPr>
              <a:t>当 </a:t>
            </a:r>
            <a:r>
              <a:rPr lang="en-US" altLang="zh-CN" sz="1800" b="1" dirty="0">
                <a:solidFill>
                  <a:srgbClr val="FF0000"/>
                </a:solidFill>
                <a:latin typeface="华文新魏" panose="02010800040101010101" pitchFamily="2" charset="-122"/>
                <a:ea typeface="华文新魏" panose="02010800040101010101" pitchFamily="2" charset="-122"/>
                <a:sym typeface="+mn-ea"/>
              </a:rPr>
              <a:t>CLK = 0 </a:t>
            </a:r>
            <a:r>
              <a:rPr lang="zh-CN" altLang="en-US" sz="1800" b="1" dirty="0">
                <a:solidFill>
                  <a:schemeClr val="tx1"/>
                </a:solidFill>
                <a:latin typeface="华文新魏" panose="02010800040101010101" pitchFamily="2" charset="-122"/>
                <a:ea typeface="华文新魏" panose="02010800040101010101" pitchFamily="2" charset="-122"/>
                <a:sym typeface="+mn-ea"/>
              </a:rPr>
              <a:t>时，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30000" dirty="0">
                <a:solidFill>
                  <a:srgbClr val="FF0000"/>
                </a:solidFill>
                <a:latin typeface="华文新魏" panose="02010800040101010101" pitchFamily="2" charset="-122"/>
                <a:ea typeface="华文新魏" panose="02010800040101010101" pitchFamily="2" charset="-122"/>
                <a:sym typeface="+mn-ea"/>
              </a:rPr>
              <a:t>n+1</a:t>
            </a:r>
            <a:r>
              <a:rPr lang="en-US" altLang="zh-CN" sz="1800" b="1" dirty="0">
                <a:solidFill>
                  <a:srgbClr val="FF0000"/>
                </a:solidFill>
                <a:latin typeface="华文新魏" panose="02010800040101010101" pitchFamily="2" charset="-122"/>
                <a:ea typeface="华文新魏" panose="02010800040101010101" pitchFamily="2" charset="-122"/>
                <a:sym typeface="+mn-ea"/>
              </a:rPr>
              <a:t>= Q</a:t>
            </a:r>
            <a:r>
              <a:rPr lang="zh-CN" altLang="en-US" sz="1800" b="1" dirty="0">
                <a:solidFill>
                  <a:schemeClr val="tx1"/>
                </a:solidFill>
                <a:latin typeface="华文新魏" panose="02010800040101010101" pitchFamily="2" charset="-122"/>
                <a:ea typeface="华文新魏" panose="02010800040101010101" pitchFamily="2" charset="-122"/>
                <a:sym typeface="+mn-ea"/>
              </a:rPr>
              <a:t>。</a:t>
            </a:r>
            <a:endParaRPr lang="zh-CN" altLang="en-US" sz="1800" dirty="0">
              <a:solidFill>
                <a:schemeClr val="tx1"/>
              </a:solidFill>
            </a:endParaRPr>
          </a:p>
          <a:p>
            <a:endParaRPr lang="zh-CN" altLang="en-US" sz="1800" dirty="0"/>
          </a:p>
        </p:txBody>
      </p:sp>
      <p:sp>
        <p:nvSpPr>
          <p:cNvPr id="3" name="矩形 2"/>
          <p:cNvSpPr/>
          <p:nvPr/>
        </p:nvSpPr>
        <p:spPr bwMode="auto">
          <a:xfrm>
            <a:off x="5724128" y="1707654"/>
            <a:ext cx="576064" cy="360040"/>
          </a:xfrm>
          <a:prstGeom prst="rect">
            <a:avLst/>
          </a:prstGeom>
          <a:noFill/>
          <a:ln w="19050" cap="flat" cmpd="sng" algn="ctr">
            <a:solidFill>
              <a:srgbClr val="0000FF"/>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9" name="矩形 8"/>
          <p:cNvSpPr/>
          <p:nvPr/>
        </p:nvSpPr>
        <p:spPr bwMode="auto">
          <a:xfrm>
            <a:off x="3571838" y="1707654"/>
            <a:ext cx="496106" cy="360040"/>
          </a:xfrm>
          <a:prstGeom prst="rect">
            <a:avLst/>
          </a:prstGeom>
          <a:noFill/>
          <a:ln w="19050" cap="flat" cmpd="sng" algn="ctr">
            <a:solidFill>
              <a:srgbClr val="0000FF"/>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10" name="矩形 9"/>
          <p:cNvSpPr/>
          <p:nvPr/>
        </p:nvSpPr>
        <p:spPr bwMode="auto">
          <a:xfrm>
            <a:off x="1999586" y="1700649"/>
            <a:ext cx="556189" cy="360040"/>
          </a:xfrm>
          <a:prstGeom prst="rect">
            <a:avLst/>
          </a:prstGeom>
          <a:noFill/>
          <a:ln w="19050" cap="flat" cmpd="sng" algn="ctr">
            <a:solidFill>
              <a:srgbClr val="0000FF"/>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11" name="矩形 10"/>
          <p:cNvSpPr/>
          <p:nvPr/>
        </p:nvSpPr>
        <p:spPr bwMode="auto">
          <a:xfrm>
            <a:off x="417559" y="1700649"/>
            <a:ext cx="266009" cy="360040"/>
          </a:xfrm>
          <a:prstGeom prst="rect">
            <a:avLst/>
          </a:prstGeom>
          <a:noFill/>
          <a:ln w="19050" cap="flat" cmpd="sng" algn="ctr">
            <a:solidFill>
              <a:srgbClr val="0000FF"/>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2"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P spid="2" grpId="2"/>
      <p:bldP spid="3"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p:cNvSpPr>
            <a:spLocks noGrp="1"/>
          </p:cNvSpPr>
          <p:nvPr>
            <p:ph type="title"/>
          </p:nvPr>
        </p:nvSpPr>
        <p:spPr>
          <a:xfrm>
            <a:off x="457200" y="431800"/>
            <a:ext cx="4259263" cy="627063"/>
          </a:xfrm>
          <a:prstGeom prst="rect">
            <a:avLst/>
          </a:prstGeom>
          <a:noFill/>
          <a:ln w="28575">
            <a:noFill/>
          </a:ln>
        </p:spPr>
        <p:txBody>
          <a:bodyPr/>
          <a:lstStyle/>
          <a:p>
            <a:pPr eaLnBrk="1" hangingPunct="1">
              <a:lnSpc>
                <a:spcPct val="110000"/>
              </a:lnSpc>
            </a:pPr>
            <a:r>
              <a:rPr lang="en-US" altLang="zh-CN" sz="2000" b="1" dirty="0">
                <a:latin typeface="华文新魏" panose="02010800040101010101" pitchFamily="2" charset="-122"/>
                <a:ea typeface="华文新魏" panose="02010800040101010101" pitchFamily="2" charset="-122"/>
              </a:rPr>
              <a:t>⑶ </a:t>
            </a: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画出状态表</a:t>
            </a:r>
            <a:r>
              <a:rPr lang="zh-CN" altLang="en-US" sz="2000" dirty="0">
                <a:latin typeface="华文新魏" panose="02010800040101010101" pitchFamily="2" charset="-122"/>
                <a:ea typeface="华文新魏" panose="02010800040101010101" pitchFamily="2" charset="-122"/>
              </a:rPr>
              <a:t>和</a:t>
            </a:r>
            <a:r>
              <a:rPr lang="zh-CN" altLang="en-US" sz="2000" b="1" dirty="0">
                <a:latin typeface="华文新魏" panose="02010800040101010101" pitchFamily="2" charset="-122"/>
                <a:ea typeface="华文新魏" panose="02010800040101010101" pitchFamily="2" charset="-122"/>
              </a:rPr>
              <a:t>状态图</a:t>
            </a:r>
          </a:p>
        </p:txBody>
      </p:sp>
      <p:grpSp>
        <p:nvGrpSpPr>
          <p:cNvPr id="113667" name="Group 146"/>
          <p:cNvGrpSpPr/>
          <p:nvPr/>
        </p:nvGrpSpPr>
        <p:grpSpPr>
          <a:xfrm>
            <a:off x="4911725" y="476250"/>
            <a:ext cx="2468563" cy="2193925"/>
            <a:chOff x="-98" y="-67"/>
            <a:chExt cx="1970" cy="1843"/>
          </a:xfrm>
        </p:grpSpPr>
        <p:sp>
          <p:nvSpPr>
            <p:cNvPr id="113763" name="Oval 86"/>
            <p:cNvSpPr/>
            <p:nvPr/>
          </p:nvSpPr>
          <p:spPr>
            <a:xfrm>
              <a:off x="96" y="58"/>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00</a:t>
              </a:r>
            </a:p>
          </p:txBody>
        </p:sp>
        <p:sp>
          <p:nvSpPr>
            <p:cNvPr id="113764" name="Oval 90"/>
            <p:cNvSpPr/>
            <p:nvPr/>
          </p:nvSpPr>
          <p:spPr>
            <a:xfrm>
              <a:off x="1440" y="58"/>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01</a:t>
              </a:r>
            </a:p>
          </p:txBody>
        </p:sp>
        <p:sp>
          <p:nvSpPr>
            <p:cNvPr id="113765" name="Oval 93"/>
            <p:cNvSpPr/>
            <p:nvPr/>
          </p:nvSpPr>
          <p:spPr>
            <a:xfrm>
              <a:off x="96" y="1392"/>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11</a:t>
              </a:r>
            </a:p>
          </p:txBody>
        </p:sp>
        <p:sp>
          <p:nvSpPr>
            <p:cNvPr id="113766" name="Oval 96"/>
            <p:cNvSpPr/>
            <p:nvPr/>
          </p:nvSpPr>
          <p:spPr>
            <a:xfrm>
              <a:off x="1440" y="1392"/>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10</a:t>
              </a:r>
            </a:p>
          </p:txBody>
        </p:sp>
        <p:sp>
          <p:nvSpPr>
            <p:cNvPr id="113767" name="Line 98"/>
            <p:cNvSpPr/>
            <p:nvPr/>
          </p:nvSpPr>
          <p:spPr>
            <a:xfrm>
              <a:off x="480" y="432"/>
              <a:ext cx="1008" cy="1008"/>
            </a:xfrm>
            <a:prstGeom prst="line">
              <a:avLst/>
            </a:prstGeom>
            <a:ln w="28575" cap="flat" cmpd="sng">
              <a:solidFill>
                <a:schemeClr val="tx1"/>
              </a:solidFill>
              <a:prstDash val="solid"/>
              <a:headEnd type="none" w="med" len="med"/>
              <a:tailEnd type="triangle" w="med" len="med"/>
            </a:ln>
          </p:spPr>
        </p:sp>
        <p:sp>
          <p:nvSpPr>
            <p:cNvPr id="113768" name="Line 101"/>
            <p:cNvSpPr/>
            <p:nvPr/>
          </p:nvSpPr>
          <p:spPr>
            <a:xfrm flipH="1">
              <a:off x="533" y="240"/>
              <a:ext cx="907" cy="0"/>
            </a:xfrm>
            <a:prstGeom prst="line">
              <a:avLst/>
            </a:prstGeom>
            <a:ln w="28575" cap="flat" cmpd="sng">
              <a:solidFill>
                <a:schemeClr val="tx1"/>
              </a:solidFill>
              <a:prstDash val="solid"/>
              <a:headEnd type="none" w="med" len="med"/>
              <a:tailEnd type="triangle" w="med" len="med"/>
            </a:ln>
          </p:spPr>
        </p:sp>
        <p:sp>
          <p:nvSpPr>
            <p:cNvPr id="113769" name="Line 102"/>
            <p:cNvSpPr/>
            <p:nvPr/>
          </p:nvSpPr>
          <p:spPr>
            <a:xfrm flipV="1">
              <a:off x="300" y="442"/>
              <a:ext cx="0" cy="907"/>
            </a:xfrm>
            <a:prstGeom prst="line">
              <a:avLst/>
            </a:prstGeom>
            <a:ln w="28575" cap="flat" cmpd="sng">
              <a:solidFill>
                <a:schemeClr val="tx1"/>
              </a:solidFill>
              <a:prstDash val="solid"/>
              <a:headEnd type="none" w="med" len="med"/>
              <a:tailEnd type="triangle" w="med" len="med"/>
            </a:ln>
          </p:spPr>
        </p:sp>
        <p:sp>
          <p:nvSpPr>
            <p:cNvPr id="113770" name="Line 103"/>
            <p:cNvSpPr/>
            <p:nvPr/>
          </p:nvSpPr>
          <p:spPr>
            <a:xfrm flipH="1">
              <a:off x="528" y="1584"/>
              <a:ext cx="907" cy="0"/>
            </a:xfrm>
            <a:prstGeom prst="line">
              <a:avLst/>
            </a:prstGeom>
            <a:ln w="28575" cap="flat" cmpd="sng">
              <a:solidFill>
                <a:schemeClr val="tx1"/>
              </a:solidFill>
              <a:prstDash val="solid"/>
              <a:headEnd type="none" w="med" len="med"/>
              <a:tailEnd type="triangle" w="med" len="med"/>
            </a:ln>
          </p:spPr>
        </p:sp>
        <p:sp>
          <p:nvSpPr>
            <p:cNvPr id="113771" name="Text Box 105"/>
            <p:cNvSpPr txBox="1"/>
            <p:nvPr/>
          </p:nvSpPr>
          <p:spPr>
            <a:xfrm>
              <a:off x="800" y="-67"/>
              <a:ext cx="528"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1/0</a:t>
              </a:r>
            </a:p>
          </p:txBody>
        </p:sp>
        <p:sp>
          <p:nvSpPr>
            <p:cNvPr id="113772" name="Text Box 106"/>
            <p:cNvSpPr txBox="1"/>
            <p:nvPr/>
          </p:nvSpPr>
          <p:spPr>
            <a:xfrm>
              <a:off x="960" y="758"/>
              <a:ext cx="528"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1/0</a:t>
              </a:r>
            </a:p>
          </p:txBody>
        </p:sp>
        <p:sp>
          <p:nvSpPr>
            <p:cNvPr id="113773" name="Text Box 107"/>
            <p:cNvSpPr txBox="1"/>
            <p:nvPr/>
          </p:nvSpPr>
          <p:spPr>
            <a:xfrm>
              <a:off x="-98" y="837"/>
              <a:ext cx="528"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1/1</a:t>
              </a:r>
            </a:p>
          </p:txBody>
        </p:sp>
        <p:sp>
          <p:nvSpPr>
            <p:cNvPr id="113774" name="Text Box 108"/>
            <p:cNvSpPr txBox="1"/>
            <p:nvPr/>
          </p:nvSpPr>
          <p:spPr>
            <a:xfrm>
              <a:off x="789" y="1270"/>
              <a:ext cx="528"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1/0</a:t>
              </a:r>
            </a:p>
          </p:txBody>
        </p:sp>
      </p:grpSp>
      <p:graphicFrame>
        <p:nvGraphicFramePr>
          <p:cNvPr id="23568" name="Group 16"/>
          <p:cNvGraphicFramePr>
            <a:graphicFrameLocks noGrp="1"/>
          </p:cNvGraphicFramePr>
          <p:nvPr/>
        </p:nvGraphicFramePr>
        <p:xfrm>
          <a:off x="785813" y="822325"/>
          <a:ext cx="2114550" cy="1943102"/>
        </p:xfrm>
        <a:graphic>
          <a:graphicData uri="http://schemas.openxmlformats.org/drawingml/2006/table">
            <a:tbl>
              <a:tblPr/>
              <a:tblGrid>
                <a:gridCol w="91440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tblGrid>
              <a:tr h="3889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0"/>
                  </a:ext>
                </a:extLst>
              </a:tr>
              <a:tr h="3889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889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889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11/0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873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13689" name="Text Box 79"/>
          <p:cNvSpPr txBox="1"/>
          <p:nvPr/>
        </p:nvSpPr>
        <p:spPr>
          <a:xfrm>
            <a:off x="1285875" y="752475"/>
            <a:ext cx="762000" cy="39528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p>
        </p:txBody>
      </p:sp>
      <p:sp>
        <p:nvSpPr>
          <p:cNvPr id="113690" name="Text Box 78"/>
          <p:cNvSpPr txBox="1"/>
          <p:nvPr/>
        </p:nvSpPr>
        <p:spPr>
          <a:xfrm>
            <a:off x="720725" y="817563"/>
            <a:ext cx="762000" cy="44608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25000" dirty="0">
                <a:solidFill>
                  <a:schemeClr val="tx1"/>
                </a:solidFill>
                <a:latin typeface="黑体" panose="02010609060101010101" pitchFamily="49" charset="-122"/>
                <a:ea typeface="黑体" panose="02010609060101010101" pitchFamily="49" charset="-122"/>
              </a:rPr>
              <a:t>1</a:t>
            </a:r>
          </a:p>
        </p:txBody>
      </p:sp>
      <p:sp>
        <p:nvSpPr>
          <p:cNvPr id="113691" name="Text Box 147"/>
          <p:cNvSpPr txBox="1"/>
          <p:nvPr/>
        </p:nvSpPr>
        <p:spPr>
          <a:xfrm>
            <a:off x="609600" y="2743200"/>
            <a:ext cx="8077200" cy="460375"/>
          </a:xfrm>
          <a:prstGeom prst="rect">
            <a:avLst/>
          </a:prstGeom>
          <a:noFill/>
          <a:ln w="28575">
            <a:noFill/>
          </a:ln>
        </p:spPr>
        <p:txBody>
          <a:bodyPr>
            <a:spAutoFit/>
          </a:bodyPr>
          <a:lstStyle/>
          <a:p>
            <a:pPr eaLnBrk="1" hangingPunct="1">
              <a:lnSpc>
                <a:spcPct val="12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一个带进位的模 </a:t>
            </a:r>
            <a:r>
              <a:rPr lang="en-US" altLang="zh-CN" b="1" dirty="0">
                <a:solidFill>
                  <a:schemeClr val="tx1"/>
                </a:solidFill>
                <a:latin typeface="华文新魏" panose="02010800040101010101" pitchFamily="2" charset="-122"/>
                <a:ea typeface="华文新魏" panose="02010800040101010101" pitchFamily="2" charset="-122"/>
              </a:rPr>
              <a:t>3 </a:t>
            </a:r>
            <a:r>
              <a:rPr lang="zh-CN" altLang="en-US" b="1" dirty="0">
                <a:solidFill>
                  <a:schemeClr val="tx1"/>
                </a:solidFill>
                <a:latin typeface="华文新魏" panose="02010800040101010101" pitchFamily="2" charset="-122"/>
                <a:ea typeface="华文新魏" panose="02010800040101010101" pitchFamily="2" charset="-122"/>
              </a:rPr>
              <a:t>计数器，且具有自恢复功能</a:t>
            </a:r>
            <a:r>
              <a:rPr lang="zh-CN" altLang="en-US" dirty="0">
                <a:solidFill>
                  <a:schemeClr val="tx1"/>
                </a:solidFill>
                <a:latin typeface="华文新魏" panose="02010800040101010101" pitchFamily="2" charset="-122"/>
                <a:ea typeface="华文新魏" panose="02010800040101010101" pitchFamily="2" charset="-122"/>
              </a:rPr>
              <a:t>。</a:t>
            </a:r>
          </a:p>
        </p:txBody>
      </p:sp>
      <p:sp>
        <p:nvSpPr>
          <p:cNvPr id="113692" name="Text Box 148"/>
          <p:cNvSpPr txBox="1"/>
          <p:nvPr/>
        </p:nvSpPr>
        <p:spPr>
          <a:xfrm>
            <a:off x="2760663" y="2286000"/>
            <a:ext cx="1600200" cy="44767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baseline="30000" dirty="0">
                <a:solidFill>
                  <a:schemeClr val="tx1"/>
                </a:solidFill>
                <a:latin typeface="黑体" panose="02010609060101010101" pitchFamily="49" charset="-122"/>
                <a:ea typeface="黑体" panose="02010609060101010101" pitchFamily="49" charset="-122"/>
              </a:rPr>
              <a:t>n+1 </a:t>
            </a: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baseline="30000" dirty="0">
                <a:solidFill>
                  <a:schemeClr val="tx1"/>
                </a:solidFill>
                <a:latin typeface="黑体" panose="02010609060101010101" pitchFamily="49" charset="-122"/>
                <a:ea typeface="黑体" panose="02010609060101010101" pitchFamily="49" charset="-122"/>
              </a:rPr>
              <a:t>n+1</a:t>
            </a:r>
          </a:p>
        </p:txBody>
      </p:sp>
      <p:grpSp>
        <p:nvGrpSpPr>
          <p:cNvPr id="113693" name="组合 2"/>
          <p:cNvGrpSpPr/>
          <p:nvPr/>
        </p:nvGrpSpPr>
        <p:grpSpPr>
          <a:xfrm>
            <a:off x="138113" y="3159125"/>
            <a:ext cx="8207375" cy="1892300"/>
            <a:chOff x="137344" y="3158910"/>
            <a:chExt cx="8208912" cy="1892299"/>
          </a:xfrm>
        </p:grpSpPr>
        <p:grpSp>
          <p:nvGrpSpPr>
            <p:cNvPr id="113694" name="组合 1"/>
            <p:cNvGrpSpPr/>
            <p:nvPr/>
          </p:nvGrpSpPr>
          <p:grpSpPr>
            <a:xfrm>
              <a:off x="137344" y="3158910"/>
              <a:ext cx="8208912" cy="1892299"/>
              <a:chOff x="0" y="4221163"/>
              <a:chExt cx="8929688" cy="2560637"/>
            </a:xfrm>
          </p:grpSpPr>
          <p:sp>
            <p:nvSpPr>
              <p:cNvPr id="108" name="Text Box 2"/>
              <p:cNvSpPr txBox="1">
                <a:spLocks noChangeArrowheads="1"/>
              </p:cNvSpPr>
              <p:nvPr/>
            </p:nvSpPr>
            <p:spPr bwMode="auto">
              <a:xfrm>
                <a:off x="0" y="4221163"/>
                <a:ext cx="8929688" cy="2532711"/>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170" tIns="46990" rIns="90170" bIns="46990">
                <a:spAutoFit/>
              </a:bodyPr>
              <a:lstStyle/>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a:p>
                <a:pPr marR="0" defTabSz="914400" eaLnBrk="1" hangingPunct="1">
                  <a:buClrTx/>
                  <a:buSzTx/>
                  <a:buFont typeface="Arial" panose="020B0604020202020204" pitchFamily="34" charset="0"/>
                  <a:defRPr/>
                </a:pPr>
                <a:endParaRPr kumimoji="0" lang="zh-CN" altLang="en-US" kern="1200" cap="none" spc="0" normalizeH="0" baseline="0" noProof="0">
                  <a:solidFill>
                    <a:srgbClr val="FFFF00"/>
                  </a:solidFill>
                  <a:latin typeface="Times New Roman" panose="02020603050405020304" pitchFamily="18" charset="0"/>
                  <a:ea typeface="华文新魏" panose="02010800040101010101" pitchFamily="2" charset="-122"/>
                  <a:cs typeface="+mn-cs"/>
                </a:endParaRPr>
              </a:p>
            </p:txBody>
          </p:sp>
          <p:grpSp>
            <p:nvGrpSpPr>
              <p:cNvPr id="113697" name="Group 47"/>
              <p:cNvGrpSpPr/>
              <p:nvPr/>
            </p:nvGrpSpPr>
            <p:grpSpPr>
              <a:xfrm>
                <a:off x="785813" y="4267200"/>
                <a:ext cx="7315200" cy="457200"/>
                <a:chOff x="0" y="0"/>
                <a:chExt cx="4608" cy="288"/>
              </a:xfrm>
            </p:grpSpPr>
            <p:sp>
              <p:nvSpPr>
                <p:cNvPr id="110" name="Line 48"/>
                <p:cNvSpPr>
                  <a:spLocks noChangeShapeType="1"/>
                </p:cNvSpPr>
                <p:nvPr/>
              </p:nvSpPr>
              <p:spPr bwMode="auto">
                <a:xfrm>
                  <a:off x="0"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1" name="Line 49"/>
                <p:cNvSpPr>
                  <a:spLocks noChangeShapeType="1"/>
                </p:cNvSpPr>
                <p:nvPr/>
              </p:nvSpPr>
              <p:spPr bwMode="auto">
                <a:xfrm flipV="1">
                  <a:off x="576"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2" name="Line 50"/>
                <p:cNvSpPr>
                  <a:spLocks noChangeShapeType="1"/>
                </p:cNvSpPr>
                <p:nvPr/>
              </p:nvSpPr>
              <p:spPr bwMode="auto">
                <a:xfrm>
                  <a:off x="576" y="-2"/>
                  <a:ext cx="98"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3" name="Line 51"/>
                <p:cNvSpPr>
                  <a:spLocks noChangeShapeType="1"/>
                </p:cNvSpPr>
                <p:nvPr/>
              </p:nvSpPr>
              <p:spPr bwMode="auto">
                <a:xfrm flipV="1">
                  <a:off x="672"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4" name="Line 52"/>
                <p:cNvSpPr>
                  <a:spLocks noChangeShapeType="1"/>
                </p:cNvSpPr>
                <p:nvPr/>
              </p:nvSpPr>
              <p:spPr bwMode="auto">
                <a:xfrm>
                  <a:off x="672"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5" name="Line 53"/>
                <p:cNvSpPr>
                  <a:spLocks noChangeShapeType="1"/>
                </p:cNvSpPr>
                <p:nvPr/>
              </p:nvSpPr>
              <p:spPr bwMode="auto">
                <a:xfrm flipV="1">
                  <a:off x="1248"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6" name="Line 54"/>
                <p:cNvSpPr>
                  <a:spLocks noChangeShapeType="1"/>
                </p:cNvSpPr>
                <p:nvPr/>
              </p:nvSpPr>
              <p:spPr bwMode="auto">
                <a:xfrm>
                  <a:off x="1248" y="-2"/>
                  <a:ext cx="9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7" name="Line 55"/>
                <p:cNvSpPr>
                  <a:spLocks noChangeShapeType="1"/>
                </p:cNvSpPr>
                <p:nvPr/>
              </p:nvSpPr>
              <p:spPr bwMode="auto">
                <a:xfrm flipV="1">
                  <a:off x="1344"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8" name="Line 56"/>
                <p:cNvSpPr>
                  <a:spLocks noChangeShapeType="1"/>
                </p:cNvSpPr>
                <p:nvPr/>
              </p:nvSpPr>
              <p:spPr bwMode="auto">
                <a:xfrm>
                  <a:off x="1344" y="288"/>
                  <a:ext cx="578"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9" name="Line 57"/>
                <p:cNvSpPr>
                  <a:spLocks noChangeShapeType="1"/>
                </p:cNvSpPr>
                <p:nvPr/>
              </p:nvSpPr>
              <p:spPr bwMode="auto">
                <a:xfrm flipV="1">
                  <a:off x="1920"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0" name="Line 58"/>
                <p:cNvSpPr>
                  <a:spLocks noChangeShapeType="1"/>
                </p:cNvSpPr>
                <p:nvPr/>
              </p:nvSpPr>
              <p:spPr bwMode="auto">
                <a:xfrm>
                  <a:off x="1920" y="-2"/>
                  <a:ext cx="9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1" name="Line 59"/>
                <p:cNvSpPr>
                  <a:spLocks noChangeShapeType="1"/>
                </p:cNvSpPr>
                <p:nvPr/>
              </p:nvSpPr>
              <p:spPr bwMode="auto">
                <a:xfrm flipV="1">
                  <a:off x="2016"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2" name="Line 60"/>
                <p:cNvSpPr>
                  <a:spLocks noChangeShapeType="1"/>
                </p:cNvSpPr>
                <p:nvPr/>
              </p:nvSpPr>
              <p:spPr bwMode="auto">
                <a:xfrm>
                  <a:off x="2016"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3" name="Line 61"/>
                <p:cNvSpPr>
                  <a:spLocks noChangeShapeType="1"/>
                </p:cNvSpPr>
                <p:nvPr/>
              </p:nvSpPr>
              <p:spPr bwMode="auto">
                <a:xfrm flipV="1">
                  <a:off x="2592"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4" name="Line 62"/>
                <p:cNvSpPr>
                  <a:spLocks noChangeShapeType="1"/>
                </p:cNvSpPr>
                <p:nvPr/>
              </p:nvSpPr>
              <p:spPr bwMode="auto">
                <a:xfrm>
                  <a:off x="2592" y="-2"/>
                  <a:ext cx="9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5" name="Line 63"/>
                <p:cNvSpPr>
                  <a:spLocks noChangeShapeType="1"/>
                </p:cNvSpPr>
                <p:nvPr/>
              </p:nvSpPr>
              <p:spPr bwMode="auto">
                <a:xfrm flipV="1">
                  <a:off x="2686"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6" name="Line 64"/>
                <p:cNvSpPr>
                  <a:spLocks noChangeShapeType="1"/>
                </p:cNvSpPr>
                <p:nvPr/>
              </p:nvSpPr>
              <p:spPr bwMode="auto">
                <a:xfrm>
                  <a:off x="2686" y="288"/>
                  <a:ext cx="578"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7" name="Line 65"/>
                <p:cNvSpPr>
                  <a:spLocks noChangeShapeType="1"/>
                </p:cNvSpPr>
                <p:nvPr/>
              </p:nvSpPr>
              <p:spPr bwMode="auto">
                <a:xfrm flipV="1">
                  <a:off x="3264"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8" name="Line 66"/>
                <p:cNvSpPr>
                  <a:spLocks noChangeShapeType="1"/>
                </p:cNvSpPr>
                <p:nvPr/>
              </p:nvSpPr>
              <p:spPr bwMode="auto">
                <a:xfrm>
                  <a:off x="3264" y="-2"/>
                  <a:ext cx="9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9" name="Line 67"/>
                <p:cNvSpPr>
                  <a:spLocks noChangeShapeType="1"/>
                </p:cNvSpPr>
                <p:nvPr/>
              </p:nvSpPr>
              <p:spPr bwMode="auto">
                <a:xfrm flipV="1">
                  <a:off x="3360"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0" name="Line 68"/>
                <p:cNvSpPr>
                  <a:spLocks noChangeShapeType="1"/>
                </p:cNvSpPr>
                <p:nvPr/>
              </p:nvSpPr>
              <p:spPr bwMode="auto">
                <a:xfrm>
                  <a:off x="3360"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1" name="Line 69"/>
                <p:cNvSpPr>
                  <a:spLocks noChangeShapeType="1"/>
                </p:cNvSpPr>
                <p:nvPr/>
              </p:nvSpPr>
              <p:spPr bwMode="auto">
                <a:xfrm flipV="1">
                  <a:off x="3934"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2" name="Line 70"/>
                <p:cNvSpPr>
                  <a:spLocks noChangeShapeType="1"/>
                </p:cNvSpPr>
                <p:nvPr/>
              </p:nvSpPr>
              <p:spPr bwMode="auto">
                <a:xfrm>
                  <a:off x="3934" y="-2"/>
                  <a:ext cx="98"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3" name="Line 71"/>
                <p:cNvSpPr>
                  <a:spLocks noChangeShapeType="1"/>
                </p:cNvSpPr>
                <p:nvPr/>
              </p:nvSpPr>
              <p:spPr bwMode="auto">
                <a:xfrm flipV="1">
                  <a:off x="4032" y="-2"/>
                  <a:ext cx="0" cy="288"/>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4" name="Line 72"/>
                <p:cNvSpPr>
                  <a:spLocks noChangeShapeType="1"/>
                </p:cNvSpPr>
                <p:nvPr/>
              </p:nvSpPr>
              <p:spPr bwMode="auto">
                <a:xfrm>
                  <a:off x="4032" y="288"/>
                  <a:ext cx="576" cy="0"/>
                </a:xfrm>
                <a:prstGeom prst="line">
                  <a:avLst/>
                </a:prstGeom>
                <a:noFill/>
                <a:ln w="381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nvGrpSpPr>
              <p:cNvPr id="113698" name="Group 73"/>
              <p:cNvGrpSpPr/>
              <p:nvPr/>
            </p:nvGrpSpPr>
            <p:grpSpPr>
              <a:xfrm>
                <a:off x="328613" y="4876800"/>
                <a:ext cx="7772400" cy="457200"/>
                <a:chOff x="0" y="0"/>
                <a:chExt cx="4896" cy="288"/>
              </a:xfrm>
            </p:grpSpPr>
            <p:sp>
              <p:nvSpPr>
                <p:cNvPr id="136" name="Text Box 74"/>
                <p:cNvSpPr txBox="1">
                  <a:spLocks noChangeArrowheads="1"/>
                </p:cNvSpPr>
                <p:nvPr/>
              </p:nvSpPr>
              <p:spPr bwMode="auto">
                <a:xfrm>
                  <a:off x="0" y="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y</a:t>
                  </a:r>
                  <a:r>
                    <a:rPr kumimoji="0" lang="en-US" altLang="zh-CN" sz="2400" b="1" kern="1200" cap="none" spc="0" normalizeH="0" baseline="-25000" noProof="0">
                      <a:solidFill>
                        <a:srgbClr val="FFFF00"/>
                      </a:solidFill>
                      <a:latin typeface="Times New Roman" panose="02020603050405020304" pitchFamily="18" charset="0"/>
                      <a:ea typeface="华文新魏" panose="02010800040101010101" pitchFamily="2" charset="-122"/>
                      <a:cs typeface="+mn-cs"/>
                    </a:rPr>
                    <a:t>2</a:t>
                  </a:r>
                </a:p>
              </p:txBody>
            </p:sp>
            <p:sp>
              <p:nvSpPr>
                <p:cNvPr id="137" name="Line 75"/>
                <p:cNvSpPr>
                  <a:spLocks noChangeShapeType="1"/>
                </p:cNvSpPr>
                <p:nvPr/>
              </p:nvSpPr>
              <p:spPr bwMode="auto">
                <a:xfrm>
                  <a:off x="288" y="288"/>
                  <a:ext cx="68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8" name="Line 76"/>
                <p:cNvSpPr>
                  <a:spLocks noChangeShapeType="1"/>
                </p:cNvSpPr>
                <p:nvPr/>
              </p:nvSpPr>
              <p:spPr bwMode="auto">
                <a:xfrm flipV="1">
                  <a:off x="958"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9" name="Line 77"/>
                <p:cNvSpPr>
                  <a:spLocks noChangeShapeType="1"/>
                </p:cNvSpPr>
                <p:nvPr/>
              </p:nvSpPr>
              <p:spPr bwMode="auto">
                <a:xfrm>
                  <a:off x="958" y="0"/>
                  <a:ext cx="136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0" name="Line 78"/>
                <p:cNvSpPr>
                  <a:spLocks noChangeShapeType="1"/>
                </p:cNvSpPr>
                <p:nvPr/>
              </p:nvSpPr>
              <p:spPr bwMode="auto">
                <a:xfrm flipV="1">
                  <a:off x="2304"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1" name="Line 79"/>
                <p:cNvSpPr>
                  <a:spLocks noChangeShapeType="1"/>
                </p:cNvSpPr>
                <p:nvPr/>
              </p:nvSpPr>
              <p:spPr bwMode="auto">
                <a:xfrm>
                  <a:off x="2304" y="288"/>
                  <a:ext cx="68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2" name="Line 80"/>
                <p:cNvSpPr>
                  <a:spLocks noChangeShapeType="1"/>
                </p:cNvSpPr>
                <p:nvPr/>
              </p:nvSpPr>
              <p:spPr bwMode="auto">
                <a:xfrm flipV="1">
                  <a:off x="2973"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3" name="Line 81"/>
                <p:cNvSpPr>
                  <a:spLocks noChangeShapeType="1"/>
                </p:cNvSpPr>
                <p:nvPr/>
              </p:nvSpPr>
              <p:spPr bwMode="auto">
                <a:xfrm>
                  <a:off x="2973" y="0"/>
                  <a:ext cx="136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4" name="Line 82"/>
                <p:cNvSpPr>
                  <a:spLocks noChangeShapeType="1"/>
                </p:cNvSpPr>
                <p:nvPr/>
              </p:nvSpPr>
              <p:spPr bwMode="auto">
                <a:xfrm flipV="1">
                  <a:off x="4320"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5" name="Line 83"/>
                <p:cNvSpPr>
                  <a:spLocks noChangeShapeType="1"/>
                </p:cNvSpPr>
                <p:nvPr/>
              </p:nvSpPr>
              <p:spPr bwMode="auto">
                <a:xfrm>
                  <a:off x="4320" y="288"/>
                  <a:ext cx="57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nvGrpSpPr>
              <p:cNvPr id="113699" name="Group 84"/>
              <p:cNvGrpSpPr/>
              <p:nvPr/>
            </p:nvGrpSpPr>
            <p:grpSpPr>
              <a:xfrm>
                <a:off x="328613" y="5486400"/>
                <a:ext cx="7772400" cy="457200"/>
                <a:chOff x="0" y="0"/>
                <a:chExt cx="4896" cy="288"/>
              </a:xfrm>
            </p:grpSpPr>
            <p:sp>
              <p:nvSpPr>
                <p:cNvPr id="147" name="Text Box 85"/>
                <p:cNvSpPr txBox="1">
                  <a:spLocks noChangeArrowheads="1"/>
                </p:cNvSpPr>
                <p:nvPr/>
              </p:nvSpPr>
              <p:spPr bwMode="auto">
                <a:xfrm>
                  <a:off x="0" y="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y</a:t>
                  </a:r>
                  <a:r>
                    <a:rPr kumimoji="0" lang="en-US" altLang="zh-CN" sz="2400" b="1" kern="1200" cap="none" spc="0" normalizeH="0" baseline="-25000" noProof="0">
                      <a:solidFill>
                        <a:srgbClr val="FFFF00"/>
                      </a:solidFill>
                      <a:latin typeface="Times New Roman" panose="02020603050405020304" pitchFamily="18" charset="0"/>
                      <a:ea typeface="华文新魏" panose="02010800040101010101" pitchFamily="2" charset="-122"/>
                      <a:cs typeface="+mn-cs"/>
                    </a:rPr>
                    <a:t>1</a:t>
                  </a:r>
                </a:p>
              </p:txBody>
            </p:sp>
            <p:sp>
              <p:nvSpPr>
                <p:cNvPr id="148" name="Line 86"/>
                <p:cNvSpPr>
                  <a:spLocks noChangeShapeType="1"/>
                </p:cNvSpPr>
                <p:nvPr/>
              </p:nvSpPr>
              <p:spPr bwMode="auto">
                <a:xfrm>
                  <a:off x="288" y="288"/>
                  <a:ext cx="136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9" name="Line 87"/>
                <p:cNvSpPr>
                  <a:spLocks noChangeShapeType="1"/>
                </p:cNvSpPr>
                <p:nvPr/>
              </p:nvSpPr>
              <p:spPr bwMode="auto">
                <a:xfrm flipV="1">
                  <a:off x="1632"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0" name="Line 88"/>
                <p:cNvSpPr>
                  <a:spLocks noChangeShapeType="1"/>
                </p:cNvSpPr>
                <p:nvPr/>
              </p:nvSpPr>
              <p:spPr bwMode="auto">
                <a:xfrm>
                  <a:off x="1636" y="0"/>
                  <a:ext cx="68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1" name="Line 89"/>
                <p:cNvSpPr>
                  <a:spLocks noChangeShapeType="1"/>
                </p:cNvSpPr>
                <p:nvPr/>
              </p:nvSpPr>
              <p:spPr bwMode="auto">
                <a:xfrm flipV="1">
                  <a:off x="2304"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2" name="Line 90"/>
                <p:cNvSpPr>
                  <a:spLocks noChangeShapeType="1"/>
                </p:cNvSpPr>
                <p:nvPr/>
              </p:nvSpPr>
              <p:spPr bwMode="auto">
                <a:xfrm>
                  <a:off x="2304" y="288"/>
                  <a:ext cx="136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3" name="Line 91"/>
                <p:cNvSpPr>
                  <a:spLocks noChangeShapeType="1"/>
                </p:cNvSpPr>
                <p:nvPr/>
              </p:nvSpPr>
              <p:spPr bwMode="auto">
                <a:xfrm flipV="1">
                  <a:off x="3648"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4" name="Line 92"/>
                <p:cNvSpPr>
                  <a:spLocks noChangeShapeType="1"/>
                </p:cNvSpPr>
                <p:nvPr/>
              </p:nvSpPr>
              <p:spPr bwMode="auto">
                <a:xfrm>
                  <a:off x="3652" y="0"/>
                  <a:ext cx="68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5" name="Line 93"/>
                <p:cNvSpPr>
                  <a:spLocks noChangeShapeType="1"/>
                </p:cNvSpPr>
                <p:nvPr/>
              </p:nvSpPr>
              <p:spPr bwMode="auto">
                <a:xfrm flipV="1">
                  <a:off x="4320"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6" name="Line 94"/>
                <p:cNvSpPr>
                  <a:spLocks noChangeShapeType="1"/>
                </p:cNvSpPr>
                <p:nvPr/>
              </p:nvSpPr>
              <p:spPr bwMode="auto">
                <a:xfrm>
                  <a:off x="4320" y="288"/>
                  <a:ext cx="57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nvGrpSpPr>
              <p:cNvPr id="113700" name="Group 95"/>
              <p:cNvGrpSpPr/>
              <p:nvPr/>
            </p:nvGrpSpPr>
            <p:grpSpPr>
              <a:xfrm>
                <a:off x="328613" y="6096000"/>
                <a:ext cx="7772400" cy="457200"/>
                <a:chOff x="0" y="0"/>
                <a:chExt cx="4896" cy="288"/>
              </a:xfrm>
            </p:grpSpPr>
            <p:sp>
              <p:nvSpPr>
                <p:cNvPr id="158" name="Line 96"/>
                <p:cNvSpPr>
                  <a:spLocks noChangeShapeType="1"/>
                </p:cNvSpPr>
                <p:nvPr/>
              </p:nvSpPr>
              <p:spPr bwMode="auto">
                <a:xfrm>
                  <a:off x="288" y="290"/>
                  <a:ext cx="1927"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9" name="Line 97"/>
                <p:cNvSpPr>
                  <a:spLocks noChangeShapeType="1"/>
                </p:cNvSpPr>
                <p:nvPr/>
              </p:nvSpPr>
              <p:spPr bwMode="auto">
                <a:xfrm flipV="1">
                  <a:off x="2206"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0" name="Line 98"/>
                <p:cNvSpPr>
                  <a:spLocks noChangeShapeType="1"/>
                </p:cNvSpPr>
                <p:nvPr/>
              </p:nvSpPr>
              <p:spPr bwMode="auto">
                <a:xfrm>
                  <a:off x="2206" y="0"/>
                  <a:ext cx="98"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1" name="Line 99"/>
                <p:cNvSpPr>
                  <a:spLocks noChangeShapeType="1"/>
                </p:cNvSpPr>
                <p:nvPr/>
              </p:nvSpPr>
              <p:spPr bwMode="auto">
                <a:xfrm flipV="1">
                  <a:off x="2304"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2" name="Line 100"/>
                <p:cNvSpPr>
                  <a:spLocks noChangeShapeType="1"/>
                </p:cNvSpPr>
                <p:nvPr/>
              </p:nvSpPr>
              <p:spPr bwMode="auto">
                <a:xfrm>
                  <a:off x="2304" y="290"/>
                  <a:ext cx="1927"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3" name="Line 101"/>
                <p:cNvSpPr>
                  <a:spLocks noChangeShapeType="1"/>
                </p:cNvSpPr>
                <p:nvPr/>
              </p:nvSpPr>
              <p:spPr bwMode="auto">
                <a:xfrm flipV="1">
                  <a:off x="4222"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4" name="Line 102"/>
                <p:cNvSpPr>
                  <a:spLocks noChangeShapeType="1"/>
                </p:cNvSpPr>
                <p:nvPr/>
              </p:nvSpPr>
              <p:spPr bwMode="auto">
                <a:xfrm>
                  <a:off x="4222" y="0"/>
                  <a:ext cx="98"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5" name="Line 103"/>
                <p:cNvSpPr>
                  <a:spLocks noChangeShapeType="1"/>
                </p:cNvSpPr>
                <p:nvPr/>
              </p:nvSpPr>
              <p:spPr bwMode="auto">
                <a:xfrm flipV="1">
                  <a:off x="4320" y="0"/>
                  <a:ext cx="0" cy="28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6" name="Line 104"/>
                <p:cNvSpPr>
                  <a:spLocks noChangeShapeType="1"/>
                </p:cNvSpPr>
                <p:nvPr/>
              </p:nvSpPr>
              <p:spPr bwMode="auto">
                <a:xfrm>
                  <a:off x="4320" y="290"/>
                  <a:ext cx="57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7" name="Text Box 105"/>
                <p:cNvSpPr txBox="1">
                  <a:spLocks noChangeArrowheads="1"/>
                </p:cNvSpPr>
                <p:nvPr/>
              </p:nvSpPr>
              <p:spPr bwMode="auto">
                <a:xfrm>
                  <a:off x="0" y="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z</a:t>
                  </a:r>
                </a:p>
              </p:txBody>
            </p:sp>
          </p:grpSp>
          <p:grpSp>
            <p:nvGrpSpPr>
              <p:cNvPr id="113701" name="Group 106"/>
              <p:cNvGrpSpPr/>
              <p:nvPr/>
            </p:nvGrpSpPr>
            <p:grpSpPr>
              <a:xfrm>
                <a:off x="1852613" y="4648200"/>
                <a:ext cx="5334000" cy="2133600"/>
                <a:chOff x="0" y="0"/>
                <a:chExt cx="3360" cy="1344"/>
              </a:xfrm>
            </p:grpSpPr>
            <p:sp>
              <p:nvSpPr>
                <p:cNvPr id="169" name="Line 107"/>
                <p:cNvSpPr>
                  <a:spLocks noChangeShapeType="1"/>
                </p:cNvSpPr>
                <p:nvPr/>
              </p:nvSpPr>
              <p:spPr bwMode="auto">
                <a:xfrm>
                  <a:off x="0"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0" name="Line 108"/>
                <p:cNvSpPr>
                  <a:spLocks noChangeShapeType="1"/>
                </p:cNvSpPr>
                <p:nvPr/>
              </p:nvSpPr>
              <p:spPr bwMode="auto">
                <a:xfrm>
                  <a:off x="674"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1" name="Line 109"/>
                <p:cNvSpPr>
                  <a:spLocks noChangeShapeType="1"/>
                </p:cNvSpPr>
                <p:nvPr/>
              </p:nvSpPr>
              <p:spPr bwMode="auto">
                <a:xfrm>
                  <a:off x="1344"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2" name="Line 110"/>
                <p:cNvSpPr>
                  <a:spLocks noChangeShapeType="1"/>
                </p:cNvSpPr>
                <p:nvPr/>
              </p:nvSpPr>
              <p:spPr bwMode="auto">
                <a:xfrm>
                  <a:off x="2020"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3" name="Line 111"/>
                <p:cNvSpPr>
                  <a:spLocks noChangeShapeType="1"/>
                </p:cNvSpPr>
                <p:nvPr/>
              </p:nvSpPr>
              <p:spPr bwMode="auto">
                <a:xfrm>
                  <a:off x="2688"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4" name="Line 112"/>
                <p:cNvSpPr>
                  <a:spLocks noChangeShapeType="1"/>
                </p:cNvSpPr>
                <p:nvPr/>
              </p:nvSpPr>
              <p:spPr bwMode="auto">
                <a:xfrm>
                  <a:off x="3360" y="0"/>
                  <a:ext cx="0" cy="1344"/>
                </a:xfrm>
                <a:prstGeom prst="line">
                  <a:avLst/>
                </a:prstGeom>
                <a:noFill/>
                <a:ln w="9525">
                  <a:solidFill>
                    <a:schemeClr val="bg1"/>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grpSp>
        </p:grpSp>
        <p:sp>
          <p:nvSpPr>
            <p:cNvPr id="176" name="Text Box 46"/>
            <p:cNvSpPr txBox="1">
              <a:spLocks noChangeArrowheads="1"/>
            </p:cNvSpPr>
            <p:nvPr/>
          </p:nvSpPr>
          <p:spPr bwMode="auto">
            <a:xfrm>
              <a:off x="443788" y="3249398"/>
              <a:ext cx="60971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2400" b="1"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x</a:t>
              </a:r>
            </a:p>
          </p:txBody>
        </p:sp>
      </p:grpSp>
      <p:sp>
        <p:nvSpPr>
          <p:cNvPr id="2" name="文本框 1"/>
          <p:cNvSpPr txBox="1"/>
          <p:nvPr/>
        </p:nvSpPr>
        <p:spPr>
          <a:xfrm>
            <a:off x="7592060" y="951230"/>
            <a:ext cx="1656080" cy="1198880"/>
          </a:xfrm>
          <a:prstGeom prst="rect">
            <a:avLst/>
          </a:prstGeom>
          <a:noFill/>
        </p:spPr>
        <p:txBody>
          <a:bodyPr wrap="square" rtlCol="0">
            <a:spAutoFit/>
          </a:bodyPr>
          <a:lstStyle/>
          <a:p>
            <a:r>
              <a:rPr lang="zh-CN" altLang="en-US" sz="1800">
                <a:solidFill>
                  <a:schemeClr val="tx1"/>
                </a:solidFill>
                <a:latin typeface="华文新魏" panose="02010800040101010101" pitchFamily="2" charset="-122"/>
                <a:ea typeface="华文新魏" panose="02010800040101010101" pitchFamily="2" charset="-122"/>
              </a:rPr>
              <a:t>相比同步时序电路，脉冲异步电路的分析更简单。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13693"/>
                                        </p:tgtEl>
                                        <p:attrNameLst>
                                          <p:attrName>style.visibility</p:attrName>
                                        </p:attrNameLst>
                                      </p:cBhvr>
                                      <p:to>
                                        <p:strVal val="visible"/>
                                      </p:to>
                                    </p:set>
                                    <p:animEffect transition="in" filter="blinds(horizontal)">
                                      <p:cBhvr>
                                        <p:cTn id="11" dur="500"/>
                                        <p:tgtEl>
                                          <p:spTgt spid="11369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91" grpId="0"/>
      <p:bldP spid="113691" grpId="1"/>
      <p:bldP spid="2" grpId="0"/>
      <p:bldP spid="2"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168"/>
          <p:cNvSpPr txBox="1"/>
          <p:nvPr/>
        </p:nvSpPr>
        <p:spPr>
          <a:xfrm>
            <a:off x="660400" y="1957388"/>
            <a:ext cx="4343400" cy="737235"/>
          </a:xfrm>
          <a:prstGeom prst="rect">
            <a:avLst/>
          </a:prstGeom>
          <a:noFill/>
          <a:ln w="19050">
            <a:noFill/>
          </a:ln>
        </p:spPr>
        <p:txBody>
          <a:bodyPr>
            <a:spAutoFit/>
          </a:bodyPr>
          <a:lstStyle/>
          <a:p>
            <a:pPr eaLnBrk="1" hangingPunct="1">
              <a:lnSpc>
                <a:spcPct val="80000"/>
              </a:lnSpc>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⑴ </a:t>
            </a:r>
            <a:r>
              <a:rPr lang="zh-CN" altLang="en-US" b="1" dirty="0">
                <a:solidFill>
                  <a:schemeClr val="tx1"/>
                </a:solidFill>
                <a:latin typeface="华文新魏" panose="02010800040101010101" pitchFamily="2" charset="-122"/>
                <a:ea typeface="华文新魏" panose="02010800040101010101" pitchFamily="2" charset="-122"/>
              </a:rPr>
              <a:t>列出</a:t>
            </a:r>
            <a:r>
              <a:rPr lang="zh-CN" altLang="en-US" b="1" dirty="0">
                <a:solidFill>
                  <a:srgbClr val="FF0000"/>
                </a:solidFill>
                <a:latin typeface="华文新魏" panose="02010800040101010101" pitchFamily="2" charset="-122"/>
                <a:ea typeface="华文新魏" panose="02010800040101010101" pitchFamily="2" charset="-122"/>
              </a:rPr>
              <a:t>输出函数</a:t>
            </a:r>
            <a:r>
              <a:rPr lang="zh-CN" altLang="en-US" b="1" dirty="0">
                <a:solidFill>
                  <a:schemeClr val="tx1"/>
                </a:solidFill>
                <a:latin typeface="华文新魏" panose="02010800040101010101" pitchFamily="2" charset="-122"/>
                <a:ea typeface="华文新魏" panose="02010800040101010101" pitchFamily="2" charset="-122"/>
              </a:rPr>
              <a:t>及</a:t>
            </a:r>
            <a:r>
              <a:rPr lang="zh-CN" altLang="en-US" b="1" dirty="0">
                <a:solidFill>
                  <a:srgbClr val="FF0000"/>
                </a:solidFill>
                <a:latin typeface="华文新魏" panose="02010800040101010101" pitchFamily="2" charset="-122"/>
                <a:ea typeface="华文新魏" panose="02010800040101010101" pitchFamily="2" charset="-122"/>
              </a:rPr>
              <a:t>控制函数</a:t>
            </a: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的表达式</a:t>
            </a:r>
          </a:p>
        </p:txBody>
      </p:sp>
      <p:sp>
        <p:nvSpPr>
          <p:cNvPr id="114692" name="Rectangle 2"/>
          <p:cNvSpPr>
            <a:spLocks noGrp="1"/>
          </p:cNvSpPr>
          <p:nvPr>
            <p:ph type="title"/>
          </p:nvPr>
        </p:nvSpPr>
        <p:spPr>
          <a:xfrm>
            <a:off x="514350" y="473075"/>
            <a:ext cx="8305800" cy="685800"/>
          </a:xfrm>
          <a:prstGeom prst="rect">
            <a:avLst/>
          </a:prstGeom>
          <a:noFill/>
          <a:ln w="19050">
            <a:noFill/>
          </a:ln>
        </p:spPr>
        <p:txBody>
          <a:bodyPr/>
          <a:lstStyle/>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例</a:t>
            </a:r>
            <a:r>
              <a:rPr lang="en-US" altLang="zh-CN" sz="2000" b="1" dirty="0">
                <a:solidFill>
                  <a:srgbClr val="FF0000"/>
                </a:solidFill>
                <a:latin typeface="华文新魏" panose="02010800040101010101" pitchFamily="2" charset="-122"/>
                <a:ea typeface="华文新魏" panose="02010800040101010101" pitchFamily="2" charset="-122"/>
              </a:rPr>
              <a:t>2</a:t>
            </a:r>
            <a:r>
              <a:rPr lang="en-US" altLang="zh-CN" sz="2000" dirty="0">
                <a:solidFill>
                  <a:srgbClr val="FF0000"/>
                </a:solidFill>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试分析如图所示的脉冲异步时序电路</a:t>
            </a:r>
            <a:r>
              <a:rPr lang="zh-CN" altLang="en-US" sz="2000" dirty="0">
                <a:latin typeface="华文新魏" panose="02010800040101010101" pitchFamily="2" charset="-122"/>
                <a:ea typeface="华文新魏" panose="02010800040101010101" pitchFamily="2" charset="-122"/>
              </a:rPr>
              <a:t>。</a:t>
            </a:r>
          </a:p>
        </p:txBody>
      </p:sp>
      <p:sp>
        <p:nvSpPr>
          <p:cNvPr id="114693" name="Rectangle 3"/>
          <p:cNvSpPr>
            <a:spLocks noGrp="1"/>
          </p:cNvSpPr>
          <p:nvPr>
            <p:ph type="body"/>
          </p:nvPr>
        </p:nvSpPr>
        <p:spPr>
          <a:xfrm>
            <a:off x="589280" y="987425"/>
            <a:ext cx="5160010" cy="863600"/>
          </a:xfrm>
          <a:prstGeom prst="rect">
            <a:avLst/>
          </a:prstGeom>
          <a:noFill/>
          <a:ln w="19050">
            <a:noFill/>
          </a:ln>
        </p:spPr>
        <p:txBody>
          <a:bodyPr/>
          <a:lstStyle/>
          <a:p>
            <a:pPr eaLnBrk="1" hangingPunct="1">
              <a:buNone/>
            </a:pP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该电路包含两个</a:t>
            </a:r>
            <a:r>
              <a:rPr lang="en-US" altLang="zh-CN" sz="2000" b="1" dirty="0">
                <a:solidFill>
                  <a:srgbClr val="FF0000"/>
                </a:solidFill>
                <a:latin typeface="华文新魏" panose="02010800040101010101" pitchFamily="2" charset="-122"/>
                <a:ea typeface="华文新魏" panose="02010800040101010101" pitchFamily="2" charset="-122"/>
              </a:rPr>
              <a:t>/S-/R</a:t>
            </a:r>
            <a:r>
              <a:rPr lang="zh-CN" altLang="en-US" sz="2000" b="1" dirty="0">
                <a:solidFill>
                  <a:srgbClr val="FF0000"/>
                </a:solidFill>
                <a:latin typeface="华文新魏" panose="02010800040101010101" pitchFamily="2" charset="-122"/>
                <a:ea typeface="华文新魏" panose="02010800040101010101" pitchFamily="2" charset="-122"/>
              </a:rPr>
              <a:t>锁存器，</a:t>
            </a:r>
            <a:r>
              <a:rPr lang="zh-CN" altLang="en-US" sz="2000" b="1" dirty="0">
                <a:latin typeface="华文新魏" panose="02010800040101010101" pitchFamily="2" charset="-122"/>
                <a:ea typeface="华文新魏" panose="02010800040101010101" pitchFamily="2" charset="-122"/>
              </a:rPr>
              <a:t>有三根输入线</a:t>
            </a:r>
            <a:r>
              <a:rPr lang="en-US" altLang="zh-CN" sz="2000" b="1" dirty="0">
                <a:solidFill>
                  <a:srgbClr val="FF0000"/>
                </a:solidFill>
                <a:latin typeface="华文新魏" panose="02010800040101010101" pitchFamily="2" charset="-122"/>
                <a:ea typeface="华文新魏" panose="02010800040101010101" pitchFamily="2" charset="-122"/>
              </a:rPr>
              <a:t>x</a:t>
            </a:r>
            <a:r>
              <a:rPr lang="en-US" altLang="zh-CN" sz="2000" b="1" baseline="-25000" dirty="0">
                <a:solidFill>
                  <a:srgbClr val="FF0000"/>
                </a:solidFill>
                <a:latin typeface="华文新魏" panose="02010800040101010101" pitchFamily="2" charset="-122"/>
                <a:ea typeface="华文新魏" panose="02010800040101010101" pitchFamily="2" charset="-122"/>
              </a:rPr>
              <a:t>3</a:t>
            </a:r>
            <a:r>
              <a:rPr lang="en-US" altLang="zh-CN" sz="2000" b="1" dirty="0">
                <a:solidFill>
                  <a:srgbClr val="FF0000"/>
                </a:solidFill>
                <a:latin typeface="华文新魏" panose="02010800040101010101" pitchFamily="2" charset="-122"/>
                <a:ea typeface="华文新魏" panose="02010800040101010101" pitchFamily="2" charset="-122"/>
              </a:rPr>
              <a:t> x</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 x</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，是一个</a:t>
            </a:r>
            <a:r>
              <a:rPr lang="en-US" altLang="zh-CN" sz="2000" b="1" dirty="0">
                <a:solidFill>
                  <a:srgbClr val="FF0000"/>
                </a:solidFill>
                <a:latin typeface="华文新魏" panose="02010800040101010101" pitchFamily="2" charset="-122"/>
                <a:ea typeface="华文新魏" panose="02010800040101010101" pitchFamily="2" charset="-122"/>
              </a:rPr>
              <a:t>Moore</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型电路。</a:t>
            </a:r>
          </a:p>
        </p:txBody>
      </p:sp>
      <p:grpSp>
        <p:nvGrpSpPr>
          <p:cNvPr id="114702" name="Group 5"/>
          <p:cNvGrpSpPr/>
          <p:nvPr/>
        </p:nvGrpSpPr>
        <p:grpSpPr>
          <a:xfrm>
            <a:off x="4130993" y="377508"/>
            <a:ext cx="4541837" cy="4776787"/>
            <a:chOff x="0" y="0"/>
            <a:chExt cx="3408" cy="3560"/>
          </a:xfrm>
        </p:grpSpPr>
        <p:sp>
          <p:nvSpPr>
            <p:cNvPr id="113" name="Rectangle 6"/>
            <p:cNvSpPr>
              <a:spLocks noChangeArrowheads="1"/>
            </p:cNvSpPr>
            <p:nvPr/>
          </p:nvSpPr>
          <p:spPr bwMode="auto">
            <a:xfrm>
              <a:off x="1499" y="440"/>
              <a:ext cx="723"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4" name="Line 7"/>
            <p:cNvSpPr>
              <a:spLocks noChangeShapeType="1"/>
            </p:cNvSpPr>
            <p:nvPr/>
          </p:nvSpPr>
          <p:spPr bwMode="auto">
            <a:xfrm>
              <a:off x="1499" y="647"/>
              <a:ext cx="72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5" name="Text Box 8"/>
            <p:cNvSpPr txBox="1">
              <a:spLocks noChangeArrowheads="1"/>
            </p:cNvSpPr>
            <p:nvPr/>
          </p:nvSpPr>
          <p:spPr bwMode="auto">
            <a:xfrm>
              <a:off x="1499" y="418"/>
              <a:ext cx="424"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zh-CN" altLang="en-US"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 </a:t>
              </a: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1</a:t>
              </a:r>
            </a:p>
          </p:txBody>
        </p:sp>
        <p:sp>
          <p:nvSpPr>
            <p:cNvPr id="116" name="Text Box 9"/>
            <p:cNvSpPr txBox="1">
              <a:spLocks noChangeArrowheads="1"/>
            </p:cNvSpPr>
            <p:nvPr/>
          </p:nvSpPr>
          <p:spPr bwMode="auto">
            <a:xfrm>
              <a:off x="1566" y="637"/>
              <a:ext cx="33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&amp;</a:t>
              </a:r>
            </a:p>
          </p:txBody>
        </p:sp>
        <p:sp>
          <p:nvSpPr>
            <p:cNvPr id="117" name="Line 10"/>
            <p:cNvSpPr>
              <a:spLocks noChangeShapeType="1"/>
            </p:cNvSpPr>
            <p:nvPr/>
          </p:nvSpPr>
          <p:spPr bwMode="auto">
            <a:xfrm>
              <a:off x="1852" y="648"/>
              <a:ext cx="0"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19" name="Line 12"/>
            <p:cNvSpPr>
              <a:spLocks noChangeShapeType="1"/>
            </p:cNvSpPr>
            <p:nvPr/>
          </p:nvSpPr>
          <p:spPr bwMode="auto">
            <a:xfrm>
              <a:off x="1848" y="119"/>
              <a:ext cx="0" cy="23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0" name="Rectangle 13"/>
            <p:cNvSpPr>
              <a:spLocks noChangeArrowheads="1"/>
            </p:cNvSpPr>
            <p:nvPr/>
          </p:nvSpPr>
          <p:spPr bwMode="auto">
            <a:xfrm>
              <a:off x="912" y="1440"/>
              <a:ext cx="623"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3" name="Text Box 16"/>
            <p:cNvSpPr txBox="1">
              <a:spLocks noChangeArrowheads="1"/>
            </p:cNvSpPr>
            <p:nvPr/>
          </p:nvSpPr>
          <p:spPr bwMode="auto">
            <a:xfrm>
              <a:off x="937" y="1393"/>
              <a:ext cx="262"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p>
          </p:txBody>
        </p:sp>
        <p:sp>
          <p:nvSpPr>
            <p:cNvPr id="124" name="Text Box 17"/>
            <p:cNvSpPr txBox="1">
              <a:spLocks noChangeArrowheads="1"/>
            </p:cNvSpPr>
            <p:nvPr/>
          </p:nvSpPr>
          <p:spPr bwMode="auto">
            <a:xfrm>
              <a:off x="1286" y="1393"/>
              <a:ext cx="23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p>
          </p:txBody>
        </p:sp>
        <p:sp>
          <p:nvSpPr>
            <p:cNvPr id="125" name="Text Box 18"/>
            <p:cNvSpPr txBox="1">
              <a:spLocks noChangeArrowheads="1"/>
            </p:cNvSpPr>
            <p:nvPr/>
          </p:nvSpPr>
          <p:spPr bwMode="auto">
            <a:xfrm>
              <a:off x="942" y="1674"/>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R</a:t>
              </a:r>
            </a:p>
          </p:txBody>
        </p:sp>
        <p:sp>
          <p:nvSpPr>
            <p:cNvPr id="126" name="Text Box 19"/>
            <p:cNvSpPr txBox="1">
              <a:spLocks noChangeArrowheads="1"/>
            </p:cNvSpPr>
            <p:nvPr/>
          </p:nvSpPr>
          <p:spPr bwMode="auto">
            <a:xfrm>
              <a:off x="1301" y="1674"/>
              <a:ext cx="2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S</a:t>
              </a:r>
            </a:p>
          </p:txBody>
        </p:sp>
        <p:sp>
          <p:nvSpPr>
            <p:cNvPr id="127" name="Line 20"/>
            <p:cNvSpPr>
              <a:spLocks noChangeShapeType="1"/>
            </p:cNvSpPr>
            <p:nvPr/>
          </p:nvSpPr>
          <p:spPr bwMode="auto">
            <a:xfrm>
              <a:off x="1054" y="1159"/>
              <a:ext cx="0" cy="2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8" name="Line 21"/>
            <p:cNvSpPr>
              <a:spLocks noChangeShapeType="1"/>
            </p:cNvSpPr>
            <p:nvPr/>
          </p:nvSpPr>
          <p:spPr bwMode="auto">
            <a:xfrm>
              <a:off x="1393" y="1167"/>
              <a:ext cx="0" cy="2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29" name="Line 22"/>
            <p:cNvSpPr>
              <a:spLocks noChangeShapeType="1"/>
            </p:cNvSpPr>
            <p:nvPr/>
          </p:nvSpPr>
          <p:spPr bwMode="auto">
            <a:xfrm>
              <a:off x="1053" y="1947"/>
              <a:ext cx="0" cy="21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0" name="Line 23"/>
            <p:cNvSpPr>
              <a:spLocks noChangeShapeType="1"/>
            </p:cNvSpPr>
            <p:nvPr/>
          </p:nvSpPr>
          <p:spPr bwMode="auto">
            <a:xfrm>
              <a:off x="1413" y="1936"/>
              <a:ext cx="1" cy="23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1" name="Rectangle 24"/>
            <p:cNvSpPr>
              <a:spLocks noChangeArrowheads="1"/>
            </p:cNvSpPr>
            <p:nvPr/>
          </p:nvSpPr>
          <p:spPr bwMode="auto">
            <a:xfrm>
              <a:off x="2208" y="1440"/>
              <a:ext cx="623"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4" name="Text Box 27"/>
            <p:cNvSpPr txBox="1">
              <a:spLocks noChangeArrowheads="1"/>
            </p:cNvSpPr>
            <p:nvPr/>
          </p:nvSpPr>
          <p:spPr bwMode="auto">
            <a:xfrm>
              <a:off x="2233" y="1393"/>
              <a:ext cx="243"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p>
          </p:txBody>
        </p:sp>
        <p:sp>
          <p:nvSpPr>
            <p:cNvPr id="135" name="Text Box 28"/>
            <p:cNvSpPr txBox="1">
              <a:spLocks noChangeArrowheads="1"/>
            </p:cNvSpPr>
            <p:nvPr/>
          </p:nvSpPr>
          <p:spPr bwMode="auto">
            <a:xfrm>
              <a:off x="2583" y="1393"/>
              <a:ext cx="23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Q</a:t>
              </a:r>
            </a:p>
          </p:txBody>
        </p:sp>
        <p:sp>
          <p:nvSpPr>
            <p:cNvPr id="136" name="Text Box 29"/>
            <p:cNvSpPr txBox="1">
              <a:spLocks noChangeArrowheads="1"/>
            </p:cNvSpPr>
            <p:nvPr/>
          </p:nvSpPr>
          <p:spPr bwMode="auto">
            <a:xfrm>
              <a:off x="2244" y="1668"/>
              <a:ext cx="2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R</a:t>
              </a:r>
            </a:p>
          </p:txBody>
        </p:sp>
        <p:sp>
          <p:nvSpPr>
            <p:cNvPr id="137" name="Text Box 30"/>
            <p:cNvSpPr txBox="1">
              <a:spLocks noChangeArrowheads="1"/>
            </p:cNvSpPr>
            <p:nvPr/>
          </p:nvSpPr>
          <p:spPr bwMode="auto">
            <a:xfrm>
              <a:off x="2597" y="1676"/>
              <a:ext cx="229"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400" b="1" kern="1200" cap="none" spc="0" normalizeH="0" baseline="0" noProof="0">
                  <a:solidFill>
                    <a:srgbClr val="FFFF00"/>
                  </a:solidFill>
                  <a:latin typeface="Times New Roman" panose="02020603050405020304" pitchFamily="18" charset="0"/>
                  <a:ea typeface="华文新魏" panose="02010800040101010101" pitchFamily="2" charset="-122"/>
                  <a:cs typeface="+mn-cs"/>
                </a:rPr>
                <a:t>S</a:t>
              </a:r>
            </a:p>
          </p:txBody>
        </p:sp>
        <p:sp>
          <p:nvSpPr>
            <p:cNvPr id="138" name="Line 31"/>
            <p:cNvSpPr>
              <a:spLocks noChangeShapeType="1"/>
            </p:cNvSpPr>
            <p:nvPr/>
          </p:nvSpPr>
          <p:spPr bwMode="auto">
            <a:xfrm flipH="1">
              <a:off x="2346" y="1168"/>
              <a:ext cx="4" cy="22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39" name="Line 32"/>
            <p:cNvSpPr>
              <a:spLocks noChangeShapeType="1"/>
            </p:cNvSpPr>
            <p:nvPr/>
          </p:nvSpPr>
          <p:spPr bwMode="auto">
            <a:xfrm>
              <a:off x="2689" y="1167"/>
              <a:ext cx="0" cy="2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0" name="Line 33"/>
            <p:cNvSpPr>
              <a:spLocks noChangeShapeType="1"/>
            </p:cNvSpPr>
            <p:nvPr/>
          </p:nvSpPr>
          <p:spPr bwMode="auto">
            <a:xfrm>
              <a:off x="2337" y="1941"/>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1" name="Line 34"/>
            <p:cNvSpPr>
              <a:spLocks noChangeShapeType="1"/>
            </p:cNvSpPr>
            <p:nvPr/>
          </p:nvSpPr>
          <p:spPr bwMode="auto">
            <a:xfrm>
              <a:off x="2704" y="1944"/>
              <a:ext cx="0" cy="2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2" name="Line 35"/>
            <p:cNvSpPr>
              <a:spLocks noChangeShapeType="1"/>
            </p:cNvSpPr>
            <p:nvPr/>
          </p:nvSpPr>
          <p:spPr bwMode="auto">
            <a:xfrm>
              <a:off x="1393" y="1163"/>
              <a:ext cx="28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3" name="Line 36"/>
            <p:cNvSpPr>
              <a:spLocks noChangeShapeType="1"/>
            </p:cNvSpPr>
            <p:nvPr/>
          </p:nvSpPr>
          <p:spPr bwMode="auto">
            <a:xfrm>
              <a:off x="2064" y="1168"/>
              <a:ext cx="28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4" name="Line 37"/>
            <p:cNvSpPr>
              <a:spLocks noChangeShapeType="1"/>
            </p:cNvSpPr>
            <p:nvPr/>
          </p:nvSpPr>
          <p:spPr bwMode="auto">
            <a:xfrm>
              <a:off x="2064" y="876"/>
              <a:ext cx="0" cy="29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5" name="Line 38"/>
            <p:cNvSpPr>
              <a:spLocks noChangeShapeType="1"/>
            </p:cNvSpPr>
            <p:nvPr/>
          </p:nvSpPr>
          <p:spPr bwMode="auto">
            <a:xfrm>
              <a:off x="1680" y="870"/>
              <a:ext cx="0" cy="29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6" name="Line 39"/>
            <p:cNvSpPr>
              <a:spLocks noChangeShapeType="1"/>
            </p:cNvSpPr>
            <p:nvPr/>
          </p:nvSpPr>
          <p:spPr bwMode="auto">
            <a:xfrm>
              <a:off x="876" y="2166"/>
              <a:ext cx="0"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7" name="Line 40"/>
            <p:cNvSpPr>
              <a:spLocks noChangeShapeType="1"/>
            </p:cNvSpPr>
            <p:nvPr/>
          </p:nvSpPr>
          <p:spPr bwMode="auto">
            <a:xfrm>
              <a:off x="876" y="2160"/>
              <a:ext cx="16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8" name="Line 41"/>
            <p:cNvSpPr>
              <a:spLocks noChangeShapeType="1"/>
            </p:cNvSpPr>
            <p:nvPr/>
          </p:nvSpPr>
          <p:spPr bwMode="auto">
            <a:xfrm>
              <a:off x="1418" y="2171"/>
              <a:ext cx="18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49" name="Line 42"/>
            <p:cNvSpPr>
              <a:spLocks noChangeShapeType="1"/>
            </p:cNvSpPr>
            <p:nvPr/>
          </p:nvSpPr>
          <p:spPr bwMode="auto">
            <a:xfrm>
              <a:off x="1595" y="2171"/>
              <a:ext cx="0" cy="3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0" name="Line 43"/>
            <p:cNvSpPr>
              <a:spLocks noChangeShapeType="1"/>
            </p:cNvSpPr>
            <p:nvPr/>
          </p:nvSpPr>
          <p:spPr bwMode="auto">
            <a:xfrm>
              <a:off x="2710" y="2171"/>
              <a:ext cx="28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1" name="Line 44"/>
            <p:cNvSpPr>
              <a:spLocks noChangeShapeType="1"/>
            </p:cNvSpPr>
            <p:nvPr/>
          </p:nvSpPr>
          <p:spPr bwMode="auto">
            <a:xfrm>
              <a:off x="2998" y="2171"/>
              <a:ext cx="0"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2" name="Line 45"/>
            <p:cNvSpPr>
              <a:spLocks noChangeShapeType="1"/>
            </p:cNvSpPr>
            <p:nvPr/>
          </p:nvSpPr>
          <p:spPr bwMode="auto">
            <a:xfrm>
              <a:off x="2250" y="2172"/>
              <a:ext cx="0" cy="19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3" name="Line 46"/>
            <p:cNvSpPr>
              <a:spLocks noChangeShapeType="1"/>
            </p:cNvSpPr>
            <p:nvPr/>
          </p:nvSpPr>
          <p:spPr bwMode="auto">
            <a:xfrm>
              <a:off x="2250" y="2169"/>
              <a:ext cx="7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4" name="Line 47"/>
            <p:cNvSpPr>
              <a:spLocks noChangeShapeType="1"/>
            </p:cNvSpPr>
            <p:nvPr/>
          </p:nvSpPr>
          <p:spPr bwMode="auto">
            <a:xfrm>
              <a:off x="719" y="2868"/>
              <a:ext cx="0" cy="9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5" name="Line 48"/>
            <p:cNvSpPr>
              <a:spLocks noChangeShapeType="1"/>
            </p:cNvSpPr>
            <p:nvPr/>
          </p:nvSpPr>
          <p:spPr bwMode="auto">
            <a:xfrm>
              <a:off x="239" y="2965"/>
              <a:ext cx="4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6" name="Line 49"/>
            <p:cNvSpPr>
              <a:spLocks noChangeShapeType="1"/>
            </p:cNvSpPr>
            <p:nvPr/>
          </p:nvSpPr>
          <p:spPr bwMode="auto">
            <a:xfrm>
              <a:off x="239" y="3089"/>
              <a:ext cx="264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7" name="Line 50"/>
            <p:cNvSpPr>
              <a:spLocks noChangeShapeType="1"/>
            </p:cNvSpPr>
            <p:nvPr/>
          </p:nvSpPr>
          <p:spPr bwMode="auto">
            <a:xfrm>
              <a:off x="2880" y="2806"/>
              <a:ext cx="0" cy="2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8" name="Line 51"/>
            <p:cNvSpPr>
              <a:spLocks noChangeShapeType="1"/>
            </p:cNvSpPr>
            <p:nvPr/>
          </p:nvSpPr>
          <p:spPr bwMode="auto">
            <a:xfrm>
              <a:off x="245" y="3242"/>
              <a:ext cx="17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59" name="Line 52"/>
            <p:cNvSpPr>
              <a:spLocks noChangeShapeType="1"/>
            </p:cNvSpPr>
            <p:nvPr/>
          </p:nvSpPr>
          <p:spPr bwMode="auto">
            <a:xfrm>
              <a:off x="2015" y="2874"/>
              <a:ext cx="0" cy="3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0" name="Line 53"/>
            <p:cNvSpPr>
              <a:spLocks noChangeShapeType="1"/>
            </p:cNvSpPr>
            <p:nvPr/>
          </p:nvSpPr>
          <p:spPr bwMode="auto">
            <a:xfrm>
              <a:off x="2988" y="2810"/>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1" name="Line 54"/>
            <p:cNvSpPr>
              <a:spLocks noChangeShapeType="1"/>
            </p:cNvSpPr>
            <p:nvPr/>
          </p:nvSpPr>
          <p:spPr bwMode="auto">
            <a:xfrm>
              <a:off x="3109" y="2805"/>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2" name="Line 55"/>
            <p:cNvSpPr>
              <a:spLocks noChangeShapeType="1"/>
            </p:cNvSpPr>
            <p:nvPr/>
          </p:nvSpPr>
          <p:spPr bwMode="auto">
            <a:xfrm>
              <a:off x="2544" y="2872"/>
              <a:ext cx="0" cy="4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3" name="Line 56"/>
            <p:cNvSpPr>
              <a:spLocks noChangeShapeType="1"/>
            </p:cNvSpPr>
            <p:nvPr/>
          </p:nvSpPr>
          <p:spPr bwMode="auto">
            <a:xfrm>
              <a:off x="2357" y="2874"/>
              <a:ext cx="0" cy="20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4" name="Oval 57"/>
            <p:cNvSpPr>
              <a:spLocks noChangeArrowheads="1"/>
            </p:cNvSpPr>
            <p:nvPr/>
          </p:nvSpPr>
          <p:spPr bwMode="auto">
            <a:xfrm>
              <a:off x="2330" y="3062"/>
              <a:ext cx="48" cy="49"/>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5" name="Line 58"/>
            <p:cNvSpPr>
              <a:spLocks noChangeShapeType="1"/>
            </p:cNvSpPr>
            <p:nvPr/>
          </p:nvSpPr>
          <p:spPr bwMode="auto">
            <a:xfrm>
              <a:off x="2179" y="2872"/>
              <a:ext cx="0" cy="4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6" name="Line 59"/>
            <p:cNvSpPr>
              <a:spLocks noChangeShapeType="1"/>
            </p:cNvSpPr>
            <p:nvPr/>
          </p:nvSpPr>
          <p:spPr bwMode="auto">
            <a:xfrm>
              <a:off x="1525" y="2810"/>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7" name="Line 60"/>
            <p:cNvSpPr>
              <a:spLocks noChangeShapeType="1"/>
            </p:cNvSpPr>
            <p:nvPr/>
          </p:nvSpPr>
          <p:spPr bwMode="auto">
            <a:xfrm>
              <a:off x="1687" y="2821"/>
              <a:ext cx="0" cy="43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8" name="Oval 61"/>
            <p:cNvSpPr>
              <a:spLocks noChangeArrowheads="1"/>
            </p:cNvSpPr>
            <p:nvPr/>
          </p:nvSpPr>
          <p:spPr bwMode="auto">
            <a:xfrm>
              <a:off x="1669" y="3216"/>
              <a:ext cx="48" cy="51"/>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69" name="Line 62"/>
            <p:cNvSpPr>
              <a:spLocks noChangeShapeType="1"/>
            </p:cNvSpPr>
            <p:nvPr/>
          </p:nvSpPr>
          <p:spPr bwMode="auto">
            <a:xfrm>
              <a:off x="1163" y="2873"/>
              <a:ext cx="0" cy="19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0" name="Oval 63"/>
            <p:cNvSpPr>
              <a:spLocks noChangeArrowheads="1"/>
            </p:cNvSpPr>
            <p:nvPr/>
          </p:nvSpPr>
          <p:spPr bwMode="auto">
            <a:xfrm>
              <a:off x="1138" y="3068"/>
              <a:ext cx="49" cy="50"/>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1" name="Line 64"/>
            <p:cNvSpPr>
              <a:spLocks noChangeShapeType="1"/>
            </p:cNvSpPr>
            <p:nvPr/>
          </p:nvSpPr>
          <p:spPr bwMode="auto">
            <a:xfrm>
              <a:off x="993" y="2866"/>
              <a:ext cx="0" cy="43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2" name="Text Box 65"/>
            <p:cNvSpPr txBox="1">
              <a:spLocks noChangeArrowheads="1"/>
            </p:cNvSpPr>
            <p:nvPr/>
          </p:nvSpPr>
          <p:spPr bwMode="auto">
            <a:xfrm>
              <a:off x="1873" y="0"/>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Z</a:t>
              </a:r>
            </a:p>
          </p:txBody>
        </p:sp>
        <p:sp>
          <p:nvSpPr>
            <p:cNvPr id="173" name="Text Box 66"/>
            <p:cNvSpPr txBox="1">
              <a:spLocks noChangeArrowheads="1"/>
            </p:cNvSpPr>
            <p:nvPr/>
          </p:nvSpPr>
          <p:spPr bwMode="auto">
            <a:xfrm>
              <a:off x="2736" y="1152"/>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p>
          </p:txBody>
        </p:sp>
        <p:sp>
          <p:nvSpPr>
            <p:cNvPr id="174" name="Text Box 67"/>
            <p:cNvSpPr txBox="1">
              <a:spLocks noChangeArrowheads="1"/>
            </p:cNvSpPr>
            <p:nvPr/>
          </p:nvSpPr>
          <p:spPr bwMode="auto">
            <a:xfrm>
              <a:off x="1440" y="1156"/>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p>
          </p:txBody>
        </p:sp>
        <p:sp>
          <p:nvSpPr>
            <p:cNvPr id="175" name="Text Box 68"/>
            <p:cNvSpPr txBox="1">
              <a:spLocks noChangeArrowheads="1"/>
            </p:cNvSpPr>
            <p:nvPr/>
          </p:nvSpPr>
          <p:spPr bwMode="auto">
            <a:xfrm>
              <a:off x="2060" y="1152"/>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p>
          </p:txBody>
        </p:sp>
        <p:sp>
          <p:nvSpPr>
            <p:cNvPr id="176" name="Text Box 69"/>
            <p:cNvSpPr txBox="1">
              <a:spLocks noChangeArrowheads="1"/>
            </p:cNvSpPr>
            <p:nvPr/>
          </p:nvSpPr>
          <p:spPr bwMode="auto">
            <a:xfrm>
              <a:off x="768" y="1152"/>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p>
          </p:txBody>
        </p:sp>
        <p:sp>
          <p:nvSpPr>
            <p:cNvPr id="177" name="Text Box 70"/>
            <p:cNvSpPr txBox="1">
              <a:spLocks noChangeArrowheads="1"/>
            </p:cNvSpPr>
            <p:nvPr/>
          </p:nvSpPr>
          <p:spPr bwMode="auto">
            <a:xfrm>
              <a:off x="683" y="1862"/>
              <a:ext cx="3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chemeClr val="accent2"/>
                  </a:solidFill>
                  <a:latin typeface="Times New Roman" panose="02020603050405020304" pitchFamily="18" charset="0"/>
                  <a:ea typeface="华文新魏" panose="02010800040101010101" pitchFamily="2" charset="-122"/>
                  <a:cs typeface="+mn-cs"/>
                </a:rPr>
                <a:t>/R</a:t>
              </a:r>
              <a:r>
                <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rPr>
                <a:t>2</a:t>
              </a:r>
            </a:p>
          </p:txBody>
        </p:sp>
        <p:sp>
          <p:nvSpPr>
            <p:cNvPr id="178" name="Text Box 71"/>
            <p:cNvSpPr txBox="1">
              <a:spLocks noChangeArrowheads="1"/>
            </p:cNvSpPr>
            <p:nvPr/>
          </p:nvSpPr>
          <p:spPr bwMode="auto">
            <a:xfrm>
              <a:off x="1970" y="1865"/>
              <a:ext cx="388"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chemeClr val="accent2"/>
                  </a:solidFill>
                  <a:latin typeface="Times New Roman" panose="02020603050405020304" pitchFamily="18" charset="0"/>
                  <a:ea typeface="华文新魏" panose="02010800040101010101" pitchFamily="2" charset="-122"/>
                  <a:cs typeface="+mn-cs"/>
                </a:rPr>
                <a:t>/R</a:t>
              </a:r>
              <a:r>
                <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rPr>
                <a:t>1</a:t>
              </a:r>
            </a:p>
          </p:txBody>
        </p:sp>
        <p:sp>
          <p:nvSpPr>
            <p:cNvPr id="179" name="Text Box 72"/>
            <p:cNvSpPr txBox="1">
              <a:spLocks noChangeArrowheads="1"/>
            </p:cNvSpPr>
            <p:nvPr/>
          </p:nvSpPr>
          <p:spPr bwMode="auto">
            <a:xfrm>
              <a:off x="2735" y="1865"/>
              <a:ext cx="384"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chemeClr val="accent2"/>
                  </a:solidFill>
                  <a:latin typeface="Times New Roman" panose="02020603050405020304" pitchFamily="18" charset="0"/>
                  <a:ea typeface="华文新魏" panose="02010800040101010101" pitchFamily="2" charset="-122"/>
                  <a:cs typeface="+mn-cs"/>
                </a:rPr>
                <a:t>/S</a:t>
              </a:r>
              <a:r>
                <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rPr>
                <a:t>1</a:t>
              </a:r>
            </a:p>
          </p:txBody>
        </p:sp>
        <p:sp>
          <p:nvSpPr>
            <p:cNvPr id="180" name="Text Box 73"/>
            <p:cNvSpPr txBox="1">
              <a:spLocks noChangeArrowheads="1"/>
            </p:cNvSpPr>
            <p:nvPr/>
          </p:nvSpPr>
          <p:spPr bwMode="auto">
            <a:xfrm>
              <a:off x="1440" y="1862"/>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dirty="0">
                  <a:solidFill>
                    <a:schemeClr val="accent2"/>
                  </a:solidFill>
                  <a:latin typeface="Times New Roman" panose="02020603050405020304" pitchFamily="18" charset="0"/>
                  <a:ea typeface="华文新魏" panose="02010800040101010101" pitchFamily="2" charset="-122"/>
                  <a:cs typeface="+mn-cs"/>
                </a:rPr>
                <a:t>/S</a:t>
              </a:r>
              <a:r>
                <a:rPr kumimoji="0" lang="en-US" altLang="zh-CN" sz="1600" b="1" kern="1200" cap="none" spc="0" normalizeH="0" baseline="-25000" noProof="0" dirty="0">
                  <a:solidFill>
                    <a:schemeClr val="accent2"/>
                  </a:solidFill>
                  <a:latin typeface="Times New Roman" panose="02020603050405020304" pitchFamily="18" charset="0"/>
                  <a:ea typeface="华文新魏" panose="02010800040101010101" pitchFamily="2" charset="-122"/>
                  <a:cs typeface="+mn-cs"/>
                </a:rPr>
                <a:t>2</a:t>
              </a:r>
            </a:p>
          </p:txBody>
        </p:sp>
        <p:sp>
          <p:nvSpPr>
            <p:cNvPr id="181" name="Text Box 74"/>
            <p:cNvSpPr txBox="1">
              <a:spLocks noChangeArrowheads="1"/>
            </p:cNvSpPr>
            <p:nvPr/>
          </p:nvSpPr>
          <p:spPr bwMode="auto">
            <a:xfrm>
              <a:off x="912" y="3254"/>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p>
          </p:txBody>
        </p:sp>
        <p:sp>
          <p:nvSpPr>
            <p:cNvPr id="182" name="Text Box 75"/>
            <p:cNvSpPr txBox="1">
              <a:spLocks noChangeArrowheads="1"/>
            </p:cNvSpPr>
            <p:nvPr/>
          </p:nvSpPr>
          <p:spPr bwMode="auto">
            <a:xfrm>
              <a:off x="2444" y="3259"/>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p>
          </p:txBody>
        </p:sp>
        <p:sp>
          <p:nvSpPr>
            <p:cNvPr id="183" name="Text Box 76"/>
            <p:cNvSpPr txBox="1">
              <a:spLocks noChangeArrowheads="1"/>
            </p:cNvSpPr>
            <p:nvPr/>
          </p:nvSpPr>
          <p:spPr bwMode="auto">
            <a:xfrm>
              <a:off x="3072" y="3264"/>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p>
          </p:txBody>
        </p:sp>
        <p:sp>
          <p:nvSpPr>
            <p:cNvPr id="184" name="Text Box 77"/>
            <p:cNvSpPr txBox="1">
              <a:spLocks noChangeArrowheads="1"/>
            </p:cNvSpPr>
            <p:nvPr/>
          </p:nvSpPr>
          <p:spPr bwMode="auto">
            <a:xfrm>
              <a:off x="2831" y="3275"/>
              <a:ext cx="337"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p>
          </p:txBody>
        </p:sp>
        <p:sp>
          <p:nvSpPr>
            <p:cNvPr id="185" name="Text Box 78"/>
            <p:cNvSpPr txBox="1">
              <a:spLocks noChangeArrowheads="1"/>
            </p:cNvSpPr>
            <p:nvPr/>
          </p:nvSpPr>
          <p:spPr bwMode="auto">
            <a:xfrm>
              <a:off x="2064" y="3264"/>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p>
          </p:txBody>
        </p:sp>
        <p:sp>
          <p:nvSpPr>
            <p:cNvPr id="186" name="Text Box 79"/>
            <p:cNvSpPr txBox="1">
              <a:spLocks noChangeArrowheads="1"/>
            </p:cNvSpPr>
            <p:nvPr/>
          </p:nvSpPr>
          <p:spPr bwMode="auto">
            <a:xfrm>
              <a:off x="1403" y="3306"/>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/y</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p>
          </p:txBody>
        </p:sp>
        <p:sp>
          <p:nvSpPr>
            <p:cNvPr id="187" name="Text Box 80"/>
            <p:cNvSpPr txBox="1">
              <a:spLocks noChangeArrowheads="1"/>
            </p:cNvSpPr>
            <p:nvPr/>
          </p:nvSpPr>
          <p:spPr bwMode="auto">
            <a:xfrm>
              <a:off x="0" y="2777"/>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x</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3</a:t>
              </a:r>
            </a:p>
          </p:txBody>
        </p:sp>
        <p:sp>
          <p:nvSpPr>
            <p:cNvPr id="188" name="Text Box 81"/>
            <p:cNvSpPr txBox="1">
              <a:spLocks noChangeArrowheads="1"/>
            </p:cNvSpPr>
            <p:nvPr/>
          </p:nvSpPr>
          <p:spPr bwMode="auto">
            <a:xfrm>
              <a:off x="0" y="2928"/>
              <a:ext cx="3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x</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2</a:t>
              </a:r>
            </a:p>
          </p:txBody>
        </p:sp>
        <p:sp>
          <p:nvSpPr>
            <p:cNvPr id="189" name="Text Box 82"/>
            <p:cNvSpPr txBox="1">
              <a:spLocks noChangeArrowheads="1"/>
            </p:cNvSpPr>
            <p:nvPr/>
          </p:nvSpPr>
          <p:spPr bwMode="auto">
            <a:xfrm>
              <a:off x="0" y="3090"/>
              <a:ext cx="336"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b="1" kern="1200" cap="none" spc="0" normalizeH="0" baseline="0" noProof="0">
                  <a:solidFill>
                    <a:schemeClr val="accent2"/>
                  </a:solidFill>
                  <a:latin typeface="Times New Roman" panose="02020603050405020304" pitchFamily="18" charset="0"/>
                  <a:ea typeface="华文新魏" panose="02010800040101010101" pitchFamily="2" charset="-122"/>
                  <a:cs typeface="+mn-cs"/>
                </a:rPr>
                <a:t>x</a:t>
              </a:r>
              <a:r>
                <a:rPr kumimoji="0" lang="en-US" altLang="zh-CN" sz="1600" b="1" kern="1200" cap="none" spc="0" normalizeH="0" baseline="-25000" noProof="0">
                  <a:solidFill>
                    <a:schemeClr val="accent2"/>
                  </a:solidFill>
                  <a:latin typeface="Times New Roman" panose="02020603050405020304" pitchFamily="18" charset="0"/>
                  <a:ea typeface="华文新魏" panose="02010800040101010101" pitchFamily="2" charset="-122"/>
                  <a:cs typeface="+mn-cs"/>
                </a:rPr>
                <a:t>1</a:t>
              </a:r>
            </a:p>
          </p:txBody>
        </p:sp>
        <p:sp>
          <p:nvSpPr>
            <p:cNvPr id="192" name="Rectangle 85"/>
            <p:cNvSpPr>
              <a:spLocks noChangeArrowheads="1"/>
            </p:cNvSpPr>
            <p:nvPr/>
          </p:nvSpPr>
          <p:spPr bwMode="auto">
            <a:xfrm>
              <a:off x="2810" y="2564"/>
              <a:ext cx="384" cy="24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93" name="Rectangle 86"/>
            <p:cNvSpPr>
              <a:spLocks noChangeArrowheads="1"/>
            </p:cNvSpPr>
            <p:nvPr/>
          </p:nvSpPr>
          <p:spPr bwMode="auto">
            <a:xfrm>
              <a:off x="1414" y="2574"/>
              <a:ext cx="384" cy="239"/>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94" name="Rectangle 87"/>
            <p:cNvSpPr>
              <a:spLocks noChangeArrowheads="1"/>
            </p:cNvSpPr>
            <p:nvPr/>
          </p:nvSpPr>
          <p:spPr bwMode="auto">
            <a:xfrm>
              <a:off x="538" y="2435"/>
              <a:ext cx="721"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95" name="Line 88"/>
            <p:cNvSpPr>
              <a:spLocks noChangeShapeType="1"/>
            </p:cNvSpPr>
            <p:nvPr/>
          </p:nvSpPr>
          <p:spPr bwMode="auto">
            <a:xfrm>
              <a:off x="538" y="2642"/>
              <a:ext cx="72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96" name="Text Box 89"/>
            <p:cNvSpPr txBox="1">
              <a:spLocks noChangeArrowheads="1"/>
            </p:cNvSpPr>
            <p:nvPr/>
          </p:nvSpPr>
          <p:spPr bwMode="auto">
            <a:xfrm>
              <a:off x="538" y="2414"/>
              <a:ext cx="422"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zh-CN" altLang="en-US"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 </a:t>
              </a: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1</a:t>
              </a:r>
            </a:p>
          </p:txBody>
        </p:sp>
        <p:sp>
          <p:nvSpPr>
            <p:cNvPr id="197" name="Text Box 90"/>
            <p:cNvSpPr txBox="1">
              <a:spLocks noChangeArrowheads="1"/>
            </p:cNvSpPr>
            <p:nvPr/>
          </p:nvSpPr>
          <p:spPr bwMode="auto">
            <a:xfrm>
              <a:off x="588" y="2619"/>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&amp;</a:t>
              </a:r>
            </a:p>
          </p:txBody>
        </p:sp>
        <p:sp>
          <p:nvSpPr>
            <p:cNvPr id="198" name="Line 91"/>
            <p:cNvSpPr>
              <a:spLocks noChangeShapeType="1"/>
            </p:cNvSpPr>
            <p:nvPr/>
          </p:nvSpPr>
          <p:spPr bwMode="auto">
            <a:xfrm>
              <a:off x="886" y="2649"/>
              <a:ext cx="0"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00" name="Rectangle 93"/>
            <p:cNvSpPr>
              <a:spLocks noChangeArrowheads="1"/>
            </p:cNvSpPr>
            <p:nvPr/>
          </p:nvSpPr>
          <p:spPr bwMode="auto">
            <a:xfrm>
              <a:off x="1920" y="2435"/>
              <a:ext cx="718" cy="43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01" name="Line 94"/>
            <p:cNvSpPr>
              <a:spLocks noChangeShapeType="1"/>
            </p:cNvSpPr>
            <p:nvPr/>
          </p:nvSpPr>
          <p:spPr bwMode="auto">
            <a:xfrm>
              <a:off x="1920" y="2642"/>
              <a:ext cx="71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02" name="Text Box 95"/>
            <p:cNvSpPr txBox="1">
              <a:spLocks noChangeArrowheads="1"/>
            </p:cNvSpPr>
            <p:nvPr/>
          </p:nvSpPr>
          <p:spPr bwMode="auto">
            <a:xfrm>
              <a:off x="1920" y="2438"/>
              <a:ext cx="43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zh-CN" altLang="en-US"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 </a:t>
              </a:r>
              <a:r>
                <a:rPr kumimoji="0" lang="en-US" altLang="zh-CN" sz="1600" kern="1200" cap="none" spc="0" normalizeH="0" baseline="0" noProof="0">
                  <a:solidFill>
                    <a:srgbClr val="FFFF00"/>
                  </a:solidFill>
                  <a:latin typeface="Times New Roman" panose="02020603050405020304" pitchFamily="18" charset="0"/>
                  <a:ea typeface="华文新魏" panose="02010800040101010101" pitchFamily="2" charset="-122"/>
                  <a:cs typeface="+mn-cs"/>
                </a:rPr>
                <a:t>1</a:t>
              </a:r>
            </a:p>
          </p:txBody>
        </p:sp>
        <p:sp>
          <p:nvSpPr>
            <p:cNvPr id="203" name="Text Box 96"/>
            <p:cNvSpPr txBox="1">
              <a:spLocks noChangeArrowheads="1"/>
            </p:cNvSpPr>
            <p:nvPr/>
          </p:nvSpPr>
          <p:spPr bwMode="auto">
            <a:xfrm>
              <a:off x="1974" y="2619"/>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&amp;</a:t>
              </a:r>
            </a:p>
          </p:txBody>
        </p:sp>
        <p:sp>
          <p:nvSpPr>
            <p:cNvPr id="204" name="Line 97"/>
            <p:cNvSpPr>
              <a:spLocks noChangeShapeType="1"/>
            </p:cNvSpPr>
            <p:nvPr/>
          </p:nvSpPr>
          <p:spPr bwMode="auto">
            <a:xfrm>
              <a:off x="2267" y="2649"/>
              <a:ext cx="0"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06" name="Text Box 99"/>
            <p:cNvSpPr txBox="1">
              <a:spLocks noChangeArrowheads="1"/>
            </p:cNvSpPr>
            <p:nvPr/>
          </p:nvSpPr>
          <p:spPr bwMode="auto">
            <a:xfrm>
              <a:off x="1414" y="2565"/>
              <a:ext cx="384" cy="25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  &amp;</a:t>
              </a:r>
            </a:p>
          </p:txBody>
        </p:sp>
        <p:sp>
          <p:nvSpPr>
            <p:cNvPr id="208" name="Text Box 101"/>
            <p:cNvSpPr txBox="1">
              <a:spLocks noChangeArrowheads="1"/>
            </p:cNvSpPr>
            <p:nvPr/>
          </p:nvSpPr>
          <p:spPr bwMode="auto">
            <a:xfrm>
              <a:off x="2810" y="2554"/>
              <a:ext cx="384"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marR="0" defTabSz="914400" eaLnBrk="1" hangingPunct="1">
                <a:spcBef>
                  <a:spcPct val="50000"/>
                </a:spcBef>
                <a:buClrTx/>
                <a:buSzTx/>
                <a:buFont typeface="Arial" panose="020B0604020202020204" pitchFamily="34" charset="0"/>
                <a:defRPr/>
              </a:pPr>
              <a:r>
                <a:rPr kumimoji="0" lang="en-US" altLang="zh-CN" sz="1600" kern="1200" cap="none" spc="0" normalizeH="0" baseline="0" noProof="0" dirty="0">
                  <a:solidFill>
                    <a:srgbClr val="FFFF00"/>
                  </a:solidFill>
                  <a:latin typeface="Times New Roman" panose="02020603050405020304" pitchFamily="18" charset="0"/>
                  <a:ea typeface="华文新魏" panose="02010800040101010101" pitchFamily="2" charset="-122"/>
                  <a:cs typeface="+mn-cs"/>
                </a:rPr>
                <a:t>  &amp;</a:t>
              </a:r>
            </a:p>
          </p:txBody>
        </p:sp>
      </p:grpSp>
      <p:sp>
        <p:nvSpPr>
          <p:cNvPr id="210" name="Oval 29"/>
          <p:cNvSpPr>
            <a:spLocks noChangeArrowheads="1"/>
          </p:cNvSpPr>
          <p:nvPr/>
        </p:nvSpPr>
        <p:spPr bwMode="auto">
          <a:xfrm>
            <a:off x="6564313" y="865188"/>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1" name="Oval 29"/>
          <p:cNvSpPr>
            <a:spLocks noChangeArrowheads="1"/>
          </p:cNvSpPr>
          <p:nvPr/>
        </p:nvSpPr>
        <p:spPr bwMode="auto">
          <a:xfrm>
            <a:off x="7212013" y="2227263"/>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2" name="Oval 29"/>
          <p:cNvSpPr>
            <a:spLocks noChangeArrowheads="1"/>
          </p:cNvSpPr>
          <p:nvPr/>
        </p:nvSpPr>
        <p:spPr bwMode="auto">
          <a:xfrm>
            <a:off x="5508625" y="2203450"/>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3" name="Oval 29"/>
          <p:cNvSpPr>
            <a:spLocks noChangeArrowheads="1"/>
          </p:cNvSpPr>
          <p:nvPr/>
        </p:nvSpPr>
        <p:spPr bwMode="auto">
          <a:xfrm>
            <a:off x="7712075" y="2887663"/>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4" name="Oval 29"/>
          <p:cNvSpPr>
            <a:spLocks noChangeArrowheads="1"/>
          </p:cNvSpPr>
          <p:nvPr/>
        </p:nvSpPr>
        <p:spPr bwMode="auto">
          <a:xfrm>
            <a:off x="8087360" y="3722688"/>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5" name="Oval 29"/>
          <p:cNvSpPr>
            <a:spLocks noChangeArrowheads="1"/>
          </p:cNvSpPr>
          <p:nvPr/>
        </p:nvSpPr>
        <p:spPr bwMode="auto">
          <a:xfrm>
            <a:off x="7094855" y="3553460"/>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6" name="Oval 29"/>
          <p:cNvSpPr>
            <a:spLocks noChangeArrowheads="1"/>
          </p:cNvSpPr>
          <p:nvPr/>
        </p:nvSpPr>
        <p:spPr bwMode="auto">
          <a:xfrm>
            <a:off x="6229350" y="3732213"/>
            <a:ext cx="96838"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7" name="Oval 29"/>
          <p:cNvSpPr>
            <a:spLocks noChangeArrowheads="1"/>
          </p:cNvSpPr>
          <p:nvPr/>
        </p:nvSpPr>
        <p:spPr bwMode="auto">
          <a:xfrm>
            <a:off x="5265738" y="3549650"/>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8" name="Oval 29"/>
          <p:cNvSpPr>
            <a:spLocks noChangeArrowheads="1"/>
          </p:cNvSpPr>
          <p:nvPr/>
        </p:nvSpPr>
        <p:spPr bwMode="auto">
          <a:xfrm>
            <a:off x="5989003" y="2889885"/>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19" name="Oval 29"/>
          <p:cNvSpPr>
            <a:spLocks noChangeArrowheads="1"/>
          </p:cNvSpPr>
          <p:nvPr/>
        </p:nvSpPr>
        <p:spPr bwMode="auto">
          <a:xfrm>
            <a:off x="7215188" y="2889250"/>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220" name="Oval 29"/>
          <p:cNvSpPr>
            <a:spLocks noChangeArrowheads="1"/>
          </p:cNvSpPr>
          <p:nvPr/>
        </p:nvSpPr>
        <p:spPr bwMode="auto">
          <a:xfrm>
            <a:off x="5500688" y="2881313"/>
            <a:ext cx="98425" cy="8731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pic>
        <p:nvPicPr>
          <p:cNvPr id="2" name="图片 1"/>
          <p:cNvPicPr>
            <a:picLocks noChangeAspect="1"/>
          </p:cNvPicPr>
          <p:nvPr/>
        </p:nvPicPr>
        <p:blipFill>
          <a:blip r:embed="rId3"/>
          <a:stretch>
            <a:fillRect/>
          </a:stretch>
        </p:blipFill>
        <p:spPr>
          <a:xfrm>
            <a:off x="1148080" y="2803525"/>
            <a:ext cx="2312670" cy="22155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693">
                                            <p:txEl>
                                              <p:pRg st="0" end="0"/>
                                            </p:txEl>
                                          </p:spTgt>
                                        </p:tgtEl>
                                        <p:attrNameLst>
                                          <p:attrName>style.visibility</p:attrName>
                                        </p:attrNameLst>
                                      </p:cBhvr>
                                      <p:to>
                                        <p:strVal val="visible"/>
                                      </p:to>
                                    </p:set>
                                    <p:anim calcmode="lin" valueType="num">
                                      <p:cBhvr additive="base">
                                        <p:cTn id="7" dur="500" fill="hold"/>
                                        <p:tgtEl>
                                          <p:spTgt spid="11469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690"/>
                                        </p:tgtEl>
                                        <p:attrNameLst>
                                          <p:attrName>style.visibility</p:attrName>
                                        </p:attrNameLst>
                                      </p:cBhvr>
                                      <p:to>
                                        <p:strVal val="visible"/>
                                      </p:to>
                                    </p:set>
                                    <p:anim calcmode="lin" valueType="num">
                                      <p:cBhvr additive="base">
                                        <p:cTn id="13" dur="500" fill="hold"/>
                                        <p:tgtEl>
                                          <p:spTgt spid="114690"/>
                                        </p:tgtEl>
                                        <p:attrNameLst>
                                          <p:attrName>ppt_x</p:attrName>
                                        </p:attrNameLst>
                                      </p:cBhvr>
                                      <p:tavLst>
                                        <p:tav tm="0">
                                          <p:val>
                                            <p:strVal val="#ppt_x"/>
                                          </p:val>
                                        </p:tav>
                                        <p:tav tm="100000">
                                          <p:val>
                                            <p:strVal val="#ppt_x"/>
                                          </p:val>
                                        </p:tav>
                                      </p:tavLst>
                                    </p:anim>
                                    <p:anim calcmode="lin" valueType="num">
                                      <p:cBhvr additive="base">
                                        <p:cTn id="14" dur="500" fill="hold"/>
                                        <p:tgtEl>
                                          <p:spTgt spid="11469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p:bldP spid="11469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p:cNvSpPr>
          <p:nvPr>
            <p:ph type="title"/>
          </p:nvPr>
        </p:nvSpPr>
        <p:spPr>
          <a:xfrm>
            <a:off x="685800" y="544513"/>
            <a:ext cx="7772400" cy="571500"/>
          </a:xfrm>
          <a:prstGeom prst="rect">
            <a:avLst/>
          </a:prstGeom>
          <a:noFill/>
          <a:ln w="9525">
            <a:noFill/>
          </a:ln>
        </p:spPr>
        <p:txBody>
          <a:bodyPr/>
          <a:lstStyle/>
          <a:p>
            <a:pPr eaLnBrk="1" hangingPunct="1"/>
            <a:r>
              <a:rPr lang="en-US" altLang="zh-CN" sz="2000" dirty="0">
                <a:latin typeface="华文新魏" panose="02010800040101010101" pitchFamily="2" charset="-122"/>
                <a:ea typeface="华文新魏" panose="02010800040101010101" pitchFamily="2" charset="-122"/>
              </a:rPr>
              <a:t>⑵ </a:t>
            </a:r>
            <a:r>
              <a:rPr lang="zh-CN" altLang="en-US" sz="2000" dirty="0">
                <a:latin typeface="华文新魏" panose="02010800040101010101" pitchFamily="2" charset="-122"/>
                <a:ea typeface="华文新魏" panose="02010800040101010101" pitchFamily="2" charset="-122"/>
              </a:rPr>
              <a:t>列出</a:t>
            </a:r>
            <a:r>
              <a:rPr lang="zh-CN" altLang="en-US" sz="2000" b="1" dirty="0">
                <a:solidFill>
                  <a:srgbClr val="FF0000"/>
                </a:solidFill>
                <a:latin typeface="华文新魏" panose="02010800040101010101" pitchFamily="2" charset="-122"/>
                <a:ea typeface="华文新魏" panose="02010800040101010101" pitchFamily="2" charset="-122"/>
              </a:rPr>
              <a:t>状态真值表</a:t>
            </a:r>
            <a:r>
              <a:rPr lang="zh-CN" altLang="en-US" sz="2000" dirty="0">
                <a:latin typeface="华文新魏" panose="02010800040101010101" pitchFamily="2" charset="-122"/>
                <a:ea typeface="华文新魏" panose="02010800040101010101" pitchFamily="2" charset="-122"/>
              </a:rPr>
              <a:t>及</a:t>
            </a:r>
            <a:r>
              <a:rPr lang="zh-CN" altLang="en-US" sz="2000" b="1" dirty="0">
                <a:solidFill>
                  <a:srgbClr val="FF0000"/>
                </a:solidFill>
                <a:latin typeface="华文新魏" panose="02010800040101010101" pitchFamily="2" charset="-122"/>
                <a:ea typeface="华文新魏" panose="02010800040101010101" pitchFamily="2" charset="-122"/>
              </a:rPr>
              <a:t>次态真值表</a:t>
            </a:r>
          </a:p>
        </p:txBody>
      </p:sp>
      <p:sp>
        <p:nvSpPr>
          <p:cNvPr id="115715" name="Rectangle 3"/>
          <p:cNvSpPr>
            <a:spLocks noGrp="1"/>
          </p:cNvSpPr>
          <p:nvPr>
            <p:ph type="body"/>
          </p:nvPr>
        </p:nvSpPr>
        <p:spPr>
          <a:xfrm>
            <a:off x="470535" y="3221355"/>
            <a:ext cx="8136255" cy="1922145"/>
          </a:xfrm>
          <a:prstGeom prst="rect">
            <a:avLst/>
          </a:prstGeom>
          <a:noFill/>
          <a:ln w="9525">
            <a:noFill/>
          </a:ln>
        </p:spPr>
        <p:txBody>
          <a:bodyPr/>
          <a:lstStyle/>
          <a:p>
            <a:pPr eaLnBrk="1" hangingPunct="1">
              <a:buNone/>
            </a:pPr>
            <a:r>
              <a:rPr lang="en-US" altLang="zh-CN" sz="2000"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x</a:t>
            </a:r>
            <a:r>
              <a:rPr lang="en-US" altLang="zh-CN" sz="2000" b="1" baseline="-25000" dirty="0">
                <a:solidFill>
                  <a:srgbClr val="FF0000"/>
                </a:solidFill>
                <a:latin typeface="华文新魏" panose="02010800040101010101" pitchFamily="2" charset="-122"/>
                <a:ea typeface="华文新魏" panose="02010800040101010101" pitchFamily="2" charset="-122"/>
              </a:rPr>
              <a:t>3</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x</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x</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有效且不能同时为 </a:t>
            </a:r>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dirty="0">
                <a:latin typeface="华文新魏" panose="02010800040101010101" pitchFamily="2" charset="-122"/>
                <a:ea typeface="华文新魏" panose="02010800040101010101" pitchFamily="2" charset="-122"/>
              </a:rPr>
              <a:t>， 则</a:t>
            </a:r>
          </a:p>
          <a:p>
            <a:pPr eaLnBrk="1" hangingPunct="1">
              <a:buNone/>
            </a:pPr>
            <a:r>
              <a:rPr lang="zh-CN" altLang="en-US" sz="2000" dirty="0">
                <a:latin typeface="华文新魏" panose="02010800040101010101" pitchFamily="2" charset="-122"/>
                <a:ea typeface="华文新魏" panose="02010800040101010101" pitchFamily="2" charset="-122"/>
              </a:rPr>
              <a:t>      当 </a:t>
            </a:r>
            <a:r>
              <a:rPr lang="en-US" altLang="zh-CN" sz="2000"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S</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0</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 /R</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=1 </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则 </a:t>
            </a:r>
            <a:r>
              <a:rPr lang="en-US" altLang="zh-CN" sz="2000" b="1" dirty="0">
                <a:latin typeface="华文新魏" panose="02010800040101010101" pitchFamily="2" charset="-122"/>
                <a:ea typeface="华文新魏" panose="02010800040101010101" pitchFamily="2" charset="-122"/>
              </a:rPr>
              <a:t>y</a:t>
            </a:r>
            <a:r>
              <a:rPr lang="en-US" altLang="zh-CN" sz="2000" b="1" baseline="30000" dirty="0">
                <a:latin typeface="华文新魏" panose="02010800040101010101" pitchFamily="2" charset="-122"/>
                <a:ea typeface="华文新魏" panose="02010800040101010101" pitchFamily="2" charset="-122"/>
              </a:rPr>
              <a:t>n+1</a:t>
            </a:r>
            <a:r>
              <a:rPr lang="en-US" altLang="zh-CN" sz="2000" b="1" dirty="0">
                <a:latin typeface="华文新魏" panose="02010800040101010101" pitchFamily="2" charset="-122"/>
                <a:ea typeface="华文新魏" panose="02010800040101010101" pitchFamily="2" charset="-122"/>
              </a:rPr>
              <a:t>  = 1</a:t>
            </a:r>
          </a:p>
          <a:p>
            <a:pPr eaLnBrk="1" hangingPunct="1">
              <a:buNone/>
            </a:pPr>
            <a:r>
              <a:rPr lang="en-US" altLang="zh-CN" sz="2000" b="1"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S</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1</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 /R</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0</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则 </a:t>
            </a:r>
            <a:r>
              <a:rPr lang="en-US" altLang="zh-CN" sz="2000" b="1" dirty="0">
                <a:latin typeface="华文新魏" panose="02010800040101010101" pitchFamily="2" charset="-122"/>
                <a:ea typeface="华文新魏" panose="02010800040101010101" pitchFamily="2" charset="-122"/>
              </a:rPr>
              <a:t>y</a:t>
            </a:r>
            <a:r>
              <a:rPr lang="en-US" altLang="zh-CN" sz="2000" b="1" baseline="30000" dirty="0">
                <a:latin typeface="华文新魏" panose="02010800040101010101" pitchFamily="2" charset="-122"/>
                <a:ea typeface="华文新魏" panose="02010800040101010101" pitchFamily="2" charset="-122"/>
              </a:rPr>
              <a:t>n+1</a:t>
            </a:r>
            <a:r>
              <a:rPr lang="en-US" altLang="zh-CN" sz="2000" b="1" dirty="0">
                <a:latin typeface="华文新魏" panose="02010800040101010101" pitchFamily="2" charset="-122"/>
                <a:ea typeface="华文新魏" panose="02010800040101010101" pitchFamily="2" charset="-122"/>
              </a:rPr>
              <a:t>  = 0</a:t>
            </a:r>
          </a:p>
          <a:p>
            <a:pPr eaLnBrk="1" hangingPunct="1">
              <a:buNone/>
            </a:pPr>
            <a:r>
              <a:rPr lang="en-US" altLang="zh-CN" sz="2000" b="1" dirty="0">
                <a:latin typeface="华文新魏" panose="02010800040101010101" pitchFamily="2" charset="-122"/>
                <a:ea typeface="华文新魏" panose="02010800040101010101" pitchFamily="2" charset="-122"/>
              </a:rPr>
              <a:t>          / S</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/R</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0</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则 </a:t>
            </a:r>
            <a:r>
              <a:rPr lang="zh-CN" altLang="en-US" sz="2000" b="1" dirty="0">
                <a:latin typeface="华文新魏" panose="02010800040101010101" pitchFamily="2" charset="-122"/>
                <a:ea typeface="华文新魏" panose="02010800040101010101" pitchFamily="2" charset="-122"/>
              </a:rPr>
              <a:t>禁忌</a:t>
            </a:r>
          </a:p>
          <a:p>
            <a:pPr eaLnBrk="1" hangingPunct="1">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S</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R</a:t>
            </a:r>
            <a:r>
              <a:rPr lang="en-US" altLang="zh-CN" sz="2000" b="1" baseline="-25000" dirty="0">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 1</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则 </a:t>
            </a:r>
            <a:r>
              <a:rPr lang="en-US" altLang="zh-CN" sz="2000" b="1" dirty="0">
                <a:latin typeface="华文新魏" panose="02010800040101010101" pitchFamily="2" charset="-122"/>
                <a:ea typeface="华文新魏" panose="02010800040101010101" pitchFamily="2" charset="-122"/>
              </a:rPr>
              <a:t>y</a:t>
            </a:r>
            <a:r>
              <a:rPr lang="en-US" altLang="zh-CN" sz="2000" b="1" baseline="30000" dirty="0">
                <a:latin typeface="华文新魏" panose="02010800040101010101" pitchFamily="2" charset="-122"/>
                <a:ea typeface="华文新魏" panose="02010800040101010101" pitchFamily="2" charset="-122"/>
              </a:rPr>
              <a:t>n+1</a:t>
            </a:r>
            <a:r>
              <a:rPr lang="en-US" altLang="zh-CN" sz="2000" b="1" dirty="0">
                <a:latin typeface="华文新魏" panose="02010800040101010101" pitchFamily="2" charset="-122"/>
                <a:ea typeface="华文新魏" panose="02010800040101010101" pitchFamily="2" charset="-122"/>
              </a:rPr>
              <a:t>  = y</a:t>
            </a:r>
          </a:p>
        </p:txBody>
      </p:sp>
      <p:pic>
        <p:nvPicPr>
          <p:cNvPr id="2" name="图片 1"/>
          <p:cNvPicPr>
            <a:picLocks noChangeAspect="1"/>
          </p:cNvPicPr>
          <p:nvPr>
            <p:custDataLst>
              <p:tags r:id="rId1"/>
            </p:custDataLst>
          </p:nvPr>
        </p:nvPicPr>
        <p:blipFill>
          <a:blip r:embed="rId5"/>
          <a:stretch>
            <a:fillRect/>
          </a:stretch>
        </p:blipFill>
        <p:spPr>
          <a:xfrm>
            <a:off x="1034415" y="932180"/>
            <a:ext cx="2206625" cy="2113915"/>
          </a:xfrm>
          <a:prstGeom prst="rect">
            <a:avLst/>
          </a:prstGeom>
        </p:spPr>
      </p:pic>
      <p:graphicFrame>
        <p:nvGraphicFramePr>
          <p:cNvPr id="46259" name="Group 179"/>
          <p:cNvGraphicFramePr>
            <a:graphicFrameLocks noGrp="1"/>
          </p:cNvGraphicFramePr>
          <p:nvPr>
            <p:custDataLst>
              <p:tags r:id="rId2"/>
            </p:custDataLst>
          </p:nvPr>
        </p:nvGraphicFramePr>
        <p:xfrm>
          <a:off x="6155373" y="1635443"/>
          <a:ext cx="2016125" cy="1562100"/>
        </p:xfrm>
        <a:graphic>
          <a:graphicData uri="http://schemas.openxmlformats.org/drawingml/2006/table">
            <a:tbl>
              <a:tblPr/>
              <a:tblGrid>
                <a:gridCol w="1280563">
                  <a:extLst>
                    <a:ext uri="{9D8B030D-6E8A-4147-A177-3AD203B41FA5}">
                      <a16:colId xmlns:a16="http://schemas.microsoft.com/office/drawing/2014/main" val="20000"/>
                    </a:ext>
                  </a:extLst>
                </a:gridCol>
                <a:gridCol w="735562">
                  <a:extLst>
                    <a:ext uri="{9D8B030D-6E8A-4147-A177-3AD203B41FA5}">
                      <a16:colId xmlns:a16="http://schemas.microsoft.com/office/drawing/2014/main" val="20001"/>
                    </a:ext>
                  </a:extLst>
                </a:gridCol>
              </a:tblGrid>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a:t>
                      </a: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0"/>
                  </a:ext>
                </a:extLst>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a:t>
                      </a: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d</a:t>
                      </a: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Q</a:t>
                      </a: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38974" name="Text Box 246"/>
          <p:cNvSpPr txBox="1"/>
          <p:nvPr/>
        </p:nvSpPr>
        <p:spPr>
          <a:xfrm>
            <a:off x="6228080" y="3291840"/>
            <a:ext cx="1977390" cy="64516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/S-/R</a:t>
            </a:r>
            <a:r>
              <a:rPr lang="zh-CN" altLang="en-US" sz="1800" b="1" dirty="0">
                <a:solidFill>
                  <a:schemeClr val="tx1"/>
                </a:solidFill>
                <a:latin typeface="华文新魏" panose="02010800040101010101" pitchFamily="2" charset="-122"/>
                <a:ea typeface="华文新魏" panose="02010800040101010101" pitchFamily="2" charset="-122"/>
              </a:rPr>
              <a:t>锁存器的简化次态真值表</a:t>
            </a:r>
          </a:p>
        </p:txBody>
      </p:sp>
      <p:grpSp>
        <p:nvGrpSpPr>
          <p:cNvPr id="4" name="组合 3"/>
          <p:cNvGrpSpPr/>
          <p:nvPr/>
        </p:nvGrpSpPr>
        <p:grpSpPr>
          <a:xfrm>
            <a:off x="5939790" y="4030980"/>
            <a:ext cx="3073400" cy="368300"/>
            <a:chOff x="9354" y="6348"/>
            <a:chExt cx="4840" cy="580"/>
          </a:xfrm>
        </p:grpSpPr>
        <p:sp>
          <p:nvSpPr>
            <p:cNvPr id="39036" name="Text Box 294"/>
            <p:cNvSpPr txBox="1"/>
            <p:nvPr/>
          </p:nvSpPr>
          <p:spPr>
            <a:xfrm>
              <a:off x="9354" y="6348"/>
              <a:ext cx="4841" cy="58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次态方程：</a:t>
              </a: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Q</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 = /S + /RQ</a:t>
              </a:r>
            </a:p>
          </p:txBody>
        </p:sp>
        <p:sp>
          <p:nvSpPr>
            <p:cNvPr id="5" name="Line 325"/>
            <p:cNvSpPr/>
            <p:nvPr/>
          </p:nvSpPr>
          <p:spPr>
            <a:xfrm flipV="1">
              <a:off x="12529" y="6348"/>
              <a:ext cx="335" cy="8"/>
            </a:xfrm>
            <a:prstGeom prst="line">
              <a:avLst/>
            </a:prstGeom>
            <a:ln w="19050" cap="flat" cmpd="sng">
              <a:solidFill>
                <a:schemeClr val="tx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5715">
                                            <p:txEl>
                                              <p:pRg st="0" end="0"/>
                                            </p:txEl>
                                          </p:spTgt>
                                        </p:tgtEl>
                                        <p:attrNameLst>
                                          <p:attrName>style.visibility</p:attrName>
                                        </p:attrNameLst>
                                      </p:cBhvr>
                                      <p:to>
                                        <p:strVal val="visible"/>
                                      </p:to>
                                    </p:set>
                                    <p:anim calcmode="lin" valueType="num">
                                      <p:cBhvr additive="base">
                                        <p:cTn id="13" dur="500" fill="hold"/>
                                        <p:tgtEl>
                                          <p:spTgt spid="11571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57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5715">
                                            <p:txEl>
                                              <p:pRg st="1" end="1"/>
                                            </p:txEl>
                                          </p:spTgt>
                                        </p:tgtEl>
                                        <p:attrNameLst>
                                          <p:attrName>style.visibility</p:attrName>
                                        </p:attrNameLst>
                                      </p:cBhvr>
                                      <p:to>
                                        <p:strVal val="visible"/>
                                      </p:to>
                                    </p:set>
                                    <p:anim calcmode="lin" valueType="num">
                                      <p:cBhvr additive="base">
                                        <p:cTn id="19" dur="500" fill="hold"/>
                                        <p:tgtEl>
                                          <p:spTgt spid="11571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57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5715">
                                            <p:txEl>
                                              <p:pRg st="2" end="2"/>
                                            </p:txEl>
                                          </p:spTgt>
                                        </p:tgtEl>
                                        <p:attrNameLst>
                                          <p:attrName>style.visibility</p:attrName>
                                        </p:attrNameLst>
                                      </p:cBhvr>
                                      <p:to>
                                        <p:strVal val="visible"/>
                                      </p:to>
                                    </p:set>
                                    <p:anim calcmode="lin" valueType="num">
                                      <p:cBhvr additive="base">
                                        <p:cTn id="25" dur="500" fill="hold"/>
                                        <p:tgtEl>
                                          <p:spTgt spid="11571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57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5715">
                                            <p:txEl>
                                              <p:pRg st="3" end="3"/>
                                            </p:txEl>
                                          </p:spTgt>
                                        </p:tgtEl>
                                        <p:attrNameLst>
                                          <p:attrName>style.visibility</p:attrName>
                                        </p:attrNameLst>
                                      </p:cBhvr>
                                      <p:to>
                                        <p:strVal val="visible"/>
                                      </p:to>
                                    </p:set>
                                    <p:anim calcmode="lin" valueType="num">
                                      <p:cBhvr additive="base">
                                        <p:cTn id="31" dur="500" fill="hold"/>
                                        <p:tgtEl>
                                          <p:spTgt spid="11571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57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5715">
                                            <p:txEl>
                                              <p:pRg st="4" end="4"/>
                                            </p:txEl>
                                          </p:spTgt>
                                        </p:tgtEl>
                                        <p:attrNameLst>
                                          <p:attrName>style.visibility</p:attrName>
                                        </p:attrNameLst>
                                      </p:cBhvr>
                                      <p:to>
                                        <p:strVal val="visible"/>
                                      </p:to>
                                    </p:set>
                                    <p:anim calcmode="lin" valueType="num">
                                      <p:cBhvr additive="base">
                                        <p:cTn id="37" dur="500" fill="hold"/>
                                        <p:tgtEl>
                                          <p:spTgt spid="115715">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57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6259"/>
                                        </p:tgtEl>
                                        <p:attrNameLst>
                                          <p:attrName>style.visibility</p:attrName>
                                        </p:attrNameLst>
                                      </p:cBhvr>
                                      <p:to>
                                        <p:strVal val="visible"/>
                                      </p:to>
                                    </p:set>
                                    <p:anim calcmode="lin" valueType="num">
                                      <p:cBhvr additive="base">
                                        <p:cTn id="43" dur="500" fill="hold"/>
                                        <p:tgtEl>
                                          <p:spTgt spid="46259"/>
                                        </p:tgtEl>
                                        <p:attrNameLst>
                                          <p:attrName>ppt_x</p:attrName>
                                        </p:attrNameLst>
                                      </p:cBhvr>
                                      <p:tavLst>
                                        <p:tav tm="0">
                                          <p:val>
                                            <p:strVal val="#ppt_x"/>
                                          </p:val>
                                        </p:tav>
                                        <p:tav tm="100000">
                                          <p:val>
                                            <p:strVal val="#ppt_x"/>
                                          </p:val>
                                        </p:tav>
                                      </p:tavLst>
                                    </p:anim>
                                    <p:anim calcmode="lin" valueType="num">
                                      <p:cBhvr additive="base">
                                        <p:cTn id="44" dur="500" fill="hold"/>
                                        <p:tgtEl>
                                          <p:spTgt spid="4625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8974"/>
                                        </p:tgtEl>
                                        <p:attrNameLst>
                                          <p:attrName>style.visibility</p:attrName>
                                        </p:attrNameLst>
                                      </p:cBhvr>
                                      <p:to>
                                        <p:strVal val="visible"/>
                                      </p:to>
                                    </p:set>
                                    <p:anim calcmode="lin" valueType="num">
                                      <p:cBhvr additive="base">
                                        <p:cTn id="47" dur="500" fill="hold"/>
                                        <p:tgtEl>
                                          <p:spTgt spid="38974"/>
                                        </p:tgtEl>
                                        <p:attrNameLst>
                                          <p:attrName>ppt_x</p:attrName>
                                        </p:attrNameLst>
                                      </p:cBhvr>
                                      <p:tavLst>
                                        <p:tav tm="0">
                                          <p:val>
                                            <p:strVal val="#ppt_x"/>
                                          </p:val>
                                        </p:tav>
                                        <p:tav tm="100000">
                                          <p:val>
                                            <p:strVal val="#ppt_x"/>
                                          </p:val>
                                        </p:tav>
                                      </p:tavLst>
                                    </p:anim>
                                    <p:anim calcmode="lin" valueType="num">
                                      <p:cBhvr additive="base">
                                        <p:cTn id="48" dur="500" fill="hold"/>
                                        <p:tgtEl>
                                          <p:spTgt spid="38974"/>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P spid="38974" grpId="0"/>
      <p:bldP spid="38974"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3"/>
          <p:cNvSpPr>
            <a:spLocks noGrp="1"/>
          </p:cNvSpPr>
          <p:nvPr>
            <p:ph type="title"/>
          </p:nvPr>
        </p:nvSpPr>
        <p:spPr>
          <a:xfrm>
            <a:off x="457200" y="473075"/>
            <a:ext cx="6705600" cy="571500"/>
          </a:xfrm>
          <a:prstGeom prst="rect">
            <a:avLst/>
          </a:prstGeom>
          <a:noFill/>
          <a:ln w="9525">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⑵ </a:t>
            </a:r>
            <a:r>
              <a:rPr lang="zh-CN" altLang="en-US" sz="2000" b="1" dirty="0">
                <a:latin typeface="华文新魏" panose="02010800040101010101" pitchFamily="2" charset="-122"/>
                <a:ea typeface="华文新魏" panose="02010800040101010101" pitchFamily="2" charset="-122"/>
              </a:rPr>
              <a:t>列出状态真值表</a:t>
            </a:r>
            <a:r>
              <a:rPr lang="zh-CN" altLang="en-US" sz="2000" dirty="0">
                <a:latin typeface="华文新魏" panose="02010800040101010101" pitchFamily="2" charset="-122"/>
                <a:ea typeface="华文新魏" panose="02010800040101010101" pitchFamily="2" charset="-122"/>
              </a:rPr>
              <a:t>及</a:t>
            </a:r>
            <a:r>
              <a:rPr lang="zh-CN" altLang="en-US" sz="2000" b="1" dirty="0">
                <a:latin typeface="华文新魏" panose="02010800040101010101" pitchFamily="2" charset="-122"/>
                <a:ea typeface="华文新魏" panose="02010800040101010101" pitchFamily="2" charset="-122"/>
              </a:rPr>
              <a:t>次态真值表</a:t>
            </a:r>
          </a:p>
        </p:txBody>
      </p:sp>
      <p:sp>
        <p:nvSpPr>
          <p:cNvPr id="116739" name="Rectangle 4"/>
          <p:cNvSpPr/>
          <p:nvPr/>
        </p:nvSpPr>
        <p:spPr>
          <a:xfrm>
            <a:off x="0" y="400050"/>
            <a:ext cx="9144000" cy="4743450"/>
          </a:xfrm>
          <a:prstGeom prst="rect">
            <a:avLst/>
          </a:prstGeom>
          <a:noFill/>
          <a:ln w="9525">
            <a:noFill/>
          </a:ln>
        </p:spPr>
        <p:txBody>
          <a:bodyPr/>
          <a:lstStyle/>
          <a:p>
            <a:pPr marL="342900" indent="-342900" eaLnBrk="1" hangingPunct="1">
              <a:spcBef>
                <a:spcPct val="20000"/>
              </a:spcBef>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16740" name="Text Box 5"/>
          <p:cNvSpPr>
            <a:spLocks noGrp="1"/>
          </p:cNvSpPr>
          <p:nvPr>
            <p:ph type="body"/>
          </p:nvPr>
        </p:nvSpPr>
        <p:spPr>
          <a:xfrm>
            <a:off x="0" y="400050"/>
            <a:ext cx="9144000" cy="4743450"/>
          </a:xfrm>
          <a:prstGeom prst="rect">
            <a:avLst/>
          </a:prstGeom>
          <a:noFill/>
          <a:ln w="9525">
            <a:noFill/>
          </a:ln>
        </p:spPr>
        <p:txBody>
          <a:bodyPr/>
          <a:lstStyle/>
          <a:p>
            <a:pPr eaLnBrk="1" hangingPunct="1">
              <a:spcBef>
                <a:spcPct val="50000"/>
              </a:spcBef>
              <a:buNone/>
            </a:pPr>
            <a:r>
              <a:rPr lang="en-US" altLang="zh-CN" sz="2000" dirty="0">
                <a:latin typeface="华文新魏" panose="02010800040101010101" pitchFamily="2" charset="-122"/>
                <a:ea typeface="华文新魏" panose="02010800040101010101" pitchFamily="2" charset="-122"/>
              </a:rPr>
              <a:t>  </a:t>
            </a:r>
          </a:p>
        </p:txBody>
      </p:sp>
      <p:graphicFrame>
        <p:nvGraphicFramePr>
          <p:cNvPr id="26629" name="Group 5"/>
          <p:cNvGraphicFramePr>
            <a:graphicFrameLocks noGrp="1"/>
          </p:cNvGraphicFramePr>
          <p:nvPr>
            <p:custDataLst>
              <p:tags r:id="rId1"/>
            </p:custDataLst>
          </p:nvPr>
        </p:nvGraphicFramePr>
        <p:xfrm>
          <a:off x="287338" y="841375"/>
          <a:ext cx="7010400" cy="4270370"/>
        </p:xfrm>
        <a:graphic>
          <a:graphicData uri="http://schemas.openxmlformats.org/drawingml/2006/table">
            <a:tbl>
              <a:tblPr/>
              <a:tblGrid>
                <a:gridCol w="8382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75385">
                  <a:extLst>
                    <a:ext uri="{9D8B030D-6E8A-4147-A177-3AD203B41FA5}">
                      <a16:colId xmlns:a16="http://schemas.microsoft.com/office/drawing/2014/main" val="20002"/>
                    </a:ext>
                  </a:extLst>
                </a:gridCol>
                <a:gridCol w="1186815">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现态</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输入</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accent2"/>
                          </a:solidFill>
                          <a:effectLst/>
                          <a:latin typeface="华文新魏" panose="02010800040101010101" pitchFamily="2" charset="-122"/>
                          <a:ea typeface="华文新魏" panose="02010800040101010101" pitchFamily="2" charset="-122"/>
                        </a:rPr>
                        <a:t>组 合 电 路 输 出</a:t>
                      </a:r>
                    </a:p>
                  </a:txBody>
                  <a:tcPr marT="33990" marB="339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marT="33990" marB="339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marT="33990" marB="339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800" b="1" i="0" u="none" strike="noStrike" cap="none" normalizeH="0" baseline="0" dirty="0">
                          <a:ln>
                            <a:noFill/>
                          </a:ln>
                          <a:solidFill>
                            <a:schemeClr val="accent2"/>
                          </a:solidFill>
                          <a:effectLst/>
                          <a:latin typeface="华文新魏" panose="02010800040101010101" pitchFamily="2" charset="-122"/>
                          <a:ea typeface="华文新魏" panose="02010800040101010101" pitchFamily="2" charset="-122"/>
                        </a:rPr>
                        <a:t>次态</a:t>
                      </a:r>
                    </a:p>
                  </a:txBody>
                  <a:tcPr marT="33990" marB="339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8574">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y</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2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y</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x</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3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x</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2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x</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/R</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2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/S</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2</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/R</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/S</a:t>
                      </a:r>
                      <a:r>
                        <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rPr>
                        <a:t>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华文新魏" panose="02010800040101010101" pitchFamily="2" charset="-122"/>
                          <a:ea typeface="华文新魏" panose="02010800040101010101" pitchFamily="2" charset="-122"/>
                        </a:rPr>
                        <a:t>Z</a:t>
                      </a:r>
                      <a:endParaRPr kumimoji="0" lang="en-US" altLang="zh-CN" sz="1800" b="1" i="0" u="none" strike="noStrike" cap="none" normalizeH="0" baseline="-25000">
                        <a:ln>
                          <a:noFill/>
                        </a:ln>
                        <a:solidFill>
                          <a:schemeClr val="accent2"/>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accent2"/>
                          </a:solidFill>
                          <a:effectLst/>
                          <a:latin typeface="华文新魏" panose="02010800040101010101" pitchFamily="2" charset="-122"/>
                          <a:ea typeface="华文新魏" panose="02010800040101010101" pitchFamily="2" charset="-122"/>
                        </a:rPr>
                        <a:t>y</a:t>
                      </a:r>
                      <a:r>
                        <a:rPr kumimoji="0" lang="en-US" altLang="zh-CN" sz="1800" b="1" i="0" u="none" strike="noStrike" cap="none" normalizeH="0" baseline="-25000" dirty="0">
                          <a:ln>
                            <a:noFill/>
                          </a:ln>
                          <a:solidFill>
                            <a:schemeClr val="accent2"/>
                          </a:solidFill>
                          <a:effectLst/>
                          <a:latin typeface="华文新魏" panose="02010800040101010101" pitchFamily="2" charset="-122"/>
                          <a:ea typeface="华文新魏" panose="02010800040101010101" pitchFamily="2" charset="-122"/>
                        </a:rPr>
                        <a:t>2</a:t>
                      </a:r>
                      <a:r>
                        <a:rPr kumimoji="0" lang="en-US" altLang="zh-CN" sz="1500" b="1" i="0" u="none" strike="noStrike" cap="none" normalizeH="0" baseline="30000" dirty="0">
                          <a:ln>
                            <a:noFill/>
                          </a:ln>
                          <a:solidFill>
                            <a:schemeClr val="accent2"/>
                          </a:solidFill>
                          <a:effectLst/>
                          <a:latin typeface="华文新魏" panose="02010800040101010101" pitchFamily="2" charset="-122"/>
                          <a:ea typeface="华文新魏" panose="02010800040101010101" pitchFamily="2" charset="-122"/>
                        </a:rPr>
                        <a:t>n+1</a:t>
                      </a:r>
                      <a:r>
                        <a:rPr kumimoji="0" lang="en-US" altLang="zh-CN" sz="1800" b="1" i="0" u="none" strike="noStrike" cap="none" normalizeH="0" baseline="-25000" dirty="0">
                          <a:ln>
                            <a:noFill/>
                          </a:ln>
                          <a:solidFill>
                            <a:schemeClr val="accent2"/>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dirty="0">
                          <a:ln>
                            <a:noFill/>
                          </a:ln>
                          <a:solidFill>
                            <a:schemeClr val="accent2"/>
                          </a:solidFill>
                          <a:effectLst/>
                          <a:latin typeface="华文新魏" panose="02010800040101010101" pitchFamily="2" charset="-122"/>
                          <a:ea typeface="华文新魏" panose="02010800040101010101" pitchFamily="2" charset="-122"/>
                        </a:rPr>
                        <a:t>y</a:t>
                      </a:r>
                      <a:r>
                        <a:rPr kumimoji="0" lang="en-US" altLang="zh-CN" sz="1800" b="1" i="0" u="none" strike="noStrike" cap="none" normalizeH="0" baseline="-25000" dirty="0">
                          <a:ln>
                            <a:noFill/>
                          </a:ln>
                          <a:solidFill>
                            <a:schemeClr val="accent2"/>
                          </a:solidFill>
                          <a:effectLst/>
                          <a:latin typeface="华文新魏" panose="02010800040101010101" pitchFamily="2" charset="-122"/>
                          <a:ea typeface="华文新魏" panose="02010800040101010101" pitchFamily="2" charset="-122"/>
                        </a:rPr>
                        <a:t>1</a:t>
                      </a:r>
                      <a:r>
                        <a:rPr kumimoji="0" lang="en-US" altLang="zh-CN" sz="1500" b="1" i="0" u="none" strike="noStrike" cap="none" normalizeH="0" baseline="30000" dirty="0">
                          <a:ln>
                            <a:noFill/>
                          </a:ln>
                          <a:solidFill>
                            <a:schemeClr val="accent2"/>
                          </a:solidFill>
                          <a:effectLst/>
                          <a:latin typeface="华文新魏" panose="02010800040101010101" pitchFamily="2" charset="-122"/>
                          <a:ea typeface="华文新魏" panose="02010800040101010101" pitchFamily="2" charset="-122"/>
                        </a:rPr>
                        <a:t>n+1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extLst>
                  <a:ext uri="{0D108BD9-81ED-4DB2-BD59-A6C34878D82A}">
                    <a16:rowId xmlns:a16="http://schemas.microsoft.com/office/drawing/2014/main" val="10002"/>
                  </a:ext>
                </a:extLst>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endPar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extLst>
                  <a:ext uri="{0D108BD9-81ED-4DB2-BD59-A6C34878D82A}">
                    <a16:rowId xmlns:a16="http://schemas.microsoft.com/office/drawing/2014/main" val="10003"/>
                  </a:ext>
                </a:extLst>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tile tx="0" ty="0" sx="100000" sy="100000" flip="none" algn="tl"/>
                    </a:blipFill>
                  </a:tcPr>
                </a:tc>
                <a:extLst>
                  <a:ext uri="{0D108BD9-81ED-4DB2-BD59-A6C34878D82A}">
                    <a16:rowId xmlns:a16="http://schemas.microsoft.com/office/drawing/2014/main" val="10004"/>
                  </a:ext>
                </a:extLst>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extLst>
                  <a:ext uri="{0D108BD9-81ED-4DB2-BD59-A6C34878D82A}">
                    <a16:rowId xmlns:a16="http://schemas.microsoft.com/office/drawing/2014/main" val="10005"/>
                  </a:ext>
                </a:extLst>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extLst>
                  <a:ext uri="{0D108BD9-81ED-4DB2-BD59-A6C34878D82A}">
                    <a16:rowId xmlns:a16="http://schemas.microsoft.com/office/drawing/2014/main" val="10006"/>
                  </a:ext>
                </a:extLst>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5"/>
                      <a:tile tx="0" ty="0" sx="100000" sy="100000" flip="none" algn="tl"/>
                    </a:blipFill>
                  </a:tcPr>
                </a:tc>
                <a:extLst>
                  <a:ext uri="{0D108BD9-81ED-4DB2-BD59-A6C34878D82A}">
                    <a16:rowId xmlns:a16="http://schemas.microsoft.com/office/drawing/2014/main" val="10007"/>
                  </a:ext>
                </a:extLst>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0 0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extLst>
                  <a:ext uri="{0D108BD9-81ED-4DB2-BD59-A6C34878D82A}">
                    <a16:rowId xmlns:a16="http://schemas.microsoft.com/office/drawing/2014/main" val="10008"/>
                  </a:ext>
                </a:extLst>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extLst>
                  <a:ext uri="{0D108BD9-81ED-4DB2-BD59-A6C34878D82A}">
                    <a16:rowId xmlns:a16="http://schemas.microsoft.com/office/drawing/2014/main" val="10009"/>
                  </a:ext>
                </a:extLst>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6"/>
                      <a:tile tx="0" ty="0" sx="100000" sy="100000" flip="none" algn="tl"/>
                    </a:blipFill>
                  </a:tcPr>
                </a:tc>
                <a:extLst>
                  <a:ext uri="{0D108BD9-81ED-4DB2-BD59-A6C34878D82A}">
                    <a16:rowId xmlns:a16="http://schemas.microsoft.com/office/drawing/2014/main" val="10010"/>
                  </a:ext>
                </a:extLst>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96292">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1</a:t>
                      </a:r>
                      <a:r>
                        <a:rPr kumimoji="0" lang="en-US" altLang="zh-CN" sz="1800" b="0"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 </a:t>
                      </a: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3300"/>
                          </a:solidFill>
                          <a:effectLst/>
                          <a:latin typeface="华文新魏" panose="02010800040101010101" pitchFamily="2" charset="-122"/>
                          <a:ea typeface="华文新魏" panose="02010800040101010101" pitchFamily="2" charset="-122"/>
                        </a:rPr>
                        <a:t>0</a:t>
                      </a:r>
                      <a:r>
                        <a:rPr kumimoji="0" lang="en-US" altLang="zh-CN"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1</a:t>
                      </a:r>
                    </a:p>
                  </a:txBody>
                  <a:tcPr marT="33990" marB="339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pic>
        <p:nvPicPr>
          <p:cNvPr id="2" name="图片 1"/>
          <p:cNvPicPr>
            <a:picLocks noChangeAspect="1"/>
          </p:cNvPicPr>
          <p:nvPr/>
        </p:nvPicPr>
        <p:blipFill>
          <a:blip r:embed="rId7"/>
          <a:stretch>
            <a:fillRect/>
          </a:stretch>
        </p:blipFill>
        <p:spPr>
          <a:xfrm>
            <a:off x="7419975" y="1492250"/>
            <a:ext cx="1689100" cy="2147888"/>
          </a:xfrm>
          <a:prstGeom prst="rect">
            <a:avLst/>
          </a:prstGeom>
          <a:noFill/>
          <a:ln w="9525">
            <a:noFill/>
          </a:ln>
        </p:spPr>
      </p:pic>
      <p:grpSp>
        <p:nvGrpSpPr>
          <p:cNvPr id="4" name="组合 3"/>
          <p:cNvGrpSpPr/>
          <p:nvPr/>
        </p:nvGrpSpPr>
        <p:grpSpPr>
          <a:xfrm>
            <a:off x="7380605" y="3723640"/>
            <a:ext cx="1704340" cy="400050"/>
            <a:chOff x="11623" y="5864"/>
            <a:chExt cx="2684" cy="630"/>
          </a:xfrm>
        </p:grpSpPr>
        <p:pic>
          <p:nvPicPr>
            <p:cNvPr id="3" name="图片 2"/>
            <p:cNvPicPr>
              <a:picLocks noChangeAspect="1"/>
            </p:cNvPicPr>
            <p:nvPr/>
          </p:nvPicPr>
          <p:blipFill>
            <a:blip r:embed="rId8"/>
            <a:stretch>
              <a:fillRect/>
            </a:stretch>
          </p:blipFill>
          <p:spPr>
            <a:xfrm>
              <a:off x="11623" y="5864"/>
              <a:ext cx="2685" cy="630"/>
            </a:xfrm>
            <a:prstGeom prst="rect">
              <a:avLst/>
            </a:prstGeom>
          </p:spPr>
        </p:pic>
        <p:sp>
          <p:nvSpPr>
            <p:cNvPr id="5" name="Line 325"/>
            <p:cNvSpPr/>
            <p:nvPr/>
          </p:nvSpPr>
          <p:spPr>
            <a:xfrm flipV="1">
              <a:off x="12864" y="5977"/>
              <a:ext cx="335" cy="8"/>
            </a:xfrm>
            <a:prstGeom prst="line">
              <a:avLst/>
            </a:prstGeom>
            <a:ln w="19050" cap="flat" cmpd="sng">
              <a:solidFill>
                <a:schemeClr val="tx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p:cNvSpPr>
          <p:nvPr>
            <p:ph type="title"/>
          </p:nvPr>
        </p:nvSpPr>
        <p:spPr>
          <a:xfrm>
            <a:off x="285750" y="574675"/>
            <a:ext cx="4495800" cy="457200"/>
          </a:xfrm>
          <a:prstGeom prst="rect">
            <a:avLst/>
          </a:prstGeom>
          <a:noFill/>
          <a:ln w="9525">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⑶ </a:t>
            </a:r>
            <a:r>
              <a:rPr lang="zh-CN" altLang="en-US" sz="1800" b="1" dirty="0">
                <a:latin typeface="华文新魏" panose="02010800040101010101" pitchFamily="2" charset="-122"/>
                <a:ea typeface="华文新魏" panose="02010800040101010101" pitchFamily="2" charset="-122"/>
              </a:rPr>
              <a:t>画出状态表和状态图</a:t>
            </a:r>
          </a:p>
        </p:txBody>
      </p:sp>
      <p:sp>
        <p:nvSpPr>
          <p:cNvPr id="117763" name="Rectangle 3"/>
          <p:cNvSpPr>
            <a:spLocks noGrp="1"/>
          </p:cNvSpPr>
          <p:nvPr>
            <p:ph type="body"/>
          </p:nvPr>
        </p:nvSpPr>
        <p:spPr>
          <a:xfrm>
            <a:off x="371475" y="3949700"/>
            <a:ext cx="8521700" cy="1143000"/>
          </a:xfrm>
          <a:prstGeom prst="rect">
            <a:avLst/>
          </a:prstGeom>
          <a:noFill/>
          <a:ln w="9525">
            <a:noFill/>
          </a:ln>
        </p:spPr>
        <p:txBody>
          <a:bodyPr/>
          <a:lstStyle/>
          <a:p>
            <a:pPr eaLnBrk="1" hangingPunct="1">
              <a:lnSpc>
                <a:spcPct val="70000"/>
              </a:lnSpc>
              <a:spcBef>
                <a:spcPct val="50000"/>
              </a:spcBef>
              <a:buNone/>
            </a:pPr>
            <a:r>
              <a:rPr lang="en-US" altLang="zh-CN" sz="1800" b="1" dirty="0">
                <a:latin typeface="华文新魏" panose="02010800040101010101" pitchFamily="2" charset="-122"/>
                <a:ea typeface="华文新魏" panose="02010800040101010101" pitchFamily="2" charset="-122"/>
              </a:rPr>
              <a:t>⑷  </a:t>
            </a:r>
            <a:r>
              <a:rPr lang="zh-CN" altLang="en-US" sz="1800" b="1" dirty="0">
                <a:latin typeface="华文新魏" panose="02010800040101010101" pitchFamily="2" charset="-122"/>
                <a:ea typeface="华文新魏" panose="02010800040101010101" pitchFamily="2" charset="-122"/>
              </a:rPr>
              <a:t>电路功能说明</a:t>
            </a:r>
            <a:r>
              <a:rPr lang="en-US" altLang="zh-CN" sz="1800" b="1" dirty="0">
                <a:latin typeface="华文新魏" panose="02010800040101010101" pitchFamily="2" charset="-122"/>
                <a:ea typeface="华文新魏" panose="02010800040101010101" pitchFamily="2" charset="-122"/>
              </a:rPr>
              <a:t>:  </a:t>
            </a:r>
          </a:p>
          <a:p>
            <a:pPr eaLnBrk="1" hangingPunct="1">
              <a:lnSpc>
                <a:spcPct val="80000"/>
              </a:lnSpc>
              <a:spcBef>
                <a:spcPct val="50000"/>
              </a:spcBef>
              <a:buNone/>
            </a:pPr>
            <a:r>
              <a:rPr lang="zh-CN" altLang="en-US" sz="1800" b="1" dirty="0">
                <a:latin typeface="华文新魏" panose="02010800040101010101" pitchFamily="2" charset="-122"/>
                <a:ea typeface="华文新魏" panose="02010800040101010101" pitchFamily="2" charset="-122"/>
              </a:rPr>
              <a:t>     此电路是“ </a:t>
            </a:r>
            <a:r>
              <a:rPr lang="en-US" altLang="zh-CN" sz="1800" b="1" dirty="0">
                <a:latin typeface="华文新魏" panose="02010800040101010101" pitchFamily="2" charset="-122"/>
                <a:ea typeface="华文新魏" panose="02010800040101010101" pitchFamily="2" charset="-122"/>
              </a:rPr>
              <a:t>x</a:t>
            </a:r>
            <a:r>
              <a:rPr lang="en-US" altLang="zh-CN" sz="1800" b="1" baseline="-25000" dirty="0">
                <a:latin typeface="华文新魏" panose="02010800040101010101" pitchFamily="2" charset="-122"/>
                <a:ea typeface="华文新魏" panose="02010800040101010101" pitchFamily="2" charset="-122"/>
              </a:rPr>
              <a:t>1</a:t>
            </a:r>
            <a:r>
              <a:rPr lang="en-US" altLang="zh-CN" sz="1800" b="1" dirty="0">
                <a:latin typeface="华文新魏" panose="02010800040101010101" pitchFamily="2" charset="-122"/>
                <a:ea typeface="华文新魏" panose="02010800040101010101" pitchFamily="2" charset="-122"/>
              </a:rPr>
              <a:t>–x</a:t>
            </a:r>
            <a:r>
              <a:rPr lang="en-US" altLang="zh-CN" sz="1800" b="1" baseline="-25000" dirty="0">
                <a:latin typeface="华文新魏" panose="02010800040101010101" pitchFamily="2" charset="-122"/>
                <a:ea typeface="华文新魏" panose="02010800040101010101" pitchFamily="2" charset="-122"/>
              </a:rPr>
              <a:t>2</a:t>
            </a:r>
            <a:r>
              <a:rPr lang="en-US" altLang="zh-CN" sz="1800" b="1" dirty="0">
                <a:latin typeface="华文新魏" panose="02010800040101010101" pitchFamily="2" charset="-122"/>
                <a:ea typeface="华文新魏" panose="02010800040101010101" pitchFamily="2" charset="-122"/>
              </a:rPr>
              <a:t>–x</a:t>
            </a:r>
            <a:r>
              <a:rPr lang="en-US" altLang="zh-CN" sz="1800" b="1" baseline="-25000" dirty="0">
                <a:latin typeface="华文新魏" panose="02010800040101010101" pitchFamily="2" charset="-122"/>
                <a:ea typeface="华文新魏" panose="02010800040101010101" pitchFamily="2" charset="-122"/>
              </a:rPr>
              <a:t>3</a:t>
            </a: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序列检测器。当输出为</a:t>
            </a:r>
            <a:r>
              <a:rPr lang="en-US" altLang="zh-CN" sz="1800" b="1" dirty="0">
                <a:latin typeface="华文新魏" panose="02010800040101010101" pitchFamily="2" charset="-122"/>
                <a:ea typeface="华文新魏" panose="02010800040101010101" pitchFamily="2" charset="-122"/>
              </a:rPr>
              <a:t>1 </a:t>
            </a:r>
            <a:r>
              <a:rPr lang="zh-CN" altLang="en-US" sz="1800" b="1" dirty="0">
                <a:latin typeface="华文新魏" panose="02010800040101010101" pitchFamily="2" charset="-122"/>
                <a:ea typeface="华文新魏" panose="02010800040101010101" pitchFamily="2" charset="-122"/>
              </a:rPr>
              <a:t>后，只有输入</a:t>
            </a:r>
            <a:r>
              <a:rPr lang="en-US" altLang="zh-CN" sz="1800" b="1" dirty="0">
                <a:latin typeface="华文新魏" panose="02010800040101010101" pitchFamily="2" charset="-122"/>
                <a:ea typeface="华文新魏" panose="02010800040101010101" pitchFamily="2" charset="-122"/>
              </a:rPr>
              <a:t>x</a:t>
            </a:r>
            <a:r>
              <a:rPr lang="en-US" altLang="zh-CN" sz="1800" b="1" baseline="-25000" dirty="0">
                <a:latin typeface="华文新魏" panose="02010800040101010101" pitchFamily="2" charset="-122"/>
                <a:ea typeface="华文新魏" panose="02010800040101010101" pitchFamily="2" charset="-122"/>
              </a:rPr>
              <a:t>2</a:t>
            </a:r>
            <a:r>
              <a:rPr lang="zh-CN" altLang="en-US" sz="1800" b="1" dirty="0">
                <a:latin typeface="华文新魏" panose="02010800040101010101" pitchFamily="2" charset="-122"/>
                <a:ea typeface="华文新魏" panose="02010800040101010101" pitchFamily="2" charset="-122"/>
              </a:rPr>
              <a:t>才能使其恢复至初态。</a:t>
            </a:r>
          </a:p>
          <a:p>
            <a:pPr eaLnBrk="1" hangingPunct="1">
              <a:lnSpc>
                <a:spcPct val="80000"/>
              </a:lnSpc>
              <a:spcBef>
                <a:spcPct val="50000"/>
              </a:spcBef>
              <a:buNone/>
            </a:pPr>
            <a:endParaRPr lang="zh-CN" altLang="en-US" sz="1800" b="1" dirty="0">
              <a:latin typeface="华文新魏" panose="02010800040101010101" pitchFamily="2" charset="-122"/>
              <a:ea typeface="华文新魏" panose="02010800040101010101" pitchFamily="2" charset="-122"/>
            </a:endParaRPr>
          </a:p>
        </p:txBody>
      </p:sp>
      <p:graphicFrame>
        <p:nvGraphicFramePr>
          <p:cNvPr id="27652" name="Group 4"/>
          <p:cNvGraphicFramePr>
            <a:graphicFrameLocks noGrp="1"/>
          </p:cNvGraphicFramePr>
          <p:nvPr/>
        </p:nvGraphicFramePr>
        <p:xfrm>
          <a:off x="762000" y="1276350"/>
          <a:ext cx="2955925" cy="1941513"/>
        </p:xfrm>
        <a:graphic>
          <a:graphicData uri="http://schemas.openxmlformats.org/drawingml/2006/table">
            <a:tbl>
              <a:tblPr/>
              <a:tblGrid>
                <a:gridCol w="646369">
                  <a:extLst>
                    <a:ext uri="{9D8B030D-6E8A-4147-A177-3AD203B41FA5}">
                      <a16:colId xmlns:a16="http://schemas.microsoft.com/office/drawing/2014/main" val="20000"/>
                    </a:ext>
                  </a:extLst>
                </a:gridCol>
                <a:gridCol w="577389">
                  <a:extLst>
                    <a:ext uri="{9D8B030D-6E8A-4147-A177-3AD203B41FA5}">
                      <a16:colId xmlns:a16="http://schemas.microsoft.com/office/drawing/2014/main" val="20001"/>
                    </a:ext>
                  </a:extLst>
                </a:gridCol>
                <a:gridCol w="577389">
                  <a:extLst>
                    <a:ext uri="{9D8B030D-6E8A-4147-A177-3AD203B41FA5}">
                      <a16:colId xmlns:a16="http://schemas.microsoft.com/office/drawing/2014/main" val="20002"/>
                    </a:ext>
                  </a:extLst>
                </a:gridCol>
                <a:gridCol w="577389">
                  <a:extLst>
                    <a:ext uri="{9D8B030D-6E8A-4147-A177-3AD203B41FA5}">
                      <a16:colId xmlns:a16="http://schemas.microsoft.com/office/drawing/2014/main" val="20003"/>
                    </a:ext>
                  </a:extLst>
                </a:gridCol>
                <a:gridCol w="577389">
                  <a:extLst>
                    <a:ext uri="{9D8B030D-6E8A-4147-A177-3AD203B41FA5}">
                      <a16:colId xmlns:a16="http://schemas.microsoft.com/office/drawing/2014/main" val="20004"/>
                    </a:ext>
                  </a:extLst>
                </a:gridCol>
              </a:tblGrid>
              <a:tr h="38862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x</a:t>
                      </a: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x</a:t>
                      </a:r>
                      <a:r>
                        <a:rPr kumimoji="0" lang="en-US" altLang="zh-CN" sz="1800" b="1"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2</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x</a:t>
                      </a: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Z</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0"/>
                  </a:ext>
                </a:extLst>
              </a:tr>
              <a:tr h="38862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8862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8862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11</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8703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11</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01</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p>
                  </a:txBody>
                  <a:tcPr marT="34302" marB="3430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17796" name="Text Box 42"/>
          <p:cNvSpPr txBox="1"/>
          <p:nvPr/>
        </p:nvSpPr>
        <p:spPr>
          <a:xfrm>
            <a:off x="1538288" y="3241675"/>
            <a:ext cx="1600200" cy="4111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2</a:t>
            </a:r>
            <a:r>
              <a:rPr lang="en-US" altLang="zh-CN" sz="1800" b="1" baseline="30000" dirty="0">
                <a:solidFill>
                  <a:schemeClr val="tx1"/>
                </a:solidFill>
                <a:latin typeface="黑体" panose="02010609060101010101" pitchFamily="49" charset="-122"/>
                <a:ea typeface="黑体" panose="02010609060101010101" pitchFamily="49" charset="-122"/>
              </a:rPr>
              <a:t>n+1 </a:t>
            </a: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r>
              <a:rPr lang="en-US" altLang="zh-CN" sz="1800" b="1" baseline="30000" dirty="0">
                <a:solidFill>
                  <a:schemeClr val="tx1"/>
                </a:solidFill>
                <a:latin typeface="黑体" panose="02010609060101010101" pitchFamily="49" charset="-122"/>
                <a:ea typeface="黑体" panose="02010609060101010101" pitchFamily="49" charset="-122"/>
              </a:rPr>
              <a:t>n+1</a:t>
            </a:r>
          </a:p>
        </p:txBody>
      </p:sp>
      <p:sp>
        <p:nvSpPr>
          <p:cNvPr id="117797" name="Text Box 43"/>
          <p:cNvSpPr txBox="1"/>
          <p:nvPr/>
        </p:nvSpPr>
        <p:spPr>
          <a:xfrm>
            <a:off x="6165850" y="3221038"/>
            <a:ext cx="15240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rgbClr val="FF0000"/>
                </a:solidFill>
                <a:latin typeface="华文新魏" panose="02010800040101010101" pitchFamily="2" charset="-122"/>
                <a:ea typeface="华文新魏" panose="02010800040101010101" pitchFamily="2" charset="-122"/>
              </a:rPr>
              <a:t>状态图</a:t>
            </a:r>
          </a:p>
        </p:txBody>
      </p:sp>
      <p:sp>
        <p:nvSpPr>
          <p:cNvPr id="117798" name="Text Box 44"/>
          <p:cNvSpPr txBox="1"/>
          <p:nvPr/>
        </p:nvSpPr>
        <p:spPr>
          <a:xfrm>
            <a:off x="1835150" y="908050"/>
            <a:ext cx="11430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rgbClr val="FF0000"/>
                </a:solidFill>
                <a:latin typeface="华文新魏" panose="02010800040101010101" pitchFamily="2" charset="-122"/>
                <a:ea typeface="华文新魏" panose="02010800040101010101" pitchFamily="2" charset="-122"/>
              </a:rPr>
              <a:t>状态表</a:t>
            </a:r>
          </a:p>
        </p:txBody>
      </p:sp>
      <p:grpSp>
        <p:nvGrpSpPr>
          <p:cNvPr id="117799" name="Group 45"/>
          <p:cNvGrpSpPr/>
          <p:nvPr/>
        </p:nvGrpSpPr>
        <p:grpSpPr>
          <a:xfrm>
            <a:off x="4716463" y="366713"/>
            <a:ext cx="3808412" cy="2925762"/>
            <a:chOff x="-5" y="-19"/>
            <a:chExt cx="2680" cy="2458"/>
          </a:xfrm>
        </p:grpSpPr>
        <p:sp>
          <p:nvSpPr>
            <p:cNvPr id="117800" name="Text Box 46"/>
            <p:cNvSpPr txBox="1"/>
            <p:nvPr/>
          </p:nvSpPr>
          <p:spPr>
            <a:xfrm>
              <a:off x="1120" y="434"/>
              <a:ext cx="480"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 </a:t>
              </a:r>
            </a:p>
          </p:txBody>
        </p:sp>
        <p:sp>
          <p:nvSpPr>
            <p:cNvPr id="117801" name="Text Box 47"/>
            <p:cNvSpPr txBox="1"/>
            <p:nvPr/>
          </p:nvSpPr>
          <p:spPr>
            <a:xfrm>
              <a:off x="1123" y="1147"/>
              <a:ext cx="480"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 </a:t>
              </a:r>
            </a:p>
          </p:txBody>
        </p:sp>
        <p:sp>
          <p:nvSpPr>
            <p:cNvPr id="117802" name="Text Box 48"/>
            <p:cNvSpPr txBox="1"/>
            <p:nvPr/>
          </p:nvSpPr>
          <p:spPr>
            <a:xfrm>
              <a:off x="1120" y="1674"/>
              <a:ext cx="480"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 </a:t>
              </a:r>
            </a:p>
          </p:txBody>
        </p:sp>
        <p:sp>
          <p:nvSpPr>
            <p:cNvPr id="117803" name="Text Box 49"/>
            <p:cNvSpPr txBox="1"/>
            <p:nvPr/>
          </p:nvSpPr>
          <p:spPr>
            <a:xfrm>
              <a:off x="1117" y="2033"/>
              <a:ext cx="480"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 </a:t>
              </a:r>
            </a:p>
          </p:txBody>
        </p:sp>
        <p:sp>
          <p:nvSpPr>
            <p:cNvPr id="117804" name="Line 50"/>
            <p:cNvSpPr/>
            <p:nvPr/>
          </p:nvSpPr>
          <p:spPr>
            <a:xfrm flipV="1">
              <a:off x="1920" y="922"/>
              <a:ext cx="0" cy="912"/>
            </a:xfrm>
            <a:prstGeom prst="line">
              <a:avLst/>
            </a:prstGeom>
            <a:ln w="28575" cap="flat" cmpd="sng">
              <a:solidFill>
                <a:schemeClr val="tx1"/>
              </a:solidFill>
              <a:prstDash val="solid"/>
              <a:headEnd type="none" w="med" len="med"/>
              <a:tailEnd type="triangle" w="med" len="med"/>
            </a:ln>
          </p:spPr>
        </p:sp>
        <p:sp>
          <p:nvSpPr>
            <p:cNvPr id="117805" name="Text Box 51"/>
            <p:cNvSpPr txBox="1"/>
            <p:nvPr/>
          </p:nvSpPr>
          <p:spPr>
            <a:xfrm>
              <a:off x="1872" y="1200"/>
              <a:ext cx="480"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3 </a:t>
              </a:r>
            </a:p>
          </p:txBody>
        </p:sp>
        <p:sp>
          <p:nvSpPr>
            <p:cNvPr id="117806" name="Text Box 52"/>
            <p:cNvSpPr txBox="1"/>
            <p:nvPr/>
          </p:nvSpPr>
          <p:spPr>
            <a:xfrm>
              <a:off x="245" y="1252"/>
              <a:ext cx="480"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 </a:t>
              </a:r>
            </a:p>
          </p:txBody>
        </p:sp>
        <p:sp>
          <p:nvSpPr>
            <p:cNvPr id="117807" name="Text Box 53"/>
            <p:cNvSpPr txBox="1"/>
            <p:nvPr/>
          </p:nvSpPr>
          <p:spPr>
            <a:xfrm>
              <a:off x="576" y="1258"/>
              <a:ext cx="480"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3 </a:t>
              </a:r>
            </a:p>
          </p:txBody>
        </p:sp>
        <p:sp>
          <p:nvSpPr>
            <p:cNvPr id="117808" name="Text Box 54"/>
            <p:cNvSpPr txBox="1"/>
            <p:nvPr/>
          </p:nvSpPr>
          <p:spPr>
            <a:xfrm>
              <a:off x="144" y="203"/>
              <a:ext cx="480"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 </a:t>
              </a:r>
            </a:p>
          </p:txBody>
        </p:sp>
        <p:sp>
          <p:nvSpPr>
            <p:cNvPr id="117809" name="Text Box 55"/>
            <p:cNvSpPr txBox="1"/>
            <p:nvPr/>
          </p:nvSpPr>
          <p:spPr>
            <a:xfrm>
              <a:off x="528" y="-19"/>
              <a:ext cx="480"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3 </a:t>
              </a:r>
            </a:p>
          </p:txBody>
        </p:sp>
        <p:sp>
          <p:nvSpPr>
            <p:cNvPr id="117810" name="Text Box 56"/>
            <p:cNvSpPr txBox="1"/>
            <p:nvPr/>
          </p:nvSpPr>
          <p:spPr>
            <a:xfrm>
              <a:off x="1817" y="129"/>
              <a:ext cx="480"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 </a:t>
              </a:r>
            </a:p>
          </p:txBody>
        </p:sp>
        <p:sp>
          <p:nvSpPr>
            <p:cNvPr id="117811" name="Text Box 57"/>
            <p:cNvSpPr txBox="1"/>
            <p:nvPr/>
          </p:nvSpPr>
          <p:spPr>
            <a:xfrm>
              <a:off x="2195" y="500"/>
              <a:ext cx="480"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3 </a:t>
              </a:r>
            </a:p>
          </p:txBody>
        </p:sp>
        <p:sp>
          <p:nvSpPr>
            <p:cNvPr id="117812" name="Line 58"/>
            <p:cNvSpPr/>
            <p:nvPr/>
          </p:nvSpPr>
          <p:spPr>
            <a:xfrm flipV="1">
              <a:off x="432" y="2103"/>
              <a:ext cx="144" cy="96"/>
            </a:xfrm>
            <a:prstGeom prst="line">
              <a:avLst/>
            </a:prstGeom>
            <a:ln w="28575" cap="flat" cmpd="sng">
              <a:solidFill>
                <a:schemeClr val="tx1"/>
              </a:solidFill>
              <a:prstDash val="solid"/>
              <a:headEnd type="none" w="med" len="med"/>
              <a:tailEnd type="triangle" w="med" len="med"/>
            </a:ln>
          </p:spPr>
        </p:sp>
        <p:sp>
          <p:nvSpPr>
            <p:cNvPr id="117813" name="Text Box 59"/>
            <p:cNvSpPr txBox="1"/>
            <p:nvPr/>
          </p:nvSpPr>
          <p:spPr>
            <a:xfrm>
              <a:off x="-5" y="1918"/>
              <a:ext cx="480" cy="33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 </a:t>
              </a:r>
            </a:p>
          </p:txBody>
        </p:sp>
        <p:sp>
          <p:nvSpPr>
            <p:cNvPr id="117814" name="Oval 60"/>
            <p:cNvSpPr/>
            <p:nvPr/>
          </p:nvSpPr>
          <p:spPr>
            <a:xfrm>
              <a:off x="1728" y="1863"/>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11/0</a:t>
              </a:r>
            </a:p>
          </p:txBody>
        </p:sp>
        <p:sp>
          <p:nvSpPr>
            <p:cNvPr id="117815" name="Line 61"/>
            <p:cNvSpPr/>
            <p:nvPr/>
          </p:nvSpPr>
          <p:spPr>
            <a:xfrm>
              <a:off x="768" y="922"/>
              <a:ext cx="1008" cy="1008"/>
            </a:xfrm>
            <a:prstGeom prst="line">
              <a:avLst/>
            </a:prstGeom>
            <a:ln w="28575" cap="flat" cmpd="sng">
              <a:solidFill>
                <a:schemeClr val="tx1"/>
              </a:solidFill>
              <a:prstDash val="solid"/>
              <a:headEnd type="triangle" w="med" len="med"/>
              <a:tailEnd type="none" w="med" len="med"/>
            </a:ln>
          </p:spPr>
        </p:sp>
        <p:sp>
          <p:nvSpPr>
            <p:cNvPr id="117816" name="Line 62"/>
            <p:cNvSpPr/>
            <p:nvPr/>
          </p:nvSpPr>
          <p:spPr>
            <a:xfrm flipH="1">
              <a:off x="821" y="730"/>
              <a:ext cx="907" cy="0"/>
            </a:xfrm>
            <a:prstGeom prst="line">
              <a:avLst/>
            </a:prstGeom>
            <a:ln w="28575" cap="flat" cmpd="sng">
              <a:solidFill>
                <a:schemeClr val="tx1"/>
              </a:solidFill>
              <a:prstDash val="solid"/>
              <a:headEnd type="none" w="med" len="med"/>
              <a:tailEnd type="triangle" w="med" len="med"/>
            </a:ln>
          </p:spPr>
        </p:sp>
        <p:sp>
          <p:nvSpPr>
            <p:cNvPr id="117817" name="Line 63"/>
            <p:cNvSpPr/>
            <p:nvPr/>
          </p:nvSpPr>
          <p:spPr>
            <a:xfrm flipV="1">
              <a:off x="528" y="932"/>
              <a:ext cx="0" cy="907"/>
            </a:xfrm>
            <a:prstGeom prst="line">
              <a:avLst/>
            </a:prstGeom>
            <a:ln w="28575" cap="flat" cmpd="sng">
              <a:solidFill>
                <a:schemeClr val="tx1"/>
              </a:solidFill>
              <a:prstDash val="solid"/>
              <a:headEnd type="triangle" w="med" len="med"/>
              <a:tailEnd type="none" w="med" len="med"/>
            </a:ln>
          </p:spPr>
        </p:sp>
        <p:sp>
          <p:nvSpPr>
            <p:cNvPr id="117818" name="Line 64"/>
            <p:cNvSpPr/>
            <p:nvPr/>
          </p:nvSpPr>
          <p:spPr>
            <a:xfrm flipH="1">
              <a:off x="816" y="1978"/>
              <a:ext cx="907" cy="0"/>
            </a:xfrm>
            <a:prstGeom prst="line">
              <a:avLst/>
            </a:prstGeom>
            <a:ln w="28575" cap="flat" cmpd="sng">
              <a:solidFill>
                <a:schemeClr val="tx1"/>
              </a:solidFill>
              <a:prstDash val="solid"/>
              <a:headEnd type="none" w="med" len="med"/>
              <a:tailEnd type="triangle" w="med" len="med"/>
            </a:ln>
          </p:spPr>
        </p:sp>
        <p:grpSp>
          <p:nvGrpSpPr>
            <p:cNvPr id="117819" name="Group 65"/>
            <p:cNvGrpSpPr/>
            <p:nvPr/>
          </p:nvGrpSpPr>
          <p:grpSpPr>
            <a:xfrm rot="-5400000">
              <a:off x="396" y="250"/>
              <a:ext cx="384" cy="336"/>
              <a:chOff x="0" y="0"/>
              <a:chExt cx="384" cy="336"/>
            </a:xfrm>
          </p:grpSpPr>
          <p:sp>
            <p:nvSpPr>
              <p:cNvPr id="117832" name="AutoShape 66"/>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117833" name="Line 67"/>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7820" name="Oval 68"/>
            <p:cNvSpPr/>
            <p:nvPr/>
          </p:nvSpPr>
          <p:spPr>
            <a:xfrm>
              <a:off x="384" y="548"/>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00/0</a:t>
              </a:r>
            </a:p>
          </p:txBody>
        </p:sp>
        <p:grpSp>
          <p:nvGrpSpPr>
            <p:cNvPr id="117821" name="Group 69"/>
            <p:cNvGrpSpPr/>
            <p:nvPr/>
          </p:nvGrpSpPr>
          <p:grpSpPr>
            <a:xfrm rot="8100000">
              <a:off x="192" y="2103"/>
              <a:ext cx="384" cy="336"/>
              <a:chOff x="0" y="0"/>
              <a:chExt cx="384" cy="336"/>
            </a:xfrm>
          </p:grpSpPr>
          <p:sp>
            <p:nvSpPr>
              <p:cNvPr id="117830" name="AutoShape 70"/>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117831" name="Line 71"/>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7822" name="Oval 72"/>
            <p:cNvSpPr/>
            <p:nvPr/>
          </p:nvSpPr>
          <p:spPr>
            <a:xfrm>
              <a:off x="384" y="1863"/>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10/0</a:t>
              </a:r>
            </a:p>
          </p:txBody>
        </p:sp>
        <p:sp>
          <p:nvSpPr>
            <p:cNvPr id="117823" name="Line 73"/>
            <p:cNvSpPr/>
            <p:nvPr/>
          </p:nvSpPr>
          <p:spPr>
            <a:xfrm flipV="1">
              <a:off x="624" y="927"/>
              <a:ext cx="0" cy="907"/>
            </a:xfrm>
            <a:prstGeom prst="line">
              <a:avLst/>
            </a:prstGeom>
            <a:ln w="28575" cap="flat" cmpd="sng">
              <a:solidFill>
                <a:schemeClr val="tx1"/>
              </a:solidFill>
              <a:prstDash val="solid"/>
              <a:headEnd type="none" w="med" len="med"/>
              <a:tailEnd type="triangle" w="med" len="med"/>
            </a:ln>
          </p:spPr>
        </p:sp>
        <p:sp>
          <p:nvSpPr>
            <p:cNvPr id="117824" name="Line 74"/>
            <p:cNvSpPr/>
            <p:nvPr/>
          </p:nvSpPr>
          <p:spPr>
            <a:xfrm flipH="1">
              <a:off x="816" y="2122"/>
              <a:ext cx="907" cy="0"/>
            </a:xfrm>
            <a:prstGeom prst="line">
              <a:avLst/>
            </a:prstGeom>
            <a:ln w="28575" cap="flat" cmpd="sng">
              <a:solidFill>
                <a:schemeClr val="tx1"/>
              </a:solidFill>
              <a:prstDash val="solid"/>
              <a:headEnd type="triangle" w="med" len="med"/>
              <a:tailEnd type="none" w="med" len="med"/>
            </a:ln>
          </p:spPr>
        </p:sp>
        <p:grpSp>
          <p:nvGrpSpPr>
            <p:cNvPr id="117825" name="Group 75"/>
            <p:cNvGrpSpPr/>
            <p:nvPr/>
          </p:nvGrpSpPr>
          <p:grpSpPr>
            <a:xfrm rot="-2700000">
              <a:off x="1992" y="346"/>
              <a:ext cx="384" cy="336"/>
              <a:chOff x="0" y="0"/>
              <a:chExt cx="384" cy="336"/>
            </a:xfrm>
          </p:grpSpPr>
          <p:sp>
            <p:nvSpPr>
              <p:cNvPr id="117828" name="AutoShape 76"/>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117829" name="Line 77"/>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7826" name="Oval 78"/>
            <p:cNvSpPr/>
            <p:nvPr/>
          </p:nvSpPr>
          <p:spPr>
            <a:xfrm>
              <a:off x="1728" y="548"/>
              <a:ext cx="432" cy="384"/>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01/1</a:t>
              </a:r>
            </a:p>
          </p:txBody>
        </p:sp>
        <p:sp>
          <p:nvSpPr>
            <p:cNvPr id="117827" name="Text Box 79"/>
            <p:cNvSpPr txBox="1"/>
            <p:nvPr/>
          </p:nvSpPr>
          <p:spPr>
            <a:xfrm>
              <a:off x="1008" y="1008"/>
              <a:ext cx="480" cy="25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baseline="-25000" dirty="0">
                  <a:solidFill>
                    <a:schemeClr val="tx1"/>
                  </a:solidFill>
                  <a:latin typeface="黑体" panose="02010609060101010101" pitchFamily="49" charset="-122"/>
                  <a:ea typeface="黑体" panose="02010609060101010101" pitchFamily="49" charset="-122"/>
                </a:rPr>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79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779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776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77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build="p"/>
      <p:bldP spid="117763" grpId="1" build="p"/>
      <p:bldP spid="117797" grpId="0"/>
      <p:bldP spid="117797"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p:cNvSpPr>
          <p:nvPr>
            <p:ph type="title"/>
          </p:nvPr>
        </p:nvSpPr>
        <p:spPr>
          <a:xfrm>
            <a:off x="465138" y="553720"/>
            <a:ext cx="6478587" cy="577850"/>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3</a:t>
            </a:r>
            <a:r>
              <a:rPr lang="zh-CN" altLang="en-US" sz="2000" b="1" dirty="0">
                <a:solidFill>
                  <a:srgbClr val="FF0000"/>
                </a:solidFill>
                <a:latin typeface="华文新魏" panose="02010800040101010101" pitchFamily="2" charset="-122"/>
                <a:ea typeface="华文新魏" panose="02010800040101010101" pitchFamily="2" charset="-122"/>
              </a:rPr>
              <a:t>　脉冲异步时序电路的设计</a:t>
            </a:r>
          </a:p>
        </p:txBody>
      </p:sp>
      <p:sp>
        <p:nvSpPr>
          <p:cNvPr id="28675" name="Rectangle 240"/>
          <p:cNvSpPr>
            <a:spLocks noGrp="1"/>
          </p:cNvSpPr>
          <p:nvPr>
            <p:ph type="body"/>
          </p:nvPr>
        </p:nvSpPr>
        <p:spPr>
          <a:xfrm>
            <a:off x="428625" y="874395"/>
            <a:ext cx="8361680" cy="4434205"/>
          </a:xfrm>
          <a:prstGeom prst="rect">
            <a:avLst/>
          </a:prstGeom>
          <a:noFill/>
          <a:ln w="9525">
            <a:noFill/>
          </a:ln>
        </p:spPr>
        <p:txBody>
          <a:bodyPr/>
          <a:lstStyle/>
          <a:p>
            <a:pPr marL="0" indent="0" algn="just" eaLnBrk="1" hangingPunct="1">
              <a:lnSpc>
                <a:spcPct val="110000"/>
              </a:lnSpc>
              <a:spcBef>
                <a:spcPct val="0"/>
              </a:spcBef>
              <a:buNone/>
            </a:pP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脉冲异步时序电路的设计步骤基本上与同步时序电路的设计步骤一样。但须特别考虑：</a:t>
            </a:r>
          </a:p>
          <a:p>
            <a:pPr marL="0" indent="0" algn="just" eaLnBrk="1" hangingPunct="1">
              <a:lnSpc>
                <a:spcPct val="110000"/>
              </a:lnSpc>
              <a:spcBef>
                <a:spcPct val="0"/>
              </a:spcBef>
              <a:buNone/>
            </a:pPr>
            <a:r>
              <a:rPr lang="zh-CN" altLang="en-US" sz="2000" b="1" dirty="0">
                <a:latin typeface="华文新魏" panose="02010800040101010101" pitchFamily="2" charset="-122"/>
                <a:ea typeface="华文新魏" panose="02010800040101010101" pitchFamily="2" charset="-122"/>
              </a:rPr>
              <a:t>     ⑴ 输入信号</a:t>
            </a:r>
            <a:r>
              <a:rPr lang="en-US" altLang="zh-CN" sz="2000" b="1" dirty="0">
                <a:latin typeface="华文新魏" panose="02010800040101010101" pitchFamily="2" charset="-122"/>
                <a:ea typeface="华文新魏" panose="02010800040101010101" pitchFamily="2" charset="-122"/>
              </a:rPr>
              <a:t>x</a:t>
            </a:r>
            <a:r>
              <a:rPr lang="zh-CN" altLang="en-US" sz="2000" b="1" dirty="0">
                <a:latin typeface="华文新魏" panose="02010800040101010101" pitchFamily="2" charset="-122"/>
                <a:ea typeface="华文新魏" panose="02010800040101010101" pitchFamily="2" charset="-122"/>
              </a:rPr>
              <a:t>及触发器的时钟信号</a:t>
            </a:r>
            <a:r>
              <a:rPr lang="en-US" altLang="zh-CN" sz="2000" b="1" dirty="0">
                <a:latin typeface="华文新魏" panose="02010800040101010101" pitchFamily="2" charset="-122"/>
                <a:ea typeface="华文新魏" panose="02010800040101010101" pitchFamily="2" charset="-122"/>
              </a:rPr>
              <a:t>CLK</a:t>
            </a:r>
            <a:r>
              <a:rPr lang="zh-CN" altLang="en-US" sz="2000" b="1" dirty="0">
                <a:latin typeface="华文新魏" panose="02010800040101010101" pitchFamily="2" charset="-122"/>
                <a:ea typeface="华文新魏" panose="02010800040101010101" pitchFamily="2" charset="-122"/>
              </a:rPr>
              <a:t>取值为</a:t>
            </a:r>
            <a:r>
              <a:rPr lang="en-US" altLang="zh-CN" sz="2000" b="1" dirty="0">
                <a:latin typeface="华文新魏" panose="02010800040101010101" pitchFamily="2" charset="-122"/>
                <a:ea typeface="华文新魏" panose="02010800040101010101" pitchFamily="2" charset="-122"/>
              </a:rPr>
              <a:t>:  </a:t>
            </a:r>
          </a:p>
          <a:p>
            <a:pPr marL="0" indent="0" algn="just" eaLnBrk="1" hangingPunct="1">
              <a:lnSpc>
                <a:spcPct val="110000"/>
              </a:lnSpc>
              <a:spcBef>
                <a:spcPct val="0"/>
              </a:spcBef>
              <a:buNone/>
            </a:pPr>
            <a:r>
              <a:rPr lang="en-US" altLang="zh-CN"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0—</a:t>
            </a:r>
            <a:r>
              <a:rPr lang="zh-CN" altLang="en-US" sz="2000" b="1" dirty="0">
                <a:solidFill>
                  <a:srgbClr val="FF0000"/>
                </a:solidFill>
                <a:latin typeface="华文新魏" panose="02010800040101010101" pitchFamily="2" charset="-122"/>
                <a:ea typeface="华文新魏" panose="02010800040101010101" pitchFamily="2" charset="-122"/>
              </a:rPr>
              <a:t>无脉冲            </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有脉冲</a:t>
            </a:r>
          </a:p>
          <a:p>
            <a:pPr marL="0" indent="0" algn="just" eaLnBrk="1" hangingPunct="1">
              <a:lnSpc>
                <a:spcPct val="110000"/>
              </a:lnSpc>
              <a:spcBef>
                <a:spcPct val="0"/>
              </a:spcBef>
              <a:buNone/>
            </a:pPr>
            <a:r>
              <a:rPr lang="zh-CN" altLang="en-US" sz="2000" b="1" dirty="0">
                <a:latin typeface="华文新魏" panose="02010800040101010101" pitchFamily="2" charset="-122"/>
                <a:ea typeface="华文新魏" panose="02010800040101010101" pitchFamily="2" charset="-122"/>
              </a:rPr>
              <a:t>     ⑵ 采用</a:t>
            </a:r>
            <a:r>
              <a:rPr lang="zh-CN" altLang="en-US" sz="2000" b="1" dirty="0">
                <a:solidFill>
                  <a:srgbClr val="FF0000"/>
                </a:solidFill>
                <a:latin typeface="华文新魏" panose="02010800040101010101" pitchFamily="2" charset="-122"/>
                <a:ea typeface="华文新魏" panose="02010800040101010101" pitchFamily="2" charset="-122"/>
              </a:rPr>
              <a:t>简化的状态表和状态图。</a:t>
            </a:r>
          </a:p>
          <a:p>
            <a:pPr marL="0" indent="0" algn="just" eaLnBrk="1" hangingPunct="1">
              <a:lnSpc>
                <a:spcPct val="110000"/>
              </a:lnSpc>
              <a:spcBef>
                <a:spcPct val="0"/>
              </a:spcBef>
              <a:buNone/>
            </a:pPr>
            <a:r>
              <a:rPr lang="zh-CN" altLang="en-US" sz="2000" b="1" dirty="0">
                <a:latin typeface="华文新魏" panose="02010800040101010101" pitchFamily="2" charset="-122"/>
                <a:ea typeface="华文新魏" panose="02010800040101010101" pitchFamily="2" charset="-122"/>
              </a:rPr>
              <a:t>     ⑶ 在确定控制函数时，不仅要确定各触发器的控制输入信号，而且 </a:t>
            </a:r>
            <a:endParaRPr lang="en-US" altLang="zh-CN" sz="2000" b="1" dirty="0">
              <a:latin typeface="华文新魏" panose="02010800040101010101" pitchFamily="2" charset="-122"/>
              <a:ea typeface="华文新魏" panose="02010800040101010101" pitchFamily="2" charset="-122"/>
            </a:endParaRPr>
          </a:p>
          <a:p>
            <a:pPr marL="0" indent="0" algn="just" eaLnBrk="1" hangingPunct="1">
              <a:lnSpc>
                <a:spcPct val="110000"/>
              </a:lnSpc>
              <a:spcBef>
                <a:spcPct val="0"/>
              </a:spcBef>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还需确定各触发器的时钟信号。</a:t>
            </a:r>
          </a:p>
          <a:p>
            <a:pPr marL="685800" lvl="2" indent="0" algn="just" eaLnBrk="1" hangingPunct="1">
              <a:lnSpc>
                <a:spcPct val="110000"/>
              </a:lnSpc>
              <a:spcBef>
                <a:spcPct val="0"/>
              </a:spcBef>
            </a:pPr>
            <a:r>
              <a:rPr lang="zh-CN" altLang="en-US" sz="2000" b="1" dirty="0">
                <a:latin typeface="华文新魏" panose="02010800040101010101" pitchFamily="2" charset="-122"/>
                <a:ea typeface="华文新魏" panose="02010800040101010101" pitchFamily="2" charset="-122"/>
              </a:rPr>
              <a:t>时钟信号</a:t>
            </a:r>
            <a:r>
              <a:rPr lang="en-US" altLang="zh-CN" sz="2000" b="1" dirty="0">
                <a:solidFill>
                  <a:srgbClr val="FF0000"/>
                </a:solidFill>
                <a:latin typeface="华文新魏" panose="02010800040101010101" pitchFamily="2" charset="-122"/>
                <a:ea typeface="华文新魏" panose="02010800040101010101" pitchFamily="2" charset="-122"/>
              </a:rPr>
              <a:t>CLK</a:t>
            </a:r>
            <a:r>
              <a:rPr lang="zh-CN" altLang="en-US" sz="2000" b="1" dirty="0">
                <a:latin typeface="华文新魏" panose="02010800040101010101" pitchFamily="2" charset="-122"/>
                <a:ea typeface="华文新魏" panose="02010800040101010101" pitchFamily="2" charset="-122"/>
              </a:rPr>
              <a:t>应是</a:t>
            </a:r>
            <a:r>
              <a:rPr lang="zh-CN" altLang="en-US" sz="2000" b="1" dirty="0">
                <a:solidFill>
                  <a:srgbClr val="FF0000"/>
                </a:solidFill>
                <a:latin typeface="华文新魏" panose="02010800040101010101" pitchFamily="2" charset="-122"/>
                <a:ea typeface="华文新魏" panose="02010800040101010101" pitchFamily="2" charset="-122"/>
              </a:rPr>
              <a:t>现态</a:t>
            </a:r>
            <a:r>
              <a:rPr lang="en-US" altLang="zh-CN" sz="2000" b="1" dirty="0">
                <a:solidFill>
                  <a:srgbClr val="FF0000"/>
                </a:solidFill>
                <a:latin typeface="华文新魏" panose="02010800040101010101" pitchFamily="2" charset="-122"/>
                <a:ea typeface="华文新魏" panose="02010800040101010101" pitchFamily="2" charset="-122"/>
              </a:rPr>
              <a:t>y</a:t>
            </a:r>
            <a:r>
              <a:rPr lang="zh-CN" altLang="en-US" sz="2000" b="1" dirty="0">
                <a:latin typeface="华文新魏" panose="02010800040101010101" pitchFamily="2" charset="-122"/>
                <a:ea typeface="华文新魏" panose="02010800040101010101" pitchFamily="2" charset="-122"/>
              </a:rPr>
              <a:t>及</a:t>
            </a:r>
            <a:r>
              <a:rPr lang="zh-CN" altLang="en-US" sz="2000" b="1" dirty="0">
                <a:solidFill>
                  <a:srgbClr val="FF0000"/>
                </a:solidFill>
                <a:latin typeface="华文新魏" panose="02010800040101010101" pitchFamily="2" charset="-122"/>
                <a:ea typeface="华文新魏" panose="02010800040101010101" pitchFamily="2" charset="-122"/>
              </a:rPr>
              <a:t>输入</a:t>
            </a:r>
            <a:r>
              <a:rPr lang="en-US" altLang="zh-CN" sz="2000" b="1" dirty="0">
                <a:solidFill>
                  <a:srgbClr val="FF0000"/>
                </a:solidFill>
                <a:latin typeface="华文新魏" panose="02010800040101010101" pitchFamily="2" charset="-122"/>
                <a:ea typeface="华文新魏" panose="02010800040101010101" pitchFamily="2" charset="-122"/>
              </a:rPr>
              <a:t>x</a:t>
            </a:r>
            <a:r>
              <a:rPr lang="zh-CN" altLang="en-US" sz="2000" b="1" dirty="0">
                <a:latin typeface="华文新魏" panose="02010800040101010101" pitchFamily="2" charset="-122"/>
                <a:ea typeface="华文新魏" panose="02010800040101010101" pitchFamily="2" charset="-122"/>
              </a:rPr>
              <a:t>的函数，</a:t>
            </a:r>
          </a:p>
          <a:p>
            <a:pPr marL="685800" lvl="2" indent="0" algn="just" eaLnBrk="1" hangingPunct="1">
              <a:lnSpc>
                <a:spcPct val="110000"/>
              </a:lnSpc>
              <a:spcBef>
                <a:spcPct val="0"/>
              </a:spcBef>
            </a:pPr>
            <a:r>
              <a:rPr lang="zh-CN" altLang="en-US" sz="2000" b="1" dirty="0">
                <a:latin typeface="华文新魏" panose="02010800040101010101" pitchFamily="2" charset="-122"/>
                <a:ea typeface="华文新魏" panose="02010800040101010101" pitchFamily="2" charset="-122"/>
              </a:rPr>
              <a:t>各触发器的输入控制信号（激励）</a:t>
            </a:r>
            <a:r>
              <a:rPr lang="en-US" altLang="zh-CN" sz="2000" b="1" dirty="0">
                <a:solidFill>
                  <a:srgbClr val="FF0000"/>
                </a:solidFill>
                <a:latin typeface="华文新魏" panose="02010800040101010101" pitchFamily="2" charset="-122"/>
                <a:ea typeface="华文新魏" panose="02010800040101010101" pitchFamily="2" charset="-122"/>
              </a:rPr>
              <a:t>Y</a:t>
            </a:r>
            <a:r>
              <a:rPr lang="zh-CN" altLang="en-US" sz="2000" b="1" dirty="0">
                <a:latin typeface="华文新魏" panose="02010800040101010101" pitchFamily="2" charset="-122"/>
                <a:ea typeface="华文新魏" panose="02010800040101010101" pitchFamily="2" charset="-122"/>
              </a:rPr>
              <a:t>应尽量使其</a:t>
            </a:r>
            <a:r>
              <a:rPr lang="zh-CN" altLang="en-US" sz="2000" b="1" dirty="0">
                <a:solidFill>
                  <a:srgbClr val="FF0000"/>
                </a:solidFill>
                <a:latin typeface="华文新魏" panose="02010800040101010101" pitchFamily="2" charset="-122"/>
                <a:ea typeface="华文新魏" panose="02010800040101010101" pitchFamily="2" charset="-122"/>
              </a:rPr>
              <a:t>仅为现态</a:t>
            </a:r>
            <a:r>
              <a:rPr lang="en-US" altLang="zh-CN" sz="2000" b="1" dirty="0">
                <a:solidFill>
                  <a:srgbClr val="FF0000"/>
                </a:solidFill>
                <a:latin typeface="华文新魏" panose="02010800040101010101" pitchFamily="2" charset="-122"/>
                <a:ea typeface="华文新魏" panose="02010800040101010101" pitchFamily="2" charset="-122"/>
              </a:rPr>
              <a:t>y</a:t>
            </a:r>
            <a:r>
              <a:rPr lang="zh-CN" altLang="en-US" sz="2000" b="1" dirty="0">
                <a:latin typeface="华文新魏" panose="02010800040101010101" pitchFamily="2" charset="-122"/>
                <a:ea typeface="华文新魏" panose="02010800040101010101" pitchFamily="2" charset="-122"/>
              </a:rPr>
              <a:t>的函数，</a:t>
            </a:r>
            <a:r>
              <a:rPr lang="zh-CN" altLang="en-US" sz="2000" b="1" dirty="0">
                <a:solidFill>
                  <a:srgbClr val="000099"/>
                </a:solidFill>
                <a:latin typeface="华文新魏" panose="02010800040101010101" pitchFamily="2" charset="-122"/>
                <a:ea typeface="华文新魏" panose="02010800040101010101" pitchFamily="2" charset="-122"/>
              </a:rPr>
              <a:t>这样使其具有保证电路正常工作所需的建立和保持时间。</a:t>
            </a:r>
          </a:p>
          <a:p>
            <a:pPr marL="0" indent="0" algn="just" eaLnBrk="1" hangingPunct="1">
              <a:lnSpc>
                <a:spcPct val="110000"/>
              </a:lnSpc>
              <a:spcBef>
                <a:spcPct val="0"/>
              </a:spcBef>
              <a:buNone/>
            </a:pPr>
            <a:r>
              <a:rPr lang="zh-CN" altLang="en-US"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⑷</a:t>
            </a:r>
            <a:r>
              <a:rPr lang="zh-CN" altLang="en-US"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状态不变时</a:t>
            </a:r>
            <a:r>
              <a:rPr lang="zh-CN" altLang="en-US" sz="2000" b="1" dirty="0">
                <a:latin typeface="华文新魏" panose="02010800040101010101" pitchFamily="2" charset="-122"/>
                <a:ea typeface="华文新魏" panose="02010800040101010101" pitchFamily="2" charset="-122"/>
              </a:rPr>
              <a:t>，令</a:t>
            </a:r>
            <a:r>
              <a:rPr lang="en-US" altLang="zh-CN" sz="2000" b="1" dirty="0">
                <a:solidFill>
                  <a:srgbClr val="FF0000"/>
                </a:solidFill>
                <a:latin typeface="华文新魏" panose="02010800040101010101" pitchFamily="2" charset="-122"/>
                <a:ea typeface="华文新魏" panose="02010800040101010101" pitchFamily="2" charset="-122"/>
              </a:rPr>
              <a:t>CLK=0</a:t>
            </a:r>
            <a:r>
              <a:rPr lang="zh-CN" altLang="en-US" sz="2000" b="1" dirty="0">
                <a:latin typeface="华文新魏" panose="02010800040101010101" pitchFamily="2" charset="-122"/>
                <a:ea typeface="华文新魏" panose="02010800040101010101" pitchFamily="2" charset="-122"/>
              </a:rPr>
              <a:t>，这样触发器的数据端（</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触发器的</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端等）变量就可认为是</a:t>
            </a:r>
            <a:r>
              <a:rPr lang="zh-CN" altLang="en-US" sz="2000" b="1" dirty="0">
                <a:solidFill>
                  <a:srgbClr val="FF0000"/>
                </a:solidFill>
                <a:latin typeface="华文新魏" panose="02010800040101010101" pitchFamily="2" charset="-122"/>
                <a:ea typeface="华文新魏" panose="02010800040101010101" pitchFamily="2" charset="-122"/>
              </a:rPr>
              <a:t>无关最小项</a:t>
            </a:r>
            <a:r>
              <a:rPr lang="en-US" altLang="zh-CN" sz="2000" b="1" dirty="0">
                <a:solidFill>
                  <a:srgbClr val="FF0000"/>
                </a:solidFill>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，这有利于激励函数的化简。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additive="base">
                                        <p:cTn id="7" dur="500" fill="hold"/>
                                        <p:tgtEl>
                                          <p:spTgt spid="286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5">
                                            <p:txEl>
                                              <p:pRg st="1" end="1"/>
                                            </p:txEl>
                                          </p:spTgt>
                                        </p:tgtEl>
                                        <p:attrNameLst>
                                          <p:attrName>style.visibility</p:attrName>
                                        </p:attrNameLst>
                                      </p:cBhvr>
                                      <p:to>
                                        <p:strVal val="visible"/>
                                      </p:to>
                                    </p:set>
                                    <p:anim calcmode="lin" valueType="num">
                                      <p:cBhvr additive="base">
                                        <p:cTn id="13" dur="5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675">
                                            <p:txEl>
                                              <p:pRg st="2" end="2"/>
                                            </p:txEl>
                                          </p:spTgt>
                                        </p:tgtEl>
                                        <p:attrNameLst>
                                          <p:attrName>style.visibility</p:attrName>
                                        </p:attrNameLst>
                                      </p:cBhvr>
                                      <p:to>
                                        <p:strVal val="visible"/>
                                      </p:to>
                                    </p:set>
                                    <p:anim calcmode="lin" valueType="num">
                                      <p:cBhvr additive="base">
                                        <p:cTn id="19" dur="5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675">
                                            <p:txEl>
                                              <p:pRg st="3" end="3"/>
                                            </p:txEl>
                                          </p:spTgt>
                                        </p:tgtEl>
                                        <p:attrNameLst>
                                          <p:attrName>style.visibility</p:attrName>
                                        </p:attrNameLst>
                                      </p:cBhvr>
                                      <p:to>
                                        <p:strVal val="visible"/>
                                      </p:to>
                                    </p:set>
                                    <p:anim calcmode="lin" valueType="num">
                                      <p:cBhvr additive="base">
                                        <p:cTn id="25" dur="500" fill="hold"/>
                                        <p:tgtEl>
                                          <p:spTgt spid="286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8675">
                                            <p:txEl>
                                              <p:pRg st="4" end="4"/>
                                            </p:txEl>
                                          </p:spTgt>
                                        </p:tgtEl>
                                        <p:attrNameLst>
                                          <p:attrName>style.visibility</p:attrName>
                                        </p:attrNameLst>
                                      </p:cBhvr>
                                      <p:to>
                                        <p:strVal val="visible"/>
                                      </p:to>
                                    </p:set>
                                    <p:anim calcmode="lin" valueType="num">
                                      <p:cBhvr additive="base">
                                        <p:cTn id="31" dur="500" fill="hold"/>
                                        <p:tgtEl>
                                          <p:spTgt spid="286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6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8675">
                                            <p:txEl>
                                              <p:pRg st="5" end="5"/>
                                            </p:txEl>
                                          </p:spTgt>
                                        </p:tgtEl>
                                        <p:attrNameLst>
                                          <p:attrName>style.visibility</p:attrName>
                                        </p:attrNameLst>
                                      </p:cBhvr>
                                      <p:to>
                                        <p:strVal val="visible"/>
                                      </p:to>
                                    </p:set>
                                    <p:anim calcmode="lin" valueType="num">
                                      <p:cBhvr additive="base">
                                        <p:cTn id="37" dur="500" fill="hold"/>
                                        <p:tgtEl>
                                          <p:spTgt spid="2867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8675">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8675">
                                            <p:txEl>
                                              <p:pRg st="6" end="6"/>
                                            </p:txEl>
                                          </p:spTgt>
                                        </p:tgtEl>
                                        <p:attrNameLst>
                                          <p:attrName>style.visibility</p:attrName>
                                        </p:attrNameLst>
                                      </p:cBhvr>
                                      <p:to>
                                        <p:strVal val="visible"/>
                                      </p:to>
                                    </p:set>
                                    <p:anim calcmode="lin" valueType="num">
                                      <p:cBhvr additive="base">
                                        <p:cTn id="41" dur="500" fill="hold"/>
                                        <p:tgtEl>
                                          <p:spTgt spid="28675">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8675">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8675">
                                            <p:txEl>
                                              <p:pRg st="7" end="7"/>
                                            </p:txEl>
                                          </p:spTgt>
                                        </p:tgtEl>
                                        <p:attrNameLst>
                                          <p:attrName>style.visibility</p:attrName>
                                        </p:attrNameLst>
                                      </p:cBhvr>
                                      <p:to>
                                        <p:strVal val="visible"/>
                                      </p:to>
                                    </p:set>
                                    <p:anim calcmode="lin" valueType="num">
                                      <p:cBhvr additive="base">
                                        <p:cTn id="45" dur="500" fill="hold"/>
                                        <p:tgtEl>
                                          <p:spTgt spid="28675">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867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8675">
                                            <p:txEl>
                                              <p:pRg st="8" end="8"/>
                                            </p:txEl>
                                          </p:spTgt>
                                        </p:tgtEl>
                                        <p:attrNameLst>
                                          <p:attrName>style.visibility</p:attrName>
                                        </p:attrNameLst>
                                      </p:cBhvr>
                                      <p:to>
                                        <p:strVal val="visible"/>
                                      </p:to>
                                    </p:set>
                                    <p:anim calcmode="lin" valueType="num">
                                      <p:cBhvr additive="base">
                                        <p:cTn id="51" dur="500" fill="hold"/>
                                        <p:tgtEl>
                                          <p:spTgt spid="28675">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867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P spid="28675" grpI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p:cNvSpPr>
          <p:nvPr>
            <p:ph type="title"/>
          </p:nvPr>
        </p:nvSpPr>
        <p:spPr>
          <a:xfrm>
            <a:off x="611188" y="615950"/>
            <a:ext cx="8532812" cy="628650"/>
          </a:xfrm>
          <a:prstGeom prst="rect">
            <a:avLst/>
          </a:prstGeom>
          <a:noFill/>
          <a:ln w="9525">
            <a:noFill/>
          </a:ln>
        </p:spPr>
        <p:txBody>
          <a:bodyPr/>
          <a:lstStyle/>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例</a:t>
            </a:r>
            <a:r>
              <a:rPr lang="zh-CN" altLang="en-US"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用</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触发器设计一个“</a:t>
            </a:r>
            <a:r>
              <a:rPr lang="en-US" altLang="zh-CN" sz="2000" b="1" dirty="0">
                <a:latin typeface="华文新魏" panose="02010800040101010101" pitchFamily="2" charset="-122"/>
                <a:ea typeface="华文新魏" panose="02010800040101010101" pitchFamily="2" charset="-122"/>
              </a:rPr>
              <a:t>x</a:t>
            </a:r>
            <a:r>
              <a:rPr lang="en-US" altLang="zh-CN" sz="2000" b="1" baseline="-25000" dirty="0">
                <a:latin typeface="华文新魏" panose="02010800040101010101" pitchFamily="2" charset="-122"/>
                <a:ea typeface="华文新魏" panose="02010800040101010101" pitchFamily="2" charset="-122"/>
              </a:rPr>
              <a:t>1</a:t>
            </a:r>
            <a:r>
              <a:rPr lang="en-US" altLang="zh-CN" sz="2000" b="1" dirty="0">
                <a:latin typeface="华文新魏" panose="02010800040101010101" pitchFamily="2" charset="-122"/>
                <a:ea typeface="华文新魏" panose="02010800040101010101" pitchFamily="2" charset="-122"/>
              </a:rPr>
              <a:t>–x</a:t>
            </a:r>
            <a:r>
              <a:rPr lang="en-US" altLang="zh-CN" sz="2000" b="1" baseline="-25000" dirty="0">
                <a:latin typeface="华文新魏" panose="02010800040101010101" pitchFamily="2" charset="-122"/>
                <a:ea typeface="华文新魏" panose="02010800040101010101" pitchFamily="2" charset="-122"/>
              </a:rPr>
              <a:t>1</a:t>
            </a:r>
            <a:r>
              <a:rPr lang="en-US" altLang="zh-CN" sz="2000" b="1" dirty="0">
                <a:latin typeface="华文新魏" panose="02010800040101010101" pitchFamily="2" charset="-122"/>
                <a:ea typeface="华文新魏" panose="02010800040101010101" pitchFamily="2" charset="-122"/>
              </a:rPr>
              <a:t>–x</a:t>
            </a:r>
            <a:r>
              <a:rPr lang="en-US" altLang="zh-CN" sz="2000" b="1" baseline="-25000" dirty="0">
                <a:latin typeface="华文新魏" panose="02010800040101010101" pitchFamily="2" charset="-122"/>
                <a:ea typeface="华文新魏" panose="02010800040101010101" pitchFamily="2" charset="-122"/>
              </a:rPr>
              <a:t>2</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序列检测器（米勒型）</a:t>
            </a:r>
            <a:r>
              <a:rPr lang="zh-CN" altLang="en-US" sz="2000" dirty="0">
                <a:latin typeface="华文新魏" panose="02010800040101010101" pitchFamily="2" charset="-122"/>
                <a:ea typeface="华文新魏" panose="02010800040101010101" pitchFamily="2" charset="-122"/>
              </a:rPr>
              <a:t>。</a:t>
            </a:r>
          </a:p>
        </p:txBody>
      </p:sp>
      <p:sp>
        <p:nvSpPr>
          <p:cNvPr id="119811" name="Text Box 25"/>
          <p:cNvSpPr txBox="1"/>
          <p:nvPr/>
        </p:nvSpPr>
        <p:spPr>
          <a:xfrm>
            <a:off x="1089025" y="987425"/>
            <a:ext cx="5453063" cy="39878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⑴ </a:t>
            </a:r>
            <a:r>
              <a:rPr lang="zh-CN" altLang="en-US" b="1" dirty="0">
                <a:solidFill>
                  <a:schemeClr val="tx1"/>
                </a:solidFill>
                <a:latin typeface="华文新魏" panose="02010800040101010101" pitchFamily="2" charset="-122"/>
                <a:ea typeface="华文新魏" panose="02010800040101010101" pitchFamily="2" charset="-122"/>
              </a:rPr>
              <a:t>建立原始状态图</a:t>
            </a:r>
            <a:r>
              <a:rPr lang="zh-CN" altLang="en-US" dirty="0">
                <a:solidFill>
                  <a:schemeClr val="tx1"/>
                </a:solidFill>
                <a:latin typeface="华文新魏" panose="02010800040101010101" pitchFamily="2" charset="-122"/>
                <a:ea typeface="华文新魏" panose="02010800040101010101" pitchFamily="2" charset="-122"/>
              </a:rPr>
              <a:t>和</a:t>
            </a:r>
            <a:r>
              <a:rPr lang="zh-CN" altLang="en-US" b="1" dirty="0">
                <a:solidFill>
                  <a:schemeClr val="tx1"/>
                </a:solidFill>
                <a:latin typeface="华文新魏" panose="02010800040101010101" pitchFamily="2" charset="-122"/>
                <a:ea typeface="华文新魏" panose="02010800040101010101" pitchFamily="2" charset="-122"/>
              </a:rPr>
              <a:t>状态表</a:t>
            </a:r>
          </a:p>
        </p:txBody>
      </p:sp>
      <p:sp>
        <p:nvSpPr>
          <p:cNvPr id="119812" name="Text Box 93"/>
          <p:cNvSpPr txBox="1"/>
          <p:nvPr/>
        </p:nvSpPr>
        <p:spPr>
          <a:xfrm>
            <a:off x="6855460" y="4191000"/>
            <a:ext cx="1066800"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y</a:t>
            </a:r>
            <a:r>
              <a:rPr lang="en-US" altLang="zh-CN" b="1" baseline="30000" dirty="0">
                <a:solidFill>
                  <a:schemeClr val="tx1"/>
                </a:solidFill>
                <a:latin typeface="黑体" panose="02010609060101010101" pitchFamily="49" charset="-122"/>
                <a:ea typeface="黑体" panose="02010609060101010101" pitchFamily="49" charset="-122"/>
              </a:rPr>
              <a:t>n+1</a:t>
            </a:r>
            <a:r>
              <a:rPr lang="en-US" altLang="zh-CN" b="1" dirty="0">
                <a:solidFill>
                  <a:schemeClr val="tx1"/>
                </a:solidFill>
                <a:latin typeface="黑体" panose="02010609060101010101" pitchFamily="49" charset="-122"/>
                <a:ea typeface="黑体" panose="02010609060101010101" pitchFamily="49" charset="-122"/>
              </a:rPr>
              <a:t>/Z</a:t>
            </a:r>
          </a:p>
        </p:txBody>
      </p:sp>
      <p:grpSp>
        <p:nvGrpSpPr>
          <p:cNvPr id="2" name="组合 1"/>
          <p:cNvGrpSpPr/>
          <p:nvPr/>
        </p:nvGrpSpPr>
        <p:grpSpPr>
          <a:xfrm>
            <a:off x="709613" y="1525905"/>
            <a:ext cx="3141662" cy="3212783"/>
            <a:chOff x="1118" y="2403"/>
            <a:chExt cx="4947" cy="5060"/>
          </a:xfrm>
        </p:grpSpPr>
        <p:sp>
          <p:nvSpPr>
            <p:cNvPr id="119813" name="Line 40"/>
            <p:cNvSpPr/>
            <p:nvPr/>
          </p:nvSpPr>
          <p:spPr>
            <a:xfrm>
              <a:off x="2610" y="4888"/>
              <a:ext cx="2493" cy="0"/>
            </a:xfrm>
            <a:prstGeom prst="line">
              <a:avLst/>
            </a:prstGeom>
            <a:ln w="28575" cap="flat" cmpd="sng">
              <a:solidFill>
                <a:schemeClr val="tx1"/>
              </a:solidFill>
              <a:prstDash val="solid"/>
              <a:headEnd type="none" w="med" len="med"/>
              <a:tailEnd type="triangle" w="med" len="med"/>
            </a:ln>
          </p:spPr>
        </p:sp>
        <p:sp>
          <p:nvSpPr>
            <p:cNvPr id="119814" name="Line 41"/>
            <p:cNvSpPr>
              <a:spLocks noChangeAspect="1"/>
            </p:cNvSpPr>
            <p:nvPr/>
          </p:nvSpPr>
          <p:spPr>
            <a:xfrm flipH="1">
              <a:off x="4155" y="5158"/>
              <a:ext cx="1083" cy="977"/>
            </a:xfrm>
            <a:prstGeom prst="line">
              <a:avLst/>
            </a:prstGeom>
            <a:ln w="28575" cap="flat" cmpd="sng">
              <a:solidFill>
                <a:schemeClr val="tx1"/>
              </a:solidFill>
              <a:prstDash val="solid"/>
              <a:headEnd type="none" w="med" len="med"/>
              <a:tailEnd type="triangle" w="med" len="med"/>
            </a:ln>
          </p:spPr>
        </p:sp>
        <p:sp>
          <p:nvSpPr>
            <p:cNvPr id="119815" name="Line 42"/>
            <p:cNvSpPr>
              <a:spLocks noChangeAspect="1"/>
            </p:cNvSpPr>
            <p:nvPr/>
          </p:nvSpPr>
          <p:spPr>
            <a:xfrm flipH="1" flipV="1">
              <a:off x="2438" y="5225"/>
              <a:ext cx="1082" cy="978"/>
            </a:xfrm>
            <a:prstGeom prst="line">
              <a:avLst/>
            </a:prstGeom>
            <a:ln w="28575" cap="flat" cmpd="sng">
              <a:solidFill>
                <a:schemeClr val="tx1"/>
              </a:solidFill>
              <a:prstDash val="solid"/>
              <a:headEnd type="none" w="med" len="med"/>
              <a:tailEnd type="triangle" w="med" len="med"/>
            </a:ln>
          </p:spPr>
        </p:sp>
        <p:sp>
          <p:nvSpPr>
            <p:cNvPr id="119816" name="Line 43"/>
            <p:cNvSpPr>
              <a:spLocks noChangeAspect="1"/>
            </p:cNvSpPr>
            <p:nvPr/>
          </p:nvSpPr>
          <p:spPr>
            <a:xfrm>
              <a:off x="4205" y="3540"/>
              <a:ext cx="1145" cy="1033"/>
            </a:xfrm>
            <a:prstGeom prst="line">
              <a:avLst/>
            </a:prstGeom>
            <a:ln w="28575" cap="flat" cmpd="sng">
              <a:solidFill>
                <a:schemeClr val="tx1"/>
              </a:solidFill>
              <a:prstDash val="solid"/>
              <a:headEnd type="none" w="med" len="med"/>
              <a:tailEnd type="triangle" w="med" len="med"/>
            </a:ln>
          </p:spPr>
        </p:sp>
        <p:sp>
          <p:nvSpPr>
            <p:cNvPr id="119817" name="Line 44"/>
            <p:cNvSpPr/>
            <p:nvPr/>
          </p:nvSpPr>
          <p:spPr>
            <a:xfrm flipH="1" flipV="1">
              <a:off x="4108" y="3718"/>
              <a:ext cx="1095" cy="990"/>
            </a:xfrm>
            <a:prstGeom prst="line">
              <a:avLst/>
            </a:prstGeom>
            <a:ln w="28575" cap="flat" cmpd="sng">
              <a:solidFill>
                <a:schemeClr val="tx1"/>
              </a:solidFill>
              <a:prstDash val="solid"/>
              <a:headEnd type="none" w="med" len="med"/>
              <a:tailEnd type="triangle" w="med" len="med"/>
            </a:ln>
          </p:spPr>
        </p:sp>
        <p:sp>
          <p:nvSpPr>
            <p:cNvPr id="119818" name="Text Box 105"/>
            <p:cNvSpPr txBox="1"/>
            <p:nvPr/>
          </p:nvSpPr>
          <p:spPr>
            <a:xfrm>
              <a:off x="4128" y="2403"/>
              <a:ext cx="1224" cy="628"/>
            </a:xfrm>
            <a:prstGeom prst="rect">
              <a:avLst/>
            </a:prstGeom>
            <a:noFill/>
            <a:ln w="28575">
              <a:noFill/>
            </a:ln>
          </p:spPr>
          <p:txBody>
            <a:bodyPr wrap="square">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p>
          </p:txBody>
        </p:sp>
        <p:grpSp>
          <p:nvGrpSpPr>
            <p:cNvPr id="119819" name="Group 116"/>
            <p:cNvGrpSpPr/>
            <p:nvPr/>
          </p:nvGrpSpPr>
          <p:grpSpPr>
            <a:xfrm rot="-5400000">
              <a:off x="3470" y="2480"/>
              <a:ext cx="720" cy="698"/>
              <a:chOff x="0" y="0"/>
              <a:chExt cx="384" cy="336"/>
            </a:xfrm>
          </p:grpSpPr>
          <p:sp>
            <p:nvSpPr>
              <p:cNvPr id="119868" name="AutoShape 117"/>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19869" name="Line 118"/>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9820" name="Oval 133"/>
            <p:cNvSpPr/>
            <p:nvPr/>
          </p:nvSpPr>
          <p:spPr>
            <a:xfrm>
              <a:off x="5103" y="4573"/>
              <a:ext cx="847" cy="765"/>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B</a:t>
              </a:r>
            </a:p>
          </p:txBody>
        </p:sp>
        <p:sp>
          <p:nvSpPr>
            <p:cNvPr id="119821" name="Text Box 135"/>
            <p:cNvSpPr txBox="1"/>
            <p:nvPr/>
          </p:nvSpPr>
          <p:spPr>
            <a:xfrm>
              <a:off x="4705" y="3610"/>
              <a:ext cx="1360" cy="70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p>
          </p:txBody>
        </p:sp>
        <p:sp>
          <p:nvSpPr>
            <p:cNvPr id="119822" name="Text Box 136"/>
            <p:cNvSpPr txBox="1"/>
            <p:nvPr/>
          </p:nvSpPr>
          <p:spPr>
            <a:xfrm>
              <a:off x="3520" y="3830"/>
              <a:ext cx="1590" cy="70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p>
          </p:txBody>
        </p:sp>
        <p:sp>
          <p:nvSpPr>
            <p:cNvPr id="119823" name="Text Box 137"/>
            <p:cNvSpPr txBox="1"/>
            <p:nvPr/>
          </p:nvSpPr>
          <p:spPr>
            <a:xfrm>
              <a:off x="4705" y="5500"/>
              <a:ext cx="1360" cy="70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p>
          </p:txBody>
        </p:sp>
        <p:grpSp>
          <p:nvGrpSpPr>
            <p:cNvPr id="119824" name="Group 138"/>
            <p:cNvGrpSpPr/>
            <p:nvPr/>
          </p:nvGrpSpPr>
          <p:grpSpPr>
            <a:xfrm rot="5400000">
              <a:off x="3465" y="6595"/>
              <a:ext cx="718" cy="698"/>
              <a:chOff x="0" y="0"/>
              <a:chExt cx="384" cy="336"/>
            </a:xfrm>
          </p:grpSpPr>
          <p:sp>
            <p:nvSpPr>
              <p:cNvPr id="119866" name="AutoShape 139"/>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19867" name="Line 140"/>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9825" name="Text Box 141"/>
            <p:cNvSpPr txBox="1"/>
            <p:nvPr/>
          </p:nvSpPr>
          <p:spPr>
            <a:xfrm>
              <a:off x="4208" y="6760"/>
              <a:ext cx="1405" cy="70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p>
          </p:txBody>
        </p:sp>
        <p:sp>
          <p:nvSpPr>
            <p:cNvPr id="119826" name="Text Box 142"/>
            <p:cNvSpPr txBox="1"/>
            <p:nvPr/>
          </p:nvSpPr>
          <p:spPr>
            <a:xfrm>
              <a:off x="2820" y="5235"/>
              <a:ext cx="1340" cy="70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/1</a:t>
              </a:r>
              <a:r>
                <a:rPr lang="en-US" altLang="zh-CN" b="1" baseline="-25000" dirty="0">
                  <a:solidFill>
                    <a:schemeClr val="tx1"/>
                  </a:solidFill>
                  <a:latin typeface="黑体" panose="02010609060101010101" pitchFamily="49" charset="-122"/>
                  <a:ea typeface="黑体" panose="02010609060101010101" pitchFamily="49" charset="-122"/>
                </a:rPr>
                <a:t> </a:t>
              </a:r>
            </a:p>
          </p:txBody>
        </p:sp>
        <p:grpSp>
          <p:nvGrpSpPr>
            <p:cNvPr id="119827" name="Group 143"/>
            <p:cNvGrpSpPr/>
            <p:nvPr/>
          </p:nvGrpSpPr>
          <p:grpSpPr>
            <a:xfrm rot="10800000">
              <a:off x="1150" y="4630"/>
              <a:ext cx="798" cy="630"/>
              <a:chOff x="0" y="0"/>
              <a:chExt cx="384" cy="336"/>
            </a:xfrm>
          </p:grpSpPr>
          <p:sp>
            <p:nvSpPr>
              <p:cNvPr id="119864" name="AutoShape 144"/>
              <p:cNvSpPr/>
              <p:nvPr/>
            </p:nvSpPr>
            <p:spPr>
              <a:xfrm>
                <a:off x="0" y="0"/>
                <a:ext cx="384" cy="336"/>
              </a:xfrm>
              <a:prstGeom prst="flowChartDelay">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49" charset="-122"/>
                  <a:ea typeface="黑体" panose="02010609060101010101" pitchFamily="49" charset="-122"/>
                </a:endParaRPr>
              </a:p>
            </p:txBody>
          </p:sp>
          <p:sp>
            <p:nvSpPr>
              <p:cNvPr id="119865" name="Line 145"/>
              <p:cNvSpPr/>
              <p:nvPr/>
            </p:nvSpPr>
            <p:spPr>
              <a:xfrm flipH="1">
                <a:off x="0" y="336"/>
                <a:ext cx="96" cy="0"/>
              </a:xfrm>
              <a:prstGeom prst="line">
                <a:avLst/>
              </a:prstGeom>
              <a:ln w="28575" cap="flat" cmpd="sng">
                <a:solidFill>
                  <a:schemeClr val="tx1"/>
                </a:solidFill>
                <a:prstDash val="solid"/>
                <a:headEnd type="none" w="med" len="med"/>
                <a:tailEnd type="triangle" w="med" len="med"/>
              </a:ln>
            </p:spPr>
          </p:sp>
        </p:grpSp>
        <p:sp>
          <p:nvSpPr>
            <p:cNvPr id="119828" name="Text Box 146"/>
            <p:cNvSpPr txBox="1"/>
            <p:nvPr/>
          </p:nvSpPr>
          <p:spPr>
            <a:xfrm>
              <a:off x="1118" y="3945"/>
              <a:ext cx="1432" cy="70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p>
          </p:txBody>
        </p:sp>
        <p:sp>
          <p:nvSpPr>
            <p:cNvPr id="119829" name="Text Box 147"/>
            <p:cNvSpPr txBox="1"/>
            <p:nvPr/>
          </p:nvSpPr>
          <p:spPr>
            <a:xfrm>
              <a:off x="3318" y="4278"/>
              <a:ext cx="1620" cy="70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/0</a:t>
              </a:r>
              <a:r>
                <a:rPr lang="en-US" altLang="zh-CN" b="1" baseline="-25000" dirty="0">
                  <a:solidFill>
                    <a:schemeClr val="tx1"/>
                  </a:solidFill>
                  <a:latin typeface="黑体" panose="02010609060101010101" pitchFamily="49" charset="-122"/>
                  <a:ea typeface="黑体" panose="02010609060101010101" pitchFamily="49" charset="-122"/>
                </a:rPr>
                <a:t> </a:t>
              </a:r>
            </a:p>
          </p:txBody>
        </p:sp>
        <p:sp>
          <p:nvSpPr>
            <p:cNvPr id="119830" name="Line 149"/>
            <p:cNvSpPr/>
            <p:nvPr/>
          </p:nvSpPr>
          <p:spPr>
            <a:xfrm flipV="1">
              <a:off x="2413" y="3718"/>
              <a:ext cx="997" cy="900"/>
            </a:xfrm>
            <a:prstGeom prst="line">
              <a:avLst/>
            </a:prstGeom>
            <a:ln w="28575" cap="flat" cmpd="sng">
              <a:solidFill>
                <a:schemeClr val="tx1"/>
              </a:solidFill>
              <a:prstDash val="sysDot"/>
              <a:headEnd type="none" w="med" len="med"/>
              <a:tailEnd type="triangle" w="med" len="med"/>
            </a:ln>
          </p:spPr>
        </p:sp>
        <p:sp>
          <p:nvSpPr>
            <p:cNvPr id="119831" name="Text Box 150"/>
            <p:cNvSpPr txBox="1"/>
            <p:nvPr/>
          </p:nvSpPr>
          <p:spPr>
            <a:xfrm>
              <a:off x="2073" y="3605"/>
              <a:ext cx="1497" cy="70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黑体" panose="02010609060101010101" pitchFamily="49" charset="-122"/>
                  <a:ea typeface="黑体" panose="02010609060101010101" pitchFamily="49" charset="-122"/>
                </a:rPr>
                <a:t>x</a:t>
              </a:r>
              <a:r>
                <a:rPr lang="en-US" altLang="zh-CN" baseline="-25000" dirty="0">
                  <a:solidFill>
                    <a:schemeClr val="tx1"/>
                  </a:solidFill>
                  <a:latin typeface="黑体" panose="02010609060101010101" pitchFamily="49" charset="-122"/>
                  <a:ea typeface="黑体" panose="02010609060101010101" pitchFamily="49" charset="-122"/>
                </a:rPr>
                <a:t>2</a:t>
              </a:r>
              <a:r>
                <a:rPr lang="en-US" altLang="zh-CN" dirty="0">
                  <a:solidFill>
                    <a:schemeClr val="tx1"/>
                  </a:solidFill>
                  <a:latin typeface="黑体" panose="02010609060101010101" pitchFamily="49" charset="-122"/>
                  <a:ea typeface="黑体" panose="02010609060101010101" pitchFamily="49" charset="-122"/>
                </a:rPr>
                <a:t>/0</a:t>
              </a:r>
              <a:r>
                <a:rPr lang="en-US" altLang="zh-CN" baseline="-25000" dirty="0">
                  <a:solidFill>
                    <a:schemeClr val="tx1"/>
                  </a:solidFill>
                  <a:latin typeface="黑体" panose="02010609060101010101" pitchFamily="49" charset="-122"/>
                  <a:ea typeface="黑体" panose="02010609060101010101" pitchFamily="49" charset="-122"/>
                </a:rPr>
                <a:t> </a:t>
              </a:r>
            </a:p>
          </p:txBody>
        </p:sp>
        <p:sp>
          <p:nvSpPr>
            <p:cNvPr id="119832" name="Oval 95"/>
            <p:cNvSpPr/>
            <p:nvPr/>
          </p:nvSpPr>
          <p:spPr>
            <a:xfrm>
              <a:off x="3410" y="3045"/>
              <a:ext cx="845" cy="765"/>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A</a:t>
              </a:r>
            </a:p>
          </p:txBody>
        </p:sp>
        <p:sp>
          <p:nvSpPr>
            <p:cNvPr id="119833" name="Oval 131"/>
            <p:cNvSpPr/>
            <p:nvPr/>
          </p:nvSpPr>
          <p:spPr>
            <a:xfrm>
              <a:off x="3410" y="6058"/>
              <a:ext cx="845" cy="765"/>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C</a:t>
              </a:r>
            </a:p>
          </p:txBody>
        </p:sp>
        <p:sp>
          <p:nvSpPr>
            <p:cNvPr id="119834" name="Oval 134"/>
            <p:cNvSpPr/>
            <p:nvPr/>
          </p:nvSpPr>
          <p:spPr>
            <a:xfrm>
              <a:off x="1715" y="4573"/>
              <a:ext cx="848" cy="765"/>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D</a:t>
              </a:r>
            </a:p>
          </p:txBody>
        </p:sp>
      </p:grpSp>
      <p:graphicFrame>
        <p:nvGraphicFramePr>
          <p:cNvPr id="29729" name="Group 33"/>
          <p:cNvGraphicFramePr>
            <a:graphicFrameLocks noGrp="1"/>
          </p:cNvGraphicFramePr>
          <p:nvPr/>
        </p:nvGraphicFramePr>
        <p:xfrm>
          <a:off x="4814888" y="1779588"/>
          <a:ext cx="3429000" cy="2430462"/>
        </p:xfrm>
        <a:graphic>
          <a:graphicData uri="http://schemas.openxmlformats.org/drawingml/2006/table">
            <a:tbl>
              <a:tblPr/>
              <a:tblGrid>
                <a:gridCol w="1182688">
                  <a:extLst>
                    <a:ext uri="{9D8B030D-6E8A-4147-A177-3AD203B41FA5}">
                      <a16:colId xmlns:a16="http://schemas.microsoft.com/office/drawing/2014/main" val="20000"/>
                    </a:ext>
                  </a:extLst>
                </a:gridCol>
                <a:gridCol w="1082675">
                  <a:extLst>
                    <a:ext uri="{9D8B030D-6E8A-4147-A177-3AD203B41FA5}">
                      <a16:colId xmlns:a16="http://schemas.microsoft.com/office/drawing/2014/main" val="20001"/>
                    </a:ext>
                  </a:extLst>
                </a:gridCol>
                <a:gridCol w="1163637">
                  <a:extLst>
                    <a:ext uri="{9D8B030D-6E8A-4147-A177-3AD203B41FA5}">
                      <a16:colId xmlns:a16="http://schemas.microsoft.com/office/drawing/2014/main" val="20002"/>
                    </a:ext>
                  </a:extLst>
                </a:gridCol>
              </a:tblGrid>
              <a:tr h="394644">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rPr>
                        <a:t>x</a:t>
                      </a:r>
                      <a:r>
                        <a:rPr kumimoji="0" lang="en-US" altLang="zh-CN" sz="2000" b="1"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x</a:t>
                      </a:r>
                      <a:r>
                        <a:rPr kumimoji="0" lang="en-US" altLang="zh-CN" sz="2000" b="1"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2</a:t>
                      </a: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0"/>
                  </a:ext>
                </a:extLst>
              </a:tr>
              <a:tr h="45426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a:t>
                      </a: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B/0</a:t>
                      </a: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A/0</a:t>
                      </a: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5819">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B</a:t>
                      </a: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C/0</a:t>
                      </a: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A/0</a:t>
                      </a: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65819">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C</a:t>
                      </a: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C/0</a:t>
                      </a: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D/1</a:t>
                      </a: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64991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a:t>
                      </a:r>
                    </a:p>
                  </a:txBody>
                  <a:tcPr marT="34286" marB="342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B/0</a:t>
                      </a:r>
                    </a:p>
                  </a:txBody>
                  <a:tcPr marT="34286" marB="3428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D/0</a:t>
                      </a:r>
                    </a:p>
                  </a:txBody>
                  <a:tcPr marT="34286" marB="342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19862" name="Text Box 77"/>
          <p:cNvSpPr txBox="1"/>
          <p:nvPr/>
        </p:nvSpPr>
        <p:spPr>
          <a:xfrm>
            <a:off x="5272088" y="1635125"/>
            <a:ext cx="1066800" cy="4476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1</a:t>
            </a:r>
            <a:r>
              <a:rPr lang="en-US" altLang="zh-CN" b="1" dirty="0">
                <a:solidFill>
                  <a:schemeClr val="tx1"/>
                </a:solidFill>
                <a:latin typeface="黑体" panose="02010609060101010101" pitchFamily="49" charset="-122"/>
                <a:ea typeface="黑体" panose="02010609060101010101" pitchFamily="49" charset="-122"/>
              </a:rPr>
              <a:t>x</a:t>
            </a:r>
            <a:r>
              <a:rPr lang="en-US" altLang="zh-CN" b="1" baseline="-25000" dirty="0">
                <a:solidFill>
                  <a:schemeClr val="tx1"/>
                </a:solidFill>
                <a:latin typeface="黑体" panose="02010609060101010101" pitchFamily="49" charset="-122"/>
                <a:ea typeface="黑体" panose="02010609060101010101" pitchFamily="49" charset="-122"/>
              </a:rPr>
              <a:t>2</a:t>
            </a:r>
          </a:p>
        </p:txBody>
      </p:sp>
      <p:sp>
        <p:nvSpPr>
          <p:cNvPr id="119863" name="Text Box 79"/>
          <p:cNvSpPr txBox="1"/>
          <p:nvPr/>
        </p:nvSpPr>
        <p:spPr>
          <a:xfrm>
            <a:off x="4975225" y="1779588"/>
            <a:ext cx="533400"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黑体" panose="02010609060101010101" pitchFamily="49" charset="-122"/>
                <a:ea typeface="黑体" panose="02010609060101010101" pitchFamily="49" charset="-122"/>
              </a:rPr>
              <a: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9811"/>
                                        </p:tgtEl>
                                        <p:attrNameLst>
                                          <p:attrName>style.visibility</p:attrName>
                                        </p:attrNameLst>
                                      </p:cBhvr>
                                      <p:to>
                                        <p:strVal val="visible"/>
                                      </p:to>
                                    </p:set>
                                    <p:anim calcmode="lin" valueType="num">
                                      <p:cBhvr additive="base">
                                        <p:cTn id="7" dur="500" fill="hold"/>
                                        <p:tgtEl>
                                          <p:spTgt spid="119811"/>
                                        </p:tgtEl>
                                        <p:attrNameLst>
                                          <p:attrName>ppt_x</p:attrName>
                                        </p:attrNameLst>
                                      </p:cBhvr>
                                      <p:tavLst>
                                        <p:tav tm="0">
                                          <p:val>
                                            <p:strVal val="#ppt_x"/>
                                          </p:val>
                                        </p:tav>
                                        <p:tav tm="100000">
                                          <p:val>
                                            <p:strVal val="#ppt_x"/>
                                          </p:val>
                                        </p:tav>
                                      </p:tavLst>
                                    </p:anim>
                                    <p:anim calcmode="lin" valueType="num">
                                      <p:cBhvr additive="base">
                                        <p:cTn id="8" dur="500" fill="hold"/>
                                        <p:tgtEl>
                                          <p:spTgt spid="1198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9812"/>
                                        </p:tgtEl>
                                        <p:attrNameLst>
                                          <p:attrName>style.visibility</p:attrName>
                                        </p:attrNameLst>
                                      </p:cBhvr>
                                      <p:to>
                                        <p:strVal val="visible"/>
                                      </p:to>
                                    </p:set>
                                    <p:anim calcmode="lin" valueType="num">
                                      <p:cBhvr additive="base">
                                        <p:cTn id="19" dur="500" fill="hold"/>
                                        <p:tgtEl>
                                          <p:spTgt spid="119812"/>
                                        </p:tgtEl>
                                        <p:attrNameLst>
                                          <p:attrName>ppt_x</p:attrName>
                                        </p:attrNameLst>
                                      </p:cBhvr>
                                      <p:tavLst>
                                        <p:tav tm="0">
                                          <p:val>
                                            <p:strVal val="#ppt_x"/>
                                          </p:val>
                                        </p:tav>
                                        <p:tav tm="100000">
                                          <p:val>
                                            <p:strVal val="#ppt_x"/>
                                          </p:val>
                                        </p:tav>
                                      </p:tavLst>
                                    </p:anim>
                                    <p:anim calcmode="lin" valueType="num">
                                      <p:cBhvr additive="base">
                                        <p:cTn id="20" dur="500" fill="hold"/>
                                        <p:tgtEl>
                                          <p:spTgt spid="11981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9729"/>
                                        </p:tgtEl>
                                        <p:attrNameLst>
                                          <p:attrName>style.visibility</p:attrName>
                                        </p:attrNameLst>
                                      </p:cBhvr>
                                      <p:to>
                                        <p:strVal val="visible"/>
                                      </p:to>
                                    </p:set>
                                    <p:anim calcmode="lin" valueType="num">
                                      <p:cBhvr additive="base">
                                        <p:cTn id="23" dur="500" fill="hold"/>
                                        <p:tgtEl>
                                          <p:spTgt spid="29729"/>
                                        </p:tgtEl>
                                        <p:attrNameLst>
                                          <p:attrName>ppt_x</p:attrName>
                                        </p:attrNameLst>
                                      </p:cBhvr>
                                      <p:tavLst>
                                        <p:tav tm="0">
                                          <p:val>
                                            <p:strVal val="#ppt_x"/>
                                          </p:val>
                                        </p:tav>
                                        <p:tav tm="100000">
                                          <p:val>
                                            <p:strVal val="#ppt_x"/>
                                          </p:val>
                                        </p:tav>
                                      </p:tavLst>
                                    </p:anim>
                                    <p:anim calcmode="lin" valueType="num">
                                      <p:cBhvr additive="base">
                                        <p:cTn id="24" dur="500" fill="hold"/>
                                        <p:tgtEl>
                                          <p:spTgt spid="2972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9862"/>
                                        </p:tgtEl>
                                        <p:attrNameLst>
                                          <p:attrName>style.visibility</p:attrName>
                                        </p:attrNameLst>
                                      </p:cBhvr>
                                      <p:to>
                                        <p:strVal val="visible"/>
                                      </p:to>
                                    </p:set>
                                    <p:anim calcmode="lin" valueType="num">
                                      <p:cBhvr additive="base">
                                        <p:cTn id="27" dur="500" fill="hold"/>
                                        <p:tgtEl>
                                          <p:spTgt spid="119862"/>
                                        </p:tgtEl>
                                        <p:attrNameLst>
                                          <p:attrName>ppt_x</p:attrName>
                                        </p:attrNameLst>
                                      </p:cBhvr>
                                      <p:tavLst>
                                        <p:tav tm="0">
                                          <p:val>
                                            <p:strVal val="#ppt_x"/>
                                          </p:val>
                                        </p:tav>
                                        <p:tav tm="100000">
                                          <p:val>
                                            <p:strVal val="#ppt_x"/>
                                          </p:val>
                                        </p:tav>
                                      </p:tavLst>
                                    </p:anim>
                                    <p:anim calcmode="lin" valueType="num">
                                      <p:cBhvr additive="base">
                                        <p:cTn id="28" dur="500" fill="hold"/>
                                        <p:tgtEl>
                                          <p:spTgt spid="11986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9863"/>
                                        </p:tgtEl>
                                        <p:attrNameLst>
                                          <p:attrName>style.visibility</p:attrName>
                                        </p:attrNameLst>
                                      </p:cBhvr>
                                      <p:to>
                                        <p:strVal val="visible"/>
                                      </p:to>
                                    </p:set>
                                    <p:anim calcmode="lin" valueType="num">
                                      <p:cBhvr additive="base">
                                        <p:cTn id="31" dur="500" fill="hold"/>
                                        <p:tgtEl>
                                          <p:spTgt spid="119863"/>
                                        </p:tgtEl>
                                        <p:attrNameLst>
                                          <p:attrName>ppt_x</p:attrName>
                                        </p:attrNameLst>
                                      </p:cBhvr>
                                      <p:tavLst>
                                        <p:tav tm="0">
                                          <p:val>
                                            <p:strVal val="#ppt_x"/>
                                          </p:val>
                                        </p:tav>
                                        <p:tav tm="100000">
                                          <p:val>
                                            <p:strVal val="#ppt_x"/>
                                          </p:val>
                                        </p:tav>
                                      </p:tavLst>
                                    </p:anim>
                                    <p:anim calcmode="lin" valueType="num">
                                      <p:cBhvr additive="base">
                                        <p:cTn id="32" dur="500" fill="hold"/>
                                        <p:tgtEl>
                                          <p:spTgt spid="1198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p:bldP spid="119812" grpId="0"/>
      <p:bldP spid="119862" grpId="0"/>
      <p:bldP spid="11986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p:cNvSpPr>
          <p:nvPr>
            <p:ph type="title"/>
          </p:nvPr>
        </p:nvSpPr>
        <p:spPr>
          <a:xfrm>
            <a:off x="899478" y="515938"/>
            <a:ext cx="2590800" cy="400050"/>
          </a:xfrm>
          <a:prstGeom prst="rect">
            <a:avLst/>
          </a:prstGeom>
          <a:noFill/>
          <a:ln w="9525">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⑵</a:t>
            </a: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状态化简</a:t>
            </a:r>
          </a:p>
        </p:txBody>
      </p:sp>
      <p:sp>
        <p:nvSpPr>
          <p:cNvPr id="120835" name="Rectangle 3"/>
          <p:cNvSpPr>
            <a:spLocks noGrp="1"/>
          </p:cNvSpPr>
          <p:nvPr>
            <p:ph type="body"/>
          </p:nvPr>
        </p:nvSpPr>
        <p:spPr>
          <a:xfrm>
            <a:off x="803275" y="885825"/>
            <a:ext cx="7513638" cy="749300"/>
          </a:xfrm>
          <a:prstGeom prst="rect">
            <a:avLst/>
          </a:prstGeom>
          <a:noFill/>
          <a:ln w="9525">
            <a:noFill/>
          </a:ln>
        </p:spPr>
        <p:txBody>
          <a:bodyPr/>
          <a:lstStyle/>
          <a:p>
            <a:pPr eaLnBrk="1" hangingPunct="1">
              <a:buNone/>
            </a:pPr>
            <a:r>
              <a:rPr lang="en-US" altLang="zh-CN"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从原始状态表中可明显看到</a:t>
            </a:r>
            <a:r>
              <a:rPr lang="en-US" altLang="zh-CN" sz="2000" b="1" dirty="0">
                <a:latin typeface="华文新魏" panose="02010800040101010101" pitchFamily="2" charset="-122"/>
                <a:ea typeface="华文新魏" panose="02010800040101010101" pitchFamily="2" charset="-122"/>
              </a:rPr>
              <a:t>AD</a:t>
            </a:r>
            <a:r>
              <a:rPr lang="zh-CN" altLang="en-US" sz="2000" b="1" dirty="0">
                <a:latin typeface="华文新魏" panose="02010800040101010101" pitchFamily="2" charset="-122"/>
                <a:ea typeface="华文新魏" panose="02010800040101010101" pitchFamily="2" charset="-122"/>
              </a:rPr>
              <a:t>等效，</a:t>
            </a:r>
            <a:r>
              <a:rPr lang="en-US" altLang="zh-CN" sz="2000" b="1" dirty="0">
                <a:latin typeface="华文新魏" panose="02010800040101010101" pitchFamily="2" charset="-122"/>
                <a:ea typeface="华文新魏" panose="02010800040101010101" pitchFamily="2" charset="-122"/>
              </a:rPr>
              <a:t>AD</a:t>
            </a:r>
            <a:r>
              <a:rPr lang="zh-CN" altLang="en-US" sz="2000" b="1" dirty="0">
                <a:latin typeface="华文新魏" panose="02010800040101010101" pitchFamily="2" charset="-122"/>
                <a:ea typeface="华文新魏" panose="02010800040101010101" pitchFamily="2" charset="-122"/>
              </a:rPr>
              <a:t>合并后可得到最小化状态表。</a:t>
            </a:r>
          </a:p>
          <a:p>
            <a:pPr eaLnBrk="1" hangingPunct="1">
              <a:buNone/>
            </a:pPr>
            <a:r>
              <a:rPr lang="zh-CN" altLang="en-US" sz="2000" dirty="0">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p:txBody>
      </p:sp>
      <p:sp>
        <p:nvSpPr>
          <p:cNvPr id="120836" name="Text Box 76"/>
          <p:cNvSpPr txBox="1"/>
          <p:nvPr/>
        </p:nvSpPr>
        <p:spPr>
          <a:xfrm>
            <a:off x="6259513" y="3771900"/>
            <a:ext cx="1066800"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30000" dirty="0">
                <a:solidFill>
                  <a:schemeClr val="tx1"/>
                </a:solidFill>
                <a:latin typeface="Calibri" panose="020F0502020204030204" pitchFamily="34" charset="0"/>
                <a:ea typeface="n+1"/>
              </a:rPr>
              <a:t>n+1</a:t>
            </a:r>
            <a:r>
              <a:rPr lang="en-US" altLang="zh-CN" b="1" dirty="0">
                <a:solidFill>
                  <a:schemeClr val="tx1"/>
                </a:solidFill>
                <a:latin typeface="Calibri" panose="020F0502020204030204" pitchFamily="34" charset="0"/>
                <a:ea typeface="n+1"/>
              </a:rPr>
              <a:t>/Z</a:t>
            </a:r>
            <a:endParaRPr lang="en-US" altLang="zh-CN" b="1" dirty="0">
              <a:solidFill>
                <a:schemeClr val="tx1"/>
              </a:solidFill>
              <a:latin typeface="Calibri" panose="020F0502020204030204" pitchFamily="34" charset="0"/>
            </a:endParaRPr>
          </a:p>
        </p:txBody>
      </p:sp>
      <p:graphicFrame>
        <p:nvGraphicFramePr>
          <p:cNvPr id="30725" name="Group 5"/>
          <p:cNvGraphicFramePr>
            <a:graphicFrameLocks noGrp="1"/>
          </p:cNvGraphicFramePr>
          <p:nvPr/>
        </p:nvGraphicFramePr>
        <p:xfrm>
          <a:off x="4887913" y="1581150"/>
          <a:ext cx="3429000" cy="3252789"/>
        </p:xfrm>
        <a:graphic>
          <a:graphicData uri="http://schemas.openxmlformats.org/drawingml/2006/table">
            <a:tbl>
              <a:tblPr/>
              <a:tblGrid>
                <a:gridCol w="1182687">
                  <a:extLst>
                    <a:ext uri="{9D8B030D-6E8A-4147-A177-3AD203B41FA5}">
                      <a16:colId xmlns:a16="http://schemas.microsoft.com/office/drawing/2014/main" val="20000"/>
                    </a:ext>
                  </a:extLst>
                </a:gridCol>
                <a:gridCol w="1082675">
                  <a:extLst>
                    <a:ext uri="{9D8B030D-6E8A-4147-A177-3AD203B41FA5}">
                      <a16:colId xmlns:a16="http://schemas.microsoft.com/office/drawing/2014/main" val="20001"/>
                    </a:ext>
                  </a:extLst>
                </a:gridCol>
                <a:gridCol w="1163638">
                  <a:extLst>
                    <a:ext uri="{9D8B030D-6E8A-4147-A177-3AD203B41FA5}">
                      <a16:colId xmlns:a16="http://schemas.microsoft.com/office/drawing/2014/main" val="20002"/>
                    </a:ext>
                  </a:extLst>
                </a:gridCol>
              </a:tblGrid>
              <a:tr h="4413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0"/>
                  </a:ext>
                </a:extLst>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A</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03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B</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03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C</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70326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0864" name="Text Box 106"/>
          <p:cNvSpPr txBox="1"/>
          <p:nvPr/>
        </p:nvSpPr>
        <p:spPr>
          <a:xfrm>
            <a:off x="5345113" y="1485900"/>
            <a:ext cx="1066800" cy="4476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sp>
        <p:nvSpPr>
          <p:cNvPr id="120865" name="Text Box 107"/>
          <p:cNvSpPr txBox="1"/>
          <p:nvPr/>
        </p:nvSpPr>
        <p:spPr>
          <a:xfrm>
            <a:off x="4906963" y="1625600"/>
            <a:ext cx="533400"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p>
        </p:txBody>
      </p:sp>
      <p:graphicFrame>
        <p:nvGraphicFramePr>
          <p:cNvPr id="30754" name="Group 34"/>
          <p:cNvGraphicFramePr>
            <a:graphicFrameLocks noGrp="1"/>
          </p:cNvGraphicFramePr>
          <p:nvPr/>
        </p:nvGraphicFramePr>
        <p:xfrm>
          <a:off x="684213" y="2008188"/>
          <a:ext cx="3429000" cy="2549525"/>
        </p:xfrm>
        <a:graphic>
          <a:graphicData uri="http://schemas.openxmlformats.org/drawingml/2006/table">
            <a:tbl>
              <a:tblPr/>
              <a:tblGrid>
                <a:gridCol w="1182688">
                  <a:extLst>
                    <a:ext uri="{9D8B030D-6E8A-4147-A177-3AD203B41FA5}">
                      <a16:colId xmlns:a16="http://schemas.microsoft.com/office/drawing/2014/main" val="20000"/>
                    </a:ext>
                  </a:extLst>
                </a:gridCol>
                <a:gridCol w="1082675">
                  <a:extLst>
                    <a:ext uri="{9D8B030D-6E8A-4147-A177-3AD203B41FA5}">
                      <a16:colId xmlns:a16="http://schemas.microsoft.com/office/drawing/2014/main" val="20001"/>
                    </a:ext>
                  </a:extLst>
                </a:gridCol>
                <a:gridCol w="1163637">
                  <a:extLst>
                    <a:ext uri="{9D8B030D-6E8A-4147-A177-3AD203B41FA5}">
                      <a16:colId xmlns:a16="http://schemas.microsoft.com/office/drawing/2014/main" val="20002"/>
                    </a:ext>
                  </a:extLst>
                </a:gridCol>
              </a:tblGrid>
              <a:tr h="4413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0"/>
                  </a:ext>
                </a:extLst>
              </a:tr>
              <a:tr h="7048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A</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B</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C</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120889" name="Text Box 138"/>
          <p:cNvSpPr txBox="1"/>
          <p:nvPr/>
        </p:nvSpPr>
        <p:spPr>
          <a:xfrm>
            <a:off x="1141413" y="1900238"/>
            <a:ext cx="1066800" cy="4476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sp>
        <p:nvSpPr>
          <p:cNvPr id="120890" name="Text Box 139"/>
          <p:cNvSpPr txBox="1"/>
          <p:nvPr/>
        </p:nvSpPr>
        <p:spPr>
          <a:xfrm>
            <a:off x="703263" y="2039938"/>
            <a:ext cx="533400"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p>
        </p:txBody>
      </p:sp>
      <p:sp>
        <p:nvSpPr>
          <p:cNvPr id="120891" name="Text Box 140"/>
          <p:cNvSpPr txBox="1"/>
          <p:nvPr/>
        </p:nvSpPr>
        <p:spPr>
          <a:xfrm>
            <a:off x="2035175" y="4557713"/>
            <a:ext cx="1066800"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30000" dirty="0">
                <a:solidFill>
                  <a:schemeClr val="tx1"/>
                </a:solidFill>
                <a:latin typeface="Calibri" panose="020F0502020204030204" pitchFamily="34" charset="0"/>
                <a:ea typeface="n+1"/>
              </a:rPr>
              <a:t>n+1</a:t>
            </a:r>
            <a:r>
              <a:rPr lang="en-US" altLang="zh-CN" b="1" dirty="0">
                <a:solidFill>
                  <a:schemeClr val="tx1"/>
                </a:solidFill>
                <a:latin typeface="Calibri" panose="020F0502020204030204" pitchFamily="34" charset="0"/>
                <a:ea typeface="n+1"/>
              </a:rPr>
              <a:t>/Z</a:t>
            </a:r>
            <a:endParaRPr lang="en-US" altLang="zh-CN" b="1" dirty="0">
              <a:solidFill>
                <a:schemeClr val="tx1"/>
              </a:solidFill>
              <a:latin typeface="Calibri" panose="020F0502020204030204" pitchFamily="34" charset="0"/>
            </a:endParaRPr>
          </a:p>
        </p:txBody>
      </p:sp>
      <p:sp>
        <p:nvSpPr>
          <p:cNvPr id="120892" name="箭头: 右 1"/>
          <p:cNvSpPr/>
          <p:nvPr/>
        </p:nvSpPr>
        <p:spPr>
          <a:xfrm flipH="1">
            <a:off x="4256088" y="3148013"/>
            <a:ext cx="531812" cy="484187"/>
          </a:xfrm>
          <a:prstGeom prst="rightArrow">
            <a:avLst>
              <a:gd name="adj1" fmla="val 50000"/>
              <a:gd name="adj2" fmla="val 50036"/>
            </a:avLst>
          </a:prstGeom>
          <a:solidFill>
            <a:schemeClr val="accent1"/>
          </a:solidFill>
          <a:ln w="9525" cap="flat" cmpd="sng">
            <a:solidFill>
              <a:schemeClr val="tx1"/>
            </a:solidFill>
            <a:prstDash val="solid"/>
            <a:round/>
            <a:headEnd type="none" w="med" len="med"/>
            <a:tailEnd type="none" w="med" len="med"/>
          </a:ln>
        </p:spPr>
        <p:txBody>
          <a:bodyPr/>
          <a:lstStyle/>
          <a:p>
            <a:pPr eaLnBrk="1" hangingPunct="1">
              <a:buFont typeface="Arial" panose="020B0604020202020204" pitchFamily="34" charset="0"/>
            </a:pPr>
            <a:endParaRPr lang="zh-CN" altLang="en-US" dirty="0">
              <a:latin typeface="Calibri" panose="020F0502020204030204" pitchFamily="34" charset="0"/>
            </a:endParaRPr>
          </a:p>
        </p:txBody>
      </p:sp>
      <p:sp>
        <p:nvSpPr>
          <p:cNvPr id="2" name="文本框 1"/>
          <p:cNvSpPr txBox="1"/>
          <p:nvPr/>
        </p:nvSpPr>
        <p:spPr>
          <a:xfrm>
            <a:off x="252095" y="1619250"/>
            <a:ext cx="4319905" cy="337185"/>
          </a:xfrm>
          <a:prstGeom prst="rect">
            <a:avLst/>
          </a:prstGeom>
          <a:noFill/>
        </p:spPr>
        <p:txBody>
          <a:bodyPr wrap="square" rtlCol="0">
            <a:spAutoFit/>
          </a:bodyPr>
          <a:lstStyle/>
          <a:p>
            <a:r>
              <a:rPr lang="zh-CN" altLang="en-US" sz="1600">
                <a:solidFill>
                  <a:srgbClr val="0000FF"/>
                </a:solidFill>
                <a:latin typeface="华文新魏" panose="02010800040101010101" pitchFamily="2" charset="-122"/>
                <a:ea typeface="华文新魏" panose="02010800040101010101" pitchFamily="2" charset="-122"/>
              </a:rPr>
              <a:t>减少一个状态，但状态变量没变，有何好处？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p:cNvSpPr>
            <a:spLocks noGrp="1"/>
          </p:cNvSpPr>
          <p:nvPr>
            <p:ph type="title"/>
          </p:nvPr>
        </p:nvSpPr>
        <p:spPr>
          <a:xfrm>
            <a:off x="250825" y="587375"/>
            <a:ext cx="2590800" cy="400050"/>
          </a:xfrm>
          <a:prstGeom prst="rect">
            <a:avLst/>
          </a:prstGeom>
          <a:noFill/>
          <a:ln w="9525">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⑵  </a:t>
            </a:r>
            <a:r>
              <a:rPr lang="zh-CN" altLang="en-US" sz="2000" b="1" dirty="0">
                <a:latin typeface="华文新魏" panose="02010800040101010101" pitchFamily="2" charset="-122"/>
                <a:ea typeface="华文新魏" panose="02010800040101010101" pitchFamily="2" charset="-122"/>
              </a:rPr>
              <a:t>状态化简</a:t>
            </a:r>
          </a:p>
        </p:txBody>
      </p:sp>
      <p:graphicFrame>
        <p:nvGraphicFramePr>
          <p:cNvPr id="31747" name="Group 3"/>
          <p:cNvGraphicFramePr>
            <a:graphicFrameLocks noGrp="1"/>
          </p:cNvGraphicFramePr>
          <p:nvPr/>
        </p:nvGraphicFramePr>
        <p:xfrm>
          <a:off x="355600" y="1030288"/>
          <a:ext cx="3429000" cy="2549525"/>
        </p:xfrm>
        <a:graphic>
          <a:graphicData uri="http://schemas.openxmlformats.org/drawingml/2006/table">
            <a:tbl>
              <a:tblPr/>
              <a:tblGrid>
                <a:gridCol w="1182688">
                  <a:extLst>
                    <a:ext uri="{9D8B030D-6E8A-4147-A177-3AD203B41FA5}">
                      <a16:colId xmlns:a16="http://schemas.microsoft.com/office/drawing/2014/main" val="20000"/>
                    </a:ext>
                  </a:extLst>
                </a:gridCol>
                <a:gridCol w="1082675">
                  <a:extLst>
                    <a:ext uri="{9D8B030D-6E8A-4147-A177-3AD203B41FA5}">
                      <a16:colId xmlns:a16="http://schemas.microsoft.com/office/drawing/2014/main" val="20001"/>
                    </a:ext>
                  </a:extLst>
                </a:gridCol>
                <a:gridCol w="1163637">
                  <a:extLst>
                    <a:ext uri="{9D8B030D-6E8A-4147-A177-3AD203B41FA5}">
                      <a16:colId xmlns:a16="http://schemas.microsoft.com/office/drawing/2014/main" val="20002"/>
                    </a:ext>
                  </a:extLst>
                </a:gridCol>
              </a:tblGrid>
              <a:tr h="4413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0"/>
                  </a:ext>
                </a:extLst>
              </a:tr>
              <a:tr h="7048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A</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B</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C</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122906" name="Text Box 62"/>
          <p:cNvSpPr txBox="1"/>
          <p:nvPr/>
        </p:nvSpPr>
        <p:spPr>
          <a:xfrm>
            <a:off x="971550" y="930275"/>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sp>
        <p:nvSpPr>
          <p:cNvPr id="122907" name="Text Box 63"/>
          <p:cNvSpPr txBox="1"/>
          <p:nvPr/>
        </p:nvSpPr>
        <p:spPr>
          <a:xfrm>
            <a:off x="552450" y="1114425"/>
            <a:ext cx="5334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p>
        </p:txBody>
      </p:sp>
      <p:sp>
        <p:nvSpPr>
          <p:cNvPr id="122908" name="Text Box 65"/>
          <p:cNvSpPr txBox="1"/>
          <p:nvPr/>
        </p:nvSpPr>
        <p:spPr>
          <a:xfrm>
            <a:off x="4100513" y="587375"/>
            <a:ext cx="3733800" cy="39878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⑶</a:t>
            </a: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状态分配</a:t>
            </a:r>
          </a:p>
        </p:txBody>
      </p:sp>
      <p:graphicFrame>
        <p:nvGraphicFramePr>
          <p:cNvPr id="31774" name="Group 30"/>
          <p:cNvGraphicFramePr>
            <a:graphicFrameLocks noGrp="1"/>
          </p:cNvGraphicFramePr>
          <p:nvPr/>
        </p:nvGraphicFramePr>
        <p:xfrm>
          <a:off x="4405313" y="1030288"/>
          <a:ext cx="2438400" cy="1279526"/>
        </p:xfrm>
        <a:graphic>
          <a:graphicData uri="http://schemas.openxmlformats.org/drawingml/2006/table">
            <a:tbl>
              <a:tblPr/>
              <a:tblGrid>
                <a:gridCol w="877887">
                  <a:extLst>
                    <a:ext uri="{9D8B030D-6E8A-4147-A177-3AD203B41FA5}">
                      <a16:colId xmlns:a16="http://schemas.microsoft.com/office/drawing/2014/main" val="20000"/>
                    </a:ext>
                  </a:extLst>
                </a:gridCol>
                <a:gridCol w="798513">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4270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0"/>
                  </a:ext>
                </a:extLst>
              </a:tr>
              <a:tr h="42703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254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31793" name="Text Box 75"/>
          <p:cNvSpPr txBox="1"/>
          <p:nvPr/>
        </p:nvSpPr>
        <p:spPr>
          <a:xfrm>
            <a:off x="4862513" y="915988"/>
            <a:ext cx="6096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endParaRPr lang="en-US" altLang="zh-CN" b="1" dirty="0">
              <a:solidFill>
                <a:schemeClr val="tx1"/>
              </a:solidFill>
              <a:latin typeface="Calibri" panose="020F0502020204030204" pitchFamily="34" charset="0"/>
            </a:endParaRPr>
          </a:p>
        </p:txBody>
      </p:sp>
      <p:sp>
        <p:nvSpPr>
          <p:cNvPr id="31794" name="Text Box 126"/>
          <p:cNvSpPr txBox="1"/>
          <p:nvPr/>
        </p:nvSpPr>
        <p:spPr>
          <a:xfrm>
            <a:off x="4443413" y="1055688"/>
            <a:ext cx="6096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endParaRPr lang="en-US" altLang="zh-CN" b="1" dirty="0">
              <a:solidFill>
                <a:schemeClr val="tx1"/>
              </a:solidFill>
              <a:latin typeface="Calibri" panose="020F0502020204030204" pitchFamily="34" charset="0"/>
            </a:endParaRPr>
          </a:p>
        </p:txBody>
      </p:sp>
      <p:graphicFrame>
        <p:nvGraphicFramePr>
          <p:cNvPr id="31795" name="Group 51"/>
          <p:cNvGraphicFramePr>
            <a:graphicFrameLocks noGrp="1"/>
          </p:cNvGraphicFramePr>
          <p:nvPr/>
        </p:nvGraphicFramePr>
        <p:xfrm>
          <a:off x="4095750" y="2449513"/>
          <a:ext cx="3429000" cy="2549525"/>
        </p:xfrm>
        <a:graphic>
          <a:graphicData uri="http://schemas.openxmlformats.org/drawingml/2006/table">
            <a:tbl>
              <a:tblPr/>
              <a:tblGrid>
                <a:gridCol w="1182687">
                  <a:extLst>
                    <a:ext uri="{9D8B030D-6E8A-4147-A177-3AD203B41FA5}">
                      <a16:colId xmlns:a16="http://schemas.microsoft.com/office/drawing/2014/main" val="20000"/>
                    </a:ext>
                  </a:extLst>
                </a:gridCol>
                <a:gridCol w="1082675">
                  <a:extLst>
                    <a:ext uri="{9D8B030D-6E8A-4147-A177-3AD203B41FA5}">
                      <a16:colId xmlns:a16="http://schemas.microsoft.com/office/drawing/2014/main" val="20001"/>
                    </a:ext>
                  </a:extLst>
                </a:gridCol>
                <a:gridCol w="1163638">
                  <a:extLst>
                    <a:ext uri="{9D8B030D-6E8A-4147-A177-3AD203B41FA5}">
                      <a16:colId xmlns:a16="http://schemas.microsoft.com/office/drawing/2014/main" val="20002"/>
                    </a:ext>
                  </a:extLst>
                </a:gridCol>
              </a:tblGrid>
              <a:tr h="4413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dirty="0">
                          <a:ln>
                            <a:noFill/>
                          </a:ln>
                          <a:solidFill>
                            <a:schemeClr val="accent2"/>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0"/>
                  </a:ext>
                </a:extLst>
              </a:tr>
              <a:tr h="7048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016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00/1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31818" name="Text Box 189"/>
          <p:cNvSpPr txBox="1"/>
          <p:nvPr/>
        </p:nvSpPr>
        <p:spPr>
          <a:xfrm>
            <a:off x="4621213" y="2343150"/>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sp>
        <p:nvSpPr>
          <p:cNvPr id="122954" name="Text Box 191"/>
          <p:cNvSpPr txBox="1"/>
          <p:nvPr/>
        </p:nvSpPr>
        <p:spPr>
          <a:xfrm>
            <a:off x="1619568" y="3622993"/>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rgbClr val="FF0000"/>
                </a:solidFill>
                <a:latin typeface="Calibri" panose="020F0502020204030204" pitchFamily="34" charset="0"/>
              </a:rPr>
              <a:t>y</a:t>
            </a:r>
            <a:r>
              <a:rPr lang="en-US" altLang="zh-CN" b="1" baseline="30000" dirty="0">
                <a:solidFill>
                  <a:srgbClr val="FF0000"/>
                </a:solidFill>
                <a:latin typeface="Calibri" panose="020F0502020204030204" pitchFamily="34" charset="0"/>
                <a:ea typeface="n+1"/>
              </a:rPr>
              <a:t>n+1</a:t>
            </a:r>
            <a:r>
              <a:rPr lang="en-US" altLang="zh-CN" b="1" dirty="0">
                <a:solidFill>
                  <a:srgbClr val="FF0000"/>
                </a:solidFill>
                <a:latin typeface="Calibri" panose="020F0502020204030204" pitchFamily="34" charset="0"/>
                <a:ea typeface="n+1"/>
              </a:rPr>
              <a:t>/Z</a:t>
            </a:r>
            <a:endParaRPr lang="en-US" altLang="zh-CN" b="1" dirty="0">
              <a:solidFill>
                <a:srgbClr val="FF0000"/>
              </a:solidFill>
              <a:latin typeface="Calibri" panose="020F0502020204030204" pitchFamily="34" charset="0"/>
            </a:endParaRPr>
          </a:p>
        </p:txBody>
      </p:sp>
      <p:sp>
        <p:nvSpPr>
          <p:cNvPr id="31820" name="Text Box 192"/>
          <p:cNvSpPr txBox="1"/>
          <p:nvPr/>
        </p:nvSpPr>
        <p:spPr>
          <a:xfrm>
            <a:off x="4164013" y="2524125"/>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p>
        </p:txBody>
      </p:sp>
      <p:sp>
        <p:nvSpPr>
          <p:cNvPr id="31821" name="Text Box 193"/>
          <p:cNvSpPr txBox="1"/>
          <p:nvPr/>
        </p:nvSpPr>
        <p:spPr>
          <a:xfrm>
            <a:off x="7593013" y="4598988"/>
            <a:ext cx="17526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rgbClr val="FF0000"/>
                </a:solidFill>
                <a:latin typeface="Calibri" panose="020F0502020204030204" pitchFamily="34" charset="0"/>
              </a:rPr>
              <a:t>y</a:t>
            </a:r>
            <a:r>
              <a:rPr lang="en-US" altLang="zh-CN" b="1" baseline="-25000" dirty="0">
                <a:solidFill>
                  <a:srgbClr val="FF0000"/>
                </a:solidFill>
                <a:latin typeface="Calibri" panose="020F0502020204030204" pitchFamily="34" charset="0"/>
              </a:rPr>
              <a:t>1</a:t>
            </a:r>
            <a:r>
              <a:rPr lang="en-US" altLang="zh-CN" b="1" baseline="30000" dirty="0">
                <a:solidFill>
                  <a:srgbClr val="FF0000"/>
                </a:solidFill>
                <a:latin typeface="Calibri" panose="020F0502020204030204" pitchFamily="34" charset="0"/>
                <a:ea typeface="n+1"/>
              </a:rPr>
              <a:t>n+1 </a:t>
            </a:r>
            <a:r>
              <a:rPr lang="en-US" altLang="zh-CN" b="1" dirty="0">
                <a:solidFill>
                  <a:srgbClr val="FF0000"/>
                </a:solidFill>
                <a:latin typeface="Calibri" panose="020F0502020204030204" pitchFamily="34" charset="0"/>
              </a:rPr>
              <a:t>y</a:t>
            </a:r>
            <a:r>
              <a:rPr lang="en-US" altLang="zh-CN" b="1" baseline="-25000" dirty="0">
                <a:solidFill>
                  <a:srgbClr val="FF0000"/>
                </a:solidFill>
                <a:latin typeface="Calibri" panose="020F0502020204030204" pitchFamily="34" charset="0"/>
              </a:rPr>
              <a:t>2</a:t>
            </a:r>
            <a:r>
              <a:rPr lang="en-US" altLang="zh-CN" b="1" baseline="30000" dirty="0">
                <a:solidFill>
                  <a:srgbClr val="FF0000"/>
                </a:solidFill>
                <a:latin typeface="Calibri" panose="020F0502020204030204" pitchFamily="34" charset="0"/>
                <a:ea typeface="n+1"/>
              </a:rPr>
              <a:t>n+1 </a:t>
            </a:r>
            <a:r>
              <a:rPr lang="en-US" altLang="zh-CN" b="1" dirty="0">
                <a:solidFill>
                  <a:srgbClr val="FF0000"/>
                </a:solidFill>
                <a:latin typeface="Calibri" panose="020F0502020204030204" pitchFamily="34" charset="0"/>
                <a:ea typeface="n+1"/>
              </a:rPr>
              <a:t>/Z</a:t>
            </a:r>
          </a:p>
        </p:txBody>
      </p:sp>
      <p:sp>
        <p:nvSpPr>
          <p:cNvPr id="78" name="Text Box 87"/>
          <p:cNvSpPr txBox="1">
            <a:spLocks noChangeArrowheads="1"/>
          </p:cNvSpPr>
          <p:nvPr/>
        </p:nvSpPr>
        <p:spPr bwMode="auto">
          <a:xfrm>
            <a:off x="7020560" y="1203325"/>
            <a:ext cx="210693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800" b="1" i="0" u="none" strike="noStrike" kern="1200" cap="none" spc="0" normalizeH="0" baseline="0" noProof="0" dirty="0">
                <a:ln>
                  <a:noFill/>
                </a:ln>
                <a:solidFill>
                  <a:srgbClr val="FF0066"/>
                </a:solidFill>
                <a:effectLst/>
                <a:uLnTx/>
                <a:uFillTx/>
                <a:latin typeface="Times New Roman" panose="02020603050405020304" pitchFamily="18" charset="0"/>
                <a:ea typeface="华文新魏" panose="02010800040101010101" pitchFamily="2" charset="-122"/>
                <a:cs typeface="+mn-cs"/>
              </a:rPr>
              <a:t>相邻关系</a:t>
            </a:r>
            <a:r>
              <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0" lang="en-US" altLang="zh-CN" sz="18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A-B-C</a:t>
            </a:r>
          </a:p>
        </p:txBody>
      </p:sp>
      <p:sp>
        <p:nvSpPr>
          <p:cNvPr id="2" name="Text Box 88"/>
          <p:cNvSpPr txBox="1">
            <a:spLocks noChangeArrowheads="1"/>
          </p:cNvSpPr>
          <p:nvPr/>
        </p:nvSpPr>
        <p:spPr bwMode="auto">
          <a:xfrm>
            <a:off x="107315" y="4023360"/>
            <a:ext cx="316166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规则</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1</a:t>
            </a: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600" b="1" i="1"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R</a:t>
            </a:r>
            <a:r>
              <a:rPr kumimoji="0" lang="en-US" altLang="zh-CN" sz="1600" b="1" i="0" u="none" strike="noStrike" kern="1200" cap="none" spc="0" normalizeH="0" baseline="-2500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BC</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=1</a:t>
            </a: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（不考虑</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x</a:t>
            </a:r>
            <a:r>
              <a:rPr kumimoji="0" lang="en-US" altLang="zh-CN" sz="1600" b="1" i="0" u="none" strike="noStrike" kern="1200" cap="none" spc="0" normalizeH="0" baseline="-2500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2</a:t>
            </a: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endPar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6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规则</a:t>
            </a:r>
            <a:r>
              <a:rPr kumimoji="0" lang="en-US" altLang="zh-CN" sz="16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2</a:t>
            </a:r>
            <a:r>
              <a:rPr kumimoji="0" lang="zh-CN" altLang="en-US" sz="16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a:t>
            </a:r>
            <a:r>
              <a:rPr kumimoji="0" lang="zh-CN" sz="16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输入无相邻关系</a:t>
            </a:r>
            <a:endParaRPr kumimoji="0" lang="en-US" altLang="zh-CN" sz="16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规则</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3</a:t>
            </a: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：一个输出可以不考虑</a:t>
            </a:r>
          </a:p>
        </p:txBody>
      </p:sp>
      <p:sp>
        <p:nvSpPr>
          <p:cNvPr id="3" name="文本框 2"/>
          <p:cNvSpPr txBox="1"/>
          <p:nvPr/>
        </p:nvSpPr>
        <p:spPr>
          <a:xfrm>
            <a:off x="2195830" y="1114425"/>
            <a:ext cx="454660" cy="368300"/>
          </a:xfrm>
          <a:prstGeom prst="rect">
            <a:avLst/>
          </a:prstGeom>
          <a:noFill/>
        </p:spPr>
        <p:txBody>
          <a:bodyPr wrap="square" rtlCol="0">
            <a:spAutoFit/>
          </a:bodyPr>
          <a:lstStyle/>
          <a:p>
            <a:r>
              <a:rPr lang="en-US" altLang="zh-CN" sz="1800" dirty="0">
                <a:solidFill>
                  <a:schemeClr val="tx1"/>
                </a:solidFill>
                <a:highlight>
                  <a:srgbClr val="FFFF00"/>
                </a:highlight>
                <a:latin typeface="华文新魏" panose="02010800040101010101" pitchFamily="2" charset="-122"/>
                <a:ea typeface="华文新魏" panose="02010800040101010101" pitchFamily="2" charset="-122"/>
              </a:rPr>
              <a:t>10</a:t>
            </a:r>
          </a:p>
        </p:txBody>
      </p:sp>
      <p:sp>
        <p:nvSpPr>
          <p:cNvPr id="4" name="文本框 3"/>
          <p:cNvSpPr txBox="1"/>
          <p:nvPr/>
        </p:nvSpPr>
        <p:spPr>
          <a:xfrm>
            <a:off x="3347720" y="1114425"/>
            <a:ext cx="454660" cy="368300"/>
          </a:xfrm>
          <a:prstGeom prst="rect">
            <a:avLst/>
          </a:prstGeom>
          <a:noFill/>
        </p:spPr>
        <p:txBody>
          <a:bodyPr wrap="square" rtlCol="0">
            <a:spAutoFit/>
          </a:bodyPr>
          <a:lstStyle/>
          <a:p>
            <a:r>
              <a:rPr lang="en-US" altLang="zh-CN" sz="1800">
                <a:solidFill>
                  <a:schemeClr val="tx1"/>
                </a:solidFill>
                <a:highlight>
                  <a:srgbClr val="FFFF00"/>
                </a:highlight>
                <a:latin typeface="华文新魏" panose="02010800040101010101" pitchFamily="2" charset="-122"/>
                <a:ea typeface="华文新魏" panose="02010800040101010101" pitchFamily="2" charset="-122"/>
              </a:rPr>
              <a:t>01</a:t>
            </a:r>
          </a:p>
        </p:txBody>
      </p:sp>
      <p:sp>
        <p:nvSpPr>
          <p:cNvPr id="5" name="Text Box 88"/>
          <p:cNvSpPr txBox="1">
            <a:spLocks noChangeArrowheads="1"/>
          </p:cNvSpPr>
          <p:nvPr/>
        </p:nvSpPr>
        <p:spPr bwMode="auto">
          <a:xfrm>
            <a:off x="107315" y="4023360"/>
            <a:ext cx="30226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规则</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1</a:t>
            </a: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lang="en-US" altLang="zh-CN" sz="1600" b="1" i="1" noProof="0" dirty="0">
                <a:ln>
                  <a:noFill/>
                </a:ln>
                <a:effectLst/>
                <a:uLnTx/>
                <a:uFillTx/>
                <a:ea typeface="华文新魏" panose="02010800040101010101" pitchFamily="2" charset="-122"/>
                <a:sym typeface="+mn-ea"/>
              </a:rPr>
              <a:t>R</a:t>
            </a:r>
            <a:r>
              <a:rPr lang="en-US" altLang="zh-CN" sz="1600" b="1" baseline="-25000" noProof="0" dirty="0">
                <a:ln>
                  <a:noFill/>
                </a:ln>
                <a:effectLst/>
                <a:uLnTx/>
                <a:uFillTx/>
                <a:ea typeface="华文新魏" panose="02010800040101010101" pitchFamily="2" charset="-122"/>
                <a:sym typeface="+mn-ea"/>
              </a:rPr>
              <a:t>AB</a:t>
            </a:r>
            <a:r>
              <a:rPr lang="en-US" altLang="zh-CN" sz="1600" b="1" noProof="0" dirty="0">
                <a:ln>
                  <a:noFill/>
                </a:ln>
                <a:effectLst/>
                <a:uLnTx/>
                <a:uFillTx/>
                <a:ea typeface="华文新魏" panose="02010800040101010101" pitchFamily="2" charset="-122"/>
                <a:sym typeface="+mn-ea"/>
              </a:rPr>
              <a:t>=1</a:t>
            </a:r>
            <a:r>
              <a:rPr lang="zh-CN" altLang="en-US" sz="1600" b="1" noProof="0" dirty="0">
                <a:ln>
                  <a:noFill/>
                </a:ln>
                <a:effectLst/>
                <a:uLnTx/>
                <a:uFillTx/>
                <a:ea typeface="华文新魏" panose="02010800040101010101" pitchFamily="2" charset="-122"/>
                <a:sym typeface="+mn-ea"/>
              </a:rPr>
              <a:t>，</a:t>
            </a:r>
            <a:r>
              <a:rPr lang="en-US" altLang="zh-CN" sz="1600" b="1" i="1" noProof="0" dirty="0">
                <a:ln>
                  <a:noFill/>
                </a:ln>
                <a:effectLst/>
                <a:uLnTx/>
                <a:uFillTx/>
                <a:ea typeface="华文新魏" panose="02010800040101010101" pitchFamily="2" charset="-122"/>
                <a:sym typeface="+mn-ea"/>
              </a:rPr>
              <a:t>R</a:t>
            </a:r>
            <a:r>
              <a:rPr lang="en-US" altLang="zh-CN" sz="1600" b="1" baseline="-25000" noProof="0" dirty="0">
                <a:ln>
                  <a:noFill/>
                </a:ln>
                <a:effectLst/>
                <a:uLnTx/>
                <a:uFillTx/>
                <a:ea typeface="华文新魏" panose="02010800040101010101" pitchFamily="2" charset="-122"/>
                <a:sym typeface="+mn-ea"/>
              </a:rPr>
              <a:t>AC</a:t>
            </a:r>
            <a:r>
              <a:rPr lang="en-US" altLang="zh-CN" sz="1600" b="1" noProof="0" dirty="0">
                <a:ln>
                  <a:noFill/>
                </a:ln>
                <a:effectLst/>
                <a:uLnTx/>
                <a:uFillTx/>
                <a:ea typeface="华文新魏" panose="02010800040101010101" pitchFamily="2" charset="-122"/>
                <a:sym typeface="+mn-ea"/>
              </a:rPr>
              <a:t>=1</a:t>
            </a:r>
            <a:r>
              <a:rPr lang="zh-CN" altLang="en-US" sz="1600" b="1" noProof="0" dirty="0">
                <a:ln>
                  <a:noFill/>
                </a:ln>
                <a:effectLst/>
                <a:uLnTx/>
                <a:uFillTx/>
                <a:ea typeface="华文新魏" panose="02010800040101010101" pitchFamily="2" charset="-122"/>
                <a:sym typeface="+mn-ea"/>
              </a:rPr>
              <a:t>，</a:t>
            </a:r>
            <a:r>
              <a:rPr lang="en-US" altLang="zh-CN" sz="1600" b="1" i="1" noProof="0" dirty="0">
                <a:ln>
                  <a:noFill/>
                </a:ln>
                <a:effectLst/>
                <a:uLnTx/>
                <a:uFillTx/>
                <a:ea typeface="华文新魏" panose="02010800040101010101" pitchFamily="2" charset="-122"/>
                <a:sym typeface="+mn-ea"/>
              </a:rPr>
              <a:t>R</a:t>
            </a:r>
            <a:r>
              <a:rPr lang="en-US" altLang="zh-CN" sz="1600" b="1" baseline="-25000" noProof="0" dirty="0">
                <a:ln>
                  <a:noFill/>
                </a:ln>
                <a:effectLst/>
                <a:uLnTx/>
                <a:uFillTx/>
                <a:ea typeface="华文新魏" panose="02010800040101010101" pitchFamily="2" charset="-122"/>
                <a:sym typeface="+mn-ea"/>
              </a:rPr>
              <a:t>BC</a:t>
            </a:r>
            <a:r>
              <a:rPr lang="en-US" altLang="zh-CN" sz="1600" b="1" noProof="0" dirty="0">
                <a:ln>
                  <a:noFill/>
                </a:ln>
                <a:effectLst/>
                <a:uLnTx/>
                <a:uFillTx/>
                <a:ea typeface="华文新魏" panose="02010800040101010101" pitchFamily="2" charset="-122"/>
                <a:sym typeface="+mn-ea"/>
              </a:rPr>
              <a:t>=</a:t>
            </a:r>
            <a:r>
              <a:rPr lang="en-US" sz="1600" b="1" noProof="0" dirty="0">
                <a:ln>
                  <a:noFill/>
                </a:ln>
                <a:effectLst/>
                <a:uLnTx/>
                <a:uFillTx/>
                <a:ea typeface="华文新魏" panose="02010800040101010101" pitchFamily="2" charset="-122"/>
                <a:sym typeface="+mn-ea"/>
              </a:rPr>
              <a:t>2</a:t>
            </a:r>
            <a:endPar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6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规则</a:t>
            </a:r>
            <a:r>
              <a:rPr kumimoji="0" lang="en-US" altLang="zh-CN" sz="16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2</a:t>
            </a:r>
            <a:r>
              <a:rPr kumimoji="0" lang="zh-CN" altLang="en-US" sz="16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a:t>
            </a:r>
            <a:r>
              <a:rPr kumimoji="0" lang="zh-CN" sz="16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输入无相邻关系</a:t>
            </a:r>
            <a:endParaRPr kumimoji="0" lang="en-US" altLang="zh-CN" sz="1600" b="1"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规则</a:t>
            </a:r>
            <a:r>
              <a:rPr kumimoji="0"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3</a:t>
            </a:r>
            <a:r>
              <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lang="en-US" altLang="zh-CN" sz="1600" b="1" i="1" noProof="0" dirty="0">
                <a:ln>
                  <a:noFill/>
                </a:ln>
                <a:effectLst/>
                <a:uLnTx/>
                <a:uFillTx/>
                <a:ea typeface="华文新魏" panose="02010800040101010101" pitchFamily="2" charset="-122"/>
                <a:sym typeface="+mn-ea"/>
              </a:rPr>
              <a:t>l</a:t>
            </a:r>
            <a:r>
              <a:rPr lang="en-US" altLang="zh-CN" sz="1600" b="1" baseline="-25000" noProof="0" dirty="0">
                <a:ln>
                  <a:noFill/>
                </a:ln>
                <a:effectLst/>
                <a:uLnTx/>
                <a:uFillTx/>
                <a:ea typeface="华文新魏" panose="02010800040101010101" pitchFamily="2" charset="-122"/>
                <a:sym typeface="+mn-ea"/>
              </a:rPr>
              <a:t>AB</a:t>
            </a:r>
            <a:r>
              <a:rPr lang="en-US" altLang="zh-CN" sz="1600" b="1" noProof="0" dirty="0">
                <a:ln>
                  <a:noFill/>
                </a:ln>
                <a:effectLst/>
                <a:uLnTx/>
                <a:uFillTx/>
                <a:ea typeface="华文新魏" panose="02010800040101010101" pitchFamily="2" charset="-122"/>
                <a:sym typeface="+mn-ea"/>
              </a:rPr>
              <a:t>=1</a:t>
            </a:r>
            <a:endParaRPr kumimoji="0" lang="zh-CN" altLang="en-US" sz="16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77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79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79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79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8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8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8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93" grpId="0"/>
      <p:bldP spid="31793" grpId="1"/>
      <p:bldP spid="31794" grpId="0"/>
      <p:bldP spid="31794" grpId="1"/>
      <p:bldP spid="31818" grpId="0"/>
      <p:bldP spid="31818" grpId="1"/>
      <p:bldP spid="31820" grpId="0"/>
      <p:bldP spid="31820" grpId="1"/>
      <p:bldP spid="31821" grpId="0"/>
      <p:bldP spid="31821" grpId="1"/>
      <p:bldP spid="78" grpId="0" animBg="1"/>
      <p:bldP spid="78" grpId="1" animBg="1"/>
      <p:bldP spid="2" grpId="0" bldLvl="0" animBg="1"/>
      <p:bldP spid="2" grpId="1" animBg="1"/>
      <p:bldP spid="3" grpId="0"/>
      <p:bldP spid="3" grpId="1"/>
      <p:bldP spid="4" grpId="0"/>
      <p:bldP spid="4" grpId="1"/>
      <p:bldP spid="5" grpId="0" animBg="1"/>
      <p:bldP spid="5"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3"/>
          <p:cNvSpPr>
            <a:spLocks noGrp="1"/>
          </p:cNvSpPr>
          <p:nvPr>
            <p:ph type="title"/>
          </p:nvPr>
        </p:nvSpPr>
        <p:spPr>
          <a:xfrm>
            <a:off x="755650" y="413385"/>
            <a:ext cx="3521075" cy="539750"/>
          </a:xfrm>
          <a:prstGeom prst="rect">
            <a:avLst/>
          </a:prstGeom>
          <a:noFill/>
          <a:ln w="9525">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⑷ </a:t>
            </a:r>
            <a:r>
              <a:rPr lang="zh-CN" altLang="en-US" sz="2000" b="1" dirty="0">
                <a:latin typeface="华文新魏" panose="02010800040101010101" pitchFamily="2" charset="-122"/>
                <a:ea typeface="华文新魏" panose="02010800040101010101" pitchFamily="2" charset="-122"/>
              </a:rPr>
              <a:t>确定</a:t>
            </a:r>
            <a:r>
              <a:rPr lang="zh-CN" altLang="en-US" sz="2000" b="1" dirty="0">
                <a:solidFill>
                  <a:srgbClr val="FF0000"/>
                </a:solidFill>
                <a:latin typeface="华文新魏" panose="02010800040101010101" pitchFamily="2" charset="-122"/>
                <a:ea typeface="华文新魏" panose="02010800040101010101" pitchFamily="2" charset="-122"/>
              </a:rPr>
              <a:t>控制函数、时钟函数及输出函数</a:t>
            </a:r>
          </a:p>
        </p:txBody>
      </p:sp>
      <p:sp>
        <p:nvSpPr>
          <p:cNvPr id="124931" name="Rectangle 4"/>
          <p:cNvSpPr>
            <a:spLocks noGrp="1"/>
          </p:cNvSpPr>
          <p:nvPr>
            <p:ph type="body"/>
          </p:nvPr>
        </p:nvSpPr>
        <p:spPr>
          <a:xfrm>
            <a:off x="681038" y="627380"/>
            <a:ext cx="3403600" cy="1619250"/>
          </a:xfrm>
          <a:prstGeom prst="rect">
            <a:avLst/>
          </a:prstGeom>
          <a:noFill/>
          <a:ln w="9525">
            <a:noFill/>
          </a:ln>
        </p:spPr>
        <p:txBody>
          <a:bodyPr/>
          <a:lstStyle/>
          <a:p>
            <a:pPr eaLnBrk="1" hangingPunct="1">
              <a:buNone/>
            </a:pPr>
            <a:endParaRPr lang="en-US" altLang="zh-CN" sz="2000" b="1" dirty="0"/>
          </a:p>
          <a:p>
            <a:pPr eaLnBrk="1" hangingPunct="1">
              <a:buNone/>
            </a:pPr>
            <a:r>
              <a:rPr lang="en-US" altLang="zh-CN" sz="2000" b="1" dirty="0"/>
              <a:t>CLK</a:t>
            </a:r>
            <a:r>
              <a:rPr lang="en-US" altLang="zh-CN" sz="2000" b="1" baseline="-25000" dirty="0"/>
              <a:t>1</a:t>
            </a:r>
            <a:r>
              <a:rPr lang="en-US" altLang="zh-CN" sz="2000" b="1" dirty="0"/>
              <a:t> = x</a:t>
            </a:r>
            <a:r>
              <a:rPr lang="en-US" altLang="zh-CN" sz="2000" b="1" baseline="-25000" dirty="0"/>
              <a:t>2</a:t>
            </a:r>
            <a:r>
              <a:rPr lang="en-US" altLang="zh-CN" sz="2000" b="1" dirty="0"/>
              <a:t>y</a:t>
            </a:r>
            <a:r>
              <a:rPr lang="en-US" altLang="zh-CN" sz="2000" b="1" baseline="-25000" dirty="0"/>
              <a:t>1</a:t>
            </a:r>
            <a:r>
              <a:rPr lang="en-US" altLang="zh-CN" sz="2000" b="1" dirty="0"/>
              <a:t> + x</a:t>
            </a:r>
            <a:r>
              <a:rPr lang="en-US" altLang="zh-CN" sz="2000" b="1" baseline="-25000" dirty="0"/>
              <a:t>1</a:t>
            </a:r>
            <a:r>
              <a:rPr lang="en-US" altLang="zh-CN" sz="2000" b="1" dirty="0"/>
              <a:t>y</a:t>
            </a:r>
            <a:r>
              <a:rPr lang="en-US" altLang="zh-CN" sz="2000" b="1" baseline="-25000" dirty="0"/>
              <a:t>1</a:t>
            </a:r>
            <a:r>
              <a:rPr lang="en-US" altLang="zh-CN" sz="2000" b="1" dirty="0"/>
              <a:t>y</a:t>
            </a:r>
            <a:r>
              <a:rPr lang="en-US" altLang="zh-CN" sz="2000" b="1" baseline="-25000" dirty="0"/>
              <a:t>2        </a:t>
            </a:r>
            <a:r>
              <a:rPr lang="en-US" altLang="zh-CN" sz="2000" b="1" dirty="0"/>
              <a:t>D</a:t>
            </a:r>
            <a:r>
              <a:rPr lang="en-US" altLang="zh-CN" sz="2000" b="1" baseline="-25000" dirty="0"/>
              <a:t>1 </a:t>
            </a:r>
            <a:r>
              <a:rPr lang="en-US" altLang="zh-CN" sz="2000" b="1" dirty="0"/>
              <a:t>= y</a:t>
            </a:r>
            <a:r>
              <a:rPr lang="en-US" altLang="zh-CN" sz="2000" b="1" baseline="-25000" dirty="0"/>
              <a:t>1</a:t>
            </a:r>
          </a:p>
          <a:p>
            <a:pPr eaLnBrk="1" hangingPunct="1">
              <a:buNone/>
            </a:pPr>
            <a:r>
              <a:rPr lang="en-US" altLang="zh-CN" sz="2000" b="1" dirty="0"/>
              <a:t>CLK</a:t>
            </a:r>
            <a:r>
              <a:rPr lang="en-US" altLang="zh-CN" sz="2000" b="1" baseline="-25000" dirty="0"/>
              <a:t>2</a:t>
            </a:r>
            <a:r>
              <a:rPr lang="en-US" altLang="zh-CN" sz="2000" b="1" dirty="0"/>
              <a:t> = x</a:t>
            </a:r>
            <a:r>
              <a:rPr lang="en-US" altLang="zh-CN" sz="2000" b="1" baseline="-25000" dirty="0"/>
              <a:t>2</a:t>
            </a:r>
            <a:r>
              <a:rPr lang="en-US" altLang="zh-CN" sz="2000" b="1" dirty="0"/>
              <a:t>y</a:t>
            </a:r>
            <a:r>
              <a:rPr lang="en-US" altLang="zh-CN" sz="2000" b="1" baseline="-25000" dirty="0"/>
              <a:t>2</a:t>
            </a:r>
            <a:r>
              <a:rPr lang="en-US" altLang="zh-CN" sz="2000" b="1" dirty="0"/>
              <a:t> + x</a:t>
            </a:r>
            <a:r>
              <a:rPr lang="en-US" altLang="zh-CN" sz="2000" b="1" baseline="-25000" dirty="0"/>
              <a:t>1</a:t>
            </a:r>
            <a:r>
              <a:rPr lang="en-US" altLang="zh-CN" sz="2000" b="1" dirty="0"/>
              <a:t>y</a:t>
            </a:r>
            <a:r>
              <a:rPr lang="en-US" altLang="zh-CN" sz="2000" b="1" baseline="-25000" dirty="0"/>
              <a:t>2             </a:t>
            </a:r>
            <a:r>
              <a:rPr lang="en-US" altLang="zh-CN" sz="2000" b="1" dirty="0"/>
              <a:t>D</a:t>
            </a:r>
            <a:r>
              <a:rPr lang="en-US" altLang="zh-CN" sz="2000" b="1" baseline="-25000" dirty="0"/>
              <a:t>2 </a:t>
            </a:r>
            <a:r>
              <a:rPr lang="en-US" altLang="zh-CN" sz="2000" b="1" dirty="0"/>
              <a:t>= y</a:t>
            </a:r>
            <a:r>
              <a:rPr lang="en-US" altLang="zh-CN" sz="2000" b="1" baseline="-25000" dirty="0"/>
              <a:t>2</a:t>
            </a:r>
          </a:p>
          <a:p>
            <a:pPr eaLnBrk="1" hangingPunct="1">
              <a:buNone/>
            </a:pPr>
            <a:r>
              <a:rPr lang="en-US" altLang="zh-CN" sz="2000" b="1" dirty="0"/>
              <a:t>Z = x</a:t>
            </a:r>
            <a:r>
              <a:rPr lang="en-US" altLang="zh-CN" sz="2000" b="1" baseline="-25000" dirty="0"/>
              <a:t>2</a:t>
            </a:r>
            <a:r>
              <a:rPr lang="en-US" altLang="zh-CN" sz="2000" b="1" dirty="0"/>
              <a:t>y</a:t>
            </a:r>
            <a:r>
              <a:rPr lang="en-US" altLang="zh-CN" sz="2000" b="1" baseline="-25000" dirty="0"/>
              <a:t>1</a:t>
            </a:r>
            <a:endParaRPr lang="en-US" altLang="zh-CN" sz="2000" b="1" dirty="0"/>
          </a:p>
        </p:txBody>
      </p:sp>
      <p:graphicFrame>
        <p:nvGraphicFramePr>
          <p:cNvPr id="32772" name="Group 4"/>
          <p:cNvGraphicFramePr>
            <a:graphicFrameLocks noGrp="1"/>
          </p:cNvGraphicFramePr>
          <p:nvPr/>
        </p:nvGraphicFramePr>
        <p:xfrm>
          <a:off x="4379913" y="573088"/>
          <a:ext cx="2638425" cy="1819275"/>
        </p:xfrm>
        <a:graphic>
          <a:graphicData uri="http://schemas.openxmlformats.org/drawingml/2006/table">
            <a:tbl>
              <a:tblPr/>
              <a:tblGrid>
                <a:gridCol w="1108075">
                  <a:extLst>
                    <a:ext uri="{9D8B030D-6E8A-4147-A177-3AD203B41FA5}">
                      <a16:colId xmlns:a16="http://schemas.microsoft.com/office/drawing/2014/main" val="20000"/>
                    </a:ext>
                  </a:extLst>
                </a:gridCol>
                <a:gridCol w="765175">
                  <a:extLst>
                    <a:ext uri="{9D8B030D-6E8A-4147-A177-3AD203B41FA5}">
                      <a16:colId xmlns:a16="http://schemas.microsoft.com/office/drawing/2014/main" val="20001"/>
                    </a:ext>
                  </a:extLst>
                </a:gridCol>
                <a:gridCol w="765175">
                  <a:extLst>
                    <a:ext uri="{9D8B030D-6E8A-4147-A177-3AD203B41FA5}">
                      <a16:colId xmlns:a16="http://schemas.microsoft.com/office/drawing/2014/main" val="20002"/>
                    </a:ext>
                  </a:extLst>
                </a:gridCol>
              </a:tblGrid>
              <a:tr h="3619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0"/>
                  </a:ext>
                </a:extLst>
              </a:tr>
              <a:tr h="4857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857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8577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00/1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124955" name="Text Box 32"/>
          <p:cNvSpPr txBox="1"/>
          <p:nvPr/>
        </p:nvSpPr>
        <p:spPr>
          <a:xfrm>
            <a:off x="4906963" y="458788"/>
            <a:ext cx="1000125" cy="4476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sp>
        <p:nvSpPr>
          <p:cNvPr id="124956" name="Text Box 33"/>
          <p:cNvSpPr txBox="1"/>
          <p:nvPr/>
        </p:nvSpPr>
        <p:spPr>
          <a:xfrm>
            <a:off x="4335463" y="573088"/>
            <a:ext cx="1000125" cy="4476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p>
        </p:txBody>
      </p:sp>
      <p:sp>
        <p:nvSpPr>
          <p:cNvPr id="124957" name="Text Box 34"/>
          <p:cNvSpPr txBox="1"/>
          <p:nvPr/>
        </p:nvSpPr>
        <p:spPr>
          <a:xfrm>
            <a:off x="7042150" y="1946275"/>
            <a:ext cx="1644650" cy="4460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baseline="30000" dirty="0">
                <a:solidFill>
                  <a:schemeClr val="tx1"/>
                </a:solidFill>
                <a:latin typeface="Calibri" panose="020F0502020204030204" pitchFamily="34" charset="0"/>
                <a:ea typeface="n+1"/>
              </a:rPr>
              <a:t>n+1 </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r>
              <a:rPr lang="en-US" altLang="zh-CN" b="1" baseline="30000" dirty="0">
                <a:solidFill>
                  <a:schemeClr val="tx1"/>
                </a:solidFill>
                <a:latin typeface="Calibri" panose="020F0502020204030204" pitchFamily="34" charset="0"/>
                <a:ea typeface="n+1"/>
              </a:rPr>
              <a:t>n+1 </a:t>
            </a:r>
            <a:r>
              <a:rPr lang="en-US" altLang="zh-CN" b="1" dirty="0">
                <a:solidFill>
                  <a:schemeClr val="tx1"/>
                </a:solidFill>
                <a:latin typeface="Calibri" panose="020F0502020204030204" pitchFamily="34" charset="0"/>
                <a:ea typeface="n+1"/>
              </a:rPr>
              <a:t>/Z</a:t>
            </a:r>
          </a:p>
        </p:txBody>
      </p:sp>
      <p:graphicFrame>
        <p:nvGraphicFramePr>
          <p:cNvPr id="32798" name="Group 30"/>
          <p:cNvGraphicFramePr>
            <a:graphicFrameLocks noGrp="1"/>
          </p:cNvGraphicFramePr>
          <p:nvPr/>
        </p:nvGraphicFramePr>
        <p:xfrm>
          <a:off x="969963" y="2458403"/>
          <a:ext cx="1981200" cy="1387794"/>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813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4995" name="Text Box 84"/>
          <p:cNvSpPr txBox="1"/>
          <p:nvPr/>
        </p:nvSpPr>
        <p:spPr>
          <a:xfrm>
            <a:off x="681038" y="2676525"/>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p>
        </p:txBody>
      </p:sp>
      <p:sp>
        <p:nvSpPr>
          <p:cNvPr id="124996" name="Text Box 85"/>
          <p:cNvSpPr txBox="1"/>
          <p:nvPr/>
        </p:nvSpPr>
        <p:spPr>
          <a:xfrm>
            <a:off x="1116013" y="2286000"/>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graphicFrame>
        <p:nvGraphicFramePr>
          <p:cNvPr id="32837" name="Group 69"/>
          <p:cNvGraphicFramePr>
            <a:graphicFrameLocks noGrp="1"/>
          </p:cNvGraphicFramePr>
          <p:nvPr/>
        </p:nvGraphicFramePr>
        <p:xfrm>
          <a:off x="3402013" y="2460625"/>
          <a:ext cx="1981200" cy="1384301"/>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5034" name="Text Box 135"/>
          <p:cNvSpPr txBox="1"/>
          <p:nvPr/>
        </p:nvSpPr>
        <p:spPr>
          <a:xfrm>
            <a:off x="3097213" y="2490788"/>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p>
        </p:txBody>
      </p:sp>
      <p:sp>
        <p:nvSpPr>
          <p:cNvPr id="125035" name="Text Box 136"/>
          <p:cNvSpPr txBox="1"/>
          <p:nvPr/>
        </p:nvSpPr>
        <p:spPr>
          <a:xfrm>
            <a:off x="3554413" y="2286000"/>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graphicFrame>
        <p:nvGraphicFramePr>
          <p:cNvPr id="32876" name="Group 108"/>
          <p:cNvGraphicFramePr>
            <a:graphicFrameLocks noGrp="1"/>
          </p:cNvGraphicFramePr>
          <p:nvPr/>
        </p:nvGraphicFramePr>
        <p:xfrm>
          <a:off x="5992813" y="2889250"/>
          <a:ext cx="1981200" cy="1387477"/>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5073" name="Text Box 186"/>
          <p:cNvSpPr txBox="1"/>
          <p:nvPr/>
        </p:nvSpPr>
        <p:spPr>
          <a:xfrm>
            <a:off x="5688013" y="2921000"/>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p>
        </p:txBody>
      </p:sp>
      <p:sp>
        <p:nvSpPr>
          <p:cNvPr id="125074" name="Text Box 187"/>
          <p:cNvSpPr txBox="1"/>
          <p:nvPr/>
        </p:nvSpPr>
        <p:spPr>
          <a:xfrm>
            <a:off x="6145213" y="2716213"/>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sp>
        <p:nvSpPr>
          <p:cNvPr id="125075" name="Text Box 188"/>
          <p:cNvSpPr txBox="1"/>
          <p:nvPr/>
        </p:nvSpPr>
        <p:spPr>
          <a:xfrm>
            <a:off x="2868613" y="3532188"/>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1</a:t>
            </a:r>
          </a:p>
        </p:txBody>
      </p:sp>
      <p:sp>
        <p:nvSpPr>
          <p:cNvPr id="125076" name="Text Box 189"/>
          <p:cNvSpPr txBox="1"/>
          <p:nvPr/>
        </p:nvSpPr>
        <p:spPr>
          <a:xfrm>
            <a:off x="5383213" y="3543300"/>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2</a:t>
            </a:r>
          </a:p>
        </p:txBody>
      </p:sp>
      <p:sp>
        <p:nvSpPr>
          <p:cNvPr id="125077" name="Text Box 190"/>
          <p:cNvSpPr txBox="1"/>
          <p:nvPr/>
        </p:nvSpPr>
        <p:spPr>
          <a:xfrm>
            <a:off x="8078788" y="3973513"/>
            <a:ext cx="3810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Z</a:t>
            </a:r>
            <a:endParaRPr lang="en-US" altLang="zh-CN" b="1" baseline="-25000" dirty="0">
              <a:solidFill>
                <a:schemeClr val="tx1"/>
              </a:solidFill>
              <a:latin typeface="Calibri" panose="020F0502020204030204" pitchFamily="34" charset="0"/>
            </a:endParaRPr>
          </a:p>
        </p:txBody>
      </p:sp>
      <p:graphicFrame>
        <p:nvGraphicFramePr>
          <p:cNvPr id="32918" name="Group 150"/>
          <p:cNvGraphicFramePr>
            <a:graphicFrameLocks noGrp="1"/>
          </p:cNvGraphicFramePr>
          <p:nvPr/>
        </p:nvGraphicFramePr>
        <p:xfrm>
          <a:off x="963613" y="3716338"/>
          <a:ext cx="1981200" cy="1387477"/>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32954" name="Group 186"/>
          <p:cNvGraphicFramePr>
            <a:graphicFrameLocks noGrp="1"/>
          </p:cNvGraphicFramePr>
          <p:nvPr/>
        </p:nvGraphicFramePr>
        <p:xfrm>
          <a:off x="3402013" y="3717925"/>
          <a:ext cx="1981200" cy="1384301"/>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9900"/>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5150" name="Text Box 287"/>
          <p:cNvSpPr txBox="1"/>
          <p:nvPr/>
        </p:nvSpPr>
        <p:spPr>
          <a:xfrm>
            <a:off x="2868613" y="4789488"/>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1</a:t>
            </a:r>
          </a:p>
        </p:txBody>
      </p:sp>
      <p:sp>
        <p:nvSpPr>
          <p:cNvPr id="125151" name="Text Box 288"/>
          <p:cNvSpPr txBox="1"/>
          <p:nvPr/>
        </p:nvSpPr>
        <p:spPr>
          <a:xfrm>
            <a:off x="5383213" y="4800600"/>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2</a:t>
            </a:r>
          </a:p>
        </p:txBody>
      </p:sp>
      <p:sp>
        <p:nvSpPr>
          <p:cNvPr id="125152" name="Rectangle 289"/>
          <p:cNvSpPr/>
          <p:nvPr/>
        </p:nvSpPr>
        <p:spPr>
          <a:xfrm>
            <a:off x="1801813" y="3314700"/>
            <a:ext cx="647700" cy="485775"/>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5153" name="Rectangle 290"/>
          <p:cNvSpPr/>
          <p:nvPr/>
        </p:nvSpPr>
        <p:spPr>
          <a:xfrm>
            <a:off x="4278313" y="3028950"/>
            <a:ext cx="647700" cy="485775"/>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5154" name="Rectangle 291"/>
          <p:cNvSpPr/>
          <p:nvPr/>
        </p:nvSpPr>
        <p:spPr>
          <a:xfrm>
            <a:off x="6850063" y="3744913"/>
            <a:ext cx="647700" cy="485775"/>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5155" name="Rectangle 292"/>
          <p:cNvSpPr/>
          <p:nvPr/>
        </p:nvSpPr>
        <p:spPr>
          <a:xfrm>
            <a:off x="2220913" y="3028950"/>
            <a:ext cx="647700" cy="242888"/>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5156" name="Rectangle 293"/>
          <p:cNvSpPr/>
          <p:nvPr/>
        </p:nvSpPr>
        <p:spPr>
          <a:xfrm>
            <a:off x="1420813" y="4029075"/>
            <a:ext cx="1439862" cy="485775"/>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125157" name="Group 309"/>
          <p:cNvGrpSpPr/>
          <p:nvPr/>
        </p:nvGrpSpPr>
        <p:grpSpPr>
          <a:xfrm>
            <a:off x="3859213" y="3975100"/>
            <a:ext cx="1447800" cy="225425"/>
            <a:chOff x="0" y="0"/>
            <a:chExt cx="912" cy="144"/>
          </a:xfrm>
        </p:grpSpPr>
        <p:sp>
          <p:nvSpPr>
            <p:cNvPr id="125179" name="Line 298"/>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5180" name="Line 307"/>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5181" name="Line 308"/>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5158" name="Group 314"/>
          <p:cNvGrpSpPr/>
          <p:nvPr/>
        </p:nvGrpSpPr>
        <p:grpSpPr>
          <a:xfrm>
            <a:off x="3859213" y="4875213"/>
            <a:ext cx="1447800" cy="225425"/>
            <a:chOff x="0" y="0"/>
            <a:chExt cx="912" cy="190"/>
          </a:xfrm>
        </p:grpSpPr>
        <p:sp>
          <p:nvSpPr>
            <p:cNvPr id="125176" name="Line 311"/>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5177" name="Line 312"/>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5178" name="Line 313"/>
            <p:cNvSpPr/>
            <p:nvPr/>
          </p:nvSpPr>
          <p:spPr>
            <a:xfrm>
              <a:off x="912" y="0"/>
              <a:ext cx="0" cy="190"/>
            </a:xfrm>
            <a:prstGeom prst="line">
              <a:avLst/>
            </a:prstGeom>
            <a:ln w="28575" cap="flat" cmpd="sng">
              <a:solidFill>
                <a:srgbClr val="FF33CC"/>
              </a:solidFill>
              <a:prstDash val="solid"/>
              <a:headEnd type="none" w="med" len="med"/>
              <a:tailEnd type="none" w="med" len="med"/>
            </a:ln>
          </p:spPr>
        </p:sp>
      </p:grpSp>
      <p:grpSp>
        <p:nvGrpSpPr>
          <p:cNvPr id="125159" name="Group 315"/>
          <p:cNvGrpSpPr/>
          <p:nvPr/>
        </p:nvGrpSpPr>
        <p:grpSpPr>
          <a:xfrm>
            <a:off x="4625975" y="2714625"/>
            <a:ext cx="719138" cy="227013"/>
            <a:chOff x="0" y="0"/>
            <a:chExt cx="912" cy="144"/>
          </a:xfrm>
        </p:grpSpPr>
        <p:sp>
          <p:nvSpPr>
            <p:cNvPr id="125173" name="Line 316"/>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5174" name="Line 317"/>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5175" name="Line 318"/>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5160" name="Group 319"/>
          <p:cNvGrpSpPr/>
          <p:nvPr/>
        </p:nvGrpSpPr>
        <p:grpSpPr>
          <a:xfrm>
            <a:off x="4625975" y="3614738"/>
            <a:ext cx="719138" cy="227012"/>
            <a:chOff x="0" y="0"/>
            <a:chExt cx="912" cy="190"/>
          </a:xfrm>
        </p:grpSpPr>
        <p:sp>
          <p:nvSpPr>
            <p:cNvPr id="125170" name="Line 320"/>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5171" name="Line 321"/>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5172" name="Line 322"/>
            <p:cNvSpPr/>
            <p:nvPr/>
          </p:nvSpPr>
          <p:spPr>
            <a:xfrm>
              <a:off x="912" y="0"/>
              <a:ext cx="0" cy="190"/>
            </a:xfrm>
            <a:prstGeom prst="line">
              <a:avLst/>
            </a:prstGeom>
            <a:ln w="28575" cap="flat" cmpd="sng">
              <a:solidFill>
                <a:srgbClr val="FF33CC"/>
              </a:solidFill>
              <a:prstDash val="solid"/>
              <a:headEnd type="none" w="med" len="med"/>
              <a:tailEnd type="none" w="med" len="med"/>
            </a:ln>
          </p:spPr>
        </p:sp>
      </p:grpSp>
      <p:grpSp>
        <p:nvGrpSpPr>
          <p:cNvPr id="3" name="组合 2"/>
          <p:cNvGrpSpPr/>
          <p:nvPr/>
        </p:nvGrpSpPr>
        <p:grpSpPr>
          <a:xfrm>
            <a:off x="2339975" y="1051560"/>
            <a:ext cx="1315085" cy="386715"/>
            <a:chOff x="3753" y="2053"/>
            <a:chExt cx="2071" cy="609"/>
          </a:xfrm>
        </p:grpSpPr>
        <p:sp>
          <p:nvSpPr>
            <p:cNvPr id="125161" name="Line 323"/>
            <p:cNvSpPr/>
            <p:nvPr/>
          </p:nvSpPr>
          <p:spPr>
            <a:xfrm>
              <a:off x="3753" y="2660"/>
              <a:ext cx="225" cy="0"/>
            </a:xfrm>
            <a:prstGeom prst="line">
              <a:avLst/>
            </a:prstGeom>
            <a:ln w="19050" cap="flat" cmpd="sng">
              <a:solidFill>
                <a:schemeClr val="tx1"/>
              </a:solidFill>
              <a:prstDash val="solid"/>
              <a:headEnd type="none" w="med" len="med"/>
              <a:tailEnd type="none" w="med" len="med"/>
            </a:ln>
          </p:spPr>
        </p:sp>
        <p:sp>
          <p:nvSpPr>
            <p:cNvPr id="125162" name="Line 325"/>
            <p:cNvSpPr/>
            <p:nvPr/>
          </p:nvSpPr>
          <p:spPr>
            <a:xfrm flipV="1">
              <a:off x="3753" y="2053"/>
              <a:ext cx="225" cy="2"/>
            </a:xfrm>
            <a:prstGeom prst="line">
              <a:avLst/>
            </a:prstGeom>
            <a:ln w="19050" cap="flat" cmpd="sng">
              <a:solidFill>
                <a:schemeClr val="tx1"/>
              </a:solidFill>
              <a:prstDash val="solid"/>
              <a:headEnd type="none" w="med" len="med"/>
              <a:tailEnd type="none" w="med" len="med"/>
            </a:ln>
          </p:spPr>
        </p:sp>
        <p:sp>
          <p:nvSpPr>
            <p:cNvPr id="125163" name="Line 324"/>
            <p:cNvSpPr/>
            <p:nvPr/>
          </p:nvSpPr>
          <p:spPr>
            <a:xfrm>
              <a:off x="5598" y="2660"/>
              <a:ext cx="227" cy="3"/>
            </a:xfrm>
            <a:prstGeom prst="line">
              <a:avLst/>
            </a:prstGeom>
            <a:ln w="19050" cap="flat" cmpd="sng">
              <a:solidFill>
                <a:schemeClr val="tx1"/>
              </a:solidFill>
              <a:prstDash val="solid"/>
              <a:headEnd type="none" w="med" len="med"/>
              <a:tailEnd type="none" w="med" len="med"/>
            </a:ln>
          </p:spPr>
        </p:sp>
        <p:sp>
          <p:nvSpPr>
            <p:cNvPr id="125164" name="Line 326"/>
            <p:cNvSpPr/>
            <p:nvPr/>
          </p:nvSpPr>
          <p:spPr>
            <a:xfrm>
              <a:off x="5598" y="2053"/>
              <a:ext cx="227" cy="2"/>
            </a:xfrm>
            <a:prstGeom prst="line">
              <a:avLst/>
            </a:prstGeom>
            <a:ln w="19050" cap="flat" cmpd="sng">
              <a:solidFill>
                <a:schemeClr val="tx1"/>
              </a:solidFill>
              <a:prstDash val="solid"/>
              <a:headEnd type="none" w="med" len="med"/>
              <a:tailEnd type="none" w="med" len="med"/>
            </a:ln>
          </p:spPr>
        </p:sp>
      </p:grpSp>
      <p:cxnSp>
        <p:nvCxnSpPr>
          <p:cNvPr id="125165" name="直接连接符 2"/>
          <p:cNvCxnSpPr/>
          <p:nvPr/>
        </p:nvCxnSpPr>
        <p:spPr>
          <a:xfrm flipH="1" flipV="1">
            <a:off x="947738" y="2476500"/>
            <a:ext cx="15875" cy="14288"/>
          </a:xfrm>
          <a:prstGeom prst="line">
            <a:avLst/>
          </a:prstGeom>
          <a:ln w="9525" cap="flat" cmpd="sng">
            <a:solidFill>
              <a:schemeClr val="tx1"/>
            </a:solidFill>
            <a:prstDash val="solid"/>
            <a:headEnd type="none" w="med" len="med"/>
            <a:tailEnd type="none" w="med" len="med"/>
          </a:ln>
        </p:spPr>
      </p:cxnSp>
      <p:cxnSp>
        <p:nvCxnSpPr>
          <p:cNvPr id="125166" name="直接连接符 4"/>
          <p:cNvCxnSpPr/>
          <p:nvPr/>
        </p:nvCxnSpPr>
        <p:spPr>
          <a:xfrm flipH="1" flipV="1">
            <a:off x="963613" y="2460625"/>
            <a:ext cx="400050" cy="273050"/>
          </a:xfrm>
          <a:prstGeom prst="line">
            <a:avLst/>
          </a:prstGeom>
          <a:ln w="12700" cap="flat" cmpd="sng">
            <a:solidFill>
              <a:schemeClr val="tx1"/>
            </a:solidFill>
            <a:prstDash val="solid"/>
            <a:headEnd type="none" w="med" len="med"/>
            <a:tailEnd type="none" w="med" len="med"/>
          </a:ln>
        </p:spPr>
      </p:cxnSp>
      <p:cxnSp>
        <p:nvCxnSpPr>
          <p:cNvPr id="125167" name="直接连接符 52"/>
          <p:cNvCxnSpPr/>
          <p:nvPr/>
        </p:nvCxnSpPr>
        <p:spPr>
          <a:xfrm flipH="1" flipV="1">
            <a:off x="3405188" y="2471738"/>
            <a:ext cx="400050" cy="273050"/>
          </a:xfrm>
          <a:prstGeom prst="line">
            <a:avLst/>
          </a:prstGeom>
          <a:ln w="12700" cap="flat" cmpd="sng">
            <a:solidFill>
              <a:schemeClr val="tx1"/>
            </a:solidFill>
            <a:prstDash val="solid"/>
            <a:headEnd type="none" w="med" len="med"/>
            <a:tailEnd type="none" w="med" len="med"/>
          </a:ln>
        </p:spPr>
      </p:cxnSp>
      <p:cxnSp>
        <p:nvCxnSpPr>
          <p:cNvPr id="125168" name="直接连接符 53"/>
          <p:cNvCxnSpPr/>
          <p:nvPr/>
        </p:nvCxnSpPr>
        <p:spPr>
          <a:xfrm flipH="1" flipV="1">
            <a:off x="5989638" y="2895600"/>
            <a:ext cx="400050" cy="273050"/>
          </a:xfrm>
          <a:prstGeom prst="line">
            <a:avLst/>
          </a:prstGeom>
          <a:ln w="12700" cap="flat" cmpd="sng">
            <a:solidFill>
              <a:schemeClr val="tx1"/>
            </a:solidFill>
            <a:prstDash val="solid"/>
            <a:headEnd type="none" w="med" len="med"/>
            <a:tailEnd type="none" w="med" len="med"/>
          </a:ln>
        </p:spPr>
      </p:cxnSp>
      <p:sp>
        <p:nvSpPr>
          <p:cNvPr id="2" name="文本框 1"/>
          <p:cNvSpPr txBox="1"/>
          <p:nvPr/>
        </p:nvSpPr>
        <p:spPr>
          <a:xfrm>
            <a:off x="7464425" y="528638"/>
            <a:ext cx="1644650" cy="1322070"/>
          </a:xfrm>
          <a:prstGeom prst="rect">
            <a:avLst/>
          </a:prstGeom>
          <a:noFill/>
          <a:ln w="9525">
            <a:noFill/>
          </a:ln>
        </p:spPr>
        <p:txBody>
          <a:bodyPr>
            <a:spAutoFit/>
          </a:bodyPr>
          <a:lstStyle/>
          <a:p>
            <a:r>
              <a:rPr lang="zh-CN" altLang="en-US" b="1" dirty="0">
                <a:solidFill>
                  <a:srgbClr val="FF0000"/>
                </a:solidFill>
                <a:latin typeface="华文新魏" panose="02010800040101010101" pitchFamily="2" charset="-122"/>
                <a:ea typeface="华文新魏" panose="02010800040101010101" pitchFamily="2" charset="-122"/>
              </a:rPr>
              <a:t>要扩充二进制状态表，使其与卡若图相关联！</a:t>
            </a:r>
          </a:p>
        </p:txBody>
      </p:sp>
      <p:sp>
        <p:nvSpPr>
          <p:cNvPr id="4" name="文本框 3"/>
          <p:cNvSpPr txBox="1"/>
          <p:nvPr/>
        </p:nvSpPr>
        <p:spPr>
          <a:xfrm>
            <a:off x="6470015" y="4637405"/>
            <a:ext cx="2070735" cy="398780"/>
          </a:xfrm>
          <a:prstGeom prst="rect">
            <a:avLst/>
          </a:prstGeom>
          <a:noFill/>
        </p:spPr>
        <p:txBody>
          <a:bodyPr wrap="square" rtlCol="0">
            <a:spAutoFit/>
          </a:bodyPr>
          <a:lstStyle/>
          <a:p>
            <a:r>
              <a:rPr lang="zh-CN" altLang="en-US">
                <a:solidFill>
                  <a:schemeClr val="tx1"/>
                </a:solidFill>
                <a:latin typeface="华文新魏" panose="02010800040101010101" pitchFamily="2" charset="-122"/>
                <a:ea typeface="华文新魏" panose="02010800040101010101" pitchFamily="2" charset="-122"/>
                <a:cs typeface="华文新魏" panose="02010800040101010101" pitchFamily="2" charset="-122"/>
              </a:rPr>
              <a:t>采用</a:t>
            </a:r>
            <a:r>
              <a:rPr lang="en-US" altLang="zh-CN">
                <a:solidFill>
                  <a:schemeClr val="tx1"/>
                </a:solidFill>
                <a:latin typeface="华文新魏" panose="02010800040101010101" pitchFamily="2" charset="-122"/>
                <a:ea typeface="华文新魏" panose="02010800040101010101" pitchFamily="2" charset="-122"/>
                <a:cs typeface="华文新魏" panose="02010800040101010101" pitchFamily="2" charset="-122"/>
              </a:rPr>
              <a:t>D</a:t>
            </a:r>
            <a:r>
              <a:rPr lang="zh-CN" altLang="en-US">
                <a:solidFill>
                  <a:schemeClr val="tx1"/>
                </a:solidFill>
                <a:latin typeface="华文新魏" panose="02010800040101010101" pitchFamily="2" charset="-122"/>
                <a:ea typeface="华文新魏" panose="02010800040101010101" pitchFamily="2" charset="-122"/>
                <a:cs typeface="华文新魏" panose="02010800040101010101" pitchFamily="2" charset="-122"/>
              </a:rPr>
              <a:t>触发器</a:t>
            </a:r>
          </a:p>
        </p:txBody>
      </p:sp>
      <p:sp>
        <p:nvSpPr>
          <p:cNvPr id="56" name="文本框 55"/>
          <p:cNvSpPr txBox="1"/>
          <p:nvPr/>
        </p:nvSpPr>
        <p:spPr>
          <a:xfrm>
            <a:off x="5679758" y="163513"/>
            <a:ext cx="454660" cy="368300"/>
          </a:xfrm>
          <a:prstGeom prst="rect">
            <a:avLst/>
          </a:prstGeom>
          <a:noFill/>
        </p:spPr>
        <p:txBody>
          <a:bodyPr wrap="square" rtlCol="0">
            <a:spAutoFit/>
          </a:bodyPr>
          <a:lstStyle/>
          <a:p>
            <a:r>
              <a:rPr lang="en-US" altLang="zh-CN" sz="1800" dirty="0">
                <a:solidFill>
                  <a:schemeClr val="tx1"/>
                </a:solidFill>
                <a:highlight>
                  <a:srgbClr val="FFFF00"/>
                </a:highlight>
                <a:latin typeface="华文新魏" panose="02010800040101010101" pitchFamily="2" charset="-122"/>
                <a:ea typeface="华文新魏" panose="02010800040101010101" pitchFamily="2" charset="-122"/>
              </a:rPr>
              <a:t>10</a:t>
            </a:r>
          </a:p>
        </p:txBody>
      </p:sp>
      <p:sp>
        <p:nvSpPr>
          <p:cNvPr id="57" name="文本框 56"/>
          <p:cNvSpPr txBox="1"/>
          <p:nvPr/>
        </p:nvSpPr>
        <p:spPr>
          <a:xfrm>
            <a:off x="6326188" y="163513"/>
            <a:ext cx="454660" cy="368300"/>
          </a:xfrm>
          <a:prstGeom prst="rect">
            <a:avLst/>
          </a:prstGeom>
          <a:noFill/>
        </p:spPr>
        <p:txBody>
          <a:bodyPr wrap="square" rtlCol="0">
            <a:spAutoFit/>
          </a:bodyPr>
          <a:lstStyle/>
          <a:p>
            <a:r>
              <a:rPr lang="en-US" altLang="zh-CN" sz="1800" dirty="0">
                <a:solidFill>
                  <a:schemeClr val="tx1"/>
                </a:solidFill>
                <a:highlight>
                  <a:srgbClr val="FFFF00"/>
                </a:highlight>
                <a:latin typeface="华文新魏" panose="02010800040101010101" pitchFamily="2" charset="-122"/>
                <a:ea typeface="华文新魏" panose="02010800040101010101" pitchFamily="2" charset="-122"/>
              </a:rPr>
              <a:t>01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2798"/>
                                        </p:tgtEl>
                                        <p:attrNameLst>
                                          <p:attrName>style.visibility</p:attrName>
                                        </p:attrNameLst>
                                      </p:cBhvr>
                                      <p:to>
                                        <p:strVal val="visible"/>
                                      </p:to>
                                    </p:set>
                                    <p:animEffect transition="in" filter="blinds(horizontal)">
                                      <p:cBhvr>
                                        <p:cTn id="21" dur="500"/>
                                        <p:tgtEl>
                                          <p:spTgt spid="3279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24995"/>
                                        </p:tgtEl>
                                        <p:attrNameLst>
                                          <p:attrName>style.visibility</p:attrName>
                                        </p:attrNameLst>
                                      </p:cBhvr>
                                      <p:to>
                                        <p:strVal val="visible"/>
                                      </p:to>
                                    </p:set>
                                    <p:animEffect transition="in" filter="blinds(horizontal)">
                                      <p:cBhvr>
                                        <p:cTn id="24" dur="500"/>
                                        <p:tgtEl>
                                          <p:spTgt spid="124995"/>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24996"/>
                                        </p:tgtEl>
                                        <p:attrNameLst>
                                          <p:attrName>style.visibility</p:attrName>
                                        </p:attrNameLst>
                                      </p:cBhvr>
                                      <p:to>
                                        <p:strVal val="visible"/>
                                      </p:to>
                                    </p:set>
                                    <p:animEffect transition="in" filter="blinds(horizontal)">
                                      <p:cBhvr>
                                        <p:cTn id="27" dur="500"/>
                                        <p:tgtEl>
                                          <p:spTgt spid="124996"/>
                                        </p:tgtEl>
                                      </p:cBhvr>
                                    </p:animEffect>
                                  </p:childTnLst>
                                </p:cTn>
                              </p:par>
                              <p:par>
                                <p:cTn id="28" presetID="3" presetClass="entr" presetSubtype="10" fill="hold" nodeType="withEffect">
                                  <p:stCondLst>
                                    <p:cond delay="0"/>
                                  </p:stCondLst>
                                  <p:childTnLst>
                                    <p:set>
                                      <p:cBhvr>
                                        <p:cTn id="29" dur="1" fill="hold">
                                          <p:stCondLst>
                                            <p:cond delay="0"/>
                                          </p:stCondLst>
                                        </p:cTn>
                                        <p:tgtEl>
                                          <p:spTgt spid="32837"/>
                                        </p:tgtEl>
                                        <p:attrNameLst>
                                          <p:attrName>style.visibility</p:attrName>
                                        </p:attrNameLst>
                                      </p:cBhvr>
                                      <p:to>
                                        <p:strVal val="visible"/>
                                      </p:to>
                                    </p:set>
                                    <p:animEffect transition="in" filter="blinds(horizontal)">
                                      <p:cBhvr>
                                        <p:cTn id="30" dur="500"/>
                                        <p:tgtEl>
                                          <p:spTgt spid="32837"/>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25034"/>
                                        </p:tgtEl>
                                        <p:attrNameLst>
                                          <p:attrName>style.visibility</p:attrName>
                                        </p:attrNameLst>
                                      </p:cBhvr>
                                      <p:to>
                                        <p:strVal val="visible"/>
                                      </p:to>
                                    </p:set>
                                    <p:animEffect transition="in" filter="blinds(horizontal)">
                                      <p:cBhvr>
                                        <p:cTn id="33" dur="500"/>
                                        <p:tgtEl>
                                          <p:spTgt spid="125034"/>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25035"/>
                                        </p:tgtEl>
                                        <p:attrNameLst>
                                          <p:attrName>style.visibility</p:attrName>
                                        </p:attrNameLst>
                                      </p:cBhvr>
                                      <p:to>
                                        <p:strVal val="visible"/>
                                      </p:to>
                                    </p:set>
                                    <p:animEffect transition="in" filter="blinds(horizontal)">
                                      <p:cBhvr>
                                        <p:cTn id="36" dur="500"/>
                                        <p:tgtEl>
                                          <p:spTgt spid="125035"/>
                                        </p:tgtEl>
                                      </p:cBhvr>
                                    </p:animEffect>
                                  </p:childTnLst>
                                </p:cTn>
                              </p:par>
                              <p:par>
                                <p:cTn id="37" presetID="3" presetClass="entr" presetSubtype="10" fill="hold" nodeType="withEffect">
                                  <p:stCondLst>
                                    <p:cond delay="0"/>
                                  </p:stCondLst>
                                  <p:childTnLst>
                                    <p:set>
                                      <p:cBhvr>
                                        <p:cTn id="38" dur="1" fill="hold">
                                          <p:stCondLst>
                                            <p:cond delay="0"/>
                                          </p:stCondLst>
                                        </p:cTn>
                                        <p:tgtEl>
                                          <p:spTgt spid="32876"/>
                                        </p:tgtEl>
                                        <p:attrNameLst>
                                          <p:attrName>style.visibility</p:attrName>
                                        </p:attrNameLst>
                                      </p:cBhvr>
                                      <p:to>
                                        <p:strVal val="visible"/>
                                      </p:to>
                                    </p:set>
                                    <p:animEffect transition="in" filter="blinds(horizontal)">
                                      <p:cBhvr>
                                        <p:cTn id="39" dur="500"/>
                                        <p:tgtEl>
                                          <p:spTgt spid="32876"/>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25073"/>
                                        </p:tgtEl>
                                        <p:attrNameLst>
                                          <p:attrName>style.visibility</p:attrName>
                                        </p:attrNameLst>
                                      </p:cBhvr>
                                      <p:to>
                                        <p:strVal val="visible"/>
                                      </p:to>
                                    </p:set>
                                    <p:animEffect transition="in" filter="blinds(horizontal)">
                                      <p:cBhvr>
                                        <p:cTn id="42" dur="500"/>
                                        <p:tgtEl>
                                          <p:spTgt spid="125073"/>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25074"/>
                                        </p:tgtEl>
                                        <p:attrNameLst>
                                          <p:attrName>style.visibility</p:attrName>
                                        </p:attrNameLst>
                                      </p:cBhvr>
                                      <p:to>
                                        <p:strVal val="visible"/>
                                      </p:to>
                                    </p:set>
                                    <p:animEffect transition="in" filter="blinds(horizontal)">
                                      <p:cBhvr>
                                        <p:cTn id="45" dur="500"/>
                                        <p:tgtEl>
                                          <p:spTgt spid="125074"/>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25075"/>
                                        </p:tgtEl>
                                        <p:attrNameLst>
                                          <p:attrName>style.visibility</p:attrName>
                                        </p:attrNameLst>
                                      </p:cBhvr>
                                      <p:to>
                                        <p:strVal val="visible"/>
                                      </p:to>
                                    </p:set>
                                    <p:animEffect transition="in" filter="blinds(horizontal)">
                                      <p:cBhvr>
                                        <p:cTn id="48" dur="500"/>
                                        <p:tgtEl>
                                          <p:spTgt spid="125075"/>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25076"/>
                                        </p:tgtEl>
                                        <p:attrNameLst>
                                          <p:attrName>style.visibility</p:attrName>
                                        </p:attrNameLst>
                                      </p:cBhvr>
                                      <p:to>
                                        <p:strVal val="visible"/>
                                      </p:to>
                                    </p:set>
                                    <p:animEffect transition="in" filter="blinds(horizontal)">
                                      <p:cBhvr>
                                        <p:cTn id="51" dur="500"/>
                                        <p:tgtEl>
                                          <p:spTgt spid="125076"/>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25077"/>
                                        </p:tgtEl>
                                        <p:attrNameLst>
                                          <p:attrName>style.visibility</p:attrName>
                                        </p:attrNameLst>
                                      </p:cBhvr>
                                      <p:to>
                                        <p:strVal val="visible"/>
                                      </p:to>
                                    </p:set>
                                    <p:animEffect transition="in" filter="blinds(horizontal)">
                                      <p:cBhvr>
                                        <p:cTn id="54" dur="500"/>
                                        <p:tgtEl>
                                          <p:spTgt spid="125077"/>
                                        </p:tgtEl>
                                      </p:cBhvr>
                                    </p:animEffect>
                                  </p:childTnLst>
                                </p:cTn>
                              </p:par>
                              <p:par>
                                <p:cTn id="55" presetID="3" presetClass="entr" presetSubtype="10" fill="hold" nodeType="withEffect">
                                  <p:stCondLst>
                                    <p:cond delay="0"/>
                                  </p:stCondLst>
                                  <p:childTnLst>
                                    <p:set>
                                      <p:cBhvr>
                                        <p:cTn id="56" dur="1" fill="hold">
                                          <p:stCondLst>
                                            <p:cond delay="0"/>
                                          </p:stCondLst>
                                        </p:cTn>
                                        <p:tgtEl>
                                          <p:spTgt spid="32918"/>
                                        </p:tgtEl>
                                        <p:attrNameLst>
                                          <p:attrName>style.visibility</p:attrName>
                                        </p:attrNameLst>
                                      </p:cBhvr>
                                      <p:to>
                                        <p:strVal val="visible"/>
                                      </p:to>
                                    </p:set>
                                    <p:animEffect transition="in" filter="blinds(horizontal)">
                                      <p:cBhvr>
                                        <p:cTn id="57" dur="500"/>
                                        <p:tgtEl>
                                          <p:spTgt spid="32918"/>
                                        </p:tgtEl>
                                      </p:cBhvr>
                                    </p:animEffect>
                                  </p:childTnLst>
                                </p:cTn>
                              </p:par>
                              <p:par>
                                <p:cTn id="58" presetID="3" presetClass="entr" presetSubtype="10" fill="hold" nodeType="withEffect">
                                  <p:stCondLst>
                                    <p:cond delay="0"/>
                                  </p:stCondLst>
                                  <p:childTnLst>
                                    <p:set>
                                      <p:cBhvr>
                                        <p:cTn id="59" dur="1" fill="hold">
                                          <p:stCondLst>
                                            <p:cond delay="0"/>
                                          </p:stCondLst>
                                        </p:cTn>
                                        <p:tgtEl>
                                          <p:spTgt spid="32954"/>
                                        </p:tgtEl>
                                        <p:attrNameLst>
                                          <p:attrName>style.visibility</p:attrName>
                                        </p:attrNameLst>
                                      </p:cBhvr>
                                      <p:to>
                                        <p:strVal val="visible"/>
                                      </p:to>
                                    </p:set>
                                    <p:animEffect transition="in" filter="blinds(horizontal)">
                                      <p:cBhvr>
                                        <p:cTn id="60" dur="500"/>
                                        <p:tgtEl>
                                          <p:spTgt spid="32954"/>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125150"/>
                                        </p:tgtEl>
                                        <p:attrNameLst>
                                          <p:attrName>style.visibility</p:attrName>
                                        </p:attrNameLst>
                                      </p:cBhvr>
                                      <p:to>
                                        <p:strVal val="visible"/>
                                      </p:to>
                                    </p:set>
                                    <p:animEffect transition="in" filter="blinds(horizontal)">
                                      <p:cBhvr>
                                        <p:cTn id="63" dur="500"/>
                                        <p:tgtEl>
                                          <p:spTgt spid="125150"/>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125151"/>
                                        </p:tgtEl>
                                        <p:attrNameLst>
                                          <p:attrName>style.visibility</p:attrName>
                                        </p:attrNameLst>
                                      </p:cBhvr>
                                      <p:to>
                                        <p:strVal val="visible"/>
                                      </p:to>
                                    </p:set>
                                    <p:animEffect transition="in" filter="blinds(horizontal)">
                                      <p:cBhvr>
                                        <p:cTn id="66" dur="500"/>
                                        <p:tgtEl>
                                          <p:spTgt spid="125151"/>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125152"/>
                                        </p:tgtEl>
                                        <p:attrNameLst>
                                          <p:attrName>style.visibility</p:attrName>
                                        </p:attrNameLst>
                                      </p:cBhvr>
                                      <p:to>
                                        <p:strVal val="visible"/>
                                      </p:to>
                                    </p:set>
                                    <p:animEffect transition="in" filter="blinds(horizontal)">
                                      <p:cBhvr>
                                        <p:cTn id="69" dur="500"/>
                                        <p:tgtEl>
                                          <p:spTgt spid="125152"/>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25153"/>
                                        </p:tgtEl>
                                        <p:attrNameLst>
                                          <p:attrName>style.visibility</p:attrName>
                                        </p:attrNameLst>
                                      </p:cBhvr>
                                      <p:to>
                                        <p:strVal val="visible"/>
                                      </p:to>
                                    </p:set>
                                    <p:animEffect transition="in" filter="blinds(horizontal)">
                                      <p:cBhvr>
                                        <p:cTn id="72" dur="500"/>
                                        <p:tgtEl>
                                          <p:spTgt spid="125153"/>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125154"/>
                                        </p:tgtEl>
                                        <p:attrNameLst>
                                          <p:attrName>style.visibility</p:attrName>
                                        </p:attrNameLst>
                                      </p:cBhvr>
                                      <p:to>
                                        <p:strVal val="visible"/>
                                      </p:to>
                                    </p:set>
                                    <p:animEffect transition="in" filter="blinds(horizontal)">
                                      <p:cBhvr>
                                        <p:cTn id="75" dur="500"/>
                                        <p:tgtEl>
                                          <p:spTgt spid="125154"/>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125155"/>
                                        </p:tgtEl>
                                        <p:attrNameLst>
                                          <p:attrName>style.visibility</p:attrName>
                                        </p:attrNameLst>
                                      </p:cBhvr>
                                      <p:to>
                                        <p:strVal val="visible"/>
                                      </p:to>
                                    </p:set>
                                    <p:animEffect transition="in" filter="blinds(horizontal)">
                                      <p:cBhvr>
                                        <p:cTn id="78" dur="500"/>
                                        <p:tgtEl>
                                          <p:spTgt spid="125155"/>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125156"/>
                                        </p:tgtEl>
                                        <p:attrNameLst>
                                          <p:attrName>style.visibility</p:attrName>
                                        </p:attrNameLst>
                                      </p:cBhvr>
                                      <p:to>
                                        <p:strVal val="visible"/>
                                      </p:to>
                                    </p:set>
                                    <p:animEffect transition="in" filter="blinds(horizontal)">
                                      <p:cBhvr>
                                        <p:cTn id="81" dur="500"/>
                                        <p:tgtEl>
                                          <p:spTgt spid="125156"/>
                                        </p:tgtEl>
                                      </p:cBhvr>
                                    </p:animEffect>
                                  </p:childTnLst>
                                </p:cTn>
                              </p:par>
                              <p:par>
                                <p:cTn id="82" presetID="3" presetClass="entr" presetSubtype="10" fill="hold" nodeType="withEffect">
                                  <p:stCondLst>
                                    <p:cond delay="0"/>
                                  </p:stCondLst>
                                  <p:childTnLst>
                                    <p:set>
                                      <p:cBhvr>
                                        <p:cTn id="83" dur="1" fill="hold">
                                          <p:stCondLst>
                                            <p:cond delay="0"/>
                                          </p:stCondLst>
                                        </p:cTn>
                                        <p:tgtEl>
                                          <p:spTgt spid="125157"/>
                                        </p:tgtEl>
                                        <p:attrNameLst>
                                          <p:attrName>style.visibility</p:attrName>
                                        </p:attrNameLst>
                                      </p:cBhvr>
                                      <p:to>
                                        <p:strVal val="visible"/>
                                      </p:to>
                                    </p:set>
                                    <p:animEffect transition="in" filter="blinds(horizontal)">
                                      <p:cBhvr>
                                        <p:cTn id="84" dur="500"/>
                                        <p:tgtEl>
                                          <p:spTgt spid="125157"/>
                                        </p:tgtEl>
                                      </p:cBhvr>
                                    </p:animEffect>
                                  </p:childTnLst>
                                </p:cTn>
                              </p:par>
                              <p:par>
                                <p:cTn id="85" presetID="3" presetClass="entr" presetSubtype="10" fill="hold" nodeType="withEffect">
                                  <p:stCondLst>
                                    <p:cond delay="0"/>
                                  </p:stCondLst>
                                  <p:childTnLst>
                                    <p:set>
                                      <p:cBhvr>
                                        <p:cTn id="86" dur="1" fill="hold">
                                          <p:stCondLst>
                                            <p:cond delay="0"/>
                                          </p:stCondLst>
                                        </p:cTn>
                                        <p:tgtEl>
                                          <p:spTgt spid="125158"/>
                                        </p:tgtEl>
                                        <p:attrNameLst>
                                          <p:attrName>style.visibility</p:attrName>
                                        </p:attrNameLst>
                                      </p:cBhvr>
                                      <p:to>
                                        <p:strVal val="visible"/>
                                      </p:to>
                                    </p:set>
                                    <p:animEffect transition="in" filter="blinds(horizontal)">
                                      <p:cBhvr>
                                        <p:cTn id="87" dur="500"/>
                                        <p:tgtEl>
                                          <p:spTgt spid="125158"/>
                                        </p:tgtEl>
                                      </p:cBhvr>
                                    </p:animEffect>
                                  </p:childTnLst>
                                </p:cTn>
                              </p:par>
                              <p:par>
                                <p:cTn id="88" presetID="3" presetClass="entr" presetSubtype="10" fill="hold" nodeType="withEffect">
                                  <p:stCondLst>
                                    <p:cond delay="0"/>
                                  </p:stCondLst>
                                  <p:childTnLst>
                                    <p:set>
                                      <p:cBhvr>
                                        <p:cTn id="89" dur="1" fill="hold">
                                          <p:stCondLst>
                                            <p:cond delay="0"/>
                                          </p:stCondLst>
                                        </p:cTn>
                                        <p:tgtEl>
                                          <p:spTgt spid="125159"/>
                                        </p:tgtEl>
                                        <p:attrNameLst>
                                          <p:attrName>style.visibility</p:attrName>
                                        </p:attrNameLst>
                                      </p:cBhvr>
                                      <p:to>
                                        <p:strVal val="visible"/>
                                      </p:to>
                                    </p:set>
                                    <p:animEffect transition="in" filter="blinds(horizontal)">
                                      <p:cBhvr>
                                        <p:cTn id="90" dur="500"/>
                                        <p:tgtEl>
                                          <p:spTgt spid="125159"/>
                                        </p:tgtEl>
                                      </p:cBhvr>
                                    </p:animEffect>
                                  </p:childTnLst>
                                </p:cTn>
                              </p:par>
                              <p:par>
                                <p:cTn id="91" presetID="3" presetClass="entr" presetSubtype="10" fill="hold" nodeType="withEffect">
                                  <p:stCondLst>
                                    <p:cond delay="0"/>
                                  </p:stCondLst>
                                  <p:childTnLst>
                                    <p:set>
                                      <p:cBhvr>
                                        <p:cTn id="92" dur="1" fill="hold">
                                          <p:stCondLst>
                                            <p:cond delay="0"/>
                                          </p:stCondLst>
                                        </p:cTn>
                                        <p:tgtEl>
                                          <p:spTgt spid="125160"/>
                                        </p:tgtEl>
                                        <p:attrNameLst>
                                          <p:attrName>style.visibility</p:attrName>
                                        </p:attrNameLst>
                                      </p:cBhvr>
                                      <p:to>
                                        <p:strVal val="visible"/>
                                      </p:to>
                                    </p:set>
                                    <p:animEffect transition="in" filter="blinds(horizontal)">
                                      <p:cBhvr>
                                        <p:cTn id="93" dur="500"/>
                                        <p:tgtEl>
                                          <p:spTgt spid="125160"/>
                                        </p:tgtEl>
                                      </p:cBhvr>
                                    </p:animEffect>
                                  </p:childTnLst>
                                </p:cTn>
                              </p:par>
                              <p:par>
                                <p:cTn id="94" presetID="3" presetClass="entr" presetSubtype="10" fill="hold" nodeType="withEffect">
                                  <p:stCondLst>
                                    <p:cond delay="0"/>
                                  </p:stCondLst>
                                  <p:childTnLst>
                                    <p:set>
                                      <p:cBhvr>
                                        <p:cTn id="95" dur="1" fill="hold">
                                          <p:stCondLst>
                                            <p:cond delay="0"/>
                                          </p:stCondLst>
                                        </p:cTn>
                                        <p:tgtEl>
                                          <p:spTgt spid="125165"/>
                                        </p:tgtEl>
                                        <p:attrNameLst>
                                          <p:attrName>style.visibility</p:attrName>
                                        </p:attrNameLst>
                                      </p:cBhvr>
                                      <p:to>
                                        <p:strVal val="visible"/>
                                      </p:to>
                                    </p:set>
                                    <p:animEffect transition="in" filter="blinds(horizontal)">
                                      <p:cBhvr>
                                        <p:cTn id="96" dur="500"/>
                                        <p:tgtEl>
                                          <p:spTgt spid="125165"/>
                                        </p:tgtEl>
                                      </p:cBhvr>
                                    </p:animEffect>
                                  </p:childTnLst>
                                </p:cTn>
                              </p:par>
                              <p:par>
                                <p:cTn id="97" presetID="3" presetClass="entr" presetSubtype="10" fill="hold" nodeType="withEffect">
                                  <p:stCondLst>
                                    <p:cond delay="0"/>
                                  </p:stCondLst>
                                  <p:childTnLst>
                                    <p:set>
                                      <p:cBhvr>
                                        <p:cTn id="98" dur="1" fill="hold">
                                          <p:stCondLst>
                                            <p:cond delay="0"/>
                                          </p:stCondLst>
                                        </p:cTn>
                                        <p:tgtEl>
                                          <p:spTgt spid="125166"/>
                                        </p:tgtEl>
                                        <p:attrNameLst>
                                          <p:attrName>style.visibility</p:attrName>
                                        </p:attrNameLst>
                                      </p:cBhvr>
                                      <p:to>
                                        <p:strVal val="visible"/>
                                      </p:to>
                                    </p:set>
                                    <p:animEffect transition="in" filter="blinds(horizontal)">
                                      <p:cBhvr>
                                        <p:cTn id="99" dur="500"/>
                                        <p:tgtEl>
                                          <p:spTgt spid="125166"/>
                                        </p:tgtEl>
                                      </p:cBhvr>
                                    </p:animEffect>
                                  </p:childTnLst>
                                </p:cTn>
                              </p:par>
                              <p:par>
                                <p:cTn id="100" presetID="3" presetClass="entr" presetSubtype="10" fill="hold" nodeType="withEffect">
                                  <p:stCondLst>
                                    <p:cond delay="0"/>
                                  </p:stCondLst>
                                  <p:childTnLst>
                                    <p:set>
                                      <p:cBhvr>
                                        <p:cTn id="101" dur="1" fill="hold">
                                          <p:stCondLst>
                                            <p:cond delay="0"/>
                                          </p:stCondLst>
                                        </p:cTn>
                                        <p:tgtEl>
                                          <p:spTgt spid="125167"/>
                                        </p:tgtEl>
                                        <p:attrNameLst>
                                          <p:attrName>style.visibility</p:attrName>
                                        </p:attrNameLst>
                                      </p:cBhvr>
                                      <p:to>
                                        <p:strVal val="visible"/>
                                      </p:to>
                                    </p:set>
                                    <p:animEffect transition="in" filter="blinds(horizontal)">
                                      <p:cBhvr>
                                        <p:cTn id="102" dur="500"/>
                                        <p:tgtEl>
                                          <p:spTgt spid="125167"/>
                                        </p:tgtEl>
                                      </p:cBhvr>
                                    </p:animEffect>
                                  </p:childTnLst>
                                </p:cTn>
                              </p:par>
                              <p:par>
                                <p:cTn id="103" presetID="3" presetClass="entr" presetSubtype="10" fill="hold" nodeType="withEffect">
                                  <p:stCondLst>
                                    <p:cond delay="0"/>
                                  </p:stCondLst>
                                  <p:childTnLst>
                                    <p:set>
                                      <p:cBhvr>
                                        <p:cTn id="104" dur="1" fill="hold">
                                          <p:stCondLst>
                                            <p:cond delay="0"/>
                                          </p:stCondLst>
                                        </p:cTn>
                                        <p:tgtEl>
                                          <p:spTgt spid="125168"/>
                                        </p:tgtEl>
                                        <p:attrNameLst>
                                          <p:attrName>style.visibility</p:attrName>
                                        </p:attrNameLst>
                                      </p:cBhvr>
                                      <p:to>
                                        <p:strVal val="visible"/>
                                      </p:to>
                                    </p:set>
                                    <p:animEffect transition="in" filter="blinds(horizontal)">
                                      <p:cBhvr>
                                        <p:cTn id="105" dur="500"/>
                                        <p:tgtEl>
                                          <p:spTgt spid="125168"/>
                                        </p:tgtEl>
                                      </p:cBhvr>
                                    </p:animEffec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4"/>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grpId="0" nodeType="clickEffect">
                                  <p:stCondLst>
                                    <p:cond delay="0"/>
                                  </p:stCondLst>
                                  <p:childTnLst>
                                    <p:set>
                                      <p:cBhvr>
                                        <p:cTn id="113" dur="1" fill="hold">
                                          <p:stCondLst>
                                            <p:cond delay="0"/>
                                          </p:stCondLst>
                                        </p:cTn>
                                        <p:tgtEl>
                                          <p:spTgt spid="124931">
                                            <p:txEl>
                                              <p:pRg st="1" end="1"/>
                                            </p:txEl>
                                          </p:spTgt>
                                        </p:tgtEl>
                                        <p:attrNameLst>
                                          <p:attrName>style.visibility</p:attrName>
                                        </p:attrNameLst>
                                      </p:cBhvr>
                                      <p:to>
                                        <p:strVal val="visible"/>
                                      </p:to>
                                    </p:set>
                                    <p:animEffect transition="in" filter="blinds(horizontal)">
                                      <p:cBhvr>
                                        <p:cTn id="114" dur="500"/>
                                        <p:tgtEl>
                                          <p:spTgt spid="124931">
                                            <p:txEl>
                                              <p:pRg st="1" end="1"/>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124931">
                                            <p:txEl>
                                              <p:pRg st="2" end="2"/>
                                            </p:txEl>
                                          </p:spTgt>
                                        </p:tgtEl>
                                        <p:attrNameLst>
                                          <p:attrName>style.visibility</p:attrName>
                                        </p:attrNameLst>
                                      </p:cBhvr>
                                      <p:to>
                                        <p:strVal val="visible"/>
                                      </p:to>
                                    </p:set>
                                    <p:animEffect transition="in" filter="blinds(horizontal)">
                                      <p:cBhvr>
                                        <p:cTn id="119" dur="500"/>
                                        <p:tgtEl>
                                          <p:spTgt spid="124931">
                                            <p:txEl>
                                              <p:pRg st="2" end="2"/>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3" presetClass="entr" presetSubtype="10" fill="hold" grpId="0" nodeType="clickEffect">
                                  <p:stCondLst>
                                    <p:cond delay="0"/>
                                  </p:stCondLst>
                                  <p:childTnLst>
                                    <p:set>
                                      <p:cBhvr>
                                        <p:cTn id="123" dur="1" fill="hold">
                                          <p:stCondLst>
                                            <p:cond delay="0"/>
                                          </p:stCondLst>
                                        </p:cTn>
                                        <p:tgtEl>
                                          <p:spTgt spid="124931">
                                            <p:txEl>
                                              <p:pRg st="3" end="3"/>
                                            </p:txEl>
                                          </p:spTgt>
                                        </p:tgtEl>
                                        <p:attrNameLst>
                                          <p:attrName>style.visibility</p:attrName>
                                        </p:attrNameLst>
                                      </p:cBhvr>
                                      <p:to>
                                        <p:strVal val="visible"/>
                                      </p:to>
                                    </p:set>
                                    <p:animEffect transition="in" filter="blinds(horizontal)">
                                      <p:cBhvr>
                                        <p:cTn id="124" dur="500"/>
                                        <p:tgtEl>
                                          <p:spTgt spid="124931">
                                            <p:txEl>
                                              <p:pRg st="3" end="3"/>
                                            </p:txEl>
                                          </p:spTgt>
                                        </p:tgtEl>
                                      </p:cBhvr>
                                    </p:animEffect>
                                  </p:childTnLst>
                                </p:cTn>
                              </p:par>
                              <p:par>
                                <p:cTn id="125" presetID="3" presetClass="entr" presetSubtype="10" fill="hold" nodeType="withEffect">
                                  <p:stCondLst>
                                    <p:cond delay="0"/>
                                  </p:stCondLst>
                                  <p:childTnLst>
                                    <p:set>
                                      <p:cBhvr>
                                        <p:cTn id="126" dur="1" fill="hold">
                                          <p:stCondLst>
                                            <p:cond delay="0"/>
                                          </p:stCondLst>
                                        </p:cTn>
                                        <p:tgtEl>
                                          <p:spTgt spid="3"/>
                                        </p:tgtEl>
                                        <p:attrNameLst>
                                          <p:attrName>style.visibility</p:attrName>
                                        </p:attrNameLst>
                                      </p:cBhvr>
                                      <p:to>
                                        <p:strVal val="visible"/>
                                      </p:to>
                                    </p:set>
                                    <p:animEffect transition="in" filter="blinds(horizontal)">
                                      <p:cBhvr>
                                        <p:cTn id="1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uild="p"/>
      <p:bldP spid="124931" grpId="1" build="p"/>
      <p:bldP spid="124995" grpId="0"/>
      <p:bldP spid="124995" grpId="1"/>
      <p:bldP spid="124996" grpId="0"/>
      <p:bldP spid="124996" grpId="1"/>
      <p:bldP spid="125034" grpId="0"/>
      <p:bldP spid="125034" grpId="1"/>
      <p:bldP spid="125035" grpId="0"/>
      <p:bldP spid="125035" grpId="1"/>
      <p:bldP spid="125073" grpId="0"/>
      <p:bldP spid="125073" grpId="1"/>
      <p:bldP spid="125074" grpId="0"/>
      <p:bldP spid="125074" grpId="1"/>
      <p:bldP spid="125075" grpId="0"/>
      <p:bldP spid="125075" grpId="1"/>
      <p:bldP spid="125076" grpId="0"/>
      <p:bldP spid="125076" grpId="1"/>
      <p:bldP spid="125077" grpId="0"/>
      <p:bldP spid="125077" grpId="1"/>
      <p:bldP spid="125150" grpId="0"/>
      <p:bldP spid="125150" grpId="1"/>
      <p:bldP spid="125151" grpId="0"/>
      <p:bldP spid="125151" grpId="1"/>
      <p:bldP spid="125152" grpId="0" animBg="1"/>
      <p:bldP spid="125152" grpId="1" animBg="1"/>
      <p:bldP spid="125153" grpId="0" animBg="1"/>
      <p:bldP spid="125153" grpId="1" animBg="1"/>
      <p:bldP spid="125154" grpId="0" animBg="1"/>
      <p:bldP spid="125154" grpId="1" animBg="1"/>
      <p:bldP spid="125155" grpId="0" animBg="1"/>
      <p:bldP spid="125155" grpId="1" animBg="1"/>
      <p:bldP spid="125156" grpId="0" animBg="1"/>
      <p:bldP spid="125156" grpId="1" animBg="1"/>
      <p:bldP spid="2" grpId="0"/>
      <p:bldP spid="4" grpId="0"/>
      <p:bldP spid="4" grpId="1"/>
      <p:bldP spid="56" grpId="0"/>
      <p:bldP spid="56" grpId="1"/>
      <p:bldP spid="57" grpId="0"/>
      <p:bldP spid="57"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3"/>
          <p:cNvSpPr>
            <a:spLocks noGrp="1"/>
          </p:cNvSpPr>
          <p:nvPr>
            <p:ph type="title"/>
          </p:nvPr>
        </p:nvSpPr>
        <p:spPr>
          <a:xfrm>
            <a:off x="825500" y="565150"/>
            <a:ext cx="3095625" cy="447675"/>
          </a:xfrm>
          <a:prstGeom prst="rect">
            <a:avLst/>
          </a:prstGeom>
          <a:noFill/>
          <a:ln w="9525">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⑸ </a:t>
            </a:r>
            <a:r>
              <a:rPr lang="zh-CN" altLang="en-US" sz="2000" b="1" dirty="0">
                <a:latin typeface="华文新魏" panose="02010800040101010101" pitchFamily="2" charset="-122"/>
                <a:ea typeface="华文新魏" panose="02010800040101010101" pitchFamily="2" charset="-122"/>
              </a:rPr>
              <a:t>关于电路</a:t>
            </a:r>
            <a:r>
              <a:rPr lang="zh-CN" altLang="en-US" sz="2000" b="1" dirty="0">
                <a:solidFill>
                  <a:srgbClr val="FF0000"/>
                </a:solidFill>
                <a:latin typeface="华文新魏" panose="02010800040101010101" pitchFamily="2" charset="-122"/>
                <a:ea typeface="华文新魏" panose="02010800040101010101" pitchFamily="2" charset="-122"/>
              </a:rPr>
              <a:t>挂起</a:t>
            </a:r>
            <a:r>
              <a:rPr lang="zh-CN" altLang="en-US" sz="2000" b="1" dirty="0">
                <a:latin typeface="华文新魏" panose="02010800040101010101" pitchFamily="2" charset="-122"/>
                <a:ea typeface="华文新魏" panose="02010800040101010101" pitchFamily="2" charset="-122"/>
              </a:rPr>
              <a:t>的讨论</a:t>
            </a:r>
          </a:p>
        </p:txBody>
      </p:sp>
      <p:sp>
        <p:nvSpPr>
          <p:cNvPr id="126979" name="Rectangle 4"/>
          <p:cNvSpPr>
            <a:spLocks noGrp="1"/>
          </p:cNvSpPr>
          <p:nvPr>
            <p:ph type="body"/>
          </p:nvPr>
        </p:nvSpPr>
        <p:spPr>
          <a:xfrm>
            <a:off x="730250" y="987425"/>
            <a:ext cx="5001260" cy="1224280"/>
          </a:xfrm>
          <a:prstGeom prst="rect">
            <a:avLst/>
          </a:prstGeom>
          <a:noFill/>
          <a:ln w="9525">
            <a:noFill/>
          </a:ln>
        </p:spPr>
        <p:txBody>
          <a:bodyPr/>
          <a:lstStyle/>
          <a:p>
            <a:pPr eaLnBrk="1" hangingPunct="1">
              <a:buNone/>
            </a:pPr>
            <a:r>
              <a:rPr lang="zh-CN" altLang="en-US" sz="2000" b="1" dirty="0">
                <a:latin typeface="华文新魏" panose="02010800040101010101" pitchFamily="2" charset="-122"/>
                <a:ea typeface="华文新魏" panose="02010800040101010101" pitchFamily="2" charset="-122"/>
              </a:rPr>
              <a:t>在设计中，</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 = 10</a:t>
            </a:r>
            <a:r>
              <a:rPr lang="zh-CN" altLang="en-US" sz="2000" b="1" dirty="0">
                <a:latin typeface="华文新魏" panose="02010800040101010101" pitchFamily="2" charset="-122"/>
                <a:ea typeface="华文新魏" panose="02010800040101010101" pitchFamily="2" charset="-122"/>
              </a:rPr>
              <a:t>为多余状态，现需</a:t>
            </a:r>
          </a:p>
          <a:p>
            <a:pPr eaLnBrk="1" hangingPunct="1">
              <a:buNone/>
            </a:pPr>
            <a:r>
              <a:rPr lang="zh-CN" altLang="en-US" sz="2000" b="1" dirty="0">
                <a:latin typeface="华文新魏" panose="02010800040101010101" pitchFamily="2" charset="-122"/>
                <a:ea typeface="华文新魏" panose="02010800040101010101" pitchFamily="2" charset="-122"/>
              </a:rPr>
              <a:t>讨论：如果发生某种干扰使得电路处于</a:t>
            </a:r>
          </a:p>
          <a:p>
            <a:pPr eaLnBrk="1" hangingPunct="1">
              <a:buNone/>
            </a:pPr>
            <a:r>
              <a:rPr lang="en-US" altLang="zh-CN" sz="2000" b="1" dirty="0">
                <a:latin typeface="华文新魏" panose="02010800040101010101" pitchFamily="2" charset="-122"/>
                <a:ea typeface="华文新魏" panose="02010800040101010101" pitchFamily="2" charset="-122"/>
              </a:rPr>
              <a:t>y</a:t>
            </a:r>
            <a:r>
              <a:rPr lang="en-US" altLang="zh-CN" sz="2000" b="1" baseline="-25000" dirty="0">
                <a:latin typeface="华文新魏" panose="02010800040101010101" pitchFamily="2" charset="-122"/>
                <a:ea typeface="华文新魏" panose="02010800040101010101" pitchFamily="2" charset="-122"/>
              </a:rPr>
              <a:t>1</a:t>
            </a:r>
            <a:r>
              <a:rPr lang="en-US" altLang="zh-CN" sz="2000" b="1" dirty="0">
                <a:latin typeface="华文新魏" panose="02010800040101010101" pitchFamily="2" charset="-122"/>
                <a:ea typeface="华文新魏" panose="02010800040101010101" pitchFamily="2" charset="-122"/>
              </a:rPr>
              <a:t>y</a:t>
            </a:r>
            <a:r>
              <a:rPr lang="en-US" altLang="zh-CN" sz="2000" b="1" baseline="-25000" dirty="0">
                <a:latin typeface="华文新魏" panose="02010800040101010101" pitchFamily="2" charset="-122"/>
                <a:ea typeface="华文新魏" panose="02010800040101010101" pitchFamily="2" charset="-122"/>
              </a:rPr>
              <a:t>2</a:t>
            </a:r>
            <a:r>
              <a:rPr lang="en-US" altLang="zh-CN" sz="2000" b="1" dirty="0">
                <a:latin typeface="华文新魏" panose="02010800040101010101" pitchFamily="2" charset="-122"/>
                <a:ea typeface="华文新魏" panose="02010800040101010101" pitchFamily="2" charset="-122"/>
              </a:rPr>
              <a:t> = 10</a:t>
            </a:r>
            <a:r>
              <a:rPr lang="zh-CN" altLang="en-US" sz="2000" b="1" dirty="0">
                <a:latin typeface="华文新魏" panose="02010800040101010101" pitchFamily="2" charset="-122"/>
                <a:ea typeface="华文新魏" panose="02010800040101010101" pitchFamily="2" charset="-122"/>
              </a:rPr>
              <a:t>状态的情况。</a:t>
            </a:r>
          </a:p>
        </p:txBody>
      </p:sp>
      <p:graphicFrame>
        <p:nvGraphicFramePr>
          <p:cNvPr id="126980" name="Group 4"/>
          <p:cNvGraphicFramePr>
            <a:graphicFrameLocks noGrp="1"/>
          </p:cNvGraphicFramePr>
          <p:nvPr/>
        </p:nvGraphicFramePr>
        <p:xfrm>
          <a:off x="5794375" y="555625"/>
          <a:ext cx="2449513" cy="1860550"/>
        </p:xfrm>
        <a:graphic>
          <a:graphicData uri="http://schemas.openxmlformats.org/drawingml/2006/table">
            <a:tbl>
              <a:tblPr/>
              <a:tblGrid>
                <a:gridCol w="10287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709613">
                  <a:extLst>
                    <a:ext uri="{9D8B030D-6E8A-4147-A177-3AD203B41FA5}">
                      <a16:colId xmlns:a16="http://schemas.microsoft.com/office/drawing/2014/main" val="20002"/>
                    </a:ext>
                  </a:extLst>
                </a:gridCol>
              </a:tblGrid>
              <a:tr h="3619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0"/>
                  </a:ext>
                </a:extLst>
              </a:tr>
              <a:tr h="3746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746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46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74650">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10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11</a:t>
                      </a: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00</a:t>
                      </a: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7007" name="Text Box 32"/>
          <p:cNvSpPr txBox="1"/>
          <p:nvPr/>
        </p:nvSpPr>
        <p:spPr>
          <a:xfrm>
            <a:off x="6286500" y="454025"/>
            <a:ext cx="1066800"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sp>
        <p:nvSpPr>
          <p:cNvPr id="127008" name="Text Box 33"/>
          <p:cNvSpPr txBox="1"/>
          <p:nvPr/>
        </p:nvSpPr>
        <p:spPr>
          <a:xfrm>
            <a:off x="5786438" y="574675"/>
            <a:ext cx="1066800"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p>
        </p:txBody>
      </p:sp>
      <p:graphicFrame>
        <p:nvGraphicFramePr>
          <p:cNvPr id="127009" name="Group 33"/>
          <p:cNvGraphicFramePr>
            <a:graphicFrameLocks noGrp="1"/>
          </p:cNvGraphicFramePr>
          <p:nvPr/>
        </p:nvGraphicFramePr>
        <p:xfrm>
          <a:off x="2530475" y="2317750"/>
          <a:ext cx="1981200" cy="1385889"/>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7046" name="Text Box 83"/>
          <p:cNvSpPr txBox="1"/>
          <p:nvPr/>
        </p:nvSpPr>
        <p:spPr>
          <a:xfrm>
            <a:off x="2225675" y="2347913"/>
            <a:ext cx="1066800" cy="4572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Calibri" panose="020F0502020204030204" pitchFamily="34" charset="0"/>
              </a:rPr>
              <a:t>y</a:t>
            </a:r>
            <a:r>
              <a:rPr lang="en-US" altLang="zh-CN" sz="2400" b="1" baseline="-25000" dirty="0">
                <a:solidFill>
                  <a:schemeClr val="tx1"/>
                </a:solidFill>
                <a:latin typeface="Calibri" panose="020F0502020204030204" pitchFamily="34" charset="0"/>
              </a:rPr>
              <a:t>1</a:t>
            </a:r>
            <a:r>
              <a:rPr lang="en-US" altLang="zh-CN" sz="2400" b="1" dirty="0">
                <a:solidFill>
                  <a:schemeClr val="tx1"/>
                </a:solidFill>
                <a:latin typeface="Calibri" panose="020F0502020204030204" pitchFamily="34" charset="0"/>
              </a:rPr>
              <a:t>y</a:t>
            </a:r>
            <a:r>
              <a:rPr lang="en-US" altLang="zh-CN" sz="2400" b="1" baseline="-25000" dirty="0">
                <a:solidFill>
                  <a:schemeClr val="tx1"/>
                </a:solidFill>
                <a:latin typeface="Calibri" panose="020F0502020204030204" pitchFamily="34" charset="0"/>
              </a:rPr>
              <a:t>2</a:t>
            </a:r>
          </a:p>
        </p:txBody>
      </p:sp>
      <p:sp>
        <p:nvSpPr>
          <p:cNvPr id="127047" name="Text Box 84"/>
          <p:cNvSpPr txBox="1"/>
          <p:nvPr/>
        </p:nvSpPr>
        <p:spPr>
          <a:xfrm>
            <a:off x="2682875" y="2143125"/>
            <a:ext cx="1066800" cy="4572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Calibri" panose="020F0502020204030204" pitchFamily="34" charset="0"/>
              </a:rPr>
              <a:t>x</a:t>
            </a:r>
            <a:r>
              <a:rPr lang="en-US" altLang="zh-CN" sz="2400" b="1" baseline="-25000" dirty="0">
                <a:solidFill>
                  <a:schemeClr val="tx1"/>
                </a:solidFill>
                <a:latin typeface="Calibri" panose="020F0502020204030204" pitchFamily="34" charset="0"/>
              </a:rPr>
              <a:t>1</a:t>
            </a:r>
            <a:r>
              <a:rPr lang="en-US" altLang="zh-CN" sz="2400" b="1" dirty="0">
                <a:solidFill>
                  <a:schemeClr val="tx1"/>
                </a:solidFill>
                <a:latin typeface="Calibri" panose="020F0502020204030204" pitchFamily="34" charset="0"/>
              </a:rPr>
              <a:t>x</a:t>
            </a:r>
            <a:r>
              <a:rPr lang="en-US" altLang="zh-CN" sz="2400" b="1" baseline="-25000" dirty="0">
                <a:solidFill>
                  <a:schemeClr val="tx1"/>
                </a:solidFill>
                <a:latin typeface="Calibri" panose="020F0502020204030204" pitchFamily="34" charset="0"/>
              </a:rPr>
              <a:t>2</a:t>
            </a:r>
          </a:p>
        </p:txBody>
      </p:sp>
      <p:graphicFrame>
        <p:nvGraphicFramePr>
          <p:cNvPr id="127048" name="Group 72"/>
          <p:cNvGraphicFramePr>
            <a:graphicFrameLocks noGrp="1"/>
          </p:cNvGraphicFramePr>
          <p:nvPr/>
        </p:nvGraphicFramePr>
        <p:xfrm>
          <a:off x="4968875" y="2317750"/>
          <a:ext cx="1981200" cy="1384301"/>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7085" name="Text Box 134"/>
          <p:cNvSpPr txBox="1"/>
          <p:nvPr/>
        </p:nvSpPr>
        <p:spPr>
          <a:xfrm>
            <a:off x="4664075" y="2347913"/>
            <a:ext cx="1066800" cy="4572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Calibri" panose="020F0502020204030204" pitchFamily="34" charset="0"/>
              </a:rPr>
              <a:t>y</a:t>
            </a:r>
            <a:r>
              <a:rPr lang="en-US" altLang="zh-CN" sz="2400" b="1" baseline="-25000" dirty="0">
                <a:solidFill>
                  <a:schemeClr val="tx1"/>
                </a:solidFill>
                <a:latin typeface="Calibri" panose="020F0502020204030204" pitchFamily="34" charset="0"/>
              </a:rPr>
              <a:t>1</a:t>
            </a:r>
            <a:r>
              <a:rPr lang="en-US" altLang="zh-CN" sz="2400" b="1" dirty="0">
                <a:solidFill>
                  <a:schemeClr val="tx1"/>
                </a:solidFill>
                <a:latin typeface="Calibri" panose="020F0502020204030204" pitchFamily="34" charset="0"/>
              </a:rPr>
              <a:t>y</a:t>
            </a:r>
            <a:r>
              <a:rPr lang="en-US" altLang="zh-CN" sz="2400" b="1" baseline="-25000" dirty="0">
                <a:solidFill>
                  <a:schemeClr val="tx1"/>
                </a:solidFill>
                <a:latin typeface="Calibri" panose="020F0502020204030204" pitchFamily="34" charset="0"/>
              </a:rPr>
              <a:t>2</a:t>
            </a:r>
          </a:p>
        </p:txBody>
      </p:sp>
      <p:sp>
        <p:nvSpPr>
          <p:cNvPr id="127086" name="Text Box 135"/>
          <p:cNvSpPr txBox="1"/>
          <p:nvPr/>
        </p:nvSpPr>
        <p:spPr>
          <a:xfrm>
            <a:off x="5121275" y="2143125"/>
            <a:ext cx="1066800" cy="4572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Calibri" panose="020F0502020204030204" pitchFamily="34" charset="0"/>
              </a:rPr>
              <a:t>x</a:t>
            </a:r>
            <a:r>
              <a:rPr lang="en-US" altLang="zh-CN" sz="2400" b="1" baseline="-25000" dirty="0">
                <a:solidFill>
                  <a:schemeClr val="tx1"/>
                </a:solidFill>
                <a:latin typeface="Calibri" panose="020F0502020204030204" pitchFamily="34" charset="0"/>
              </a:rPr>
              <a:t>1</a:t>
            </a:r>
            <a:r>
              <a:rPr lang="en-US" altLang="zh-CN" sz="2400" b="1" dirty="0">
                <a:solidFill>
                  <a:schemeClr val="tx1"/>
                </a:solidFill>
                <a:latin typeface="Calibri" panose="020F0502020204030204" pitchFamily="34" charset="0"/>
              </a:rPr>
              <a:t>x</a:t>
            </a:r>
            <a:r>
              <a:rPr lang="en-US" altLang="zh-CN" sz="2400" b="1" baseline="-25000" dirty="0">
                <a:solidFill>
                  <a:schemeClr val="tx1"/>
                </a:solidFill>
                <a:latin typeface="Calibri" panose="020F0502020204030204" pitchFamily="34" charset="0"/>
              </a:rPr>
              <a:t>2</a:t>
            </a:r>
          </a:p>
        </p:txBody>
      </p:sp>
      <p:sp>
        <p:nvSpPr>
          <p:cNvPr id="127087" name="Text Box 136"/>
          <p:cNvSpPr txBox="1"/>
          <p:nvPr/>
        </p:nvSpPr>
        <p:spPr>
          <a:xfrm>
            <a:off x="4435475" y="3389313"/>
            <a:ext cx="1066800"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1</a:t>
            </a:r>
          </a:p>
        </p:txBody>
      </p:sp>
      <p:sp>
        <p:nvSpPr>
          <p:cNvPr id="127088" name="Text Box 137"/>
          <p:cNvSpPr txBox="1"/>
          <p:nvPr/>
        </p:nvSpPr>
        <p:spPr>
          <a:xfrm>
            <a:off x="6645275" y="3400425"/>
            <a:ext cx="1066800" cy="396875"/>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2</a:t>
            </a:r>
          </a:p>
        </p:txBody>
      </p:sp>
      <p:graphicFrame>
        <p:nvGraphicFramePr>
          <p:cNvPr id="127089" name="Group 113"/>
          <p:cNvGraphicFramePr>
            <a:graphicFrameLocks noGrp="1"/>
          </p:cNvGraphicFramePr>
          <p:nvPr>
            <p:custDataLst>
              <p:tags r:id="rId1"/>
            </p:custDataLst>
          </p:nvPr>
        </p:nvGraphicFramePr>
        <p:xfrm>
          <a:off x="2530475" y="3575050"/>
          <a:ext cx="1981200" cy="1385889"/>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127125" name="Group 149"/>
          <p:cNvGraphicFramePr>
            <a:graphicFrameLocks noGrp="1"/>
          </p:cNvGraphicFramePr>
          <p:nvPr>
            <p:custDataLst>
              <p:tags r:id="rId2"/>
            </p:custDataLst>
          </p:nvPr>
        </p:nvGraphicFramePr>
        <p:xfrm>
          <a:off x="4968875" y="3575050"/>
          <a:ext cx="1981200" cy="1384301"/>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7161" name="Text Box 234"/>
          <p:cNvSpPr txBox="1"/>
          <p:nvPr/>
        </p:nvSpPr>
        <p:spPr>
          <a:xfrm>
            <a:off x="4435475" y="4646613"/>
            <a:ext cx="1066800"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1</a:t>
            </a:r>
          </a:p>
        </p:txBody>
      </p:sp>
      <p:sp>
        <p:nvSpPr>
          <p:cNvPr id="127162" name="Text Box 235"/>
          <p:cNvSpPr txBox="1"/>
          <p:nvPr/>
        </p:nvSpPr>
        <p:spPr>
          <a:xfrm>
            <a:off x="6416675" y="4657725"/>
            <a:ext cx="1066800" cy="396875"/>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2</a:t>
            </a:r>
          </a:p>
        </p:txBody>
      </p:sp>
      <p:sp>
        <p:nvSpPr>
          <p:cNvPr id="127163" name="Rectangle 236"/>
          <p:cNvSpPr/>
          <p:nvPr/>
        </p:nvSpPr>
        <p:spPr>
          <a:xfrm>
            <a:off x="3368675" y="3171825"/>
            <a:ext cx="647700" cy="485775"/>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7164" name="Rectangle 237"/>
          <p:cNvSpPr/>
          <p:nvPr/>
        </p:nvSpPr>
        <p:spPr>
          <a:xfrm>
            <a:off x="5845175" y="2886075"/>
            <a:ext cx="647700" cy="485775"/>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7165" name="Rectangle 238"/>
          <p:cNvSpPr/>
          <p:nvPr/>
        </p:nvSpPr>
        <p:spPr>
          <a:xfrm>
            <a:off x="3787775" y="2886075"/>
            <a:ext cx="647700" cy="242888"/>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7166" name="Rectangle 239"/>
          <p:cNvSpPr/>
          <p:nvPr/>
        </p:nvSpPr>
        <p:spPr>
          <a:xfrm>
            <a:off x="2987675" y="3886200"/>
            <a:ext cx="1441450" cy="485775"/>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127167" name="Group 240"/>
          <p:cNvGrpSpPr/>
          <p:nvPr/>
        </p:nvGrpSpPr>
        <p:grpSpPr>
          <a:xfrm>
            <a:off x="5426075" y="3832225"/>
            <a:ext cx="1447800" cy="225425"/>
            <a:chOff x="0" y="0"/>
            <a:chExt cx="912" cy="144"/>
          </a:xfrm>
        </p:grpSpPr>
        <p:sp>
          <p:nvSpPr>
            <p:cNvPr id="127220" name="Line 241"/>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7221" name="Line 242"/>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7222" name="Line 243"/>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7168" name="Group 244"/>
          <p:cNvGrpSpPr/>
          <p:nvPr/>
        </p:nvGrpSpPr>
        <p:grpSpPr>
          <a:xfrm>
            <a:off x="5426075" y="4732338"/>
            <a:ext cx="1447800" cy="225425"/>
            <a:chOff x="0" y="0"/>
            <a:chExt cx="912" cy="190"/>
          </a:xfrm>
        </p:grpSpPr>
        <p:sp>
          <p:nvSpPr>
            <p:cNvPr id="127217" name="Line 245"/>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7218" name="Line 246"/>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7219" name="Line 247"/>
            <p:cNvSpPr/>
            <p:nvPr/>
          </p:nvSpPr>
          <p:spPr>
            <a:xfrm>
              <a:off x="912" y="0"/>
              <a:ext cx="0" cy="190"/>
            </a:xfrm>
            <a:prstGeom prst="line">
              <a:avLst/>
            </a:prstGeom>
            <a:ln w="28575" cap="flat" cmpd="sng">
              <a:solidFill>
                <a:srgbClr val="FF33CC"/>
              </a:solidFill>
              <a:prstDash val="solid"/>
              <a:headEnd type="none" w="med" len="med"/>
              <a:tailEnd type="none" w="med" len="med"/>
            </a:ln>
          </p:spPr>
        </p:sp>
      </p:grpSp>
      <p:grpSp>
        <p:nvGrpSpPr>
          <p:cNvPr id="127169" name="Group 248"/>
          <p:cNvGrpSpPr/>
          <p:nvPr/>
        </p:nvGrpSpPr>
        <p:grpSpPr>
          <a:xfrm>
            <a:off x="6194425" y="2571750"/>
            <a:ext cx="717550" cy="227013"/>
            <a:chOff x="0" y="0"/>
            <a:chExt cx="912" cy="144"/>
          </a:xfrm>
        </p:grpSpPr>
        <p:sp>
          <p:nvSpPr>
            <p:cNvPr id="127214" name="Line 249"/>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7215" name="Line 250"/>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7216" name="Line 251"/>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7170" name="Group 252"/>
          <p:cNvGrpSpPr/>
          <p:nvPr/>
        </p:nvGrpSpPr>
        <p:grpSpPr>
          <a:xfrm>
            <a:off x="6194425" y="3471863"/>
            <a:ext cx="717550" cy="227012"/>
            <a:chOff x="0" y="0"/>
            <a:chExt cx="912" cy="190"/>
          </a:xfrm>
        </p:grpSpPr>
        <p:sp>
          <p:nvSpPr>
            <p:cNvPr id="127211" name="Line 253"/>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7212" name="Line 254"/>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7213" name="Line 255"/>
            <p:cNvSpPr/>
            <p:nvPr/>
          </p:nvSpPr>
          <p:spPr>
            <a:xfrm>
              <a:off x="912" y="0"/>
              <a:ext cx="0" cy="190"/>
            </a:xfrm>
            <a:prstGeom prst="line">
              <a:avLst/>
            </a:prstGeom>
            <a:ln w="28575" cap="flat" cmpd="sng">
              <a:solidFill>
                <a:srgbClr val="FF33CC"/>
              </a:solidFill>
              <a:prstDash val="solid"/>
              <a:headEnd type="none" w="med" len="med"/>
              <a:tailEnd type="none" w="med" len="med"/>
            </a:ln>
          </p:spPr>
        </p:sp>
      </p:grpSp>
      <p:graphicFrame>
        <p:nvGraphicFramePr>
          <p:cNvPr id="127171" name="Group 207"/>
          <p:cNvGraphicFramePr>
            <a:graphicFrameLocks noGrp="1"/>
          </p:cNvGraphicFramePr>
          <p:nvPr/>
        </p:nvGraphicFramePr>
        <p:xfrm>
          <a:off x="473075" y="3575050"/>
          <a:ext cx="1981200" cy="1384301"/>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6225">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7813">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400050" defTabSz="68580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457200" defTabSz="6858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5715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685800" defTabSz="6858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7207" name="Rectangle 305"/>
          <p:cNvSpPr/>
          <p:nvPr/>
        </p:nvSpPr>
        <p:spPr>
          <a:xfrm>
            <a:off x="1330325" y="4429125"/>
            <a:ext cx="647700" cy="485775"/>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7208" name="Text Box 306"/>
          <p:cNvSpPr txBox="1"/>
          <p:nvPr/>
        </p:nvSpPr>
        <p:spPr>
          <a:xfrm>
            <a:off x="2454275" y="4646613"/>
            <a:ext cx="990600"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Z</a:t>
            </a:r>
            <a:endParaRPr lang="en-US" altLang="zh-CN" b="1" baseline="-25000" dirty="0">
              <a:solidFill>
                <a:schemeClr val="tx1"/>
              </a:solidFill>
              <a:latin typeface="Calibri" panose="020F0502020204030204" pitchFamily="34" charset="0"/>
            </a:endParaRPr>
          </a:p>
        </p:txBody>
      </p:sp>
      <p:cxnSp>
        <p:nvCxnSpPr>
          <p:cNvPr id="127209" name="直接连接符 41"/>
          <p:cNvCxnSpPr/>
          <p:nvPr/>
        </p:nvCxnSpPr>
        <p:spPr>
          <a:xfrm flipH="1" flipV="1">
            <a:off x="2530475" y="2335213"/>
            <a:ext cx="400050" cy="273050"/>
          </a:xfrm>
          <a:prstGeom prst="line">
            <a:avLst/>
          </a:prstGeom>
          <a:ln w="12700" cap="flat" cmpd="sng">
            <a:solidFill>
              <a:schemeClr val="tx1"/>
            </a:solidFill>
            <a:prstDash val="solid"/>
            <a:headEnd type="none" w="med" len="med"/>
            <a:tailEnd type="none" w="med" len="med"/>
          </a:ln>
        </p:spPr>
      </p:cxnSp>
      <p:cxnSp>
        <p:nvCxnSpPr>
          <p:cNvPr id="127210" name="直接连接符 42"/>
          <p:cNvCxnSpPr/>
          <p:nvPr/>
        </p:nvCxnSpPr>
        <p:spPr>
          <a:xfrm flipH="1" flipV="1">
            <a:off x="4989513" y="2332038"/>
            <a:ext cx="400050" cy="273050"/>
          </a:xfrm>
          <a:prstGeom prst="line">
            <a:avLst/>
          </a:prstGeom>
          <a:ln w="12700" cap="flat" cmpd="sng">
            <a:solidFill>
              <a:schemeClr val="tx1"/>
            </a:solidFill>
            <a:prstDash val="solid"/>
            <a:headEnd type="none" w="med" len="med"/>
            <a:tailEnd type="none" w="med" len="med"/>
          </a:ln>
        </p:spPr>
      </p:cxnSp>
      <p:sp>
        <p:nvSpPr>
          <p:cNvPr id="2" name="矩形 1"/>
          <p:cNvSpPr/>
          <p:nvPr/>
        </p:nvSpPr>
        <p:spPr>
          <a:xfrm>
            <a:off x="6948170" y="2067560"/>
            <a:ext cx="144145" cy="288290"/>
          </a:xfrm>
          <a:prstGeom prst="rect">
            <a:avLst/>
          </a:prstGeom>
          <a:noFill/>
          <a:ln w="19050" cap="flat" cmpd="sng" algn="ctr">
            <a:solidFill>
              <a:srgbClr val="00B05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3" name="矩形 2"/>
          <p:cNvSpPr/>
          <p:nvPr/>
        </p:nvSpPr>
        <p:spPr>
          <a:xfrm>
            <a:off x="4251960" y="3435985"/>
            <a:ext cx="144145" cy="288290"/>
          </a:xfrm>
          <a:prstGeom prst="rect">
            <a:avLst/>
          </a:prstGeom>
          <a:noFill/>
          <a:ln w="19050" cap="flat" cmpd="sng" algn="ctr">
            <a:solidFill>
              <a:srgbClr val="00B05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4" name="矩形 3"/>
          <p:cNvSpPr/>
          <p:nvPr/>
        </p:nvSpPr>
        <p:spPr>
          <a:xfrm>
            <a:off x="4251960" y="4672965"/>
            <a:ext cx="144145" cy="288290"/>
          </a:xfrm>
          <a:prstGeom prst="rect">
            <a:avLst/>
          </a:prstGeom>
          <a:noFill/>
          <a:ln w="19050" cap="flat" cmpd="sng" algn="ctr">
            <a:solidFill>
              <a:srgbClr val="00B05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5" name="矩形 4"/>
          <p:cNvSpPr/>
          <p:nvPr/>
        </p:nvSpPr>
        <p:spPr>
          <a:xfrm>
            <a:off x="7106920" y="2067560"/>
            <a:ext cx="144145" cy="288290"/>
          </a:xfrm>
          <a:prstGeom prst="rect">
            <a:avLst/>
          </a:prstGeom>
          <a:noFill/>
          <a:ln w="19050" cap="flat" cmpd="sng" algn="ctr">
            <a:solidFill>
              <a:srgbClr val="0070C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6" name="矩形 5"/>
          <p:cNvSpPr/>
          <p:nvPr/>
        </p:nvSpPr>
        <p:spPr>
          <a:xfrm>
            <a:off x="6660515" y="3415665"/>
            <a:ext cx="144145" cy="288290"/>
          </a:xfrm>
          <a:prstGeom prst="rect">
            <a:avLst/>
          </a:prstGeom>
          <a:noFill/>
          <a:ln w="19050" cap="flat" cmpd="sng" algn="ctr">
            <a:solidFill>
              <a:srgbClr val="0070C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7" name="矩形 6"/>
          <p:cNvSpPr/>
          <p:nvPr/>
        </p:nvSpPr>
        <p:spPr>
          <a:xfrm>
            <a:off x="6709410" y="4672965"/>
            <a:ext cx="144145" cy="288290"/>
          </a:xfrm>
          <a:prstGeom prst="rect">
            <a:avLst/>
          </a:prstGeom>
          <a:noFill/>
          <a:ln w="19050" cap="flat" cmpd="sng" algn="ctr">
            <a:solidFill>
              <a:srgbClr val="0070C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8" name="矩形 7"/>
          <p:cNvSpPr/>
          <p:nvPr/>
        </p:nvSpPr>
        <p:spPr>
          <a:xfrm>
            <a:off x="7251065" y="2067560"/>
            <a:ext cx="144145" cy="288290"/>
          </a:xfrm>
          <a:prstGeom prst="rect">
            <a:avLst/>
          </a:pr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9" name="矩形 8"/>
          <p:cNvSpPr/>
          <p:nvPr/>
        </p:nvSpPr>
        <p:spPr>
          <a:xfrm>
            <a:off x="2195830" y="4672965"/>
            <a:ext cx="144145" cy="288290"/>
          </a:xfrm>
          <a:prstGeom prst="rect">
            <a:avLst/>
          </a:pr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10" name="文本框 9"/>
          <p:cNvSpPr txBox="1"/>
          <p:nvPr/>
        </p:nvSpPr>
        <p:spPr>
          <a:xfrm>
            <a:off x="6950075" y="187325"/>
            <a:ext cx="454660" cy="368300"/>
          </a:xfrm>
          <a:prstGeom prst="rect">
            <a:avLst/>
          </a:prstGeom>
          <a:noFill/>
        </p:spPr>
        <p:txBody>
          <a:bodyPr wrap="square" rtlCol="0">
            <a:spAutoFit/>
          </a:bodyPr>
          <a:lstStyle/>
          <a:p>
            <a:r>
              <a:rPr lang="en-US" altLang="zh-CN" sz="1800" dirty="0">
                <a:solidFill>
                  <a:schemeClr val="tx1"/>
                </a:solidFill>
                <a:highlight>
                  <a:srgbClr val="FFFF00"/>
                </a:highlight>
                <a:latin typeface="华文新魏" panose="02010800040101010101" pitchFamily="2" charset="-122"/>
                <a:ea typeface="华文新魏" panose="02010800040101010101" pitchFamily="2" charset="-122"/>
              </a:rPr>
              <a:t>10</a:t>
            </a:r>
          </a:p>
        </p:txBody>
      </p:sp>
      <p:sp>
        <p:nvSpPr>
          <p:cNvPr id="11" name="文本框 10"/>
          <p:cNvSpPr txBox="1"/>
          <p:nvPr/>
        </p:nvSpPr>
        <p:spPr>
          <a:xfrm>
            <a:off x="7596505" y="187325"/>
            <a:ext cx="454660" cy="368300"/>
          </a:xfrm>
          <a:prstGeom prst="rect">
            <a:avLst/>
          </a:prstGeom>
          <a:noFill/>
        </p:spPr>
        <p:txBody>
          <a:bodyPr wrap="square" rtlCol="0">
            <a:spAutoFit/>
          </a:bodyPr>
          <a:lstStyle/>
          <a:p>
            <a:r>
              <a:rPr lang="en-US" altLang="zh-CN" sz="1800" dirty="0">
                <a:solidFill>
                  <a:schemeClr val="tx1"/>
                </a:solidFill>
                <a:highlight>
                  <a:srgbClr val="FFFF00"/>
                </a:highlight>
                <a:latin typeface="华文新魏" panose="02010800040101010101" pitchFamily="2" charset="-122"/>
                <a:ea typeface="华文新魏" panose="02010800040101010101" pitchFamily="2" charset="-122"/>
              </a:rPr>
              <a:t>01</a:t>
            </a:r>
          </a:p>
        </p:txBody>
      </p:sp>
      <p:sp>
        <p:nvSpPr>
          <p:cNvPr id="12" name="矩形 11"/>
          <p:cNvSpPr/>
          <p:nvPr/>
        </p:nvSpPr>
        <p:spPr>
          <a:xfrm>
            <a:off x="8011795" y="2086610"/>
            <a:ext cx="160655" cy="261620"/>
          </a:xfrm>
          <a:prstGeom prst="rect">
            <a:avLst/>
          </a:prstGeom>
          <a:solidFill>
            <a:srgbClr val="FF9900">
              <a:alpha val="40000"/>
            </a:srgbClr>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13" name="矩形 12"/>
          <p:cNvSpPr/>
          <p:nvPr/>
        </p:nvSpPr>
        <p:spPr>
          <a:xfrm>
            <a:off x="7658100" y="2067560"/>
            <a:ext cx="165735" cy="288290"/>
          </a:xfrm>
          <a:prstGeom prst="rect">
            <a:avLst/>
          </a:prstGeom>
          <a:noFill/>
          <a:ln w="19050" cap="flat" cmpd="sng" algn="ctr">
            <a:solidFill>
              <a:srgbClr val="00B05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14" name="矩形 13"/>
          <p:cNvSpPr/>
          <p:nvPr/>
        </p:nvSpPr>
        <p:spPr>
          <a:xfrm>
            <a:off x="3444875" y="3389630"/>
            <a:ext cx="144145" cy="288290"/>
          </a:xfrm>
          <a:prstGeom prst="rect">
            <a:avLst/>
          </a:prstGeom>
          <a:noFill/>
          <a:ln w="19050" cap="flat" cmpd="sng" algn="ctr">
            <a:solidFill>
              <a:srgbClr val="00B05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15" name="矩形 14"/>
          <p:cNvSpPr/>
          <p:nvPr/>
        </p:nvSpPr>
        <p:spPr>
          <a:xfrm>
            <a:off x="3444875" y="4672965"/>
            <a:ext cx="144145" cy="288290"/>
          </a:xfrm>
          <a:prstGeom prst="rect">
            <a:avLst/>
          </a:prstGeom>
          <a:noFill/>
          <a:ln w="19050" cap="flat" cmpd="sng" algn="ctr">
            <a:solidFill>
              <a:srgbClr val="00B05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16" name="矩形 15"/>
          <p:cNvSpPr/>
          <p:nvPr/>
        </p:nvSpPr>
        <p:spPr>
          <a:xfrm>
            <a:off x="7812405" y="2067560"/>
            <a:ext cx="144145" cy="288290"/>
          </a:xfrm>
          <a:prstGeom prst="rect">
            <a:avLst/>
          </a:prstGeom>
          <a:noFill/>
          <a:ln w="19050" cap="flat" cmpd="sng" algn="ctr">
            <a:solidFill>
              <a:srgbClr val="0070C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17" name="矩形 16"/>
          <p:cNvSpPr/>
          <p:nvPr/>
        </p:nvSpPr>
        <p:spPr>
          <a:xfrm>
            <a:off x="5887720" y="3371850"/>
            <a:ext cx="144145" cy="288290"/>
          </a:xfrm>
          <a:prstGeom prst="rect">
            <a:avLst/>
          </a:prstGeom>
          <a:noFill/>
          <a:ln w="19050" cap="flat" cmpd="sng" algn="ctr">
            <a:solidFill>
              <a:srgbClr val="0070C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18" name="矩形 17"/>
          <p:cNvSpPr/>
          <p:nvPr/>
        </p:nvSpPr>
        <p:spPr>
          <a:xfrm>
            <a:off x="5887720" y="4646930"/>
            <a:ext cx="144145" cy="288290"/>
          </a:xfrm>
          <a:prstGeom prst="rect">
            <a:avLst/>
          </a:prstGeom>
          <a:noFill/>
          <a:ln w="19050" cap="flat" cmpd="sng" algn="ctr">
            <a:solidFill>
              <a:srgbClr val="0070C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19" name="矩形 18"/>
          <p:cNvSpPr/>
          <p:nvPr/>
        </p:nvSpPr>
        <p:spPr>
          <a:xfrm>
            <a:off x="8011795" y="2067560"/>
            <a:ext cx="144145" cy="288290"/>
          </a:xfrm>
          <a:prstGeom prst="rect">
            <a:avLst/>
          </a:pr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20" name="矩形 19"/>
          <p:cNvSpPr/>
          <p:nvPr/>
        </p:nvSpPr>
        <p:spPr>
          <a:xfrm>
            <a:off x="1391285" y="4657725"/>
            <a:ext cx="144145" cy="288290"/>
          </a:xfrm>
          <a:prstGeom prst="rect">
            <a:avLst/>
          </a:prstGeom>
          <a:noFill/>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21" name="文本框 20"/>
          <p:cNvSpPr txBox="1"/>
          <p:nvPr/>
        </p:nvSpPr>
        <p:spPr>
          <a:xfrm>
            <a:off x="3342482" y="2251784"/>
            <a:ext cx="512762" cy="400110"/>
          </a:xfrm>
          <a:prstGeom prst="rect">
            <a:avLst/>
          </a:prstGeom>
          <a:noFill/>
        </p:spPr>
        <p:txBody>
          <a:bodyPr wrap="square" rtlCol="0">
            <a:spAutoFit/>
          </a:bodyPr>
          <a:lstStyle/>
          <a:p>
            <a:r>
              <a:rPr lang="en-US" altLang="zh-CN" dirty="0">
                <a:solidFill>
                  <a:schemeClr val="tx1"/>
                </a:solidFill>
              </a:rPr>
              <a:t>01</a:t>
            </a:r>
            <a:endParaRPr lang="zh-CN" altLang="en-US" dirty="0">
              <a:solidFill>
                <a:schemeClr val="tx1"/>
              </a:solidFill>
            </a:endParaRPr>
          </a:p>
        </p:txBody>
      </p:sp>
      <p:sp>
        <p:nvSpPr>
          <p:cNvPr id="64" name="文本框 63"/>
          <p:cNvSpPr txBox="1"/>
          <p:nvPr/>
        </p:nvSpPr>
        <p:spPr>
          <a:xfrm>
            <a:off x="4087813" y="2239933"/>
            <a:ext cx="512762" cy="400110"/>
          </a:xfrm>
          <a:prstGeom prst="rect">
            <a:avLst/>
          </a:prstGeom>
          <a:noFill/>
        </p:spPr>
        <p:txBody>
          <a:bodyPr wrap="square" rtlCol="0">
            <a:spAutoFit/>
          </a:bodyPr>
          <a:lstStyle/>
          <a:p>
            <a:r>
              <a:rPr lang="en-US" altLang="zh-CN" dirty="0">
                <a:solidFill>
                  <a:schemeClr val="tx1"/>
                </a:solidFill>
              </a:rPr>
              <a:t>10</a:t>
            </a:r>
            <a:endParaRPr lang="zh-CN" altLang="en-US" dirty="0">
              <a:solidFill>
                <a:schemeClr val="tx1"/>
              </a:solidFill>
            </a:endParaRPr>
          </a:p>
        </p:txBody>
      </p:sp>
      <p:sp>
        <p:nvSpPr>
          <p:cNvPr id="22" name="文本框 21">
            <a:extLst>
              <a:ext uri="{FF2B5EF4-FFF2-40B4-BE49-F238E27FC236}">
                <a16:creationId xmlns:a16="http://schemas.microsoft.com/office/drawing/2014/main" id="{9937B53B-F386-4E55-9069-711374A12DD8}"/>
              </a:ext>
            </a:extLst>
          </p:cNvPr>
          <p:cNvSpPr txBox="1"/>
          <p:nvPr/>
        </p:nvSpPr>
        <p:spPr>
          <a:xfrm>
            <a:off x="7658100" y="2715766"/>
            <a:ext cx="1522412" cy="400110"/>
          </a:xfrm>
          <a:prstGeom prst="rect">
            <a:avLst/>
          </a:prstGeom>
          <a:noFill/>
        </p:spPr>
        <p:txBody>
          <a:bodyPr wrap="square" rtlCol="0">
            <a:spAutoFit/>
          </a:bodyPr>
          <a:lstStyle/>
          <a:p>
            <a:r>
              <a:rPr lang="zh-CN" altLang="en-US" b="1" dirty="0">
                <a:solidFill>
                  <a:srgbClr val="0000FF"/>
                </a:solidFill>
              </a:rPr>
              <a:t>有问题吗？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ppt_x"/>
                                          </p:val>
                                        </p:tav>
                                        <p:tav tm="100000">
                                          <p:val>
                                            <p:strVal val="#ppt_x"/>
                                          </p:val>
                                        </p:tav>
                                      </p:tavLst>
                                    </p:anim>
                                    <p:anim calcmode="lin" valueType="num">
                                      <p:cBhvr additive="base">
                                        <p:cTn id="4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additive="base">
                                        <p:cTn id="47" dur="500" fill="hold"/>
                                        <p:tgtEl>
                                          <p:spTgt spid="8"/>
                                        </p:tgtEl>
                                        <p:attrNameLst>
                                          <p:attrName>ppt_x</p:attrName>
                                        </p:attrNameLst>
                                      </p:cBhvr>
                                      <p:tavLst>
                                        <p:tav tm="0">
                                          <p:val>
                                            <p:strVal val="#ppt_x"/>
                                          </p:val>
                                        </p:tav>
                                        <p:tav tm="100000">
                                          <p:val>
                                            <p:strVal val="#ppt_x"/>
                                          </p:val>
                                        </p:tav>
                                      </p:tavLst>
                                    </p:anim>
                                    <p:anim calcmode="lin" valueType="num">
                                      <p:cBhvr additive="base">
                                        <p:cTn id="4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ppt_x"/>
                                          </p:val>
                                        </p:tav>
                                        <p:tav tm="100000">
                                          <p:val>
                                            <p:strVal val="#ppt_x"/>
                                          </p:val>
                                        </p:tav>
                                      </p:tavLst>
                                    </p:anim>
                                    <p:anim calcmode="lin" valueType="num">
                                      <p:cBhvr additive="base">
                                        <p:cTn id="5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500" fill="hold"/>
                                        <p:tgtEl>
                                          <p:spTgt spid="13"/>
                                        </p:tgtEl>
                                        <p:attrNameLst>
                                          <p:attrName>ppt_x</p:attrName>
                                        </p:attrNameLst>
                                      </p:cBhvr>
                                      <p:tavLst>
                                        <p:tav tm="0">
                                          <p:val>
                                            <p:strVal val="#ppt_x"/>
                                          </p:val>
                                        </p:tav>
                                        <p:tav tm="100000">
                                          <p:val>
                                            <p:strVal val="#ppt_x"/>
                                          </p:val>
                                        </p:tav>
                                      </p:tavLst>
                                    </p:anim>
                                    <p:anim calcmode="lin" valueType="num">
                                      <p:cBhvr additive="base">
                                        <p:cTn id="6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 calcmode="lin" valueType="num">
                                      <p:cBhvr additive="base">
                                        <p:cTn id="65" dur="500" fill="hold"/>
                                        <p:tgtEl>
                                          <p:spTgt spid="14"/>
                                        </p:tgtEl>
                                        <p:attrNameLst>
                                          <p:attrName>ppt_x</p:attrName>
                                        </p:attrNameLst>
                                      </p:cBhvr>
                                      <p:tavLst>
                                        <p:tav tm="0">
                                          <p:val>
                                            <p:strVal val="#ppt_x"/>
                                          </p:val>
                                        </p:tav>
                                        <p:tav tm="100000">
                                          <p:val>
                                            <p:strVal val="#ppt_x"/>
                                          </p:val>
                                        </p:tav>
                                      </p:tavLst>
                                    </p:anim>
                                    <p:anim calcmode="lin" valueType="num">
                                      <p:cBhvr additive="base">
                                        <p:cTn id="6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5"/>
                                        </p:tgtEl>
                                        <p:attrNameLst>
                                          <p:attrName>style.visibility</p:attrName>
                                        </p:attrNameLst>
                                      </p:cBhvr>
                                      <p:to>
                                        <p:strVal val="visible"/>
                                      </p:to>
                                    </p:set>
                                    <p:anim calcmode="lin" valueType="num">
                                      <p:cBhvr additive="base">
                                        <p:cTn id="71" dur="500" fill="hold"/>
                                        <p:tgtEl>
                                          <p:spTgt spid="15"/>
                                        </p:tgtEl>
                                        <p:attrNameLst>
                                          <p:attrName>ppt_x</p:attrName>
                                        </p:attrNameLst>
                                      </p:cBhvr>
                                      <p:tavLst>
                                        <p:tav tm="0">
                                          <p:val>
                                            <p:strVal val="#ppt_x"/>
                                          </p:val>
                                        </p:tav>
                                        <p:tav tm="100000">
                                          <p:val>
                                            <p:strVal val="#ppt_x"/>
                                          </p:val>
                                        </p:tav>
                                      </p:tavLst>
                                    </p:anim>
                                    <p:anim calcmode="lin" valueType="num">
                                      <p:cBhvr additive="base">
                                        <p:cTn id="7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500" fill="hold"/>
                                        <p:tgtEl>
                                          <p:spTgt spid="16"/>
                                        </p:tgtEl>
                                        <p:attrNameLst>
                                          <p:attrName>ppt_x</p:attrName>
                                        </p:attrNameLst>
                                      </p:cBhvr>
                                      <p:tavLst>
                                        <p:tav tm="0">
                                          <p:val>
                                            <p:strVal val="#ppt_x"/>
                                          </p:val>
                                        </p:tav>
                                        <p:tav tm="100000">
                                          <p:val>
                                            <p:strVal val="#ppt_x"/>
                                          </p:val>
                                        </p:tav>
                                      </p:tavLst>
                                    </p:anim>
                                    <p:anim calcmode="lin" valueType="num">
                                      <p:cBhvr additive="base">
                                        <p:cTn id="7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17"/>
                                        </p:tgtEl>
                                        <p:attrNameLst>
                                          <p:attrName>style.visibility</p:attrName>
                                        </p:attrNameLst>
                                      </p:cBhvr>
                                      <p:to>
                                        <p:strVal val="visible"/>
                                      </p:to>
                                    </p:set>
                                    <p:anim calcmode="lin" valueType="num">
                                      <p:cBhvr additive="base">
                                        <p:cTn id="83" dur="500" fill="hold"/>
                                        <p:tgtEl>
                                          <p:spTgt spid="17"/>
                                        </p:tgtEl>
                                        <p:attrNameLst>
                                          <p:attrName>ppt_x</p:attrName>
                                        </p:attrNameLst>
                                      </p:cBhvr>
                                      <p:tavLst>
                                        <p:tav tm="0">
                                          <p:val>
                                            <p:strVal val="#ppt_x"/>
                                          </p:val>
                                        </p:tav>
                                        <p:tav tm="100000">
                                          <p:val>
                                            <p:strVal val="#ppt_x"/>
                                          </p:val>
                                        </p:tav>
                                      </p:tavLst>
                                    </p:anim>
                                    <p:anim calcmode="lin" valueType="num">
                                      <p:cBhvr additive="base">
                                        <p:cTn id="8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anim calcmode="lin" valueType="num">
                                      <p:cBhvr additive="base">
                                        <p:cTn id="89" dur="500" fill="hold"/>
                                        <p:tgtEl>
                                          <p:spTgt spid="18"/>
                                        </p:tgtEl>
                                        <p:attrNameLst>
                                          <p:attrName>ppt_x</p:attrName>
                                        </p:attrNameLst>
                                      </p:cBhvr>
                                      <p:tavLst>
                                        <p:tav tm="0">
                                          <p:val>
                                            <p:strVal val="#ppt_x"/>
                                          </p:val>
                                        </p:tav>
                                        <p:tav tm="100000">
                                          <p:val>
                                            <p:strVal val="#ppt_x"/>
                                          </p:val>
                                        </p:tav>
                                      </p:tavLst>
                                    </p:anim>
                                    <p:anim calcmode="lin" valueType="num">
                                      <p:cBhvr additive="base">
                                        <p:cTn id="9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19"/>
                                        </p:tgtEl>
                                        <p:attrNameLst>
                                          <p:attrName>style.visibility</p:attrName>
                                        </p:attrNameLst>
                                      </p:cBhvr>
                                      <p:to>
                                        <p:strVal val="visible"/>
                                      </p:to>
                                    </p:set>
                                    <p:anim calcmode="lin" valueType="num">
                                      <p:cBhvr additive="base">
                                        <p:cTn id="95" dur="500" fill="hold"/>
                                        <p:tgtEl>
                                          <p:spTgt spid="19"/>
                                        </p:tgtEl>
                                        <p:attrNameLst>
                                          <p:attrName>ppt_x</p:attrName>
                                        </p:attrNameLst>
                                      </p:cBhvr>
                                      <p:tavLst>
                                        <p:tav tm="0">
                                          <p:val>
                                            <p:strVal val="#ppt_x"/>
                                          </p:val>
                                        </p:tav>
                                        <p:tav tm="100000">
                                          <p:val>
                                            <p:strVal val="#ppt_x"/>
                                          </p:val>
                                        </p:tav>
                                      </p:tavLst>
                                    </p:anim>
                                    <p:anim calcmode="lin" valueType="num">
                                      <p:cBhvr additive="base">
                                        <p:cTn id="9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20"/>
                                        </p:tgtEl>
                                        <p:attrNameLst>
                                          <p:attrName>style.visibility</p:attrName>
                                        </p:attrNameLst>
                                      </p:cBhvr>
                                      <p:to>
                                        <p:strVal val="visible"/>
                                      </p:to>
                                    </p:set>
                                    <p:anim calcmode="lin" valueType="num">
                                      <p:cBhvr additive="base">
                                        <p:cTn id="101" dur="500" fill="hold"/>
                                        <p:tgtEl>
                                          <p:spTgt spid="20"/>
                                        </p:tgtEl>
                                        <p:attrNameLst>
                                          <p:attrName>ppt_x</p:attrName>
                                        </p:attrNameLst>
                                      </p:cBhvr>
                                      <p:tavLst>
                                        <p:tav tm="0">
                                          <p:val>
                                            <p:strVal val="#ppt_x"/>
                                          </p:val>
                                        </p:tav>
                                        <p:tav tm="100000">
                                          <p:val>
                                            <p:strVal val="#ppt_x"/>
                                          </p:val>
                                        </p:tav>
                                      </p:tavLst>
                                    </p:anim>
                                    <p:anim calcmode="lin" valueType="num">
                                      <p:cBhvr additive="base">
                                        <p:cTn id="10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12"/>
                                        </p:tgtEl>
                                        <p:attrNameLst>
                                          <p:attrName>style.visibility</p:attrName>
                                        </p:attrNameLst>
                                      </p:cBhvr>
                                      <p:to>
                                        <p:strVal val="visible"/>
                                      </p:to>
                                    </p:set>
                                    <p:animEffect transition="in" filter="blinds(horizontal)">
                                      <p:cBhvr>
                                        <p:cTn id="1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p:bldP spid="10" grpId="1"/>
      <p:bldP spid="11" grpId="0"/>
      <p:bldP spid="11" grpId="1"/>
      <p:bldP spid="12" grpId="0" animBg="1"/>
      <p:bldP spid="12" grpId="1" animBg="1"/>
      <p:bldP spid="13" grpId="0" bldLvl="0" animBg="1"/>
      <p:bldP spid="13" grpId="1" animBg="1"/>
      <p:bldP spid="14" grpId="0" bldLvl="0" animBg="1"/>
      <p:bldP spid="14" grpId="1" animBg="1"/>
      <p:bldP spid="15" grpId="0" bldLvl="0" animBg="1"/>
      <p:bldP spid="15" grpId="1" animBg="1"/>
      <p:bldP spid="16" grpId="0" bldLvl="0" animBg="1"/>
      <p:bldP spid="16" grpId="1" animBg="1"/>
      <p:bldP spid="17" grpId="0" bldLvl="0" animBg="1"/>
      <p:bldP spid="17" grpId="1" animBg="1"/>
      <p:bldP spid="18" grpId="0" bldLvl="0" animBg="1"/>
      <p:bldP spid="18" grpId="1" animBg="1"/>
      <p:bldP spid="19" grpId="0" bldLvl="0" animBg="1"/>
      <p:bldP spid="19" grpId="1" animBg="1"/>
      <p:bldP spid="20" grpId="0" bldLvl="0" animBg="1"/>
      <p:bldP spid="20" grpId="1" animBg="1"/>
      <p:bldP spid="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3"/>
          <p:cNvSpPr>
            <a:spLocks noGrp="1"/>
          </p:cNvSpPr>
          <p:nvPr>
            <p:ph type="title"/>
          </p:nvPr>
        </p:nvSpPr>
        <p:spPr>
          <a:xfrm>
            <a:off x="824865" y="473075"/>
            <a:ext cx="4054475" cy="539750"/>
          </a:xfrm>
          <a:prstGeom prst="rect">
            <a:avLst/>
          </a:prstGeom>
          <a:noFill/>
          <a:ln w="9525">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⑸ </a:t>
            </a:r>
            <a:r>
              <a:rPr lang="zh-CN" altLang="en-US" sz="2000" b="1" dirty="0">
                <a:latin typeface="华文新魏" panose="02010800040101010101" pitchFamily="2" charset="-122"/>
                <a:ea typeface="华文新魏" panose="02010800040101010101" pitchFamily="2" charset="-122"/>
              </a:rPr>
              <a:t>关于电路挂起的讨论</a:t>
            </a:r>
          </a:p>
        </p:txBody>
      </p:sp>
      <p:sp>
        <p:nvSpPr>
          <p:cNvPr id="128003" name="Rectangle 4"/>
          <p:cNvSpPr>
            <a:spLocks noGrp="1"/>
          </p:cNvSpPr>
          <p:nvPr>
            <p:ph type="body"/>
          </p:nvPr>
        </p:nvSpPr>
        <p:spPr>
          <a:xfrm>
            <a:off x="681990" y="855980"/>
            <a:ext cx="4747260" cy="1889125"/>
          </a:xfrm>
          <a:prstGeom prst="rect">
            <a:avLst/>
          </a:prstGeom>
          <a:noFill/>
          <a:ln w="9525">
            <a:noFill/>
          </a:ln>
        </p:spPr>
        <p:txBody>
          <a:bodyPr/>
          <a:lstStyle/>
          <a:p>
            <a:pPr eaLnBrk="1" hangingPunct="1">
              <a:lnSpc>
                <a:spcPct val="70000"/>
              </a:lnSpc>
              <a:buNone/>
            </a:pPr>
            <a:r>
              <a:rPr lang="zh-CN" altLang="en-US"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此电路</a:t>
            </a:r>
            <a:r>
              <a:rPr lang="zh-CN" altLang="en-US" sz="2000" b="1" dirty="0">
                <a:solidFill>
                  <a:schemeClr val="accent2"/>
                </a:solidFill>
                <a:latin typeface="华文新魏" panose="02010800040101010101" pitchFamily="2" charset="-122"/>
                <a:ea typeface="华文新魏" panose="02010800040101010101" pitchFamily="2" charset="-122"/>
              </a:rPr>
              <a:t>无挂起状况</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pPr eaLnBrk="1" hangingPunct="1">
              <a:lnSpc>
                <a:spcPct val="70000"/>
              </a:lnSpc>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但在</a:t>
            </a:r>
            <a:r>
              <a:rPr lang="en-US" altLang="zh-CN" sz="2000" b="1" dirty="0">
                <a:solidFill>
                  <a:schemeClr val="accent2"/>
                </a:solidFill>
                <a:latin typeface="华文新魏" panose="02010800040101010101" pitchFamily="2" charset="-122"/>
                <a:ea typeface="华文新魏" panose="02010800040101010101" pitchFamily="2" charset="-122"/>
              </a:rPr>
              <a:t>y</a:t>
            </a:r>
            <a:r>
              <a:rPr lang="en-US" altLang="zh-CN" sz="2000" b="1" baseline="-25000" dirty="0">
                <a:solidFill>
                  <a:schemeClr val="accent2"/>
                </a:solidFill>
                <a:latin typeface="华文新魏" panose="02010800040101010101" pitchFamily="2" charset="-122"/>
                <a:ea typeface="华文新魏" panose="02010800040101010101" pitchFamily="2" charset="-122"/>
              </a:rPr>
              <a:t>1</a:t>
            </a:r>
            <a:r>
              <a:rPr lang="en-US" altLang="zh-CN" sz="2000" b="1" dirty="0">
                <a:solidFill>
                  <a:schemeClr val="accent2"/>
                </a:solidFill>
                <a:latin typeface="华文新魏" panose="02010800040101010101" pitchFamily="2" charset="-122"/>
                <a:ea typeface="华文新魏" panose="02010800040101010101" pitchFamily="2" charset="-122"/>
              </a:rPr>
              <a:t>y</a:t>
            </a:r>
            <a:r>
              <a:rPr lang="en-US" altLang="zh-CN" sz="2000" b="1" baseline="-25000" dirty="0">
                <a:solidFill>
                  <a:schemeClr val="accent2"/>
                </a:solidFill>
                <a:latin typeface="华文新魏" panose="02010800040101010101" pitchFamily="2" charset="-122"/>
                <a:ea typeface="华文新魏" panose="02010800040101010101" pitchFamily="2" charset="-122"/>
              </a:rPr>
              <a:t>2</a:t>
            </a:r>
            <a:r>
              <a:rPr lang="en-US" altLang="zh-CN" sz="2000" b="1" dirty="0">
                <a:solidFill>
                  <a:schemeClr val="accent2"/>
                </a:solidFill>
                <a:latin typeface="华文新魏" panose="02010800040101010101" pitchFamily="2" charset="-122"/>
                <a:ea typeface="华文新魏" panose="02010800040101010101" pitchFamily="2" charset="-122"/>
              </a:rPr>
              <a:t> = 10 </a:t>
            </a:r>
            <a:r>
              <a:rPr lang="zh-CN" altLang="en-US" sz="2000" b="1" dirty="0">
                <a:latin typeface="华文新魏" panose="02010800040101010101" pitchFamily="2" charset="-122"/>
                <a:ea typeface="华文新魏" panose="02010800040101010101" pitchFamily="2" charset="-122"/>
              </a:rPr>
              <a:t>时，</a:t>
            </a:r>
          </a:p>
          <a:p>
            <a:pPr eaLnBrk="1" hangingPunct="1">
              <a:lnSpc>
                <a:spcPct val="70000"/>
              </a:lnSpc>
              <a:buNone/>
            </a:pPr>
            <a:r>
              <a:rPr lang="zh-CN" altLang="en-US" sz="2000" b="1" dirty="0">
                <a:latin typeface="华文新魏" panose="02010800040101010101" pitchFamily="2" charset="-122"/>
                <a:ea typeface="华文新魏" panose="02010800040101010101" pitchFamily="2" charset="-122"/>
              </a:rPr>
              <a:t>    若 </a:t>
            </a:r>
            <a:r>
              <a:rPr lang="en-US" altLang="zh-CN" sz="2000" b="1" dirty="0">
                <a:solidFill>
                  <a:schemeClr val="accent2"/>
                </a:solidFill>
                <a:latin typeface="华文新魏" panose="02010800040101010101" pitchFamily="2" charset="-122"/>
                <a:ea typeface="华文新魏" panose="02010800040101010101" pitchFamily="2" charset="-122"/>
              </a:rPr>
              <a:t>x</a:t>
            </a:r>
            <a:r>
              <a:rPr lang="en-US" altLang="zh-CN" sz="2000" b="1" baseline="-25000" dirty="0">
                <a:solidFill>
                  <a:schemeClr val="accent2"/>
                </a:solidFill>
                <a:latin typeface="华文新魏" panose="02010800040101010101" pitchFamily="2" charset="-122"/>
                <a:ea typeface="华文新魏" panose="02010800040101010101" pitchFamily="2" charset="-122"/>
              </a:rPr>
              <a:t>2</a:t>
            </a:r>
            <a:r>
              <a:rPr lang="en-US" altLang="zh-CN" sz="2000" b="1" dirty="0">
                <a:solidFill>
                  <a:schemeClr val="accent2"/>
                </a:solidFill>
                <a:latin typeface="华文新魏" panose="02010800040101010101" pitchFamily="2" charset="-122"/>
                <a:ea typeface="华文新魏" panose="02010800040101010101" pitchFamily="2" charset="-122"/>
              </a:rPr>
              <a:t> = 1</a:t>
            </a:r>
            <a:r>
              <a:rPr lang="zh-CN" altLang="en-US" sz="2000" b="1" dirty="0">
                <a:latin typeface="华文新魏" panose="02010800040101010101" pitchFamily="2" charset="-122"/>
                <a:ea typeface="华文新魏" panose="02010800040101010101" pitchFamily="2" charset="-122"/>
              </a:rPr>
              <a:t>时</a:t>
            </a:r>
            <a:r>
              <a:rPr lang="en-US" altLang="zh-CN" sz="2000" b="1" dirty="0">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有一个错误的输出 </a:t>
            </a:r>
            <a:r>
              <a:rPr lang="en-US" altLang="zh-CN" sz="2000" b="1" dirty="0">
                <a:solidFill>
                  <a:srgbClr val="FF0000"/>
                </a:solidFill>
                <a:latin typeface="华文新魏" panose="02010800040101010101" pitchFamily="2" charset="-122"/>
                <a:ea typeface="华文新魏" panose="02010800040101010101" pitchFamily="2" charset="-122"/>
              </a:rPr>
              <a:t>1</a:t>
            </a:r>
          </a:p>
          <a:p>
            <a:pPr eaLnBrk="1" hangingPunct="1">
              <a:lnSpc>
                <a:spcPct val="70000"/>
              </a:lnSpc>
              <a:buNone/>
            </a:pPr>
            <a:r>
              <a:rPr lang="zh-CN" altLang="en-US" sz="2000" b="1" dirty="0">
                <a:latin typeface="华文新魏" panose="02010800040101010101" pitchFamily="2" charset="-122"/>
                <a:ea typeface="华文新魏" panose="02010800040101010101" pitchFamily="2" charset="-122"/>
              </a:rPr>
              <a:t>    因此修改输出函数表达式：</a:t>
            </a:r>
          </a:p>
          <a:p>
            <a:pPr eaLnBrk="1" hangingPunct="1">
              <a:lnSpc>
                <a:spcPct val="70000"/>
              </a:lnSpc>
              <a:buNone/>
            </a:pPr>
            <a:r>
              <a:rPr lang="zh-CN" altLang="en-US"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Z = x</a:t>
            </a:r>
            <a:r>
              <a:rPr lang="en-US" altLang="zh-CN" sz="2000" b="1" baseline="-25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1</a:t>
            </a:r>
            <a:r>
              <a:rPr lang="en-US" altLang="zh-CN" sz="2000" b="1" dirty="0">
                <a:solidFill>
                  <a:srgbClr val="FF0000"/>
                </a:solidFill>
                <a:latin typeface="华文新魏" panose="02010800040101010101" pitchFamily="2" charset="-122"/>
                <a:ea typeface="华文新魏" panose="02010800040101010101" pitchFamily="2" charset="-122"/>
              </a:rPr>
              <a:t>y</a:t>
            </a:r>
            <a:r>
              <a:rPr lang="en-US" altLang="zh-CN" sz="2000" b="1" baseline="-25000" dirty="0">
                <a:solidFill>
                  <a:srgbClr val="FF0000"/>
                </a:solidFill>
                <a:latin typeface="华文新魏" panose="02010800040101010101" pitchFamily="2" charset="-122"/>
                <a:ea typeface="华文新魏" panose="02010800040101010101" pitchFamily="2" charset="-122"/>
              </a:rPr>
              <a:t>2</a:t>
            </a:r>
          </a:p>
        </p:txBody>
      </p:sp>
      <p:graphicFrame>
        <p:nvGraphicFramePr>
          <p:cNvPr id="34820" name="Group 4"/>
          <p:cNvGraphicFramePr>
            <a:graphicFrameLocks noGrp="1"/>
          </p:cNvGraphicFramePr>
          <p:nvPr/>
        </p:nvGraphicFramePr>
        <p:xfrm>
          <a:off x="4931728" y="614363"/>
          <a:ext cx="2814637" cy="1606550"/>
        </p:xfrm>
        <a:graphic>
          <a:graphicData uri="http://schemas.openxmlformats.org/drawingml/2006/table">
            <a:tbl>
              <a:tblPr/>
              <a:tblGrid>
                <a:gridCol w="1182687">
                  <a:extLst>
                    <a:ext uri="{9D8B030D-6E8A-4147-A177-3AD203B41FA5}">
                      <a16:colId xmlns:a16="http://schemas.microsoft.com/office/drawing/2014/main" val="20000"/>
                    </a:ext>
                  </a:extLst>
                </a:gridCol>
                <a:gridCol w="815975">
                  <a:extLst>
                    <a:ext uri="{9D8B030D-6E8A-4147-A177-3AD203B41FA5}">
                      <a16:colId xmlns:a16="http://schemas.microsoft.com/office/drawing/2014/main" val="20001"/>
                    </a:ext>
                  </a:extLst>
                </a:gridCol>
                <a:gridCol w="815975">
                  <a:extLst>
                    <a:ext uri="{9D8B030D-6E8A-4147-A177-3AD203B41FA5}">
                      <a16:colId xmlns:a16="http://schemas.microsoft.com/office/drawing/2014/main" val="20002"/>
                    </a:ext>
                  </a:extLst>
                </a:gridCol>
              </a:tblGrid>
              <a:tr h="3619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x</a:t>
                      </a:r>
                      <a:r>
                        <a:rPr kumimoji="0" lang="en-US" altLang="zh-CN" sz="2100" b="1" i="0" u="none" strike="noStrike" cap="none" normalizeH="0" baseline="-25000">
                          <a:ln>
                            <a:noFill/>
                          </a:ln>
                          <a:solidFill>
                            <a:schemeClr val="accent2"/>
                          </a:solidFill>
                          <a:effectLst/>
                          <a:latin typeface="Times New Roman" panose="02020603050405020304" pitchFamily="18" charset="0"/>
                          <a:ea typeface="宋体" panose="02010600030101010101" pitchFamily="2" charset="-122"/>
                        </a:rPr>
                        <a:t>2</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DFF"/>
                    </a:solidFill>
                  </a:tcPr>
                </a:tc>
                <a:extLst>
                  <a:ext uri="{0D108BD9-81ED-4DB2-BD59-A6C34878D82A}">
                    <a16:rowId xmlns:a16="http://schemas.microsoft.com/office/drawing/2014/main" val="10000"/>
                  </a:ext>
                </a:extLst>
              </a:tr>
              <a:tr h="3111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111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111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111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E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11</a:t>
                      </a: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0</a:t>
                      </a:r>
                      <a:endPar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rgbClr val="FF3300"/>
                          </a:solidFill>
                          <a:effectLst/>
                          <a:latin typeface="Times New Roman" panose="02020603050405020304" pitchFamily="18" charset="0"/>
                          <a:ea typeface="宋体" panose="02010600030101010101" pitchFamily="2" charset="-122"/>
                        </a:rPr>
                        <a:t>00</a:t>
                      </a: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en-US" altLang="zh-CN" sz="2100" b="0"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8031" name="Text Box 32"/>
          <p:cNvSpPr txBox="1"/>
          <p:nvPr/>
        </p:nvSpPr>
        <p:spPr>
          <a:xfrm>
            <a:off x="5565140" y="501650"/>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sp>
        <p:nvSpPr>
          <p:cNvPr id="128032" name="Text Box 33"/>
          <p:cNvSpPr txBox="1"/>
          <p:nvPr/>
        </p:nvSpPr>
        <p:spPr>
          <a:xfrm>
            <a:off x="4879340" y="601663"/>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p>
        </p:txBody>
      </p:sp>
      <p:graphicFrame>
        <p:nvGraphicFramePr>
          <p:cNvPr id="34849" name="Group 33"/>
          <p:cNvGraphicFramePr>
            <a:graphicFrameLocks noGrp="1"/>
          </p:cNvGraphicFramePr>
          <p:nvPr/>
        </p:nvGraphicFramePr>
        <p:xfrm>
          <a:off x="2898140" y="2460625"/>
          <a:ext cx="1981200" cy="1384301"/>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8070" name="Text Box 83"/>
          <p:cNvSpPr txBox="1"/>
          <p:nvPr/>
        </p:nvSpPr>
        <p:spPr>
          <a:xfrm>
            <a:off x="2593340" y="2490788"/>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p>
        </p:txBody>
      </p:sp>
      <p:sp>
        <p:nvSpPr>
          <p:cNvPr id="128071" name="Text Box 84"/>
          <p:cNvSpPr txBox="1"/>
          <p:nvPr/>
        </p:nvSpPr>
        <p:spPr>
          <a:xfrm>
            <a:off x="3050540" y="2286000"/>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graphicFrame>
        <p:nvGraphicFramePr>
          <p:cNvPr id="34888" name="Group 72"/>
          <p:cNvGraphicFramePr>
            <a:graphicFrameLocks noGrp="1"/>
          </p:cNvGraphicFramePr>
          <p:nvPr/>
        </p:nvGraphicFramePr>
        <p:xfrm>
          <a:off x="5336540" y="2460625"/>
          <a:ext cx="1981200" cy="1384301"/>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8109" name="Text Box 134"/>
          <p:cNvSpPr txBox="1"/>
          <p:nvPr/>
        </p:nvSpPr>
        <p:spPr>
          <a:xfrm>
            <a:off x="5031740" y="2490788"/>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p>
        </p:txBody>
      </p:sp>
      <p:sp>
        <p:nvSpPr>
          <p:cNvPr id="128110" name="Text Box 135"/>
          <p:cNvSpPr txBox="1"/>
          <p:nvPr/>
        </p:nvSpPr>
        <p:spPr>
          <a:xfrm>
            <a:off x="5488940" y="2286000"/>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sp>
        <p:nvSpPr>
          <p:cNvPr id="128111" name="Text Box 136"/>
          <p:cNvSpPr txBox="1"/>
          <p:nvPr/>
        </p:nvSpPr>
        <p:spPr>
          <a:xfrm>
            <a:off x="4803140" y="3532188"/>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1</a:t>
            </a:r>
          </a:p>
        </p:txBody>
      </p:sp>
      <p:sp>
        <p:nvSpPr>
          <p:cNvPr id="128112" name="Text Box 137"/>
          <p:cNvSpPr txBox="1"/>
          <p:nvPr/>
        </p:nvSpPr>
        <p:spPr>
          <a:xfrm>
            <a:off x="7012940" y="3543300"/>
            <a:ext cx="1066800" cy="40005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CLK</a:t>
            </a:r>
            <a:r>
              <a:rPr lang="en-US" altLang="zh-CN" b="1" baseline="-25000" dirty="0">
                <a:solidFill>
                  <a:schemeClr val="tx1"/>
                </a:solidFill>
                <a:latin typeface="Calibri" panose="020F0502020204030204" pitchFamily="34" charset="0"/>
              </a:rPr>
              <a:t>2</a:t>
            </a:r>
          </a:p>
        </p:txBody>
      </p:sp>
      <p:graphicFrame>
        <p:nvGraphicFramePr>
          <p:cNvPr id="34929" name="Group 113"/>
          <p:cNvGraphicFramePr>
            <a:graphicFrameLocks noGrp="1"/>
          </p:cNvGraphicFramePr>
          <p:nvPr>
            <p:custDataLst>
              <p:tags r:id="rId1"/>
            </p:custDataLst>
          </p:nvPr>
        </p:nvGraphicFramePr>
        <p:xfrm>
          <a:off x="2898140" y="3717925"/>
          <a:ext cx="1981200" cy="1384301"/>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34965" name="Group 149"/>
          <p:cNvGraphicFramePr>
            <a:graphicFrameLocks noGrp="1"/>
          </p:cNvGraphicFramePr>
          <p:nvPr>
            <p:custDataLst>
              <p:tags r:id="rId2"/>
            </p:custDataLst>
          </p:nvPr>
        </p:nvGraphicFramePr>
        <p:xfrm>
          <a:off x="5336540" y="3717925"/>
          <a:ext cx="1981200" cy="1384301"/>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8185" name="Text Box 234"/>
          <p:cNvSpPr txBox="1"/>
          <p:nvPr/>
        </p:nvSpPr>
        <p:spPr>
          <a:xfrm>
            <a:off x="4803140" y="4789488"/>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1</a:t>
            </a:r>
          </a:p>
        </p:txBody>
      </p:sp>
      <p:sp>
        <p:nvSpPr>
          <p:cNvPr id="128186" name="Text Box 235"/>
          <p:cNvSpPr txBox="1"/>
          <p:nvPr/>
        </p:nvSpPr>
        <p:spPr>
          <a:xfrm>
            <a:off x="6784340" y="4800600"/>
            <a:ext cx="1066800" cy="40005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D</a:t>
            </a:r>
            <a:r>
              <a:rPr lang="en-US" altLang="zh-CN" b="1" baseline="-25000" dirty="0">
                <a:solidFill>
                  <a:schemeClr val="tx1"/>
                </a:solidFill>
                <a:latin typeface="Calibri" panose="020F0502020204030204" pitchFamily="34" charset="0"/>
              </a:rPr>
              <a:t>2</a:t>
            </a:r>
          </a:p>
        </p:txBody>
      </p:sp>
      <p:sp>
        <p:nvSpPr>
          <p:cNvPr id="128187" name="Rectangle 236"/>
          <p:cNvSpPr/>
          <p:nvPr/>
        </p:nvSpPr>
        <p:spPr>
          <a:xfrm>
            <a:off x="3736340" y="3314700"/>
            <a:ext cx="647700" cy="485775"/>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8188" name="Rectangle 237"/>
          <p:cNvSpPr/>
          <p:nvPr/>
        </p:nvSpPr>
        <p:spPr>
          <a:xfrm>
            <a:off x="6212840" y="3028950"/>
            <a:ext cx="647700" cy="485775"/>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8189" name="Rectangle 238"/>
          <p:cNvSpPr/>
          <p:nvPr/>
        </p:nvSpPr>
        <p:spPr>
          <a:xfrm>
            <a:off x="4155440" y="3028950"/>
            <a:ext cx="647700" cy="242888"/>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8190" name="Rectangle 239"/>
          <p:cNvSpPr/>
          <p:nvPr/>
        </p:nvSpPr>
        <p:spPr>
          <a:xfrm>
            <a:off x="3355340" y="4029075"/>
            <a:ext cx="1439863" cy="485775"/>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128191" name="Group 240"/>
          <p:cNvGrpSpPr/>
          <p:nvPr/>
        </p:nvGrpSpPr>
        <p:grpSpPr>
          <a:xfrm>
            <a:off x="5793740" y="3975100"/>
            <a:ext cx="1447800" cy="225425"/>
            <a:chOff x="0" y="0"/>
            <a:chExt cx="912" cy="144"/>
          </a:xfrm>
        </p:grpSpPr>
        <p:sp>
          <p:nvSpPr>
            <p:cNvPr id="128245" name="Line 241"/>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8246" name="Line 242"/>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8247" name="Line 243"/>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8192" name="Group 244"/>
          <p:cNvGrpSpPr/>
          <p:nvPr/>
        </p:nvGrpSpPr>
        <p:grpSpPr>
          <a:xfrm>
            <a:off x="5793740" y="4875213"/>
            <a:ext cx="1447800" cy="225425"/>
            <a:chOff x="0" y="0"/>
            <a:chExt cx="912" cy="190"/>
          </a:xfrm>
        </p:grpSpPr>
        <p:sp>
          <p:nvSpPr>
            <p:cNvPr id="128242" name="Line 245"/>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8243" name="Line 246"/>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8244" name="Line 247"/>
            <p:cNvSpPr/>
            <p:nvPr/>
          </p:nvSpPr>
          <p:spPr>
            <a:xfrm>
              <a:off x="912" y="0"/>
              <a:ext cx="0" cy="190"/>
            </a:xfrm>
            <a:prstGeom prst="line">
              <a:avLst/>
            </a:prstGeom>
            <a:ln w="28575" cap="flat" cmpd="sng">
              <a:solidFill>
                <a:srgbClr val="FF33CC"/>
              </a:solidFill>
              <a:prstDash val="solid"/>
              <a:headEnd type="none" w="med" len="med"/>
              <a:tailEnd type="none" w="med" len="med"/>
            </a:ln>
          </p:spPr>
        </p:sp>
      </p:grpSp>
      <p:grpSp>
        <p:nvGrpSpPr>
          <p:cNvPr id="128193" name="Group 248"/>
          <p:cNvGrpSpPr/>
          <p:nvPr/>
        </p:nvGrpSpPr>
        <p:grpSpPr>
          <a:xfrm>
            <a:off x="6560503" y="2714625"/>
            <a:ext cx="719137" cy="227013"/>
            <a:chOff x="0" y="0"/>
            <a:chExt cx="912" cy="144"/>
          </a:xfrm>
        </p:grpSpPr>
        <p:sp>
          <p:nvSpPr>
            <p:cNvPr id="128239" name="Line 249"/>
            <p:cNvSpPr/>
            <p:nvPr/>
          </p:nvSpPr>
          <p:spPr>
            <a:xfrm>
              <a:off x="0" y="144"/>
              <a:ext cx="907" cy="0"/>
            </a:xfrm>
            <a:prstGeom prst="line">
              <a:avLst/>
            </a:prstGeom>
            <a:ln w="28575" cap="flat" cmpd="sng">
              <a:solidFill>
                <a:srgbClr val="FF33CC"/>
              </a:solidFill>
              <a:prstDash val="solid"/>
              <a:headEnd type="none" w="med" len="med"/>
              <a:tailEnd type="none" w="med" len="med"/>
            </a:ln>
          </p:spPr>
        </p:sp>
        <p:sp>
          <p:nvSpPr>
            <p:cNvPr id="128240" name="Line 250"/>
            <p:cNvSpPr/>
            <p:nvPr/>
          </p:nvSpPr>
          <p:spPr>
            <a:xfrm>
              <a:off x="0" y="0"/>
              <a:ext cx="0" cy="144"/>
            </a:xfrm>
            <a:prstGeom prst="line">
              <a:avLst/>
            </a:prstGeom>
            <a:ln w="28575" cap="flat" cmpd="sng">
              <a:solidFill>
                <a:srgbClr val="FF33CC"/>
              </a:solidFill>
              <a:prstDash val="solid"/>
              <a:headEnd type="none" w="med" len="med"/>
              <a:tailEnd type="none" w="med" len="med"/>
            </a:ln>
          </p:spPr>
        </p:sp>
        <p:sp>
          <p:nvSpPr>
            <p:cNvPr id="128241" name="Line 251"/>
            <p:cNvSpPr/>
            <p:nvPr/>
          </p:nvSpPr>
          <p:spPr>
            <a:xfrm>
              <a:off x="912" y="0"/>
              <a:ext cx="0" cy="144"/>
            </a:xfrm>
            <a:prstGeom prst="line">
              <a:avLst/>
            </a:prstGeom>
            <a:ln w="28575" cap="flat" cmpd="sng">
              <a:solidFill>
                <a:srgbClr val="FF33CC"/>
              </a:solidFill>
              <a:prstDash val="solid"/>
              <a:headEnd type="none" w="med" len="med"/>
              <a:tailEnd type="none" w="med" len="med"/>
            </a:ln>
          </p:spPr>
        </p:sp>
      </p:grpSp>
      <p:grpSp>
        <p:nvGrpSpPr>
          <p:cNvPr id="128194" name="Group 252"/>
          <p:cNvGrpSpPr/>
          <p:nvPr/>
        </p:nvGrpSpPr>
        <p:grpSpPr>
          <a:xfrm>
            <a:off x="6560503" y="3614738"/>
            <a:ext cx="719137" cy="227012"/>
            <a:chOff x="0" y="0"/>
            <a:chExt cx="912" cy="190"/>
          </a:xfrm>
        </p:grpSpPr>
        <p:sp>
          <p:nvSpPr>
            <p:cNvPr id="128236" name="Line 253"/>
            <p:cNvSpPr/>
            <p:nvPr/>
          </p:nvSpPr>
          <p:spPr>
            <a:xfrm>
              <a:off x="0" y="0"/>
              <a:ext cx="907" cy="0"/>
            </a:xfrm>
            <a:prstGeom prst="line">
              <a:avLst/>
            </a:prstGeom>
            <a:ln w="28575" cap="flat" cmpd="sng">
              <a:solidFill>
                <a:srgbClr val="FF33CC"/>
              </a:solidFill>
              <a:prstDash val="solid"/>
              <a:headEnd type="none" w="med" len="med"/>
              <a:tailEnd type="none" w="med" len="med"/>
            </a:ln>
          </p:spPr>
        </p:sp>
        <p:sp>
          <p:nvSpPr>
            <p:cNvPr id="128237" name="Line 254"/>
            <p:cNvSpPr/>
            <p:nvPr/>
          </p:nvSpPr>
          <p:spPr>
            <a:xfrm>
              <a:off x="0" y="0"/>
              <a:ext cx="0" cy="190"/>
            </a:xfrm>
            <a:prstGeom prst="line">
              <a:avLst/>
            </a:prstGeom>
            <a:ln w="28575" cap="flat" cmpd="sng">
              <a:solidFill>
                <a:srgbClr val="FF33CC"/>
              </a:solidFill>
              <a:prstDash val="solid"/>
              <a:headEnd type="none" w="med" len="med"/>
              <a:tailEnd type="none" w="med" len="med"/>
            </a:ln>
          </p:spPr>
        </p:sp>
        <p:sp>
          <p:nvSpPr>
            <p:cNvPr id="128238" name="Line 255"/>
            <p:cNvSpPr/>
            <p:nvPr/>
          </p:nvSpPr>
          <p:spPr>
            <a:xfrm>
              <a:off x="912" y="0"/>
              <a:ext cx="0" cy="190"/>
            </a:xfrm>
            <a:prstGeom prst="line">
              <a:avLst/>
            </a:prstGeom>
            <a:ln w="28575" cap="flat" cmpd="sng">
              <a:solidFill>
                <a:srgbClr val="FF33CC"/>
              </a:solidFill>
              <a:prstDash val="solid"/>
              <a:headEnd type="none" w="med" len="med"/>
              <a:tailEnd type="none" w="med" len="med"/>
            </a:ln>
          </p:spPr>
        </p:sp>
      </p:grpSp>
      <p:graphicFrame>
        <p:nvGraphicFramePr>
          <p:cNvPr id="35023" name="Group 207"/>
          <p:cNvGraphicFramePr>
            <a:graphicFrameLocks noGrp="1"/>
          </p:cNvGraphicFramePr>
          <p:nvPr/>
        </p:nvGraphicFramePr>
        <p:xfrm>
          <a:off x="983615" y="3716338"/>
          <a:ext cx="1981200" cy="1387477"/>
        </p:xfrm>
        <a:graphic>
          <a:graphicData uri="http://schemas.openxmlformats.org/drawingml/2006/table">
            <a:tbl>
              <a:tblPr/>
              <a:tblGrid>
                <a:gridCol w="396875">
                  <a:extLst>
                    <a:ext uri="{9D8B030D-6E8A-4147-A177-3AD203B41FA5}">
                      <a16:colId xmlns:a16="http://schemas.microsoft.com/office/drawing/2014/main" val="20000"/>
                    </a:ext>
                  </a:extLst>
                </a:gridCol>
                <a:gridCol w="396875">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396875">
                  <a:extLst>
                    <a:ext uri="{9D8B030D-6E8A-4147-A177-3AD203B41FA5}">
                      <a16:colId xmlns:a16="http://schemas.microsoft.com/office/drawing/2014/main" val="20003"/>
                    </a:ext>
                  </a:extLst>
                </a:gridCol>
                <a:gridCol w="396875">
                  <a:extLst>
                    <a:ext uri="{9D8B030D-6E8A-4147-A177-3AD203B41FA5}">
                      <a16:colId xmlns:a16="http://schemas.microsoft.com/office/drawing/2014/main" val="20004"/>
                    </a:ext>
                  </a:extLst>
                </a:gridCol>
              </a:tblGrid>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77813">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76225">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8231" name="Rectangle 305"/>
          <p:cNvSpPr/>
          <p:nvPr/>
        </p:nvSpPr>
        <p:spPr>
          <a:xfrm>
            <a:off x="1834515" y="4572000"/>
            <a:ext cx="647700" cy="485775"/>
          </a:xfrm>
          <a:prstGeom prst="rect">
            <a:avLst/>
          </a:prstGeom>
          <a:noFill/>
          <a:ln w="28575" cap="flat" cmpd="sng">
            <a:solidFill>
              <a:srgbClr val="FF33CC"/>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28232" name="Text Box 306"/>
          <p:cNvSpPr txBox="1"/>
          <p:nvPr/>
        </p:nvSpPr>
        <p:spPr>
          <a:xfrm>
            <a:off x="2964815" y="4789488"/>
            <a:ext cx="9906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Z</a:t>
            </a:r>
            <a:endParaRPr lang="en-US" altLang="zh-CN" b="1" baseline="-25000" dirty="0">
              <a:solidFill>
                <a:schemeClr val="tx1"/>
              </a:solidFill>
              <a:latin typeface="Calibri" panose="020F0502020204030204" pitchFamily="34" charset="0"/>
            </a:endParaRPr>
          </a:p>
        </p:txBody>
      </p:sp>
      <p:sp>
        <p:nvSpPr>
          <p:cNvPr id="128233" name="Rectangle 311"/>
          <p:cNvSpPr/>
          <p:nvPr/>
        </p:nvSpPr>
        <p:spPr>
          <a:xfrm>
            <a:off x="1834515" y="4557713"/>
            <a:ext cx="647700" cy="242887"/>
          </a:xfrm>
          <a:prstGeom prst="rect">
            <a:avLst/>
          </a:prstGeom>
          <a:noFill/>
          <a:ln w="38100"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cxnSp>
        <p:nvCxnSpPr>
          <p:cNvPr id="128234" name="直接连接符 42"/>
          <p:cNvCxnSpPr/>
          <p:nvPr/>
        </p:nvCxnSpPr>
        <p:spPr>
          <a:xfrm flipH="1" flipV="1">
            <a:off x="2891790" y="2471738"/>
            <a:ext cx="400050" cy="273050"/>
          </a:xfrm>
          <a:prstGeom prst="line">
            <a:avLst/>
          </a:prstGeom>
          <a:ln w="12700" cap="flat" cmpd="sng">
            <a:solidFill>
              <a:schemeClr val="tx1"/>
            </a:solidFill>
            <a:prstDash val="solid"/>
            <a:headEnd type="none" w="med" len="med"/>
            <a:tailEnd type="none" w="med" len="med"/>
          </a:ln>
        </p:spPr>
      </p:cxnSp>
      <p:cxnSp>
        <p:nvCxnSpPr>
          <p:cNvPr id="128235" name="直接连接符 43"/>
          <p:cNvCxnSpPr/>
          <p:nvPr/>
        </p:nvCxnSpPr>
        <p:spPr>
          <a:xfrm flipH="1" flipV="1">
            <a:off x="5336540" y="2470150"/>
            <a:ext cx="400050" cy="273050"/>
          </a:xfrm>
          <a:prstGeom prst="line">
            <a:avLst/>
          </a:prstGeom>
          <a:ln w="12700" cap="flat" cmpd="sng">
            <a:solidFill>
              <a:schemeClr val="tx1"/>
            </a:solidFill>
            <a:prstDash val="solid"/>
            <a:headEnd type="none" w="med" len="med"/>
            <a:tailEnd type="none" w="med" len="med"/>
          </a:ln>
        </p:spPr>
      </p:cxnSp>
      <p:cxnSp>
        <p:nvCxnSpPr>
          <p:cNvPr id="2" name="直接连接符 42"/>
          <p:cNvCxnSpPr/>
          <p:nvPr/>
        </p:nvCxnSpPr>
        <p:spPr>
          <a:xfrm flipH="1" flipV="1">
            <a:off x="971550" y="3723323"/>
            <a:ext cx="400050" cy="273050"/>
          </a:xfrm>
          <a:prstGeom prst="line">
            <a:avLst/>
          </a:prstGeom>
          <a:ln w="12700" cap="flat" cmpd="sng">
            <a:solidFill>
              <a:schemeClr val="tx1"/>
            </a:solidFill>
            <a:prstDash val="solid"/>
            <a:headEnd type="none" w="med" len="med"/>
            <a:tailEnd type="none" w="med" len="med"/>
          </a:ln>
        </p:spPr>
      </p:cxnSp>
      <p:sp>
        <p:nvSpPr>
          <p:cNvPr id="3" name="Text Box 84"/>
          <p:cNvSpPr txBox="1"/>
          <p:nvPr/>
        </p:nvSpPr>
        <p:spPr>
          <a:xfrm>
            <a:off x="1187450" y="3507740"/>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x</a:t>
            </a:r>
            <a:r>
              <a:rPr lang="en-US" altLang="zh-CN" b="1" baseline="-25000" dirty="0">
                <a:solidFill>
                  <a:schemeClr val="tx1"/>
                </a:solidFill>
                <a:latin typeface="Calibri" panose="020F0502020204030204" pitchFamily="34" charset="0"/>
              </a:rPr>
              <a:t>2</a:t>
            </a:r>
          </a:p>
        </p:txBody>
      </p:sp>
      <p:sp>
        <p:nvSpPr>
          <p:cNvPr id="5" name="Text Box 83"/>
          <p:cNvSpPr txBox="1"/>
          <p:nvPr/>
        </p:nvSpPr>
        <p:spPr>
          <a:xfrm>
            <a:off x="767715" y="3723323"/>
            <a:ext cx="10668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1</a:t>
            </a:r>
            <a:r>
              <a:rPr lang="en-US" altLang="zh-CN" b="1" dirty="0">
                <a:solidFill>
                  <a:schemeClr val="tx1"/>
                </a:solidFill>
                <a:latin typeface="Calibri" panose="020F0502020204030204" pitchFamily="34" charset="0"/>
              </a:rPr>
              <a:t>y</a:t>
            </a:r>
            <a:r>
              <a:rPr lang="en-US" altLang="zh-CN" b="1" baseline="-25000" dirty="0">
                <a:solidFill>
                  <a:schemeClr val="tx1"/>
                </a:solidFill>
                <a:latin typeface="Calibri" panose="020F0502020204030204" pitchFamily="34" charset="0"/>
              </a:rPr>
              <a:t>2</a:t>
            </a:r>
          </a:p>
        </p:txBody>
      </p:sp>
      <p:sp>
        <p:nvSpPr>
          <p:cNvPr id="12" name="矩形 11"/>
          <p:cNvSpPr/>
          <p:nvPr/>
        </p:nvSpPr>
        <p:spPr>
          <a:xfrm>
            <a:off x="1893570" y="4840605"/>
            <a:ext cx="160655" cy="261620"/>
          </a:xfrm>
          <a:prstGeom prst="rect">
            <a:avLst/>
          </a:prstGeom>
          <a:solidFill>
            <a:srgbClr val="FF9900">
              <a:alpha val="40000"/>
            </a:srgbClr>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6" name="矩形 5"/>
          <p:cNvSpPr/>
          <p:nvPr/>
        </p:nvSpPr>
        <p:spPr>
          <a:xfrm>
            <a:off x="7452360" y="1941195"/>
            <a:ext cx="144145" cy="270510"/>
          </a:xfrm>
          <a:prstGeom prst="rect">
            <a:avLst/>
          </a:prstGeom>
          <a:noFill/>
          <a:ln w="19050" cap="flat" cmpd="sng" algn="ctr">
            <a:solidFill>
              <a:schemeClr val="accent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8002"/>
                                        </p:tgtEl>
                                        <p:attrNameLst>
                                          <p:attrName>style.visibility</p:attrName>
                                        </p:attrNameLst>
                                      </p:cBhvr>
                                      <p:to>
                                        <p:strVal val="visible"/>
                                      </p:to>
                                    </p:set>
                                    <p:animEffect transition="in" filter="fade">
                                      <p:cBhvr>
                                        <p:cTn id="7" dur="2000"/>
                                        <p:tgtEl>
                                          <p:spTgt spid="1280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8003">
                                            <p:txEl>
                                              <p:pRg st="0" end="0"/>
                                            </p:txEl>
                                          </p:spTgt>
                                        </p:tgtEl>
                                        <p:attrNameLst>
                                          <p:attrName>style.visibility</p:attrName>
                                        </p:attrNameLst>
                                      </p:cBhvr>
                                      <p:to>
                                        <p:strVal val="visible"/>
                                      </p:to>
                                    </p:set>
                                    <p:animEffect transition="in" filter="fade">
                                      <p:cBhvr>
                                        <p:cTn id="12" dur="2000"/>
                                        <p:tgtEl>
                                          <p:spTgt spid="12800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8003">
                                            <p:txEl>
                                              <p:pRg st="1" end="1"/>
                                            </p:txEl>
                                          </p:spTgt>
                                        </p:tgtEl>
                                        <p:attrNameLst>
                                          <p:attrName>style.visibility</p:attrName>
                                        </p:attrNameLst>
                                      </p:cBhvr>
                                      <p:to>
                                        <p:strVal val="visible"/>
                                      </p:to>
                                    </p:set>
                                    <p:animEffect transition="in" filter="fade">
                                      <p:cBhvr>
                                        <p:cTn id="17" dur="2000"/>
                                        <p:tgtEl>
                                          <p:spTgt spid="12800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8003">
                                            <p:txEl>
                                              <p:pRg st="2" end="2"/>
                                            </p:txEl>
                                          </p:spTgt>
                                        </p:tgtEl>
                                        <p:attrNameLst>
                                          <p:attrName>style.visibility</p:attrName>
                                        </p:attrNameLst>
                                      </p:cBhvr>
                                      <p:to>
                                        <p:strVal val="visible"/>
                                      </p:to>
                                    </p:set>
                                    <p:animEffect transition="in" filter="fade">
                                      <p:cBhvr>
                                        <p:cTn id="22" dur="2000"/>
                                        <p:tgtEl>
                                          <p:spTgt spid="12800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8003">
                                            <p:txEl>
                                              <p:pRg st="3" end="3"/>
                                            </p:txEl>
                                          </p:spTgt>
                                        </p:tgtEl>
                                        <p:attrNameLst>
                                          <p:attrName>style.visibility</p:attrName>
                                        </p:attrNameLst>
                                      </p:cBhvr>
                                      <p:to>
                                        <p:strVal val="visible"/>
                                      </p:to>
                                    </p:set>
                                    <p:animEffect transition="in" filter="fade">
                                      <p:cBhvr>
                                        <p:cTn id="27" dur="2000"/>
                                        <p:tgtEl>
                                          <p:spTgt spid="12800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8003">
                                            <p:txEl>
                                              <p:pRg st="4" end="4"/>
                                            </p:txEl>
                                          </p:spTgt>
                                        </p:tgtEl>
                                        <p:attrNameLst>
                                          <p:attrName>style.visibility</p:attrName>
                                        </p:attrNameLst>
                                      </p:cBhvr>
                                      <p:to>
                                        <p:strVal val="visible"/>
                                      </p:to>
                                    </p:set>
                                    <p:animEffect transition="in" filter="fade">
                                      <p:cBhvr>
                                        <p:cTn id="32" dur="2000"/>
                                        <p:tgtEl>
                                          <p:spTgt spid="12800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linds(horizontal)">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xit" presetSubtype="4" fill="hold" grpId="0" nodeType="clickEffect">
                                  <p:stCondLst>
                                    <p:cond delay="0"/>
                                  </p:stCondLst>
                                  <p:childTnLst>
                                    <p:anim calcmode="lin" valueType="num">
                                      <p:cBhvr additive="base">
                                        <p:cTn id="41" dur="500"/>
                                        <p:tgtEl>
                                          <p:spTgt spid="128231"/>
                                        </p:tgtEl>
                                        <p:attrNameLst>
                                          <p:attrName>ppt_x</p:attrName>
                                        </p:attrNameLst>
                                      </p:cBhvr>
                                      <p:tavLst>
                                        <p:tav tm="0">
                                          <p:val>
                                            <p:strVal val="ppt_x"/>
                                          </p:val>
                                        </p:tav>
                                        <p:tav tm="100000">
                                          <p:val>
                                            <p:strVal val="ppt_x"/>
                                          </p:val>
                                        </p:tav>
                                      </p:tavLst>
                                    </p:anim>
                                    <p:anim calcmode="lin" valueType="num">
                                      <p:cBhvr additive="base">
                                        <p:cTn id="42" dur="500"/>
                                        <p:tgtEl>
                                          <p:spTgt spid="128231"/>
                                        </p:tgtEl>
                                        <p:attrNameLst>
                                          <p:attrName>ppt_y</p:attrName>
                                        </p:attrNameLst>
                                      </p:cBhvr>
                                      <p:tavLst>
                                        <p:tav tm="0">
                                          <p:val>
                                            <p:strVal val="ppt_y"/>
                                          </p:val>
                                        </p:tav>
                                        <p:tav tm="100000">
                                          <p:val>
                                            <p:strVal val="1+ppt_h/2"/>
                                          </p:val>
                                        </p:tav>
                                      </p:tavLst>
                                    </p:anim>
                                    <p:set>
                                      <p:cBhvr>
                                        <p:cTn id="43" dur="1" fill="hold">
                                          <p:stCondLst>
                                            <p:cond delay="499"/>
                                          </p:stCondLst>
                                        </p:cTn>
                                        <p:tgtEl>
                                          <p:spTgt spid="128231"/>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28233"/>
                                        </p:tgtEl>
                                        <p:attrNameLst>
                                          <p:attrName>style.visibility</p:attrName>
                                        </p:attrNameLst>
                                      </p:cBhvr>
                                      <p:to>
                                        <p:strVal val="visible"/>
                                      </p:to>
                                    </p:set>
                                    <p:anim calcmode="lin" valueType="num">
                                      <p:cBhvr additive="base">
                                        <p:cTn id="48" dur="500" fill="hold"/>
                                        <p:tgtEl>
                                          <p:spTgt spid="128233"/>
                                        </p:tgtEl>
                                        <p:attrNameLst>
                                          <p:attrName>ppt_x</p:attrName>
                                        </p:attrNameLst>
                                      </p:cBhvr>
                                      <p:tavLst>
                                        <p:tav tm="0">
                                          <p:val>
                                            <p:strVal val="#ppt_x"/>
                                          </p:val>
                                        </p:tav>
                                        <p:tav tm="100000">
                                          <p:val>
                                            <p:strVal val="#ppt_x"/>
                                          </p:val>
                                        </p:tav>
                                      </p:tavLst>
                                    </p:anim>
                                    <p:anim calcmode="lin" valueType="num">
                                      <p:cBhvr additive="base">
                                        <p:cTn id="49" dur="500" fill="hold"/>
                                        <p:tgtEl>
                                          <p:spTgt spid="1282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p:bldP spid="128003" grpId="0" uiExpand="1" build="p"/>
      <p:bldP spid="128231" grpId="0" animBg="1"/>
      <p:bldP spid="128231" grpId="1" animBg="1"/>
      <p:bldP spid="128233" grpId="0" animBg="1"/>
      <p:bldP spid="128233" grpId="1" animBg="1"/>
      <p:bldP spid="12" grpId="0" bldLvl="0" animBg="1"/>
      <p:bldP spid="12"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p:cNvSpPr>
          <p:nvPr>
            <p:ph type="title"/>
          </p:nvPr>
        </p:nvSpPr>
        <p:spPr>
          <a:xfrm>
            <a:off x="685800" y="444500"/>
            <a:ext cx="7772400" cy="539750"/>
          </a:xfrm>
          <a:prstGeom prst="rect">
            <a:avLst/>
          </a:prstGeom>
          <a:noFill/>
          <a:ln w="28575">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⑹ </a:t>
            </a:r>
            <a:r>
              <a:rPr lang="zh-CN" altLang="en-US" sz="2000" b="1" dirty="0">
                <a:latin typeface="华文新魏" panose="02010800040101010101" pitchFamily="2" charset="-122"/>
                <a:ea typeface="华文新魏" panose="02010800040101010101" pitchFamily="2" charset="-122"/>
              </a:rPr>
              <a:t>画出</a:t>
            </a:r>
            <a:r>
              <a:rPr lang="zh-CN" altLang="en-US" sz="2000" b="1" dirty="0">
                <a:solidFill>
                  <a:srgbClr val="FF0000"/>
                </a:solidFill>
                <a:latin typeface="华文新魏" panose="02010800040101010101" pitchFamily="2" charset="-122"/>
                <a:ea typeface="华文新魏" panose="02010800040101010101" pitchFamily="2" charset="-122"/>
              </a:rPr>
              <a:t>电路图</a:t>
            </a:r>
          </a:p>
        </p:txBody>
      </p:sp>
      <p:grpSp>
        <p:nvGrpSpPr>
          <p:cNvPr id="8" name="组合 7"/>
          <p:cNvGrpSpPr/>
          <p:nvPr/>
        </p:nvGrpSpPr>
        <p:grpSpPr>
          <a:xfrm>
            <a:off x="1841500" y="673100"/>
            <a:ext cx="6705600" cy="4229100"/>
            <a:chOff x="3036" y="1080"/>
            <a:chExt cx="10560" cy="6660"/>
          </a:xfrm>
        </p:grpSpPr>
        <p:grpSp>
          <p:nvGrpSpPr>
            <p:cNvPr id="130051" name="Group 125"/>
            <p:cNvGrpSpPr/>
            <p:nvPr/>
          </p:nvGrpSpPr>
          <p:grpSpPr>
            <a:xfrm>
              <a:off x="3036" y="1080"/>
              <a:ext cx="10560" cy="6660"/>
              <a:chOff x="0" y="0"/>
              <a:chExt cx="4224" cy="3552"/>
            </a:xfrm>
          </p:grpSpPr>
          <p:sp>
            <p:nvSpPr>
              <p:cNvPr id="130056" name="Rectangle 8"/>
              <p:cNvSpPr/>
              <p:nvPr/>
            </p:nvSpPr>
            <p:spPr>
              <a:xfrm>
                <a:off x="1056" y="672"/>
                <a:ext cx="720" cy="4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7" name="Oval 9"/>
              <p:cNvSpPr/>
              <p:nvPr/>
            </p:nvSpPr>
            <p:spPr>
              <a:xfrm>
                <a:off x="1174" y="587"/>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8" name="Text Box 10"/>
              <p:cNvSpPr txBox="1"/>
              <p:nvPr/>
            </p:nvSpPr>
            <p:spPr>
              <a:xfrm>
                <a:off x="1029" y="857"/>
                <a:ext cx="528"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CLK</a:t>
                </a:r>
              </a:p>
            </p:txBody>
          </p:sp>
          <p:sp>
            <p:nvSpPr>
              <p:cNvPr id="130059" name="Text Box 11"/>
              <p:cNvSpPr txBox="1"/>
              <p:nvPr/>
            </p:nvSpPr>
            <p:spPr>
              <a:xfrm>
                <a:off x="1100" y="628"/>
                <a:ext cx="384"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Q</a:t>
                </a:r>
              </a:p>
            </p:txBody>
          </p:sp>
          <p:sp>
            <p:nvSpPr>
              <p:cNvPr id="130060" name="Text Box 12"/>
              <p:cNvSpPr txBox="1"/>
              <p:nvPr/>
            </p:nvSpPr>
            <p:spPr>
              <a:xfrm>
                <a:off x="1476" y="624"/>
                <a:ext cx="384"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Q</a:t>
                </a:r>
              </a:p>
            </p:txBody>
          </p:sp>
          <p:sp>
            <p:nvSpPr>
              <p:cNvPr id="130061" name="Text Box 13"/>
              <p:cNvSpPr txBox="1"/>
              <p:nvPr/>
            </p:nvSpPr>
            <p:spPr>
              <a:xfrm>
                <a:off x="1469" y="916"/>
                <a:ext cx="384"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D</a:t>
                </a:r>
              </a:p>
            </p:txBody>
          </p:sp>
          <p:sp>
            <p:nvSpPr>
              <p:cNvPr id="130062" name="Rectangle 14"/>
              <p:cNvSpPr/>
              <p:nvPr/>
            </p:nvSpPr>
            <p:spPr>
              <a:xfrm>
                <a:off x="2474" y="661"/>
                <a:ext cx="720" cy="4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63" name="Oval 15"/>
              <p:cNvSpPr/>
              <p:nvPr/>
            </p:nvSpPr>
            <p:spPr>
              <a:xfrm>
                <a:off x="2592" y="576"/>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64" name="Text Box 16"/>
              <p:cNvSpPr txBox="1"/>
              <p:nvPr/>
            </p:nvSpPr>
            <p:spPr>
              <a:xfrm>
                <a:off x="2448" y="861"/>
                <a:ext cx="528"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CLK</a:t>
                </a:r>
              </a:p>
            </p:txBody>
          </p:sp>
          <p:sp>
            <p:nvSpPr>
              <p:cNvPr id="130065" name="Text Box 17"/>
              <p:cNvSpPr txBox="1"/>
              <p:nvPr/>
            </p:nvSpPr>
            <p:spPr>
              <a:xfrm>
                <a:off x="2518" y="617"/>
                <a:ext cx="384"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Q</a:t>
                </a:r>
              </a:p>
            </p:txBody>
          </p:sp>
          <p:sp>
            <p:nvSpPr>
              <p:cNvPr id="130066" name="Text Box 18"/>
              <p:cNvSpPr txBox="1"/>
              <p:nvPr/>
            </p:nvSpPr>
            <p:spPr>
              <a:xfrm>
                <a:off x="2894" y="613"/>
                <a:ext cx="384"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Q</a:t>
                </a:r>
              </a:p>
            </p:txBody>
          </p:sp>
          <p:sp>
            <p:nvSpPr>
              <p:cNvPr id="130067" name="Text Box 19"/>
              <p:cNvSpPr txBox="1"/>
              <p:nvPr/>
            </p:nvSpPr>
            <p:spPr>
              <a:xfrm>
                <a:off x="2887" y="905"/>
                <a:ext cx="384"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D</a:t>
                </a:r>
              </a:p>
            </p:txBody>
          </p:sp>
          <p:sp>
            <p:nvSpPr>
              <p:cNvPr id="130068" name="Line 20"/>
              <p:cNvSpPr/>
              <p:nvPr/>
            </p:nvSpPr>
            <p:spPr>
              <a:xfrm>
                <a:off x="1211" y="222"/>
                <a:ext cx="0" cy="351"/>
              </a:xfrm>
              <a:prstGeom prst="line">
                <a:avLst/>
              </a:prstGeom>
              <a:ln w="28575" cap="flat" cmpd="sng">
                <a:solidFill>
                  <a:schemeClr val="tx1"/>
                </a:solidFill>
                <a:prstDash val="solid"/>
                <a:headEnd type="none" w="med" len="med"/>
                <a:tailEnd type="none" w="med" len="med"/>
              </a:ln>
            </p:spPr>
          </p:sp>
          <p:sp>
            <p:nvSpPr>
              <p:cNvPr id="130069" name="Line 21"/>
              <p:cNvSpPr/>
              <p:nvPr/>
            </p:nvSpPr>
            <p:spPr>
              <a:xfrm>
                <a:off x="2625" y="207"/>
                <a:ext cx="0" cy="374"/>
              </a:xfrm>
              <a:prstGeom prst="line">
                <a:avLst/>
              </a:prstGeom>
              <a:ln w="28575" cap="flat" cmpd="sng">
                <a:solidFill>
                  <a:schemeClr val="tx1"/>
                </a:solidFill>
                <a:prstDash val="solid"/>
                <a:headEnd type="none" w="med" len="med"/>
                <a:tailEnd type="none" w="med" len="med"/>
              </a:ln>
            </p:spPr>
          </p:sp>
          <p:sp>
            <p:nvSpPr>
              <p:cNvPr id="130070" name="Line 22"/>
              <p:cNvSpPr/>
              <p:nvPr/>
            </p:nvSpPr>
            <p:spPr>
              <a:xfrm>
                <a:off x="2627" y="207"/>
                <a:ext cx="669" cy="0"/>
              </a:xfrm>
              <a:prstGeom prst="line">
                <a:avLst/>
              </a:prstGeom>
              <a:ln w="28575" cap="flat" cmpd="sng">
                <a:solidFill>
                  <a:schemeClr val="tx1"/>
                </a:solidFill>
                <a:prstDash val="solid"/>
                <a:headEnd type="none" w="med" len="med"/>
                <a:tailEnd type="none" w="med" len="med"/>
              </a:ln>
            </p:spPr>
          </p:sp>
          <p:sp>
            <p:nvSpPr>
              <p:cNvPr id="130071" name="Line 23"/>
              <p:cNvSpPr/>
              <p:nvPr/>
            </p:nvSpPr>
            <p:spPr>
              <a:xfrm>
                <a:off x="2007" y="319"/>
                <a:ext cx="0" cy="2575"/>
              </a:xfrm>
              <a:prstGeom prst="line">
                <a:avLst/>
              </a:prstGeom>
              <a:ln w="28575" cap="flat" cmpd="sng">
                <a:solidFill>
                  <a:schemeClr val="tx1"/>
                </a:solidFill>
                <a:prstDash val="solid"/>
                <a:headEnd type="none" w="med" len="med"/>
                <a:tailEnd type="none" w="med" len="med"/>
              </a:ln>
            </p:spPr>
          </p:sp>
          <p:sp>
            <p:nvSpPr>
              <p:cNvPr id="130072" name="Line 24"/>
              <p:cNvSpPr/>
              <p:nvPr/>
            </p:nvSpPr>
            <p:spPr>
              <a:xfrm flipV="1">
                <a:off x="528" y="229"/>
                <a:ext cx="1344" cy="0"/>
              </a:xfrm>
              <a:prstGeom prst="line">
                <a:avLst/>
              </a:prstGeom>
              <a:ln w="28575" cap="flat" cmpd="sng">
                <a:solidFill>
                  <a:schemeClr val="tx1"/>
                </a:solidFill>
                <a:prstDash val="solid"/>
                <a:headEnd type="none" w="med" len="med"/>
                <a:tailEnd type="none" w="med" len="med"/>
              </a:ln>
            </p:spPr>
          </p:sp>
          <p:sp>
            <p:nvSpPr>
              <p:cNvPr id="130073" name="Line 25"/>
              <p:cNvSpPr/>
              <p:nvPr/>
            </p:nvSpPr>
            <p:spPr>
              <a:xfrm>
                <a:off x="1580" y="321"/>
                <a:ext cx="0" cy="351"/>
              </a:xfrm>
              <a:prstGeom prst="line">
                <a:avLst/>
              </a:prstGeom>
              <a:ln w="28575" cap="flat" cmpd="sng">
                <a:solidFill>
                  <a:schemeClr val="tx1"/>
                </a:solidFill>
                <a:prstDash val="solid"/>
                <a:headEnd type="none" w="med" len="med"/>
                <a:tailEnd type="none" w="med" len="med"/>
              </a:ln>
            </p:spPr>
          </p:sp>
          <p:sp>
            <p:nvSpPr>
              <p:cNvPr id="130074" name="Line 26"/>
              <p:cNvSpPr/>
              <p:nvPr/>
            </p:nvSpPr>
            <p:spPr>
              <a:xfrm>
                <a:off x="3017" y="423"/>
                <a:ext cx="0" cy="238"/>
              </a:xfrm>
              <a:prstGeom prst="line">
                <a:avLst/>
              </a:prstGeom>
              <a:ln w="28575" cap="flat" cmpd="sng">
                <a:solidFill>
                  <a:schemeClr val="tx1"/>
                </a:solidFill>
                <a:prstDash val="solid"/>
                <a:headEnd type="none" w="med" len="med"/>
                <a:tailEnd type="none" w="med" len="med"/>
              </a:ln>
            </p:spPr>
          </p:sp>
          <p:sp>
            <p:nvSpPr>
              <p:cNvPr id="130075" name="Line 27"/>
              <p:cNvSpPr/>
              <p:nvPr/>
            </p:nvSpPr>
            <p:spPr>
              <a:xfrm>
                <a:off x="3019" y="417"/>
                <a:ext cx="419" cy="0"/>
              </a:xfrm>
              <a:prstGeom prst="line">
                <a:avLst/>
              </a:prstGeom>
              <a:ln w="28575" cap="flat" cmpd="sng">
                <a:solidFill>
                  <a:schemeClr val="tx1"/>
                </a:solidFill>
                <a:prstDash val="solid"/>
                <a:headEnd type="none" w="med" len="med"/>
                <a:tailEnd type="none" w="med" len="med"/>
              </a:ln>
            </p:spPr>
          </p:sp>
          <p:sp>
            <p:nvSpPr>
              <p:cNvPr id="130076" name="Rectangle 29"/>
              <p:cNvSpPr/>
              <p:nvPr/>
            </p:nvSpPr>
            <p:spPr>
              <a:xfrm>
                <a:off x="3718" y="650"/>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77" name="Text Box 30"/>
              <p:cNvSpPr txBox="1"/>
              <p:nvPr/>
            </p:nvSpPr>
            <p:spPr>
              <a:xfrm>
                <a:off x="3780" y="638"/>
                <a:ext cx="336"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1</a:t>
                </a:r>
              </a:p>
            </p:txBody>
          </p:sp>
          <p:sp>
            <p:nvSpPr>
              <p:cNvPr id="130078" name="Oval 31"/>
              <p:cNvSpPr/>
              <p:nvPr/>
            </p:nvSpPr>
            <p:spPr>
              <a:xfrm>
                <a:off x="3825" y="576"/>
                <a:ext cx="77" cy="7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79" name="Rectangle 33"/>
              <p:cNvSpPr/>
              <p:nvPr/>
            </p:nvSpPr>
            <p:spPr>
              <a:xfrm>
                <a:off x="2488" y="1658"/>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80" name="Text Box 34"/>
              <p:cNvSpPr txBox="1"/>
              <p:nvPr/>
            </p:nvSpPr>
            <p:spPr>
              <a:xfrm>
                <a:off x="2466" y="1625"/>
                <a:ext cx="336"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p>
            </p:txBody>
          </p:sp>
          <p:sp>
            <p:nvSpPr>
              <p:cNvPr id="130081" name="Oval 35"/>
              <p:cNvSpPr/>
              <p:nvPr/>
            </p:nvSpPr>
            <p:spPr>
              <a:xfrm>
                <a:off x="2595" y="1584"/>
                <a:ext cx="77" cy="7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82" name="Oval 59"/>
              <p:cNvSpPr/>
              <p:nvPr/>
            </p:nvSpPr>
            <p:spPr>
              <a:xfrm>
                <a:off x="3833" y="1212"/>
                <a:ext cx="77" cy="7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83" name="Line 60"/>
              <p:cNvSpPr/>
              <p:nvPr/>
            </p:nvSpPr>
            <p:spPr>
              <a:xfrm>
                <a:off x="3866" y="0"/>
                <a:ext cx="0" cy="576"/>
              </a:xfrm>
              <a:prstGeom prst="line">
                <a:avLst/>
              </a:prstGeom>
              <a:ln w="28575" cap="flat" cmpd="sng">
                <a:solidFill>
                  <a:schemeClr val="tx1"/>
                </a:solidFill>
                <a:prstDash val="solid"/>
                <a:headEnd type="none" w="med" len="med"/>
                <a:tailEnd type="none" w="med" len="med"/>
              </a:ln>
            </p:spPr>
          </p:sp>
          <p:sp>
            <p:nvSpPr>
              <p:cNvPr id="130084" name="Line 61"/>
              <p:cNvSpPr/>
              <p:nvPr/>
            </p:nvSpPr>
            <p:spPr>
              <a:xfrm>
                <a:off x="3871" y="901"/>
                <a:ext cx="0" cy="304"/>
              </a:xfrm>
              <a:prstGeom prst="line">
                <a:avLst/>
              </a:prstGeom>
              <a:ln w="28575" cap="flat" cmpd="sng">
                <a:solidFill>
                  <a:schemeClr val="tx1"/>
                </a:solidFill>
                <a:prstDash val="solid"/>
                <a:headEnd type="none" w="med" len="med"/>
                <a:tailEnd type="none" w="med" len="med"/>
              </a:ln>
            </p:spPr>
          </p:sp>
          <p:sp>
            <p:nvSpPr>
              <p:cNvPr id="130085" name="Text Box 62"/>
              <p:cNvSpPr txBox="1"/>
              <p:nvPr/>
            </p:nvSpPr>
            <p:spPr>
              <a:xfrm>
                <a:off x="3936" y="48"/>
                <a:ext cx="288" cy="31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z</a:t>
                </a:r>
              </a:p>
            </p:txBody>
          </p:sp>
          <p:sp>
            <p:nvSpPr>
              <p:cNvPr id="130086" name="Text Box 63"/>
              <p:cNvSpPr txBox="1"/>
              <p:nvPr/>
            </p:nvSpPr>
            <p:spPr>
              <a:xfrm>
                <a:off x="1569" y="396"/>
                <a:ext cx="432"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y</a:t>
                </a:r>
                <a:r>
                  <a:rPr lang="en-US" altLang="zh-CN" sz="1600" b="1" baseline="-25000" dirty="0">
                    <a:solidFill>
                      <a:schemeClr val="tx1"/>
                    </a:solidFill>
                    <a:latin typeface="黑体" panose="02010609060101010101" pitchFamily="49" charset="-122"/>
                    <a:ea typeface="黑体" panose="02010609060101010101" pitchFamily="49" charset="-122"/>
                  </a:rPr>
                  <a:t>1</a:t>
                </a:r>
              </a:p>
            </p:txBody>
          </p:sp>
          <p:sp>
            <p:nvSpPr>
              <p:cNvPr id="130087" name="Text Box 64"/>
              <p:cNvSpPr txBox="1"/>
              <p:nvPr/>
            </p:nvSpPr>
            <p:spPr>
              <a:xfrm>
                <a:off x="2337" y="340"/>
                <a:ext cx="432"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/y</a:t>
                </a:r>
                <a:r>
                  <a:rPr lang="en-US" altLang="zh-CN" sz="1600" b="1" baseline="-25000" dirty="0">
                    <a:solidFill>
                      <a:schemeClr val="tx1"/>
                    </a:solidFill>
                    <a:latin typeface="黑体" panose="02010609060101010101" pitchFamily="49" charset="-122"/>
                    <a:ea typeface="黑体" panose="02010609060101010101" pitchFamily="49" charset="-122"/>
                  </a:rPr>
                  <a:t>2</a:t>
                </a:r>
              </a:p>
            </p:txBody>
          </p:sp>
          <p:sp>
            <p:nvSpPr>
              <p:cNvPr id="130088" name="Text Box 65"/>
              <p:cNvSpPr txBox="1"/>
              <p:nvPr/>
            </p:nvSpPr>
            <p:spPr>
              <a:xfrm>
                <a:off x="912" y="336"/>
                <a:ext cx="432"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/y</a:t>
                </a:r>
                <a:r>
                  <a:rPr lang="en-US" altLang="zh-CN" sz="1600" b="1" baseline="-25000" dirty="0">
                    <a:solidFill>
                      <a:schemeClr val="tx1"/>
                    </a:solidFill>
                    <a:latin typeface="黑体" panose="02010609060101010101" pitchFamily="49" charset="-122"/>
                    <a:ea typeface="黑体" panose="02010609060101010101" pitchFamily="49" charset="-122"/>
                  </a:rPr>
                  <a:t>1</a:t>
                </a:r>
              </a:p>
            </p:txBody>
          </p:sp>
          <p:sp>
            <p:nvSpPr>
              <p:cNvPr id="130089" name="Text Box 66"/>
              <p:cNvSpPr txBox="1"/>
              <p:nvPr/>
            </p:nvSpPr>
            <p:spPr>
              <a:xfrm>
                <a:off x="3020" y="374"/>
                <a:ext cx="432"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y</a:t>
                </a:r>
                <a:r>
                  <a:rPr lang="en-US" altLang="zh-CN" sz="1600" b="1" baseline="-25000" dirty="0">
                    <a:solidFill>
                      <a:schemeClr val="tx1"/>
                    </a:solidFill>
                    <a:latin typeface="黑体" panose="02010609060101010101" pitchFamily="49" charset="-122"/>
                    <a:ea typeface="黑体" panose="02010609060101010101" pitchFamily="49" charset="-122"/>
                  </a:rPr>
                  <a:t>2</a:t>
                </a:r>
              </a:p>
            </p:txBody>
          </p:sp>
          <p:sp>
            <p:nvSpPr>
              <p:cNvPr id="130090" name="Line 67"/>
              <p:cNvSpPr/>
              <p:nvPr/>
            </p:nvSpPr>
            <p:spPr>
              <a:xfrm>
                <a:off x="1584" y="1152"/>
                <a:ext cx="0" cy="308"/>
              </a:xfrm>
              <a:prstGeom prst="line">
                <a:avLst/>
              </a:prstGeom>
              <a:ln w="28575" cap="flat" cmpd="sng">
                <a:solidFill>
                  <a:schemeClr val="tx1"/>
                </a:solidFill>
                <a:prstDash val="solid"/>
                <a:headEnd type="none" w="med" len="med"/>
                <a:tailEnd type="none" w="med" len="med"/>
              </a:ln>
            </p:spPr>
          </p:sp>
          <p:sp>
            <p:nvSpPr>
              <p:cNvPr id="130091" name="Line 68"/>
              <p:cNvSpPr/>
              <p:nvPr/>
            </p:nvSpPr>
            <p:spPr>
              <a:xfrm>
                <a:off x="3009" y="1145"/>
                <a:ext cx="0" cy="308"/>
              </a:xfrm>
              <a:prstGeom prst="line">
                <a:avLst/>
              </a:prstGeom>
              <a:ln w="28575" cap="flat" cmpd="sng">
                <a:solidFill>
                  <a:schemeClr val="tx1"/>
                </a:solidFill>
                <a:prstDash val="solid"/>
                <a:headEnd type="none" w="med" len="med"/>
                <a:tailEnd type="none" w="med" len="med"/>
              </a:ln>
            </p:spPr>
          </p:sp>
          <p:sp>
            <p:nvSpPr>
              <p:cNvPr id="130092" name="Oval 69"/>
              <p:cNvSpPr/>
              <p:nvPr/>
            </p:nvSpPr>
            <p:spPr>
              <a:xfrm>
                <a:off x="1181" y="195"/>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93" name="Line 70"/>
              <p:cNvSpPr/>
              <p:nvPr/>
            </p:nvSpPr>
            <p:spPr>
              <a:xfrm>
                <a:off x="1205" y="1155"/>
                <a:ext cx="0" cy="426"/>
              </a:xfrm>
              <a:prstGeom prst="line">
                <a:avLst/>
              </a:prstGeom>
              <a:ln w="28575" cap="flat" cmpd="sng">
                <a:solidFill>
                  <a:schemeClr val="tx1"/>
                </a:solidFill>
                <a:prstDash val="solid"/>
                <a:headEnd type="none" w="med" len="med"/>
                <a:tailEnd type="none" w="med" len="med"/>
              </a:ln>
            </p:spPr>
          </p:sp>
          <p:sp>
            <p:nvSpPr>
              <p:cNvPr id="130094" name="Line 71"/>
              <p:cNvSpPr/>
              <p:nvPr/>
            </p:nvSpPr>
            <p:spPr>
              <a:xfrm>
                <a:off x="1130" y="1898"/>
                <a:ext cx="0" cy="209"/>
              </a:xfrm>
              <a:prstGeom prst="line">
                <a:avLst/>
              </a:prstGeom>
              <a:ln w="28575" cap="flat" cmpd="sng">
                <a:solidFill>
                  <a:schemeClr val="tx1"/>
                </a:solidFill>
                <a:prstDash val="solid"/>
                <a:headEnd type="none" w="med" len="med"/>
                <a:tailEnd type="none" w="med" len="med"/>
              </a:ln>
            </p:spPr>
          </p:sp>
          <p:sp>
            <p:nvSpPr>
              <p:cNvPr id="130095" name="Line 72"/>
              <p:cNvSpPr/>
              <p:nvPr/>
            </p:nvSpPr>
            <p:spPr>
              <a:xfrm>
                <a:off x="1285" y="1909"/>
                <a:ext cx="0" cy="204"/>
              </a:xfrm>
              <a:prstGeom prst="line">
                <a:avLst/>
              </a:prstGeom>
              <a:ln w="28575" cap="flat" cmpd="sng">
                <a:solidFill>
                  <a:schemeClr val="tx1"/>
                </a:solidFill>
                <a:prstDash val="solid"/>
                <a:headEnd type="none" w="med" len="med"/>
                <a:tailEnd type="none" w="med" len="med"/>
              </a:ln>
            </p:spPr>
          </p:sp>
          <p:sp>
            <p:nvSpPr>
              <p:cNvPr id="130096" name="Line 73"/>
              <p:cNvSpPr/>
              <p:nvPr/>
            </p:nvSpPr>
            <p:spPr>
              <a:xfrm>
                <a:off x="2544" y="1909"/>
                <a:ext cx="0" cy="209"/>
              </a:xfrm>
              <a:prstGeom prst="line">
                <a:avLst/>
              </a:prstGeom>
              <a:ln w="28575" cap="flat" cmpd="sng">
                <a:solidFill>
                  <a:schemeClr val="tx1"/>
                </a:solidFill>
                <a:prstDash val="solid"/>
                <a:headEnd type="none" w="med" len="med"/>
                <a:tailEnd type="none" w="med" len="med"/>
              </a:ln>
            </p:spPr>
          </p:sp>
          <p:sp>
            <p:nvSpPr>
              <p:cNvPr id="130097" name="Line 74"/>
              <p:cNvSpPr/>
              <p:nvPr/>
            </p:nvSpPr>
            <p:spPr>
              <a:xfrm>
                <a:off x="2710" y="1909"/>
                <a:ext cx="0" cy="209"/>
              </a:xfrm>
              <a:prstGeom prst="line">
                <a:avLst/>
              </a:prstGeom>
              <a:ln w="28575" cap="flat" cmpd="sng">
                <a:solidFill>
                  <a:schemeClr val="tx1"/>
                </a:solidFill>
                <a:prstDash val="solid"/>
                <a:headEnd type="none" w="med" len="med"/>
                <a:tailEnd type="none" w="med" len="med"/>
              </a:ln>
            </p:spPr>
          </p:sp>
          <p:sp>
            <p:nvSpPr>
              <p:cNvPr id="130098" name="Line 75"/>
              <p:cNvSpPr/>
              <p:nvPr/>
            </p:nvSpPr>
            <p:spPr>
              <a:xfrm>
                <a:off x="956" y="2112"/>
                <a:ext cx="177" cy="0"/>
              </a:xfrm>
              <a:prstGeom prst="line">
                <a:avLst/>
              </a:prstGeom>
              <a:ln w="28575" cap="flat" cmpd="sng">
                <a:solidFill>
                  <a:schemeClr val="tx1"/>
                </a:solidFill>
                <a:prstDash val="solid"/>
                <a:headEnd type="none" w="med" len="med"/>
                <a:tailEnd type="none" w="med" len="med"/>
              </a:ln>
            </p:spPr>
          </p:sp>
          <p:sp>
            <p:nvSpPr>
              <p:cNvPr id="130099" name="Line 76"/>
              <p:cNvSpPr/>
              <p:nvPr/>
            </p:nvSpPr>
            <p:spPr>
              <a:xfrm>
                <a:off x="1291" y="2112"/>
                <a:ext cx="170" cy="0"/>
              </a:xfrm>
              <a:prstGeom prst="line">
                <a:avLst/>
              </a:prstGeom>
              <a:ln w="28575" cap="flat" cmpd="sng">
                <a:solidFill>
                  <a:schemeClr val="tx1"/>
                </a:solidFill>
                <a:prstDash val="solid"/>
                <a:headEnd type="none" w="med" len="med"/>
                <a:tailEnd type="none" w="med" len="med"/>
              </a:ln>
            </p:spPr>
          </p:sp>
          <p:sp>
            <p:nvSpPr>
              <p:cNvPr id="130100" name="Line 77"/>
              <p:cNvSpPr/>
              <p:nvPr/>
            </p:nvSpPr>
            <p:spPr>
              <a:xfrm>
                <a:off x="2374" y="2112"/>
                <a:ext cx="170" cy="0"/>
              </a:xfrm>
              <a:prstGeom prst="line">
                <a:avLst/>
              </a:prstGeom>
              <a:ln w="28575" cap="flat" cmpd="sng">
                <a:solidFill>
                  <a:schemeClr val="tx1"/>
                </a:solidFill>
                <a:prstDash val="solid"/>
                <a:headEnd type="none" w="med" len="med"/>
                <a:tailEnd type="none" w="med" len="med"/>
              </a:ln>
            </p:spPr>
          </p:sp>
          <p:sp>
            <p:nvSpPr>
              <p:cNvPr id="130101" name="Line 78"/>
              <p:cNvSpPr/>
              <p:nvPr/>
            </p:nvSpPr>
            <p:spPr>
              <a:xfrm>
                <a:off x="2714" y="2112"/>
                <a:ext cx="170" cy="0"/>
              </a:xfrm>
              <a:prstGeom prst="line">
                <a:avLst/>
              </a:prstGeom>
              <a:ln w="28575" cap="flat" cmpd="sng">
                <a:solidFill>
                  <a:schemeClr val="tx1"/>
                </a:solidFill>
                <a:prstDash val="solid"/>
                <a:headEnd type="none" w="med" len="med"/>
                <a:tailEnd type="none" w="med" len="med"/>
              </a:ln>
            </p:spPr>
          </p:sp>
          <p:sp>
            <p:nvSpPr>
              <p:cNvPr id="130102" name="Line 79"/>
              <p:cNvSpPr/>
              <p:nvPr/>
            </p:nvSpPr>
            <p:spPr>
              <a:xfrm>
                <a:off x="959" y="2112"/>
                <a:ext cx="0" cy="209"/>
              </a:xfrm>
              <a:prstGeom prst="line">
                <a:avLst/>
              </a:prstGeom>
              <a:ln w="28575" cap="flat" cmpd="sng">
                <a:solidFill>
                  <a:schemeClr val="tx1"/>
                </a:solidFill>
                <a:prstDash val="solid"/>
                <a:headEnd type="none" w="med" len="med"/>
                <a:tailEnd type="none" w="med" len="med"/>
              </a:ln>
            </p:spPr>
          </p:sp>
          <p:sp>
            <p:nvSpPr>
              <p:cNvPr id="130103" name="Line 80"/>
              <p:cNvSpPr/>
              <p:nvPr/>
            </p:nvSpPr>
            <p:spPr>
              <a:xfrm>
                <a:off x="1464" y="2109"/>
                <a:ext cx="0" cy="209"/>
              </a:xfrm>
              <a:prstGeom prst="line">
                <a:avLst/>
              </a:prstGeom>
              <a:ln w="28575" cap="flat" cmpd="sng">
                <a:solidFill>
                  <a:schemeClr val="tx1"/>
                </a:solidFill>
                <a:prstDash val="solid"/>
                <a:headEnd type="none" w="med" len="med"/>
                <a:tailEnd type="none" w="med" len="med"/>
              </a:ln>
            </p:spPr>
          </p:sp>
          <p:sp>
            <p:nvSpPr>
              <p:cNvPr id="130104" name="Line 81"/>
              <p:cNvSpPr/>
              <p:nvPr/>
            </p:nvSpPr>
            <p:spPr>
              <a:xfrm>
                <a:off x="2374" y="2116"/>
                <a:ext cx="0" cy="209"/>
              </a:xfrm>
              <a:prstGeom prst="line">
                <a:avLst/>
              </a:prstGeom>
              <a:ln w="28575" cap="flat" cmpd="sng">
                <a:solidFill>
                  <a:schemeClr val="tx1"/>
                </a:solidFill>
                <a:prstDash val="solid"/>
                <a:headEnd type="none" w="med" len="med"/>
                <a:tailEnd type="none" w="med" len="med"/>
              </a:ln>
            </p:spPr>
          </p:sp>
          <p:sp>
            <p:nvSpPr>
              <p:cNvPr id="130105" name="Line 82"/>
              <p:cNvSpPr/>
              <p:nvPr/>
            </p:nvSpPr>
            <p:spPr>
              <a:xfrm>
                <a:off x="2880" y="2112"/>
                <a:ext cx="0" cy="209"/>
              </a:xfrm>
              <a:prstGeom prst="line">
                <a:avLst/>
              </a:prstGeom>
              <a:ln w="28575" cap="flat" cmpd="sng">
                <a:solidFill>
                  <a:schemeClr val="tx1"/>
                </a:solidFill>
                <a:prstDash val="solid"/>
                <a:headEnd type="none" w="med" len="med"/>
                <a:tailEnd type="none" w="med" len="med"/>
              </a:ln>
            </p:spPr>
          </p:sp>
          <p:sp>
            <p:nvSpPr>
              <p:cNvPr id="130106" name="Line 83"/>
              <p:cNvSpPr/>
              <p:nvPr/>
            </p:nvSpPr>
            <p:spPr>
              <a:xfrm>
                <a:off x="1562" y="2629"/>
                <a:ext cx="0" cy="462"/>
              </a:xfrm>
              <a:prstGeom prst="line">
                <a:avLst/>
              </a:prstGeom>
              <a:ln w="28575" cap="flat" cmpd="sng">
                <a:solidFill>
                  <a:schemeClr val="tx1"/>
                </a:solidFill>
                <a:prstDash val="solid"/>
                <a:headEnd type="none" w="med" len="med"/>
                <a:tailEnd type="none" w="med" len="med"/>
              </a:ln>
            </p:spPr>
          </p:sp>
          <p:sp>
            <p:nvSpPr>
              <p:cNvPr id="130107" name="Line 84"/>
              <p:cNvSpPr/>
              <p:nvPr/>
            </p:nvSpPr>
            <p:spPr>
              <a:xfrm>
                <a:off x="1008" y="2895"/>
                <a:ext cx="1002" cy="0"/>
              </a:xfrm>
              <a:prstGeom prst="line">
                <a:avLst/>
              </a:prstGeom>
              <a:ln w="28575" cap="flat" cmpd="sng">
                <a:solidFill>
                  <a:schemeClr val="tx1"/>
                </a:solidFill>
                <a:prstDash val="solid"/>
                <a:headEnd type="none" w="med" len="med"/>
                <a:tailEnd type="none" w="med" len="med"/>
              </a:ln>
            </p:spPr>
          </p:sp>
          <p:sp>
            <p:nvSpPr>
              <p:cNvPr id="130108" name="Line 85"/>
              <p:cNvSpPr/>
              <p:nvPr/>
            </p:nvSpPr>
            <p:spPr>
              <a:xfrm>
                <a:off x="528" y="240"/>
                <a:ext cx="0" cy="2880"/>
              </a:xfrm>
              <a:prstGeom prst="line">
                <a:avLst/>
              </a:prstGeom>
              <a:ln w="28575" cap="flat" cmpd="sng">
                <a:solidFill>
                  <a:schemeClr val="tx1"/>
                </a:solidFill>
                <a:prstDash val="solid"/>
                <a:headEnd type="none" w="med" len="med"/>
                <a:tailEnd type="none" w="med" len="med"/>
              </a:ln>
            </p:spPr>
          </p:sp>
          <p:sp>
            <p:nvSpPr>
              <p:cNvPr id="130109" name="Line 86"/>
              <p:cNvSpPr/>
              <p:nvPr/>
            </p:nvSpPr>
            <p:spPr>
              <a:xfrm>
                <a:off x="528" y="3120"/>
                <a:ext cx="861" cy="0"/>
              </a:xfrm>
              <a:prstGeom prst="line">
                <a:avLst/>
              </a:prstGeom>
              <a:ln w="28575" cap="flat" cmpd="sng">
                <a:solidFill>
                  <a:schemeClr val="tx1"/>
                </a:solidFill>
                <a:prstDash val="solid"/>
                <a:headEnd type="none" w="med" len="med"/>
                <a:tailEnd type="none" w="med" len="med"/>
              </a:ln>
            </p:spPr>
          </p:sp>
          <p:sp>
            <p:nvSpPr>
              <p:cNvPr id="130110" name="Line 87"/>
              <p:cNvSpPr/>
              <p:nvPr/>
            </p:nvSpPr>
            <p:spPr>
              <a:xfrm>
                <a:off x="903" y="2628"/>
                <a:ext cx="0" cy="594"/>
              </a:xfrm>
              <a:prstGeom prst="line">
                <a:avLst/>
              </a:prstGeom>
              <a:ln w="28575" cap="flat" cmpd="sng">
                <a:solidFill>
                  <a:schemeClr val="tx1"/>
                </a:solidFill>
                <a:prstDash val="solid"/>
                <a:headEnd type="none" w="med" len="med"/>
                <a:tailEnd type="none" w="med" len="med"/>
              </a:ln>
            </p:spPr>
          </p:sp>
          <p:sp>
            <p:nvSpPr>
              <p:cNvPr id="130111" name="Oval 88"/>
              <p:cNvSpPr/>
              <p:nvPr/>
            </p:nvSpPr>
            <p:spPr>
              <a:xfrm>
                <a:off x="875" y="3216"/>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12" name="Line 89"/>
              <p:cNvSpPr/>
              <p:nvPr/>
            </p:nvSpPr>
            <p:spPr>
              <a:xfrm>
                <a:off x="2442" y="2634"/>
                <a:ext cx="0" cy="480"/>
              </a:xfrm>
              <a:prstGeom prst="line">
                <a:avLst/>
              </a:prstGeom>
              <a:ln w="28575" cap="flat" cmpd="sng">
                <a:solidFill>
                  <a:schemeClr val="tx1"/>
                </a:solidFill>
                <a:prstDash val="solid"/>
                <a:headEnd type="none" w="med" len="med"/>
                <a:tailEnd type="none" w="med" len="med"/>
              </a:ln>
            </p:spPr>
          </p:sp>
          <p:sp>
            <p:nvSpPr>
              <p:cNvPr id="130113" name="Oval 90"/>
              <p:cNvSpPr/>
              <p:nvPr/>
            </p:nvSpPr>
            <p:spPr>
              <a:xfrm>
                <a:off x="2278" y="3202"/>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14" name="Line 91"/>
              <p:cNvSpPr/>
              <p:nvPr/>
            </p:nvSpPr>
            <p:spPr>
              <a:xfrm>
                <a:off x="3866" y="1536"/>
                <a:ext cx="0" cy="698"/>
              </a:xfrm>
              <a:prstGeom prst="line">
                <a:avLst/>
              </a:prstGeom>
              <a:ln w="28575" cap="flat" cmpd="sng">
                <a:solidFill>
                  <a:schemeClr val="tx1"/>
                </a:solidFill>
                <a:prstDash val="solid"/>
                <a:headEnd type="none" w="med" len="med"/>
                <a:tailEnd type="none" w="med" len="med"/>
              </a:ln>
            </p:spPr>
          </p:sp>
          <p:sp>
            <p:nvSpPr>
              <p:cNvPr id="130115" name="Line 92"/>
              <p:cNvSpPr/>
              <p:nvPr/>
            </p:nvSpPr>
            <p:spPr>
              <a:xfrm>
                <a:off x="1008" y="2634"/>
                <a:ext cx="0" cy="261"/>
              </a:xfrm>
              <a:prstGeom prst="line">
                <a:avLst/>
              </a:prstGeom>
              <a:ln w="28575" cap="flat" cmpd="sng">
                <a:solidFill>
                  <a:schemeClr val="tx1"/>
                </a:solidFill>
                <a:prstDash val="solid"/>
                <a:headEnd type="none" w="med" len="med"/>
                <a:tailEnd type="none" w="med" len="med"/>
              </a:ln>
            </p:spPr>
          </p:sp>
          <p:sp>
            <p:nvSpPr>
              <p:cNvPr id="130116" name="Line 93"/>
              <p:cNvSpPr/>
              <p:nvPr/>
            </p:nvSpPr>
            <p:spPr>
              <a:xfrm flipV="1">
                <a:off x="336" y="3253"/>
                <a:ext cx="3622" cy="0"/>
              </a:xfrm>
              <a:prstGeom prst="line">
                <a:avLst/>
              </a:prstGeom>
              <a:ln w="28575" cap="flat" cmpd="sng">
                <a:solidFill>
                  <a:schemeClr val="tx1"/>
                </a:solidFill>
                <a:prstDash val="solid"/>
                <a:headEnd type="none" w="med" len="med"/>
                <a:tailEnd type="none" w="med" len="med"/>
              </a:ln>
            </p:spPr>
          </p:sp>
          <p:sp>
            <p:nvSpPr>
              <p:cNvPr id="130117" name="Line 94"/>
              <p:cNvSpPr/>
              <p:nvPr/>
            </p:nvSpPr>
            <p:spPr>
              <a:xfrm>
                <a:off x="3958" y="1524"/>
                <a:ext cx="0" cy="1728"/>
              </a:xfrm>
              <a:prstGeom prst="line">
                <a:avLst/>
              </a:prstGeom>
              <a:ln w="28575" cap="flat" cmpd="sng">
                <a:solidFill>
                  <a:schemeClr val="tx1"/>
                </a:solidFill>
                <a:prstDash val="solid"/>
                <a:headEnd type="none" w="med" len="med"/>
                <a:tailEnd type="none" w="med" len="med"/>
              </a:ln>
            </p:spPr>
          </p:sp>
          <p:sp>
            <p:nvSpPr>
              <p:cNvPr id="130118" name="Line 95"/>
              <p:cNvSpPr/>
              <p:nvPr/>
            </p:nvSpPr>
            <p:spPr>
              <a:xfrm>
                <a:off x="3442" y="413"/>
                <a:ext cx="0" cy="2671"/>
              </a:xfrm>
              <a:prstGeom prst="line">
                <a:avLst/>
              </a:prstGeom>
              <a:ln w="28575" cap="flat" cmpd="sng">
                <a:solidFill>
                  <a:schemeClr val="tx1"/>
                </a:solidFill>
                <a:prstDash val="solid"/>
                <a:headEnd type="none" w="med" len="med"/>
                <a:tailEnd type="none" w="med" len="med"/>
              </a:ln>
            </p:spPr>
          </p:sp>
          <p:sp>
            <p:nvSpPr>
              <p:cNvPr id="130119" name="Line 96"/>
              <p:cNvSpPr/>
              <p:nvPr/>
            </p:nvSpPr>
            <p:spPr>
              <a:xfrm>
                <a:off x="2939" y="2816"/>
                <a:ext cx="363" cy="0"/>
              </a:xfrm>
              <a:prstGeom prst="line">
                <a:avLst/>
              </a:prstGeom>
              <a:ln w="28575" cap="flat" cmpd="sng">
                <a:solidFill>
                  <a:schemeClr val="tx1"/>
                </a:solidFill>
                <a:prstDash val="solid"/>
                <a:headEnd type="none" w="med" len="med"/>
                <a:tailEnd type="none" w="med" len="med"/>
              </a:ln>
            </p:spPr>
          </p:sp>
          <p:sp>
            <p:nvSpPr>
              <p:cNvPr id="130120" name="Line 97"/>
              <p:cNvSpPr/>
              <p:nvPr/>
            </p:nvSpPr>
            <p:spPr>
              <a:xfrm>
                <a:off x="2939" y="2629"/>
                <a:ext cx="0" cy="190"/>
              </a:xfrm>
              <a:prstGeom prst="line">
                <a:avLst/>
              </a:prstGeom>
              <a:ln w="28575" cap="flat" cmpd="sng">
                <a:solidFill>
                  <a:schemeClr val="tx1"/>
                </a:solidFill>
                <a:prstDash val="solid"/>
                <a:headEnd type="none" w="med" len="med"/>
                <a:tailEnd type="none" w="med" len="med"/>
              </a:ln>
            </p:spPr>
          </p:sp>
          <p:sp>
            <p:nvSpPr>
              <p:cNvPr id="130121" name="Line 98"/>
              <p:cNvSpPr/>
              <p:nvPr/>
            </p:nvSpPr>
            <p:spPr>
              <a:xfrm>
                <a:off x="3781" y="1536"/>
                <a:ext cx="0" cy="249"/>
              </a:xfrm>
              <a:prstGeom prst="line">
                <a:avLst/>
              </a:prstGeom>
              <a:ln w="28575" cap="flat" cmpd="sng">
                <a:solidFill>
                  <a:schemeClr val="tx1"/>
                </a:solidFill>
                <a:prstDash val="solid"/>
                <a:headEnd type="none" w="med" len="med"/>
                <a:tailEnd type="none" w="med" len="med"/>
              </a:ln>
            </p:spPr>
          </p:sp>
          <p:sp>
            <p:nvSpPr>
              <p:cNvPr id="130122" name="Line 99"/>
              <p:cNvSpPr/>
              <p:nvPr/>
            </p:nvSpPr>
            <p:spPr>
              <a:xfrm>
                <a:off x="3456" y="2229"/>
                <a:ext cx="408" cy="0"/>
              </a:xfrm>
              <a:prstGeom prst="line">
                <a:avLst/>
              </a:prstGeom>
              <a:ln w="28575" cap="flat" cmpd="sng">
                <a:solidFill>
                  <a:schemeClr val="tx1"/>
                </a:solidFill>
                <a:prstDash val="solid"/>
                <a:headEnd type="none" w="med" len="med"/>
                <a:tailEnd type="none" w="med" len="med"/>
              </a:ln>
            </p:spPr>
          </p:sp>
          <p:sp>
            <p:nvSpPr>
              <p:cNvPr id="130123" name="Oval 100"/>
              <p:cNvSpPr/>
              <p:nvPr/>
            </p:nvSpPr>
            <p:spPr>
              <a:xfrm>
                <a:off x="3419" y="2197"/>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24" name="Line 101"/>
              <p:cNvSpPr/>
              <p:nvPr/>
            </p:nvSpPr>
            <p:spPr>
              <a:xfrm>
                <a:off x="1477" y="2631"/>
                <a:ext cx="0" cy="757"/>
              </a:xfrm>
              <a:prstGeom prst="line">
                <a:avLst/>
              </a:prstGeom>
              <a:ln w="28575" cap="flat" cmpd="sng">
                <a:solidFill>
                  <a:schemeClr val="tx1"/>
                </a:solidFill>
                <a:prstDash val="solid"/>
                <a:headEnd type="none" w="med" len="med"/>
                <a:tailEnd type="none" w="med" len="med"/>
              </a:ln>
            </p:spPr>
          </p:sp>
          <p:sp>
            <p:nvSpPr>
              <p:cNvPr id="130125" name="Line 102"/>
              <p:cNvSpPr/>
              <p:nvPr/>
            </p:nvSpPr>
            <p:spPr>
              <a:xfrm>
                <a:off x="2301" y="2640"/>
                <a:ext cx="0" cy="621"/>
              </a:xfrm>
              <a:prstGeom prst="line">
                <a:avLst/>
              </a:prstGeom>
              <a:ln w="28575" cap="flat" cmpd="sng">
                <a:solidFill>
                  <a:schemeClr val="tx1"/>
                </a:solidFill>
                <a:prstDash val="solid"/>
                <a:headEnd type="none" w="med" len="med"/>
                <a:tailEnd type="none" w="med" len="med"/>
              </a:ln>
            </p:spPr>
          </p:sp>
          <p:sp>
            <p:nvSpPr>
              <p:cNvPr id="130126" name="Line 103"/>
              <p:cNvSpPr/>
              <p:nvPr/>
            </p:nvSpPr>
            <p:spPr>
              <a:xfrm>
                <a:off x="2817" y="2640"/>
                <a:ext cx="0" cy="780"/>
              </a:xfrm>
              <a:prstGeom prst="line">
                <a:avLst/>
              </a:prstGeom>
              <a:ln w="28575" cap="flat" cmpd="sng">
                <a:solidFill>
                  <a:schemeClr val="tx1"/>
                </a:solidFill>
                <a:prstDash val="solid"/>
                <a:headEnd type="none" w="med" len="med"/>
                <a:tailEnd type="none" w="med" len="med"/>
              </a:ln>
            </p:spPr>
          </p:sp>
          <p:sp>
            <p:nvSpPr>
              <p:cNvPr id="130127" name="Oval 104"/>
              <p:cNvSpPr/>
              <p:nvPr/>
            </p:nvSpPr>
            <p:spPr>
              <a:xfrm>
                <a:off x="2411" y="3054"/>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28" name="Text Box 105"/>
              <p:cNvSpPr txBox="1"/>
              <p:nvPr/>
            </p:nvSpPr>
            <p:spPr>
              <a:xfrm>
                <a:off x="2184" y="1130"/>
                <a:ext cx="576"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CLK</a:t>
                </a:r>
                <a:r>
                  <a:rPr lang="en-US" altLang="zh-CN" sz="1400" b="1" baseline="-25000" dirty="0">
                    <a:solidFill>
                      <a:schemeClr val="tx1"/>
                    </a:solidFill>
                    <a:latin typeface="黑体" panose="02010609060101010101" pitchFamily="49" charset="-122"/>
                    <a:ea typeface="黑体" panose="02010609060101010101" pitchFamily="49" charset="-122"/>
                  </a:rPr>
                  <a:t>2</a:t>
                </a:r>
              </a:p>
            </p:txBody>
          </p:sp>
          <p:sp>
            <p:nvSpPr>
              <p:cNvPr id="130129" name="Oval 106"/>
              <p:cNvSpPr/>
              <p:nvPr/>
            </p:nvSpPr>
            <p:spPr>
              <a:xfrm>
                <a:off x="1974" y="302"/>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30" name="Oval 107"/>
              <p:cNvSpPr/>
              <p:nvPr/>
            </p:nvSpPr>
            <p:spPr>
              <a:xfrm>
                <a:off x="1451" y="3386"/>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31" name="Text Box 108"/>
              <p:cNvSpPr txBox="1"/>
              <p:nvPr/>
            </p:nvSpPr>
            <p:spPr>
              <a:xfrm>
                <a:off x="768" y="1152"/>
                <a:ext cx="576"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CLK</a:t>
                </a:r>
                <a:r>
                  <a:rPr lang="en-US" altLang="zh-CN" sz="1400" b="1" baseline="-25000" dirty="0">
                    <a:solidFill>
                      <a:schemeClr val="tx1"/>
                    </a:solidFill>
                    <a:latin typeface="黑体" panose="02010609060101010101" pitchFamily="49" charset="-122"/>
                    <a:ea typeface="黑体" panose="02010609060101010101" pitchFamily="49" charset="-122"/>
                  </a:rPr>
                  <a:t>1</a:t>
                </a:r>
              </a:p>
            </p:txBody>
          </p:sp>
          <p:sp>
            <p:nvSpPr>
              <p:cNvPr id="130132" name="Text Box 109"/>
              <p:cNvSpPr txBox="1"/>
              <p:nvPr/>
            </p:nvSpPr>
            <p:spPr>
              <a:xfrm>
                <a:off x="1584" y="1141"/>
                <a:ext cx="432"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D</a:t>
                </a:r>
                <a:r>
                  <a:rPr lang="en-US" altLang="zh-CN" sz="1600" b="1" baseline="-25000" dirty="0">
                    <a:solidFill>
                      <a:schemeClr val="tx1"/>
                    </a:solidFill>
                    <a:latin typeface="黑体" panose="02010609060101010101" pitchFamily="49" charset="-122"/>
                    <a:ea typeface="黑体" panose="02010609060101010101" pitchFamily="49" charset="-122"/>
                  </a:rPr>
                  <a:t>1</a:t>
                </a:r>
              </a:p>
            </p:txBody>
          </p:sp>
          <p:sp>
            <p:nvSpPr>
              <p:cNvPr id="130133" name="Text Box 110"/>
              <p:cNvSpPr txBox="1"/>
              <p:nvPr/>
            </p:nvSpPr>
            <p:spPr>
              <a:xfrm>
                <a:off x="3020" y="1152"/>
                <a:ext cx="432"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D</a:t>
                </a:r>
                <a:r>
                  <a:rPr lang="en-US" altLang="zh-CN" sz="1600" b="1" baseline="-25000" dirty="0">
                    <a:solidFill>
                      <a:schemeClr val="tx1"/>
                    </a:solidFill>
                    <a:latin typeface="黑体" panose="02010609060101010101" pitchFamily="49" charset="-122"/>
                    <a:ea typeface="黑体" panose="02010609060101010101" pitchFamily="49" charset="-122"/>
                  </a:rPr>
                  <a:t>2</a:t>
                </a:r>
              </a:p>
            </p:txBody>
          </p:sp>
          <p:sp>
            <p:nvSpPr>
              <p:cNvPr id="130134" name="Line 111"/>
              <p:cNvSpPr/>
              <p:nvPr/>
            </p:nvSpPr>
            <p:spPr>
              <a:xfrm flipV="1">
                <a:off x="1584" y="1457"/>
                <a:ext cx="288" cy="0"/>
              </a:xfrm>
              <a:prstGeom prst="line">
                <a:avLst/>
              </a:prstGeom>
              <a:ln w="28575" cap="flat" cmpd="sng">
                <a:solidFill>
                  <a:schemeClr val="tx1"/>
                </a:solidFill>
                <a:prstDash val="solid"/>
                <a:headEnd type="none" w="med" len="med"/>
                <a:tailEnd type="none" w="med" len="med"/>
              </a:ln>
            </p:spPr>
          </p:sp>
          <p:sp>
            <p:nvSpPr>
              <p:cNvPr id="130135" name="Line 112"/>
              <p:cNvSpPr/>
              <p:nvPr/>
            </p:nvSpPr>
            <p:spPr>
              <a:xfrm>
                <a:off x="1872" y="229"/>
                <a:ext cx="0" cy="1224"/>
              </a:xfrm>
              <a:prstGeom prst="line">
                <a:avLst/>
              </a:prstGeom>
              <a:ln w="28575" cap="flat" cmpd="sng">
                <a:solidFill>
                  <a:schemeClr val="tx1"/>
                </a:solidFill>
                <a:prstDash val="solid"/>
                <a:headEnd type="none" w="med" len="med"/>
                <a:tailEnd type="none" w="med" len="med"/>
              </a:ln>
            </p:spPr>
          </p:sp>
          <p:sp>
            <p:nvSpPr>
              <p:cNvPr id="130136" name="Line 113"/>
              <p:cNvSpPr/>
              <p:nvPr/>
            </p:nvSpPr>
            <p:spPr>
              <a:xfrm>
                <a:off x="1584" y="325"/>
                <a:ext cx="2013" cy="0"/>
              </a:xfrm>
              <a:prstGeom prst="line">
                <a:avLst/>
              </a:prstGeom>
              <a:ln w="28575" cap="flat" cmpd="sng">
                <a:solidFill>
                  <a:schemeClr val="tx1"/>
                </a:solidFill>
                <a:prstDash val="solid"/>
                <a:headEnd type="none" w="med" len="med"/>
                <a:tailEnd type="none" w="med" len="med"/>
              </a:ln>
            </p:spPr>
          </p:sp>
          <p:sp>
            <p:nvSpPr>
              <p:cNvPr id="130137" name="Line 114"/>
              <p:cNvSpPr/>
              <p:nvPr/>
            </p:nvSpPr>
            <p:spPr>
              <a:xfrm>
                <a:off x="1389" y="2637"/>
                <a:ext cx="0" cy="480"/>
              </a:xfrm>
              <a:prstGeom prst="line">
                <a:avLst/>
              </a:prstGeom>
              <a:ln w="28575" cap="flat" cmpd="sng">
                <a:solidFill>
                  <a:schemeClr val="tx1"/>
                </a:solidFill>
                <a:prstDash val="solid"/>
                <a:headEnd type="none" w="med" len="med"/>
                <a:tailEnd type="none" w="med" len="med"/>
              </a:ln>
            </p:spPr>
          </p:sp>
          <p:sp>
            <p:nvSpPr>
              <p:cNvPr id="130138" name="Text Box 115"/>
              <p:cNvSpPr txBox="1"/>
              <p:nvPr/>
            </p:nvSpPr>
            <p:spPr>
              <a:xfrm>
                <a:off x="0" y="3040"/>
                <a:ext cx="576" cy="31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2</a:t>
                </a:r>
              </a:p>
            </p:txBody>
          </p:sp>
          <p:sp>
            <p:nvSpPr>
              <p:cNvPr id="130139" name="Line 116"/>
              <p:cNvSpPr/>
              <p:nvPr/>
            </p:nvSpPr>
            <p:spPr>
              <a:xfrm>
                <a:off x="277" y="3423"/>
                <a:ext cx="2544" cy="0"/>
              </a:xfrm>
              <a:prstGeom prst="line">
                <a:avLst/>
              </a:prstGeom>
              <a:ln w="28575" cap="flat" cmpd="sng">
                <a:solidFill>
                  <a:schemeClr val="tx1"/>
                </a:solidFill>
                <a:prstDash val="solid"/>
                <a:headEnd type="none" w="med" len="med"/>
                <a:tailEnd type="none" w="med" len="med"/>
              </a:ln>
            </p:spPr>
          </p:sp>
          <p:sp>
            <p:nvSpPr>
              <p:cNvPr id="130140" name="Text Box 117"/>
              <p:cNvSpPr txBox="1"/>
              <p:nvPr/>
            </p:nvSpPr>
            <p:spPr>
              <a:xfrm>
                <a:off x="0" y="3242"/>
                <a:ext cx="576" cy="31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1</a:t>
                </a:r>
              </a:p>
            </p:txBody>
          </p:sp>
          <p:sp>
            <p:nvSpPr>
              <p:cNvPr id="130141" name="Line 118"/>
              <p:cNvSpPr/>
              <p:nvPr/>
            </p:nvSpPr>
            <p:spPr>
              <a:xfrm>
                <a:off x="3600" y="325"/>
                <a:ext cx="0" cy="1464"/>
              </a:xfrm>
              <a:prstGeom prst="line">
                <a:avLst/>
              </a:prstGeom>
              <a:ln w="28575" cap="flat" cmpd="sng">
                <a:solidFill>
                  <a:schemeClr val="tx1"/>
                </a:solidFill>
                <a:prstDash val="solid"/>
                <a:headEnd type="none" w="med" len="med"/>
                <a:tailEnd type="none" w="med" len="med"/>
              </a:ln>
            </p:spPr>
          </p:sp>
          <p:sp>
            <p:nvSpPr>
              <p:cNvPr id="130142" name="Line 119"/>
              <p:cNvSpPr/>
              <p:nvPr/>
            </p:nvSpPr>
            <p:spPr>
              <a:xfrm>
                <a:off x="3600" y="1787"/>
                <a:ext cx="181" cy="0"/>
              </a:xfrm>
              <a:prstGeom prst="line">
                <a:avLst/>
              </a:prstGeom>
              <a:ln w="28575" cap="flat" cmpd="sng">
                <a:solidFill>
                  <a:schemeClr val="tx1"/>
                </a:solidFill>
                <a:prstDash val="solid"/>
                <a:headEnd type="none" w="med" len="med"/>
                <a:tailEnd type="none" w="med" len="med"/>
              </a:ln>
            </p:spPr>
          </p:sp>
          <p:sp>
            <p:nvSpPr>
              <p:cNvPr id="130143" name="Line 120"/>
              <p:cNvSpPr/>
              <p:nvPr/>
            </p:nvSpPr>
            <p:spPr>
              <a:xfrm>
                <a:off x="1567" y="3087"/>
                <a:ext cx="1872" cy="0"/>
              </a:xfrm>
              <a:prstGeom prst="line">
                <a:avLst/>
              </a:prstGeom>
              <a:ln w="28575" cap="flat" cmpd="sng">
                <a:solidFill>
                  <a:schemeClr val="tx1"/>
                </a:solidFill>
                <a:prstDash val="solid"/>
                <a:headEnd type="none" w="med" len="med"/>
                <a:tailEnd type="none" w="med" len="med"/>
              </a:ln>
            </p:spPr>
          </p:sp>
          <p:sp>
            <p:nvSpPr>
              <p:cNvPr id="130144" name="Line 121"/>
              <p:cNvSpPr/>
              <p:nvPr/>
            </p:nvSpPr>
            <p:spPr>
              <a:xfrm>
                <a:off x="3301" y="207"/>
                <a:ext cx="0" cy="2614"/>
              </a:xfrm>
              <a:prstGeom prst="line">
                <a:avLst/>
              </a:prstGeom>
              <a:ln w="28575" cap="flat" cmpd="sng">
                <a:solidFill>
                  <a:schemeClr val="tx1"/>
                </a:solidFill>
                <a:prstDash val="solid"/>
                <a:headEnd type="none" w="med" len="med"/>
                <a:tailEnd type="none" w="med" len="med"/>
              </a:ln>
            </p:spPr>
          </p:sp>
          <p:sp>
            <p:nvSpPr>
              <p:cNvPr id="130145" name="Line 122"/>
              <p:cNvSpPr/>
              <p:nvPr/>
            </p:nvSpPr>
            <p:spPr>
              <a:xfrm>
                <a:off x="3013" y="1455"/>
                <a:ext cx="288" cy="0"/>
              </a:xfrm>
              <a:prstGeom prst="line">
                <a:avLst/>
              </a:prstGeom>
              <a:ln w="28575" cap="flat" cmpd="sng">
                <a:solidFill>
                  <a:schemeClr val="tx1"/>
                </a:solidFill>
                <a:prstDash val="solid"/>
                <a:headEnd type="none" w="med" len="med"/>
                <a:tailEnd type="none" w="med" len="med"/>
              </a:ln>
            </p:spPr>
          </p:sp>
          <p:sp>
            <p:nvSpPr>
              <p:cNvPr id="130146" name="Oval 123"/>
              <p:cNvSpPr/>
              <p:nvPr/>
            </p:nvSpPr>
            <p:spPr>
              <a:xfrm>
                <a:off x="3264" y="1418"/>
                <a:ext cx="59" cy="59"/>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47" name="Line 124"/>
              <p:cNvSpPr/>
              <p:nvPr/>
            </p:nvSpPr>
            <p:spPr>
              <a:xfrm>
                <a:off x="2631" y="1152"/>
                <a:ext cx="0" cy="426"/>
              </a:xfrm>
              <a:prstGeom prst="line">
                <a:avLst/>
              </a:prstGeom>
              <a:ln w="28575" cap="flat" cmpd="sng">
                <a:solidFill>
                  <a:schemeClr val="tx1"/>
                </a:solidFill>
                <a:prstDash val="solid"/>
                <a:headEnd type="none" w="med" len="med"/>
                <a:tailEnd type="none" w="med" len="med"/>
              </a:ln>
            </p:spPr>
          </p:sp>
          <p:sp>
            <p:nvSpPr>
              <p:cNvPr id="130148" name="Rectangle 45"/>
              <p:cNvSpPr/>
              <p:nvPr/>
            </p:nvSpPr>
            <p:spPr>
              <a:xfrm>
                <a:off x="1063" y="1662"/>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49" name="Text Box 46"/>
              <p:cNvSpPr txBox="1"/>
              <p:nvPr/>
            </p:nvSpPr>
            <p:spPr>
              <a:xfrm>
                <a:off x="1041" y="1629"/>
                <a:ext cx="336"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p>
            </p:txBody>
          </p:sp>
          <p:sp>
            <p:nvSpPr>
              <p:cNvPr id="130150" name="Oval 47"/>
              <p:cNvSpPr/>
              <p:nvPr/>
            </p:nvSpPr>
            <p:spPr>
              <a:xfrm>
                <a:off x="1170" y="1588"/>
                <a:ext cx="77" cy="7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1" name="Rectangle 37"/>
              <p:cNvSpPr/>
              <p:nvPr/>
            </p:nvSpPr>
            <p:spPr>
              <a:xfrm>
                <a:off x="2230" y="2389"/>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2" name="Text Box 38"/>
              <p:cNvSpPr txBox="1"/>
              <p:nvPr/>
            </p:nvSpPr>
            <p:spPr>
              <a:xfrm>
                <a:off x="2208" y="2356"/>
                <a:ext cx="336"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p>
            </p:txBody>
          </p:sp>
          <p:sp>
            <p:nvSpPr>
              <p:cNvPr id="130153" name="Rectangle 41"/>
              <p:cNvSpPr/>
              <p:nvPr/>
            </p:nvSpPr>
            <p:spPr>
              <a:xfrm>
                <a:off x="2736" y="2389"/>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4" name="Text Box 42"/>
              <p:cNvSpPr txBox="1"/>
              <p:nvPr/>
            </p:nvSpPr>
            <p:spPr>
              <a:xfrm>
                <a:off x="2714" y="2356"/>
                <a:ext cx="336"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p>
            </p:txBody>
          </p:sp>
          <p:sp>
            <p:nvSpPr>
              <p:cNvPr id="130155" name="Rectangle 49"/>
              <p:cNvSpPr/>
              <p:nvPr/>
            </p:nvSpPr>
            <p:spPr>
              <a:xfrm>
                <a:off x="816" y="2382"/>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6" name="Text Box 50"/>
              <p:cNvSpPr txBox="1"/>
              <p:nvPr/>
            </p:nvSpPr>
            <p:spPr>
              <a:xfrm>
                <a:off x="794" y="2349"/>
                <a:ext cx="336"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p>
            </p:txBody>
          </p:sp>
          <p:sp>
            <p:nvSpPr>
              <p:cNvPr id="130157" name="Rectangle 53"/>
              <p:cNvSpPr/>
              <p:nvPr/>
            </p:nvSpPr>
            <p:spPr>
              <a:xfrm>
                <a:off x="1322" y="2382"/>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58" name="Text Box 54"/>
              <p:cNvSpPr txBox="1"/>
              <p:nvPr/>
            </p:nvSpPr>
            <p:spPr>
              <a:xfrm>
                <a:off x="1300" y="2349"/>
                <a:ext cx="336"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p>
            </p:txBody>
          </p:sp>
          <p:sp>
            <p:nvSpPr>
              <p:cNvPr id="130159" name="Rectangle 57"/>
              <p:cNvSpPr/>
              <p:nvPr/>
            </p:nvSpPr>
            <p:spPr>
              <a:xfrm>
                <a:off x="3729" y="1289"/>
                <a:ext cx="288" cy="2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160" name="Text Box 58"/>
              <p:cNvSpPr txBox="1"/>
              <p:nvPr/>
            </p:nvSpPr>
            <p:spPr>
              <a:xfrm>
                <a:off x="3707" y="1248"/>
                <a:ext cx="336" cy="28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 &amp;</a:t>
                </a:r>
              </a:p>
            </p:txBody>
          </p:sp>
        </p:grpSp>
        <p:sp>
          <p:nvSpPr>
            <p:cNvPr id="130052" name="Oval 59"/>
            <p:cNvSpPr/>
            <p:nvPr/>
          </p:nvSpPr>
          <p:spPr>
            <a:xfrm>
              <a:off x="5339" y="5408"/>
              <a:ext cx="192" cy="145"/>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3" name="Oval 59"/>
            <p:cNvSpPr/>
            <p:nvPr/>
          </p:nvSpPr>
          <p:spPr>
            <a:xfrm>
              <a:off x="6599" y="5410"/>
              <a:ext cx="195" cy="14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4" name="Oval 59"/>
            <p:cNvSpPr/>
            <p:nvPr/>
          </p:nvSpPr>
          <p:spPr>
            <a:xfrm>
              <a:off x="8881" y="5418"/>
              <a:ext cx="193" cy="145"/>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130055" name="Oval 59"/>
            <p:cNvSpPr/>
            <p:nvPr/>
          </p:nvSpPr>
          <p:spPr>
            <a:xfrm>
              <a:off x="10144" y="5410"/>
              <a:ext cx="195" cy="145"/>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2" name="等腰三角形 1"/>
            <p:cNvSpPr/>
            <p:nvPr/>
          </p:nvSpPr>
          <p:spPr>
            <a:xfrm>
              <a:off x="5989" y="3100"/>
              <a:ext cx="119" cy="119"/>
            </a:xfrm>
            <a:prstGeom prst="triangle">
              <a:avLst/>
            </a:prstGeom>
            <a:solidFill>
              <a:schemeClr val="accent1"/>
            </a:solidFill>
            <a:ln w="12700"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3" name="等腰三角形 2"/>
            <p:cNvSpPr/>
            <p:nvPr/>
          </p:nvSpPr>
          <p:spPr>
            <a:xfrm>
              <a:off x="9524" y="3080"/>
              <a:ext cx="119" cy="119"/>
            </a:xfrm>
            <a:prstGeom prst="triangle">
              <a:avLst/>
            </a:prstGeom>
            <a:solidFill>
              <a:schemeClr val="accent1"/>
            </a:solidFill>
            <a:ln w="12700"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grpSp>
      <p:grpSp>
        <p:nvGrpSpPr>
          <p:cNvPr id="7" name="组合 6"/>
          <p:cNvGrpSpPr/>
          <p:nvPr/>
        </p:nvGrpSpPr>
        <p:grpSpPr>
          <a:xfrm>
            <a:off x="6350" y="1203325"/>
            <a:ext cx="2362200" cy="2250440"/>
            <a:chOff x="10" y="1895"/>
            <a:chExt cx="3720" cy="3544"/>
          </a:xfrm>
        </p:grpSpPr>
        <p:sp>
          <p:nvSpPr>
            <p:cNvPr id="124931" name="Rectangle 4"/>
            <p:cNvSpPr>
              <a:spLocks noGrp="1"/>
            </p:cNvSpPr>
            <p:nvPr/>
          </p:nvSpPr>
          <p:spPr>
            <a:xfrm>
              <a:off x="10" y="1895"/>
              <a:ext cx="3720" cy="3545"/>
            </a:xfrm>
            <a:prstGeom prst="rect">
              <a:avLst/>
            </a:prstGeom>
            <a:noFill/>
            <a:ln w="9525">
              <a:noFill/>
            </a:ln>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None/>
              </a:pPr>
              <a:r>
                <a:rPr lang="en-US" altLang="zh-CN" sz="2000" b="1" dirty="0"/>
                <a:t>CLK</a:t>
              </a:r>
              <a:r>
                <a:rPr lang="en-US" altLang="zh-CN" sz="2000" b="1" baseline="-25000" dirty="0"/>
                <a:t>1</a:t>
              </a:r>
              <a:r>
                <a:rPr lang="en-US" altLang="zh-CN" sz="2000" b="1" dirty="0"/>
                <a:t> = x</a:t>
              </a:r>
              <a:r>
                <a:rPr lang="en-US" altLang="zh-CN" sz="2000" b="1" baseline="-25000" dirty="0"/>
                <a:t>2</a:t>
              </a:r>
              <a:r>
                <a:rPr lang="en-US" altLang="zh-CN" sz="2000" b="1" dirty="0"/>
                <a:t>y</a:t>
              </a:r>
              <a:r>
                <a:rPr lang="en-US" altLang="zh-CN" sz="2000" b="1" baseline="-25000" dirty="0"/>
                <a:t>1</a:t>
              </a:r>
              <a:r>
                <a:rPr lang="en-US" altLang="zh-CN" sz="2000" b="1" dirty="0"/>
                <a:t> + x</a:t>
              </a:r>
              <a:r>
                <a:rPr lang="en-US" altLang="zh-CN" sz="2000" b="1" baseline="-25000" dirty="0"/>
                <a:t>1</a:t>
              </a:r>
              <a:r>
                <a:rPr lang="en-US" altLang="zh-CN" sz="2000" b="1" dirty="0"/>
                <a:t>y</a:t>
              </a:r>
              <a:r>
                <a:rPr lang="en-US" altLang="zh-CN" sz="2000" b="1" baseline="-25000" dirty="0"/>
                <a:t>1</a:t>
              </a:r>
              <a:r>
                <a:rPr lang="en-US" altLang="zh-CN" sz="2000" b="1" dirty="0"/>
                <a:t>y</a:t>
              </a:r>
              <a:r>
                <a:rPr lang="en-US" altLang="zh-CN" sz="2000" b="1" baseline="-25000" dirty="0"/>
                <a:t>2        </a:t>
              </a:r>
            </a:p>
            <a:p>
              <a:pPr eaLnBrk="1" hangingPunct="1">
                <a:buNone/>
              </a:pPr>
              <a:r>
                <a:rPr lang="en-US" altLang="zh-CN" sz="2000" b="1" dirty="0"/>
                <a:t>D</a:t>
              </a:r>
              <a:r>
                <a:rPr lang="en-US" altLang="zh-CN" sz="2000" b="1" baseline="-25000" dirty="0"/>
                <a:t>1 </a:t>
              </a:r>
              <a:r>
                <a:rPr lang="en-US" altLang="zh-CN" sz="2000" b="1" dirty="0"/>
                <a:t>= y</a:t>
              </a:r>
              <a:r>
                <a:rPr lang="en-US" altLang="zh-CN" sz="2000" b="1" baseline="-25000" dirty="0"/>
                <a:t>1</a:t>
              </a:r>
            </a:p>
            <a:p>
              <a:pPr eaLnBrk="1" hangingPunct="1">
                <a:buNone/>
              </a:pPr>
              <a:r>
                <a:rPr lang="en-US" altLang="zh-CN" sz="2000" b="1" dirty="0"/>
                <a:t>CLK</a:t>
              </a:r>
              <a:r>
                <a:rPr lang="en-US" altLang="zh-CN" sz="2000" b="1" baseline="-25000" dirty="0"/>
                <a:t>2</a:t>
              </a:r>
              <a:r>
                <a:rPr lang="en-US" altLang="zh-CN" sz="2000" b="1" dirty="0"/>
                <a:t> = x</a:t>
              </a:r>
              <a:r>
                <a:rPr lang="en-US" altLang="zh-CN" sz="2000" b="1" baseline="-25000" dirty="0"/>
                <a:t>2</a:t>
              </a:r>
              <a:r>
                <a:rPr lang="en-US" altLang="zh-CN" sz="2000" b="1" dirty="0"/>
                <a:t>y</a:t>
              </a:r>
              <a:r>
                <a:rPr lang="en-US" altLang="zh-CN" sz="2000" b="1" baseline="-25000" dirty="0"/>
                <a:t>2</a:t>
              </a:r>
              <a:r>
                <a:rPr lang="en-US" altLang="zh-CN" sz="2000" b="1" dirty="0"/>
                <a:t> + x</a:t>
              </a:r>
              <a:r>
                <a:rPr lang="en-US" altLang="zh-CN" sz="2000" b="1" baseline="-25000" dirty="0"/>
                <a:t>1</a:t>
              </a:r>
              <a:r>
                <a:rPr lang="en-US" altLang="zh-CN" sz="2000" b="1" dirty="0"/>
                <a:t>y</a:t>
              </a:r>
              <a:r>
                <a:rPr lang="en-US" altLang="zh-CN" sz="2000" b="1" baseline="-25000" dirty="0"/>
                <a:t>2             </a:t>
              </a:r>
            </a:p>
            <a:p>
              <a:pPr eaLnBrk="1" hangingPunct="1">
                <a:buNone/>
              </a:pPr>
              <a:r>
                <a:rPr lang="en-US" altLang="zh-CN" sz="2000" b="1" dirty="0"/>
                <a:t>D</a:t>
              </a:r>
              <a:r>
                <a:rPr lang="en-US" altLang="zh-CN" sz="2000" b="1" baseline="-25000" dirty="0"/>
                <a:t>2 </a:t>
              </a:r>
              <a:r>
                <a:rPr lang="en-US" altLang="zh-CN" sz="2000" b="1" dirty="0"/>
                <a:t>= y</a:t>
              </a:r>
              <a:r>
                <a:rPr lang="en-US" altLang="zh-CN" sz="2000" b="1" baseline="-25000" dirty="0"/>
                <a:t>2</a:t>
              </a:r>
            </a:p>
            <a:p>
              <a:pPr eaLnBrk="1" hangingPunct="1">
                <a:buNone/>
              </a:pPr>
              <a:r>
                <a:rPr lang="en-US" altLang="zh-CN" sz="2000" b="1" dirty="0"/>
                <a:t>Z = x</a:t>
              </a:r>
              <a:r>
                <a:rPr lang="en-US" altLang="zh-CN" sz="2000" b="1" baseline="-25000" dirty="0"/>
                <a:t>2</a:t>
              </a:r>
              <a:r>
                <a:rPr lang="en-US" altLang="zh-CN" sz="2000" b="1" dirty="0">
                  <a:sym typeface="+mn-ea"/>
                </a:rPr>
                <a:t>y</a:t>
              </a:r>
              <a:r>
                <a:rPr lang="en-US" altLang="zh-CN" sz="2000" b="1" baseline="-25000" dirty="0">
                  <a:sym typeface="+mn-ea"/>
                </a:rPr>
                <a:t>1</a:t>
              </a:r>
              <a:r>
                <a:rPr lang="en-US" altLang="zh-CN" sz="2000" b="1" dirty="0">
                  <a:sym typeface="+mn-ea"/>
                </a:rPr>
                <a:t>y</a:t>
              </a:r>
              <a:r>
                <a:rPr lang="en-US" altLang="zh-CN" sz="2000" b="1" baseline="-25000" dirty="0">
                  <a:sym typeface="+mn-ea"/>
                </a:rPr>
                <a:t>2</a:t>
              </a:r>
              <a:endParaRPr lang="en-US" altLang="zh-CN" sz="2000" b="1" dirty="0"/>
            </a:p>
          </p:txBody>
        </p:sp>
        <p:sp>
          <p:nvSpPr>
            <p:cNvPr id="125162" name="Line 325"/>
            <p:cNvSpPr/>
            <p:nvPr/>
          </p:nvSpPr>
          <p:spPr>
            <a:xfrm flipV="1">
              <a:off x="2551" y="2051"/>
              <a:ext cx="225" cy="2"/>
            </a:xfrm>
            <a:prstGeom prst="line">
              <a:avLst/>
            </a:prstGeom>
            <a:ln w="19050" cap="flat" cmpd="sng">
              <a:solidFill>
                <a:schemeClr val="tx1"/>
              </a:solidFill>
              <a:prstDash val="solid"/>
              <a:headEnd type="none" w="med" len="med"/>
              <a:tailEnd type="none" w="med" len="med"/>
            </a:ln>
          </p:spPr>
        </p:sp>
        <p:sp>
          <p:nvSpPr>
            <p:cNvPr id="4" name="Line 325"/>
            <p:cNvSpPr/>
            <p:nvPr/>
          </p:nvSpPr>
          <p:spPr>
            <a:xfrm flipV="1">
              <a:off x="855" y="2655"/>
              <a:ext cx="225" cy="2"/>
            </a:xfrm>
            <a:prstGeom prst="line">
              <a:avLst/>
            </a:prstGeom>
            <a:ln w="19050" cap="flat" cmpd="sng">
              <a:solidFill>
                <a:schemeClr val="tx1"/>
              </a:solidFill>
              <a:prstDash val="solid"/>
              <a:headEnd type="none" w="med" len="med"/>
              <a:tailEnd type="none" w="med" len="med"/>
            </a:ln>
          </p:spPr>
        </p:sp>
        <p:sp>
          <p:nvSpPr>
            <p:cNvPr id="5" name="Line 325"/>
            <p:cNvSpPr/>
            <p:nvPr/>
          </p:nvSpPr>
          <p:spPr>
            <a:xfrm flipV="1">
              <a:off x="850" y="3773"/>
              <a:ext cx="225" cy="2"/>
            </a:xfrm>
            <a:prstGeom prst="line">
              <a:avLst/>
            </a:prstGeom>
            <a:ln w="19050" cap="flat" cmpd="sng">
              <a:solidFill>
                <a:schemeClr val="tx1"/>
              </a:solidFill>
              <a:prstDash val="solid"/>
              <a:headEnd type="none" w="med" len="med"/>
              <a:tailEnd type="none" w="med" len="med"/>
            </a:ln>
          </p:spPr>
        </p:sp>
        <p:sp>
          <p:nvSpPr>
            <p:cNvPr id="6" name="Line 325"/>
            <p:cNvSpPr/>
            <p:nvPr/>
          </p:nvSpPr>
          <p:spPr>
            <a:xfrm flipV="1">
              <a:off x="2551" y="3197"/>
              <a:ext cx="225" cy="2"/>
            </a:xfrm>
            <a:prstGeom prst="line">
              <a:avLst/>
            </a:prstGeom>
            <a:ln w="19050" cap="flat" cmpd="sng">
              <a:solidFill>
                <a:schemeClr val="tx1"/>
              </a:solidFill>
              <a:prstDash val="solid"/>
              <a:headEnd type="none" w="med" len="med"/>
              <a:tailEnd type="none" w="med" len="med"/>
            </a:ln>
          </p:spPr>
        </p: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edb97554-0581-4bb9-b371-6cf1636dd20b"/>
  <p:tag name="COMMONDATA" val="eyJoZGlkIjoiYWM1OWY0MGVhYmU5NTRkZGZlMzJmNTI0MzdiODI0Mjc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960,&quot;width&quot;:3090}"/>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21b3c5ff-5089-4922-9322-bff377f621cb}"/>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731625de-20e7-42e5-a626-07beefcf5416}"/>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b6d7b5b0-d9d1-412f-bbaa-aed6eabeac36}"/>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2237d942-1369-4f88-b45a-de50b4b8d4ef}"/>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a0b63533-71ef-4a5e-a162-a7857162da86}"/>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3fb21d57-00b8-4f00-b371-374559c770cc}"/>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自定义设计方案">
  <a:themeElements>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自定义设计方案">
  <a:themeElements>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2794</Words>
  <Application>Microsoft Office PowerPoint</Application>
  <PresentationFormat>全屏显示(16:9)</PresentationFormat>
  <Paragraphs>884</Paragraphs>
  <Slides>25</Slides>
  <Notes>23</Notes>
  <HiddenSlides>0</HiddenSlides>
  <MMClips>0</MMClips>
  <ScaleCrop>false</ScaleCrop>
  <HeadingPairs>
    <vt:vector size="6" baseType="variant">
      <vt:variant>
        <vt:lpstr>已用的字体</vt:lpstr>
      </vt:variant>
      <vt:variant>
        <vt:i4>10</vt:i4>
      </vt:variant>
      <vt:variant>
        <vt:lpstr>主题</vt:lpstr>
      </vt:variant>
      <vt:variant>
        <vt:i4>9</vt:i4>
      </vt:variant>
      <vt:variant>
        <vt:lpstr>幻灯片标题</vt:lpstr>
      </vt:variant>
      <vt:variant>
        <vt:i4>25</vt:i4>
      </vt:variant>
    </vt:vector>
  </HeadingPairs>
  <TitlesOfParts>
    <vt:vector size="44" baseType="lpstr">
      <vt:lpstr>Arial Unicode MS</vt:lpstr>
      <vt:lpstr>方正综艺简体</vt:lpstr>
      <vt:lpstr>黑体</vt:lpstr>
      <vt:lpstr>华文新魏</vt:lpstr>
      <vt:lpstr>宋体</vt:lpstr>
      <vt:lpstr>Arial</vt:lpstr>
      <vt:lpstr>Calibri</vt:lpstr>
      <vt:lpstr>Calibri Light</vt:lpstr>
      <vt:lpstr>Times New Roman</vt:lpstr>
      <vt:lpstr>Wingdings</vt:lpstr>
      <vt:lpstr>自定义设计方案</vt:lpstr>
      <vt:lpstr>1_自定义设计方案</vt:lpstr>
      <vt:lpstr>2_自定义设计方案</vt:lpstr>
      <vt:lpstr>3_自定义设计方案</vt:lpstr>
      <vt:lpstr>4_自定义设计方案</vt:lpstr>
      <vt:lpstr>5_自定义设计方案</vt:lpstr>
      <vt:lpstr>6_自定义设计方案</vt:lpstr>
      <vt:lpstr>7_自定义设计方案</vt:lpstr>
      <vt:lpstr>8_自定义设计方案</vt:lpstr>
      <vt:lpstr>数 字 逻 辑 电 路</vt:lpstr>
      <vt:lpstr>３.３、异步时序电路的分析与设计 </vt:lpstr>
      <vt:lpstr>３.３、 异步时序电路的分析与设计 </vt:lpstr>
      <vt:lpstr>３.３、 异步时序电路的分析与设计 </vt:lpstr>
      <vt:lpstr>PowerPoint 演示文稿</vt:lpstr>
      <vt:lpstr>PowerPoint 演示文稿</vt:lpstr>
      <vt:lpstr>1) 脉冲异步时序电路与同步时序电路相同点是：    （1） 存储元件都是触发器/锁存器。    （2） 状态的改变都依赖于外部输入（脉冲）和电路当前状态。 </vt:lpstr>
      <vt:lpstr>3) 脉冲异步时序电路输入的限制：</vt:lpstr>
      <vt:lpstr>2　 脉冲异步时序电路的分析</vt:lpstr>
      <vt:lpstr>PowerPoint 演示文稿</vt:lpstr>
      <vt:lpstr>分析步骤如下：</vt:lpstr>
      <vt:lpstr>（简化）状态真值表和次态真值表</vt:lpstr>
      <vt:lpstr>⑶  画出状态表和状态图</vt:lpstr>
      <vt:lpstr>例2  试分析如图所示的脉冲异步时序电路。</vt:lpstr>
      <vt:lpstr>⑵ 列出状态真值表及次态真值表</vt:lpstr>
      <vt:lpstr>⑵ 列出状态真值表及次态真值表</vt:lpstr>
      <vt:lpstr>⑶ 画出状态表和状态图</vt:lpstr>
      <vt:lpstr>3　脉冲异步时序电路的设计</vt:lpstr>
      <vt:lpstr>例   用D触发器设计一个“x1–x1–x2”序列检测器（米勒型）。</vt:lpstr>
      <vt:lpstr>⑵  状态化简</vt:lpstr>
      <vt:lpstr>⑵  状态化简</vt:lpstr>
      <vt:lpstr>⑷ 确定控制函数、时钟函数及输出函数</vt:lpstr>
      <vt:lpstr>⑸ 关于电路挂起的讨论</vt:lpstr>
      <vt:lpstr>⑸ 关于电路挂起的讨论</vt:lpstr>
      <vt:lpstr>⑹ 画出电路图</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同步时序电路的分析</dc:title>
  <dc:creator>mcx</dc:creator>
  <cp:lastModifiedBy>NUC</cp:lastModifiedBy>
  <cp:revision>386</cp:revision>
  <dcterms:created xsi:type="dcterms:W3CDTF">2025-04-22T13:44:39Z</dcterms:created>
  <dcterms:modified xsi:type="dcterms:W3CDTF">2025-09-18T08:38:02Z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2052-4.6.1.7451</vt:lpwstr>
  </property>
  <property fmtid="{D5CDD505-2E9C-101B-9397-08002B2CF9AE}" pid="3" name="ICV">
    <vt:lpwstr>0FE7DCE548624812BCA41C6DCBD82320_13</vt:lpwstr>
  </property>
  <property fmtid="{D5CDD505-2E9C-101B-9397-08002B2CF9AE}" pid="4" name="commondata">
    <vt:lpwstr>eyJoZGlkIjoiNDhiNjIzYzU1ZGEzZTY4YzZjM2Q5NDg5MTNkOWY5NmYifQ==</vt:lpwstr>
  </property>
</Properties>
</file>