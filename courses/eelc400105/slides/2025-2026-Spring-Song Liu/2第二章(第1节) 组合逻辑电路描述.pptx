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3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528" r:id="rId2"/>
    <p:sldId id="529" r:id="rId3"/>
    <p:sldId id="574" r:id="rId4"/>
    <p:sldId id="531" r:id="rId5"/>
    <p:sldId id="532" r:id="rId6"/>
    <p:sldId id="615" r:id="rId7"/>
    <p:sldId id="571" r:id="rId8"/>
    <p:sldId id="572" r:id="rId9"/>
    <p:sldId id="654" r:id="rId10"/>
    <p:sldId id="656" r:id="rId11"/>
    <p:sldId id="534" r:id="rId12"/>
    <p:sldId id="535" r:id="rId13"/>
    <p:sldId id="536" r:id="rId14"/>
    <p:sldId id="616" r:id="rId15"/>
    <p:sldId id="617" r:id="rId16"/>
    <p:sldId id="537" r:id="rId17"/>
    <p:sldId id="538" r:id="rId18"/>
    <p:sldId id="618" r:id="rId19"/>
    <p:sldId id="539" r:id="rId20"/>
    <p:sldId id="540" r:id="rId21"/>
    <p:sldId id="541" r:id="rId22"/>
    <p:sldId id="542" r:id="rId23"/>
    <p:sldId id="543" r:id="rId24"/>
    <p:sldId id="544" r:id="rId25"/>
    <p:sldId id="545" r:id="rId26"/>
    <p:sldId id="565" r:id="rId27"/>
    <p:sldId id="546" r:id="rId28"/>
    <p:sldId id="547" r:id="rId29"/>
    <p:sldId id="548" r:id="rId30"/>
    <p:sldId id="549" r:id="rId31"/>
    <p:sldId id="550" r:id="rId32"/>
    <p:sldId id="551" r:id="rId33"/>
    <p:sldId id="552" r:id="rId34"/>
    <p:sldId id="556" r:id="rId35"/>
    <p:sldId id="557" r:id="rId36"/>
    <p:sldId id="684" r:id="rId37"/>
    <p:sldId id="554" r:id="rId38"/>
  </p:sldIdLst>
  <p:sldSz cx="9144000" cy="5143500" type="screen16x9"/>
  <p:notesSz cx="6858000" cy="9144000"/>
  <p:custDataLst>
    <p:tags r:id="rId4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2" userDrawn="1">
          <p15:clr>
            <a:srgbClr val="A4A3A4"/>
          </p15:clr>
        </p15:guide>
        <p15:guide id="2" pos="29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339933"/>
    <a:srgbClr val="00CC00"/>
    <a:srgbClr val="FF9900"/>
    <a:srgbClr val="9966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54"/>
    <p:restoredTop sz="79413" autoAdjust="0"/>
  </p:normalViewPr>
  <p:slideViewPr>
    <p:cSldViewPr showGuides="1">
      <p:cViewPr varScale="1">
        <p:scale>
          <a:sx n="93" d="100"/>
          <a:sy n="93" d="100"/>
        </p:scale>
        <p:origin x="342" y="45"/>
      </p:cViewPr>
      <p:guideLst>
        <p:guide orient="horz" pos="1552"/>
        <p:guide pos="29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B603136-A906-42A8-B477-474A4EE6DA4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F5E13B-0048-47CB-BAC9-5A1BEDD4105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33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F84DCE-B9FA-414D-A3AA-E1122E8DDD3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64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46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9811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7671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7107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C70021-CBEF-4567-B9CE-26A347A182E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4DAE5DE-2DB7-4DF2-AFF4-9974FB37160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1D2B81-E42C-4B97-A9D0-6614020CA38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B94830-F2E7-4C12-9203-CAB523439A1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2E675CD-8B2D-455B-AE21-F7E8AE21692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E823C1-A481-4AF6-96C4-FBDCCA1F1AA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1AE07F0-6AA9-4C11-98E8-7E9FE91C50A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1651822-A9D6-4897-8BD2-CAAA078514C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9FBFB58-F644-4BC8-9B12-FAE7AEFA0DF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4CDE27-E419-40C0-8963-9D1A2F1C020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FACF6A-4D85-471E-BE3B-0DB20A46095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30BE460-A383-4DE6-AD9D-FCFA5F57B56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2E759BE-1761-431F-8DAB-05B6D12C070A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3BBAD41-1FAB-4A05-AD50-7977CCD7E3B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E68FB2B-05AA-4386-A92B-0CF4C3898EE7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6E3B0A-C3EF-4572-ACD6-272400DAF2C4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6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file:///E:\&#25945;&#23398;\&#30740;&#31350;&#29983;\solutions\desktop_computers_motherboards\parts.mvp\scpk\1083" TargetMode="External"/><Relationship Id="rId3" Type="http://schemas.openxmlformats.org/officeDocument/2006/relationships/image" Target="../media/image9.png"/><Relationship Id="rId7" Type="http://schemas.openxmlformats.org/officeDocument/2006/relationships/hyperlink" Target="file:///E:\&#25945;&#23398;\&#30740;&#31350;&#29983;\solutions\desktop_computers_motherboards\parts.mvp\scpk\108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E:\&#25945;&#23398;\&#30740;&#31350;&#29983;\solutions\desktop_computers_motherboards\parts.mvp\scpk\1082" TargetMode="External"/><Relationship Id="rId5" Type="http://schemas.openxmlformats.org/officeDocument/2006/relationships/hyperlink" Target="file:///E:\&#25945;&#23398;\&#30740;&#31350;&#29983;\solutions\desktop_computers_motherboards\parts.mvp\scpk\1085" TargetMode="External"/><Relationship Id="rId4" Type="http://schemas.openxmlformats.org/officeDocument/2006/relationships/hyperlink" Target="file:///E:\&#25945;&#23398;\&#30740;&#31350;&#29983;\solutions\desktop_computers_motherboards\parts.mvp\scpk\2038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7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lstStyle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11268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71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11272" name="文本框 11"/>
          <p:cNvSpPr txBox="1"/>
          <p:nvPr/>
        </p:nvSpPr>
        <p:spPr>
          <a:xfrm>
            <a:off x="4165600" y="2692400"/>
            <a:ext cx="14287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刘</a:t>
            </a:r>
            <a:r>
              <a:rPr lang="en-US" altLang="zh-CN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松</a:t>
            </a:r>
          </a:p>
        </p:txBody>
      </p:sp>
      <p:grpSp>
        <p:nvGrpSpPr>
          <p:cNvPr id="11273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1274" name="图片 13" descr="交大矢量logo"/>
            <p:cNvPicPr>
              <a:picLocks noChangeAspect="1"/>
            </p:cNvPicPr>
            <p:nvPr/>
          </p:nvPicPr>
          <p:blipFill>
            <a:blip r:embed="rId2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1006475" y="793750"/>
            <a:ext cx="7597775" cy="4826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第二章 组合逻辑电路的分析与设计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>
          <a:xfrm>
            <a:off x="971550" y="1419225"/>
            <a:ext cx="7786688" cy="296862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学习要求： 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●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熟悉逻辑电路设计文档标准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● 掌握组合逻辑电路的分析方法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● 掌握组合逻辑电路设计的一般方法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●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掌握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组合逻辑电路的竞争与险象识别与消除方法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● 熟练掌握常用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组合逻辑器件及其应用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charRg st="26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charRg st="2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charRg st="2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charRg st="43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charRg st="4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charRg st="4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charRg st="87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charRg st="8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charRg st="8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/>
          </p:cNvSpPr>
          <p:nvPr>
            <p:ph type="title"/>
          </p:nvPr>
        </p:nvSpPr>
        <p:spPr>
          <a:xfrm>
            <a:off x="673100" y="627063"/>
            <a:ext cx="6408738" cy="6175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逻辑电路描述（设计文档）</a:t>
            </a:r>
            <a:endParaRPr lang="en-US" altLang="zh-CN" sz="24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4" name="Rectangle 4"/>
          <p:cNvSpPr>
            <a:spLocks noGrp="1"/>
          </p:cNvSpPr>
          <p:nvPr>
            <p:ph idx="1"/>
          </p:nvPr>
        </p:nvSpPr>
        <p:spPr>
          <a:xfrm>
            <a:off x="1214438" y="1168400"/>
            <a:ext cx="7389812" cy="2128838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结构化的思想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完成一个复杂系统的分析和设计过程：</a:t>
            </a:r>
          </a:p>
          <a:p>
            <a:pPr marL="609600" indent="-609600" eaLnBrk="1" hangingPunct="1">
              <a:buFont typeface="Times New Roman" panose="02020603050405020304" pitchFamily="18" charset="0"/>
              <a:buAutoNum type="arabicParenBoth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整个复杂系统划分成若干子系统；</a:t>
            </a:r>
          </a:p>
          <a:p>
            <a:pPr marL="609600" indent="-609600" eaLnBrk="1" hangingPunct="1">
              <a:buFont typeface="Times New Roman" panose="02020603050405020304" pitchFamily="18" charset="0"/>
              <a:buAutoNum type="arabicParenBoth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每个子系统划分成较为简单、较为规范的电路单元；</a:t>
            </a:r>
          </a:p>
          <a:p>
            <a:pPr marL="609600" indent="-609600" eaLnBrk="1" hangingPunct="1">
              <a:buFont typeface="Times New Roman" panose="02020603050405020304" pitchFamily="18" charset="0"/>
              <a:buAutoNum type="arabicParenBoth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自顶向下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地规划设计</a:t>
            </a:r>
            <a:r>
              <a:rPr lang="en-US" altLang="zh-CN" sz="1800" b="1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(Top-down Modular Design)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从下而上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地进行分析和处理</a:t>
            </a:r>
            <a:r>
              <a:rPr lang="en-US" altLang="zh-CN" sz="1800" b="1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(Bottom-up Process)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marL="609600" indent="-609600" eaLnBrk="1" hangingPunct="1">
              <a:buFont typeface="Times New Roman" panose="02020603050405020304" pitchFamily="18" charset="0"/>
              <a:buAutoNum type="arabicParenBoth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建立一套标准化的逻辑电路描述文档。</a:t>
            </a:r>
          </a:p>
        </p:txBody>
      </p:sp>
      <p:sp>
        <p:nvSpPr>
          <p:cNvPr id="2" name="Text Box 5"/>
          <p:cNvSpPr txBox="1"/>
          <p:nvPr/>
        </p:nvSpPr>
        <p:spPr>
          <a:xfrm>
            <a:off x="279400" y="3327400"/>
            <a:ext cx="8098790" cy="1918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200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作为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规范化的技术“语言”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，逻辑电路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设计文档标准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对数字系统的分析、设计和技术交流都很重要。</a:t>
            </a:r>
          </a:p>
          <a:p>
            <a:pPr marL="457200" indent="-457200" eaLnBrk="1" hangingPunct="1">
              <a:spcBef>
                <a:spcPct val="20000"/>
              </a:spcBef>
              <a:buFont typeface="Arial" panose="020B0604020202020204" pitchFamily="34" charset="0"/>
            </a:pP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spcBef>
                <a:spcPct val="2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一个复杂电路系统的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文档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至少应包括如下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五个方面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：框图、电路图、时间（序）图、逻辑电路功能描述和电路整体功能、性能、可靠性等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说明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spcBef>
                <a:spcPct val="20000"/>
              </a:spcBef>
              <a:buFont typeface="Arial" panose="020B0604020202020204" pitchFamily="34" charset="0"/>
            </a:pP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58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charRg st="58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charRg st="58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charRg st="58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矩形 2"/>
          <p:cNvSpPr/>
          <p:nvPr/>
        </p:nvSpPr>
        <p:spPr>
          <a:xfrm>
            <a:off x="971550" y="771525"/>
            <a:ext cx="7105650" cy="42913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Times New Roman" panose="02020603050405020304" pitchFamily="18" charset="0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框图：系统功能图形描述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方框、圆框、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各种（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带箭头）连线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和各种标注（符号与文字）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Times New Roman" panose="02020603050405020304" pitchFamily="18" charset="0"/>
              <a:buAutoNum type="arabicPeriod" startAt="2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电路图：逻辑功能电路表述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图面布局与总线、门的标准符号（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集成电路逻辑符号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信号与信号的有效级、引端的有效级、有效级的变换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Times New Roman" panose="02020603050405020304" pitchFamily="18" charset="0"/>
              <a:buAutoNum type="arabicPeriod" startAt="3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时间图：逻辑信号间的时序关系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传输延迟时间、转换延迟时间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Times New Roman" panose="02020603050405020304" pitchFamily="18" charset="0"/>
              <a:buAutoNum type="arabicPeriod" startAt="4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的描述方法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逻辑表达式、卡诺图、真值表、状态图和状态表等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Times New Roman" panose="02020603050405020304" pitchFamily="18" charset="0"/>
              <a:buAutoNum type="arabicPeriod" startAt="5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电路整体说明：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系统功能语言描述（功能、性能和限定等）</a:t>
            </a:r>
          </a:p>
        </p:txBody>
      </p:sp>
      <p:sp>
        <p:nvSpPr>
          <p:cNvPr id="15363" name="Rectangle 6"/>
          <p:cNvSpPr/>
          <p:nvPr/>
        </p:nvSpPr>
        <p:spPr>
          <a:xfrm>
            <a:off x="2987675" y="484188"/>
            <a:ext cx="4319588" cy="5340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</a:t>
            </a:r>
            <a:r>
              <a:rPr lang="en-US" altLang="zh-CN" sz="24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逻辑电路描述</a:t>
            </a:r>
            <a:endParaRPr lang="zh-CN" altLang="en-US" sz="2400" b="1" dirty="0">
              <a:solidFill>
                <a:srgbClr val="FF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536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3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15364">
                                            <p:txEl>
                                              <p:charRg st="3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15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15364">
                                            <p:txEl>
                                              <p:charRg st="15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19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15364">
                                            <p:txEl>
                                              <p:charRg st="19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34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15364">
                                            <p:txEl>
                                              <p:charRg st="34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58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5364">
                                            <p:txEl>
                                              <p:charRg st="58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62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15364">
                                            <p:txEl>
                                              <p:charRg st="62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76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1000"/>
                                        <p:tgtEl>
                                          <p:spTgt spid="15364">
                                            <p:txEl>
                                              <p:charRg st="76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88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15364">
                                            <p:txEl>
                                              <p:charRg st="88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111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1000"/>
                                        <p:tgtEl>
                                          <p:spTgt spid="15364">
                                            <p:txEl>
                                              <p:charRg st="111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/>
          </p:cNvSpPr>
          <p:nvPr>
            <p:ph type="title"/>
          </p:nvPr>
        </p:nvSpPr>
        <p:spPr>
          <a:xfrm>
            <a:off x="468313" y="700088"/>
            <a:ext cx="7991475" cy="2057400"/>
          </a:xfrm>
          <a:noFill/>
          <a:ln>
            <a:noFill/>
          </a:ln>
        </p:spPr>
        <p:txBody>
          <a:bodyPr/>
          <a:lstStyle/>
          <a:p>
            <a:pPr eaLnBrk="1" latinLnBrk="0" hangingPunct="1">
              <a:lnSpc>
                <a:spcPct val="17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2.1.1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框图 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Block Diagram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b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800" b="1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 </a:t>
            </a:r>
            <a:b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</a:b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方框、圆框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等粗略表示系统的输入、输出和功能模块（或称子系统）；</a:t>
            </a:r>
            <a:b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带箭头连线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表示模块之间主要信息通路、其流向，可能还包含控制信号。</a:t>
            </a:r>
          </a:p>
        </p:txBody>
      </p:sp>
      <p:sp>
        <p:nvSpPr>
          <p:cNvPr id="16386" name="Rectangle 3"/>
          <p:cNvSpPr>
            <a:spLocks noGrp="1"/>
          </p:cNvSpPr>
          <p:nvPr>
            <p:ph idx="1"/>
          </p:nvPr>
        </p:nvSpPr>
        <p:spPr>
          <a:xfrm>
            <a:off x="468313" y="2569845"/>
            <a:ext cx="8351837" cy="44767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系统总框图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：表示了一个完整的系统模块组成。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</a:p>
        </p:txBody>
      </p:sp>
      <p:sp>
        <p:nvSpPr>
          <p:cNvPr id="2" name="Text Box 13"/>
          <p:cNvSpPr txBox="1"/>
          <p:nvPr/>
        </p:nvSpPr>
        <p:spPr>
          <a:xfrm>
            <a:off x="430213" y="3360738"/>
            <a:ext cx="853440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子系统框图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：将一个大系统划分成几个子系统，通过这几个子系统的说明构成整个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系统的总框图。即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由子系统构成其框图。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如图：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位寄存器框图，参见下页。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38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3059113" y="515938"/>
            <a:ext cx="2085975" cy="47148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位寄存器框图</a:t>
            </a:r>
          </a:p>
        </p:txBody>
      </p:sp>
      <p:grpSp>
        <p:nvGrpSpPr>
          <p:cNvPr id="17410" name="Group 64"/>
          <p:cNvGrpSpPr/>
          <p:nvPr/>
        </p:nvGrpSpPr>
        <p:grpSpPr>
          <a:xfrm>
            <a:off x="611188" y="919163"/>
            <a:ext cx="3095625" cy="1827212"/>
            <a:chOff x="576" y="528"/>
            <a:chExt cx="1950" cy="1536"/>
          </a:xfrm>
        </p:grpSpPr>
        <p:sp>
          <p:nvSpPr>
            <p:cNvPr id="2" name="Rectangle 13"/>
            <p:cNvSpPr>
              <a:spLocks noChangeArrowheads="1"/>
            </p:cNvSpPr>
            <p:nvPr/>
          </p:nvSpPr>
          <p:spPr bwMode="auto">
            <a:xfrm>
              <a:off x="576" y="528"/>
              <a:ext cx="1824" cy="15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9507" name="Rectangle 4"/>
            <p:cNvSpPr/>
            <p:nvPr/>
          </p:nvSpPr>
          <p:spPr>
            <a:xfrm>
              <a:off x="960" y="1152"/>
              <a:ext cx="100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寄存器</a:t>
              </a:r>
            </a:p>
          </p:txBody>
        </p:sp>
        <p:sp>
          <p:nvSpPr>
            <p:cNvPr id="19508" name="AutoShape 5"/>
            <p:cNvSpPr/>
            <p:nvPr/>
          </p:nvSpPr>
          <p:spPr>
            <a:xfrm>
              <a:off x="1392" y="720"/>
              <a:ext cx="144" cy="432"/>
            </a:xfrm>
            <a:prstGeom prst="down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9" name="Line 6"/>
            <p:cNvSpPr/>
            <p:nvPr/>
          </p:nvSpPr>
          <p:spPr>
            <a:xfrm flipV="1">
              <a:off x="1344" y="816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10" name="AutoShape 7"/>
            <p:cNvSpPr/>
            <p:nvPr/>
          </p:nvSpPr>
          <p:spPr>
            <a:xfrm>
              <a:off x="1392" y="1451"/>
              <a:ext cx="144" cy="432"/>
            </a:xfrm>
            <a:prstGeom prst="down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11" name="Text Box 9"/>
            <p:cNvSpPr txBox="1"/>
            <p:nvPr/>
          </p:nvSpPr>
          <p:spPr>
            <a:xfrm>
              <a:off x="1536" y="768"/>
              <a:ext cx="28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</a:p>
          </p:txBody>
        </p:sp>
        <p:sp>
          <p:nvSpPr>
            <p:cNvPr id="19512" name="Text Box 10"/>
            <p:cNvSpPr txBox="1"/>
            <p:nvPr/>
          </p:nvSpPr>
          <p:spPr>
            <a:xfrm>
              <a:off x="1536" y="1488"/>
              <a:ext cx="336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</a:p>
          </p:txBody>
        </p:sp>
        <p:sp>
          <p:nvSpPr>
            <p:cNvPr id="19513" name="Line 15"/>
            <p:cNvSpPr/>
            <p:nvPr/>
          </p:nvSpPr>
          <p:spPr>
            <a:xfrm flipV="1">
              <a:off x="1344" y="1536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14" name="Text Box 11"/>
            <p:cNvSpPr txBox="1"/>
            <p:nvPr/>
          </p:nvSpPr>
          <p:spPr>
            <a:xfrm>
              <a:off x="1728" y="1735"/>
              <a:ext cx="79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(a)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框图</a:t>
              </a:r>
            </a:p>
          </p:txBody>
        </p:sp>
      </p:grpSp>
      <p:grpSp>
        <p:nvGrpSpPr>
          <p:cNvPr id="17420" name="Group 65"/>
          <p:cNvGrpSpPr/>
          <p:nvPr/>
        </p:nvGrpSpPr>
        <p:grpSpPr>
          <a:xfrm>
            <a:off x="4344988" y="919163"/>
            <a:ext cx="3467100" cy="1828800"/>
            <a:chOff x="2928" y="528"/>
            <a:chExt cx="2184" cy="1536"/>
          </a:xfrm>
        </p:grpSpPr>
        <p:sp>
          <p:nvSpPr>
            <p:cNvPr id="3" name="Rectangle 17"/>
            <p:cNvSpPr>
              <a:spLocks noChangeArrowheads="1"/>
            </p:cNvSpPr>
            <p:nvPr/>
          </p:nvSpPr>
          <p:spPr bwMode="auto">
            <a:xfrm>
              <a:off x="2928" y="528"/>
              <a:ext cx="1920" cy="15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9498" name="Rectangle 18"/>
            <p:cNvSpPr/>
            <p:nvPr/>
          </p:nvSpPr>
          <p:spPr>
            <a:xfrm>
              <a:off x="3168" y="1017"/>
              <a:ext cx="1296" cy="48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位寄存器</a:t>
              </a:r>
            </a:p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4×74LS377</a:t>
              </a:r>
            </a:p>
          </p:txBody>
        </p:sp>
        <p:sp>
          <p:nvSpPr>
            <p:cNvPr id="19499" name="AutoShape 19"/>
            <p:cNvSpPr/>
            <p:nvPr/>
          </p:nvSpPr>
          <p:spPr>
            <a:xfrm>
              <a:off x="3744" y="620"/>
              <a:ext cx="122" cy="388"/>
            </a:xfrm>
            <a:prstGeom prst="downArrow">
              <a:avLst>
                <a:gd name="adj1" fmla="val 50000"/>
                <a:gd name="adj2" fmla="val 79478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0" name="AutoShape 20"/>
            <p:cNvSpPr/>
            <p:nvPr/>
          </p:nvSpPr>
          <p:spPr>
            <a:xfrm>
              <a:off x="3744" y="1499"/>
              <a:ext cx="122" cy="388"/>
            </a:xfrm>
            <a:prstGeom prst="downArrow">
              <a:avLst>
                <a:gd name="adj1" fmla="val 50000"/>
                <a:gd name="adj2" fmla="val 79478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1" name="Line 21"/>
            <p:cNvSpPr/>
            <p:nvPr/>
          </p:nvSpPr>
          <p:spPr>
            <a:xfrm flipV="1">
              <a:off x="3696" y="681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02" name="Line 22"/>
            <p:cNvSpPr/>
            <p:nvPr/>
          </p:nvSpPr>
          <p:spPr>
            <a:xfrm flipV="1">
              <a:off x="3696" y="1593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03" name="Text Box 23"/>
            <p:cNvSpPr txBox="1"/>
            <p:nvPr/>
          </p:nvSpPr>
          <p:spPr>
            <a:xfrm>
              <a:off x="3888" y="672"/>
              <a:ext cx="336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</a:p>
          </p:txBody>
        </p:sp>
        <p:sp>
          <p:nvSpPr>
            <p:cNvPr id="19504" name="Text Box 24"/>
            <p:cNvSpPr txBox="1"/>
            <p:nvPr/>
          </p:nvSpPr>
          <p:spPr>
            <a:xfrm>
              <a:off x="3888" y="1545"/>
              <a:ext cx="28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</a:p>
          </p:txBody>
        </p:sp>
        <p:sp>
          <p:nvSpPr>
            <p:cNvPr id="19505" name="Text Box 25"/>
            <p:cNvSpPr txBox="1"/>
            <p:nvPr/>
          </p:nvSpPr>
          <p:spPr>
            <a:xfrm>
              <a:off x="4128" y="1735"/>
              <a:ext cx="984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(b)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框图</a:t>
              </a:r>
            </a:p>
          </p:txBody>
        </p:sp>
      </p:grpSp>
      <p:grpSp>
        <p:nvGrpSpPr>
          <p:cNvPr id="17430" name="Group 67"/>
          <p:cNvGrpSpPr/>
          <p:nvPr/>
        </p:nvGrpSpPr>
        <p:grpSpPr>
          <a:xfrm>
            <a:off x="611188" y="2919413"/>
            <a:ext cx="6781800" cy="2085975"/>
            <a:chOff x="576" y="2208"/>
            <a:chExt cx="4272" cy="2064"/>
          </a:xfrm>
        </p:grpSpPr>
        <p:sp>
          <p:nvSpPr>
            <p:cNvPr id="15366" name="Rectangle 29"/>
            <p:cNvSpPr>
              <a:spLocks noChangeArrowheads="1"/>
            </p:cNvSpPr>
            <p:nvPr/>
          </p:nvSpPr>
          <p:spPr bwMode="auto">
            <a:xfrm>
              <a:off x="576" y="2208"/>
              <a:ext cx="4272" cy="20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9463" name="Text Box 30"/>
            <p:cNvSpPr txBox="1"/>
            <p:nvPr/>
          </p:nvSpPr>
          <p:spPr>
            <a:xfrm>
              <a:off x="2784" y="2409"/>
              <a:ext cx="3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</a:p>
          </p:txBody>
        </p:sp>
        <p:sp>
          <p:nvSpPr>
            <p:cNvPr id="19464" name="Text Box 31"/>
            <p:cNvSpPr txBox="1"/>
            <p:nvPr/>
          </p:nvSpPr>
          <p:spPr>
            <a:xfrm>
              <a:off x="2256" y="288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</a:p>
          </p:txBody>
        </p:sp>
        <p:sp>
          <p:nvSpPr>
            <p:cNvPr id="19465" name="Text Box 32"/>
            <p:cNvSpPr txBox="1"/>
            <p:nvPr/>
          </p:nvSpPr>
          <p:spPr>
            <a:xfrm>
              <a:off x="2688" y="3552"/>
              <a:ext cx="1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</a:p>
          </p:txBody>
        </p:sp>
        <p:sp>
          <p:nvSpPr>
            <p:cNvPr id="19466" name="Text Box 33"/>
            <p:cNvSpPr txBox="1"/>
            <p:nvPr/>
          </p:nvSpPr>
          <p:spPr>
            <a:xfrm>
              <a:off x="3600" y="3859"/>
              <a:ext cx="100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）框图</a:t>
              </a:r>
            </a:p>
          </p:txBody>
        </p:sp>
        <p:sp>
          <p:nvSpPr>
            <p:cNvPr id="19467" name="Line 34"/>
            <p:cNvSpPr/>
            <p:nvPr/>
          </p:nvSpPr>
          <p:spPr>
            <a:xfrm>
              <a:off x="2736" y="2400"/>
              <a:ext cx="0" cy="432"/>
            </a:xfrm>
            <a:prstGeom prst="line">
              <a:avLst/>
            </a:prstGeom>
            <a:ln w="2540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8" name="Line 35"/>
            <p:cNvSpPr/>
            <p:nvPr/>
          </p:nvSpPr>
          <p:spPr>
            <a:xfrm flipH="1">
              <a:off x="1200" y="2821"/>
              <a:ext cx="2928" cy="0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9" name="Line 36"/>
            <p:cNvSpPr/>
            <p:nvPr/>
          </p:nvSpPr>
          <p:spPr>
            <a:xfrm>
              <a:off x="1200" y="2784"/>
              <a:ext cx="0" cy="864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0" name="Line 37"/>
            <p:cNvSpPr/>
            <p:nvPr/>
          </p:nvSpPr>
          <p:spPr>
            <a:xfrm>
              <a:off x="2182" y="2784"/>
              <a:ext cx="0" cy="864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1" name="Line 38"/>
            <p:cNvSpPr/>
            <p:nvPr/>
          </p:nvSpPr>
          <p:spPr>
            <a:xfrm>
              <a:off x="3168" y="2784"/>
              <a:ext cx="0" cy="864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2" name="Line 39"/>
            <p:cNvSpPr/>
            <p:nvPr/>
          </p:nvSpPr>
          <p:spPr>
            <a:xfrm>
              <a:off x="4128" y="2784"/>
              <a:ext cx="0" cy="864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3" name="Line 40"/>
            <p:cNvSpPr/>
            <p:nvPr/>
          </p:nvSpPr>
          <p:spPr>
            <a:xfrm flipH="1">
              <a:off x="1200" y="3600"/>
              <a:ext cx="2928" cy="0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4" name="Line 41"/>
            <p:cNvSpPr/>
            <p:nvPr/>
          </p:nvSpPr>
          <p:spPr>
            <a:xfrm>
              <a:off x="2736" y="3600"/>
              <a:ext cx="0" cy="624"/>
            </a:xfrm>
            <a:prstGeom prst="line">
              <a:avLst/>
            </a:prstGeom>
            <a:ln w="254000" cap="flat" cmpd="sng">
              <a:solidFill>
                <a:schemeClr val="accent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9475" name="Rectangle 42"/>
            <p:cNvSpPr/>
            <p:nvPr/>
          </p:nvSpPr>
          <p:spPr>
            <a:xfrm>
              <a:off x="768" y="3120"/>
              <a:ext cx="841" cy="2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74LS377</a:t>
              </a:r>
            </a:p>
          </p:txBody>
        </p:sp>
        <p:sp>
          <p:nvSpPr>
            <p:cNvPr id="19476" name="Rectangle 43"/>
            <p:cNvSpPr/>
            <p:nvPr/>
          </p:nvSpPr>
          <p:spPr>
            <a:xfrm>
              <a:off x="1751" y="3120"/>
              <a:ext cx="841" cy="2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74LS377</a:t>
              </a:r>
            </a:p>
          </p:txBody>
        </p:sp>
        <p:sp>
          <p:nvSpPr>
            <p:cNvPr id="19477" name="Rectangle 44"/>
            <p:cNvSpPr/>
            <p:nvPr/>
          </p:nvSpPr>
          <p:spPr>
            <a:xfrm>
              <a:off x="2736" y="3120"/>
              <a:ext cx="841" cy="2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74LS377</a:t>
              </a:r>
            </a:p>
          </p:txBody>
        </p:sp>
        <p:sp>
          <p:nvSpPr>
            <p:cNvPr id="19478" name="Rectangle 45"/>
            <p:cNvSpPr/>
            <p:nvPr/>
          </p:nvSpPr>
          <p:spPr>
            <a:xfrm>
              <a:off x="3719" y="3120"/>
              <a:ext cx="841" cy="2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74LS377</a:t>
              </a:r>
            </a:p>
          </p:txBody>
        </p:sp>
        <p:sp>
          <p:nvSpPr>
            <p:cNvPr id="19479" name="Line 46"/>
            <p:cNvSpPr/>
            <p:nvPr/>
          </p:nvSpPr>
          <p:spPr>
            <a:xfrm flipV="1">
              <a:off x="2064" y="292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0" name="Text Box 47"/>
            <p:cNvSpPr txBox="1"/>
            <p:nvPr/>
          </p:nvSpPr>
          <p:spPr>
            <a:xfrm>
              <a:off x="1248" y="288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</a:p>
          </p:txBody>
        </p:sp>
        <p:sp>
          <p:nvSpPr>
            <p:cNvPr id="19481" name="Line 48"/>
            <p:cNvSpPr/>
            <p:nvPr/>
          </p:nvSpPr>
          <p:spPr>
            <a:xfrm flipV="1">
              <a:off x="1056" y="292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2" name="Text Box 49"/>
            <p:cNvSpPr txBox="1"/>
            <p:nvPr/>
          </p:nvSpPr>
          <p:spPr>
            <a:xfrm>
              <a:off x="3264" y="288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</a:p>
          </p:txBody>
        </p:sp>
        <p:sp>
          <p:nvSpPr>
            <p:cNvPr id="19483" name="Line 50"/>
            <p:cNvSpPr/>
            <p:nvPr/>
          </p:nvSpPr>
          <p:spPr>
            <a:xfrm flipV="1">
              <a:off x="3072" y="292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4" name="Text Box 51"/>
            <p:cNvSpPr txBox="1"/>
            <p:nvPr/>
          </p:nvSpPr>
          <p:spPr>
            <a:xfrm>
              <a:off x="4176" y="288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</a:p>
          </p:txBody>
        </p:sp>
        <p:sp>
          <p:nvSpPr>
            <p:cNvPr id="19485" name="Line 52"/>
            <p:cNvSpPr/>
            <p:nvPr/>
          </p:nvSpPr>
          <p:spPr>
            <a:xfrm flipV="1">
              <a:off x="3984" y="292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6" name="Text Box 53"/>
            <p:cNvSpPr txBox="1"/>
            <p:nvPr/>
          </p:nvSpPr>
          <p:spPr>
            <a:xfrm>
              <a:off x="2256" y="336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</a:p>
          </p:txBody>
        </p:sp>
        <p:sp>
          <p:nvSpPr>
            <p:cNvPr id="19487" name="Line 54"/>
            <p:cNvSpPr/>
            <p:nvPr/>
          </p:nvSpPr>
          <p:spPr>
            <a:xfrm flipV="1">
              <a:off x="2064" y="340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8" name="Text Box 55"/>
            <p:cNvSpPr txBox="1"/>
            <p:nvPr/>
          </p:nvSpPr>
          <p:spPr>
            <a:xfrm>
              <a:off x="1248" y="336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</a:p>
          </p:txBody>
        </p:sp>
        <p:sp>
          <p:nvSpPr>
            <p:cNvPr id="19489" name="Line 56"/>
            <p:cNvSpPr/>
            <p:nvPr/>
          </p:nvSpPr>
          <p:spPr>
            <a:xfrm flipV="1">
              <a:off x="1056" y="340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0" name="Text Box 57"/>
            <p:cNvSpPr txBox="1"/>
            <p:nvPr/>
          </p:nvSpPr>
          <p:spPr>
            <a:xfrm>
              <a:off x="3264" y="336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</a:p>
          </p:txBody>
        </p:sp>
        <p:sp>
          <p:nvSpPr>
            <p:cNvPr id="19491" name="Line 58"/>
            <p:cNvSpPr/>
            <p:nvPr/>
          </p:nvSpPr>
          <p:spPr>
            <a:xfrm flipV="1">
              <a:off x="3072" y="340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2" name="Text Box 59"/>
            <p:cNvSpPr txBox="1"/>
            <p:nvPr/>
          </p:nvSpPr>
          <p:spPr>
            <a:xfrm>
              <a:off x="4176" y="336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</a:p>
          </p:txBody>
        </p:sp>
        <p:sp>
          <p:nvSpPr>
            <p:cNvPr id="19493" name="Line 60"/>
            <p:cNvSpPr/>
            <p:nvPr/>
          </p:nvSpPr>
          <p:spPr>
            <a:xfrm flipV="1">
              <a:off x="3984" y="340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4" name="Line 61"/>
            <p:cNvSpPr/>
            <p:nvPr/>
          </p:nvSpPr>
          <p:spPr>
            <a:xfrm flipV="1">
              <a:off x="2592" y="2448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5" name="Text Box 62"/>
            <p:cNvSpPr txBox="1"/>
            <p:nvPr/>
          </p:nvSpPr>
          <p:spPr>
            <a:xfrm>
              <a:off x="2784" y="3657"/>
              <a:ext cx="3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</a:p>
          </p:txBody>
        </p:sp>
        <p:sp>
          <p:nvSpPr>
            <p:cNvPr id="19496" name="Line 63"/>
            <p:cNvSpPr/>
            <p:nvPr/>
          </p:nvSpPr>
          <p:spPr>
            <a:xfrm flipV="1">
              <a:off x="2592" y="3696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/>
          </p:cNvSpPr>
          <p:nvPr/>
        </p:nvSpPr>
        <p:spPr bwMode="auto">
          <a:xfrm>
            <a:off x="6553200" y="4684713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76B6211-9315-4429-8579-0CECA9EED103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7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21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519113"/>
            <a:ext cx="7993063" cy="397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2771775" y="4624388"/>
            <a:ext cx="3960813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一种</a:t>
            </a:r>
            <a:r>
              <a:rPr kumimoji="0" lang="en-US" altLang="zh-CN" sz="19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xilinxFPGA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开发板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/>
          </p:cNvSpPr>
          <p:nvPr/>
        </p:nvSpPr>
        <p:spPr bwMode="auto">
          <a:xfrm>
            <a:off x="6553200" y="4684713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05CDF3C-5E99-4D22-BA9D-9533A8BE28F8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8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435" name="Picture 3"/>
          <p:cNvPicPr>
            <a:picLocks noGrp="1" noChangeAspect="1"/>
          </p:cNvPicPr>
          <p:nvPr>
            <p:ph type="body"/>
          </p:nvPr>
        </p:nvPicPr>
        <p:blipFill>
          <a:blip r:embed="rId3"/>
          <a:stretch>
            <a:fillRect/>
          </a:stretch>
        </p:blipFill>
        <p:spPr>
          <a:xfrm>
            <a:off x="395288" y="788988"/>
            <a:ext cx="8229600" cy="3395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9FDA7-D3C8-4205-A076-43AC3E66ACFC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05979"/>
            <a:ext cx="6172200" cy="857250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0291" name="Picture 5" descr="2673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3" y="0"/>
            <a:ext cx="5994797" cy="36183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0292" name="Picture 6" descr="2673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813" y="3706416"/>
            <a:ext cx="5994797" cy="1343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0B4B77-1F97-4FB6-9A9D-ACA324B95F2F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5410" name="Group 6"/>
          <p:cNvGrpSpPr/>
          <p:nvPr/>
        </p:nvGrpSpPr>
        <p:grpSpPr>
          <a:xfrm>
            <a:off x="1143000" y="250031"/>
            <a:ext cx="6615113" cy="4374356"/>
            <a:chOff x="0" y="0"/>
            <a:chExt cx="3291" cy="2501"/>
          </a:xfrm>
        </p:grpSpPr>
        <p:pic>
          <p:nvPicPr>
            <p:cNvPr id="145411" name="Picture 14" descr="DesktopBlock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" y="29"/>
              <a:ext cx="3210" cy="247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9573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1" cy="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4" name="Rectangle 11">
              <a:hlinkClick r:id="rId4" action="ppaction://hlinkfile" tooltip="温度检测与风扇控制"/>
            </p:cNvPr>
            <p:cNvSpPr>
              <a:spLocks noChangeArrowheads="1"/>
            </p:cNvSpPr>
            <p:nvPr/>
          </p:nvSpPr>
          <p:spPr bwMode="auto">
            <a:xfrm>
              <a:off x="2238" y="1866"/>
              <a:ext cx="492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5" name="Rectangle 10">
              <a:hlinkClick r:id="rId5" action="ppaction://hlinkfile" tooltip="芯片组VGA卡电源"/>
            </p:cNvPr>
            <p:cNvSpPr>
              <a:spLocks noChangeArrowheads="1"/>
            </p:cNvSpPr>
            <p:nvPr/>
          </p:nvSpPr>
          <p:spPr bwMode="auto">
            <a:xfrm>
              <a:off x="2616" y="498"/>
              <a:ext cx="624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6" name="Rectangle 9">
              <a:hlinkClick r:id="rId6" action="ppaction://hlinkfile" tooltip="DDR存储器电源"/>
            </p:cNvPr>
            <p:cNvSpPr>
              <a:spLocks noChangeArrowheads="1"/>
            </p:cNvSpPr>
            <p:nvPr/>
          </p:nvSpPr>
          <p:spPr bwMode="auto">
            <a:xfrm>
              <a:off x="438" y="486"/>
              <a:ext cx="61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7" name="Rectangle 8">
              <a:hlinkClick r:id="rId7" action="ppaction://hlinkfile" tooltip="LDO和其它的控制器"/>
            </p:cNvPr>
            <p:cNvSpPr>
              <a:spLocks noChangeArrowheads="1"/>
            </p:cNvSpPr>
            <p:nvPr/>
          </p:nvSpPr>
          <p:spPr bwMode="auto">
            <a:xfrm>
              <a:off x="2304" y="48"/>
              <a:ext cx="654" cy="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8" name="Rectangle 7">
              <a:hlinkClick r:id="rId8" action="ppaction://hlinkfile" tooltip="CPU核DC-DC开关电源"/>
            </p:cNvPr>
            <p:cNvSpPr>
              <a:spLocks noChangeArrowheads="1"/>
            </p:cNvSpPr>
            <p:nvPr/>
          </p:nvSpPr>
          <p:spPr bwMode="auto">
            <a:xfrm>
              <a:off x="834" y="72"/>
              <a:ext cx="624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/>
          <p:cNvSpPr>
            <a:spLocks noGrp="1"/>
          </p:cNvSpPr>
          <p:nvPr>
            <p:ph type="title"/>
          </p:nvPr>
        </p:nvSpPr>
        <p:spPr>
          <a:xfrm>
            <a:off x="301625" y="619125"/>
            <a:ext cx="7870825" cy="512763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2.1.2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电路图 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Schematic Diagram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b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4" name="Rectangle 2"/>
          <p:cNvSpPr txBox="1"/>
          <p:nvPr/>
        </p:nvSpPr>
        <p:spPr>
          <a:xfrm>
            <a:off x="839788" y="2643188"/>
            <a:ext cx="63246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图面布局及总线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Drawing Layout and Buses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sp>
        <p:nvSpPr>
          <p:cNvPr id="18435" name="Rectangle 3"/>
          <p:cNvSpPr txBox="1"/>
          <p:nvPr/>
        </p:nvSpPr>
        <p:spPr>
          <a:xfrm>
            <a:off x="393700" y="3142615"/>
            <a:ext cx="8368030" cy="17335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sz="1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  <a:sym typeface="+mn-ea"/>
              </a:rPr>
              <a:t>原理图</a:t>
            </a:r>
            <a:r>
              <a:rPr lang="zh-CN" altLang="en-US" sz="1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  <a:sym typeface="+mn-ea"/>
              </a:rPr>
              <a:t>将更注重描述原理过程所需要使用的标注。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在示例性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逻辑图及原理图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中，一般约定：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信息流：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默认从左至右，或者从上到下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，若不能保证则使用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箭头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提示信息流方向，有单向和双向之分。</a:t>
            </a:r>
          </a:p>
        </p:txBody>
      </p:sp>
      <p:sp>
        <p:nvSpPr>
          <p:cNvPr id="3" name="矩形 2"/>
          <p:cNvSpPr/>
          <p:nvPr/>
        </p:nvSpPr>
        <p:spPr>
          <a:xfrm>
            <a:off x="605790" y="1009650"/>
            <a:ext cx="8016875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在之后的课程内容中将见到很多逻辑电路图。</a:t>
            </a:r>
            <a:b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</a:b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   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逻辑电路图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Logic Diagram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中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，详细标明器件类型、端脚之间的连接、信号名等细节，再次细化逻辑电路图，称为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原理图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，有时统称逻辑图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(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后面有两个原理图实例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。    下面简介画原理图的一些约定</a:t>
            </a:r>
            <a:r>
              <a:rPr lang="zh-CN" altLang="en-US" sz="1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  <a:sym typeface="+mn-ea"/>
              </a:rPr>
              <a:t>（规范）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。</a:t>
            </a:r>
            <a:b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</a:b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  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3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3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charRg st="2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charRg st="2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3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9"/>
          <p:cNvSpPr txBox="1"/>
          <p:nvPr/>
        </p:nvSpPr>
        <p:spPr>
          <a:xfrm>
            <a:off x="624205" y="1419860"/>
            <a:ext cx="84042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逻辑器件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画在左边，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画在右边。</a:t>
            </a:r>
          </a:p>
        </p:txBody>
      </p:sp>
      <p:sp>
        <p:nvSpPr>
          <p:cNvPr id="19458" name="Text Box 11"/>
          <p:cNvSpPr txBox="1"/>
          <p:nvPr/>
        </p:nvSpPr>
        <p:spPr>
          <a:xfrm>
            <a:off x="611505" y="1907540"/>
            <a:ext cx="7860030" cy="7004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图中应注明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所用集成电路的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型号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、连线的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引端（脚）号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、在整个逻辑图中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编号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以及输入、输出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信号名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</a:p>
        </p:txBody>
      </p:sp>
      <p:grpSp>
        <p:nvGrpSpPr>
          <p:cNvPr id="27654" name="Group 65"/>
          <p:cNvGrpSpPr/>
          <p:nvPr/>
        </p:nvGrpSpPr>
        <p:grpSpPr>
          <a:xfrm>
            <a:off x="730568" y="722732"/>
            <a:ext cx="3552825" cy="429357"/>
            <a:chOff x="460" y="1739"/>
            <a:chExt cx="2238" cy="360"/>
          </a:xfrm>
        </p:grpSpPr>
        <p:sp>
          <p:nvSpPr>
            <p:cNvPr id="27681" name="Line 23"/>
            <p:cNvSpPr/>
            <p:nvPr/>
          </p:nvSpPr>
          <p:spPr>
            <a:xfrm flipH="1">
              <a:off x="663" y="1923"/>
              <a:ext cx="36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7682" name="Line 24"/>
            <p:cNvSpPr/>
            <p:nvPr/>
          </p:nvSpPr>
          <p:spPr>
            <a:xfrm>
              <a:off x="2147" y="1923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arrow" w="med" len="med"/>
              <a:tailEnd type="none" w="med" len="med"/>
            </a:ln>
          </p:spPr>
        </p:sp>
        <p:sp>
          <p:nvSpPr>
            <p:cNvPr id="27683" name="Text Box 25"/>
            <p:cNvSpPr txBox="1"/>
            <p:nvPr/>
          </p:nvSpPr>
          <p:spPr>
            <a:xfrm>
              <a:off x="460" y="1776"/>
              <a:ext cx="213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27684" name="Text Box 26"/>
            <p:cNvSpPr txBox="1"/>
            <p:nvPr/>
          </p:nvSpPr>
          <p:spPr>
            <a:xfrm>
              <a:off x="2496" y="1776"/>
              <a:ext cx="20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27685" name="Rectangle 62"/>
            <p:cNvSpPr/>
            <p:nvPr/>
          </p:nvSpPr>
          <p:spPr>
            <a:xfrm>
              <a:off x="1034" y="1739"/>
              <a:ext cx="1102" cy="36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7655" name="Group 64"/>
          <p:cNvGrpSpPr/>
          <p:nvPr/>
        </p:nvGrpSpPr>
        <p:grpSpPr>
          <a:xfrm>
            <a:off x="4445318" y="722732"/>
            <a:ext cx="3552825" cy="429357"/>
            <a:chOff x="2936" y="1739"/>
            <a:chExt cx="2238" cy="360"/>
          </a:xfrm>
        </p:grpSpPr>
        <p:sp>
          <p:nvSpPr>
            <p:cNvPr id="27666" name="Line 58"/>
            <p:cNvSpPr/>
            <p:nvPr/>
          </p:nvSpPr>
          <p:spPr>
            <a:xfrm flipH="1">
              <a:off x="3139" y="1923"/>
              <a:ext cx="36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7667" name="Line 59"/>
            <p:cNvSpPr/>
            <p:nvPr/>
          </p:nvSpPr>
          <p:spPr>
            <a:xfrm>
              <a:off x="4623" y="1923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7668" name="Text Box 60"/>
            <p:cNvSpPr txBox="1"/>
            <p:nvPr/>
          </p:nvSpPr>
          <p:spPr>
            <a:xfrm>
              <a:off x="2936" y="1776"/>
              <a:ext cx="213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27669" name="Text Box 61"/>
            <p:cNvSpPr txBox="1"/>
            <p:nvPr/>
          </p:nvSpPr>
          <p:spPr>
            <a:xfrm>
              <a:off x="4972" y="1776"/>
              <a:ext cx="20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27670" name="Rectangle 63"/>
            <p:cNvSpPr/>
            <p:nvPr/>
          </p:nvSpPr>
          <p:spPr>
            <a:xfrm>
              <a:off x="3515" y="1739"/>
              <a:ext cx="1088" cy="36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9491" name="Rectangle 2"/>
          <p:cNvSpPr>
            <a:spLocks noGrp="1"/>
          </p:cNvSpPr>
          <p:nvPr>
            <p:ph type="title"/>
          </p:nvPr>
        </p:nvSpPr>
        <p:spPr>
          <a:xfrm>
            <a:off x="566420" y="2762250"/>
            <a:ext cx="7519988" cy="9906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Char char="•"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需要分页画出的逻辑图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要合理地划分出每页的模块，既要完整又要使     页与页之间的连线尽可能地少，并清楚地标注出它们之间的连接关系。</a:t>
            </a:r>
          </a:p>
        </p:txBody>
      </p:sp>
      <p:sp>
        <p:nvSpPr>
          <p:cNvPr id="17415" name="Rectangle 3"/>
          <p:cNvSpPr txBox="1"/>
          <p:nvPr/>
        </p:nvSpPr>
        <p:spPr>
          <a:xfrm>
            <a:off x="574675" y="3752850"/>
            <a:ext cx="7620000" cy="8001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信息线的交叉点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：手工作图时用圆点表示，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CAD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软件作图时用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型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连接</a:t>
            </a:r>
            <a:r>
              <a:rPr lang="en-US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。参见下图所示。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58" grpId="1"/>
      <p:bldP spid="19491" grpId="0"/>
      <p:bldP spid="19491" grpId="1"/>
      <p:bldP spid="17415" grpId="0"/>
      <p:bldP spid="1741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8"/>
          <p:cNvSpPr/>
          <p:nvPr/>
        </p:nvSpPr>
        <p:spPr>
          <a:xfrm>
            <a:off x="768350" y="982663"/>
            <a:ext cx="6675438" cy="1916112"/>
          </a:xfrm>
          <a:prstGeom prst="rect">
            <a:avLst/>
          </a:prstGeom>
          <a:solidFill>
            <a:srgbClr val="BDD7E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77" name="Text Box 9"/>
          <p:cNvSpPr txBox="1"/>
          <p:nvPr/>
        </p:nvSpPr>
        <p:spPr>
          <a:xfrm>
            <a:off x="914400" y="1304925"/>
            <a:ext cx="15113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手工画</a:t>
            </a:r>
          </a:p>
        </p:txBody>
      </p:sp>
      <p:sp>
        <p:nvSpPr>
          <p:cNvPr id="28678" name="Text Box 10"/>
          <p:cNvSpPr txBox="1"/>
          <p:nvPr/>
        </p:nvSpPr>
        <p:spPr>
          <a:xfrm>
            <a:off x="908050" y="1981200"/>
            <a:ext cx="1223963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机器画</a:t>
            </a:r>
          </a:p>
        </p:txBody>
      </p:sp>
      <p:sp>
        <p:nvSpPr>
          <p:cNvPr id="28679" name="Line 11"/>
          <p:cNvSpPr/>
          <p:nvPr/>
        </p:nvSpPr>
        <p:spPr>
          <a:xfrm>
            <a:off x="1993900" y="1420813"/>
            <a:ext cx="15843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0" name="Line 15"/>
          <p:cNvSpPr/>
          <p:nvPr/>
        </p:nvSpPr>
        <p:spPr>
          <a:xfrm>
            <a:off x="3868738" y="1435100"/>
            <a:ext cx="18002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1" name="Line 16"/>
          <p:cNvSpPr/>
          <p:nvPr/>
        </p:nvSpPr>
        <p:spPr>
          <a:xfrm flipV="1">
            <a:off x="4214813" y="1039813"/>
            <a:ext cx="0" cy="3778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2" name="Line 18"/>
          <p:cNvSpPr/>
          <p:nvPr/>
        </p:nvSpPr>
        <p:spPr>
          <a:xfrm>
            <a:off x="3937000" y="2165350"/>
            <a:ext cx="15113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3" name="Line 19"/>
          <p:cNvSpPr/>
          <p:nvPr/>
        </p:nvSpPr>
        <p:spPr>
          <a:xfrm flipV="1">
            <a:off x="4229100" y="1895475"/>
            <a:ext cx="0" cy="2714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4" name="Line 21"/>
          <p:cNvSpPr/>
          <p:nvPr/>
        </p:nvSpPr>
        <p:spPr>
          <a:xfrm>
            <a:off x="6030913" y="1435100"/>
            <a:ext cx="122396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5" name="Line 22"/>
          <p:cNvSpPr/>
          <p:nvPr/>
        </p:nvSpPr>
        <p:spPr>
          <a:xfrm flipV="1">
            <a:off x="6678613" y="1076325"/>
            <a:ext cx="0" cy="5397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6" name="Oval 24"/>
          <p:cNvSpPr/>
          <p:nvPr/>
        </p:nvSpPr>
        <p:spPr>
          <a:xfrm>
            <a:off x="4152900" y="1381125"/>
            <a:ext cx="152400" cy="114300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87" name="Oval 26"/>
          <p:cNvSpPr/>
          <p:nvPr/>
        </p:nvSpPr>
        <p:spPr>
          <a:xfrm>
            <a:off x="6607175" y="1381125"/>
            <a:ext cx="152400" cy="114300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88" name="Text Box 28"/>
          <p:cNvSpPr txBox="1"/>
          <p:nvPr/>
        </p:nvSpPr>
        <p:spPr>
          <a:xfrm>
            <a:off x="2124075" y="2533650"/>
            <a:ext cx="15113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(a)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交叉</a:t>
            </a:r>
          </a:p>
        </p:txBody>
      </p:sp>
      <p:sp>
        <p:nvSpPr>
          <p:cNvPr id="28689" name="Text Box 29"/>
          <p:cNvSpPr txBox="1"/>
          <p:nvPr/>
        </p:nvSpPr>
        <p:spPr>
          <a:xfrm>
            <a:off x="4070350" y="2533650"/>
            <a:ext cx="13684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(b)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连接</a:t>
            </a:r>
          </a:p>
        </p:txBody>
      </p:sp>
      <p:sp>
        <p:nvSpPr>
          <p:cNvPr id="28690" name="Text Box 30"/>
          <p:cNvSpPr txBox="1"/>
          <p:nvPr/>
        </p:nvSpPr>
        <p:spPr>
          <a:xfrm>
            <a:off x="6159500" y="2533650"/>
            <a:ext cx="13684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(c)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连接</a:t>
            </a:r>
          </a:p>
        </p:txBody>
      </p:sp>
      <p:sp>
        <p:nvSpPr>
          <p:cNvPr id="28691" name="Text Box 31"/>
          <p:cNvSpPr txBox="1"/>
          <p:nvPr/>
        </p:nvSpPr>
        <p:spPr>
          <a:xfrm>
            <a:off x="5951538" y="1927225"/>
            <a:ext cx="1295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92" name="Text Box 32"/>
          <p:cNvSpPr txBox="1"/>
          <p:nvPr/>
        </p:nvSpPr>
        <p:spPr>
          <a:xfrm>
            <a:off x="6197600" y="1981200"/>
            <a:ext cx="11017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不允许</a:t>
            </a:r>
          </a:p>
        </p:txBody>
      </p:sp>
      <p:sp>
        <p:nvSpPr>
          <p:cNvPr id="28693" name="Line 33"/>
          <p:cNvSpPr/>
          <p:nvPr/>
        </p:nvSpPr>
        <p:spPr>
          <a:xfrm flipV="1">
            <a:off x="5184775" y="1431925"/>
            <a:ext cx="0" cy="3778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94" name="Oval 25"/>
          <p:cNvSpPr/>
          <p:nvPr/>
        </p:nvSpPr>
        <p:spPr>
          <a:xfrm>
            <a:off x="5092700" y="1381125"/>
            <a:ext cx="152400" cy="114300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95" name="Line 34"/>
          <p:cNvSpPr/>
          <p:nvPr/>
        </p:nvSpPr>
        <p:spPr>
          <a:xfrm flipV="1">
            <a:off x="2797175" y="1114425"/>
            <a:ext cx="0" cy="5397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96" name="Line 35"/>
          <p:cNvSpPr/>
          <p:nvPr/>
        </p:nvSpPr>
        <p:spPr>
          <a:xfrm>
            <a:off x="2000250" y="2165350"/>
            <a:ext cx="15843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97" name="Line 36"/>
          <p:cNvSpPr/>
          <p:nvPr/>
        </p:nvSpPr>
        <p:spPr>
          <a:xfrm flipV="1">
            <a:off x="2762250" y="1879600"/>
            <a:ext cx="0" cy="5397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98" name="Line 37"/>
          <p:cNvSpPr/>
          <p:nvPr/>
        </p:nvSpPr>
        <p:spPr>
          <a:xfrm flipV="1">
            <a:off x="5143500" y="2166938"/>
            <a:ext cx="0" cy="2698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99" name="Rectangle 2"/>
          <p:cNvSpPr>
            <a:spLocks noGrp="1"/>
          </p:cNvSpPr>
          <p:nvPr>
            <p:ph type="title"/>
          </p:nvPr>
        </p:nvSpPr>
        <p:spPr>
          <a:xfrm>
            <a:off x="500063" y="555625"/>
            <a:ext cx="3816350" cy="468313"/>
          </a:xfrm>
          <a:noFill/>
          <a:ln>
            <a:noFill/>
          </a:ln>
        </p:spPr>
        <p:txBody>
          <a:bodyPr/>
          <a:lstStyle/>
          <a:p>
            <a:pPr eaLnBrk="1" hangingPunct="1">
              <a:buChar char="•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总线的表示法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0" name="AutoShape 5"/>
          <p:cNvSpPr/>
          <p:nvPr/>
        </p:nvSpPr>
        <p:spPr>
          <a:xfrm>
            <a:off x="2324100" y="2965450"/>
            <a:ext cx="1611313" cy="363538"/>
          </a:xfrm>
          <a:prstGeom prst="rightArrow">
            <a:avLst>
              <a:gd name="adj1" fmla="val 50000"/>
              <a:gd name="adj2" fmla="val 114029"/>
            </a:avLst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1" name="AutoShape 6"/>
          <p:cNvSpPr/>
          <p:nvPr/>
        </p:nvSpPr>
        <p:spPr>
          <a:xfrm>
            <a:off x="2247900" y="3594100"/>
            <a:ext cx="1606550" cy="361950"/>
          </a:xfrm>
          <a:prstGeom prst="leftRightArrow">
            <a:avLst>
              <a:gd name="adj1" fmla="val 50000"/>
              <a:gd name="adj2" fmla="val 91196"/>
            </a:avLst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2" name="Text Box 7"/>
          <p:cNvSpPr txBox="1"/>
          <p:nvPr/>
        </p:nvSpPr>
        <p:spPr>
          <a:xfrm>
            <a:off x="481965" y="3036888"/>
            <a:ext cx="156210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单向总线符号</a:t>
            </a:r>
          </a:p>
        </p:txBody>
      </p:sp>
      <p:sp>
        <p:nvSpPr>
          <p:cNvPr id="28703" name="Text Box 8"/>
          <p:cNvSpPr txBox="1"/>
          <p:nvPr/>
        </p:nvSpPr>
        <p:spPr>
          <a:xfrm>
            <a:off x="283210" y="3587750"/>
            <a:ext cx="17907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双向总线符号</a:t>
            </a:r>
          </a:p>
        </p:txBody>
      </p:sp>
      <p:sp>
        <p:nvSpPr>
          <p:cNvPr id="28704" name="Line 24"/>
          <p:cNvSpPr/>
          <p:nvPr/>
        </p:nvSpPr>
        <p:spPr>
          <a:xfrm>
            <a:off x="4986338" y="3295650"/>
            <a:ext cx="18002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05" name="AutoShape 25"/>
          <p:cNvSpPr/>
          <p:nvPr/>
        </p:nvSpPr>
        <p:spPr>
          <a:xfrm>
            <a:off x="6557963" y="3181350"/>
            <a:ext cx="609600" cy="228600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6" name="Line 26"/>
          <p:cNvSpPr/>
          <p:nvPr/>
        </p:nvSpPr>
        <p:spPr>
          <a:xfrm>
            <a:off x="4965700" y="3821113"/>
            <a:ext cx="143986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07" name="AutoShape 27"/>
          <p:cNvSpPr/>
          <p:nvPr/>
        </p:nvSpPr>
        <p:spPr>
          <a:xfrm>
            <a:off x="6405563" y="3665538"/>
            <a:ext cx="762000" cy="285750"/>
          </a:xfrm>
          <a:prstGeom prst="hexagon">
            <a:avLst>
              <a:gd name="adj" fmla="val 50000"/>
              <a:gd name="vf" fmla="val 11547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8" name="Text Box 28"/>
          <p:cNvSpPr txBox="1"/>
          <p:nvPr/>
        </p:nvSpPr>
        <p:spPr>
          <a:xfrm>
            <a:off x="6634163" y="2895600"/>
            <a:ext cx="315912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</a:p>
        </p:txBody>
      </p:sp>
      <p:sp>
        <p:nvSpPr>
          <p:cNvPr id="28709" name="Text Box 29"/>
          <p:cNvSpPr txBox="1"/>
          <p:nvPr/>
        </p:nvSpPr>
        <p:spPr>
          <a:xfrm>
            <a:off x="6634163" y="3379788"/>
            <a:ext cx="315912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</a:p>
        </p:txBody>
      </p:sp>
      <p:sp>
        <p:nvSpPr>
          <p:cNvPr id="28710" name="Line 9"/>
          <p:cNvSpPr/>
          <p:nvPr/>
        </p:nvSpPr>
        <p:spPr>
          <a:xfrm flipV="1">
            <a:off x="5727700" y="4587875"/>
            <a:ext cx="1776413" cy="9525"/>
          </a:xfrm>
          <a:prstGeom prst="line">
            <a:avLst/>
          </a:prstGeom>
          <a:ln w="2540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11" name="Line 12"/>
          <p:cNvSpPr/>
          <p:nvPr/>
        </p:nvSpPr>
        <p:spPr>
          <a:xfrm>
            <a:off x="6605588" y="4030663"/>
            <a:ext cx="0" cy="571500"/>
          </a:xfrm>
          <a:prstGeom prst="line">
            <a:avLst/>
          </a:prstGeom>
          <a:ln w="2540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12" name="Text Box 14"/>
          <p:cNvSpPr txBox="1"/>
          <p:nvPr/>
        </p:nvSpPr>
        <p:spPr>
          <a:xfrm>
            <a:off x="4357370" y="4426268"/>
            <a:ext cx="13322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总线的接点</a:t>
            </a:r>
          </a:p>
        </p:txBody>
      </p:sp>
      <p:sp>
        <p:nvSpPr>
          <p:cNvPr id="28713" name="Text Box 21"/>
          <p:cNvSpPr txBox="1"/>
          <p:nvPr/>
        </p:nvSpPr>
        <p:spPr>
          <a:xfrm>
            <a:off x="253048" y="4252913"/>
            <a:ext cx="202057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没有连接的交叉</a:t>
            </a:r>
          </a:p>
        </p:txBody>
      </p:sp>
      <p:sp>
        <p:nvSpPr>
          <p:cNvPr id="28714" name="Line 34"/>
          <p:cNvSpPr/>
          <p:nvPr/>
        </p:nvSpPr>
        <p:spPr>
          <a:xfrm>
            <a:off x="3224213" y="3913188"/>
            <a:ext cx="0" cy="1143000"/>
          </a:xfrm>
          <a:prstGeom prst="line">
            <a:avLst/>
          </a:prstGeom>
          <a:ln w="2540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15" name="Line 35"/>
          <p:cNvSpPr/>
          <p:nvPr/>
        </p:nvSpPr>
        <p:spPr>
          <a:xfrm>
            <a:off x="2300288" y="4456113"/>
            <a:ext cx="1833562" cy="30162"/>
          </a:xfrm>
          <a:prstGeom prst="line">
            <a:avLst/>
          </a:prstGeom>
          <a:ln w="2540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1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1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1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10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10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10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10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10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10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10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10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10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10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10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10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10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10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10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10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10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10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8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8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8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8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8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8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8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8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8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8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8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8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8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8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8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  <p:bldP spid="28677" grpId="0"/>
      <p:bldP spid="28678" grpId="0"/>
      <p:bldP spid="28686" grpId="0" bldLvl="0" animBg="1"/>
      <p:bldP spid="28687" grpId="0" bldLvl="0" animBg="1"/>
      <p:bldP spid="28688" grpId="0"/>
      <p:bldP spid="28689" grpId="0"/>
      <p:bldP spid="28690" grpId="0"/>
      <p:bldP spid="28691" grpId="0"/>
      <p:bldP spid="28692" grpId="0"/>
      <p:bldP spid="28694" grpId="0" bldLvl="0" animBg="1"/>
      <p:bldP spid="28699" grpId="0"/>
      <p:bldP spid="28700" grpId="0" bldLvl="0" animBg="1"/>
      <p:bldP spid="28701" grpId="0" bldLvl="0" animBg="1"/>
      <p:bldP spid="28702" grpId="0"/>
      <p:bldP spid="28703" grpId="0"/>
      <p:bldP spid="28705" grpId="0" bldLvl="0" animBg="1"/>
      <p:bldP spid="28707" grpId="0" bldLvl="0" animBg="1"/>
      <p:bldP spid="28708" grpId="0"/>
      <p:bldP spid="28709" grpId="0"/>
      <p:bldP spid="28712" grpId="0"/>
      <p:bldP spid="287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6" name="Picture 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biLevel thresh="50000"/>
            <a:grayscl/>
          </a:blip>
          <a:srcRect/>
          <a:stretch>
            <a:fillRect/>
          </a:stretch>
        </p:blipFill>
        <p:spPr bwMode="auto">
          <a:xfrm>
            <a:off x="611505" y="555625"/>
            <a:ext cx="5689600" cy="2988945"/>
          </a:xfrm>
          <a:prstGeom prst="rect">
            <a:avLst/>
          </a:prstGeom>
          <a:ln w="9525" cap="flat" cmpd="sng" algn="ctr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5607" name="Rectangle 5"/>
          <p:cNvSpPr>
            <a:spLocks noGrp="1"/>
          </p:cNvSpPr>
          <p:nvPr>
            <p:ph type="title"/>
          </p:nvPr>
        </p:nvSpPr>
        <p:spPr>
          <a:xfrm>
            <a:off x="606425" y="3604260"/>
            <a:ext cx="5886450" cy="857250"/>
          </a:xfrm>
          <a:noFill/>
          <a:ln>
            <a:noFill/>
          </a:ln>
        </p:spPr>
        <p:txBody>
          <a:bodyPr anchor="ctr"/>
          <a:lstStyle/>
          <a:p>
            <a:pPr eaLnBrk="1" hangingPunct="1"/>
            <a:r>
              <a:rPr lang="en-US" altLang="zh-CN" sz="37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51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单片机与</a:t>
            </a:r>
            <a:r>
              <a:rPr lang="en-US" altLang="zh-CN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AT24C02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的连接逻辑电路图（部分）</a:t>
            </a:r>
            <a:r>
              <a:rPr lang="zh-CN" altLang="en-US" sz="3700" dirty="0"/>
              <a:t>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295" y="601345"/>
            <a:ext cx="2543175" cy="3293745"/>
          </a:xfrm>
          <a:prstGeom prst="rect">
            <a:avLst/>
          </a:prstGeom>
        </p:spPr>
      </p:pic>
      <p:sp>
        <p:nvSpPr>
          <p:cNvPr id="4" name="Rectangle 5"/>
          <p:cNvSpPr>
            <a:spLocks noGrp="1"/>
          </p:cNvSpPr>
          <p:nvPr/>
        </p:nvSpPr>
        <p:spPr>
          <a:xfrm>
            <a:off x="2128520" y="1732280"/>
            <a:ext cx="708025" cy="5143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U1</a:t>
            </a:r>
            <a:endParaRPr lang="en-US" altLang="en-US" sz="21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Rectangle 5"/>
          <p:cNvSpPr>
            <a:spLocks noGrp="1"/>
          </p:cNvSpPr>
          <p:nvPr/>
        </p:nvSpPr>
        <p:spPr>
          <a:xfrm>
            <a:off x="7374890" y="3220720"/>
            <a:ext cx="814705" cy="454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U2</a:t>
            </a:r>
            <a:endParaRPr lang="en-US" altLang="en-US" sz="21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Rectangle 5"/>
          <p:cNvSpPr>
            <a:spLocks noGrp="1"/>
          </p:cNvSpPr>
          <p:nvPr/>
        </p:nvSpPr>
        <p:spPr>
          <a:xfrm>
            <a:off x="219710" y="4399280"/>
            <a:ext cx="8547735" cy="746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7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7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但</a:t>
            </a:r>
            <a:r>
              <a:rPr lang="zh-CN" sz="21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从上面的电路图，看不到信号方向，</a:t>
            </a:r>
            <a:r>
              <a:rPr lang="zh-CN" sz="21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这与使用的</a:t>
            </a:r>
            <a:r>
              <a:rPr lang="en-US" altLang="zh-CN" sz="21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EDA</a:t>
            </a:r>
            <a:r>
              <a:rPr lang="zh-CN" altLang="en-US" sz="21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软件相关</a:t>
            </a:r>
            <a:r>
              <a:rPr lang="zh-CN" sz="21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！</a:t>
            </a:r>
            <a:r>
              <a:rPr lang="zh-CN" altLang="en-US" sz="3700" dirty="0"/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5E9A4C-DEC5-4D4E-AEB1-1D7043E4993F}"/>
              </a:ext>
            </a:extLst>
          </p:cNvPr>
          <p:cNvSpPr txBox="1"/>
          <p:nvPr/>
        </p:nvSpPr>
        <p:spPr>
          <a:xfrm>
            <a:off x="1871509" y="1089243"/>
            <a:ext cx="1094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EEPROM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 bldLvl="0" animBg="1"/>
      <p:bldP spid="4" grpId="0"/>
      <p:bldP spid="5" grpId="0"/>
      <p:bldP spid="3" grpId="0" bldLvl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30" name="Group 6"/>
          <p:cNvGrpSpPr/>
          <p:nvPr/>
        </p:nvGrpSpPr>
        <p:grpSpPr>
          <a:xfrm>
            <a:off x="1547664" y="34131"/>
            <a:ext cx="7129462" cy="5075238"/>
            <a:chOff x="0" y="0"/>
            <a:chExt cx="4491" cy="4263"/>
          </a:xfrm>
        </p:grpSpPr>
        <p:pic>
          <p:nvPicPr>
            <p:cNvPr id="26627" name="Picture 4" descr="046631592145e73a2834f0a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491" cy="424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512" name="Text Box 5"/>
            <p:cNvSpPr txBox="1">
              <a:spLocks noChangeArrowheads="1"/>
            </p:cNvSpPr>
            <p:nvPr/>
          </p:nvSpPr>
          <p:spPr bwMode="auto">
            <a:xfrm>
              <a:off x="1225" y="4144"/>
              <a:ext cx="363" cy="1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170" tIns="46990" rIns="90170" bIns="46990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6CE8861-A872-4259-B38D-2975AD72DF04}"/>
              </a:ext>
            </a:extLst>
          </p:cNvPr>
          <p:cNvSpPr txBox="1"/>
          <p:nvPr/>
        </p:nvSpPr>
        <p:spPr>
          <a:xfrm>
            <a:off x="0" y="1779662"/>
            <a:ext cx="1691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</a:rPr>
              <a:t>CAN</a:t>
            </a:r>
            <a:r>
              <a:rPr lang="zh-CN" altLang="en-US" sz="1400" dirty="0">
                <a:solidFill>
                  <a:srgbClr val="0000FF"/>
                </a:solidFill>
              </a:rPr>
              <a:t>总线：控制器局域网总线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285750" y="589915"/>
            <a:ext cx="86106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zh-CN" altLang="en-US" sz="20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门的符号标准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000" b="1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Gate Symbols Standards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395288" y="1032510"/>
            <a:ext cx="8231187" cy="1643063"/>
          </a:xfrm>
          <a:noFill/>
          <a:ln>
            <a:noFill/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逻辑门的符号标准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长方形符号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中国国标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IEC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/>
              <a:t> International Electrotechnical Commission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国际电工委员会）标准、</a:t>
            </a:r>
            <a:r>
              <a:rPr lang="en-US" altLang="zh-CN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IEEE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（电气和电子工程师协会）标准</a:t>
            </a:r>
          </a:p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变形符号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 </a:t>
            </a:r>
            <a:r>
              <a:rPr lang="en-US" altLang="zh-CN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IEEE</a:t>
            </a:r>
            <a:r>
              <a:rPr lang="zh-CN" altLang="en-US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标准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　</a:t>
            </a: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	常用门的符号表示参见下页图所示。</a:t>
            </a:r>
          </a:p>
        </p:txBody>
      </p:sp>
      <p:sp>
        <p:nvSpPr>
          <p:cNvPr id="21508" name="Rectangle 3"/>
          <p:cNvSpPr txBox="1"/>
          <p:nvPr/>
        </p:nvSpPr>
        <p:spPr>
          <a:xfrm>
            <a:off x="327025" y="3263265"/>
            <a:ext cx="8061325" cy="1657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门的等效符号</a:t>
            </a:r>
            <a:endParaRPr lang="en-US" altLang="zh-CN" sz="1800" b="1" dirty="0">
              <a:solidFill>
                <a:srgbClr val="FF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对上述常用门中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输入信号进行有效级变换</a:t>
            </a:r>
            <a:r>
              <a:rPr lang="en-US" altLang="zh-CN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变反</a:t>
            </a:r>
            <a:r>
              <a:rPr lang="en-US" altLang="zh-CN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，并按照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DeMorgan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定律得到的门的等效符号。</a:t>
            </a:r>
          </a:p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  实际上，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等效变换即为小圆圈（表示反相器）在门的符号上的出现和移动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。参见后面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ppt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-16905"/>
          <a:stretch>
            <a:fillRect/>
          </a:stretch>
        </p:blipFill>
        <p:spPr>
          <a:xfrm>
            <a:off x="3435350" y="2084705"/>
            <a:ext cx="5622925" cy="12998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0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11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06">
                                            <p:txEl>
                                              <p:charRg st="11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6">
                                            <p:txEl>
                                              <p:charRg st="11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06">
                                            <p:txEl>
                                              <p:charRg st="11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506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06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506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2150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/>
          </p:cNvSpPr>
          <p:nvPr>
            <p:ph type="title"/>
          </p:nvPr>
        </p:nvSpPr>
        <p:spPr>
          <a:xfrm>
            <a:off x="323850" y="987425"/>
            <a:ext cx="647700" cy="3887788"/>
          </a:xfrm>
          <a:noFill/>
          <a:ln>
            <a:noFill/>
          </a:ln>
        </p:spPr>
        <p:txBody>
          <a:bodyPr vert="eaVert"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常用逻辑门的两种标准化的表示形式</a:t>
            </a:r>
          </a:p>
        </p:txBody>
      </p:sp>
      <p:grpSp>
        <p:nvGrpSpPr>
          <p:cNvPr id="30725" name="Group 407"/>
          <p:cNvGrpSpPr/>
          <p:nvPr/>
        </p:nvGrpSpPr>
        <p:grpSpPr>
          <a:xfrm>
            <a:off x="1256983" y="75565"/>
            <a:ext cx="7504112" cy="5092700"/>
            <a:chOff x="240" y="411"/>
            <a:chExt cx="5280" cy="3885"/>
          </a:xfrm>
        </p:grpSpPr>
        <p:sp>
          <p:nvSpPr>
            <p:cNvPr id="2" name="Line 410"/>
            <p:cNvSpPr/>
            <p:nvPr/>
          </p:nvSpPr>
          <p:spPr>
            <a:xfrm>
              <a:off x="5325" y="1831"/>
              <a:ext cx="11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" name="Rectangle 253"/>
            <p:cNvSpPr/>
            <p:nvPr/>
          </p:nvSpPr>
          <p:spPr>
            <a:xfrm>
              <a:off x="240" y="411"/>
              <a:ext cx="1344" cy="336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电路名称</a:t>
              </a:r>
            </a:p>
          </p:txBody>
        </p:sp>
        <p:sp>
          <p:nvSpPr>
            <p:cNvPr id="30726" name="Rectangle 254"/>
            <p:cNvSpPr/>
            <p:nvPr/>
          </p:nvSpPr>
          <p:spPr>
            <a:xfrm>
              <a:off x="1584" y="411"/>
              <a:ext cx="1872" cy="336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方框型符号</a:t>
              </a:r>
            </a:p>
          </p:txBody>
        </p:sp>
        <p:sp>
          <p:nvSpPr>
            <p:cNvPr id="30727" name="Rectangle 255"/>
            <p:cNvSpPr/>
            <p:nvPr/>
          </p:nvSpPr>
          <p:spPr>
            <a:xfrm>
              <a:off x="3456" y="411"/>
              <a:ext cx="2064" cy="336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变形符号</a:t>
              </a:r>
            </a:p>
          </p:txBody>
        </p:sp>
        <p:sp>
          <p:nvSpPr>
            <p:cNvPr id="30728" name="Rectangle 256"/>
            <p:cNvSpPr/>
            <p:nvPr/>
          </p:nvSpPr>
          <p:spPr>
            <a:xfrm>
              <a:off x="240" y="747"/>
              <a:ext cx="134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跟随器</a:t>
              </a:r>
            </a:p>
          </p:txBody>
        </p:sp>
        <p:sp>
          <p:nvSpPr>
            <p:cNvPr id="30729" name="Rectangle 257"/>
            <p:cNvSpPr/>
            <p:nvPr/>
          </p:nvSpPr>
          <p:spPr>
            <a:xfrm>
              <a:off x="1584" y="747"/>
              <a:ext cx="1872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0" name="Rectangle 258"/>
            <p:cNvSpPr/>
            <p:nvPr/>
          </p:nvSpPr>
          <p:spPr>
            <a:xfrm>
              <a:off x="3456" y="747"/>
              <a:ext cx="206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1" name="Rectangle 259"/>
            <p:cNvSpPr/>
            <p:nvPr/>
          </p:nvSpPr>
          <p:spPr>
            <a:xfrm>
              <a:off x="240" y="1177"/>
              <a:ext cx="134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非   门</a:t>
              </a:r>
            </a:p>
          </p:txBody>
        </p:sp>
        <p:sp>
          <p:nvSpPr>
            <p:cNvPr id="30732" name="Rectangle 260"/>
            <p:cNvSpPr/>
            <p:nvPr/>
          </p:nvSpPr>
          <p:spPr>
            <a:xfrm>
              <a:off x="1584" y="1177"/>
              <a:ext cx="1872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3" name="Rectangle 261"/>
            <p:cNvSpPr/>
            <p:nvPr/>
          </p:nvSpPr>
          <p:spPr>
            <a:xfrm>
              <a:off x="3456" y="1177"/>
              <a:ext cx="206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4" name="Rectangle 262"/>
            <p:cNvSpPr/>
            <p:nvPr/>
          </p:nvSpPr>
          <p:spPr>
            <a:xfrm>
              <a:off x="240" y="1606"/>
              <a:ext cx="134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   门</a:t>
              </a:r>
            </a:p>
          </p:txBody>
        </p:sp>
        <p:sp>
          <p:nvSpPr>
            <p:cNvPr id="30735" name="Rectangle 263"/>
            <p:cNvSpPr/>
            <p:nvPr/>
          </p:nvSpPr>
          <p:spPr>
            <a:xfrm>
              <a:off x="1584" y="1606"/>
              <a:ext cx="1872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6" name="Rectangle 264"/>
            <p:cNvSpPr/>
            <p:nvPr/>
          </p:nvSpPr>
          <p:spPr>
            <a:xfrm>
              <a:off x="3456" y="1606"/>
              <a:ext cx="206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7" name="Rectangle 265"/>
            <p:cNvSpPr/>
            <p:nvPr/>
          </p:nvSpPr>
          <p:spPr>
            <a:xfrm>
              <a:off x="240" y="2036"/>
              <a:ext cx="134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   门</a:t>
              </a:r>
            </a:p>
          </p:txBody>
        </p:sp>
        <p:sp>
          <p:nvSpPr>
            <p:cNvPr id="30738" name="Rectangle 266"/>
            <p:cNvSpPr/>
            <p:nvPr/>
          </p:nvSpPr>
          <p:spPr>
            <a:xfrm>
              <a:off x="1584" y="2036"/>
              <a:ext cx="1872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9" name="Rectangle 267"/>
            <p:cNvSpPr/>
            <p:nvPr/>
          </p:nvSpPr>
          <p:spPr>
            <a:xfrm>
              <a:off x="3456" y="2036"/>
              <a:ext cx="206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0" name="Rectangle 268"/>
            <p:cNvSpPr/>
            <p:nvPr/>
          </p:nvSpPr>
          <p:spPr>
            <a:xfrm>
              <a:off x="240" y="2465"/>
              <a:ext cx="134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与非门</a:t>
              </a:r>
              <a:endParaRPr lang="zh-CN" altLang="en-US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1" name="Rectangle 269"/>
            <p:cNvSpPr/>
            <p:nvPr/>
          </p:nvSpPr>
          <p:spPr>
            <a:xfrm>
              <a:off x="1584" y="2465"/>
              <a:ext cx="1872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2" name="Rectangle 270"/>
            <p:cNvSpPr/>
            <p:nvPr/>
          </p:nvSpPr>
          <p:spPr>
            <a:xfrm>
              <a:off x="3456" y="2465"/>
              <a:ext cx="206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3" name="Rectangle 271"/>
            <p:cNvSpPr/>
            <p:nvPr/>
          </p:nvSpPr>
          <p:spPr>
            <a:xfrm>
              <a:off x="240" y="2895"/>
              <a:ext cx="134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或非门</a:t>
              </a:r>
            </a:p>
          </p:txBody>
        </p:sp>
        <p:sp>
          <p:nvSpPr>
            <p:cNvPr id="30744" name="Rectangle 272"/>
            <p:cNvSpPr/>
            <p:nvPr/>
          </p:nvSpPr>
          <p:spPr>
            <a:xfrm>
              <a:off x="1584" y="2895"/>
              <a:ext cx="1872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5" name="Rectangle 273"/>
            <p:cNvSpPr/>
            <p:nvPr/>
          </p:nvSpPr>
          <p:spPr>
            <a:xfrm>
              <a:off x="3456" y="2895"/>
              <a:ext cx="206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6" name="Rectangle 274"/>
            <p:cNvSpPr/>
            <p:nvPr/>
          </p:nvSpPr>
          <p:spPr>
            <a:xfrm>
              <a:off x="240" y="3324"/>
              <a:ext cx="1344" cy="543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与或非门</a:t>
              </a:r>
            </a:p>
          </p:txBody>
        </p:sp>
        <p:sp>
          <p:nvSpPr>
            <p:cNvPr id="30747" name="Rectangle 275"/>
            <p:cNvSpPr/>
            <p:nvPr/>
          </p:nvSpPr>
          <p:spPr>
            <a:xfrm>
              <a:off x="1584" y="3324"/>
              <a:ext cx="1872" cy="543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8" name="Rectangle 276"/>
            <p:cNvSpPr/>
            <p:nvPr/>
          </p:nvSpPr>
          <p:spPr>
            <a:xfrm>
              <a:off x="3456" y="3324"/>
              <a:ext cx="2064" cy="543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9" name="Rectangle 277"/>
            <p:cNvSpPr/>
            <p:nvPr/>
          </p:nvSpPr>
          <p:spPr>
            <a:xfrm>
              <a:off x="240" y="3867"/>
              <a:ext cx="134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9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异或门</a:t>
              </a:r>
            </a:p>
          </p:txBody>
        </p:sp>
        <p:sp>
          <p:nvSpPr>
            <p:cNvPr id="30750" name="Rectangle 278"/>
            <p:cNvSpPr/>
            <p:nvPr/>
          </p:nvSpPr>
          <p:spPr>
            <a:xfrm>
              <a:off x="1584" y="3867"/>
              <a:ext cx="1872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51" name="Rectangle 279"/>
            <p:cNvSpPr/>
            <p:nvPr/>
          </p:nvSpPr>
          <p:spPr>
            <a:xfrm>
              <a:off x="3456" y="3867"/>
              <a:ext cx="206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lstStyle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52" name="Line 280"/>
            <p:cNvSpPr/>
            <p:nvPr/>
          </p:nvSpPr>
          <p:spPr>
            <a:xfrm>
              <a:off x="1584" y="411"/>
              <a:ext cx="0" cy="3885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3" name="Line 281"/>
            <p:cNvSpPr/>
            <p:nvPr/>
          </p:nvSpPr>
          <p:spPr>
            <a:xfrm>
              <a:off x="3456" y="411"/>
              <a:ext cx="0" cy="3885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4" name="Line 282"/>
            <p:cNvSpPr/>
            <p:nvPr/>
          </p:nvSpPr>
          <p:spPr>
            <a:xfrm>
              <a:off x="240" y="747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5" name="Line 283"/>
            <p:cNvSpPr/>
            <p:nvPr/>
          </p:nvSpPr>
          <p:spPr>
            <a:xfrm>
              <a:off x="240" y="1177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6" name="Line 284"/>
            <p:cNvSpPr/>
            <p:nvPr/>
          </p:nvSpPr>
          <p:spPr>
            <a:xfrm>
              <a:off x="240" y="1606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7" name="Line 285"/>
            <p:cNvSpPr/>
            <p:nvPr/>
          </p:nvSpPr>
          <p:spPr>
            <a:xfrm>
              <a:off x="240" y="2036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8" name="Line 286"/>
            <p:cNvSpPr/>
            <p:nvPr/>
          </p:nvSpPr>
          <p:spPr>
            <a:xfrm>
              <a:off x="240" y="2465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9" name="Line 287"/>
            <p:cNvSpPr/>
            <p:nvPr/>
          </p:nvSpPr>
          <p:spPr>
            <a:xfrm>
              <a:off x="240" y="2895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0" name="Line 288"/>
            <p:cNvSpPr/>
            <p:nvPr/>
          </p:nvSpPr>
          <p:spPr>
            <a:xfrm>
              <a:off x="240" y="3324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1" name="Line 289"/>
            <p:cNvSpPr/>
            <p:nvPr/>
          </p:nvSpPr>
          <p:spPr>
            <a:xfrm>
              <a:off x="240" y="3867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2" name="Line 290"/>
            <p:cNvSpPr/>
            <p:nvPr/>
          </p:nvSpPr>
          <p:spPr>
            <a:xfrm>
              <a:off x="240" y="411"/>
              <a:ext cx="0" cy="3885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3" name="Line 291"/>
            <p:cNvSpPr/>
            <p:nvPr/>
          </p:nvSpPr>
          <p:spPr>
            <a:xfrm>
              <a:off x="5520" y="411"/>
              <a:ext cx="0" cy="3885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4" name="Line 292"/>
            <p:cNvSpPr/>
            <p:nvPr/>
          </p:nvSpPr>
          <p:spPr>
            <a:xfrm>
              <a:off x="240" y="411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5" name="Line 293"/>
            <p:cNvSpPr/>
            <p:nvPr/>
          </p:nvSpPr>
          <p:spPr>
            <a:xfrm>
              <a:off x="240" y="4296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0766" name="Group 382"/>
            <p:cNvGrpSpPr/>
            <p:nvPr/>
          </p:nvGrpSpPr>
          <p:grpSpPr>
            <a:xfrm>
              <a:off x="2075" y="812"/>
              <a:ext cx="815" cy="297"/>
              <a:chOff x="0" y="0"/>
              <a:chExt cx="815" cy="297"/>
            </a:xfrm>
          </p:grpSpPr>
          <p:sp>
            <p:nvSpPr>
              <p:cNvPr id="26780" name="Rectangle 21"/>
              <p:cNvSpPr>
                <a:spLocks noChangeArrowheads="1"/>
              </p:cNvSpPr>
              <p:nvPr/>
            </p:nvSpPr>
            <p:spPr bwMode="auto">
              <a:xfrm>
                <a:off x="284" y="0"/>
                <a:ext cx="241" cy="297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81" name="Text Box 22"/>
              <p:cNvSpPr txBox="1">
                <a:spLocks noChangeArrowheads="1"/>
              </p:cNvSpPr>
              <p:nvPr/>
            </p:nvSpPr>
            <p:spPr bwMode="auto">
              <a:xfrm>
                <a:off x="325" y="16"/>
                <a:ext cx="162" cy="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26782" name="Line 23"/>
              <p:cNvSpPr>
                <a:spLocks noChangeShapeType="1"/>
              </p:cNvSpPr>
              <p:nvPr/>
            </p:nvSpPr>
            <p:spPr bwMode="auto">
              <a:xfrm>
                <a:off x="0" y="157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83" name="Line 24"/>
              <p:cNvSpPr>
                <a:spLocks noChangeShapeType="1"/>
              </p:cNvSpPr>
              <p:nvPr/>
            </p:nvSpPr>
            <p:spPr bwMode="auto">
              <a:xfrm>
                <a:off x="531" y="157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67" name="Group 384"/>
            <p:cNvGrpSpPr/>
            <p:nvPr/>
          </p:nvGrpSpPr>
          <p:grpSpPr>
            <a:xfrm>
              <a:off x="2077" y="1216"/>
              <a:ext cx="873" cy="326"/>
              <a:chOff x="0" y="0"/>
              <a:chExt cx="873" cy="326"/>
            </a:xfrm>
          </p:grpSpPr>
          <p:sp>
            <p:nvSpPr>
              <p:cNvPr id="26775" name="Rectangle 45"/>
              <p:cNvSpPr>
                <a:spLocks noChangeArrowheads="1"/>
              </p:cNvSpPr>
              <p:nvPr/>
            </p:nvSpPr>
            <p:spPr bwMode="auto">
              <a:xfrm>
                <a:off x="290" y="0"/>
                <a:ext cx="240" cy="297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6" name="Text Box 46"/>
              <p:cNvSpPr txBox="1">
                <a:spLocks noChangeArrowheads="1"/>
              </p:cNvSpPr>
              <p:nvPr/>
            </p:nvSpPr>
            <p:spPr bwMode="auto">
              <a:xfrm>
                <a:off x="323" y="44"/>
                <a:ext cx="162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26777" name="Line 47"/>
              <p:cNvSpPr>
                <a:spLocks noChangeShapeType="1"/>
              </p:cNvSpPr>
              <p:nvPr/>
            </p:nvSpPr>
            <p:spPr bwMode="auto">
              <a:xfrm>
                <a:off x="0" y="146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8" name="Line 48"/>
              <p:cNvSpPr>
                <a:spLocks noChangeShapeType="1"/>
              </p:cNvSpPr>
              <p:nvPr/>
            </p:nvSpPr>
            <p:spPr bwMode="auto">
              <a:xfrm>
                <a:off x="589" y="146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9" name="Oval 49"/>
              <p:cNvSpPr>
                <a:spLocks noChangeArrowheads="1"/>
              </p:cNvSpPr>
              <p:nvPr/>
            </p:nvSpPr>
            <p:spPr bwMode="auto">
              <a:xfrm>
                <a:off x="530" y="115"/>
                <a:ext cx="64" cy="57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68" name="Group 385"/>
            <p:cNvGrpSpPr/>
            <p:nvPr/>
          </p:nvGrpSpPr>
          <p:grpSpPr>
            <a:xfrm>
              <a:off x="2077" y="1650"/>
              <a:ext cx="814" cy="322"/>
              <a:chOff x="0" y="0"/>
              <a:chExt cx="814" cy="322"/>
            </a:xfrm>
          </p:grpSpPr>
          <p:sp>
            <p:nvSpPr>
              <p:cNvPr id="26770" name="Rectangle 51"/>
              <p:cNvSpPr>
                <a:spLocks noChangeArrowheads="1"/>
              </p:cNvSpPr>
              <p:nvPr/>
            </p:nvSpPr>
            <p:spPr bwMode="auto">
              <a:xfrm>
                <a:off x="284" y="0"/>
                <a:ext cx="241" cy="297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1" name="Text Box 52"/>
              <p:cNvSpPr txBox="1">
                <a:spLocks noChangeArrowheads="1"/>
              </p:cNvSpPr>
              <p:nvPr/>
            </p:nvSpPr>
            <p:spPr bwMode="auto">
              <a:xfrm>
                <a:off x="323" y="42"/>
                <a:ext cx="240" cy="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&amp;</a:t>
                </a:r>
              </a:p>
            </p:txBody>
          </p:sp>
          <p:sp>
            <p:nvSpPr>
              <p:cNvPr id="26772" name="Line 53"/>
              <p:cNvSpPr>
                <a:spLocks noChangeShapeType="1"/>
              </p:cNvSpPr>
              <p:nvPr/>
            </p:nvSpPr>
            <p:spPr bwMode="auto">
              <a:xfrm>
                <a:off x="0" y="88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3" name="Line 54"/>
              <p:cNvSpPr>
                <a:spLocks noChangeShapeType="1"/>
              </p:cNvSpPr>
              <p:nvPr/>
            </p:nvSpPr>
            <p:spPr bwMode="auto">
              <a:xfrm>
                <a:off x="530" y="145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4" name="Line 55"/>
              <p:cNvSpPr>
                <a:spLocks noChangeShapeType="1"/>
              </p:cNvSpPr>
              <p:nvPr/>
            </p:nvSpPr>
            <p:spPr bwMode="auto">
              <a:xfrm>
                <a:off x="0" y="198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69" name="Group 398"/>
            <p:cNvGrpSpPr/>
            <p:nvPr/>
          </p:nvGrpSpPr>
          <p:grpSpPr>
            <a:xfrm>
              <a:off x="2077" y="2513"/>
              <a:ext cx="883" cy="325"/>
              <a:chOff x="0" y="0"/>
              <a:chExt cx="883" cy="325"/>
            </a:xfrm>
          </p:grpSpPr>
          <p:sp>
            <p:nvSpPr>
              <p:cNvPr id="26764" name="Rectangle 57"/>
              <p:cNvSpPr>
                <a:spLocks noChangeArrowheads="1"/>
              </p:cNvSpPr>
              <p:nvPr/>
            </p:nvSpPr>
            <p:spPr bwMode="auto">
              <a:xfrm>
                <a:off x="284" y="0"/>
                <a:ext cx="242" cy="294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5" name="Text Box 58"/>
              <p:cNvSpPr txBox="1">
                <a:spLocks noChangeArrowheads="1"/>
              </p:cNvSpPr>
              <p:nvPr/>
            </p:nvSpPr>
            <p:spPr bwMode="auto">
              <a:xfrm>
                <a:off x="323" y="43"/>
                <a:ext cx="240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&amp;</a:t>
                </a:r>
              </a:p>
            </p:txBody>
          </p:sp>
          <p:sp>
            <p:nvSpPr>
              <p:cNvPr id="26766" name="Line 59"/>
              <p:cNvSpPr>
                <a:spLocks noChangeShapeType="1"/>
              </p:cNvSpPr>
              <p:nvPr/>
            </p:nvSpPr>
            <p:spPr bwMode="auto">
              <a:xfrm>
                <a:off x="0" y="89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7" name="Line 60"/>
              <p:cNvSpPr>
                <a:spLocks noChangeShapeType="1"/>
              </p:cNvSpPr>
              <p:nvPr/>
            </p:nvSpPr>
            <p:spPr bwMode="auto">
              <a:xfrm>
                <a:off x="599" y="146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8" name="Line 61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9" name="Oval 62"/>
              <p:cNvSpPr>
                <a:spLocks noChangeArrowheads="1"/>
              </p:cNvSpPr>
              <p:nvPr/>
            </p:nvSpPr>
            <p:spPr bwMode="auto">
              <a:xfrm>
                <a:off x="531" y="117"/>
                <a:ext cx="61" cy="57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0" name="Group 399"/>
            <p:cNvGrpSpPr/>
            <p:nvPr/>
          </p:nvGrpSpPr>
          <p:grpSpPr>
            <a:xfrm>
              <a:off x="2080" y="2945"/>
              <a:ext cx="883" cy="503"/>
              <a:chOff x="0" y="0"/>
              <a:chExt cx="883" cy="503"/>
            </a:xfrm>
          </p:grpSpPr>
          <p:sp>
            <p:nvSpPr>
              <p:cNvPr id="26758" name="Rectangle 64"/>
              <p:cNvSpPr>
                <a:spLocks noChangeArrowheads="1"/>
              </p:cNvSpPr>
              <p:nvPr/>
            </p:nvSpPr>
            <p:spPr bwMode="auto">
              <a:xfrm>
                <a:off x="283" y="-2"/>
                <a:ext cx="244" cy="299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9" name="Text Box 65"/>
              <p:cNvSpPr txBox="1">
                <a:spLocks noChangeArrowheads="1"/>
              </p:cNvSpPr>
              <p:nvPr/>
            </p:nvSpPr>
            <p:spPr bwMode="auto">
              <a:xfrm>
                <a:off x="260" y="60"/>
                <a:ext cx="317" cy="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≥1</a:t>
                </a:r>
              </a:p>
            </p:txBody>
          </p:sp>
          <p:sp>
            <p:nvSpPr>
              <p:cNvPr id="26760" name="Line 66"/>
              <p:cNvSpPr>
                <a:spLocks noChangeShapeType="1"/>
              </p:cNvSpPr>
              <p:nvPr/>
            </p:nvSpPr>
            <p:spPr bwMode="auto">
              <a:xfrm>
                <a:off x="0" y="88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1" name="Line 67"/>
              <p:cNvSpPr>
                <a:spLocks noChangeShapeType="1"/>
              </p:cNvSpPr>
              <p:nvPr/>
            </p:nvSpPr>
            <p:spPr bwMode="auto">
              <a:xfrm>
                <a:off x="600" y="145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2" name="Line 68"/>
              <p:cNvSpPr>
                <a:spLocks noChangeShapeType="1"/>
              </p:cNvSpPr>
              <p:nvPr/>
            </p:nvSpPr>
            <p:spPr bwMode="auto">
              <a:xfrm>
                <a:off x="0" y="199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3" name="Oval 69"/>
              <p:cNvSpPr>
                <a:spLocks noChangeArrowheads="1"/>
              </p:cNvSpPr>
              <p:nvPr/>
            </p:nvSpPr>
            <p:spPr bwMode="auto">
              <a:xfrm>
                <a:off x="531" y="124"/>
                <a:ext cx="59" cy="58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1" name="Group 397"/>
            <p:cNvGrpSpPr/>
            <p:nvPr/>
          </p:nvGrpSpPr>
          <p:grpSpPr>
            <a:xfrm>
              <a:off x="2077" y="2081"/>
              <a:ext cx="816" cy="297"/>
              <a:chOff x="0" y="0"/>
              <a:chExt cx="816" cy="297"/>
            </a:xfrm>
          </p:grpSpPr>
          <p:sp>
            <p:nvSpPr>
              <p:cNvPr id="26753" name="Rectangle 71"/>
              <p:cNvSpPr>
                <a:spLocks noChangeArrowheads="1"/>
              </p:cNvSpPr>
              <p:nvPr/>
            </p:nvSpPr>
            <p:spPr bwMode="auto">
              <a:xfrm>
                <a:off x="284" y="0"/>
                <a:ext cx="246" cy="297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4" name="Text Box 72"/>
              <p:cNvSpPr txBox="1">
                <a:spLocks noChangeArrowheads="1"/>
              </p:cNvSpPr>
              <p:nvPr/>
            </p:nvSpPr>
            <p:spPr bwMode="auto">
              <a:xfrm>
                <a:off x="242" y="15"/>
                <a:ext cx="389" cy="2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≥1</a:t>
                </a:r>
              </a:p>
            </p:txBody>
          </p:sp>
          <p:sp>
            <p:nvSpPr>
              <p:cNvPr id="26755" name="Line 73"/>
              <p:cNvSpPr>
                <a:spLocks noChangeShapeType="1"/>
              </p:cNvSpPr>
              <p:nvPr/>
            </p:nvSpPr>
            <p:spPr bwMode="auto">
              <a:xfrm>
                <a:off x="0" y="88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6" name="Line 74"/>
              <p:cNvSpPr>
                <a:spLocks noChangeShapeType="1"/>
              </p:cNvSpPr>
              <p:nvPr/>
            </p:nvSpPr>
            <p:spPr bwMode="auto">
              <a:xfrm>
                <a:off x="530" y="145"/>
                <a:ext cx="28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7" name="Line 75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2" name="Group 437"/>
            <p:cNvGrpSpPr/>
            <p:nvPr/>
          </p:nvGrpSpPr>
          <p:grpSpPr>
            <a:xfrm>
              <a:off x="2112" y="3363"/>
              <a:ext cx="912" cy="431"/>
              <a:chOff x="0" y="0"/>
              <a:chExt cx="912" cy="431"/>
            </a:xfrm>
          </p:grpSpPr>
          <p:sp>
            <p:nvSpPr>
              <p:cNvPr id="26742" name="Rectangle 203"/>
              <p:cNvSpPr>
                <a:spLocks noChangeArrowheads="1"/>
              </p:cNvSpPr>
              <p:nvPr/>
            </p:nvSpPr>
            <p:spPr bwMode="auto">
              <a:xfrm>
                <a:off x="429" y="3"/>
                <a:ext cx="208" cy="426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3" name="Text Box 204"/>
              <p:cNvSpPr txBox="1">
                <a:spLocks noChangeArrowheads="1"/>
              </p:cNvSpPr>
              <p:nvPr/>
            </p:nvSpPr>
            <p:spPr bwMode="auto">
              <a:xfrm>
                <a:off x="399" y="77"/>
                <a:ext cx="356" cy="2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≥1</a:t>
                </a:r>
              </a:p>
            </p:txBody>
          </p:sp>
          <p:sp>
            <p:nvSpPr>
              <p:cNvPr id="26744" name="Line 205"/>
              <p:cNvSpPr>
                <a:spLocks noChangeShapeType="1"/>
              </p:cNvSpPr>
              <p:nvPr/>
            </p:nvSpPr>
            <p:spPr bwMode="auto">
              <a:xfrm>
                <a:off x="3" y="60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5" name="Line 206"/>
              <p:cNvSpPr>
                <a:spLocks noChangeShapeType="1"/>
              </p:cNvSpPr>
              <p:nvPr/>
            </p:nvSpPr>
            <p:spPr bwMode="auto">
              <a:xfrm>
                <a:off x="687" y="195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6" name="Line 207"/>
              <p:cNvSpPr>
                <a:spLocks noChangeShapeType="1"/>
              </p:cNvSpPr>
              <p:nvPr/>
            </p:nvSpPr>
            <p:spPr bwMode="auto">
              <a:xfrm>
                <a:off x="3" y="175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7" name="Oval 208"/>
              <p:cNvSpPr>
                <a:spLocks noChangeArrowheads="1"/>
              </p:cNvSpPr>
              <p:nvPr/>
            </p:nvSpPr>
            <p:spPr bwMode="auto">
              <a:xfrm>
                <a:off x="631" y="175"/>
                <a:ext cx="48" cy="57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8" name="Rectangle 209"/>
              <p:cNvSpPr>
                <a:spLocks noChangeArrowheads="1"/>
              </p:cNvSpPr>
              <p:nvPr/>
            </p:nvSpPr>
            <p:spPr bwMode="auto">
              <a:xfrm>
                <a:off x="219" y="-2"/>
                <a:ext cx="211" cy="430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9" name="Line 210"/>
              <p:cNvSpPr>
                <a:spLocks noChangeShapeType="1"/>
              </p:cNvSpPr>
              <p:nvPr/>
            </p:nvSpPr>
            <p:spPr bwMode="auto">
              <a:xfrm>
                <a:off x="228" y="209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0" name="Text Box 211"/>
              <p:cNvSpPr txBox="1">
                <a:spLocks noChangeArrowheads="1"/>
              </p:cNvSpPr>
              <p:nvPr/>
            </p:nvSpPr>
            <p:spPr bwMode="auto">
              <a:xfrm>
                <a:off x="219" y="15"/>
                <a:ext cx="251" cy="2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&amp;</a:t>
                </a:r>
              </a:p>
            </p:txBody>
          </p:sp>
          <p:sp>
            <p:nvSpPr>
              <p:cNvPr id="26751" name="Line 219"/>
              <p:cNvSpPr>
                <a:spLocks noChangeShapeType="1"/>
              </p:cNvSpPr>
              <p:nvPr/>
            </p:nvSpPr>
            <p:spPr bwMode="auto">
              <a:xfrm>
                <a:off x="0" y="267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2" name="Line 220"/>
              <p:cNvSpPr>
                <a:spLocks noChangeShapeType="1"/>
              </p:cNvSpPr>
              <p:nvPr/>
            </p:nvSpPr>
            <p:spPr bwMode="auto">
              <a:xfrm>
                <a:off x="0" y="382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3" name="Group 337"/>
            <p:cNvGrpSpPr/>
            <p:nvPr/>
          </p:nvGrpSpPr>
          <p:grpSpPr>
            <a:xfrm>
              <a:off x="4077" y="819"/>
              <a:ext cx="819" cy="240"/>
              <a:chOff x="0" y="0"/>
              <a:chExt cx="819" cy="240"/>
            </a:xfrm>
          </p:grpSpPr>
          <p:sp>
            <p:nvSpPr>
              <p:cNvPr id="26739" name="Line 35"/>
              <p:cNvSpPr>
                <a:spLocks noChangeShapeType="1"/>
              </p:cNvSpPr>
              <p:nvPr/>
            </p:nvSpPr>
            <p:spPr bwMode="auto">
              <a:xfrm>
                <a:off x="0" y="115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0" name="Line 36"/>
              <p:cNvSpPr>
                <a:spLocks noChangeShapeType="1"/>
              </p:cNvSpPr>
              <p:nvPr/>
            </p:nvSpPr>
            <p:spPr bwMode="auto">
              <a:xfrm>
                <a:off x="535" y="115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835" name="AutoShape 223"/>
              <p:cNvSpPr/>
              <p:nvPr/>
            </p:nvSpPr>
            <p:spPr>
              <a:xfrm rot="5400000">
                <a:off x="295" y="0"/>
                <a:ext cx="240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/>
              <a:lstStyle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0774" name="Group 402"/>
            <p:cNvGrpSpPr/>
            <p:nvPr/>
          </p:nvGrpSpPr>
          <p:grpSpPr>
            <a:xfrm>
              <a:off x="4080" y="1203"/>
              <a:ext cx="862" cy="240"/>
              <a:chOff x="0" y="0"/>
              <a:chExt cx="862" cy="240"/>
            </a:xfrm>
          </p:grpSpPr>
          <p:sp>
            <p:nvSpPr>
              <p:cNvPr id="26735" name="Line 224"/>
              <p:cNvSpPr>
                <a:spLocks noChangeShapeType="1"/>
              </p:cNvSpPr>
              <p:nvPr/>
            </p:nvSpPr>
            <p:spPr bwMode="auto">
              <a:xfrm>
                <a:off x="0" y="115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6" name="Line 225"/>
              <p:cNvSpPr>
                <a:spLocks noChangeShapeType="1"/>
              </p:cNvSpPr>
              <p:nvPr/>
            </p:nvSpPr>
            <p:spPr bwMode="auto">
              <a:xfrm>
                <a:off x="580" y="126"/>
                <a:ext cx="287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7" name="Oval 226"/>
              <p:cNvSpPr>
                <a:spLocks noChangeArrowheads="1"/>
              </p:cNvSpPr>
              <p:nvPr/>
            </p:nvSpPr>
            <p:spPr bwMode="auto">
              <a:xfrm>
                <a:off x="532" y="94"/>
                <a:ext cx="58" cy="57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832" name="AutoShape 227"/>
              <p:cNvSpPr/>
              <p:nvPr/>
            </p:nvSpPr>
            <p:spPr>
              <a:xfrm rot="5400000">
                <a:off x="295" y="0"/>
                <a:ext cx="240" cy="24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/>
              <a:lstStyle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0775" name="Group 401"/>
            <p:cNvGrpSpPr/>
            <p:nvPr/>
          </p:nvGrpSpPr>
          <p:grpSpPr>
            <a:xfrm>
              <a:off x="2077" y="3891"/>
              <a:ext cx="814" cy="312"/>
              <a:chOff x="0" y="0"/>
              <a:chExt cx="814" cy="312"/>
            </a:xfrm>
          </p:grpSpPr>
          <p:sp>
            <p:nvSpPr>
              <p:cNvPr id="26730" name="Rectangle 213"/>
              <p:cNvSpPr>
                <a:spLocks noChangeArrowheads="1"/>
              </p:cNvSpPr>
              <p:nvPr/>
            </p:nvSpPr>
            <p:spPr bwMode="auto">
              <a:xfrm>
                <a:off x="284" y="15"/>
                <a:ext cx="241" cy="297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1" name="Text Box 214"/>
              <p:cNvSpPr txBox="1">
                <a:spLocks noChangeArrowheads="1"/>
              </p:cNvSpPr>
              <p:nvPr/>
            </p:nvSpPr>
            <p:spPr bwMode="auto">
              <a:xfrm>
                <a:off x="242" y="2"/>
                <a:ext cx="350" cy="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=1</a:t>
                </a:r>
              </a:p>
            </p:txBody>
          </p:sp>
          <p:sp>
            <p:nvSpPr>
              <p:cNvPr id="26732" name="Line 215"/>
              <p:cNvSpPr>
                <a:spLocks noChangeShapeType="1"/>
              </p:cNvSpPr>
              <p:nvPr/>
            </p:nvSpPr>
            <p:spPr bwMode="auto">
              <a:xfrm>
                <a:off x="0" y="100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3" name="Line 216"/>
              <p:cNvSpPr>
                <a:spLocks noChangeShapeType="1"/>
              </p:cNvSpPr>
              <p:nvPr/>
            </p:nvSpPr>
            <p:spPr bwMode="auto">
              <a:xfrm>
                <a:off x="530" y="158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4" name="Line 217"/>
              <p:cNvSpPr>
                <a:spLocks noChangeShapeType="1"/>
              </p:cNvSpPr>
              <p:nvPr/>
            </p:nvSpPr>
            <p:spPr bwMode="auto">
              <a:xfrm>
                <a:off x="0" y="214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6" name="Group 350"/>
            <p:cNvGrpSpPr/>
            <p:nvPr/>
          </p:nvGrpSpPr>
          <p:grpSpPr>
            <a:xfrm>
              <a:off x="4091" y="1657"/>
              <a:ext cx="857" cy="274"/>
              <a:chOff x="0" y="0"/>
              <a:chExt cx="857" cy="274"/>
            </a:xfrm>
          </p:grpSpPr>
          <p:sp>
            <p:nvSpPr>
              <p:cNvPr id="26726" name="Line 339"/>
              <p:cNvSpPr>
                <a:spLocks noChangeShapeType="1"/>
              </p:cNvSpPr>
              <p:nvPr/>
            </p:nvSpPr>
            <p:spPr bwMode="auto">
              <a:xfrm>
                <a:off x="6" y="196"/>
                <a:ext cx="27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7" name="Line 341"/>
              <p:cNvSpPr>
                <a:spLocks noChangeShapeType="1"/>
              </p:cNvSpPr>
              <p:nvPr/>
            </p:nvSpPr>
            <p:spPr bwMode="auto">
              <a:xfrm>
                <a:off x="569" y="141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8" name="Line 344"/>
              <p:cNvSpPr>
                <a:spLocks noChangeShapeType="1"/>
              </p:cNvSpPr>
              <p:nvPr/>
            </p:nvSpPr>
            <p:spPr bwMode="auto">
              <a:xfrm>
                <a:off x="0" y="83"/>
                <a:ext cx="26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9" name="AutoShape 349"/>
              <p:cNvSpPr>
                <a:spLocks noChangeArrowheads="1"/>
              </p:cNvSpPr>
              <p:nvPr/>
            </p:nvSpPr>
            <p:spPr bwMode="auto">
              <a:xfrm>
                <a:off x="281" y="0"/>
                <a:ext cx="288" cy="274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7" name="Group 403"/>
            <p:cNvGrpSpPr/>
            <p:nvPr/>
          </p:nvGrpSpPr>
          <p:grpSpPr>
            <a:xfrm>
              <a:off x="4091" y="2513"/>
              <a:ext cx="912" cy="274"/>
              <a:chOff x="0" y="0"/>
              <a:chExt cx="912" cy="274"/>
            </a:xfrm>
          </p:grpSpPr>
          <p:sp>
            <p:nvSpPr>
              <p:cNvPr id="26721" name="Line 352"/>
              <p:cNvSpPr>
                <a:spLocks noChangeShapeType="1"/>
              </p:cNvSpPr>
              <p:nvPr/>
            </p:nvSpPr>
            <p:spPr bwMode="auto">
              <a:xfrm>
                <a:off x="6" y="197"/>
                <a:ext cx="27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2" name="Line 353"/>
              <p:cNvSpPr>
                <a:spLocks noChangeShapeType="1"/>
              </p:cNvSpPr>
              <p:nvPr/>
            </p:nvSpPr>
            <p:spPr bwMode="auto">
              <a:xfrm>
                <a:off x="624" y="141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3" name="Line 354"/>
              <p:cNvSpPr>
                <a:spLocks noChangeShapeType="1"/>
              </p:cNvSpPr>
              <p:nvPr/>
            </p:nvSpPr>
            <p:spPr bwMode="auto">
              <a:xfrm>
                <a:off x="0" y="83"/>
                <a:ext cx="26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4" name="AutoShape 355"/>
              <p:cNvSpPr>
                <a:spLocks noChangeArrowheads="1"/>
              </p:cNvSpPr>
              <p:nvPr/>
            </p:nvSpPr>
            <p:spPr bwMode="auto">
              <a:xfrm>
                <a:off x="281" y="0"/>
                <a:ext cx="288" cy="274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5" name="Oval 91"/>
              <p:cNvSpPr>
                <a:spLocks noChangeArrowheads="1"/>
              </p:cNvSpPr>
              <p:nvPr/>
            </p:nvSpPr>
            <p:spPr bwMode="auto">
              <a:xfrm>
                <a:off x="576" y="123"/>
                <a:ext cx="66" cy="57"/>
              </a:xfrm>
              <a:prstGeom prst="ellipse">
                <a:avLst/>
              </a:prstGeom>
              <a:solidFill>
                <a:srgbClr val="333399"/>
              </a:solidFill>
              <a:ln w="12700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8" name="Group 462"/>
            <p:cNvGrpSpPr/>
            <p:nvPr/>
          </p:nvGrpSpPr>
          <p:grpSpPr>
            <a:xfrm>
              <a:off x="4149" y="2903"/>
              <a:ext cx="795" cy="363"/>
              <a:chOff x="0" y="0"/>
              <a:chExt cx="795" cy="363"/>
            </a:xfrm>
          </p:grpSpPr>
          <p:sp>
            <p:nvSpPr>
              <p:cNvPr id="26715" name="Line 374"/>
              <p:cNvSpPr>
                <a:spLocks noChangeShapeType="1"/>
              </p:cNvSpPr>
              <p:nvPr/>
            </p:nvSpPr>
            <p:spPr bwMode="auto">
              <a:xfrm flipV="1">
                <a:off x="596" y="171"/>
                <a:ext cx="199" cy="1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16" name="AutoShape 372"/>
              <p:cNvSpPr>
                <a:spLocks noChangeArrowheads="1"/>
              </p:cNvSpPr>
              <p:nvPr/>
            </p:nvSpPr>
            <p:spPr bwMode="auto">
              <a:xfrm>
                <a:off x="235" y="28"/>
                <a:ext cx="318" cy="308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17" name="Oval 373"/>
              <p:cNvSpPr>
                <a:spLocks noChangeArrowheads="1"/>
              </p:cNvSpPr>
              <p:nvPr/>
            </p:nvSpPr>
            <p:spPr bwMode="auto">
              <a:xfrm>
                <a:off x="553" y="148"/>
                <a:ext cx="47" cy="47"/>
              </a:xfrm>
              <a:prstGeom prst="ellipse">
                <a:avLst/>
              </a:prstGeom>
              <a:solidFill>
                <a:srgbClr val="333399"/>
              </a:solidFill>
              <a:ln w="12700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812" name="AutoShape 378"/>
              <p:cNvSpPr/>
              <p:nvPr/>
            </p:nvSpPr>
            <p:spPr>
              <a:xfrm rot="10774188">
                <a:off x="177" y="0"/>
                <a:ext cx="98" cy="360"/>
              </a:xfrm>
              <a:prstGeom prst="moon">
                <a:avLst>
                  <a:gd name="adj" fmla="val 50000"/>
                </a:avLst>
              </a:prstGeom>
              <a:solidFill>
                <a:srgbClr val="000066"/>
              </a:solidFill>
              <a:ln w="9525" cap="flat" cmpd="sng">
                <a:solidFill>
                  <a:srgbClr val="0014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6719" name="Line 379"/>
              <p:cNvSpPr>
                <a:spLocks noChangeShapeType="1"/>
              </p:cNvSpPr>
              <p:nvPr/>
            </p:nvSpPr>
            <p:spPr bwMode="auto">
              <a:xfrm>
                <a:off x="0" y="112"/>
                <a:ext cx="26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0" name="Line 381"/>
              <p:cNvSpPr>
                <a:spLocks noChangeShapeType="1"/>
              </p:cNvSpPr>
              <p:nvPr/>
            </p:nvSpPr>
            <p:spPr bwMode="auto">
              <a:xfrm>
                <a:off x="5" y="241"/>
                <a:ext cx="26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9" name="Group 461"/>
            <p:cNvGrpSpPr/>
            <p:nvPr/>
          </p:nvGrpSpPr>
          <p:grpSpPr>
            <a:xfrm>
              <a:off x="4166" y="2038"/>
              <a:ext cx="778" cy="384"/>
              <a:chOff x="0" y="0"/>
              <a:chExt cx="778" cy="384"/>
            </a:xfrm>
          </p:grpSpPr>
          <p:sp>
            <p:nvSpPr>
              <p:cNvPr id="26710" name="Line 389"/>
              <p:cNvSpPr>
                <a:spLocks noChangeShapeType="1"/>
              </p:cNvSpPr>
              <p:nvPr/>
            </p:nvSpPr>
            <p:spPr bwMode="auto">
              <a:xfrm flipV="1">
                <a:off x="536" y="192"/>
                <a:ext cx="23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11" name="AutoShape 390"/>
              <p:cNvSpPr>
                <a:spLocks noChangeArrowheads="1"/>
              </p:cNvSpPr>
              <p:nvPr/>
            </p:nvSpPr>
            <p:spPr bwMode="auto">
              <a:xfrm>
                <a:off x="218" y="37"/>
                <a:ext cx="322" cy="321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806" name="AutoShape 392"/>
              <p:cNvSpPr/>
              <p:nvPr/>
            </p:nvSpPr>
            <p:spPr>
              <a:xfrm rot="10774188">
                <a:off x="152" y="-2"/>
                <a:ext cx="118" cy="386"/>
              </a:xfrm>
              <a:prstGeom prst="moon">
                <a:avLst>
                  <a:gd name="adj" fmla="val 50000"/>
                </a:avLst>
              </a:prstGeom>
              <a:solidFill>
                <a:srgbClr val="000066"/>
              </a:solidFill>
              <a:ln w="9525" cap="flat" cmpd="sng">
                <a:solidFill>
                  <a:srgbClr val="0014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6713" name="Line 393"/>
              <p:cNvSpPr>
                <a:spLocks noChangeShapeType="1"/>
              </p:cNvSpPr>
              <p:nvPr/>
            </p:nvSpPr>
            <p:spPr bwMode="auto">
              <a:xfrm>
                <a:off x="0" y="122"/>
                <a:ext cx="26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14" name="Line 394"/>
              <p:cNvSpPr>
                <a:spLocks noChangeShapeType="1"/>
              </p:cNvSpPr>
              <p:nvPr/>
            </p:nvSpPr>
            <p:spPr bwMode="auto">
              <a:xfrm>
                <a:off x="8" y="260"/>
                <a:ext cx="26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80" name="Group 463"/>
            <p:cNvGrpSpPr/>
            <p:nvPr/>
          </p:nvGrpSpPr>
          <p:grpSpPr>
            <a:xfrm>
              <a:off x="3913" y="3363"/>
              <a:ext cx="1204" cy="432"/>
              <a:chOff x="0" y="0"/>
              <a:chExt cx="1204" cy="432"/>
            </a:xfrm>
          </p:grpSpPr>
          <p:sp>
            <p:nvSpPr>
              <p:cNvPr id="26694" name="Line 406"/>
              <p:cNvSpPr>
                <a:spLocks noChangeShapeType="1"/>
              </p:cNvSpPr>
              <p:nvPr/>
            </p:nvSpPr>
            <p:spPr bwMode="auto">
              <a:xfrm flipV="1">
                <a:off x="1025" y="214"/>
                <a:ext cx="179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695" name="AutoShape 407"/>
              <p:cNvSpPr>
                <a:spLocks noChangeArrowheads="1"/>
              </p:cNvSpPr>
              <p:nvPr/>
            </p:nvSpPr>
            <p:spPr bwMode="auto">
              <a:xfrm>
                <a:off x="700" y="112"/>
                <a:ext cx="287" cy="216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696" name="Oval 408"/>
              <p:cNvSpPr>
                <a:spLocks noChangeArrowheads="1"/>
              </p:cNvSpPr>
              <p:nvPr/>
            </p:nvSpPr>
            <p:spPr bwMode="auto">
              <a:xfrm>
                <a:off x="985" y="192"/>
                <a:ext cx="45" cy="47"/>
              </a:xfrm>
              <a:prstGeom prst="ellipse">
                <a:avLst/>
              </a:prstGeom>
              <a:solidFill>
                <a:srgbClr val="333399"/>
              </a:solidFill>
              <a:ln w="12700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791" name="AutoShape 409"/>
              <p:cNvSpPr/>
              <p:nvPr/>
            </p:nvSpPr>
            <p:spPr>
              <a:xfrm rot="10774188">
                <a:off x="645" y="94"/>
                <a:ext cx="86" cy="253"/>
              </a:xfrm>
              <a:prstGeom prst="moon">
                <a:avLst>
                  <a:gd name="adj" fmla="val 50000"/>
                </a:avLst>
              </a:prstGeom>
              <a:solidFill>
                <a:srgbClr val="000066"/>
              </a:solidFill>
              <a:ln w="9525" cap="flat" cmpd="sng">
                <a:solidFill>
                  <a:srgbClr val="0014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6698" name="Line 410"/>
              <p:cNvSpPr>
                <a:spLocks noChangeShapeType="1"/>
              </p:cNvSpPr>
              <p:nvPr/>
            </p:nvSpPr>
            <p:spPr bwMode="auto">
              <a:xfrm>
                <a:off x="623" y="158"/>
                <a:ext cx="11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699" name="Line 411"/>
              <p:cNvSpPr>
                <a:spLocks noChangeShapeType="1"/>
              </p:cNvSpPr>
              <p:nvPr/>
            </p:nvSpPr>
            <p:spPr bwMode="auto">
              <a:xfrm>
                <a:off x="624" y="272"/>
                <a:ext cx="11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0" name="Line 413"/>
              <p:cNvSpPr>
                <a:spLocks noChangeShapeType="1"/>
              </p:cNvSpPr>
              <p:nvPr/>
            </p:nvSpPr>
            <p:spPr bwMode="auto">
              <a:xfrm>
                <a:off x="4" y="140"/>
                <a:ext cx="249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1" name="Line 415"/>
              <p:cNvSpPr>
                <a:spLocks noChangeShapeType="1"/>
              </p:cNvSpPr>
              <p:nvPr/>
            </p:nvSpPr>
            <p:spPr bwMode="auto">
              <a:xfrm>
                <a:off x="0" y="55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2" name="AutoShape 416"/>
              <p:cNvSpPr>
                <a:spLocks noChangeArrowheads="1"/>
              </p:cNvSpPr>
              <p:nvPr/>
            </p:nvSpPr>
            <p:spPr bwMode="auto">
              <a:xfrm>
                <a:off x="253" y="-2"/>
                <a:ext cx="258" cy="194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3" name="Line 418"/>
              <p:cNvSpPr>
                <a:spLocks noChangeShapeType="1"/>
              </p:cNvSpPr>
              <p:nvPr/>
            </p:nvSpPr>
            <p:spPr bwMode="auto">
              <a:xfrm>
                <a:off x="4" y="377"/>
                <a:ext cx="249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4" name="Line 419"/>
              <p:cNvSpPr>
                <a:spLocks noChangeShapeType="1"/>
              </p:cNvSpPr>
              <p:nvPr/>
            </p:nvSpPr>
            <p:spPr bwMode="auto">
              <a:xfrm>
                <a:off x="511" y="338"/>
                <a:ext cx="11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5" name="Line 420"/>
              <p:cNvSpPr>
                <a:spLocks noChangeShapeType="1"/>
              </p:cNvSpPr>
              <p:nvPr/>
            </p:nvSpPr>
            <p:spPr bwMode="auto">
              <a:xfrm>
                <a:off x="0" y="296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6" name="AutoShape 421"/>
              <p:cNvSpPr>
                <a:spLocks noChangeArrowheads="1"/>
              </p:cNvSpPr>
              <p:nvPr/>
            </p:nvSpPr>
            <p:spPr bwMode="auto">
              <a:xfrm>
                <a:off x="253" y="239"/>
                <a:ext cx="258" cy="193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7" name="Line 422"/>
              <p:cNvSpPr>
                <a:spLocks noChangeShapeType="1"/>
              </p:cNvSpPr>
              <p:nvPr/>
            </p:nvSpPr>
            <p:spPr bwMode="auto">
              <a:xfrm>
                <a:off x="510" y="95"/>
                <a:ext cx="11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8" name="Line 423"/>
              <p:cNvSpPr>
                <a:spLocks noChangeShapeType="1"/>
              </p:cNvSpPr>
              <p:nvPr/>
            </p:nvSpPr>
            <p:spPr bwMode="auto">
              <a:xfrm>
                <a:off x="624" y="95"/>
                <a:ext cx="0" cy="69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9" name="Line 424"/>
              <p:cNvSpPr>
                <a:spLocks noChangeShapeType="1"/>
              </p:cNvSpPr>
              <p:nvPr/>
            </p:nvSpPr>
            <p:spPr bwMode="auto">
              <a:xfrm>
                <a:off x="624" y="272"/>
                <a:ext cx="0" cy="6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81" name="Group 464"/>
            <p:cNvGrpSpPr/>
            <p:nvPr/>
          </p:nvGrpSpPr>
          <p:grpSpPr>
            <a:xfrm>
              <a:off x="4176" y="3865"/>
              <a:ext cx="778" cy="384"/>
              <a:chOff x="0" y="0"/>
              <a:chExt cx="778" cy="384"/>
            </a:xfrm>
          </p:grpSpPr>
          <p:sp>
            <p:nvSpPr>
              <p:cNvPr id="26688" name="Line 440"/>
              <p:cNvSpPr>
                <a:spLocks noChangeShapeType="1"/>
              </p:cNvSpPr>
              <p:nvPr/>
            </p:nvSpPr>
            <p:spPr bwMode="auto">
              <a:xfrm flipV="1">
                <a:off x="538" y="19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689" name="AutoShape 441"/>
              <p:cNvSpPr>
                <a:spLocks noChangeArrowheads="1"/>
              </p:cNvSpPr>
              <p:nvPr/>
            </p:nvSpPr>
            <p:spPr bwMode="auto">
              <a:xfrm>
                <a:off x="218" y="37"/>
                <a:ext cx="322" cy="321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784" name="AutoShape 442"/>
              <p:cNvSpPr/>
              <p:nvPr/>
            </p:nvSpPr>
            <p:spPr>
              <a:xfrm rot="10774188">
                <a:off x="152" y="0"/>
                <a:ext cx="118" cy="384"/>
              </a:xfrm>
              <a:prstGeom prst="moon">
                <a:avLst>
                  <a:gd name="adj" fmla="val 50000"/>
                </a:avLst>
              </a:prstGeom>
              <a:solidFill>
                <a:srgbClr val="000066"/>
              </a:solidFill>
              <a:ln w="9525" cap="flat" cmpd="sng">
                <a:solidFill>
                  <a:srgbClr val="0014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wrap="none" anchor="ctr"/>
              <a:lstStyle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6691" name="Line 443"/>
              <p:cNvSpPr>
                <a:spLocks noChangeShapeType="1"/>
              </p:cNvSpPr>
              <p:nvPr/>
            </p:nvSpPr>
            <p:spPr bwMode="auto">
              <a:xfrm>
                <a:off x="0" y="122"/>
                <a:ext cx="26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692" name="Line 444"/>
              <p:cNvSpPr>
                <a:spLocks noChangeShapeType="1"/>
              </p:cNvSpPr>
              <p:nvPr/>
            </p:nvSpPr>
            <p:spPr bwMode="auto">
              <a:xfrm>
                <a:off x="8" y="260"/>
                <a:ext cx="26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787" name="Freeform 445"/>
              <p:cNvSpPr>
                <a:spLocks noChangeAspect="1"/>
              </p:cNvSpPr>
              <p:nvPr/>
            </p:nvSpPr>
            <p:spPr>
              <a:xfrm>
                <a:off x="142" y="37"/>
                <a:ext cx="54" cy="3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192" h="1152">
                    <a:moveTo>
                      <a:pt x="0" y="0"/>
                    </a:moveTo>
                    <a:cubicBezTo>
                      <a:pt x="56" y="72"/>
                      <a:pt x="112" y="144"/>
                      <a:pt x="144" y="240"/>
                    </a:cubicBezTo>
                    <a:cubicBezTo>
                      <a:pt x="176" y="336"/>
                      <a:pt x="192" y="464"/>
                      <a:pt x="192" y="576"/>
                    </a:cubicBezTo>
                    <a:cubicBezTo>
                      <a:pt x="192" y="688"/>
                      <a:pt x="176" y="816"/>
                      <a:pt x="144" y="912"/>
                    </a:cubicBezTo>
                    <a:cubicBezTo>
                      <a:pt x="112" y="1008"/>
                      <a:pt x="56" y="1080"/>
                      <a:pt x="0" y="1152"/>
                    </a:cubicBezTo>
                  </a:path>
                </a:pathLst>
              </a:custGeom>
              <a:noFill/>
              <a:ln w="9525" cap="flat" cmpd="sng">
                <a:solidFill>
                  <a:schemeClr val="bg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2627630" y="516255"/>
            <a:ext cx="6699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EC416D-69F8-4FB4-A684-5907C2984EDE}"/>
              </a:ext>
            </a:extLst>
          </p:cNvPr>
          <p:cNvSpPr txBox="1"/>
          <p:nvPr/>
        </p:nvSpPr>
        <p:spPr>
          <a:xfrm>
            <a:off x="9173" y="454035"/>
            <a:ext cx="1205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00FF"/>
                </a:solidFill>
              </a:rPr>
              <a:t>信号整形</a:t>
            </a:r>
            <a:endParaRPr lang="en-US" altLang="zh-CN" sz="1400" dirty="0">
              <a:solidFill>
                <a:srgbClr val="0000FF"/>
              </a:solidFill>
            </a:endParaRPr>
          </a:p>
          <a:p>
            <a:r>
              <a:rPr lang="zh-CN" altLang="en-US" sz="1400" dirty="0">
                <a:solidFill>
                  <a:srgbClr val="0000FF"/>
                </a:solidFill>
              </a:rPr>
              <a:t>信号延迟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  <p:bldP spid="5" grpId="0"/>
      <p:bldP spid="5" grpId="1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383" b="14699"/>
          <a:stretch>
            <a:fillRect/>
          </a:stretch>
        </p:blipFill>
        <p:spPr>
          <a:xfrm>
            <a:off x="251520" y="1275606"/>
            <a:ext cx="8679180" cy="21761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BA8D179-7137-474B-A2DD-A76BBE052B6D}"/>
              </a:ext>
            </a:extLst>
          </p:cNvPr>
          <p:cNvSpPr txBox="1"/>
          <p:nvPr/>
        </p:nvSpPr>
        <p:spPr>
          <a:xfrm>
            <a:off x="2915816" y="699542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三态门符号（三态缓冲器</a:t>
            </a:r>
            <a:r>
              <a:rPr lang="en-US" altLang="zh-CN" dirty="0">
                <a:solidFill>
                  <a:srgbClr val="0000FF"/>
                </a:solidFill>
              </a:rPr>
              <a:t>/</a:t>
            </a:r>
            <a:r>
              <a:rPr lang="zh-CN" altLang="en-US" dirty="0">
                <a:solidFill>
                  <a:srgbClr val="0000FF"/>
                </a:solidFill>
              </a:rPr>
              <a:t>驱动器）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/>
          <p:cNvSpPr>
            <a:spLocks noGrp="1"/>
          </p:cNvSpPr>
          <p:nvPr>
            <p:ph type="title"/>
          </p:nvPr>
        </p:nvSpPr>
        <p:spPr>
          <a:xfrm>
            <a:off x="682625" y="698500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逻辑门的等效符号</a:t>
            </a:r>
          </a:p>
        </p:txBody>
      </p:sp>
      <p:graphicFrame>
        <p:nvGraphicFramePr>
          <p:cNvPr id="91303" name="Group 167"/>
          <p:cNvGraphicFramePr>
            <a:graphicFrameLocks noGrp="1"/>
          </p:cNvGraphicFramePr>
          <p:nvPr/>
        </p:nvGraphicFramePr>
        <p:xfrm>
          <a:off x="763588" y="1122363"/>
          <a:ext cx="6872287" cy="3800477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9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1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电路名称</a:t>
                      </a: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原符号</a:t>
                      </a: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等效符号</a:t>
                      </a: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跟随器</a:t>
                      </a: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非   门</a:t>
                      </a: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与   门</a:t>
                      </a: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   门</a:t>
                      </a: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4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与非门</a:t>
                      </a: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436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或非门</a:t>
                      </a: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1783" name="Group 171"/>
          <p:cNvGrpSpPr/>
          <p:nvPr/>
        </p:nvGrpSpPr>
        <p:grpSpPr>
          <a:xfrm>
            <a:off x="3062288" y="1603375"/>
            <a:ext cx="1227137" cy="458788"/>
            <a:chOff x="2064" y="864"/>
            <a:chExt cx="964" cy="475"/>
          </a:xfrm>
        </p:grpSpPr>
        <p:sp>
          <p:nvSpPr>
            <p:cNvPr id="31891" name="Rectangle 39"/>
            <p:cNvSpPr/>
            <p:nvPr/>
          </p:nvSpPr>
          <p:spPr>
            <a:xfrm>
              <a:off x="2400" y="864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92" name="Text Box 40"/>
            <p:cNvSpPr txBox="1"/>
            <p:nvPr/>
          </p:nvSpPr>
          <p:spPr>
            <a:xfrm>
              <a:off x="2448" y="960"/>
              <a:ext cx="192" cy="3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31893" name="Line 41"/>
            <p:cNvSpPr/>
            <p:nvPr/>
          </p:nvSpPr>
          <p:spPr>
            <a:xfrm>
              <a:off x="2064" y="106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4" name="Line 42"/>
            <p:cNvSpPr/>
            <p:nvPr/>
          </p:nvSpPr>
          <p:spPr>
            <a:xfrm>
              <a:off x="2692" y="106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784" name="Group 177"/>
          <p:cNvGrpSpPr/>
          <p:nvPr/>
        </p:nvGrpSpPr>
        <p:grpSpPr>
          <a:xfrm>
            <a:off x="5694363" y="2160588"/>
            <a:ext cx="1239837" cy="371475"/>
            <a:chOff x="4084" y="1445"/>
            <a:chExt cx="1034" cy="426"/>
          </a:xfrm>
        </p:grpSpPr>
        <p:sp>
          <p:nvSpPr>
            <p:cNvPr id="31886" name="Rectangle 50"/>
            <p:cNvSpPr/>
            <p:nvPr/>
          </p:nvSpPr>
          <p:spPr>
            <a:xfrm>
              <a:off x="4494" y="1445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87" name="Text Box 51"/>
            <p:cNvSpPr txBox="1"/>
            <p:nvPr/>
          </p:nvSpPr>
          <p:spPr>
            <a:xfrm>
              <a:off x="4512" y="1452"/>
              <a:ext cx="192" cy="41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31888" name="Line 52"/>
            <p:cNvSpPr/>
            <p:nvPr/>
          </p:nvSpPr>
          <p:spPr>
            <a:xfrm>
              <a:off x="4084" y="162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89" name="Line 53"/>
            <p:cNvSpPr/>
            <p:nvPr/>
          </p:nvSpPr>
          <p:spPr>
            <a:xfrm>
              <a:off x="4782" y="162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0" name="Oval 54"/>
            <p:cNvSpPr/>
            <p:nvPr/>
          </p:nvSpPr>
          <p:spPr>
            <a:xfrm>
              <a:off x="4409" y="1584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85" name="Group 172"/>
          <p:cNvGrpSpPr/>
          <p:nvPr/>
        </p:nvGrpSpPr>
        <p:grpSpPr>
          <a:xfrm>
            <a:off x="3086100" y="2141538"/>
            <a:ext cx="1316038" cy="419100"/>
            <a:chOff x="2079" y="1436"/>
            <a:chExt cx="1034" cy="435"/>
          </a:xfrm>
        </p:grpSpPr>
        <p:sp>
          <p:nvSpPr>
            <p:cNvPr id="31881" name="Rectangle 56"/>
            <p:cNvSpPr/>
            <p:nvPr/>
          </p:nvSpPr>
          <p:spPr>
            <a:xfrm>
              <a:off x="2419" y="1436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82" name="Text Box 57"/>
            <p:cNvSpPr txBox="1"/>
            <p:nvPr/>
          </p:nvSpPr>
          <p:spPr>
            <a:xfrm>
              <a:off x="2448" y="1488"/>
              <a:ext cx="192" cy="38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31883" name="Line 58"/>
            <p:cNvSpPr/>
            <p:nvPr/>
          </p:nvSpPr>
          <p:spPr>
            <a:xfrm>
              <a:off x="2079" y="162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84" name="Line 59"/>
            <p:cNvSpPr/>
            <p:nvPr/>
          </p:nvSpPr>
          <p:spPr>
            <a:xfrm>
              <a:off x="2777" y="162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85" name="Oval 60"/>
            <p:cNvSpPr/>
            <p:nvPr/>
          </p:nvSpPr>
          <p:spPr>
            <a:xfrm>
              <a:off x="2707" y="1584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86" name="Group 173"/>
          <p:cNvGrpSpPr/>
          <p:nvPr/>
        </p:nvGrpSpPr>
        <p:grpSpPr>
          <a:xfrm>
            <a:off x="3086100" y="2667000"/>
            <a:ext cx="1227138" cy="438150"/>
            <a:chOff x="2079" y="1998"/>
            <a:chExt cx="964" cy="455"/>
          </a:xfrm>
        </p:grpSpPr>
        <p:sp>
          <p:nvSpPr>
            <p:cNvPr id="31876" name="Rectangle 62"/>
            <p:cNvSpPr/>
            <p:nvPr/>
          </p:nvSpPr>
          <p:spPr>
            <a:xfrm>
              <a:off x="2415" y="199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77" name="Text Box 63"/>
            <p:cNvSpPr txBox="1"/>
            <p:nvPr/>
          </p:nvSpPr>
          <p:spPr>
            <a:xfrm>
              <a:off x="2452" y="2073"/>
              <a:ext cx="284" cy="38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31878" name="Line 64"/>
            <p:cNvSpPr/>
            <p:nvPr/>
          </p:nvSpPr>
          <p:spPr>
            <a:xfrm>
              <a:off x="2079" y="211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9" name="Line 65"/>
            <p:cNvSpPr/>
            <p:nvPr/>
          </p:nvSpPr>
          <p:spPr>
            <a:xfrm>
              <a:off x="2707" y="218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80" name="Line 66"/>
            <p:cNvSpPr/>
            <p:nvPr/>
          </p:nvSpPr>
          <p:spPr>
            <a:xfrm>
              <a:off x="2079" y="225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787" name="Group 182"/>
          <p:cNvGrpSpPr/>
          <p:nvPr/>
        </p:nvGrpSpPr>
        <p:grpSpPr>
          <a:xfrm>
            <a:off x="3086100" y="3879850"/>
            <a:ext cx="1330325" cy="417513"/>
            <a:chOff x="2079" y="3138"/>
            <a:chExt cx="1045" cy="434"/>
          </a:xfrm>
        </p:grpSpPr>
        <p:sp>
          <p:nvSpPr>
            <p:cNvPr id="31870" name="Rectangle 68"/>
            <p:cNvSpPr/>
            <p:nvPr/>
          </p:nvSpPr>
          <p:spPr>
            <a:xfrm>
              <a:off x="2415" y="313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71" name="Text Box 69"/>
            <p:cNvSpPr txBox="1"/>
            <p:nvPr/>
          </p:nvSpPr>
          <p:spPr>
            <a:xfrm>
              <a:off x="2434" y="3189"/>
              <a:ext cx="284" cy="38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31872" name="Line 70"/>
            <p:cNvSpPr/>
            <p:nvPr/>
          </p:nvSpPr>
          <p:spPr>
            <a:xfrm>
              <a:off x="2079" y="325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3" name="Line 71"/>
            <p:cNvSpPr/>
            <p:nvPr/>
          </p:nvSpPr>
          <p:spPr>
            <a:xfrm>
              <a:off x="2788" y="332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4" name="Line 72"/>
            <p:cNvSpPr/>
            <p:nvPr/>
          </p:nvSpPr>
          <p:spPr>
            <a:xfrm>
              <a:off x="2079" y="339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5" name="Oval 73"/>
            <p:cNvSpPr/>
            <p:nvPr/>
          </p:nvSpPr>
          <p:spPr>
            <a:xfrm>
              <a:off x="2707" y="3301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88" name="Group 175"/>
          <p:cNvGrpSpPr/>
          <p:nvPr/>
        </p:nvGrpSpPr>
        <p:grpSpPr>
          <a:xfrm>
            <a:off x="3092450" y="4422775"/>
            <a:ext cx="1330325" cy="368300"/>
            <a:chOff x="2083" y="3714"/>
            <a:chExt cx="1045" cy="384"/>
          </a:xfrm>
        </p:grpSpPr>
        <p:sp>
          <p:nvSpPr>
            <p:cNvPr id="31864" name="Rectangle 75"/>
            <p:cNvSpPr/>
            <p:nvPr/>
          </p:nvSpPr>
          <p:spPr>
            <a:xfrm>
              <a:off x="2419" y="3714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65" name="Text Box 76"/>
            <p:cNvSpPr txBox="1"/>
            <p:nvPr/>
          </p:nvSpPr>
          <p:spPr>
            <a:xfrm>
              <a:off x="2372" y="3716"/>
              <a:ext cx="394" cy="35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31866" name="Line 77"/>
            <p:cNvSpPr/>
            <p:nvPr/>
          </p:nvSpPr>
          <p:spPr>
            <a:xfrm>
              <a:off x="2083" y="382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7" name="Line 78"/>
            <p:cNvSpPr/>
            <p:nvPr/>
          </p:nvSpPr>
          <p:spPr>
            <a:xfrm>
              <a:off x="2792" y="390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8" name="Line 79"/>
            <p:cNvSpPr/>
            <p:nvPr/>
          </p:nvSpPr>
          <p:spPr>
            <a:xfrm>
              <a:off x="2083" y="397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9" name="Oval 80"/>
            <p:cNvSpPr/>
            <p:nvPr/>
          </p:nvSpPr>
          <p:spPr>
            <a:xfrm>
              <a:off x="2711" y="3877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89" name="Group 174"/>
          <p:cNvGrpSpPr/>
          <p:nvPr/>
        </p:nvGrpSpPr>
        <p:grpSpPr>
          <a:xfrm>
            <a:off x="3086100" y="3265488"/>
            <a:ext cx="1222375" cy="371475"/>
            <a:chOff x="2079" y="2562"/>
            <a:chExt cx="960" cy="384"/>
          </a:xfrm>
        </p:grpSpPr>
        <p:sp>
          <p:nvSpPr>
            <p:cNvPr id="31859" name="Rectangle 82"/>
            <p:cNvSpPr/>
            <p:nvPr/>
          </p:nvSpPr>
          <p:spPr>
            <a:xfrm>
              <a:off x="2415" y="2562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60" name="Text Box 83"/>
            <p:cNvSpPr txBox="1"/>
            <p:nvPr/>
          </p:nvSpPr>
          <p:spPr>
            <a:xfrm>
              <a:off x="2385" y="2580"/>
              <a:ext cx="385" cy="3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31861" name="Line 84"/>
            <p:cNvSpPr/>
            <p:nvPr/>
          </p:nvSpPr>
          <p:spPr>
            <a:xfrm>
              <a:off x="2079" y="267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2" name="Line 85"/>
            <p:cNvSpPr/>
            <p:nvPr/>
          </p:nvSpPr>
          <p:spPr>
            <a:xfrm>
              <a:off x="2703" y="275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3" name="Line 86"/>
            <p:cNvSpPr/>
            <p:nvPr/>
          </p:nvSpPr>
          <p:spPr>
            <a:xfrm>
              <a:off x="2079" y="282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790" name="Group 178"/>
          <p:cNvGrpSpPr/>
          <p:nvPr/>
        </p:nvGrpSpPr>
        <p:grpSpPr>
          <a:xfrm>
            <a:off x="5695950" y="2674938"/>
            <a:ext cx="1325563" cy="411162"/>
            <a:chOff x="4084" y="2008"/>
            <a:chExt cx="1104" cy="472"/>
          </a:xfrm>
        </p:grpSpPr>
        <p:sp>
          <p:nvSpPr>
            <p:cNvPr id="31849" name="Rectangle 88"/>
            <p:cNvSpPr/>
            <p:nvPr/>
          </p:nvSpPr>
          <p:spPr>
            <a:xfrm>
              <a:off x="4490" y="200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50" name="Text Box 89"/>
            <p:cNvSpPr txBox="1"/>
            <p:nvPr/>
          </p:nvSpPr>
          <p:spPr>
            <a:xfrm>
              <a:off x="4472" y="2092"/>
              <a:ext cx="376" cy="3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</a:t>
              </a:r>
            </a:p>
          </p:txBody>
        </p:sp>
        <p:sp>
          <p:nvSpPr>
            <p:cNvPr id="31851" name="Line 90"/>
            <p:cNvSpPr/>
            <p:nvPr/>
          </p:nvSpPr>
          <p:spPr>
            <a:xfrm>
              <a:off x="4852" y="219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2" name="Oval 91"/>
            <p:cNvSpPr/>
            <p:nvPr/>
          </p:nvSpPr>
          <p:spPr>
            <a:xfrm>
              <a:off x="4782" y="2156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1853" name="Group 92"/>
            <p:cNvGrpSpPr/>
            <p:nvPr/>
          </p:nvGrpSpPr>
          <p:grpSpPr>
            <a:xfrm>
              <a:off x="4084" y="2086"/>
              <a:ext cx="398" cy="73"/>
              <a:chOff x="3840" y="2086"/>
              <a:chExt cx="398" cy="73"/>
            </a:xfrm>
          </p:grpSpPr>
          <p:sp>
            <p:nvSpPr>
              <p:cNvPr id="31857" name="Line 93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58" name="Oval 94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54" name="Group 95"/>
            <p:cNvGrpSpPr/>
            <p:nvPr/>
          </p:nvGrpSpPr>
          <p:grpSpPr>
            <a:xfrm>
              <a:off x="4084" y="2256"/>
              <a:ext cx="398" cy="73"/>
              <a:chOff x="3840" y="2086"/>
              <a:chExt cx="398" cy="73"/>
            </a:xfrm>
          </p:grpSpPr>
          <p:sp>
            <p:nvSpPr>
              <p:cNvPr id="31855" name="Line 96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56" name="Oval 97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1791" name="Group 179"/>
          <p:cNvGrpSpPr/>
          <p:nvPr/>
        </p:nvGrpSpPr>
        <p:grpSpPr>
          <a:xfrm>
            <a:off x="5689600" y="3311525"/>
            <a:ext cx="1325563" cy="411163"/>
            <a:chOff x="4084" y="2562"/>
            <a:chExt cx="1104" cy="471"/>
          </a:xfrm>
        </p:grpSpPr>
        <p:sp>
          <p:nvSpPr>
            <p:cNvPr id="31839" name="Rectangle 99"/>
            <p:cNvSpPr/>
            <p:nvPr/>
          </p:nvSpPr>
          <p:spPr>
            <a:xfrm>
              <a:off x="4490" y="2562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40" name="Text Box 100"/>
            <p:cNvSpPr txBox="1"/>
            <p:nvPr/>
          </p:nvSpPr>
          <p:spPr>
            <a:xfrm>
              <a:off x="4512" y="2614"/>
              <a:ext cx="376" cy="41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31841" name="Line 101"/>
            <p:cNvSpPr/>
            <p:nvPr/>
          </p:nvSpPr>
          <p:spPr>
            <a:xfrm>
              <a:off x="4852" y="275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2" name="Oval 102"/>
            <p:cNvSpPr/>
            <p:nvPr/>
          </p:nvSpPr>
          <p:spPr>
            <a:xfrm>
              <a:off x="4782" y="2710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1843" name="Group 103"/>
            <p:cNvGrpSpPr/>
            <p:nvPr/>
          </p:nvGrpSpPr>
          <p:grpSpPr>
            <a:xfrm>
              <a:off x="4084" y="2640"/>
              <a:ext cx="398" cy="73"/>
              <a:chOff x="3840" y="2086"/>
              <a:chExt cx="398" cy="73"/>
            </a:xfrm>
          </p:grpSpPr>
          <p:sp>
            <p:nvSpPr>
              <p:cNvPr id="31847" name="Line 104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48" name="Oval 105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44" name="Group 106"/>
            <p:cNvGrpSpPr/>
            <p:nvPr/>
          </p:nvGrpSpPr>
          <p:grpSpPr>
            <a:xfrm>
              <a:off x="4084" y="2810"/>
              <a:ext cx="398" cy="73"/>
              <a:chOff x="3840" y="2086"/>
              <a:chExt cx="398" cy="73"/>
            </a:xfrm>
          </p:grpSpPr>
          <p:sp>
            <p:nvSpPr>
              <p:cNvPr id="31845" name="Line 107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46" name="Oval 108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1792" name="Group 180"/>
          <p:cNvGrpSpPr/>
          <p:nvPr/>
        </p:nvGrpSpPr>
        <p:grpSpPr>
          <a:xfrm>
            <a:off x="5694363" y="3868738"/>
            <a:ext cx="1239837" cy="341312"/>
            <a:chOff x="4084" y="3128"/>
            <a:chExt cx="1034" cy="394"/>
          </a:xfrm>
        </p:grpSpPr>
        <p:sp>
          <p:nvSpPr>
            <p:cNvPr id="31830" name="Rectangle 109"/>
            <p:cNvSpPr/>
            <p:nvPr/>
          </p:nvSpPr>
          <p:spPr>
            <a:xfrm>
              <a:off x="4490" y="313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31" name="Text Box 110"/>
            <p:cNvSpPr txBox="1"/>
            <p:nvPr/>
          </p:nvSpPr>
          <p:spPr>
            <a:xfrm>
              <a:off x="4435" y="3128"/>
              <a:ext cx="450" cy="39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31832" name="Line 111"/>
            <p:cNvSpPr/>
            <p:nvPr/>
          </p:nvSpPr>
          <p:spPr>
            <a:xfrm>
              <a:off x="4782" y="332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833" name="Group 112"/>
            <p:cNvGrpSpPr/>
            <p:nvPr/>
          </p:nvGrpSpPr>
          <p:grpSpPr>
            <a:xfrm>
              <a:off x="4084" y="3216"/>
              <a:ext cx="398" cy="73"/>
              <a:chOff x="3840" y="2086"/>
              <a:chExt cx="398" cy="73"/>
            </a:xfrm>
          </p:grpSpPr>
          <p:sp>
            <p:nvSpPr>
              <p:cNvPr id="31837" name="Line 113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38" name="Oval 114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34" name="Group 115"/>
            <p:cNvGrpSpPr/>
            <p:nvPr/>
          </p:nvGrpSpPr>
          <p:grpSpPr>
            <a:xfrm>
              <a:off x="4084" y="3386"/>
              <a:ext cx="398" cy="73"/>
              <a:chOff x="3840" y="2086"/>
              <a:chExt cx="398" cy="73"/>
            </a:xfrm>
          </p:grpSpPr>
          <p:sp>
            <p:nvSpPr>
              <p:cNvPr id="31835" name="Line 116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36" name="Oval 117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1793" name="Group 181"/>
          <p:cNvGrpSpPr/>
          <p:nvPr/>
        </p:nvGrpSpPr>
        <p:grpSpPr>
          <a:xfrm>
            <a:off x="5694363" y="4487863"/>
            <a:ext cx="1239837" cy="373062"/>
            <a:chOff x="4084" y="3710"/>
            <a:chExt cx="1034" cy="427"/>
          </a:xfrm>
        </p:grpSpPr>
        <p:sp>
          <p:nvSpPr>
            <p:cNvPr id="31821" name="Rectangle 118"/>
            <p:cNvSpPr/>
            <p:nvPr/>
          </p:nvSpPr>
          <p:spPr>
            <a:xfrm>
              <a:off x="4490" y="3710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22" name="Text Box 119"/>
            <p:cNvSpPr txBox="1"/>
            <p:nvPr/>
          </p:nvSpPr>
          <p:spPr>
            <a:xfrm>
              <a:off x="4520" y="3718"/>
              <a:ext cx="376" cy="41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31823" name="Line 120"/>
            <p:cNvSpPr/>
            <p:nvPr/>
          </p:nvSpPr>
          <p:spPr>
            <a:xfrm>
              <a:off x="4782" y="389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824" name="Group 121"/>
            <p:cNvGrpSpPr/>
            <p:nvPr/>
          </p:nvGrpSpPr>
          <p:grpSpPr>
            <a:xfrm>
              <a:off x="4084" y="3788"/>
              <a:ext cx="398" cy="73"/>
              <a:chOff x="3840" y="2086"/>
              <a:chExt cx="398" cy="73"/>
            </a:xfrm>
          </p:grpSpPr>
          <p:sp>
            <p:nvSpPr>
              <p:cNvPr id="31828" name="Line 122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29" name="Oval 123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25" name="Group 124"/>
            <p:cNvGrpSpPr/>
            <p:nvPr/>
          </p:nvGrpSpPr>
          <p:grpSpPr>
            <a:xfrm>
              <a:off x="4084" y="3958"/>
              <a:ext cx="398" cy="73"/>
              <a:chOff x="3840" y="2086"/>
              <a:chExt cx="398" cy="73"/>
            </a:xfrm>
          </p:grpSpPr>
          <p:sp>
            <p:nvSpPr>
              <p:cNvPr id="31826" name="Line 125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27" name="Oval 126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1794" name="Group 176"/>
          <p:cNvGrpSpPr/>
          <p:nvPr/>
        </p:nvGrpSpPr>
        <p:grpSpPr>
          <a:xfrm>
            <a:off x="5688013" y="1574800"/>
            <a:ext cx="1311275" cy="369888"/>
            <a:chOff x="4084" y="849"/>
            <a:chExt cx="1093" cy="388"/>
          </a:xfrm>
        </p:grpSpPr>
        <p:sp>
          <p:nvSpPr>
            <p:cNvPr id="31815" name="Rectangle 44"/>
            <p:cNvSpPr/>
            <p:nvPr/>
          </p:nvSpPr>
          <p:spPr>
            <a:xfrm>
              <a:off x="4494" y="849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16" name="Text Box 45"/>
            <p:cNvSpPr txBox="1"/>
            <p:nvPr/>
          </p:nvSpPr>
          <p:spPr>
            <a:xfrm>
              <a:off x="4518" y="849"/>
              <a:ext cx="153" cy="3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31817" name="Line 46"/>
            <p:cNvSpPr/>
            <p:nvPr/>
          </p:nvSpPr>
          <p:spPr>
            <a:xfrm>
              <a:off x="4084" y="103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18" name="Line 47"/>
            <p:cNvSpPr/>
            <p:nvPr/>
          </p:nvSpPr>
          <p:spPr>
            <a:xfrm>
              <a:off x="4841" y="103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19" name="Oval 48"/>
            <p:cNvSpPr/>
            <p:nvPr/>
          </p:nvSpPr>
          <p:spPr>
            <a:xfrm>
              <a:off x="4409" y="997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20" name="Oval 49"/>
            <p:cNvSpPr/>
            <p:nvPr/>
          </p:nvSpPr>
          <p:spPr>
            <a:xfrm>
              <a:off x="4782" y="997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95" name="Group 178"/>
          <p:cNvGrpSpPr/>
          <p:nvPr/>
        </p:nvGrpSpPr>
        <p:grpSpPr>
          <a:xfrm>
            <a:off x="5688013" y="2670175"/>
            <a:ext cx="1325562" cy="349250"/>
            <a:chOff x="4084" y="2008"/>
            <a:chExt cx="1104" cy="401"/>
          </a:xfrm>
        </p:grpSpPr>
        <p:sp>
          <p:nvSpPr>
            <p:cNvPr id="31805" name="Rectangle 88"/>
            <p:cNvSpPr/>
            <p:nvPr/>
          </p:nvSpPr>
          <p:spPr>
            <a:xfrm>
              <a:off x="4490" y="200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06" name="Text Box 89"/>
            <p:cNvSpPr txBox="1"/>
            <p:nvPr/>
          </p:nvSpPr>
          <p:spPr>
            <a:xfrm>
              <a:off x="4442" y="2020"/>
              <a:ext cx="417" cy="38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31807" name="Line 90"/>
            <p:cNvSpPr/>
            <p:nvPr/>
          </p:nvSpPr>
          <p:spPr>
            <a:xfrm>
              <a:off x="4852" y="219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8" name="Oval 91"/>
            <p:cNvSpPr/>
            <p:nvPr/>
          </p:nvSpPr>
          <p:spPr>
            <a:xfrm>
              <a:off x="4782" y="2156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1809" name="Group 92"/>
            <p:cNvGrpSpPr/>
            <p:nvPr/>
          </p:nvGrpSpPr>
          <p:grpSpPr>
            <a:xfrm>
              <a:off x="4084" y="2086"/>
              <a:ext cx="398" cy="73"/>
              <a:chOff x="3840" y="2086"/>
              <a:chExt cx="398" cy="73"/>
            </a:xfrm>
          </p:grpSpPr>
          <p:sp>
            <p:nvSpPr>
              <p:cNvPr id="31813" name="Line 93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14" name="Oval 94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10" name="Group 95"/>
            <p:cNvGrpSpPr/>
            <p:nvPr/>
          </p:nvGrpSpPr>
          <p:grpSpPr>
            <a:xfrm>
              <a:off x="4084" y="2256"/>
              <a:ext cx="398" cy="73"/>
              <a:chOff x="3840" y="2086"/>
              <a:chExt cx="398" cy="73"/>
            </a:xfrm>
          </p:grpSpPr>
          <p:sp>
            <p:nvSpPr>
              <p:cNvPr id="31811" name="Line 96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12" name="Oval 97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1796" name="Group 179"/>
          <p:cNvGrpSpPr/>
          <p:nvPr/>
        </p:nvGrpSpPr>
        <p:grpSpPr>
          <a:xfrm>
            <a:off x="5681663" y="3306763"/>
            <a:ext cx="1325562" cy="411162"/>
            <a:chOff x="4084" y="2562"/>
            <a:chExt cx="1104" cy="471"/>
          </a:xfrm>
        </p:grpSpPr>
        <p:sp>
          <p:nvSpPr>
            <p:cNvPr id="2" name="Rectangle 99"/>
            <p:cNvSpPr/>
            <p:nvPr/>
          </p:nvSpPr>
          <p:spPr>
            <a:xfrm>
              <a:off x="4490" y="2562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" name="Text Box 100"/>
            <p:cNvSpPr txBox="1"/>
            <p:nvPr/>
          </p:nvSpPr>
          <p:spPr>
            <a:xfrm>
              <a:off x="4512" y="2614"/>
              <a:ext cx="376" cy="41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31797" name="Line 101"/>
            <p:cNvSpPr/>
            <p:nvPr/>
          </p:nvSpPr>
          <p:spPr>
            <a:xfrm>
              <a:off x="4852" y="275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8" name="Oval 102"/>
            <p:cNvSpPr/>
            <p:nvPr/>
          </p:nvSpPr>
          <p:spPr>
            <a:xfrm>
              <a:off x="4782" y="2710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1799" name="Group 103"/>
            <p:cNvGrpSpPr/>
            <p:nvPr/>
          </p:nvGrpSpPr>
          <p:grpSpPr>
            <a:xfrm>
              <a:off x="4084" y="2640"/>
              <a:ext cx="398" cy="73"/>
              <a:chOff x="3840" y="2086"/>
              <a:chExt cx="398" cy="73"/>
            </a:xfrm>
          </p:grpSpPr>
          <p:sp>
            <p:nvSpPr>
              <p:cNvPr id="31803" name="Line 104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4" name="Oval 105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00" name="Group 106"/>
            <p:cNvGrpSpPr/>
            <p:nvPr/>
          </p:nvGrpSpPr>
          <p:grpSpPr>
            <a:xfrm>
              <a:off x="4084" y="2810"/>
              <a:ext cx="398" cy="73"/>
              <a:chOff x="3840" y="2086"/>
              <a:chExt cx="398" cy="73"/>
            </a:xfrm>
          </p:grpSpPr>
          <p:sp>
            <p:nvSpPr>
              <p:cNvPr id="31801" name="Line 107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2" name="Oval 108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875780" y="1059815"/>
            <a:ext cx="6699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186555" y="601345"/>
            <a:ext cx="32632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0070C0"/>
                </a:solidFill>
              </a:rPr>
              <a:t>等效符号和原符号如何区分？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9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1000"/>
                                        <p:tgtEl>
                                          <p:spTgt spid="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3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000"/>
                                        <p:tgtEl>
                                          <p:spTgt spid="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1000"/>
                                        <p:tgtEl>
                                          <p:spTgt spid="3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3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000"/>
                                        <p:tgtEl>
                                          <p:spTgt spid="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1000"/>
                                        <p:tgtEl>
                                          <p:spTgt spid="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1000"/>
                                        <p:tgtEl>
                                          <p:spTgt spid="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1000"/>
                                        <p:tgtEl>
                                          <p:spTgt spid="3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5" grpId="0"/>
      <p:bldP spid="5" grpId="1"/>
      <p:bldP spid="4" grpId="0"/>
      <p:bldP spid="4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3"/>
          <p:cNvSpPr>
            <a:spLocks noGrp="1"/>
          </p:cNvSpPr>
          <p:nvPr>
            <p:ph type="title"/>
          </p:nvPr>
        </p:nvSpPr>
        <p:spPr>
          <a:xfrm>
            <a:off x="611188" y="663575"/>
            <a:ext cx="8496300" cy="48577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）信号名和有效级</a:t>
            </a:r>
            <a:endParaRPr lang="en-US" altLang="zh-CN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578" name="Rectangle 4"/>
          <p:cNvSpPr>
            <a:spLocks noGrp="1"/>
          </p:cNvSpPr>
          <p:nvPr>
            <p:ph idx="1"/>
          </p:nvPr>
        </p:nvSpPr>
        <p:spPr>
          <a:xfrm>
            <a:off x="660400" y="1103313"/>
            <a:ext cx="8232775" cy="3700462"/>
          </a:xfrm>
          <a:noFill/>
          <a:ln>
            <a:noFill/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（逻辑变量）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命名</a:t>
            </a:r>
          </a:p>
          <a:p>
            <a:pPr eaLnBrk="1" hangingPunct="1"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	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为了电路分析和设计，对电路的各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输入、输出信号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进行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规范化命名，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即取名最好源自信号的名称或者是它的英文缩写。如：</a:t>
            </a:r>
          </a:p>
          <a:p>
            <a:pPr eaLnBrk="1" hangingPunct="1"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</a:p>
          <a:p>
            <a:pPr eaLnBrk="1" hangingPunct="1"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	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Data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(D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  地址信号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Addr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(A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  控制信号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Cont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(C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Reset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Set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…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  检测信号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Ready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Error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…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  等待信号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Wait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…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  片选信号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CS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；使能信号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…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57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57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57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6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578">
                                            <p:txEl>
                                              <p:charRg st="6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578">
                                            <p:txEl>
                                              <p:charRg st="6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578">
                                            <p:txEl>
                                              <p:charRg st="6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37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578">
                                            <p:txEl>
                                              <p:charRg st="37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578">
                                            <p:txEl>
                                              <p:charRg st="37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578">
                                            <p:txEl>
                                              <p:charRg st="37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6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578">
                                            <p:txEl>
                                              <p:charRg st="62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578">
                                            <p:txEl>
                                              <p:charRg st="6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578">
                                            <p:txEl>
                                              <p:charRg st="6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64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578">
                                            <p:txEl>
                                              <p:charRg st="64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578">
                                            <p:txEl>
                                              <p:charRg st="64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578">
                                            <p:txEl>
                                              <p:charRg st="64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83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4578">
                                            <p:txEl>
                                              <p:charRg st="83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578">
                                            <p:txEl>
                                              <p:charRg st="83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578">
                                            <p:txEl>
                                              <p:charRg st="83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102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4578">
                                            <p:txEl>
                                              <p:charRg st="102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578">
                                            <p:txEl>
                                              <p:charRg st="102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578">
                                            <p:txEl>
                                              <p:charRg st="102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135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4578">
                                            <p:txEl>
                                              <p:charRg st="135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578">
                                            <p:txEl>
                                              <p:charRg st="135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578">
                                            <p:txEl>
                                              <p:charRg st="135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158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4578">
                                            <p:txEl>
                                              <p:charRg st="158" end="1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578">
                                            <p:txEl>
                                              <p:charRg st="158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578">
                                            <p:txEl>
                                              <p:charRg st="158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173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4578">
                                            <p:txEl>
                                              <p:charRg st="173" end="1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578">
                                            <p:txEl>
                                              <p:charRg st="173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578">
                                            <p:txEl>
                                              <p:charRg st="173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/>
          </p:cNvSpPr>
          <p:nvPr>
            <p:ph type="title"/>
          </p:nvPr>
        </p:nvSpPr>
        <p:spPr>
          <a:xfrm>
            <a:off x="309563" y="617538"/>
            <a:ext cx="7391400" cy="514350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信号的有效级	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Active levels for Signals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xfrm>
            <a:off x="755650" y="1108075"/>
            <a:ext cx="8097838" cy="1608138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控制信号、测试信号等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</a:p>
          <a:p>
            <a:pPr marL="514350" indent="-514350"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此类信号都有一个与之对应的有效级。</a:t>
            </a:r>
          </a:p>
          <a:p>
            <a:pPr marL="514350" indent="-514350"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当信号处在其有效级时，逻辑电路才能正确地执行其功能。</a:t>
            </a:r>
          </a:p>
          <a:p>
            <a:pPr marL="514350" indent="-514350" eaLnBrk="1" hangingPunct="1">
              <a:buNone/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50" name="Text Box 25"/>
          <p:cNvSpPr txBox="1"/>
          <p:nvPr/>
        </p:nvSpPr>
        <p:spPr>
          <a:xfrm>
            <a:off x="765175" y="2571750"/>
            <a:ext cx="8078788" cy="7004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514350" indent="-514350" eaLnBrk="1" hangingPunct="1">
              <a:spcBef>
                <a:spcPct val="20000"/>
              </a:spcBef>
              <a:buFont typeface="宋体" panose="02010600030101010101" pitchFamily="2" charset="-122"/>
              <a:buAutoNum type="circleNumDbPlain" startAt="2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在正逻辑规定中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，高电平与逻辑状态“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等效；</a:t>
            </a:r>
          </a:p>
          <a:p>
            <a:pPr marL="514350" indent="-51435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低电平与逻辑状态“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等效。</a:t>
            </a:r>
          </a:p>
        </p:txBody>
      </p:sp>
      <p:sp>
        <p:nvSpPr>
          <p:cNvPr id="31751" name="Text Box 26"/>
          <p:cNvSpPr txBox="1"/>
          <p:nvPr/>
        </p:nvSpPr>
        <p:spPr>
          <a:xfrm>
            <a:off x="755650" y="3535363"/>
            <a:ext cx="8293100" cy="10693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514350" indent="-514350" eaLnBrk="1" hangingPunct="1">
              <a:spcBef>
                <a:spcPct val="20000"/>
              </a:spcBef>
              <a:buFont typeface="宋体" panose="02010600030101010101" pitchFamily="2" charset="-122"/>
              <a:buAutoNum type="circleNumDbPlain" startAt="3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有效级分高有效或低有效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marL="514350" indent="-51435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高有效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：信号为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高电平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逻辑状态“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时为逻辑电路功能有效；</a:t>
            </a:r>
          </a:p>
          <a:p>
            <a:pPr marL="514350" indent="-51435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低有效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：信号为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低电平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状态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时为逻辑电路功能有效。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charRg st="12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602">
                                            <p:txEl>
                                              <p:charRg st="12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602">
                                            <p:txEl>
                                              <p:charRg st="12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602">
                                            <p:txEl>
                                              <p:charRg st="12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charRg st="3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602">
                                            <p:txEl>
                                              <p:charRg st="35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602">
                                            <p:txEl>
                                              <p:charRg st="3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602">
                                            <p:txEl>
                                              <p:charRg st="3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175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75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75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charRg st="2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1750">
                                            <p:txEl>
                                              <p:charRg st="21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750">
                                            <p:txEl>
                                              <p:charRg st="2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750">
                                            <p:txEl>
                                              <p:charRg st="2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charRg st="1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1751">
                                            <p:txEl>
                                              <p:charRg st="13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751">
                                            <p:txEl>
                                              <p:charRg st="1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751">
                                            <p:txEl>
                                              <p:charRg st="1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charRg st="4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1751">
                                            <p:txEl>
                                              <p:charRg st="43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751">
                                            <p:txEl>
                                              <p:charRg st="4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751">
                                            <p:txEl>
                                              <p:charRg st="4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/>
          </p:cNvSpPr>
          <p:nvPr>
            <p:ph type="title"/>
          </p:nvPr>
        </p:nvSpPr>
        <p:spPr>
          <a:xfrm>
            <a:off x="304800" y="544513"/>
            <a:ext cx="6715125" cy="5143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4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信号有效级的约定（即表示法） 	</a:t>
            </a:r>
          </a:p>
        </p:txBody>
      </p:sp>
      <p:sp>
        <p:nvSpPr>
          <p:cNvPr id="26626" name="Rectangle 4"/>
          <p:cNvSpPr>
            <a:spLocks noGrp="1"/>
          </p:cNvSpPr>
          <p:nvPr>
            <p:ph idx="1"/>
          </p:nvPr>
        </p:nvSpPr>
        <p:spPr>
          <a:xfrm>
            <a:off x="515620" y="916940"/>
            <a:ext cx="7657465" cy="68897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特殊符号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作为信号名的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前缀或后缀，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这些符号反映了信号的有效性，如下表所示。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</a:p>
        </p:txBody>
      </p:sp>
      <p:sp>
        <p:nvSpPr>
          <p:cNvPr id="32774" name="Text Box 16"/>
          <p:cNvSpPr txBox="1"/>
          <p:nvPr/>
        </p:nvSpPr>
        <p:spPr>
          <a:xfrm>
            <a:off x="827405" y="4400550"/>
            <a:ext cx="7345363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本书采用表中“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EN(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高有效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/EN(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低有效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的这一组表示法，特殊符号为正斜杠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/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graphicFrame>
        <p:nvGraphicFramePr>
          <p:cNvPr id="32775" name="Group 3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50925" y="1707833"/>
          <a:ext cx="6834188" cy="2575360"/>
        </p:xfrm>
        <a:graphic>
          <a:graphicData uri="http://schemas.openxmlformats.org/drawingml/2006/table">
            <a:tbl>
              <a:tblPr/>
              <a:tblGrid>
                <a:gridCol w="320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低电平有效</a:t>
                      </a:r>
                    </a:p>
                  </a:txBody>
                  <a:tcPr marL="91438" marR="91438" marT="34240" marB="3424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高电平有效</a:t>
                      </a:r>
                    </a:p>
                  </a:txBody>
                  <a:tcPr marL="91438" marR="91438" marT="34240" marB="3424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18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ACK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-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ERROR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.L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ACS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(L)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CS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*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/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RESET</a:t>
                      </a:r>
                      <a:r>
                        <a:rPr kumimoji="1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#</a:t>
                      </a:r>
                    </a:p>
                  </a:txBody>
                  <a:tcPr marL="91438" marR="91438" marT="34240" marB="3424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ACK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＋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ERROR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.H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ACS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(H)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CS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RESET</a:t>
                      </a:r>
                    </a:p>
                  </a:txBody>
                  <a:tcPr marL="91438" marR="91438" marT="34240" marB="3424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26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26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626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charRg st="42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626">
                                            <p:txEl>
                                              <p:charRg st="42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626">
                                            <p:txEl>
                                              <p:charRg st="42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626">
                                            <p:txEl>
                                              <p:charRg st="42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774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774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774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/>
          </p:cNvSpPr>
          <p:nvPr>
            <p:ph type="title"/>
          </p:nvPr>
        </p:nvSpPr>
        <p:spPr>
          <a:xfrm>
            <a:off x="236538" y="668338"/>
            <a:ext cx="8583612" cy="534987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5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信号名不能采用反变量符号，不能采用表达式（本教材约定）。</a:t>
            </a:r>
          </a:p>
        </p:txBody>
      </p:sp>
      <p:sp>
        <p:nvSpPr>
          <p:cNvPr id="27650" name="Rectangle 4"/>
          <p:cNvSpPr>
            <a:spLocks noGrp="1"/>
          </p:cNvSpPr>
          <p:nvPr>
            <p:ph idx="1"/>
          </p:nvPr>
        </p:nvSpPr>
        <p:spPr>
          <a:xfrm>
            <a:off x="756285" y="1089025"/>
            <a:ext cx="7131685" cy="118935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如下图中，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RDY 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准备好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为测试信号，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/EN 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为控制信号，</a:t>
            </a:r>
          </a:p>
          <a:p>
            <a:pPr eaLnBrk="1" hangingPunct="1">
              <a:lnSpc>
                <a:spcPct val="80000"/>
              </a:lnSpc>
              <a:buNone/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RDY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为高电平、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/EN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为低电平时，则该电路工作，即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为有效。</a:t>
            </a:r>
          </a:p>
        </p:txBody>
      </p:sp>
      <p:grpSp>
        <p:nvGrpSpPr>
          <p:cNvPr id="25604" name="Group 14"/>
          <p:cNvGrpSpPr/>
          <p:nvPr/>
        </p:nvGrpSpPr>
        <p:grpSpPr>
          <a:xfrm>
            <a:off x="2292350" y="2125980"/>
            <a:ext cx="4286885" cy="945515"/>
            <a:chOff x="1536" y="2328"/>
            <a:chExt cx="2256" cy="744"/>
          </a:xfrm>
        </p:grpSpPr>
        <p:sp>
          <p:nvSpPr>
            <p:cNvPr id="37894" name="Rectangle 6"/>
            <p:cNvSpPr/>
            <p:nvPr/>
          </p:nvSpPr>
          <p:spPr>
            <a:xfrm>
              <a:off x="2448" y="2448"/>
              <a:ext cx="768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7895" name="Line 7"/>
            <p:cNvSpPr/>
            <p:nvPr/>
          </p:nvSpPr>
          <p:spPr>
            <a:xfrm>
              <a:off x="2112" y="259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896" name="Line 8"/>
            <p:cNvSpPr/>
            <p:nvPr/>
          </p:nvSpPr>
          <p:spPr>
            <a:xfrm>
              <a:off x="2112" y="28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897" name="Line 9"/>
            <p:cNvSpPr/>
            <p:nvPr/>
          </p:nvSpPr>
          <p:spPr>
            <a:xfrm>
              <a:off x="3216" y="273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898" name="Text Box 10"/>
            <p:cNvSpPr txBox="1"/>
            <p:nvPr/>
          </p:nvSpPr>
          <p:spPr>
            <a:xfrm>
              <a:off x="1536" y="2328"/>
              <a:ext cx="528" cy="6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/EN</a:t>
              </a:r>
            </a:p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RDY</a:t>
              </a:r>
            </a:p>
          </p:txBody>
        </p:sp>
        <p:sp>
          <p:nvSpPr>
            <p:cNvPr id="37899" name="Text Box 11"/>
            <p:cNvSpPr txBox="1"/>
            <p:nvPr/>
          </p:nvSpPr>
          <p:spPr>
            <a:xfrm>
              <a:off x="3552" y="2601"/>
              <a:ext cx="240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</a:p>
          </p:txBody>
        </p:sp>
        <p:sp>
          <p:nvSpPr>
            <p:cNvPr id="37900" name="Oval 12"/>
            <p:cNvSpPr/>
            <p:nvPr/>
          </p:nvSpPr>
          <p:spPr>
            <a:xfrm>
              <a:off x="2389" y="2566"/>
              <a:ext cx="68" cy="6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7901" name="Text Box 13"/>
            <p:cNvSpPr txBox="1"/>
            <p:nvPr/>
          </p:nvSpPr>
          <p:spPr>
            <a:xfrm>
              <a:off x="2457" y="2556"/>
              <a:ext cx="711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逻辑电路</a:t>
              </a:r>
            </a:p>
          </p:txBody>
        </p:sp>
      </p:grpSp>
      <p:sp>
        <p:nvSpPr>
          <p:cNvPr id="27660" name="Rectangle 3"/>
          <p:cNvSpPr txBox="1"/>
          <p:nvPr/>
        </p:nvSpPr>
        <p:spPr>
          <a:xfrm>
            <a:off x="236538" y="3071495"/>
            <a:ext cx="8713787" cy="1908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6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）引端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（通俗一点叫引脚）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的有效级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1800" b="1" i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Active levels for pins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引端的有效级：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是指电路的输入、输出上的物理量与电路内部逻辑状态的对应关系。</a:t>
            </a: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要求：选用器件的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引端的有效级与所给信号的有效级要相匹配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。本书采用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逻辑非符号体制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”（小圆圈表示逻辑非），不采用“极性符号体制”。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530975" y="2468245"/>
            <a:ext cx="2385124" cy="398780"/>
            <a:chOff x="10628" y="3887"/>
            <a:chExt cx="3413" cy="628"/>
          </a:xfrm>
        </p:grpSpPr>
        <p:sp>
          <p:nvSpPr>
            <p:cNvPr id="2" name="Text Box 10"/>
            <p:cNvSpPr txBox="1"/>
            <p:nvPr/>
          </p:nvSpPr>
          <p:spPr>
            <a:xfrm>
              <a:off x="10628" y="3887"/>
              <a:ext cx="3413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/EN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不能用</a:t>
              </a: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标识</a:t>
              </a: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12632" y="3937"/>
              <a:ext cx="45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39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650">
                                            <p:txEl>
                                              <p:charRg st="39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650">
                                            <p:txEl>
                                              <p:charRg st="39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650">
                                            <p:txEl>
                                              <p:charRg st="39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660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660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660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charRg st="3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660">
                                            <p:txEl>
                                              <p:charRg st="33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660">
                                            <p:txEl>
                                              <p:charRg st="3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660">
                                            <p:txEl>
                                              <p:charRg st="3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charRg st="7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660">
                                            <p:txEl>
                                              <p:charRg st="71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660">
                                            <p:txEl>
                                              <p:charRg st="7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660">
                                            <p:txEl>
                                              <p:charRg st="7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214313" y="601663"/>
            <a:ext cx="8610600" cy="385762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逻辑非符号体制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在本体制下存在两级对应关系：</a:t>
            </a:r>
          </a:p>
        </p:txBody>
      </p:sp>
      <p:sp>
        <p:nvSpPr>
          <p:cNvPr id="37893" name="Rectangle 4"/>
          <p:cNvSpPr>
            <a:spLocks noGrp="1"/>
          </p:cNvSpPr>
          <p:nvPr>
            <p:ph idx="1"/>
          </p:nvPr>
        </p:nvSpPr>
        <p:spPr>
          <a:xfrm>
            <a:off x="285750" y="931863"/>
            <a:ext cx="8591550" cy="631825"/>
          </a:xfrm>
          <a:noFill/>
          <a:ln>
            <a:noFill/>
          </a:ln>
        </p:spPr>
        <p:txBody>
          <a:bodyPr/>
          <a:lstStyle/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）首先是电路的外部逻辑状态与内部逻辑状态的对应关系。</a:t>
            </a:r>
            <a:endParaRPr lang="en-US" altLang="zh-CN" sz="1800" b="1" dirty="0">
              <a:solidFill>
                <a:srgbClr val="FF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下例：所示框图中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为外部逻辑状态符号；</a:t>
            </a:r>
            <a:r>
              <a:rPr lang="zh-CN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为内部逻辑状态符号。</a:t>
            </a:r>
          </a:p>
        </p:txBody>
      </p:sp>
      <p:sp>
        <p:nvSpPr>
          <p:cNvPr id="37894" name="Rectangle 4"/>
          <p:cNvSpPr txBox="1"/>
          <p:nvPr/>
        </p:nvSpPr>
        <p:spPr>
          <a:xfrm>
            <a:off x="468313" y="1501775"/>
            <a:ext cx="7050087" cy="5905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器件框图上不带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逻辑非符号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（即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小圆圈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）的输入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、输出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的关系：若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 = f(X)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，则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 = f(a)</a:t>
            </a:r>
          </a:p>
        </p:txBody>
      </p:sp>
      <p:grpSp>
        <p:nvGrpSpPr>
          <p:cNvPr id="26629" name="Group 54"/>
          <p:cNvGrpSpPr/>
          <p:nvPr/>
        </p:nvGrpSpPr>
        <p:grpSpPr>
          <a:xfrm>
            <a:off x="684530" y="2108835"/>
            <a:ext cx="6861810" cy="968375"/>
            <a:chOff x="816" y="2400"/>
            <a:chExt cx="4224" cy="96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6695" name="Rectangle 53"/>
            <p:cNvSpPr/>
            <p:nvPr/>
          </p:nvSpPr>
          <p:spPr>
            <a:xfrm>
              <a:off x="816" y="2400"/>
              <a:ext cx="4224" cy="960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696" name="Line 12"/>
            <p:cNvSpPr/>
            <p:nvPr/>
          </p:nvSpPr>
          <p:spPr>
            <a:xfrm>
              <a:off x="1296" y="2688"/>
              <a:ext cx="0" cy="336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697" name="Line 13"/>
            <p:cNvSpPr/>
            <p:nvPr/>
          </p:nvSpPr>
          <p:spPr>
            <a:xfrm>
              <a:off x="2256" y="2688"/>
              <a:ext cx="0" cy="336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698" name="Line 14"/>
            <p:cNvSpPr/>
            <p:nvPr/>
          </p:nvSpPr>
          <p:spPr>
            <a:xfrm>
              <a:off x="1296" y="2688"/>
              <a:ext cx="38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699" name="Line 15"/>
            <p:cNvSpPr/>
            <p:nvPr/>
          </p:nvSpPr>
          <p:spPr>
            <a:xfrm>
              <a:off x="1296" y="3024"/>
              <a:ext cx="38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0" name="Line 16"/>
            <p:cNvSpPr/>
            <p:nvPr/>
          </p:nvSpPr>
          <p:spPr>
            <a:xfrm>
              <a:off x="1104" y="2832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1" name="Line 17"/>
            <p:cNvSpPr/>
            <p:nvPr/>
          </p:nvSpPr>
          <p:spPr>
            <a:xfrm>
              <a:off x="2256" y="2832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2" name="Text Box 18"/>
            <p:cNvSpPr txBox="1"/>
            <p:nvPr/>
          </p:nvSpPr>
          <p:spPr>
            <a:xfrm>
              <a:off x="912" y="2688"/>
              <a:ext cx="288" cy="363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a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3" name="Text Box 19"/>
            <p:cNvSpPr txBox="1"/>
            <p:nvPr/>
          </p:nvSpPr>
          <p:spPr>
            <a:xfrm>
              <a:off x="2448" y="2688"/>
              <a:ext cx="288" cy="363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c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4" name="Text Box 20"/>
            <p:cNvSpPr txBox="1"/>
            <p:nvPr/>
          </p:nvSpPr>
          <p:spPr>
            <a:xfrm>
              <a:off x="1290" y="2646"/>
              <a:ext cx="288" cy="363"/>
            </a:xfrm>
            <a:prstGeom prst="rect">
              <a:avLst/>
            </a:prstGeom>
            <a:noFill/>
            <a:ln w="2857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X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5" name="Text Box 21"/>
            <p:cNvSpPr txBox="1"/>
            <p:nvPr/>
          </p:nvSpPr>
          <p:spPr>
            <a:xfrm>
              <a:off x="1920" y="2688"/>
              <a:ext cx="288" cy="363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Z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6" name="Line 22"/>
            <p:cNvSpPr/>
            <p:nvPr/>
          </p:nvSpPr>
          <p:spPr>
            <a:xfrm>
              <a:off x="1872" y="3024"/>
              <a:ext cx="38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7" name="Line 23"/>
            <p:cNvSpPr/>
            <p:nvPr/>
          </p:nvSpPr>
          <p:spPr>
            <a:xfrm>
              <a:off x="1872" y="2688"/>
              <a:ext cx="38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aphicFrame>
        <p:nvGraphicFramePr>
          <p:cNvPr id="125" name="Group 111"/>
          <p:cNvGraphicFramePr>
            <a:graphicFrameLocks noGrp="1"/>
          </p:cNvGraphicFramePr>
          <p:nvPr/>
        </p:nvGraphicFramePr>
        <p:xfrm>
          <a:off x="4373563" y="2154238"/>
          <a:ext cx="990600" cy="889000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4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T="35363" marB="3536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</a:p>
                  </a:txBody>
                  <a:tcPr marT="35363" marB="3536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5363" marB="3536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5363" marB="3536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6" name="Group 112"/>
          <p:cNvGraphicFramePr>
            <a:graphicFrameLocks noGrp="1"/>
          </p:cNvGraphicFramePr>
          <p:nvPr/>
        </p:nvGraphicFramePr>
        <p:xfrm>
          <a:off x="6040438" y="2154238"/>
          <a:ext cx="969962" cy="889000"/>
        </p:xfrm>
        <a:graphic>
          <a:graphicData uri="http://schemas.openxmlformats.org/drawingml/2006/table">
            <a:tbl>
              <a:tblPr/>
              <a:tblGrid>
                <a:gridCol w="48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4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Z</a:t>
                      </a:r>
                    </a:p>
                  </a:txBody>
                  <a:tcPr marL="91530" marR="91530" marT="35363" marB="3536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91530" marR="91530" marT="35363" marB="3536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530" marR="91530" marT="35363" marB="3536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530" marR="91530" marT="35363" marB="3536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" y="3210560"/>
            <a:ext cx="7580630" cy="19399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37893" grpId="0" build="p"/>
      <p:bldP spid="3789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/>
          </p:cNvSpPr>
          <p:nvPr>
            <p:ph type="title"/>
          </p:nvPr>
        </p:nvSpPr>
        <p:spPr>
          <a:xfrm>
            <a:off x="330200" y="820738"/>
            <a:ext cx="7596188" cy="7429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）电路的输入、输出信号的物理量与电路的外部逻辑状态的对    </a:t>
            </a:r>
            <a:b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应关系，用正逻辑或负逻辑加以约定。</a:t>
            </a:r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831850" y="1760538"/>
            <a:ext cx="7485063" cy="117157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正逻辑约定</a:t>
            </a:r>
          </a:p>
          <a:p>
            <a:pPr eaLnBrk="1" hangingPunct="1"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逻辑电平对应关系：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H 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高电平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——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外部逻辑状态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		                 L 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低电平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——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外部逻辑状态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sp>
        <p:nvSpPr>
          <p:cNvPr id="39940" name="Rectangle 3"/>
          <p:cNvSpPr txBox="1"/>
          <p:nvPr/>
        </p:nvSpPr>
        <p:spPr>
          <a:xfrm>
            <a:off x="539750" y="2700338"/>
            <a:ext cx="2520950" cy="5207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700" name="Rectangle 4"/>
          <p:cNvSpPr txBox="1"/>
          <p:nvPr/>
        </p:nvSpPr>
        <p:spPr>
          <a:xfrm>
            <a:off x="827088" y="2730500"/>
            <a:ext cx="7340600" cy="12874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</a:p>
          <a:p>
            <a:pPr marL="342900" indent="-342900" ea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负逻辑约定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逻辑电平对应关系：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 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高电平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——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外部逻辑状态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	                          L 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低电平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——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外部逻辑状态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sp>
        <p:nvSpPr>
          <p:cNvPr id="29701" name="Text Box 13"/>
          <p:cNvSpPr txBox="1"/>
          <p:nvPr/>
        </p:nvSpPr>
        <p:spPr>
          <a:xfrm>
            <a:off x="934403" y="4274185"/>
            <a:ext cx="71358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本书采用</a:t>
            </a:r>
            <a:r>
              <a:rPr lang="zh-CN" altLang="en-US" sz="24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逻辑非符号体制下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的正逻辑约定！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6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7" grpId="0"/>
      <p:bldP spid="29700" grpId="0"/>
      <p:bldP spid="29700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灯片编号占位符 5"/>
          <p:cNvSpPr txBox="1">
            <a:spLocks noGrp="1" noChangeArrowheads="1"/>
          </p:cNvSpPr>
          <p:nvPr/>
        </p:nvSpPr>
        <p:spPr bwMode="auto">
          <a:xfrm>
            <a:off x="8676456" y="4965762"/>
            <a:ext cx="43180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00" tIns="0"/>
          <a:lstStyle>
            <a:lvl1pPr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46EA90-BEF8-4A1D-AF6B-A6855C0A7C4E}" type="slidenum"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26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4822" name="Picture 5"/>
          <p:cNvPicPr>
            <a:picLocks noChangeAspect="1" noChangeArrowheads="1"/>
          </p:cNvPicPr>
          <p:nvPr/>
        </p:nvPicPr>
        <p:blipFill>
          <a:blip r:embed="rId3"/>
          <a:srcRect l="19549" t="24156" r="20248" b="12605"/>
          <a:stretch>
            <a:fillRect/>
          </a:stretch>
        </p:blipFill>
        <p:spPr bwMode="auto">
          <a:xfrm>
            <a:off x="749300" y="901065"/>
            <a:ext cx="6804660" cy="394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圆角矩形标注 1"/>
          <p:cNvSpPr/>
          <p:nvPr/>
        </p:nvSpPr>
        <p:spPr>
          <a:xfrm>
            <a:off x="7704455" y="2535555"/>
            <a:ext cx="1127125" cy="1169670"/>
          </a:xfrm>
          <a:prstGeom prst="wedgeRoundRectCallout">
            <a:avLst>
              <a:gd name="adj1" fmla="val -188478"/>
              <a:gd name="adj2" fmla="val 9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FF0066"/>
                </a:solidFill>
              </a:rPr>
              <a:t>注意一下信号取名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323850" y="571500"/>
            <a:ext cx="8534400" cy="63976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）引端有效级的变换</a:t>
            </a:r>
          </a:p>
        </p:txBody>
      </p:sp>
      <p:sp>
        <p:nvSpPr>
          <p:cNvPr id="30722" name="Rectangle 8"/>
          <p:cNvSpPr>
            <a:spLocks noGrp="1"/>
          </p:cNvSpPr>
          <p:nvPr>
            <p:ph idx="1"/>
          </p:nvPr>
        </p:nvSpPr>
        <p:spPr>
          <a:xfrm>
            <a:off x="752475" y="1000125"/>
            <a:ext cx="8286750" cy="9652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：使逻辑电路的功能一目了然；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结果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：使所选用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器件（集成电路）引端的有效级与所给的信号有效级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相匹配；</a:t>
            </a:r>
          </a:p>
          <a:p>
            <a:pPr eaLnBrk="1" hangingPunct="1">
              <a:lnSpc>
                <a:spcPct val="85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方法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：信号与引脚端不匹配时，对器件引端的有效级进行变换。</a:t>
            </a:r>
          </a:p>
        </p:txBody>
      </p:sp>
      <p:sp>
        <p:nvSpPr>
          <p:cNvPr id="38918" name="Text Box 9"/>
          <p:cNvSpPr txBox="1"/>
          <p:nvPr/>
        </p:nvSpPr>
        <p:spPr>
          <a:xfrm>
            <a:off x="865188" y="2000250"/>
            <a:ext cx="86756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下面两组、每组四种分别表示四个可以完成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同一逻辑功能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的器件：</a:t>
            </a:r>
          </a:p>
        </p:txBody>
      </p:sp>
      <p:graphicFrame>
        <p:nvGraphicFramePr>
          <p:cNvPr id="38919" name="Group 11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6413" y="2498725"/>
          <a:ext cx="7613650" cy="217170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5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四种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华文新魏" panose="02010800040101010101" pitchFamily="2" charset="-122"/>
                        </a:rPr>
                        <a:t>“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或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华文新魏" panose="02010800040101010101" pitchFamily="2" charset="-122"/>
                        </a:rPr>
                        <a:t>”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功能</a:t>
                      </a:r>
                    </a:p>
                  </a:txBody>
                  <a:tcPr marL="91448" marR="91448" marT="34290" marB="34290" anchor="ctr" anchorCtr="1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48" marR="91448" marT="34290" marB="34290" anchor="ctr" anchorCtr="1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四种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华文新魏" panose="02010800040101010101" pitchFamily="2" charset="-122"/>
                        </a:rPr>
                        <a:t>“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与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华文新魏" panose="02010800040101010101" pitchFamily="2" charset="-122"/>
                        </a:rPr>
                        <a:t>”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功能</a:t>
                      </a:r>
                    </a:p>
                  </a:txBody>
                  <a:tcPr marL="91448" marR="91448" marT="34290" marB="34290" anchor="ctr" anchorCtr="1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48" marR="91448" marT="34290" marB="34290" anchor="ctr" anchorCtr="1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8688" name="Group 108"/>
          <p:cNvGrpSpPr/>
          <p:nvPr/>
        </p:nvGrpSpPr>
        <p:grpSpPr>
          <a:xfrm>
            <a:off x="1514475" y="2652713"/>
            <a:ext cx="1482725" cy="906462"/>
            <a:chOff x="768" y="2448"/>
            <a:chExt cx="1056" cy="805"/>
          </a:xfrm>
        </p:grpSpPr>
        <p:sp>
          <p:nvSpPr>
            <p:cNvPr id="42070" name="Rectangle 23"/>
            <p:cNvSpPr/>
            <p:nvPr/>
          </p:nvSpPr>
          <p:spPr>
            <a:xfrm>
              <a:off x="1104" y="246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71" name="Text Box 24"/>
            <p:cNvSpPr txBox="1"/>
            <p:nvPr/>
          </p:nvSpPr>
          <p:spPr>
            <a:xfrm>
              <a:off x="1075" y="2448"/>
              <a:ext cx="376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42072" name="Line 25"/>
            <p:cNvSpPr/>
            <p:nvPr/>
          </p:nvSpPr>
          <p:spPr>
            <a:xfrm>
              <a:off x="768" y="2580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73" name="Line 26"/>
            <p:cNvSpPr/>
            <p:nvPr/>
          </p:nvSpPr>
          <p:spPr>
            <a:xfrm>
              <a:off x="1392" y="265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74" name="Line 27"/>
            <p:cNvSpPr/>
            <p:nvPr/>
          </p:nvSpPr>
          <p:spPr>
            <a:xfrm>
              <a:off x="768" y="272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75" name="Text Box 28"/>
            <p:cNvSpPr txBox="1"/>
            <p:nvPr/>
          </p:nvSpPr>
          <p:spPr>
            <a:xfrm>
              <a:off x="816" y="2928"/>
              <a:ext cx="1008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(7432)</a:t>
              </a:r>
            </a:p>
          </p:txBody>
        </p:sp>
      </p:grpSp>
      <p:grpSp>
        <p:nvGrpSpPr>
          <p:cNvPr id="28689" name="Group 111"/>
          <p:cNvGrpSpPr/>
          <p:nvPr/>
        </p:nvGrpSpPr>
        <p:grpSpPr>
          <a:xfrm>
            <a:off x="3087688" y="2660650"/>
            <a:ext cx="1616075" cy="893763"/>
            <a:chOff x="1920" y="2448"/>
            <a:chExt cx="1152" cy="813"/>
          </a:xfrm>
        </p:grpSpPr>
        <p:sp>
          <p:nvSpPr>
            <p:cNvPr id="42063" name="Rectangle 31"/>
            <p:cNvSpPr/>
            <p:nvPr/>
          </p:nvSpPr>
          <p:spPr>
            <a:xfrm>
              <a:off x="2304" y="2448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64" name="Text Box 32"/>
            <p:cNvSpPr txBox="1"/>
            <p:nvPr/>
          </p:nvSpPr>
          <p:spPr>
            <a:xfrm>
              <a:off x="2275" y="2448"/>
              <a:ext cx="376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42065" name="Line 33"/>
            <p:cNvSpPr/>
            <p:nvPr/>
          </p:nvSpPr>
          <p:spPr>
            <a:xfrm>
              <a:off x="1968" y="2580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66" name="Line 34"/>
            <p:cNvSpPr/>
            <p:nvPr/>
          </p:nvSpPr>
          <p:spPr>
            <a:xfrm>
              <a:off x="2677" y="2665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67" name="Line 35"/>
            <p:cNvSpPr/>
            <p:nvPr/>
          </p:nvSpPr>
          <p:spPr>
            <a:xfrm>
              <a:off x="1968" y="272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68" name="Oval 36"/>
            <p:cNvSpPr/>
            <p:nvPr/>
          </p:nvSpPr>
          <p:spPr>
            <a:xfrm>
              <a:off x="2596" y="2629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69" name="Text Box 37"/>
            <p:cNvSpPr txBox="1"/>
            <p:nvPr/>
          </p:nvSpPr>
          <p:spPr>
            <a:xfrm>
              <a:off x="1920" y="2928"/>
              <a:ext cx="1152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或非门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(7402)</a:t>
              </a:r>
            </a:p>
          </p:txBody>
        </p:sp>
      </p:grpSp>
      <p:grpSp>
        <p:nvGrpSpPr>
          <p:cNvPr id="28690" name="Group 110"/>
          <p:cNvGrpSpPr/>
          <p:nvPr/>
        </p:nvGrpSpPr>
        <p:grpSpPr>
          <a:xfrm>
            <a:off x="4710113" y="2660650"/>
            <a:ext cx="1616075" cy="893763"/>
            <a:chOff x="3168" y="2448"/>
            <a:chExt cx="1152" cy="813"/>
          </a:xfrm>
        </p:grpSpPr>
        <p:sp>
          <p:nvSpPr>
            <p:cNvPr id="42053" name="Rectangle 40"/>
            <p:cNvSpPr/>
            <p:nvPr/>
          </p:nvSpPr>
          <p:spPr>
            <a:xfrm>
              <a:off x="3670" y="246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54" name="Text Box 41"/>
            <p:cNvSpPr txBox="1"/>
            <p:nvPr/>
          </p:nvSpPr>
          <p:spPr>
            <a:xfrm>
              <a:off x="3641" y="2448"/>
              <a:ext cx="376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42055" name="Line 42"/>
            <p:cNvSpPr/>
            <p:nvPr/>
          </p:nvSpPr>
          <p:spPr>
            <a:xfrm>
              <a:off x="3962" y="265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056" name="Group 43"/>
            <p:cNvGrpSpPr/>
            <p:nvPr/>
          </p:nvGrpSpPr>
          <p:grpSpPr>
            <a:xfrm>
              <a:off x="3264" y="2544"/>
              <a:ext cx="398" cy="73"/>
              <a:chOff x="3840" y="2086"/>
              <a:chExt cx="398" cy="73"/>
            </a:xfrm>
          </p:grpSpPr>
          <p:sp>
            <p:nvSpPr>
              <p:cNvPr id="42061" name="Line 44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62" name="Oval 45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42057" name="Group 46"/>
            <p:cNvGrpSpPr/>
            <p:nvPr/>
          </p:nvGrpSpPr>
          <p:grpSpPr>
            <a:xfrm>
              <a:off x="3264" y="2714"/>
              <a:ext cx="398" cy="73"/>
              <a:chOff x="3840" y="2086"/>
              <a:chExt cx="398" cy="73"/>
            </a:xfrm>
          </p:grpSpPr>
          <p:sp>
            <p:nvSpPr>
              <p:cNvPr id="42059" name="Line 47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60" name="Oval 48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2058" name="Text Box 49"/>
            <p:cNvSpPr txBox="1"/>
            <p:nvPr/>
          </p:nvSpPr>
          <p:spPr>
            <a:xfrm>
              <a:off x="3168" y="2928"/>
              <a:ext cx="1152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与非门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(7400)</a:t>
              </a:r>
            </a:p>
          </p:txBody>
        </p:sp>
      </p:grpSp>
      <p:grpSp>
        <p:nvGrpSpPr>
          <p:cNvPr id="28691" name="Group 109"/>
          <p:cNvGrpSpPr/>
          <p:nvPr/>
        </p:nvGrpSpPr>
        <p:grpSpPr>
          <a:xfrm>
            <a:off x="6402388" y="2660650"/>
            <a:ext cx="1685925" cy="893763"/>
            <a:chOff x="4416" y="2448"/>
            <a:chExt cx="1200" cy="813"/>
          </a:xfrm>
        </p:grpSpPr>
        <p:sp>
          <p:nvSpPr>
            <p:cNvPr id="42042" name="Rectangle 52"/>
            <p:cNvSpPr/>
            <p:nvPr/>
          </p:nvSpPr>
          <p:spPr>
            <a:xfrm>
              <a:off x="4822" y="246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43" name="Text Box 53"/>
            <p:cNvSpPr txBox="1"/>
            <p:nvPr/>
          </p:nvSpPr>
          <p:spPr>
            <a:xfrm>
              <a:off x="4793" y="2448"/>
              <a:ext cx="376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42044" name="Line 54"/>
            <p:cNvSpPr/>
            <p:nvPr/>
          </p:nvSpPr>
          <p:spPr>
            <a:xfrm>
              <a:off x="5184" y="265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5" name="Oval 55"/>
            <p:cNvSpPr/>
            <p:nvPr/>
          </p:nvSpPr>
          <p:spPr>
            <a:xfrm>
              <a:off x="5114" y="2614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42046" name="Group 56"/>
            <p:cNvGrpSpPr/>
            <p:nvPr/>
          </p:nvGrpSpPr>
          <p:grpSpPr>
            <a:xfrm>
              <a:off x="4416" y="2544"/>
              <a:ext cx="398" cy="73"/>
              <a:chOff x="3840" y="2086"/>
              <a:chExt cx="398" cy="73"/>
            </a:xfrm>
          </p:grpSpPr>
          <p:sp>
            <p:nvSpPr>
              <p:cNvPr id="42051" name="Line 57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2" name="Oval 58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42047" name="Group 59"/>
            <p:cNvGrpSpPr/>
            <p:nvPr/>
          </p:nvGrpSpPr>
          <p:grpSpPr>
            <a:xfrm>
              <a:off x="4416" y="2714"/>
              <a:ext cx="398" cy="73"/>
              <a:chOff x="3840" y="2086"/>
              <a:chExt cx="398" cy="73"/>
            </a:xfrm>
          </p:grpSpPr>
          <p:sp>
            <p:nvSpPr>
              <p:cNvPr id="42049" name="Line 60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0" name="Oval 61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2048" name="Text Box 62"/>
            <p:cNvSpPr txBox="1"/>
            <p:nvPr/>
          </p:nvSpPr>
          <p:spPr>
            <a:xfrm>
              <a:off x="4464" y="2928"/>
              <a:ext cx="1152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与门（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7408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</a:t>
              </a:r>
            </a:p>
          </p:txBody>
        </p:sp>
      </p:grpSp>
      <p:grpSp>
        <p:nvGrpSpPr>
          <p:cNvPr id="28692" name="Group 115"/>
          <p:cNvGrpSpPr/>
          <p:nvPr/>
        </p:nvGrpSpPr>
        <p:grpSpPr>
          <a:xfrm>
            <a:off x="1546225" y="3827463"/>
            <a:ext cx="1482725" cy="912812"/>
            <a:chOff x="768" y="3438"/>
            <a:chExt cx="1056" cy="831"/>
          </a:xfrm>
        </p:grpSpPr>
        <p:sp>
          <p:nvSpPr>
            <p:cNvPr id="42036" name="Rectangle 65"/>
            <p:cNvSpPr/>
            <p:nvPr/>
          </p:nvSpPr>
          <p:spPr>
            <a:xfrm>
              <a:off x="1104" y="345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37" name="Text Box 66"/>
            <p:cNvSpPr txBox="1"/>
            <p:nvPr/>
          </p:nvSpPr>
          <p:spPr>
            <a:xfrm>
              <a:off x="1097" y="3438"/>
              <a:ext cx="284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2038" name="Line 67"/>
            <p:cNvSpPr/>
            <p:nvPr/>
          </p:nvSpPr>
          <p:spPr>
            <a:xfrm>
              <a:off x="768" y="3570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9" name="Line 68"/>
            <p:cNvSpPr/>
            <p:nvPr/>
          </p:nvSpPr>
          <p:spPr>
            <a:xfrm>
              <a:off x="1396" y="364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0" name="Line 69"/>
            <p:cNvSpPr/>
            <p:nvPr/>
          </p:nvSpPr>
          <p:spPr>
            <a:xfrm>
              <a:off x="768" y="371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1" name="Text Box 70"/>
            <p:cNvSpPr txBox="1"/>
            <p:nvPr/>
          </p:nvSpPr>
          <p:spPr>
            <a:xfrm>
              <a:off x="768" y="3936"/>
              <a:ext cx="1056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(7408)</a:t>
              </a:r>
            </a:p>
          </p:txBody>
        </p:sp>
      </p:grpSp>
      <p:grpSp>
        <p:nvGrpSpPr>
          <p:cNvPr id="28693" name="Group 114"/>
          <p:cNvGrpSpPr/>
          <p:nvPr/>
        </p:nvGrpSpPr>
        <p:grpSpPr>
          <a:xfrm>
            <a:off x="3087688" y="3800475"/>
            <a:ext cx="1616075" cy="908050"/>
            <a:chOff x="1920" y="3441"/>
            <a:chExt cx="1152" cy="829"/>
          </a:xfrm>
        </p:grpSpPr>
        <p:sp>
          <p:nvSpPr>
            <p:cNvPr id="42029" name="Rectangle 73"/>
            <p:cNvSpPr/>
            <p:nvPr/>
          </p:nvSpPr>
          <p:spPr>
            <a:xfrm>
              <a:off x="2304" y="3459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30" name="Text Box 74"/>
            <p:cNvSpPr txBox="1"/>
            <p:nvPr/>
          </p:nvSpPr>
          <p:spPr>
            <a:xfrm>
              <a:off x="2297" y="3441"/>
              <a:ext cx="284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2031" name="Line 75"/>
            <p:cNvSpPr/>
            <p:nvPr/>
          </p:nvSpPr>
          <p:spPr>
            <a:xfrm>
              <a:off x="1968" y="3573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2" name="Line 76"/>
            <p:cNvSpPr/>
            <p:nvPr/>
          </p:nvSpPr>
          <p:spPr>
            <a:xfrm>
              <a:off x="2677" y="3647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3" name="Line 77"/>
            <p:cNvSpPr/>
            <p:nvPr/>
          </p:nvSpPr>
          <p:spPr>
            <a:xfrm>
              <a:off x="1968" y="3717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4" name="Oval 78"/>
            <p:cNvSpPr/>
            <p:nvPr/>
          </p:nvSpPr>
          <p:spPr>
            <a:xfrm>
              <a:off x="2596" y="3622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35" name="Text Box 79"/>
            <p:cNvSpPr txBox="1"/>
            <p:nvPr/>
          </p:nvSpPr>
          <p:spPr>
            <a:xfrm>
              <a:off x="1920" y="3936"/>
              <a:ext cx="1152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与非门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(7400)</a:t>
              </a:r>
            </a:p>
          </p:txBody>
        </p:sp>
      </p:grpSp>
      <p:grpSp>
        <p:nvGrpSpPr>
          <p:cNvPr id="28694" name="Group 113"/>
          <p:cNvGrpSpPr/>
          <p:nvPr/>
        </p:nvGrpSpPr>
        <p:grpSpPr>
          <a:xfrm>
            <a:off x="4786313" y="3805238"/>
            <a:ext cx="1616075" cy="904875"/>
            <a:chOff x="3216" y="3445"/>
            <a:chExt cx="1152" cy="825"/>
          </a:xfrm>
        </p:grpSpPr>
        <p:sp>
          <p:nvSpPr>
            <p:cNvPr id="42019" name="Rectangle 82"/>
            <p:cNvSpPr/>
            <p:nvPr/>
          </p:nvSpPr>
          <p:spPr>
            <a:xfrm>
              <a:off x="3670" y="3463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20" name="Text Box 83"/>
            <p:cNvSpPr txBox="1"/>
            <p:nvPr/>
          </p:nvSpPr>
          <p:spPr>
            <a:xfrm>
              <a:off x="3641" y="3445"/>
              <a:ext cx="376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2021" name="Line 84"/>
            <p:cNvSpPr/>
            <p:nvPr/>
          </p:nvSpPr>
          <p:spPr>
            <a:xfrm>
              <a:off x="3962" y="3651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022" name="Group 85"/>
            <p:cNvGrpSpPr/>
            <p:nvPr/>
          </p:nvGrpSpPr>
          <p:grpSpPr>
            <a:xfrm>
              <a:off x="3264" y="3541"/>
              <a:ext cx="398" cy="73"/>
              <a:chOff x="3840" y="2086"/>
              <a:chExt cx="398" cy="73"/>
            </a:xfrm>
          </p:grpSpPr>
          <p:sp>
            <p:nvSpPr>
              <p:cNvPr id="42027" name="Line 86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8" name="Oval 87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42023" name="Group 88"/>
            <p:cNvGrpSpPr/>
            <p:nvPr/>
          </p:nvGrpSpPr>
          <p:grpSpPr>
            <a:xfrm>
              <a:off x="3264" y="3711"/>
              <a:ext cx="398" cy="73"/>
              <a:chOff x="3840" y="2086"/>
              <a:chExt cx="398" cy="73"/>
            </a:xfrm>
          </p:grpSpPr>
          <p:sp>
            <p:nvSpPr>
              <p:cNvPr id="42025" name="Line 89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6" name="Oval 90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2024" name="Text Box 91"/>
            <p:cNvSpPr txBox="1"/>
            <p:nvPr/>
          </p:nvSpPr>
          <p:spPr>
            <a:xfrm>
              <a:off x="3216" y="3936"/>
              <a:ext cx="1152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或非门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(7402)</a:t>
              </a:r>
            </a:p>
          </p:txBody>
        </p:sp>
      </p:grpSp>
      <p:grpSp>
        <p:nvGrpSpPr>
          <p:cNvPr id="28695" name="Group 112"/>
          <p:cNvGrpSpPr/>
          <p:nvPr/>
        </p:nvGrpSpPr>
        <p:grpSpPr>
          <a:xfrm>
            <a:off x="6402388" y="3800475"/>
            <a:ext cx="1549400" cy="908050"/>
            <a:chOff x="4416" y="3442"/>
            <a:chExt cx="1104" cy="827"/>
          </a:xfrm>
        </p:grpSpPr>
        <p:sp>
          <p:nvSpPr>
            <p:cNvPr id="42008" name="Rectangle 94"/>
            <p:cNvSpPr/>
            <p:nvPr/>
          </p:nvSpPr>
          <p:spPr>
            <a:xfrm>
              <a:off x="4822" y="346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09" name="Text Box 95"/>
            <p:cNvSpPr txBox="1"/>
            <p:nvPr/>
          </p:nvSpPr>
          <p:spPr>
            <a:xfrm>
              <a:off x="4793" y="3442"/>
              <a:ext cx="376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2010" name="Line 96"/>
            <p:cNvSpPr/>
            <p:nvPr/>
          </p:nvSpPr>
          <p:spPr>
            <a:xfrm>
              <a:off x="5184" y="364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1" name="Oval 97"/>
            <p:cNvSpPr/>
            <p:nvPr/>
          </p:nvSpPr>
          <p:spPr>
            <a:xfrm>
              <a:off x="5114" y="3608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42012" name="Group 98"/>
            <p:cNvGrpSpPr/>
            <p:nvPr/>
          </p:nvGrpSpPr>
          <p:grpSpPr>
            <a:xfrm>
              <a:off x="4416" y="3538"/>
              <a:ext cx="398" cy="73"/>
              <a:chOff x="3840" y="2086"/>
              <a:chExt cx="398" cy="73"/>
            </a:xfrm>
          </p:grpSpPr>
          <p:sp>
            <p:nvSpPr>
              <p:cNvPr id="42017" name="Line 99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8" name="Oval 100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42013" name="Group 101"/>
            <p:cNvGrpSpPr/>
            <p:nvPr/>
          </p:nvGrpSpPr>
          <p:grpSpPr>
            <a:xfrm>
              <a:off x="4416" y="3708"/>
              <a:ext cx="398" cy="73"/>
              <a:chOff x="3840" y="2086"/>
              <a:chExt cx="398" cy="73"/>
            </a:xfrm>
          </p:grpSpPr>
          <p:sp>
            <p:nvSpPr>
              <p:cNvPr id="42015" name="Line 102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6" name="Oval 103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2014" name="Text Box 104"/>
            <p:cNvSpPr txBox="1"/>
            <p:nvPr/>
          </p:nvSpPr>
          <p:spPr>
            <a:xfrm>
              <a:off x="4464" y="3936"/>
              <a:ext cx="1008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(7432)</a:t>
              </a:r>
            </a:p>
          </p:txBody>
        </p:sp>
      </p:grpSp>
      <p:cxnSp>
        <p:nvCxnSpPr>
          <p:cNvPr id="2" name="直接箭头连接符 1"/>
          <p:cNvCxnSpPr/>
          <p:nvPr/>
        </p:nvCxnSpPr>
        <p:spPr>
          <a:xfrm flipH="1">
            <a:off x="4211955" y="3159125"/>
            <a:ext cx="1192530" cy="781050"/>
          </a:xfrm>
          <a:prstGeom prst="straightConnector1">
            <a:avLst/>
          </a:prstGeom>
          <a:ln>
            <a:solidFill>
              <a:srgbClr val="FF00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2900045" y="3147695"/>
            <a:ext cx="3903980" cy="906145"/>
          </a:xfrm>
          <a:prstGeom prst="straightConnector1">
            <a:avLst/>
          </a:prstGeom>
          <a:ln>
            <a:solidFill>
              <a:srgbClr val="FF00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 flipV="1">
            <a:off x="4067810" y="3147695"/>
            <a:ext cx="1151890" cy="791845"/>
          </a:xfrm>
          <a:prstGeom prst="straightConnector1">
            <a:avLst/>
          </a:prstGeom>
          <a:ln>
            <a:solidFill>
              <a:srgbClr val="FF00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 flipV="1">
            <a:off x="2483485" y="3147695"/>
            <a:ext cx="4320540" cy="935990"/>
          </a:xfrm>
          <a:prstGeom prst="straightConnector1">
            <a:avLst/>
          </a:prstGeom>
          <a:ln>
            <a:solidFill>
              <a:srgbClr val="FF00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1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22">
                                            <p:txEl>
                                              <p:charRg st="17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22">
                                            <p:txEl>
                                              <p:charRg st="1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22">
                                            <p:txEl>
                                              <p:charRg st="1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72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72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72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381000" y="741363"/>
            <a:ext cx="5191125" cy="582612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引端有效级的变换，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包括：</a:t>
            </a: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827088" y="1226820"/>
            <a:ext cx="7888287" cy="811213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输入引端和输出引端的变换：或为高有效、或为低有效，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例如，下图给出了实现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Busy = REY·REQ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逻辑功能对应的四种电路。</a:t>
            </a:r>
          </a:p>
        </p:txBody>
      </p:sp>
      <p:grpSp>
        <p:nvGrpSpPr>
          <p:cNvPr id="29700" name="Group 223"/>
          <p:cNvGrpSpPr/>
          <p:nvPr/>
        </p:nvGrpSpPr>
        <p:grpSpPr>
          <a:xfrm>
            <a:off x="967105" y="2139315"/>
            <a:ext cx="3152775" cy="1257300"/>
            <a:chOff x="288" y="1872"/>
            <a:chExt cx="2352" cy="105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744" name="Rectangle 212"/>
            <p:cNvSpPr/>
            <p:nvPr/>
          </p:nvSpPr>
          <p:spPr>
            <a:xfrm>
              <a:off x="288" y="1872"/>
              <a:ext cx="2352" cy="1056"/>
            </a:xfrm>
            <a:prstGeom prst="rect">
              <a:avLst/>
            </a:prstGeom>
            <a:grpFill/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45" name="Rectangle 133"/>
            <p:cNvSpPr/>
            <p:nvPr/>
          </p:nvSpPr>
          <p:spPr>
            <a:xfrm>
              <a:off x="1200" y="199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46" name="Text Box 134"/>
            <p:cNvSpPr txBox="1"/>
            <p:nvPr/>
          </p:nvSpPr>
          <p:spPr>
            <a:xfrm>
              <a:off x="1237" y="2073"/>
              <a:ext cx="28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47" name="Line 135"/>
            <p:cNvSpPr/>
            <p:nvPr/>
          </p:nvSpPr>
          <p:spPr>
            <a:xfrm>
              <a:off x="864" y="2112"/>
              <a:ext cx="33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48" name="Line 136"/>
            <p:cNvSpPr/>
            <p:nvPr/>
          </p:nvSpPr>
          <p:spPr>
            <a:xfrm>
              <a:off x="1492" y="2186"/>
              <a:ext cx="33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49" name="Line 137"/>
            <p:cNvSpPr/>
            <p:nvPr/>
          </p:nvSpPr>
          <p:spPr>
            <a:xfrm>
              <a:off x="864" y="2256"/>
              <a:ext cx="33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50" name="Text Box 166"/>
            <p:cNvSpPr txBox="1"/>
            <p:nvPr/>
          </p:nvSpPr>
          <p:spPr>
            <a:xfrm>
              <a:off x="432" y="1968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REY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51" name="Text Box 167"/>
            <p:cNvSpPr txBox="1"/>
            <p:nvPr/>
          </p:nvSpPr>
          <p:spPr>
            <a:xfrm>
              <a:off x="432" y="2179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REQ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52" name="Text Box 168"/>
            <p:cNvSpPr txBox="1"/>
            <p:nvPr/>
          </p:nvSpPr>
          <p:spPr>
            <a:xfrm>
              <a:off x="1824" y="2064"/>
              <a:ext cx="62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BUSY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53" name="Text Box 169"/>
            <p:cNvSpPr txBox="1"/>
            <p:nvPr/>
          </p:nvSpPr>
          <p:spPr>
            <a:xfrm>
              <a:off x="336" y="2544"/>
              <a:ext cx="230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高有效输入、高有效输出</a:t>
              </a: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29701" name="Group 224"/>
          <p:cNvGrpSpPr/>
          <p:nvPr/>
        </p:nvGrpSpPr>
        <p:grpSpPr>
          <a:xfrm>
            <a:off x="973455" y="3510915"/>
            <a:ext cx="3152775" cy="1257300"/>
            <a:chOff x="292" y="3024"/>
            <a:chExt cx="2352" cy="105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730" name="Rectangle 213"/>
            <p:cNvSpPr/>
            <p:nvPr/>
          </p:nvSpPr>
          <p:spPr>
            <a:xfrm>
              <a:off x="292" y="3024"/>
              <a:ext cx="2352" cy="1056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1" name="Rectangle 146"/>
            <p:cNvSpPr/>
            <p:nvPr/>
          </p:nvSpPr>
          <p:spPr>
            <a:xfrm>
              <a:off x="1292" y="316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2" name="Text Box 147"/>
            <p:cNvSpPr txBox="1"/>
            <p:nvPr/>
          </p:nvSpPr>
          <p:spPr>
            <a:xfrm>
              <a:off x="1322" y="3211"/>
              <a:ext cx="376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3" name="Line 148"/>
            <p:cNvSpPr/>
            <p:nvPr/>
          </p:nvSpPr>
          <p:spPr>
            <a:xfrm>
              <a:off x="1584" y="335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29734" name="Group 149"/>
            <p:cNvGrpSpPr/>
            <p:nvPr/>
          </p:nvGrpSpPr>
          <p:grpSpPr>
            <a:xfrm>
              <a:off x="886" y="3246"/>
              <a:ext cx="398" cy="73"/>
              <a:chOff x="3840" y="2086"/>
              <a:chExt cx="398" cy="73"/>
            </a:xfrm>
            <a:grpFill/>
          </p:grpSpPr>
          <p:sp>
            <p:nvSpPr>
              <p:cNvPr id="29742" name="Line 150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9743" name="Oval 151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29735" name="Group 152"/>
            <p:cNvGrpSpPr/>
            <p:nvPr/>
          </p:nvGrpSpPr>
          <p:grpSpPr>
            <a:xfrm>
              <a:off x="886" y="3416"/>
              <a:ext cx="398" cy="73"/>
              <a:chOff x="3840" y="2086"/>
              <a:chExt cx="398" cy="73"/>
            </a:xfrm>
            <a:grpFill/>
          </p:grpSpPr>
          <p:sp>
            <p:nvSpPr>
              <p:cNvPr id="29740" name="Line 153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9741" name="Oval 154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29736" name="Text Box 190"/>
            <p:cNvSpPr txBox="1"/>
            <p:nvPr/>
          </p:nvSpPr>
          <p:spPr>
            <a:xfrm>
              <a:off x="384" y="3120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/REY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7" name="Text Box 191"/>
            <p:cNvSpPr txBox="1"/>
            <p:nvPr/>
          </p:nvSpPr>
          <p:spPr>
            <a:xfrm>
              <a:off x="384" y="3331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/REQ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8" name="Text Box 192"/>
            <p:cNvSpPr txBox="1"/>
            <p:nvPr/>
          </p:nvSpPr>
          <p:spPr>
            <a:xfrm>
              <a:off x="1920" y="3216"/>
              <a:ext cx="62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BUSY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9" name="Text Box 193"/>
            <p:cNvSpPr txBox="1"/>
            <p:nvPr/>
          </p:nvSpPr>
          <p:spPr>
            <a:xfrm>
              <a:off x="336" y="3696"/>
              <a:ext cx="230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低有效输入、高有效输出</a:t>
              </a: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29702" name="Group 217"/>
          <p:cNvGrpSpPr/>
          <p:nvPr/>
        </p:nvGrpSpPr>
        <p:grpSpPr>
          <a:xfrm>
            <a:off x="4359910" y="2139315"/>
            <a:ext cx="3324860" cy="1257300"/>
            <a:chOff x="2832" y="1872"/>
            <a:chExt cx="2352" cy="105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719" name="Rectangle 214"/>
            <p:cNvSpPr/>
            <p:nvPr/>
          </p:nvSpPr>
          <p:spPr>
            <a:xfrm>
              <a:off x="2832" y="1872"/>
              <a:ext cx="2352" cy="1056"/>
            </a:xfrm>
            <a:prstGeom prst="rect">
              <a:avLst/>
            </a:prstGeom>
            <a:grpFill/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0" name="Rectangle 139"/>
            <p:cNvSpPr/>
            <p:nvPr/>
          </p:nvSpPr>
          <p:spPr>
            <a:xfrm>
              <a:off x="3707" y="2016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1" name="Text Box 140"/>
            <p:cNvSpPr txBox="1"/>
            <p:nvPr/>
          </p:nvSpPr>
          <p:spPr>
            <a:xfrm>
              <a:off x="3744" y="2103"/>
              <a:ext cx="28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2" name="Line 141"/>
            <p:cNvSpPr/>
            <p:nvPr/>
          </p:nvSpPr>
          <p:spPr>
            <a:xfrm>
              <a:off x="3371" y="2130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3" name="Line 142"/>
            <p:cNvSpPr/>
            <p:nvPr/>
          </p:nvSpPr>
          <p:spPr>
            <a:xfrm>
              <a:off x="4080" y="2204"/>
              <a:ext cx="336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4" name="Line 143"/>
            <p:cNvSpPr/>
            <p:nvPr/>
          </p:nvSpPr>
          <p:spPr>
            <a:xfrm>
              <a:off x="3371" y="227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5" name="Oval 144"/>
            <p:cNvSpPr/>
            <p:nvPr/>
          </p:nvSpPr>
          <p:spPr>
            <a:xfrm>
              <a:off x="3999" y="2179"/>
              <a:ext cx="73" cy="73"/>
            </a:xfrm>
            <a:prstGeom prst="ellips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6" name="Text Box 176"/>
            <p:cNvSpPr txBox="1"/>
            <p:nvPr/>
          </p:nvSpPr>
          <p:spPr>
            <a:xfrm>
              <a:off x="2976" y="1968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REY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7" name="Text Box 177"/>
            <p:cNvSpPr txBox="1"/>
            <p:nvPr/>
          </p:nvSpPr>
          <p:spPr>
            <a:xfrm>
              <a:off x="2976" y="2179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REQ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8" name="Text Box 178"/>
            <p:cNvSpPr txBox="1"/>
            <p:nvPr/>
          </p:nvSpPr>
          <p:spPr>
            <a:xfrm>
              <a:off x="4416" y="2064"/>
              <a:ext cx="62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/BUSY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9" name="Text Box 179"/>
            <p:cNvSpPr txBox="1"/>
            <p:nvPr/>
          </p:nvSpPr>
          <p:spPr>
            <a:xfrm>
              <a:off x="2928" y="2544"/>
              <a:ext cx="2100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高有效输入、低有效输出</a:t>
              </a: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29703" name="Group 221"/>
          <p:cNvGrpSpPr/>
          <p:nvPr/>
        </p:nvGrpSpPr>
        <p:grpSpPr>
          <a:xfrm>
            <a:off x="4359910" y="3510915"/>
            <a:ext cx="3324860" cy="1257300"/>
            <a:chOff x="2832" y="3024"/>
            <a:chExt cx="2352" cy="105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704" name="Rectangle 215"/>
            <p:cNvSpPr/>
            <p:nvPr/>
          </p:nvSpPr>
          <p:spPr>
            <a:xfrm>
              <a:off x="2832" y="3024"/>
              <a:ext cx="2352" cy="1056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05" name="Rectangle 156"/>
            <p:cNvSpPr/>
            <p:nvPr/>
          </p:nvSpPr>
          <p:spPr>
            <a:xfrm>
              <a:off x="3766" y="316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06" name="Text Box 157"/>
            <p:cNvSpPr txBox="1"/>
            <p:nvPr/>
          </p:nvSpPr>
          <p:spPr>
            <a:xfrm>
              <a:off x="3797" y="3203"/>
              <a:ext cx="376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07" name="Line 158"/>
            <p:cNvSpPr/>
            <p:nvPr/>
          </p:nvSpPr>
          <p:spPr>
            <a:xfrm>
              <a:off x="4128" y="335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08" name="Oval 159"/>
            <p:cNvSpPr/>
            <p:nvPr/>
          </p:nvSpPr>
          <p:spPr>
            <a:xfrm>
              <a:off x="4058" y="3316"/>
              <a:ext cx="73" cy="73"/>
            </a:xfrm>
            <a:prstGeom prst="ellips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29709" name="Group 160"/>
            <p:cNvGrpSpPr/>
            <p:nvPr/>
          </p:nvGrpSpPr>
          <p:grpSpPr>
            <a:xfrm>
              <a:off x="3360" y="3246"/>
              <a:ext cx="398" cy="73"/>
              <a:chOff x="3840" y="2086"/>
              <a:chExt cx="398" cy="73"/>
            </a:xfrm>
            <a:grpFill/>
          </p:grpSpPr>
          <p:sp>
            <p:nvSpPr>
              <p:cNvPr id="29717" name="Line 161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9718" name="Oval 162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29710" name="Group 163"/>
            <p:cNvGrpSpPr/>
            <p:nvPr/>
          </p:nvGrpSpPr>
          <p:grpSpPr>
            <a:xfrm>
              <a:off x="3360" y="3416"/>
              <a:ext cx="398" cy="73"/>
              <a:chOff x="3840" y="2086"/>
              <a:chExt cx="398" cy="73"/>
            </a:xfrm>
            <a:grpFill/>
          </p:grpSpPr>
          <p:sp>
            <p:nvSpPr>
              <p:cNvPr id="29715" name="Line 164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9716" name="Oval 165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29711" name="Text Box 206"/>
            <p:cNvSpPr txBox="1"/>
            <p:nvPr/>
          </p:nvSpPr>
          <p:spPr>
            <a:xfrm>
              <a:off x="2880" y="3120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/REY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12" name="Text Box 207"/>
            <p:cNvSpPr txBox="1"/>
            <p:nvPr/>
          </p:nvSpPr>
          <p:spPr>
            <a:xfrm>
              <a:off x="2880" y="3331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/REQ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13" name="Text Box 208"/>
            <p:cNvSpPr txBox="1"/>
            <p:nvPr/>
          </p:nvSpPr>
          <p:spPr>
            <a:xfrm>
              <a:off x="4464" y="3216"/>
              <a:ext cx="62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/BUSY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14" name="Text Box 209"/>
            <p:cNvSpPr txBox="1"/>
            <p:nvPr/>
          </p:nvSpPr>
          <p:spPr>
            <a:xfrm>
              <a:off x="2928" y="3696"/>
              <a:ext cx="2075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低有效输入、低有效输出</a:t>
              </a: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746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746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746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/>
          </p:cNvSpPr>
          <p:nvPr>
            <p:ph type="title"/>
          </p:nvPr>
        </p:nvSpPr>
        <p:spPr>
          <a:xfrm>
            <a:off x="285750" y="446088"/>
            <a:ext cx="8610600" cy="514350"/>
          </a:xfrm>
          <a:noFill/>
          <a:ln>
            <a:noFill/>
          </a:ln>
        </p:spPr>
        <p:txBody>
          <a:bodyPr/>
          <a:lstStyle/>
          <a:p>
            <a:pPr marL="457200" indent="-457200" eaLnBrk="1" fontAlgn="t" hangingPunct="1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引端有效级的变换规则</a:t>
            </a:r>
          </a:p>
        </p:txBody>
      </p:sp>
      <p:sp>
        <p:nvSpPr>
          <p:cNvPr id="32770" name="Rectangle 15"/>
          <p:cNvSpPr>
            <a:spLocks noGrp="1"/>
          </p:cNvSpPr>
          <p:nvPr>
            <p:ph idx="1"/>
          </p:nvPr>
        </p:nvSpPr>
        <p:spPr>
          <a:xfrm>
            <a:off x="546735" y="1492250"/>
            <a:ext cx="8129270" cy="7874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70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规则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任何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模块电路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输入或输出端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加上或删去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逻辑非符号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即小圆圈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，且其</a:t>
            </a:r>
          </a:p>
          <a:p>
            <a:pPr eaLnBrk="1" hangingPunct="1">
              <a:lnSpc>
                <a:spcPct val="7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对应的信号有效级变反，则逻辑图的功能不变。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0724" name="Group 51"/>
          <p:cNvGrpSpPr/>
          <p:nvPr/>
        </p:nvGrpSpPr>
        <p:grpSpPr>
          <a:xfrm>
            <a:off x="4356100" y="2033588"/>
            <a:ext cx="2401888" cy="609600"/>
            <a:chOff x="3095" y="2596"/>
            <a:chExt cx="1513" cy="466"/>
          </a:xfrm>
        </p:grpSpPr>
        <p:sp>
          <p:nvSpPr>
            <p:cNvPr id="44117" name="Rectangle 17"/>
            <p:cNvSpPr/>
            <p:nvPr/>
          </p:nvSpPr>
          <p:spPr>
            <a:xfrm>
              <a:off x="3670" y="2607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18" name="Text Box 18"/>
            <p:cNvSpPr txBox="1"/>
            <p:nvPr/>
          </p:nvSpPr>
          <p:spPr>
            <a:xfrm>
              <a:off x="3737" y="2688"/>
              <a:ext cx="247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4119" name="Line 19"/>
            <p:cNvSpPr/>
            <p:nvPr/>
          </p:nvSpPr>
          <p:spPr>
            <a:xfrm>
              <a:off x="3964" y="2795"/>
              <a:ext cx="3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0" name="Line 21"/>
            <p:cNvSpPr/>
            <p:nvPr/>
          </p:nvSpPr>
          <p:spPr>
            <a:xfrm>
              <a:off x="3412" y="2721"/>
              <a:ext cx="24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121" name="Group 22"/>
            <p:cNvGrpSpPr/>
            <p:nvPr/>
          </p:nvGrpSpPr>
          <p:grpSpPr>
            <a:xfrm>
              <a:off x="3419" y="2862"/>
              <a:ext cx="250" cy="73"/>
              <a:chOff x="1348" y="2330"/>
              <a:chExt cx="250" cy="73"/>
            </a:xfrm>
          </p:grpSpPr>
          <p:sp>
            <p:nvSpPr>
              <p:cNvPr id="44125" name="Line 23"/>
              <p:cNvSpPr/>
              <p:nvPr/>
            </p:nvSpPr>
            <p:spPr>
              <a:xfrm>
                <a:off x="1348" y="2366"/>
                <a:ext cx="17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126" name="Oval 24"/>
              <p:cNvSpPr/>
              <p:nvPr/>
            </p:nvSpPr>
            <p:spPr>
              <a:xfrm>
                <a:off x="1525" y="2330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4122" name="Text Box 41"/>
            <p:cNvSpPr txBox="1"/>
            <p:nvPr/>
          </p:nvSpPr>
          <p:spPr>
            <a:xfrm>
              <a:off x="3120" y="2596"/>
              <a:ext cx="240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44123" name="Text Box 42"/>
            <p:cNvSpPr txBox="1"/>
            <p:nvPr/>
          </p:nvSpPr>
          <p:spPr>
            <a:xfrm>
              <a:off x="3095" y="2783"/>
              <a:ext cx="321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/B</a:t>
              </a:r>
            </a:p>
          </p:txBody>
        </p:sp>
        <p:sp>
          <p:nvSpPr>
            <p:cNvPr id="44124" name="Text Box 43"/>
            <p:cNvSpPr txBox="1"/>
            <p:nvPr/>
          </p:nvSpPr>
          <p:spPr>
            <a:xfrm>
              <a:off x="4368" y="2660"/>
              <a:ext cx="240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</a:p>
          </p:txBody>
        </p:sp>
      </p:grpSp>
      <p:sp>
        <p:nvSpPr>
          <p:cNvPr id="30725" name="Line 44"/>
          <p:cNvSpPr/>
          <p:nvPr/>
        </p:nvSpPr>
        <p:spPr>
          <a:xfrm>
            <a:off x="3059113" y="2606675"/>
            <a:ext cx="381000" cy="0"/>
          </a:xfrm>
          <a:prstGeom prst="line">
            <a:avLst/>
          </a:prstGeom>
          <a:ln w="76200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6" name="Line 45"/>
          <p:cNvSpPr/>
          <p:nvPr/>
        </p:nvSpPr>
        <p:spPr>
          <a:xfrm flipV="1">
            <a:off x="3440113" y="2149475"/>
            <a:ext cx="838200" cy="457200"/>
          </a:xfrm>
          <a:prstGeom prst="line">
            <a:avLst/>
          </a:prstGeom>
          <a:ln w="76200" cap="flat" cmpd="sng">
            <a:solidFill>
              <a:srgbClr val="FF99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27" name="Line 46"/>
          <p:cNvSpPr/>
          <p:nvPr/>
        </p:nvSpPr>
        <p:spPr>
          <a:xfrm>
            <a:off x="3440113" y="2606675"/>
            <a:ext cx="838200" cy="514350"/>
          </a:xfrm>
          <a:prstGeom prst="line">
            <a:avLst/>
          </a:prstGeom>
          <a:ln w="76200" cap="flat" cmpd="sng">
            <a:solidFill>
              <a:srgbClr val="FF99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0728" name="Group 50"/>
          <p:cNvGrpSpPr/>
          <p:nvPr/>
        </p:nvGrpSpPr>
        <p:grpSpPr>
          <a:xfrm>
            <a:off x="804863" y="2347913"/>
            <a:ext cx="2543175" cy="584200"/>
            <a:chOff x="576" y="3072"/>
            <a:chExt cx="1602" cy="491"/>
          </a:xfrm>
        </p:grpSpPr>
        <p:sp>
          <p:nvSpPr>
            <p:cNvPr id="44107" name="Oval 20"/>
            <p:cNvSpPr/>
            <p:nvPr/>
          </p:nvSpPr>
          <p:spPr>
            <a:xfrm>
              <a:off x="1152" y="3168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08" name="Rectangle 25"/>
            <p:cNvSpPr/>
            <p:nvPr/>
          </p:nvSpPr>
          <p:spPr>
            <a:xfrm>
              <a:off x="1228" y="3096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09" name="Text Box 26"/>
            <p:cNvSpPr txBox="1"/>
            <p:nvPr/>
          </p:nvSpPr>
          <p:spPr>
            <a:xfrm>
              <a:off x="1296" y="3168"/>
              <a:ext cx="23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4110" name="Line 35"/>
            <p:cNvSpPr/>
            <p:nvPr/>
          </p:nvSpPr>
          <p:spPr>
            <a:xfrm>
              <a:off x="820" y="321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1" name="Line 36"/>
            <p:cNvSpPr/>
            <p:nvPr/>
          </p:nvSpPr>
          <p:spPr>
            <a:xfrm>
              <a:off x="1518" y="328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2" name="Line 37"/>
            <p:cNvSpPr/>
            <p:nvPr/>
          </p:nvSpPr>
          <p:spPr>
            <a:xfrm>
              <a:off x="820" y="335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3" name="Text Box 38"/>
            <p:cNvSpPr txBox="1"/>
            <p:nvPr/>
          </p:nvSpPr>
          <p:spPr>
            <a:xfrm>
              <a:off x="576" y="3072"/>
              <a:ext cx="36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/A</a:t>
              </a:r>
            </a:p>
          </p:txBody>
        </p:sp>
        <p:sp>
          <p:nvSpPr>
            <p:cNvPr id="44114" name="Text Box 39"/>
            <p:cNvSpPr txBox="1"/>
            <p:nvPr/>
          </p:nvSpPr>
          <p:spPr>
            <a:xfrm>
              <a:off x="576" y="3256"/>
              <a:ext cx="36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/B</a:t>
              </a:r>
            </a:p>
          </p:txBody>
        </p:sp>
        <p:sp>
          <p:nvSpPr>
            <p:cNvPr id="44115" name="Text Box 40"/>
            <p:cNvSpPr txBox="1"/>
            <p:nvPr/>
          </p:nvSpPr>
          <p:spPr>
            <a:xfrm>
              <a:off x="1842" y="3152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</a:p>
          </p:txBody>
        </p:sp>
        <p:sp>
          <p:nvSpPr>
            <p:cNvPr id="44116" name="Oval 47"/>
            <p:cNvSpPr/>
            <p:nvPr/>
          </p:nvSpPr>
          <p:spPr>
            <a:xfrm>
              <a:off x="1152" y="3312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0729" name="Group 52"/>
          <p:cNvGrpSpPr/>
          <p:nvPr/>
        </p:nvGrpSpPr>
        <p:grpSpPr>
          <a:xfrm>
            <a:off x="4284663" y="2554288"/>
            <a:ext cx="2819400" cy="609600"/>
            <a:chOff x="3120" y="3499"/>
            <a:chExt cx="1776" cy="466"/>
          </a:xfrm>
        </p:grpSpPr>
        <p:sp>
          <p:nvSpPr>
            <p:cNvPr id="44097" name="Rectangle 27"/>
            <p:cNvSpPr/>
            <p:nvPr/>
          </p:nvSpPr>
          <p:spPr>
            <a:xfrm>
              <a:off x="3733" y="353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98" name="Text Box 28"/>
            <p:cNvSpPr txBox="1"/>
            <p:nvPr/>
          </p:nvSpPr>
          <p:spPr>
            <a:xfrm>
              <a:off x="3792" y="3609"/>
              <a:ext cx="258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4099" name="Line 29"/>
            <p:cNvSpPr/>
            <p:nvPr/>
          </p:nvSpPr>
          <p:spPr>
            <a:xfrm>
              <a:off x="3397" y="3652"/>
              <a:ext cx="2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0" name="Line 30"/>
            <p:cNvSpPr/>
            <p:nvPr/>
          </p:nvSpPr>
          <p:spPr>
            <a:xfrm>
              <a:off x="4100" y="372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1" name="Line 31"/>
            <p:cNvSpPr/>
            <p:nvPr/>
          </p:nvSpPr>
          <p:spPr>
            <a:xfrm>
              <a:off x="3397" y="379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2" name="Text Box 32"/>
            <p:cNvSpPr txBox="1"/>
            <p:nvPr/>
          </p:nvSpPr>
          <p:spPr>
            <a:xfrm>
              <a:off x="3120" y="3499"/>
              <a:ext cx="336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/A</a:t>
              </a:r>
            </a:p>
          </p:txBody>
        </p:sp>
        <p:sp>
          <p:nvSpPr>
            <p:cNvPr id="44103" name="Text Box 33"/>
            <p:cNvSpPr txBox="1"/>
            <p:nvPr/>
          </p:nvSpPr>
          <p:spPr>
            <a:xfrm>
              <a:off x="3183" y="3686"/>
              <a:ext cx="240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44104" name="Text Box 34"/>
            <p:cNvSpPr txBox="1"/>
            <p:nvPr/>
          </p:nvSpPr>
          <p:spPr>
            <a:xfrm>
              <a:off x="4464" y="3590"/>
              <a:ext cx="432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/F</a:t>
              </a:r>
            </a:p>
          </p:txBody>
        </p:sp>
        <p:sp>
          <p:nvSpPr>
            <p:cNvPr id="44105" name="Oval 48"/>
            <p:cNvSpPr/>
            <p:nvPr/>
          </p:nvSpPr>
          <p:spPr>
            <a:xfrm>
              <a:off x="3658" y="3618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06" name="Oval 49"/>
            <p:cNvSpPr/>
            <p:nvPr/>
          </p:nvSpPr>
          <p:spPr>
            <a:xfrm>
              <a:off x="4022" y="3696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40972" name="Text Box 54"/>
          <p:cNvSpPr txBox="1"/>
          <p:nvPr/>
        </p:nvSpPr>
        <p:spPr>
          <a:xfrm>
            <a:off x="323850" y="768350"/>
            <a:ext cx="8498205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保持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输入与输出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逻辑功能不变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的条件下，可依如下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变换规则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对逻辑图进行任       意变换。</a:t>
            </a:r>
          </a:p>
        </p:txBody>
      </p:sp>
      <p:grpSp>
        <p:nvGrpSpPr>
          <p:cNvPr id="30731" name="Group 118"/>
          <p:cNvGrpSpPr/>
          <p:nvPr/>
        </p:nvGrpSpPr>
        <p:grpSpPr>
          <a:xfrm>
            <a:off x="1566545" y="3753485"/>
            <a:ext cx="2712085" cy="1358991"/>
            <a:chOff x="288" y="1667"/>
            <a:chExt cx="2298" cy="1665"/>
          </a:xfrm>
        </p:grpSpPr>
        <p:sp>
          <p:nvSpPr>
            <p:cNvPr id="44072" name="Rectangle 8"/>
            <p:cNvSpPr/>
            <p:nvPr/>
          </p:nvSpPr>
          <p:spPr>
            <a:xfrm>
              <a:off x="1750" y="2252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3" name="Text Box 9"/>
            <p:cNvSpPr txBox="1"/>
            <p:nvPr/>
          </p:nvSpPr>
          <p:spPr>
            <a:xfrm>
              <a:off x="1673" y="2244"/>
              <a:ext cx="53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44074" name="Line 10"/>
            <p:cNvSpPr/>
            <p:nvPr/>
          </p:nvSpPr>
          <p:spPr>
            <a:xfrm>
              <a:off x="2038" y="244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5" name="Line 11"/>
            <p:cNvSpPr/>
            <p:nvPr/>
          </p:nvSpPr>
          <p:spPr>
            <a:xfrm>
              <a:off x="1492" y="2366"/>
              <a:ext cx="24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6" name="Oval 12"/>
            <p:cNvSpPr/>
            <p:nvPr/>
          </p:nvSpPr>
          <p:spPr>
            <a:xfrm>
              <a:off x="1152" y="2877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7" name="Rectangle 13"/>
            <p:cNvSpPr/>
            <p:nvPr/>
          </p:nvSpPr>
          <p:spPr>
            <a:xfrm>
              <a:off x="864" y="1794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8" name="Text Box 14"/>
            <p:cNvSpPr txBox="1"/>
            <p:nvPr/>
          </p:nvSpPr>
          <p:spPr>
            <a:xfrm>
              <a:off x="912" y="1745"/>
              <a:ext cx="199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4079" name="Line 15"/>
            <p:cNvSpPr/>
            <p:nvPr/>
          </p:nvSpPr>
          <p:spPr>
            <a:xfrm>
              <a:off x="528" y="190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0" name="Line 16"/>
            <p:cNvSpPr/>
            <p:nvPr/>
          </p:nvSpPr>
          <p:spPr>
            <a:xfrm>
              <a:off x="1156" y="198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1" name="Line 17"/>
            <p:cNvSpPr/>
            <p:nvPr/>
          </p:nvSpPr>
          <p:spPr>
            <a:xfrm>
              <a:off x="528" y="205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2" name="Rectangle 18"/>
            <p:cNvSpPr/>
            <p:nvPr/>
          </p:nvSpPr>
          <p:spPr>
            <a:xfrm>
              <a:off x="864" y="2739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83" name="Text Box 19"/>
            <p:cNvSpPr txBox="1"/>
            <p:nvPr/>
          </p:nvSpPr>
          <p:spPr>
            <a:xfrm>
              <a:off x="920" y="2705"/>
              <a:ext cx="28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4084" name="Line 20"/>
            <p:cNvSpPr/>
            <p:nvPr/>
          </p:nvSpPr>
          <p:spPr>
            <a:xfrm>
              <a:off x="528" y="285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5" name="Line 21"/>
            <p:cNvSpPr/>
            <p:nvPr/>
          </p:nvSpPr>
          <p:spPr>
            <a:xfrm>
              <a:off x="1231" y="2927"/>
              <a:ext cx="2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6" name="Line 22"/>
            <p:cNvSpPr/>
            <p:nvPr/>
          </p:nvSpPr>
          <p:spPr>
            <a:xfrm>
              <a:off x="528" y="299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7" name="Line 23"/>
            <p:cNvSpPr/>
            <p:nvPr/>
          </p:nvSpPr>
          <p:spPr>
            <a:xfrm>
              <a:off x="1488" y="1979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8" name="Line 24"/>
            <p:cNvSpPr/>
            <p:nvPr/>
          </p:nvSpPr>
          <p:spPr>
            <a:xfrm>
              <a:off x="1495" y="2544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089" name="Group 25"/>
            <p:cNvGrpSpPr/>
            <p:nvPr/>
          </p:nvGrpSpPr>
          <p:grpSpPr>
            <a:xfrm>
              <a:off x="1499" y="2507"/>
              <a:ext cx="250" cy="73"/>
              <a:chOff x="1348" y="2330"/>
              <a:chExt cx="250" cy="73"/>
            </a:xfrm>
          </p:grpSpPr>
          <p:sp>
            <p:nvSpPr>
              <p:cNvPr id="44095" name="Line 26"/>
              <p:cNvSpPr/>
              <p:nvPr/>
            </p:nvSpPr>
            <p:spPr>
              <a:xfrm>
                <a:off x="1348" y="2366"/>
                <a:ext cx="17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96" name="Oval 27"/>
              <p:cNvSpPr/>
              <p:nvPr/>
            </p:nvSpPr>
            <p:spPr>
              <a:xfrm>
                <a:off x="1525" y="2330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4090" name="Text Box 28"/>
            <p:cNvSpPr txBox="1"/>
            <p:nvPr/>
          </p:nvSpPr>
          <p:spPr>
            <a:xfrm>
              <a:off x="299" y="1667"/>
              <a:ext cx="24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44091" name="Text Box 29"/>
            <p:cNvSpPr txBox="1"/>
            <p:nvPr/>
          </p:nvSpPr>
          <p:spPr>
            <a:xfrm>
              <a:off x="314" y="1942"/>
              <a:ext cx="24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44092" name="Text Box 30"/>
            <p:cNvSpPr txBox="1"/>
            <p:nvPr/>
          </p:nvSpPr>
          <p:spPr>
            <a:xfrm>
              <a:off x="288" y="2607"/>
              <a:ext cx="24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  <p:sp>
          <p:nvSpPr>
            <p:cNvPr id="44093" name="Text Box 31"/>
            <p:cNvSpPr txBox="1"/>
            <p:nvPr/>
          </p:nvSpPr>
          <p:spPr>
            <a:xfrm>
              <a:off x="288" y="2881"/>
              <a:ext cx="24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</a:p>
          </p:txBody>
        </p:sp>
        <p:sp>
          <p:nvSpPr>
            <p:cNvPr id="44094" name="Text Box 32"/>
            <p:cNvSpPr txBox="1"/>
            <p:nvPr/>
          </p:nvSpPr>
          <p:spPr>
            <a:xfrm>
              <a:off x="2346" y="2160"/>
              <a:ext cx="24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</a:p>
          </p:txBody>
        </p:sp>
      </p:grpSp>
      <p:sp>
        <p:nvSpPr>
          <p:cNvPr id="30732" name="Line 34"/>
          <p:cNvSpPr/>
          <p:nvPr/>
        </p:nvSpPr>
        <p:spPr>
          <a:xfrm>
            <a:off x="4277360" y="4323080"/>
            <a:ext cx="499110" cy="6985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0733" name="Group 119"/>
          <p:cNvGrpSpPr/>
          <p:nvPr/>
        </p:nvGrpSpPr>
        <p:grpSpPr>
          <a:xfrm>
            <a:off x="4708525" y="3667328"/>
            <a:ext cx="2964180" cy="1355421"/>
            <a:chOff x="3168" y="1688"/>
            <a:chExt cx="2298" cy="1667"/>
          </a:xfrm>
        </p:grpSpPr>
        <p:sp>
          <p:nvSpPr>
            <p:cNvPr id="44047" name="Rectangle 35"/>
            <p:cNvSpPr/>
            <p:nvPr/>
          </p:nvSpPr>
          <p:spPr>
            <a:xfrm>
              <a:off x="4630" y="2273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48" name="Text Box 36"/>
            <p:cNvSpPr txBox="1"/>
            <p:nvPr/>
          </p:nvSpPr>
          <p:spPr>
            <a:xfrm>
              <a:off x="4582" y="2264"/>
              <a:ext cx="462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</a:p>
          </p:txBody>
        </p:sp>
        <p:sp>
          <p:nvSpPr>
            <p:cNvPr id="44049" name="Line 37"/>
            <p:cNvSpPr/>
            <p:nvPr/>
          </p:nvSpPr>
          <p:spPr>
            <a:xfrm>
              <a:off x="4918" y="2461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0" name="Line 38"/>
            <p:cNvSpPr/>
            <p:nvPr/>
          </p:nvSpPr>
          <p:spPr>
            <a:xfrm>
              <a:off x="4372" y="2559"/>
              <a:ext cx="24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1" name="Oval 39"/>
            <p:cNvSpPr/>
            <p:nvPr/>
          </p:nvSpPr>
          <p:spPr>
            <a:xfrm>
              <a:off x="4032" y="1957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2" name="Rectangle 40"/>
            <p:cNvSpPr/>
            <p:nvPr/>
          </p:nvSpPr>
          <p:spPr>
            <a:xfrm>
              <a:off x="3744" y="1815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3" name="Text Box 41"/>
            <p:cNvSpPr txBox="1"/>
            <p:nvPr/>
          </p:nvSpPr>
          <p:spPr>
            <a:xfrm>
              <a:off x="3792" y="1793"/>
              <a:ext cx="247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4054" name="Line 42"/>
            <p:cNvSpPr/>
            <p:nvPr/>
          </p:nvSpPr>
          <p:spPr>
            <a:xfrm>
              <a:off x="3408" y="1929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5" name="Line 43"/>
            <p:cNvSpPr/>
            <p:nvPr/>
          </p:nvSpPr>
          <p:spPr>
            <a:xfrm>
              <a:off x="4036" y="292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6" name="Line 44"/>
            <p:cNvSpPr/>
            <p:nvPr/>
          </p:nvSpPr>
          <p:spPr>
            <a:xfrm>
              <a:off x="3408" y="207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7" name="Rectangle 45"/>
            <p:cNvSpPr/>
            <p:nvPr/>
          </p:nvSpPr>
          <p:spPr>
            <a:xfrm>
              <a:off x="3744" y="2760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8" name="Text Box 46"/>
            <p:cNvSpPr txBox="1"/>
            <p:nvPr/>
          </p:nvSpPr>
          <p:spPr>
            <a:xfrm>
              <a:off x="3811" y="2705"/>
              <a:ext cx="317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</a:p>
          </p:txBody>
        </p:sp>
        <p:sp>
          <p:nvSpPr>
            <p:cNvPr id="44059" name="Line 47"/>
            <p:cNvSpPr/>
            <p:nvPr/>
          </p:nvSpPr>
          <p:spPr>
            <a:xfrm>
              <a:off x="3408" y="287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0" name="Line 48"/>
            <p:cNvSpPr/>
            <p:nvPr/>
          </p:nvSpPr>
          <p:spPr>
            <a:xfrm>
              <a:off x="4111" y="2007"/>
              <a:ext cx="2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1" name="Line 49"/>
            <p:cNvSpPr/>
            <p:nvPr/>
          </p:nvSpPr>
          <p:spPr>
            <a:xfrm>
              <a:off x="3408" y="301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2" name="Line 50"/>
            <p:cNvSpPr/>
            <p:nvPr/>
          </p:nvSpPr>
          <p:spPr>
            <a:xfrm>
              <a:off x="4368" y="200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3" name="Line 51"/>
            <p:cNvSpPr/>
            <p:nvPr/>
          </p:nvSpPr>
          <p:spPr>
            <a:xfrm>
              <a:off x="4375" y="2565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064" name="Group 52"/>
            <p:cNvGrpSpPr/>
            <p:nvPr/>
          </p:nvGrpSpPr>
          <p:grpSpPr>
            <a:xfrm>
              <a:off x="4379" y="2330"/>
              <a:ext cx="250" cy="73"/>
              <a:chOff x="1348" y="2330"/>
              <a:chExt cx="250" cy="73"/>
            </a:xfrm>
          </p:grpSpPr>
          <p:sp>
            <p:nvSpPr>
              <p:cNvPr id="44070" name="Line 53"/>
              <p:cNvSpPr/>
              <p:nvPr/>
            </p:nvSpPr>
            <p:spPr>
              <a:xfrm>
                <a:off x="1348" y="2366"/>
                <a:ext cx="17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1" name="Oval 54"/>
              <p:cNvSpPr/>
              <p:nvPr/>
            </p:nvSpPr>
            <p:spPr>
              <a:xfrm>
                <a:off x="1525" y="2330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4065" name="Text Box 55"/>
            <p:cNvSpPr txBox="1"/>
            <p:nvPr/>
          </p:nvSpPr>
          <p:spPr>
            <a:xfrm>
              <a:off x="3179" y="1688"/>
              <a:ext cx="240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44066" name="Text Box 56"/>
            <p:cNvSpPr txBox="1"/>
            <p:nvPr/>
          </p:nvSpPr>
          <p:spPr>
            <a:xfrm>
              <a:off x="3194" y="1963"/>
              <a:ext cx="240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44067" name="Text Box 57"/>
            <p:cNvSpPr txBox="1"/>
            <p:nvPr/>
          </p:nvSpPr>
          <p:spPr>
            <a:xfrm>
              <a:off x="3168" y="2628"/>
              <a:ext cx="240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  <p:sp>
          <p:nvSpPr>
            <p:cNvPr id="44068" name="Text Box 58"/>
            <p:cNvSpPr txBox="1"/>
            <p:nvPr/>
          </p:nvSpPr>
          <p:spPr>
            <a:xfrm>
              <a:off x="3168" y="2902"/>
              <a:ext cx="240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</a:p>
          </p:txBody>
        </p:sp>
        <p:sp>
          <p:nvSpPr>
            <p:cNvPr id="44069" name="Text Box 59"/>
            <p:cNvSpPr txBox="1"/>
            <p:nvPr/>
          </p:nvSpPr>
          <p:spPr>
            <a:xfrm>
              <a:off x="5226" y="2181"/>
              <a:ext cx="240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</a:p>
          </p:txBody>
        </p:sp>
      </p:grpSp>
      <p:sp>
        <p:nvSpPr>
          <p:cNvPr id="32861" name="Rectangle 2"/>
          <p:cNvSpPr txBox="1"/>
          <p:nvPr/>
        </p:nvSpPr>
        <p:spPr>
          <a:xfrm>
            <a:off x="551815" y="3148330"/>
            <a:ext cx="8415655" cy="71501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规则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逻辑电路图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内部连线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的两端，同时加上或删去逻辑非符号，则逻辑图的功</a:t>
            </a:r>
          </a:p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能不变。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3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770">
                                            <p:txEl>
                                              <p:charRg st="37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770">
                                            <p:txEl>
                                              <p:charRg st="3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770">
                                            <p:txEl>
                                              <p:charRg st="3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1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2861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861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2861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1">
                                            <p:txEl>
                                              <p:charRg st="35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2861">
                                            <p:txEl>
                                              <p:charRg st="35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861">
                                            <p:txEl>
                                              <p:charRg st="35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2861">
                                            <p:txEl>
                                              <p:charRg st="35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/>
          </p:cNvSpPr>
          <p:nvPr>
            <p:ph type="title"/>
          </p:nvPr>
        </p:nvSpPr>
        <p:spPr>
          <a:xfrm>
            <a:off x="739775" y="517525"/>
            <a:ext cx="8369300" cy="6238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规则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单个逻辑非符号在电路内部连线两端移动时逻辑图的功能不变。</a:t>
            </a:r>
          </a:p>
        </p:txBody>
      </p:sp>
      <p:sp>
        <p:nvSpPr>
          <p:cNvPr id="33849" name="Rectangle 2"/>
          <p:cNvSpPr txBox="1"/>
          <p:nvPr/>
        </p:nvSpPr>
        <p:spPr>
          <a:xfrm>
            <a:off x="754380" y="2481580"/>
            <a:ext cx="7752080" cy="965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规则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若一个门的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输入输出端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同时加上或删去罗辑非符号，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或输入、输出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信号有效级同时取反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，且门的符号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互变时，则得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到的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新的逻辑图的功能不变。</a:t>
            </a:r>
          </a:p>
        </p:txBody>
      </p:sp>
      <p:pic>
        <p:nvPicPr>
          <p:cNvPr id="31840" name="Picture 9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7425" y="915988"/>
            <a:ext cx="673417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1841" name="Picture 9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5863" y="3446463"/>
            <a:ext cx="6265863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7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8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84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84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84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>
                                            <p:txEl>
                                              <p:charRg st="3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849">
                                            <p:txEl>
                                              <p:charRg st="33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849">
                                            <p:txEl>
                                              <p:charRg st="3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849">
                                            <p:txEl>
                                              <p:charRg st="3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>
                                            <p:txEl>
                                              <p:charRg st="78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849">
                                            <p:txEl>
                                              <p:charRg st="78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849">
                                            <p:txEl>
                                              <p:charRg st="78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849">
                                            <p:txEl>
                                              <p:charRg st="78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18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538163" y="698500"/>
            <a:ext cx="3810000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变换的最终目标：</a:t>
            </a:r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971550" y="1089025"/>
            <a:ext cx="7597775" cy="150050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变换后的结果应满足下列规定：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⑴ 器件的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输出信号有效级应与对应输出引端的有效级一致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。即输出端有 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逻辑非符号，输出信号为低有效，否则为高有效。</a:t>
            </a:r>
          </a:p>
        </p:txBody>
      </p:sp>
      <p:sp>
        <p:nvSpPr>
          <p:cNvPr id="34819" name="Text Box 6"/>
          <p:cNvSpPr txBox="1"/>
          <p:nvPr/>
        </p:nvSpPr>
        <p:spPr>
          <a:xfrm>
            <a:off x="1114425" y="2401888"/>
            <a:ext cx="7705725" cy="11150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如前面四个变换规则所示：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若与门的输出端无逻辑非符号，则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为高有效；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与门的输出端有逻辑非符号，  则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/F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为低有效。</a:t>
            </a:r>
          </a:p>
        </p:txBody>
      </p:sp>
      <p:sp>
        <p:nvSpPr>
          <p:cNvPr id="34820" name="Rectangle 2"/>
          <p:cNvSpPr txBox="1"/>
          <p:nvPr/>
        </p:nvSpPr>
        <p:spPr>
          <a:xfrm>
            <a:off x="1008063" y="3697288"/>
            <a:ext cx="8027987" cy="89058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⑵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若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输入信号有效级与其对应的输入端有效级一致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时，当该信号有效时，</a:t>
            </a: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则器件内部逻辑功能有效。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530225" y="633413"/>
            <a:ext cx="7929563" cy="785812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	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即输入端有逻辑非符号，输入信号为低有效；输入端无逻辑非符号，输入信号为高有效。如：下图所示：</a:t>
            </a:r>
          </a:p>
        </p:txBody>
      </p:sp>
      <p:grpSp>
        <p:nvGrpSpPr>
          <p:cNvPr id="47109" name="Group 57"/>
          <p:cNvGrpSpPr/>
          <p:nvPr/>
        </p:nvGrpSpPr>
        <p:grpSpPr>
          <a:xfrm>
            <a:off x="755650" y="2997200"/>
            <a:ext cx="3429000" cy="762000"/>
            <a:chOff x="528" y="2553"/>
            <a:chExt cx="2160" cy="641"/>
          </a:xfrm>
        </p:grpSpPr>
        <p:sp>
          <p:nvSpPr>
            <p:cNvPr id="48175" name="Text Box 7"/>
            <p:cNvSpPr txBox="1"/>
            <p:nvPr/>
          </p:nvSpPr>
          <p:spPr>
            <a:xfrm>
              <a:off x="960" y="2553"/>
              <a:ext cx="528" cy="6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4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｛</a:t>
              </a:r>
            </a:p>
          </p:txBody>
        </p:sp>
        <p:sp>
          <p:nvSpPr>
            <p:cNvPr id="48176" name="Text Box 8"/>
            <p:cNvSpPr txBox="1"/>
            <p:nvPr/>
          </p:nvSpPr>
          <p:spPr>
            <a:xfrm>
              <a:off x="528" y="2688"/>
              <a:ext cx="91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DATA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=</a:t>
              </a:r>
            </a:p>
          </p:txBody>
        </p:sp>
        <p:sp>
          <p:nvSpPr>
            <p:cNvPr id="48177" name="Text Box 9"/>
            <p:cNvSpPr txBox="1"/>
            <p:nvPr/>
          </p:nvSpPr>
          <p:spPr>
            <a:xfrm>
              <a:off x="1344" y="2582"/>
              <a:ext cx="129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当</a:t>
              </a: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SEL = 1</a:t>
              </a:r>
            </a:p>
          </p:txBody>
        </p:sp>
        <p:sp>
          <p:nvSpPr>
            <p:cNvPr id="48178" name="Text Box 10"/>
            <p:cNvSpPr txBox="1"/>
            <p:nvPr/>
          </p:nvSpPr>
          <p:spPr>
            <a:xfrm>
              <a:off x="1344" y="2822"/>
              <a:ext cx="134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 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当</a:t>
              </a: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SEL = 0</a:t>
              </a:r>
            </a:p>
          </p:txBody>
        </p:sp>
      </p:grpSp>
      <p:sp>
        <p:nvSpPr>
          <p:cNvPr id="47110" name="Text Box 59"/>
          <p:cNvSpPr txBox="1"/>
          <p:nvPr/>
        </p:nvSpPr>
        <p:spPr>
          <a:xfrm>
            <a:off x="684213" y="1306513"/>
            <a:ext cx="7920037" cy="922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选择输入信号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连接到与非门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的输入端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无逻辑非符号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，则选择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时的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是高有效；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还连接到非门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的输入端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有逻辑非符号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，则选择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时的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是低有效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sp>
        <p:nvSpPr>
          <p:cNvPr id="47112" name="Text Box 65"/>
          <p:cNvSpPr txBox="1"/>
          <p:nvPr/>
        </p:nvSpPr>
        <p:spPr>
          <a:xfrm>
            <a:off x="530225" y="2414588"/>
            <a:ext cx="3276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则输出数据信号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DATA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如下：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sp>
        <p:nvSpPr>
          <p:cNvPr id="47113" name="Rectangle 2"/>
          <p:cNvSpPr>
            <a:spLocks noGrp="1"/>
          </p:cNvSpPr>
          <p:nvPr>
            <p:ph type="title"/>
          </p:nvPr>
        </p:nvSpPr>
        <p:spPr>
          <a:xfrm>
            <a:off x="711200" y="4048125"/>
            <a:ext cx="7910513" cy="827088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⑶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若输入信号有效级与其对应的输入端有效级不一致时，则当该信号无效时，则器件内部逻辑功能才有效。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这是应尽量避免出现的情况。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760470" y="2340775"/>
            <a:ext cx="4843780" cy="1612758"/>
            <a:chOff x="5922" y="3686"/>
            <a:chExt cx="7628" cy="2540"/>
          </a:xfrm>
        </p:grpSpPr>
        <p:grpSp>
          <p:nvGrpSpPr>
            <p:cNvPr id="47111" name="Group 64"/>
            <p:cNvGrpSpPr/>
            <p:nvPr/>
          </p:nvGrpSpPr>
          <p:grpSpPr>
            <a:xfrm>
              <a:off x="5922" y="3686"/>
              <a:ext cx="7628" cy="2540"/>
              <a:chOff x="2214" y="2882"/>
              <a:chExt cx="3692" cy="1353"/>
            </a:xfrm>
          </p:grpSpPr>
          <p:sp>
            <p:nvSpPr>
              <p:cNvPr id="48141" name="Rectangle 53"/>
              <p:cNvSpPr/>
              <p:nvPr/>
            </p:nvSpPr>
            <p:spPr>
              <a:xfrm>
                <a:off x="2214" y="2939"/>
                <a:ext cx="3456" cy="1296"/>
              </a:xfrm>
              <a:prstGeom prst="rect">
                <a:avLst/>
              </a:prstGeom>
              <a:solidFill>
                <a:srgbClr val="9DC3E6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2" name="Rectangle 11"/>
              <p:cNvSpPr/>
              <p:nvPr/>
            </p:nvSpPr>
            <p:spPr>
              <a:xfrm>
                <a:off x="3936" y="3087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3" name="Rectangle 12"/>
              <p:cNvSpPr/>
              <p:nvPr/>
            </p:nvSpPr>
            <p:spPr>
              <a:xfrm>
                <a:off x="3936" y="3648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4" name="Rectangle 13"/>
              <p:cNvSpPr/>
              <p:nvPr/>
            </p:nvSpPr>
            <p:spPr>
              <a:xfrm>
                <a:off x="3072" y="3648"/>
                <a:ext cx="288" cy="28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5" name="Rectangle 14"/>
              <p:cNvSpPr/>
              <p:nvPr/>
            </p:nvSpPr>
            <p:spPr>
              <a:xfrm>
                <a:off x="4800" y="3386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6" name="Line 17"/>
              <p:cNvSpPr/>
              <p:nvPr/>
            </p:nvSpPr>
            <p:spPr>
              <a:xfrm>
                <a:off x="4464" y="348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06" name="Line 19"/>
              <p:cNvSpPr/>
              <p:nvPr/>
            </p:nvSpPr>
            <p:spPr>
              <a:xfrm>
                <a:off x="5088" y="3626"/>
                <a:ext cx="288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148" name="Text Box 21"/>
              <p:cNvSpPr txBox="1"/>
              <p:nvPr/>
            </p:nvSpPr>
            <p:spPr>
              <a:xfrm>
                <a:off x="5136" y="3387"/>
                <a:ext cx="770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DATA</a:t>
                </a:r>
              </a:p>
            </p:txBody>
          </p:sp>
          <p:sp>
            <p:nvSpPr>
              <p:cNvPr id="48149" name="Oval 22"/>
              <p:cNvSpPr/>
              <p:nvPr/>
            </p:nvSpPr>
            <p:spPr>
              <a:xfrm>
                <a:off x="4756" y="3460"/>
                <a:ext cx="45" cy="45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50" name="Line 27"/>
              <p:cNvSpPr/>
              <p:nvPr/>
            </p:nvSpPr>
            <p:spPr>
              <a:xfrm>
                <a:off x="4472" y="3696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1" name="Line 28"/>
              <p:cNvSpPr/>
              <p:nvPr/>
            </p:nvSpPr>
            <p:spPr>
              <a:xfrm>
                <a:off x="4272" y="3301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2" name="Line 29"/>
              <p:cNvSpPr/>
              <p:nvPr/>
            </p:nvSpPr>
            <p:spPr>
              <a:xfrm>
                <a:off x="4272" y="3862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3" name="Line 30"/>
              <p:cNvSpPr/>
              <p:nvPr/>
            </p:nvSpPr>
            <p:spPr>
              <a:xfrm>
                <a:off x="4464" y="3312"/>
                <a:ext cx="0" cy="15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4" name="Line 31"/>
              <p:cNvSpPr/>
              <p:nvPr/>
            </p:nvSpPr>
            <p:spPr>
              <a:xfrm>
                <a:off x="4464" y="3716"/>
                <a:ext cx="0" cy="15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5" name="Text Box 32"/>
              <p:cNvSpPr txBox="1"/>
              <p:nvPr/>
            </p:nvSpPr>
            <p:spPr>
              <a:xfrm>
                <a:off x="2256" y="3395"/>
                <a:ext cx="52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r"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SEL</a:t>
                </a:r>
              </a:p>
            </p:txBody>
          </p:sp>
          <p:sp>
            <p:nvSpPr>
              <p:cNvPr id="48156" name="Text Box 33"/>
              <p:cNvSpPr txBox="1"/>
              <p:nvPr/>
            </p:nvSpPr>
            <p:spPr>
              <a:xfrm>
                <a:off x="3408" y="3729"/>
                <a:ext cx="52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r"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BSEL</a:t>
                </a:r>
              </a:p>
            </p:txBody>
          </p:sp>
          <p:sp>
            <p:nvSpPr>
              <p:cNvPr id="33817" name="Line 35"/>
              <p:cNvSpPr/>
              <p:nvPr/>
            </p:nvSpPr>
            <p:spPr>
              <a:xfrm>
                <a:off x="3360" y="3772"/>
                <a:ext cx="577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158" name="Line 37"/>
              <p:cNvSpPr/>
              <p:nvPr/>
            </p:nvSpPr>
            <p:spPr>
              <a:xfrm>
                <a:off x="2562" y="3386"/>
                <a:ext cx="137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9" name="Line 38"/>
              <p:cNvSpPr/>
              <p:nvPr/>
            </p:nvSpPr>
            <p:spPr>
              <a:xfrm>
                <a:off x="2832" y="3403"/>
                <a:ext cx="0" cy="36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0" name="Line 39"/>
              <p:cNvSpPr/>
              <p:nvPr/>
            </p:nvSpPr>
            <p:spPr>
              <a:xfrm>
                <a:off x="2827" y="3770"/>
                <a:ext cx="19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1" name="Oval 40"/>
              <p:cNvSpPr/>
              <p:nvPr/>
            </p:nvSpPr>
            <p:spPr>
              <a:xfrm>
                <a:off x="2802" y="3357"/>
                <a:ext cx="58" cy="64"/>
              </a:xfrm>
              <a:prstGeom prst="ellipse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62" name="Text Box 41"/>
              <p:cNvSpPr txBox="1"/>
              <p:nvPr/>
            </p:nvSpPr>
            <p:spPr>
              <a:xfrm>
                <a:off x="2400" y="3002"/>
                <a:ext cx="336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r"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</a:p>
            </p:txBody>
          </p:sp>
          <p:sp>
            <p:nvSpPr>
              <p:cNvPr id="48163" name="Text Box 42"/>
              <p:cNvSpPr txBox="1"/>
              <p:nvPr/>
            </p:nvSpPr>
            <p:spPr>
              <a:xfrm>
                <a:off x="2448" y="3731"/>
                <a:ext cx="28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r"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</a:t>
                </a:r>
              </a:p>
            </p:txBody>
          </p:sp>
          <p:sp>
            <p:nvSpPr>
              <p:cNvPr id="48164" name="Line 43"/>
              <p:cNvSpPr/>
              <p:nvPr/>
            </p:nvSpPr>
            <p:spPr>
              <a:xfrm flipH="1">
                <a:off x="2537" y="3993"/>
                <a:ext cx="1401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5" name="Text Box 45"/>
              <p:cNvSpPr txBox="1"/>
              <p:nvPr/>
            </p:nvSpPr>
            <p:spPr>
              <a:xfrm>
                <a:off x="3984" y="3088"/>
                <a:ext cx="28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&amp;</a:t>
                </a:r>
              </a:p>
            </p:txBody>
          </p:sp>
          <p:sp>
            <p:nvSpPr>
              <p:cNvPr id="48166" name="Text Box 46"/>
              <p:cNvSpPr txBox="1"/>
              <p:nvPr/>
            </p:nvSpPr>
            <p:spPr>
              <a:xfrm>
                <a:off x="3984" y="3638"/>
                <a:ext cx="28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&amp;</a:t>
                </a:r>
              </a:p>
            </p:txBody>
          </p:sp>
          <p:sp>
            <p:nvSpPr>
              <p:cNvPr id="48167" name="Text Box 47"/>
              <p:cNvSpPr txBox="1"/>
              <p:nvPr/>
            </p:nvSpPr>
            <p:spPr>
              <a:xfrm>
                <a:off x="3105" y="3636"/>
                <a:ext cx="64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１</a:t>
                </a:r>
              </a:p>
            </p:txBody>
          </p:sp>
          <p:sp>
            <p:nvSpPr>
              <p:cNvPr id="48168" name="Text Box 48"/>
              <p:cNvSpPr txBox="1"/>
              <p:nvPr/>
            </p:nvSpPr>
            <p:spPr>
              <a:xfrm>
                <a:off x="3936" y="2882"/>
                <a:ext cx="323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①</a:t>
                </a:r>
              </a:p>
            </p:txBody>
          </p:sp>
          <p:sp>
            <p:nvSpPr>
              <p:cNvPr id="48169" name="Text Box 49"/>
              <p:cNvSpPr txBox="1"/>
              <p:nvPr/>
            </p:nvSpPr>
            <p:spPr>
              <a:xfrm>
                <a:off x="3050" y="3416"/>
                <a:ext cx="243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②</a:t>
                </a:r>
              </a:p>
            </p:txBody>
          </p:sp>
          <p:sp>
            <p:nvSpPr>
              <p:cNvPr id="48170" name="Text Box 50"/>
              <p:cNvSpPr txBox="1"/>
              <p:nvPr/>
            </p:nvSpPr>
            <p:spPr>
              <a:xfrm>
                <a:off x="4743" y="3387"/>
                <a:ext cx="495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≥1</a:t>
                </a:r>
              </a:p>
            </p:txBody>
          </p:sp>
          <p:sp>
            <p:nvSpPr>
              <p:cNvPr id="48171" name="Oval 24"/>
              <p:cNvSpPr/>
              <p:nvPr/>
            </p:nvSpPr>
            <p:spPr>
              <a:xfrm>
                <a:off x="4756" y="3666"/>
                <a:ext cx="45" cy="45"/>
              </a:xfrm>
              <a:prstGeom prst="ellipse">
                <a:avLst/>
              </a:prstGeom>
              <a:solidFill>
                <a:schemeClr val="hlink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72" name="Oval 26"/>
              <p:cNvSpPr/>
              <p:nvPr/>
            </p:nvSpPr>
            <p:spPr>
              <a:xfrm>
                <a:off x="4246" y="3843"/>
                <a:ext cx="45" cy="45"/>
              </a:xfrm>
              <a:prstGeom prst="ellipse">
                <a:avLst/>
              </a:prstGeom>
              <a:solidFill>
                <a:schemeClr val="hlink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73" name="Line 54"/>
              <p:cNvSpPr/>
              <p:nvPr/>
            </p:nvSpPr>
            <p:spPr>
              <a:xfrm>
                <a:off x="2562" y="3242"/>
                <a:ext cx="137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74" name="Text Box 63"/>
              <p:cNvSpPr txBox="1"/>
              <p:nvPr/>
            </p:nvSpPr>
            <p:spPr>
              <a:xfrm>
                <a:off x="3118" y="3360"/>
                <a:ext cx="81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r"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ASEL</a:t>
                </a:r>
              </a:p>
            </p:txBody>
          </p:sp>
        </p:grpSp>
        <p:sp>
          <p:nvSpPr>
            <p:cNvPr id="4" name="椭圆 3"/>
            <p:cNvSpPr/>
            <p:nvPr/>
          </p:nvSpPr>
          <p:spPr>
            <a:xfrm>
              <a:off x="10070" y="4385"/>
              <a:ext cx="180" cy="18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1105" y="4730"/>
              <a:ext cx="178" cy="18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10095" y="5418"/>
              <a:ext cx="178" cy="18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11090" y="5105"/>
              <a:ext cx="180" cy="18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578" y="5258"/>
              <a:ext cx="178" cy="18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110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110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7110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7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2" grpId="0"/>
      <p:bldP spid="471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Grp="1"/>
          </p:cNvSpPr>
          <p:nvPr>
            <p:ph idx="1"/>
          </p:nvPr>
        </p:nvSpPr>
        <p:spPr>
          <a:xfrm>
            <a:off x="755650" y="627063"/>
            <a:ext cx="7488238" cy="4826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时间图  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(Timing Diagram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：时序图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</a:p>
        </p:txBody>
      </p:sp>
      <p:sp>
        <p:nvSpPr>
          <p:cNvPr id="46085" name="矩形 2"/>
          <p:cNvSpPr/>
          <p:nvPr/>
        </p:nvSpPr>
        <p:spPr>
          <a:xfrm>
            <a:off x="323850" y="1255713"/>
            <a:ext cx="8280400" cy="28022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时间图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是任何数字系统设计文档中的一个重要部分。是分析、设计和调试电路的重要辅助手段，是数字系统中的重要文档之一。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时间图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是描述数字电路中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信号随时间变化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的一种图形。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反映逻辑信号之间对应的时间关系，特别是要能反映出关键信号之间因果关系。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时间图可用来说明系统内信号之间的时间关系，同时，它又用于定义对外部信号的时间要求。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与时序图相关的时间参数：有信号传输转换时间（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TLH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THL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）、信号传输延迟时间（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PLH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PHL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57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085">
                                            <p:txEl>
                                              <p:charRg st="57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5">
                                            <p:txEl>
                                              <p:charRg st="57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085">
                                            <p:txEl>
                                              <p:charRg st="57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163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085">
                                            <p:txEl>
                                              <p:charRg st="163" end="2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085">
                                            <p:txEl>
                                              <p:charRg st="163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085">
                                            <p:txEl>
                                              <p:charRg st="163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82" name="Object 4"/>
          <p:cNvGraphicFramePr>
            <a:graphicFrameLocks noGrp="1" noChangeAspect="1"/>
          </p:cNvGraphicFramePr>
          <p:nvPr>
            <p:ph/>
          </p:nvPr>
        </p:nvGraphicFramePr>
        <p:xfrm>
          <a:off x="755650" y="898525"/>
          <a:ext cx="7777163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520055" imgH="2821940" progId="">
                  <p:embed/>
                </p:oleObj>
              </mc:Choice>
              <mc:Fallback>
                <p:oleObj r:id="rId3" imgW="5520055" imgH="282194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650" y="898525"/>
                        <a:ext cx="7777163" cy="324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6" name="Object 4"/>
          <p:cNvGraphicFramePr>
            <a:graphicFrameLocks noGrp="1" noChangeAspect="1"/>
          </p:cNvGraphicFramePr>
          <p:nvPr>
            <p:ph sz="half"/>
          </p:nvPr>
        </p:nvGraphicFramePr>
        <p:xfrm>
          <a:off x="684213" y="2551113"/>
          <a:ext cx="6840537" cy="21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772025" imgH="2028825" progId="PBrush">
                  <p:embed/>
                </p:oleObj>
              </mc:Choice>
              <mc:Fallback>
                <p:oleObj r:id="rId3" imgW="4772025" imgH="2028825" progId="PBrush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2551113"/>
                        <a:ext cx="6840537" cy="218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6"/>
          <p:cNvGraphicFramePr>
            <a:graphicFrameLocks noGrp="1" noChangeAspect="1"/>
          </p:cNvGraphicFramePr>
          <p:nvPr>
            <p:ph sz="half"/>
          </p:nvPr>
        </p:nvGraphicFramePr>
        <p:xfrm>
          <a:off x="684213" y="655638"/>
          <a:ext cx="6840537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762250" imgH="876300" progId="PBrush">
                  <p:embed/>
                </p:oleObj>
              </mc:Choice>
              <mc:Fallback>
                <p:oleObj r:id="rId5" imgW="2762250" imgH="876300" progId="PBrush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4213" y="655638"/>
                        <a:ext cx="6840537" cy="162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75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3"/>
          <p:cNvSpPr>
            <a:spLocks noGrp="1"/>
          </p:cNvSpPr>
          <p:nvPr>
            <p:ph idx="1"/>
          </p:nvPr>
        </p:nvSpPr>
        <p:spPr>
          <a:xfrm>
            <a:off x="353060" y="1776095"/>
            <a:ext cx="8559800" cy="327787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时间图中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最重要的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是信号变化之间的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时间延迟特性。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延迟时间是指相关的两个变化中心之间的时间间隔。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每种延迟通常给出一个范围值。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即（最小、典型、最大）时间值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总线上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的所有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具有相同的延迟，并不需要表示其中任一位信号在瞬时的具体逻辑值，仅需标注这一组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信号发生转换的时间，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尤其重要的是要标注发生的转换相对于系统中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控制信号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发生转换时的相对时间差。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在数字系统中，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信号间的相对时间关系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是非常重要的，达到精确的时间配合才能实现预定的逻辑功能。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535" y="41275"/>
            <a:ext cx="6313170" cy="20783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3"/>
          <p:cNvSpPr>
            <a:spLocks noGrp="1"/>
          </p:cNvSpPr>
          <p:nvPr>
            <p:ph type="title"/>
          </p:nvPr>
        </p:nvSpPr>
        <p:spPr>
          <a:xfrm>
            <a:off x="250825" y="536575"/>
            <a:ext cx="7921625" cy="4508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.结构化逻辑描述  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(Structured Logic Description)</a:t>
            </a:r>
            <a:b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938" name="Rectangle 4"/>
          <p:cNvSpPr>
            <a:spLocks noGrp="1"/>
          </p:cNvSpPr>
          <p:nvPr>
            <p:ph idx="1"/>
          </p:nvPr>
        </p:nvSpPr>
        <p:spPr>
          <a:xfrm>
            <a:off x="250825" y="2716213"/>
            <a:ext cx="8458200" cy="2052637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.电路说明  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(Circuit Description)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用文字简明叙述电路的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使用方法；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解释内部的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工作方法；</a:t>
            </a: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列出设计和操作中所有可能的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潜在缺陷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，以及在使用不当时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隐含的问题。</a:t>
            </a: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（在以后的分析和设计中再介绍）			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</a:p>
        </p:txBody>
      </p:sp>
      <p:sp>
        <p:nvSpPr>
          <p:cNvPr id="2" name="矩形 1"/>
          <p:cNvSpPr/>
          <p:nvPr/>
        </p:nvSpPr>
        <p:spPr>
          <a:xfrm>
            <a:off x="468313" y="1250950"/>
            <a:ext cx="8351838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说明结构化逻辑器件的内部功能，如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PLA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、存储器芯片或者某些具有专门功能的中、大规模器件；</a:t>
            </a:r>
            <a:b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</a:b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逻辑代数等式、状态表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(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图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、功能表或程序表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等形式说明。（在以后的分析和设计中再介绍）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9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7" grpId="0"/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M1OWY0MGVhYmU5NTRkZGZlMzJmNTI0MzdiODI0Mj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aa59390-c89d-42ad-8bd2-0ceb1b59f57a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bcf6279-32dc-4ef2-84af-17f06227bd7c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2880</Words>
  <Application>Microsoft Office PowerPoint</Application>
  <PresentationFormat>全屏显示(16:9)</PresentationFormat>
  <Paragraphs>376</Paragraphs>
  <Slides>37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8" baseType="lpstr">
      <vt:lpstr>方正综艺简体</vt:lpstr>
      <vt:lpstr>黑体</vt:lpstr>
      <vt:lpstr>华文新魏</vt:lpstr>
      <vt:lpstr>宋体</vt:lpstr>
      <vt:lpstr>Arial</vt:lpstr>
      <vt:lpstr>Calibri</vt:lpstr>
      <vt:lpstr>Calibri Light</vt:lpstr>
      <vt:lpstr>Times New Roman</vt:lpstr>
      <vt:lpstr>Wingdings</vt:lpstr>
      <vt:lpstr>自定义设计方案</vt:lpstr>
      <vt:lpstr>PBrush</vt:lpstr>
      <vt:lpstr>数 字 逻 辑 电 路</vt:lpstr>
      <vt:lpstr>第二章 组合逻辑电路的分析与设计</vt:lpstr>
      <vt:lpstr>2.1 逻辑电路描述（设计文档）</vt:lpstr>
      <vt:lpstr>PowerPoint 演示文稿</vt:lpstr>
      <vt:lpstr>2.1.1 框图  (Block Diagram)   ①用方框、圆框等粗略表示系统的输入、输出和功能模块（或称子系统）； ②用带箭头连线表示模块之间主要信息通路、其流向，可能还包含控制信号。</vt:lpstr>
      <vt:lpstr>32位寄存器框图</vt:lpstr>
      <vt:lpstr>PowerPoint 演示文稿</vt:lpstr>
      <vt:lpstr>PowerPoint 演示文稿</vt:lpstr>
      <vt:lpstr>PowerPoint 演示文稿</vt:lpstr>
      <vt:lpstr>PowerPoint 演示文稿</vt:lpstr>
      <vt:lpstr>  2.1.2 电路图  (Schematic Diagram)： </vt:lpstr>
      <vt:lpstr>  需要分页画出的逻辑图要合理地划分出每页的模块，既要完整又要使     页与页之间的连线尽可能地少，并清楚地标注出它们之间的连接关系。</vt:lpstr>
      <vt:lpstr>    总线的表示法</vt:lpstr>
      <vt:lpstr> 51单片机与AT24C02的连接逻辑电路图（部分） </vt:lpstr>
      <vt:lpstr>PowerPoint 演示文稿</vt:lpstr>
      <vt:lpstr>2）逻辑门的符号标准  (Gate Symbols Standards)</vt:lpstr>
      <vt:lpstr>常用逻辑门的两种标准化的表示形式</vt:lpstr>
      <vt:lpstr>PowerPoint 演示文稿</vt:lpstr>
      <vt:lpstr>逻辑门的等效符号</vt:lpstr>
      <vt:lpstr>3）信号名和有效级</vt:lpstr>
      <vt:lpstr>信号的有效级  (Active levels for Signals)</vt:lpstr>
      <vt:lpstr>信号有效级的约定（即表示法）  </vt:lpstr>
      <vt:lpstr>信号名不能采用反变量符号，不能采用表达式（本教材约定）。</vt:lpstr>
      <vt:lpstr>逻辑非符号体制 在本体制下存在两级对应关系：</vt:lpstr>
      <vt:lpstr>（2）电路的输入、输出信号的物理量与电路的外部逻辑状态的对                应关系，用正逻辑或负逻辑加以约定。</vt:lpstr>
      <vt:lpstr>PowerPoint 演示文稿</vt:lpstr>
      <vt:lpstr>5）引端有效级的变换</vt:lpstr>
      <vt:lpstr>引端有效级的变换，包括：</vt:lpstr>
      <vt:lpstr>引端有效级的变换规则</vt:lpstr>
      <vt:lpstr>规则3：单个逻辑非符号在电路内部连线两端移动时逻辑图的功能不变。</vt:lpstr>
      <vt:lpstr>变换的最终目标：</vt:lpstr>
      <vt:lpstr>    ⑶ 若输入信号有效级与其对应的输入端有效级不一致时，则当该信号无效时，则器件内部逻辑功能才有效。这是应尽量避免出现的情况。</vt:lpstr>
      <vt:lpstr>PowerPoint 演示文稿</vt:lpstr>
      <vt:lpstr>PowerPoint 演示文稿</vt:lpstr>
      <vt:lpstr>PowerPoint 演示文稿</vt:lpstr>
      <vt:lpstr>PowerPoint 演示文稿</vt:lpstr>
      <vt:lpstr>4.结构化逻辑描述  (Structured Logic Description)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字 逻 辑 电 路</dc:title>
  <dc:creator>Microsoft Office 用户</dc:creator>
  <cp:lastModifiedBy>松 刘</cp:lastModifiedBy>
  <cp:revision>147</cp:revision>
  <dcterms:created xsi:type="dcterms:W3CDTF">2024-02-12T09:08:00Z</dcterms:created>
  <dcterms:modified xsi:type="dcterms:W3CDTF">2025-09-09T03:31:40Z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2052-12.1.0.16412</vt:lpwstr>
  </property>
  <property fmtid="{D5CDD505-2E9C-101B-9397-08002B2CF9AE}" pid="3" name="ICV">
    <vt:lpwstr>62C2F35B833048339FE29178272ECC40</vt:lpwstr>
  </property>
</Properties>
</file>