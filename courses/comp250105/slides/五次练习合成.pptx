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8" r:id="rId4"/>
    <p:sldId id="263" r:id="rId5"/>
    <p:sldId id="264" r:id="rId6"/>
    <p:sldId id="265" r:id="rId7"/>
    <p:sldId id="266" r:id="rId8"/>
    <p:sldId id="256" r:id="rId9"/>
    <p:sldId id="257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6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90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8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1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9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92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8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90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49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3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9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7DBF7-EF0F-47A6-B619-69C684492D6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0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08A9D6BA-1042-4FF5-8157-079685817A85}" type="slidenum">
              <a:rPr kumimoji="0" lang="en-US" altLang="zh-CN" sz="1400" b="0">
                <a:latin typeface="Times New Roman" panose="02020603050405020304" pitchFamily="18" charset="0"/>
              </a:rPr>
              <a:pPr eaLnBrk="1" hangingPunct="1"/>
              <a:t>1</a:t>
            </a:fld>
            <a:endParaRPr kumimoji="0"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903700" y="6096"/>
            <a:ext cx="7543800" cy="609600"/>
          </a:xfrm>
        </p:spPr>
        <p:txBody>
          <a:bodyPr/>
          <a:lstStyle/>
          <a:p>
            <a:pPr algn="ctr" eaLnBrk="1" hangingPunct="1"/>
            <a:r>
              <a:rPr lang="zh-CN" altLang="en-US" sz="3200" dirty="0"/>
              <a:t>课堂练习一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337" y="551688"/>
            <a:ext cx="8735631" cy="6105780"/>
          </a:xfrm>
        </p:spPr>
        <p:txBody>
          <a:bodyPr>
            <a:normAutofit/>
          </a:bodyPr>
          <a:lstStyle/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en-US" altLang="zh-CN" sz="2400" baseline="30000" dirty="0">
                <a:solidFill>
                  <a:srgbClr val="000000"/>
                </a:solidFill>
              </a:rPr>
              <a:t>(20%)  </a:t>
            </a:r>
            <a:r>
              <a:rPr lang="zh-CN" altLang="en-US" sz="2400" dirty="0">
                <a:solidFill>
                  <a:srgbClr val="000000"/>
                </a:solidFill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</a:rPr>
              <a:t>A={x|x</a:t>
            </a:r>
            <a:r>
              <a:rPr lang="en-US" altLang="zh-CN" sz="2400" baseline="30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&gt;2},B={x| |x-2|&lt;|x+3|}</a:t>
            </a:r>
            <a:r>
              <a:rPr lang="zh-CN" altLang="en-US" sz="2400" dirty="0">
                <a:solidFill>
                  <a:srgbClr val="000000"/>
                </a:solidFill>
              </a:rPr>
              <a:t>是实数集合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的子集，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355600" indent="-355600" algn="just"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          用区间表示下面集合</a:t>
            </a:r>
          </a:p>
          <a:p>
            <a:pPr marL="355600" indent="-355600"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</a:t>
            </a:r>
            <a:r>
              <a:rPr lang="en-US" altLang="zh-CN" sz="2400" dirty="0"/>
              <a:t>(1)  A</a:t>
            </a:r>
            <a:r>
              <a:rPr lang="en-US" altLang="zh-CN" sz="2400" dirty="0">
                <a:solidFill>
                  <a:srgbClr val="000000"/>
                </a:solidFill>
              </a:rPr>
              <a:t>∪B     </a:t>
            </a: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ym typeface="Symbol" pitchFamily="18" charset="2"/>
              </a:rPr>
              <a:t>∩B</a:t>
            </a:r>
            <a:r>
              <a:rPr lang="en-US" altLang="zh-CN" sz="2400" dirty="0"/>
              <a:t>     (3) A\B      (4) A </a:t>
            </a:r>
            <a:r>
              <a:rPr lang="en-US" altLang="zh-CN" sz="2400" dirty="0">
                <a:sym typeface="Symbol" pitchFamily="18" charset="2"/>
              </a:rPr>
              <a:t>B</a:t>
            </a:r>
          </a:p>
          <a:p>
            <a:pPr marL="355600" indent="-355600" algn="just" eaLnBrk="1" hangingPunct="1"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2</a:t>
            </a:r>
            <a:r>
              <a:rPr lang="en-US" altLang="zh-CN" sz="2400" baseline="30000" dirty="0"/>
              <a:t>(25%) </a:t>
            </a:r>
            <a:r>
              <a:rPr lang="zh-CN" altLang="en-US" sz="2400" dirty="0"/>
              <a:t>以下集合能否成为某集合的幂集，若能请给出相应的集合。</a:t>
            </a:r>
          </a:p>
          <a:p>
            <a:pPr marL="355600" indent="-355600" algn="just"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</a:rPr>
              <a:t>(1)  A1= </a:t>
            </a:r>
            <a:r>
              <a:rPr lang="en-US" altLang="zh-CN" sz="2400" dirty="0">
                <a:sym typeface="Symbol" pitchFamily="18" charset="2"/>
              </a:rPr>
              <a:t>                                   (2) A2={} </a:t>
            </a:r>
          </a:p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  (3) A3={,{a}}                            (4)  A4={, {a}, {,a}}      </a:t>
            </a:r>
          </a:p>
          <a:p>
            <a:pPr marL="355600" indent="-355600" algn="just"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  (5) A5={, {</a:t>
            </a:r>
            <a:r>
              <a:rPr lang="en-US" altLang="zh-CN" sz="2400" dirty="0" err="1">
                <a:sym typeface="Symbol" pitchFamily="18" charset="2"/>
              </a:rPr>
              <a:t>a,b</a:t>
            </a:r>
            <a:r>
              <a:rPr lang="en-US" altLang="zh-CN" sz="2400" dirty="0">
                <a:sym typeface="Symbol" pitchFamily="18" charset="2"/>
              </a:rPr>
              <a:t>},{a},{b}, {}}</a:t>
            </a:r>
          </a:p>
          <a:p>
            <a:pPr marL="457200" indent="-457200" algn="just" eaLnBrk="1" hangingPunct="1"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3</a:t>
            </a:r>
            <a:r>
              <a:rPr lang="en-US" altLang="zh-CN" sz="2400" baseline="30000" dirty="0">
                <a:sym typeface="Symbol" pitchFamily="18" charset="2"/>
              </a:rPr>
              <a:t>(30%)    </a:t>
            </a:r>
            <a:r>
              <a:rPr lang="zh-CN" altLang="en-US" sz="2400" dirty="0">
                <a:sym typeface="Symbol" pitchFamily="18" charset="2"/>
              </a:rPr>
              <a:t>化简下列各式</a:t>
            </a:r>
          </a:p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Symbol" pitchFamily="18" charset="2"/>
              </a:rPr>
              <a:t>   </a:t>
            </a:r>
            <a:r>
              <a:rPr lang="en-US" altLang="zh-CN" sz="2400" dirty="0">
                <a:sym typeface="Symbol" pitchFamily="18" charset="2"/>
              </a:rPr>
              <a:t>(1)  (A∩B) </a:t>
            </a:r>
            <a:r>
              <a:rPr lang="en-US" altLang="zh-CN" sz="2400" dirty="0">
                <a:solidFill>
                  <a:srgbClr val="000000"/>
                </a:solidFill>
              </a:rPr>
              <a:t>∪(A\B)                    (2)  (A∪(B\A)) \ B</a:t>
            </a:r>
          </a:p>
          <a:p>
            <a:pPr marL="355600" indent="-355600" algn="just"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   (3)  ((A∪B∪C)</a:t>
            </a:r>
            <a:r>
              <a:rPr lang="en-US" altLang="zh-CN" sz="2400" dirty="0">
                <a:sym typeface="Symbol" pitchFamily="18" charset="2"/>
              </a:rPr>
              <a:t>∩(</a:t>
            </a:r>
            <a:r>
              <a:rPr lang="en-US" altLang="zh-CN" sz="2400" dirty="0">
                <a:solidFill>
                  <a:srgbClr val="000000"/>
                </a:solidFill>
              </a:rPr>
              <a:t>A∪B)) \ ((A∪(B\C))</a:t>
            </a:r>
            <a:r>
              <a:rPr lang="en-US" altLang="zh-CN" sz="2400" dirty="0">
                <a:sym typeface="Symbol" pitchFamily="18" charset="2"/>
              </a:rPr>
              <a:t>∩A)</a:t>
            </a:r>
          </a:p>
          <a:p>
            <a:pPr marL="355600" indent="-355600" algn="just" eaLnBrk="1" hangingPunct="1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4</a:t>
            </a:r>
            <a:r>
              <a:rPr lang="en-US" altLang="zh-CN" sz="2400" baseline="30000" dirty="0">
                <a:sym typeface="Symbol" pitchFamily="18" charset="2"/>
              </a:rPr>
              <a:t>(10%) </a:t>
            </a:r>
            <a:r>
              <a:rPr lang="zh-CN" altLang="en-US" sz="2400" dirty="0">
                <a:sym typeface="Symbol" pitchFamily="18" charset="2"/>
              </a:rPr>
              <a:t>设</a:t>
            </a:r>
            <a:r>
              <a:rPr lang="en-US" altLang="zh-CN" sz="2400" dirty="0">
                <a:sym typeface="Symbol" pitchFamily="18" charset="2"/>
              </a:rPr>
              <a:t>A,B,C</a:t>
            </a:r>
            <a:r>
              <a:rPr lang="zh-CN" altLang="en-US" sz="2400" dirty="0">
                <a:sym typeface="Symbol" pitchFamily="18" charset="2"/>
              </a:rPr>
              <a:t>为集合</a:t>
            </a:r>
            <a:r>
              <a:rPr lang="en-IE" altLang="zh-CN" sz="2400" dirty="0">
                <a:sym typeface="Symbol" pitchFamily="18" charset="2"/>
              </a:rPr>
              <a:t>X</a:t>
            </a:r>
            <a:r>
              <a:rPr lang="zh-CN" altLang="en-US" sz="2400" dirty="0">
                <a:sym typeface="Symbol" pitchFamily="18" charset="2"/>
              </a:rPr>
              <a:t>的子集，</a:t>
            </a:r>
            <a:r>
              <a:rPr lang="en-US" altLang="zh-CN" sz="2400" dirty="0">
                <a:sym typeface="Symbol" pitchFamily="18" charset="2"/>
              </a:rPr>
              <a:t>A∪B= A∪C</a:t>
            </a:r>
            <a:r>
              <a:rPr lang="zh-CN" altLang="en-US" sz="2400" dirty="0">
                <a:sym typeface="Symbol" pitchFamily="18" charset="2"/>
              </a:rPr>
              <a:t>，</a:t>
            </a:r>
            <a:r>
              <a:rPr lang="en-US" altLang="zh-CN" sz="2400" dirty="0">
                <a:sym typeface="Symbol" pitchFamily="18" charset="2"/>
              </a:rPr>
              <a:t>A\B=A\C</a:t>
            </a:r>
            <a:r>
              <a:rPr lang="zh-CN" altLang="en-US" sz="2400" dirty="0">
                <a:sym typeface="Symbol" pitchFamily="18" charset="2"/>
              </a:rPr>
              <a:t>，证明</a:t>
            </a:r>
            <a:r>
              <a:rPr lang="en-US" altLang="zh-CN" sz="2400" dirty="0">
                <a:sym typeface="Symbol" pitchFamily="18" charset="2"/>
              </a:rPr>
              <a:t>B=C</a:t>
            </a:r>
            <a:r>
              <a:rPr lang="zh-CN" altLang="en-US" sz="2400" dirty="0">
                <a:sym typeface="Symbol" pitchFamily="18" charset="2"/>
              </a:rPr>
              <a:t>。</a:t>
            </a:r>
            <a:endParaRPr lang="en-US" altLang="zh-CN" sz="2400" dirty="0">
              <a:sym typeface="Symbol" pitchFamily="18" charset="2"/>
            </a:endParaRPr>
          </a:p>
          <a:p>
            <a:pPr marL="355600" indent="-355600" algn="just">
              <a:spcBef>
                <a:spcPts val="600"/>
              </a:spcBef>
              <a:spcAft>
                <a:spcPts val="1200"/>
              </a:spcAft>
              <a:buNone/>
              <a:defRPr/>
            </a:pPr>
            <a:r>
              <a:rPr lang="en-US" altLang="zh-CN" sz="2400" dirty="0">
                <a:sym typeface="Symbol" pitchFamily="18" charset="2"/>
              </a:rPr>
              <a:t>5</a:t>
            </a:r>
            <a:r>
              <a:rPr lang="en-US" altLang="zh-CN" sz="2400" baseline="30000" dirty="0">
                <a:sym typeface="Symbol" pitchFamily="18" charset="2"/>
              </a:rPr>
              <a:t>(15%)</a:t>
            </a:r>
            <a:r>
              <a:rPr lang="zh-CN" altLang="en-US" sz="2400" dirty="0">
                <a:sym typeface="Symbol" pitchFamily="18" charset="2"/>
              </a:rPr>
              <a:t>判断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en-US" altLang="zh-CN" sz="2400" baseline="30000" dirty="0"/>
              <a:t> </a:t>
            </a:r>
            <a:r>
              <a:rPr lang="en-US" altLang="zh-CN" sz="2450" baseline="30000" dirty="0"/>
              <a:t>A</a:t>
            </a:r>
            <a:r>
              <a:rPr lang="en-US" altLang="zh-CN" sz="2450" baseline="30000" dirty="0">
                <a:sym typeface="Symbol" pitchFamily="18" charset="2"/>
              </a:rPr>
              <a:t>∩</a:t>
            </a:r>
            <a:r>
              <a:rPr lang="en-US" altLang="zh-CN" sz="2450" baseline="30000" dirty="0">
                <a:solidFill>
                  <a:srgbClr val="000000"/>
                </a:solidFill>
              </a:rPr>
              <a:t>B </a:t>
            </a:r>
            <a:r>
              <a:rPr lang="en-US" altLang="zh-CN" sz="2400" dirty="0">
                <a:solidFill>
                  <a:srgbClr val="000000"/>
                </a:solidFill>
              </a:rPr>
              <a:t>= 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ym typeface="Symbol" pitchFamily="18" charset="2"/>
              </a:rPr>
              <a:t>∩ 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B</a:t>
            </a:r>
            <a:r>
              <a:rPr lang="zh-CN" altLang="en-US" sz="2400" dirty="0">
                <a:sym typeface="Symbol" pitchFamily="18" charset="2"/>
              </a:rPr>
              <a:t> 和 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en-US" altLang="zh-CN" sz="2400" baseline="30000" dirty="0"/>
              <a:t> A</a:t>
            </a:r>
            <a:r>
              <a:rPr lang="en-US" altLang="zh-CN" sz="2400" baseline="30000" dirty="0">
                <a:solidFill>
                  <a:srgbClr val="000000"/>
                </a:solidFill>
              </a:rPr>
              <a:t>∪B </a:t>
            </a:r>
            <a:r>
              <a:rPr lang="en-US" altLang="zh-CN" sz="2400" dirty="0">
                <a:solidFill>
                  <a:srgbClr val="000000"/>
                </a:solidFill>
              </a:rPr>
              <a:t>= 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olidFill>
                  <a:srgbClr val="000000"/>
                </a:solidFill>
              </a:rPr>
              <a:t> ∪2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B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是否成立，并给出理由。</a:t>
            </a:r>
            <a:endParaRPr lang="en-US" altLang="zh-CN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2625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44003"/>
            <a:ext cx="5657850" cy="457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sz="3000" dirty="0"/>
              <a:t>课堂练习二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85010" y="372603"/>
            <a:ext cx="8545430" cy="63488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(36%)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判断题：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都是非空集合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上的二元关系（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(1)-(5)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题）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是反自反的，那么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是反自反的。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是对称的，那么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是对称的。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是传递的，那么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是传递的。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)= 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D(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(5)  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一定是传递关系。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47675" indent="-447675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(6)  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X={1,2,3,4}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上的等价关系，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R=I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∪{(1,4),(4,1)}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诱导的划分是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{{1,4},{2,3}}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(7)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非空有限子集中极小元一定存在。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(8)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良序集中每个元素都有直接后继。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(9)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是单射函数，且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是满射函数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那么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gf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一定是满射函数。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半序集中任意两个元素都是可比较的。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最大元一定是上确界。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Clr>
                <a:srgbClr val="996600"/>
              </a:buClr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(12)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是可数集，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的子集，则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A\B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等势。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SzPct val="95000"/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EBAC294-B37A-4111-93A3-445E429E186B}" type="slidenum">
              <a:rPr kumimoji="0" lang="en-US" altLang="zh-CN" sz="1050"/>
              <a:pPr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kumimoji="0"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119665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Rectangle 3"/>
          <p:cNvSpPr>
            <a:spLocks noGrp="1" noChangeArrowheads="1"/>
          </p:cNvSpPr>
          <p:nvPr>
            <p:ph idx="1"/>
          </p:nvPr>
        </p:nvSpPr>
        <p:spPr>
          <a:xfrm>
            <a:off x="362521" y="108840"/>
            <a:ext cx="8562023" cy="605485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(10%)  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是函数，如果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zh-CN" altLang="en-US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，证明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(18%) 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S={1, 2, 3, </a:t>
            </a:r>
            <a:r>
              <a:rPr lang="en-US" altLang="zh-CN" sz="2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4, 5, 6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A=S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，在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上定义关系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(a, b)R(c, d)</a:t>
            </a:r>
            <a:r>
              <a:rPr lang="fr-FR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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ad=</a:t>
            </a:r>
            <a:r>
              <a:rPr lang="en-US" altLang="zh-CN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750"/>
              </a:spcAft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[(1,2)]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(36%)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上的半序关系，定义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如下：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(y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1,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  <a:p>
            <a:pPr marL="457200" lvl="0" indent="-457200">
              <a:lnSpc>
                <a:spcPct val="100000"/>
              </a:lnSpc>
              <a:buFont typeface="Arial" panose="020B0604020202020204" pitchFamily="34" charset="0"/>
              <a:buAutoNum type="arabicParenBoth"/>
              <a:defRPr/>
            </a:pP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(9%)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证明：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A×B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上的半序关系。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(2) 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(10%)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A={1,2,4,8}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B={2,3,6}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即为定义的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上的半序关系，请画出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的哈斯图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(12%)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C={(1,2)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(2,3)},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的上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界、上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确界、最大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极大极小元是否存在，如果存在请具体指出。</a:t>
            </a:r>
          </a:p>
          <a:p>
            <a:pPr marL="0" lvl="0" indent="0">
              <a:lnSpc>
                <a:spcPct val="100000"/>
              </a:lnSpc>
              <a:spcAft>
                <a:spcPts val="750"/>
              </a:spcAft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 (2%)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是否为良序集？请给出理由。</a:t>
            </a:r>
            <a:endParaRPr lang="zh-CN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SzPct val="95000"/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C26203BA-AC00-4A06-83C9-567239FE3012}" type="slidenum">
              <a:rPr kumimoji="0" lang="en-US" altLang="zh-CN" sz="1050"/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US" altLang="zh-CN" sz="1050"/>
          </a:p>
        </p:txBody>
      </p:sp>
    </p:spTree>
    <p:extLst>
      <p:ext uri="{BB962C8B-B14F-4D97-AF65-F5344CB8AC3E}">
        <p14:creationId xmlns:p14="http://schemas.microsoft.com/office/powerpoint/2010/main" val="37254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248400"/>
            <a:ext cx="1905000" cy="457200"/>
          </a:xfrm>
        </p:spPr>
        <p:txBody>
          <a:bodyPr/>
          <a:lstStyle/>
          <a:p>
            <a:pPr>
              <a:defRPr/>
            </a:pPr>
            <a:fld id="{1F8A8474-C51B-43F4-8C99-804B01BC2C3D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99592" y="-41184"/>
            <a:ext cx="7543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课堂练习三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240" y="496650"/>
            <a:ext cx="9026760" cy="6451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3800" dirty="0">
                <a:solidFill>
                  <a:schemeClr val="tx1"/>
                </a:solidFill>
              </a:rPr>
              <a:t>1   </a:t>
            </a:r>
            <a:r>
              <a:rPr lang="en-US" altLang="zh-CN" sz="3800" baseline="30000" dirty="0">
                <a:solidFill>
                  <a:schemeClr val="tx1"/>
                </a:solidFill>
              </a:rPr>
              <a:t>(45%)</a:t>
            </a:r>
            <a:r>
              <a:rPr lang="zh-CN" altLang="en-US" sz="3800" dirty="0">
                <a:solidFill>
                  <a:schemeClr val="tx1"/>
                </a:solidFill>
              </a:rPr>
              <a:t>判断题</a:t>
            </a:r>
            <a:r>
              <a:rPr lang="en-US" altLang="zh-CN" sz="3800" dirty="0">
                <a:solidFill>
                  <a:schemeClr val="tx1"/>
                </a:solidFill>
              </a:rPr>
              <a:t>(T  /   F)     (3)(4)(5)(10)(11)</a:t>
            </a:r>
            <a:r>
              <a:rPr lang="zh-CN" altLang="en-US" sz="3800" dirty="0">
                <a:solidFill>
                  <a:schemeClr val="tx1"/>
                </a:solidFill>
              </a:rPr>
              <a:t>写出理由</a:t>
            </a:r>
            <a:endParaRPr lang="en-US" altLang="zh-CN" sz="38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&lt;S,*&gt;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是一个含幺半群，如果运算*满足消去律，则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&lt;S,*&gt;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是一个群。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(2)</a:t>
            </a:r>
            <a:r>
              <a:rPr lang="zh-CN" altLang="zh-CN" sz="4000" dirty="0">
                <a:solidFill>
                  <a:schemeClr val="tx1"/>
                </a:solidFill>
              </a:rPr>
              <a:t>含幺半群的子半群</a:t>
            </a:r>
            <a:r>
              <a:rPr lang="zh-CN" altLang="en-US" sz="4000" dirty="0">
                <a:solidFill>
                  <a:schemeClr val="tx1"/>
                </a:solidFill>
              </a:rPr>
              <a:t>一定</a:t>
            </a:r>
            <a:r>
              <a:rPr lang="zh-CN" altLang="zh-CN" sz="4000" dirty="0">
                <a:solidFill>
                  <a:schemeClr val="tx1"/>
                </a:solidFill>
              </a:rPr>
              <a:t>是含幺半群</a:t>
            </a:r>
            <a:r>
              <a:rPr lang="zh-CN" altLang="en-US" sz="4000" dirty="0">
                <a:solidFill>
                  <a:schemeClr val="tx1"/>
                </a:solidFill>
              </a:rPr>
              <a:t>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(3)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幺元是群中唯一幂等元。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(4)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&lt;G , *&gt;</a:t>
            </a:r>
            <a:r>
              <a:rPr lang="zh-CN" altLang="zh-CN" sz="4000" dirty="0">
                <a:solidFill>
                  <a:schemeClr val="tx1"/>
                </a:solidFill>
              </a:rPr>
              <a:t>是群，则</a:t>
            </a:r>
            <a:r>
              <a:rPr lang="en-US" altLang="zh-CN" sz="4000" dirty="0">
                <a:solidFill>
                  <a:schemeClr val="tx1"/>
                </a:solidFill>
              </a:rPr>
              <a:t>G</a:t>
            </a:r>
            <a:r>
              <a:rPr lang="zh-CN" altLang="zh-CN" sz="4000" dirty="0">
                <a:solidFill>
                  <a:schemeClr val="tx1"/>
                </a:solidFill>
              </a:rPr>
              <a:t>中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必有二阶元素。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</a:rPr>
              <a:t>(5)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&lt;G , *&gt;</a:t>
            </a:r>
            <a:r>
              <a:rPr lang="zh-CN" altLang="zh-CN" sz="4000" dirty="0">
                <a:solidFill>
                  <a:schemeClr val="tx1"/>
                </a:solidFill>
              </a:rPr>
              <a:t>是群，</a:t>
            </a:r>
            <a:r>
              <a:rPr lang="en-US" altLang="zh-CN" sz="4000" dirty="0">
                <a:solidFill>
                  <a:schemeClr val="tx1"/>
                </a:solidFill>
              </a:rPr>
              <a:t>|G|=</a:t>
            </a:r>
            <a:r>
              <a:rPr lang="en-US" altLang="zh-CN" sz="4000" i="1" dirty="0">
                <a:solidFill>
                  <a:schemeClr val="tx1"/>
                </a:solidFill>
              </a:rPr>
              <a:t>n</a:t>
            </a:r>
            <a:r>
              <a:rPr lang="zh-CN" altLang="zh-CN" sz="4000" dirty="0">
                <a:solidFill>
                  <a:schemeClr val="tx1"/>
                </a:solidFill>
              </a:rPr>
              <a:t>，设</a:t>
            </a:r>
            <a:r>
              <a:rPr lang="en-US" altLang="zh-CN" sz="4000" i="1" dirty="0" err="1">
                <a:solidFill>
                  <a:schemeClr val="tx1"/>
                </a:solidFill>
              </a:rPr>
              <a:t>x</a:t>
            </a:r>
            <a:r>
              <a:rPr lang="en-US" altLang="zh-CN" sz="4000" dirty="0" err="1">
                <a:solidFill>
                  <a:schemeClr val="tx1"/>
                </a:solidFill>
                <a:sym typeface="Symbol"/>
              </a:rPr>
              <a:t></a:t>
            </a:r>
            <a:r>
              <a:rPr lang="en-US" altLang="zh-CN" sz="4000" dirty="0" err="1">
                <a:solidFill>
                  <a:schemeClr val="tx1"/>
                </a:solidFill>
              </a:rPr>
              <a:t>G</a:t>
            </a:r>
            <a:r>
              <a:rPr lang="zh-CN" altLang="zh-CN" sz="4000" dirty="0">
                <a:solidFill>
                  <a:schemeClr val="tx1"/>
                </a:solidFill>
              </a:rPr>
              <a:t>，若</a:t>
            </a:r>
            <a:r>
              <a:rPr lang="en-US" altLang="zh-CN" sz="4000" i="1" dirty="0" err="1">
                <a:solidFill>
                  <a:schemeClr val="tx1"/>
                </a:solidFill>
              </a:rPr>
              <a:t>x</a:t>
            </a:r>
            <a:r>
              <a:rPr lang="en-US" altLang="zh-CN" sz="4000" i="1" baseline="30000" dirty="0" err="1">
                <a:solidFill>
                  <a:schemeClr val="tx1"/>
                </a:solidFill>
              </a:rPr>
              <a:t>m</a:t>
            </a:r>
            <a:r>
              <a:rPr lang="en-US" altLang="zh-CN" sz="4000" dirty="0">
                <a:solidFill>
                  <a:schemeClr val="tx1"/>
                </a:solidFill>
              </a:rPr>
              <a:t> = </a:t>
            </a:r>
            <a:r>
              <a:rPr lang="en-US" altLang="zh-CN" sz="4000" i="1" dirty="0">
                <a:solidFill>
                  <a:schemeClr val="tx1"/>
                </a:solidFill>
              </a:rPr>
              <a:t>e</a:t>
            </a:r>
            <a:r>
              <a:rPr lang="zh-CN" altLang="zh-CN" sz="4000" dirty="0">
                <a:solidFill>
                  <a:schemeClr val="tx1"/>
                </a:solidFill>
              </a:rPr>
              <a:t>，</a:t>
            </a:r>
            <a:r>
              <a:rPr lang="en-US" altLang="zh-CN" sz="4000" dirty="0" err="1">
                <a:solidFill>
                  <a:schemeClr val="tx1"/>
                </a:solidFill>
              </a:rPr>
              <a:t>m</a:t>
            </a:r>
            <a:r>
              <a:rPr lang="en-US" altLang="zh-CN" sz="4000" dirty="0" err="1">
                <a:solidFill>
                  <a:schemeClr val="tx1"/>
                </a:solidFill>
                <a:latin typeface="Lucida Sans Unicode"/>
                <a:cs typeface="Lucida Sans Unicode"/>
              </a:rPr>
              <a:t>∈</a:t>
            </a:r>
            <a:r>
              <a:rPr lang="en-US" altLang="zh-CN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4000" dirty="0">
                <a:solidFill>
                  <a:schemeClr val="tx1"/>
                </a:solidFill>
                <a:latin typeface="Lucida Sans Unicode"/>
                <a:cs typeface="Lucida Sans Unicode"/>
              </a:rPr>
              <a:t>,</a:t>
            </a:r>
            <a:r>
              <a:rPr lang="zh-CN" altLang="zh-CN" sz="4000" dirty="0">
                <a:solidFill>
                  <a:schemeClr val="tx1"/>
                </a:solidFill>
              </a:rPr>
              <a:t>则</a:t>
            </a:r>
            <a:r>
              <a:rPr lang="en-US" altLang="zh-CN" sz="4000" i="1" dirty="0">
                <a:solidFill>
                  <a:schemeClr val="tx1"/>
                </a:solidFill>
              </a:rPr>
              <a:t>m </a:t>
            </a:r>
            <a:r>
              <a:rPr lang="en-US" altLang="zh-CN" sz="4000" dirty="0">
                <a:solidFill>
                  <a:schemeClr val="tx1"/>
                </a:solidFill>
              </a:rPr>
              <a:t>| </a:t>
            </a:r>
            <a:r>
              <a:rPr lang="en-US" altLang="zh-CN" sz="4000" i="1" dirty="0">
                <a:solidFill>
                  <a:schemeClr val="tx1"/>
                </a:solidFill>
              </a:rPr>
              <a:t>n</a:t>
            </a:r>
            <a:r>
              <a:rPr lang="zh-CN" altLang="zh-CN" sz="4000" dirty="0">
                <a:solidFill>
                  <a:schemeClr val="tx1"/>
                </a:solidFill>
              </a:rPr>
              <a:t>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(6)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是环，当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为素数时，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是除环。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(7)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循环群的子代数系统一定是循环群。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(8)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={1,3,4,5,9}, </a:t>
            </a:r>
            <a:r>
              <a:rPr lang="zh-CN" altLang="en-US" sz="4000" dirty="0">
                <a:solidFill>
                  <a:schemeClr val="tx1"/>
                </a:solidFill>
              </a:rPr>
              <a:t>则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11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</a:rPr>
              <a:t>与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5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5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 </a:t>
            </a:r>
            <a:r>
              <a:rPr lang="zh-CN" altLang="en-US" sz="4000" dirty="0">
                <a:solidFill>
                  <a:schemeClr val="tx1"/>
                </a:solidFill>
              </a:rPr>
              <a:t>同构。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(9)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, * &gt;</a:t>
            </a:r>
            <a:r>
              <a:rPr lang="zh-CN" altLang="zh-CN" sz="4000" dirty="0">
                <a:solidFill>
                  <a:schemeClr val="tx1"/>
                </a:solidFill>
              </a:rPr>
              <a:t>是群，</a:t>
            </a:r>
            <a:r>
              <a:rPr lang="en-US" altLang="zh-CN" sz="4000" b="1" i="1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|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|=6</a:t>
            </a:r>
            <a:r>
              <a:rPr lang="zh-CN" altLang="zh-CN" sz="4000" dirty="0">
                <a:solidFill>
                  <a:schemeClr val="tx1"/>
                </a:solidFill>
              </a:rPr>
              <a:t>，则它一定没有</a:t>
            </a:r>
            <a:r>
              <a:rPr lang="en-US" altLang="zh-CN" sz="4000" dirty="0">
                <a:solidFill>
                  <a:schemeClr val="tx1"/>
                </a:solidFill>
              </a:rPr>
              <a:t>4 </a:t>
            </a:r>
            <a:r>
              <a:rPr lang="zh-CN" altLang="zh-CN" sz="4000" dirty="0">
                <a:solidFill>
                  <a:schemeClr val="tx1"/>
                </a:solidFill>
              </a:rPr>
              <a:t>阶子群。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(10)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&lt;H1,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和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&lt;H2,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是群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&lt;G,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的子群，则 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&lt;H1  H2,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&lt;G,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的子群。</a:t>
            </a: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(11)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循环群有且只有两个生成元。</a:t>
            </a:r>
            <a:endParaRPr lang="en-US" altLang="zh-CN" sz="40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(12)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除环是含幺的无零因子环。 </a:t>
            </a:r>
            <a:endParaRPr lang="en-US" altLang="zh-CN" sz="40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(13)</a:t>
            </a:r>
            <a:r>
              <a:rPr lang="zh-CN" altLang="en-US" sz="4000" dirty="0">
                <a:solidFill>
                  <a:srgbClr val="000000"/>
                </a:solidFill>
                <a:sym typeface="Symbol" panose="05050102010706020507" pitchFamily="18" charset="2"/>
              </a:rPr>
              <a:t>可交换的除环是域</a:t>
            </a:r>
            <a:r>
              <a:rPr lang="zh-CN" altLang="en-US" sz="4000" dirty="0">
                <a:sym typeface="Symbol" panose="05050102010706020507" pitchFamily="18" charset="2"/>
              </a:rPr>
              <a:t>。</a:t>
            </a:r>
            <a:endParaRPr lang="en-US" altLang="zh-CN" sz="40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(14)</a:t>
            </a:r>
            <a:r>
              <a:rPr lang="zh-CN" altLang="en-US" sz="4000" dirty="0">
                <a:solidFill>
                  <a:srgbClr val="000000"/>
                </a:solidFill>
                <a:sym typeface="Symbol" panose="05050102010706020507" pitchFamily="18" charset="2"/>
              </a:rPr>
              <a:t>整环一定是域。</a:t>
            </a:r>
            <a:endParaRPr lang="en-US" altLang="zh-CN" sz="40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(15)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&lt;F,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是域，</a:t>
            </a:r>
            <a:r>
              <a:rPr lang="en-US" altLang="zh-CN" sz="4000" dirty="0">
                <a:solidFill>
                  <a:schemeClr val="tx1"/>
                </a:solidFill>
              </a:rPr>
              <a:t>&lt;R,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</a:t>
            </a:r>
            <a:r>
              <a:rPr lang="en-US" altLang="zh-CN" sz="4000" dirty="0">
                <a:solidFill>
                  <a:schemeClr val="tx1"/>
                </a:solidFill>
              </a:rPr>
              <a:t>&lt;F,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的子环，则</a:t>
            </a:r>
            <a:r>
              <a:rPr lang="en-US" altLang="zh-CN" sz="4000" dirty="0">
                <a:solidFill>
                  <a:schemeClr val="tx1"/>
                </a:solidFill>
              </a:rPr>
              <a:t>&lt;R,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是整环。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23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504" y="234285"/>
            <a:ext cx="777686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2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设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en-US" altLang="zh-CN" sz="2400" dirty="0">
                <a:sym typeface="Symbol" pitchFamily="18" charset="2"/>
              </a:rPr>
              <a:t>10</a:t>
            </a:r>
            <a:r>
              <a:rPr lang="zh-CN" altLang="en-US" sz="2400" dirty="0">
                <a:sym typeface="Symbol" pitchFamily="18" charset="2"/>
              </a:rPr>
              <a:t>阶群的生成元，则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en-US" altLang="zh-CN" sz="2400" baseline="300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和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en-US" altLang="zh-CN" sz="2400" baseline="30000" dirty="0">
                <a:sym typeface="Symbol" pitchFamily="18" charset="2"/>
              </a:rPr>
              <a:t>4</a:t>
            </a:r>
            <a:r>
              <a:rPr lang="zh-CN" altLang="en-US" sz="2400" dirty="0">
                <a:sym typeface="Symbol" pitchFamily="18" charset="2"/>
              </a:rPr>
              <a:t>是几阶元素？</a:t>
            </a:r>
          </a:p>
        </p:txBody>
      </p:sp>
      <p:sp>
        <p:nvSpPr>
          <p:cNvPr id="5" name="矩形 4"/>
          <p:cNvSpPr/>
          <p:nvPr/>
        </p:nvSpPr>
        <p:spPr>
          <a:xfrm>
            <a:off x="252719" y="1064640"/>
            <a:ext cx="88719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>
              <a:defRPr/>
            </a:pPr>
            <a:r>
              <a:rPr lang="en-US" altLang="zh-CN" sz="2400" dirty="0">
                <a:sym typeface="Symbol" pitchFamily="18" charset="2"/>
              </a:rPr>
              <a:t>3 </a:t>
            </a:r>
            <a:r>
              <a:rPr lang="en-US" altLang="zh-CN" sz="2400" baseline="30000" dirty="0">
                <a:sym typeface="Symbol" pitchFamily="18" charset="2"/>
              </a:rPr>
              <a:t>(20%)</a:t>
            </a:r>
            <a:r>
              <a:rPr lang="zh-CN" altLang="en-US" sz="2400" dirty="0">
                <a:sym typeface="Symbol" pitchFamily="18" charset="2"/>
              </a:rPr>
              <a:t>证明：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是交换群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zh-CN" altLang="en-US" sz="2400" dirty="0">
                <a:sym typeface="Symbol" pitchFamily="18" charset="2"/>
              </a:rPr>
              <a:t>的幺元，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(S,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的子群，定义</a:t>
            </a:r>
            <a:r>
              <a:rPr lang="en-US" altLang="zh-CN" sz="2400" dirty="0">
                <a:sym typeface="Symbol" pitchFamily="18" charset="2"/>
              </a:rPr>
              <a:t>G</a:t>
            </a:r>
            <a:r>
              <a:rPr lang="zh-CN" altLang="en-US" sz="2400" dirty="0">
                <a:sym typeface="Symbol" pitchFamily="18" charset="2"/>
              </a:rPr>
              <a:t>上的二元关系</a:t>
            </a:r>
            <a:r>
              <a:rPr lang="en-US" altLang="zh-CN" sz="2400" dirty="0">
                <a:sym typeface="Symbol" pitchFamily="18" charset="2"/>
              </a:rPr>
              <a:t>R</a:t>
            </a:r>
            <a:r>
              <a:rPr lang="zh-CN" altLang="en-US" sz="2400" dirty="0">
                <a:sym typeface="Symbol" pitchFamily="18" charset="2"/>
              </a:rPr>
              <a:t>如下：</a:t>
            </a:r>
            <a:endParaRPr lang="en-US" altLang="zh-CN" sz="2400" dirty="0">
              <a:sym typeface="Symbol" pitchFamily="18" charset="2"/>
            </a:endParaRPr>
          </a:p>
          <a:p>
            <a:pPr marL="457200" indent="-457200"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     </a:t>
            </a:r>
            <a:r>
              <a:rPr lang="zh-CN" altLang="en-US" sz="2400" dirty="0">
                <a:sym typeface="Symbol" pitchFamily="18" charset="2"/>
              </a:rPr>
              <a:t></a:t>
            </a:r>
            <a:r>
              <a:rPr lang="en-US" altLang="zh-CN" sz="2400" dirty="0" err="1"/>
              <a:t>x</a:t>
            </a:r>
            <a:r>
              <a:rPr lang="en-US" altLang="zh-CN" sz="2400" dirty="0" err="1">
                <a:sym typeface="Symbol" pitchFamily="18" charset="2"/>
              </a:rPr>
              <a:t>,y</a:t>
            </a:r>
            <a:r>
              <a:rPr lang="en-US" altLang="zh-CN" sz="2400" dirty="0" err="1"/>
              <a:t>G</a:t>
            </a:r>
            <a:r>
              <a:rPr lang="en-US" altLang="zh-CN" sz="2400" dirty="0"/>
              <a:t>, 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itchFamily="18" charset="2"/>
              </a:rPr>
              <a:t>R </a:t>
            </a:r>
            <a:r>
              <a:rPr lang="zh-CN" altLang="en-US" sz="2400" dirty="0">
                <a:sym typeface="Symbol" pitchFamily="18" charset="2"/>
              </a:rPr>
              <a:t></a:t>
            </a:r>
            <a:r>
              <a:rPr lang="en-US" altLang="zh-CN" sz="2400" dirty="0">
                <a:sym typeface="Symbol" pitchFamily="18" charset="2"/>
              </a:rPr>
              <a:t>(</a:t>
            </a:r>
            <a:r>
              <a:rPr lang="en-US" altLang="zh-CN" sz="2400" dirty="0" err="1">
                <a:sym typeface="Symbol" pitchFamily="18" charset="2"/>
              </a:rPr>
              <a:t>aS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 </a:t>
            </a:r>
            <a:r>
              <a:rPr lang="en-US" altLang="zh-CN" sz="2400" dirty="0">
                <a:sym typeface="Symbol" pitchFamily="18" charset="2"/>
              </a:rPr>
              <a:t>(x</a:t>
            </a:r>
            <a:r>
              <a:rPr lang="en-US" altLang="zh-CN" sz="2400" dirty="0">
                <a:latin typeface="宋体" pitchFamily="2" charset="-122"/>
              </a:rPr>
              <a:t>*a=a</a:t>
            </a:r>
            <a:r>
              <a:rPr lang="en-US" altLang="zh-CN" sz="2400" baseline="30000" dirty="0"/>
              <a:t>-1</a:t>
            </a:r>
            <a:r>
              <a:rPr lang="en-US" altLang="zh-CN" sz="2400" dirty="0">
                <a:latin typeface="宋体" pitchFamily="2" charset="-122"/>
              </a:rPr>
              <a:t>*</a:t>
            </a:r>
            <a:r>
              <a:rPr lang="en-US" altLang="zh-CN" sz="2400" dirty="0"/>
              <a:t>y</a:t>
            </a:r>
            <a:r>
              <a:rPr lang="en-US" altLang="zh-CN" sz="2400" dirty="0">
                <a:sym typeface="Symbol" pitchFamily="18" charset="2"/>
              </a:rPr>
              <a:t>)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(1) </a:t>
            </a:r>
            <a:r>
              <a:rPr lang="en-US" altLang="zh-CN" sz="2400" baseline="30000" dirty="0">
                <a:solidFill>
                  <a:srgbClr val="000000"/>
                </a:solidFill>
                <a:sym typeface="Symbol" pitchFamily="18" charset="2"/>
              </a:rPr>
              <a:t>(11%)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R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上的等价关系。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(2) </a:t>
            </a:r>
            <a:r>
              <a:rPr lang="en-US" altLang="zh-CN" sz="2400" baseline="30000" dirty="0">
                <a:solidFill>
                  <a:srgbClr val="000000"/>
                </a:solidFill>
                <a:sym typeface="Symbol" pitchFamily="18" charset="2"/>
              </a:rPr>
              <a:t>(9%)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 =(N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, +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，</a:t>
            </a:r>
            <a:r>
              <a:rPr lang="en-US" altLang="zh-CN" sz="2400" dirty="0">
                <a:sym typeface="Symbol" pitchFamily="18" charset="2"/>
              </a:rPr>
              <a:t>S={[0]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,[2]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 ,[4]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}</a:t>
            </a:r>
            <a:r>
              <a:rPr lang="zh-CN" altLang="en-US" sz="2400" dirty="0">
                <a:sym typeface="Symbol" pitchFamily="18" charset="2"/>
              </a:rPr>
              <a:t>，求出</a:t>
            </a:r>
            <a:r>
              <a:rPr lang="en-US" altLang="zh-CN" sz="2400" dirty="0">
                <a:sym typeface="Symbol" pitchFamily="18" charset="2"/>
              </a:rPr>
              <a:t>R</a:t>
            </a:r>
            <a:r>
              <a:rPr lang="zh-CN" altLang="en-US" sz="2400" dirty="0">
                <a:sym typeface="Symbol" pitchFamily="18" charset="2"/>
              </a:rPr>
              <a:t>的等价类</a:t>
            </a:r>
            <a:r>
              <a:rPr lang="en-US" altLang="zh-CN" sz="2400" dirty="0">
                <a:sym typeface="Symbol" pitchFamily="18" charset="2"/>
              </a:rPr>
              <a:t>[ [1]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 ]</a:t>
            </a:r>
            <a:r>
              <a:rPr lang="en-US" altLang="zh-CN" sz="2400" baseline="-25000" dirty="0">
                <a:sym typeface="Symbol" pitchFamily="18" charset="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1520" y="3717032"/>
            <a:ext cx="8871942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4  (</a:t>
            </a:r>
            <a:r>
              <a:rPr lang="en-US" altLang="zh-CN" sz="2400" baseline="30000" dirty="0">
                <a:solidFill>
                  <a:srgbClr val="000000"/>
                </a:solidFill>
              </a:rPr>
              <a:t>25%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zh-CN" altLang="en-US" sz="2400" dirty="0">
                <a:solidFill>
                  <a:srgbClr val="000000"/>
                </a:solidFill>
              </a:rPr>
              <a:t>已知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和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是环</a:t>
            </a:r>
            <a:r>
              <a:rPr lang="en-US" altLang="zh-CN" sz="2400" dirty="0"/>
              <a:t>〈</a:t>
            </a:r>
            <a:r>
              <a:rPr lang="en-US" altLang="zh-CN" sz="2400" i="1" dirty="0"/>
              <a:t>R</a:t>
            </a:r>
            <a:r>
              <a:rPr lang="en-US" altLang="zh-CN" sz="2400" dirty="0"/>
              <a:t> 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的两个子环。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dirty="0"/>
              <a:t>(1) </a:t>
            </a:r>
            <a:r>
              <a:rPr lang="en-US" altLang="zh-CN" sz="2400" baseline="30000" dirty="0"/>
              <a:t>14% </a:t>
            </a:r>
            <a:r>
              <a:rPr lang="zh-CN" altLang="en-US" sz="2400" dirty="0">
                <a:sym typeface="Symbol" panose="05050102010706020507" pitchFamily="18" charset="2"/>
              </a:rPr>
              <a:t>证明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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 ,</a:t>
            </a:r>
            <a:r>
              <a:rPr lang="en-US" altLang="zh-CN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)</a:t>
            </a:r>
            <a:r>
              <a:rPr lang="zh-CN" altLang="en-US" sz="2400" dirty="0">
                <a:sym typeface="Symbol" panose="05050102010706020507" pitchFamily="18" charset="2"/>
              </a:rPr>
              <a:t>也是</a:t>
            </a:r>
            <a:r>
              <a:rPr lang="zh-CN" altLang="en-US" sz="2400" dirty="0"/>
              <a:t>环</a:t>
            </a:r>
            <a:r>
              <a:rPr lang="en-US" altLang="zh-CN" sz="2400" dirty="0"/>
              <a:t>(R,</a:t>
            </a:r>
            <a:r>
              <a:rPr lang="en-US" altLang="zh-CN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</a:t>
            </a:r>
            <a:r>
              <a:rPr lang="en-US" altLang="zh-CN" sz="2400" dirty="0"/>
              <a:t>) </a:t>
            </a:r>
            <a:r>
              <a:rPr lang="zh-CN" altLang="en-US" sz="2400" dirty="0"/>
              <a:t>的一个子环。</a:t>
            </a:r>
            <a:endParaRPr lang="en-US" altLang="zh-CN" sz="2400" baseline="30000" dirty="0"/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altLang="zh-CN" sz="2400" dirty="0"/>
              <a:t>(2) </a:t>
            </a:r>
            <a:r>
              <a:rPr lang="en-US" altLang="zh-CN" sz="2400" baseline="30000" dirty="0"/>
              <a:t>5%</a:t>
            </a:r>
            <a:r>
              <a:rPr lang="en-US" altLang="zh-CN" sz="2400" dirty="0"/>
              <a:t>〈 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zh-CN" altLang="en-US" sz="2400" dirty="0">
                <a:latin typeface="Lucida Sans Unicode"/>
                <a:cs typeface="Lucida Sans Unicode"/>
                <a:sym typeface="Symbol"/>
              </a:rPr>
              <a:t>∪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是环</a:t>
            </a:r>
            <a:r>
              <a:rPr lang="en-US" altLang="zh-CN" sz="2400" dirty="0"/>
              <a:t>〈</a:t>
            </a:r>
            <a:r>
              <a:rPr lang="en-US" altLang="zh-CN" sz="2400" i="1" dirty="0"/>
              <a:t>R</a:t>
            </a:r>
            <a:r>
              <a:rPr lang="en-US" altLang="zh-CN" sz="2400" dirty="0"/>
              <a:t> 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的一个子环吗？请给出理由。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altLang="zh-CN" sz="2400" dirty="0"/>
              <a:t>(3)</a:t>
            </a:r>
            <a:r>
              <a:rPr lang="en-US" altLang="zh-CN" sz="2400" baseline="30000" dirty="0"/>
              <a:t> 6%</a:t>
            </a:r>
            <a:r>
              <a:rPr lang="zh-CN" altLang="en-US" sz="2400" dirty="0"/>
              <a:t>如果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和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都是无零因子环，那么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∩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i="1" dirty="0"/>
              <a:t>一</a:t>
            </a:r>
            <a:r>
              <a:rPr lang="zh-CN" altLang="en-US" sz="2400" dirty="0"/>
              <a:t>定是无零因子环吗？请阐述理由。</a:t>
            </a:r>
            <a:endParaRPr lang="zh-CN" alt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840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7CBE2-1EEA-5AB9-8C67-0733EE06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1E982CE-7F60-03AE-FE75-29C32FFD2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10883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6F082-81AD-E674-9760-A39BA23C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30EC6B-717B-9F75-EA0F-3B1D6EA33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957392"/>
          </a:xfrm>
        </p:spPr>
      </p:pic>
    </p:spTree>
    <p:extLst>
      <p:ext uri="{BB962C8B-B14F-4D97-AF65-F5344CB8AC3E}">
        <p14:creationId xmlns:p14="http://schemas.microsoft.com/office/powerpoint/2010/main" val="419237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248400"/>
            <a:ext cx="1905000" cy="457200"/>
          </a:xfrm>
        </p:spPr>
        <p:txBody>
          <a:bodyPr/>
          <a:lstStyle/>
          <a:p>
            <a:pPr>
              <a:defRPr/>
            </a:pPr>
            <a:fld id="{1F8A8474-C51B-43F4-8C99-804B01BC2C3D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99592" y="-41184"/>
            <a:ext cx="7543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/>
              <a:t>课堂练习五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r>
                  <a:rPr lang="en-US" altLang="zh-CN" sz="3800" dirty="0">
                    <a:solidFill>
                      <a:schemeClr val="tx1"/>
                    </a:solidFill>
                  </a:rPr>
                  <a:t>1   </a:t>
                </a:r>
                <a:r>
                  <a:rPr lang="en-US" altLang="zh-CN" sz="3800" baseline="30000" dirty="0">
                    <a:solidFill>
                      <a:schemeClr val="tx1"/>
                    </a:solidFill>
                  </a:rPr>
                  <a:t>(48%)</a:t>
                </a:r>
                <a:r>
                  <a:rPr lang="zh-CN" altLang="en-US" sz="3800" dirty="0">
                    <a:solidFill>
                      <a:schemeClr val="tx1"/>
                    </a:solidFill>
                  </a:rPr>
                  <a:t>判断题</a:t>
                </a:r>
                <a:r>
                  <a:rPr lang="en-US" altLang="zh-CN" sz="3800" dirty="0">
                    <a:solidFill>
                      <a:schemeClr val="tx1"/>
                    </a:solidFill>
                  </a:rPr>
                  <a:t>(T  /   F)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无平行边、无自环的图称为简单图。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(2) 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个结点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条边的有向完全图满足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m=n(n-1)/2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和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G=(V, E)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是两个图，若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VV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E E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，则称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为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的生成子图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中所有结点的度之和等于边数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(5)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在一次集会上和奇数个人握过手的人的数目是奇数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初级路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一定是简单路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(7)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在简单有向图中，每一个结点及每一条边都恰在一强连通支中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(8)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在有向图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的邻接矩阵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中，其列和等于对应结点的出度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(9) 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图未必是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 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，但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图一定是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(10)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itchFamily="18" charset="2"/>
                  </a:rPr>
                  <a:t>图的闭包一定是完全图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(11)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强连通图一定是有向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(12)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设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G=(V1,V2,E)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是二分图，若红、蓝着色结点的数目相同，则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在二分图中，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完美匹配一定是唯一的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具有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个结点、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个分图的森林，有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m=n-p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条边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(15)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在一棵树中，度数为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个，则度数为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en-US" altLang="zh-CN" sz="4000" dirty="0" err="1">
                    <a:solidFill>
                      <a:schemeClr val="tx1"/>
                    </a:solidFill>
                    <a:sym typeface="Symbol" pitchFamily="18" charset="2"/>
                  </a:rPr>
                  <a:t>n,m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无向图，且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4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≤</m:t>
                    </m:r>
                  </m:oMath>
                </a14:m>
                <a:r>
                  <a:rPr lang="en-US" altLang="zh-CN" sz="4000" dirty="0">
                    <a:solidFill>
                      <a:schemeClr val="tx1"/>
                    </a:solidFill>
                  </a:rPr>
                  <a:t>m,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则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中一定有圈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  <a:blipFill>
                <a:blip r:embed="rId2"/>
                <a:stretch>
                  <a:fillRect l="-608" t="-1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0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81000" indent="-381000" algn="just">
                  <a:lnSpc>
                    <a:spcPct val="90000"/>
                  </a:lnSpc>
                  <a:defRPr/>
                </a:pPr>
                <a:r>
                  <a:rPr lang="en-US" altLang="zh-CN" sz="2400" dirty="0">
                    <a:sym typeface="Symbol" pitchFamily="18" charset="2"/>
                  </a:rPr>
                  <a:t>  2 (</a:t>
                </a:r>
                <a:r>
                  <a:rPr lang="en-US" altLang="zh-CN" sz="2400" baseline="30000" dirty="0">
                    <a:sym typeface="Symbol" pitchFamily="18" charset="2"/>
                  </a:rPr>
                  <a:t>12%</a:t>
                </a:r>
                <a:r>
                  <a:rPr lang="en-US" altLang="zh-CN" sz="2400" dirty="0">
                    <a:sym typeface="Symbol" pitchFamily="18" charset="2"/>
                  </a:rPr>
                  <a:t>)</a:t>
                </a:r>
                <a:r>
                  <a:rPr lang="zh-CN" altLang="en-US" sz="2400" dirty="0">
                    <a:sym typeface="Symbol" pitchFamily="18" charset="2"/>
                  </a:rPr>
                  <a:t>图</a:t>
                </a:r>
                <a:r>
                  <a:rPr lang="en-US" altLang="zh-CN" sz="2400" dirty="0">
                    <a:sym typeface="Symbol" pitchFamily="18" charset="2"/>
                  </a:rPr>
                  <a:t>1</a:t>
                </a:r>
                <a:r>
                  <a:rPr lang="zh-CN" altLang="en-US" sz="2400" dirty="0">
                    <a:sym typeface="Symbol" pitchFamily="18" charset="2"/>
                  </a:rPr>
                  <a:t>如下所示，求出从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的最短路径及最短路长，并求出其最小生成树。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  <a:blipFill>
                <a:blip r:embed="rId2"/>
                <a:stretch>
                  <a:fillRect t="-14516" r="-1065"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8">
            <a:extLst>
              <a:ext uri="{FF2B5EF4-FFF2-40B4-BE49-F238E27FC236}">
                <a16:creationId xmlns:a16="http://schemas.microsoft.com/office/drawing/2014/main" id="{5B69476C-A7CC-7CC6-8702-14BC2236A2FC}"/>
              </a:ext>
            </a:extLst>
          </p:cNvPr>
          <p:cNvGrpSpPr>
            <a:grpSpLocks/>
          </p:cNvGrpSpPr>
          <p:nvPr/>
        </p:nvGrpSpPr>
        <p:grpSpPr bwMode="auto">
          <a:xfrm>
            <a:off x="175320" y="587005"/>
            <a:ext cx="4552950" cy="2365375"/>
            <a:chOff x="2724" y="2496"/>
            <a:chExt cx="2868" cy="1490"/>
          </a:xfrm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E11CBA05-B872-1CD8-D31A-BF7E77C1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10EC13-CC61-DA13-18FE-E9000E71E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7AE3C5-07AB-B1A2-908D-4DD4FC152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772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486E68-5823-9EA8-764B-10E2E65D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62ECA9-1E6A-E4F0-D680-D1FE80B09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FCDE141-6571-8026-D0BA-BFAD856D9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2777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254AFD5-AC82-91EC-E2BD-303E092AD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844"/>
              <a:ext cx="525" cy="402"/>
            </a:xfrm>
            <a:custGeom>
              <a:avLst/>
              <a:gdLst>
                <a:gd name="T0" fmla="*/ 0 w 525"/>
                <a:gd name="T1" fmla="*/ 402 h 402"/>
                <a:gd name="T2" fmla="*/ 525 w 525"/>
                <a:gd name="T3" fmla="*/ 0 h 402"/>
                <a:gd name="T4" fmla="*/ 0 60000 65536"/>
                <a:gd name="T5" fmla="*/ 0 60000 65536"/>
                <a:gd name="T6" fmla="*/ 0 w 525"/>
                <a:gd name="T7" fmla="*/ 0 h 402"/>
                <a:gd name="T8" fmla="*/ 525 w 525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402">
                  <a:moveTo>
                    <a:pt x="0" y="402"/>
                  </a:moveTo>
                  <a:lnTo>
                    <a:pt x="5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25383D0-6584-FE5E-8B23-393AE733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3312"/>
              <a:ext cx="525" cy="393"/>
            </a:xfrm>
            <a:custGeom>
              <a:avLst/>
              <a:gdLst>
                <a:gd name="T0" fmla="*/ 0 w 525"/>
                <a:gd name="T1" fmla="*/ 0 h 393"/>
                <a:gd name="T2" fmla="*/ 525 w 525"/>
                <a:gd name="T3" fmla="*/ 393 h 393"/>
                <a:gd name="T4" fmla="*/ 0 60000 65536"/>
                <a:gd name="T5" fmla="*/ 0 60000 65536"/>
                <a:gd name="T6" fmla="*/ 0 w 525"/>
                <a:gd name="T7" fmla="*/ 0 h 393"/>
                <a:gd name="T8" fmla="*/ 525 w 525"/>
                <a:gd name="T9" fmla="*/ 393 h 3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393">
                  <a:moveTo>
                    <a:pt x="0" y="0"/>
                  </a:moveTo>
                  <a:lnTo>
                    <a:pt x="525" y="39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44127DB-FEE4-EE29-AE01-4703A00FF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841"/>
              <a:ext cx="522" cy="402"/>
            </a:xfrm>
            <a:custGeom>
              <a:avLst/>
              <a:gdLst>
                <a:gd name="T0" fmla="*/ 0 w 522"/>
                <a:gd name="T1" fmla="*/ 0 h 402"/>
                <a:gd name="T2" fmla="*/ 522 w 522"/>
                <a:gd name="T3" fmla="*/ 402 h 402"/>
                <a:gd name="T4" fmla="*/ 0 60000 65536"/>
                <a:gd name="T5" fmla="*/ 0 60000 65536"/>
                <a:gd name="T6" fmla="*/ 0 w 522"/>
                <a:gd name="T7" fmla="*/ 0 h 402"/>
                <a:gd name="T8" fmla="*/ 522 w 522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2" h="402">
                  <a:moveTo>
                    <a:pt x="0" y="0"/>
                  </a:moveTo>
                  <a:lnTo>
                    <a:pt x="522" y="40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B9BEE2C-212F-9D7C-8B65-1F85196D5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3309"/>
              <a:ext cx="513" cy="399"/>
            </a:xfrm>
            <a:custGeom>
              <a:avLst/>
              <a:gdLst>
                <a:gd name="T0" fmla="*/ 0 w 513"/>
                <a:gd name="T1" fmla="*/ 399 h 399"/>
                <a:gd name="T2" fmla="*/ 513 w 513"/>
                <a:gd name="T3" fmla="*/ 0 h 399"/>
                <a:gd name="T4" fmla="*/ 0 60000 65536"/>
                <a:gd name="T5" fmla="*/ 0 60000 65536"/>
                <a:gd name="T6" fmla="*/ 0 w 513"/>
                <a:gd name="T7" fmla="*/ 0 h 399"/>
                <a:gd name="T8" fmla="*/ 513 w 513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3" h="399">
                  <a:moveTo>
                    <a:pt x="0" y="399"/>
                  </a:moveTo>
                  <a:lnTo>
                    <a:pt x="51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AA52CA38-7E90-84C5-74A5-7E3AEEEF6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282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5FDF966-5A1A-BAC8-130E-66DEC9278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3732"/>
              <a:ext cx="1008" cy="1"/>
            </a:xfrm>
            <a:custGeom>
              <a:avLst/>
              <a:gdLst>
                <a:gd name="T0" fmla="*/ 0 w 1008"/>
                <a:gd name="T1" fmla="*/ 0 h 1"/>
                <a:gd name="T2" fmla="*/ 1008 w 1008"/>
                <a:gd name="T3" fmla="*/ 0 h 1"/>
                <a:gd name="T4" fmla="*/ 0 60000 65536"/>
                <a:gd name="T5" fmla="*/ 0 60000 65536"/>
                <a:gd name="T6" fmla="*/ 0 w 1008"/>
                <a:gd name="T7" fmla="*/ 0 h 1"/>
                <a:gd name="T8" fmla="*/ 1008 w 100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8" h="1">
                  <a:moveTo>
                    <a:pt x="0" y="0"/>
                  </a:moveTo>
                  <a:lnTo>
                    <a:pt x="100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4F9DEFC-CBD4-637D-7F3E-92AD43745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E5CD5F97-CB3C-B451-78D8-11F47343E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8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C81E5-E030-D3BB-ACA2-46EAEA8FF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856"/>
              <a:ext cx="1035" cy="846"/>
            </a:xfrm>
            <a:custGeom>
              <a:avLst/>
              <a:gdLst>
                <a:gd name="T0" fmla="*/ 0 w 1035"/>
                <a:gd name="T1" fmla="*/ 0 h 846"/>
                <a:gd name="T2" fmla="*/ 1035 w 1035"/>
                <a:gd name="T3" fmla="*/ 846 h 846"/>
                <a:gd name="T4" fmla="*/ 0 60000 65536"/>
                <a:gd name="T5" fmla="*/ 0 60000 65536"/>
                <a:gd name="T6" fmla="*/ 0 w 1035"/>
                <a:gd name="T7" fmla="*/ 0 h 846"/>
                <a:gd name="T8" fmla="*/ 1035 w 1035"/>
                <a:gd name="T9" fmla="*/ 846 h 8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35" h="846">
                  <a:moveTo>
                    <a:pt x="0" y="0"/>
                  </a:moveTo>
                  <a:lnTo>
                    <a:pt x="1035" y="84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674391F7-3039-5BE7-E4A9-EA2657A70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62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7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614E0F40-53B8-D71D-A235-05EB0E933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" y="249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4EB87D44-A38D-285E-0BBC-8445A1469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" y="31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  <a:endParaRPr lang="en-US" altLang="zh-CN" sz="2400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E44081A1-2F4C-FCD5-2E67-3988C794E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7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  <a:endParaRPr lang="en-US" altLang="zh-CN" sz="2400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FF84C710-72DC-90E8-0E41-39834579C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2520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  <a:endParaRPr lang="en-US" altLang="zh-CN" sz="2400"/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E8E3EF95-8F7A-BCB5-CDC0-DBEC0D0D4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" y="375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E3BDFDBD-07D4-0E9B-72D1-E0624BAD2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314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0</a:t>
              </a:r>
              <a:endParaRPr lang="en-US" altLang="zh-CN" sz="2400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0DA41AEB-AA6C-E852-C316-2BC5CAE33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304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5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DFB35489-C79A-0237-AAD1-699350C4A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54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06E1B219-20A5-DA79-CF58-F36BDF6CD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1B66EFF3-8656-DF5D-117F-73EF688F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28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AA9895BF-6C47-03F7-B5D7-B368E7FF2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4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6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AEB8E87E-A275-7B47-34E3-531BAA952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2A43EC13-A433-4B43-A7B0-664B4FED2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28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6803B1F8-A411-F7D4-8D22-CB94954A4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350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0D985F45-91C5-3329-7CDA-3C09F056D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" y="2860"/>
              <a:ext cx="2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3C5F6B0-8D0D-0AC2-16D1-525463CE7A82}"/>
              </a:ext>
            </a:extLst>
          </p:cNvPr>
          <p:cNvSpPr/>
          <p:nvPr/>
        </p:nvSpPr>
        <p:spPr>
          <a:xfrm>
            <a:off x="151399" y="301448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3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欧拉图吗？请说明理由。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CF34F36-D3D8-F260-2F83-D25D6E775A13}"/>
              </a:ext>
            </a:extLst>
          </p:cNvPr>
          <p:cNvGrpSpPr/>
          <p:nvPr/>
        </p:nvGrpSpPr>
        <p:grpSpPr>
          <a:xfrm>
            <a:off x="5159866" y="487698"/>
            <a:ext cx="3664309" cy="2042369"/>
            <a:chOff x="5159866" y="860215"/>
            <a:chExt cx="3664309" cy="2042369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FFA3162A-1DCD-804D-8CC9-6AB5F2333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9866" y="860215"/>
              <a:ext cx="3131840" cy="2042369"/>
            </a:xfrm>
            <a:prstGeom prst="rect">
              <a:avLst/>
            </a:prstGeom>
          </p:spPr>
        </p:pic>
        <p:sp>
          <p:nvSpPr>
            <p:cNvPr id="40" name="Text Box 36">
              <a:extLst>
                <a:ext uri="{FF2B5EF4-FFF2-40B4-BE49-F238E27FC236}">
                  <a16:creationId xmlns:a16="http://schemas.microsoft.com/office/drawing/2014/main" id="{9237A565-7796-FEFD-3AFD-7FF4DF7DB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6025" y="1637910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853799B-FF78-D35B-4262-CC174AAAE522}"/>
              </a:ext>
            </a:extLst>
          </p:cNvPr>
          <p:cNvSpPr/>
          <p:nvPr/>
        </p:nvSpPr>
        <p:spPr>
          <a:xfrm>
            <a:off x="169380" y="349215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4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哈密尔顿图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3AB71D-8D41-0556-3939-8931AB65A95A}"/>
              </a:ext>
            </a:extLst>
          </p:cNvPr>
          <p:cNvSpPr/>
          <p:nvPr/>
        </p:nvSpPr>
        <p:spPr>
          <a:xfrm>
            <a:off x="169380" y="398603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5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4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平面图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F58B37-EBE4-DCA5-EF0F-04498422D503}"/>
              </a:ext>
            </a:extLst>
          </p:cNvPr>
          <p:cNvSpPr/>
          <p:nvPr/>
        </p:nvSpPr>
        <p:spPr>
          <a:xfrm>
            <a:off x="169380" y="4452363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6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5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二分图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EE3588F-42E7-5776-9358-E0C9D19E5E3F}"/>
              </a:ext>
            </a:extLst>
          </p:cNvPr>
          <p:cNvGrpSpPr/>
          <p:nvPr/>
        </p:nvGrpSpPr>
        <p:grpSpPr>
          <a:xfrm>
            <a:off x="5989814" y="2655049"/>
            <a:ext cx="2520967" cy="2090389"/>
            <a:chOff x="5989814" y="2655049"/>
            <a:chExt cx="2520967" cy="2090389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C77E7719-B8C6-2E55-6A02-8BF3307E5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9814" y="2655049"/>
              <a:ext cx="1998705" cy="2090389"/>
            </a:xfrm>
            <a:prstGeom prst="rect">
              <a:avLst/>
            </a:prstGeom>
          </p:spPr>
        </p:pic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58D96032-98C0-2F11-9727-BDDE2A16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2631" y="3450801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03AC5D7-B0CC-96F5-7222-D369A1F22B6D}"/>
              </a:ext>
            </a:extLst>
          </p:cNvPr>
          <p:cNvGrpSpPr/>
          <p:nvPr/>
        </p:nvGrpSpPr>
        <p:grpSpPr>
          <a:xfrm>
            <a:off x="739599" y="4859789"/>
            <a:ext cx="2564684" cy="1876447"/>
            <a:chOff x="739599" y="4859789"/>
            <a:chExt cx="2564684" cy="1876447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8E1B7929-F5C7-D40E-B19D-47A8A5815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599" y="4859789"/>
              <a:ext cx="2033741" cy="1876447"/>
            </a:xfrm>
            <a:prstGeom prst="rect">
              <a:avLst/>
            </a:prstGeom>
          </p:spPr>
        </p:pic>
        <p:sp>
          <p:nvSpPr>
            <p:cNvPr id="50" name="Text Box 36">
              <a:extLst>
                <a:ext uri="{FF2B5EF4-FFF2-40B4-BE49-F238E27FC236}">
                  <a16:creationId xmlns:a16="http://schemas.microsoft.com/office/drawing/2014/main" id="{7FF2602E-598D-3C48-7400-454F9DC33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133" y="560424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4</a:t>
              </a:r>
              <a:endParaRPr lang="zh-CN" altLang="en-US" sz="20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8CF82A3-6BB4-3A37-0999-73AD92BBAA7A}"/>
              </a:ext>
            </a:extLst>
          </p:cNvPr>
          <p:cNvGrpSpPr/>
          <p:nvPr/>
        </p:nvGrpSpPr>
        <p:grpSpPr>
          <a:xfrm>
            <a:off x="4044511" y="4843535"/>
            <a:ext cx="2765839" cy="1877460"/>
            <a:chOff x="4044511" y="4843535"/>
            <a:chExt cx="2765839" cy="1877460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C8C9CB17-3527-AA75-F5E6-1DFB7F492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4511" y="4843535"/>
              <a:ext cx="2230710" cy="1877460"/>
            </a:xfrm>
            <a:prstGeom prst="rect">
              <a:avLst/>
            </a:prstGeom>
          </p:spPr>
        </p:pic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A7A9F0C1-61BD-4E76-E848-1322505E8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200" y="561081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5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487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1953</Words>
  <Application>Microsoft Office PowerPoint</Application>
  <PresentationFormat>全屏显示(4:3)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Helvetica Neue</vt:lpstr>
      <vt:lpstr>宋体</vt:lpstr>
      <vt:lpstr>Arial</vt:lpstr>
      <vt:lpstr>Calibri</vt:lpstr>
      <vt:lpstr>Cambria Math</vt:lpstr>
      <vt:lpstr>Lucida Sans Unicode</vt:lpstr>
      <vt:lpstr>Symbol</vt:lpstr>
      <vt:lpstr>Times New Roman</vt:lpstr>
      <vt:lpstr>Wingdings</vt:lpstr>
      <vt:lpstr>Office 主题​​</vt:lpstr>
      <vt:lpstr>课堂练习一</vt:lpstr>
      <vt:lpstr>课堂练习二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安南 杨</cp:lastModifiedBy>
  <cp:revision>27</cp:revision>
  <dcterms:created xsi:type="dcterms:W3CDTF">2019-11-08T06:27:31Z</dcterms:created>
  <dcterms:modified xsi:type="dcterms:W3CDTF">2025-06-16T12:28:54Z</dcterms:modified>
</cp:coreProperties>
</file>