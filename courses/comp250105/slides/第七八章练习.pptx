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4" d="100"/>
          <a:sy n="94" d="100"/>
        </p:scale>
        <p:origin x="1048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7DBF7-EF0F-47A6-B619-69C684492D6C}" type="datetimeFigureOut">
              <a:rPr lang="zh-CN" altLang="en-US" smtClean="0"/>
              <a:t>2025/6/3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04970-4A64-4DFB-87A1-8710849A9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590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7DBF7-EF0F-47A6-B619-69C684492D6C}" type="datetimeFigureOut">
              <a:rPr lang="zh-CN" altLang="en-US" smtClean="0"/>
              <a:t>2025/6/3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04970-4A64-4DFB-87A1-8710849A9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2581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7DBF7-EF0F-47A6-B619-69C684492D6C}" type="datetimeFigureOut">
              <a:rPr lang="zh-CN" altLang="en-US" smtClean="0"/>
              <a:t>2025/6/3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04970-4A64-4DFB-87A1-8710849A9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110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7DBF7-EF0F-47A6-B619-69C684492D6C}" type="datetimeFigureOut">
              <a:rPr lang="zh-CN" altLang="en-US" smtClean="0"/>
              <a:t>2025/6/3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04970-4A64-4DFB-87A1-8710849A9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295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7DBF7-EF0F-47A6-B619-69C684492D6C}" type="datetimeFigureOut">
              <a:rPr lang="zh-CN" altLang="en-US" smtClean="0"/>
              <a:t>2025/6/3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04970-4A64-4DFB-87A1-8710849A9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921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7DBF7-EF0F-47A6-B619-69C684492D6C}" type="datetimeFigureOut">
              <a:rPr lang="zh-CN" altLang="en-US" smtClean="0"/>
              <a:t>2025/6/3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04970-4A64-4DFB-87A1-8710849A9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5687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7DBF7-EF0F-47A6-B619-69C684492D6C}" type="datetimeFigureOut">
              <a:rPr lang="zh-CN" altLang="en-US" smtClean="0"/>
              <a:t>2025/6/3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04970-4A64-4DFB-87A1-8710849A9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4906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7DBF7-EF0F-47A6-B619-69C684492D6C}" type="datetimeFigureOut">
              <a:rPr lang="zh-CN" altLang="en-US" smtClean="0"/>
              <a:t>2025/6/3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04970-4A64-4DFB-87A1-8710849A9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5495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7DBF7-EF0F-47A6-B619-69C684492D6C}" type="datetimeFigureOut">
              <a:rPr lang="zh-CN" altLang="en-US" smtClean="0"/>
              <a:t>2025/6/3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04970-4A64-4DFB-87A1-8710849A9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939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7DBF7-EF0F-47A6-B619-69C684492D6C}" type="datetimeFigureOut">
              <a:rPr lang="zh-CN" altLang="en-US" smtClean="0"/>
              <a:t>2025/6/3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04970-4A64-4DFB-87A1-8710849A9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392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7DBF7-EF0F-47A6-B619-69C684492D6C}" type="datetimeFigureOut">
              <a:rPr lang="zh-CN" altLang="en-US" smtClean="0"/>
              <a:t>2025/6/3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04970-4A64-4DFB-87A1-8710849A9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07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7DBF7-EF0F-47A6-B619-69C684492D6C}" type="datetimeFigureOut">
              <a:rPr lang="zh-CN" altLang="en-US" smtClean="0"/>
              <a:t>2025/6/3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04970-4A64-4DFB-87A1-8710849A9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2407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239000" y="6248400"/>
            <a:ext cx="1905000" cy="457200"/>
          </a:xfrm>
        </p:spPr>
        <p:txBody>
          <a:bodyPr/>
          <a:lstStyle/>
          <a:p>
            <a:pPr>
              <a:defRPr/>
            </a:pPr>
            <a:fld id="{1F8A8474-C51B-43F4-8C99-804B01BC2C3D}" type="slidenum">
              <a:rPr lang="en-US" altLang="zh-CN"/>
              <a:pPr>
                <a:defRPr/>
              </a:pPr>
              <a:t>1</a:t>
            </a:fld>
            <a:endParaRPr lang="en-US" altLang="zh-CN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899592" y="-41184"/>
            <a:ext cx="75438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/>
              <a:t>课堂练习四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/>
              <p:cNvSpPr txBox="1">
                <a:spLocks noChangeArrowheads="1"/>
              </p:cNvSpPr>
              <p:nvPr/>
            </p:nvSpPr>
            <p:spPr>
              <a:xfrm>
                <a:off x="117240" y="496650"/>
                <a:ext cx="9026760" cy="645165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47500" lnSpcReduction="20000"/>
              </a:bodyPr>
              <a:lstStyle>
                <a:lvl1pPr marL="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 algn="just">
                  <a:spcBef>
                    <a:spcPts val="0"/>
                  </a:spcBef>
                  <a:buFont typeface="Wingdings" pitchFamily="2" charset="2"/>
                  <a:buNone/>
                  <a:defRPr/>
                </a:pPr>
                <a:r>
                  <a:rPr lang="en-US" altLang="zh-CN" sz="3800" dirty="0">
                    <a:solidFill>
                      <a:schemeClr val="tx1"/>
                    </a:solidFill>
                  </a:rPr>
                  <a:t>1   </a:t>
                </a:r>
                <a:r>
                  <a:rPr lang="en-US" altLang="zh-CN" sz="3800" baseline="30000" dirty="0">
                    <a:solidFill>
                      <a:schemeClr val="tx1"/>
                    </a:solidFill>
                  </a:rPr>
                  <a:t>(48%)</a:t>
                </a:r>
                <a:r>
                  <a:rPr lang="zh-CN" altLang="en-US" sz="3800" dirty="0">
                    <a:solidFill>
                      <a:schemeClr val="tx1"/>
                    </a:solidFill>
                  </a:rPr>
                  <a:t>判断题</a:t>
                </a:r>
                <a:r>
                  <a:rPr lang="en-US" altLang="zh-CN" sz="3800" dirty="0">
                    <a:solidFill>
                      <a:schemeClr val="tx1"/>
                    </a:solidFill>
                  </a:rPr>
                  <a:t>(T  /   F)</a:t>
                </a:r>
              </a:p>
              <a:p>
                <a:pPr marL="457200" indent="-457200" algn="just">
                  <a:lnSpc>
                    <a:spcPct val="115000"/>
                  </a:lnSpc>
                  <a:spcBef>
                    <a:spcPts val="600"/>
                  </a:spcBef>
                  <a:buFont typeface="Wingdings" pitchFamily="2" charset="2"/>
                  <a:buNone/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(1)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无平行边、无自环的图称为简单图。</a:t>
                </a:r>
                <a:endParaRPr lang="en-US" altLang="zh-CN" sz="4000" dirty="0">
                  <a:solidFill>
                    <a:schemeClr val="tx1"/>
                  </a:solidFill>
                </a:endParaRPr>
              </a:p>
              <a:p>
                <a:pPr marL="457200" indent="-457200" algn="just">
                  <a:lnSpc>
                    <a:spcPct val="115000"/>
                  </a:lnSpc>
                  <a:spcBef>
                    <a:spcPts val="600"/>
                  </a:spcBef>
                  <a:buFont typeface="Wingdings" pitchFamily="2" charset="2"/>
                  <a:buNone/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(2) n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个结点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m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条边的有向完全图满足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m=n(n-1)/2</a:t>
                </a:r>
              </a:p>
              <a:p>
                <a:pPr marL="457200" indent="-457200" algn="just">
                  <a:lnSpc>
                    <a:spcPct val="115000"/>
                  </a:lnSpc>
                  <a:spcBef>
                    <a:spcPts val="600"/>
                  </a:spcBef>
                  <a:buFont typeface="Wingdings" pitchFamily="2" charset="2"/>
                  <a:buNone/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(3)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设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G=(V, E)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和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G=(V, E)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是两个图，若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VV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且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E E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，则称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G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为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G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的生成子图</a:t>
                </a:r>
                <a:endParaRPr lang="en-US" altLang="zh-CN" sz="4000" dirty="0">
                  <a:solidFill>
                    <a:schemeClr val="tx1"/>
                  </a:solidFill>
                  <a:sym typeface="Symbol" pitchFamily="18" charset="2"/>
                </a:endParaRPr>
              </a:p>
              <a:p>
                <a:pPr marL="457200" indent="-457200" algn="just">
                  <a:lnSpc>
                    <a:spcPct val="115000"/>
                  </a:lnSpc>
                  <a:spcBef>
                    <a:spcPts val="600"/>
                  </a:spcBef>
                  <a:buFont typeface="Wingdings" pitchFamily="2" charset="2"/>
                  <a:buNone/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</a:rPr>
                  <a:t>(4)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无向图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G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中所有结点的度之和等于边数</a:t>
                </a:r>
                <a:endParaRPr lang="en-US" altLang="zh-CN" sz="4000" dirty="0">
                  <a:solidFill>
                    <a:schemeClr val="tx1"/>
                  </a:solidFill>
                </a:endParaRPr>
              </a:p>
              <a:p>
                <a:pPr algn="just">
                  <a:lnSpc>
                    <a:spcPct val="115000"/>
                  </a:lnSpc>
                  <a:spcBef>
                    <a:spcPts val="600"/>
                  </a:spcBef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(5)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在一次集会上和奇数个人握过手的人的数目是奇数</a:t>
                </a:r>
                <a:endParaRPr lang="en-US" altLang="zh-CN" sz="4000" dirty="0">
                  <a:solidFill>
                    <a:schemeClr val="tx1"/>
                  </a:solidFill>
                  <a:sym typeface="Symbol" pitchFamily="18" charset="2"/>
                </a:endParaRPr>
              </a:p>
              <a:p>
                <a:pPr algn="just">
                  <a:lnSpc>
                    <a:spcPct val="115000"/>
                  </a:lnSpc>
                  <a:spcBef>
                    <a:spcPts val="600"/>
                  </a:spcBef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(6)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初级路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圈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)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一定是简单路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圈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)</a:t>
                </a:r>
              </a:p>
              <a:p>
                <a:pPr algn="just">
                  <a:lnSpc>
                    <a:spcPct val="115000"/>
                  </a:lnSpc>
                  <a:spcBef>
                    <a:spcPts val="600"/>
                  </a:spcBef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(7)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在简单有向图中，每一个结点及每一条边都恰在一强连通支中</a:t>
                </a:r>
                <a:endParaRPr lang="en-US" altLang="zh-CN" sz="4000" dirty="0">
                  <a:solidFill>
                    <a:schemeClr val="tx1"/>
                  </a:solidFill>
                </a:endParaRPr>
              </a:p>
              <a:p>
                <a:pPr algn="just">
                  <a:lnSpc>
                    <a:spcPct val="115000"/>
                  </a:lnSpc>
                  <a:spcBef>
                    <a:spcPts val="600"/>
                  </a:spcBef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(8)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在有向图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G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的邻接矩阵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A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中，其列和等于对应结点的出度</a:t>
                </a:r>
                <a:endParaRPr lang="en-US" altLang="zh-CN" sz="4000" dirty="0">
                  <a:solidFill>
                    <a:schemeClr val="tx1"/>
                  </a:solidFill>
                  <a:sym typeface="Symbol" pitchFamily="18" charset="2"/>
                </a:endParaRPr>
              </a:p>
              <a:p>
                <a:pPr marL="457200" indent="-457200" algn="l">
                  <a:lnSpc>
                    <a:spcPct val="115000"/>
                  </a:lnSpc>
                  <a:spcBef>
                    <a:spcPts val="600"/>
                  </a:spcBef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(9) Eu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l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er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图未必是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Hami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l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ton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图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 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，但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Hami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l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ton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图一定是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Eu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l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er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图</a:t>
                </a:r>
                <a:endParaRPr lang="en-US" altLang="zh-CN" sz="4000" dirty="0">
                  <a:solidFill>
                    <a:schemeClr val="tx1"/>
                  </a:solidFill>
                  <a:sym typeface="Symbol" pitchFamily="18" charset="2"/>
                </a:endParaRPr>
              </a:p>
              <a:p>
                <a:pPr marL="457200" indent="-457200" algn="l">
                  <a:lnSpc>
                    <a:spcPct val="115000"/>
                  </a:lnSpc>
                  <a:spcBef>
                    <a:spcPts val="600"/>
                  </a:spcBef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(10)</a:t>
                </a:r>
                <a:r>
                  <a:rPr lang="zh-CN" altLang="en-US" sz="4000" dirty="0">
                    <a:solidFill>
                      <a:srgbClr val="000000"/>
                    </a:solidFill>
                    <a:sym typeface="Symbol" pitchFamily="18" charset="2"/>
                  </a:rPr>
                  <a:t>图的闭包一定是完全图</a:t>
                </a:r>
                <a:endParaRPr lang="en-US" altLang="zh-CN" sz="4000" dirty="0">
                  <a:solidFill>
                    <a:srgbClr val="000000"/>
                  </a:solidFill>
                  <a:sym typeface="Symbol" pitchFamily="18" charset="2"/>
                </a:endParaRPr>
              </a:p>
              <a:p>
                <a:pPr marL="457200" indent="-457200" algn="l">
                  <a:lnSpc>
                    <a:spcPct val="115000"/>
                  </a:lnSpc>
                  <a:spcBef>
                    <a:spcPts val="600"/>
                  </a:spcBef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(11)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强连通图一定是有向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Hami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l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ton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图</a:t>
                </a:r>
                <a:endParaRPr lang="en-US" altLang="zh-CN" sz="4000" dirty="0">
                  <a:solidFill>
                    <a:srgbClr val="000000"/>
                  </a:solidFill>
                  <a:sym typeface="Symbol" pitchFamily="18" charset="2"/>
                </a:endParaRPr>
              </a:p>
              <a:p>
                <a:pPr marL="457200" indent="-457200" algn="l">
                  <a:lnSpc>
                    <a:spcPct val="115000"/>
                  </a:lnSpc>
                  <a:spcBef>
                    <a:spcPts val="600"/>
                  </a:spcBef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(12)</a:t>
                </a:r>
                <a:r>
                  <a:rPr lang="zh-CN" altLang="en-US" sz="4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设</a:t>
                </a:r>
                <a:r>
                  <a:rPr lang="en-US" altLang="zh-CN" sz="4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G=(V1,V2,E)</a:t>
                </a:r>
                <a:r>
                  <a:rPr lang="zh-CN" altLang="en-US" sz="4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是二分图，若红、蓝着色结点的数目相同，则</a:t>
                </a:r>
                <a:r>
                  <a:rPr lang="en-US" altLang="zh-CN" sz="4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G</a:t>
                </a:r>
                <a:r>
                  <a:rPr lang="zh-CN" altLang="en-US" sz="4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是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Hami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l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ton</a:t>
                </a:r>
                <a:r>
                  <a:rPr lang="zh-CN" altLang="en-US" sz="4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图</a:t>
                </a:r>
                <a:endParaRPr lang="en-US" altLang="zh-CN" sz="4000" dirty="0">
                  <a:solidFill>
                    <a:srgbClr val="000000"/>
                  </a:solidFill>
                  <a:sym typeface="Symbol" panose="05050102010706020507" pitchFamily="18" charset="2"/>
                </a:endParaRPr>
              </a:p>
              <a:p>
                <a:pPr marL="457200" indent="-457200" algn="l">
                  <a:lnSpc>
                    <a:spcPct val="115000"/>
                  </a:lnSpc>
                  <a:spcBef>
                    <a:spcPts val="600"/>
                  </a:spcBef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(13)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在二分图中，</a:t>
                </a:r>
                <a:r>
                  <a:rPr lang="zh-CN" altLang="en-US" sz="4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完美匹配一定是唯一的</a:t>
                </a:r>
                <a:endParaRPr lang="en-US" altLang="zh-CN" sz="4000" dirty="0">
                  <a:solidFill>
                    <a:srgbClr val="000000"/>
                  </a:solidFill>
                  <a:sym typeface="Symbol" panose="05050102010706020507" pitchFamily="18" charset="2"/>
                </a:endParaRPr>
              </a:p>
              <a:p>
                <a:pPr marL="457200" indent="-457200" algn="l">
                  <a:lnSpc>
                    <a:spcPct val="115000"/>
                  </a:lnSpc>
                  <a:spcBef>
                    <a:spcPts val="600"/>
                  </a:spcBef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(14)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具有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个结点、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p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个分图的森林，有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m=n-p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条边</a:t>
                </a:r>
                <a:endParaRPr lang="en-US" altLang="zh-CN" sz="4000" dirty="0">
                  <a:solidFill>
                    <a:schemeClr val="tx1"/>
                  </a:solidFill>
                </a:endParaRPr>
              </a:p>
              <a:p>
                <a:pPr marL="457200" indent="-457200" algn="l">
                  <a:lnSpc>
                    <a:spcPct val="115000"/>
                  </a:lnSpc>
                  <a:spcBef>
                    <a:spcPts val="600"/>
                  </a:spcBef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</a:rPr>
                  <a:t>(15) 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在一棵树中，度数为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2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的节点有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2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个，度数为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3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的节点有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3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个，度数为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4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的节点有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4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个，则度数为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1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的节点有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5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个</a:t>
                </a:r>
                <a:endParaRPr lang="en-US" altLang="zh-CN" sz="4000" dirty="0">
                  <a:solidFill>
                    <a:schemeClr val="tx1"/>
                  </a:solidFill>
                </a:endParaRPr>
              </a:p>
              <a:p>
                <a:pPr marL="457200" indent="-457200" algn="l">
                  <a:lnSpc>
                    <a:spcPct val="115000"/>
                  </a:lnSpc>
                  <a:spcBef>
                    <a:spcPts val="600"/>
                  </a:spcBef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</a:rPr>
                  <a:t>(16)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设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G=(V, E)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是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</a:t>
                </a:r>
                <a:r>
                  <a:rPr lang="en-US" altLang="zh-CN" sz="4000" dirty="0" err="1">
                    <a:solidFill>
                      <a:schemeClr val="tx1"/>
                    </a:solidFill>
                    <a:sym typeface="Symbol" pitchFamily="18" charset="2"/>
                  </a:rPr>
                  <a:t>n,m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)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无向图，且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n</a:t>
                </a:r>
                <a14:m>
                  <m:oMath xmlns:m="http://schemas.openxmlformats.org/officeDocument/2006/math">
                    <m:r>
                      <a:rPr lang="en-US" altLang="zh-CN" sz="4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≤</m:t>
                    </m:r>
                  </m:oMath>
                </a14:m>
                <a:r>
                  <a:rPr lang="en-US" altLang="zh-CN" sz="4000" dirty="0">
                    <a:solidFill>
                      <a:schemeClr val="tx1"/>
                    </a:solidFill>
                  </a:rPr>
                  <a:t>m, 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则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G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中一定有圈</a:t>
                </a:r>
                <a:endParaRPr lang="en-US" altLang="zh-CN" sz="4000" dirty="0">
                  <a:solidFill>
                    <a:schemeClr val="tx1"/>
                  </a:solidFill>
                </a:endParaRPr>
              </a:p>
              <a:p>
                <a:pPr algn="just">
                  <a:spcBef>
                    <a:spcPts val="0"/>
                  </a:spcBef>
                  <a:buFont typeface="Wingdings" pitchFamily="2" charset="2"/>
                  <a:buNone/>
                  <a:defRPr/>
                </a:pPr>
                <a:endParaRPr lang="en-US" altLang="zh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40" y="496650"/>
                <a:ext cx="9026760" cy="6451654"/>
              </a:xfrm>
              <a:prstGeom prst="rect">
                <a:avLst/>
              </a:prstGeom>
              <a:blipFill>
                <a:blip r:embed="rId2"/>
                <a:stretch>
                  <a:fillRect l="-608" t="-16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7302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107504" y="19808"/>
                <a:ext cx="8588822" cy="7571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81000" indent="-381000" algn="just">
                  <a:lnSpc>
                    <a:spcPct val="90000"/>
                  </a:lnSpc>
                  <a:defRPr/>
                </a:pPr>
                <a:r>
                  <a:rPr lang="en-US" altLang="zh-CN" sz="2400" dirty="0">
                    <a:sym typeface="Symbol" pitchFamily="18" charset="2"/>
                  </a:rPr>
                  <a:t>  2 (</a:t>
                </a:r>
                <a:r>
                  <a:rPr lang="en-US" altLang="zh-CN" sz="2400" baseline="30000" dirty="0">
                    <a:sym typeface="Symbol" pitchFamily="18" charset="2"/>
                  </a:rPr>
                  <a:t>12%</a:t>
                </a:r>
                <a:r>
                  <a:rPr lang="en-US" altLang="zh-CN" sz="2400" dirty="0">
                    <a:sym typeface="Symbol" pitchFamily="18" charset="2"/>
                  </a:rPr>
                  <a:t>)</a:t>
                </a:r>
                <a:r>
                  <a:rPr lang="zh-CN" altLang="en-US" sz="2400" dirty="0">
                    <a:sym typeface="Symbol" pitchFamily="18" charset="2"/>
                  </a:rPr>
                  <a:t>图</a:t>
                </a:r>
                <a:r>
                  <a:rPr lang="en-US" altLang="zh-CN" sz="2400" dirty="0">
                    <a:sym typeface="Symbol" pitchFamily="18" charset="2"/>
                  </a:rPr>
                  <a:t>1</a:t>
                </a:r>
                <a:r>
                  <a:rPr lang="zh-CN" altLang="en-US" sz="2400" dirty="0">
                    <a:sym typeface="Symbol" pitchFamily="18" charset="2"/>
                  </a:rPr>
                  <a:t>如下所示，求出从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>
                    <a:sym typeface="Symbol" pitchFamily="18" charset="2"/>
                  </a:rPr>
                  <a:t>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5</m:t>
                        </m:r>
                      </m:sub>
                    </m:sSub>
                  </m:oMath>
                </a14:m>
                <a:r>
                  <a:rPr lang="zh-CN" altLang="en-US" sz="2400" dirty="0">
                    <a:sym typeface="Symbol" pitchFamily="18" charset="2"/>
                  </a:rPr>
                  <a:t>的最短路径及最短路长，并求出其最小生成树。</a:t>
                </a: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19808"/>
                <a:ext cx="8588822" cy="757130"/>
              </a:xfrm>
              <a:prstGeom prst="rect">
                <a:avLst/>
              </a:prstGeom>
              <a:blipFill>
                <a:blip r:embed="rId2"/>
                <a:stretch>
                  <a:fillRect t="-14516" r="-1065" b="-145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38">
            <a:extLst>
              <a:ext uri="{FF2B5EF4-FFF2-40B4-BE49-F238E27FC236}">
                <a16:creationId xmlns:a16="http://schemas.microsoft.com/office/drawing/2014/main" id="{5B69476C-A7CC-7CC6-8702-14BC2236A2FC}"/>
              </a:ext>
            </a:extLst>
          </p:cNvPr>
          <p:cNvGrpSpPr>
            <a:grpSpLocks/>
          </p:cNvGrpSpPr>
          <p:nvPr/>
        </p:nvGrpSpPr>
        <p:grpSpPr bwMode="auto">
          <a:xfrm>
            <a:off x="175320" y="587005"/>
            <a:ext cx="4552950" cy="2365375"/>
            <a:chOff x="2724" y="2496"/>
            <a:chExt cx="2868" cy="1490"/>
          </a:xfrm>
        </p:grpSpPr>
        <p:sp>
          <p:nvSpPr>
            <p:cNvPr id="3" name="Oval 5">
              <a:extLst>
                <a:ext uri="{FF2B5EF4-FFF2-40B4-BE49-F238E27FC236}">
                  <a16:creationId xmlns:a16="http://schemas.microsoft.com/office/drawing/2014/main" id="{E11CBA05-B872-1CD8-D31A-BF7E77C15A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3234"/>
              <a:ext cx="91" cy="9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810EC13-CC61-DA13-18FE-E9000E71E2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9" y="3234"/>
              <a:ext cx="91" cy="9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77AE3C5-07AB-B1A2-908D-4DD4FC1528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5" y="2772"/>
              <a:ext cx="91" cy="9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8486E68-5823-9EA8-764B-10E2E65D5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5" y="3684"/>
              <a:ext cx="91" cy="9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862ECA9-1E6A-E4F0-D680-D1FE80B09D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" y="3684"/>
              <a:ext cx="91" cy="9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FCDE141-6571-8026-D0BA-BFAD856D93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" y="2777"/>
              <a:ext cx="91" cy="9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254AFD5-AC82-91EC-E2BD-303E092AD4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0" y="2844"/>
              <a:ext cx="525" cy="402"/>
            </a:xfrm>
            <a:custGeom>
              <a:avLst/>
              <a:gdLst>
                <a:gd name="T0" fmla="*/ 0 w 525"/>
                <a:gd name="T1" fmla="*/ 402 h 402"/>
                <a:gd name="T2" fmla="*/ 525 w 525"/>
                <a:gd name="T3" fmla="*/ 0 h 402"/>
                <a:gd name="T4" fmla="*/ 0 60000 65536"/>
                <a:gd name="T5" fmla="*/ 0 60000 65536"/>
                <a:gd name="T6" fmla="*/ 0 w 525"/>
                <a:gd name="T7" fmla="*/ 0 h 402"/>
                <a:gd name="T8" fmla="*/ 525 w 525"/>
                <a:gd name="T9" fmla="*/ 402 h 40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25" h="402">
                  <a:moveTo>
                    <a:pt x="0" y="402"/>
                  </a:moveTo>
                  <a:lnTo>
                    <a:pt x="525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C25383D0-6584-FE5E-8B23-393AE733C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0" y="3312"/>
              <a:ext cx="525" cy="393"/>
            </a:xfrm>
            <a:custGeom>
              <a:avLst/>
              <a:gdLst>
                <a:gd name="T0" fmla="*/ 0 w 525"/>
                <a:gd name="T1" fmla="*/ 0 h 393"/>
                <a:gd name="T2" fmla="*/ 525 w 525"/>
                <a:gd name="T3" fmla="*/ 393 h 393"/>
                <a:gd name="T4" fmla="*/ 0 60000 65536"/>
                <a:gd name="T5" fmla="*/ 0 60000 65536"/>
                <a:gd name="T6" fmla="*/ 0 w 525"/>
                <a:gd name="T7" fmla="*/ 0 h 393"/>
                <a:gd name="T8" fmla="*/ 525 w 525"/>
                <a:gd name="T9" fmla="*/ 393 h 39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25" h="393">
                  <a:moveTo>
                    <a:pt x="0" y="0"/>
                  </a:moveTo>
                  <a:lnTo>
                    <a:pt x="525" y="39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244127DB-FEE4-EE29-AE01-4703A00FF9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0" y="2841"/>
              <a:ext cx="522" cy="402"/>
            </a:xfrm>
            <a:custGeom>
              <a:avLst/>
              <a:gdLst>
                <a:gd name="T0" fmla="*/ 0 w 522"/>
                <a:gd name="T1" fmla="*/ 0 h 402"/>
                <a:gd name="T2" fmla="*/ 522 w 522"/>
                <a:gd name="T3" fmla="*/ 402 h 402"/>
                <a:gd name="T4" fmla="*/ 0 60000 65536"/>
                <a:gd name="T5" fmla="*/ 0 60000 65536"/>
                <a:gd name="T6" fmla="*/ 0 w 522"/>
                <a:gd name="T7" fmla="*/ 0 h 402"/>
                <a:gd name="T8" fmla="*/ 522 w 522"/>
                <a:gd name="T9" fmla="*/ 402 h 40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22" h="402">
                  <a:moveTo>
                    <a:pt x="0" y="0"/>
                  </a:moveTo>
                  <a:lnTo>
                    <a:pt x="522" y="402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FB9BEE2C-212F-9D7C-8B65-1F85196D5A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0" y="3309"/>
              <a:ext cx="513" cy="399"/>
            </a:xfrm>
            <a:custGeom>
              <a:avLst/>
              <a:gdLst>
                <a:gd name="T0" fmla="*/ 0 w 513"/>
                <a:gd name="T1" fmla="*/ 399 h 399"/>
                <a:gd name="T2" fmla="*/ 513 w 513"/>
                <a:gd name="T3" fmla="*/ 0 h 399"/>
                <a:gd name="T4" fmla="*/ 0 60000 65536"/>
                <a:gd name="T5" fmla="*/ 0 60000 65536"/>
                <a:gd name="T6" fmla="*/ 0 w 513"/>
                <a:gd name="T7" fmla="*/ 0 h 399"/>
                <a:gd name="T8" fmla="*/ 513 w 513"/>
                <a:gd name="T9" fmla="*/ 399 h 39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13" h="399">
                  <a:moveTo>
                    <a:pt x="0" y="399"/>
                  </a:moveTo>
                  <a:lnTo>
                    <a:pt x="513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AA52CA38-7E90-84C5-74A5-7E3AEEEF6C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2" y="2820"/>
              <a:ext cx="10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5FDF966-5A1A-BAC8-130E-66DEC92781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3732"/>
              <a:ext cx="1008" cy="1"/>
            </a:xfrm>
            <a:custGeom>
              <a:avLst/>
              <a:gdLst>
                <a:gd name="T0" fmla="*/ 0 w 1008"/>
                <a:gd name="T1" fmla="*/ 0 h 1"/>
                <a:gd name="T2" fmla="*/ 1008 w 1008"/>
                <a:gd name="T3" fmla="*/ 0 h 1"/>
                <a:gd name="T4" fmla="*/ 0 60000 65536"/>
                <a:gd name="T5" fmla="*/ 0 60000 65536"/>
                <a:gd name="T6" fmla="*/ 0 w 1008"/>
                <a:gd name="T7" fmla="*/ 0 h 1"/>
                <a:gd name="T8" fmla="*/ 1008 w 1008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08" h="1">
                  <a:moveTo>
                    <a:pt x="0" y="0"/>
                  </a:moveTo>
                  <a:lnTo>
                    <a:pt x="1008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F4F9DEFC-CBD4-637D-7F3E-92AD43745C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4" y="2868"/>
              <a:ext cx="0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E5CD5F97-CB3C-B451-78D8-11F47343EF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8" y="2868"/>
              <a:ext cx="0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C81E5-E030-D3BB-ACA2-46EAEA8FF3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0" y="2856"/>
              <a:ext cx="1035" cy="846"/>
            </a:xfrm>
            <a:custGeom>
              <a:avLst/>
              <a:gdLst>
                <a:gd name="T0" fmla="*/ 0 w 1035"/>
                <a:gd name="T1" fmla="*/ 0 h 846"/>
                <a:gd name="T2" fmla="*/ 1035 w 1035"/>
                <a:gd name="T3" fmla="*/ 846 h 846"/>
                <a:gd name="T4" fmla="*/ 0 60000 65536"/>
                <a:gd name="T5" fmla="*/ 0 60000 65536"/>
                <a:gd name="T6" fmla="*/ 0 w 1035"/>
                <a:gd name="T7" fmla="*/ 0 h 846"/>
                <a:gd name="T8" fmla="*/ 1035 w 1035"/>
                <a:gd name="T9" fmla="*/ 846 h 84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35" h="846">
                  <a:moveTo>
                    <a:pt x="0" y="0"/>
                  </a:moveTo>
                  <a:lnTo>
                    <a:pt x="1035" y="846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Box 21">
              <a:extLst>
                <a:ext uri="{FF2B5EF4-FFF2-40B4-BE49-F238E27FC236}">
                  <a16:creationId xmlns:a16="http://schemas.microsoft.com/office/drawing/2014/main" id="{674391F7-3039-5BE7-E4A9-EA2657A700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2628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7</a:t>
              </a:r>
            </a:p>
          </p:txBody>
        </p:sp>
        <p:sp>
          <p:nvSpPr>
            <p:cNvPr id="22" name="Text Box 22">
              <a:extLst>
                <a:ext uri="{FF2B5EF4-FFF2-40B4-BE49-F238E27FC236}">
                  <a16:creationId xmlns:a16="http://schemas.microsoft.com/office/drawing/2014/main" id="{614E0F40-53B8-D71D-A235-05EB0E9337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0" y="2496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1</a:t>
              </a:r>
              <a:endParaRPr lang="en-US" altLang="zh-CN" sz="2400"/>
            </a:p>
          </p:txBody>
        </p:sp>
        <p:sp>
          <p:nvSpPr>
            <p:cNvPr id="23" name="Text Box 23">
              <a:extLst>
                <a:ext uri="{FF2B5EF4-FFF2-40B4-BE49-F238E27FC236}">
                  <a16:creationId xmlns:a16="http://schemas.microsoft.com/office/drawing/2014/main" id="{4EB87D44-A38D-285E-0BBC-8445A1469F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0" y="315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5</a:t>
              </a:r>
              <a:endParaRPr lang="en-US" altLang="zh-CN" sz="2400"/>
            </a:p>
          </p:txBody>
        </p:sp>
        <p:sp>
          <p:nvSpPr>
            <p:cNvPr id="24" name="Text Box 24">
              <a:extLst>
                <a:ext uri="{FF2B5EF4-FFF2-40B4-BE49-F238E27FC236}">
                  <a16:creationId xmlns:a16="http://schemas.microsoft.com/office/drawing/2014/main" id="{E44081A1-2F4C-FCD5-2E67-3988C794E2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375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4</a:t>
              </a:r>
              <a:endParaRPr lang="en-US" altLang="zh-CN" sz="2400"/>
            </a:p>
          </p:txBody>
        </p:sp>
        <p:sp>
          <p:nvSpPr>
            <p:cNvPr id="25" name="Text Box 25">
              <a:extLst>
                <a:ext uri="{FF2B5EF4-FFF2-40B4-BE49-F238E27FC236}">
                  <a16:creationId xmlns:a16="http://schemas.microsoft.com/office/drawing/2014/main" id="{FF84C710-72DC-90E8-0E41-39834579C0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4" y="2520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3</a:t>
              </a:r>
              <a:endParaRPr lang="en-US" altLang="zh-CN" sz="2400"/>
            </a:p>
          </p:txBody>
        </p:sp>
        <p:sp>
          <p:nvSpPr>
            <p:cNvPr id="26" name="Text Box 26">
              <a:extLst>
                <a:ext uri="{FF2B5EF4-FFF2-40B4-BE49-F238E27FC236}">
                  <a16:creationId xmlns:a16="http://schemas.microsoft.com/office/drawing/2014/main" id="{E8E3EF95-8F7A-BCB5-CDC0-DBEC0D0D48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8" y="3756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2</a:t>
              </a:r>
              <a:endParaRPr lang="en-US" altLang="zh-CN" sz="2400"/>
            </a:p>
          </p:txBody>
        </p:sp>
        <p:sp>
          <p:nvSpPr>
            <p:cNvPr id="27" name="Text Box 27">
              <a:extLst>
                <a:ext uri="{FF2B5EF4-FFF2-40B4-BE49-F238E27FC236}">
                  <a16:creationId xmlns:a16="http://schemas.microsoft.com/office/drawing/2014/main" id="{E3BDFDBD-07D4-0E9B-72D1-E0624BAD2B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2" y="3142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0</a:t>
              </a:r>
              <a:endParaRPr lang="en-US" altLang="zh-CN" sz="2400"/>
            </a:p>
          </p:txBody>
        </p:sp>
        <p:sp>
          <p:nvSpPr>
            <p:cNvPr id="28" name="Text Box 28">
              <a:extLst>
                <a:ext uri="{FF2B5EF4-FFF2-40B4-BE49-F238E27FC236}">
                  <a16:creationId xmlns:a16="http://schemas.microsoft.com/office/drawing/2014/main" id="{0DA41AEB-AA6C-E852-C316-2BC5CAE332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8" y="3048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5</a:t>
              </a:r>
            </a:p>
          </p:txBody>
        </p:sp>
        <p:sp>
          <p:nvSpPr>
            <p:cNvPr id="29" name="Text Box 29">
              <a:extLst>
                <a:ext uri="{FF2B5EF4-FFF2-40B4-BE49-F238E27FC236}">
                  <a16:creationId xmlns:a16="http://schemas.microsoft.com/office/drawing/2014/main" id="{DFB35489-C79A-0237-AAD1-699350C4AF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3540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1</a:t>
              </a:r>
            </a:p>
          </p:txBody>
        </p:sp>
        <p:sp>
          <p:nvSpPr>
            <p:cNvPr id="30" name="Text Box 30">
              <a:extLst>
                <a:ext uri="{FF2B5EF4-FFF2-40B4-BE49-F238E27FC236}">
                  <a16:creationId xmlns:a16="http://schemas.microsoft.com/office/drawing/2014/main" id="{06E1B219-20A5-DA79-CF58-F36BDF6CD5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8" y="3180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3</a:t>
              </a:r>
            </a:p>
          </p:txBody>
        </p:sp>
        <p:sp>
          <p:nvSpPr>
            <p:cNvPr id="31" name="Text Box 31">
              <a:extLst>
                <a:ext uri="{FF2B5EF4-FFF2-40B4-BE49-F238E27FC236}">
                  <a16:creationId xmlns:a16="http://schemas.microsoft.com/office/drawing/2014/main" id="{1B66EFF3-8656-DF5D-117F-73EF688F7C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4" y="2868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2</a:t>
              </a:r>
            </a:p>
          </p:txBody>
        </p:sp>
        <p:sp>
          <p:nvSpPr>
            <p:cNvPr id="32" name="Text Box 32">
              <a:extLst>
                <a:ext uri="{FF2B5EF4-FFF2-40B4-BE49-F238E27FC236}">
                  <a16:creationId xmlns:a16="http://schemas.microsoft.com/office/drawing/2014/main" id="{AA9895BF-6C47-03F7-B5D7-B368E7FF2C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2" y="3480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6</a:t>
              </a:r>
            </a:p>
          </p:txBody>
        </p:sp>
        <p:sp>
          <p:nvSpPr>
            <p:cNvPr id="33" name="Text Box 33">
              <a:extLst>
                <a:ext uri="{FF2B5EF4-FFF2-40B4-BE49-F238E27FC236}">
                  <a16:creationId xmlns:a16="http://schemas.microsoft.com/office/drawing/2014/main" id="{AEB8E87E-A275-7B47-34E3-531BAA9525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2" y="3180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2</a:t>
              </a:r>
            </a:p>
          </p:txBody>
        </p:sp>
        <p:sp>
          <p:nvSpPr>
            <p:cNvPr id="34" name="Text Box 34">
              <a:extLst>
                <a:ext uri="{FF2B5EF4-FFF2-40B4-BE49-F238E27FC236}">
                  <a16:creationId xmlns:a16="http://schemas.microsoft.com/office/drawing/2014/main" id="{2A43EC13-A433-4B43-A7B0-664B4FED23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2" y="2880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1</a:t>
              </a:r>
            </a:p>
          </p:txBody>
        </p:sp>
        <p:sp>
          <p:nvSpPr>
            <p:cNvPr id="35" name="Text Box 35">
              <a:extLst>
                <a:ext uri="{FF2B5EF4-FFF2-40B4-BE49-F238E27FC236}">
                  <a16:creationId xmlns:a16="http://schemas.microsoft.com/office/drawing/2014/main" id="{6803B1F8-A411-F7D4-8D22-CB94954A40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6" y="3504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4</a:t>
              </a:r>
            </a:p>
          </p:txBody>
        </p:sp>
        <p:sp>
          <p:nvSpPr>
            <p:cNvPr id="36" name="Text Box 36">
              <a:extLst>
                <a:ext uri="{FF2B5EF4-FFF2-40B4-BE49-F238E27FC236}">
                  <a16:creationId xmlns:a16="http://schemas.microsoft.com/office/drawing/2014/main" id="{0D985F45-91C5-3329-7CDA-3C09F056D5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4" y="2860"/>
              <a:ext cx="2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/>
                <a:t>图</a:t>
              </a:r>
              <a:r>
                <a:rPr lang="en-US" altLang="zh-CN" sz="2000" dirty="0"/>
                <a:t>1</a:t>
              </a:r>
              <a:endParaRPr lang="zh-CN" altLang="en-US" sz="2000" dirty="0"/>
            </a:p>
          </p:txBody>
        </p:sp>
      </p:grpSp>
      <p:sp>
        <p:nvSpPr>
          <p:cNvPr id="37" name="矩形 36">
            <a:extLst>
              <a:ext uri="{FF2B5EF4-FFF2-40B4-BE49-F238E27FC236}">
                <a16:creationId xmlns:a16="http://schemas.microsoft.com/office/drawing/2014/main" id="{23C5F6B0-8D0D-0AC2-16D1-525463CE7A82}"/>
              </a:ext>
            </a:extLst>
          </p:cNvPr>
          <p:cNvSpPr/>
          <p:nvPr/>
        </p:nvSpPr>
        <p:spPr>
          <a:xfrm>
            <a:off x="151399" y="3014482"/>
            <a:ext cx="8588822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1000" indent="-381000" algn="just">
              <a:lnSpc>
                <a:spcPct val="90000"/>
              </a:lnSpc>
              <a:defRPr/>
            </a:pPr>
            <a:r>
              <a:rPr lang="en-US" altLang="zh-CN" sz="2400" dirty="0">
                <a:sym typeface="Symbol" pitchFamily="18" charset="2"/>
              </a:rPr>
              <a:t>  3 (</a:t>
            </a:r>
            <a:r>
              <a:rPr lang="en-US" altLang="zh-CN" sz="2400" baseline="30000" dirty="0">
                <a:sym typeface="Symbol" pitchFamily="18" charset="2"/>
              </a:rPr>
              <a:t>10%</a:t>
            </a:r>
            <a:r>
              <a:rPr lang="en-US" altLang="zh-CN" sz="2400" dirty="0">
                <a:sym typeface="Symbol" pitchFamily="18" charset="2"/>
              </a:rPr>
              <a:t>)</a:t>
            </a:r>
            <a:r>
              <a:rPr lang="zh-CN" altLang="en-US" sz="2400" dirty="0">
                <a:sym typeface="Symbol" pitchFamily="18" charset="2"/>
              </a:rPr>
              <a:t>图</a:t>
            </a:r>
            <a:r>
              <a:rPr lang="en-US" altLang="zh-CN" sz="2400" dirty="0">
                <a:sym typeface="Symbol" pitchFamily="18" charset="2"/>
              </a:rPr>
              <a:t>2</a:t>
            </a:r>
            <a:r>
              <a:rPr lang="zh-CN" altLang="en-US" sz="2400" dirty="0">
                <a:sym typeface="Symbol" pitchFamily="18" charset="2"/>
              </a:rPr>
              <a:t>是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Helvetica Neue"/>
              </a:rPr>
              <a:t>欧拉图吗？请说明理由。</a:t>
            </a:r>
            <a:endParaRPr lang="zh-CN" altLang="en-US" sz="2400" dirty="0">
              <a:sym typeface="Symbol" pitchFamily="18" charset="2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ECF34F36-D3D8-F260-2F83-D25D6E775A13}"/>
              </a:ext>
            </a:extLst>
          </p:cNvPr>
          <p:cNvGrpSpPr/>
          <p:nvPr/>
        </p:nvGrpSpPr>
        <p:grpSpPr>
          <a:xfrm>
            <a:off x="5159866" y="487698"/>
            <a:ext cx="3664309" cy="2042369"/>
            <a:chOff x="5159866" y="860215"/>
            <a:chExt cx="3664309" cy="2042369"/>
          </a:xfrm>
        </p:grpSpPr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FFA3162A-1DCD-804D-8CC9-6AB5F23338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59866" y="860215"/>
              <a:ext cx="3131840" cy="2042369"/>
            </a:xfrm>
            <a:prstGeom prst="rect">
              <a:avLst/>
            </a:prstGeom>
          </p:spPr>
        </p:pic>
        <p:sp>
          <p:nvSpPr>
            <p:cNvPr id="40" name="Text Box 36">
              <a:extLst>
                <a:ext uri="{FF2B5EF4-FFF2-40B4-BE49-F238E27FC236}">
                  <a16:creationId xmlns:a16="http://schemas.microsoft.com/office/drawing/2014/main" id="{9237A565-7796-FEFD-3AFD-7FF4DF7DB9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6025" y="1637910"/>
              <a:ext cx="4381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/>
                <a:t>图</a:t>
              </a:r>
              <a:r>
                <a:rPr lang="en-US" altLang="zh-CN" sz="2000" dirty="0"/>
                <a:t>2</a:t>
              </a:r>
              <a:endParaRPr lang="zh-CN" altLang="en-US" sz="2000" dirty="0"/>
            </a:p>
          </p:txBody>
        </p:sp>
      </p:grpSp>
      <p:sp>
        <p:nvSpPr>
          <p:cNvPr id="42" name="矩形 41">
            <a:extLst>
              <a:ext uri="{FF2B5EF4-FFF2-40B4-BE49-F238E27FC236}">
                <a16:creationId xmlns:a16="http://schemas.microsoft.com/office/drawing/2014/main" id="{7853799B-FF78-D35B-4262-CC174AAAE522}"/>
              </a:ext>
            </a:extLst>
          </p:cNvPr>
          <p:cNvSpPr/>
          <p:nvPr/>
        </p:nvSpPr>
        <p:spPr>
          <a:xfrm>
            <a:off x="169380" y="3492152"/>
            <a:ext cx="8588822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1000" indent="-381000" algn="just">
              <a:lnSpc>
                <a:spcPct val="90000"/>
              </a:lnSpc>
              <a:defRPr/>
            </a:pPr>
            <a:r>
              <a:rPr lang="en-US" altLang="zh-CN" sz="2400" dirty="0">
                <a:sym typeface="Symbol" pitchFamily="18" charset="2"/>
              </a:rPr>
              <a:t>  4 (</a:t>
            </a:r>
            <a:r>
              <a:rPr lang="en-US" altLang="zh-CN" sz="2400" baseline="30000" dirty="0">
                <a:sym typeface="Symbol" pitchFamily="18" charset="2"/>
              </a:rPr>
              <a:t>10%</a:t>
            </a:r>
            <a:r>
              <a:rPr lang="en-US" altLang="zh-CN" sz="2400" dirty="0">
                <a:sym typeface="Symbol" pitchFamily="18" charset="2"/>
              </a:rPr>
              <a:t>)</a:t>
            </a:r>
            <a:r>
              <a:rPr lang="zh-CN" altLang="en-US" sz="2400" dirty="0">
                <a:sym typeface="Symbol" pitchFamily="18" charset="2"/>
              </a:rPr>
              <a:t>图</a:t>
            </a:r>
            <a:r>
              <a:rPr lang="en-US" altLang="zh-CN" sz="2400" dirty="0">
                <a:sym typeface="Symbol" pitchFamily="18" charset="2"/>
              </a:rPr>
              <a:t>3</a:t>
            </a:r>
            <a:r>
              <a:rPr lang="zh-CN" altLang="en-US" sz="2400" dirty="0">
                <a:sym typeface="Symbol" pitchFamily="18" charset="2"/>
              </a:rPr>
              <a:t>是</a:t>
            </a:r>
            <a:r>
              <a:rPr lang="zh-CN" altLang="en-US" sz="2400" dirty="0">
                <a:solidFill>
                  <a:srgbClr val="333333"/>
                </a:solidFill>
                <a:latin typeface="Helvetica Neue"/>
                <a:sym typeface="Symbol" pitchFamily="18" charset="2"/>
              </a:rPr>
              <a:t>哈密尔顿图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Helvetica Neue"/>
              </a:rPr>
              <a:t>吗？请说明理由。</a:t>
            </a:r>
            <a:endParaRPr lang="zh-CN" altLang="en-US" sz="2400" dirty="0">
              <a:sym typeface="Symbol" pitchFamily="18" charset="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93AB71D-8D41-0556-3939-8931AB65A95A}"/>
              </a:ext>
            </a:extLst>
          </p:cNvPr>
          <p:cNvSpPr/>
          <p:nvPr/>
        </p:nvSpPr>
        <p:spPr>
          <a:xfrm>
            <a:off x="169380" y="3986032"/>
            <a:ext cx="8588822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1000" indent="-381000" algn="just">
              <a:lnSpc>
                <a:spcPct val="90000"/>
              </a:lnSpc>
              <a:defRPr/>
            </a:pPr>
            <a:r>
              <a:rPr lang="en-US" altLang="zh-CN" sz="2400" dirty="0">
                <a:sym typeface="Symbol" pitchFamily="18" charset="2"/>
              </a:rPr>
              <a:t>  5 (</a:t>
            </a:r>
            <a:r>
              <a:rPr lang="en-US" altLang="zh-CN" sz="2400" baseline="30000" dirty="0">
                <a:sym typeface="Symbol" pitchFamily="18" charset="2"/>
              </a:rPr>
              <a:t>10%</a:t>
            </a:r>
            <a:r>
              <a:rPr lang="en-US" altLang="zh-CN" sz="2400" dirty="0">
                <a:sym typeface="Symbol" pitchFamily="18" charset="2"/>
              </a:rPr>
              <a:t>)</a:t>
            </a:r>
            <a:r>
              <a:rPr lang="zh-CN" altLang="en-US" sz="2400" dirty="0">
                <a:sym typeface="Symbol" pitchFamily="18" charset="2"/>
              </a:rPr>
              <a:t>图</a:t>
            </a:r>
            <a:r>
              <a:rPr lang="en-US" altLang="zh-CN" sz="2400" dirty="0">
                <a:sym typeface="Symbol" pitchFamily="18" charset="2"/>
              </a:rPr>
              <a:t>4</a:t>
            </a:r>
            <a:r>
              <a:rPr lang="zh-CN" altLang="en-US" sz="2400" dirty="0">
                <a:sym typeface="Symbol" pitchFamily="18" charset="2"/>
              </a:rPr>
              <a:t>是</a:t>
            </a:r>
            <a:r>
              <a:rPr lang="zh-CN" altLang="en-US" sz="2400" dirty="0">
                <a:solidFill>
                  <a:srgbClr val="333333"/>
                </a:solidFill>
                <a:latin typeface="Helvetica Neue"/>
                <a:sym typeface="Symbol" pitchFamily="18" charset="2"/>
              </a:rPr>
              <a:t>平面图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Helvetica Neue"/>
              </a:rPr>
              <a:t>吗？请说明理由。</a:t>
            </a:r>
            <a:endParaRPr lang="zh-CN" altLang="en-US" sz="2400" dirty="0">
              <a:sym typeface="Symbol" pitchFamily="18" charset="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6F58B37-EBE4-DCA5-EF0F-04498422D503}"/>
              </a:ext>
            </a:extLst>
          </p:cNvPr>
          <p:cNvSpPr/>
          <p:nvPr/>
        </p:nvSpPr>
        <p:spPr>
          <a:xfrm>
            <a:off x="169380" y="4452363"/>
            <a:ext cx="8588822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1000" indent="-381000" algn="just">
              <a:lnSpc>
                <a:spcPct val="90000"/>
              </a:lnSpc>
              <a:defRPr/>
            </a:pPr>
            <a:r>
              <a:rPr lang="en-US" altLang="zh-CN" sz="2400" dirty="0">
                <a:sym typeface="Symbol" pitchFamily="18" charset="2"/>
              </a:rPr>
              <a:t>  6 (</a:t>
            </a:r>
            <a:r>
              <a:rPr lang="en-US" altLang="zh-CN" sz="2400" baseline="30000" dirty="0">
                <a:sym typeface="Symbol" pitchFamily="18" charset="2"/>
              </a:rPr>
              <a:t>10%</a:t>
            </a:r>
            <a:r>
              <a:rPr lang="en-US" altLang="zh-CN" sz="2400" dirty="0">
                <a:sym typeface="Symbol" pitchFamily="18" charset="2"/>
              </a:rPr>
              <a:t>)</a:t>
            </a:r>
            <a:r>
              <a:rPr lang="zh-CN" altLang="en-US" sz="2400" dirty="0">
                <a:sym typeface="Symbol" pitchFamily="18" charset="2"/>
              </a:rPr>
              <a:t>图</a:t>
            </a:r>
            <a:r>
              <a:rPr lang="en-US" altLang="zh-CN" sz="2400" dirty="0">
                <a:sym typeface="Symbol" pitchFamily="18" charset="2"/>
              </a:rPr>
              <a:t>5</a:t>
            </a:r>
            <a:r>
              <a:rPr lang="zh-CN" altLang="en-US" sz="2400" dirty="0">
                <a:sym typeface="Symbol" pitchFamily="18" charset="2"/>
              </a:rPr>
              <a:t>是</a:t>
            </a:r>
            <a:r>
              <a:rPr lang="zh-CN" altLang="en-US" sz="2400" dirty="0">
                <a:solidFill>
                  <a:srgbClr val="333333"/>
                </a:solidFill>
                <a:latin typeface="Helvetica Neue"/>
                <a:sym typeface="Symbol" pitchFamily="18" charset="2"/>
              </a:rPr>
              <a:t>二分图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Helvetica Neue"/>
              </a:rPr>
              <a:t>吗？请说明理由。</a:t>
            </a:r>
            <a:endParaRPr lang="zh-CN" altLang="en-US" sz="2400" dirty="0">
              <a:sym typeface="Symbol" pitchFamily="18" charset="2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8EE3588F-42E7-5776-9358-E0C9D19E5E3F}"/>
              </a:ext>
            </a:extLst>
          </p:cNvPr>
          <p:cNvGrpSpPr/>
          <p:nvPr/>
        </p:nvGrpSpPr>
        <p:grpSpPr>
          <a:xfrm>
            <a:off x="5989814" y="2655049"/>
            <a:ext cx="2520967" cy="2090389"/>
            <a:chOff x="5989814" y="2655049"/>
            <a:chExt cx="2520967" cy="2090389"/>
          </a:xfrm>
        </p:grpSpPr>
        <p:pic>
          <p:nvPicPr>
            <p:cNvPr id="46" name="图片 45">
              <a:extLst>
                <a:ext uri="{FF2B5EF4-FFF2-40B4-BE49-F238E27FC236}">
                  <a16:creationId xmlns:a16="http://schemas.microsoft.com/office/drawing/2014/main" id="{C77E7719-B8C6-2E55-6A02-8BF3307E59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9814" y="2655049"/>
              <a:ext cx="1998705" cy="2090389"/>
            </a:xfrm>
            <a:prstGeom prst="rect">
              <a:avLst/>
            </a:prstGeom>
          </p:spPr>
        </p:pic>
        <p:sp>
          <p:nvSpPr>
            <p:cNvPr id="47" name="Text Box 36">
              <a:extLst>
                <a:ext uri="{FF2B5EF4-FFF2-40B4-BE49-F238E27FC236}">
                  <a16:creationId xmlns:a16="http://schemas.microsoft.com/office/drawing/2014/main" id="{58D96032-98C0-2F11-9727-BDDE2A1615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2631" y="3450801"/>
              <a:ext cx="4381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/>
                <a:t>图</a:t>
              </a:r>
              <a:r>
                <a:rPr lang="en-US" altLang="zh-CN" sz="2000" dirty="0"/>
                <a:t>3</a:t>
              </a:r>
              <a:endParaRPr lang="zh-CN" altLang="en-US" sz="2000" dirty="0"/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203AC5D7-B0CC-96F5-7222-D369A1F22B6D}"/>
              </a:ext>
            </a:extLst>
          </p:cNvPr>
          <p:cNvGrpSpPr/>
          <p:nvPr/>
        </p:nvGrpSpPr>
        <p:grpSpPr>
          <a:xfrm>
            <a:off x="739599" y="4859789"/>
            <a:ext cx="2564684" cy="1876447"/>
            <a:chOff x="739599" y="4859789"/>
            <a:chExt cx="2564684" cy="1876447"/>
          </a:xfrm>
        </p:grpSpPr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8E1B7929-F5C7-D40E-B19D-47A8A58156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9599" y="4859789"/>
              <a:ext cx="2033741" cy="1876447"/>
            </a:xfrm>
            <a:prstGeom prst="rect">
              <a:avLst/>
            </a:prstGeom>
          </p:spPr>
        </p:pic>
        <p:sp>
          <p:nvSpPr>
            <p:cNvPr id="50" name="Text Box 36">
              <a:extLst>
                <a:ext uri="{FF2B5EF4-FFF2-40B4-BE49-F238E27FC236}">
                  <a16:creationId xmlns:a16="http://schemas.microsoft.com/office/drawing/2014/main" id="{7FF2602E-598D-3C48-7400-454F9DC33A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6133" y="5604245"/>
              <a:ext cx="4381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/>
                <a:t>图</a:t>
              </a:r>
              <a:r>
                <a:rPr lang="en-US" altLang="zh-CN" sz="2000" dirty="0"/>
                <a:t>4</a:t>
              </a:r>
              <a:endParaRPr lang="zh-CN" altLang="en-US" sz="2000" dirty="0"/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68CF82A3-6BB4-3A37-0999-73AD92BBAA7A}"/>
              </a:ext>
            </a:extLst>
          </p:cNvPr>
          <p:cNvGrpSpPr/>
          <p:nvPr/>
        </p:nvGrpSpPr>
        <p:grpSpPr>
          <a:xfrm>
            <a:off x="4044511" y="4843535"/>
            <a:ext cx="2765839" cy="1877460"/>
            <a:chOff x="4044511" y="4843535"/>
            <a:chExt cx="2765839" cy="1877460"/>
          </a:xfrm>
        </p:grpSpPr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C8C9CB17-3527-AA75-F5E6-1DFB7F492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44511" y="4843535"/>
              <a:ext cx="2230710" cy="1877460"/>
            </a:xfrm>
            <a:prstGeom prst="rect">
              <a:avLst/>
            </a:prstGeom>
          </p:spPr>
        </p:pic>
        <p:sp>
          <p:nvSpPr>
            <p:cNvPr id="53" name="Text Box 36">
              <a:extLst>
                <a:ext uri="{FF2B5EF4-FFF2-40B4-BE49-F238E27FC236}">
                  <a16:creationId xmlns:a16="http://schemas.microsoft.com/office/drawing/2014/main" id="{A7A9F0C1-61BD-4E76-E848-1322505E81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72200" y="5610815"/>
              <a:ext cx="4381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/>
                <a:t>图</a:t>
              </a:r>
              <a:r>
                <a:rPr lang="en-US" altLang="zh-CN" sz="2000" dirty="0"/>
                <a:t>5</a:t>
              </a:r>
              <a:endParaRPr lang="zh-CN" alt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44872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1008F-710D-B95B-8BA3-837831BAA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第七章题目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E7EEB3D-1861-39FC-38B8-C9911446B3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zh-CN" altLang="en-US" sz="2000" dirty="0"/>
                  <a:t>判断：</a:t>
                </a:r>
                <a:endParaRPr lang="en-US" altLang="zh-CN" sz="2000" dirty="0"/>
              </a:p>
              <a:p>
                <a:pPr marL="0" indent="0">
                  <a:buNone/>
                </a:pPr>
                <a:r>
                  <a:rPr lang="zh-CN" altLang="en-US" sz="2000" dirty="0">
                    <a:solidFill>
                      <a:schemeClr val="tx1"/>
                    </a:solidFill>
                    <a:sym typeface="Symbol" pitchFamily="18" charset="2"/>
                  </a:rPr>
                  <a:t>（１）</a:t>
                </a:r>
                <a:r>
                  <a:rPr lang="en-US" altLang="zh-CN" sz="2000" dirty="0">
                    <a:solidFill>
                      <a:schemeClr val="tx1"/>
                    </a:solidFill>
                    <a:sym typeface="Symbol" pitchFamily="18" charset="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  <m:t>S</m:t>
                        </m:r>
                      </m:e>
                      <m:sub>
                        <m:r>
                          <a:rPr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  <m:t>24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sym typeface="Symbol" pitchFamily="18" charset="2"/>
                  </a:rPr>
                  <a:t>,|)</a:t>
                </a:r>
                <a:r>
                  <a:rPr lang="zh-CN" altLang="en-US" sz="2000" dirty="0">
                    <a:solidFill>
                      <a:schemeClr val="tx1"/>
                    </a:solidFill>
                    <a:sym typeface="Symbol" pitchFamily="18" charset="2"/>
                  </a:rPr>
                  <a:t>为有补格，其中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  <m:t>S</m:t>
                        </m:r>
                      </m:e>
                      <m:sub>
                        <m:r>
                          <a:rPr lang="en-US" altLang="zh-CN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  <m:t>24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sym typeface="Symbol" pitchFamily="18" charset="2"/>
                  </a:rPr>
                  <a:t>是</a:t>
                </a:r>
                <a:r>
                  <a:rPr lang="en-US" altLang="zh-CN" sz="2000" dirty="0">
                    <a:solidFill>
                      <a:schemeClr val="tx1"/>
                    </a:solidFill>
                    <a:sym typeface="Symbol" pitchFamily="18" charset="2"/>
                  </a:rPr>
                  <a:t>24</a:t>
                </a:r>
                <a:r>
                  <a:rPr lang="zh-CN" altLang="en-US" sz="2000" dirty="0">
                    <a:solidFill>
                      <a:schemeClr val="tx1"/>
                    </a:solidFill>
                    <a:sym typeface="Symbol" pitchFamily="18" charset="2"/>
                  </a:rPr>
                  <a:t>的所有乘法因子组成的集合，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itchFamily="18" charset="2"/>
                      </a:rPr>
                      <m:t>|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sym typeface="Symbol" pitchFamily="18" charset="2"/>
                  </a:rPr>
                  <a:t>为整除关系</a:t>
                </a:r>
                <a:endParaRPr lang="en-US" altLang="zh-CN" sz="2000" dirty="0">
                  <a:solidFill>
                    <a:schemeClr val="tx1"/>
                  </a:solidFill>
                  <a:sym typeface="Symbol" pitchFamily="18" charset="2"/>
                </a:endParaRPr>
              </a:p>
              <a:p>
                <a:pPr marL="0" indent="0">
                  <a:buNone/>
                </a:pPr>
                <a:r>
                  <a:rPr lang="zh-CN" altLang="en-US" sz="2000" dirty="0">
                    <a:solidFill>
                      <a:schemeClr val="tx1"/>
                    </a:solidFill>
                  </a:rPr>
                  <a:t>（２）布尔代数中每个元素的补元是唯一存在的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zh-CN" altLang="en-US" sz="2000" dirty="0"/>
                  <a:t>（３）全序格不一定是模格</a:t>
                </a:r>
                <a:endParaRPr lang="en-US" altLang="zh-CN" sz="2000" dirty="0"/>
              </a:p>
              <a:p>
                <a:pPr marL="0" indent="0">
                  <a:buNone/>
                </a:pPr>
                <a:r>
                  <a:rPr lang="zh-CN" altLang="en-US" sz="2000" dirty="0">
                    <a:solidFill>
                      <a:schemeClr val="tx1"/>
                    </a:solidFill>
                  </a:rPr>
                  <a:t>（４）</a:t>
                </a:r>
                <a14:m>
                  <m:oMath xmlns:m="http://schemas.openxmlformats.org/officeDocument/2006/math">
                    <m:r>
                      <a:rPr lang="en-US" altLang="zh-CN" sz="21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10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2100">
                        <a:latin typeface="Cambria Math" panose="02040503050406030204" pitchFamily="18" charset="0"/>
                      </a:rPr>
                      <m:t>,≤,∗,⨁</m:t>
                    </m:r>
                    <m:sSup>
                      <m:sSupPr>
                        <m:ctrlPr>
                          <a:rPr lang="zh-CN" altLang="zh-CN" sz="2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100">
                            <a:latin typeface="Cambria Math" panose="02040503050406030204" pitchFamily="18" charset="0"/>
                          </a:rPr>
                          <m:t>,</m:t>
                        </m:r>
                      </m:e>
                      <m:sup>
                        <m:r>
                          <a:rPr lang="en-US" altLang="zh-CN" sz="21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100">
                        <a:latin typeface="Cambria Math" panose="02040503050406030204" pitchFamily="18" charset="0"/>
                      </a:rPr>
                      <m:t>,0,1)</m:t>
                    </m:r>
                  </m:oMath>
                </a14:m>
                <a:r>
                  <a:rPr lang="zh-CN" altLang="zh-CN" sz="2100" dirty="0"/>
                  <a:t>是布尔代数，</a:t>
                </a:r>
                <a14:m>
                  <m:oMath xmlns:m="http://schemas.openxmlformats.org/officeDocument/2006/math">
                    <m:r>
                      <a:rPr lang="en-US" altLang="zh-CN" sz="210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1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10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zh-CN" sz="2100" dirty="0"/>
                  <a:t>是</a:t>
                </a:r>
                <a14:m>
                  <m:oMath xmlns:m="http://schemas.openxmlformats.org/officeDocument/2006/math">
                    <m:r>
                      <a:rPr lang="en-US" altLang="zh-CN" sz="210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zh-CN" sz="2100" dirty="0"/>
                  <a:t>的原子，若</a:t>
                </a:r>
                <a14:m>
                  <m:oMath xmlns:m="http://schemas.openxmlformats.org/officeDocument/2006/math">
                    <m:r>
                      <a:rPr lang="en-US" altLang="zh-CN" sz="210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10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sz="210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100" dirty="0"/>
                  <a:t>，</a:t>
                </a:r>
                <a:r>
                  <a:rPr lang="zh-CN" altLang="zh-CN" sz="2100" dirty="0"/>
                  <a:t>则</a:t>
                </a:r>
                <a14:m>
                  <m:oMath xmlns:m="http://schemas.openxmlformats.org/officeDocument/2006/math">
                    <m:r>
                      <a:rPr lang="en-US" altLang="zh-CN" sz="210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10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210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1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zh-CN" altLang="zh-CN" sz="2100" dirty="0"/>
              </a:p>
              <a:p>
                <a:pPr marL="0" indent="0">
                  <a:buNone/>
                </a:pP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r>
                  <a:rPr lang="zh-CN" altLang="en-US" sz="2000" dirty="0"/>
                  <a:t>大题：</a:t>
                </a:r>
                <a:endParaRPr lang="en-US" altLang="zh-CN" sz="2000" dirty="0"/>
              </a:p>
              <a:p>
                <a:pPr marL="0" indent="0">
                  <a:buNone/>
                </a:pPr>
                <a:r>
                  <a:rPr lang="zh-CN" altLang="en-US" sz="2000" dirty="0"/>
                  <a:t>右图是以哈斯图表示的半序集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,≤)</m:t>
                    </m:r>
                  </m:oMath>
                </a14:m>
                <a:r>
                  <a:rPr lang="zh-CN" altLang="en-US" sz="2000" dirty="0"/>
                  <a:t>，</a:t>
                </a:r>
                <a:endParaRPr lang="en-US" altLang="zh-CN" sz="2000" dirty="0"/>
              </a:p>
              <a:p>
                <a:pPr marL="0" indent="0">
                  <a:buNone/>
                </a:pPr>
                <a:r>
                  <a:rPr lang="zh-CN" altLang="en-US" sz="2000" dirty="0"/>
                  <a:t>（１）</a:t>
                </a:r>
                <a:r>
                  <a:rPr lang="en-US" altLang="zh-CN" sz="2000" b="0" dirty="0"/>
                  <a:t> </a:t>
                </a:r>
                <a:r>
                  <a:rPr lang="zh-CN" altLang="en-US" sz="2000" b="0" dirty="0"/>
                  <a:t>证明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,≤)</m:t>
                    </m:r>
                  </m:oMath>
                </a14:m>
                <a:r>
                  <a:rPr lang="zh-CN" altLang="en-US" sz="2000" dirty="0"/>
                  <a:t>为格；</a:t>
                </a:r>
                <a:endParaRPr lang="en-US" altLang="zh-CN" sz="2000" dirty="0"/>
              </a:p>
              <a:p>
                <a:pPr marL="0" indent="0">
                  <a:buNone/>
                </a:pPr>
                <a:r>
                  <a:rPr lang="zh-CN" altLang="en-US" sz="2000" dirty="0"/>
                  <a:t>（２）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,≤)</m:t>
                    </m:r>
                  </m:oMath>
                </a14:m>
                <a:r>
                  <a:rPr lang="zh-CN" altLang="en-US" sz="2000" dirty="0"/>
                  <a:t>为模格吗？请说明原因；</a:t>
                </a:r>
                <a:endParaRPr lang="en-US" altLang="zh-CN" sz="2000" dirty="0"/>
              </a:p>
              <a:p>
                <a:pPr marL="0" indent="0">
                  <a:buNone/>
                </a:pPr>
                <a:r>
                  <a:rPr lang="zh-CN" altLang="en-US" sz="2000" dirty="0"/>
                  <a:t>（３）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,≤)</m:t>
                    </m:r>
                  </m:oMath>
                </a14:m>
                <a:r>
                  <a:rPr lang="zh-CN" altLang="en-US" sz="2000" dirty="0"/>
                  <a:t>为分配格吗？请说明原因；</a:t>
                </a:r>
                <a:endParaRPr lang="en-US" altLang="zh-CN" sz="2000" dirty="0"/>
              </a:p>
              <a:p>
                <a:pPr marL="0" indent="0">
                  <a:buNone/>
                </a:pPr>
                <a:r>
                  <a:rPr lang="zh-CN" altLang="en-US" sz="2000" dirty="0"/>
                  <a:t>（４）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,≤)</m:t>
                    </m:r>
                  </m:oMath>
                </a14:m>
                <a:r>
                  <a:rPr lang="zh-CN" altLang="en-US" sz="2000" dirty="0"/>
                  <a:t>为有补格吗？请说明原因。</a:t>
                </a:r>
                <a:endParaRPr lang="en-US" altLang="zh-CN" sz="2000" dirty="0"/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pPr marL="0" indent="0">
                  <a:buNone/>
                </a:pP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altLang="zh-CN" sz="3200" dirty="0">
                  <a:solidFill>
                    <a:schemeClr val="tx1"/>
                  </a:solidFill>
                  <a:sym typeface="Symbol" pitchFamily="18" charset="2"/>
                </a:endParaRPr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E7EEB3D-1861-39FC-38B8-C9911446B3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1752" b="-4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组合 49">
            <a:extLst>
              <a:ext uri="{FF2B5EF4-FFF2-40B4-BE49-F238E27FC236}">
                <a16:creationId xmlns:a16="http://schemas.microsoft.com/office/drawing/2014/main" id="{AB993B9D-3655-314F-DCBB-706E4E27EE8C}"/>
              </a:ext>
            </a:extLst>
          </p:cNvPr>
          <p:cNvGrpSpPr/>
          <p:nvPr/>
        </p:nvGrpSpPr>
        <p:grpSpPr>
          <a:xfrm>
            <a:off x="5796136" y="3573016"/>
            <a:ext cx="2007551" cy="2472569"/>
            <a:chOff x="6650649" y="3667705"/>
            <a:chExt cx="2007551" cy="2472569"/>
          </a:xfrm>
        </p:grpSpPr>
        <p:sp>
          <p:nvSpPr>
            <p:cNvPr id="5" name="流程图: 接点 4">
              <a:extLst>
                <a:ext uri="{FF2B5EF4-FFF2-40B4-BE49-F238E27FC236}">
                  <a16:creationId xmlns:a16="http://schemas.microsoft.com/office/drawing/2014/main" id="{B99EAC34-EB10-CE52-CC71-203EA2AADDE1}"/>
                </a:ext>
              </a:extLst>
            </p:cNvPr>
            <p:cNvSpPr/>
            <p:nvPr/>
          </p:nvSpPr>
          <p:spPr>
            <a:xfrm>
              <a:off x="7524328" y="4077072"/>
              <a:ext cx="144016" cy="144016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流程图: 接点 5">
              <a:extLst>
                <a:ext uri="{FF2B5EF4-FFF2-40B4-BE49-F238E27FC236}">
                  <a16:creationId xmlns:a16="http://schemas.microsoft.com/office/drawing/2014/main" id="{7F1BD391-6F8D-C12F-3C54-C4793DA76B5D}"/>
                </a:ext>
              </a:extLst>
            </p:cNvPr>
            <p:cNvSpPr/>
            <p:nvPr/>
          </p:nvSpPr>
          <p:spPr>
            <a:xfrm>
              <a:off x="7164288" y="4869160"/>
              <a:ext cx="144016" cy="144016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流程图: 接点 6">
              <a:extLst>
                <a:ext uri="{FF2B5EF4-FFF2-40B4-BE49-F238E27FC236}">
                  <a16:creationId xmlns:a16="http://schemas.microsoft.com/office/drawing/2014/main" id="{671DF55E-A91E-17CB-AF05-758BAF43BEF6}"/>
                </a:ext>
              </a:extLst>
            </p:cNvPr>
            <p:cNvSpPr/>
            <p:nvPr/>
          </p:nvSpPr>
          <p:spPr>
            <a:xfrm>
              <a:off x="7596336" y="5661248"/>
              <a:ext cx="144016" cy="144016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流程图: 接点 7">
              <a:extLst>
                <a:ext uri="{FF2B5EF4-FFF2-40B4-BE49-F238E27FC236}">
                  <a16:creationId xmlns:a16="http://schemas.microsoft.com/office/drawing/2014/main" id="{9973CA11-1C4A-5B6F-8226-CB803720D1E5}"/>
                </a:ext>
              </a:extLst>
            </p:cNvPr>
            <p:cNvSpPr/>
            <p:nvPr/>
          </p:nvSpPr>
          <p:spPr>
            <a:xfrm>
              <a:off x="8028384" y="4653136"/>
              <a:ext cx="144016" cy="144016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流程图: 接点 8">
              <a:extLst>
                <a:ext uri="{FF2B5EF4-FFF2-40B4-BE49-F238E27FC236}">
                  <a16:creationId xmlns:a16="http://schemas.microsoft.com/office/drawing/2014/main" id="{65641D5F-F523-F2BE-B99C-A456EF459932}"/>
                </a:ext>
              </a:extLst>
            </p:cNvPr>
            <p:cNvSpPr/>
            <p:nvPr/>
          </p:nvSpPr>
          <p:spPr>
            <a:xfrm>
              <a:off x="8028384" y="5231272"/>
              <a:ext cx="144016" cy="144016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61EC1C3C-B2BE-EC3C-A365-EBEBAE3A665B}"/>
                </a:ext>
              </a:extLst>
            </p:cNvPr>
            <p:cNvCxnSpPr>
              <a:cxnSpLocks/>
              <a:endCxn id="6" idx="0"/>
            </p:cNvCxnSpPr>
            <p:nvPr/>
          </p:nvCxnSpPr>
          <p:spPr>
            <a:xfrm flipH="1">
              <a:off x="7236296" y="4229974"/>
              <a:ext cx="328313" cy="63918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118BE18F-E2E2-B3EF-02EA-6874841D0D65}"/>
                </a:ext>
              </a:extLst>
            </p:cNvPr>
            <p:cNvCxnSpPr>
              <a:cxnSpLocks/>
            </p:cNvCxnSpPr>
            <p:nvPr/>
          </p:nvCxnSpPr>
          <p:spPr>
            <a:xfrm>
              <a:off x="7276577" y="5012741"/>
              <a:ext cx="391767" cy="678872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A0247100-B604-E504-75B1-7A9AB2B3641F}"/>
                </a:ext>
              </a:extLst>
            </p:cNvPr>
            <p:cNvCxnSpPr>
              <a:cxnSpLocks/>
              <a:stCxn id="8" idx="1"/>
            </p:cNvCxnSpPr>
            <p:nvPr/>
          </p:nvCxnSpPr>
          <p:spPr>
            <a:xfrm flipH="1" flipV="1">
              <a:off x="7655603" y="4189049"/>
              <a:ext cx="393872" cy="48517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BB066AB3-AB34-F0CC-8188-C90043A7098B}"/>
                </a:ext>
              </a:extLst>
            </p:cNvPr>
            <p:cNvCxnSpPr>
              <a:cxnSpLocks/>
              <a:endCxn id="7" idx="7"/>
            </p:cNvCxnSpPr>
            <p:nvPr/>
          </p:nvCxnSpPr>
          <p:spPr>
            <a:xfrm flipH="1">
              <a:off x="7719261" y="5341199"/>
              <a:ext cx="348744" cy="34114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E528C93C-3072-57B3-DDEB-24C67FFC8933}"/>
                </a:ext>
              </a:extLst>
            </p:cNvPr>
            <p:cNvCxnSpPr>
              <a:cxnSpLocks/>
              <a:stCxn id="8" idx="4"/>
              <a:endCxn id="9" idx="0"/>
            </p:cNvCxnSpPr>
            <p:nvPr/>
          </p:nvCxnSpPr>
          <p:spPr>
            <a:xfrm>
              <a:off x="8100392" y="4797152"/>
              <a:ext cx="0" cy="43412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A5F76B32-B499-3026-F011-671E8B5367C5}"/>
                    </a:ext>
                  </a:extLst>
                </p:cNvPr>
                <p:cNvSpPr txBox="1"/>
                <p:nvPr/>
              </p:nvSpPr>
              <p:spPr>
                <a:xfrm>
                  <a:off x="7295681" y="3667705"/>
                  <a:ext cx="68768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A5F76B32-B499-3026-F011-671E8B5367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5681" y="3667705"/>
                  <a:ext cx="687689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AE1242AB-1948-CCB2-CD36-61F3C802BD00}"/>
                    </a:ext>
                  </a:extLst>
                </p:cNvPr>
                <p:cNvSpPr txBox="1"/>
                <p:nvPr/>
              </p:nvSpPr>
              <p:spPr>
                <a:xfrm>
                  <a:off x="6650649" y="4800271"/>
                  <a:ext cx="77383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AE1242AB-1948-CCB2-CD36-61F3C802BD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0649" y="4800271"/>
                  <a:ext cx="77383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890FE9CE-8547-FC1A-CD7D-380E6229A0FB}"/>
                    </a:ext>
                  </a:extLst>
                </p:cNvPr>
                <p:cNvSpPr txBox="1"/>
                <p:nvPr/>
              </p:nvSpPr>
              <p:spPr>
                <a:xfrm>
                  <a:off x="8071240" y="4557523"/>
                  <a:ext cx="55780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890FE9CE-8547-FC1A-CD7D-380E6229A0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71240" y="4557523"/>
                  <a:ext cx="557808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8D7234B0-174B-3316-C1BB-77CB8CE8A6DA}"/>
                    </a:ext>
                  </a:extLst>
                </p:cNvPr>
                <p:cNvSpPr txBox="1"/>
                <p:nvPr/>
              </p:nvSpPr>
              <p:spPr>
                <a:xfrm>
                  <a:off x="8028384" y="5138314"/>
                  <a:ext cx="62981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8D7234B0-174B-3316-C1BB-77CB8CE8A6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8384" y="5138314"/>
                  <a:ext cx="62981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A9CD7B77-E0A9-6812-3AE0-956097C1A95E}"/>
                    </a:ext>
                  </a:extLst>
                </p:cNvPr>
                <p:cNvSpPr txBox="1"/>
                <p:nvPr/>
              </p:nvSpPr>
              <p:spPr>
                <a:xfrm>
                  <a:off x="7366181" y="5770942"/>
                  <a:ext cx="70182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A9CD7B77-E0A9-6812-3AE0-956097C1A9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6181" y="5770942"/>
                  <a:ext cx="701824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89450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898</TotalTime>
  <Words>656</Words>
  <Application>Microsoft Office PowerPoint</Application>
  <PresentationFormat>全屏显示(4:3)</PresentationFormat>
  <Paragraphs>67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Helvetica Neue</vt:lpstr>
      <vt:lpstr>Arial</vt:lpstr>
      <vt:lpstr>Calibri</vt:lpstr>
      <vt:lpstr>Cambria Math</vt:lpstr>
      <vt:lpstr>Symbol</vt:lpstr>
      <vt:lpstr>Wingdings</vt:lpstr>
      <vt:lpstr>Office 主题​​</vt:lpstr>
      <vt:lpstr>PowerPoint 演示文稿</vt:lpstr>
      <vt:lpstr>PowerPoint 演示文稿</vt:lpstr>
      <vt:lpstr>第七章题目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微软用户</dc:creator>
  <cp:lastModifiedBy>祯 彭</cp:lastModifiedBy>
  <cp:revision>26</cp:revision>
  <dcterms:created xsi:type="dcterms:W3CDTF">2019-11-08T06:27:31Z</dcterms:created>
  <dcterms:modified xsi:type="dcterms:W3CDTF">2025-06-03T12:33:12Z</dcterms:modified>
</cp:coreProperties>
</file>