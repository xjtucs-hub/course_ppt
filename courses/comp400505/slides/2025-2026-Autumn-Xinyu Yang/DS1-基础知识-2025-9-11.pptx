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vsd" ContentType="application/vnd.visi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96" r:id="rId2"/>
    <p:sldMasterId id="2147483684" r:id="rId3"/>
  </p:sldMasterIdLst>
  <p:notesMasterIdLst>
    <p:notesMasterId r:id="rId121"/>
  </p:notesMasterIdLst>
  <p:sldIdLst>
    <p:sldId id="256" r:id="rId4"/>
    <p:sldId id="343" r:id="rId5"/>
    <p:sldId id="344" r:id="rId6"/>
    <p:sldId id="345" r:id="rId7"/>
    <p:sldId id="346" r:id="rId8"/>
    <p:sldId id="347" r:id="rId9"/>
    <p:sldId id="348" r:id="rId10"/>
    <p:sldId id="349" r:id="rId11"/>
    <p:sldId id="257" r:id="rId12"/>
    <p:sldId id="258" r:id="rId13"/>
    <p:sldId id="350" r:id="rId14"/>
    <p:sldId id="259" r:id="rId15"/>
    <p:sldId id="351" r:id="rId16"/>
    <p:sldId id="260" r:id="rId17"/>
    <p:sldId id="352" r:id="rId18"/>
    <p:sldId id="353" r:id="rId19"/>
    <p:sldId id="354" r:id="rId20"/>
    <p:sldId id="337" r:id="rId21"/>
    <p:sldId id="261" r:id="rId22"/>
    <p:sldId id="338" r:id="rId23"/>
    <p:sldId id="339" r:id="rId24"/>
    <p:sldId id="340" r:id="rId25"/>
    <p:sldId id="341" r:id="rId26"/>
    <p:sldId id="342" r:id="rId27"/>
    <p:sldId id="262" r:id="rId28"/>
    <p:sldId id="308" r:id="rId29"/>
    <p:sldId id="263" r:id="rId30"/>
    <p:sldId id="336" r:id="rId31"/>
    <p:sldId id="356" r:id="rId32"/>
    <p:sldId id="264" r:id="rId33"/>
    <p:sldId id="355" r:id="rId34"/>
    <p:sldId id="357" r:id="rId35"/>
    <p:sldId id="360" r:id="rId36"/>
    <p:sldId id="358" r:id="rId37"/>
    <p:sldId id="361" r:id="rId38"/>
    <p:sldId id="362" r:id="rId39"/>
    <p:sldId id="359" r:id="rId40"/>
    <p:sldId id="363" r:id="rId41"/>
    <p:sldId id="364" r:id="rId42"/>
    <p:sldId id="265" r:id="rId43"/>
    <p:sldId id="365" r:id="rId44"/>
    <p:sldId id="366" r:id="rId45"/>
    <p:sldId id="367" r:id="rId46"/>
    <p:sldId id="368" r:id="rId47"/>
    <p:sldId id="369" r:id="rId48"/>
    <p:sldId id="370" r:id="rId49"/>
    <p:sldId id="371" r:id="rId50"/>
    <p:sldId id="372" r:id="rId51"/>
    <p:sldId id="373" r:id="rId52"/>
    <p:sldId id="374" r:id="rId53"/>
    <p:sldId id="335" r:id="rId54"/>
    <p:sldId id="375" r:id="rId55"/>
    <p:sldId id="267" r:id="rId56"/>
    <p:sldId id="268" r:id="rId57"/>
    <p:sldId id="376" r:id="rId58"/>
    <p:sldId id="377" r:id="rId59"/>
    <p:sldId id="378" r:id="rId60"/>
    <p:sldId id="269" r:id="rId61"/>
    <p:sldId id="333" r:id="rId62"/>
    <p:sldId id="379" r:id="rId63"/>
    <p:sldId id="380" r:id="rId64"/>
    <p:sldId id="381" r:id="rId65"/>
    <p:sldId id="270" r:id="rId66"/>
    <p:sldId id="334" r:id="rId67"/>
    <p:sldId id="382" r:id="rId68"/>
    <p:sldId id="327" r:id="rId69"/>
    <p:sldId id="323" r:id="rId70"/>
    <p:sldId id="324" r:id="rId71"/>
    <p:sldId id="325" r:id="rId72"/>
    <p:sldId id="272" r:id="rId73"/>
    <p:sldId id="314" r:id="rId74"/>
    <p:sldId id="328" r:id="rId75"/>
    <p:sldId id="329" r:id="rId76"/>
    <p:sldId id="330" r:id="rId77"/>
    <p:sldId id="322" r:id="rId78"/>
    <p:sldId id="278" r:id="rId79"/>
    <p:sldId id="279" r:id="rId80"/>
    <p:sldId id="280" r:id="rId81"/>
    <p:sldId id="281" r:id="rId82"/>
    <p:sldId id="282" r:id="rId83"/>
    <p:sldId id="283" r:id="rId84"/>
    <p:sldId id="316" r:id="rId85"/>
    <p:sldId id="284" r:id="rId86"/>
    <p:sldId id="285" r:id="rId87"/>
    <p:sldId id="286" r:id="rId88"/>
    <p:sldId id="287" r:id="rId89"/>
    <p:sldId id="331" r:id="rId90"/>
    <p:sldId id="288" r:id="rId91"/>
    <p:sldId id="290" r:id="rId92"/>
    <p:sldId id="291" r:id="rId93"/>
    <p:sldId id="292" r:id="rId94"/>
    <p:sldId id="293" r:id="rId95"/>
    <p:sldId id="294" r:id="rId96"/>
    <p:sldId id="295" r:id="rId97"/>
    <p:sldId id="296" r:id="rId98"/>
    <p:sldId id="297" r:id="rId99"/>
    <p:sldId id="298" r:id="rId100"/>
    <p:sldId id="299" r:id="rId101"/>
    <p:sldId id="300" r:id="rId102"/>
    <p:sldId id="383" r:id="rId103"/>
    <p:sldId id="384" r:id="rId104"/>
    <p:sldId id="385" r:id="rId105"/>
    <p:sldId id="386" r:id="rId106"/>
    <p:sldId id="301" r:id="rId107"/>
    <p:sldId id="321" r:id="rId108"/>
    <p:sldId id="307" r:id="rId109"/>
    <p:sldId id="302" r:id="rId110"/>
    <p:sldId id="387" r:id="rId111"/>
    <p:sldId id="392" r:id="rId112"/>
    <p:sldId id="303" r:id="rId113"/>
    <p:sldId id="304" r:id="rId114"/>
    <p:sldId id="305" r:id="rId115"/>
    <p:sldId id="388" r:id="rId116"/>
    <p:sldId id="389" r:id="rId117"/>
    <p:sldId id="390" r:id="rId118"/>
    <p:sldId id="391" r:id="rId119"/>
    <p:sldId id="306" r:id="rId12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9021" autoAdjust="0"/>
  </p:normalViewPr>
  <p:slideViewPr>
    <p:cSldViewPr>
      <p:cViewPr varScale="1">
        <p:scale>
          <a:sx n="115" d="100"/>
          <a:sy n="115" d="100"/>
        </p:scale>
        <p:origin x="945" y="51"/>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viewProps" Target="viewProp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theme" Target="theme/theme1.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notesMaster" Target="notesMasters/notesMaster1.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3E0F23-7647-4B36-9C97-19CCD522EF7A}" type="datetimeFigureOut">
              <a:rPr lang="zh-CN" altLang="en-US" smtClean="0"/>
              <a:pPr/>
              <a:t>2025-09-11 Thursday</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869DCB-FF39-4F68-98DD-2F5951AA3DA6}" type="slidenum">
              <a:rPr lang="zh-CN" altLang="en-US" smtClean="0"/>
              <a:pPr/>
              <a:t>‹#›</a:t>
            </a:fld>
            <a:endParaRPr lang="zh-CN" altLang="en-US"/>
          </a:p>
        </p:txBody>
      </p:sp>
    </p:spTree>
    <p:extLst>
      <p:ext uri="{BB962C8B-B14F-4D97-AF65-F5344CB8AC3E}">
        <p14:creationId xmlns:p14="http://schemas.microsoft.com/office/powerpoint/2010/main" val="3567482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92</a:t>
            </a:fld>
            <a:endParaRPr lang="zh-CN" altLang="en-US"/>
          </a:p>
        </p:txBody>
      </p:sp>
    </p:spTree>
    <p:extLst>
      <p:ext uri="{BB962C8B-B14F-4D97-AF65-F5344CB8AC3E}">
        <p14:creationId xmlns:p14="http://schemas.microsoft.com/office/powerpoint/2010/main" val="3419684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D6836A47-F2A7-406E-887D-DAE0E45A0A36}" type="slidenum">
              <a:rPr lang="en-US" altLang="zh-CN" smtClean="0"/>
              <a:pPr/>
              <a:t>113</a:t>
            </a:fld>
            <a:endParaRPr lang="en-US" altLang="zh-CN"/>
          </a:p>
        </p:txBody>
      </p:sp>
    </p:spTree>
    <p:extLst>
      <p:ext uri="{BB962C8B-B14F-4D97-AF65-F5344CB8AC3E}">
        <p14:creationId xmlns:p14="http://schemas.microsoft.com/office/powerpoint/2010/main" val="624735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D6836A47-F2A7-406E-887D-DAE0E45A0A36}" type="slidenum">
              <a:rPr lang="en-US" altLang="zh-CN" smtClean="0"/>
              <a:pPr/>
              <a:t>114</a:t>
            </a:fld>
            <a:endParaRPr lang="en-US" altLang="zh-CN"/>
          </a:p>
        </p:txBody>
      </p:sp>
    </p:spTree>
    <p:extLst>
      <p:ext uri="{BB962C8B-B14F-4D97-AF65-F5344CB8AC3E}">
        <p14:creationId xmlns:p14="http://schemas.microsoft.com/office/powerpoint/2010/main" val="1005065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D6836A47-F2A7-406E-887D-DAE0E45A0A36}" type="slidenum">
              <a:rPr lang="en-US" altLang="zh-CN" smtClean="0"/>
              <a:pPr/>
              <a:t>115</a:t>
            </a:fld>
            <a:endParaRPr lang="en-US" altLang="zh-CN"/>
          </a:p>
        </p:txBody>
      </p:sp>
    </p:spTree>
    <p:extLst>
      <p:ext uri="{BB962C8B-B14F-4D97-AF65-F5344CB8AC3E}">
        <p14:creationId xmlns:p14="http://schemas.microsoft.com/office/powerpoint/2010/main" val="2334532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zh-CN" altLang="en-US"/>
              <a:t>单击此处编辑母版标题样式</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r>
              <a:rPr lang="en-US" altLang="zh-CN"/>
              <a:t>2016/2/5</a:t>
            </a:r>
            <a:endParaRPr lang="zh-CN" altLang="en-US"/>
          </a:p>
        </p:txBody>
      </p:sp>
      <p:sp>
        <p:nvSpPr>
          <p:cNvPr id="5" name="Footer Placeholder 4"/>
          <p:cNvSpPr>
            <a:spLocks noGrp="1"/>
          </p:cNvSpPr>
          <p:nvPr>
            <p:ph type="ftr" sz="quarter" idx="11"/>
          </p:nvPr>
        </p:nvSpPr>
        <p:spPr/>
        <p:txBody>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20056" y="719756"/>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a:t>单击此处编辑母版标题样式</a:t>
            </a:r>
            <a:endParaRPr lang="en-US" dirty="0"/>
          </a:p>
        </p:txBody>
      </p:sp>
      <p:sp>
        <p:nvSpPr>
          <p:cNvPr id="4" name="Date Placeholder 3"/>
          <p:cNvSpPr>
            <a:spLocks noGrp="1"/>
          </p:cNvSpPr>
          <p:nvPr>
            <p:ph type="dt" sz="half" idx="10"/>
          </p:nvPr>
        </p:nvSpPr>
        <p:spPr>
          <a:xfrm>
            <a:off x="68194" y="6457807"/>
            <a:ext cx="1123132" cy="227149"/>
          </a:xfrm>
        </p:spPr>
        <p:txBody>
          <a:bodyPr/>
          <a:lstStyle>
            <a:lvl1pPr>
              <a:defRPr sz="1400" b="1">
                <a:solidFill>
                  <a:schemeClr val="bg1"/>
                </a:solidFill>
              </a:defRPr>
            </a:lvl1pPr>
          </a:lstStyle>
          <a:p>
            <a:r>
              <a:rPr lang="en-US" altLang="zh-CN"/>
              <a:t>2016/2/5</a:t>
            </a:r>
            <a:endParaRPr lang="zh-CN" alt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6820" y="44624"/>
            <a:ext cx="430724" cy="431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p:nvPr userDrawn="1"/>
        </p:nvSpPr>
        <p:spPr>
          <a:xfrm>
            <a:off x="539259" y="44624"/>
            <a:ext cx="1800493" cy="369332"/>
          </a:xfrm>
          <a:prstGeom prst="rect">
            <a:avLst/>
          </a:prstGeom>
        </p:spPr>
        <p:txBody>
          <a:bodyPr wrap="none">
            <a:spAutoFit/>
          </a:bodyPr>
          <a:lstStyle/>
          <a:p>
            <a:r>
              <a:rPr lang="zh-CN" altLang="en-US" i="1" dirty="0">
                <a:latin typeface="方正舒体" panose="02010601030101010101" pitchFamily="2" charset="-122"/>
                <a:ea typeface="方正舒体" panose="02010601030101010101" pitchFamily="2" charset="-122"/>
              </a:rPr>
              <a:t>数据结构与算法</a:t>
            </a: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a:solidFill>
                  <a:schemeClr val="bg1"/>
                </a:solidFill>
              </a:rPr>
              <a:t>西安交通大学计算机科学与技术学院</a:t>
            </a:r>
          </a:p>
        </p:txBody>
      </p:sp>
      <p:sp>
        <p:nvSpPr>
          <p:cNvPr id="16" name="TextBox 15"/>
          <p:cNvSpPr txBox="1"/>
          <p:nvPr userDrawn="1"/>
        </p:nvSpPr>
        <p:spPr>
          <a:xfrm>
            <a:off x="8100392" y="6441217"/>
            <a:ext cx="936104"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/117</a:t>
            </a:r>
            <a:endParaRPr lang="zh-CN" altLang="en-US" dirty="0">
              <a:solidFill>
                <a:schemeClr val="bg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a:t>单击此处编辑母版文本样式</a:t>
            </a:r>
          </a:p>
        </p:txBody>
      </p:sp>
      <p:sp>
        <p:nvSpPr>
          <p:cNvPr id="4" name="Date Placeholder 3"/>
          <p:cNvSpPr>
            <a:spLocks noGrp="1"/>
          </p:cNvSpPr>
          <p:nvPr>
            <p:ph type="dt" sz="half" idx="10"/>
          </p:nvPr>
        </p:nvSpPr>
        <p:spPr/>
        <p:txBody>
          <a:bodyPr/>
          <a:lstStyle/>
          <a:p>
            <a:r>
              <a:rPr lang="en-US" altLang="zh-CN"/>
              <a:t>2016/2/5</a:t>
            </a:r>
            <a:endParaRPr lang="zh-CN" altLang="en-US"/>
          </a:p>
        </p:txBody>
      </p:sp>
      <p:sp>
        <p:nvSpPr>
          <p:cNvPr id="5" name="Footer Placeholder 4"/>
          <p:cNvSpPr>
            <a:spLocks noGrp="1"/>
          </p:cNvSpPr>
          <p:nvPr>
            <p:ph type="ftr" sz="quarter" idx="11"/>
          </p:nvPr>
        </p:nvSpPr>
        <p:spPr/>
        <p:txBody>
          <a:bodyPr/>
          <a:lstStyle/>
          <a:p>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r>
              <a:rPr lang="en-US" altLang="zh-CN"/>
              <a:t>2016/2/5</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r>
              <a:rPr lang="en-US" altLang="zh-CN" dirty="0"/>
              <a:t>/62</a:t>
            </a:r>
            <a:endParaRPr lang="zh-CN" altLang="en-US" dirty="0"/>
          </a:p>
        </p:txBody>
      </p:sp>
      <p:sp>
        <p:nvSpPr>
          <p:cNvPr id="8" name="Title 7"/>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r>
              <a:rPr lang="en-US" altLang="zh-CN"/>
              <a:t>2016/2/5</a:t>
            </a:r>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r>
              <a:rPr lang="en-US" altLang="zh-CN" dirty="0"/>
              <a:t>/62</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r>
              <a:rPr lang="en-US" altLang="zh-CN"/>
              <a:t>2016/2/5</a:t>
            </a:r>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r>
              <a:rPr lang="en-US" altLang="zh-CN" dirty="0"/>
              <a:t>/62</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r>
              <a:rPr lang="en-US" altLang="zh-CN" dirty="0"/>
              <a:t>/62</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userDrawn="1"/>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a:t>单击此处编辑母版文本样式</a:t>
            </a:r>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r>
              <a:rPr lang="en-US" altLang="zh-CN" dirty="0"/>
              <a:t>/62</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r>
              <a:rPr lang="en-US" altLang="zh-CN" dirty="0"/>
              <a:t>/62</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r>
              <a:rPr lang="en-US" altLang="zh-CN" dirty="0"/>
              <a:t>/62</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r>
              <a:rPr lang="en-US" altLang="zh-CN" dirty="0"/>
              <a:t>/62</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7584" y="895707"/>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827584" y="1628800"/>
            <a:ext cx="7520940" cy="3579849"/>
          </a:xfrm>
        </p:spPr>
        <p:txBody>
          <a:bodyPr>
            <a:normAutofit/>
          </a:bodyPr>
          <a:lstStyle>
            <a:lvl1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1pPr>
            <a:lvl2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2pPr>
            <a:lvl3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3pPr>
            <a:lvl4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4pPr>
            <a:lvl5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userDrawn="1"/>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a:solidFill>
                  <a:schemeClr val="bg1"/>
                </a:solidFill>
              </a:rPr>
              <a:t>西安交通大学计算机科学与技术系</a:t>
            </a:r>
          </a:p>
        </p:txBody>
      </p:sp>
      <p:sp>
        <p:nvSpPr>
          <p:cNvPr id="11" name="TextBox 10"/>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endParaRPr lang="zh-CN" altLang="en-US" dirty="0">
              <a:solidFill>
                <a:schemeClr val="bg1"/>
              </a:solidFill>
            </a:endParaRPr>
          </a:p>
        </p:txBody>
      </p:sp>
    </p:spTree>
    <p:extLst>
      <p:ext uri="{BB962C8B-B14F-4D97-AF65-F5344CB8AC3E}">
        <p14:creationId xmlns:p14="http://schemas.microsoft.com/office/powerpoint/2010/main" val="2153588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2025-09-11 Thursday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9555152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2025-09-11 Thursday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10316288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2025-09-11 Thursday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25501441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46BC88B-86D0-4C5A-8106-4E1D2EEFBB48}" type="datetimeFigureOut">
              <a:rPr lang="zh-CN" altLang="en-US" smtClean="0"/>
              <a:pPr/>
              <a:t>2025-09-11 Thursday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0FCB47-DC5A-497A-8E18-9628600860A7}"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22391555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46BC88B-86D0-4C5A-8106-4E1D2EEFBB48}" type="datetimeFigureOut">
              <a:rPr lang="zh-CN" altLang="en-US" smtClean="0"/>
              <a:pPr/>
              <a:t>2025-09-11 Thursday</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0FCB47-DC5A-497A-8E18-9628600860A7}"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40614705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46BC88B-86D0-4C5A-8106-4E1D2EEFBB48}" type="datetimeFigureOut">
              <a:rPr lang="zh-CN" altLang="en-US" smtClean="0"/>
              <a:pPr/>
              <a:t>2025-09-11 Thursday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0FCB47-DC5A-497A-8E18-9628600860A7}"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18981465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46BC88B-86D0-4C5A-8106-4E1D2EEFBB48}" type="datetimeFigureOut">
              <a:rPr lang="zh-CN" altLang="en-US" smtClean="0"/>
              <a:pPr/>
              <a:t>2025-09-11 Thursday</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0FCB47-DC5A-497A-8E18-9628600860A7}"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8536727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46BC88B-86D0-4C5A-8106-4E1D2EEFBB48}" type="datetimeFigureOut">
              <a:rPr lang="zh-CN" altLang="en-US" smtClean="0"/>
              <a:pPr/>
              <a:t>2025-09-11 Thursday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0FCB47-DC5A-497A-8E18-9628600860A7}"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9085981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46BC88B-86D0-4C5A-8106-4E1D2EEFBB48}" type="datetimeFigureOut">
              <a:rPr lang="zh-CN" altLang="en-US" smtClean="0"/>
              <a:pPr/>
              <a:t>2025-09-11 Thursday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0FCB47-DC5A-497A-8E18-9628600860A7}"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40040380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2025-09-11 Thursday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36531617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2025-09-11 Thursday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17331191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zh-CN" altLang="en-US"/>
              <a:t>单击此处编辑母版标题样式</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a:t>单击此处编辑母版副标题样式</a:t>
            </a:r>
            <a:endParaRPr lang="en-US" dirty="0"/>
          </a:p>
        </p:txBody>
      </p:sp>
      <p:sp>
        <p:nvSpPr>
          <p:cNvPr id="5" name="Footer Placeholder 4"/>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9806327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20056" y="719756"/>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a:t>单击此处编辑母版标题样式</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6820" y="44624"/>
            <a:ext cx="430724" cy="431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p:nvPr userDrawn="1"/>
        </p:nvSpPr>
        <p:spPr>
          <a:xfrm>
            <a:off x="539259" y="44624"/>
            <a:ext cx="1800493" cy="369332"/>
          </a:xfrm>
          <a:prstGeom prst="rect">
            <a:avLst/>
          </a:prstGeom>
        </p:spPr>
        <p:txBody>
          <a:bodyPr wrap="none">
            <a:spAutoFit/>
          </a:bodyPr>
          <a:lstStyle/>
          <a:p>
            <a:r>
              <a:rPr lang="zh-CN" altLang="en-US" i="1" dirty="0">
                <a:latin typeface="方正舒体" panose="02010601030101010101" pitchFamily="2" charset="-122"/>
                <a:ea typeface="方正舒体" panose="02010601030101010101" pitchFamily="2" charset="-122"/>
              </a:rPr>
              <a:t>数据结构与算法</a:t>
            </a: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a:solidFill>
                  <a:schemeClr val="bg1"/>
                </a:solidFill>
              </a:rPr>
              <a:t>西安交通大学计算机科学与技术系</a:t>
            </a:r>
          </a:p>
        </p:txBody>
      </p:sp>
      <p:sp>
        <p:nvSpPr>
          <p:cNvPr id="16" name="TextBox 15"/>
          <p:cNvSpPr txBox="1"/>
          <p:nvPr userDrawn="1"/>
        </p:nvSpPr>
        <p:spPr>
          <a:xfrm>
            <a:off x="8240996" y="6441217"/>
            <a:ext cx="795500"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/62</a:t>
            </a:r>
            <a:endParaRPr lang="zh-CN" altLang="en-US" dirty="0">
              <a:solidFill>
                <a:schemeClr val="bg1"/>
              </a:solidFill>
            </a:endParaRPr>
          </a:p>
        </p:txBody>
      </p:sp>
    </p:spTree>
    <p:extLst>
      <p:ext uri="{BB962C8B-B14F-4D97-AF65-F5344CB8AC3E}">
        <p14:creationId xmlns:p14="http://schemas.microsoft.com/office/powerpoint/2010/main" val="6419631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userDrawn="1"/>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a:t>单击此处编辑母版文本样式</a:t>
            </a:r>
          </a:p>
        </p:txBody>
      </p:sp>
      <p:sp>
        <p:nvSpPr>
          <p:cNvPr id="5" name="Footer Placeholder 4"/>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071991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r>
              <a:rPr lang="en-US" altLang="zh-CN" dirty="0"/>
              <a:t>/62</a:t>
            </a:r>
            <a:endParaRPr lang="zh-CN" altLang="en-US" dirty="0"/>
          </a:p>
        </p:txBody>
      </p:sp>
      <p:sp>
        <p:nvSpPr>
          <p:cNvPr id="8" name="Title 7"/>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24796850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34239842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r>
              <a:rPr lang="en-US" altLang="zh-CN" dirty="0"/>
              <a:t>/51</a:t>
            </a:r>
            <a:endParaRPr lang="zh-CN" altLang="en-US" dirty="0"/>
          </a:p>
        </p:txBody>
      </p:sp>
    </p:spTree>
    <p:extLst>
      <p:ext uri="{BB962C8B-B14F-4D97-AF65-F5344CB8AC3E}">
        <p14:creationId xmlns:p14="http://schemas.microsoft.com/office/powerpoint/2010/main" val="25369315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r>
              <a:rPr lang="en-US" altLang="zh-CN" dirty="0"/>
              <a:t>/51</a:t>
            </a:r>
            <a:endParaRPr lang="zh-CN" altLang="en-US" dirty="0"/>
          </a:p>
        </p:txBody>
      </p:sp>
    </p:spTree>
    <p:extLst>
      <p:ext uri="{BB962C8B-B14F-4D97-AF65-F5344CB8AC3E}">
        <p14:creationId xmlns:p14="http://schemas.microsoft.com/office/powerpoint/2010/main" val="17874348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a:t>单击此处编辑母版文本样式</a:t>
            </a:r>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r>
              <a:rPr lang="en-US" altLang="zh-CN" dirty="0"/>
              <a:t>/51</a:t>
            </a:r>
            <a:endParaRPr lang="zh-CN" altLang="en-US" dirty="0"/>
          </a:p>
        </p:txBody>
      </p:sp>
    </p:spTree>
    <p:extLst>
      <p:ext uri="{BB962C8B-B14F-4D97-AF65-F5344CB8AC3E}">
        <p14:creationId xmlns:p14="http://schemas.microsoft.com/office/powerpoint/2010/main" val="7861872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31424593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28641309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4281126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406159"/>
            <a:ext cx="3574257" cy="451842"/>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406159"/>
            <a:ext cx="9146380" cy="45184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6512" y="6485577"/>
            <a:ext cx="1123132" cy="227149"/>
          </a:xfrm>
          <a:prstGeom prst="rect">
            <a:avLst/>
          </a:prstGeom>
        </p:spPr>
        <p:txBody>
          <a:bodyPr vert="horz" lIns="91440" tIns="45720" rIns="91440" bIns="45720" rtlCol="0" anchor="ctr"/>
          <a:lstStyle>
            <a:lvl1pPr algn="l">
              <a:defRPr sz="1200">
                <a:solidFill>
                  <a:srgbClr val="FFFFFF"/>
                </a:solidFill>
              </a:defRPr>
            </a:lvl1pPr>
          </a:lstStyle>
          <a:p>
            <a:r>
              <a:rPr lang="en-US" altLang="zh-CN"/>
              <a:t>2016/2/5</a:t>
            </a:r>
            <a:endParaRPr lang="zh-CN" altLang="en-US"/>
          </a:p>
        </p:txBody>
      </p:sp>
      <p:sp>
        <p:nvSpPr>
          <p:cNvPr id="5" name="Footer Placeholder 4"/>
          <p:cNvSpPr>
            <a:spLocks noGrp="1"/>
          </p:cNvSpPr>
          <p:nvPr>
            <p:ph type="ftr" sz="quarter" idx="3"/>
          </p:nvPr>
        </p:nvSpPr>
        <p:spPr>
          <a:xfrm>
            <a:off x="3517514" y="6539056"/>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01038" y="6382464"/>
            <a:ext cx="502920" cy="502920"/>
          </a:xfrm>
          <a:prstGeom prst="ellipse">
            <a:avLst/>
          </a:prstGeom>
          <a:ln w="19050">
            <a:solidFill>
              <a:srgbClr val="FFFFFF"/>
            </a:solidFill>
          </a:ln>
        </p:spPr>
        <p:txBody>
          <a:bodyPr vert="horz" lIns="9144" tIns="9144" rIns="9144" bIns="9144" rtlCol="0" anchor="ctr">
            <a:normAutofit/>
          </a:bodyPr>
          <a:lstStyle>
            <a:lvl1pPr algn="ctr">
              <a:defRPr sz="1000">
                <a:solidFill>
                  <a:srgbClr val="FFFFFF"/>
                </a:solidFill>
              </a:defRPr>
            </a:lvl1pPr>
          </a:lstStyle>
          <a:p>
            <a:fld id="{0C913308-F349-4B6D-A68A-DD1791B4A57B}" type="slidenum">
              <a:rPr lang="zh-CN" altLang="en-US" smtClean="0"/>
              <a:pPr/>
              <a:t>‹#›</a:t>
            </a:fld>
            <a:r>
              <a:rPr lang="en-US" altLang="zh-CN" dirty="0"/>
              <a:t>/51</a:t>
            </a:r>
            <a:endParaRPr lang="zh-CN" alt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708" r:id="rId12"/>
  </p:sldLayoutIdLst>
  <p:hf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6BC88B-86D0-4C5A-8106-4E1D2EEFBB48}" type="datetimeFigureOut">
              <a:rPr lang="zh-CN" altLang="en-US" smtClean="0"/>
              <a:pPr/>
              <a:t>2025-09-11 Thursday</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0FCB47-DC5A-497A-8E18-9628600860A7}"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358603067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406159"/>
            <a:ext cx="3574257" cy="451842"/>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406159"/>
            <a:ext cx="9146380" cy="45184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Footer Placeholder 4"/>
          <p:cNvSpPr>
            <a:spLocks noGrp="1"/>
          </p:cNvSpPr>
          <p:nvPr>
            <p:ph type="ftr" sz="quarter" idx="3"/>
          </p:nvPr>
        </p:nvSpPr>
        <p:spPr>
          <a:xfrm>
            <a:off x="3517514" y="6539056"/>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01038" y="6382464"/>
            <a:ext cx="502920" cy="502920"/>
          </a:xfrm>
          <a:prstGeom prst="ellipse">
            <a:avLst/>
          </a:prstGeom>
          <a:ln w="19050">
            <a:solidFill>
              <a:srgbClr val="FFFFFF"/>
            </a:solidFill>
          </a:ln>
        </p:spPr>
        <p:txBody>
          <a:bodyPr vert="horz" lIns="9144" tIns="9144" rIns="9144" bIns="9144" rtlCol="0" anchor="ctr">
            <a:normAutofit/>
          </a:bodyPr>
          <a:lstStyle>
            <a:lvl1pPr algn="ctr">
              <a:defRPr sz="1000">
                <a:solidFill>
                  <a:srgbClr val="FFFFFF"/>
                </a:solidFill>
              </a:defRPr>
            </a:lvl1pPr>
          </a:lstStyle>
          <a:p>
            <a:fld id="{0C913308-F349-4B6D-A68A-DD1791B4A57B}" type="slidenum">
              <a:rPr lang="zh-CN" altLang="en-US" smtClean="0"/>
              <a:pPr/>
              <a:t>‹#›</a:t>
            </a:fld>
            <a:r>
              <a:rPr lang="en-US" altLang="zh-CN" dirty="0"/>
              <a:t>/62</a:t>
            </a:r>
            <a:endParaRPr lang="zh-CN" altLang="en-US" dirty="0"/>
          </a:p>
        </p:txBody>
      </p:sp>
    </p:spTree>
    <p:extLst>
      <p:ext uri="{BB962C8B-B14F-4D97-AF65-F5344CB8AC3E}">
        <p14:creationId xmlns:p14="http://schemas.microsoft.com/office/powerpoint/2010/main" val="37475803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lnSpc>
          <a:spcPct val="120000"/>
        </a:lnSpc>
        <a:spcBef>
          <a:spcPts val="800"/>
        </a:spcBef>
        <a:buFont typeface="Arial" pitchFamily="34" charset="0"/>
        <a:buNone/>
        <a:defRPr sz="2400" b="1" kern="1200">
          <a:solidFill>
            <a:schemeClr val="tx1"/>
          </a:solidFill>
          <a:latin typeface="楷体" panose="02010609060101010101" pitchFamily="49" charset="-122"/>
          <a:ea typeface="楷体" panose="02010609060101010101" pitchFamily="49" charset="-122"/>
          <a:cs typeface="+mn-cs"/>
        </a:defRPr>
      </a:lvl1pPr>
      <a:lvl2pPr marL="1737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2pPr>
      <a:lvl3pPr marL="4023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3pPr>
      <a:lvl4pPr marL="6309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4pPr>
      <a:lvl5pPr marL="8595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Microsoft_Visio_2003-2010_Drawing.vsd"/><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30.e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7760" y="1053477"/>
            <a:ext cx="5429288" cy="1214446"/>
          </a:xfrm>
        </p:spPr>
        <p:txBody>
          <a:bodyPr/>
          <a:lstStyle/>
          <a:p>
            <a:pPr>
              <a:lnSpc>
                <a:spcPct val="150000"/>
              </a:lnSpc>
            </a:pPr>
            <a:r>
              <a:rPr lang="zh-CN" altLang="zh-CN" sz="4800" dirty="0">
                <a:latin typeface="Times New Roman" panose="02020603050405020304" pitchFamily="18" charset="0"/>
                <a:ea typeface="+mn-ea"/>
                <a:cs typeface="Times New Roman" panose="02020603050405020304" pitchFamily="18" charset="0"/>
              </a:rPr>
              <a:t>第</a:t>
            </a:r>
            <a:r>
              <a:rPr lang="en-US" altLang="zh-CN" sz="4800" dirty="0">
                <a:latin typeface="Times New Roman" panose="02020603050405020304" pitchFamily="18" charset="0"/>
                <a:ea typeface="+mn-ea"/>
                <a:cs typeface="Times New Roman" panose="02020603050405020304" pitchFamily="18" charset="0"/>
              </a:rPr>
              <a:t>1</a:t>
            </a:r>
            <a:r>
              <a:rPr lang="zh-CN" altLang="zh-CN" sz="4800" dirty="0">
                <a:latin typeface="Times New Roman" panose="02020603050405020304" pitchFamily="18" charset="0"/>
                <a:ea typeface="+mn-ea"/>
                <a:cs typeface="Times New Roman" panose="02020603050405020304" pitchFamily="18" charset="0"/>
              </a:rPr>
              <a:t>章 基础知识</a:t>
            </a:r>
            <a:endParaRPr lang="zh-CN" altLang="en-US" sz="4400" dirty="0">
              <a:effectLst>
                <a:outerShdw blurRad="38100" dist="38100" dir="2700000" algn="tl">
                  <a:srgbClr val="000000">
                    <a:alpha val="43137"/>
                  </a:srgbClr>
                </a:outerShdw>
              </a:effectLst>
            </a:endParaRPr>
          </a:p>
        </p:txBody>
      </p:sp>
      <p:sp>
        <p:nvSpPr>
          <p:cNvPr id="3" name="副标题 2"/>
          <p:cNvSpPr>
            <a:spLocks noGrp="1"/>
          </p:cNvSpPr>
          <p:nvPr>
            <p:ph type="subTitle" idx="1"/>
          </p:nvPr>
        </p:nvSpPr>
        <p:spPr>
          <a:xfrm>
            <a:off x="3167336" y="6425952"/>
            <a:ext cx="5976664" cy="432048"/>
          </a:xfrm>
        </p:spPr>
        <p:txBody>
          <a:bodyPr>
            <a:normAutofit/>
          </a:bodyPr>
          <a:lstStyle/>
          <a:p>
            <a:pPr algn="ctr"/>
            <a:r>
              <a:rPr lang="zh-CN" altLang="en-US" sz="1800" i="1" dirty="0">
                <a:latin typeface="华文行楷" panose="02010800040101010101" pitchFamily="2" charset="-122"/>
                <a:ea typeface="华文行楷" panose="02010800040101010101" pitchFamily="2" charset="-122"/>
              </a:rPr>
              <a:t>西安交通大学计算机科学与技术学院</a:t>
            </a:r>
            <a:endParaRPr lang="en-US" altLang="zh-CN" sz="1800" i="1" dirty="0">
              <a:latin typeface="华文行楷" panose="02010800040101010101" pitchFamily="2" charset="-122"/>
              <a:ea typeface="华文行楷" panose="02010800040101010101" pitchFamily="2" charset="-122"/>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5" name="圆角矩形 4"/>
          <p:cNvSpPr/>
          <p:nvPr/>
        </p:nvSpPr>
        <p:spPr>
          <a:xfrm>
            <a:off x="3851920" y="2996952"/>
            <a:ext cx="5220072" cy="2376264"/>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r>
              <a:rPr lang="zh-CN" altLang="zh-CN" b="1" dirty="0">
                <a:effectLst>
                  <a:outerShdw blurRad="38100" dist="38100" dir="2700000" algn="tl">
                    <a:srgbClr val="000000">
                      <a:alpha val="43137"/>
                    </a:srgbClr>
                  </a:outerShdw>
                </a:effectLst>
              </a:rPr>
              <a:t>知识要点</a:t>
            </a:r>
            <a:endParaRPr lang="en-US" altLang="zh-CN" dirty="0"/>
          </a:p>
          <a:p>
            <a:r>
              <a:rPr lang="en-US" altLang="zh-CN" dirty="0"/>
              <a:t>(1) </a:t>
            </a:r>
            <a:r>
              <a:rPr lang="zh-CN" altLang="zh-CN" dirty="0"/>
              <a:t>理解数据结构的</a:t>
            </a:r>
            <a:r>
              <a:rPr lang="zh-CN" altLang="zh-CN" dirty="0">
                <a:latin typeface="+mn-ea"/>
              </a:rPr>
              <a:t>基本术语</a:t>
            </a:r>
          </a:p>
          <a:p>
            <a:r>
              <a:rPr lang="en-US" altLang="zh-CN" dirty="0"/>
              <a:t>(2) </a:t>
            </a:r>
            <a:r>
              <a:rPr lang="zh-CN" altLang="zh-CN" dirty="0"/>
              <a:t>掌握抽象数据类型与数据结构的关系</a:t>
            </a:r>
          </a:p>
          <a:p>
            <a:r>
              <a:rPr lang="en-US" altLang="zh-CN" dirty="0"/>
              <a:t>(3) </a:t>
            </a:r>
            <a:r>
              <a:rPr lang="zh-CN" altLang="zh-CN" dirty="0"/>
              <a:t>能够描述数据结构的逻辑结构</a:t>
            </a:r>
            <a:endParaRPr lang="en-US" altLang="zh-CN" dirty="0"/>
          </a:p>
          <a:p>
            <a:r>
              <a:rPr lang="en-US" altLang="zh-CN" dirty="0"/>
              <a:t>(4) </a:t>
            </a:r>
            <a:r>
              <a:rPr lang="zh-CN" altLang="zh-CN" dirty="0"/>
              <a:t>了解算法增长率的概念；</a:t>
            </a:r>
          </a:p>
          <a:p>
            <a:r>
              <a:rPr lang="en-US" altLang="zh-CN" dirty="0"/>
              <a:t>(5) </a:t>
            </a:r>
            <a:r>
              <a:rPr lang="zh-CN" altLang="zh-CN" dirty="0"/>
              <a:t>掌握渐近分析的表示方法； </a:t>
            </a:r>
          </a:p>
          <a:p>
            <a:r>
              <a:rPr lang="en-US" altLang="zh-CN" dirty="0"/>
              <a:t>(6) </a:t>
            </a:r>
            <a:r>
              <a:rPr lang="zh-CN" altLang="zh-CN" dirty="0"/>
              <a:t>能够对程序、算法或问题的上下限作出估算；</a:t>
            </a:r>
          </a:p>
          <a:p>
            <a:r>
              <a:rPr lang="en-US" altLang="zh-CN" dirty="0"/>
              <a:t>(7) </a:t>
            </a:r>
            <a:r>
              <a:rPr lang="zh-CN" altLang="zh-CN" dirty="0"/>
              <a:t>掌握时间复杂度与空间复杂度的分析方法；</a:t>
            </a:r>
          </a:p>
        </p:txBody>
      </p:sp>
    </p:spTree>
    <p:extLst>
      <p:ext uri="{BB962C8B-B14F-4D97-AF65-F5344CB8AC3E}">
        <p14:creationId xmlns:p14="http://schemas.microsoft.com/office/powerpoint/2010/main" val="955276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3C5E3A-945D-4C91-B97A-8D6A6E8D467D}"/>
              </a:ext>
            </a:extLst>
          </p:cNvPr>
          <p:cNvSpPr>
            <a:spLocks noGrp="1"/>
          </p:cNvSpPr>
          <p:nvPr>
            <p:ph type="title"/>
          </p:nvPr>
        </p:nvSpPr>
        <p:spPr>
          <a:xfrm>
            <a:off x="487494" y="680373"/>
            <a:ext cx="7520940" cy="548640"/>
          </a:xfrm>
        </p:spPr>
        <p:txBody>
          <a:bodyPr/>
          <a:lstStyle/>
          <a:p>
            <a:r>
              <a:rPr lang="zh-CN" altLang="en-US" b="1" dirty="0"/>
              <a:t>什么是数据结构？</a:t>
            </a:r>
          </a:p>
        </p:txBody>
      </p:sp>
      <p:pic>
        <p:nvPicPr>
          <p:cNvPr id="4" name="内容占位符 4">
            <a:extLst>
              <a:ext uri="{FF2B5EF4-FFF2-40B4-BE49-F238E27FC236}">
                <a16:creationId xmlns:a16="http://schemas.microsoft.com/office/drawing/2014/main" id="{9826EEF9-88BC-4669-B50B-43DFB359BE8C}"/>
              </a:ext>
            </a:extLst>
          </p:cNvPr>
          <p:cNvPicPr>
            <a:picLocks noGrp="1" noChangeAspect="1"/>
          </p:cNvPicPr>
          <p:nvPr/>
        </p:nvPicPr>
        <p:blipFill rotWithShape="1">
          <a:blip r:embed="rId2">
            <a:extLst>
              <a:ext uri="{28A0092B-C50C-407E-A947-70E740481C1C}">
                <a14:useLocalDpi xmlns:a14="http://schemas.microsoft.com/office/drawing/2010/main" val="0"/>
              </a:ext>
            </a:extLst>
          </a:blip>
          <a:srcRect b="11829"/>
          <a:stretch/>
        </p:blipFill>
        <p:spPr bwMode="auto">
          <a:xfrm>
            <a:off x="1043608" y="1484784"/>
            <a:ext cx="6408712" cy="4168612"/>
          </a:xfrm>
          <a:prstGeom prst="rect">
            <a:avLst/>
          </a:prstGeom>
          <a:noFill/>
          <a:ln w="9525">
            <a:noFill/>
            <a:miter lim="800000"/>
          </a:ln>
        </p:spPr>
      </p:pic>
    </p:spTree>
    <p:extLst>
      <p:ext uri="{BB962C8B-B14F-4D97-AF65-F5344CB8AC3E}">
        <p14:creationId xmlns:p14="http://schemas.microsoft.com/office/powerpoint/2010/main" val="1799117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1365CDE3-DA63-43F1-9F90-2C490C8A65F3}"/>
              </a:ext>
            </a:extLst>
          </p:cNvPr>
          <p:cNvSpPr>
            <a:spLocks noGrp="1"/>
          </p:cNvSpPr>
          <p:nvPr/>
        </p:nvSpPr>
        <p:spPr bwMode="auto">
          <a:xfrm>
            <a:off x="457200" y="627986"/>
            <a:ext cx="8229600" cy="609600"/>
          </a:xfrm>
          <a:prstGeom prst="rect">
            <a:avLst/>
          </a:prstGeom>
          <a:noFill/>
          <a:ln w="9525">
            <a:noFill/>
            <a:miter lim="800000"/>
          </a:ln>
        </p:spPr>
        <p:txBody>
          <a:bodyPr vert="horz" wrap="square" lIns="91440" tIns="45720" rIns="91440" bIns="45720" numCol="1" anchor="ctr" anchorCtr="0" compatLnSpc="1"/>
          <a:lstStyle>
            <a:lvl1pPr algn="l" rtl="0" eaLnBrk="1" fontAlgn="base" hangingPunct="1">
              <a:spcBef>
                <a:spcPct val="0"/>
              </a:spcBef>
              <a:spcAft>
                <a:spcPct val="0"/>
              </a:spcAft>
              <a:defRPr sz="3000" b="1">
                <a:solidFill>
                  <a:schemeClr val="tx2"/>
                </a:solidFill>
                <a:latin typeface="+mj-lt"/>
                <a:ea typeface="微软雅黑" panose="020B0503020204020204" pitchFamily="34" charset="-122"/>
                <a:cs typeface="+mj-cs"/>
              </a:defRPr>
            </a:lvl1pPr>
            <a:lvl2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2pPr>
            <a:lvl3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3pPr>
            <a:lvl4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4pPr>
            <a:lvl5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9pPr>
          </a:lstStyle>
          <a:p>
            <a:r>
              <a:rPr lang="zh-CN" altLang="en-US" sz="2800" dirty="0">
                <a:solidFill>
                  <a:schemeClr val="tx1"/>
                </a:solidFill>
                <a:latin typeface="楷体" panose="02010609060101010101" pitchFamily="49" charset="-122"/>
                <a:ea typeface="楷体" panose="02010609060101010101" pitchFamily="49" charset="-122"/>
              </a:rPr>
              <a:t>例：如何在书架上摆放图书？</a:t>
            </a:r>
          </a:p>
        </p:txBody>
      </p:sp>
      <p:pic>
        <p:nvPicPr>
          <p:cNvPr id="6" name="图片 5">
            <a:extLst>
              <a:ext uri="{FF2B5EF4-FFF2-40B4-BE49-F238E27FC236}">
                <a16:creationId xmlns:a16="http://schemas.microsoft.com/office/drawing/2014/main" id="{C4BE6782-3E5D-4B36-AA26-C08093557275}"/>
              </a:ext>
            </a:extLst>
          </p:cNvPr>
          <p:cNvPicPr>
            <a:picLocks noChangeAspect="1"/>
          </p:cNvPicPr>
          <p:nvPr/>
        </p:nvPicPr>
        <p:blipFill>
          <a:blip r:embed="rId2"/>
          <a:stretch>
            <a:fillRect/>
          </a:stretch>
        </p:blipFill>
        <p:spPr>
          <a:xfrm>
            <a:off x="4716016" y="1412776"/>
            <a:ext cx="4112855" cy="2732538"/>
          </a:xfrm>
          <a:prstGeom prst="rect">
            <a:avLst/>
          </a:prstGeom>
        </p:spPr>
      </p:pic>
      <p:pic>
        <p:nvPicPr>
          <p:cNvPr id="7" name="内容占位符 4">
            <a:extLst>
              <a:ext uri="{FF2B5EF4-FFF2-40B4-BE49-F238E27FC236}">
                <a16:creationId xmlns:a16="http://schemas.microsoft.com/office/drawing/2014/main" id="{686AFA5D-9C0F-41DD-A75A-415EC7E0338A}"/>
              </a:ext>
            </a:extLst>
          </p:cNvPr>
          <p:cNvPicPr>
            <a:picLocks noGrp="1" noChangeAspect="1"/>
          </p:cNvPicPr>
          <p:nvPr/>
        </p:nvPicPr>
        <p:blipFill>
          <a:blip r:embed="rId3"/>
          <a:stretch>
            <a:fillRect/>
          </a:stretch>
        </p:blipFill>
        <p:spPr bwMode="auto">
          <a:xfrm>
            <a:off x="440028" y="3212976"/>
            <a:ext cx="4112855" cy="2740510"/>
          </a:xfrm>
          <a:prstGeom prst="rect">
            <a:avLst/>
          </a:prstGeom>
          <a:noFill/>
          <a:ln w="9525">
            <a:noFill/>
            <a:miter lim="800000"/>
          </a:ln>
        </p:spPr>
      </p:pic>
    </p:spTree>
    <p:extLst>
      <p:ext uri="{BB962C8B-B14F-4D97-AF65-F5344CB8AC3E}">
        <p14:creationId xmlns:p14="http://schemas.microsoft.com/office/powerpoint/2010/main" val="1453273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7C5C7D5A-E8D7-41E9-8E53-58F72F77A11B}"/>
              </a:ext>
            </a:extLst>
          </p:cNvPr>
          <p:cNvSpPr>
            <a:spLocks noGrp="1"/>
          </p:cNvSpPr>
          <p:nvPr/>
        </p:nvSpPr>
        <p:spPr bwMode="auto">
          <a:xfrm>
            <a:off x="539552" y="764704"/>
            <a:ext cx="8229600" cy="609600"/>
          </a:xfrm>
          <a:prstGeom prst="rect">
            <a:avLst/>
          </a:prstGeom>
          <a:noFill/>
          <a:ln w="9525">
            <a:noFill/>
            <a:miter lim="800000"/>
          </a:ln>
        </p:spPr>
        <p:txBody>
          <a:bodyPr vert="horz" wrap="square" lIns="91440" tIns="45720" rIns="91440" bIns="45720" numCol="1" anchor="ctr" anchorCtr="0" compatLnSpc="1"/>
          <a:lstStyle>
            <a:lvl1pPr algn="l" rtl="0" eaLnBrk="1" fontAlgn="base" hangingPunct="1">
              <a:spcBef>
                <a:spcPct val="0"/>
              </a:spcBef>
              <a:spcAft>
                <a:spcPct val="0"/>
              </a:spcAft>
              <a:defRPr sz="3000" b="1">
                <a:solidFill>
                  <a:schemeClr val="tx2"/>
                </a:solidFill>
                <a:latin typeface="+mj-lt"/>
                <a:ea typeface="微软雅黑" panose="020B0503020204020204" pitchFamily="34" charset="-122"/>
                <a:cs typeface="+mj-cs"/>
              </a:defRPr>
            </a:lvl1pPr>
            <a:lvl2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2pPr>
            <a:lvl3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3pPr>
            <a:lvl4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4pPr>
            <a:lvl5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9pPr>
          </a:lstStyle>
          <a:p>
            <a:r>
              <a:rPr lang="zh-CN" altLang="en-US" sz="2800" b="0" dirty="0">
                <a:latin typeface="楷体" panose="02010609060101010101" pitchFamily="49" charset="-122"/>
                <a:ea typeface="楷体" panose="02010609060101010101" pitchFamily="49" charset="-122"/>
              </a:rPr>
              <a:t>例：如何在书架上摆放图书？</a:t>
            </a:r>
            <a:endParaRPr lang="zh-CN" altLang="en-US" sz="2800" dirty="0">
              <a:latin typeface="楷体" panose="02010609060101010101" pitchFamily="49" charset="-122"/>
              <a:ea typeface="楷体" panose="02010609060101010101" pitchFamily="49" charset="-122"/>
            </a:endParaRPr>
          </a:p>
        </p:txBody>
      </p:sp>
      <p:sp>
        <p:nvSpPr>
          <p:cNvPr id="5" name="内容占位符 2">
            <a:extLst>
              <a:ext uri="{FF2B5EF4-FFF2-40B4-BE49-F238E27FC236}">
                <a16:creationId xmlns:a16="http://schemas.microsoft.com/office/drawing/2014/main" id="{0633E0DD-9EC1-44DD-B7A0-75DEED530458}"/>
              </a:ext>
            </a:extLst>
          </p:cNvPr>
          <p:cNvSpPr>
            <a:spLocks noGrp="1"/>
          </p:cNvSpPr>
          <p:nvPr/>
        </p:nvSpPr>
        <p:spPr bwMode="auto">
          <a:xfrm>
            <a:off x="539552" y="1732856"/>
            <a:ext cx="8229600" cy="364036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har char="•"/>
              <a:defRPr sz="2400" b="1">
                <a:solidFill>
                  <a:srgbClr val="0000FF"/>
                </a:solidFill>
                <a:latin typeface="宋体" panose="02010600030101010101" pitchFamily="2" charset="-122"/>
                <a:ea typeface="宋体" panose="02010600030101010101" pitchFamily="2" charset="-122"/>
                <a:cs typeface="+mn-cs"/>
              </a:defRPr>
            </a:lvl1pPr>
            <a:lvl2pPr marL="742950" indent="-285750" algn="l" rtl="0" eaLnBrk="1" fontAlgn="base" hangingPunct="1">
              <a:spcBef>
                <a:spcPct val="20000"/>
              </a:spcBef>
              <a:spcAft>
                <a:spcPct val="0"/>
              </a:spcAft>
              <a:buFont typeface="Wingdings" panose="05000000000000000000" pitchFamily="2" charset="2"/>
              <a:buChar char="Ø"/>
              <a:defRPr sz="2400" b="0">
                <a:solidFill>
                  <a:schemeClr val="tx1"/>
                </a:solidFill>
                <a:latin typeface="宋体" panose="02010600030101010101" pitchFamily="2" charset="-122"/>
                <a:ea typeface="宋体" panose="02010600030101010101" pitchFamily="2" charset="-122"/>
              </a:defRPr>
            </a:lvl2pPr>
            <a:lvl3pPr marL="1143000" indent="-228600" algn="l" rtl="0" eaLnBrk="1" fontAlgn="base" hangingPunct="1">
              <a:spcBef>
                <a:spcPct val="20000"/>
              </a:spcBef>
              <a:spcAft>
                <a:spcPct val="0"/>
              </a:spcAft>
              <a:buFont typeface="Wingdings" panose="05000000000000000000" pitchFamily="2" charset="2"/>
              <a:buChar char="u"/>
              <a:defRPr sz="2400">
                <a:solidFill>
                  <a:schemeClr val="tx1"/>
                </a:solidFill>
                <a:latin typeface="宋体" panose="02010600030101010101" pitchFamily="2" charset="-122"/>
                <a:ea typeface="宋体" panose="02010600030101010101" pitchFamily="2" charset="-122"/>
              </a:defRPr>
            </a:lvl3pPr>
            <a:lvl4pPr marL="1600200" indent="-228600" algn="l" rtl="0" eaLnBrk="1" fontAlgn="base" hangingPunct="1">
              <a:spcBef>
                <a:spcPct val="20000"/>
              </a:spcBef>
              <a:spcAft>
                <a:spcPct val="0"/>
              </a:spcAft>
              <a:buFont typeface="Wingdings" panose="05000000000000000000" pitchFamily="2" charset="2"/>
              <a:buChar char="p"/>
              <a:defRPr sz="2400">
                <a:solidFill>
                  <a:schemeClr val="tx1"/>
                </a:solidFill>
                <a:latin typeface="宋体" panose="02010600030101010101" pitchFamily="2" charset="-122"/>
                <a:ea typeface="宋体" panose="02010600030101010101" pitchFamily="2" charset="-122"/>
              </a:defRPr>
            </a:lvl4pPr>
            <a:lvl5pPr marL="2057400" indent="-228600" algn="l" rtl="0" eaLnBrk="1" fontAlgn="base" hangingPunct="1">
              <a:spcBef>
                <a:spcPct val="20000"/>
              </a:spcBef>
              <a:spcAft>
                <a:spcPct val="0"/>
              </a:spcAft>
              <a:buFont typeface="Wingdings" panose="05000000000000000000" pitchFamily="2" charset="2"/>
              <a:buChar char="ü"/>
              <a:defRPr sz="2400">
                <a:solidFill>
                  <a:schemeClr val="tx1"/>
                </a:solidFill>
                <a:latin typeface="宋体" panose="02010600030101010101" pitchFamily="2" charset="-122"/>
                <a:ea typeface="宋体" panose="02010600030101010101" pitchFamily="2" charset="-122"/>
              </a:defRPr>
            </a:lvl5pPr>
            <a:lvl6pPr marL="2514600" indent="-228600" algn="l" rtl="0" eaLnBrk="1" fontAlgn="base" hangingPunct="1">
              <a:spcBef>
                <a:spcPct val="20000"/>
              </a:spcBef>
              <a:spcAft>
                <a:spcPct val="0"/>
              </a:spcAft>
              <a:buChar char="»"/>
              <a:defRPr sz="1200">
                <a:solidFill>
                  <a:schemeClr val="tx1"/>
                </a:solidFill>
                <a:latin typeface="+mn-lt"/>
                <a:ea typeface="+mn-ea"/>
              </a:defRPr>
            </a:lvl6pPr>
            <a:lvl7pPr marL="2971800" indent="-228600" algn="l" rtl="0" eaLnBrk="1" fontAlgn="base" hangingPunct="1">
              <a:spcBef>
                <a:spcPct val="20000"/>
              </a:spcBef>
              <a:spcAft>
                <a:spcPct val="0"/>
              </a:spcAft>
              <a:buChar char="»"/>
              <a:defRPr sz="1200">
                <a:solidFill>
                  <a:schemeClr val="tx1"/>
                </a:solidFill>
                <a:latin typeface="+mn-lt"/>
                <a:ea typeface="+mn-ea"/>
              </a:defRPr>
            </a:lvl7pPr>
            <a:lvl8pPr marL="3429000" indent="-228600" algn="l" rtl="0" eaLnBrk="1" fontAlgn="base" hangingPunct="1">
              <a:spcBef>
                <a:spcPct val="20000"/>
              </a:spcBef>
              <a:spcAft>
                <a:spcPct val="0"/>
              </a:spcAft>
              <a:buChar char="»"/>
              <a:defRPr sz="1200">
                <a:solidFill>
                  <a:schemeClr val="tx1"/>
                </a:solidFill>
                <a:latin typeface="+mn-lt"/>
                <a:ea typeface="+mn-ea"/>
              </a:defRPr>
            </a:lvl8pPr>
            <a:lvl9pPr marL="3886200" indent="-228600" algn="l" rtl="0" eaLnBrk="1" fontAlgn="base" hangingPunct="1">
              <a:spcBef>
                <a:spcPct val="20000"/>
              </a:spcBef>
              <a:spcAft>
                <a:spcPct val="0"/>
              </a:spcAft>
              <a:buChar char="»"/>
              <a:defRPr sz="1200">
                <a:solidFill>
                  <a:schemeClr val="tx1"/>
                </a:solidFill>
                <a:latin typeface="+mn-lt"/>
                <a:ea typeface="+mn-ea"/>
              </a:defRPr>
            </a:lvl9pPr>
          </a:lstStyle>
          <a:p>
            <a:pPr marL="0" indent="0">
              <a:lnSpc>
                <a:spcPct val="150000"/>
              </a:lnSpc>
              <a:buNone/>
            </a:pPr>
            <a:r>
              <a:rPr lang="zh-CN" altLang="en-US" sz="2800" b="0" dirty="0">
                <a:solidFill>
                  <a:srgbClr val="C00000"/>
                </a:solidFill>
                <a:latin typeface="楷体" panose="02010609060101010101" pitchFamily="49" charset="-122"/>
                <a:ea typeface="楷体" panose="02010609060101010101" pitchFamily="49" charset="-122"/>
              </a:rPr>
              <a:t>图书的摆放要使得</a:t>
            </a:r>
            <a:r>
              <a:rPr lang="en-US" altLang="zh-CN" sz="2800" dirty="0">
                <a:solidFill>
                  <a:srgbClr val="C00000"/>
                </a:solidFill>
                <a:latin typeface="楷体" panose="02010609060101010101" pitchFamily="49" charset="-122"/>
                <a:ea typeface="楷体" panose="02010609060101010101" pitchFamily="49" charset="-122"/>
              </a:rPr>
              <a:t>2</a:t>
            </a:r>
            <a:r>
              <a:rPr lang="zh-CN" altLang="en-US" sz="2800" b="0" dirty="0">
                <a:solidFill>
                  <a:srgbClr val="C00000"/>
                </a:solidFill>
                <a:latin typeface="楷体" panose="02010609060101010101" pitchFamily="49" charset="-122"/>
                <a:ea typeface="楷体" panose="02010609060101010101" pitchFamily="49" charset="-122"/>
              </a:rPr>
              <a:t>个相关操作方便实现：</a:t>
            </a:r>
            <a:endParaRPr lang="en-US" altLang="zh-CN" sz="2800" b="0" dirty="0">
              <a:solidFill>
                <a:srgbClr val="C00000"/>
              </a:solidFill>
              <a:latin typeface="楷体" panose="02010609060101010101" pitchFamily="49" charset="-122"/>
              <a:ea typeface="楷体" panose="02010609060101010101" pitchFamily="49" charset="-122"/>
            </a:endParaRPr>
          </a:p>
          <a:p>
            <a:pPr>
              <a:lnSpc>
                <a:spcPct val="150000"/>
              </a:lnSpc>
            </a:pPr>
            <a:r>
              <a:rPr lang="zh-CN" altLang="en-US" sz="2800" b="0" dirty="0">
                <a:solidFill>
                  <a:srgbClr val="C00000"/>
                </a:solidFill>
                <a:latin typeface="楷体" panose="02010609060101010101" pitchFamily="49" charset="-122"/>
                <a:ea typeface="楷体" panose="02010609060101010101" pitchFamily="49" charset="-122"/>
              </a:rPr>
              <a:t>操作</a:t>
            </a:r>
            <a:r>
              <a:rPr lang="en-US" altLang="zh-CN" sz="2800" dirty="0">
                <a:solidFill>
                  <a:srgbClr val="C00000"/>
                </a:solidFill>
                <a:latin typeface="楷体" panose="02010609060101010101" pitchFamily="49" charset="-122"/>
                <a:ea typeface="楷体" panose="02010609060101010101" pitchFamily="49" charset="-122"/>
              </a:rPr>
              <a:t>1</a:t>
            </a:r>
            <a:r>
              <a:rPr lang="zh-CN" altLang="en-US" sz="2800" b="0" dirty="0">
                <a:solidFill>
                  <a:srgbClr val="C00000"/>
                </a:solidFill>
                <a:latin typeface="楷体" panose="02010609060101010101" pitchFamily="49" charset="-122"/>
                <a:ea typeface="楷体" panose="02010609060101010101" pitchFamily="49" charset="-122"/>
              </a:rPr>
              <a:t>：新书怎么插入？</a:t>
            </a:r>
            <a:endParaRPr lang="en-US" altLang="zh-CN" sz="2800" b="0" dirty="0">
              <a:solidFill>
                <a:srgbClr val="C00000"/>
              </a:solidFill>
              <a:latin typeface="楷体" panose="02010609060101010101" pitchFamily="49" charset="-122"/>
              <a:ea typeface="楷体" panose="02010609060101010101" pitchFamily="49" charset="-122"/>
            </a:endParaRPr>
          </a:p>
          <a:p>
            <a:pPr>
              <a:lnSpc>
                <a:spcPct val="150000"/>
              </a:lnSpc>
            </a:pPr>
            <a:r>
              <a:rPr lang="zh-CN" altLang="en-US" sz="2800" b="0" dirty="0">
                <a:solidFill>
                  <a:srgbClr val="C00000"/>
                </a:solidFill>
                <a:latin typeface="楷体" panose="02010609060101010101" pitchFamily="49" charset="-122"/>
                <a:ea typeface="楷体" panose="02010609060101010101" pitchFamily="49" charset="-122"/>
              </a:rPr>
              <a:t>操作</a:t>
            </a:r>
            <a:r>
              <a:rPr lang="en-US" altLang="zh-CN" sz="2800" dirty="0">
                <a:solidFill>
                  <a:srgbClr val="C00000"/>
                </a:solidFill>
                <a:latin typeface="楷体" panose="02010609060101010101" pitchFamily="49" charset="-122"/>
                <a:ea typeface="楷体" panose="02010609060101010101" pitchFamily="49" charset="-122"/>
              </a:rPr>
              <a:t>2</a:t>
            </a:r>
            <a:r>
              <a:rPr lang="zh-CN" altLang="en-US" sz="2800" b="0" dirty="0">
                <a:solidFill>
                  <a:srgbClr val="C00000"/>
                </a:solidFill>
                <a:latin typeface="楷体" panose="02010609060101010101" pitchFamily="49" charset="-122"/>
                <a:ea typeface="楷体" panose="02010609060101010101" pitchFamily="49" charset="-122"/>
              </a:rPr>
              <a:t>：怎么找到某本指定的书？</a:t>
            </a:r>
            <a:endParaRPr lang="zh-CN" altLang="en-US" sz="2800" dirty="0">
              <a:solidFill>
                <a:srgbClr val="C0000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516626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E06A388-27C8-49D8-AF7A-B9356EC81417}"/>
              </a:ext>
            </a:extLst>
          </p:cNvPr>
          <p:cNvSpPr>
            <a:spLocks noGrp="1"/>
          </p:cNvSpPr>
          <p:nvPr/>
        </p:nvSpPr>
        <p:spPr bwMode="auto">
          <a:xfrm>
            <a:off x="457200" y="639353"/>
            <a:ext cx="8229600" cy="609600"/>
          </a:xfrm>
          <a:prstGeom prst="rect">
            <a:avLst/>
          </a:prstGeom>
          <a:noFill/>
          <a:ln w="9525">
            <a:noFill/>
            <a:miter lim="800000"/>
          </a:ln>
        </p:spPr>
        <p:txBody>
          <a:bodyPr vert="horz" wrap="square" lIns="91440" tIns="45720" rIns="91440" bIns="45720" numCol="1" anchor="ctr" anchorCtr="0" compatLnSpc="1"/>
          <a:lstStyle>
            <a:lvl1pPr algn="l" rtl="0" eaLnBrk="1" fontAlgn="base" hangingPunct="1">
              <a:spcBef>
                <a:spcPct val="0"/>
              </a:spcBef>
              <a:spcAft>
                <a:spcPct val="0"/>
              </a:spcAft>
              <a:defRPr sz="3000" b="1">
                <a:solidFill>
                  <a:schemeClr val="tx2"/>
                </a:solidFill>
                <a:latin typeface="+mj-lt"/>
                <a:ea typeface="微软雅黑" panose="020B0503020204020204" pitchFamily="34" charset="-122"/>
                <a:cs typeface="+mj-cs"/>
              </a:defRPr>
            </a:lvl1pPr>
            <a:lvl2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2pPr>
            <a:lvl3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3pPr>
            <a:lvl4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4pPr>
            <a:lvl5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9pPr>
          </a:lstStyle>
          <a:p>
            <a:r>
              <a:rPr lang="zh-CN" altLang="en-US" sz="2800" b="0" dirty="0">
                <a:latin typeface="楷体" panose="02010609060101010101" pitchFamily="49" charset="-122"/>
                <a:ea typeface="楷体" panose="02010609060101010101" pitchFamily="49" charset="-122"/>
              </a:rPr>
              <a:t>例：如何在书架上摆放图书？</a:t>
            </a:r>
            <a:endParaRPr lang="zh-CN" altLang="en-US" sz="2800" dirty="0">
              <a:latin typeface="楷体" panose="02010609060101010101" pitchFamily="49" charset="-122"/>
              <a:ea typeface="楷体" panose="02010609060101010101" pitchFamily="49" charset="-122"/>
            </a:endParaRPr>
          </a:p>
        </p:txBody>
      </p:sp>
      <p:sp>
        <p:nvSpPr>
          <p:cNvPr id="5" name="内容占位符 2">
            <a:extLst>
              <a:ext uri="{FF2B5EF4-FFF2-40B4-BE49-F238E27FC236}">
                <a16:creationId xmlns:a16="http://schemas.microsoft.com/office/drawing/2014/main" id="{9B6E0B63-F37F-4BD7-B605-50708D580C8A}"/>
              </a:ext>
            </a:extLst>
          </p:cNvPr>
          <p:cNvSpPr>
            <a:spLocks noGrp="1"/>
          </p:cNvSpPr>
          <p:nvPr/>
        </p:nvSpPr>
        <p:spPr bwMode="auto">
          <a:xfrm>
            <a:off x="457200" y="1205173"/>
            <a:ext cx="8229600" cy="4384067"/>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har char="•"/>
              <a:defRPr sz="2400" b="1">
                <a:solidFill>
                  <a:srgbClr val="0000FF"/>
                </a:solidFill>
                <a:latin typeface="宋体" panose="02010600030101010101" pitchFamily="2" charset="-122"/>
                <a:ea typeface="宋体" panose="02010600030101010101" pitchFamily="2" charset="-122"/>
                <a:cs typeface="+mn-cs"/>
              </a:defRPr>
            </a:lvl1pPr>
            <a:lvl2pPr marL="742950" indent="-285750" algn="l" rtl="0" eaLnBrk="1" fontAlgn="base" hangingPunct="1">
              <a:spcBef>
                <a:spcPct val="20000"/>
              </a:spcBef>
              <a:spcAft>
                <a:spcPct val="0"/>
              </a:spcAft>
              <a:buFont typeface="Wingdings" panose="05000000000000000000" pitchFamily="2" charset="2"/>
              <a:buChar char="Ø"/>
              <a:defRPr sz="2400" b="0">
                <a:solidFill>
                  <a:schemeClr val="tx1"/>
                </a:solidFill>
                <a:latin typeface="宋体" panose="02010600030101010101" pitchFamily="2" charset="-122"/>
                <a:ea typeface="宋体" panose="02010600030101010101" pitchFamily="2" charset="-122"/>
              </a:defRPr>
            </a:lvl2pPr>
            <a:lvl3pPr marL="1143000" indent="-228600" algn="l" rtl="0" eaLnBrk="1" fontAlgn="base" hangingPunct="1">
              <a:spcBef>
                <a:spcPct val="20000"/>
              </a:spcBef>
              <a:spcAft>
                <a:spcPct val="0"/>
              </a:spcAft>
              <a:buFont typeface="Wingdings" panose="05000000000000000000" pitchFamily="2" charset="2"/>
              <a:buChar char="u"/>
              <a:defRPr sz="2400">
                <a:solidFill>
                  <a:schemeClr val="tx1"/>
                </a:solidFill>
                <a:latin typeface="宋体" panose="02010600030101010101" pitchFamily="2" charset="-122"/>
                <a:ea typeface="宋体" panose="02010600030101010101" pitchFamily="2" charset="-122"/>
              </a:defRPr>
            </a:lvl3pPr>
            <a:lvl4pPr marL="1600200" indent="-228600" algn="l" rtl="0" eaLnBrk="1" fontAlgn="base" hangingPunct="1">
              <a:spcBef>
                <a:spcPct val="20000"/>
              </a:spcBef>
              <a:spcAft>
                <a:spcPct val="0"/>
              </a:spcAft>
              <a:buFont typeface="Wingdings" panose="05000000000000000000" pitchFamily="2" charset="2"/>
              <a:buChar char="p"/>
              <a:defRPr sz="2400">
                <a:solidFill>
                  <a:schemeClr val="tx1"/>
                </a:solidFill>
                <a:latin typeface="宋体" panose="02010600030101010101" pitchFamily="2" charset="-122"/>
                <a:ea typeface="宋体" panose="02010600030101010101" pitchFamily="2" charset="-122"/>
              </a:defRPr>
            </a:lvl4pPr>
            <a:lvl5pPr marL="2057400" indent="-228600" algn="l" rtl="0" eaLnBrk="1" fontAlgn="base" hangingPunct="1">
              <a:spcBef>
                <a:spcPct val="20000"/>
              </a:spcBef>
              <a:spcAft>
                <a:spcPct val="0"/>
              </a:spcAft>
              <a:buFont typeface="Wingdings" panose="05000000000000000000" pitchFamily="2" charset="2"/>
              <a:buChar char="ü"/>
              <a:defRPr sz="2400">
                <a:solidFill>
                  <a:schemeClr val="tx1"/>
                </a:solidFill>
                <a:latin typeface="宋体" panose="02010600030101010101" pitchFamily="2" charset="-122"/>
                <a:ea typeface="宋体" panose="02010600030101010101" pitchFamily="2" charset="-122"/>
              </a:defRPr>
            </a:lvl5pPr>
            <a:lvl6pPr marL="2514600" indent="-228600" algn="l" rtl="0" eaLnBrk="1" fontAlgn="base" hangingPunct="1">
              <a:spcBef>
                <a:spcPct val="20000"/>
              </a:spcBef>
              <a:spcAft>
                <a:spcPct val="0"/>
              </a:spcAft>
              <a:buChar char="»"/>
              <a:defRPr sz="1200">
                <a:solidFill>
                  <a:schemeClr val="tx1"/>
                </a:solidFill>
                <a:latin typeface="+mn-lt"/>
                <a:ea typeface="+mn-ea"/>
              </a:defRPr>
            </a:lvl6pPr>
            <a:lvl7pPr marL="2971800" indent="-228600" algn="l" rtl="0" eaLnBrk="1" fontAlgn="base" hangingPunct="1">
              <a:spcBef>
                <a:spcPct val="20000"/>
              </a:spcBef>
              <a:spcAft>
                <a:spcPct val="0"/>
              </a:spcAft>
              <a:buChar char="»"/>
              <a:defRPr sz="1200">
                <a:solidFill>
                  <a:schemeClr val="tx1"/>
                </a:solidFill>
                <a:latin typeface="+mn-lt"/>
                <a:ea typeface="+mn-ea"/>
              </a:defRPr>
            </a:lvl7pPr>
            <a:lvl8pPr marL="3429000" indent="-228600" algn="l" rtl="0" eaLnBrk="1" fontAlgn="base" hangingPunct="1">
              <a:spcBef>
                <a:spcPct val="20000"/>
              </a:spcBef>
              <a:spcAft>
                <a:spcPct val="0"/>
              </a:spcAft>
              <a:buChar char="»"/>
              <a:defRPr sz="1200">
                <a:solidFill>
                  <a:schemeClr val="tx1"/>
                </a:solidFill>
                <a:latin typeface="+mn-lt"/>
                <a:ea typeface="+mn-ea"/>
              </a:defRPr>
            </a:lvl8pPr>
            <a:lvl9pPr marL="3886200" indent="-228600" algn="l" rtl="0" eaLnBrk="1" fontAlgn="base" hangingPunct="1">
              <a:spcBef>
                <a:spcPct val="20000"/>
              </a:spcBef>
              <a:spcAft>
                <a:spcPct val="0"/>
              </a:spcAft>
              <a:buChar char="»"/>
              <a:defRPr sz="1200">
                <a:solidFill>
                  <a:schemeClr val="tx1"/>
                </a:solidFill>
                <a:latin typeface="+mn-lt"/>
                <a:ea typeface="+mn-ea"/>
              </a:defRPr>
            </a:lvl9pPr>
          </a:lstStyle>
          <a:p>
            <a:pPr>
              <a:lnSpc>
                <a:spcPct val="200000"/>
              </a:lnSpc>
              <a:spcBef>
                <a:spcPts val="600"/>
              </a:spcBef>
            </a:pPr>
            <a:r>
              <a:rPr lang="zh-CN" altLang="en-US" b="0" dirty="0">
                <a:latin typeface="楷体" panose="02010609060101010101" pitchFamily="49" charset="-122"/>
                <a:ea typeface="楷体" panose="02010609060101010101" pitchFamily="49" charset="-122"/>
              </a:rPr>
              <a:t>方法</a:t>
            </a:r>
            <a:r>
              <a:rPr lang="en-US" altLang="zh-CN" dirty="0">
                <a:latin typeface="楷体" panose="02010609060101010101" pitchFamily="49" charset="-122"/>
                <a:ea typeface="楷体" panose="02010609060101010101" pitchFamily="49" charset="-122"/>
              </a:rPr>
              <a:t>1</a:t>
            </a:r>
            <a:r>
              <a:rPr lang="zh-CN" altLang="en-US" b="0" dirty="0">
                <a:latin typeface="楷体" panose="02010609060101010101" pitchFamily="49" charset="-122"/>
                <a:ea typeface="楷体" panose="02010609060101010101" pitchFamily="49" charset="-122"/>
              </a:rPr>
              <a:t>：随便放</a:t>
            </a:r>
            <a:endParaRPr lang="en-US" altLang="zh-CN" b="0" dirty="0">
              <a:latin typeface="楷体" panose="02010609060101010101" pitchFamily="49" charset="-122"/>
              <a:ea typeface="楷体" panose="02010609060101010101" pitchFamily="49" charset="-122"/>
            </a:endParaRPr>
          </a:p>
          <a:p>
            <a:pPr lvl="1">
              <a:lnSpc>
                <a:spcPct val="150000"/>
              </a:lnSpc>
              <a:spcBef>
                <a:spcPts val="600"/>
              </a:spcBef>
            </a:pPr>
            <a:r>
              <a:rPr lang="zh-CN" altLang="en-US" dirty="0">
                <a:latin typeface="楷体" panose="02010609060101010101" pitchFamily="49" charset="-122"/>
                <a:ea typeface="楷体" panose="02010609060101010101" pitchFamily="49" charset="-122"/>
              </a:rPr>
              <a:t>操作</a:t>
            </a:r>
            <a:r>
              <a:rPr lang="en-US" altLang="zh-CN" b="1"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：新书怎么插入？</a:t>
            </a:r>
            <a:endParaRPr lang="en-US" altLang="zh-CN" dirty="0">
              <a:latin typeface="楷体" panose="02010609060101010101" pitchFamily="49" charset="-122"/>
              <a:ea typeface="楷体" panose="02010609060101010101" pitchFamily="49" charset="-122"/>
            </a:endParaRPr>
          </a:p>
          <a:p>
            <a:pPr lvl="2">
              <a:lnSpc>
                <a:spcPct val="150000"/>
              </a:lnSpc>
              <a:spcBef>
                <a:spcPts val="600"/>
              </a:spcBef>
            </a:pPr>
            <a:r>
              <a:rPr lang="zh-CN" altLang="en-US" dirty="0">
                <a:latin typeface="楷体" panose="02010609060101010101" pitchFamily="49" charset="-122"/>
                <a:ea typeface="楷体" panose="02010609060101010101" pitchFamily="49" charset="-122"/>
              </a:rPr>
              <a:t>哪里有空放哪里，一步到位！</a:t>
            </a:r>
            <a:endParaRPr lang="en-US" altLang="zh-CN" dirty="0">
              <a:latin typeface="楷体" panose="02010609060101010101" pitchFamily="49" charset="-122"/>
              <a:ea typeface="楷体" panose="02010609060101010101" pitchFamily="49" charset="-122"/>
            </a:endParaRPr>
          </a:p>
          <a:p>
            <a:pPr lvl="1">
              <a:lnSpc>
                <a:spcPct val="150000"/>
              </a:lnSpc>
              <a:spcBef>
                <a:spcPts val="600"/>
              </a:spcBef>
            </a:pPr>
            <a:r>
              <a:rPr lang="zh-CN" altLang="en-US" dirty="0">
                <a:latin typeface="楷体" panose="02010609060101010101" pitchFamily="49" charset="-122"/>
                <a:ea typeface="楷体" panose="02010609060101010101" pitchFamily="49" charset="-122"/>
              </a:rPr>
              <a:t>操作</a:t>
            </a:r>
            <a:r>
              <a:rPr lang="en-US" altLang="zh-CN" b="1"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：怎么找到某本指定的书？</a:t>
            </a:r>
            <a:endParaRPr lang="en-US" altLang="zh-CN" dirty="0">
              <a:latin typeface="楷体" panose="02010609060101010101" pitchFamily="49" charset="-122"/>
              <a:ea typeface="楷体" panose="02010609060101010101" pitchFamily="49" charset="-122"/>
            </a:endParaRPr>
          </a:p>
          <a:p>
            <a:pPr lvl="2">
              <a:lnSpc>
                <a:spcPct val="150000"/>
              </a:lnSpc>
              <a:spcBef>
                <a:spcPts val="600"/>
              </a:spcBef>
            </a:pPr>
            <a:r>
              <a:rPr lang="zh-CN" altLang="en-US" b="1" dirty="0">
                <a:latin typeface="楷体" panose="02010609060101010101" pitchFamily="49" charset="-122"/>
                <a:ea typeface="楷体" panose="02010609060101010101" pitchFamily="49" charset="-122"/>
              </a:rPr>
              <a:t>可能</a:t>
            </a:r>
            <a:r>
              <a:rPr lang="en-US" altLang="zh-CN" b="1"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累死</a:t>
            </a:r>
          </a:p>
        </p:txBody>
      </p:sp>
      <p:pic>
        <p:nvPicPr>
          <p:cNvPr id="6" name="图片 5">
            <a:extLst>
              <a:ext uri="{FF2B5EF4-FFF2-40B4-BE49-F238E27FC236}">
                <a16:creationId xmlns:a16="http://schemas.microsoft.com/office/drawing/2014/main" id="{AB51EFB4-2A44-4D75-A171-B8E41D84C4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6216" y="4017396"/>
            <a:ext cx="2257740" cy="1571844"/>
          </a:xfrm>
          <a:prstGeom prst="rect">
            <a:avLst/>
          </a:prstGeom>
        </p:spPr>
      </p:pic>
    </p:spTree>
    <p:extLst>
      <p:ext uri="{BB962C8B-B14F-4D97-AF65-F5344CB8AC3E}">
        <p14:creationId xmlns:p14="http://schemas.microsoft.com/office/powerpoint/2010/main" val="2586899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38C4730A-DD44-49FB-BBC1-D0B7BCDE0489}"/>
              </a:ext>
            </a:extLst>
          </p:cNvPr>
          <p:cNvSpPr>
            <a:spLocks noGrp="1"/>
          </p:cNvSpPr>
          <p:nvPr/>
        </p:nvSpPr>
        <p:spPr bwMode="auto">
          <a:xfrm>
            <a:off x="457200" y="671411"/>
            <a:ext cx="8229600" cy="609600"/>
          </a:xfrm>
          <a:prstGeom prst="rect">
            <a:avLst/>
          </a:prstGeom>
          <a:noFill/>
          <a:ln w="9525">
            <a:noFill/>
            <a:miter lim="800000"/>
          </a:ln>
        </p:spPr>
        <p:txBody>
          <a:bodyPr vert="horz" wrap="square" lIns="91440" tIns="45720" rIns="91440" bIns="45720" numCol="1" anchor="ctr" anchorCtr="0" compatLnSpc="1"/>
          <a:lstStyle>
            <a:lvl1pPr algn="l" rtl="0" eaLnBrk="1" fontAlgn="base" hangingPunct="1">
              <a:spcBef>
                <a:spcPct val="0"/>
              </a:spcBef>
              <a:spcAft>
                <a:spcPct val="0"/>
              </a:spcAft>
              <a:defRPr sz="3000" b="1">
                <a:solidFill>
                  <a:schemeClr val="tx2"/>
                </a:solidFill>
                <a:latin typeface="+mj-lt"/>
                <a:ea typeface="微软雅黑" panose="020B0503020204020204" pitchFamily="34" charset="-122"/>
                <a:cs typeface="+mj-cs"/>
              </a:defRPr>
            </a:lvl1pPr>
            <a:lvl2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2pPr>
            <a:lvl3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3pPr>
            <a:lvl4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4pPr>
            <a:lvl5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9pPr>
          </a:lstStyle>
          <a:p>
            <a:r>
              <a:rPr lang="zh-CN" altLang="en-US" sz="2800" b="0" dirty="0">
                <a:latin typeface="楷体" panose="02010609060101010101" pitchFamily="49" charset="-122"/>
                <a:ea typeface="楷体" panose="02010609060101010101" pitchFamily="49" charset="-122"/>
              </a:rPr>
              <a:t>例：如何在书架上摆放图书？</a:t>
            </a:r>
            <a:endParaRPr lang="zh-CN" altLang="en-US" sz="2800" dirty="0">
              <a:latin typeface="楷体" panose="02010609060101010101" pitchFamily="49" charset="-122"/>
              <a:ea typeface="楷体" panose="02010609060101010101" pitchFamily="49" charset="-122"/>
            </a:endParaRPr>
          </a:p>
        </p:txBody>
      </p:sp>
      <p:sp>
        <p:nvSpPr>
          <p:cNvPr id="5" name="内容占位符 2">
            <a:extLst>
              <a:ext uri="{FF2B5EF4-FFF2-40B4-BE49-F238E27FC236}">
                <a16:creationId xmlns:a16="http://schemas.microsoft.com/office/drawing/2014/main" id="{F3BB7EBD-3CBC-49DE-9190-D45D64E7FFD3}"/>
              </a:ext>
            </a:extLst>
          </p:cNvPr>
          <p:cNvSpPr>
            <a:spLocks noGrp="1"/>
          </p:cNvSpPr>
          <p:nvPr/>
        </p:nvSpPr>
        <p:spPr bwMode="auto">
          <a:xfrm>
            <a:off x="457200" y="1509611"/>
            <a:ext cx="8229600" cy="4151637"/>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har char="•"/>
              <a:defRPr sz="2400" b="1">
                <a:solidFill>
                  <a:srgbClr val="0000FF"/>
                </a:solidFill>
                <a:latin typeface="宋体" panose="02010600030101010101" pitchFamily="2" charset="-122"/>
                <a:ea typeface="宋体" panose="02010600030101010101" pitchFamily="2" charset="-122"/>
                <a:cs typeface="+mn-cs"/>
              </a:defRPr>
            </a:lvl1pPr>
            <a:lvl2pPr marL="742950" indent="-285750" algn="l" rtl="0" eaLnBrk="1" fontAlgn="base" hangingPunct="1">
              <a:spcBef>
                <a:spcPct val="20000"/>
              </a:spcBef>
              <a:spcAft>
                <a:spcPct val="0"/>
              </a:spcAft>
              <a:buFont typeface="Wingdings" panose="05000000000000000000" pitchFamily="2" charset="2"/>
              <a:buChar char="Ø"/>
              <a:defRPr sz="2400" b="0">
                <a:solidFill>
                  <a:schemeClr val="tx1"/>
                </a:solidFill>
                <a:latin typeface="宋体" panose="02010600030101010101" pitchFamily="2" charset="-122"/>
                <a:ea typeface="宋体" panose="02010600030101010101" pitchFamily="2" charset="-122"/>
              </a:defRPr>
            </a:lvl2pPr>
            <a:lvl3pPr marL="1143000" indent="-228600" algn="l" rtl="0" eaLnBrk="1" fontAlgn="base" hangingPunct="1">
              <a:spcBef>
                <a:spcPct val="20000"/>
              </a:spcBef>
              <a:spcAft>
                <a:spcPct val="0"/>
              </a:spcAft>
              <a:buFont typeface="Wingdings" panose="05000000000000000000" pitchFamily="2" charset="2"/>
              <a:buChar char="u"/>
              <a:defRPr sz="2400">
                <a:solidFill>
                  <a:schemeClr val="tx1"/>
                </a:solidFill>
                <a:latin typeface="宋体" panose="02010600030101010101" pitchFamily="2" charset="-122"/>
                <a:ea typeface="宋体" panose="02010600030101010101" pitchFamily="2" charset="-122"/>
              </a:defRPr>
            </a:lvl3pPr>
            <a:lvl4pPr marL="1600200" indent="-228600" algn="l" rtl="0" eaLnBrk="1" fontAlgn="base" hangingPunct="1">
              <a:spcBef>
                <a:spcPct val="20000"/>
              </a:spcBef>
              <a:spcAft>
                <a:spcPct val="0"/>
              </a:spcAft>
              <a:buFont typeface="Wingdings" panose="05000000000000000000" pitchFamily="2" charset="2"/>
              <a:buChar char="p"/>
              <a:defRPr sz="2400">
                <a:solidFill>
                  <a:schemeClr val="tx1"/>
                </a:solidFill>
                <a:latin typeface="宋体" panose="02010600030101010101" pitchFamily="2" charset="-122"/>
                <a:ea typeface="宋体" panose="02010600030101010101" pitchFamily="2" charset="-122"/>
              </a:defRPr>
            </a:lvl4pPr>
            <a:lvl5pPr marL="2057400" indent="-228600" algn="l" rtl="0" eaLnBrk="1" fontAlgn="base" hangingPunct="1">
              <a:spcBef>
                <a:spcPct val="20000"/>
              </a:spcBef>
              <a:spcAft>
                <a:spcPct val="0"/>
              </a:spcAft>
              <a:buFont typeface="Wingdings" panose="05000000000000000000" pitchFamily="2" charset="2"/>
              <a:buChar char="ü"/>
              <a:defRPr sz="2400">
                <a:solidFill>
                  <a:schemeClr val="tx1"/>
                </a:solidFill>
                <a:latin typeface="宋体" panose="02010600030101010101" pitchFamily="2" charset="-122"/>
                <a:ea typeface="宋体" panose="02010600030101010101" pitchFamily="2" charset="-122"/>
              </a:defRPr>
            </a:lvl5pPr>
            <a:lvl6pPr marL="2514600" indent="-228600" algn="l" rtl="0" eaLnBrk="1" fontAlgn="base" hangingPunct="1">
              <a:spcBef>
                <a:spcPct val="20000"/>
              </a:spcBef>
              <a:spcAft>
                <a:spcPct val="0"/>
              </a:spcAft>
              <a:buChar char="»"/>
              <a:defRPr sz="1200">
                <a:solidFill>
                  <a:schemeClr val="tx1"/>
                </a:solidFill>
                <a:latin typeface="+mn-lt"/>
                <a:ea typeface="+mn-ea"/>
              </a:defRPr>
            </a:lvl6pPr>
            <a:lvl7pPr marL="2971800" indent="-228600" algn="l" rtl="0" eaLnBrk="1" fontAlgn="base" hangingPunct="1">
              <a:spcBef>
                <a:spcPct val="20000"/>
              </a:spcBef>
              <a:spcAft>
                <a:spcPct val="0"/>
              </a:spcAft>
              <a:buChar char="»"/>
              <a:defRPr sz="1200">
                <a:solidFill>
                  <a:schemeClr val="tx1"/>
                </a:solidFill>
                <a:latin typeface="+mn-lt"/>
                <a:ea typeface="+mn-ea"/>
              </a:defRPr>
            </a:lvl7pPr>
            <a:lvl8pPr marL="3429000" indent="-228600" algn="l" rtl="0" eaLnBrk="1" fontAlgn="base" hangingPunct="1">
              <a:spcBef>
                <a:spcPct val="20000"/>
              </a:spcBef>
              <a:spcAft>
                <a:spcPct val="0"/>
              </a:spcAft>
              <a:buChar char="»"/>
              <a:defRPr sz="1200">
                <a:solidFill>
                  <a:schemeClr val="tx1"/>
                </a:solidFill>
                <a:latin typeface="+mn-lt"/>
                <a:ea typeface="+mn-ea"/>
              </a:defRPr>
            </a:lvl8pPr>
            <a:lvl9pPr marL="3886200" indent="-228600" algn="l" rtl="0" eaLnBrk="1" fontAlgn="base" hangingPunct="1">
              <a:spcBef>
                <a:spcPct val="20000"/>
              </a:spcBef>
              <a:spcAft>
                <a:spcPct val="0"/>
              </a:spcAft>
              <a:buChar char="»"/>
              <a:defRPr sz="1200">
                <a:solidFill>
                  <a:schemeClr val="tx1"/>
                </a:solidFill>
                <a:latin typeface="+mn-lt"/>
                <a:ea typeface="+mn-ea"/>
              </a:defRPr>
            </a:lvl9pPr>
          </a:lstStyle>
          <a:p>
            <a:pPr>
              <a:lnSpc>
                <a:spcPct val="200000"/>
              </a:lnSpc>
              <a:spcBef>
                <a:spcPts val="600"/>
              </a:spcBef>
            </a:pPr>
            <a:r>
              <a:rPr lang="zh-CN" altLang="en-US" b="0" dirty="0">
                <a:solidFill>
                  <a:schemeClr val="tx1"/>
                </a:solidFill>
                <a:latin typeface="楷体" panose="02010609060101010101" pitchFamily="49" charset="-122"/>
                <a:ea typeface="楷体" panose="02010609060101010101" pitchFamily="49" charset="-122"/>
              </a:rPr>
              <a:t>方法</a:t>
            </a:r>
            <a:r>
              <a:rPr lang="en-US" altLang="zh-CN" b="0" dirty="0">
                <a:solidFill>
                  <a:schemeClr val="tx1"/>
                </a:solidFill>
                <a:latin typeface="楷体" panose="02010609060101010101" pitchFamily="49" charset="-122"/>
                <a:ea typeface="楷体" panose="02010609060101010101" pitchFamily="49" charset="-122"/>
              </a:rPr>
              <a:t>2</a:t>
            </a:r>
            <a:r>
              <a:rPr lang="zh-CN" altLang="en-US" b="0" dirty="0">
                <a:solidFill>
                  <a:schemeClr val="tx1"/>
                </a:solidFill>
                <a:latin typeface="楷体" panose="02010609060101010101" pitchFamily="49" charset="-122"/>
                <a:ea typeface="楷体" panose="02010609060101010101" pitchFamily="49" charset="-122"/>
              </a:rPr>
              <a:t>：按照</a:t>
            </a:r>
            <a:r>
              <a:rPr lang="zh-CN" altLang="en-US" dirty="0">
                <a:solidFill>
                  <a:schemeClr val="tx1"/>
                </a:solidFill>
                <a:latin typeface="楷体" panose="02010609060101010101" pitchFamily="49" charset="-122"/>
                <a:ea typeface="楷体" panose="02010609060101010101" pitchFamily="49" charset="-122"/>
              </a:rPr>
              <a:t>书名的拼音字母顺序排放</a:t>
            </a:r>
          </a:p>
          <a:p>
            <a:pPr lvl="1">
              <a:lnSpc>
                <a:spcPct val="150000"/>
              </a:lnSpc>
              <a:spcBef>
                <a:spcPts val="600"/>
              </a:spcBef>
            </a:pPr>
            <a:r>
              <a:rPr lang="zh-CN" altLang="en-US" b="0" dirty="0">
                <a:solidFill>
                  <a:schemeClr val="tx1"/>
                </a:solidFill>
                <a:latin typeface="楷体" panose="02010609060101010101" pitchFamily="49" charset="-122"/>
                <a:ea typeface="楷体" panose="02010609060101010101" pitchFamily="49" charset="-122"/>
              </a:rPr>
              <a:t>操作</a:t>
            </a:r>
            <a:r>
              <a:rPr lang="en-US" altLang="zh-CN" b="0" dirty="0">
                <a:solidFill>
                  <a:schemeClr val="tx1"/>
                </a:solidFill>
                <a:latin typeface="楷体" panose="02010609060101010101" pitchFamily="49" charset="-122"/>
                <a:ea typeface="楷体" panose="02010609060101010101" pitchFamily="49" charset="-122"/>
              </a:rPr>
              <a:t>1</a:t>
            </a:r>
            <a:r>
              <a:rPr lang="zh-CN" altLang="en-US" b="0" dirty="0">
                <a:solidFill>
                  <a:schemeClr val="tx1"/>
                </a:solidFill>
                <a:latin typeface="楷体" panose="02010609060101010101" pitchFamily="49" charset="-122"/>
                <a:ea typeface="楷体" panose="02010609060101010101" pitchFamily="49" charset="-122"/>
              </a:rPr>
              <a:t>：新书怎么插入？</a:t>
            </a:r>
          </a:p>
          <a:p>
            <a:pPr lvl="2">
              <a:lnSpc>
                <a:spcPct val="150000"/>
              </a:lnSpc>
              <a:spcBef>
                <a:spcPts val="600"/>
              </a:spcBef>
            </a:pPr>
            <a:r>
              <a:rPr lang="zh-CN" altLang="en-US" b="0" dirty="0">
                <a:solidFill>
                  <a:schemeClr val="tx1"/>
                </a:solidFill>
                <a:latin typeface="楷体" panose="02010609060101010101" pitchFamily="49" charset="-122"/>
                <a:ea typeface="楷体" panose="02010609060101010101" pitchFamily="49" charset="-122"/>
              </a:rPr>
              <a:t>新进一本</a:t>
            </a:r>
            <a:r>
              <a:rPr lang="en-US" altLang="zh-CN" b="0" dirty="0">
                <a:solidFill>
                  <a:schemeClr val="tx1"/>
                </a:solidFill>
                <a:latin typeface="楷体" panose="02010609060101010101" pitchFamily="49" charset="-122"/>
                <a:ea typeface="楷体" panose="02010609060101010101" pitchFamily="49" charset="-122"/>
              </a:rPr>
              <a:t>《</a:t>
            </a:r>
            <a:r>
              <a:rPr lang="zh-CN" altLang="en-US" b="0" dirty="0">
                <a:solidFill>
                  <a:schemeClr val="tx1"/>
                </a:solidFill>
                <a:latin typeface="楷体" panose="02010609060101010101" pitchFamily="49" charset="-122"/>
                <a:ea typeface="楷体" panose="02010609060101010101" pitchFamily="49" charset="-122"/>
              </a:rPr>
              <a:t>阿</a:t>
            </a:r>
            <a:r>
              <a:rPr lang="en-US" altLang="zh-CN" b="0" dirty="0">
                <a:solidFill>
                  <a:schemeClr val="tx1"/>
                </a:solidFill>
                <a:latin typeface="楷体" panose="02010609060101010101" pitchFamily="49" charset="-122"/>
                <a:ea typeface="楷体" panose="02010609060101010101" pitchFamily="49" charset="-122"/>
              </a:rPr>
              <a:t>Q</a:t>
            </a:r>
            <a:r>
              <a:rPr lang="zh-CN" altLang="en-US" b="0" dirty="0">
                <a:solidFill>
                  <a:schemeClr val="tx1"/>
                </a:solidFill>
                <a:latin typeface="楷体" panose="02010609060101010101" pitchFamily="49" charset="-122"/>
                <a:ea typeface="楷体" panose="02010609060101010101" pitchFamily="49" charset="-122"/>
              </a:rPr>
              <a:t>正传</a:t>
            </a:r>
            <a:r>
              <a:rPr lang="en-US" altLang="zh-CN" b="0" dirty="0">
                <a:solidFill>
                  <a:schemeClr val="tx1"/>
                </a:solidFill>
                <a:latin typeface="楷体" panose="02010609060101010101" pitchFamily="49" charset="-122"/>
                <a:ea typeface="楷体" panose="02010609060101010101" pitchFamily="49" charset="-122"/>
              </a:rPr>
              <a:t>》……</a:t>
            </a:r>
          </a:p>
          <a:p>
            <a:pPr lvl="1">
              <a:lnSpc>
                <a:spcPct val="150000"/>
              </a:lnSpc>
              <a:spcBef>
                <a:spcPts val="600"/>
              </a:spcBef>
            </a:pPr>
            <a:r>
              <a:rPr lang="zh-CN" altLang="en-US" b="0" dirty="0">
                <a:solidFill>
                  <a:schemeClr val="tx1"/>
                </a:solidFill>
                <a:latin typeface="楷体" panose="02010609060101010101" pitchFamily="49" charset="-122"/>
                <a:ea typeface="楷体" panose="02010609060101010101" pitchFamily="49" charset="-122"/>
              </a:rPr>
              <a:t>操作</a:t>
            </a:r>
            <a:r>
              <a:rPr lang="en-US" altLang="zh-CN" b="0" dirty="0">
                <a:solidFill>
                  <a:schemeClr val="tx1"/>
                </a:solidFill>
                <a:latin typeface="楷体" panose="02010609060101010101" pitchFamily="49" charset="-122"/>
                <a:ea typeface="楷体" panose="02010609060101010101" pitchFamily="49" charset="-122"/>
              </a:rPr>
              <a:t>2</a:t>
            </a:r>
            <a:r>
              <a:rPr lang="zh-CN" altLang="en-US" b="0" dirty="0">
                <a:solidFill>
                  <a:schemeClr val="tx1"/>
                </a:solidFill>
                <a:latin typeface="楷体" panose="02010609060101010101" pitchFamily="49" charset="-122"/>
                <a:ea typeface="楷体" panose="02010609060101010101" pitchFamily="49" charset="-122"/>
              </a:rPr>
              <a:t>：怎么找到某本指定的书？</a:t>
            </a:r>
          </a:p>
          <a:p>
            <a:pPr lvl="2">
              <a:lnSpc>
                <a:spcPct val="150000"/>
              </a:lnSpc>
              <a:spcBef>
                <a:spcPts val="600"/>
              </a:spcBef>
            </a:pPr>
            <a:r>
              <a:rPr lang="zh-CN" altLang="en-US" b="0" dirty="0">
                <a:solidFill>
                  <a:schemeClr val="tx1"/>
                </a:solidFill>
                <a:latin typeface="楷体" panose="02010609060101010101" pitchFamily="49" charset="-122"/>
                <a:ea typeface="楷体" panose="02010609060101010101" pitchFamily="49" charset="-122"/>
              </a:rPr>
              <a:t>二分查找！</a:t>
            </a:r>
          </a:p>
        </p:txBody>
      </p:sp>
      <p:pic>
        <p:nvPicPr>
          <p:cNvPr id="6" name="图片 5">
            <a:extLst>
              <a:ext uri="{FF2B5EF4-FFF2-40B4-BE49-F238E27FC236}">
                <a16:creationId xmlns:a16="http://schemas.microsoft.com/office/drawing/2014/main" id="{2AFFA1BC-1DDA-4AF6-8E14-ED8C559426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9060" y="2287635"/>
            <a:ext cx="2257740" cy="1571844"/>
          </a:xfrm>
          <a:prstGeom prst="rect">
            <a:avLst/>
          </a:prstGeom>
        </p:spPr>
      </p:pic>
    </p:spTree>
    <p:extLst>
      <p:ext uri="{BB962C8B-B14F-4D97-AF65-F5344CB8AC3E}">
        <p14:creationId xmlns:p14="http://schemas.microsoft.com/office/powerpoint/2010/main" val="2766661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DA1686AA-2971-429E-ACF4-8363B61E29B5}"/>
              </a:ext>
            </a:extLst>
          </p:cNvPr>
          <p:cNvSpPr>
            <a:spLocks noGrp="1"/>
          </p:cNvSpPr>
          <p:nvPr/>
        </p:nvSpPr>
        <p:spPr bwMode="auto">
          <a:xfrm>
            <a:off x="456943" y="601229"/>
            <a:ext cx="8229600" cy="609600"/>
          </a:xfrm>
          <a:prstGeom prst="rect">
            <a:avLst/>
          </a:prstGeom>
          <a:noFill/>
          <a:ln w="9525">
            <a:noFill/>
            <a:miter lim="800000"/>
          </a:ln>
        </p:spPr>
        <p:txBody>
          <a:bodyPr vert="horz" wrap="square" lIns="91440" tIns="45720" rIns="91440" bIns="45720" numCol="1" anchor="ctr" anchorCtr="0" compatLnSpc="1"/>
          <a:lstStyle>
            <a:lvl1pPr algn="l" rtl="0" eaLnBrk="1" fontAlgn="base" hangingPunct="1">
              <a:spcBef>
                <a:spcPct val="0"/>
              </a:spcBef>
              <a:spcAft>
                <a:spcPct val="0"/>
              </a:spcAft>
              <a:defRPr sz="3000" b="1">
                <a:solidFill>
                  <a:schemeClr val="tx2"/>
                </a:solidFill>
                <a:latin typeface="+mj-lt"/>
                <a:ea typeface="微软雅黑" panose="020B0503020204020204" pitchFamily="34" charset="-122"/>
                <a:cs typeface="+mj-cs"/>
              </a:defRPr>
            </a:lvl1pPr>
            <a:lvl2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2pPr>
            <a:lvl3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3pPr>
            <a:lvl4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4pPr>
            <a:lvl5pPr algn="ctr" rtl="0" eaLnBrk="1" fontAlgn="base" hangingPunct="1">
              <a:spcBef>
                <a:spcPct val="0"/>
              </a:spcBef>
              <a:spcAft>
                <a:spcPct val="0"/>
              </a:spcAft>
              <a:defRPr sz="2800" b="1">
                <a:solidFill>
                  <a:schemeClr val="tx2"/>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sz="2200" b="1">
                <a:solidFill>
                  <a:schemeClr val="tx2"/>
                </a:solidFill>
                <a:latin typeface="Times New Roman" panose="02020603050405020304" pitchFamily="18" charset="0"/>
                <a:ea typeface="宋体" panose="02010600030101010101" pitchFamily="2" charset="-122"/>
              </a:defRPr>
            </a:lvl9pPr>
          </a:lstStyle>
          <a:p>
            <a:r>
              <a:rPr lang="zh-CN" altLang="en-US" sz="2800" b="0" dirty="0">
                <a:latin typeface="楷体" panose="02010609060101010101" pitchFamily="49" charset="-122"/>
                <a:ea typeface="楷体" panose="02010609060101010101" pitchFamily="49" charset="-122"/>
              </a:rPr>
              <a:t>例：如何在书架上摆放图书？</a:t>
            </a:r>
            <a:endParaRPr lang="zh-CN" altLang="en-US" sz="2800" dirty="0">
              <a:latin typeface="楷体" panose="02010609060101010101" pitchFamily="49" charset="-122"/>
              <a:ea typeface="楷体" panose="02010609060101010101" pitchFamily="49" charset="-122"/>
            </a:endParaRPr>
          </a:p>
        </p:txBody>
      </p:sp>
      <p:sp>
        <p:nvSpPr>
          <p:cNvPr id="5" name="内容占位符 2">
            <a:extLst>
              <a:ext uri="{FF2B5EF4-FFF2-40B4-BE49-F238E27FC236}">
                <a16:creationId xmlns:a16="http://schemas.microsoft.com/office/drawing/2014/main" id="{CA659A1B-F044-4A79-A551-C3BC2C522E21}"/>
              </a:ext>
            </a:extLst>
          </p:cNvPr>
          <p:cNvSpPr>
            <a:spLocks noGrp="1"/>
          </p:cNvSpPr>
          <p:nvPr/>
        </p:nvSpPr>
        <p:spPr bwMode="auto">
          <a:xfrm>
            <a:off x="456943" y="1363867"/>
            <a:ext cx="8229600" cy="509394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har char="•"/>
              <a:defRPr sz="2400" b="1">
                <a:solidFill>
                  <a:srgbClr val="0000FF"/>
                </a:solidFill>
                <a:latin typeface="宋体" panose="02010600030101010101" pitchFamily="2" charset="-122"/>
                <a:ea typeface="宋体" panose="02010600030101010101" pitchFamily="2" charset="-122"/>
                <a:cs typeface="+mn-cs"/>
              </a:defRPr>
            </a:lvl1pPr>
            <a:lvl2pPr marL="742950" indent="-285750" algn="l" rtl="0" eaLnBrk="1" fontAlgn="base" hangingPunct="1">
              <a:spcBef>
                <a:spcPct val="20000"/>
              </a:spcBef>
              <a:spcAft>
                <a:spcPct val="0"/>
              </a:spcAft>
              <a:buFont typeface="Wingdings" panose="05000000000000000000" pitchFamily="2" charset="2"/>
              <a:buChar char="Ø"/>
              <a:defRPr sz="2400" b="0">
                <a:solidFill>
                  <a:schemeClr val="tx1"/>
                </a:solidFill>
                <a:latin typeface="宋体" panose="02010600030101010101" pitchFamily="2" charset="-122"/>
                <a:ea typeface="宋体" panose="02010600030101010101" pitchFamily="2" charset="-122"/>
              </a:defRPr>
            </a:lvl2pPr>
            <a:lvl3pPr marL="1143000" indent="-228600" algn="l" rtl="0" eaLnBrk="1" fontAlgn="base" hangingPunct="1">
              <a:spcBef>
                <a:spcPct val="20000"/>
              </a:spcBef>
              <a:spcAft>
                <a:spcPct val="0"/>
              </a:spcAft>
              <a:buFont typeface="Wingdings" panose="05000000000000000000" pitchFamily="2" charset="2"/>
              <a:buChar char="u"/>
              <a:defRPr sz="2400">
                <a:solidFill>
                  <a:schemeClr val="tx1"/>
                </a:solidFill>
                <a:latin typeface="宋体" panose="02010600030101010101" pitchFamily="2" charset="-122"/>
                <a:ea typeface="宋体" panose="02010600030101010101" pitchFamily="2" charset="-122"/>
              </a:defRPr>
            </a:lvl3pPr>
            <a:lvl4pPr marL="1600200" indent="-228600" algn="l" rtl="0" eaLnBrk="1" fontAlgn="base" hangingPunct="1">
              <a:spcBef>
                <a:spcPct val="20000"/>
              </a:spcBef>
              <a:spcAft>
                <a:spcPct val="0"/>
              </a:spcAft>
              <a:buFont typeface="Wingdings" panose="05000000000000000000" pitchFamily="2" charset="2"/>
              <a:buChar char="p"/>
              <a:defRPr sz="2400">
                <a:solidFill>
                  <a:schemeClr val="tx1"/>
                </a:solidFill>
                <a:latin typeface="宋体" panose="02010600030101010101" pitchFamily="2" charset="-122"/>
                <a:ea typeface="宋体" panose="02010600030101010101" pitchFamily="2" charset="-122"/>
              </a:defRPr>
            </a:lvl4pPr>
            <a:lvl5pPr marL="2057400" indent="-228600" algn="l" rtl="0" eaLnBrk="1" fontAlgn="base" hangingPunct="1">
              <a:spcBef>
                <a:spcPct val="20000"/>
              </a:spcBef>
              <a:spcAft>
                <a:spcPct val="0"/>
              </a:spcAft>
              <a:buFont typeface="Wingdings" panose="05000000000000000000" pitchFamily="2" charset="2"/>
              <a:buChar char="ü"/>
              <a:defRPr sz="2400">
                <a:solidFill>
                  <a:schemeClr val="tx1"/>
                </a:solidFill>
                <a:latin typeface="宋体" panose="02010600030101010101" pitchFamily="2" charset="-122"/>
                <a:ea typeface="宋体" panose="02010600030101010101" pitchFamily="2" charset="-122"/>
              </a:defRPr>
            </a:lvl5pPr>
            <a:lvl6pPr marL="2514600" indent="-228600" algn="l" rtl="0" eaLnBrk="1" fontAlgn="base" hangingPunct="1">
              <a:spcBef>
                <a:spcPct val="20000"/>
              </a:spcBef>
              <a:spcAft>
                <a:spcPct val="0"/>
              </a:spcAft>
              <a:buChar char="»"/>
              <a:defRPr sz="1200">
                <a:solidFill>
                  <a:schemeClr val="tx1"/>
                </a:solidFill>
                <a:latin typeface="+mn-lt"/>
                <a:ea typeface="+mn-ea"/>
              </a:defRPr>
            </a:lvl6pPr>
            <a:lvl7pPr marL="2971800" indent="-228600" algn="l" rtl="0" eaLnBrk="1" fontAlgn="base" hangingPunct="1">
              <a:spcBef>
                <a:spcPct val="20000"/>
              </a:spcBef>
              <a:spcAft>
                <a:spcPct val="0"/>
              </a:spcAft>
              <a:buChar char="»"/>
              <a:defRPr sz="1200">
                <a:solidFill>
                  <a:schemeClr val="tx1"/>
                </a:solidFill>
                <a:latin typeface="+mn-lt"/>
                <a:ea typeface="+mn-ea"/>
              </a:defRPr>
            </a:lvl7pPr>
            <a:lvl8pPr marL="3429000" indent="-228600" algn="l" rtl="0" eaLnBrk="1" fontAlgn="base" hangingPunct="1">
              <a:spcBef>
                <a:spcPct val="20000"/>
              </a:spcBef>
              <a:spcAft>
                <a:spcPct val="0"/>
              </a:spcAft>
              <a:buChar char="»"/>
              <a:defRPr sz="1200">
                <a:solidFill>
                  <a:schemeClr val="tx1"/>
                </a:solidFill>
                <a:latin typeface="+mn-lt"/>
                <a:ea typeface="+mn-ea"/>
              </a:defRPr>
            </a:lvl8pPr>
            <a:lvl9pPr marL="3886200" indent="-228600" algn="l" rtl="0" eaLnBrk="1" fontAlgn="base" hangingPunct="1">
              <a:spcBef>
                <a:spcPct val="20000"/>
              </a:spcBef>
              <a:spcAft>
                <a:spcPct val="0"/>
              </a:spcAft>
              <a:buChar char="»"/>
              <a:defRPr sz="1200">
                <a:solidFill>
                  <a:schemeClr val="tx1"/>
                </a:solidFill>
                <a:latin typeface="+mn-lt"/>
                <a:ea typeface="+mn-ea"/>
              </a:defRPr>
            </a:lvl9pPr>
          </a:lstStyle>
          <a:p>
            <a:pPr>
              <a:lnSpc>
                <a:spcPct val="135000"/>
              </a:lnSpc>
              <a:spcBef>
                <a:spcPts val="0"/>
              </a:spcBef>
            </a:pPr>
            <a:r>
              <a:rPr lang="zh-CN" altLang="en-US" b="0" dirty="0">
                <a:latin typeface="楷体" panose="02010609060101010101" pitchFamily="49" charset="-122"/>
                <a:ea typeface="楷体" panose="02010609060101010101" pitchFamily="49" charset="-122"/>
              </a:rPr>
              <a:t>方法</a:t>
            </a:r>
            <a:r>
              <a:rPr lang="en-US" altLang="zh-CN" dirty="0">
                <a:latin typeface="楷体" panose="02010609060101010101" pitchFamily="49" charset="-122"/>
                <a:ea typeface="楷体" panose="02010609060101010101" pitchFamily="49" charset="-122"/>
              </a:rPr>
              <a:t>3</a:t>
            </a:r>
            <a:r>
              <a:rPr lang="zh-CN" altLang="en-US" b="0" dirty="0">
                <a:latin typeface="楷体" panose="02010609060101010101" pitchFamily="49" charset="-122"/>
                <a:ea typeface="楷体" panose="02010609060101010101" pitchFamily="49" charset="-122"/>
              </a:rPr>
              <a:t>：把书架划分成</a:t>
            </a:r>
            <a:r>
              <a:rPr lang="zh-CN" altLang="en-US" u="sng" dirty="0">
                <a:latin typeface="楷体" panose="02010609060101010101" pitchFamily="49" charset="-122"/>
                <a:ea typeface="楷体" panose="02010609060101010101" pitchFamily="49" charset="-122"/>
              </a:rPr>
              <a:t>几块区域</a:t>
            </a:r>
            <a:r>
              <a:rPr lang="zh-CN" altLang="en-US" b="0" dirty="0">
                <a:latin typeface="楷体" panose="02010609060101010101" pitchFamily="49" charset="-122"/>
                <a:ea typeface="楷体" panose="02010609060101010101" pitchFamily="49" charset="-122"/>
              </a:rPr>
              <a:t>，每块区域指定摆放某种</a:t>
            </a:r>
            <a:r>
              <a:rPr lang="zh-CN" altLang="en-US" u="sng" dirty="0">
                <a:latin typeface="楷体" panose="02010609060101010101" pitchFamily="49" charset="-122"/>
                <a:ea typeface="楷体" panose="02010609060101010101" pitchFamily="49" charset="-122"/>
              </a:rPr>
              <a:t>类别</a:t>
            </a:r>
            <a:r>
              <a:rPr lang="zh-CN" altLang="en-US" b="0" dirty="0">
                <a:latin typeface="楷体" panose="02010609060101010101" pitchFamily="49" charset="-122"/>
                <a:ea typeface="楷体" panose="02010609060101010101" pitchFamily="49" charset="-122"/>
              </a:rPr>
              <a:t>的图书；在每种类别内，按照书名的</a:t>
            </a:r>
            <a:r>
              <a:rPr lang="zh-CN" altLang="en-US" u="sng" dirty="0">
                <a:latin typeface="楷体" panose="02010609060101010101" pitchFamily="49" charset="-122"/>
                <a:ea typeface="楷体" panose="02010609060101010101" pitchFamily="49" charset="-122"/>
              </a:rPr>
              <a:t>拼音字母顺序排放</a:t>
            </a:r>
          </a:p>
          <a:p>
            <a:pPr lvl="1">
              <a:lnSpc>
                <a:spcPct val="135000"/>
              </a:lnSpc>
              <a:spcBef>
                <a:spcPts val="0"/>
              </a:spcBef>
            </a:pPr>
            <a:r>
              <a:rPr lang="zh-CN" altLang="en-US" b="0" dirty="0">
                <a:latin typeface="楷体" panose="02010609060101010101" pitchFamily="49" charset="-122"/>
                <a:ea typeface="楷体" panose="02010609060101010101" pitchFamily="49" charset="-122"/>
              </a:rPr>
              <a:t>操作</a:t>
            </a:r>
            <a:r>
              <a:rPr lang="en-US" altLang="zh-CN" dirty="0">
                <a:latin typeface="楷体" panose="02010609060101010101" pitchFamily="49" charset="-122"/>
                <a:ea typeface="楷体" panose="02010609060101010101" pitchFamily="49" charset="-122"/>
              </a:rPr>
              <a:t>1</a:t>
            </a:r>
            <a:r>
              <a:rPr lang="zh-CN" altLang="en-US" b="0" dirty="0">
                <a:latin typeface="楷体" panose="02010609060101010101" pitchFamily="49" charset="-122"/>
                <a:ea typeface="楷体" panose="02010609060101010101" pitchFamily="49" charset="-122"/>
              </a:rPr>
              <a:t>：新书怎么插入？</a:t>
            </a:r>
          </a:p>
          <a:p>
            <a:pPr lvl="2">
              <a:lnSpc>
                <a:spcPct val="135000"/>
              </a:lnSpc>
              <a:spcBef>
                <a:spcPts val="0"/>
              </a:spcBef>
            </a:pPr>
            <a:r>
              <a:rPr lang="zh-CN" altLang="en-US" sz="2000" b="0" dirty="0">
                <a:latin typeface="楷体" panose="02010609060101010101" pitchFamily="49" charset="-122"/>
                <a:ea typeface="楷体" panose="02010609060101010101" pitchFamily="49" charset="-122"/>
              </a:rPr>
              <a:t>先定类别，二分查找确定位置，移出空位</a:t>
            </a:r>
          </a:p>
          <a:p>
            <a:pPr lvl="1">
              <a:lnSpc>
                <a:spcPct val="135000"/>
              </a:lnSpc>
              <a:spcBef>
                <a:spcPts val="0"/>
              </a:spcBef>
            </a:pPr>
            <a:r>
              <a:rPr lang="zh-CN" altLang="en-US" b="0" dirty="0">
                <a:latin typeface="楷体" panose="02010609060101010101" pitchFamily="49" charset="-122"/>
                <a:ea typeface="楷体" panose="02010609060101010101" pitchFamily="49" charset="-122"/>
              </a:rPr>
              <a:t>操作</a:t>
            </a:r>
            <a:r>
              <a:rPr lang="en-US" altLang="zh-CN" dirty="0">
                <a:latin typeface="楷体" panose="02010609060101010101" pitchFamily="49" charset="-122"/>
                <a:ea typeface="楷体" panose="02010609060101010101" pitchFamily="49" charset="-122"/>
              </a:rPr>
              <a:t>2</a:t>
            </a:r>
            <a:r>
              <a:rPr lang="zh-CN" altLang="en-US" b="0" dirty="0">
                <a:latin typeface="楷体" panose="02010609060101010101" pitchFamily="49" charset="-122"/>
                <a:ea typeface="楷体" panose="02010609060101010101" pitchFamily="49" charset="-122"/>
              </a:rPr>
              <a:t>：怎么找到某本指定的书？</a:t>
            </a:r>
          </a:p>
          <a:p>
            <a:pPr lvl="2">
              <a:lnSpc>
                <a:spcPct val="135000"/>
              </a:lnSpc>
              <a:spcBef>
                <a:spcPts val="0"/>
              </a:spcBef>
            </a:pPr>
            <a:r>
              <a:rPr lang="zh-CN" altLang="en-US" sz="2000" b="0" dirty="0">
                <a:latin typeface="楷体" panose="02010609060101010101" pitchFamily="49" charset="-122"/>
                <a:ea typeface="楷体" panose="02010609060101010101" pitchFamily="49" charset="-122"/>
              </a:rPr>
              <a:t>先定类别，再二分查找</a:t>
            </a:r>
          </a:p>
          <a:p>
            <a:pPr lvl="1">
              <a:lnSpc>
                <a:spcPct val="135000"/>
              </a:lnSpc>
              <a:spcBef>
                <a:spcPts val="0"/>
              </a:spcBef>
            </a:pPr>
            <a:r>
              <a:rPr lang="zh-CN" altLang="en-US" b="0" dirty="0">
                <a:latin typeface="楷体" panose="02010609060101010101" pitchFamily="49" charset="-122"/>
                <a:ea typeface="楷体" panose="02010609060101010101" pitchFamily="49" charset="-122"/>
              </a:rPr>
              <a:t>问题：空间如何分配？类别应该分多细？</a:t>
            </a:r>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980359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4DD7624D-96DF-4338-BFA7-9F3600229FE2}"/>
              </a:ext>
            </a:extLst>
          </p:cNvPr>
          <p:cNvSpPr txBox="1">
            <a:spLocks/>
          </p:cNvSpPr>
          <p:nvPr/>
        </p:nvSpPr>
        <p:spPr>
          <a:xfrm>
            <a:off x="611560" y="980728"/>
            <a:ext cx="8229600"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ct val="100000"/>
              </a:lnSpc>
              <a:spcAft>
                <a:spcPts val="0"/>
              </a:spcAft>
            </a:pPr>
            <a:r>
              <a:rPr kumimoji="0" lang="zh-CN" altLang="en-US" sz="4000" b="0" dirty="0">
                <a:latin typeface="楷体" panose="02010609060101010101" pitchFamily="49" charset="-122"/>
                <a:ea typeface="楷体" panose="02010609060101010101" pitchFamily="49" charset="-122"/>
              </a:rPr>
              <a:t>到底什么是数据结构？</a:t>
            </a:r>
          </a:p>
        </p:txBody>
      </p:sp>
      <p:sp>
        <p:nvSpPr>
          <p:cNvPr id="5" name="内容占位符 2">
            <a:extLst>
              <a:ext uri="{FF2B5EF4-FFF2-40B4-BE49-F238E27FC236}">
                <a16:creationId xmlns:a16="http://schemas.microsoft.com/office/drawing/2014/main" id="{5F2CF052-465D-4FAD-A429-B88D1C803CA3}"/>
              </a:ext>
            </a:extLst>
          </p:cNvPr>
          <p:cNvSpPr txBox="1">
            <a:spLocks/>
          </p:cNvSpPr>
          <p:nvPr/>
        </p:nvSpPr>
        <p:spPr>
          <a:xfrm>
            <a:off x="611560" y="1818928"/>
            <a:ext cx="8229600" cy="53340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ct val="150000"/>
              </a:lnSpc>
              <a:spcBef>
                <a:spcPts val="0"/>
              </a:spcBef>
              <a:spcAft>
                <a:spcPts val="0"/>
              </a:spcAft>
              <a:buFont typeface="Wingdings" panose="05000000000000000000" pitchFamily="2" charset="2"/>
              <a:buChar char="n"/>
            </a:pPr>
            <a:r>
              <a:rPr kumimoji="0" lang="zh-CN" altLang="en-US" sz="2400" b="0" dirty="0">
                <a:latin typeface="楷体" panose="02010609060101010101" pitchFamily="49" charset="-122"/>
                <a:ea typeface="楷体" panose="02010609060101010101" pitchFamily="49" charset="-122"/>
              </a:rPr>
              <a:t>数据对象</a:t>
            </a:r>
            <a:r>
              <a:rPr kumimoji="0" lang="zh-CN" altLang="en-US" sz="2400" b="0" dirty="0">
                <a:solidFill>
                  <a:srgbClr val="000000"/>
                </a:solidFill>
                <a:latin typeface="楷体" panose="02010609060101010101" pitchFamily="49" charset="-122"/>
                <a:ea typeface="楷体" panose="02010609060101010101" pitchFamily="49" charset="-122"/>
              </a:rPr>
              <a:t>在计算机中的组织方式</a:t>
            </a:r>
          </a:p>
          <a:p>
            <a:pPr lvl="1" fontAlgn="auto">
              <a:lnSpc>
                <a:spcPct val="150000"/>
              </a:lnSpc>
              <a:spcBef>
                <a:spcPts val="0"/>
              </a:spcBef>
              <a:spcAft>
                <a:spcPts val="0"/>
              </a:spcAft>
            </a:pPr>
            <a:r>
              <a:rPr kumimoji="0" lang="zh-CN" altLang="en-US" sz="2400" b="0" dirty="0">
                <a:solidFill>
                  <a:srgbClr val="000000"/>
                </a:solidFill>
                <a:latin typeface="楷体" panose="02010609060101010101" pitchFamily="49" charset="-122"/>
                <a:ea typeface="楷体" panose="02010609060101010101" pitchFamily="49" charset="-122"/>
              </a:rPr>
              <a:t>逻辑结构</a:t>
            </a:r>
          </a:p>
          <a:p>
            <a:pPr lvl="1" fontAlgn="auto">
              <a:lnSpc>
                <a:spcPct val="150000"/>
              </a:lnSpc>
              <a:spcBef>
                <a:spcPts val="0"/>
              </a:spcBef>
              <a:spcAft>
                <a:spcPts val="0"/>
              </a:spcAft>
            </a:pPr>
            <a:r>
              <a:rPr kumimoji="0" lang="zh-CN" altLang="en-US" sz="2400" b="0" dirty="0">
                <a:solidFill>
                  <a:srgbClr val="000000"/>
                </a:solidFill>
                <a:latin typeface="楷体" panose="02010609060101010101" pitchFamily="49" charset="-122"/>
                <a:ea typeface="楷体" panose="02010609060101010101" pitchFamily="49" charset="-122"/>
              </a:rPr>
              <a:t>物理存储结构</a:t>
            </a:r>
          </a:p>
          <a:p>
            <a:pPr fontAlgn="auto">
              <a:lnSpc>
                <a:spcPct val="150000"/>
              </a:lnSpc>
              <a:spcBef>
                <a:spcPts val="0"/>
              </a:spcBef>
              <a:spcAft>
                <a:spcPts val="0"/>
              </a:spcAft>
              <a:buFont typeface="Wingdings" panose="05000000000000000000" pitchFamily="2" charset="2"/>
              <a:buChar char="n"/>
            </a:pPr>
            <a:r>
              <a:rPr kumimoji="0" lang="zh-CN" altLang="en-US" sz="2400" b="0" dirty="0">
                <a:solidFill>
                  <a:srgbClr val="000000"/>
                </a:solidFill>
                <a:latin typeface="楷体" panose="02010609060101010101" pitchFamily="49" charset="-122"/>
                <a:ea typeface="楷体" panose="02010609060101010101" pitchFamily="49" charset="-122"/>
              </a:rPr>
              <a:t>数据对象必定与一系列加在其上的</a:t>
            </a:r>
            <a:r>
              <a:rPr kumimoji="0" lang="zh-CN" altLang="en-US" sz="2400" b="0" dirty="0">
                <a:latin typeface="楷体" panose="02010609060101010101" pitchFamily="49" charset="-122"/>
                <a:ea typeface="楷体" panose="02010609060101010101" pitchFamily="49" charset="-122"/>
              </a:rPr>
              <a:t>操作</a:t>
            </a:r>
            <a:r>
              <a:rPr kumimoji="0" lang="zh-CN" altLang="en-US" sz="2400" b="0" dirty="0">
                <a:solidFill>
                  <a:srgbClr val="000000"/>
                </a:solidFill>
                <a:latin typeface="楷体" panose="02010609060101010101" pitchFamily="49" charset="-122"/>
                <a:ea typeface="楷体" panose="02010609060101010101" pitchFamily="49" charset="-122"/>
              </a:rPr>
              <a:t>相关联</a:t>
            </a:r>
            <a:endParaRPr kumimoji="0" lang="en-US" altLang="zh-CN" sz="2400" b="0" dirty="0">
              <a:solidFill>
                <a:srgbClr val="000000"/>
              </a:solidFill>
              <a:latin typeface="楷体" panose="02010609060101010101" pitchFamily="49" charset="-122"/>
              <a:ea typeface="楷体" panose="02010609060101010101" pitchFamily="49" charset="-122"/>
            </a:endParaRPr>
          </a:p>
          <a:p>
            <a:pPr fontAlgn="auto">
              <a:lnSpc>
                <a:spcPct val="150000"/>
              </a:lnSpc>
              <a:spcBef>
                <a:spcPts val="0"/>
              </a:spcBef>
              <a:spcAft>
                <a:spcPts val="0"/>
              </a:spcAft>
              <a:buFont typeface="Wingdings" panose="05000000000000000000" pitchFamily="2" charset="2"/>
              <a:buChar char="n"/>
            </a:pPr>
            <a:r>
              <a:rPr kumimoji="0" lang="zh-CN" altLang="en-US" sz="2400" b="0" dirty="0">
                <a:solidFill>
                  <a:srgbClr val="000000"/>
                </a:solidFill>
                <a:latin typeface="楷体" panose="02010609060101010101" pitchFamily="49" charset="-122"/>
                <a:ea typeface="楷体" panose="02010609060101010101" pitchFamily="49" charset="-122"/>
              </a:rPr>
              <a:t>完成这些操作所用的方法就是</a:t>
            </a:r>
            <a:r>
              <a:rPr kumimoji="0" lang="zh-CN" altLang="en-US" sz="2400" b="0" dirty="0">
                <a:latin typeface="楷体" panose="02010609060101010101" pitchFamily="49" charset="-122"/>
                <a:ea typeface="楷体" panose="02010609060101010101" pitchFamily="49" charset="-122"/>
              </a:rPr>
              <a:t>算法</a:t>
            </a:r>
          </a:p>
        </p:txBody>
      </p:sp>
    </p:spTree>
    <p:extLst>
      <p:ext uri="{BB962C8B-B14F-4D97-AF65-F5344CB8AC3E}">
        <p14:creationId xmlns:p14="http://schemas.microsoft.com/office/powerpoint/2010/main" val="3643553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48" y="928670"/>
            <a:ext cx="7520940" cy="548640"/>
          </a:xfrm>
        </p:spPr>
        <p:txBody>
          <a:bodyPr/>
          <a:lstStyle/>
          <a:p>
            <a:r>
              <a:rPr lang="en-US" altLang="zh-CN" dirty="0">
                <a:latin typeface="黑体" panose="02010609060101010101" pitchFamily="49" charset="-122"/>
                <a:ea typeface="黑体" panose="02010609060101010101" pitchFamily="49" charset="-122"/>
              </a:rPr>
              <a:t>1.1 </a:t>
            </a:r>
            <a:r>
              <a:rPr lang="zh-CN" altLang="zh-CN" dirty="0">
                <a:latin typeface="黑体" panose="02010609060101010101" pitchFamily="49" charset="-122"/>
                <a:ea typeface="黑体" panose="02010609060101010101" pitchFamily="49" charset="-122"/>
              </a:rPr>
              <a:t>数据结构的</a:t>
            </a:r>
            <a:r>
              <a:rPr lang="zh-CN" altLang="en-US" dirty="0">
                <a:latin typeface="黑体" panose="02010609060101010101" pitchFamily="49" charset="-122"/>
                <a:ea typeface="黑体" panose="02010609060101010101" pitchFamily="49" charset="-122"/>
              </a:rPr>
              <a:t>相关</a:t>
            </a:r>
            <a:r>
              <a:rPr lang="zh-CN" altLang="zh-CN" dirty="0">
                <a:latin typeface="黑体" panose="02010609060101010101" pitchFamily="49" charset="-122"/>
                <a:ea typeface="黑体" panose="02010609060101010101" pitchFamily="49" charset="-122"/>
              </a:rPr>
              <a:t>基本概念</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4294967295"/>
          </p:nvPr>
        </p:nvSpPr>
        <p:spPr>
          <a:xfrm>
            <a:off x="971600" y="1772816"/>
            <a:ext cx="7520940" cy="3579849"/>
          </a:xfrm>
        </p:spPr>
        <p:txBody>
          <a:bodyPr/>
          <a:lstStyle/>
          <a:p>
            <a:pPr>
              <a:lnSpc>
                <a:spcPct val="120000"/>
              </a:lnSpc>
            </a:pPr>
            <a:r>
              <a:rPr lang="zh-CN" altLang="zh-CN" sz="2400" b="0" dirty="0">
                <a:latin typeface="楷体" panose="02010609060101010101" pitchFamily="49" charset="-122"/>
                <a:ea typeface="楷体" panose="02010609060101010101" pitchFamily="49" charset="-122"/>
              </a:rPr>
              <a:t>使用计算机解决实际问题，大致需要以下三个步骤： </a:t>
            </a:r>
          </a:p>
          <a:p>
            <a:pPr>
              <a:lnSpc>
                <a:spcPct val="120000"/>
              </a:lnSpc>
            </a:pPr>
            <a:r>
              <a:rPr lang="zh-CN" altLang="zh-CN" sz="2400" b="0" dirty="0">
                <a:latin typeface="楷体" panose="02010609060101010101" pitchFamily="49" charset="-122"/>
                <a:ea typeface="楷体" panose="02010609060101010101" pitchFamily="49" charset="-122"/>
              </a:rPr>
              <a:t>（1）分析实际问题，抽象出一个适当的数学模型。</a:t>
            </a:r>
          </a:p>
          <a:p>
            <a:pPr>
              <a:lnSpc>
                <a:spcPct val="120000"/>
              </a:lnSpc>
            </a:pPr>
            <a:r>
              <a:rPr lang="zh-CN" altLang="zh-CN" sz="2400" b="0" dirty="0">
                <a:latin typeface="楷体" panose="02010609060101010101" pitchFamily="49" charset="-122"/>
                <a:ea typeface="楷体" panose="02010609060101010101" pitchFamily="49" charset="-122"/>
              </a:rPr>
              <a:t>（2）为此数学模型设计一个合适的数据结构。</a:t>
            </a:r>
          </a:p>
          <a:p>
            <a:pPr>
              <a:lnSpc>
                <a:spcPct val="120000"/>
              </a:lnSpc>
            </a:pPr>
            <a:r>
              <a:rPr lang="zh-CN" altLang="zh-CN" sz="2400" b="0" dirty="0">
                <a:latin typeface="楷体" panose="02010609060101010101" pitchFamily="49" charset="-122"/>
                <a:ea typeface="楷体" panose="02010609060101010101" pitchFamily="49" charset="-122"/>
              </a:rPr>
              <a:t>（3）设计和实现具体操作的算法。</a:t>
            </a:r>
          </a:p>
          <a:p>
            <a:endParaRPr lang="zh-CN" altLang="en-US" dirty="0"/>
          </a:p>
        </p:txBody>
      </p:sp>
    </p:spTree>
    <p:extLst>
      <p:ext uri="{BB962C8B-B14F-4D97-AF65-F5344CB8AC3E}">
        <p14:creationId xmlns:p14="http://schemas.microsoft.com/office/powerpoint/2010/main" val="4032502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822960" y="908720"/>
            <a:ext cx="7535254" cy="5520676"/>
          </a:xfrm>
        </p:spPr>
        <p:txBody>
          <a:bodyPr>
            <a:normAutofit fontScale="92500" lnSpcReduction="10000"/>
          </a:bodyPr>
          <a:lstStyle/>
          <a:p>
            <a:pPr>
              <a:lnSpc>
                <a:spcPct val="13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数据结构涉及一些基本概念和术语</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p>
          <a:p>
            <a:pPr algn="just">
              <a:lnSpc>
                <a:spcPct val="130000"/>
              </a:lnSpc>
            </a:pP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数据(Data)</a:t>
            </a:r>
            <a:r>
              <a:rPr lang="zh-CN" altLang="zh-CN" sz="2400" b="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指</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计算机能接受和处理的一切对象</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。如整数、实数、复数是数据，字符、文字、表格、图形、图像、声音、程序等也是计算机能够接受和处理的数据。总之，</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存储在计算机中可用二进制表示的内容</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都是数据。</a:t>
            </a:r>
          </a:p>
          <a:p>
            <a:pPr algn="just">
              <a:lnSpc>
                <a:spcPct val="130000"/>
              </a:lnSpc>
            </a:pP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4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数据元素(data element)</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：指</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在计算机中作为一个整体考虑和处理的对象，也是组成数据的基本单位</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。一般来说，数据元素是由若干</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数据项</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(data item)组成的，数据项是具有独立含义的数据最小单位。</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pP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如，学籍管理系统中，“学生”是数据元素，而“学生”是由学号、姓名、性别、年龄、家庭住址、联系方式等数据项组成。</a:t>
            </a:r>
          </a:p>
          <a:p>
            <a:endParaRPr lang="zh-CN" altLang="en-US" sz="2400" b="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86527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344FCB52-8558-49C6-AAF7-38EDDF4689B4}"/>
              </a:ext>
            </a:extLst>
          </p:cNvPr>
          <p:cNvGraphicFramePr>
            <a:graphicFrameLocks noGrp="1"/>
          </p:cNvGraphicFramePr>
          <p:nvPr>
            <p:extLst>
              <p:ext uri="{D42A27DB-BD31-4B8C-83A1-F6EECF244321}">
                <p14:modId xmlns:p14="http://schemas.microsoft.com/office/powerpoint/2010/main" val="317977892"/>
              </p:ext>
            </p:extLst>
          </p:nvPr>
        </p:nvGraphicFramePr>
        <p:xfrm>
          <a:off x="2483768" y="1772816"/>
          <a:ext cx="3857651" cy="3658008"/>
        </p:xfrm>
        <a:graphic>
          <a:graphicData uri="http://schemas.openxmlformats.org/drawingml/2006/table">
            <a:tbl>
              <a:tblPr>
                <a:effectLst>
                  <a:outerShdw blurRad="50800" dist="38100" dir="2700000" algn="tl" rotWithShape="0">
                    <a:prstClr val="black">
                      <a:alpha val="40000"/>
                    </a:prstClr>
                  </a:outerShdw>
                </a:effectLst>
                <a:tableStyleId>{16D9F66E-5EB9-4882-86FB-DCBF35E3C3E4}</a:tableStyleId>
              </a:tblPr>
              <a:tblGrid>
                <a:gridCol w="708553">
                  <a:extLst>
                    <a:ext uri="{9D8B030D-6E8A-4147-A177-3AD203B41FA5}">
                      <a16:colId xmlns:a16="http://schemas.microsoft.com/office/drawing/2014/main" val="20000"/>
                    </a:ext>
                  </a:extLst>
                </a:gridCol>
                <a:gridCol w="1005958">
                  <a:extLst>
                    <a:ext uri="{9D8B030D-6E8A-4147-A177-3AD203B41FA5}">
                      <a16:colId xmlns:a16="http://schemas.microsoft.com/office/drawing/2014/main" val="20001"/>
                    </a:ext>
                  </a:extLst>
                </a:gridCol>
                <a:gridCol w="928694">
                  <a:extLst>
                    <a:ext uri="{9D8B030D-6E8A-4147-A177-3AD203B41FA5}">
                      <a16:colId xmlns:a16="http://schemas.microsoft.com/office/drawing/2014/main" val="20002"/>
                    </a:ext>
                  </a:extLst>
                </a:gridCol>
                <a:gridCol w="1214446">
                  <a:extLst>
                    <a:ext uri="{9D8B030D-6E8A-4147-A177-3AD203B41FA5}">
                      <a16:colId xmlns:a16="http://schemas.microsoft.com/office/drawing/2014/main" val="20003"/>
                    </a:ext>
                  </a:extLst>
                </a:gridCol>
              </a:tblGrid>
              <a:tr h="518568">
                <a:tc>
                  <a:txBody>
                    <a:bodyPr/>
                    <a:lstStyle/>
                    <a:p>
                      <a:pPr marL="0" marR="0" lvl="0" indent="0" algn="ctr" defTabSz="914400" rtl="0" eaLnBrk="1" fontAlgn="base" latinLnBrk="0" hangingPunct="1">
                        <a:lnSpc>
                          <a:spcPct val="150000"/>
                        </a:lnSpc>
                        <a:spcBef>
                          <a:spcPct val="20000"/>
                        </a:spcBef>
                        <a:spcAft>
                          <a:spcPct val="0"/>
                        </a:spcAft>
                        <a:buClrTx/>
                        <a:buSzTx/>
                        <a:buFontTx/>
                        <a:buNone/>
                        <a:tabLst/>
                      </a:pPr>
                      <a:r>
                        <a:rPr kumimoji="0" lang="zh-CN" altLang="en-US" sz="1800" b="1" u="none" strike="noStrike" cap="none" normalizeH="0" baseline="0" dirty="0">
                          <a:ln>
                            <a:noFill/>
                          </a:ln>
                          <a:solidFill>
                            <a:srgbClr val="C00000"/>
                          </a:solidFill>
                          <a:effectLst/>
                          <a:latin typeface="Consolas" pitchFamily="49" charset="0"/>
                          <a:ea typeface="仿宋" pitchFamily="49" charset="-122"/>
                          <a:cs typeface="Consolas" pitchFamily="49" charset="0"/>
                        </a:rPr>
                        <a:t>学号</a:t>
                      </a:r>
                      <a:endParaRPr kumimoji="0" lang="zh-CN" altLang="en-US"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50000"/>
                        </a:lnSpc>
                        <a:spcBef>
                          <a:spcPct val="20000"/>
                        </a:spcBef>
                        <a:spcAft>
                          <a:spcPct val="0"/>
                        </a:spcAft>
                        <a:buClrTx/>
                        <a:buSzTx/>
                        <a:buFontTx/>
                        <a:buNone/>
                        <a:tabLst/>
                      </a:pPr>
                      <a:r>
                        <a:rPr kumimoji="0" lang="zh-CN" altLang="en-US" sz="1800" b="1" u="none" strike="noStrike" cap="none" normalizeH="0" baseline="0" dirty="0">
                          <a:ln>
                            <a:noFill/>
                          </a:ln>
                          <a:solidFill>
                            <a:srgbClr val="C00000"/>
                          </a:solidFill>
                          <a:effectLst/>
                          <a:latin typeface="Consolas" pitchFamily="49" charset="0"/>
                          <a:ea typeface="仿宋" pitchFamily="49" charset="-122"/>
                          <a:cs typeface="Consolas" pitchFamily="49" charset="0"/>
                        </a:rPr>
                        <a:t>姓名</a:t>
                      </a:r>
                      <a:endParaRPr kumimoji="0" lang="zh-CN" altLang="en-US"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50000"/>
                        </a:lnSpc>
                        <a:spcBef>
                          <a:spcPct val="20000"/>
                        </a:spcBef>
                        <a:spcAft>
                          <a:spcPct val="0"/>
                        </a:spcAft>
                        <a:buClrTx/>
                        <a:buSzTx/>
                        <a:buFontTx/>
                        <a:buNone/>
                        <a:tabLst/>
                      </a:pPr>
                      <a:r>
                        <a:rPr kumimoji="0" lang="zh-CN" altLang="en-US" sz="1800" b="1" u="none" strike="noStrike" cap="none" normalizeH="0" baseline="0" dirty="0">
                          <a:ln>
                            <a:noFill/>
                          </a:ln>
                          <a:solidFill>
                            <a:srgbClr val="C00000"/>
                          </a:solidFill>
                          <a:effectLst/>
                          <a:latin typeface="Consolas" pitchFamily="49" charset="0"/>
                          <a:ea typeface="仿宋" pitchFamily="49" charset="-122"/>
                          <a:cs typeface="Consolas" pitchFamily="49" charset="0"/>
                        </a:rPr>
                        <a:t>性别</a:t>
                      </a:r>
                      <a:endParaRPr kumimoji="0" lang="zh-CN" altLang="en-US"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50000"/>
                        </a:lnSpc>
                        <a:spcBef>
                          <a:spcPct val="20000"/>
                        </a:spcBef>
                        <a:spcAft>
                          <a:spcPct val="0"/>
                        </a:spcAft>
                        <a:buClrTx/>
                        <a:buSzTx/>
                        <a:buFontTx/>
                        <a:buNone/>
                        <a:tabLst/>
                      </a:pPr>
                      <a:r>
                        <a:rPr kumimoji="0" lang="zh-CN" altLang="en-US" sz="1800" b="1" u="none" strike="noStrike" cap="none" normalizeH="0" baseline="0" dirty="0">
                          <a:ln>
                            <a:noFill/>
                          </a:ln>
                          <a:solidFill>
                            <a:srgbClr val="C00000"/>
                          </a:solidFill>
                          <a:effectLst/>
                          <a:latin typeface="Consolas" pitchFamily="49" charset="0"/>
                          <a:ea typeface="仿宋" pitchFamily="49" charset="-122"/>
                          <a:cs typeface="Consolas" pitchFamily="49" charset="0"/>
                        </a:rPr>
                        <a:t>班号</a:t>
                      </a:r>
                      <a:endParaRPr kumimoji="0" lang="zh-CN" altLang="en-US"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T="60960" marB="60960" horzOverflow="overflow">
                    <a:solidFill>
                      <a:srgbClr val="92D050"/>
                    </a:solidFill>
                  </a:tcPr>
                </a:tc>
                <a:extLst>
                  <a:ext uri="{0D108BD9-81ED-4DB2-BD59-A6C34878D82A}">
                    <a16:rowId xmlns:a16="http://schemas.microsoft.com/office/drawing/2014/main" val="10000"/>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张斌</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extLst>
                  <a:ext uri="{0D108BD9-81ED-4DB2-BD59-A6C34878D82A}">
                    <a16:rowId xmlns:a16="http://schemas.microsoft.com/office/drawing/2014/main" val="10001"/>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8</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刘丽</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9902</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extLst>
                  <a:ext uri="{0D108BD9-81ED-4DB2-BD59-A6C34878D82A}">
                    <a16:rowId xmlns:a16="http://schemas.microsoft.com/office/drawing/2014/main" val="10002"/>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34</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李英</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extLst>
                  <a:ext uri="{0D108BD9-81ED-4DB2-BD59-A6C34878D82A}">
                    <a16:rowId xmlns:a16="http://schemas.microsoft.com/office/drawing/2014/main" val="10003"/>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20</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陈华</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extLst>
                  <a:ext uri="{0D108BD9-81ED-4DB2-BD59-A6C34878D82A}">
                    <a16:rowId xmlns:a16="http://schemas.microsoft.com/office/drawing/2014/main" val="10004"/>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12</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a:ln>
                            <a:noFill/>
                          </a:ln>
                          <a:solidFill>
                            <a:srgbClr val="0000FF"/>
                          </a:solidFill>
                          <a:effectLst/>
                          <a:latin typeface="Consolas" pitchFamily="49" charset="0"/>
                          <a:ea typeface="仿宋" pitchFamily="49" charset="-122"/>
                          <a:cs typeface="Consolas" pitchFamily="49" charset="0"/>
                        </a:rPr>
                        <a:t>王奇</a:t>
                      </a:r>
                      <a:endParaRPr kumimoji="0" lang="zh-CN" altLang="en-US"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extLst>
                  <a:ext uri="{0D108BD9-81ED-4DB2-BD59-A6C34878D82A}">
                    <a16:rowId xmlns:a16="http://schemas.microsoft.com/office/drawing/2014/main" val="10005"/>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26</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a:ln>
                            <a:noFill/>
                          </a:ln>
                          <a:solidFill>
                            <a:srgbClr val="0000FF"/>
                          </a:solidFill>
                          <a:effectLst/>
                          <a:latin typeface="Consolas" pitchFamily="49" charset="0"/>
                          <a:ea typeface="仿宋" pitchFamily="49" charset="-122"/>
                          <a:cs typeface="Consolas" pitchFamily="49" charset="0"/>
                        </a:rPr>
                        <a:t>董强</a:t>
                      </a:r>
                      <a:endParaRPr kumimoji="0" lang="zh-CN" altLang="en-US"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extLst>
                  <a:ext uri="{0D108BD9-81ED-4DB2-BD59-A6C34878D82A}">
                    <a16:rowId xmlns:a16="http://schemas.microsoft.com/office/drawing/2014/main" val="10006"/>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a:ln>
                            <a:noFill/>
                          </a:ln>
                          <a:solidFill>
                            <a:srgbClr val="0000FF"/>
                          </a:solidFill>
                          <a:effectLst/>
                          <a:latin typeface="Consolas" pitchFamily="49" charset="0"/>
                          <a:ea typeface="仿宋" pitchFamily="49" charset="-122"/>
                          <a:cs typeface="Consolas" pitchFamily="49" charset="0"/>
                        </a:rPr>
                        <a:t>王萍</a:t>
                      </a:r>
                      <a:endParaRPr kumimoji="0" lang="zh-CN" altLang="en-US"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tc>
                <a:extLst>
                  <a:ext uri="{0D108BD9-81ED-4DB2-BD59-A6C34878D82A}">
                    <a16:rowId xmlns:a16="http://schemas.microsoft.com/office/drawing/2014/main" val="10007"/>
                  </a:ext>
                </a:extLst>
              </a:tr>
            </a:tbl>
          </a:graphicData>
        </a:graphic>
      </p:graphicFrame>
      <p:sp>
        <p:nvSpPr>
          <p:cNvPr id="5" name="TextBox 5">
            <a:extLst>
              <a:ext uri="{FF2B5EF4-FFF2-40B4-BE49-F238E27FC236}">
                <a16:creationId xmlns:a16="http://schemas.microsoft.com/office/drawing/2014/main" id="{43B87B99-5754-4FCC-BD55-659BC04EDE0B}"/>
              </a:ext>
            </a:extLst>
          </p:cNvPr>
          <p:cNvSpPr txBox="1"/>
          <p:nvPr/>
        </p:nvSpPr>
        <p:spPr>
          <a:xfrm>
            <a:off x="3126709" y="1144544"/>
            <a:ext cx="2071702" cy="525657"/>
          </a:xfrm>
          <a:prstGeom prst="rect">
            <a:avLst/>
          </a:prstGeom>
          <a:noFill/>
        </p:spPr>
        <p:txBody>
          <a:bodyPr wrap="square" rtlCol="0">
            <a:spAutoFit/>
          </a:bodyPr>
          <a:lstStyle/>
          <a:p>
            <a:pPr algn="ctr">
              <a:lnSpc>
                <a:spcPct val="130000"/>
              </a:lnSpc>
            </a:pPr>
            <a:r>
              <a:rPr lang="zh-CN" altLang="en-US" b="1" dirty="0">
                <a:solidFill>
                  <a:srgbClr val="0000FF"/>
                </a:solidFill>
                <a:latin typeface="方正兰亭超细黑简体" pitchFamily="2" charset="-122"/>
                <a:ea typeface="方正兰亭超细黑简体" pitchFamily="2" charset="-122"/>
                <a:cs typeface="Times New Roman" pitchFamily="18" charset="0"/>
              </a:rPr>
              <a:t>一个学生表</a:t>
            </a:r>
          </a:p>
        </p:txBody>
      </p:sp>
      <p:grpSp>
        <p:nvGrpSpPr>
          <p:cNvPr id="6" name="组合 5">
            <a:extLst>
              <a:ext uri="{FF2B5EF4-FFF2-40B4-BE49-F238E27FC236}">
                <a16:creationId xmlns:a16="http://schemas.microsoft.com/office/drawing/2014/main" id="{3E6499CD-7FE8-48D5-9728-EC825B02CE77}"/>
              </a:ext>
            </a:extLst>
          </p:cNvPr>
          <p:cNvGrpSpPr/>
          <p:nvPr/>
        </p:nvGrpSpPr>
        <p:grpSpPr>
          <a:xfrm>
            <a:off x="1340792" y="1001668"/>
            <a:ext cx="1000100" cy="785817"/>
            <a:chOff x="5691204" y="3835411"/>
            <a:chExt cx="1238250" cy="1236663"/>
          </a:xfrm>
        </p:grpSpPr>
        <p:grpSp>
          <p:nvGrpSpPr>
            <p:cNvPr id="7" name="Group 19">
              <a:extLst>
                <a:ext uri="{FF2B5EF4-FFF2-40B4-BE49-F238E27FC236}">
                  <a16:creationId xmlns:a16="http://schemas.microsoft.com/office/drawing/2014/main" id="{2194FA25-3E45-481C-B5EC-52ACC236A9C8}"/>
                </a:ext>
              </a:extLst>
            </p:cNvPr>
            <p:cNvGrpSpPr>
              <a:grpSpLocks/>
            </p:cNvGrpSpPr>
            <p:nvPr/>
          </p:nvGrpSpPr>
          <p:grpSpPr bwMode="auto">
            <a:xfrm>
              <a:off x="5691204" y="3835411"/>
              <a:ext cx="1238250" cy="1236663"/>
              <a:chOff x="802" y="845"/>
              <a:chExt cx="827" cy="826"/>
            </a:xfrm>
          </p:grpSpPr>
          <p:sp>
            <p:nvSpPr>
              <p:cNvPr id="9" name="Oval 20">
                <a:extLst>
                  <a:ext uri="{FF2B5EF4-FFF2-40B4-BE49-F238E27FC236}">
                    <a16:creationId xmlns:a16="http://schemas.microsoft.com/office/drawing/2014/main" id="{F6C56EF0-2897-498C-BFC5-5E6C58E3DECA}"/>
                  </a:ext>
                </a:extLst>
              </p:cNvPr>
              <p:cNvSpPr>
                <a:spLocks noChangeArrowheads="1"/>
              </p:cNvSpPr>
              <p:nvPr/>
            </p:nvSpPr>
            <p:spPr bwMode="gray">
              <a:xfrm>
                <a:off x="802" y="845"/>
                <a:ext cx="827" cy="826"/>
              </a:xfrm>
              <a:prstGeom prst="ellipse">
                <a:avLst/>
              </a:prstGeom>
              <a:solidFill>
                <a:srgbClr val="F8F8F8"/>
              </a:solidFill>
              <a:ln w="38100">
                <a:solidFill>
                  <a:schemeClr val="hlink"/>
                </a:solidFill>
                <a:round/>
                <a:headEnd/>
                <a:tailEnd/>
              </a:ln>
            </p:spPr>
            <p:txBody>
              <a:bodyPr wrap="none" anchor="ctr"/>
              <a:lstStyle/>
              <a:p>
                <a:endParaRPr lang="zh-CN" altLang="zh-CN">
                  <a:latin typeface="Calibri" pitchFamily="34" charset="0"/>
                  <a:cs typeface="Arial" pitchFamily="34" charset="0"/>
                </a:endParaRPr>
              </a:p>
            </p:txBody>
          </p:sp>
          <p:sp>
            <p:nvSpPr>
              <p:cNvPr id="10" name="Oval 21">
                <a:extLst>
                  <a:ext uri="{FF2B5EF4-FFF2-40B4-BE49-F238E27FC236}">
                    <a16:creationId xmlns:a16="http://schemas.microsoft.com/office/drawing/2014/main" id="{D559FD23-C805-4596-B117-7E8A9875A414}"/>
                  </a:ext>
                </a:extLst>
              </p:cNvPr>
              <p:cNvSpPr>
                <a:spLocks noChangeArrowheads="1"/>
              </p:cNvSpPr>
              <p:nvPr/>
            </p:nvSpPr>
            <p:spPr bwMode="gray">
              <a:xfrm>
                <a:off x="836" y="879"/>
                <a:ext cx="758" cy="758"/>
              </a:xfrm>
              <a:prstGeom prst="ellipse">
                <a:avLst/>
              </a:prstGeom>
              <a:noFill/>
              <a:ln w="38100">
                <a:solidFill>
                  <a:schemeClr val="hlink">
                    <a:alpha val="70195"/>
                  </a:schemeClr>
                </a:solidFill>
                <a:round/>
                <a:headEnd/>
                <a:tailEnd/>
              </a:ln>
            </p:spPr>
            <p:txBody>
              <a:bodyPr wrap="none" anchor="ctr"/>
              <a:lstStyle/>
              <a:p>
                <a:endParaRPr lang="zh-CN" altLang="zh-CN">
                  <a:latin typeface="Calibri" pitchFamily="34" charset="0"/>
                  <a:cs typeface="Arial" pitchFamily="34" charset="0"/>
                </a:endParaRPr>
              </a:p>
            </p:txBody>
          </p:sp>
          <p:sp>
            <p:nvSpPr>
              <p:cNvPr id="11" name="Oval 22">
                <a:extLst>
                  <a:ext uri="{FF2B5EF4-FFF2-40B4-BE49-F238E27FC236}">
                    <a16:creationId xmlns:a16="http://schemas.microsoft.com/office/drawing/2014/main" id="{FB43E34B-4FB5-4896-859A-38060F6D771E}"/>
                  </a:ext>
                </a:extLst>
              </p:cNvPr>
              <p:cNvSpPr>
                <a:spLocks noChangeArrowheads="1"/>
              </p:cNvSpPr>
              <p:nvPr/>
            </p:nvSpPr>
            <p:spPr bwMode="gray">
              <a:xfrm>
                <a:off x="870" y="915"/>
                <a:ext cx="690" cy="690"/>
              </a:xfrm>
              <a:prstGeom prst="ellipse">
                <a:avLst/>
              </a:prstGeom>
              <a:noFill/>
              <a:ln w="38100">
                <a:solidFill>
                  <a:schemeClr val="hlink">
                    <a:alpha val="30196"/>
                  </a:schemeClr>
                </a:solidFill>
                <a:round/>
                <a:headEnd/>
                <a:tailEnd/>
              </a:ln>
            </p:spPr>
            <p:txBody>
              <a:bodyPr wrap="none" anchor="ctr"/>
              <a:lstStyle/>
              <a:p>
                <a:endParaRPr lang="zh-CN" altLang="zh-CN">
                  <a:latin typeface="Calibri" pitchFamily="34" charset="0"/>
                  <a:cs typeface="Arial" pitchFamily="34" charset="0"/>
                </a:endParaRPr>
              </a:p>
            </p:txBody>
          </p:sp>
        </p:grpSp>
        <p:sp>
          <p:nvSpPr>
            <p:cNvPr id="8" name="Text Box 23">
              <a:extLst>
                <a:ext uri="{FF2B5EF4-FFF2-40B4-BE49-F238E27FC236}">
                  <a16:creationId xmlns:a16="http://schemas.microsoft.com/office/drawing/2014/main" id="{5DB7B4CC-8A52-4A5D-9BEA-9DD7DE477C20}"/>
                </a:ext>
              </a:extLst>
            </p:cNvPr>
            <p:cNvSpPr txBox="1">
              <a:spLocks noChangeArrowheads="1"/>
            </p:cNvSpPr>
            <p:nvPr/>
          </p:nvSpPr>
          <p:spPr bwMode="gray">
            <a:xfrm>
              <a:off x="5762641" y="4214818"/>
              <a:ext cx="1082674" cy="557010"/>
            </a:xfrm>
            <a:prstGeom prst="rect">
              <a:avLst/>
            </a:prstGeom>
            <a:noFill/>
            <a:ln w="9525" algn="ctr">
              <a:noFill/>
              <a:miter lim="800000"/>
              <a:headEnd/>
              <a:tailEnd/>
            </a:ln>
          </p:spPr>
          <p:txBody>
            <a:bodyPr>
              <a:spAutoFit/>
            </a:bodyPr>
            <a:lstStyle/>
            <a:p>
              <a:pPr algn="ctr">
                <a:spcBef>
                  <a:spcPct val="50000"/>
                </a:spcBef>
              </a:pPr>
              <a:r>
                <a:rPr lang="zh-CN" altLang="en-US" sz="2000" b="1" dirty="0">
                  <a:solidFill>
                    <a:srgbClr val="FF0000"/>
                  </a:solidFill>
                  <a:latin typeface="方正启体简体" pitchFamily="65" charset="-122"/>
                  <a:ea typeface="方正启体简体" pitchFamily="65" charset="-122"/>
                  <a:cs typeface="Consolas" pitchFamily="49" charset="0"/>
                </a:rPr>
                <a:t>示例</a:t>
              </a:r>
            </a:p>
          </p:txBody>
        </p:sp>
      </p:grpSp>
      <p:sp>
        <p:nvSpPr>
          <p:cNvPr id="12" name="椭圆 11">
            <a:extLst>
              <a:ext uri="{FF2B5EF4-FFF2-40B4-BE49-F238E27FC236}">
                <a16:creationId xmlns:a16="http://schemas.microsoft.com/office/drawing/2014/main" id="{293AD70E-B5F0-4183-8199-384DBFBAEEEC}"/>
              </a:ext>
            </a:extLst>
          </p:cNvPr>
          <p:cNvSpPr/>
          <p:nvPr/>
        </p:nvSpPr>
        <p:spPr>
          <a:xfrm>
            <a:off x="2298567" y="3613422"/>
            <a:ext cx="4243280" cy="50405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11E40548-4041-4312-9B87-0F4C6C127DED}"/>
              </a:ext>
            </a:extLst>
          </p:cNvPr>
          <p:cNvSpPr/>
          <p:nvPr/>
        </p:nvSpPr>
        <p:spPr>
          <a:xfrm>
            <a:off x="6652877" y="3664786"/>
            <a:ext cx="1268296" cy="401328"/>
          </a:xfrm>
          <a:prstGeom prst="rect">
            <a:avLst/>
          </a:prstGeom>
        </p:spPr>
        <p:txBody>
          <a:bodyPr wrap="none">
            <a:spAutoFit/>
          </a:bodyPr>
          <a:lstStyle/>
          <a:p>
            <a:pPr>
              <a:lnSpc>
                <a:spcPct val="130000"/>
              </a:lnSpc>
            </a:pPr>
            <a:r>
              <a:rPr lang="zh-CN" altLang="en-US" b="1" spc="300" dirty="0">
                <a:solidFill>
                  <a:srgbClr val="FF0000"/>
                </a:solidFill>
                <a:latin typeface="仿宋" pitchFamily="49" charset="-122"/>
                <a:ea typeface="仿宋" pitchFamily="49" charset="-122"/>
                <a:cs typeface="Times New Roman" pitchFamily="18" charset="0"/>
              </a:rPr>
              <a:t>数据元素</a:t>
            </a:r>
          </a:p>
        </p:txBody>
      </p:sp>
      <p:sp>
        <p:nvSpPr>
          <p:cNvPr id="17" name="矩形 16">
            <a:extLst>
              <a:ext uri="{FF2B5EF4-FFF2-40B4-BE49-F238E27FC236}">
                <a16:creationId xmlns:a16="http://schemas.microsoft.com/office/drawing/2014/main" id="{80A5D5E0-4CD1-4C03-9337-810736F05A6D}"/>
              </a:ext>
            </a:extLst>
          </p:cNvPr>
          <p:cNvSpPr/>
          <p:nvPr/>
        </p:nvSpPr>
        <p:spPr>
          <a:xfrm>
            <a:off x="6541847" y="1740210"/>
            <a:ext cx="1887658" cy="761427"/>
          </a:xfrm>
          <a:prstGeom prst="rect">
            <a:avLst/>
          </a:prstGeom>
        </p:spPr>
        <p:txBody>
          <a:bodyPr wrap="square">
            <a:spAutoFit/>
          </a:bodyPr>
          <a:lstStyle/>
          <a:p>
            <a:pPr>
              <a:lnSpc>
                <a:spcPct val="130000"/>
              </a:lnSpc>
            </a:pPr>
            <a:r>
              <a:rPr lang="zh-CN" altLang="en-US" b="1" spc="300" dirty="0">
                <a:solidFill>
                  <a:srgbClr val="FF0000"/>
                </a:solidFill>
                <a:latin typeface="仿宋" pitchFamily="49" charset="-122"/>
                <a:ea typeface="仿宋" pitchFamily="49" charset="-122"/>
                <a:cs typeface="Times New Roman" pitchFamily="18" charset="0"/>
              </a:rPr>
              <a:t>数据项</a:t>
            </a:r>
            <a:r>
              <a:rPr lang="zh-CN" altLang="en-US" b="1" spc="300" dirty="0">
                <a:latin typeface="仿宋" pitchFamily="49" charset="-122"/>
                <a:ea typeface="仿宋" pitchFamily="49" charset="-122"/>
                <a:cs typeface="Times New Roman" pitchFamily="18" charset="0"/>
              </a:rPr>
              <a:t>（用于描述数据元素）</a:t>
            </a:r>
          </a:p>
        </p:txBody>
      </p:sp>
    </p:spTree>
    <p:extLst>
      <p:ext uri="{BB962C8B-B14F-4D97-AF65-F5344CB8AC3E}">
        <p14:creationId xmlns:p14="http://schemas.microsoft.com/office/powerpoint/2010/main" val="3673520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683568" y="692696"/>
            <a:ext cx="8280920" cy="5616624"/>
          </a:xfrm>
        </p:spPr>
        <p:txBody>
          <a:bodyPr>
            <a:noAutofit/>
          </a:bodyPr>
          <a:lstStyle/>
          <a:p>
            <a:pPr>
              <a:spcAft>
                <a:spcPts val="600"/>
              </a:spcAft>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数据对象</a:t>
            </a:r>
            <a:r>
              <a:rPr lang="en-US" altLang="zh-CN"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(data object)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：指</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性质相同的数据元素的集合</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如：自然数的数据对象是集合</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N={0,1,2,3,…}</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        字符数据对象是集合</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Letter={A,B,C,…,</a:t>
            </a:r>
            <a:r>
              <a:rPr lang="en-US" altLang="zh-CN" sz="2400" b="0" dirty="0" err="1">
                <a:latin typeface="Times New Roman" panose="02020603050405020304" pitchFamily="18" charset="0"/>
                <a:ea typeface="楷体" panose="02010609060101010101" pitchFamily="49" charset="-122"/>
                <a:cs typeface="Times New Roman" panose="02020603050405020304" pitchFamily="18" charset="0"/>
              </a:rPr>
              <a:t>Z,a,b</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,…z}</a:t>
            </a:r>
          </a:p>
          <a:p>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        学生数据对象是集合</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S={Student1,Student2,Student3...}</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0"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b="0" dirty="0"/>
          </a:p>
        </p:txBody>
      </p:sp>
      <p:pic>
        <p:nvPicPr>
          <p:cNvPr id="2" name="图片 1">
            <a:extLst>
              <a:ext uri="{FF2B5EF4-FFF2-40B4-BE49-F238E27FC236}">
                <a16:creationId xmlns:a16="http://schemas.microsoft.com/office/drawing/2014/main" id="{71B24B39-C15A-4E6A-BEFD-192766B7ED2F}"/>
              </a:ext>
            </a:extLst>
          </p:cNvPr>
          <p:cNvPicPr>
            <a:picLocks noChangeAspect="1"/>
          </p:cNvPicPr>
          <p:nvPr/>
        </p:nvPicPr>
        <p:blipFill>
          <a:blip r:embed="rId2"/>
          <a:stretch>
            <a:fillRect/>
          </a:stretch>
        </p:blipFill>
        <p:spPr>
          <a:xfrm>
            <a:off x="1475656" y="2933603"/>
            <a:ext cx="6398477" cy="3375717"/>
          </a:xfrm>
          <a:prstGeom prst="rect">
            <a:avLst/>
          </a:prstGeom>
        </p:spPr>
      </p:pic>
    </p:spTree>
    <p:extLst>
      <p:ext uri="{BB962C8B-B14F-4D97-AF65-F5344CB8AC3E}">
        <p14:creationId xmlns:p14="http://schemas.microsoft.com/office/powerpoint/2010/main" val="3486854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827584" y="836712"/>
            <a:ext cx="7560840" cy="5184576"/>
          </a:xfrm>
        </p:spPr>
        <p:txBody>
          <a:bodyPr>
            <a:normAutofit/>
          </a:bodyPr>
          <a:lstStyle/>
          <a:p>
            <a:pPr>
              <a:lnSpc>
                <a:spcPct val="150000"/>
              </a:lnSpc>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4</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数据结构</a:t>
            </a:r>
            <a:r>
              <a:rPr lang="en-US" altLang="zh-CN"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(Data Structure</a:t>
            </a:r>
            <a:r>
              <a:rPr lang="zh-CN" altLang="en-US"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：是</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研究数据及数据之间关系的一门学科，是指带结构的数据元素的集合。</a:t>
            </a:r>
          </a:p>
        </p:txBody>
      </p:sp>
      <p:sp>
        <p:nvSpPr>
          <p:cNvPr id="5" name="Text Box 2">
            <a:extLst>
              <a:ext uri="{FF2B5EF4-FFF2-40B4-BE49-F238E27FC236}">
                <a16:creationId xmlns:a16="http://schemas.microsoft.com/office/drawing/2014/main" id="{FEEF49EA-608B-4442-9294-B2099663EC49}"/>
              </a:ext>
            </a:extLst>
          </p:cNvPr>
          <p:cNvSpPr txBox="1">
            <a:spLocks noChangeArrowheads="1"/>
          </p:cNvSpPr>
          <p:nvPr/>
        </p:nvSpPr>
        <p:spPr bwMode="auto">
          <a:xfrm>
            <a:off x="1726829" y="2192214"/>
            <a:ext cx="5214974" cy="384696"/>
          </a:xfrm>
          <a:prstGeom prst="rect">
            <a:avLst/>
          </a:prstGeom>
          <a:noFill/>
          <a:ln w="57150" algn="ctr">
            <a:noFill/>
            <a:miter lim="800000"/>
            <a:headEnd/>
            <a:tailEnd type="none" w="lg" len="lg"/>
          </a:ln>
          <a:effectLst/>
        </p:spPr>
        <p:txBody>
          <a:bodyPr wrap="square" tIns="76176" bIns="0">
            <a:spAutoFit/>
          </a:bodyPr>
          <a:lstStyle/>
          <a:p>
            <a:pPr marL="457200" indent="-457200" algn="l"/>
            <a:r>
              <a:rPr lang="zh-CN" altLang="en-US" sz="2000" b="1" dirty="0">
                <a:solidFill>
                  <a:srgbClr val="0000FF"/>
                </a:solidFill>
                <a:latin typeface="微软雅黑" pitchFamily="34" charset="-122"/>
                <a:ea typeface="微软雅黑" pitchFamily="34" charset="-122"/>
                <a:cs typeface="Times New Roman" pitchFamily="18" charset="0"/>
              </a:rPr>
              <a:t>数据结构    </a:t>
            </a:r>
            <a:r>
              <a:rPr lang="zh-CN" altLang="en-US" sz="2000" b="1" dirty="0">
                <a:solidFill>
                  <a:srgbClr val="3333CC"/>
                </a:solidFill>
                <a:latin typeface="Times New Roman" pitchFamily="18" charset="0"/>
                <a:ea typeface="楷体" pitchFamily="49" charset="-122"/>
                <a:cs typeface="Times New Roman" pitchFamily="18" charset="0"/>
              </a:rPr>
              <a:t>＝     </a:t>
            </a:r>
            <a:r>
              <a:rPr lang="zh-CN" altLang="en-US" sz="2000" b="1" dirty="0">
                <a:solidFill>
                  <a:srgbClr val="C00000"/>
                </a:solidFill>
                <a:latin typeface="Times New Roman" pitchFamily="18" charset="0"/>
                <a:ea typeface="楷体" pitchFamily="49" charset="-122"/>
                <a:cs typeface="Times New Roman" pitchFamily="18" charset="0"/>
              </a:rPr>
              <a:t>数据对象        </a:t>
            </a:r>
            <a:r>
              <a:rPr lang="zh-CN" altLang="en-US" sz="2000" b="1" dirty="0">
                <a:solidFill>
                  <a:srgbClr val="0000FF"/>
                </a:solidFill>
                <a:latin typeface="Consolas" pitchFamily="49" charset="0"/>
                <a:ea typeface="楷体" pitchFamily="49" charset="-122"/>
                <a:cs typeface="Consolas" pitchFamily="49" charset="0"/>
              </a:rPr>
              <a:t>＋   </a:t>
            </a:r>
            <a:r>
              <a:rPr lang="zh-CN" altLang="en-US" sz="2000" b="1" dirty="0">
                <a:solidFill>
                  <a:srgbClr val="3333CC"/>
                </a:solidFill>
                <a:latin typeface="Times New Roman" pitchFamily="18" charset="0"/>
                <a:ea typeface="楷体" pitchFamily="49" charset="-122"/>
                <a:cs typeface="Times New Roman" pitchFamily="18" charset="0"/>
              </a:rPr>
              <a:t> </a:t>
            </a:r>
            <a:r>
              <a:rPr lang="zh-CN" altLang="en-US" sz="2000" b="1" dirty="0">
                <a:solidFill>
                  <a:srgbClr val="C00000"/>
                </a:solidFill>
                <a:latin typeface="Times New Roman" pitchFamily="18" charset="0"/>
                <a:ea typeface="楷体" pitchFamily="49" charset="-122"/>
                <a:cs typeface="Times New Roman" pitchFamily="18" charset="0"/>
              </a:rPr>
              <a:t>结构</a:t>
            </a:r>
          </a:p>
        </p:txBody>
      </p:sp>
      <p:sp>
        <p:nvSpPr>
          <p:cNvPr id="6" name="Line 3">
            <a:extLst>
              <a:ext uri="{FF2B5EF4-FFF2-40B4-BE49-F238E27FC236}">
                <a16:creationId xmlns:a16="http://schemas.microsoft.com/office/drawing/2014/main" id="{F0953DA8-6C07-4DD1-A1EE-F94F9659BDC3}"/>
              </a:ext>
            </a:extLst>
          </p:cNvPr>
          <p:cNvSpPr>
            <a:spLocks noChangeShapeType="1"/>
          </p:cNvSpPr>
          <p:nvPr/>
        </p:nvSpPr>
        <p:spPr bwMode="auto">
          <a:xfrm flipV="1">
            <a:off x="4191440" y="2683511"/>
            <a:ext cx="0" cy="577851"/>
          </a:xfrm>
          <a:prstGeom prst="line">
            <a:avLst/>
          </a:prstGeom>
          <a:noFill/>
          <a:ln w="38100">
            <a:solidFill>
              <a:srgbClr val="339933"/>
            </a:solidFill>
            <a:round/>
            <a:headEnd/>
            <a:tailEnd type="stealth" w="lg" len="lg"/>
          </a:ln>
          <a:effectLst/>
        </p:spPr>
        <p:txBody>
          <a:bodyPr wrap="none" tIns="76176" bIns="0" anchor="ctr">
            <a:spAutoFit/>
          </a:bodyPr>
          <a:lstStyle/>
          <a:p>
            <a:endParaRPr lang="zh-CN" altLang="en-US" sz="2800"/>
          </a:p>
        </p:txBody>
      </p:sp>
      <p:sp>
        <p:nvSpPr>
          <p:cNvPr id="7" name="Line 4">
            <a:extLst>
              <a:ext uri="{FF2B5EF4-FFF2-40B4-BE49-F238E27FC236}">
                <a16:creationId xmlns:a16="http://schemas.microsoft.com/office/drawing/2014/main" id="{6947D47E-FE4B-4642-BCCA-304F48D24470}"/>
              </a:ext>
            </a:extLst>
          </p:cNvPr>
          <p:cNvSpPr>
            <a:spLocks noChangeShapeType="1"/>
          </p:cNvSpPr>
          <p:nvPr/>
        </p:nvSpPr>
        <p:spPr bwMode="auto">
          <a:xfrm flipV="1">
            <a:off x="6263142" y="2627715"/>
            <a:ext cx="0" cy="577851"/>
          </a:xfrm>
          <a:prstGeom prst="line">
            <a:avLst/>
          </a:prstGeom>
          <a:noFill/>
          <a:ln w="38100">
            <a:solidFill>
              <a:srgbClr val="339933"/>
            </a:solidFill>
            <a:round/>
            <a:headEnd/>
            <a:tailEnd type="stealth" w="lg" len="lg"/>
          </a:ln>
          <a:effectLst/>
        </p:spPr>
        <p:txBody>
          <a:bodyPr wrap="none" tIns="76176" bIns="0" anchor="ctr">
            <a:spAutoFit/>
          </a:bodyPr>
          <a:lstStyle/>
          <a:p>
            <a:endParaRPr lang="zh-CN" altLang="en-US" sz="2800"/>
          </a:p>
        </p:txBody>
      </p:sp>
      <p:sp>
        <p:nvSpPr>
          <p:cNvPr id="8" name="TextBox 9">
            <a:extLst>
              <a:ext uri="{FF2B5EF4-FFF2-40B4-BE49-F238E27FC236}">
                <a16:creationId xmlns:a16="http://schemas.microsoft.com/office/drawing/2014/main" id="{4FBEE33E-5E06-4657-9E5C-7ADC0C77092A}"/>
              </a:ext>
            </a:extLst>
          </p:cNvPr>
          <p:cNvSpPr txBox="1"/>
          <p:nvPr/>
        </p:nvSpPr>
        <p:spPr>
          <a:xfrm>
            <a:off x="5368762" y="3205566"/>
            <a:ext cx="2415668" cy="984500"/>
          </a:xfrm>
          <a:prstGeom prst="rect">
            <a:avLst/>
          </a:prstGeom>
          <a:noFill/>
        </p:spPr>
        <p:txBody>
          <a:bodyPr wrap="square" rtlCol="0">
            <a:spAutoFit/>
          </a:bodyPr>
          <a:lstStyle/>
          <a:p>
            <a:pPr algn="ctr">
              <a:lnSpc>
                <a:spcPct val="130000"/>
              </a:lnSpc>
            </a:pPr>
            <a:r>
              <a:rPr lang="zh-CN" altLang="en-US" b="1" dirty="0">
                <a:solidFill>
                  <a:srgbClr val="0000FF"/>
                </a:solidFill>
                <a:latin typeface="仿宋" pitchFamily="49" charset="-122"/>
                <a:ea typeface="仿宋" pitchFamily="49" charset="-122"/>
                <a:cs typeface="Times New Roman" pitchFamily="18" charset="0"/>
              </a:rPr>
              <a:t>数据元素之间的关系构成结构</a:t>
            </a:r>
          </a:p>
        </p:txBody>
      </p:sp>
      <p:sp>
        <p:nvSpPr>
          <p:cNvPr id="9" name="TextBox 10">
            <a:extLst>
              <a:ext uri="{FF2B5EF4-FFF2-40B4-BE49-F238E27FC236}">
                <a16:creationId xmlns:a16="http://schemas.microsoft.com/office/drawing/2014/main" id="{735C72E5-B37A-44AD-B6EC-317A15C4B5DD}"/>
              </a:ext>
            </a:extLst>
          </p:cNvPr>
          <p:cNvSpPr txBox="1"/>
          <p:nvPr/>
        </p:nvSpPr>
        <p:spPr>
          <a:xfrm>
            <a:off x="2887886" y="3205566"/>
            <a:ext cx="2089372" cy="984500"/>
          </a:xfrm>
          <a:prstGeom prst="rect">
            <a:avLst/>
          </a:prstGeom>
          <a:noFill/>
        </p:spPr>
        <p:txBody>
          <a:bodyPr wrap="square" rtlCol="0">
            <a:spAutoFit/>
          </a:bodyPr>
          <a:lstStyle/>
          <a:p>
            <a:pPr>
              <a:lnSpc>
                <a:spcPct val="130000"/>
              </a:lnSpc>
            </a:pPr>
            <a:r>
              <a:rPr lang="zh-CN" altLang="en-US" b="1" dirty="0">
                <a:solidFill>
                  <a:srgbClr val="0000FF"/>
                </a:solidFill>
                <a:latin typeface="仿宋" pitchFamily="49" charset="-122"/>
                <a:ea typeface="仿宋" pitchFamily="49" charset="-122"/>
                <a:cs typeface="Times New Roman" pitchFamily="18" charset="0"/>
              </a:rPr>
              <a:t>相同性质的数据元素的集合</a:t>
            </a:r>
          </a:p>
        </p:txBody>
      </p:sp>
      <p:sp>
        <p:nvSpPr>
          <p:cNvPr id="10" name="椭圆 9">
            <a:extLst>
              <a:ext uri="{FF2B5EF4-FFF2-40B4-BE49-F238E27FC236}">
                <a16:creationId xmlns:a16="http://schemas.microsoft.com/office/drawing/2014/main" id="{E907BF71-3CF7-4A9C-BFAE-624EC0ECBD35}"/>
              </a:ext>
            </a:extLst>
          </p:cNvPr>
          <p:cNvSpPr/>
          <p:nvPr/>
        </p:nvSpPr>
        <p:spPr>
          <a:xfrm>
            <a:off x="4334316" y="4634326"/>
            <a:ext cx="180000" cy="1800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DE24D33B-B6BE-4487-A864-85D4FCEA754B}"/>
              </a:ext>
            </a:extLst>
          </p:cNvPr>
          <p:cNvSpPr/>
          <p:nvPr/>
        </p:nvSpPr>
        <p:spPr>
          <a:xfrm>
            <a:off x="3762812" y="4634326"/>
            <a:ext cx="180000" cy="1800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9B1A71CC-65F7-4FF1-A4FF-E2D39288FF4D}"/>
              </a:ext>
            </a:extLst>
          </p:cNvPr>
          <p:cNvSpPr/>
          <p:nvPr/>
        </p:nvSpPr>
        <p:spPr>
          <a:xfrm>
            <a:off x="4048564" y="5041756"/>
            <a:ext cx="180000" cy="1800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86FCE967-5F5B-4944-B230-149367A50F00}"/>
              </a:ext>
            </a:extLst>
          </p:cNvPr>
          <p:cNvSpPr/>
          <p:nvPr/>
        </p:nvSpPr>
        <p:spPr>
          <a:xfrm>
            <a:off x="4334316" y="5383020"/>
            <a:ext cx="180000" cy="1800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F87CD8AC-0F7F-4F7E-90A6-8A5053F5A66D}"/>
              </a:ext>
            </a:extLst>
          </p:cNvPr>
          <p:cNvSpPr/>
          <p:nvPr/>
        </p:nvSpPr>
        <p:spPr>
          <a:xfrm>
            <a:off x="3762812" y="5383020"/>
            <a:ext cx="180000" cy="1800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AB95A652-2C24-4365-B440-257F477DFCBD}"/>
              </a:ext>
            </a:extLst>
          </p:cNvPr>
          <p:cNvSpPr/>
          <p:nvPr/>
        </p:nvSpPr>
        <p:spPr>
          <a:xfrm>
            <a:off x="6583208" y="4634326"/>
            <a:ext cx="180000" cy="1800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2B90F7B1-5918-458A-B3AE-F727394A0A71}"/>
              </a:ext>
            </a:extLst>
          </p:cNvPr>
          <p:cNvSpPr/>
          <p:nvPr/>
        </p:nvSpPr>
        <p:spPr>
          <a:xfrm>
            <a:off x="6011704" y="4634326"/>
            <a:ext cx="180000" cy="1800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A249E8-7656-41DA-BE44-FCC65164CF18}"/>
              </a:ext>
            </a:extLst>
          </p:cNvPr>
          <p:cNvSpPr/>
          <p:nvPr/>
        </p:nvSpPr>
        <p:spPr>
          <a:xfrm>
            <a:off x="6297456" y="5041756"/>
            <a:ext cx="180000" cy="1800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F5A2B874-8CA5-46C7-960B-109B1907B1F9}"/>
              </a:ext>
            </a:extLst>
          </p:cNvPr>
          <p:cNvSpPr/>
          <p:nvPr/>
        </p:nvSpPr>
        <p:spPr>
          <a:xfrm>
            <a:off x="6583208" y="5383020"/>
            <a:ext cx="180000" cy="1800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A20793D9-73D5-44B1-B7F6-2F5561F0540F}"/>
              </a:ext>
            </a:extLst>
          </p:cNvPr>
          <p:cNvSpPr/>
          <p:nvPr/>
        </p:nvSpPr>
        <p:spPr>
          <a:xfrm>
            <a:off x="6011704" y="5383020"/>
            <a:ext cx="180000" cy="1800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cxnSp>
        <p:nvCxnSpPr>
          <p:cNvPr id="20" name="直接连接符 19">
            <a:extLst>
              <a:ext uri="{FF2B5EF4-FFF2-40B4-BE49-F238E27FC236}">
                <a16:creationId xmlns:a16="http://schemas.microsoft.com/office/drawing/2014/main" id="{3DE203AD-32B2-4DDB-A943-1C0924C463FC}"/>
              </a:ext>
            </a:extLst>
          </p:cNvPr>
          <p:cNvCxnSpPr>
            <a:stCxn id="16" idx="5"/>
            <a:endCxn id="17" idx="1"/>
          </p:cNvCxnSpPr>
          <p:nvPr/>
        </p:nvCxnSpPr>
        <p:spPr>
          <a:xfrm rot="16200000" flipH="1">
            <a:off x="6104505" y="4848805"/>
            <a:ext cx="280150" cy="158472"/>
          </a:xfrm>
          <a:prstGeom prst="line">
            <a:avLst/>
          </a:prstGeom>
        </p:spPr>
        <p:style>
          <a:lnRef idx="1">
            <a:schemeClr val="accent2"/>
          </a:lnRef>
          <a:fillRef idx="0">
            <a:schemeClr val="accent2"/>
          </a:fillRef>
          <a:effectRef idx="0">
            <a:schemeClr val="accent2"/>
          </a:effectRef>
          <a:fontRef idx="minor">
            <a:schemeClr val="tx1"/>
          </a:fontRef>
        </p:style>
      </p:cxnSp>
      <p:cxnSp>
        <p:nvCxnSpPr>
          <p:cNvPr id="21" name="直接连接符 20">
            <a:extLst>
              <a:ext uri="{FF2B5EF4-FFF2-40B4-BE49-F238E27FC236}">
                <a16:creationId xmlns:a16="http://schemas.microsoft.com/office/drawing/2014/main" id="{46787E4F-C340-4974-B282-510B385552EE}"/>
              </a:ext>
            </a:extLst>
          </p:cNvPr>
          <p:cNvCxnSpPr>
            <a:stCxn id="19" idx="6"/>
            <a:endCxn id="18" idx="2"/>
          </p:cNvCxnSpPr>
          <p:nvPr/>
        </p:nvCxnSpPr>
        <p:spPr>
          <a:xfrm>
            <a:off x="6191704" y="5473020"/>
            <a:ext cx="391504"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22" name="直接连接符 21">
            <a:extLst>
              <a:ext uri="{FF2B5EF4-FFF2-40B4-BE49-F238E27FC236}">
                <a16:creationId xmlns:a16="http://schemas.microsoft.com/office/drawing/2014/main" id="{576DA2BC-9A59-427F-AAAF-AB203B173E20}"/>
              </a:ext>
            </a:extLst>
          </p:cNvPr>
          <p:cNvCxnSpPr>
            <a:stCxn id="15" idx="4"/>
            <a:endCxn id="18" idx="0"/>
          </p:cNvCxnSpPr>
          <p:nvPr/>
        </p:nvCxnSpPr>
        <p:spPr>
          <a:xfrm rot="5400000">
            <a:off x="6388861" y="5098673"/>
            <a:ext cx="568694"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96413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827584" y="836712"/>
            <a:ext cx="7560840" cy="5184576"/>
          </a:xfrm>
        </p:spPr>
        <p:txBody>
          <a:bodyPr>
            <a:normAutofit/>
          </a:bodyPr>
          <a:lstStyle/>
          <a:p>
            <a:pPr>
              <a:lnSpc>
                <a:spcPct val="150000"/>
              </a:lnSpc>
            </a:pPr>
            <a:r>
              <a:rPr lang="zh-CN" altLang="en-US"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数据结构</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的三个方面：</a:t>
            </a:r>
          </a:p>
          <a:p>
            <a:pPr algn="just">
              <a:lnSpc>
                <a:spcPct val="150000"/>
              </a:lnSpc>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①</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数据的逻辑结构</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(logic structure)</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，即依据实际情况描述数据元素之间的逻辑关系。</a:t>
            </a:r>
          </a:p>
          <a:p>
            <a:pPr algn="just">
              <a:lnSpc>
                <a:spcPct val="150000"/>
              </a:lnSpc>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②</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数据的存储结构</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(storage structure)</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或称物理结构</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(physical structure)</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，即数据在计算机中的表示和存储方式。</a:t>
            </a:r>
          </a:p>
          <a:p>
            <a:pPr algn="just">
              <a:lnSpc>
                <a:spcPct val="150000"/>
              </a:lnSpc>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③</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数据的操作</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(operation)</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（或运算）实现</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，即在相应数据结构存储下所提供的基本操作的算法实现。</a:t>
            </a:r>
          </a:p>
          <a:p>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5192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E9D2A7E6-8E3A-4841-B97B-767545B13182}"/>
              </a:ext>
            </a:extLst>
          </p:cNvPr>
          <p:cNvSpPr txBox="1"/>
          <p:nvPr/>
        </p:nvSpPr>
        <p:spPr>
          <a:xfrm>
            <a:off x="571472" y="857232"/>
            <a:ext cx="2928958" cy="400110"/>
          </a:xfrm>
          <a:prstGeom prst="rect">
            <a:avLst/>
          </a:prstGeom>
          <a:noFill/>
        </p:spPr>
        <p:txBody>
          <a:bodyPr wrap="square" rtlCol="0">
            <a:spAutoFit/>
          </a:bodyPr>
          <a:lstStyle/>
          <a:p>
            <a:pPr algn="l"/>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数据结构的视角：</a:t>
            </a:r>
          </a:p>
        </p:txBody>
      </p:sp>
      <p:sp>
        <p:nvSpPr>
          <p:cNvPr id="5" name="矩形 4">
            <a:extLst>
              <a:ext uri="{FF2B5EF4-FFF2-40B4-BE49-F238E27FC236}">
                <a16:creationId xmlns:a16="http://schemas.microsoft.com/office/drawing/2014/main" id="{2FCFFE87-DD9D-4C99-A505-4220972800F3}"/>
              </a:ext>
            </a:extLst>
          </p:cNvPr>
          <p:cNvSpPr/>
          <p:nvPr/>
        </p:nvSpPr>
        <p:spPr bwMode="auto">
          <a:xfrm>
            <a:off x="2643174" y="1928802"/>
            <a:ext cx="2928958" cy="571504"/>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ts val="3800"/>
              </a:lnSpc>
              <a:spcBef>
                <a:spcPct val="0"/>
              </a:spcBef>
              <a:spcAft>
                <a:spcPct val="0"/>
              </a:spcAft>
              <a:buClrTx/>
              <a:buSzTx/>
              <a:buFontTx/>
              <a:buNone/>
              <a:tabLst/>
            </a:pPr>
            <a:r>
              <a:rPr kumimoji="0" lang="zh-CN" altLang="en-US" sz="2000" b="1" i="0" u="none" strike="noStrike" cap="none" normalizeH="0" baseline="0" dirty="0">
                <a:ln>
                  <a:noFill/>
                </a:ln>
                <a:solidFill>
                  <a:srgbClr val="0000FF"/>
                </a:solidFill>
                <a:effectLst/>
                <a:latin typeface="楷体" panose="02010609060101010101" pitchFamily="49" charset="-122"/>
                <a:ea typeface="楷体" panose="02010609060101010101" pitchFamily="49" charset="-122"/>
              </a:rPr>
              <a:t>逻辑结构</a:t>
            </a:r>
            <a:r>
              <a:rPr kumimoji="0" lang="en-US" altLang="zh-CN" sz="2000" b="1" i="0" u="none" strike="noStrike" cap="none" normalizeH="0" baseline="0" dirty="0">
                <a:ln>
                  <a:noFill/>
                </a:ln>
                <a:solidFill>
                  <a:srgbClr val="0000FF"/>
                </a:solidFill>
                <a:effectLst/>
                <a:latin typeface="楷体" panose="02010609060101010101" pitchFamily="49" charset="-122"/>
                <a:ea typeface="楷体" panose="02010609060101010101" pitchFamily="49" charset="-122"/>
              </a:rPr>
              <a:t>+</a:t>
            </a:r>
            <a:r>
              <a:rPr kumimoji="0" lang="zh-CN" altLang="en-US" sz="2000" b="1" i="0" u="none" strike="noStrike" cap="none" normalizeH="0" baseline="0" dirty="0">
                <a:ln>
                  <a:noFill/>
                </a:ln>
                <a:solidFill>
                  <a:srgbClr val="0000FF"/>
                </a:solidFill>
                <a:effectLst/>
                <a:latin typeface="楷体" panose="02010609060101010101" pitchFamily="49" charset="-122"/>
                <a:ea typeface="楷体" panose="02010609060101010101" pitchFamily="49" charset="-122"/>
              </a:rPr>
              <a:t>运算定义</a:t>
            </a:r>
          </a:p>
        </p:txBody>
      </p:sp>
      <p:sp>
        <p:nvSpPr>
          <p:cNvPr id="6" name="矩形 5">
            <a:extLst>
              <a:ext uri="{FF2B5EF4-FFF2-40B4-BE49-F238E27FC236}">
                <a16:creationId xmlns:a16="http://schemas.microsoft.com/office/drawing/2014/main" id="{B45F1042-B699-4F77-A3F8-3731875599F2}"/>
              </a:ext>
            </a:extLst>
          </p:cNvPr>
          <p:cNvSpPr/>
          <p:nvPr/>
        </p:nvSpPr>
        <p:spPr bwMode="auto">
          <a:xfrm>
            <a:off x="2786050" y="2891356"/>
            <a:ext cx="2214578" cy="571504"/>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ts val="3800"/>
              </a:lnSpc>
              <a:spcBef>
                <a:spcPct val="0"/>
              </a:spcBef>
              <a:spcAft>
                <a:spcPct val="0"/>
              </a:spcAft>
              <a:buClrTx/>
              <a:buSzTx/>
              <a:buFontTx/>
              <a:buNone/>
              <a:tabLst/>
            </a:pPr>
            <a:r>
              <a:rPr lang="zh-CN" altLang="en-US" sz="2000" dirty="0">
                <a:solidFill>
                  <a:srgbClr val="0000FF"/>
                </a:solidFill>
                <a:latin typeface="楷体" panose="02010609060101010101" pitchFamily="49" charset="-122"/>
                <a:ea typeface="楷体" panose="02010609060101010101" pitchFamily="49" charset="-122"/>
              </a:rPr>
              <a:t>存储</a:t>
            </a:r>
            <a:r>
              <a:rPr kumimoji="0" lang="zh-CN" altLang="en-US" sz="2000" b="1" i="0" u="none" strike="noStrike" cap="none" normalizeH="0" baseline="0" dirty="0">
                <a:ln>
                  <a:noFill/>
                </a:ln>
                <a:solidFill>
                  <a:srgbClr val="0000FF"/>
                </a:solidFill>
                <a:effectLst/>
                <a:latin typeface="楷体" panose="02010609060101010101" pitchFamily="49" charset="-122"/>
                <a:ea typeface="楷体" panose="02010609060101010101" pitchFamily="49" charset="-122"/>
              </a:rPr>
              <a:t>结构</a:t>
            </a:r>
          </a:p>
        </p:txBody>
      </p:sp>
      <p:sp>
        <p:nvSpPr>
          <p:cNvPr id="7" name="矩形 6">
            <a:extLst>
              <a:ext uri="{FF2B5EF4-FFF2-40B4-BE49-F238E27FC236}">
                <a16:creationId xmlns:a16="http://schemas.microsoft.com/office/drawing/2014/main" id="{1FEC92FA-FD5A-44B6-9572-C71BA6332CB6}"/>
              </a:ext>
            </a:extLst>
          </p:cNvPr>
          <p:cNvSpPr/>
          <p:nvPr/>
        </p:nvSpPr>
        <p:spPr bwMode="auto">
          <a:xfrm>
            <a:off x="2786050" y="3857628"/>
            <a:ext cx="2286016" cy="571504"/>
          </a:xfrm>
          <a:prstGeom prst="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ts val="3800"/>
              </a:lnSpc>
              <a:spcBef>
                <a:spcPct val="0"/>
              </a:spcBef>
              <a:spcAft>
                <a:spcPct val="0"/>
              </a:spcAft>
              <a:buClrTx/>
              <a:buSzTx/>
              <a:buFontTx/>
              <a:buNone/>
              <a:tabLst/>
            </a:pPr>
            <a:r>
              <a:rPr lang="zh-CN" altLang="en-US" sz="2000" dirty="0">
                <a:solidFill>
                  <a:srgbClr val="0000FF"/>
                </a:solidFill>
                <a:latin typeface="楷体" panose="02010609060101010101" pitchFamily="49" charset="-122"/>
                <a:ea typeface="楷体" panose="02010609060101010101" pitchFamily="49" charset="-122"/>
              </a:rPr>
              <a:t>运算实现</a:t>
            </a:r>
            <a:endParaRPr kumimoji="0" lang="zh-CN" altLang="en-US" sz="2000" b="1" i="0" u="none" strike="noStrike" cap="none" normalizeH="0" baseline="0" dirty="0">
              <a:ln>
                <a:noFill/>
              </a:ln>
              <a:solidFill>
                <a:srgbClr val="0000FF"/>
              </a:solidFill>
              <a:effectLst/>
              <a:latin typeface="楷体" panose="02010609060101010101" pitchFamily="49" charset="-122"/>
              <a:ea typeface="楷体" panose="02010609060101010101" pitchFamily="49" charset="-122"/>
            </a:endParaRPr>
          </a:p>
        </p:txBody>
      </p:sp>
      <p:sp>
        <p:nvSpPr>
          <p:cNvPr id="8" name="下箭头 6">
            <a:extLst>
              <a:ext uri="{FF2B5EF4-FFF2-40B4-BE49-F238E27FC236}">
                <a16:creationId xmlns:a16="http://schemas.microsoft.com/office/drawing/2014/main" id="{B032FBB1-6694-4180-9DDE-AACD6A01114E}"/>
              </a:ext>
            </a:extLst>
          </p:cNvPr>
          <p:cNvSpPr/>
          <p:nvPr/>
        </p:nvSpPr>
        <p:spPr bwMode="auto">
          <a:xfrm>
            <a:off x="3786182" y="2557607"/>
            <a:ext cx="142876" cy="285752"/>
          </a:xfrm>
          <a:prstGeom prst="downArrow">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3200" b="1" i="0" u="none" strike="noStrike" cap="none" normalizeH="0" baseline="0">
              <a:ln>
                <a:noFill/>
              </a:ln>
              <a:solidFill>
                <a:srgbClr val="0033CC"/>
              </a:solidFill>
              <a:effectLst/>
              <a:latin typeface="楷体" panose="02010609060101010101" pitchFamily="49" charset="-122"/>
              <a:ea typeface="楷体" panose="02010609060101010101" pitchFamily="49" charset="-122"/>
            </a:endParaRPr>
          </a:p>
        </p:txBody>
      </p:sp>
      <p:sp>
        <p:nvSpPr>
          <p:cNvPr id="9" name="下箭头 7">
            <a:extLst>
              <a:ext uri="{FF2B5EF4-FFF2-40B4-BE49-F238E27FC236}">
                <a16:creationId xmlns:a16="http://schemas.microsoft.com/office/drawing/2014/main" id="{62325816-6EFD-4FC7-9292-144A82D38AE8}"/>
              </a:ext>
            </a:extLst>
          </p:cNvPr>
          <p:cNvSpPr/>
          <p:nvPr/>
        </p:nvSpPr>
        <p:spPr bwMode="auto">
          <a:xfrm>
            <a:off x="3786182" y="3525490"/>
            <a:ext cx="142876" cy="285752"/>
          </a:xfrm>
          <a:prstGeom prst="downArrow">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3200" b="1" i="0" u="none" strike="noStrike" cap="none" normalizeH="0" baseline="0">
              <a:ln>
                <a:noFill/>
              </a:ln>
              <a:solidFill>
                <a:srgbClr val="0033CC"/>
              </a:solidFill>
              <a:effectLst/>
              <a:latin typeface="楷体" panose="02010609060101010101" pitchFamily="49" charset="-122"/>
              <a:ea typeface="楷体" panose="02010609060101010101" pitchFamily="49" charset="-122"/>
            </a:endParaRPr>
          </a:p>
        </p:txBody>
      </p:sp>
      <p:grpSp>
        <p:nvGrpSpPr>
          <p:cNvPr id="10" name="组合 9">
            <a:extLst>
              <a:ext uri="{FF2B5EF4-FFF2-40B4-BE49-F238E27FC236}">
                <a16:creationId xmlns:a16="http://schemas.microsoft.com/office/drawing/2014/main" id="{CB947FE8-2DB2-429E-B1D8-43BCBAB65267}"/>
              </a:ext>
            </a:extLst>
          </p:cNvPr>
          <p:cNvGrpSpPr/>
          <p:nvPr/>
        </p:nvGrpSpPr>
        <p:grpSpPr>
          <a:xfrm>
            <a:off x="5809163" y="2010795"/>
            <a:ext cx="2093692" cy="400110"/>
            <a:chOff x="4926827" y="1582167"/>
            <a:chExt cx="2093692" cy="400110"/>
          </a:xfrm>
        </p:grpSpPr>
        <p:cxnSp>
          <p:nvCxnSpPr>
            <p:cNvPr id="11" name="直接箭头连接符 10">
              <a:extLst>
                <a:ext uri="{FF2B5EF4-FFF2-40B4-BE49-F238E27FC236}">
                  <a16:creationId xmlns:a16="http://schemas.microsoft.com/office/drawing/2014/main" id="{38D3DA9D-B43F-4031-A961-1BB2140FA0E0}"/>
                </a:ext>
              </a:extLst>
            </p:cNvPr>
            <p:cNvCxnSpPr/>
            <p:nvPr/>
          </p:nvCxnSpPr>
          <p:spPr bwMode="auto">
            <a:xfrm rot="10800000">
              <a:off x="4926827" y="1782222"/>
              <a:ext cx="540000" cy="1588"/>
            </a:xfrm>
            <a:prstGeom prst="straightConnector1">
              <a:avLst/>
            </a:prstGeom>
            <a:solidFill>
              <a:schemeClr val="accent1"/>
            </a:solidFill>
            <a:ln w="25400" cap="flat" cmpd="sng" algn="ctr">
              <a:solidFill>
                <a:srgbClr val="9900FF"/>
              </a:solidFill>
              <a:prstDash val="solid"/>
              <a:round/>
              <a:headEnd type="none" w="med" len="med"/>
              <a:tailEnd type="arrow"/>
            </a:ln>
            <a:effectLst/>
          </p:spPr>
        </p:cxnSp>
        <p:sp>
          <p:nvSpPr>
            <p:cNvPr id="12" name="TextBox 10">
              <a:extLst>
                <a:ext uri="{FF2B5EF4-FFF2-40B4-BE49-F238E27FC236}">
                  <a16:creationId xmlns:a16="http://schemas.microsoft.com/office/drawing/2014/main" id="{D4762DEB-D742-40FC-AB26-A90ABBAB95D0}"/>
                </a:ext>
              </a:extLst>
            </p:cNvPr>
            <p:cNvSpPr txBox="1"/>
            <p:nvPr/>
          </p:nvSpPr>
          <p:spPr>
            <a:xfrm>
              <a:off x="5448883" y="1582167"/>
              <a:ext cx="1571636" cy="400110"/>
            </a:xfrm>
            <a:prstGeom prst="rect">
              <a:avLst/>
            </a:prstGeom>
            <a:noFill/>
          </p:spPr>
          <p:txBody>
            <a:bodyPr wrap="square" rtlCol="0">
              <a:spAutoFit/>
            </a:bodyPr>
            <a:lstStyle/>
            <a:p>
              <a:r>
                <a:rPr lang="zh-CN" altLang="en-US" sz="2000" dirty="0">
                  <a:solidFill>
                    <a:srgbClr val="CC3300"/>
                  </a:solidFill>
                  <a:latin typeface="楷体" panose="02010609060101010101" pitchFamily="49" charset="-122"/>
                  <a:ea typeface="楷体" panose="02010609060101010101" pitchFamily="49" charset="-122"/>
                </a:rPr>
                <a:t>用户视角</a:t>
              </a:r>
            </a:p>
          </p:txBody>
        </p:sp>
      </p:grpSp>
      <p:grpSp>
        <p:nvGrpSpPr>
          <p:cNvPr id="13" name="组合 12">
            <a:extLst>
              <a:ext uri="{FF2B5EF4-FFF2-40B4-BE49-F238E27FC236}">
                <a16:creationId xmlns:a16="http://schemas.microsoft.com/office/drawing/2014/main" id="{E3727114-2938-462D-86F6-876E591C18E7}"/>
              </a:ext>
            </a:extLst>
          </p:cNvPr>
          <p:cNvGrpSpPr/>
          <p:nvPr/>
        </p:nvGrpSpPr>
        <p:grpSpPr>
          <a:xfrm>
            <a:off x="5834104" y="2928934"/>
            <a:ext cx="2166806" cy="1285884"/>
            <a:chOff x="4951768" y="2500306"/>
            <a:chExt cx="2166806" cy="1285884"/>
          </a:xfrm>
        </p:grpSpPr>
        <p:sp>
          <p:nvSpPr>
            <p:cNvPr id="14" name="右大括号 13">
              <a:extLst>
                <a:ext uri="{FF2B5EF4-FFF2-40B4-BE49-F238E27FC236}">
                  <a16:creationId xmlns:a16="http://schemas.microsoft.com/office/drawing/2014/main" id="{F782ECE0-2F80-4860-B8E6-28113851D28C}"/>
                </a:ext>
              </a:extLst>
            </p:cNvPr>
            <p:cNvSpPr/>
            <p:nvPr/>
          </p:nvSpPr>
          <p:spPr bwMode="auto">
            <a:xfrm>
              <a:off x="4951768" y="2500306"/>
              <a:ext cx="285752" cy="1285884"/>
            </a:xfrm>
            <a:prstGeom prst="rightBrace">
              <a:avLst/>
            </a:prstGeom>
            <a:noFill/>
            <a:ln w="25400" cap="flat" cmpd="sng" algn="ctr">
              <a:solidFill>
                <a:srgbClr val="9900FF"/>
              </a:solidFill>
              <a:prstDash val="solid"/>
              <a:round/>
              <a:headEnd type="none" w="med" len="med"/>
              <a:tailEnd type="none"/>
            </a:ln>
            <a:effectLst/>
          </p:spPr>
          <p:txBody>
            <a:bodyPr rtlCol="0" anchor="ctr"/>
            <a:lstStyle/>
            <a:p>
              <a:pPr algn="ctr"/>
              <a:endParaRPr lang="zh-CN" altLang="en-US" sz="2000">
                <a:latin typeface="楷体" panose="02010609060101010101" pitchFamily="49" charset="-122"/>
                <a:ea typeface="楷体" panose="02010609060101010101" pitchFamily="49" charset="-122"/>
              </a:endParaRPr>
            </a:p>
          </p:txBody>
        </p:sp>
        <p:sp>
          <p:nvSpPr>
            <p:cNvPr id="15" name="TextBox 13">
              <a:extLst>
                <a:ext uri="{FF2B5EF4-FFF2-40B4-BE49-F238E27FC236}">
                  <a16:creationId xmlns:a16="http://schemas.microsoft.com/office/drawing/2014/main" id="{952EFC99-4E80-48DA-AF00-482BEFCD81BA}"/>
                </a:ext>
              </a:extLst>
            </p:cNvPr>
            <p:cNvSpPr txBox="1"/>
            <p:nvPr/>
          </p:nvSpPr>
          <p:spPr>
            <a:xfrm>
              <a:off x="5332624" y="2943193"/>
              <a:ext cx="1785950" cy="400110"/>
            </a:xfrm>
            <a:prstGeom prst="rect">
              <a:avLst/>
            </a:prstGeom>
            <a:noFill/>
          </p:spPr>
          <p:txBody>
            <a:bodyPr wrap="square" rtlCol="0">
              <a:spAutoFit/>
            </a:bodyPr>
            <a:lstStyle/>
            <a:p>
              <a:r>
                <a:rPr lang="zh-CN" altLang="en-US" sz="2000" dirty="0">
                  <a:solidFill>
                    <a:srgbClr val="CC3300"/>
                  </a:solidFill>
                  <a:latin typeface="楷体" panose="02010609060101010101" pitchFamily="49" charset="-122"/>
                  <a:ea typeface="楷体" panose="02010609060101010101" pitchFamily="49" charset="-122"/>
                </a:rPr>
                <a:t>程序员视角</a:t>
              </a:r>
            </a:p>
          </p:txBody>
        </p:sp>
      </p:grpSp>
      <p:sp>
        <p:nvSpPr>
          <p:cNvPr id="16" name="折角形 14">
            <a:extLst>
              <a:ext uri="{FF2B5EF4-FFF2-40B4-BE49-F238E27FC236}">
                <a16:creationId xmlns:a16="http://schemas.microsoft.com/office/drawing/2014/main" id="{840D9B59-C83A-4D37-AD8A-0B5E60260A28}"/>
              </a:ext>
            </a:extLst>
          </p:cNvPr>
          <p:cNvSpPr/>
          <p:nvPr/>
        </p:nvSpPr>
        <p:spPr>
          <a:xfrm>
            <a:off x="571472" y="1857364"/>
            <a:ext cx="1500198" cy="714380"/>
          </a:xfrm>
          <a:prstGeom prst="foldedCorner">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lnSpc>
                <a:spcPct val="150000"/>
              </a:lnSpc>
            </a:pPr>
            <a:r>
              <a:rPr lang="zh-CN" altLang="en-US" sz="2000" dirty="0">
                <a:latin typeface="楷体" panose="02010609060101010101" pitchFamily="49" charset="-122"/>
                <a:ea typeface="楷体" panose="02010609060101010101" pitchFamily="49" charset="-122"/>
              </a:rPr>
              <a:t>数据结构</a:t>
            </a:r>
          </a:p>
        </p:txBody>
      </p:sp>
      <p:sp>
        <p:nvSpPr>
          <p:cNvPr id="17" name="右箭头 15">
            <a:extLst>
              <a:ext uri="{FF2B5EF4-FFF2-40B4-BE49-F238E27FC236}">
                <a16:creationId xmlns:a16="http://schemas.microsoft.com/office/drawing/2014/main" id="{E5F1F1BD-6021-403E-BB9E-CC01A7A07A77}"/>
              </a:ext>
            </a:extLst>
          </p:cNvPr>
          <p:cNvSpPr/>
          <p:nvPr/>
        </p:nvSpPr>
        <p:spPr>
          <a:xfrm>
            <a:off x="2214546" y="2071678"/>
            <a:ext cx="357190" cy="214314"/>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sz="320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605322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57F884B1-B820-4D81-B5E6-8314482D7D85}"/>
              </a:ext>
            </a:extLst>
          </p:cNvPr>
          <p:cNvGraphicFramePr>
            <a:graphicFrameLocks noGrp="1"/>
          </p:cNvGraphicFramePr>
          <p:nvPr>
            <p:extLst>
              <p:ext uri="{D42A27DB-BD31-4B8C-83A1-F6EECF244321}">
                <p14:modId xmlns:p14="http://schemas.microsoft.com/office/powerpoint/2010/main" val="2810282080"/>
              </p:ext>
            </p:extLst>
          </p:nvPr>
        </p:nvGraphicFramePr>
        <p:xfrm>
          <a:off x="428596" y="1004074"/>
          <a:ext cx="3643338" cy="3658008"/>
        </p:xfrm>
        <a:graphic>
          <a:graphicData uri="http://schemas.openxmlformats.org/drawingml/2006/table">
            <a:tbl>
              <a:tblPr>
                <a:effectLst>
                  <a:outerShdw blurRad="50800" dist="38100" dir="2700000" algn="tl" rotWithShape="0">
                    <a:prstClr val="black">
                      <a:alpha val="40000"/>
                    </a:prstClr>
                  </a:outerShdw>
                </a:effectLst>
                <a:tableStyleId>{16D9F66E-5EB9-4882-86FB-DCBF35E3C3E4}</a:tableStyleId>
              </a:tblPr>
              <a:tblGrid>
                <a:gridCol w="951729">
                  <a:extLst>
                    <a:ext uri="{9D8B030D-6E8A-4147-A177-3AD203B41FA5}">
                      <a16:colId xmlns:a16="http://schemas.microsoft.com/office/drawing/2014/main" val="20000"/>
                    </a:ext>
                  </a:extLst>
                </a:gridCol>
                <a:gridCol w="951729">
                  <a:extLst>
                    <a:ext uri="{9D8B030D-6E8A-4147-A177-3AD203B41FA5}">
                      <a16:colId xmlns:a16="http://schemas.microsoft.com/office/drawing/2014/main" val="20001"/>
                    </a:ext>
                  </a:extLst>
                </a:gridCol>
                <a:gridCol w="951729">
                  <a:extLst>
                    <a:ext uri="{9D8B030D-6E8A-4147-A177-3AD203B41FA5}">
                      <a16:colId xmlns:a16="http://schemas.microsoft.com/office/drawing/2014/main" val="20002"/>
                    </a:ext>
                  </a:extLst>
                </a:gridCol>
                <a:gridCol w="788151">
                  <a:extLst>
                    <a:ext uri="{9D8B030D-6E8A-4147-A177-3AD203B41FA5}">
                      <a16:colId xmlns:a16="http://schemas.microsoft.com/office/drawing/2014/main" val="20003"/>
                    </a:ext>
                  </a:extLst>
                </a:gridCol>
              </a:tblGrid>
              <a:tr h="518568">
                <a:tc>
                  <a:txBody>
                    <a:bodyPr/>
                    <a:lstStyle/>
                    <a:p>
                      <a:pPr marL="0" marR="0" lvl="0" indent="0" algn="ctr" defTabSz="914400" rtl="0" eaLnBrk="1" fontAlgn="base" latinLnBrk="0" hangingPunct="1">
                        <a:lnSpc>
                          <a:spcPct val="150000"/>
                        </a:lnSpc>
                        <a:spcBef>
                          <a:spcPct val="20000"/>
                        </a:spcBef>
                        <a:spcAft>
                          <a:spcPct val="0"/>
                        </a:spcAft>
                        <a:buClrTx/>
                        <a:buSzTx/>
                        <a:buFontTx/>
                        <a:buNone/>
                        <a:tabLst/>
                      </a:pPr>
                      <a:r>
                        <a:rPr kumimoji="0" lang="zh-CN" altLang="en-US" sz="1800" b="1" u="none" strike="noStrike" cap="none" normalizeH="0" baseline="0" dirty="0">
                          <a:ln>
                            <a:noFill/>
                          </a:ln>
                          <a:solidFill>
                            <a:srgbClr val="C00000"/>
                          </a:solidFill>
                          <a:effectLst/>
                          <a:latin typeface="Consolas" pitchFamily="49" charset="0"/>
                          <a:ea typeface="仿宋" pitchFamily="49" charset="-122"/>
                          <a:cs typeface="Consolas" pitchFamily="49" charset="0"/>
                        </a:rPr>
                        <a:t>学号</a:t>
                      </a:r>
                      <a:endParaRPr kumimoji="0" lang="zh-CN" altLang="en-US"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50000"/>
                        </a:lnSpc>
                        <a:spcBef>
                          <a:spcPct val="20000"/>
                        </a:spcBef>
                        <a:spcAft>
                          <a:spcPct val="0"/>
                        </a:spcAft>
                        <a:buClrTx/>
                        <a:buSzTx/>
                        <a:buFontTx/>
                        <a:buNone/>
                        <a:tabLst/>
                      </a:pPr>
                      <a:r>
                        <a:rPr kumimoji="0" lang="zh-CN" altLang="en-US" sz="1800" b="1" u="none" strike="noStrike" cap="none" normalizeH="0" baseline="0" dirty="0">
                          <a:ln>
                            <a:noFill/>
                          </a:ln>
                          <a:solidFill>
                            <a:srgbClr val="C00000"/>
                          </a:solidFill>
                          <a:effectLst/>
                          <a:latin typeface="Consolas" pitchFamily="49" charset="0"/>
                          <a:ea typeface="仿宋" pitchFamily="49" charset="-122"/>
                          <a:cs typeface="Consolas" pitchFamily="49" charset="0"/>
                        </a:rPr>
                        <a:t>姓名</a:t>
                      </a:r>
                      <a:endParaRPr kumimoji="0" lang="zh-CN" altLang="en-US"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50000"/>
                        </a:lnSpc>
                        <a:spcBef>
                          <a:spcPct val="20000"/>
                        </a:spcBef>
                        <a:spcAft>
                          <a:spcPct val="0"/>
                        </a:spcAft>
                        <a:buClrTx/>
                        <a:buSzTx/>
                        <a:buFontTx/>
                        <a:buNone/>
                        <a:tabLst/>
                      </a:pPr>
                      <a:r>
                        <a:rPr kumimoji="0" lang="zh-CN" altLang="en-US" sz="1800" b="1" u="none" strike="noStrike" cap="none" normalizeH="0" baseline="0" dirty="0">
                          <a:ln>
                            <a:noFill/>
                          </a:ln>
                          <a:solidFill>
                            <a:srgbClr val="C00000"/>
                          </a:solidFill>
                          <a:effectLst/>
                          <a:latin typeface="Consolas" pitchFamily="49" charset="0"/>
                          <a:ea typeface="仿宋" pitchFamily="49" charset="-122"/>
                          <a:cs typeface="Consolas" pitchFamily="49" charset="0"/>
                        </a:rPr>
                        <a:t>性别</a:t>
                      </a:r>
                      <a:endParaRPr kumimoji="0" lang="zh-CN" altLang="en-US"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50000"/>
                        </a:lnSpc>
                        <a:spcBef>
                          <a:spcPct val="20000"/>
                        </a:spcBef>
                        <a:spcAft>
                          <a:spcPct val="0"/>
                        </a:spcAft>
                        <a:buClrTx/>
                        <a:buSzTx/>
                        <a:buFontTx/>
                        <a:buNone/>
                        <a:tabLst/>
                      </a:pPr>
                      <a:r>
                        <a:rPr kumimoji="0" lang="zh-CN" altLang="en-US" sz="1800" b="1" u="none" strike="noStrike" cap="none" normalizeH="0" baseline="0" dirty="0">
                          <a:ln>
                            <a:noFill/>
                          </a:ln>
                          <a:solidFill>
                            <a:srgbClr val="C00000"/>
                          </a:solidFill>
                          <a:effectLst/>
                          <a:latin typeface="Consolas" pitchFamily="49" charset="0"/>
                          <a:ea typeface="仿宋" pitchFamily="49" charset="-122"/>
                          <a:cs typeface="Consolas" pitchFamily="49" charset="0"/>
                        </a:rPr>
                        <a:t>班号</a:t>
                      </a:r>
                      <a:endParaRPr kumimoji="0" lang="zh-CN" altLang="en-US"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T="60960" marB="60960" horzOverflow="overflow">
                    <a:solidFill>
                      <a:srgbClr val="92D050"/>
                    </a:solidFill>
                  </a:tcPr>
                </a:tc>
                <a:extLst>
                  <a:ext uri="{0D108BD9-81ED-4DB2-BD59-A6C34878D82A}">
                    <a16:rowId xmlns:a16="http://schemas.microsoft.com/office/drawing/2014/main" val="10000"/>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张斌</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extLst>
                  <a:ext uri="{0D108BD9-81ED-4DB2-BD59-A6C34878D82A}">
                    <a16:rowId xmlns:a16="http://schemas.microsoft.com/office/drawing/2014/main" val="10001"/>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8</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accent6">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刘丽</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accent6">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accent6">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9902</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accent6">
                        <a:lumMod val="40000"/>
                        <a:lumOff val="60000"/>
                      </a:schemeClr>
                    </a:solidFill>
                  </a:tcPr>
                </a:tc>
                <a:extLst>
                  <a:ext uri="{0D108BD9-81ED-4DB2-BD59-A6C34878D82A}">
                    <a16:rowId xmlns:a16="http://schemas.microsoft.com/office/drawing/2014/main" val="10002"/>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34</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李英</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extLst>
                  <a:ext uri="{0D108BD9-81ED-4DB2-BD59-A6C34878D82A}">
                    <a16:rowId xmlns:a16="http://schemas.microsoft.com/office/drawing/2014/main" val="10003"/>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20</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陈华</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extLst>
                  <a:ext uri="{0D108BD9-81ED-4DB2-BD59-A6C34878D82A}">
                    <a16:rowId xmlns:a16="http://schemas.microsoft.com/office/drawing/2014/main" val="10004"/>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12</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王奇</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extLst>
                  <a:ext uri="{0D108BD9-81ED-4DB2-BD59-A6C34878D82A}">
                    <a16:rowId xmlns:a16="http://schemas.microsoft.com/office/drawing/2014/main" val="10005"/>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26</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a:ln>
                            <a:noFill/>
                          </a:ln>
                          <a:solidFill>
                            <a:srgbClr val="0000FF"/>
                          </a:solidFill>
                          <a:effectLst/>
                          <a:latin typeface="Consolas" pitchFamily="49" charset="0"/>
                          <a:ea typeface="仿宋" pitchFamily="49" charset="-122"/>
                          <a:cs typeface="Consolas" pitchFamily="49" charset="0"/>
                        </a:rPr>
                        <a:t>董强</a:t>
                      </a:r>
                      <a:endParaRPr kumimoji="0" lang="zh-CN" altLang="en-US"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extLst>
                  <a:ext uri="{0D108BD9-81ED-4DB2-BD59-A6C34878D82A}">
                    <a16:rowId xmlns:a16="http://schemas.microsoft.com/office/drawing/2014/main" val="10006"/>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a:ln>
                            <a:noFill/>
                          </a:ln>
                          <a:solidFill>
                            <a:srgbClr val="0000FF"/>
                          </a:solidFill>
                          <a:effectLst/>
                          <a:latin typeface="Consolas" pitchFamily="49" charset="0"/>
                          <a:ea typeface="仿宋" pitchFamily="49" charset="-122"/>
                          <a:cs typeface="Consolas" pitchFamily="49" charset="0"/>
                        </a:rPr>
                        <a:t>王萍</a:t>
                      </a:r>
                      <a:endParaRPr kumimoji="0" lang="zh-CN" altLang="en-US"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extLst>
                  <a:ext uri="{0D108BD9-81ED-4DB2-BD59-A6C34878D82A}">
                    <a16:rowId xmlns:a16="http://schemas.microsoft.com/office/drawing/2014/main" val="10007"/>
                  </a:ext>
                </a:extLst>
              </a:tr>
            </a:tbl>
          </a:graphicData>
        </a:graphic>
      </p:graphicFrame>
      <p:sp>
        <p:nvSpPr>
          <p:cNvPr id="5" name="TextBox 3">
            <a:extLst>
              <a:ext uri="{FF2B5EF4-FFF2-40B4-BE49-F238E27FC236}">
                <a16:creationId xmlns:a16="http://schemas.microsoft.com/office/drawing/2014/main" id="{00FF4433-B7A6-46B8-A8A0-601F0E58191C}"/>
              </a:ext>
            </a:extLst>
          </p:cNvPr>
          <p:cNvSpPr txBox="1"/>
          <p:nvPr/>
        </p:nvSpPr>
        <p:spPr>
          <a:xfrm>
            <a:off x="5000628" y="2714620"/>
            <a:ext cx="3571900" cy="738664"/>
          </a:xfrm>
          <a:prstGeom prst="rect">
            <a:avLst/>
          </a:prstGeom>
          <a:noFill/>
        </p:spPr>
        <p:txBody>
          <a:bodyPr wrap="square" rtlCol="0">
            <a:spAutoFit/>
          </a:bodyPr>
          <a:lstStyle/>
          <a:p>
            <a:pPr algn="l"/>
            <a:r>
              <a:rPr lang="zh-CN" altLang="en-US" sz="2000" dirty="0">
                <a:solidFill>
                  <a:srgbClr val="FF0000"/>
                </a:solidFill>
                <a:latin typeface="方正启体简体" pitchFamily="65" charset="-122"/>
                <a:ea typeface="方正启体简体" pitchFamily="65" charset="-122"/>
                <a:cs typeface="Consolas" pitchFamily="49" charset="0"/>
              </a:rPr>
              <a:t>运算：</a:t>
            </a:r>
            <a:endParaRPr lang="en-US" altLang="zh-CN" sz="2000" dirty="0">
              <a:solidFill>
                <a:srgbClr val="FF0000"/>
              </a:solidFill>
              <a:latin typeface="方正启体简体" pitchFamily="65" charset="-122"/>
              <a:ea typeface="方正启体简体" pitchFamily="65" charset="-122"/>
              <a:cs typeface="Consolas" pitchFamily="49" charset="0"/>
            </a:endParaRPr>
          </a:p>
          <a:p>
            <a:pPr algn="l"/>
            <a:r>
              <a:rPr lang="zh-CN" altLang="en-US" sz="2000" dirty="0">
                <a:solidFill>
                  <a:srgbClr val="0000FF"/>
                </a:solidFill>
                <a:latin typeface="Consolas" pitchFamily="49" charset="0"/>
                <a:ea typeface="楷体" pitchFamily="49" charset="-122"/>
                <a:cs typeface="Consolas" pitchFamily="49" charset="0"/>
              </a:rPr>
              <a:t>查找逻辑序号为</a:t>
            </a:r>
            <a:r>
              <a:rPr lang="en-US" altLang="zh-CN" sz="2000" dirty="0">
                <a:solidFill>
                  <a:srgbClr val="0000FF"/>
                </a:solidFill>
                <a:latin typeface="Consolas" pitchFamily="49" charset="0"/>
                <a:ea typeface="楷体" pitchFamily="49" charset="-122"/>
                <a:cs typeface="Consolas" pitchFamily="49" charset="0"/>
              </a:rPr>
              <a:t>2</a:t>
            </a:r>
            <a:r>
              <a:rPr lang="zh-CN" altLang="en-US" sz="2000" dirty="0">
                <a:solidFill>
                  <a:srgbClr val="0000FF"/>
                </a:solidFill>
                <a:latin typeface="Consolas" pitchFamily="49" charset="0"/>
                <a:ea typeface="楷体" pitchFamily="49" charset="-122"/>
                <a:cs typeface="Consolas" pitchFamily="49" charset="0"/>
              </a:rPr>
              <a:t>的学生姓名</a:t>
            </a:r>
          </a:p>
        </p:txBody>
      </p:sp>
      <p:grpSp>
        <p:nvGrpSpPr>
          <p:cNvPr id="6" name="组合 5">
            <a:extLst>
              <a:ext uri="{FF2B5EF4-FFF2-40B4-BE49-F238E27FC236}">
                <a16:creationId xmlns:a16="http://schemas.microsoft.com/office/drawing/2014/main" id="{103C2461-50DE-4A23-971A-8E0002191E3A}"/>
              </a:ext>
            </a:extLst>
          </p:cNvPr>
          <p:cNvGrpSpPr/>
          <p:nvPr/>
        </p:nvGrpSpPr>
        <p:grpSpPr>
          <a:xfrm>
            <a:off x="857224" y="4733520"/>
            <a:ext cx="2786082" cy="872645"/>
            <a:chOff x="857224" y="4733520"/>
            <a:chExt cx="2786082" cy="872645"/>
          </a:xfrm>
        </p:grpSpPr>
        <p:sp>
          <p:nvSpPr>
            <p:cNvPr id="7" name="上箭头 4">
              <a:extLst>
                <a:ext uri="{FF2B5EF4-FFF2-40B4-BE49-F238E27FC236}">
                  <a16:creationId xmlns:a16="http://schemas.microsoft.com/office/drawing/2014/main" id="{807B3EE9-8B02-4784-93EB-30DE6DBE4830}"/>
                </a:ext>
              </a:extLst>
            </p:cNvPr>
            <p:cNvSpPr/>
            <p:nvPr/>
          </p:nvSpPr>
          <p:spPr>
            <a:xfrm>
              <a:off x="2071670" y="4733520"/>
              <a:ext cx="142876"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 name="TextBox 5">
              <a:extLst>
                <a:ext uri="{FF2B5EF4-FFF2-40B4-BE49-F238E27FC236}">
                  <a16:creationId xmlns:a16="http://schemas.microsoft.com/office/drawing/2014/main" id="{3672CF10-0B74-458C-80B5-C5CFE39FB35B}"/>
                </a:ext>
              </a:extLst>
            </p:cNvPr>
            <p:cNvSpPr txBox="1"/>
            <p:nvPr/>
          </p:nvSpPr>
          <p:spPr>
            <a:xfrm>
              <a:off x="857224" y="5252222"/>
              <a:ext cx="2786082" cy="353943"/>
            </a:xfrm>
            <a:prstGeom prst="rect">
              <a:avLst/>
            </a:prstGeom>
            <a:noFill/>
          </p:spPr>
          <p:txBody>
            <a:bodyPr wrap="square" rtlCol="0">
              <a:spAutoFit/>
            </a:bodyPr>
            <a:lstStyle/>
            <a:p>
              <a:pPr algn="l"/>
              <a:r>
                <a:rPr lang="zh-CN" altLang="en-US" sz="2000">
                  <a:solidFill>
                    <a:srgbClr val="0000FF"/>
                  </a:solidFill>
                  <a:latin typeface="方正启体简体" pitchFamily="65" charset="-122"/>
                  <a:ea typeface="方正启体简体" pitchFamily="65" charset="-122"/>
                </a:rPr>
                <a:t>学生表数据的</a:t>
              </a:r>
              <a:r>
                <a:rPr lang="zh-CN" altLang="en-US" sz="2000">
                  <a:solidFill>
                    <a:srgbClr val="FF0000"/>
                  </a:solidFill>
                  <a:latin typeface="方正启体简体" pitchFamily="65" charset="-122"/>
                  <a:ea typeface="方正启体简体" pitchFamily="65" charset="-122"/>
                </a:rPr>
                <a:t>逻辑结构</a:t>
              </a:r>
            </a:p>
          </p:txBody>
        </p:sp>
      </p:grpSp>
      <p:grpSp>
        <p:nvGrpSpPr>
          <p:cNvPr id="9" name="组合 8">
            <a:extLst>
              <a:ext uri="{FF2B5EF4-FFF2-40B4-BE49-F238E27FC236}">
                <a16:creationId xmlns:a16="http://schemas.microsoft.com/office/drawing/2014/main" id="{B4707505-390D-40CB-BB10-746595B5EDA4}"/>
              </a:ext>
            </a:extLst>
          </p:cNvPr>
          <p:cNvGrpSpPr/>
          <p:nvPr/>
        </p:nvGrpSpPr>
        <p:grpSpPr>
          <a:xfrm>
            <a:off x="5286380" y="3519074"/>
            <a:ext cx="2786082" cy="2087091"/>
            <a:chOff x="5286380" y="3519074"/>
            <a:chExt cx="2786082" cy="2087091"/>
          </a:xfrm>
        </p:grpSpPr>
        <p:sp>
          <p:nvSpPr>
            <p:cNvPr id="10" name="上箭头 6">
              <a:extLst>
                <a:ext uri="{FF2B5EF4-FFF2-40B4-BE49-F238E27FC236}">
                  <a16:creationId xmlns:a16="http://schemas.microsoft.com/office/drawing/2014/main" id="{C9476D31-AF5B-4416-A4F7-7EEE055E1592}"/>
                </a:ext>
              </a:extLst>
            </p:cNvPr>
            <p:cNvSpPr/>
            <p:nvPr/>
          </p:nvSpPr>
          <p:spPr>
            <a:xfrm>
              <a:off x="6500826" y="3519074"/>
              <a:ext cx="142876" cy="1357322"/>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1" name="TextBox 7">
              <a:extLst>
                <a:ext uri="{FF2B5EF4-FFF2-40B4-BE49-F238E27FC236}">
                  <a16:creationId xmlns:a16="http://schemas.microsoft.com/office/drawing/2014/main" id="{854AFC6D-D50E-4659-90F1-E5AFB9E5E0B5}"/>
                </a:ext>
              </a:extLst>
            </p:cNvPr>
            <p:cNvSpPr txBox="1"/>
            <p:nvPr/>
          </p:nvSpPr>
          <p:spPr>
            <a:xfrm>
              <a:off x="5286380" y="5252222"/>
              <a:ext cx="2786082" cy="353943"/>
            </a:xfrm>
            <a:prstGeom prst="rect">
              <a:avLst/>
            </a:prstGeom>
            <a:noFill/>
          </p:spPr>
          <p:txBody>
            <a:bodyPr wrap="square" rtlCol="0">
              <a:spAutoFit/>
            </a:bodyPr>
            <a:lstStyle/>
            <a:p>
              <a:pPr algn="l"/>
              <a:r>
                <a:rPr lang="zh-CN" altLang="en-US" sz="2000">
                  <a:solidFill>
                    <a:srgbClr val="0000FF"/>
                  </a:solidFill>
                  <a:latin typeface="方正启体简体" pitchFamily="65" charset="-122"/>
                  <a:ea typeface="方正启体简体" pitchFamily="65" charset="-122"/>
                </a:rPr>
                <a:t>学生表数据的</a:t>
              </a:r>
              <a:r>
                <a:rPr lang="zh-CN" altLang="en-US" sz="2000">
                  <a:solidFill>
                    <a:srgbClr val="FF0000"/>
                  </a:solidFill>
                  <a:latin typeface="方正启体简体" pitchFamily="65" charset="-122"/>
                  <a:ea typeface="方正启体简体" pitchFamily="65" charset="-122"/>
                </a:rPr>
                <a:t>运算定义</a:t>
              </a:r>
            </a:p>
          </p:txBody>
        </p:sp>
      </p:grpSp>
      <p:grpSp>
        <p:nvGrpSpPr>
          <p:cNvPr id="12" name="组合 11">
            <a:extLst>
              <a:ext uri="{FF2B5EF4-FFF2-40B4-BE49-F238E27FC236}">
                <a16:creationId xmlns:a16="http://schemas.microsoft.com/office/drawing/2014/main" id="{6EC6AF28-0BFE-404A-9A5E-5E034A86A7B0}"/>
              </a:ext>
            </a:extLst>
          </p:cNvPr>
          <p:cNvGrpSpPr/>
          <p:nvPr/>
        </p:nvGrpSpPr>
        <p:grpSpPr>
          <a:xfrm>
            <a:off x="2571736" y="5715015"/>
            <a:ext cx="3857652" cy="642943"/>
            <a:chOff x="2571736" y="5715015"/>
            <a:chExt cx="3857652" cy="642943"/>
          </a:xfrm>
        </p:grpSpPr>
        <p:sp>
          <p:nvSpPr>
            <p:cNvPr id="13" name="TextBox 8">
              <a:extLst>
                <a:ext uri="{FF2B5EF4-FFF2-40B4-BE49-F238E27FC236}">
                  <a16:creationId xmlns:a16="http://schemas.microsoft.com/office/drawing/2014/main" id="{1CF50FFD-736C-4F2F-B05C-A7F45AA4BC74}"/>
                </a:ext>
              </a:extLst>
            </p:cNvPr>
            <p:cNvSpPr txBox="1"/>
            <p:nvPr/>
          </p:nvSpPr>
          <p:spPr>
            <a:xfrm>
              <a:off x="3000364" y="6019404"/>
              <a:ext cx="3429024" cy="338554"/>
            </a:xfrm>
            <a:prstGeom prst="rect">
              <a:avLst/>
            </a:prstGeom>
            <a:noFill/>
          </p:spPr>
          <p:txBody>
            <a:bodyPr wrap="square" rtlCol="0">
              <a:spAutoFit/>
            </a:bodyPr>
            <a:lstStyle/>
            <a:p>
              <a:pPr algn="l"/>
              <a:r>
                <a:rPr lang="zh-CN" altLang="en-US" sz="2000" dirty="0">
                  <a:solidFill>
                    <a:srgbClr val="0000FF"/>
                  </a:solidFill>
                  <a:latin typeface="华文中宋" pitchFamily="2" charset="-122"/>
                  <a:ea typeface="华文中宋" pitchFamily="2" charset="-122"/>
                </a:rPr>
                <a:t>求解问题描述：用户视角</a:t>
              </a:r>
            </a:p>
          </p:txBody>
        </p:sp>
        <p:sp>
          <p:nvSpPr>
            <p:cNvPr id="14" name="右大括号 13">
              <a:extLst>
                <a:ext uri="{FF2B5EF4-FFF2-40B4-BE49-F238E27FC236}">
                  <a16:creationId xmlns:a16="http://schemas.microsoft.com/office/drawing/2014/main" id="{8B371920-41B1-4B41-9D25-1103D49CC01C}"/>
                </a:ext>
              </a:extLst>
            </p:cNvPr>
            <p:cNvSpPr/>
            <p:nvPr/>
          </p:nvSpPr>
          <p:spPr>
            <a:xfrm rot="5400000">
              <a:off x="4429124" y="3857627"/>
              <a:ext cx="142876" cy="385765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grpSp>
      <p:grpSp>
        <p:nvGrpSpPr>
          <p:cNvPr id="15" name="组合 14">
            <a:extLst>
              <a:ext uri="{FF2B5EF4-FFF2-40B4-BE49-F238E27FC236}">
                <a16:creationId xmlns:a16="http://schemas.microsoft.com/office/drawing/2014/main" id="{BEE5328C-A205-46A1-B6E5-E2B2B745E93D}"/>
              </a:ext>
            </a:extLst>
          </p:cNvPr>
          <p:cNvGrpSpPr/>
          <p:nvPr/>
        </p:nvGrpSpPr>
        <p:grpSpPr>
          <a:xfrm>
            <a:off x="7588917" y="898637"/>
            <a:ext cx="1000100" cy="785817"/>
            <a:chOff x="5691204" y="3835411"/>
            <a:chExt cx="1238250" cy="1236663"/>
          </a:xfrm>
        </p:grpSpPr>
        <p:grpSp>
          <p:nvGrpSpPr>
            <p:cNvPr id="16" name="Group 19">
              <a:extLst>
                <a:ext uri="{FF2B5EF4-FFF2-40B4-BE49-F238E27FC236}">
                  <a16:creationId xmlns:a16="http://schemas.microsoft.com/office/drawing/2014/main" id="{1D8C74DB-D9E3-4EF9-B6DB-8F194EA6819D}"/>
                </a:ext>
              </a:extLst>
            </p:cNvPr>
            <p:cNvGrpSpPr>
              <a:grpSpLocks/>
            </p:cNvGrpSpPr>
            <p:nvPr/>
          </p:nvGrpSpPr>
          <p:grpSpPr bwMode="auto">
            <a:xfrm>
              <a:off x="5691204" y="3835411"/>
              <a:ext cx="1238250" cy="1236663"/>
              <a:chOff x="802" y="845"/>
              <a:chExt cx="827" cy="826"/>
            </a:xfrm>
          </p:grpSpPr>
          <p:sp>
            <p:nvSpPr>
              <p:cNvPr id="18" name="Oval 20">
                <a:extLst>
                  <a:ext uri="{FF2B5EF4-FFF2-40B4-BE49-F238E27FC236}">
                    <a16:creationId xmlns:a16="http://schemas.microsoft.com/office/drawing/2014/main" id="{B65A5D4B-6410-48C6-A5C5-89AACA0BF506}"/>
                  </a:ext>
                </a:extLst>
              </p:cNvPr>
              <p:cNvSpPr>
                <a:spLocks noChangeArrowheads="1"/>
              </p:cNvSpPr>
              <p:nvPr/>
            </p:nvSpPr>
            <p:spPr bwMode="gray">
              <a:xfrm>
                <a:off x="802" y="845"/>
                <a:ext cx="827" cy="826"/>
              </a:xfrm>
              <a:prstGeom prst="ellipse">
                <a:avLst/>
              </a:prstGeom>
              <a:solidFill>
                <a:srgbClr val="F8F8F8"/>
              </a:solidFill>
              <a:ln w="38100">
                <a:solidFill>
                  <a:schemeClr val="hlink"/>
                </a:solidFill>
                <a:round/>
                <a:headEnd/>
                <a:tailEnd/>
              </a:ln>
            </p:spPr>
            <p:txBody>
              <a:bodyPr wrap="none" anchor="ctr"/>
              <a:lstStyle/>
              <a:p>
                <a:endParaRPr lang="zh-CN" altLang="zh-CN">
                  <a:latin typeface="Calibri" pitchFamily="34" charset="0"/>
                  <a:cs typeface="Arial" pitchFamily="34" charset="0"/>
                </a:endParaRPr>
              </a:p>
            </p:txBody>
          </p:sp>
          <p:sp>
            <p:nvSpPr>
              <p:cNvPr id="19" name="Oval 21">
                <a:extLst>
                  <a:ext uri="{FF2B5EF4-FFF2-40B4-BE49-F238E27FC236}">
                    <a16:creationId xmlns:a16="http://schemas.microsoft.com/office/drawing/2014/main" id="{FB66BCFA-56D6-446C-AD67-7BBCDD2DD8BB}"/>
                  </a:ext>
                </a:extLst>
              </p:cNvPr>
              <p:cNvSpPr>
                <a:spLocks noChangeArrowheads="1"/>
              </p:cNvSpPr>
              <p:nvPr/>
            </p:nvSpPr>
            <p:spPr bwMode="gray">
              <a:xfrm>
                <a:off x="836" y="879"/>
                <a:ext cx="758" cy="758"/>
              </a:xfrm>
              <a:prstGeom prst="ellipse">
                <a:avLst/>
              </a:prstGeom>
              <a:noFill/>
              <a:ln w="38100">
                <a:solidFill>
                  <a:schemeClr val="hlink">
                    <a:alpha val="70195"/>
                  </a:schemeClr>
                </a:solidFill>
                <a:round/>
                <a:headEnd/>
                <a:tailEnd/>
              </a:ln>
            </p:spPr>
            <p:txBody>
              <a:bodyPr wrap="none" anchor="ctr"/>
              <a:lstStyle/>
              <a:p>
                <a:endParaRPr lang="zh-CN" altLang="zh-CN">
                  <a:latin typeface="Calibri" pitchFamily="34" charset="0"/>
                  <a:cs typeface="Arial" pitchFamily="34" charset="0"/>
                </a:endParaRPr>
              </a:p>
            </p:txBody>
          </p:sp>
          <p:sp>
            <p:nvSpPr>
              <p:cNvPr id="20" name="Oval 22">
                <a:extLst>
                  <a:ext uri="{FF2B5EF4-FFF2-40B4-BE49-F238E27FC236}">
                    <a16:creationId xmlns:a16="http://schemas.microsoft.com/office/drawing/2014/main" id="{36927629-4FE8-4A41-9DC9-5DCC5512370F}"/>
                  </a:ext>
                </a:extLst>
              </p:cNvPr>
              <p:cNvSpPr>
                <a:spLocks noChangeArrowheads="1"/>
              </p:cNvSpPr>
              <p:nvPr/>
            </p:nvSpPr>
            <p:spPr bwMode="gray">
              <a:xfrm>
                <a:off x="870" y="915"/>
                <a:ext cx="690" cy="690"/>
              </a:xfrm>
              <a:prstGeom prst="ellipse">
                <a:avLst/>
              </a:prstGeom>
              <a:noFill/>
              <a:ln w="38100">
                <a:solidFill>
                  <a:schemeClr val="hlink">
                    <a:alpha val="30196"/>
                  </a:schemeClr>
                </a:solidFill>
                <a:round/>
                <a:headEnd/>
                <a:tailEnd/>
              </a:ln>
            </p:spPr>
            <p:txBody>
              <a:bodyPr wrap="none" anchor="ctr"/>
              <a:lstStyle/>
              <a:p>
                <a:endParaRPr lang="zh-CN" altLang="zh-CN">
                  <a:latin typeface="Calibri" pitchFamily="34" charset="0"/>
                  <a:cs typeface="Arial" pitchFamily="34" charset="0"/>
                </a:endParaRPr>
              </a:p>
            </p:txBody>
          </p:sp>
        </p:grpSp>
        <p:sp>
          <p:nvSpPr>
            <p:cNvPr id="17" name="Text Box 23">
              <a:extLst>
                <a:ext uri="{FF2B5EF4-FFF2-40B4-BE49-F238E27FC236}">
                  <a16:creationId xmlns:a16="http://schemas.microsoft.com/office/drawing/2014/main" id="{B7E4F5E8-AC92-494B-9B6A-0A5F85CD2723}"/>
                </a:ext>
              </a:extLst>
            </p:cNvPr>
            <p:cNvSpPr txBox="1">
              <a:spLocks noChangeArrowheads="1"/>
            </p:cNvSpPr>
            <p:nvPr/>
          </p:nvSpPr>
          <p:spPr bwMode="gray">
            <a:xfrm>
              <a:off x="5762641" y="4214818"/>
              <a:ext cx="1082674" cy="557010"/>
            </a:xfrm>
            <a:prstGeom prst="rect">
              <a:avLst/>
            </a:prstGeom>
            <a:noFill/>
            <a:ln w="9525" algn="ctr">
              <a:noFill/>
              <a:miter lim="800000"/>
              <a:headEnd/>
              <a:tailEnd/>
            </a:ln>
          </p:spPr>
          <p:txBody>
            <a:bodyPr>
              <a:spAutoFit/>
            </a:bodyPr>
            <a:lstStyle/>
            <a:p>
              <a:pPr algn="ctr">
                <a:spcBef>
                  <a:spcPct val="50000"/>
                </a:spcBef>
              </a:pPr>
              <a:r>
                <a:rPr lang="zh-CN" altLang="en-US" sz="2000" b="1">
                  <a:solidFill>
                    <a:srgbClr val="FF0000"/>
                  </a:solidFill>
                  <a:latin typeface="方正启体简体" pitchFamily="65" charset="-122"/>
                  <a:ea typeface="方正启体简体" pitchFamily="65" charset="-122"/>
                  <a:cs typeface="Consolas" pitchFamily="49" charset="0"/>
                </a:rPr>
                <a:t>示例</a:t>
              </a:r>
            </a:p>
          </p:txBody>
        </p:sp>
      </p:grpSp>
    </p:spTree>
    <p:extLst>
      <p:ext uri="{BB962C8B-B14F-4D97-AF65-F5344CB8AC3E}">
        <p14:creationId xmlns:p14="http://schemas.microsoft.com/office/powerpoint/2010/main" val="2548674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598C2AC3-4A02-45C4-904D-65CC23966AC4}"/>
              </a:ext>
            </a:extLst>
          </p:cNvPr>
          <p:cNvGraphicFramePr>
            <a:graphicFrameLocks noGrp="1"/>
          </p:cNvGraphicFramePr>
          <p:nvPr>
            <p:extLst>
              <p:ext uri="{D42A27DB-BD31-4B8C-83A1-F6EECF244321}">
                <p14:modId xmlns:p14="http://schemas.microsoft.com/office/powerpoint/2010/main" val="1463016542"/>
              </p:ext>
            </p:extLst>
          </p:nvPr>
        </p:nvGraphicFramePr>
        <p:xfrm>
          <a:off x="428596" y="586954"/>
          <a:ext cx="3643338" cy="3658008"/>
        </p:xfrm>
        <a:graphic>
          <a:graphicData uri="http://schemas.openxmlformats.org/drawingml/2006/table">
            <a:tbl>
              <a:tblPr>
                <a:effectLst>
                  <a:outerShdw blurRad="50800" dist="38100" dir="2700000" algn="tl" rotWithShape="0">
                    <a:prstClr val="black">
                      <a:alpha val="40000"/>
                    </a:prstClr>
                  </a:outerShdw>
                </a:effectLst>
                <a:tableStyleId>{16D9F66E-5EB9-4882-86FB-DCBF35E3C3E4}</a:tableStyleId>
              </a:tblPr>
              <a:tblGrid>
                <a:gridCol w="951729">
                  <a:extLst>
                    <a:ext uri="{9D8B030D-6E8A-4147-A177-3AD203B41FA5}">
                      <a16:colId xmlns:a16="http://schemas.microsoft.com/office/drawing/2014/main" val="20000"/>
                    </a:ext>
                  </a:extLst>
                </a:gridCol>
                <a:gridCol w="951729">
                  <a:extLst>
                    <a:ext uri="{9D8B030D-6E8A-4147-A177-3AD203B41FA5}">
                      <a16:colId xmlns:a16="http://schemas.microsoft.com/office/drawing/2014/main" val="20001"/>
                    </a:ext>
                  </a:extLst>
                </a:gridCol>
                <a:gridCol w="951729">
                  <a:extLst>
                    <a:ext uri="{9D8B030D-6E8A-4147-A177-3AD203B41FA5}">
                      <a16:colId xmlns:a16="http://schemas.microsoft.com/office/drawing/2014/main" val="20002"/>
                    </a:ext>
                  </a:extLst>
                </a:gridCol>
                <a:gridCol w="788151">
                  <a:extLst>
                    <a:ext uri="{9D8B030D-6E8A-4147-A177-3AD203B41FA5}">
                      <a16:colId xmlns:a16="http://schemas.microsoft.com/office/drawing/2014/main" val="20003"/>
                    </a:ext>
                  </a:extLst>
                </a:gridCol>
              </a:tblGrid>
              <a:tr h="518568">
                <a:tc>
                  <a:txBody>
                    <a:bodyPr/>
                    <a:lstStyle/>
                    <a:p>
                      <a:pPr marL="0" marR="0" lvl="0" indent="0" algn="ctr" defTabSz="914400" rtl="0" eaLnBrk="1" fontAlgn="base" latinLnBrk="0" hangingPunct="1">
                        <a:lnSpc>
                          <a:spcPct val="150000"/>
                        </a:lnSpc>
                        <a:spcBef>
                          <a:spcPct val="20000"/>
                        </a:spcBef>
                        <a:spcAft>
                          <a:spcPct val="0"/>
                        </a:spcAft>
                        <a:buClrTx/>
                        <a:buSzTx/>
                        <a:buFontTx/>
                        <a:buNone/>
                        <a:tabLst/>
                      </a:pPr>
                      <a:r>
                        <a:rPr kumimoji="0" lang="zh-CN" altLang="en-US" sz="1800" b="1" u="none" strike="noStrike" cap="none" normalizeH="0" baseline="0" dirty="0">
                          <a:ln>
                            <a:noFill/>
                          </a:ln>
                          <a:solidFill>
                            <a:srgbClr val="C00000"/>
                          </a:solidFill>
                          <a:effectLst/>
                          <a:latin typeface="Consolas" pitchFamily="49" charset="0"/>
                          <a:ea typeface="仿宋" pitchFamily="49" charset="-122"/>
                          <a:cs typeface="Consolas" pitchFamily="49" charset="0"/>
                        </a:rPr>
                        <a:t>学号</a:t>
                      </a:r>
                      <a:endParaRPr kumimoji="0" lang="zh-CN" altLang="en-US"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50000"/>
                        </a:lnSpc>
                        <a:spcBef>
                          <a:spcPct val="20000"/>
                        </a:spcBef>
                        <a:spcAft>
                          <a:spcPct val="0"/>
                        </a:spcAft>
                        <a:buClrTx/>
                        <a:buSzTx/>
                        <a:buFontTx/>
                        <a:buNone/>
                        <a:tabLst/>
                      </a:pPr>
                      <a:r>
                        <a:rPr kumimoji="0" lang="zh-CN" altLang="en-US" sz="1800" b="1" u="none" strike="noStrike" cap="none" normalizeH="0" baseline="0" dirty="0">
                          <a:ln>
                            <a:noFill/>
                          </a:ln>
                          <a:solidFill>
                            <a:srgbClr val="C00000"/>
                          </a:solidFill>
                          <a:effectLst/>
                          <a:latin typeface="Consolas" pitchFamily="49" charset="0"/>
                          <a:ea typeface="仿宋" pitchFamily="49" charset="-122"/>
                          <a:cs typeface="Consolas" pitchFamily="49" charset="0"/>
                        </a:rPr>
                        <a:t>姓名</a:t>
                      </a:r>
                      <a:endParaRPr kumimoji="0" lang="zh-CN" altLang="en-US"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50000"/>
                        </a:lnSpc>
                        <a:spcBef>
                          <a:spcPct val="20000"/>
                        </a:spcBef>
                        <a:spcAft>
                          <a:spcPct val="0"/>
                        </a:spcAft>
                        <a:buClrTx/>
                        <a:buSzTx/>
                        <a:buFontTx/>
                        <a:buNone/>
                        <a:tabLst/>
                      </a:pPr>
                      <a:r>
                        <a:rPr kumimoji="0" lang="zh-CN" altLang="en-US" sz="1800" b="1" u="none" strike="noStrike" cap="none" normalizeH="0" baseline="0" dirty="0">
                          <a:ln>
                            <a:noFill/>
                          </a:ln>
                          <a:solidFill>
                            <a:srgbClr val="C00000"/>
                          </a:solidFill>
                          <a:effectLst/>
                          <a:latin typeface="Consolas" pitchFamily="49" charset="0"/>
                          <a:ea typeface="仿宋" pitchFamily="49" charset="-122"/>
                          <a:cs typeface="Consolas" pitchFamily="49" charset="0"/>
                        </a:rPr>
                        <a:t>性别</a:t>
                      </a:r>
                      <a:endParaRPr kumimoji="0" lang="zh-CN" altLang="en-US"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50000"/>
                        </a:lnSpc>
                        <a:spcBef>
                          <a:spcPct val="20000"/>
                        </a:spcBef>
                        <a:spcAft>
                          <a:spcPct val="0"/>
                        </a:spcAft>
                        <a:buClrTx/>
                        <a:buSzTx/>
                        <a:buFontTx/>
                        <a:buNone/>
                        <a:tabLst/>
                      </a:pPr>
                      <a:r>
                        <a:rPr kumimoji="0" lang="zh-CN" altLang="en-US" sz="1800" b="1" u="none" strike="noStrike" cap="none" normalizeH="0" baseline="0" dirty="0">
                          <a:ln>
                            <a:noFill/>
                          </a:ln>
                          <a:solidFill>
                            <a:srgbClr val="C00000"/>
                          </a:solidFill>
                          <a:effectLst/>
                          <a:latin typeface="Consolas" pitchFamily="49" charset="0"/>
                          <a:ea typeface="仿宋" pitchFamily="49" charset="-122"/>
                          <a:cs typeface="Consolas" pitchFamily="49" charset="0"/>
                        </a:rPr>
                        <a:t>班号</a:t>
                      </a:r>
                      <a:endParaRPr kumimoji="0" lang="zh-CN" altLang="en-US" sz="1800" b="1" i="0" u="none" strike="noStrike" cap="none" normalizeH="0" baseline="0" dirty="0">
                        <a:ln>
                          <a:noFill/>
                        </a:ln>
                        <a:solidFill>
                          <a:srgbClr val="C00000"/>
                        </a:solidFill>
                        <a:effectLst/>
                        <a:latin typeface="Consolas" pitchFamily="49" charset="0"/>
                        <a:ea typeface="仿宋" pitchFamily="49" charset="-122"/>
                        <a:cs typeface="Consolas" pitchFamily="49" charset="0"/>
                      </a:endParaRPr>
                    </a:p>
                  </a:txBody>
                  <a:tcPr marT="60960" marB="60960" horzOverflow="overflow">
                    <a:solidFill>
                      <a:srgbClr val="92D050"/>
                    </a:solidFill>
                  </a:tcPr>
                </a:tc>
                <a:extLst>
                  <a:ext uri="{0D108BD9-81ED-4DB2-BD59-A6C34878D82A}">
                    <a16:rowId xmlns:a16="http://schemas.microsoft.com/office/drawing/2014/main" val="10000"/>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张斌</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extLst>
                  <a:ext uri="{0D108BD9-81ED-4DB2-BD59-A6C34878D82A}">
                    <a16:rowId xmlns:a16="http://schemas.microsoft.com/office/drawing/2014/main" val="10001"/>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8</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accent6">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刘丽</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accent6">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accent6">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9902</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accent6">
                        <a:lumMod val="40000"/>
                        <a:lumOff val="60000"/>
                      </a:schemeClr>
                    </a:solidFill>
                  </a:tcPr>
                </a:tc>
                <a:extLst>
                  <a:ext uri="{0D108BD9-81ED-4DB2-BD59-A6C34878D82A}">
                    <a16:rowId xmlns:a16="http://schemas.microsoft.com/office/drawing/2014/main" val="10002"/>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34</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李英</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extLst>
                  <a:ext uri="{0D108BD9-81ED-4DB2-BD59-A6C34878D82A}">
                    <a16:rowId xmlns:a16="http://schemas.microsoft.com/office/drawing/2014/main" val="10003"/>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20</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陈华</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extLst>
                  <a:ext uri="{0D108BD9-81ED-4DB2-BD59-A6C34878D82A}">
                    <a16:rowId xmlns:a16="http://schemas.microsoft.com/office/drawing/2014/main" val="10004"/>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12</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王奇</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extLst>
                  <a:ext uri="{0D108BD9-81ED-4DB2-BD59-A6C34878D82A}">
                    <a16:rowId xmlns:a16="http://schemas.microsoft.com/office/drawing/2014/main" val="10005"/>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26</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a:ln>
                            <a:noFill/>
                          </a:ln>
                          <a:solidFill>
                            <a:srgbClr val="0000FF"/>
                          </a:solidFill>
                          <a:effectLst/>
                          <a:latin typeface="Consolas" pitchFamily="49" charset="0"/>
                          <a:ea typeface="仿宋" pitchFamily="49" charset="-122"/>
                          <a:cs typeface="Consolas" pitchFamily="49" charset="0"/>
                        </a:rPr>
                        <a:t>董强</a:t>
                      </a:r>
                      <a:endParaRPr kumimoji="0" lang="zh-CN" altLang="en-US"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extLst>
                  <a:ext uri="{0D108BD9-81ED-4DB2-BD59-A6C34878D82A}">
                    <a16:rowId xmlns:a16="http://schemas.microsoft.com/office/drawing/2014/main" val="10006"/>
                  </a:ext>
                </a:extLst>
              </a:tr>
              <a:tr h="447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a:ln>
                            <a:noFill/>
                          </a:ln>
                          <a:solidFill>
                            <a:srgbClr val="0000FF"/>
                          </a:solidFill>
                          <a:effectLst/>
                          <a:latin typeface="Consolas" pitchFamily="49" charset="0"/>
                          <a:ea typeface="仿宋" pitchFamily="49" charset="-122"/>
                          <a:cs typeface="Consolas" pitchFamily="49" charset="0"/>
                        </a:rPr>
                        <a:t>王萍</a:t>
                      </a:r>
                      <a:endParaRPr kumimoji="0" lang="zh-CN" altLang="en-US"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marT="60960" marB="60960" horzOverflow="overflow">
                    <a:solidFill>
                      <a:schemeClr val="bg1">
                        <a:lumMod val="95000"/>
                      </a:schemeClr>
                    </a:solidFill>
                  </a:tcPr>
                </a:tc>
                <a:extLst>
                  <a:ext uri="{0D108BD9-81ED-4DB2-BD59-A6C34878D82A}">
                    <a16:rowId xmlns:a16="http://schemas.microsoft.com/office/drawing/2014/main" val="10007"/>
                  </a:ext>
                </a:extLst>
              </a:tr>
            </a:tbl>
          </a:graphicData>
        </a:graphic>
      </p:graphicFrame>
      <p:sp>
        <p:nvSpPr>
          <p:cNvPr id="5" name="TextBox 3">
            <a:extLst>
              <a:ext uri="{FF2B5EF4-FFF2-40B4-BE49-F238E27FC236}">
                <a16:creationId xmlns:a16="http://schemas.microsoft.com/office/drawing/2014/main" id="{8F2AE5F1-8F90-4ABC-B9A2-D7C644DC8D7D}"/>
              </a:ext>
            </a:extLst>
          </p:cNvPr>
          <p:cNvSpPr txBox="1"/>
          <p:nvPr/>
        </p:nvSpPr>
        <p:spPr>
          <a:xfrm>
            <a:off x="4786314" y="2285992"/>
            <a:ext cx="3571900" cy="338554"/>
          </a:xfrm>
          <a:prstGeom prst="rect">
            <a:avLst/>
          </a:prstGeom>
          <a:noFill/>
        </p:spPr>
        <p:txBody>
          <a:bodyPr wrap="square" rtlCol="0">
            <a:spAutoFit/>
          </a:bodyPr>
          <a:lstStyle/>
          <a:p>
            <a:pPr algn="l"/>
            <a:r>
              <a:rPr lang="zh-CN" altLang="en-US" sz="2000" dirty="0">
                <a:solidFill>
                  <a:srgbClr val="0000FF"/>
                </a:solidFill>
                <a:latin typeface="Consolas" pitchFamily="49" charset="0"/>
                <a:ea typeface="楷体" pitchFamily="49" charset="-122"/>
                <a:cs typeface="Consolas" pitchFamily="49" charset="0"/>
              </a:rPr>
              <a:t>查找逻辑序号为</a:t>
            </a:r>
            <a:r>
              <a:rPr lang="en-US" altLang="zh-CN" sz="2000" dirty="0">
                <a:solidFill>
                  <a:srgbClr val="0000FF"/>
                </a:solidFill>
                <a:latin typeface="Consolas" pitchFamily="49" charset="0"/>
                <a:ea typeface="楷体" pitchFamily="49" charset="-122"/>
                <a:cs typeface="Consolas" pitchFamily="49" charset="0"/>
              </a:rPr>
              <a:t>2</a:t>
            </a:r>
            <a:r>
              <a:rPr lang="zh-CN" altLang="en-US" sz="2000" dirty="0">
                <a:solidFill>
                  <a:srgbClr val="0000FF"/>
                </a:solidFill>
                <a:latin typeface="Consolas" pitchFamily="49" charset="0"/>
                <a:ea typeface="楷体" pitchFamily="49" charset="-122"/>
                <a:cs typeface="Consolas" pitchFamily="49" charset="0"/>
              </a:rPr>
              <a:t>的学生姓名</a:t>
            </a:r>
          </a:p>
        </p:txBody>
      </p:sp>
      <p:grpSp>
        <p:nvGrpSpPr>
          <p:cNvPr id="6" name="组合 5">
            <a:extLst>
              <a:ext uri="{FF2B5EF4-FFF2-40B4-BE49-F238E27FC236}">
                <a16:creationId xmlns:a16="http://schemas.microsoft.com/office/drawing/2014/main" id="{FC249DFF-D505-40B0-893C-A70CC0624072}"/>
              </a:ext>
            </a:extLst>
          </p:cNvPr>
          <p:cNvGrpSpPr/>
          <p:nvPr/>
        </p:nvGrpSpPr>
        <p:grpSpPr>
          <a:xfrm>
            <a:off x="1357290" y="4030648"/>
            <a:ext cx="1857388" cy="1470054"/>
            <a:chOff x="1357290" y="4030648"/>
            <a:chExt cx="1857388" cy="1470054"/>
          </a:xfrm>
        </p:grpSpPr>
        <p:sp>
          <p:nvSpPr>
            <p:cNvPr id="7" name="下箭头 4">
              <a:extLst>
                <a:ext uri="{FF2B5EF4-FFF2-40B4-BE49-F238E27FC236}">
                  <a16:creationId xmlns:a16="http://schemas.microsoft.com/office/drawing/2014/main" id="{52B5D396-62BF-47C9-BABC-BEFD47BDFDD5}"/>
                </a:ext>
              </a:extLst>
            </p:cNvPr>
            <p:cNvSpPr/>
            <p:nvPr/>
          </p:nvSpPr>
          <p:spPr>
            <a:xfrm>
              <a:off x="2143108" y="4030648"/>
              <a:ext cx="214314"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 name="圆柱形 7">
              <a:extLst>
                <a:ext uri="{FF2B5EF4-FFF2-40B4-BE49-F238E27FC236}">
                  <a16:creationId xmlns:a16="http://schemas.microsoft.com/office/drawing/2014/main" id="{D23033E6-3DEC-4EE3-8F1D-E41B9A64F506}"/>
                </a:ext>
              </a:extLst>
            </p:cNvPr>
            <p:cNvSpPr/>
            <p:nvPr/>
          </p:nvSpPr>
          <p:spPr>
            <a:xfrm>
              <a:off x="1357290" y="4500570"/>
              <a:ext cx="1857388" cy="1000132"/>
            </a:xfrm>
            <a:prstGeom prst="can">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800">
                  <a:latin typeface="仿宋" pitchFamily="49" charset="-122"/>
                  <a:ea typeface="仿宋" pitchFamily="49" charset="-122"/>
                </a:rPr>
                <a:t>学生表存储结构</a:t>
              </a:r>
            </a:p>
          </p:txBody>
        </p:sp>
      </p:grpSp>
      <p:grpSp>
        <p:nvGrpSpPr>
          <p:cNvPr id="9" name="组合 8">
            <a:extLst>
              <a:ext uri="{FF2B5EF4-FFF2-40B4-BE49-F238E27FC236}">
                <a16:creationId xmlns:a16="http://schemas.microsoft.com/office/drawing/2014/main" id="{9CA8D659-F67A-4380-A438-FA26FD75E6A0}"/>
              </a:ext>
            </a:extLst>
          </p:cNvPr>
          <p:cNvGrpSpPr/>
          <p:nvPr/>
        </p:nvGrpSpPr>
        <p:grpSpPr>
          <a:xfrm>
            <a:off x="3571868" y="2571744"/>
            <a:ext cx="3571900" cy="2928958"/>
            <a:chOff x="3571868" y="2571744"/>
            <a:chExt cx="3571900" cy="2928958"/>
          </a:xfrm>
        </p:grpSpPr>
        <p:sp>
          <p:nvSpPr>
            <p:cNvPr id="10" name="折角形 6">
              <a:extLst>
                <a:ext uri="{FF2B5EF4-FFF2-40B4-BE49-F238E27FC236}">
                  <a16:creationId xmlns:a16="http://schemas.microsoft.com/office/drawing/2014/main" id="{AE5C53BE-ACB1-46F0-9D7B-3DA9E4D4680D}"/>
                </a:ext>
              </a:extLst>
            </p:cNvPr>
            <p:cNvSpPr/>
            <p:nvPr/>
          </p:nvSpPr>
          <p:spPr>
            <a:xfrm>
              <a:off x="5500694" y="4500570"/>
              <a:ext cx="1643074" cy="1000132"/>
            </a:xfrm>
            <a:prstGeom prst="foldedCorner">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ct val="100000"/>
                </a:lnSpc>
                <a:spcBef>
                  <a:spcPts val="0"/>
                </a:spcBef>
              </a:pPr>
              <a:r>
                <a:rPr lang="zh-CN" altLang="en-US" sz="1800">
                  <a:solidFill>
                    <a:srgbClr val="0000FF"/>
                  </a:solidFill>
                  <a:latin typeface="仿宋" pitchFamily="49" charset="-122"/>
                  <a:ea typeface="仿宋" pitchFamily="49" charset="-122"/>
                </a:rPr>
                <a:t>求解算法</a:t>
              </a:r>
              <a:endParaRPr lang="en-US" altLang="zh-CN" sz="1800">
                <a:solidFill>
                  <a:srgbClr val="0000FF"/>
                </a:solidFill>
                <a:latin typeface="仿宋" pitchFamily="49" charset="-122"/>
                <a:ea typeface="仿宋" pitchFamily="49" charset="-122"/>
              </a:endParaRPr>
            </a:p>
            <a:p>
              <a:pPr algn="ctr">
                <a:lnSpc>
                  <a:spcPct val="100000"/>
                </a:lnSpc>
                <a:spcBef>
                  <a:spcPts val="0"/>
                </a:spcBef>
              </a:pPr>
              <a:r>
                <a:rPr lang="zh-CN" altLang="en-US" sz="1800">
                  <a:solidFill>
                    <a:srgbClr val="0000FF"/>
                  </a:solidFill>
                  <a:latin typeface="仿宋" pitchFamily="49" charset="-122"/>
                  <a:ea typeface="仿宋" pitchFamily="49" charset="-122"/>
                </a:rPr>
                <a:t>（运算实现）</a:t>
              </a:r>
            </a:p>
          </p:txBody>
        </p:sp>
        <p:cxnSp>
          <p:nvCxnSpPr>
            <p:cNvPr id="11" name="直接箭头连接符 10">
              <a:extLst>
                <a:ext uri="{FF2B5EF4-FFF2-40B4-BE49-F238E27FC236}">
                  <a16:creationId xmlns:a16="http://schemas.microsoft.com/office/drawing/2014/main" id="{3A4E7721-AB84-49B7-B7DC-7B441629BCE1}"/>
                </a:ext>
              </a:extLst>
            </p:cNvPr>
            <p:cNvCxnSpPr/>
            <p:nvPr/>
          </p:nvCxnSpPr>
          <p:spPr>
            <a:xfrm>
              <a:off x="3571868" y="4929198"/>
              <a:ext cx="1785950" cy="158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12" name="直接箭头连接符 11">
              <a:extLst>
                <a:ext uri="{FF2B5EF4-FFF2-40B4-BE49-F238E27FC236}">
                  <a16:creationId xmlns:a16="http://schemas.microsoft.com/office/drawing/2014/main" id="{6FBFBC0D-C981-4454-ADDB-BEA6E1761859}"/>
                </a:ext>
              </a:extLst>
            </p:cNvPr>
            <p:cNvCxnSpPr/>
            <p:nvPr/>
          </p:nvCxnSpPr>
          <p:spPr>
            <a:xfrm rot="5400000">
              <a:off x="5179223" y="3535363"/>
              <a:ext cx="1928826" cy="158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grpSp>
      <p:grpSp>
        <p:nvGrpSpPr>
          <p:cNvPr id="13" name="组合 12">
            <a:extLst>
              <a:ext uri="{FF2B5EF4-FFF2-40B4-BE49-F238E27FC236}">
                <a16:creationId xmlns:a16="http://schemas.microsoft.com/office/drawing/2014/main" id="{BCBD7972-3854-4EF9-9981-B74A2EF57114}"/>
              </a:ext>
            </a:extLst>
          </p:cNvPr>
          <p:cNvGrpSpPr/>
          <p:nvPr/>
        </p:nvGrpSpPr>
        <p:grpSpPr>
          <a:xfrm>
            <a:off x="2571736" y="5643578"/>
            <a:ext cx="3857652" cy="642943"/>
            <a:chOff x="2571736" y="5715015"/>
            <a:chExt cx="3857652" cy="642943"/>
          </a:xfrm>
        </p:grpSpPr>
        <p:sp>
          <p:nvSpPr>
            <p:cNvPr id="14" name="TextBox 12">
              <a:extLst>
                <a:ext uri="{FF2B5EF4-FFF2-40B4-BE49-F238E27FC236}">
                  <a16:creationId xmlns:a16="http://schemas.microsoft.com/office/drawing/2014/main" id="{84F27651-B77A-4DDF-B5B8-56E26CAEBD6F}"/>
                </a:ext>
              </a:extLst>
            </p:cNvPr>
            <p:cNvSpPr txBox="1"/>
            <p:nvPr/>
          </p:nvSpPr>
          <p:spPr>
            <a:xfrm>
              <a:off x="3000364" y="6019404"/>
              <a:ext cx="3429024" cy="338554"/>
            </a:xfrm>
            <a:prstGeom prst="rect">
              <a:avLst/>
            </a:prstGeom>
            <a:noFill/>
          </p:spPr>
          <p:txBody>
            <a:bodyPr wrap="square" rtlCol="0">
              <a:spAutoFit/>
            </a:bodyPr>
            <a:lstStyle/>
            <a:p>
              <a:pPr algn="l"/>
              <a:r>
                <a:rPr lang="zh-CN" altLang="en-US" sz="2000" dirty="0">
                  <a:solidFill>
                    <a:srgbClr val="0000FF"/>
                  </a:solidFill>
                  <a:latin typeface="华文中宋" pitchFamily="2" charset="-122"/>
                  <a:ea typeface="华文中宋" pitchFamily="2" charset="-122"/>
                </a:rPr>
                <a:t>求解问题实现：程序员视角</a:t>
              </a:r>
            </a:p>
          </p:txBody>
        </p:sp>
        <p:sp>
          <p:nvSpPr>
            <p:cNvPr id="15" name="右大括号 14">
              <a:extLst>
                <a:ext uri="{FF2B5EF4-FFF2-40B4-BE49-F238E27FC236}">
                  <a16:creationId xmlns:a16="http://schemas.microsoft.com/office/drawing/2014/main" id="{D693135F-922D-4BDA-8FDA-B861B1B7D5FE}"/>
                </a:ext>
              </a:extLst>
            </p:cNvPr>
            <p:cNvSpPr/>
            <p:nvPr/>
          </p:nvSpPr>
          <p:spPr>
            <a:xfrm rot="5400000">
              <a:off x="4429124" y="3857627"/>
              <a:ext cx="142876" cy="385765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grpSp>
    </p:spTree>
    <p:extLst>
      <p:ext uri="{BB962C8B-B14F-4D97-AF65-F5344CB8AC3E}">
        <p14:creationId xmlns:p14="http://schemas.microsoft.com/office/powerpoint/2010/main" val="428426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9FE200-5DBF-47A7-811E-1CEA630B8705}"/>
              </a:ext>
            </a:extLst>
          </p:cNvPr>
          <p:cNvSpPr>
            <a:spLocks noGrp="1"/>
          </p:cNvSpPr>
          <p:nvPr>
            <p:ph type="title"/>
          </p:nvPr>
        </p:nvSpPr>
        <p:spPr>
          <a:xfrm>
            <a:off x="467544" y="692696"/>
            <a:ext cx="7520940" cy="548640"/>
          </a:xfrm>
        </p:spPr>
        <p:txBody>
          <a:bodyPr/>
          <a:lstStyle/>
          <a:p>
            <a:r>
              <a:rPr lang="zh-CN" altLang="en-US" b="1" dirty="0">
                <a:solidFill>
                  <a:srgbClr val="FF0000"/>
                </a:solidFill>
                <a:latin typeface="楷体" panose="02010609060101010101" pitchFamily="49" charset="-122"/>
                <a:ea typeface="楷体" panose="02010609060101010101" pitchFamily="49" charset="-122"/>
              </a:rPr>
              <a:t>数据逻辑结构</a:t>
            </a:r>
          </a:p>
        </p:txBody>
      </p:sp>
      <p:sp>
        <p:nvSpPr>
          <p:cNvPr id="4" name="TextBox 12">
            <a:extLst>
              <a:ext uri="{FF2B5EF4-FFF2-40B4-BE49-F238E27FC236}">
                <a16:creationId xmlns:a16="http://schemas.microsoft.com/office/drawing/2014/main" id="{B23B89FB-1DE7-4A46-96FE-8FC3B64B6DF8}"/>
              </a:ext>
            </a:extLst>
          </p:cNvPr>
          <p:cNvSpPr txBox="1"/>
          <p:nvPr/>
        </p:nvSpPr>
        <p:spPr>
          <a:xfrm>
            <a:off x="647704" y="2060848"/>
            <a:ext cx="7643866" cy="240948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marL="457200" indent="-457200" algn="l">
              <a:lnSpc>
                <a:spcPts val="3000"/>
              </a:lnSpc>
              <a:buBlip>
                <a:blip r:embed="rId2"/>
              </a:buBlip>
            </a:pPr>
            <a:r>
              <a:rPr lang="zh-CN" altLang="zh-CN" sz="2400" dirty="0">
                <a:solidFill>
                  <a:schemeClr val="tx1"/>
                </a:solidFill>
                <a:latin typeface="楷体" panose="02010609060101010101" pitchFamily="49" charset="-122"/>
                <a:ea typeface="楷体" panose="02010609060101010101" pitchFamily="49" charset="-122"/>
                <a:cs typeface="Consolas" pitchFamily="49" charset="0"/>
              </a:rPr>
              <a:t>数据的逻辑结构是从数据元素的逻辑关系上描述数据的</a:t>
            </a:r>
            <a:r>
              <a:rPr lang="zh-CN" altLang="en-US" sz="2400" dirty="0">
                <a:solidFill>
                  <a:schemeClr val="tx1"/>
                </a:solidFill>
                <a:latin typeface="楷体" panose="02010609060101010101" pitchFamily="49" charset="-122"/>
                <a:ea typeface="楷体" panose="02010609060101010101" pitchFamily="49" charset="-122"/>
                <a:cs typeface="Consolas" pitchFamily="49" charset="0"/>
              </a:rPr>
              <a:t>。</a:t>
            </a:r>
            <a:endParaRPr lang="en-US" altLang="zh-CN" sz="2400" dirty="0">
              <a:solidFill>
                <a:schemeClr val="tx1"/>
              </a:solidFill>
              <a:latin typeface="楷体" panose="02010609060101010101" pitchFamily="49" charset="-122"/>
              <a:ea typeface="楷体" panose="02010609060101010101" pitchFamily="49" charset="-122"/>
              <a:cs typeface="Consolas" pitchFamily="49" charset="0"/>
            </a:endParaRPr>
          </a:p>
          <a:p>
            <a:pPr marL="457200" indent="-457200" algn="l">
              <a:lnSpc>
                <a:spcPts val="3000"/>
              </a:lnSpc>
              <a:buBlip>
                <a:blip r:embed="rId2"/>
              </a:buBlip>
            </a:pPr>
            <a:r>
              <a:rPr lang="zh-CN" altLang="zh-CN" sz="2400" dirty="0">
                <a:solidFill>
                  <a:schemeClr val="tx1"/>
                </a:solidFill>
                <a:latin typeface="楷体" panose="02010609060101010101" pitchFamily="49" charset="-122"/>
                <a:ea typeface="楷体" panose="02010609060101010101" pitchFamily="49" charset="-122"/>
                <a:cs typeface="Consolas" pitchFamily="49" charset="0"/>
              </a:rPr>
              <a:t>是指数据元素之间的逻辑关系的整体，通常是从求解问题中提炼出来的。</a:t>
            </a:r>
            <a:endParaRPr lang="en-US" altLang="zh-CN" sz="2400" dirty="0">
              <a:solidFill>
                <a:schemeClr val="tx1"/>
              </a:solidFill>
              <a:latin typeface="楷体" panose="02010609060101010101" pitchFamily="49" charset="-122"/>
              <a:ea typeface="楷体" panose="02010609060101010101" pitchFamily="49" charset="-122"/>
              <a:cs typeface="Consolas" pitchFamily="49" charset="0"/>
            </a:endParaRPr>
          </a:p>
          <a:p>
            <a:pPr marL="457200" indent="-457200" algn="l">
              <a:lnSpc>
                <a:spcPts val="3000"/>
              </a:lnSpc>
              <a:buBlip>
                <a:blip r:embed="rId2"/>
              </a:buBlip>
            </a:pPr>
            <a:r>
              <a:rPr lang="zh-CN" altLang="zh-CN" sz="2400" dirty="0">
                <a:solidFill>
                  <a:schemeClr val="tx1"/>
                </a:solidFill>
                <a:latin typeface="楷体" panose="02010609060101010101" pitchFamily="49" charset="-122"/>
                <a:ea typeface="楷体" panose="02010609060101010101" pitchFamily="49" charset="-122"/>
                <a:cs typeface="Consolas" pitchFamily="49" charset="0"/>
              </a:rPr>
              <a:t>数据逻辑结构与数据的存储无关，是</a:t>
            </a:r>
            <a:r>
              <a:rPr lang="zh-CN" altLang="zh-CN" sz="2400" dirty="0">
                <a:solidFill>
                  <a:srgbClr val="FF0000"/>
                </a:solidFill>
                <a:latin typeface="楷体" panose="02010609060101010101" pitchFamily="49" charset="-122"/>
                <a:ea typeface="楷体" panose="02010609060101010101" pitchFamily="49" charset="-122"/>
                <a:cs typeface="Consolas" pitchFamily="49" charset="0"/>
              </a:rPr>
              <a:t>独立</a:t>
            </a:r>
            <a:r>
              <a:rPr lang="zh-CN" altLang="zh-CN" sz="2400" dirty="0">
                <a:solidFill>
                  <a:schemeClr val="tx1"/>
                </a:solidFill>
                <a:latin typeface="楷体" panose="02010609060101010101" pitchFamily="49" charset="-122"/>
                <a:ea typeface="楷体" panose="02010609060101010101" pitchFamily="49" charset="-122"/>
                <a:cs typeface="Consolas" pitchFamily="49" charset="0"/>
              </a:rPr>
              <a:t>于计算机的。</a:t>
            </a:r>
          </a:p>
        </p:txBody>
      </p:sp>
    </p:spTree>
    <p:extLst>
      <p:ext uri="{BB962C8B-B14F-4D97-AF65-F5344CB8AC3E}">
        <p14:creationId xmlns:p14="http://schemas.microsoft.com/office/powerpoint/2010/main" val="2108024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8247" y="683404"/>
            <a:ext cx="7520940" cy="548640"/>
          </a:xfrm>
        </p:spPr>
        <p:txBody>
          <a:bodyPr/>
          <a:lstStyle/>
          <a:p>
            <a:r>
              <a:rPr lang="zh-CN" altLang="zh-CN" sz="2400" b="1" dirty="0">
                <a:latin typeface="楷体" panose="02010609060101010101" pitchFamily="49" charset="-122"/>
                <a:ea typeface="楷体" panose="02010609060101010101" pitchFamily="49" charset="-122"/>
              </a:rPr>
              <a:t>逻辑结构</a:t>
            </a:r>
            <a:r>
              <a:rPr lang="zh-CN" altLang="en-US" sz="2400" b="1" dirty="0">
                <a:latin typeface="楷体" panose="02010609060101010101" pitchFamily="49" charset="-122"/>
                <a:ea typeface="楷体" panose="02010609060101010101" pitchFamily="49" charset="-122"/>
              </a:rPr>
              <a:t>类型</a:t>
            </a:r>
          </a:p>
        </p:txBody>
      </p:sp>
      <p:sp>
        <p:nvSpPr>
          <p:cNvPr id="4" name="矩形 3"/>
          <p:cNvSpPr/>
          <p:nvPr/>
        </p:nvSpPr>
        <p:spPr>
          <a:xfrm>
            <a:off x="3275856" y="5625955"/>
            <a:ext cx="2473754" cy="369332"/>
          </a:xfrm>
          <a:prstGeom prst="rect">
            <a:avLst/>
          </a:prstGeom>
        </p:spPr>
        <p:txBody>
          <a:bodyPr wrap="none">
            <a:spAutoFit/>
          </a:bodyPr>
          <a:lstStyle/>
          <a:p>
            <a:r>
              <a:rPr lang="zh-CN" altLang="zh-CN" dirty="0"/>
              <a:t>图1-1  数据逻辑关系图</a:t>
            </a:r>
          </a:p>
        </p:txBody>
      </p:sp>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862" y="1539763"/>
            <a:ext cx="7448325" cy="37784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6819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217E7F9-B743-48CF-B17B-A9D847B30170}"/>
              </a:ext>
            </a:extLst>
          </p:cNvPr>
          <p:cNvSpPr>
            <a:spLocks noChangeArrowheads="1"/>
          </p:cNvSpPr>
          <p:nvPr/>
        </p:nvSpPr>
        <p:spPr bwMode="auto">
          <a:xfrm>
            <a:off x="611560" y="2276872"/>
            <a:ext cx="7772424" cy="1365909"/>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tIns="76176" bIns="144000">
            <a:spAutoFit/>
          </a:bodyPr>
          <a:lstStyle/>
          <a:p>
            <a:pPr indent="266700" algn="just">
              <a:lnSpc>
                <a:spcPct val="130000"/>
              </a:lnSpc>
              <a:spcBef>
                <a:spcPct val="0"/>
              </a:spcBef>
            </a:pPr>
            <a:r>
              <a:rPr lang="zh-CN" altLang="en-US" sz="2000" b="1" dirty="0">
                <a:solidFill>
                  <a:schemeClr val="tx1"/>
                </a:solidFill>
                <a:latin typeface="楷体" panose="02010609060101010101" pitchFamily="49" charset="-122"/>
                <a:ea typeface="楷体" panose="02010609060101010101" pitchFamily="49" charset="-122"/>
                <a:cs typeface="Consolas" pitchFamily="49" charset="0"/>
              </a:rPr>
              <a:t>  </a:t>
            </a:r>
            <a:r>
              <a:rPr lang="zh-CN" altLang="en-US" sz="2000" b="1" dirty="0">
                <a:solidFill>
                  <a:srgbClr val="FF0000"/>
                </a:solidFill>
                <a:latin typeface="楷体" panose="02010609060101010101" pitchFamily="49" charset="-122"/>
                <a:ea typeface="楷体" panose="02010609060101010101" pitchFamily="49" charset="-122"/>
                <a:cs typeface="Consolas" pitchFamily="49" charset="0"/>
              </a:rPr>
              <a:t>元素之间关系</a:t>
            </a:r>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：无。</a:t>
            </a:r>
          </a:p>
          <a:p>
            <a:pPr indent="266700" algn="just">
              <a:lnSpc>
                <a:spcPct val="130000"/>
              </a:lnSpc>
              <a:spcBef>
                <a:spcPct val="0"/>
              </a:spcBef>
            </a:pPr>
            <a:r>
              <a:rPr lang="zh-CN" altLang="en-US" sz="2000" b="1" dirty="0">
                <a:solidFill>
                  <a:schemeClr val="tx1"/>
                </a:solidFill>
                <a:latin typeface="楷体" panose="02010609060101010101" pitchFamily="49" charset="-122"/>
                <a:ea typeface="楷体" panose="02010609060101010101" pitchFamily="49" charset="-122"/>
                <a:cs typeface="Consolas" pitchFamily="49" charset="0"/>
              </a:rPr>
              <a:t>  </a:t>
            </a:r>
            <a:r>
              <a:rPr lang="zh-CN" altLang="en-US" sz="2000" b="1" dirty="0">
                <a:solidFill>
                  <a:srgbClr val="FF0000"/>
                </a:solidFill>
                <a:latin typeface="楷体" panose="02010609060101010101" pitchFamily="49" charset="-122"/>
                <a:ea typeface="楷体" panose="02010609060101010101" pitchFamily="49" charset="-122"/>
                <a:cs typeface="Consolas" pitchFamily="49" charset="0"/>
              </a:rPr>
              <a:t>特点</a:t>
            </a:r>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：数据元素之间除了“属于同一个集合”的关系外，别无其他逻辑关系。是最松散的，不受任何制约的关系。</a:t>
            </a:r>
          </a:p>
        </p:txBody>
      </p:sp>
      <p:grpSp>
        <p:nvGrpSpPr>
          <p:cNvPr id="5" name="组合 10">
            <a:extLst>
              <a:ext uri="{FF2B5EF4-FFF2-40B4-BE49-F238E27FC236}">
                <a16:creationId xmlns:a16="http://schemas.microsoft.com/office/drawing/2014/main" id="{E94E56DC-3920-4C6C-A2CD-ED7C740AC868}"/>
              </a:ext>
            </a:extLst>
          </p:cNvPr>
          <p:cNvGrpSpPr/>
          <p:nvPr/>
        </p:nvGrpSpPr>
        <p:grpSpPr>
          <a:xfrm>
            <a:off x="3358147" y="4107587"/>
            <a:ext cx="1820862" cy="1389061"/>
            <a:chOff x="2608262" y="3929066"/>
            <a:chExt cx="1820862" cy="1389061"/>
          </a:xfrm>
        </p:grpSpPr>
        <p:sp>
          <p:nvSpPr>
            <p:cNvPr id="6" name="Oval 6">
              <a:extLst>
                <a:ext uri="{FF2B5EF4-FFF2-40B4-BE49-F238E27FC236}">
                  <a16:creationId xmlns:a16="http://schemas.microsoft.com/office/drawing/2014/main" id="{79CD2EF7-A4E4-4EC0-A1C6-79382441A5A8}"/>
                </a:ext>
              </a:extLst>
            </p:cNvPr>
            <p:cNvSpPr>
              <a:spLocks noChangeArrowheads="1"/>
            </p:cNvSpPr>
            <p:nvPr/>
          </p:nvSpPr>
          <p:spPr bwMode="auto">
            <a:xfrm>
              <a:off x="2608262" y="4505327"/>
              <a:ext cx="381000" cy="3810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endParaRPr lang="zh-CN" altLang="en-US">
                <a:solidFill>
                  <a:schemeClr val="tx1"/>
                </a:solidFill>
              </a:endParaRPr>
            </a:p>
          </p:txBody>
        </p:sp>
        <p:sp>
          <p:nvSpPr>
            <p:cNvPr id="7" name="Oval 8">
              <a:extLst>
                <a:ext uri="{FF2B5EF4-FFF2-40B4-BE49-F238E27FC236}">
                  <a16:creationId xmlns:a16="http://schemas.microsoft.com/office/drawing/2014/main" id="{4F30DD2D-C481-43DB-BEB7-974FBADC19D0}"/>
                </a:ext>
              </a:extLst>
            </p:cNvPr>
            <p:cNvSpPr>
              <a:spLocks noChangeArrowheads="1"/>
            </p:cNvSpPr>
            <p:nvPr/>
          </p:nvSpPr>
          <p:spPr bwMode="auto">
            <a:xfrm>
              <a:off x="2824162" y="3929066"/>
              <a:ext cx="381000" cy="3810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endParaRPr lang="zh-CN" altLang="en-US">
                <a:solidFill>
                  <a:schemeClr val="tx1"/>
                </a:solidFill>
              </a:endParaRPr>
            </a:p>
          </p:txBody>
        </p:sp>
        <p:sp>
          <p:nvSpPr>
            <p:cNvPr id="8" name="Oval 10">
              <a:extLst>
                <a:ext uri="{FF2B5EF4-FFF2-40B4-BE49-F238E27FC236}">
                  <a16:creationId xmlns:a16="http://schemas.microsoft.com/office/drawing/2014/main" id="{2D3FB09C-94FB-4AD3-B619-5B69F6816815}"/>
                </a:ext>
              </a:extLst>
            </p:cNvPr>
            <p:cNvSpPr>
              <a:spLocks noChangeArrowheads="1"/>
            </p:cNvSpPr>
            <p:nvPr/>
          </p:nvSpPr>
          <p:spPr bwMode="auto">
            <a:xfrm>
              <a:off x="3327399" y="4362452"/>
              <a:ext cx="381000" cy="3810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endParaRPr lang="zh-CN" altLang="en-US">
                <a:solidFill>
                  <a:schemeClr val="tx1"/>
                </a:solidFill>
              </a:endParaRPr>
            </a:p>
          </p:txBody>
        </p:sp>
        <p:sp>
          <p:nvSpPr>
            <p:cNvPr id="9" name="Oval 12">
              <a:extLst>
                <a:ext uri="{FF2B5EF4-FFF2-40B4-BE49-F238E27FC236}">
                  <a16:creationId xmlns:a16="http://schemas.microsoft.com/office/drawing/2014/main" id="{C408B334-15BD-4DA0-91BB-1178E476E11B}"/>
                </a:ext>
              </a:extLst>
            </p:cNvPr>
            <p:cNvSpPr>
              <a:spLocks noChangeArrowheads="1"/>
            </p:cNvSpPr>
            <p:nvPr/>
          </p:nvSpPr>
          <p:spPr bwMode="auto">
            <a:xfrm>
              <a:off x="3040062" y="4937127"/>
              <a:ext cx="381000" cy="3810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endParaRPr lang="zh-CN" altLang="en-US">
                <a:solidFill>
                  <a:schemeClr val="tx1"/>
                </a:solidFill>
              </a:endParaRPr>
            </a:p>
          </p:txBody>
        </p:sp>
        <p:sp>
          <p:nvSpPr>
            <p:cNvPr id="10" name="Oval 3">
              <a:extLst>
                <a:ext uri="{FF2B5EF4-FFF2-40B4-BE49-F238E27FC236}">
                  <a16:creationId xmlns:a16="http://schemas.microsoft.com/office/drawing/2014/main" id="{768C4B3B-E355-4FA8-86F5-0B4CF0BEBDC2}"/>
                </a:ext>
              </a:extLst>
            </p:cNvPr>
            <p:cNvSpPr>
              <a:spLocks noChangeArrowheads="1"/>
            </p:cNvSpPr>
            <p:nvPr/>
          </p:nvSpPr>
          <p:spPr bwMode="auto">
            <a:xfrm>
              <a:off x="4048124" y="4002090"/>
              <a:ext cx="381000" cy="3810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endParaRPr lang="zh-CN" altLang="en-US">
                <a:solidFill>
                  <a:schemeClr val="tx1"/>
                </a:solidFill>
              </a:endParaRPr>
            </a:p>
          </p:txBody>
        </p:sp>
        <p:sp>
          <p:nvSpPr>
            <p:cNvPr id="11" name="Oval 4">
              <a:extLst>
                <a:ext uri="{FF2B5EF4-FFF2-40B4-BE49-F238E27FC236}">
                  <a16:creationId xmlns:a16="http://schemas.microsoft.com/office/drawing/2014/main" id="{2CCE57AA-BDB5-4AE3-B9E0-1F04DAFCF90F}"/>
                </a:ext>
              </a:extLst>
            </p:cNvPr>
            <p:cNvSpPr>
              <a:spLocks noChangeArrowheads="1"/>
            </p:cNvSpPr>
            <p:nvPr/>
          </p:nvSpPr>
          <p:spPr bwMode="auto">
            <a:xfrm>
              <a:off x="3976687" y="4794252"/>
              <a:ext cx="381000" cy="381000"/>
            </a:xfrm>
            <a:prstGeom prst="ellipse">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endParaRPr lang="zh-CN" altLang="en-US">
                <a:solidFill>
                  <a:schemeClr val="tx1"/>
                </a:solidFill>
              </a:endParaRPr>
            </a:p>
          </p:txBody>
        </p:sp>
      </p:grpSp>
      <p:sp>
        <p:nvSpPr>
          <p:cNvPr id="12" name="TextBox 12">
            <a:extLst>
              <a:ext uri="{FF2B5EF4-FFF2-40B4-BE49-F238E27FC236}">
                <a16:creationId xmlns:a16="http://schemas.microsoft.com/office/drawing/2014/main" id="{50FECF0B-FABD-4C92-8664-8D84A1F13950}"/>
              </a:ext>
            </a:extLst>
          </p:cNvPr>
          <p:cNvSpPr txBox="1"/>
          <p:nvPr/>
        </p:nvSpPr>
        <p:spPr>
          <a:xfrm>
            <a:off x="611560" y="717425"/>
            <a:ext cx="7314036" cy="461665"/>
          </a:xfrm>
          <a:prstGeom prst="rect">
            <a:avLst/>
          </a:prstGeom>
          <a:noFill/>
        </p:spPr>
        <p:txBody>
          <a:bodyPr wrap="square" rtlCol="0">
            <a:spAutoFit/>
          </a:bodyPr>
          <a:lstStyle/>
          <a:p>
            <a:pPr algn="l">
              <a:lnSpc>
                <a:spcPct val="100000"/>
              </a:lnSpc>
            </a:pPr>
            <a:r>
              <a:rPr lang="zh-CN" altLang="en-US" sz="2400" dirty="0">
                <a:latin typeface="楷体" panose="02010609060101010101" pitchFamily="49" charset="-122"/>
                <a:ea typeface="楷体" panose="02010609060101010101" pitchFamily="49" charset="-122"/>
                <a:cs typeface="Consolas" pitchFamily="49" charset="0"/>
              </a:rPr>
              <a:t>各种各样的数据呈现出不同的逻辑结构，归纳为</a:t>
            </a:r>
            <a:r>
              <a:rPr lang="en-US" altLang="zh-CN" sz="2400" dirty="0">
                <a:latin typeface="楷体" panose="02010609060101010101" pitchFamily="49" charset="-122"/>
                <a:ea typeface="楷体" panose="02010609060101010101" pitchFamily="49" charset="-122"/>
                <a:cs typeface="Consolas" pitchFamily="49" charset="0"/>
              </a:rPr>
              <a:t>4</a:t>
            </a:r>
            <a:r>
              <a:rPr lang="zh-CN" altLang="en-US" sz="2400" dirty="0">
                <a:latin typeface="楷体" panose="02010609060101010101" pitchFamily="49" charset="-122"/>
                <a:ea typeface="楷体" panose="02010609060101010101" pitchFamily="49" charset="-122"/>
                <a:cs typeface="Consolas" pitchFamily="49" charset="0"/>
              </a:rPr>
              <a:t>种。</a:t>
            </a:r>
          </a:p>
        </p:txBody>
      </p:sp>
      <p:sp>
        <p:nvSpPr>
          <p:cNvPr id="13" name="TextBox 15">
            <a:extLst>
              <a:ext uri="{FF2B5EF4-FFF2-40B4-BE49-F238E27FC236}">
                <a16:creationId xmlns:a16="http://schemas.microsoft.com/office/drawing/2014/main" id="{9914EDA2-ABE2-43F2-A0AF-4B4FA36D25C7}"/>
              </a:ext>
            </a:extLst>
          </p:cNvPr>
          <p:cNvSpPr txBox="1"/>
          <p:nvPr/>
        </p:nvSpPr>
        <p:spPr>
          <a:xfrm>
            <a:off x="579335" y="1462944"/>
            <a:ext cx="2058022"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l"/>
            <a:r>
              <a:rPr lang="en-US" altLang="zh-CN" sz="2400" b="1" dirty="0">
                <a:solidFill>
                  <a:srgbClr val="FF0000"/>
                </a:solidFill>
                <a:latin typeface="楷体" panose="02010609060101010101" pitchFamily="49" charset="-122"/>
                <a:ea typeface="楷体" panose="02010609060101010101" pitchFamily="49" charset="-122"/>
                <a:cs typeface="Consolas" pitchFamily="49" charset="0"/>
              </a:rPr>
              <a:t>1</a:t>
            </a:r>
            <a:r>
              <a:rPr lang="zh-CN" altLang="en-US" sz="2400" b="1" dirty="0">
                <a:solidFill>
                  <a:srgbClr val="FF0000"/>
                </a:solidFill>
                <a:latin typeface="楷体" panose="02010609060101010101" pitchFamily="49" charset="-122"/>
                <a:ea typeface="楷体" panose="02010609060101010101" pitchFamily="49" charset="-122"/>
                <a:cs typeface="Consolas" pitchFamily="49" charset="0"/>
              </a:rPr>
              <a:t>）集合</a:t>
            </a:r>
          </a:p>
        </p:txBody>
      </p:sp>
    </p:spTree>
    <p:extLst>
      <p:ext uri="{BB962C8B-B14F-4D97-AF65-F5344CB8AC3E}">
        <p14:creationId xmlns:p14="http://schemas.microsoft.com/office/powerpoint/2010/main" val="1053059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824D52F-76F1-451A-BE12-E8753BC9DD05}"/>
              </a:ext>
            </a:extLst>
          </p:cNvPr>
          <p:cNvSpPr>
            <a:spLocks noChangeArrowheads="1"/>
          </p:cNvSpPr>
          <p:nvPr/>
        </p:nvSpPr>
        <p:spPr bwMode="auto">
          <a:xfrm>
            <a:off x="857224" y="1597580"/>
            <a:ext cx="7429552" cy="160367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144000" tIns="144000" rIns="180000" bIns="144000">
            <a:spAutoFit/>
          </a:bodyPr>
          <a:lstStyle/>
          <a:p>
            <a:pPr indent="266700" algn="just">
              <a:lnSpc>
                <a:spcPct val="150000"/>
              </a:lnSpc>
              <a:spcBef>
                <a:spcPct val="0"/>
              </a:spcBef>
            </a:pPr>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 </a:t>
            </a:r>
            <a:r>
              <a:rPr lang="zh-CN" altLang="en-US" sz="2000" dirty="0">
                <a:solidFill>
                  <a:srgbClr val="FF0000"/>
                </a:solidFill>
                <a:latin typeface="楷体" panose="02010609060101010101" pitchFamily="49" charset="-122"/>
                <a:ea typeface="楷体" panose="02010609060101010101" pitchFamily="49" charset="-122"/>
                <a:cs typeface="Consolas" pitchFamily="49" charset="0"/>
              </a:rPr>
              <a:t>元素</a:t>
            </a:r>
            <a:r>
              <a:rPr lang="zh-CN" altLang="en-US" sz="2000" b="1" dirty="0">
                <a:solidFill>
                  <a:srgbClr val="FF0000"/>
                </a:solidFill>
                <a:latin typeface="楷体" panose="02010609060101010101" pitchFamily="49" charset="-122"/>
                <a:ea typeface="楷体" panose="02010609060101010101" pitchFamily="49" charset="-122"/>
                <a:cs typeface="Consolas" pitchFamily="49" charset="0"/>
              </a:rPr>
              <a:t>之间关系：</a:t>
            </a: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一对一。</a:t>
            </a:r>
          </a:p>
          <a:p>
            <a:pPr indent="266700" algn="just">
              <a:lnSpc>
                <a:spcPct val="150000"/>
              </a:lnSpc>
              <a:spcBef>
                <a:spcPct val="0"/>
              </a:spcBef>
            </a:pP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 </a:t>
            </a:r>
            <a:r>
              <a:rPr lang="zh-CN" altLang="en-US" sz="2000" b="1" dirty="0">
                <a:solidFill>
                  <a:srgbClr val="FF0000"/>
                </a:solidFill>
                <a:latin typeface="楷体" panose="02010609060101010101" pitchFamily="49" charset="-122"/>
                <a:ea typeface="楷体" panose="02010609060101010101" pitchFamily="49" charset="-122"/>
                <a:cs typeface="Consolas" pitchFamily="49" charset="0"/>
              </a:rPr>
              <a:t>特点：</a:t>
            </a:r>
            <a:r>
              <a:rPr lang="zh-CN" altLang="en-US" sz="2000" dirty="0">
                <a:solidFill>
                  <a:srgbClr val="0000FF"/>
                </a:solidFill>
                <a:latin typeface="楷体" panose="02010609060101010101" pitchFamily="49" charset="-122"/>
                <a:ea typeface="楷体" panose="02010609060101010101" pitchFamily="49" charset="-122"/>
              </a:rPr>
              <a:t>开始元素和终端元素都是唯一的，除此之外，其余元素都有且仅有一个前驱元素和一个后继元素。</a:t>
            </a:r>
          </a:p>
        </p:txBody>
      </p:sp>
      <p:grpSp>
        <p:nvGrpSpPr>
          <p:cNvPr id="5" name="组合 12">
            <a:extLst>
              <a:ext uri="{FF2B5EF4-FFF2-40B4-BE49-F238E27FC236}">
                <a16:creationId xmlns:a16="http://schemas.microsoft.com/office/drawing/2014/main" id="{3F76E07C-74C4-4351-88BA-021EAB31A25A}"/>
              </a:ext>
            </a:extLst>
          </p:cNvPr>
          <p:cNvGrpSpPr/>
          <p:nvPr/>
        </p:nvGrpSpPr>
        <p:grpSpPr>
          <a:xfrm>
            <a:off x="2000232" y="3905958"/>
            <a:ext cx="4572000" cy="584775"/>
            <a:chOff x="1485880" y="3044552"/>
            <a:chExt cx="4572000" cy="584775"/>
          </a:xfrm>
        </p:grpSpPr>
        <p:sp>
          <p:nvSpPr>
            <p:cNvPr id="6" name="Oval 5">
              <a:extLst>
                <a:ext uri="{FF2B5EF4-FFF2-40B4-BE49-F238E27FC236}">
                  <a16:creationId xmlns:a16="http://schemas.microsoft.com/office/drawing/2014/main" id="{3DA87B95-FD92-4033-83D5-E496CDAFB96D}"/>
                </a:ext>
              </a:extLst>
            </p:cNvPr>
            <p:cNvSpPr>
              <a:spLocks noChangeArrowheads="1"/>
            </p:cNvSpPr>
            <p:nvPr/>
          </p:nvSpPr>
          <p:spPr bwMode="auto">
            <a:xfrm>
              <a:off x="1485880" y="3194706"/>
              <a:ext cx="381000" cy="381000"/>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7" name="Line 6">
              <a:extLst>
                <a:ext uri="{FF2B5EF4-FFF2-40B4-BE49-F238E27FC236}">
                  <a16:creationId xmlns:a16="http://schemas.microsoft.com/office/drawing/2014/main" id="{70564737-30B5-4316-A28F-B1CA39C59401}"/>
                </a:ext>
              </a:extLst>
            </p:cNvPr>
            <p:cNvSpPr>
              <a:spLocks noChangeShapeType="1"/>
            </p:cNvSpPr>
            <p:nvPr/>
          </p:nvSpPr>
          <p:spPr bwMode="auto">
            <a:xfrm>
              <a:off x="1866880" y="3372507"/>
              <a:ext cx="533400" cy="0"/>
            </a:xfrm>
            <a:prstGeom prst="line">
              <a:avLst/>
            </a:prstGeom>
            <a:ln>
              <a:headEn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8" name="Oval 7">
              <a:extLst>
                <a:ext uri="{FF2B5EF4-FFF2-40B4-BE49-F238E27FC236}">
                  <a16:creationId xmlns:a16="http://schemas.microsoft.com/office/drawing/2014/main" id="{2447117E-1DE6-441A-95FB-EB30C59AE7E4}"/>
                </a:ext>
              </a:extLst>
            </p:cNvPr>
            <p:cNvSpPr>
              <a:spLocks noChangeArrowheads="1"/>
            </p:cNvSpPr>
            <p:nvPr/>
          </p:nvSpPr>
          <p:spPr bwMode="auto">
            <a:xfrm>
              <a:off x="2400280" y="3194706"/>
              <a:ext cx="381000" cy="381000"/>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9" name="Line 8">
              <a:extLst>
                <a:ext uri="{FF2B5EF4-FFF2-40B4-BE49-F238E27FC236}">
                  <a16:creationId xmlns:a16="http://schemas.microsoft.com/office/drawing/2014/main" id="{9E6A729E-FA01-4EAA-A5BA-3DEC84D53AD1}"/>
                </a:ext>
              </a:extLst>
            </p:cNvPr>
            <p:cNvSpPr>
              <a:spLocks noChangeShapeType="1"/>
            </p:cNvSpPr>
            <p:nvPr/>
          </p:nvSpPr>
          <p:spPr bwMode="auto">
            <a:xfrm>
              <a:off x="2781280" y="3372507"/>
              <a:ext cx="533400" cy="0"/>
            </a:xfrm>
            <a:prstGeom prst="line">
              <a:avLst/>
            </a:prstGeom>
            <a:ln>
              <a:headEn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0" name="Oval 9">
              <a:extLst>
                <a:ext uri="{FF2B5EF4-FFF2-40B4-BE49-F238E27FC236}">
                  <a16:creationId xmlns:a16="http://schemas.microsoft.com/office/drawing/2014/main" id="{62E16639-304C-42E2-91D0-FC0C96C88C88}"/>
                </a:ext>
              </a:extLst>
            </p:cNvPr>
            <p:cNvSpPr>
              <a:spLocks noChangeArrowheads="1"/>
            </p:cNvSpPr>
            <p:nvPr/>
          </p:nvSpPr>
          <p:spPr bwMode="auto">
            <a:xfrm>
              <a:off x="3314680" y="3194706"/>
              <a:ext cx="381000" cy="381000"/>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1" name="Line 10">
              <a:extLst>
                <a:ext uri="{FF2B5EF4-FFF2-40B4-BE49-F238E27FC236}">
                  <a16:creationId xmlns:a16="http://schemas.microsoft.com/office/drawing/2014/main" id="{8E314669-E656-4620-A861-28B8742B1324}"/>
                </a:ext>
              </a:extLst>
            </p:cNvPr>
            <p:cNvSpPr>
              <a:spLocks noChangeShapeType="1"/>
            </p:cNvSpPr>
            <p:nvPr/>
          </p:nvSpPr>
          <p:spPr bwMode="auto">
            <a:xfrm>
              <a:off x="3695680" y="3372507"/>
              <a:ext cx="533400" cy="0"/>
            </a:xfrm>
            <a:prstGeom prst="line">
              <a:avLst/>
            </a:prstGeom>
            <a:ln>
              <a:headEn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2" name="Oval 11">
              <a:extLst>
                <a:ext uri="{FF2B5EF4-FFF2-40B4-BE49-F238E27FC236}">
                  <a16:creationId xmlns:a16="http://schemas.microsoft.com/office/drawing/2014/main" id="{2A7ED6AB-6F89-4BEA-8AB6-F283725E6083}"/>
                </a:ext>
              </a:extLst>
            </p:cNvPr>
            <p:cNvSpPr>
              <a:spLocks noChangeArrowheads="1"/>
            </p:cNvSpPr>
            <p:nvPr/>
          </p:nvSpPr>
          <p:spPr bwMode="auto">
            <a:xfrm>
              <a:off x="5676880" y="3194706"/>
              <a:ext cx="381000" cy="381000"/>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3" name="Line 12">
              <a:extLst>
                <a:ext uri="{FF2B5EF4-FFF2-40B4-BE49-F238E27FC236}">
                  <a16:creationId xmlns:a16="http://schemas.microsoft.com/office/drawing/2014/main" id="{BC8361BF-15B2-4ED3-A515-2F1F65097F06}"/>
                </a:ext>
              </a:extLst>
            </p:cNvPr>
            <p:cNvSpPr>
              <a:spLocks noChangeShapeType="1"/>
            </p:cNvSpPr>
            <p:nvPr/>
          </p:nvSpPr>
          <p:spPr bwMode="auto">
            <a:xfrm>
              <a:off x="5143480" y="3372507"/>
              <a:ext cx="533400" cy="0"/>
            </a:xfrm>
            <a:prstGeom prst="line">
              <a:avLst/>
            </a:prstGeom>
            <a:ln>
              <a:headEn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4" name="Text Box 13">
              <a:extLst>
                <a:ext uri="{FF2B5EF4-FFF2-40B4-BE49-F238E27FC236}">
                  <a16:creationId xmlns:a16="http://schemas.microsoft.com/office/drawing/2014/main" id="{E64FB137-9490-48CD-9A03-79D62C5F7466}"/>
                </a:ext>
              </a:extLst>
            </p:cNvPr>
            <p:cNvSpPr txBox="1">
              <a:spLocks noChangeArrowheads="1"/>
            </p:cNvSpPr>
            <p:nvPr/>
          </p:nvSpPr>
          <p:spPr bwMode="auto">
            <a:xfrm>
              <a:off x="4514856" y="3044552"/>
              <a:ext cx="685800" cy="584775"/>
            </a:xfrm>
            <a:prstGeom prst="rect">
              <a:avLst/>
            </a:prstGeom>
            <a:noFill/>
            <a:ln w="9525">
              <a:noFill/>
              <a:miter lim="800000"/>
              <a:headEnd/>
              <a:tailEnd/>
            </a:ln>
            <a:effectLst/>
          </p:spPr>
          <p:txBody>
            <a:bodyPr>
              <a:spAutoFit/>
            </a:bodyPr>
            <a:lstStyle/>
            <a:p>
              <a:pPr algn="l">
                <a:lnSpc>
                  <a:spcPct val="100000"/>
                </a:lnSpc>
              </a:pPr>
              <a:r>
                <a:rPr lang="en-US" altLang="zh-CN" sz="3200" b="0">
                  <a:solidFill>
                    <a:srgbClr val="0000FF"/>
                  </a:solidFill>
                  <a:latin typeface="楷体" panose="02010609060101010101" pitchFamily="49" charset="-122"/>
                  <a:ea typeface="楷体" panose="02010609060101010101" pitchFamily="49" charset="-122"/>
                  <a:cs typeface="Consolas" pitchFamily="49" charset="0"/>
                </a:rPr>
                <a:t>…</a:t>
              </a:r>
            </a:p>
          </p:txBody>
        </p:sp>
      </p:grpSp>
      <p:sp>
        <p:nvSpPr>
          <p:cNvPr id="15" name="TextBox 14">
            <a:extLst>
              <a:ext uri="{FF2B5EF4-FFF2-40B4-BE49-F238E27FC236}">
                <a16:creationId xmlns:a16="http://schemas.microsoft.com/office/drawing/2014/main" id="{00796EF0-A431-4AC6-9823-6806C5D9072A}"/>
              </a:ext>
            </a:extLst>
          </p:cNvPr>
          <p:cNvSpPr txBox="1"/>
          <p:nvPr/>
        </p:nvSpPr>
        <p:spPr>
          <a:xfrm>
            <a:off x="857224" y="742720"/>
            <a:ext cx="2130600"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l"/>
            <a:r>
              <a:rPr lang="en-US" altLang="zh-CN" sz="2400" b="1" dirty="0">
                <a:solidFill>
                  <a:srgbClr val="FF0000"/>
                </a:solidFill>
                <a:latin typeface="楷体" panose="02010609060101010101" pitchFamily="49" charset="-122"/>
                <a:ea typeface="楷体" panose="02010609060101010101" pitchFamily="49" charset="-122"/>
                <a:cs typeface="Consolas" pitchFamily="49" charset="0"/>
              </a:rPr>
              <a:t>2</a:t>
            </a:r>
            <a:r>
              <a:rPr lang="zh-CN" altLang="en-US" sz="2400" b="1" dirty="0">
                <a:solidFill>
                  <a:srgbClr val="FF0000"/>
                </a:solidFill>
                <a:latin typeface="楷体" panose="02010609060101010101" pitchFamily="49" charset="-122"/>
                <a:ea typeface="楷体" panose="02010609060101010101" pitchFamily="49" charset="-122"/>
                <a:cs typeface="Consolas" pitchFamily="49" charset="0"/>
              </a:rPr>
              <a:t>）线性结构</a:t>
            </a:r>
          </a:p>
        </p:txBody>
      </p:sp>
    </p:spTree>
    <p:extLst>
      <p:ext uri="{BB962C8B-B14F-4D97-AF65-F5344CB8AC3E}">
        <p14:creationId xmlns:p14="http://schemas.microsoft.com/office/powerpoint/2010/main" val="1563936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F49E5AC1-42A1-441D-9F3E-613BBB3A7AAC}"/>
              </a:ext>
            </a:extLst>
          </p:cNvPr>
          <p:cNvSpPr>
            <a:spLocks noChangeArrowheads="1"/>
          </p:cNvSpPr>
          <p:nvPr/>
        </p:nvSpPr>
        <p:spPr bwMode="auto">
          <a:xfrm>
            <a:off x="500034" y="1340768"/>
            <a:ext cx="8105802" cy="1996851"/>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tIns="76176" bIns="144000">
            <a:spAutoFit/>
          </a:bodyPr>
          <a:lstStyle/>
          <a:p>
            <a:pPr indent="266700" algn="just">
              <a:lnSpc>
                <a:spcPct val="150000"/>
              </a:lnSpc>
              <a:spcBef>
                <a:spcPct val="0"/>
              </a:spcBef>
            </a:pPr>
            <a:r>
              <a:rPr lang="zh-CN" altLang="en-US" sz="2000" b="1" dirty="0">
                <a:solidFill>
                  <a:srgbClr val="FF0000"/>
                </a:solidFill>
                <a:latin typeface="楷体" panose="02010609060101010101" pitchFamily="49" charset="-122"/>
                <a:ea typeface="楷体" panose="02010609060101010101" pitchFamily="49" charset="-122"/>
                <a:cs typeface="Consolas" pitchFamily="49" charset="0"/>
              </a:rPr>
              <a:t> 元素之间关系：</a:t>
            </a: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一对多。</a:t>
            </a:r>
          </a:p>
          <a:p>
            <a:pPr indent="266700" algn="just">
              <a:lnSpc>
                <a:spcPct val="150000"/>
              </a:lnSpc>
              <a:spcBef>
                <a:spcPct val="0"/>
              </a:spcBef>
            </a:pP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 </a:t>
            </a:r>
            <a:r>
              <a:rPr lang="zh-CN" altLang="en-US" sz="2000" b="1" dirty="0">
                <a:solidFill>
                  <a:srgbClr val="FF0000"/>
                </a:solidFill>
                <a:latin typeface="楷体" panose="02010609060101010101" pitchFamily="49" charset="-122"/>
                <a:ea typeface="楷体" panose="02010609060101010101" pitchFamily="49" charset="-122"/>
                <a:cs typeface="Consolas" pitchFamily="49" charset="0"/>
              </a:rPr>
              <a:t>特点：</a:t>
            </a:r>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开始元素唯一</a:t>
            </a: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a:t>
            </a:r>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终端元素不</a:t>
            </a: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唯一。除</a:t>
            </a:r>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终端元素</a:t>
            </a: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以外，</a:t>
            </a:r>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每个元素有</a:t>
            </a: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一个或多个</a:t>
            </a:r>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后续元素；</a:t>
            </a: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除</a:t>
            </a:r>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开始元素外</a:t>
            </a: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a:t>
            </a:r>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每个元素有</a:t>
            </a: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且仅有一个前驱</a:t>
            </a:r>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元素。</a:t>
            </a:r>
            <a:endParaRPr lang="zh-CN" altLang="en-US" sz="2000" b="1" dirty="0">
              <a:solidFill>
                <a:srgbClr val="0000FF"/>
              </a:solidFill>
              <a:latin typeface="楷体" panose="02010609060101010101" pitchFamily="49" charset="-122"/>
              <a:ea typeface="楷体" panose="02010609060101010101" pitchFamily="49" charset="-122"/>
              <a:cs typeface="Consolas" pitchFamily="49" charset="0"/>
            </a:endParaRPr>
          </a:p>
        </p:txBody>
      </p:sp>
      <p:grpSp>
        <p:nvGrpSpPr>
          <p:cNvPr id="5" name="组合 18">
            <a:extLst>
              <a:ext uri="{FF2B5EF4-FFF2-40B4-BE49-F238E27FC236}">
                <a16:creationId xmlns:a16="http://schemas.microsoft.com/office/drawing/2014/main" id="{BED91612-205D-4F7E-B82D-09F40D2C458F}"/>
              </a:ext>
            </a:extLst>
          </p:cNvPr>
          <p:cNvGrpSpPr/>
          <p:nvPr/>
        </p:nvGrpSpPr>
        <p:grpSpPr>
          <a:xfrm>
            <a:off x="3059832" y="3717032"/>
            <a:ext cx="2019300" cy="1752600"/>
            <a:chOff x="2266948" y="2786058"/>
            <a:chExt cx="2019300" cy="1752600"/>
          </a:xfrm>
        </p:grpSpPr>
        <p:sp>
          <p:nvSpPr>
            <p:cNvPr id="6" name="Oval 6">
              <a:extLst>
                <a:ext uri="{FF2B5EF4-FFF2-40B4-BE49-F238E27FC236}">
                  <a16:creationId xmlns:a16="http://schemas.microsoft.com/office/drawing/2014/main" id="{9FF9B8C7-88CC-46F6-A460-71DAE4445E68}"/>
                </a:ext>
              </a:extLst>
            </p:cNvPr>
            <p:cNvSpPr>
              <a:spLocks noChangeArrowheads="1"/>
            </p:cNvSpPr>
            <p:nvPr/>
          </p:nvSpPr>
          <p:spPr bwMode="auto">
            <a:xfrm>
              <a:off x="3181348" y="2786058"/>
              <a:ext cx="381000" cy="381000"/>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7" name="Oval 7">
              <a:extLst>
                <a:ext uri="{FF2B5EF4-FFF2-40B4-BE49-F238E27FC236}">
                  <a16:creationId xmlns:a16="http://schemas.microsoft.com/office/drawing/2014/main" id="{E2EE45CA-C7E4-49F0-ADCF-610609DC5534}"/>
                </a:ext>
              </a:extLst>
            </p:cNvPr>
            <p:cNvSpPr>
              <a:spLocks noChangeArrowheads="1"/>
            </p:cNvSpPr>
            <p:nvPr/>
          </p:nvSpPr>
          <p:spPr bwMode="auto">
            <a:xfrm>
              <a:off x="2647948" y="3471858"/>
              <a:ext cx="381000" cy="381000"/>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8" name="Oval 8">
              <a:extLst>
                <a:ext uri="{FF2B5EF4-FFF2-40B4-BE49-F238E27FC236}">
                  <a16:creationId xmlns:a16="http://schemas.microsoft.com/office/drawing/2014/main" id="{C1E3C95E-FC8C-4E1A-BF62-F2DBAFD344DE}"/>
                </a:ext>
              </a:extLst>
            </p:cNvPr>
            <p:cNvSpPr>
              <a:spLocks noChangeArrowheads="1"/>
            </p:cNvSpPr>
            <p:nvPr/>
          </p:nvSpPr>
          <p:spPr bwMode="auto">
            <a:xfrm>
              <a:off x="3257548" y="3471858"/>
              <a:ext cx="381000" cy="381000"/>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9" name="Oval 9">
              <a:extLst>
                <a:ext uri="{FF2B5EF4-FFF2-40B4-BE49-F238E27FC236}">
                  <a16:creationId xmlns:a16="http://schemas.microsoft.com/office/drawing/2014/main" id="{15DCB998-EBF6-4D14-B7EC-DB739BC7ABE5}"/>
                </a:ext>
              </a:extLst>
            </p:cNvPr>
            <p:cNvSpPr>
              <a:spLocks noChangeArrowheads="1"/>
            </p:cNvSpPr>
            <p:nvPr/>
          </p:nvSpPr>
          <p:spPr bwMode="auto">
            <a:xfrm>
              <a:off x="3867148" y="3471858"/>
              <a:ext cx="381000" cy="381000"/>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0" name="Oval 11">
              <a:extLst>
                <a:ext uri="{FF2B5EF4-FFF2-40B4-BE49-F238E27FC236}">
                  <a16:creationId xmlns:a16="http://schemas.microsoft.com/office/drawing/2014/main" id="{79847F67-7568-4059-A42B-93E31AAEF14B}"/>
                </a:ext>
              </a:extLst>
            </p:cNvPr>
            <p:cNvSpPr>
              <a:spLocks noChangeArrowheads="1"/>
            </p:cNvSpPr>
            <p:nvPr/>
          </p:nvSpPr>
          <p:spPr bwMode="auto">
            <a:xfrm>
              <a:off x="2952748" y="4157658"/>
              <a:ext cx="381000" cy="381000"/>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1" name="Oval 12">
              <a:extLst>
                <a:ext uri="{FF2B5EF4-FFF2-40B4-BE49-F238E27FC236}">
                  <a16:creationId xmlns:a16="http://schemas.microsoft.com/office/drawing/2014/main" id="{2C13D51A-4591-4416-8BA4-5274CE9E881F}"/>
                </a:ext>
              </a:extLst>
            </p:cNvPr>
            <p:cNvSpPr>
              <a:spLocks noChangeArrowheads="1"/>
            </p:cNvSpPr>
            <p:nvPr/>
          </p:nvSpPr>
          <p:spPr bwMode="auto">
            <a:xfrm>
              <a:off x="3409948" y="4157658"/>
              <a:ext cx="381000" cy="381000"/>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2" name="Oval 13">
              <a:extLst>
                <a:ext uri="{FF2B5EF4-FFF2-40B4-BE49-F238E27FC236}">
                  <a16:creationId xmlns:a16="http://schemas.microsoft.com/office/drawing/2014/main" id="{77EECCF4-2249-407A-81F2-44F5528A50A2}"/>
                </a:ext>
              </a:extLst>
            </p:cNvPr>
            <p:cNvSpPr>
              <a:spLocks noChangeArrowheads="1"/>
            </p:cNvSpPr>
            <p:nvPr/>
          </p:nvSpPr>
          <p:spPr bwMode="auto">
            <a:xfrm>
              <a:off x="3905248" y="4157658"/>
              <a:ext cx="381000" cy="381000"/>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3" name="Freeform 14">
              <a:extLst>
                <a:ext uri="{FF2B5EF4-FFF2-40B4-BE49-F238E27FC236}">
                  <a16:creationId xmlns:a16="http://schemas.microsoft.com/office/drawing/2014/main" id="{DC63D2FD-CEB6-4DEE-895F-192322DC6F67}"/>
                </a:ext>
              </a:extLst>
            </p:cNvPr>
            <p:cNvSpPr>
              <a:spLocks/>
            </p:cNvSpPr>
            <p:nvPr/>
          </p:nvSpPr>
          <p:spPr bwMode="auto">
            <a:xfrm>
              <a:off x="2919411" y="3060695"/>
              <a:ext cx="274638" cy="420688"/>
            </a:xfrm>
            <a:custGeom>
              <a:avLst/>
              <a:gdLst/>
              <a:ahLst/>
              <a:cxnLst>
                <a:cxn ang="0">
                  <a:pos x="173" y="0"/>
                </a:cxn>
                <a:cxn ang="0">
                  <a:pos x="0" y="265"/>
                </a:cxn>
              </a:cxnLst>
              <a:rect l="0" t="0" r="r" b="b"/>
              <a:pathLst>
                <a:path w="173" h="265">
                  <a:moveTo>
                    <a:pt x="173" y="0"/>
                  </a:moveTo>
                  <a:lnTo>
                    <a:pt x="0" y="265"/>
                  </a:lnTo>
                </a:path>
              </a:pathLst>
            </a:cu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4" name="Freeform 15">
              <a:extLst>
                <a:ext uri="{FF2B5EF4-FFF2-40B4-BE49-F238E27FC236}">
                  <a16:creationId xmlns:a16="http://schemas.microsoft.com/office/drawing/2014/main" id="{51A69E17-57B5-4DBA-A7FF-86DDB239A2B3}"/>
                </a:ext>
              </a:extLst>
            </p:cNvPr>
            <p:cNvSpPr>
              <a:spLocks/>
            </p:cNvSpPr>
            <p:nvPr/>
          </p:nvSpPr>
          <p:spPr bwMode="auto">
            <a:xfrm>
              <a:off x="3409948" y="3167058"/>
              <a:ext cx="33338" cy="295275"/>
            </a:xfrm>
            <a:custGeom>
              <a:avLst/>
              <a:gdLst/>
              <a:ahLst/>
              <a:cxnLst>
                <a:cxn ang="0">
                  <a:pos x="0" y="0"/>
                </a:cxn>
                <a:cxn ang="0">
                  <a:pos x="21" y="186"/>
                </a:cxn>
              </a:cxnLst>
              <a:rect l="0" t="0" r="r" b="b"/>
              <a:pathLst>
                <a:path w="21" h="186">
                  <a:moveTo>
                    <a:pt x="0" y="0"/>
                  </a:moveTo>
                  <a:lnTo>
                    <a:pt x="21" y="186"/>
                  </a:lnTo>
                </a:path>
              </a:pathLst>
            </a:cu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5" name="Freeform 16">
              <a:extLst>
                <a:ext uri="{FF2B5EF4-FFF2-40B4-BE49-F238E27FC236}">
                  <a16:creationId xmlns:a16="http://schemas.microsoft.com/office/drawing/2014/main" id="{B7D37E67-8E7A-45DA-A56E-E09D42EF25EA}"/>
                </a:ext>
              </a:extLst>
            </p:cNvPr>
            <p:cNvSpPr>
              <a:spLocks/>
            </p:cNvSpPr>
            <p:nvPr/>
          </p:nvSpPr>
          <p:spPr bwMode="auto">
            <a:xfrm>
              <a:off x="3548062" y="3019421"/>
              <a:ext cx="409575" cy="457200"/>
            </a:xfrm>
            <a:custGeom>
              <a:avLst/>
              <a:gdLst/>
              <a:ahLst/>
              <a:cxnLst>
                <a:cxn ang="0">
                  <a:pos x="0" y="0"/>
                </a:cxn>
                <a:cxn ang="0">
                  <a:pos x="258" y="288"/>
                </a:cxn>
              </a:cxnLst>
              <a:rect l="0" t="0" r="r" b="b"/>
              <a:pathLst>
                <a:path w="258" h="288">
                  <a:moveTo>
                    <a:pt x="0" y="0"/>
                  </a:moveTo>
                  <a:lnTo>
                    <a:pt x="258" y="288"/>
                  </a:lnTo>
                </a:path>
              </a:pathLst>
            </a:cu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6" name="Freeform 17">
              <a:extLst>
                <a:ext uri="{FF2B5EF4-FFF2-40B4-BE49-F238E27FC236}">
                  <a16:creationId xmlns:a16="http://schemas.microsoft.com/office/drawing/2014/main" id="{A31E416C-980C-491D-A586-0E76023ACD61}"/>
                </a:ext>
              </a:extLst>
            </p:cNvPr>
            <p:cNvSpPr>
              <a:spLocks/>
            </p:cNvSpPr>
            <p:nvPr/>
          </p:nvSpPr>
          <p:spPr bwMode="auto">
            <a:xfrm>
              <a:off x="2952748" y="3819521"/>
              <a:ext cx="147638" cy="342900"/>
            </a:xfrm>
            <a:custGeom>
              <a:avLst/>
              <a:gdLst/>
              <a:ahLst/>
              <a:cxnLst>
                <a:cxn ang="0">
                  <a:pos x="0" y="0"/>
                </a:cxn>
                <a:cxn ang="0">
                  <a:pos x="93" y="216"/>
                </a:cxn>
              </a:cxnLst>
              <a:rect l="0" t="0" r="r" b="b"/>
              <a:pathLst>
                <a:path w="93" h="216">
                  <a:moveTo>
                    <a:pt x="0" y="0"/>
                  </a:moveTo>
                  <a:lnTo>
                    <a:pt x="93" y="216"/>
                  </a:lnTo>
                </a:path>
              </a:pathLst>
            </a:cu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7" name="Freeform 18">
              <a:extLst>
                <a:ext uri="{FF2B5EF4-FFF2-40B4-BE49-F238E27FC236}">
                  <a16:creationId xmlns:a16="http://schemas.microsoft.com/office/drawing/2014/main" id="{1E8000E0-0588-4E2E-AF4A-B04E3642C1A1}"/>
                </a:ext>
              </a:extLst>
            </p:cNvPr>
            <p:cNvSpPr>
              <a:spLocks/>
            </p:cNvSpPr>
            <p:nvPr/>
          </p:nvSpPr>
          <p:spPr bwMode="auto">
            <a:xfrm>
              <a:off x="3486148" y="3852858"/>
              <a:ext cx="95250" cy="309563"/>
            </a:xfrm>
            <a:custGeom>
              <a:avLst/>
              <a:gdLst/>
              <a:ahLst/>
              <a:cxnLst>
                <a:cxn ang="0">
                  <a:pos x="0" y="0"/>
                </a:cxn>
                <a:cxn ang="0">
                  <a:pos x="60" y="195"/>
                </a:cxn>
              </a:cxnLst>
              <a:rect l="0" t="0" r="r" b="b"/>
              <a:pathLst>
                <a:path w="60" h="195">
                  <a:moveTo>
                    <a:pt x="0" y="0"/>
                  </a:moveTo>
                  <a:lnTo>
                    <a:pt x="60" y="195"/>
                  </a:lnTo>
                </a:path>
              </a:pathLst>
            </a:cu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8" name="Line 19">
              <a:extLst>
                <a:ext uri="{FF2B5EF4-FFF2-40B4-BE49-F238E27FC236}">
                  <a16:creationId xmlns:a16="http://schemas.microsoft.com/office/drawing/2014/main" id="{B2D36EEA-E31A-4C89-A10E-7119306007F0}"/>
                </a:ext>
              </a:extLst>
            </p:cNvPr>
            <p:cNvSpPr>
              <a:spLocks noChangeShapeType="1"/>
            </p:cNvSpPr>
            <p:nvPr/>
          </p:nvSpPr>
          <p:spPr bwMode="auto">
            <a:xfrm>
              <a:off x="4095748" y="3852858"/>
              <a:ext cx="0" cy="304800"/>
            </a:xfrm>
            <a:prstGeom prst="line">
              <a:avLst/>
            </a:prstGeom>
            <a:ln>
              <a:headEn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19" name="Oval 21">
              <a:extLst>
                <a:ext uri="{FF2B5EF4-FFF2-40B4-BE49-F238E27FC236}">
                  <a16:creationId xmlns:a16="http://schemas.microsoft.com/office/drawing/2014/main" id="{DC2A3328-8C17-4BCB-B958-5967479CB3F0}"/>
                </a:ext>
              </a:extLst>
            </p:cNvPr>
            <p:cNvSpPr>
              <a:spLocks noChangeArrowheads="1"/>
            </p:cNvSpPr>
            <p:nvPr/>
          </p:nvSpPr>
          <p:spPr bwMode="auto">
            <a:xfrm>
              <a:off x="2266948" y="4157658"/>
              <a:ext cx="381000" cy="381000"/>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sz="2000">
                <a:latin typeface="楷体" panose="02010609060101010101" pitchFamily="49" charset="-122"/>
                <a:ea typeface="楷体" panose="02010609060101010101" pitchFamily="49" charset="-122"/>
                <a:cs typeface="Consolas" pitchFamily="49" charset="0"/>
              </a:endParaRPr>
            </a:p>
          </p:txBody>
        </p:sp>
        <p:sp>
          <p:nvSpPr>
            <p:cNvPr id="20" name="Freeform 22">
              <a:extLst>
                <a:ext uri="{FF2B5EF4-FFF2-40B4-BE49-F238E27FC236}">
                  <a16:creationId xmlns:a16="http://schemas.microsoft.com/office/drawing/2014/main" id="{599C3B8E-F424-4C92-843D-72CCA9AA676D}"/>
                </a:ext>
              </a:extLst>
            </p:cNvPr>
            <p:cNvSpPr>
              <a:spLocks/>
            </p:cNvSpPr>
            <p:nvPr/>
          </p:nvSpPr>
          <p:spPr bwMode="auto">
            <a:xfrm>
              <a:off x="2495549" y="3800471"/>
              <a:ext cx="219075" cy="357188"/>
            </a:xfrm>
            <a:custGeom>
              <a:avLst/>
              <a:gdLst/>
              <a:ahLst/>
              <a:cxnLst>
                <a:cxn ang="0">
                  <a:pos x="138" y="0"/>
                </a:cxn>
                <a:cxn ang="0">
                  <a:pos x="0" y="225"/>
                </a:cxn>
              </a:cxnLst>
              <a:rect l="0" t="0" r="r" b="b"/>
              <a:pathLst>
                <a:path w="138" h="225">
                  <a:moveTo>
                    <a:pt x="138" y="0"/>
                  </a:moveTo>
                  <a:lnTo>
                    <a:pt x="0" y="225"/>
                  </a:lnTo>
                </a:path>
              </a:pathLst>
            </a:custGeom>
            <a:ln>
              <a:headEnd type="none" w="med" len="med"/>
              <a:tailEnd type="triangle"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sz="2000">
                <a:latin typeface="楷体" panose="02010609060101010101" pitchFamily="49" charset="-122"/>
                <a:ea typeface="楷体" panose="02010609060101010101" pitchFamily="49" charset="-122"/>
                <a:cs typeface="Consolas" pitchFamily="49" charset="0"/>
              </a:endParaRPr>
            </a:p>
          </p:txBody>
        </p:sp>
      </p:grpSp>
      <p:sp>
        <p:nvSpPr>
          <p:cNvPr id="21" name="TextBox 20">
            <a:extLst>
              <a:ext uri="{FF2B5EF4-FFF2-40B4-BE49-F238E27FC236}">
                <a16:creationId xmlns:a16="http://schemas.microsoft.com/office/drawing/2014/main" id="{CA0C465A-F2CD-45F5-872F-E0C248B72842}"/>
              </a:ext>
            </a:extLst>
          </p:cNvPr>
          <p:cNvSpPr txBox="1"/>
          <p:nvPr/>
        </p:nvSpPr>
        <p:spPr>
          <a:xfrm>
            <a:off x="642910" y="714356"/>
            <a:ext cx="2272906"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l"/>
            <a:r>
              <a:rPr lang="en-US" altLang="zh-CN" sz="2400" b="1" dirty="0">
                <a:solidFill>
                  <a:srgbClr val="FF0000"/>
                </a:solidFill>
                <a:latin typeface="楷体" panose="02010609060101010101" pitchFamily="49" charset="-122"/>
                <a:ea typeface="楷体" panose="02010609060101010101" pitchFamily="49" charset="-122"/>
                <a:cs typeface="Consolas" pitchFamily="49" charset="0"/>
              </a:rPr>
              <a:t>3</a:t>
            </a:r>
            <a:r>
              <a:rPr lang="zh-CN" altLang="en-US" sz="2400" b="1" dirty="0">
                <a:solidFill>
                  <a:srgbClr val="FF0000"/>
                </a:solidFill>
                <a:latin typeface="楷体" panose="02010609060101010101" pitchFamily="49" charset="-122"/>
                <a:ea typeface="楷体" panose="02010609060101010101" pitchFamily="49" charset="-122"/>
                <a:cs typeface="Consolas" pitchFamily="49" charset="0"/>
              </a:rPr>
              <a:t>）树形结构</a:t>
            </a:r>
          </a:p>
        </p:txBody>
      </p:sp>
    </p:spTree>
    <p:extLst>
      <p:ext uri="{BB962C8B-B14F-4D97-AF65-F5344CB8AC3E}">
        <p14:creationId xmlns:p14="http://schemas.microsoft.com/office/powerpoint/2010/main" val="2528736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EB72E27-40C1-42F1-93ED-AF1D3FE34AA1}"/>
              </a:ext>
            </a:extLst>
          </p:cNvPr>
          <p:cNvSpPr>
            <a:spLocks noChangeArrowheads="1"/>
          </p:cNvSpPr>
          <p:nvPr/>
        </p:nvSpPr>
        <p:spPr bwMode="auto">
          <a:xfrm>
            <a:off x="629760" y="1520722"/>
            <a:ext cx="8032976" cy="114200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tIns="144000" bIns="144000">
            <a:spAutoFit/>
          </a:bodyPr>
          <a:lstStyle/>
          <a:p>
            <a:pPr indent="266700" algn="just">
              <a:lnSpc>
                <a:spcPct val="150000"/>
              </a:lnSpc>
              <a:spcBef>
                <a:spcPct val="0"/>
              </a:spcBef>
            </a:pPr>
            <a:r>
              <a:rPr lang="zh-CN" altLang="en-US" sz="2000" dirty="0">
                <a:solidFill>
                  <a:srgbClr val="FF0000"/>
                </a:solidFill>
                <a:latin typeface="楷体" panose="02010609060101010101" pitchFamily="49" charset="-122"/>
                <a:ea typeface="楷体" panose="02010609060101010101" pitchFamily="49" charset="-122"/>
                <a:cs typeface="Consolas" pitchFamily="49" charset="0"/>
              </a:rPr>
              <a:t>元素</a:t>
            </a:r>
            <a:r>
              <a:rPr lang="zh-CN" altLang="en-US" sz="2000" b="1" dirty="0">
                <a:solidFill>
                  <a:srgbClr val="FF0000"/>
                </a:solidFill>
                <a:latin typeface="楷体" panose="02010609060101010101" pitchFamily="49" charset="-122"/>
                <a:ea typeface="楷体" panose="02010609060101010101" pitchFamily="49" charset="-122"/>
                <a:cs typeface="Consolas" pitchFamily="49" charset="0"/>
              </a:rPr>
              <a:t>之间关系</a:t>
            </a: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：多对多。</a:t>
            </a:r>
            <a:endParaRPr lang="en-US" altLang="zh-CN" sz="2000" b="1" dirty="0">
              <a:solidFill>
                <a:srgbClr val="0000FF"/>
              </a:solidFill>
              <a:latin typeface="楷体" panose="02010609060101010101" pitchFamily="49" charset="-122"/>
              <a:ea typeface="楷体" panose="02010609060101010101" pitchFamily="49" charset="-122"/>
              <a:cs typeface="Consolas" pitchFamily="49" charset="0"/>
            </a:endParaRPr>
          </a:p>
          <a:p>
            <a:pPr indent="266700" algn="just">
              <a:lnSpc>
                <a:spcPct val="150000"/>
              </a:lnSpc>
              <a:spcBef>
                <a:spcPct val="0"/>
              </a:spcBef>
            </a:pPr>
            <a:r>
              <a:rPr lang="zh-CN" altLang="en-US" sz="2000" b="1" dirty="0">
                <a:solidFill>
                  <a:srgbClr val="FF0000"/>
                </a:solidFill>
                <a:latin typeface="楷体" panose="02010609060101010101" pitchFamily="49" charset="-122"/>
                <a:ea typeface="楷体" panose="02010609060101010101" pitchFamily="49" charset="-122"/>
                <a:cs typeface="Consolas" pitchFamily="49" charset="0"/>
              </a:rPr>
              <a:t>特点：</a:t>
            </a:r>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所有元素</a:t>
            </a: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都可能有多个前驱</a:t>
            </a:r>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元素</a:t>
            </a: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和多个</a:t>
            </a:r>
            <a:r>
              <a:rPr lang="zh-CN" altLang="en-US" sz="2000" dirty="0">
                <a:solidFill>
                  <a:srgbClr val="0000FF"/>
                </a:solidFill>
                <a:latin typeface="楷体" panose="02010609060101010101" pitchFamily="49" charset="-122"/>
                <a:ea typeface="楷体" panose="02010609060101010101" pitchFamily="49" charset="-122"/>
                <a:cs typeface="Consolas" pitchFamily="49" charset="0"/>
              </a:rPr>
              <a:t>后继元素</a:t>
            </a:r>
            <a:r>
              <a:rPr lang="zh-CN" altLang="en-US" sz="2000" b="1" dirty="0">
                <a:solidFill>
                  <a:srgbClr val="0000FF"/>
                </a:solidFill>
                <a:latin typeface="楷体" panose="02010609060101010101" pitchFamily="49" charset="-122"/>
                <a:ea typeface="楷体" panose="02010609060101010101" pitchFamily="49" charset="-122"/>
                <a:cs typeface="Consolas" pitchFamily="49" charset="0"/>
              </a:rPr>
              <a:t>。</a:t>
            </a:r>
          </a:p>
        </p:txBody>
      </p:sp>
      <p:grpSp>
        <p:nvGrpSpPr>
          <p:cNvPr id="5" name="组合 20">
            <a:extLst>
              <a:ext uri="{FF2B5EF4-FFF2-40B4-BE49-F238E27FC236}">
                <a16:creationId xmlns:a16="http://schemas.microsoft.com/office/drawing/2014/main" id="{F092933B-8B15-4328-A62F-FC6F0D285D74}"/>
              </a:ext>
            </a:extLst>
          </p:cNvPr>
          <p:cNvGrpSpPr/>
          <p:nvPr/>
        </p:nvGrpSpPr>
        <p:grpSpPr>
          <a:xfrm>
            <a:off x="1908175" y="3214686"/>
            <a:ext cx="2592388" cy="1738325"/>
            <a:chOff x="1908175" y="3214686"/>
            <a:chExt cx="2592388" cy="1738325"/>
          </a:xfrm>
        </p:grpSpPr>
        <p:sp>
          <p:nvSpPr>
            <p:cNvPr id="6" name="Oval 6">
              <a:extLst>
                <a:ext uri="{FF2B5EF4-FFF2-40B4-BE49-F238E27FC236}">
                  <a16:creationId xmlns:a16="http://schemas.microsoft.com/office/drawing/2014/main" id="{A318BA42-2B0A-431B-BACF-59E4F2F0BD82}"/>
                </a:ext>
              </a:extLst>
            </p:cNvPr>
            <p:cNvSpPr>
              <a:spLocks noChangeArrowheads="1"/>
            </p:cNvSpPr>
            <p:nvPr/>
          </p:nvSpPr>
          <p:spPr bwMode="auto">
            <a:xfrm>
              <a:off x="1908175" y="3214686"/>
              <a:ext cx="360363" cy="360363"/>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a:latin typeface="楷体" panose="02010609060101010101" pitchFamily="49" charset="-122"/>
                <a:ea typeface="楷体" panose="02010609060101010101" pitchFamily="49" charset="-122"/>
                <a:cs typeface="Consolas" pitchFamily="49" charset="0"/>
              </a:endParaRPr>
            </a:p>
          </p:txBody>
        </p:sp>
        <p:sp>
          <p:nvSpPr>
            <p:cNvPr id="7" name="Oval 7">
              <a:extLst>
                <a:ext uri="{FF2B5EF4-FFF2-40B4-BE49-F238E27FC236}">
                  <a16:creationId xmlns:a16="http://schemas.microsoft.com/office/drawing/2014/main" id="{8242EFF8-7823-4D1C-8F01-F9A6AAE5702B}"/>
                </a:ext>
              </a:extLst>
            </p:cNvPr>
            <p:cNvSpPr>
              <a:spLocks noChangeArrowheads="1"/>
            </p:cNvSpPr>
            <p:nvPr/>
          </p:nvSpPr>
          <p:spPr bwMode="auto">
            <a:xfrm>
              <a:off x="3203575" y="3214686"/>
              <a:ext cx="360363" cy="360363"/>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a:latin typeface="楷体" panose="02010609060101010101" pitchFamily="49" charset="-122"/>
                <a:ea typeface="楷体" panose="02010609060101010101" pitchFamily="49" charset="-122"/>
                <a:cs typeface="Consolas" pitchFamily="49" charset="0"/>
              </a:endParaRPr>
            </a:p>
          </p:txBody>
        </p:sp>
        <p:sp>
          <p:nvSpPr>
            <p:cNvPr id="8" name="Oval 8">
              <a:extLst>
                <a:ext uri="{FF2B5EF4-FFF2-40B4-BE49-F238E27FC236}">
                  <a16:creationId xmlns:a16="http://schemas.microsoft.com/office/drawing/2014/main" id="{11582AC3-AA5B-4B26-A455-BFA9BF6B2350}"/>
                </a:ext>
              </a:extLst>
            </p:cNvPr>
            <p:cNvSpPr>
              <a:spLocks noChangeArrowheads="1"/>
            </p:cNvSpPr>
            <p:nvPr/>
          </p:nvSpPr>
          <p:spPr bwMode="auto">
            <a:xfrm>
              <a:off x="1908175" y="3919548"/>
              <a:ext cx="360363" cy="360363"/>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a:latin typeface="楷体" panose="02010609060101010101" pitchFamily="49" charset="-122"/>
                <a:ea typeface="楷体" panose="02010609060101010101" pitchFamily="49" charset="-122"/>
                <a:cs typeface="Consolas" pitchFamily="49" charset="0"/>
              </a:endParaRPr>
            </a:p>
          </p:txBody>
        </p:sp>
        <p:sp>
          <p:nvSpPr>
            <p:cNvPr id="9" name="Oval 9">
              <a:extLst>
                <a:ext uri="{FF2B5EF4-FFF2-40B4-BE49-F238E27FC236}">
                  <a16:creationId xmlns:a16="http://schemas.microsoft.com/office/drawing/2014/main" id="{355EF813-6AB3-4A18-A219-A7254F218C02}"/>
                </a:ext>
              </a:extLst>
            </p:cNvPr>
            <p:cNvSpPr>
              <a:spLocks noChangeArrowheads="1"/>
            </p:cNvSpPr>
            <p:nvPr/>
          </p:nvSpPr>
          <p:spPr bwMode="auto">
            <a:xfrm>
              <a:off x="2746375" y="3919549"/>
              <a:ext cx="385763" cy="393700"/>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a:latin typeface="楷体" panose="02010609060101010101" pitchFamily="49" charset="-122"/>
                <a:ea typeface="楷体" panose="02010609060101010101" pitchFamily="49" charset="-122"/>
                <a:cs typeface="Consolas" pitchFamily="49" charset="0"/>
              </a:endParaRPr>
            </a:p>
          </p:txBody>
        </p:sp>
        <p:sp>
          <p:nvSpPr>
            <p:cNvPr id="10" name="Oval 10">
              <a:extLst>
                <a:ext uri="{FF2B5EF4-FFF2-40B4-BE49-F238E27FC236}">
                  <a16:creationId xmlns:a16="http://schemas.microsoft.com/office/drawing/2014/main" id="{05B2CEAF-AAFB-4E4C-8FCA-6CDDEB1C2546}"/>
                </a:ext>
              </a:extLst>
            </p:cNvPr>
            <p:cNvSpPr>
              <a:spLocks noChangeArrowheads="1"/>
            </p:cNvSpPr>
            <p:nvPr/>
          </p:nvSpPr>
          <p:spPr bwMode="auto">
            <a:xfrm>
              <a:off x="3355975" y="4452948"/>
              <a:ext cx="360363" cy="360363"/>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a:latin typeface="楷体" panose="02010609060101010101" pitchFamily="49" charset="-122"/>
                <a:ea typeface="楷体" panose="02010609060101010101" pitchFamily="49" charset="-122"/>
                <a:cs typeface="Consolas" pitchFamily="49" charset="0"/>
              </a:endParaRPr>
            </a:p>
          </p:txBody>
        </p:sp>
        <p:sp>
          <p:nvSpPr>
            <p:cNvPr id="11" name="Oval 11">
              <a:extLst>
                <a:ext uri="{FF2B5EF4-FFF2-40B4-BE49-F238E27FC236}">
                  <a16:creationId xmlns:a16="http://schemas.microsoft.com/office/drawing/2014/main" id="{4F662B6F-6856-49C7-BF3E-75D43E0CDDC8}"/>
                </a:ext>
              </a:extLst>
            </p:cNvPr>
            <p:cNvSpPr>
              <a:spLocks noChangeArrowheads="1"/>
            </p:cNvSpPr>
            <p:nvPr/>
          </p:nvSpPr>
          <p:spPr bwMode="auto">
            <a:xfrm>
              <a:off x="1908175" y="4592648"/>
              <a:ext cx="360363" cy="360363"/>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a:latin typeface="楷体" panose="02010609060101010101" pitchFamily="49" charset="-122"/>
                <a:ea typeface="楷体" panose="02010609060101010101" pitchFamily="49" charset="-122"/>
                <a:cs typeface="Consolas" pitchFamily="49" charset="0"/>
              </a:endParaRPr>
            </a:p>
          </p:txBody>
        </p:sp>
        <p:sp>
          <p:nvSpPr>
            <p:cNvPr id="12" name="Freeform 13">
              <a:extLst>
                <a:ext uri="{FF2B5EF4-FFF2-40B4-BE49-F238E27FC236}">
                  <a16:creationId xmlns:a16="http://schemas.microsoft.com/office/drawing/2014/main" id="{4B6ADD6B-888C-412B-9988-237B6143ED92}"/>
                </a:ext>
              </a:extLst>
            </p:cNvPr>
            <p:cNvSpPr>
              <a:spLocks/>
            </p:cNvSpPr>
            <p:nvPr/>
          </p:nvSpPr>
          <p:spPr bwMode="auto">
            <a:xfrm>
              <a:off x="2225675" y="3525848"/>
              <a:ext cx="563563" cy="460375"/>
            </a:xfrm>
            <a:custGeom>
              <a:avLst/>
              <a:gdLst/>
              <a:ahLst/>
              <a:cxnLst>
                <a:cxn ang="0">
                  <a:pos x="0" y="0"/>
                </a:cxn>
                <a:cxn ang="0">
                  <a:pos x="355" y="290"/>
                </a:cxn>
              </a:cxnLst>
              <a:rect l="0" t="0" r="r" b="b"/>
              <a:pathLst>
                <a:path w="355" h="290">
                  <a:moveTo>
                    <a:pt x="0" y="0"/>
                  </a:moveTo>
                  <a:lnTo>
                    <a:pt x="355" y="290"/>
                  </a:lnTo>
                </a:path>
              </a:pathLst>
            </a:custGeom>
            <a:ln>
              <a:headEnd/>
              <a:tailEnd/>
            </a:ln>
          </p:spPr>
          <p:style>
            <a:lnRef idx="2">
              <a:schemeClr val="accent5"/>
            </a:lnRef>
            <a:fillRef idx="0">
              <a:schemeClr val="accent5"/>
            </a:fillRef>
            <a:effectRef idx="1">
              <a:schemeClr val="accent5"/>
            </a:effectRef>
            <a:fontRef idx="minor">
              <a:schemeClr val="tx1"/>
            </a:fontRef>
          </p:style>
          <p:txBody>
            <a:bodyPr wrap="none" anchor="ctr"/>
            <a:lstStyle/>
            <a:p>
              <a:endParaRPr lang="zh-CN" altLang="en-US">
                <a:latin typeface="楷体" panose="02010609060101010101" pitchFamily="49" charset="-122"/>
                <a:ea typeface="楷体" panose="02010609060101010101" pitchFamily="49" charset="-122"/>
                <a:cs typeface="Consolas" pitchFamily="49" charset="0"/>
              </a:endParaRPr>
            </a:p>
          </p:txBody>
        </p:sp>
        <p:sp>
          <p:nvSpPr>
            <p:cNvPr id="13" name="Freeform 16">
              <a:extLst>
                <a:ext uri="{FF2B5EF4-FFF2-40B4-BE49-F238E27FC236}">
                  <a16:creationId xmlns:a16="http://schemas.microsoft.com/office/drawing/2014/main" id="{9CC15CBE-5C34-434A-A58F-12C5DE2FC141}"/>
                </a:ext>
              </a:extLst>
            </p:cNvPr>
            <p:cNvSpPr>
              <a:spLocks/>
            </p:cNvSpPr>
            <p:nvPr/>
          </p:nvSpPr>
          <p:spPr bwMode="auto">
            <a:xfrm>
              <a:off x="2270124" y="4667260"/>
              <a:ext cx="1085850" cy="90488"/>
            </a:xfrm>
            <a:custGeom>
              <a:avLst/>
              <a:gdLst/>
              <a:ahLst/>
              <a:cxnLst>
                <a:cxn ang="0">
                  <a:pos x="0" y="57"/>
                </a:cxn>
                <a:cxn ang="0">
                  <a:pos x="684" y="0"/>
                </a:cxn>
              </a:cxnLst>
              <a:rect l="0" t="0" r="r" b="b"/>
              <a:pathLst>
                <a:path w="684" h="57">
                  <a:moveTo>
                    <a:pt x="0" y="57"/>
                  </a:moveTo>
                  <a:lnTo>
                    <a:pt x="684" y="0"/>
                  </a:lnTo>
                </a:path>
              </a:pathLst>
            </a:custGeom>
            <a:ln>
              <a:headEnd type="none" w="med" len="med"/>
              <a:tailEnd type="none" w="med" len="med"/>
            </a:ln>
          </p:spPr>
          <p:style>
            <a:lnRef idx="2">
              <a:schemeClr val="accent5"/>
            </a:lnRef>
            <a:fillRef idx="0">
              <a:schemeClr val="accent5"/>
            </a:fillRef>
            <a:effectRef idx="1">
              <a:schemeClr val="accent5"/>
            </a:effectRef>
            <a:fontRef idx="minor">
              <a:schemeClr val="tx1"/>
            </a:fontRef>
          </p:style>
          <p:txBody>
            <a:bodyPr wrap="none" anchor="ctr"/>
            <a:lstStyle/>
            <a:p>
              <a:endParaRPr lang="zh-CN" altLang="en-US">
                <a:latin typeface="楷体" panose="02010609060101010101" pitchFamily="49" charset="-122"/>
                <a:ea typeface="楷体" panose="02010609060101010101" pitchFamily="49" charset="-122"/>
                <a:cs typeface="Consolas" pitchFamily="49" charset="0"/>
              </a:endParaRPr>
            </a:p>
          </p:txBody>
        </p:sp>
        <p:sp>
          <p:nvSpPr>
            <p:cNvPr id="14" name="Freeform 17">
              <a:extLst>
                <a:ext uri="{FF2B5EF4-FFF2-40B4-BE49-F238E27FC236}">
                  <a16:creationId xmlns:a16="http://schemas.microsoft.com/office/drawing/2014/main" id="{FFCDC512-2199-4AC8-8B1E-BE51D3424361}"/>
                </a:ext>
              </a:extLst>
            </p:cNvPr>
            <p:cNvSpPr>
              <a:spLocks/>
            </p:cNvSpPr>
            <p:nvPr/>
          </p:nvSpPr>
          <p:spPr bwMode="auto">
            <a:xfrm>
              <a:off x="3419474" y="3582999"/>
              <a:ext cx="88900" cy="869951"/>
            </a:xfrm>
            <a:custGeom>
              <a:avLst/>
              <a:gdLst/>
              <a:ahLst/>
              <a:cxnLst>
                <a:cxn ang="0">
                  <a:pos x="0" y="0"/>
                </a:cxn>
                <a:cxn ang="0">
                  <a:pos x="56" y="548"/>
                </a:cxn>
              </a:cxnLst>
              <a:rect l="0" t="0" r="r" b="b"/>
              <a:pathLst>
                <a:path w="56" h="548">
                  <a:moveTo>
                    <a:pt x="0" y="0"/>
                  </a:moveTo>
                  <a:lnTo>
                    <a:pt x="56" y="548"/>
                  </a:lnTo>
                </a:path>
              </a:pathLst>
            </a:custGeom>
            <a:ln>
              <a:headEnd type="none" w="med" len="med"/>
              <a:tailEnd type="none" w="med" len="med"/>
            </a:ln>
          </p:spPr>
          <p:style>
            <a:lnRef idx="2">
              <a:schemeClr val="accent5"/>
            </a:lnRef>
            <a:fillRef idx="0">
              <a:schemeClr val="accent5"/>
            </a:fillRef>
            <a:effectRef idx="1">
              <a:schemeClr val="accent5"/>
            </a:effectRef>
            <a:fontRef idx="minor">
              <a:schemeClr val="tx1"/>
            </a:fontRef>
          </p:style>
          <p:txBody>
            <a:bodyPr wrap="none" anchor="ctr"/>
            <a:lstStyle/>
            <a:p>
              <a:endParaRPr lang="zh-CN" altLang="en-US">
                <a:latin typeface="楷体" panose="02010609060101010101" pitchFamily="49" charset="-122"/>
                <a:ea typeface="楷体" panose="02010609060101010101" pitchFamily="49" charset="-122"/>
                <a:cs typeface="Consolas" pitchFamily="49" charset="0"/>
              </a:endParaRPr>
            </a:p>
          </p:txBody>
        </p:sp>
        <p:sp>
          <p:nvSpPr>
            <p:cNvPr id="15" name="Oval 0">
              <a:extLst>
                <a:ext uri="{FF2B5EF4-FFF2-40B4-BE49-F238E27FC236}">
                  <a16:creationId xmlns:a16="http://schemas.microsoft.com/office/drawing/2014/main" id="{D6B1ADED-A905-4CA7-9235-D0FCBED249B7}"/>
                </a:ext>
              </a:extLst>
            </p:cNvPr>
            <p:cNvSpPr>
              <a:spLocks noChangeArrowheads="1"/>
            </p:cNvSpPr>
            <p:nvPr/>
          </p:nvSpPr>
          <p:spPr bwMode="auto">
            <a:xfrm>
              <a:off x="4114800" y="3810011"/>
              <a:ext cx="385763" cy="393700"/>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a:latin typeface="楷体" panose="02010609060101010101" pitchFamily="49" charset="-122"/>
                <a:ea typeface="楷体" panose="02010609060101010101" pitchFamily="49" charset="-122"/>
                <a:cs typeface="Consolas" pitchFamily="49" charset="0"/>
              </a:endParaRPr>
            </a:p>
          </p:txBody>
        </p:sp>
        <p:cxnSp>
          <p:nvCxnSpPr>
            <p:cNvPr id="16" name="直接连接符 15">
              <a:extLst>
                <a:ext uri="{FF2B5EF4-FFF2-40B4-BE49-F238E27FC236}">
                  <a16:creationId xmlns:a16="http://schemas.microsoft.com/office/drawing/2014/main" id="{61D29638-C641-4F06-879B-24BD9D99098D}"/>
                </a:ext>
              </a:extLst>
            </p:cNvPr>
            <p:cNvCxnSpPr>
              <a:stCxn id="6" idx="4"/>
              <a:endCxn id="8" idx="0"/>
            </p:cNvCxnSpPr>
            <p:nvPr/>
          </p:nvCxnSpPr>
          <p:spPr>
            <a:xfrm rot="5400000">
              <a:off x="1916108" y="3747298"/>
              <a:ext cx="344499" cy="1588"/>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7" name="直接连接符 16">
              <a:extLst>
                <a:ext uri="{FF2B5EF4-FFF2-40B4-BE49-F238E27FC236}">
                  <a16:creationId xmlns:a16="http://schemas.microsoft.com/office/drawing/2014/main" id="{5A0A88A3-7E79-4A32-88ED-028CD2EA28EE}"/>
                </a:ext>
              </a:extLst>
            </p:cNvPr>
            <p:cNvCxnSpPr>
              <a:stCxn id="8" idx="4"/>
              <a:endCxn id="11" idx="0"/>
            </p:cNvCxnSpPr>
            <p:nvPr/>
          </p:nvCxnSpPr>
          <p:spPr>
            <a:xfrm rot="5400000">
              <a:off x="1931988" y="4436543"/>
              <a:ext cx="312737" cy="1588"/>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8" name="直接连接符 17">
              <a:extLst>
                <a:ext uri="{FF2B5EF4-FFF2-40B4-BE49-F238E27FC236}">
                  <a16:creationId xmlns:a16="http://schemas.microsoft.com/office/drawing/2014/main" id="{78F1D98A-223E-4232-8822-EF4D7662F6B7}"/>
                </a:ext>
              </a:extLst>
            </p:cNvPr>
            <p:cNvCxnSpPr>
              <a:stCxn id="7" idx="6"/>
              <a:endCxn id="15" idx="1"/>
            </p:cNvCxnSpPr>
            <p:nvPr/>
          </p:nvCxnSpPr>
          <p:spPr>
            <a:xfrm>
              <a:off x="3563938" y="3394868"/>
              <a:ext cx="607356" cy="472799"/>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19" name="直接连接符 18">
              <a:extLst>
                <a:ext uri="{FF2B5EF4-FFF2-40B4-BE49-F238E27FC236}">
                  <a16:creationId xmlns:a16="http://schemas.microsoft.com/office/drawing/2014/main" id="{F066536A-D623-488C-B87A-438C1293F839}"/>
                </a:ext>
              </a:extLst>
            </p:cNvPr>
            <p:cNvCxnSpPr>
              <a:stCxn id="6" idx="6"/>
              <a:endCxn id="7" idx="2"/>
            </p:cNvCxnSpPr>
            <p:nvPr/>
          </p:nvCxnSpPr>
          <p:spPr>
            <a:xfrm>
              <a:off x="2268538" y="3394868"/>
              <a:ext cx="935037" cy="1588"/>
            </a:xfrm>
            <a:prstGeom prst="line">
              <a:avLst/>
            </a:prstGeom>
            <a:ln>
              <a:tailEnd type="none"/>
            </a:ln>
          </p:spPr>
          <p:style>
            <a:lnRef idx="2">
              <a:schemeClr val="accent5"/>
            </a:lnRef>
            <a:fillRef idx="0">
              <a:schemeClr val="accent5"/>
            </a:fillRef>
            <a:effectRef idx="1">
              <a:schemeClr val="accent5"/>
            </a:effectRef>
            <a:fontRef idx="minor">
              <a:schemeClr val="tx1"/>
            </a:fontRef>
          </p:style>
        </p:cxnSp>
      </p:grpSp>
      <p:sp>
        <p:nvSpPr>
          <p:cNvPr id="20" name="TextBox 22">
            <a:extLst>
              <a:ext uri="{FF2B5EF4-FFF2-40B4-BE49-F238E27FC236}">
                <a16:creationId xmlns:a16="http://schemas.microsoft.com/office/drawing/2014/main" id="{2D3C33D7-5120-424F-B41C-9FDC6E2521EA}"/>
              </a:ext>
            </a:extLst>
          </p:cNvPr>
          <p:cNvSpPr txBox="1"/>
          <p:nvPr/>
        </p:nvSpPr>
        <p:spPr>
          <a:xfrm>
            <a:off x="571472" y="679435"/>
            <a:ext cx="2346352"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l"/>
            <a:r>
              <a:rPr lang="en-US" altLang="zh-CN" sz="2400" b="1" dirty="0">
                <a:solidFill>
                  <a:srgbClr val="FF0000"/>
                </a:solidFill>
                <a:latin typeface="楷体" panose="02010609060101010101" pitchFamily="49" charset="-122"/>
                <a:ea typeface="楷体" panose="02010609060101010101" pitchFamily="49" charset="-122"/>
                <a:cs typeface="Consolas" pitchFamily="49" charset="0"/>
              </a:rPr>
              <a:t>4</a:t>
            </a:r>
            <a:r>
              <a:rPr lang="zh-CN" altLang="en-US" sz="2400" b="1" dirty="0">
                <a:solidFill>
                  <a:srgbClr val="FF0000"/>
                </a:solidFill>
                <a:latin typeface="楷体" panose="02010609060101010101" pitchFamily="49" charset="-122"/>
                <a:ea typeface="楷体" panose="02010609060101010101" pitchFamily="49" charset="-122"/>
                <a:cs typeface="Consolas" pitchFamily="49" charset="0"/>
              </a:rPr>
              <a:t>）图形结构</a:t>
            </a:r>
          </a:p>
        </p:txBody>
      </p:sp>
    </p:spTree>
    <p:extLst>
      <p:ext uri="{BB962C8B-B14F-4D97-AF65-F5344CB8AC3E}">
        <p14:creationId xmlns:p14="http://schemas.microsoft.com/office/powerpoint/2010/main" val="3992710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4">
            <a:extLst>
              <a:ext uri="{FF2B5EF4-FFF2-40B4-BE49-F238E27FC236}">
                <a16:creationId xmlns:a16="http://schemas.microsoft.com/office/drawing/2014/main" id="{ADBEB4E2-04FD-446E-A195-1E0BB00E678A}"/>
              </a:ext>
            </a:extLst>
          </p:cNvPr>
          <p:cNvSpPr/>
          <p:nvPr/>
        </p:nvSpPr>
        <p:spPr>
          <a:xfrm>
            <a:off x="2195736" y="1340768"/>
            <a:ext cx="3643338" cy="3429024"/>
          </a:xfrm>
          <a:prstGeom prst="roundRect">
            <a:avLst/>
          </a:prstGeom>
          <a:blipFill>
            <a:blip r:embed="rId2" cstate="print"/>
            <a:tile tx="0" ty="0" sx="100000" sy="100000" flip="none" algn="tl"/>
          </a:blip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b="1"/>
          </a:p>
        </p:txBody>
      </p:sp>
      <p:grpSp>
        <p:nvGrpSpPr>
          <p:cNvPr id="5" name="组合 25">
            <a:extLst>
              <a:ext uri="{FF2B5EF4-FFF2-40B4-BE49-F238E27FC236}">
                <a16:creationId xmlns:a16="http://schemas.microsoft.com/office/drawing/2014/main" id="{02817691-E07F-45A5-8F7D-4FF3B6E60DD4}"/>
              </a:ext>
            </a:extLst>
          </p:cNvPr>
          <p:cNvGrpSpPr/>
          <p:nvPr/>
        </p:nvGrpSpPr>
        <p:grpSpPr>
          <a:xfrm>
            <a:off x="2391000" y="1485269"/>
            <a:ext cx="1571636" cy="3957270"/>
            <a:chOff x="1428728" y="1714488"/>
            <a:chExt cx="1571636" cy="3957270"/>
          </a:xfrm>
        </p:grpSpPr>
        <p:sp>
          <p:nvSpPr>
            <p:cNvPr id="6" name="圆角矩形 13">
              <a:extLst>
                <a:ext uri="{FF2B5EF4-FFF2-40B4-BE49-F238E27FC236}">
                  <a16:creationId xmlns:a16="http://schemas.microsoft.com/office/drawing/2014/main" id="{FEBAEF69-5260-43F6-AF74-96BF368A6833}"/>
                </a:ext>
              </a:extLst>
            </p:cNvPr>
            <p:cNvSpPr/>
            <p:nvPr/>
          </p:nvSpPr>
          <p:spPr>
            <a:xfrm>
              <a:off x="1428728" y="1714488"/>
              <a:ext cx="1571636" cy="314327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7" name="TextBox 14">
              <a:extLst>
                <a:ext uri="{FF2B5EF4-FFF2-40B4-BE49-F238E27FC236}">
                  <a16:creationId xmlns:a16="http://schemas.microsoft.com/office/drawing/2014/main" id="{0723FB74-C991-4044-BB39-E9686AF18D4B}"/>
                </a:ext>
              </a:extLst>
            </p:cNvPr>
            <p:cNvSpPr txBox="1"/>
            <p:nvPr/>
          </p:nvSpPr>
          <p:spPr>
            <a:xfrm>
              <a:off x="1647805" y="5357826"/>
              <a:ext cx="1143008" cy="313932"/>
            </a:xfrm>
            <a:prstGeom prst="rect">
              <a:avLst/>
            </a:prstGeom>
            <a:noFill/>
          </p:spPr>
          <p:txBody>
            <a:bodyPr wrap="square" rtlCol="0">
              <a:spAutoFit/>
            </a:bodyPr>
            <a:lstStyle/>
            <a:p>
              <a:pPr algn="l"/>
              <a:r>
                <a:rPr lang="zh-CN" altLang="en-US" sz="1800">
                  <a:solidFill>
                    <a:srgbClr val="FF0000"/>
                  </a:solidFill>
                  <a:latin typeface="仿宋" pitchFamily="49" charset="-122"/>
                  <a:ea typeface="仿宋" pitchFamily="49" charset="-122"/>
                  <a:cs typeface="Consolas" pitchFamily="49" charset="0"/>
                </a:rPr>
                <a:t>线性结构</a:t>
              </a:r>
              <a:endParaRPr lang="zh-CN" altLang="en-US" sz="1800">
                <a:latin typeface="仿宋" pitchFamily="49" charset="-122"/>
                <a:ea typeface="仿宋" pitchFamily="49" charset="-122"/>
              </a:endParaRPr>
            </a:p>
          </p:txBody>
        </p:sp>
        <p:cxnSp>
          <p:nvCxnSpPr>
            <p:cNvPr id="8" name="直接连接符 7">
              <a:extLst>
                <a:ext uri="{FF2B5EF4-FFF2-40B4-BE49-F238E27FC236}">
                  <a16:creationId xmlns:a16="http://schemas.microsoft.com/office/drawing/2014/main" id="{8BBD2E6D-19A0-401D-991B-283C7929D126}"/>
                </a:ext>
              </a:extLst>
            </p:cNvPr>
            <p:cNvCxnSpPr>
              <a:stCxn id="6" idx="2"/>
              <a:endCxn id="7" idx="0"/>
            </p:cNvCxnSpPr>
            <p:nvPr/>
          </p:nvCxnSpPr>
          <p:spPr>
            <a:xfrm rot="16200000" flipH="1">
              <a:off x="1966894" y="5105411"/>
              <a:ext cx="500066" cy="4763"/>
            </a:xfrm>
            <a:prstGeom prst="line">
              <a:avLst/>
            </a:prstGeom>
          </p:spPr>
          <p:style>
            <a:lnRef idx="2">
              <a:schemeClr val="accent5"/>
            </a:lnRef>
            <a:fillRef idx="0">
              <a:schemeClr val="accent5"/>
            </a:fillRef>
            <a:effectRef idx="1">
              <a:schemeClr val="accent5"/>
            </a:effectRef>
            <a:fontRef idx="minor">
              <a:schemeClr val="tx1"/>
            </a:fontRef>
          </p:style>
        </p:cxnSp>
      </p:grpSp>
      <p:grpSp>
        <p:nvGrpSpPr>
          <p:cNvPr id="9" name="组合 26">
            <a:extLst>
              <a:ext uri="{FF2B5EF4-FFF2-40B4-BE49-F238E27FC236}">
                <a16:creationId xmlns:a16="http://schemas.microsoft.com/office/drawing/2014/main" id="{34D9DAB0-E3A4-4395-88B9-CD0DB532EA45}"/>
              </a:ext>
            </a:extLst>
          </p:cNvPr>
          <p:cNvGrpSpPr/>
          <p:nvPr/>
        </p:nvGrpSpPr>
        <p:grpSpPr>
          <a:xfrm>
            <a:off x="4043599" y="1718577"/>
            <a:ext cx="3357586" cy="1571636"/>
            <a:chOff x="3071802" y="1857364"/>
            <a:chExt cx="3357586" cy="1571636"/>
          </a:xfrm>
        </p:grpSpPr>
        <p:sp>
          <p:nvSpPr>
            <p:cNvPr id="10" name="TextBox 17">
              <a:extLst>
                <a:ext uri="{FF2B5EF4-FFF2-40B4-BE49-F238E27FC236}">
                  <a16:creationId xmlns:a16="http://schemas.microsoft.com/office/drawing/2014/main" id="{323E832A-3FC5-43E4-8827-C6892C3CA3F1}"/>
                </a:ext>
              </a:extLst>
            </p:cNvPr>
            <p:cNvSpPr txBox="1"/>
            <p:nvPr/>
          </p:nvSpPr>
          <p:spPr>
            <a:xfrm>
              <a:off x="5286380" y="2481256"/>
              <a:ext cx="1143008" cy="313932"/>
            </a:xfrm>
            <a:prstGeom prst="rect">
              <a:avLst/>
            </a:prstGeom>
            <a:noFill/>
          </p:spPr>
          <p:txBody>
            <a:bodyPr wrap="square" rtlCol="0">
              <a:spAutoFit/>
            </a:bodyPr>
            <a:lstStyle/>
            <a:p>
              <a:pPr algn="l"/>
              <a:r>
                <a:rPr lang="zh-CN" altLang="en-US" sz="1800">
                  <a:solidFill>
                    <a:srgbClr val="FF0000"/>
                  </a:solidFill>
                  <a:latin typeface="仿宋" pitchFamily="49" charset="-122"/>
                  <a:ea typeface="仿宋" pitchFamily="49" charset="-122"/>
                  <a:cs typeface="Consolas" pitchFamily="49" charset="0"/>
                </a:rPr>
                <a:t>树形结构</a:t>
              </a:r>
              <a:endParaRPr lang="zh-CN" altLang="en-US" sz="1800">
                <a:latin typeface="仿宋" pitchFamily="49" charset="-122"/>
                <a:ea typeface="仿宋" pitchFamily="49" charset="-122"/>
              </a:endParaRPr>
            </a:p>
          </p:txBody>
        </p:sp>
        <p:sp>
          <p:nvSpPr>
            <p:cNvPr id="11" name="圆角矩形 19">
              <a:extLst>
                <a:ext uri="{FF2B5EF4-FFF2-40B4-BE49-F238E27FC236}">
                  <a16:creationId xmlns:a16="http://schemas.microsoft.com/office/drawing/2014/main" id="{D6D036DE-10AC-45E3-A1E4-9CC0C8FC4C04}"/>
                </a:ext>
              </a:extLst>
            </p:cNvPr>
            <p:cNvSpPr/>
            <p:nvPr/>
          </p:nvSpPr>
          <p:spPr>
            <a:xfrm>
              <a:off x="3071802" y="1857364"/>
              <a:ext cx="1571636" cy="15716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cxnSp>
          <p:nvCxnSpPr>
            <p:cNvPr id="12" name="直接连接符 11">
              <a:extLst>
                <a:ext uri="{FF2B5EF4-FFF2-40B4-BE49-F238E27FC236}">
                  <a16:creationId xmlns:a16="http://schemas.microsoft.com/office/drawing/2014/main" id="{5454CF09-71BA-4D8D-91EC-25F8AD3D9DA4}"/>
                </a:ext>
              </a:extLst>
            </p:cNvPr>
            <p:cNvCxnSpPr>
              <a:stCxn id="11" idx="3"/>
              <a:endCxn id="10" idx="1"/>
            </p:cNvCxnSpPr>
            <p:nvPr/>
          </p:nvCxnSpPr>
          <p:spPr>
            <a:xfrm flipV="1">
              <a:off x="4643438" y="2638222"/>
              <a:ext cx="642942" cy="4960"/>
            </a:xfrm>
            <a:prstGeom prst="line">
              <a:avLst/>
            </a:prstGeom>
          </p:spPr>
          <p:style>
            <a:lnRef idx="2">
              <a:schemeClr val="accent5"/>
            </a:lnRef>
            <a:fillRef idx="0">
              <a:schemeClr val="accent5"/>
            </a:fillRef>
            <a:effectRef idx="1">
              <a:schemeClr val="accent5"/>
            </a:effectRef>
            <a:fontRef idx="minor">
              <a:schemeClr val="tx1"/>
            </a:fontRef>
          </p:style>
        </p:cxnSp>
      </p:grpSp>
      <p:grpSp>
        <p:nvGrpSpPr>
          <p:cNvPr id="13" name="组合 27">
            <a:extLst>
              <a:ext uri="{FF2B5EF4-FFF2-40B4-BE49-F238E27FC236}">
                <a16:creationId xmlns:a16="http://schemas.microsoft.com/office/drawing/2014/main" id="{95317B63-AF24-4B6A-9CE2-E88A04FC0508}"/>
              </a:ext>
            </a:extLst>
          </p:cNvPr>
          <p:cNvGrpSpPr/>
          <p:nvPr/>
        </p:nvGrpSpPr>
        <p:grpSpPr>
          <a:xfrm>
            <a:off x="4062649" y="3698222"/>
            <a:ext cx="3410553" cy="785818"/>
            <a:chOff x="3081327" y="3857628"/>
            <a:chExt cx="3410553" cy="785818"/>
          </a:xfrm>
        </p:grpSpPr>
        <p:sp>
          <p:nvSpPr>
            <p:cNvPr id="14" name="TextBox 18">
              <a:extLst>
                <a:ext uri="{FF2B5EF4-FFF2-40B4-BE49-F238E27FC236}">
                  <a16:creationId xmlns:a16="http://schemas.microsoft.com/office/drawing/2014/main" id="{E069A974-CA8C-4779-BCCD-D50741F1A483}"/>
                </a:ext>
              </a:extLst>
            </p:cNvPr>
            <p:cNvSpPr txBox="1"/>
            <p:nvPr/>
          </p:nvSpPr>
          <p:spPr>
            <a:xfrm>
              <a:off x="5348872" y="4071942"/>
              <a:ext cx="1143008" cy="313932"/>
            </a:xfrm>
            <a:prstGeom prst="rect">
              <a:avLst/>
            </a:prstGeom>
            <a:noFill/>
          </p:spPr>
          <p:txBody>
            <a:bodyPr wrap="square" rtlCol="0">
              <a:spAutoFit/>
            </a:bodyPr>
            <a:lstStyle/>
            <a:p>
              <a:pPr algn="l"/>
              <a:r>
                <a:rPr lang="zh-CN" altLang="en-US" sz="1800">
                  <a:solidFill>
                    <a:srgbClr val="FF0000"/>
                  </a:solidFill>
                  <a:latin typeface="仿宋" pitchFamily="49" charset="-122"/>
                  <a:ea typeface="仿宋" pitchFamily="49" charset="-122"/>
                  <a:cs typeface="Consolas" pitchFamily="49" charset="0"/>
                </a:rPr>
                <a:t>图形结构</a:t>
              </a:r>
              <a:endParaRPr lang="zh-CN" altLang="en-US" sz="1800">
                <a:latin typeface="仿宋" pitchFamily="49" charset="-122"/>
                <a:ea typeface="仿宋" pitchFamily="49" charset="-122"/>
              </a:endParaRPr>
            </a:p>
          </p:txBody>
        </p:sp>
        <p:sp>
          <p:nvSpPr>
            <p:cNvPr id="15" name="圆角矩形 20">
              <a:extLst>
                <a:ext uri="{FF2B5EF4-FFF2-40B4-BE49-F238E27FC236}">
                  <a16:creationId xmlns:a16="http://schemas.microsoft.com/office/drawing/2014/main" id="{B067D2C1-7160-4BED-BC38-3F036DBCA7E5}"/>
                </a:ext>
              </a:extLst>
            </p:cNvPr>
            <p:cNvSpPr/>
            <p:nvPr/>
          </p:nvSpPr>
          <p:spPr>
            <a:xfrm>
              <a:off x="3081327" y="3857628"/>
              <a:ext cx="1571636" cy="7858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3D6A95D6-D630-4C88-8945-462B7F7F5479}"/>
                </a:ext>
              </a:extLst>
            </p:cNvPr>
            <p:cNvCxnSpPr>
              <a:stCxn id="15" idx="3"/>
              <a:endCxn id="14" idx="1"/>
            </p:cNvCxnSpPr>
            <p:nvPr/>
          </p:nvCxnSpPr>
          <p:spPr>
            <a:xfrm flipV="1">
              <a:off x="4652963" y="4228908"/>
              <a:ext cx="695909" cy="21629"/>
            </a:xfrm>
            <a:prstGeom prst="line">
              <a:avLst/>
            </a:prstGeom>
          </p:spPr>
          <p:style>
            <a:lnRef idx="2">
              <a:schemeClr val="accent5"/>
            </a:lnRef>
            <a:fillRef idx="0">
              <a:schemeClr val="accent5"/>
            </a:fillRef>
            <a:effectRef idx="1">
              <a:schemeClr val="accent5"/>
            </a:effectRef>
            <a:fontRef idx="minor">
              <a:schemeClr val="tx1"/>
            </a:fontRef>
          </p:style>
        </p:cxnSp>
      </p:grpSp>
      <p:sp>
        <p:nvSpPr>
          <p:cNvPr id="17" name="圆角矩形 5">
            <a:extLst>
              <a:ext uri="{FF2B5EF4-FFF2-40B4-BE49-F238E27FC236}">
                <a16:creationId xmlns:a16="http://schemas.microsoft.com/office/drawing/2014/main" id="{C328A1DD-170C-43BD-9DDB-8C0F8E0E6918}"/>
              </a:ext>
            </a:extLst>
          </p:cNvPr>
          <p:cNvSpPr/>
          <p:nvPr/>
        </p:nvSpPr>
        <p:spPr>
          <a:xfrm>
            <a:off x="2552926" y="1659858"/>
            <a:ext cx="1285884" cy="468000"/>
          </a:xfrm>
          <a:prstGeom prst="roundRect">
            <a:avLst/>
          </a:prstGeom>
        </p:spPr>
        <p:style>
          <a:lnRef idx="0">
            <a:schemeClr val="accent6"/>
          </a:lnRef>
          <a:fillRef idx="3">
            <a:schemeClr val="accent6"/>
          </a:fillRef>
          <a:effectRef idx="3">
            <a:schemeClr val="accent6"/>
          </a:effectRef>
          <a:fontRef idx="minor">
            <a:schemeClr val="lt1"/>
          </a:fontRef>
        </p:style>
        <p:txBody>
          <a:bodyPr tIns="108000" rtlCol="0" anchor="ctr"/>
          <a:lstStyle/>
          <a:p>
            <a:r>
              <a:rPr lang="zh-CN" altLang="en-US" sz="2000" b="1">
                <a:solidFill>
                  <a:schemeClr val="bg1"/>
                </a:solidFill>
                <a:latin typeface="Times New Roman" pitchFamily="18" charset="0"/>
                <a:ea typeface="楷体" pitchFamily="49" charset="-122"/>
                <a:cs typeface="Times New Roman" pitchFamily="18" charset="0"/>
              </a:rPr>
              <a:t>线性表</a:t>
            </a:r>
            <a:endParaRPr lang="zh-CN" altLang="en-US" sz="2000" b="1">
              <a:solidFill>
                <a:schemeClr val="bg1"/>
              </a:solidFill>
            </a:endParaRPr>
          </a:p>
        </p:txBody>
      </p:sp>
      <p:sp>
        <p:nvSpPr>
          <p:cNvPr id="18" name="圆角矩形 6">
            <a:extLst>
              <a:ext uri="{FF2B5EF4-FFF2-40B4-BE49-F238E27FC236}">
                <a16:creationId xmlns:a16="http://schemas.microsoft.com/office/drawing/2014/main" id="{792E7146-439E-49BB-8157-96AA811BDDAA}"/>
              </a:ext>
            </a:extLst>
          </p:cNvPr>
          <p:cNvSpPr/>
          <p:nvPr/>
        </p:nvSpPr>
        <p:spPr>
          <a:xfrm>
            <a:off x="2552926" y="2259937"/>
            <a:ext cx="1285884" cy="468000"/>
          </a:xfrm>
          <a:prstGeom prst="roundRect">
            <a:avLst/>
          </a:prstGeom>
        </p:spPr>
        <p:style>
          <a:lnRef idx="0">
            <a:schemeClr val="accent6"/>
          </a:lnRef>
          <a:fillRef idx="3">
            <a:schemeClr val="accent6"/>
          </a:fillRef>
          <a:effectRef idx="3">
            <a:schemeClr val="accent6"/>
          </a:effectRef>
          <a:fontRef idx="minor">
            <a:schemeClr val="lt1"/>
          </a:fontRef>
        </p:style>
        <p:txBody>
          <a:bodyPr tIns="108000" rtlCol="0" anchor="ctr"/>
          <a:lstStyle/>
          <a:p>
            <a:r>
              <a:rPr lang="zh-CN" altLang="en-US" sz="2000" b="1">
                <a:solidFill>
                  <a:schemeClr val="bg1"/>
                </a:solidFill>
                <a:latin typeface="Times New Roman" pitchFamily="18" charset="0"/>
                <a:ea typeface="楷体" pitchFamily="49" charset="-122"/>
                <a:cs typeface="Times New Roman" pitchFamily="18" charset="0"/>
              </a:rPr>
              <a:t>栈</a:t>
            </a:r>
            <a:endParaRPr lang="zh-CN" altLang="en-US" sz="2000" b="1">
              <a:solidFill>
                <a:schemeClr val="bg1"/>
              </a:solidFill>
            </a:endParaRPr>
          </a:p>
        </p:txBody>
      </p:sp>
      <p:sp>
        <p:nvSpPr>
          <p:cNvPr id="19" name="圆角矩形 7">
            <a:extLst>
              <a:ext uri="{FF2B5EF4-FFF2-40B4-BE49-F238E27FC236}">
                <a16:creationId xmlns:a16="http://schemas.microsoft.com/office/drawing/2014/main" id="{33AADD11-A894-4A17-BF1E-871F60628786}"/>
              </a:ext>
            </a:extLst>
          </p:cNvPr>
          <p:cNvSpPr/>
          <p:nvPr/>
        </p:nvSpPr>
        <p:spPr>
          <a:xfrm>
            <a:off x="2552926" y="2863507"/>
            <a:ext cx="1285884" cy="468000"/>
          </a:xfrm>
          <a:prstGeom prst="roundRect">
            <a:avLst/>
          </a:prstGeom>
        </p:spPr>
        <p:style>
          <a:lnRef idx="0">
            <a:schemeClr val="accent6"/>
          </a:lnRef>
          <a:fillRef idx="3">
            <a:schemeClr val="accent6"/>
          </a:fillRef>
          <a:effectRef idx="3">
            <a:schemeClr val="accent6"/>
          </a:effectRef>
          <a:fontRef idx="minor">
            <a:schemeClr val="lt1"/>
          </a:fontRef>
        </p:style>
        <p:txBody>
          <a:bodyPr tIns="108000" rtlCol="0" anchor="ctr"/>
          <a:lstStyle/>
          <a:p>
            <a:r>
              <a:rPr lang="zh-CN" altLang="en-US" sz="2000" b="1">
                <a:solidFill>
                  <a:schemeClr val="bg1"/>
                </a:solidFill>
                <a:latin typeface="Times New Roman" pitchFamily="18" charset="0"/>
                <a:ea typeface="楷体" pitchFamily="49" charset="-122"/>
                <a:cs typeface="Times New Roman" pitchFamily="18" charset="0"/>
              </a:rPr>
              <a:t>队列</a:t>
            </a:r>
            <a:endParaRPr lang="zh-CN" altLang="en-US" sz="2000" b="1">
              <a:solidFill>
                <a:schemeClr val="bg1"/>
              </a:solidFill>
            </a:endParaRPr>
          </a:p>
        </p:txBody>
      </p:sp>
      <p:sp>
        <p:nvSpPr>
          <p:cNvPr id="20" name="圆角矩形 8">
            <a:extLst>
              <a:ext uri="{FF2B5EF4-FFF2-40B4-BE49-F238E27FC236}">
                <a16:creationId xmlns:a16="http://schemas.microsoft.com/office/drawing/2014/main" id="{AB0DD37D-BA11-4E10-B8C1-8A0E2A80C27B}"/>
              </a:ext>
            </a:extLst>
          </p:cNvPr>
          <p:cNvSpPr/>
          <p:nvPr/>
        </p:nvSpPr>
        <p:spPr>
          <a:xfrm>
            <a:off x="2552926" y="3435011"/>
            <a:ext cx="1285884" cy="468000"/>
          </a:xfrm>
          <a:prstGeom prst="roundRect">
            <a:avLst/>
          </a:prstGeom>
        </p:spPr>
        <p:style>
          <a:lnRef idx="0">
            <a:schemeClr val="accent6"/>
          </a:lnRef>
          <a:fillRef idx="3">
            <a:schemeClr val="accent6"/>
          </a:fillRef>
          <a:effectRef idx="3">
            <a:schemeClr val="accent6"/>
          </a:effectRef>
          <a:fontRef idx="minor">
            <a:schemeClr val="lt1"/>
          </a:fontRef>
        </p:style>
        <p:txBody>
          <a:bodyPr tIns="108000" rtlCol="0" anchor="ctr"/>
          <a:lstStyle/>
          <a:p>
            <a:r>
              <a:rPr lang="zh-CN" altLang="en-US" sz="2000" b="1">
                <a:solidFill>
                  <a:schemeClr val="bg1"/>
                </a:solidFill>
                <a:latin typeface="Times New Roman" pitchFamily="18" charset="0"/>
                <a:ea typeface="楷体" pitchFamily="49" charset="-122"/>
                <a:cs typeface="Times New Roman" pitchFamily="18" charset="0"/>
              </a:rPr>
              <a:t>串</a:t>
            </a:r>
            <a:endParaRPr lang="zh-CN" altLang="en-US" sz="2000" b="1">
              <a:solidFill>
                <a:schemeClr val="bg1"/>
              </a:solidFill>
            </a:endParaRPr>
          </a:p>
        </p:txBody>
      </p:sp>
      <p:sp>
        <p:nvSpPr>
          <p:cNvPr id="21" name="圆角矩形 9">
            <a:extLst>
              <a:ext uri="{FF2B5EF4-FFF2-40B4-BE49-F238E27FC236}">
                <a16:creationId xmlns:a16="http://schemas.microsoft.com/office/drawing/2014/main" id="{AA431DC7-C9AA-4D9A-8042-13091E7D3190}"/>
              </a:ext>
            </a:extLst>
          </p:cNvPr>
          <p:cNvSpPr/>
          <p:nvPr/>
        </p:nvSpPr>
        <p:spPr>
          <a:xfrm>
            <a:off x="2552926" y="4006515"/>
            <a:ext cx="1285884" cy="468000"/>
          </a:xfrm>
          <a:prstGeom prst="roundRect">
            <a:avLst/>
          </a:prstGeom>
        </p:spPr>
        <p:style>
          <a:lnRef idx="0">
            <a:schemeClr val="accent6"/>
          </a:lnRef>
          <a:fillRef idx="3">
            <a:schemeClr val="accent6"/>
          </a:fillRef>
          <a:effectRef idx="3">
            <a:schemeClr val="accent6"/>
          </a:effectRef>
          <a:fontRef idx="minor">
            <a:schemeClr val="lt1"/>
          </a:fontRef>
        </p:style>
        <p:txBody>
          <a:bodyPr tIns="108000" rtlCol="0" anchor="ctr"/>
          <a:lstStyle/>
          <a:p>
            <a:r>
              <a:rPr lang="zh-CN" altLang="en-US" sz="2000" b="1">
                <a:solidFill>
                  <a:schemeClr val="bg1"/>
                </a:solidFill>
                <a:latin typeface="Times New Roman" pitchFamily="18" charset="0"/>
                <a:ea typeface="楷体" pitchFamily="49" charset="-122"/>
                <a:cs typeface="Times New Roman" pitchFamily="18" charset="0"/>
              </a:rPr>
              <a:t>数组</a:t>
            </a:r>
            <a:endParaRPr lang="zh-CN" altLang="en-US" sz="2000" b="1">
              <a:solidFill>
                <a:schemeClr val="bg1"/>
              </a:solidFill>
            </a:endParaRPr>
          </a:p>
        </p:txBody>
      </p:sp>
      <p:sp>
        <p:nvSpPr>
          <p:cNvPr id="22" name="圆角矩形 10">
            <a:extLst>
              <a:ext uri="{FF2B5EF4-FFF2-40B4-BE49-F238E27FC236}">
                <a16:creationId xmlns:a16="http://schemas.microsoft.com/office/drawing/2014/main" id="{26868EB2-C20C-469B-8DA1-C67392B624D0}"/>
              </a:ext>
            </a:extLst>
          </p:cNvPr>
          <p:cNvSpPr/>
          <p:nvPr/>
        </p:nvSpPr>
        <p:spPr>
          <a:xfrm>
            <a:off x="4196000" y="1974185"/>
            <a:ext cx="1285884" cy="468000"/>
          </a:xfrm>
          <a:prstGeom prst="roundRect">
            <a:avLst/>
          </a:prstGeom>
        </p:spPr>
        <p:style>
          <a:lnRef idx="0">
            <a:schemeClr val="accent6"/>
          </a:lnRef>
          <a:fillRef idx="3">
            <a:schemeClr val="accent6"/>
          </a:fillRef>
          <a:effectRef idx="3">
            <a:schemeClr val="accent6"/>
          </a:effectRef>
          <a:fontRef idx="minor">
            <a:schemeClr val="lt1"/>
          </a:fontRef>
        </p:style>
        <p:txBody>
          <a:bodyPr tIns="108000" rtlCol="0" anchor="ctr"/>
          <a:lstStyle/>
          <a:p>
            <a:r>
              <a:rPr lang="zh-CN" altLang="en-US" sz="2000" b="1">
                <a:solidFill>
                  <a:schemeClr val="bg1"/>
                </a:solidFill>
                <a:latin typeface="Times New Roman" pitchFamily="18" charset="0"/>
                <a:ea typeface="楷体" pitchFamily="49" charset="-122"/>
                <a:cs typeface="Times New Roman" pitchFamily="18" charset="0"/>
              </a:rPr>
              <a:t>树</a:t>
            </a:r>
            <a:endParaRPr lang="zh-CN" altLang="en-US" sz="2000" b="1">
              <a:solidFill>
                <a:schemeClr val="bg1"/>
              </a:solidFill>
            </a:endParaRPr>
          </a:p>
        </p:txBody>
      </p:sp>
      <p:sp>
        <p:nvSpPr>
          <p:cNvPr id="23" name="圆角矩形 11">
            <a:extLst>
              <a:ext uri="{FF2B5EF4-FFF2-40B4-BE49-F238E27FC236}">
                <a16:creationId xmlns:a16="http://schemas.microsoft.com/office/drawing/2014/main" id="{EFB07482-1B28-4C90-B999-0312F66C9AC3}"/>
              </a:ext>
            </a:extLst>
          </p:cNvPr>
          <p:cNvSpPr/>
          <p:nvPr/>
        </p:nvSpPr>
        <p:spPr>
          <a:xfrm>
            <a:off x="4196000" y="2577755"/>
            <a:ext cx="1285884" cy="468000"/>
          </a:xfrm>
          <a:prstGeom prst="roundRect">
            <a:avLst/>
          </a:prstGeom>
        </p:spPr>
        <p:style>
          <a:lnRef idx="0">
            <a:schemeClr val="accent6"/>
          </a:lnRef>
          <a:fillRef idx="3">
            <a:schemeClr val="accent6"/>
          </a:fillRef>
          <a:effectRef idx="3">
            <a:schemeClr val="accent6"/>
          </a:effectRef>
          <a:fontRef idx="minor">
            <a:schemeClr val="lt1"/>
          </a:fontRef>
        </p:style>
        <p:txBody>
          <a:bodyPr tIns="108000" rtlCol="0" anchor="ctr"/>
          <a:lstStyle/>
          <a:p>
            <a:r>
              <a:rPr lang="zh-CN" altLang="en-US" sz="2000" b="1">
                <a:solidFill>
                  <a:schemeClr val="bg1"/>
                </a:solidFill>
                <a:latin typeface="Times New Roman" pitchFamily="18" charset="0"/>
                <a:ea typeface="楷体" pitchFamily="49" charset="-122"/>
                <a:cs typeface="Times New Roman" pitchFamily="18" charset="0"/>
              </a:rPr>
              <a:t>二叉树</a:t>
            </a:r>
            <a:endParaRPr lang="zh-CN" altLang="en-US" sz="2000" b="1">
              <a:solidFill>
                <a:schemeClr val="bg1"/>
              </a:solidFill>
            </a:endParaRPr>
          </a:p>
        </p:txBody>
      </p:sp>
      <p:sp>
        <p:nvSpPr>
          <p:cNvPr id="24" name="圆角矩形 12">
            <a:extLst>
              <a:ext uri="{FF2B5EF4-FFF2-40B4-BE49-F238E27FC236}">
                <a16:creationId xmlns:a16="http://schemas.microsoft.com/office/drawing/2014/main" id="{34C6471F-8324-4CDC-B97E-B506D0DD2012}"/>
              </a:ext>
            </a:extLst>
          </p:cNvPr>
          <p:cNvSpPr/>
          <p:nvPr/>
        </p:nvSpPr>
        <p:spPr>
          <a:xfrm>
            <a:off x="4196000" y="3863639"/>
            <a:ext cx="1285884" cy="468000"/>
          </a:xfrm>
          <a:prstGeom prst="roundRect">
            <a:avLst/>
          </a:prstGeom>
        </p:spPr>
        <p:style>
          <a:lnRef idx="0">
            <a:schemeClr val="accent6"/>
          </a:lnRef>
          <a:fillRef idx="3">
            <a:schemeClr val="accent6"/>
          </a:fillRef>
          <a:effectRef idx="3">
            <a:schemeClr val="accent6"/>
          </a:effectRef>
          <a:fontRef idx="minor">
            <a:schemeClr val="lt1"/>
          </a:fontRef>
        </p:style>
        <p:txBody>
          <a:bodyPr tIns="108000" rtlCol="0" anchor="ctr"/>
          <a:lstStyle/>
          <a:p>
            <a:r>
              <a:rPr lang="zh-CN" altLang="en-US" sz="2000" b="1">
                <a:solidFill>
                  <a:schemeClr val="bg1"/>
                </a:solidFill>
                <a:latin typeface="Times New Roman" pitchFamily="18" charset="0"/>
                <a:ea typeface="楷体" pitchFamily="49" charset="-122"/>
                <a:cs typeface="Times New Roman" pitchFamily="18" charset="0"/>
              </a:rPr>
              <a:t>图</a:t>
            </a:r>
            <a:endParaRPr lang="zh-CN" altLang="en-US" sz="2000" b="1">
              <a:solidFill>
                <a:schemeClr val="bg1"/>
              </a:solidFill>
            </a:endParaRPr>
          </a:p>
        </p:txBody>
      </p:sp>
      <p:sp>
        <p:nvSpPr>
          <p:cNvPr id="25" name="TextBox 2">
            <a:extLst>
              <a:ext uri="{FF2B5EF4-FFF2-40B4-BE49-F238E27FC236}">
                <a16:creationId xmlns:a16="http://schemas.microsoft.com/office/drawing/2014/main" id="{7C9BB2BC-B815-4A33-B91D-232E6D0FD77E}"/>
              </a:ext>
            </a:extLst>
          </p:cNvPr>
          <p:cNvSpPr txBox="1"/>
          <p:nvPr/>
        </p:nvSpPr>
        <p:spPr>
          <a:xfrm>
            <a:off x="748629" y="696200"/>
            <a:ext cx="7646742" cy="400110"/>
          </a:xfrm>
          <a:prstGeom prst="rect">
            <a:avLst/>
          </a:prstGeom>
          <a:noFill/>
        </p:spPr>
        <p:txBody>
          <a:bodyPr wrap="square" rtlCol="0">
            <a:spAutoFit/>
          </a:bodyPr>
          <a:lstStyle/>
          <a:p>
            <a:pPr algn="l">
              <a:lnSpc>
                <a:spcPct val="100000"/>
              </a:lnSpc>
            </a:pPr>
            <a:r>
              <a:rPr lang="zh-CN" altLang="en-US" sz="2000" b="1" dirty="0">
                <a:solidFill>
                  <a:srgbClr val="0000FF"/>
                </a:solidFill>
                <a:latin typeface="楷体" panose="02010609060101010101" pitchFamily="49" charset="-122"/>
                <a:ea typeface="楷体" panose="02010609060101010101" pitchFamily="49" charset="-122"/>
              </a:rPr>
              <a:t>本课程按逻辑结构类型学习：线性、树形、图形三大数据结构</a:t>
            </a:r>
          </a:p>
        </p:txBody>
      </p:sp>
    </p:spTree>
    <p:extLst>
      <p:ext uri="{BB962C8B-B14F-4D97-AF65-F5344CB8AC3E}">
        <p14:creationId xmlns:p14="http://schemas.microsoft.com/office/powerpoint/2010/main" val="2403662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571480"/>
            <a:ext cx="7704856" cy="841296"/>
          </a:xfrm>
        </p:spPr>
        <p:txBody>
          <a:bodyPr/>
          <a:lstStyle/>
          <a:p>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数据的逻辑结构</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强调的是数据元素之间的逻辑关系，反映了数据的特性。</a:t>
            </a:r>
            <a:endParaRPr lang="zh-CN" altLang="en-US"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611560" y="1484784"/>
            <a:ext cx="7704856" cy="1152128"/>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cap="all" baseline="0">
                <a:solidFill>
                  <a:schemeClr val="tx1"/>
                </a:solidFill>
                <a:latin typeface="黑体" panose="02010609060101010101" pitchFamily="49" charset="-122"/>
                <a:ea typeface="黑体" panose="02010609060101010101" pitchFamily="49" charset="-122"/>
                <a:cs typeface="+mj-cs"/>
              </a:defRPr>
            </a:lvl1pPr>
          </a:lstStyle>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任何数据结构都是</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由数据集和关系集组成</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DS=(D，R)</a:t>
            </a:r>
            <a:b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b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其中，D表示数据元素集合</a:t>
            </a:r>
            <a:br>
              <a:rPr lang="en-US" altLang="zh-CN" sz="2400" dirty="0">
                <a:latin typeface="Times New Roman" panose="02020603050405020304" pitchFamily="18" charset="0"/>
                <a:ea typeface="楷体" panose="02010609060101010101" pitchFamily="49" charset="-122"/>
                <a:cs typeface="Times New Roman" panose="02020603050405020304" pitchFamily="18" charset="0"/>
              </a:rPr>
            </a:b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R表示数据元素之间的关系集合。</a:t>
            </a:r>
            <a:endParaRPr lang="zh-CN" altLang="en-US"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5656" y="2836321"/>
            <a:ext cx="5925558" cy="880711"/>
          </a:xfrm>
          <a:prstGeom prst="rect">
            <a:avLst/>
          </a:prstGeom>
        </p:spPr>
      </p:pic>
      <p:sp>
        <p:nvSpPr>
          <p:cNvPr id="5" name="矩形 4"/>
          <p:cNvSpPr/>
          <p:nvPr/>
        </p:nvSpPr>
        <p:spPr>
          <a:xfrm>
            <a:off x="525305" y="3789040"/>
            <a:ext cx="7704856" cy="2269660"/>
          </a:xfrm>
          <a:prstGeom prst="rect">
            <a:avLst/>
          </a:prstGeom>
        </p:spPr>
        <p:txBody>
          <a:bodyPr wrap="square">
            <a:spAutoFit/>
          </a:bodyPr>
          <a:lstStyle/>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图(a)描述了线性结构---线性表L。L用数据集与关系集表示如下：</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L=(D,R)</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D={A,B,C,D}</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R={&lt;A,B&gt;,&lt;B,C&gt;,&lt;C,D&gt;}</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2861936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0" y="865743"/>
            <a:ext cx="4104456" cy="2563257"/>
          </a:xfrm>
          <a:prstGeom prst="rect">
            <a:avLst/>
          </a:prstGeom>
        </p:spPr>
      </p:pic>
      <p:sp>
        <p:nvSpPr>
          <p:cNvPr id="6" name="矩形 5"/>
          <p:cNvSpPr/>
          <p:nvPr/>
        </p:nvSpPr>
        <p:spPr>
          <a:xfrm>
            <a:off x="395536" y="3573016"/>
            <a:ext cx="8280920" cy="1865126"/>
          </a:xfrm>
          <a:prstGeom prst="rect">
            <a:avLst/>
          </a:prstGeom>
        </p:spPr>
        <p:txBody>
          <a:bodyPr wrap="square">
            <a:spAutoFit/>
          </a:bodyPr>
          <a:lstStyle/>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(b)</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描述了非线性结构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树</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用数据集与关系集表示如下：</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T=(D,R)</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D={A,B,C,D,E,F,G}</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R={&lt;A,B&gt;,&lt;A,C&gt;,&lt;A,D&gt;,&lt;B,E&gt;,&lt;B,F&gt;,&lt;D,G&gt;}</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2361383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9552" y="3933056"/>
            <a:ext cx="8064896" cy="2269660"/>
          </a:xfrm>
          <a:prstGeom prst="rect">
            <a:avLst/>
          </a:prstGeom>
        </p:spPr>
        <p:txBody>
          <a:bodyPr wrap="square">
            <a:spAutoFit/>
          </a:bodyPr>
          <a:lstStyle/>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(c)</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描述了非线性结构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。G用数据集与关系集表示如下：</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G=(D,R)</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D={A,B,C,D}</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R={(A,B),(A,C),(B,C),(B,D)</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7824" y="1268760"/>
            <a:ext cx="2673017" cy="2592288"/>
          </a:xfrm>
          <a:prstGeom prst="rect">
            <a:avLst/>
          </a:prstGeom>
        </p:spPr>
      </p:pic>
    </p:spTree>
    <p:extLst>
      <p:ext uri="{BB962C8B-B14F-4D97-AF65-F5344CB8AC3E}">
        <p14:creationId xmlns:p14="http://schemas.microsoft.com/office/powerpoint/2010/main" val="3864057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3709CC-E7A3-4A7C-9A7B-CF12E9CDF6F7}"/>
              </a:ext>
            </a:extLst>
          </p:cNvPr>
          <p:cNvSpPr>
            <a:spLocks noGrp="1"/>
          </p:cNvSpPr>
          <p:nvPr>
            <p:ph type="title"/>
          </p:nvPr>
        </p:nvSpPr>
        <p:spPr>
          <a:xfrm>
            <a:off x="323528" y="584563"/>
            <a:ext cx="7520940" cy="548640"/>
          </a:xfrm>
        </p:spPr>
        <p:txBody>
          <a:bodyPr/>
          <a:lstStyle/>
          <a:p>
            <a:r>
              <a:rPr lang="zh-CN" altLang="en-US" b="1" dirty="0">
                <a:solidFill>
                  <a:srgbClr val="FF0000"/>
                </a:solidFill>
                <a:latin typeface="楷体" panose="02010609060101010101" pitchFamily="49" charset="-122"/>
                <a:ea typeface="楷体" panose="02010609060101010101" pitchFamily="49" charset="-122"/>
              </a:rPr>
              <a:t>数据存储结构</a:t>
            </a:r>
          </a:p>
        </p:txBody>
      </p:sp>
      <p:sp>
        <p:nvSpPr>
          <p:cNvPr id="4" name="Text Box 3">
            <a:extLst>
              <a:ext uri="{FF2B5EF4-FFF2-40B4-BE49-F238E27FC236}">
                <a16:creationId xmlns:a16="http://schemas.microsoft.com/office/drawing/2014/main" id="{CBF83637-9AFB-43F5-A465-12669E5380A5}"/>
              </a:ext>
            </a:extLst>
          </p:cNvPr>
          <p:cNvSpPr txBox="1">
            <a:spLocks noChangeArrowheads="1"/>
          </p:cNvSpPr>
          <p:nvPr/>
        </p:nvSpPr>
        <p:spPr bwMode="auto">
          <a:xfrm>
            <a:off x="428596" y="1357298"/>
            <a:ext cx="7715304" cy="707886"/>
          </a:xfrm>
          <a:prstGeom prst="rect">
            <a:avLst/>
          </a:prstGeom>
          <a:noFill/>
          <a:ln w="9525">
            <a:noFill/>
            <a:miter lim="800000"/>
            <a:headEnd/>
            <a:tailEnd/>
          </a:ln>
        </p:spPr>
        <p:txBody>
          <a:bodyPr wrap="square">
            <a:spAutoFit/>
          </a:bodyPr>
          <a:lstStyle/>
          <a:p>
            <a:pPr algn="l">
              <a:lnSpc>
                <a:spcPct val="100000"/>
              </a:lnSpc>
              <a:spcBef>
                <a:spcPts val="1200"/>
              </a:spcBef>
              <a:spcAft>
                <a:spcPts val="600"/>
              </a:spcAft>
            </a:pPr>
            <a:r>
              <a:rPr lang="zh-CN" altLang="en-US" sz="2000" b="1" dirty="0">
                <a:latin typeface="楷体" panose="02010609060101010101" pitchFamily="49" charset="-122"/>
                <a:ea typeface="楷体" panose="02010609060101010101" pitchFamily="49" charset="-122"/>
                <a:cs typeface="Times New Roman" pitchFamily="18" charset="0"/>
              </a:rPr>
              <a:t>　　数据逻辑结构在计算机中的存储表示称为数据的</a:t>
            </a:r>
            <a:r>
              <a:rPr lang="zh-CN" altLang="en-US" sz="2000" b="1" dirty="0">
                <a:solidFill>
                  <a:srgbClr val="C00000"/>
                </a:solidFill>
                <a:latin typeface="楷体" panose="02010609060101010101" pitchFamily="49" charset="-122"/>
                <a:ea typeface="楷体" panose="02010609060101010101" pitchFamily="49" charset="-122"/>
                <a:cs typeface="Times New Roman" pitchFamily="18" charset="0"/>
              </a:rPr>
              <a:t>存储结构</a:t>
            </a:r>
            <a:r>
              <a:rPr lang="zh-CN" altLang="en-US" sz="2000" b="1" dirty="0">
                <a:latin typeface="楷体" panose="02010609060101010101" pitchFamily="49" charset="-122"/>
                <a:ea typeface="楷体" panose="02010609060101010101" pitchFamily="49" charset="-122"/>
                <a:cs typeface="Times New Roman" pitchFamily="18" charset="0"/>
              </a:rPr>
              <a:t>，也称为物理结构。</a:t>
            </a:r>
            <a:r>
              <a:rPr lang="en-US" altLang="zh-CN" sz="2000" b="1" dirty="0">
                <a:latin typeface="楷体" panose="02010609060101010101" pitchFamily="49" charset="-122"/>
                <a:ea typeface="楷体" panose="02010609060101010101" pitchFamily="49" charset="-122"/>
                <a:cs typeface="Times New Roman" pitchFamily="18" charset="0"/>
              </a:rPr>
              <a:t>       </a:t>
            </a:r>
            <a:endParaRPr lang="zh-CN" altLang="en-US" sz="2000" b="1" dirty="0">
              <a:latin typeface="楷体" panose="02010609060101010101" pitchFamily="49" charset="-122"/>
              <a:ea typeface="楷体" panose="02010609060101010101" pitchFamily="49" charset="-122"/>
              <a:cs typeface="Times New Roman" pitchFamily="18" charset="0"/>
            </a:endParaRPr>
          </a:p>
        </p:txBody>
      </p:sp>
      <p:grpSp>
        <p:nvGrpSpPr>
          <p:cNvPr id="5" name="组合 12">
            <a:extLst>
              <a:ext uri="{FF2B5EF4-FFF2-40B4-BE49-F238E27FC236}">
                <a16:creationId xmlns:a16="http://schemas.microsoft.com/office/drawing/2014/main" id="{10A0E308-3CF1-47FE-8474-FAD0F2E527EA}"/>
              </a:ext>
            </a:extLst>
          </p:cNvPr>
          <p:cNvGrpSpPr/>
          <p:nvPr/>
        </p:nvGrpSpPr>
        <p:grpSpPr>
          <a:xfrm>
            <a:off x="1357290" y="2571744"/>
            <a:ext cx="4942285" cy="1032381"/>
            <a:chOff x="1357290" y="2571744"/>
            <a:chExt cx="4942285" cy="1032381"/>
          </a:xfrm>
        </p:grpSpPr>
        <p:sp>
          <p:nvSpPr>
            <p:cNvPr id="6" name="折角形 6">
              <a:extLst>
                <a:ext uri="{FF2B5EF4-FFF2-40B4-BE49-F238E27FC236}">
                  <a16:creationId xmlns:a16="http://schemas.microsoft.com/office/drawing/2014/main" id="{A54F6981-6D51-4016-9467-CB0247443618}"/>
                </a:ext>
              </a:extLst>
            </p:cNvPr>
            <p:cNvSpPr/>
            <p:nvPr/>
          </p:nvSpPr>
          <p:spPr>
            <a:xfrm>
              <a:off x="1357290" y="2603993"/>
              <a:ext cx="1357322" cy="1000132"/>
            </a:xfrm>
            <a:prstGeom prst="foldedCorner">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ct val="150000"/>
                </a:lnSpc>
              </a:pPr>
              <a:r>
                <a:rPr lang="zh-CN" altLang="en-US" sz="2000" b="1">
                  <a:solidFill>
                    <a:schemeClr val="tx1"/>
                  </a:solidFill>
                  <a:latin typeface="楷体" panose="02010609060101010101" pitchFamily="49" charset="-122"/>
                  <a:ea typeface="楷体" panose="02010609060101010101" pitchFamily="49" charset="-122"/>
                </a:rPr>
                <a:t>逻辑结构</a:t>
              </a:r>
            </a:p>
          </p:txBody>
        </p:sp>
        <p:sp>
          <p:nvSpPr>
            <p:cNvPr id="7" name="圆柱形 6">
              <a:extLst>
                <a:ext uri="{FF2B5EF4-FFF2-40B4-BE49-F238E27FC236}">
                  <a16:creationId xmlns:a16="http://schemas.microsoft.com/office/drawing/2014/main" id="{0A6DB4DA-585B-47E3-B743-023C65A7C555}"/>
                </a:ext>
              </a:extLst>
            </p:cNvPr>
            <p:cNvSpPr/>
            <p:nvPr/>
          </p:nvSpPr>
          <p:spPr>
            <a:xfrm>
              <a:off x="4870815" y="2571744"/>
              <a:ext cx="1428760" cy="1000132"/>
            </a:xfrm>
            <a:prstGeom prst="ca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000" b="1" dirty="0">
                  <a:solidFill>
                    <a:schemeClr val="tx1"/>
                  </a:solidFill>
                  <a:latin typeface="楷体" panose="02010609060101010101" pitchFamily="49" charset="-122"/>
                  <a:ea typeface="楷体" panose="02010609060101010101" pitchFamily="49" charset="-122"/>
                </a:rPr>
                <a:t>存储结构</a:t>
              </a:r>
            </a:p>
          </p:txBody>
        </p:sp>
        <p:sp>
          <p:nvSpPr>
            <p:cNvPr id="8" name="燕尾形箭头 8">
              <a:extLst>
                <a:ext uri="{FF2B5EF4-FFF2-40B4-BE49-F238E27FC236}">
                  <a16:creationId xmlns:a16="http://schemas.microsoft.com/office/drawing/2014/main" id="{5C2E2F97-C7EA-4AC3-B299-F917CF9CFFD1}"/>
                </a:ext>
              </a:extLst>
            </p:cNvPr>
            <p:cNvSpPr/>
            <p:nvPr/>
          </p:nvSpPr>
          <p:spPr>
            <a:xfrm>
              <a:off x="3000364" y="2675431"/>
              <a:ext cx="1643074" cy="857256"/>
            </a:xfrm>
            <a:prstGeom prst="notchedRightArrow">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zh-CN" altLang="en-US" sz="1800" b="1">
                  <a:solidFill>
                    <a:schemeClr val="tx1"/>
                  </a:solidFill>
                  <a:latin typeface="楷体" panose="02010609060101010101" pitchFamily="49" charset="-122"/>
                  <a:ea typeface="楷体" panose="02010609060101010101" pitchFamily="49" charset="-122"/>
                  <a:cs typeface="Times New Roman" pitchFamily="18" charset="0"/>
                </a:rPr>
                <a:t>映射</a:t>
              </a:r>
              <a:endParaRPr lang="zh-CN" altLang="en-US" sz="1800" b="1">
                <a:solidFill>
                  <a:schemeClr val="tx1"/>
                </a:solidFill>
                <a:latin typeface="楷体" panose="02010609060101010101" pitchFamily="49" charset="-122"/>
                <a:ea typeface="楷体" panose="02010609060101010101" pitchFamily="49" charset="-122"/>
              </a:endParaRPr>
            </a:p>
          </p:txBody>
        </p:sp>
      </p:grpSp>
      <p:grpSp>
        <p:nvGrpSpPr>
          <p:cNvPr id="9" name="组合 10">
            <a:extLst>
              <a:ext uri="{FF2B5EF4-FFF2-40B4-BE49-F238E27FC236}">
                <a16:creationId xmlns:a16="http://schemas.microsoft.com/office/drawing/2014/main" id="{2EF67733-48EE-49C0-B406-F13236CB9A56}"/>
              </a:ext>
            </a:extLst>
          </p:cNvPr>
          <p:cNvGrpSpPr/>
          <p:nvPr/>
        </p:nvGrpSpPr>
        <p:grpSpPr>
          <a:xfrm>
            <a:off x="629760" y="3861048"/>
            <a:ext cx="7572428" cy="1467503"/>
            <a:chOff x="571472" y="4001908"/>
            <a:chExt cx="6143668" cy="1467503"/>
          </a:xfrm>
        </p:grpSpPr>
        <p:sp>
          <p:nvSpPr>
            <p:cNvPr id="10" name="Text Box 9">
              <a:extLst>
                <a:ext uri="{FF2B5EF4-FFF2-40B4-BE49-F238E27FC236}">
                  <a16:creationId xmlns:a16="http://schemas.microsoft.com/office/drawing/2014/main" id="{ADE4C44F-E225-48B6-8043-AA2D3C2D19DF}"/>
                </a:ext>
              </a:extLst>
            </p:cNvPr>
            <p:cNvSpPr txBox="1">
              <a:spLocks noChangeArrowheads="1"/>
            </p:cNvSpPr>
            <p:nvPr/>
          </p:nvSpPr>
          <p:spPr bwMode="auto">
            <a:xfrm>
              <a:off x="571472" y="4001908"/>
              <a:ext cx="6143668" cy="547697"/>
            </a:xfrm>
            <a:prstGeom prst="rect">
              <a:avLst/>
            </a:prstGeom>
            <a:noFill/>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lnRef>
            <a:fillRef idx="1">
              <a:schemeClr val="lt1"/>
            </a:fillRef>
            <a:effectRef idx="0">
              <a:schemeClr val="accent2"/>
            </a:effectRef>
            <a:fontRef idx="minor">
              <a:schemeClr val="dk1"/>
            </a:fontRef>
          </p:style>
          <p:txBody>
            <a:bodyPr tIns="118800" bIns="118800">
              <a:spAutoFit/>
            </a:bodyPr>
            <a:lstStyle/>
            <a:p>
              <a:pPr algn="l">
                <a:lnSpc>
                  <a:spcPct val="100000"/>
                </a:lnSpc>
              </a:pPr>
              <a:r>
                <a:rPr lang="zh-CN" altLang="en-US" sz="2000" dirty="0">
                  <a:solidFill>
                    <a:schemeClr val="tx1"/>
                  </a:solidFill>
                  <a:latin typeface="楷体" panose="02010609060101010101" pitchFamily="49" charset="-122"/>
                  <a:ea typeface="楷体" panose="02010609060101010101" pitchFamily="49" charset="-122"/>
                </a:rPr>
                <a:t>设计存储结构的这种</a:t>
              </a:r>
              <a:r>
                <a:rPr kumimoji="0" lang="zh-CN" altLang="en-US" sz="2000" dirty="0">
                  <a:solidFill>
                    <a:schemeClr val="tx1"/>
                  </a:solidFill>
                  <a:latin typeface="楷体" panose="02010609060101010101" pitchFamily="49" charset="-122"/>
                  <a:ea typeface="楷体" panose="02010609060101010101" pitchFamily="49" charset="-122"/>
                </a:rPr>
                <a:t>映射应满足两个要求： </a:t>
              </a:r>
            </a:p>
          </p:txBody>
        </p:sp>
        <p:sp>
          <p:nvSpPr>
            <p:cNvPr id="11" name="TextBox 11">
              <a:extLst>
                <a:ext uri="{FF2B5EF4-FFF2-40B4-BE49-F238E27FC236}">
                  <a16:creationId xmlns:a16="http://schemas.microsoft.com/office/drawing/2014/main" id="{30B0D9A6-6AE7-4625-B193-A2FBC9A97128}"/>
                </a:ext>
              </a:extLst>
            </p:cNvPr>
            <p:cNvSpPr txBox="1"/>
            <p:nvPr/>
          </p:nvSpPr>
          <p:spPr>
            <a:xfrm>
              <a:off x="1161732" y="4651880"/>
              <a:ext cx="4706885" cy="81753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0"/>
                </a:spcBef>
                <a:buBlip>
                  <a:blip r:embed="rId2"/>
                </a:buBlip>
              </a:pPr>
              <a:r>
                <a:rPr lang="zh-CN" altLang="en-US" sz="2000" dirty="0">
                  <a:solidFill>
                    <a:schemeClr val="tx1"/>
                  </a:solidFill>
                  <a:latin typeface="楷体" panose="02010609060101010101" pitchFamily="49" charset="-122"/>
                  <a:ea typeface="楷体" panose="02010609060101010101" pitchFamily="49" charset="-122"/>
                </a:rPr>
                <a:t>存储逻辑结构中的所有元素</a:t>
              </a:r>
            </a:p>
            <a:p>
              <a:pPr marL="457200" indent="-457200" algn="l">
                <a:lnSpc>
                  <a:spcPts val="3000"/>
                </a:lnSpc>
                <a:spcBef>
                  <a:spcPts val="0"/>
                </a:spcBef>
                <a:buBlip>
                  <a:blip r:embed="rId2"/>
                </a:buBlip>
              </a:pPr>
              <a:r>
                <a:rPr lang="zh-CN" altLang="en-US" sz="2000" dirty="0">
                  <a:solidFill>
                    <a:schemeClr val="tx1"/>
                  </a:solidFill>
                  <a:latin typeface="楷体" panose="02010609060101010101" pitchFamily="49" charset="-122"/>
                  <a:ea typeface="楷体" panose="02010609060101010101" pitchFamily="49" charset="-122"/>
                </a:rPr>
                <a:t>存储数据元素间的逻辑关系</a:t>
              </a:r>
            </a:p>
          </p:txBody>
        </p:sp>
      </p:grpSp>
    </p:spTree>
    <p:extLst>
      <p:ext uri="{BB962C8B-B14F-4D97-AF65-F5344CB8AC3E}">
        <p14:creationId xmlns:p14="http://schemas.microsoft.com/office/powerpoint/2010/main" val="2499402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AABF64-4B92-4089-82CE-8D10774C7475}"/>
              </a:ext>
            </a:extLst>
          </p:cNvPr>
          <p:cNvSpPr>
            <a:spLocks noGrp="1"/>
          </p:cNvSpPr>
          <p:nvPr>
            <p:ph type="title"/>
          </p:nvPr>
        </p:nvSpPr>
        <p:spPr/>
        <p:txBody>
          <a:bodyPr/>
          <a:lstStyle/>
          <a:p>
            <a:r>
              <a:rPr lang="zh-CN" altLang="zh-CN" b="1" cap="none"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数据在计算机中的存放有四种基本的存储方法</a:t>
            </a:r>
            <a:r>
              <a:rPr lang="en-US" altLang="zh-CN" b="1" cap="none"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p>
        </p:txBody>
      </p:sp>
      <p:sp>
        <p:nvSpPr>
          <p:cNvPr id="4" name="Text Box 6">
            <a:extLst>
              <a:ext uri="{FF2B5EF4-FFF2-40B4-BE49-F238E27FC236}">
                <a16:creationId xmlns:a16="http://schemas.microsoft.com/office/drawing/2014/main" id="{A775EFB5-2073-4E70-9E85-F39EE1024C43}"/>
              </a:ext>
            </a:extLst>
          </p:cNvPr>
          <p:cNvSpPr txBox="1">
            <a:spLocks noChangeArrowheads="1"/>
          </p:cNvSpPr>
          <p:nvPr/>
        </p:nvSpPr>
        <p:spPr bwMode="auto">
          <a:xfrm>
            <a:off x="2267744" y="1812388"/>
            <a:ext cx="5013200" cy="2050713"/>
          </a:xfrm>
          <a:prstGeom prst="rect">
            <a:avLst/>
          </a:prstGeom>
          <a:solidFill>
            <a:schemeClr val="bg1">
              <a:lumMod val="95000"/>
            </a:schemeClr>
          </a:solidFill>
          <a:ln>
            <a:headEnd/>
            <a:tailEnd/>
          </a:ln>
        </p:spPr>
        <p:style>
          <a:lnRef idx="1">
            <a:schemeClr val="accent4"/>
          </a:lnRef>
          <a:fillRef idx="3">
            <a:schemeClr val="accent4"/>
          </a:fillRef>
          <a:effectRef idx="2">
            <a:schemeClr val="accent4"/>
          </a:effectRef>
          <a:fontRef idx="minor">
            <a:schemeClr val="lt1"/>
          </a:fontRef>
        </p:style>
        <p:txBody>
          <a:bodyPr wrap="square" lIns="144000" tIns="180000" bIns="144000">
            <a:spAutoFit/>
          </a:bodyPr>
          <a:lstStyle/>
          <a:p>
            <a:pPr marL="457200" indent="-457200" algn="l" fontAlgn="t">
              <a:lnSpc>
                <a:spcPct val="100000"/>
              </a:lnSpc>
              <a:buBlip>
                <a:blip r:embed="rId2"/>
              </a:buBlip>
            </a:pPr>
            <a:r>
              <a:rPr lang="zh-CN" altLang="en-US" sz="2800" dirty="0">
                <a:solidFill>
                  <a:srgbClr val="0000FF"/>
                </a:solidFill>
                <a:latin typeface="楷体" panose="02010609060101010101" pitchFamily="49" charset="-122"/>
                <a:ea typeface="楷体" panose="02010609060101010101" pitchFamily="49" charset="-122"/>
                <a:cs typeface="Times New Roman" pitchFamily="18" charset="0"/>
              </a:rPr>
              <a:t>顺序存储结构</a:t>
            </a:r>
            <a:endParaRPr lang="en-US" altLang="zh-CN" sz="2800" dirty="0">
              <a:solidFill>
                <a:srgbClr val="0000FF"/>
              </a:solidFill>
              <a:latin typeface="楷体" panose="02010609060101010101" pitchFamily="49" charset="-122"/>
              <a:ea typeface="楷体" panose="02010609060101010101" pitchFamily="49" charset="-122"/>
              <a:cs typeface="Times New Roman" pitchFamily="18" charset="0"/>
            </a:endParaRPr>
          </a:p>
          <a:p>
            <a:pPr marL="457200" indent="-457200" algn="l" fontAlgn="t">
              <a:lnSpc>
                <a:spcPct val="100000"/>
              </a:lnSpc>
              <a:buBlip>
                <a:blip r:embed="rId2"/>
              </a:buBlip>
            </a:pPr>
            <a:r>
              <a:rPr lang="zh-CN" altLang="en-US" sz="2800" dirty="0">
                <a:solidFill>
                  <a:srgbClr val="0000FF"/>
                </a:solidFill>
                <a:latin typeface="楷体" panose="02010609060101010101" pitchFamily="49" charset="-122"/>
                <a:ea typeface="楷体" panose="02010609060101010101" pitchFamily="49" charset="-122"/>
                <a:cs typeface="Times New Roman" pitchFamily="18" charset="0"/>
              </a:rPr>
              <a:t>链式存储结构</a:t>
            </a:r>
            <a:endParaRPr lang="en-US" altLang="zh-CN" sz="2800" dirty="0">
              <a:solidFill>
                <a:srgbClr val="0000FF"/>
              </a:solidFill>
              <a:latin typeface="楷体" panose="02010609060101010101" pitchFamily="49" charset="-122"/>
              <a:ea typeface="楷体" panose="02010609060101010101" pitchFamily="49" charset="-122"/>
              <a:cs typeface="Times New Roman" pitchFamily="18" charset="0"/>
            </a:endParaRPr>
          </a:p>
          <a:p>
            <a:pPr marL="457200" indent="-457200" algn="l" fontAlgn="t">
              <a:lnSpc>
                <a:spcPct val="100000"/>
              </a:lnSpc>
              <a:buBlip>
                <a:blip r:embed="rId2"/>
              </a:buBlip>
            </a:pPr>
            <a:r>
              <a:rPr lang="zh-CN" altLang="en-US" sz="2800" dirty="0">
                <a:solidFill>
                  <a:srgbClr val="0000FF"/>
                </a:solidFill>
                <a:latin typeface="楷体" panose="02010609060101010101" pitchFamily="49" charset="-122"/>
                <a:ea typeface="楷体" panose="02010609060101010101" pitchFamily="49" charset="-122"/>
                <a:cs typeface="Times New Roman" pitchFamily="18" charset="0"/>
              </a:rPr>
              <a:t>索引存储结构</a:t>
            </a:r>
            <a:endParaRPr lang="en-US" altLang="zh-CN" sz="2800" dirty="0">
              <a:solidFill>
                <a:srgbClr val="0000FF"/>
              </a:solidFill>
              <a:latin typeface="楷体" panose="02010609060101010101" pitchFamily="49" charset="-122"/>
              <a:ea typeface="楷体" panose="02010609060101010101" pitchFamily="49" charset="-122"/>
              <a:cs typeface="Times New Roman" pitchFamily="18" charset="0"/>
            </a:endParaRPr>
          </a:p>
          <a:p>
            <a:pPr marL="457200" indent="-457200" algn="l" fontAlgn="t">
              <a:lnSpc>
                <a:spcPct val="100000"/>
              </a:lnSpc>
              <a:buBlip>
                <a:blip r:embed="rId2"/>
              </a:buBlip>
            </a:pPr>
            <a:r>
              <a:rPr lang="zh-CN" altLang="en-US" sz="2800" dirty="0">
                <a:solidFill>
                  <a:srgbClr val="0000FF"/>
                </a:solidFill>
                <a:latin typeface="楷体" panose="02010609060101010101" pitchFamily="49" charset="-122"/>
                <a:ea typeface="楷体" panose="02010609060101010101" pitchFamily="49" charset="-122"/>
                <a:cs typeface="Times New Roman" pitchFamily="18" charset="0"/>
              </a:rPr>
              <a:t>哈希（散列）存储结构</a:t>
            </a:r>
          </a:p>
        </p:txBody>
      </p:sp>
    </p:spTree>
    <p:extLst>
      <p:ext uri="{BB962C8B-B14F-4D97-AF65-F5344CB8AC3E}">
        <p14:creationId xmlns:p14="http://schemas.microsoft.com/office/powerpoint/2010/main" val="20404112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575556" y="764704"/>
            <a:ext cx="7992888" cy="1534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266700" algn="just" defTabSz="914400" rtl="0" eaLnBrk="0" fontAlgn="base" latinLnBrk="0" hangingPunct="0">
              <a:lnSpc>
                <a:spcPct val="12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（1）</a:t>
            </a:r>
            <a:r>
              <a:rPr kumimoji="0" lang="zh-CN" altLang="zh-CN" sz="2000" b="0" i="0" u="none" strike="noStrike" cap="none" normalizeH="0" baseline="0" dirty="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顺序(Sequential)存储方法</a:t>
            </a:r>
            <a:r>
              <a:rPr kumimoji="0" lang="zh-CN" altLang="zh-CN" sz="20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：就是把每个数据元素，按某种顺序存放在一段连续的存储单元中。其局限性：一是需要足够大的连续存储空间，不能有效利用零碎小块；二是事先无法得知所需存储空间的大小，预留过大过小都不合理。</a:t>
            </a:r>
            <a:endParaRPr kumimoji="0" lang="zh-CN"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3" name="组合 17">
            <a:extLst>
              <a:ext uri="{FF2B5EF4-FFF2-40B4-BE49-F238E27FC236}">
                <a16:creationId xmlns:a16="http://schemas.microsoft.com/office/drawing/2014/main" id="{70BE312D-E2F0-4E52-B6F3-04B659995ED4}"/>
              </a:ext>
            </a:extLst>
          </p:cNvPr>
          <p:cNvGrpSpPr/>
          <p:nvPr/>
        </p:nvGrpSpPr>
        <p:grpSpPr>
          <a:xfrm>
            <a:off x="984439" y="4380992"/>
            <a:ext cx="5880716" cy="1492346"/>
            <a:chOff x="928662" y="2748669"/>
            <a:chExt cx="5643601" cy="1492346"/>
          </a:xfrm>
        </p:grpSpPr>
        <p:sp>
          <p:nvSpPr>
            <p:cNvPr id="4" name="Text Box 3">
              <a:extLst>
                <a:ext uri="{FF2B5EF4-FFF2-40B4-BE49-F238E27FC236}">
                  <a16:creationId xmlns:a16="http://schemas.microsoft.com/office/drawing/2014/main" id="{7E70E269-B262-4D5F-AF6A-3AAAA0B3E79E}"/>
                </a:ext>
              </a:extLst>
            </p:cNvPr>
            <p:cNvSpPr txBox="1">
              <a:spLocks noChangeArrowheads="1"/>
            </p:cNvSpPr>
            <p:nvPr/>
          </p:nvSpPr>
          <p:spPr bwMode="auto">
            <a:xfrm>
              <a:off x="928662" y="2748669"/>
              <a:ext cx="3960813" cy="372385"/>
            </a:xfrm>
            <a:prstGeom prst="rect">
              <a:avLst/>
            </a:prstGeom>
            <a:noFill/>
            <a:ln w="57150" algn="ctr">
              <a:noFill/>
              <a:miter lim="800000"/>
              <a:headEnd/>
              <a:tailEnd type="none" w="lg" len="lg"/>
            </a:ln>
            <a:effectLst/>
          </p:spPr>
          <p:txBody>
            <a:bodyPr tIns="76176" bIns="0">
              <a:spAutoFit/>
            </a:bodyPr>
            <a:lstStyle/>
            <a:p>
              <a:pPr marL="457200" indent="-457200" algn="l"/>
              <a:r>
                <a:rPr lang="zh-CN" altLang="en-US" b="1" dirty="0">
                  <a:solidFill>
                    <a:srgbClr val="0000FF"/>
                  </a:solidFill>
                  <a:latin typeface="华文中宋" pitchFamily="2" charset="-122"/>
                  <a:ea typeface="华文中宋" pitchFamily="2" charset="-122"/>
                  <a:cs typeface="Consolas" pitchFamily="49" charset="0"/>
                </a:rPr>
                <a:t>顺序存储结构的特点：　　</a:t>
              </a:r>
            </a:p>
          </p:txBody>
        </p:sp>
        <p:sp>
          <p:nvSpPr>
            <p:cNvPr id="5" name="Text Box 4">
              <a:extLst>
                <a:ext uri="{FF2B5EF4-FFF2-40B4-BE49-F238E27FC236}">
                  <a16:creationId xmlns:a16="http://schemas.microsoft.com/office/drawing/2014/main" id="{C6B64859-8B48-46D3-AAD3-9DC274117A3D}"/>
                </a:ext>
              </a:extLst>
            </p:cNvPr>
            <p:cNvSpPr txBox="1">
              <a:spLocks noChangeArrowheads="1"/>
            </p:cNvSpPr>
            <p:nvPr/>
          </p:nvSpPr>
          <p:spPr bwMode="auto">
            <a:xfrm>
              <a:off x="1000100" y="3304760"/>
              <a:ext cx="5572163" cy="936255"/>
            </a:xfrm>
            <a:prstGeom prst="rect">
              <a:avLst/>
            </a:prstGeom>
            <a:ln>
              <a:noFill/>
              <a:headEnd/>
              <a:tailEnd type="none" w="lg" len="lg"/>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l">
                <a:lnSpc>
                  <a:spcPts val="2800"/>
                </a:lnSpc>
                <a:spcBef>
                  <a:spcPts val="0"/>
                </a:spcBef>
                <a:buFontTx/>
                <a:buBlip>
                  <a:blip r:embed="rId2"/>
                </a:buBlip>
              </a:pPr>
              <a:r>
                <a:rPr lang="zh-CN" altLang="en-US" b="1" dirty="0">
                  <a:solidFill>
                    <a:srgbClr val="0000FF"/>
                  </a:solidFill>
                  <a:latin typeface="仿宋" pitchFamily="49" charset="-122"/>
                  <a:ea typeface="仿宋" pitchFamily="49" charset="-122"/>
                  <a:cs typeface="Consolas" pitchFamily="49" charset="0"/>
                </a:rPr>
                <a:t>所有元素占用一整块内存空间。</a:t>
              </a:r>
            </a:p>
            <a:p>
              <a:pPr marL="457200" indent="-457200" algn="l">
                <a:lnSpc>
                  <a:spcPts val="2800"/>
                </a:lnSpc>
                <a:spcBef>
                  <a:spcPts val="0"/>
                </a:spcBef>
                <a:buFontTx/>
                <a:buBlip>
                  <a:blip r:embed="rId2"/>
                </a:buBlip>
              </a:pPr>
              <a:r>
                <a:rPr lang="zh-CN" altLang="en-US" b="1" dirty="0">
                  <a:solidFill>
                    <a:srgbClr val="0000FF"/>
                  </a:solidFill>
                  <a:latin typeface="仿宋" pitchFamily="49" charset="-122"/>
                  <a:ea typeface="仿宋" pitchFamily="49" charset="-122"/>
                  <a:cs typeface="Consolas" pitchFamily="49" charset="0"/>
                </a:rPr>
                <a:t>逻辑上相邻的元素，物理上也相邻。</a:t>
              </a:r>
            </a:p>
          </p:txBody>
        </p:sp>
      </p:grpSp>
      <p:sp>
        <p:nvSpPr>
          <p:cNvPr id="7" name="矩形 6">
            <a:extLst>
              <a:ext uri="{FF2B5EF4-FFF2-40B4-BE49-F238E27FC236}">
                <a16:creationId xmlns:a16="http://schemas.microsoft.com/office/drawing/2014/main" id="{75147C10-AA40-489A-9259-34C11AF5550E}"/>
              </a:ext>
            </a:extLst>
          </p:cNvPr>
          <p:cNvSpPr/>
          <p:nvPr/>
        </p:nvSpPr>
        <p:spPr>
          <a:xfrm>
            <a:off x="5270719" y="2755762"/>
            <a:ext cx="1643074" cy="50006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latin typeface="Consolas" pitchFamily="49" charset="0"/>
              <a:cs typeface="Consolas" pitchFamily="49" charset="0"/>
            </a:endParaRPr>
          </a:p>
        </p:txBody>
      </p:sp>
      <p:sp>
        <p:nvSpPr>
          <p:cNvPr id="8" name="矩形 7">
            <a:extLst>
              <a:ext uri="{FF2B5EF4-FFF2-40B4-BE49-F238E27FC236}">
                <a16:creationId xmlns:a16="http://schemas.microsoft.com/office/drawing/2014/main" id="{8E98AF0A-052C-4B0A-B258-AD7942825844}"/>
              </a:ext>
            </a:extLst>
          </p:cNvPr>
          <p:cNvSpPr/>
          <p:nvPr/>
        </p:nvSpPr>
        <p:spPr>
          <a:xfrm>
            <a:off x="6913793" y="2755762"/>
            <a:ext cx="1643074" cy="50006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latin typeface="Consolas" pitchFamily="49" charset="0"/>
              <a:cs typeface="Consolas" pitchFamily="49" charset="0"/>
            </a:endParaRPr>
          </a:p>
        </p:txBody>
      </p:sp>
      <p:sp>
        <p:nvSpPr>
          <p:cNvPr id="9" name="TextBox 8">
            <a:extLst>
              <a:ext uri="{FF2B5EF4-FFF2-40B4-BE49-F238E27FC236}">
                <a16:creationId xmlns:a16="http://schemas.microsoft.com/office/drawing/2014/main" id="{FEC04433-4C6C-4E00-8A24-0C3E048F0D55}"/>
              </a:ext>
            </a:extLst>
          </p:cNvPr>
          <p:cNvSpPr txBox="1"/>
          <p:nvPr/>
        </p:nvSpPr>
        <p:spPr>
          <a:xfrm>
            <a:off x="5413595" y="2327134"/>
            <a:ext cx="1428760" cy="313932"/>
          </a:xfrm>
          <a:prstGeom prst="rect">
            <a:avLst/>
          </a:prstGeom>
          <a:noFill/>
        </p:spPr>
        <p:txBody>
          <a:bodyPr wrap="square" rtlCol="0">
            <a:spAutoFit/>
          </a:bodyPr>
          <a:lstStyle/>
          <a:p>
            <a:r>
              <a:rPr lang="en-US" altLang="zh-CN" sz="1800" dirty="0">
                <a:solidFill>
                  <a:srgbClr val="3333CC"/>
                </a:solidFill>
                <a:latin typeface="Consolas" pitchFamily="49" charset="0"/>
                <a:ea typeface="楷体" pitchFamily="49" charset="-122"/>
                <a:cs typeface="Consolas" pitchFamily="49" charset="0"/>
              </a:rPr>
              <a:t>Stud[</a:t>
            </a:r>
            <a:r>
              <a:rPr lang="en-US" altLang="zh-CN" sz="1800" i="1" dirty="0" err="1">
                <a:solidFill>
                  <a:srgbClr val="3333CC"/>
                </a:solidFill>
                <a:latin typeface="Consolas" pitchFamily="49" charset="0"/>
                <a:ea typeface="楷体" pitchFamily="49" charset="-122"/>
                <a:cs typeface="Consolas" pitchFamily="49" charset="0"/>
              </a:rPr>
              <a:t>i</a:t>
            </a:r>
            <a:r>
              <a:rPr lang="en-US" altLang="zh-CN" sz="1800" dirty="0">
                <a:solidFill>
                  <a:srgbClr val="3333CC"/>
                </a:solidFill>
                <a:latin typeface="Consolas" pitchFamily="49" charset="0"/>
                <a:ea typeface="楷体" pitchFamily="49" charset="-122"/>
                <a:cs typeface="Consolas" pitchFamily="49" charset="0"/>
              </a:rPr>
              <a:t>]</a:t>
            </a:r>
            <a:endParaRPr lang="zh-CN" altLang="en-US" sz="1800" dirty="0">
              <a:latin typeface="Consolas" pitchFamily="49" charset="0"/>
              <a:cs typeface="Consolas" pitchFamily="49" charset="0"/>
            </a:endParaRPr>
          </a:p>
        </p:txBody>
      </p:sp>
      <p:sp>
        <p:nvSpPr>
          <p:cNvPr id="10" name="TextBox 9">
            <a:extLst>
              <a:ext uri="{FF2B5EF4-FFF2-40B4-BE49-F238E27FC236}">
                <a16:creationId xmlns:a16="http://schemas.microsoft.com/office/drawing/2014/main" id="{EBEDB55E-7EF0-4590-B04D-DC4D06BC04DB}"/>
              </a:ext>
            </a:extLst>
          </p:cNvPr>
          <p:cNvSpPr txBox="1"/>
          <p:nvPr/>
        </p:nvSpPr>
        <p:spPr>
          <a:xfrm>
            <a:off x="6913793" y="2327134"/>
            <a:ext cx="1428760" cy="313932"/>
          </a:xfrm>
          <a:prstGeom prst="rect">
            <a:avLst/>
          </a:prstGeom>
          <a:noFill/>
        </p:spPr>
        <p:txBody>
          <a:bodyPr wrap="square" rtlCol="0">
            <a:spAutoFit/>
          </a:bodyPr>
          <a:lstStyle/>
          <a:p>
            <a:r>
              <a:rPr lang="en-US" altLang="zh-CN" sz="1800" dirty="0">
                <a:solidFill>
                  <a:srgbClr val="3333CC"/>
                </a:solidFill>
                <a:latin typeface="Consolas" pitchFamily="49" charset="0"/>
                <a:ea typeface="楷体" pitchFamily="49" charset="-122"/>
                <a:cs typeface="Consolas" pitchFamily="49" charset="0"/>
              </a:rPr>
              <a:t>Stud[</a:t>
            </a:r>
            <a:r>
              <a:rPr lang="en-US" altLang="zh-CN" sz="1800" i="1" dirty="0" err="1">
                <a:solidFill>
                  <a:srgbClr val="3333CC"/>
                </a:solidFill>
                <a:latin typeface="Consolas" pitchFamily="49" charset="0"/>
                <a:ea typeface="楷体" pitchFamily="49" charset="-122"/>
                <a:cs typeface="Consolas" pitchFamily="49" charset="0"/>
              </a:rPr>
              <a:t>i</a:t>
            </a:r>
            <a:r>
              <a:rPr lang="en-US" altLang="zh-CN" sz="1800" dirty="0" err="1">
                <a:solidFill>
                  <a:srgbClr val="3333CC"/>
                </a:solidFill>
                <a:latin typeface="Consolas" pitchFamily="49" charset="0"/>
                <a:ea typeface="楷体" pitchFamily="49" charset="-122"/>
                <a:cs typeface="Consolas" pitchFamily="49" charset="0"/>
              </a:rPr>
              <a:t>+1</a:t>
            </a:r>
            <a:r>
              <a:rPr lang="en-US" altLang="zh-CN" sz="1800" dirty="0">
                <a:solidFill>
                  <a:srgbClr val="3333CC"/>
                </a:solidFill>
                <a:latin typeface="Consolas" pitchFamily="49" charset="0"/>
                <a:ea typeface="楷体" pitchFamily="49" charset="-122"/>
                <a:cs typeface="Consolas" pitchFamily="49" charset="0"/>
              </a:rPr>
              <a:t>]</a:t>
            </a:r>
            <a:endParaRPr lang="zh-CN" altLang="en-US" sz="1800" dirty="0">
              <a:latin typeface="Consolas" pitchFamily="49" charset="0"/>
              <a:cs typeface="Consolas" pitchFamily="49" charset="0"/>
            </a:endParaRPr>
          </a:p>
        </p:txBody>
      </p:sp>
      <p:sp>
        <p:nvSpPr>
          <p:cNvPr id="11" name="TextBox 10">
            <a:extLst>
              <a:ext uri="{FF2B5EF4-FFF2-40B4-BE49-F238E27FC236}">
                <a16:creationId xmlns:a16="http://schemas.microsoft.com/office/drawing/2014/main" id="{3CB16869-1EDC-409E-A634-59D0553FAFC7}"/>
              </a:ext>
            </a:extLst>
          </p:cNvPr>
          <p:cNvSpPr txBox="1"/>
          <p:nvPr/>
        </p:nvSpPr>
        <p:spPr>
          <a:xfrm>
            <a:off x="3199017" y="2470010"/>
            <a:ext cx="1428760" cy="387798"/>
          </a:xfrm>
          <a:prstGeom prst="rect">
            <a:avLst/>
          </a:prstGeom>
          <a:noFill/>
        </p:spPr>
        <p:txBody>
          <a:bodyPr wrap="square" rtlCol="0">
            <a:spAutoFit/>
          </a:bodyPr>
          <a:lstStyle/>
          <a:p>
            <a:r>
              <a:rPr lang="zh-CN" altLang="en-US" dirty="0">
                <a:solidFill>
                  <a:srgbClr val="0000FF"/>
                </a:solidFill>
                <a:latin typeface="Consolas" pitchFamily="49" charset="0"/>
                <a:ea typeface="楷体" pitchFamily="49" charset="-122"/>
                <a:cs typeface="Consolas" pitchFamily="49" charset="0"/>
              </a:rPr>
              <a:t>直接映射</a:t>
            </a:r>
            <a:endParaRPr lang="zh-CN" altLang="en-US" dirty="0">
              <a:solidFill>
                <a:srgbClr val="0000FF"/>
              </a:solidFill>
              <a:latin typeface="Consolas" pitchFamily="49" charset="0"/>
              <a:cs typeface="Consolas" pitchFamily="49" charset="0"/>
            </a:endParaRPr>
          </a:p>
        </p:txBody>
      </p:sp>
      <p:sp>
        <p:nvSpPr>
          <p:cNvPr id="12" name="椭圆 11">
            <a:extLst>
              <a:ext uri="{FF2B5EF4-FFF2-40B4-BE49-F238E27FC236}">
                <a16:creationId xmlns:a16="http://schemas.microsoft.com/office/drawing/2014/main" id="{A99B7BDA-E97A-40C4-923A-D57CA6C454D2}"/>
              </a:ext>
            </a:extLst>
          </p:cNvPr>
          <p:cNvSpPr/>
          <p:nvPr/>
        </p:nvSpPr>
        <p:spPr>
          <a:xfrm>
            <a:off x="984439" y="2755762"/>
            <a:ext cx="571504" cy="42862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latin typeface="Consolas" pitchFamily="49" charset="0"/>
              <a:cs typeface="Consolas" pitchFamily="49" charset="0"/>
            </a:endParaRPr>
          </a:p>
        </p:txBody>
      </p:sp>
      <p:sp>
        <p:nvSpPr>
          <p:cNvPr id="13" name="椭圆 12">
            <a:extLst>
              <a:ext uri="{FF2B5EF4-FFF2-40B4-BE49-F238E27FC236}">
                <a16:creationId xmlns:a16="http://schemas.microsoft.com/office/drawing/2014/main" id="{7E9CE28C-D155-46F8-BBCA-4BC9590EA93F}"/>
              </a:ext>
            </a:extLst>
          </p:cNvPr>
          <p:cNvSpPr/>
          <p:nvPr/>
        </p:nvSpPr>
        <p:spPr>
          <a:xfrm>
            <a:off x="1770257" y="2755762"/>
            <a:ext cx="571504" cy="42862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latin typeface="Consolas" pitchFamily="49" charset="0"/>
              <a:cs typeface="Consolas" pitchFamily="49" charset="0"/>
            </a:endParaRPr>
          </a:p>
        </p:txBody>
      </p:sp>
      <p:sp>
        <p:nvSpPr>
          <p:cNvPr id="14" name="右箭头 13">
            <a:extLst>
              <a:ext uri="{FF2B5EF4-FFF2-40B4-BE49-F238E27FC236}">
                <a16:creationId xmlns:a16="http://schemas.microsoft.com/office/drawing/2014/main" id="{4C78E8CF-F138-4B8A-8E1E-2E1DA8F07494}"/>
              </a:ext>
            </a:extLst>
          </p:cNvPr>
          <p:cNvSpPr/>
          <p:nvPr/>
        </p:nvSpPr>
        <p:spPr>
          <a:xfrm>
            <a:off x="2913265" y="2898638"/>
            <a:ext cx="1928826" cy="214314"/>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5" name="TextBox 14">
            <a:extLst>
              <a:ext uri="{FF2B5EF4-FFF2-40B4-BE49-F238E27FC236}">
                <a16:creationId xmlns:a16="http://schemas.microsoft.com/office/drawing/2014/main" id="{F1B72380-30FC-4BEA-AE80-7B9F6DEA9F0E}"/>
              </a:ext>
            </a:extLst>
          </p:cNvPr>
          <p:cNvSpPr txBox="1"/>
          <p:nvPr/>
        </p:nvSpPr>
        <p:spPr>
          <a:xfrm>
            <a:off x="841563" y="3398704"/>
            <a:ext cx="1714512" cy="707886"/>
          </a:xfrm>
          <a:prstGeom prst="rect">
            <a:avLst/>
          </a:prstGeom>
          <a:noFill/>
        </p:spPr>
        <p:txBody>
          <a:bodyPr wrap="square" rtlCol="0">
            <a:spAutoFit/>
          </a:bodyPr>
          <a:lstStyle/>
          <a:p>
            <a:pPr>
              <a:lnSpc>
                <a:spcPct val="100000"/>
              </a:lnSpc>
            </a:pPr>
            <a:r>
              <a:rPr lang="zh-CN" altLang="en-US" sz="2000" dirty="0">
                <a:solidFill>
                  <a:srgbClr val="0000FF"/>
                </a:solidFill>
                <a:latin typeface="仿宋" pitchFamily="49" charset="-122"/>
                <a:ea typeface="仿宋" pitchFamily="49" charset="-122"/>
                <a:cs typeface="Consolas" pitchFamily="49" charset="0"/>
              </a:rPr>
              <a:t>两个逻辑上相邻元素</a:t>
            </a:r>
          </a:p>
        </p:txBody>
      </p:sp>
      <p:sp>
        <p:nvSpPr>
          <p:cNvPr id="16" name="TextBox 15">
            <a:extLst>
              <a:ext uri="{FF2B5EF4-FFF2-40B4-BE49-F238E27FC236}">
                <a16:creationId xmlns:a16="http://schemas.microsoft.com/office/drawing/2014/main" id="{ED54B6E8-73E4-4A1F-B0A0-F905C4E2825C}"/>
              </a:ext>
            </a:extLst>
          </p:cNvPr>
          <p:cNvSpPr txBox="1"/>
          <p:nvPr/>
        </p:nvSpPr>
        <p:spPr>
          <a:xfrm>
            <a:off x="6056537" y="3398704"/>
            <a:ext cx="1928826" cy="830997"/>
          </a:xfrm>
          <a:prstGeom prst="rect">
            <a:avLst/>
          </a:prstGeom>
          <a:noFill/>
        </p:spPr>
        <p:txBody>
          <a:bodyPr wrap="square" rtlCol="0">
            <a:spAutoFit/>
          </a:bodyPr>
          <a:lstStyle/>
          <a:p>
            <a:pPr>
              <a:lnSpc>
                <a:spcPct val="100000"/>
              </a:lnSpc>
            </a:pPr>
            <a:r>
              <a:rPr lang="zh-CN" altLang="en-US" dirty="0">
                <a:solidFill>
                  <a:srgbClr val="0000FF"/>
                </a:solidFill>
                <a:latin typeface="仿宋" pitchFamily="49" charset="-122"/>
                <a:ea typeface="仿宋" pitchFamily="49" charset="-122"/>
                <a:cs typeface="Consolas" pitchFamily="49" charset="0"/>
              </a:rPr>
              <a:t>存储空间也相邻</a:t>
            </a:r>
          </a:p>
        </p:txBody>
      </p:sp>
    </p:spTree>
    <p:extLst>
      <p:ext uri="{BB962C8B-B14F-4D97-AF65-F5344CB8AC3E}">
        <p14:creationId xmlns:p14="http://schemas.microsoft.com/office/powerpoint/2010/main" val="2724851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54">
            <a:extLst>
              <a:ext uri="{FF2B5EF4-FFF2-40B4-BE49-F238E27FC236}">
                <a16:creationId xmlns:a16="http://schemas.microsoft.com/office/drawing/2014/main" id="{6804F964-FD4A-470E-9796-B8CA5AE7ABA1}"/>
              </a:ext>
            </a:extLst>
          </p:cNvPr>
          <p:cNvGrpSpPr/>
          <p:nvPr/>
        </p:nvGrpSpPr>
        <p:grpSpPr>
          <a:xfrm>
            <a:off x="857224" y="5357826"/>
            <a:ext cx="2143140" cy="857256"/>
            <a:chOff x="142844" y="4929198"/>
            <a:chExt cx="2143140" cy="857256"/>
          </a:xfrm>
        </p:grpSpPr>
        <p:sp>
          <p:nvSpPr>
            <p:cNvPr id="5" name="Line 4">
              <a:extLst>
                <a:ext uri="{FF2B5EF4-FFF2-40B4-BE49-F238E27FC236}">
                  <a16:creationId xmlns:a16="http://schemas.microsoft.com/office/drawing/2014/main" id="{5E761C3C-488E-4372-AC49-80781CC95DF0}"/>
                </a:ext>
              </a:extLst>
            </p:cNvPr>
            <p:cNvSpPr>
              <a:spLocks noChangeShapeType="1"/>
            </p:cNvSpPr>
            <p:nvPr/>
          </p:nvSpPr>
          <p:spPr bwMode="auto">
            <a:xfrm flipH="1" flipV="1">
              <a:off x="285720" y="4929198"/>
              <a:ext cx="0" cy="504000"/>
            </a:xfrm>
            <a:prstGeom prst="line">
              <a:avLst/>
            </a:prstGeom>
            <a:noFill/>
            <a:ln w="38100">
              <a:solidFill>
                <a:srgbClr val="CC00CC"/>
              </a:solidFill>
              <a:miter lim="800000"/>
              <a:headEnd/>
              <a:tailEnd type="triangle" w="med" len="med"/>
            </a:ln>
            <a:effectLst/>
          </p:spPr>
          <p:txBody>
            <a:bodyPr wrap="none"/>
            <a:lstStyle/>
            <a:p>
              <a:endParaRPr lang="zh-CN" altLang="en-US">
                <a:latin typeface="Consolas" pitchFamily="49" charset="0"/>
                <a:cs typeface="Consolas" pitchFamily="49" charset="0"/>
              </a:endParaRPr>
            </a:p>
          </p:txBody>
        </p:sp>
        <p:sp>
          <p:nvSpPr>
            <p:cNvPr id="6" name="Text Box 5">
              <a:extLst>
                <a:ext uri="{FF2B5EF4-FFF2-40B4-BE49-F238E27FC236}">
                  <a16:creationId xmlns:a16="http://schemas.microsoft.com/office/drawing/2014/main" id="{0EE2A1F2-4AF4-4F0D-BFD0-E804547A9AC2}"/>
                </a:ext>
              </a:extLst>
            </p:cNvPr>
            <p:cNvSpPr txBox="1">
              <a:spLocks noChangeArrowheads="1"/>
            </p:cNvSpPr>
            <p:nvPr/>
          </p:nvSpPr>
          <p:spPr bwMode="auto">
            <a:xfrm>
              <a:off x="142844" y="5417122"/>
              <a:ext cx="2143140" cy="369332"/>
            </a:xfrm>
            <a:prstGeom prst="rect">
              <a:avLst/>
            </a:prstGeom>
            <a:noFill/>
            <a:ln w="9525">
              <a:noFill/>
              <a:miter lim="800000"/>
              <a:headEnd/>
              <a:tailEnd/>
            </a:ln>
            <a:effectLst/>
          </p:spPr>
          <p:txBody>
            <a:bodyPr wrap="square">
              <a:spAutoFit/>
            </a:bodyPr>
            <a:lstStyle/>
            <a:p>
              <a:pPr algn="l">
                <a:lnSpc>
                  <a:spcPct val="100000"/>
                </a:lnSpc>
              </a:pPr>
              <a:r>
                <a:rPr lang="en-US" altLang="zh-CN" sz="1800" b="1" dirty="0">
                  <a:solidFill>
                    <a:srgbClr val="0000FF"/>
                  </a:solidFill>
                  <a:latin typeface="Consolas" pitchFamily="49" charset="0"/>
                  <a:ea typeface="楷体" pitchFamily="49" charset="-122"/>
                  <a:cs typeface="Consolas" pitchFamily="49" charset="0"/>
                </a:rPr>
                <a:t>Stud</a:t>
              </a:r>
              <a:r>
                <a:rPr lang="zh-CN" altLang="en-US" sz="1800" b="1" dirty="0">
                  <a:solidFill>
                    <a:srgbClr val="0000FF"/>
                  </a:solidFill>
                  <a:latin typeface="Consolas" pitchFamily="49" charset="0"/>
                  <a:ea typeface="楷体" pitchFamily="49" charset="-122"/>
                  <a:cs typeface="Consolas" pitchFamily="49" charset="0"/>
                </a:rPr>
                <a:t>数组起始地址</a:t>
              </a:r>
            </a:p>
          </p:txBody>
        </p:sp>
      </p:grpSp>
      <p:sp>
        <p:nvSpPr>
          <p:cNvPr id="7" name="Text Box 21">
            <a:extLst>
              <a:ext uri="{FF2B5EF4-FFF2-40B4-BE49-F238E27FC236}">
                <a16:creationId xmlns:a16="http://schemas.microsoft.com/office/drawing/2014/main" id="{B56AE251-9456-44B8-896E-5448D55A6ED6}"/>
              </a:ext>
            </a:extLst>
          </p:cNvPr>
          <p:cNvSpPr txBox="1">
            <a:spLocks noChangeArrowheads="1"/>
          </p:cNvSpPr>
          <p:nvPr/>
        </p:nvSpPr>
        <p:spPr bwMode="auto">
          <a:xfrm>
            <a:off x="5870584" y="5030785"/>
            <a:ext cx="500066" cy="285752"/>
          </a:xfrm>
          <a:prstGeom prst="rect">
            <a:avLst/>
          </a:prstGeom>
          <a:noFill/>
          <a:ln w="9525">
            <a:noFill/>
            <a:miter lim="800000"/>
            <a:headEnd/>
            <a:tailEnd/>
          </a:ln>
          <a:effectLst/>
        </p:spPr>
        <p:txBody>
          <a:bodyPr wrap="square" lIns="0" tIns="0" rIns="0" bIns="0">
            <a:spAutoFit/>
          </a:bodyPr>
          <a:lstStyle/>
          <a:p>
            <a:pPr>
              <a:lnSpc>
                <a:spcPct val="100000"/>
              </a:lnSpc>
            </a:pPr>
            <a:r>
              <a:rPr lang="en-US" altLang="zh-CN" sz="1800">
                <a:latin typeface="Consolas" pitchFamily="49" charset="0"/>
                <a:ea typeface="宋体" charset="-122"/>
                <a:cs typeface="Consolas" pitchFamily="49" charset="0"/>
              </a:rPr>
              <a:t>…</a:t>
            </a:r>
            <a:endParaRPr lang="en-US" altLang="zh-CN" sz="1800" dirty="0">
              <a:latin typeface="Consolas" pitchFamily="49" charset="0"/>
              <a:ea typeface="宋体" charset="-122"/>
              <a:cs typeface="Consolas" pitchFamily="49" charset="0"/>
            </a:endParaRPr>
          </a:p>
        </p:txBody>
      </p:sp>
      <p:graphicFrame>
        <p:nvGraphicFramePr>
          <p:cNvPr id="8" name="Group 96">
            <a:extLst>
              <a:ext uri="{FF2B5EF4-FFF2-40B4-BE49-F238E27FC236}">
                <a16:creationId xmlns:a16="http://schemas.microsoft.com/office/drawing/2014/main" id="{A7CB6A82-01E7-407D-B6A8-B1D7C378F03B}"/>
              </a:ext>
            </a:extLst>
          </p:cNvPr>
          <p:cNvGraphicFramePr>
            <a:graphicFrameLocks noGrp="1"/>
          </p:cNvGraphicFramePr>
          <p:nvPr/>
        </p:nvGraphicFramePr>
        <p:xfrm>
          <a:off x="785786" y="1026478"/>
          <a:ext cx="4968875" cy="2688273"/>
        </p:xfrm>
        <a:graphic>
          <a:graphicData uri="http://schemas.openxmlformats.org/drawingml/2006/table">
            <a:tbl>
              <a:tblPr>
                <a:tableStyleId>{35758FB7-9AC5-4552-8A53-C91805E547FA}</a:tableStyleId>
              </a:tblPr>
              <a:tblGrid>
                <a:gridCol w="981075">
                  <a:extLst>
                    <a:ext uri="{9D8B030D-6E8A-4147-A177-3AD203B41FA5}">
                      <a16:colId xmlns:a16="http://schemas.microsoft.com/office/drawing/2014/main" val="20000"/>
                    </a:ext>
                  </a:extLst>
                </a:gridCol>
                <a:gridCol w="1468437">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1511300">
                  <a:extLst>
                    <a:ext uri="{9D8B030D-6E8A-4147-A177-3AD203B41FA5}">
                      <a16:colId xmlns:a16="http://schemas.microsoft.com/office/drawing/2014/main" val="20003"/>
                    </a:ext>
                  </a:extLst>
                </a:gridCol>
              </a:tblGrid>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学号</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姓名</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性别</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班号</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张斌</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8</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刘丽</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34</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李英</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20</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陈华</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extLst>
                  <a:ext uri="{0D108BD9-81ED-4DB2-BD59-A6C34878D82A}">
                    <a16:rowId xmlns:a16="http://schemas.microsoft.com/office/drawing/2014/main" val="10004"/>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12</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王奇</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extLst>
                  <a:ext uri="{0D108BD9-81ED-4DB2-BD59-A6C34878D82A}">
                    <a16:rowId xmlns:a16="http://schemas.microsoft.com/office/drawing/2014/main" val="10005"/>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26</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董强</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extLst>
                  <a:ext uri="{0D108BD9-81ED-4DB2-BD59-A6C34878D82A}">
                    <a16:rowId xmlns:a16="http://schemas.microsoft.com/office/drawing/2014/main" val="10006"/>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王萍</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extLst>
                  <a:ext uri="{0D108BD9-81ED-4DB2-BD59-A6C34878D82A}">
                    <a16:rowId xmlns:a16="http://schemas.microsoft.com/office/drawing/2014/main" val="10007"/>
                  </a:ext>
                </a:extLst>
              </a:tr>
            </a:tbl>
          </a:graphicData>
        </a:graphic>
      </p:graphicFrame>
      <p:cxnSp>
        <p:nvCxnSpPr>
          <p:cNvPr id="9" name="直接箭头连接符 8">
            <a:extLst>
              <a:ext uri="{FF2B5EF4-FFF2-40B4-BE49-F238E27FC236}">
                <a16:creationId xmlns:a16="http://schemas.microsoft.com/office/drawing/2014/main" id="{62D9D17C-4393-45F2-8191-151AE9790C93}"/>
              </a:ext>
            </a:extLst>
          </p:cNvPr>
          <p:cNvCxnSpPr>
            <a:endCxn id="13" idx="0"/>
          </p:cNvCxnSpPr>
          <p:nvPr/>
        </p:nvCxnSpPr>
        <p:spPr>
          <a:xfrm rot="16200000" flipH="1">
            <a:off x="305165" y="2766612"/>
            <a:ext cx="2714644" cy="467520"/>
          </a:xfrm>
          <a:prstGeom prst="straightConnector1">
            <a:avLst/>
          </a:prstGeom>
          <a:ln w="2222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45">
            <a:extLst>
              <a:ext uri="{FF2B5EF4-FFF2-40B4-BE49-F238E27FC236}">
                <a16:creationId xmlns:a16="http://schemas.microsoft.com/office/drawing/2014/main" id="{AFEFA95B-A9B8-4C1A-9601-94E683437C96}"/>
              </a:ext>
            </a:extLst>
          </p:cNvPr>
          <p:cNvSpPr txBox="1"/>
          <p:nvPr/>
        </p:nvSpPr>
        <p:spPr>
          <a:xfrm>
            <a:off x="3643306" y="5929330"/>
            <a:ext cx="2428892" cy="417678"/>
          </a:xfrm>
          <a:prstGeom prst="rect">
            <a:avLst/>
          </a:prstGeom>
          <a:noFill/>
        </p:spPr>
        <p:txBody>
          <a:bodyPr wrap="square" rtlCol="0">
            <a:spAutoFit/>
          </a:bodyPr>
          <a:lstStyle/>
          <a:p>
            <a:pPr>
              <a:lnSpc>
                <a:spcPct val="130000"/>
              </a:lnSpc>
            </a:pPr>
            <a:r>
              <a:rPr lang="zh-CN" altLang="en-US" sz="1800" b="1" dirty="0">
                <a:solidFill>
                  <a:srgbClr val="0000FF"/>
                </a:solidFill>
                <a:latin typeface="Consolas" pitchFamily="49" charset="0"/>
                <a:ea typeface="楷体" pitchFamily="49" charset="-122"/>
                <a:cs typeface="Consolas" pitchFamily="49" charset="0"/>
              </a:rPr>
              <a:t>存储结构建立完毕</a:t>
            </a:r>
          </a:p>
        </p:txBody>
      </p:sp>
      <p:sp>
        <p:nvSpPr>
          <p:cNvPr id="11" name="TextBox 46">
            <a:extLst>
              <a:ext uri="{FF2B5EF4-FFF2-40B4-BE49-F238E27FC236}">
                <a16:creationId xmlns:a16="http://schemas.microsoft.com/office/drawing/2014/main" id="{1E68C2B0-94FA-42BC-AD38-7752B88DF9BF}"/>
              </a:ext>
            </a:extLst>
          </p:cNvPr>
          <p:cNvSpPr txBox="1"/>
          <p:nvPr/>
        </p:nvSpPr>
        <p:spPr>
          <a:xfrm>
            <a:off x="1763688" y="478776"/>
            <a:ext cx="2967049" cy="526170"/>
          </a:xfrm>
          <a:prstGeom prst="rect">
            <a:avLst/>
          </a:prstGeom>
          <a:noFill/>
        </p:spPr>
        <p:txBody>
          <a:bodyPr wrap="square" rtlCol="0">
            <a:spAutoFit/>
          </a:bodyPr>
          <a:lstStyle/>
          <a:p>
            <a:pPr>
              <a:lnSpc>
                <a:spcPct val="130000"/>
              </a:lnSpc>
            </a:pPr>
            <a:r>
              <a:rPr lang="zh-CN" altLang="en-US" b="1" dirty="0">
                <a:solidFill>
                  <a:srgbClr val="0000FF"/>
                </a:solidFill>
                <a:latin typeface="Consolas" pitchFamily="49" charset="0"/>
                <a:ea typeface="楷体" pitchFamily="49" charset="-122"/>
                <a:cs typeface="Consolas" pitchFamily="49" charset="0"/>
              </a:rPr>
              <a:t>学生表的逻辑结构</a:t>
            </a:r>
          </a:p>
        </p:txBody>
      </p:sp>
      <p:grpSp>
        <p:nvGrpSpPr>
          <p:cNvPr id="12" name="组合 51">
            <a:extLst>
              <a:ext uri="{FF2B5EF4-FFF2-40B4-BE49-F238E27FC236}">
                <a16:creationId xmlns:a16="http://schemas.microsoft.com/office/drawing/2014/main" id="{6B625DCB-3DDA-4413-A62A-50191147DEF5}"/>
              </a:ext>
            </a:extLst>
          </p:cNvPr>
          <p:cNvGrpSpPr/>
          <p:nvPr/>
        </p:nvGrpSpPr>
        <p:grpSpPr>
          <a:xfrm>
            <a:off x="785786" y="4357694"/>
            <a:ext cx="2332054" cy="957256"/>
            <a:chOff x="71406" y="3929066"/>
            <a:chExt cx="2332054" cy="957256"/>
          </a:xfrm>
        </p:grpSpPr>
        <p:sp>
          <p:nvSpPr>
            <p:cNvPr id="13" name="Text Box 8">
              <a:extLst>
                <a:ext uri="{FF2B5EF4-FFF2-40B4-BE49-F238E27FC236}">
                  <a16:creationId xmlns:a16="http://schemas.microsoft.com/office/drawing/2014/main" id="{80CF3676-4D89-49D4-99EE-8D527DB0A3CE}"/>
                </a:ext>
              </a:extLst>
            </p:cNvPr>
            <p:cNvSpPr txBox="1">
              <a:spLocks noChangeArrowheads="1"/>
            </p:cNvSpPr>
            <p:nvPr/>
          </p:nvSpPr>
          <p:spPr bwMode="auto">
            <a:xfrm>
              <a:off x="714348" y="3929066"/>
              <a:ext cx="935038" cy="276999"/>
            </a:xfrm>
            <a:prstGeom prst="rect">
              <a:avLst/>
            </a:prstGeom>
            <a:noFill/>
            <a:ln w="9525">
              <a:noFill/>
              <a:miter lim="800000"/>
              <a:headEnd/>
              <a:tailEnd/>
            </a:ln>
            <a:effectLst/>
          </p:spPr>
          <p:txBody>
            <a:bodyPr lIns="0" tIns="0" rIns="0" bIns="0">
              <a:spAutoFit/>
            </a:bodyPr>
            <a:lstStyle/>
            <a:p>
              <a:pPr algn="ctr">
                <a:lnSpc>
                  <a:spcPct val="100000"/>
                </a:lnSpc>
              </a:pPr>
              <a:r>
                <a:rPr lang="en-US" altLang="zh-CN" sz="1800" b="1" dirty="0">
                  <a:solidFill>
                    <a:srgbClr val="0000FF"/>
                  </a:solidFill>
                  <a:latin typeface="Consolas" pitchFamily="49" charset="0"/>
                  <a:cs typeface="Consolas" pitchFamily="49" charset="0"/>
                </a:rPr>
                <a:t>Stud[0]</a:t>
              </a:r>
            </a:p>
          </p:txBody>
        </p:sp>
        <p:sp>
          <p:nvSpPr>
            <p:cNvPr id="14" name="Rectangle 9">
              <a:extLst>
                <a:ext uri="{FF2B5EF4-FFF2-40B4-BE49-F238E27FC236}">
                  <a16:creationId xmlns:a16="http://schemas.microsoft.com/office/drawing/2014/main" id="{C70652F2-B922-4F89-99F3-F4169BDF155E}"/>
                </a:ext>
              </a:extLst>
            </p:cNvPr>
            <p:cNvSpPr>
              <a:spLocks noChangeAspect="1" noChangeArrowheads="1"/>
            </p:cNvSpPr>
            <p:nvPr/>
          </p:nvSpPr>
          <p:spPr bwMode="auto">
            <a:xfrm>
              <a:off x="71406" y="4525959"/>
              <a:ext cx="431800" cy="360363"/>
            </a:xfrm>
            <a:prstGeom prst="rect">
              <a:avLst/>
            </a:prstGeom>
            <a:solidFill>
              <a:srgbClr val="FFFF00"/>
            </a:solidFill>
            <a:ln w="28575" algn="ctr">
              <a:solidFill>
                <a:srgbClr val="6600CC"/>
              </a:solidFill>
              <a:miter lim="800000"/>
              <a:headEnd/>
              <a:tailEnd/>
            </a:ln>
            <a:effectLst/>
          </p:spPr>
          <p:txBody>
            <a:bodyPr lIns="0" tIns="36000" rIns="0" bIns="0" anchor="ctr"/>
            <a:lstStyle/>
            <a:p>
              <a:pPr marL="457200" indent="-457200"/>
              <a:r>
                <a:rPr lang="en-US" altLang="zh-CN" sz="1800" b="1" dirty="0">
                  <a:solidFill>
                    <a:srgbClr val="0000FF"/>
                  </a:solidFill>
                  <a:latin typeface="Consolas" pitchFamily="49" charset="0"/>
                  <a:ea typeface="楷体" pitchFamily="49" charset="-122"/>
                  <a:cs typeface="Consolas" pitchFamily="49" charset="0"/>
                </a:rPr>
                <a:t>1</a:t>
              </a:r>
            </a:p>
          </p:txBody>
        </p:sp>
        <p:sp>
          <p:nvSpPr>
            <p:cNvPr id="15" name="Rectangle 10">
              <a:extLst>
                <a:ext uri="{FF2B5EF4-FFF2-40B4-BE49-F238E27FC236}">
                  <a16:creationId xmlns:a16="http://schemas.microsoft.com/office/drawing/2014/main" id="{CC920CD7-2A27-4A77-974B-904FE00B743B}"/>
                </a:ext>
              </a:extLst>
            </p:cNvPr>
            <p:cNvSpPr>
              <a:spLocks noChangeArrowheads="1"/>
            </p:cNvSpPr>
            <p:nvPr/>
          </p:nvSpPr>
          <p:spPr bwMode="auto">
            <a:xfrm>
              <a:off x="504794" y="4525959"/>
              <a:ext cx="719138" cy="360363"/>
            </a:xfrm>
            <a:prstGeom prst="rect">
              <a:avLst/>
            </a:prstGeom>
            <a:solidFill>
              <a:srgbClr val="FFFF00"/>
            </a:solidFill>
            <a:ln w="28575" algn="ctr">
              <a:solidFill>
                <a:srgbClr val="6600CC"/>
              </a:solidFill>
              <a:miter lim="800000"/>
              <a:headEnd/>
              <a:tailEnd/>
            </a:ln>
            <a:effectLst/>
          </p:spPr>
          <p:txBody>
            <a:bodyPr lIns="0" tIns="36000" rIns="0" bIns="0" anchor="ctr"/>
            <a:lstStyle/>
            <a:p>
              <a:pPr marL="457200" indent="-457200"/>
              <a:r>
                <a:rPr lang="zh-CN" altLang="en-US" sz="1600" b="1" dirty="0">
                  <a:solidFill>
                    <a:srgbClr val="0000FF"/>
                  </a:solidFill>
                  <a:latin typeface="Consolas" pitchFamily="49" charset="0"/>
                  <a:ea typeface="楷体" pitchFamily="49" charset="-122"/>
                  <a:cs typeface="Consolas" pitchFamily="49" charset="0"/>
                </a:rPr>
                <a:t>张斌</a:t>
              </a:r>
            </a:p>
          </p:txBody>
        </p:sp>
        <p:sp>
          <p:nvSpPr>
            <p:cNvPr id="16" name="Rectangle 11">
              <a:extLst>
                <a:ext uri="{FF2B5EF4-FFF2-40B4-BE49-F238E27FC236}">
                  <a16:creationId xmlns:a16="http://schemas.microsoft.com/office/drawing/2014/main" id="{D822595A-A168-4996-817B-B8FC82363443}"/>
                </a:ext>
              </a:extLst>
            </p:cNvPr>
            <p:cNvSpPr>
              <a:spLocks noChangeArrowheads="1"/>
            </p:cNvSpPr>
            <p:nvPr/>
          </p:nvSpPr>
          <p:spPr bwMode="auto">
            <a:xfrm>
              <a:off x="1223931" y="4525959"/>
              <a:ext cx="468000" cy="360363"/>
            </a:xfrm>
            <a:prstGeom prst="rect">
              <a:avLst/>
            </a:prstGeom>
            <a:solidFill>
              <a:srgbClr val="FFFF00"/>
            </a:solidFill>
            <a:ln w="28575" algn="ctr">
              <a:solidFill>
                <a:srgbClr val="6600CC"/>
              </a:solidFill>
              <a:miter lim="800000"/>
              <a:headEnd/>
              <a:tailEnd/>
            </a:ln>
            <a:effectLst/>
          </p:spPr>
          <p:txBody>
            <a:bodyPr lIns="0" tIns="36000" rIns="0" bIns="0" anchor="ctr"/>
            <a:lstStyle/>
            <a:p>
              <a:pPr marL="457200" indent="-457200"/>
              <a:r>
                <a:rPr lang="zh-CN" altLang="en-US" sz="1600" b="1" dirty="0">
                  <a:solidFill>
                    <a:srgbClr val="0000FF"/>
                  </a:solidFill>
                  <a:latin typeface="Consolas" pitchFamily="49" charset="0"/>
                  <a:ea typeface="楷体" pitchFamily="49" charset="-122"/>
                  <a:cs typeface="Consolas" pitchFamily="49" charset="0"/>
                </a:rPr>
                <a:t>男</a:t>
              </a:r>
            </a:p>
          </p:txBody>
        </p:sp>
        <p:sp>
          <p:nvSpPr>
            <p:cNvPr id="17" name="Rectangle 12">
              <a:extLst>
                <a:ext uri="{FF2B5EF4-FFF2-40B4-BE49-F238E27FC236}">
                  <a16:creationId xmlns:a16="http://schemas.microsoft.com/office/drawing/2014/main" id="{0AA2BE9D-6FB5-4B88-8423-14525C03D33B}"/>
                </a:ext>
              </a:extLst>
            </p:cNvPr>
            <p:cNvSpPr>
              <a:spLocks noChangeArrowheads="1"/>
            </p:cNvSpPr>
            <p:nvPr/>
          </p:nvSpPr>
          <p:spPr bwMode="auto">
            <a:xfrm>
              <a:off x="1684322" y="4525959"/>
              <a:ext cx="719138" cy="360363"/>
            </a:xfrm>
            <a:prstGeom prst="rect">
              <a:avLst/>
            </a:prstGeom>
            <a:solidFill>
              <a:srgbClr val="FFFF00"/>
            </a:solidFill>
            <a:ln w="28575" algn="ctr">
              <a:solidFill>
                <a:srgbClr val="6600CC"/>
              </a:solidFill>
              <a:miter lim="800000"/>
              <a:headEnd/>
              <a:tailEnd/>
            </a:ln>
            <a:effectLst/>
          </p:spPr>
          <p:txBody>
            <a:bodyPr lIns="0" tIns="36000" rIns="0" bIns="0" anchor="ctr"/>
            <a:lstStyle/>
            <a:p>
              <a:pPr marL="457200" indent="-457200"/>
              <a:r>
                <a:rPr lang="en-US" altLang="zh-CN" sz="1600" b="1" dirty="0">
                  <a:solidFill>
                    <a:srgbClr val="0000FF"/>
                  </a:solidFill>
                  <a:latin typeface="Consolas" pitchFamily="49" charset="0"/>
                  <a:ea typeface="楷体" pitchFamily="49" charset="-122"/>
                  <a:cs typeface="Consolas" pitchFamily="49" charset="0"/>
                </a:rPr>
                <a:t>9901</a:t>
              </a:r>
            </a:p>
          </p:txBody>
        </p:sp>
        <p:sp>
          <p:nvSpPr>
            <p:cNvPr id="18" name="右大括号 17">
              <a:extLst>
                <a:ext uri="{FF2B5EF4-FFF2-40B4-BE49-F238E27FC236}">
                  <a16:creationId xmlns:a16="http://schemas.microsoft.com/office/drawing/2014/main" id="{3616D9FE-05CE-4364-B6ED-F16E5B13F00A}"/>
                </a:ext>
              </a:extLst>
            </p:cNvPr>
            <p:cNvSpPr>
              <a:spLocks noChangeAspect="1"/>
            </p:cNvSpPr>
            <p:nvPr/>
          </p:nvSpPr>
          <p:spPr>
            <a:xfrm rot="16200000">
              <a:off x="1125117" y="3303983"/>
              <a:ext cx="178595" cy="2143140"/>
            </a:xfrm>
            <a:prstGeom prst="rightBrace">
              <a:avLst/>
            </a:prstGeom>
            <a:ln w="22225">
              <a:solidFill>
                <a:srgbClr val="C00000"/>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FF"/>
                </a:solidFill>
                <a:latin typeface="Consolas" pitchFamily="49" charset="0"/>
                <a:cs typeface="Consolas" pitchFamily="49" charset="0"/>
              </a:endParaRPr>
            </a:p>
          </p:txBody>
        </p:sp>
      </p:grpSp>
      <p:grpSp>
        <p:nvGrpSpPr>
          <p:cNvPr id="19" name="组合 52">
            <a:extLst>
              <a:ext uri="{FF2B5EF4-FFF2-40B4-BE49-F238E27FC236}">
                <a16:creationId xmlns:a16="http://schemas.microsoft.com/office/drawing/2014/main" id="{8CF5ACFE-26FE-48F7-A1FA-4A67511C1948}"/>
              </a:ext>
            </a:extLst>
          </p:cNvPr>
          <p:cNvGrpSpPr/>
          <p:nvPr/>
        </p:nvGrpSpPr>
        <p:grpSpPr>
          <a:xfrm>
            <a:off x="3134224" y="4341832"/>
            <a:ext cx="2341589" cy="957255"/>
            <a:chOff x="2663796" y="3930654"/>
            <a:chExt cx="2341589" cy="957255"/>
          </a:xfrm>
        </p:grpSpPr>
        <p:sp>
          <p:nvSpPr>
            <p:cNvPr id="20" name="Text Box 15">
              <a:extLst>
                <a:ext uri="{FF2B5EF4-FFF2-40B4-BE49-F238E27FC236}">
                  <a16:creationId xmlns:a16="http://schemas.microsoft.com/office/drawing/2014/main" id="{A2F38880-8B78-4ED9-8EA0-51CBA358B899}"/>
                </a:ext>
              </a:extLst>
            </p:cNvPr>
            <p:cNvSpPr txBox="1">
              <a:spLocks noChangeArrowheads="1"/>
            </p:cNvSpPr>
            <p:nvPr/>
          </p:nvSpPr>
          <p:spPr bwMode="auto">
            <a:xfrm>
              <a:off x="3600421" y="3930654"/>
              <a:ext cx="935037" cy="276999"/>
            </a:xfrm>
            <a:prstGeom prst="rect">
              <a:avLst/>
            </a:prstGeom>
            <a:noFill/>
            <a:ln w="9525">
              <a:noFill/>
              <a:miter lim="800000"/>
              <a:headEnd/>
              <a:tailEnd/>
            </a:ln>
            <a:effectLst/>
          </p:spPr>
          <p:txBody>
            <a:bodyPr lIns="0" tIns="0" rIns="0" bIns="0">
              <a:spAutoFit/>
            </a:bodyPr>
            <a:lstStyle/>
            <a:p>
              <a:pPr algn="ctr">
                <a:lnSpc>
                  <a:spcPct val="100000"/>
                </a:lnSpc>
              </a:pPr>
              <a:r>
                <a:rPr lang="en-US" altLang="zh-CN" sz="1800" b="1" dirty="0">
                  <a:solidFill>
                    <a:srgbClr val="0000FF"/>
                  </a:solidFill>
                  <a:latin typeface="Consolas" pitchFamily="49" charset="0"/>
                  <a:cs typeface="Consolas" pitchFamily="49" charset="0"/>
                </a:rPr>
                <a:t>Stud[1]</a:t>
              </a:r>
            </a:p>
          </p:txBody>
        </p:sp>
        <p:sp>
          <p:nvSpPr>
            <p:cNvPr id="21" name="Rectangle 16">
              <a:extLst>
                <a:ext uri="{FF2B5EF4-FFF2-40B4-BE49-F238E27FC236}">
                  <a16:creationId xmlns:a16="http://schemas.microsoft.com/office/drawing/2014/main" id="{5DC54A90-D80C-421B-A7CB-D277E5793ACA}"/>
                </a:ext>
              </a:extLst>
            </p:cNvPr>
            <p:cNvSpPr>
              <a:spLocks noChangeAspect="1" noChangeArrowheads="1"/>
            </p:cNvSpPr>
            <p:nvPr/>
          </p:nvSpPr>
          <p:spPr bwMode="auto">
            <a:xfrm>
              <a:off x="2663796" y="4527546"/>
              <a:ext cx="431800" cy="360363"/>
            </a:xfrm>
            <a:prstGeom prst="rect">
              <a:avLst/>
            </a:prstGeom>
            <a:solidFill>
              <a:srgbClr val="FFC000"/>
            </a:solidFill>
            <a:ln w="28575" algn="ctr">
              <a:solidFill>
                <a:srgbClr val="6600CC"/>
              </a:solidFill>
              <a:miter lim="800000"/>
              <a:headEnd/>
              <a:tailEnd/>
            </a:ln>
            <a:effectLst/>
          </p:spPr>
          <p:txBody>
            <a:bodyPr lIns="0" tIns="36000" rIns="0" bIns="0" anchor="ctr"/>
            <a:lstStyle/>
            <a:p>
              <a:pPr marL="457200" indent="-457200"/>
              <a:r>
                <a:rPr lang="en-US" altLang="zh-CN" sz="1600" b="1">
                  <a:solidFill>
                    <a:srgbClr val="0000FF"/>
                  </a:solidFill>
                  <a:latin typeface="Consolas" pitchFamily="49" charset="0"/>
                  <a:ea typeface="楷体" pitchFamily="49" charset="-122"/>
                  <a:cs typeface="Consolas" pitchFamily="49" charset="0"/>
                </a:rPr>
                <a:t>8</a:t>
              </a:r>
            </a:p>
          </p:txBody>
        </p:sp>
        <p:sp>
          <p:nvSpPr>
            <p:cNvPr id="22" name="Rectangle 17">
              <a:extLst>
                <a:ext uri="{FF2B5EF4-FFF2-40B4-BE49-F238E27FC236}">
                  <a16:creationId xmlns:a16="http://schemas.microsoft.com/office/drawing/2014/main" id="{D2B72C6C-D83D-436C-B18A-871A400DF382}"/>
                </a:ext>
              </a:extLst>
            </p:cNvPr>
            <p:cNvSpPr>
              <a:spLocks noChangeArrowheads="1"/>
            </p:cNvSpPr>
            <p:nvPr/>
          </p:nvSpPr>
          <p:spPr bwMode="auto">
            <a:xfrm>
              <a:off x="3097183" y="4527546"/>
              <a:ext cx="719137" cy="360363"/>
            </a:xfrm>
            <a:prstGeom prst="rect">
              <a:avLst/>
            </a:prstGeom>
            <a:solidFill>
              <a:srgbClr val="FFC000"/>
            </a:solidFill>
            <a:ln w="28575" algn="ctr">
              <a:solidFill>
                <a:srgbClr val="6600CC"/>
              </a:solidFill>
              <a:miter lim="800000"/>
              <a:headEnd/>
              <a:tailEnd/>
            </a:ln>
            <a:effectLst/>
          </p:spPr>
          <p:txBody>
            <a:bodyPr lIns="0" tIns="36000" rIns="0" bIns="0" anchor="ctr"/>
            <a:lstStyle/>
            <a:p>
              <a:pPr marL="457200" indent="-457200"/>
              <a:r>
                <a:rPr lang="zh-CN" altLang="en-US" sz="1600" b="1" dirty="0">
                  <a:solidFill>
                    <a:srgbClr val="0000FF"/>
                  </a:solidFill>
                  <a:latin typeface="Consolas" pitchFamily="49" charset="0"/>
                  <a:ea typeface="楷体" pitchFamily="49" charset="-122"/>
                  <a:cs typeface="Consolas" pitchFamily="49" charset="0"/>
                </a:rPr>
                <a:t>刘丽</a:t>
              </a:r>
            </a:p>
          </p:txBody>
        </p:sp>
        <p:sp>
          <p:nvSpPr>
            <p:cNvPr id="23" name="Rectangle 18">
              <a:extLst>
                <a:ext uri="{FF2B5EF4-FFF2-40B4-BE49-F238E27FC236}">
                  <a16:creationId xmlns:a16="http://schemas.microsoft.com/office/drawing/2014/main" id="{AA7C1F42-BD5F-4617-811D-97DA86F3B371}"/>
                </a:ext>
              </a:extLst>
            </p:cNvPr>
            <p:cNvSpPr>
              <a:spLocks noChangeArrowheads="1"/>
            </p:cNvSpPr>
            <p:nvPr/>
          </p:nvSpPr>
          <p:spPr bwMode="auto">
            <a:xfrm>
              <a:off x="3816321" y="4527546"/>
              <a:ext cx="468000" cy="360363"/>
            </a:xfrm>
            <a:prstGeom prst="rect">
              <a:avLst/>
            </a:prstGeom>
            <a:solidFill>
              <a:srgbClr val="FFC000"/>
            </a:solidFill>
            <a:ln w="28575" algn="ctr">
              <a:solidFill>
                <a:srgbClr val="6600CC"/>
              </a:solidFill>
              <a:miter lim="800000"/>
              <a:headEnd/>
              <a:tailEnd/>
            </a:ln>
            <a:effectLst/>
          </p:spPr>
          <p:txBody>
            <a:bodyPr lIns="0" tIns="36000" rIns="0" bIns="0" anchor="ctr"/>
            <a:lstStyle/>
            <a:p>
              <a:pPr marL="457200" indent="-457200"/>
              <a:r>
                <a:rPr lang="zh-CN" altLang="en-US" sz="1600" b="1" dirty="0">
                  <a:solidFill>
                    <a:srgbClr val="0000FF"/>
                  </a:solidFill>
                  <a:latin typeface="Consolas" pitchFamily="49" charset="0"/>
                  <a:ea typeface="楷体" pitchFamily="49" charset="-122"/>
                  <a:cs typeface="Consolas" pitchFamily="49" charset="0"/>
                </a:rPr>
                <a:t>女</a:t>
              </a:r>
            </a:p>
          </p:txBody>
        </p:sp>
        <p:sp>
          <p:nvSpPr>
            <p:cNvPr id="24" name="Rectangle 19">
              <a:extLst>
                <a:ext uri="{FF2B5EF4-FFF2-40B4-BE49-F238E27FC236}">
                  <a16:creationId xmlns:a16="http://schemas.microsoft.com/office/drawing/2014/main" id="{40157CDB-4491-4B17-A39C-8D59542D83A5}"/>
                </a:ext>
              </a:extLst>
            </p:cNvPr>
            <p:cNvSpPr>
              <a:spLocks noChangeArrowheads="1"/>
            </p:cNvSpPr>
            <p:nvPr/>
          </p:nvSpPr>
          <p:spPr bwMode="auto">
            <a:xfrm>
              <a:off x="4286248" y="4527546"/>
              <a:ext cx="719137" cy="360363"/>
            </a:xfrm>
            <a:prstGeom prst="rect">
              <a:avLst/>
            </a:prstGeom>
            <a:solidFill>
              <a:srgbClr val="FFC000"/>
            </a:solidFill>
            <a:ln w="28575" algn="ctr">
              <a:solidFill>
                <a:srgbClr val="6600CC"/>
              </a:solidFill>
              <a:miter lim="800000"/>
              <a:headEnd/>
              <a:tailEnd/>
            </a:ln>
            <a:effectLst/>
          </p:spPr>
          <p:txBody>
            <a:bodyPr lIns="0" tIns="36000" rIns="0" bIns="0" anchor="ctr"/>
            <a:lstStyle/>
            <a:p>
              <a:pPr marL="457200" indent="-457200"/>
              <a:r>
                <a:rPr lang="en-US" altLang="zh-CN" sz="1600" b="1" dirty="0">
                  <a:solidFill>
                    <a:srgbClr val="0000FF"/>
                  </a:solidFill>
                  <a:latin typeface="Consolas" pitchFamily="49" charset="0"/>
                  <a:ea typeface="楷体" pitchFamily="49" charset="-122"/>
                  <a:cs typeface="Consolas" pitchFamily="49" charset="0"/>
                </a:rPr>
                <a:t>9902</a:t>
              </a:r>
            </a:p>
          </p:txBody>
        </p:sp>
        <p:sp>
          <p:nvSpPr>
            <p:cNvPr id="25" name="右大括号 24">
              <a:extLst>
                <a:ext uri="{FF2B5EF4-FFF2-40B4-BE49-F238E27FC236}">
                  <a16:creationId xmlns:a16="http://schemas.microsoft.com/office/drawing/2014/main" id="{C7470AAB-7380-462E-B58D-E227B2EEF40E}"/>
                </a:ext>
              </a:extLst>
            </p:cNvPr>
            <p:cNvSpPr>
              <a:spLocks noChangeAspect="1"/>
            </p:cNvSpPr>
            <p:nvPr/>
          </p:nvSpPr>
          <p:spPr>
            <a:xfrm rot="16200000">
              <a:off x="3768322" y="3303984"/>
              <a:ext cx="178595" cy="2143140"/>
            </a:xfrm>
            <a:prstGeom prst="rightBrace">
              <a:avLst/>
            </a:prstGeom>
            <a:ln w="22225">
              <a:solidFill>
                <a:srgbClr val="C00000"/>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FF"/>
                </a:solidFill>
                <a:latin typeface="Consolas" pitchFamily="49" charset="0"/>
                <a:cs typeface="Consolas" pitchFamily="49" charset="0"/>
              </a:endParaRPr>
            </a:p>
          </p:txBody>
        </p:sp>
      </p:grpSp>
      <p:grpSp>
        <p:nvGrpSpPr>
          <p:cNvPr id="26" name="组合 53">
            <a:extLst>
              <a:ext uri="{FF2B5EF4-FFF2-40B4-BE49-F238E27FC236}">
                <a16:creationId xmlns:a16="http://schemas.microsoft.com/office/drawing/2014/main" id="{10E80393-88FC-4487-A925-7931EFCBEC8D}"/>
              </a:ext>
            </a:extLst>
          </p:cNvPr>
          <p:cNvGrpSpPr/>
          <p:nvPr/>
        </p:nvGrpSpPr>
        <p:grpSpPr>
          <a:xfrm>
            <a:off x="6450205" y="4344994"/>
            <a:ext cx="2336637" cy="971543"/>
            <a:chOff x="2651291" y="4814911"/>
            <a:chExt cx="2336637" cy="971543"/>
          </a:xfrm>
        </p:grpSpPr>
        <p:sp>
          <p:nvSpPr>
            <p:cNvPr id="27" name="Text Box 23">
              <a:extLst>
                <a:ext uri="{FF2B5EF4-FFF2-40B4-BE49-F238E27FC236}">
                  <a16:creationId xmlns:a16="http://schemas.microsoft.com/office/drawing/2014/main" id="{31E771E1-B67F-4018-A9B1-E7C119273923}"/>
                </a:ext>
              </a:extLst>
            </p:cNvPr>
            <p:cNvSpPr txBox="1">
              <a:spLocks noChangeArrowheads="1"/>
            </p:cNvSpPr>
            <p:nvPr/>
          </p:nvSpPr>
          <p:spPr bwMode="auto">
            <a:xfrm>
              <a:off x="3344854" y="4814911"/>
              <a:ext cx="935037" cy="276999"/>
            </a:xfrm>
            <a:prstGeom prst="rect">
              <a:avLst/>
            </a:prstGeom>
            <a:noFill/>
            <a:ln w="9525">
              <a:noFill/>
              <a:miter lim="800000"/>
              <a:headEnd/>
              <a:tailEnd/>
            </a:ln>
            <a:effectLst/>
          </p:spPr>
          <p:txBody>
            <a:bodyPr lIns="0" tIns="0" rIns="0" bIns="0">
              <a:spAutoFit/>
            </a:bodyPr>
            <a:lstStyle/>
            <a:p>
              <a:pPr algn="l">
                <a:lnSpc>
                  <a:spcPct val="100000"/>
                </a:lnSpc>
              </a:pPr>
              <a:r>
                <a:rPr lang="en-US" altLang="zh-CN" sz="1800" b="1" dirty="0">
                  <a:solidFill>
                    <a:srgbClr val="0000FF"/>
                  </a:solidFill>
                  <a:latin typeface="Consolas" pitchFamily="49" charset="0"/>
                  <a:cs typeface="Consolas" pitchFamily="49" charset="0"/>
                </a:rPr>
                <a:t>Stud[6]</a:t>
              </a:r>
            </a:p>
          </p:txBody>
        </p:sp>
        <p:sp>
          <p:nvSpPr>
            <p:cNvPr id="28" name="Rectangle 24">
              <a:extLst>
                <a:ext uri="{FF2B5EF4-FFF2-40B4-BE49-F238E27FC236}">
                  <a16:creationId xmlns:a16="http://schemas.microsoft.com/office/drawing/2014/main" id="{9D979F28-839C-46E5-9424-AB87043C4F37}"/>
                </a:ext>
              </a:extLst>
            </p:cNvPr>
            <p:cNvSpPr>
              <a:spLocks noChangeAspect="1" noChangeArrowheads="1"/>
            </p:cNvSpPr>
            <p:nvPr/>
          </p:nvSpPr>
          <p:spPr bwMode="auto">
            <a:xfrm>
              <a:off x="2651291" y="5426091"/>
              <a:ext cx="431800" cy="360363"/>
            </a:xfrm>
            <a:prstGeom prst="rect">
              <a:avLst/>
            </a:prstGeom>
            <a:solidFill>
              <a:srgbClr val="00B0F0"/>
            </a:solidFill>
            <a:ln w="28575" algn="ctr">
              <a:solidFill>
                <a:srgbClr val="6600CC"/>
              </a:solidFill>
              <a:miter lim="800000"/>
              <a:headEnd/>
              <a:tailEnd/>
            </a:ln>
            <a:effectLst/>
          </p:spPr>
          <p:txBody>
            <a:bodyPr lIns="0" tIns="36000" rIns="0" bIns="0" anchor="ctr"/>
            <a:lstStyle/>
            <a:p>
              <a:pPr marL="457200" indent="-457200"/>
              <a:r>
                <a:rPr lang="en-US" altLang="zh-CN" sz="1600" b="1">
                  <a:solidFill>
                    <a:srgbClr val="0000FF"/>
                  </a:solidFill>
                  <a:latin typeface="Consolas" pitchFamily="49" charset="0"/>
                  <a:ea typeface="楷体" pitchFamily="49" charset="-122"/>
                  <a:cs typeface="Consolas" pitchFamily="49" charset="0"/>
                </a:rPr>
                <a:t>5</a:t>
              </a:r>
            </a:p>
          </p:txBody>
        </p:sp>
        <p:sp>
          <p:nvSpPr>
            <p:cNvPr id="29" name="Rectangle 25">
              <a:extLst>
                <a:ext uri="{FF2B5EF4-FFF2-40B4-BE49-F238E27FC236}">
                  <a16:creationId xmlns:a16="http://schemas.microsoft.com/office/drawing/2014/main" id="{53BE19F9-0E62-4E01-AB94-A4F5DD82D197}"/>
                </a:ext>
              </a:extLst>
            </p:cNvPr>
            <p:cNvSpPr>
              <a:spLocks noChangeArrowheads="1"/>
            </p:cNvSpPr>
            <p:nvPr/>
          </p:nvSpPr>
          <p:spPr bwMode="auto">
            <a:xfrm>
              <a:off x="3076561" y="5426091"/>
              <a:ext cx="719137" cy="360363"/>
            </a:xfrm>
            <a:prstGeom prst="rect">
              <a:avLst/>
            </a:prstGeom>
            <a:solidFill>
              <a:srgbClr val="00B0F0"/>
            </a:solidFill>
            <a:ln w="28575" algn="ctr">
              <a:solidFill>
                <a:srgbClr val="6600CC"/>
              </a:solidFill>
              <a:miter lim="800000"/>
              <a:headEnd/>
              <a:tailEnd/>
            </a:ln>
            <a:effectLst/>
          </p:spPr>
          <p:txBody>
            <a:bodyPr lIns="0" tIns="36000" rIns="0" bIns="0" anchor="ctr"/>
            <a:lstStyle/>
            <a:p>
              <a:pPr marL="457200" indent="-457200"/>
              <a:r>
                <a:rPr lang="zh-CN" altLang="en-US" sz="1600" b="1" dirty="0">
                  <a:solidFill>
                    <a:srgbClr val="0000FF"/>
                  </a:solidFill>
                  <a:latin typeface="Consolas" pitchFamily="49" charset="0"/>
                  <a:ea typeface="楷体" pitchFamily="49" charset="-122"/>
                  <a:cs typeface="Consolas" pitchFamily="49" charset="0"/>
                </a:rPr>
                <a:t>王萍</a:t>
              </a:r>
            </a:p>
          </p:txBody>
        </p:sp>
        <p:sp>
          <p:nvSpPr>
            <p:cNvPr id="30" name="Rectangle 26">
              <a:extLst>
                <a:ext uri="{FF2B5EF4-FFF2-40B4-BE49-F238E27FC236}">
                  <a16:creationId xmlns:a16="http://schemas.microsoft.com/office/drawing/2014/main" id="{087469CC-3F2B-42A3-B6BE-6F335B2E15E5}"/>
                </a:ext>
              </a:extLst>
            </p:cNvPr>
            <p:cNvSpPr>
              <a:spLocks noChangeArrowheads="1"/>
            </p:cNvSpPr>
            <p:nvPr/>
          </p:nvSpPr>
          <p:spPr bwMode="auto">
            <a:xfrm>
              <a:off x="3795699" y="5426091"/>
              <a:ext cx="468000" cy="360363"/>
            </a:xfrm>
            <a:prstGeom prst="rect">
              <a:avLst/>
            </a:prstGeom>
            <a:solidFill>
              <a:srgbClr val="00B0F0"/>
            </a:solidFill>
            <a:ln w="28575" algn="ctr">
              <a:solidFill>
                <a:srgbClr val="6600CC"/>
              </a:solidFill>
              <a:miter lim="800000"/>
              <a:headEnd/>
              <a:tailEnd/>
            </a:ln>
            <a:effectLst/>
          </p:spPr>
          <p:txBody>
            <a:bodyPr lIns="0" tIns="36000" rIns="0" bIns="0" anchor="ctr"/>
            <a:lstStyle/>
            <a:p>
              <a:pPr marL="457200" indent="-457200"/>
              <a:r>
                <a:rPr lang="zh-CN" altLang="en-US" sz="1600" b="1" dirty="0">
                  <a:solidFill>
                    <a:srgbClr val="0000FF"/>
                  </a:solidFill>
                  <a:latin typeface="Consolas" pitchFamily="49" charset="0"/>
                  <a:ea typeface="楷体" pitchFamily="49" charset="-122"/>
                  <a:cs typeface="Consolas" pitchFamily="49" charset="0"/>
                </a:rPr>
                <a:t>女</a:t>
              </a:r>
            </a:p>
          </p:txBody>
        </p:sp>
        <p:sp>
          <p:nvSpPr>
            <p:cNvPr id="31" name="Rectangle 27">
              <a:extLst>
                <a:ext uri="{FF2B5EF4-FFF2-40B4-BE49-F238E27FC236}">
                  <a16:creationId xmlns:a16="http://schemas.microsoft.com/office/drawing/2014/main" id="{74127CE0-D137-4B25-9599-85F20BEF7051}"/>
                </a:ext>
              </a:extLst>
            </p:cNvPr>
            <p:cNvSpPr>
              <a:spLocks noChangeArrowheads="1"/>
            </p:cNvSpPr>
            <p:nvPr/>
          </p:nvSpPr>
          <p:spPr bwMode="auto">
            <a:xfrm>
              <a:off x="4268791" y="5426091"/>
              <a:ext cx="719137" cy="360363"/>
            </a:xfrm>
            <a:prstGeom prst="rect">
              <a:avLst/>
            </a:prstGeom>
            <a:solidFill>
              <a:srgbClr val="00B0F0"/>
            </a:solidFill>
            <a:ln w="28575" algn="ctr">
              <a:solidFill>
                <a:srgbClr val="6600CC"/>
              </a:solidFill>
              <a:miter lim="800000"/>
              <a:headEnd/>
              <a:tailEnd/>
            </a:ln>
            <a:effectLst/>
          </p:spPr>
          <p:txBody>
            <a:bodyPr lIns="0" tIns="36000" rIns="0" bIns="0" anchor="ctr"/>
            <a:lstStyle/>
            <a:p>
              <a:pPr marL="457200" indent="-457200"/>
              <a:r>
                <a:rPr lang="en-US" altLang="zh-CN" sz="1600" b="1" dirty="0">
                  <a:solidFill>
                    <a:srgbClr val="0000FF"/>
                  </a:solidFill>
                  <a:latin typeface="Consolas" pitchFamily="49" charset="0"/>
                  <a:ea typeface="楷体" pitchFamily="49" charset="-122"/>
                  <a:cs typeface="Consolas" pitchFamily="49" charset="0"/>
                </a:rPr>
                <a:t>9901</a:t>
              </a:r>
            </a:p>
          </p:txBody>
        </p:sp>
        <p:sp>
          <p:nvSpPr>
            <p:cNvPr id="32" name="右大括号 31">
              <a:extLst>
                <a:ext uri="{FF2B5EF4-FFF2-40B4-BE49-F238E27FC236}">
                  <a16:creationId xmlns:a16="http://schemas.microsoft.com/office/drawing/2014/main" id="{0603DB28-F7AD-4427-9608-C5DEDB344DAA}"/>
                </a:ext>
              </a:extLst>
            </p:cNvPr>
            <p:cNvSpPr>
              <a:spLocks noChangeAspect="1"/>
            </p:cNvSpPr>
            <p:nvPr/>
          </p:nvSpPr>
          <p:spPr>
            <a:xfrm rot="16200000">
              <a:off x="3696885" y="4219536"/>
              <a:ext cx="178595" cy="2143140"/>
            </a:xfrm>
            <a:prstGeom prst="rightBrace">
              <a:avLst/>
            </a:prstGeom>
            <a:ln w="22225">
              <a:solidFill>
                <a:srgbClr val="C00000"/>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FF"/>
                </a:solidFill>
                <a:latin typeface="Consolas" pitchFamily="49" charset="0"/>
                <a:cs typeface="Consolas" pitchFamily="49" charset="0"/>
              </a:endParaRPr>
            </a:p>
          </p:txBody>
        </p:sp>
      </p:grpSp>
      <p:cxnSp>
        <p:nvCxnSpPr>
          <p:cNvPr id="33" name="直接箭头连接符 32">
            <a:extLst>
              <a:ext uri="{FF2B5EF4-FFF2-40B4-BE49-F238E27FC236}">
                <a16:creationId xmlns:a16="http://schemas.microsoft.com/office/drawing/2014/main" id="{64236A6D-D017-46E8-A5A6-FD228180B942}"/>
              </a:ext>
            </a:extLst>
          </p:cNvPr>
          <p:cNvCxnSpPr>
            <a:endCxn id="20" idx="0"/>
          </p:cNvCxnSpPr>
          <p:nvPr/>
        </p:nvCxnSpPr>
        <p:spPr>
          <a:xfrm>
            <a:off x="1429243" y="1911352"/>
            <a:ext cx="3109125" cy="2430480"/>
          </a:xfrm>
          <a:prstGeom prst="straightConnector1">
            <a:avLst/>
          </a:prstGeom>
          <a:ln w="2222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8E41FDFD-693F-4459-8841-94D699E33A4C}"/>
              </a:ext>
            </a:extLst>
          </p:cNvPr>
          <p:cNvCxnSpPr>
            <a:endCxn id="27" idx="0"/>
          </p:cNvCxnSpPr>
          <p:nvPr/>
        </p:nvCxnSpPr>
        <p:spPr>
          <a:xfrm>
            <a:off x="1492235" y="3532274"/>
            <a:ext cx="6119052" cy="812720"/>
          </a:xfrm>
          <a:prstGeom prst="straightConnector1">
            <a:avLst/>
          </a:prstGeom>
          <a:ln w="22225">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7800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xit" presetSubtype="4" fill="hold" nodeType="clickEffect">
                                  <p:stCondLst>
                                    <p:cond delay="0"/>
                                  </p:stCondLst>
                                  <p:childTnLst>
                                    <p:animEffect transition="out" filter="wipe(down)">
                                      <p:cBhvr>
                                        <p:cTn id="13" dur="500"/>
                                        <p:tgtEl>
                                          <p:spTgt spid="9"/>
                                        </p:tgtEl>
                                      </p:cBhvr>
                                    </p:animEffect>
                                    <p:set>
                                      <p:cBhvr>
                                        <p:cTn id="14" dur="1" fill="hold">
                                          <p:stCondLst>
                                            <p:cond delay="499"/>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xit" presetSubtype="4" fill="hold" nodeType="clickEffect">
                                  <p:stCondLst>
                                    <p:cond delay="0"/>
                                  </p:stCondLst>
                                  <p:childTnLst>
                                    <p:animEffect transition="out" filter="wipe(down)">
                                      <p:cBhvr>
                                        <p:cTn id="25" dur="500"/>
                                        <p:tgtEl>
                                          <p:spTgt spid="33"/>
                                        </p:tgtEl>
                                      </p:cBhvr>
                                    </p:animEffect>
                                    <p:set>
                                      <p:cBhvr>
                                        <p:cTn id="26" dur="1" fill="hold">
                                          <p:stCondLst>
                                            <p:cond delay="499"/>
                                          </p:stCondLst>
                                        </p:cTn>
                                        <p:tgtEl>
                                          <p:spTgt spid="33"/>
                                        </p:tgtEl>
                                        <p:attrNameLst>
                                          <p:attrName>style.visibility</p:attrName>
                                        </p:attrNameLst>
                                      </p:cBhvr>
                                      <p:to>
                                        <p:strVal val="hidden"/>
                                      </p:to>
                                    </p:set>
                                  </p:childTnLst>
                                </p:cTn>
                              </p:par>
                            </p:childTnLst>
                          </p:cTn>
                        </p:par>
                        <p:par>
                          <p:cTn id="27" fill="hold">
                            <p:stCondLst>
                              <p:cond delay="500"/>
                            </p:stCondLst>
                            <p:childTnLst>
                              <p:par>
                                <p:cTn id="28" presetID="1" presetClass="entr" presetSubtype="0"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xit" presetSubtype="4" fill="hold" nodeType="clickEffect">
                                  <p:stCondLst>
                                    <p:cond delay="0"/>
                                  </p:stCondLst>
                                  <p:childTnLst>
                                    <p:animEffect transition="out" filter="wipe(down)">
                                      <p:cBhvr>
                                        <p:cTn id="40" dur="500"/>
                                        <p:tgtEl>
                                          <p:spTgt spid="34"/>
                                        </p:tgtEl>
                                      </p:cBhvr>
                                    </p:animEffect>
                                    <p:set>
                                      <p:cBhvr>
                                        <p:cTn id="41" dur="1" fill="hold">
                                          <p:stCondLst>
                                            <p:cond delay="499"/>
                                          </p:stCondLst>
                                        </p:cTn>
                                        <p:tgtEl>
                                          <p:spTgt spid="34"/>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4"/>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grpId="0" nodeType="after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575556" y="692696"/>
            <a:ext cx="7992888" cy="190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266700" algn="l" defTabSz="914400" rtl="0" eaLnBrk="0" fontAlgn="base" latinLnBrk="0" hangingPunct="0">
              <a:lnSpc>
                <a:spcPct val="12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（2）</a:t>
            </a:r>
            <a:r>
              <a:rPr kumimoji="0" lang="zh-CN" altLang="zh-CN" sz="2000" b="0" i="0" u="none" strike="noStrike" cap="none" normalizeH="0" baseline="0" dirty="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链式(Linked)存储方法</a:t>
            </a:r>
            <a:r>
              <a:rPr kumimoji="0" lang="zh-CN" altLang="zh-CN" sz="20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就是把每个数据元素，按结点结构可以分别零散地存放在存储单元中。这种方法就是将结点所占的存储单元分为两部分：一部分存放结点本身的元素信息，另一部分存放此结点的逻辑前驱或后继结点所对应的存储地址，称为指针项。指针项也可以有多个。</a:t>
            </a:r>
            <a:endParaRPr kumimoji="0" lang="zh-CN"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Text Box 53">
            <a:extLst>
              <a:ext uri="{FF2B5EF4-FFF2-40B4-BE49-F238E27FC236}">
                <a16:creationId xmlns:a16="http://schemas.microsoft.com/office/drawing/2014/main" id="{BEED139F-F885-4ECA-B6DD-E4613B1B7002}"/>
              </a:ext>
            </a:extLst>
          </p:cNvPr>
          <p:cNvSpPr txBox="1">
            <a:spLocks noChangeArrowheads="1"/>
          </p:cNvSpPr>
          <p:nvPr/>
        </p:nvSpPr>
        <p:spPr bwMode="auto">
          <a:xfrm>
            <a:off x="770966" y="2836406"/>
            <a:ext cx="4000528" cy="519025"/>
          </a:xfrm>
          <a:prstGeom prst="rect">
            <a:avLst/>
          </a:prstGeom>
          <a:noFill/>
          <a:ln w="57150" algn="ctr">
            <a:noFill/>
            <a:miter lim="800000"/>
            <a:headEnd/>
            <a:tailEnd type="none" w="lg" len="lg"/>
          </a:ln>
          <a:effectLst/>
        </p:spPr>
        <p:txBody>
          <a:bodyPr wrap="square" tIns="76176" bIns="0">
            <a:noAutofit/>
          </a:bodyPr>
          <a:lstStyle/>
          <a:p>
            <a:pPr algn="l">
              <a:lnSpc>
                <a:spcPct val="100000"/>
              </a:lnSpc>
              <a:spcBef>
                <a:spcPts val="0"/>
              </a:spcBef>
            </a:pPr>
            <a:r>
              <a:rPr lang="zh-CN" altLang="en-US" dirty="0">
                <a:solidFill>
                  <a:srgbClr val="0000FF"/>
                </a:solidFill>
                <a:latin typeface="华文中宋" pitchFamily="2" charset="-122"/>
                <a:ea typeface="华文中宋" pitchFamily="2" charset="-122"/>
                <a:cs typeface="Consolas" pitchFamily="49" charset="0"/>
              </a:rPr>
              <a:t>链式</a:t>
            </a:r>
            <a:r>
              <a:rPr lang="zh-CN" altLang="en-US" b="1" dirty="0">
                <a:solidFill>
                  <a:srgbClr val="0000FF"/>
                </a:solidFill>
                <a:latin typeface="华文中宋" pitchFamily="2" charset="-122"/>
                <a:ea typeface="华文中宋" pitchFamily="2" charset="-122"/>
                <a:cs typeface="Times New Roman" pitchFamily="18" charset="0"/>
              </a:rPr>
              <a:t>存储结构的</a:t>
            </a:r>
            <a:r>
              <a:rPr lang="zh-CN" altLang="en-US" b="1" dirty="0">
                <a:solidFill>
                  <a:srgbClr val="FF0000"/>
                </a:solidFill>
                <a:latin typeface="华文中宋" pitchFamily="2" charset="-122"/>
                <a:ea typeface="华文中宋" pitchFamily="2" charset="-122"/>
                <a:cs typeface="Times New Roman" pitchFamily="18" charset="0"/>
              </a:rPr>
              <a:t>特点</a:t>
            </a:r>
            <a:r>
              <a:rPr lang="zh-CN" altLang="en-US" b="1" dirty="0">
                <a:solidFill>
                  <a:srgbClr val="0000FF"/>
                </a:solidFill>
                <a:latin typeface="华文中宋" pitchFamily="2" charset="-122"/>
                <a:ea typeface="华文中宋" pitchFamily="2" charset="-122"/>
                <a:cs typeface="Times New Roman" pitchFamily="18" charset="0"/>
              </a:rPr>
              <a:t>：　　</a:t>
            </a:r>
          </a:p>
        </p:txBody>
      </p:sp>
      <p:sp>
        <p:nvSpPr>
          <p:cNvPr id="4" name="Text Box 54">
            <a:extLst>
              <a:ext uri="{FF2B5EF4-FFF2-40B4-BE49-F238E27FC236}">
                <a16:creationId xmlns:a16="http://schemas.microsoft.com/office/drawing/2014/main" id="{F3C6B316-D541-4F0E-A0FD-32F83915AE83}"/>
              </a:ext>
            </a:extLst>
          </p:cNvPr>
          <p:cNvSpPr txBox="1">
            <a:spLocks noChangeArrowheads="1"/>
          </p:cNvSpPr>
          <p:nvPr/>
        </p:nvSpPr>
        <p:spPr bwMode="auto">
          <a:xfrm>
            <a:off x="770966" y="3573016"/>
            <a:ext cx="7602068" cy="1888045"/>
          </a:xfrm>
          <a:prstGeom prst="rect">
            <a:avLst/>
          </a:prstGeom>
          <a:ln>
            <a:headEnd/>
            <a:tailEnd type="none" w="lg" len="lg"/>
          </a:ln>
        </p:spPr>
        <p:style>
          <a:lnRef idx="1">
            <a:schemeClr val="accent5"/>
          </a:lnRef>
          <a:fillRef idx="2">
            <a:schemeClr val="accent5"/>
          </a:fillRef>
          <a:effectRef idx="1">
            <a:schemeClr val="accent5"/>
          </a:effectRef>
          <a:fontRef idx="minor">
            <a:schemeClr val="dk1"/>
          </a:fontRef>
        </p:style>
        <p:txBody>
          <a:bodyPr wrap="square" lIns="180000" tIns="144000" rIns="216000" bIns="144000">
            <a:spAutoFit/>
          </a:bodyPr>
          <a:lstStyle/>
          <a:p>
            <a:pPr marL="457200" indent="-457200" algn="l">
              <a:lnSpc>
                <a:spcPct val="150000"/>
              </a:lnSpc>
              <a:spcBef>
                <a:spcPts val="0"/>
              </a:spcBef>
              <a:buFontTx/>
              <a:buBlip>
                <a:blip r:embed="rId2"/>
              </a:buBlip>
            </a:pPr>
            <a:r>
              <a:rPr lang="zh-CN" altLang="en-US" b="1" dirty="0">
                <a:solidFill>
                  <a:srgbClr val="0000FF"/>
                </a:solidFill>
                <a:latin typeface="Consolas" pitchFamily="49" charset="0"/>
                <a:ea typeface="仿宋" pitchFamily="49" charset="-122"/>
                <a:cs typeface="Consolas" pitchFamily="49" charset="0"/>
              </a:rPr>
              <a:t>一个逻辑元素用一个结点存储，每个结点单独分配，所有结点的地址不一定是连续的。</a:t>
            </a:r>
          </a:p>
          <a:p>
            <a:pPr marL="457200" indent="-457200" algn="l">
              <a:lnSpc>
                <a:spcPct val="150000"/>
              </a:lnSpc>
              <a:spcBef>
                <a:spcPts val="0"/>
              </a:spcBef>
              <a:buFontTx/>
              <a:buBlip>
                <a:blip r:embed="rId2"/>
              </a:buBlip>
            </a:pPr>
            <a:r>
              <a:rPr lang="zh-CN" altLang="en-US" b="1" dirty="0">
                <a:solidFill>
                  <a:srgbClr val="0000FF"/>
                </a:solidFill>
                <a:latin typeface="Consolas" pitchFamily="49" charset="0"/>
                <a:ea typeface="仿宋" pitchFamily="49" charset="-122"/>
                <a:cs typeface="Consolas" pitchFamily="49" charset="0"/>
              </a:rPr>
              <a:t>用指针来表示逻辑关系。</a:t>
            </a:r>
          </a:p>
        </p:txBody>
      </p:sp>
    </p:spTree>
    <p:extLst>
      <p:ext uri="{BB962C8B-B14F-4D97-AF65-F5344CB8AC3E}">
        <p14:creationId xmlns:p14="http://schemas.microsoft.com/office/powerpoint/2010/main" val="31713766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45">
            <a:extLst>
              <a:ext uri="{FF2B5EF4-FFF2-40B4-BE49-F238E27FC236}">
                <a16:creationId xmlns:a16="http://schemas.microsoft.com/office/drawing/2014/main" id="{735E6FB3-E5F3-465D-A268-61EA819040E1}"/>
              </a:ext>
            </a:extLst>
          </p:cNvPr>
          <p:cNvGrpSpPr/>
          <p:nvPr/>
        </p:nvGrpSpPr>
        <p:grpSpPr>
          <a:xfrm>
            <a:off x="2984515" y="3687486"/>
            <a:ext cx="2941638" cy="396875"/>
            <a:chOff x="1611301" y="4005264"/>
            <a:chExt cx="2941638" cy="396875"/>
          </a:xfrm>
        </p:grpSpPr>
        <p:sp>
          <p:nvSpPr>
            <p:cNvPr id="37" name="Rectangle 4">
              <a:extLst>
                <a:ext uri="{FF2B5EF4-FFF2-40B4-BE49-F238E27FC236}">
                  <a16:creationId xmlns:a16="http://schemas.microsoft.com/office/drawing/2014/main" id="{E5624A31-5C11-4E07-BC76-3637FB217B9E}"/>
                </a:ext>
              </a:extLst>
            </p:cNvPr>
            <p:cNvSpPr>
              <a:spLocks noChangeArrowheads="1"/>
            </p:cNvSpPr>
            <p:nvPr/>
          </p:nvSpPr>
          <p:spPr bwMode="auto">
            <a:xfrm>
              <a:off x="1611301" y="4005264"/>
              <a:ext cx="485775"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36000" bIns="0"/>
            <a:lstStyle/>
            <a:p>
              <a:pPr eaLnBrk="0" hangingPunct="0">
                <a:lnSpc>
                  <a:spcPct val="112000"/>
                </a:lnSpc>
                <a:spcBef>
                  <a:spcPct val="0"/>
                </a:spcBef>
              </a:pPr>
              <a:r>
                <a:rPr kumimoji="0" lang="en-US" altLang="zh-CN" sz="1600" b="1" dirty="0">
                  <a:solidFill>
                    <a:srgbClr val="0000FF"/>
                  </a:solidFill>
                  <a:latin typeface="Consolas" pitchFamily="49" charset="0"/>
                  <a:ea typeface="楷体" pitchFamily="49" charset="-122"/>
                  <a:cs typeface="Consolas" pitchFamily="49" charset="0"/>
                </a:rPr>
                <a:t>1</a:t>
              </a:r>
            </a:p>
          </p:txBody>
        </p:sp>
        <p:sp>
          <p:nvSpPr>
            <p:cNvPr id="38" name="Rectangle 5">
              <a:extLst>
                <a:ext uri="{FF2B5EF4-FFF2-40B4-BE49-F238E27FC236}">
                  <a16:creationId xmlns:a16="http://schemas.microsoft.com/office/drawing/2014/main" id="{30D357EB-C75B-4F93-8AC7-67EECD7BA27A}"/>
                </a:ext>
              </a:extLst>
            </p:cNvPr>
            <p:cNvSpPr>
              <a:spLocks noChangeArrowheads="1"/>
            </p:cNvSpPr>
            <p:nvPr/>
          </p:nvSpPr>
          <p:spPr bwMode="auto">
            <a:xfrm>
              <a:off x="2039926" y="4005264"/>
              <a:ext cx="790575"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36000" bIns="0"/>
            <a:lstStyle/>
            <a:p>
              <a:pPr eaLnBrk="0" hangingPunct="0">
                <a:lnSpc>
                  <a:spcPct val="112000"/>
                </a:lnSpc>
                <a:spcBef>
                  <a:spcPct val="0"/>
                </a:spcBef>
              </a:pPr>
              <a:r>
                <a:rPr kumimoji="0" lang="zh-CN" altLang="en-US" sz="1600" b="1" dirty="0">
                  <a:solidFill>
                    <a:srgbClr val="0000FF"/>
                  </a:solidFill>
                  <a:latin typeface="Consolas" pitchFamily="49" charset="0"/>
                  <a:ea typeface="楷体" pitchFamily="49" charset="-122"/>
                  <a:cs typeface="Consolas" pitchFamily="49" charset="0"/>
                </a:rPr>
                <a:t>张斌</a:t>
              </a:r>
            </a:p>
          </p:txBody>
        </p:sp>
        <p:sp>
          <p:nvSpPr>
            <p:cNvPr id="39" name="Rectangle 6">
              <a:extLst>
                <a:ext uri="{FF2B5EF4-FFF2-40B4-BE49-F238E27FC236}">
                  <a16:creationId xmlns:a16="http://schemas.microsoft.com/office/drawing/2014/main" id="{7249D9C0-CB19-4E8F-A8CE-BF3E1AA18D82}"/>
                </a:ext>
              </a:extLst>
            </p:cNvPr>
            <p:cNvSpPr>
              <a:spLocks noChangeArrowheads="1"/>
            </p:cNvSpPr>
            <p:nvPr/>
          </p:nvSpPr>
          <p:spPr bwMode="auto">
            <a:xfrm>
              <a:off x="2801926" y="4005264"/>
              <a:ext cx="457200"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36000" bIns="0"/>
            <a:lstStyle/>
            <a:p>
              <a:pP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男</a:t>
              </a:r>
            </a:p>
          </p:txBody>
        </p:sp>
        <p:sp>
          <p:nvSpPr>
            <p:cNvPr id="40" name="Rectangle 7">
              <a:extLst>
                <a:ext uri="{FF2B5EF4-FFF2-40B4-BE49-F238E27FC236}">
                  <a16:creationId xmlns:a16="http://schemas.microsoft.com/office/drawing/2014/main" id="{D6D744AF-220E-4540-B679-C59246E3614A}"/>
                </a:ext>
              </a:extLst>
            </p:cNvPr>
            <p:cNvSpPr>
              <a:spLocks noChangeArrowheads="1"/>
            </p:cNvSpPr>
            <p:nvPr/>
          </p:nvSpPr>
          <p:spPr bwMode="auto">
            <a:xfrm>
              <a:off x="3230551" y="4005264"/>
              <a:ext cx="863600"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36000" bIns="0"/>
            <a:lstStyle/>
            <a:p>
              <a:pPr eaLnBrk="0" hangingPunct="0">
                <a:lnSpc>
                  <a:spcPct val="112000"/>
                </a:lnSpc>
                <a:spcBef>
                  <a:spcPct val="0"/>
                </a:spcBef>
              </a:pPr>
              <a:r>
                <a:rPr kumimoji="0" lang="en-US" altLang="zh-CN" sz="1600" b="1" dirty="0">
                  <a:solidFill>
                    <a:srgbClr val="0000FF"/>
                  </a:solidFill>
                  <a:latin typeface="Consolas" pitchFamily="49" charset="0"/>
                  <a:ea typeface="楷体" pitchFamily="49" charset="-122"/>
                  <a:cs typeface="Consolas" pitchFamily="49" charset="0"/>
                </a:rPr>
                <a:t>9901</a:t>
              </a:r>
            </a:p>
          </p:txBody>
        </p:sp>
        <p:sp>
          <p:nvSpPr>
            <p:cNvPr id="41" name="Rectangle 8">
              <a:extLst>
                <a:ext uri="{FF2B5EF4-FFF2-40B4-BE49-F238E27FC236}">
                  <a16:creationId xmlns:a16="http://schemas.microsoft.com/office/drawing/2014/main" id="{E6211150-8379-446B-90A7-CFEFBCB26A78}"/>
                </a:ext>
              </a:extLst>
            </p:cNvPr>
            <p:cNvSpPr>
              <a:spLocks noChangeArrowheads="1"/>
            </p:cNvSpPr>
            <p:nvPr/>
          </p:nvSpPr>
          <p:spPr bwMode="auto">
            <a:xfrm>
              <a:off x="4067164" y="4005264"/>
              <a:ext cx="485775"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0" bIns="0"/>
            <a:lstStyle/>
            <a:p>
              <a:pPr eaLnBrk="0" hangingPunct="0">
                <a:lnSpc>
                  <a:spcPct val="112000"/>
                </a:lnSpc>
                <a:spcBef>
                  <a:spcPct val="0"/>
                </a:spcBef>
              </a:pPr>
              <a:endParaRPr kumimoji="0" lang="en-US" altLang="zh-CN" sz="1800" b="0">
                <a:solidFill>
                  <a:srgbClr val="0000FF"/>
                </a:solidFill>
                <a:latin typeface="Consolas" pitchFamily="49" charset="0"/>
                <a:ea typeface="宋体" charset="-122"/>
                <a:cs typeface="Consolas" pitchFamily="49" charset="0"/>
              </a:endParaRPr>
            </a:p>
            <a:p>
              <a:pPr eaLnBrk="0" hangingPunct="0">
                <a:lnSpc>
                  <a:spcPct val="112000"/>
                </a:lnSpc>
                <a:spcBef>
                  <a:spcPct val="0"/>
                </a:spcBef>
              </a:pPr>
              <a:endParaRPr kumimoji="0" lang="en-US" altLang="zh-CN" sz="1800" b="0">
                <a:solidFill>
                  <a:srgbClr val="0000FF"/>
                </a:solidFill>
                <a:latin typeface="Consolas" pitchFamily="49" charset="0"/>
                <a:ea typeface="宋体" charset="-122"/>
                <a:cs typeface="Consolas" pitchFamily="49" charset="0"/>
              </a:endParaRPr>
            </a:p>
          </p:txBody>
        </p:sp>
      </p:grpSp>
      <p:grpSp>
        <p:nvGrpSpPr>
          <p:cNvPr id="42" name="组合 49">
            <a:extLst>
              <a:ext uri="{FF2B5EF4-FFF2-40B4-BE49-F238E27FC236}">
                <a16:creationId xmlns:a16="http://schemas.microsoft.com/office/drawing/2014/main" id="{3F80C0DE-44EF-40F3-8037-F99575484E94}"/>
              </a:ext>
            </a:extLst>
          </p:cNvPr>
          <p:cNvGrpSpPr/>
          <p:nvPr/>
        </p:nvGrpSpPr>
        <p:grpSpPr>
          <a:xfrm>
            <a:off x="1481164" y="3687486"/>
            <a:ext cx="1477952" cy="923934"/>
            <a:chOff x="107950" y="4005264"/>
            <a:chExt cx="1477952" cy="923934"/>
          </a:xfrm>
        </p:grpSpPr>
        <p:sp>
          <p:nvSpPr>
            <p:cNvPr id="43" name="Rectangle 3">
              <a:extLst>
                <a:ext uri="{FF2B5EF4-FFF2-40B4-BE49-F238E27FC236}">
                  <a16:creationId xmlns:a16="http://schemas.microsoft.com/office/drawing/2014/main" id="{71392F4C-852A-4ECF-A5AA-73E493DFB491}"/>
                </a:ext>
              </a:extLst>
            </p:cNvPr>
            <p:cNvSpPr>
              <a:spLocks noChangeArrowheads="1"/>
            </p:cNvSpPr>
            <p:nvPr/>
          </p:nvSpPr>
          <p:spPr bwMode="auto">
            <a:xfrm>
              <a:off x="107950" y="4005264"/>
              <a:ext cx="1035026" cy="923934"/>
            </a:xfrm>
            <a:prstGeom prst="rect">
              <a:avLst/>
            </a:prstGeom>
            <a:noFill/>
            <a:ln w="15875">
              <a:noFill/>
              <a:miter lim="800000"/>
              <a:headEnd/>
              <a:tailEnd type="none" w="sm" len="sm"/>
            </a:ln>
            <a:effectLst/>
          </p:spPr>
          <p:txBody>
            <a:bodyPr tIns="0" bIns="0"/>
            <a:lstStyle/>
            <a:p>
              <a:pPr algn="just" eaLnBrk="0" hangingPunct="0">
                <a:lnSpc>
                  <a:spcPct val="112000"/>
                </a:lnSpc>
                <a:spcBef>
                  <a:spcPct val="0"/>
                </a:spcBef>
              </a:pPr>
              <a:r>
                <a:rPr kumimoji="0" lang="zh-CN" altLang="en-US" sz="1800" b="1" dirty="0">
                  <a:solidFill>
                    <a:srgbClr val="0000FF"/>
                  </a:solidFill>
                  <a:latin typeface="Consolas" pitchFamily="49" charset="0"/>
                  <a:ea typeface="楷体" pitchFamily="49" charset="-122"/>
                  <a:cs typeface="Consolas" pitchFamily="49" charset="0"/>
                </a:rPr>
                <a:t>链表首结点地址</a:t>
              </a:r>
              <a:r>
                <a:rPr kumimoji="0" lang="en-US" altLang="zh-CN" sz="1800" b="1" dirty="0">
                  <a:solidFill>
                    <a:srgbClr val="0000FF"/>
                  </a:solidFill>
                  <a:latin typeface="Consolas" pitchFamily="49" charset="0"/>
                  <a:ea typeface="楷体" pitchFamily="49" charset="-122"/>
                  <a:cs typeface="Consolas" pitchFamily="49" charset="0"/>
                </a:rPr>
                <a:t>head</a:t>
              </a:r>
            </a:p>
            <a:p>
              <a:pPr algn="just" eaLnBrk="0" hangingPunct="0">
                <a:lnSpc>
                  <a:spcPct val="112000"/>
                </a:lnSpc>
                <a:spcBef>
                  <a:spcPct val="0"/>
                </a:spcBef>
              </a:pPr>
              <a:endParaRPr kumimoji="0" lang="en-US" altLang="zh-CN" sz="900" b="1" dirty="0">
                <a:solidFill>
                  <a:srgbClr val="0000FF"/>
                </a:solidFill>
                <a:latin typeface="Consolas" pitchFamily="49" charset="0"/>
                <a:ea typeface="楷体" pitchFamily="49" charset="-122"/>
                <a:cs typeface="Consolas" pitchFamily="49" charset="0"/>
              </a:endParaRPr>
            </a:p>
          </p:txBody>
        </p:sp>
        <p:sp>
          <p:nvSpPr>
            <p:cNvPr id="44" name="Line 18">
              <a:extLst>
                <a:ext uri="{FF2B5EF4-FFF2-40B4-BE49-F238E27FC236}">
                  <a16:creationId xmlns:a16="http://schemas.microsoft.com/office/drawing/2014/main" id="{1BF25DE1-D6C4-4F6E-895D-48DF1BC01296}"/>
                </a:ext>
              </a:extLst>
            </p:cNvPr>
            <p:cNvSpPr>
              <a:spLocks noChangeShapeType="1"/>
            </p:cNvSpPr>
            <p:nvPr/>
          </p:nvSpPr>
          <p:spPr bwMode="auto">
            <a:xfrm>
              <a:off x="1182677" y="4203699"/>
              <a:ext cx="403225" cy="45719"/>
            </a:xfrm>
            <a:prstGeom prst="line">
              <a:avLst/>
            </a:prstGeom>
            <a:noFill/>
            <a:ln w="38100">
              <a:solidFill>
                <a:srgbClr val="339933"/>
              </a:solidFill>
              <a:round/>
              <a:headEnd/>
              <a:tailEnd type="triangle" w="sm" len="sm"/>
            </a:ln>
            <a:effectLst/>
          </p:spPr>
          <p:txBody>
            <a:bodyPr/>
            <a:lstStyle/>
            <a:p>
              <a:endParaRPr lang="zh-CN" altLang="en-US">
                <a:latin typeface="Consolas" pitchFamily="49" charset="0"/>
                <a:cs typeface="Consolas" pitchFamily="49" charset="0"/>
              </a:endParaRPr>
            </a:p>
          </p:txBody>
        </p:sp>
      </p:grpSp>
      <p:grpSp>
        <p:nvGrpSpPr>
          <p:cNvPr id="45" name="组合 46">
            <a:extLst>
              <a:ext uri="{FF2B5EF4-FFF2-40B4-BE49-F238E27FC236}">
                <a16:creationId xmlns:a16="http://schemas.microsoft.com/office/drawing/2014/main" id="{F4DEAD00-E7B5-4CAC-849D-AF466505F4BA}"/>
              </a:ext>
            </a:extLst>
          </p:cNvPr>
          <p:cNvGrpSpPr/>
          <p:nvPr/>
        </p:nvGrpSpPr>
        <p:grpSpPr>
          <a:xfrm>
            <a:off x="2973403" y="3916085"/>
            <a:ext cx="2952750" cy="777876"/>
            <a:chOff x="1600189" y="4233863"/>
            <a:chExt cx="2952750" cy="777876"/>
          </a:xfrm>
        </p:grpSpPr>
        <p:sp>
          <p:nvSpPr>
            <p:cNvPr id="46" name="Rectangle 64">
              <a:extLst>
                <a:ext uri="{FF2B5EF4-FFF2-40B4-BE49-F238E27FC236}">
                  <a16:creationId xmlns:a16="http://schemas.microsoft.com/office/drawing/2014/main" id="{51ADB881-51ED-48D6-9EF9-B4490123D7C0}"/>
                </a:ext>
              </a:extLst>
            </p:cNvPr>
            <p:cNvSpPr>
              <a:spLocks noChangeArrowheads="1"/>
            </p:cNvSpPr>
            <p:nvPr/>
          </p:nvSpPr>
          <p:spPr bwMode="auto">
            <a:xfrm>
              <a:off x="1600189" y="4614864"/>
              <a:ext cx="485775"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36000" bIns="0"/>
            <a:lstStyle/>
            <a:p>
              <a:pPr eaLnBrk="0" hangingPunct="0">
                <a:lnSpc>
                  <a:spcPct val="112000"/>
                </a:lnSpc>
                <a:spcBef>
                  <a:spcPct val="0"/>
                </a:spcBef>
              </a:pPr>
              <a:r>
                <a:rPr kumimoji="0" lang="en-US" altLang="zh-CN" sz="1600" b="1" dirty="0">
                  <a:solidFill>
                    <a:srgbClr val="0000FF"/>
                  </a:solidFill>
                  <a:latin typeface="Consolas" pitchFamily="49" charset="0"/>
                  <a:ea typeface="楷体" pitchFamily="49" charset="-122"/>
                  <a:cs typeface="Consolas" pitchFamily="49" charset="0"/>
                </a:rPr>
                <a:t>8</a:t>
              </a:r>
            </a:p>
          </p:txBody>
        </p:sp>
        <p:sp>
          <p:nvSpPr>
            <p:cNvPr id="47" name="Rectangle 65">
              <a:extLst>
                <a:ext uri="{FF2B5EF4-FFF2-40B4-BE49-F238E27FC236}">
                  <a16:creationId xmlns:a16="http://schemas.microsoft.com/office/drawing/2014/main" id="{F5F7C9DB-0D44-4274-93BB-ADD216DDA480}"/>
                </a:ext>
              </a:extLst>
            </p:cNvPr>
            <p:cNvSpPr>
              <a:spLocks noChangeArrowheads="1"/>
            </p:cNvSpPr>
            <p:nvPr/>
          </p:nvSpPr>
          <p:spPr bwMode="auto">
            <a:xfrm>
              <a:off x="2039927" y="4614864"/>
              <a:ext cx="790575"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36000" bIns="0"/>
            <a:lstStyle/>
            <a:p>
              <a:pPr eaLnBrk="0" hangingPunct="0">
                <a:lnSpc>
                  <a:spcPct val="112000"/>
                </a:lnSpc>
                <a:spcBef>
                  <a:spcPct val="0"/>
                </a:spcBef>
              </a:pPr>
              <a:r>
                <a:rPr kumimoji="0" lang="zh-CN" altLang="en-US" sz="1600" b="1" dirty="0">
                  <a:solidFill>
                    <a:srgbClr val="0000FF"/>
                  </a:solidFill>
                  <a:latin typeface="Consolas" pitchFamily="49" charset="0"/>
                  <a:ea typeface="楷体" pitchFamily="49" charset="-122"/>
                  <a:cs typeface="Consolas" pitchFamily="49" charset="0"/>
                </a:rPr>
                <a:t>刘丽</a:t>
              </a:r>
            </a:p>
          </p:txBody>
        </p:sp>
        <p:sp>
          <p:nvSpPr>
            <p:cNvPr id="48" name="Rectangle 66">
              <a:extLst>
                <a:ext uri="{FF2B5EF4-FFF2-40B4-BE49-F238E27FC236}">
                  <a16:creationId xmlns:a16="http://schemas.microsoft.com/office/drawing/2014/main" id="{C553304B-5979-4099-B14D-9C93E5301CAE}"/>
                </a:ext>
              </a:extLst>
            </p:cNvPr>
            <p:cNvSpPr>
              <a:spLocks noChangeArrowheads="1"/>
            </p:cNvSpPr>
            <p:nvPr/>
          </p:nvSpPr>
          <p:spPr bwMode="auto">
            <a:xfrm>
              <a:off x="2801927" y="4614864"/>
              <a:ext cx="457200"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36000" bIns="0"/>
            <a:lstStyle/>
            <a:p>
              <a:pPr eaLnBrk="0" hangingPunct="0">
                <a:lnSpc>
                  <a:spcPct val="112000"/>
                </a:lnSpc>
                <a:spcBef>
                  <a:spcPct val="0"/>
                </a:spcBef>
              </a:pPr>
              <a:r>
                <a:rPr kumimoji="0" lang="zh-CN" altLang="en-US" sz="1600" b="1" dirty="0">
                  <a:solidFill>
                    <a:srgbClr val="0000FF"/>
                  </a:solidFill>
                  <a:latin typeface="Consolas" pitchFamily="49" charset="0"/>
                  <a:ea typeface="楷体" pitchFamily="49" charset="-122"/>
                  <a:cs typeface="Consolas" pitchFamily="49" charset="0"/>
                </a:rPr>
                <a:t>女</a:t>
              </a:r>
            </a:p>
          </p:txBody>
        </p:sp>
        <p:sp>
          <p:nvSpPr>
            <p:cNvPr id="49" name="Rectangle 67">
              <a:extLst>
                <a:ext uri="{FF2B5EF4-FFF2-40B4-BE49-F238E27FC236}">
                  <a16:creationId xmlns:a16="http://schemas.microsoft.com/office/drawing/2014/main" id="{B1D20DCE-B731-4501-A076-C9BB11D6E28B}"/>
                </a:ext>
              </a:extLst>
            </p:cNvPr>
            <p:cNvSpPr>
              <a:spLocks noChangeArrowheads="1"/>
            </p:cNvSpPr>
            <p:nvPr/>
          </p:nvSpPr>
          <p:spPr bwMode="auto">
            <a:xfrm>
              <a:off x="3230552" y="4614864"/>
              <a:ext cx="863600"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36000" bIns="0"/>
            <a:lstStyle/>
            <a:p>
              <a:pPr eaLnBrk="0" hangingPunct="0">
                <a:lnSpc>
                  <a:spcPct val="112000"/>
                </a:lnSpc>
                <a:spcBef>
                  <a:spcPct val="0"/>
                </a:spcBef>
              </a:pPr>
              <a:r>
                <a:rPr kumimoji="0" lang="en-US" altLang="zh-CN" sz="1600" b="1" dirty="0">
                  <a:solidFill>
                    <a:srgbClr val="0000FF"/>
                  </a:solidFill>
                  <a:latin typeface="Consolas" pitchFamily="49" charset="0"/>
                  <a:ea typeface="楷体" pitchFamily="49" charset="-122"/>
                  <a:cs typeface="Consolas" pitchFamily="49" charset="0"/>
                </a:rPr>
                <a:t>9902</a:t>
              </a:r>
            </a:p>
          </p:txBody>
        </p:sp>
        <p:sp>
          <p:nvSpPr>
            <p:cNvPr id="50" name="Rectangle 68">
              <a:extLst>
                <a:ext uri="{FF2B5EF4-FFF2-40B4-BE49-F238E27FC236}">
                  <a16:creationId xmlns:a16="http://schemas.microsoft.com/office/drawing/2014/main" id="{27BE328D-18A7-4043-9B75-117753C4F51F}"/>
                </a:ext>
              </a:extLst>
            </p:cNvPr>
            <p:cNvSpPr>
              <a:spLocks noChangeArrowheads="1"/>
            </p:cNvSpPr>
            <p:nvPr/>
          </p:nvSpPr>
          <p:spPr bwMode="auto">
            <a:xfrm>
              <a:off x="4067164" y="4614864"/>
              <a:ext cx="485775"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0" bIns="0"/>
            <a:lstStyle/>
            <a:p>
              <a:pPr eaLnBrk="0" hangingPunct="0">
                <a:lnSpc>
                  <a:spcPct val="112000"/>
                </a:lnSpc>
                <a:spcBef>
                  <a:spcPct val="0"/>
                </a:spcBef>
              </a:pPr>
              <a:endParaRPr kumimoji="0" lang="en-US" altLang="zh-CN" sz="1800" b="0">
                <a:solidFill>
                  <a:srgbClr val="0000FF"/>
                </a:solidFill>
                <a:latin typeface="Consolas" pitchFamily="49" charset="0"/>
                <a:ea typeface="宋体" charset="-122"/>
                <a:cs typeface="Consolas" pitchFamily="49" charset="0"/>
              </a:endParaRPr>
            </a:p>
            <a:p>
              <a:pPr eaLnBrk="0" hangingPunct="0">
                <a:lnSpc>
                  <a:spcPct val="112000"/>
                </a:lnSpc>
                <a:spcBef>
                  <a:spcPct val="0"/>
                </a:spcBef>
              </a:pPr>
              <a:endParaRPr kumimoji="0" lang="en-US" altLang="zh-CN" sz="1800" b="0">
                <a:solidFill>
                  <a:srgbClr val="0000FF"/>
                </a:solidFill>
                <a:latin typeface="Consolas" pitchFamily="49" charset="0"/>
                <a:ea typeface="宋体" charset="-122"/>
                <a:cs typeface="Consolas" pitchFamily="49" charset="0"/>
              </a:endParaRPr>
            </a:p>
          </p:txBody>
        </p:sp>
        <p:sp>
          <p:nvSpPr>
            <p:cNvPr id="51" name="Line 76">
              <a:extLst>
                <a:ext uri="{FF2B5EF4-FFF2-40B4-BE49-F238E27FC236}">
                  <a16:creationId xmlns:a16="http://schemas.microsoft.com/office/drawing/2014/main" id="{F8E0D6E0-1C7A-4E46-A50C-AD441835B27C}"/>
                </a:ext>
              </a:extLst>
            </p:cNvPr>
            <p:cNvSpPr>
              <a:spLocks noChangeShapeType="1"/>
            </p:cNvSpPr>
            <p:nvPr/>
          </p:nvSpPr>
          <p:spPr bwMode="auto">
            <a:xfrm>
              <a:off x="4311639" y="4233863"/>
              <a:ext cx="0" cy="381000"/>
            </a:xfrm>
            <a:prstGeom prst="line">
              <a:avLst/>
            </a:prstGeom>
            <a:noFill/>
            <a:ln w="28575">
              <a:solidFill>
                <a:srgbClr val="339933"/>
              </a:solidFill>
              <a:miter lim="800000"/>
              <a:headEnd/>
              <a:tailEnd type="triangle" w="med" len="med"/>
            </a:ln>
            <a:effectLst/>
          </p:spPr>
          <p:txBody>
            <a:bodyPr wrap="none"/>
            <a:lstStyle/>
            <a:p>
              <a:endParaRPr lang="zh-CN" altLang="en-US" sz="1800">
                <a:solidFill>
                  <a:srgbClr val="0000FF"/>
                </a:solidFill>
                <a:latin typeface="Consolas" pitchFamily="49" charset="0"/>
                <a:cs typeface="Consolas" pitchFamily="49" charset="0"/>
              </a:endParaRPr>
            </a:p>
          </p:txBody>
        </p:sp>
      </p:grpSp>
      <p:grpSp>
        <p:nvGrpSpPr>
          <p:cNvPr id="52" name="组合 48">
            <a:extLst>
              <a:ext uri="{FF2B5EF4-FFF2-40B4-BE49-F238E27FC236}">
                <a16:creationId xmlns:a16="http://schemas.microsoft.com/office/drawing/2014/main" id="{FCE9708A-E97F-4F4D-96F7-9400F8416A87}"/>
              </a:ext>
            </a:extLst>
          </p:cNvPr>
          <p:cNvGrpSpPr/>
          <p:nvPr/>
        </p:nvGrpSpPr>
        <p:grpSpPr>
          <a:xfrm>
            <a:off x="2979755" y="5573435"/>
            <a:ext cx="2974975" cy="777875"/>
            <a:chOff x="1606541" y="5891213"/>
            <a:chExt cx="2974975" cy="777875"/>
          </a:xfrm>
        </p:grpSpPr>
        <p:sp>
          <p:nvSpPr>
            <p:cNvPr id="53" name="Rectangle 98">
              <a:extLst>
                <a:ext uri="{FF2B5EF4-FFF2-40B4-BE49-F238E27FC236}">
                  <a16:creationId xmlns:a16="http://schemas.microsoft.com/office/drawing/2014/main" id="{B0AFD050-1EC2-4D0B-AE96-642B41DF612C}"/>
                </a:ext>
              </a:extLst>
            </p:cNvPr>
            <p:cNvSpPr>
              <a:spLocks noChangeArrowheads="1"/>
            </p:cNvSpPr>
            <p:nvPr/>
          </p:nvSpPr>
          <p:spPr bwMode="auto">
            <a:xfrm>
              <a:off x="1606541" y="6272213"/>
              <a:ext cx="485775"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36000" bIns="0"/>
            <a:lstStyle/>
            <a:p>
              <a:pPr eaLnBrk="0" hangingPunct="0">
                <a:lnSpc>
                  <a:spcPct val="112000"/>
                </a:lnSpc>
                <a:spcBef>
                  <a:spcPct val="0"/>
                </a:spcBef>
              </a:pPr>
              <a:r>
                <a:rPr kumimoji="0" lang="en-US" altLang="zh-CN" sz="1600" b="1" dirty="0">
                  <a:solidFill>
                    <a:srgbClr val="0000FF"/>
                  </a:solidFill>
                  <a:latin typeface="Consolas" pitchFamily="49" charset="0"/>
                  <a:ea typeface="楷体" pitchFamily="49" charset="-122"/>
                  <a:cs typeface="Consolas" pitchFamily="49" charset="0"/>
                </a:rPr>
                <a:t>5</a:t>
              </a:r>
            </a:p>
          </p:txBody>
        </p:sp>
        <p:sp>
          <p:nvSpPr>
            <p:cNvPr id="54" name="Rectangle 99">
              <a:extLst>
                <a:ext uri="{FF2B5EF4-FFF2-40B4-BE49-F238E27FC236}">
                  <a16:creationId xmlns:a16="http://schemas.microsoft.com/office/drawing/2014/main" id="{DD514544-8BCC-4CBA-A1F6-DADA8E1AD142}"/>
                </a:ext>
              </a:extLst>
            </p:cNvPr>
            <p:cNvSpPr>
              <a:spLocks noChangeArrowheads="1"/>
            </p:cNvSpPr>
            <p:nvPr/>
          </p:nvSpPr>
          <p:spPr bwMode="auto">
            <a:xfrm>
              <a:off x="2068504" y="6272213"/>
              <a:ext cx="790575"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36000" bIns="0"/>
            <a:lstStyle/>
            <a:p>
              <a:pPr eaLnBrk="0" hangingPunct="0">
                <a:lnSpc>
                  <a:spcPct val="112000"/>
                </a:lnSpc>
                <a:spcBef>
                  <a:spcPct val="0"/>
                </a:spcBef>
              </a:pPr>
              <a:r>
                <a:rPr kumimoji="0" lang="zh-CN" altLang="en-US" sz="1600" b="1" dirty="0">
                  <a:solidFill>
                    <a:srgbClr val="0000FF"/>
                  </a:solidFill>
                  <a:latin typeface="Consolas" pitchFamily="49" charset="0"/>
                  <a:ea typeface="楷体" pitchFamily="49" charset="-122"/>
                  <a:cs typeface="Consolas" pitchFamily="49" charset="0"/>
                </a:rPr>
                <a:t>王萍</a:t>
              </a:r>
            </a:p>
          </p:txBody>
        </p:sp>
        <p:sp>
          <p:nvSpPr>
            <p:cNvPr id="55" name="Rectangle 100">
              <a:extLst>
                <a:ext uri="{FF2B5EF4-FFF2-40B4-BE49-F238E27FC236}">
                  <a16:creationId xmlns:a16="http://schemas.microsoft.com/office/drawing/2014/main" id="{826D6147-7974-4999-89DD-7EA3FADFF282}"/>
                </a:ext>
              </a:extLst>
            </p:cNvPr>
            <p:cNvSpPr>
              <a:spLocks noChangeArrowheads="1"/>
            </p:cNvSpPr>
            <p:nvPr/>
          </p:nvSpPr>
          <p:spPr bwMode="auto">
            <a:xfrm>
              <a:off x="2830504" y="6272213"/>
              <a:ext cx="457200"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36000" bIns="0"/>
            <a:lstStyle/>
            <a:p>
              <a:pP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女</a:t>
              </a:r>
            </a:p>
          </p:txBody>
        </p:sp>
        <p:sp>
          <p:nvSpPr>
            <p:cNvPr id="56" name="Rectangle 101">
              <a:extLst>
                <a:ext uri="{FF2B5EF4-FFF2-40B4-BE49-F238E27FC236}">
                  <a16:creationId xmlns:a16="http://schemas.microsoft.com/office/drawing/2014/main" id="{CE86B88F-686B-46E1-9C2B-BB0918254F96}"/>
                </a:ext>
              </a:extLst>
            </p:cNvPr>
            <p:cNvSpPr>
              <a:spLocks noChangeArrowheads="1"/>
            </p:cNvSpPr>
            <p:nvPr/>
          </p:nvSpPr>
          <p:spPr bwMode="auto">
            <a:xfrm>
              <a:off x="3259129" y="6272213"/>
              <a:ext cx="863600"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36000" bIns="0"/>
            <a:lstStyle/>
            <a:p>
              <a:pPr eaLnBrk="0" hangingPunct="0">
                <a:lnSpc>
                  <a:spcPct val="112000"/>
                </a:lnSpc>
                <a:spcBef>
                  <a:spcPct val="0"/>
                </a:spcBef>
              </a:pPr>
              <a:r>
                <a:rPr kumimoji="0" lang="en-US" altLang="zh-CN" sz="1600" b="1">
                  <a:solidFill>
                    <a:srgbClr val="0000FF"/>
                  </a:solidFill>
                  <a:latin typeface="Consolas" pitchFamily="49" charset="0"/>
                  <a:ea typeface="楷体" pitchFamily="49" charset="-122"/>
                  <a:cs typeface="Consolas" pitchFamily="49" charset="0"/>
                </a:rPr>
                <a:t>9901</a:t>
              </a:r>
            </a:p>
          </p:txBody>
        </p:sp>
        <p:sp>
          <p:nvSpPr>
            <p:cNvPr id="57" name="Rectangle 102">
              <a:extLst>
                <a:ext uri="{FF2B5EF4-FFF2-40B4-BE49-F238E27FC236}">
                  <a16:creationId xmlns:a16="http://schemas.microsoft.com/office/drawing/2014/main" id="{FA3DFDE6-33C1-4FCB-8049-23642CB1DEFE}"/>
                </a:ext>
              </a:extLst>
            </p:cNvPr>
            <p:cNvSpPr>
              <a:spLocks noChangeArrowheads="1"/>
            </p:cNvSpPr>
            <p:nvPr/>
          </p:nvSpPr>
          <p:spPr bwMode="auto">
            <a:xfrm>
              <a:off x="4095741" y="6272213"/>
              <a:ext cx="485775" cy="39687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tIns="36000" bIns="0"/>
            <a:lstStyle/>
            <a:p>
              <a:pPr eaLnBrk="0" hangingPunct="0">
                <a:lnSpc>
                  <a:spcPct val="100000"/>
                </a:lnSpc>
                <a:spcBef>
                  <a:spcPct val="0"/>
                </a:spcBef>
              </a:pPr>
              <a:r>
                <a:rPr kumimoji="0" lang="en-US" altLang="zh-CN" sz="1600" b="1">
                  <a:solidFill>
                    <a:srgbClr val="0000FF"/>
                  </a:solidFill>
                  <a:latin typeface="Consolas" pitchFamily="49" charset="0"/>
                  <a:ea typeface="楷体" pitchFamily="49" charset="-122"/>
                  <a:cs typeface="Consolas" pitchFamily="49" charset="0"/>
                </a:rPr>
                <a:t>∧</a:t>
              </a:r>
            </a:p>
          </p:txBody>
        </p:sp>
        <p:sp>
          <p:nvSpPr>
            <p:cNvPr id="58" name="Line 107">
              <a:extLst>
                <a:ext uri="{FF2B5EF4-FFF2-40B4-BE49-F238E27FC236}">
                  <a16:creationId xmlns:a16="http://schemas.microsoft.com/office/drawing/2014/main" id="{AAA9A3AE-3CA3-4E88-B8DD-A1DD5EB77FA1}"/>
                </a:ext>
              </a:extLst>
            </p:cNvPr>
            <p:cNvSpPr>
              <a:spLocks noChangeShapeType="1"/>
            </p:cNvSpPr>
            <p:nvPr/>
          </p:nvSpPr>
          <p:spPr bwMode="auto">
            <a:xfrm>
              <a:off x="4298940" y="5891213"/>
              <a:ext cx="0" cy="381000"/>
            </a:xfrm>
            <a:prstGeom prst="line">
              <a:avLst/>
            </a:prstGeom>
            <a:noFill/>
            <a:ln w="28575">
              <a:solidFill>
                <a:srgbClr val="339933"/>
              </a:solidFill>
              <a:miter lim="800000"/>
              <a:headEnd/>
              <a:tailEnd type="triangle" w="med" len="med"/>
            </a:ln>
            <a:effectLst/>
          </p:spPr>
          <p:txBody>
            <a:bodyPr wrap="none"/>
            <a:lstStyle/>
            <a:p>
              <a:endParaRPr lang="zh-CN" altLang="en-US" sz="1800">
                <a:solidFill>
                  <a:srgbClr val="0000FF"/>
                </a:solidFill>
                <a:latin typeface="Consolas" pitchFamily="49" charset="0"/>
                <a:cs typeface="Consolas" pitchFamily="49" charset="0"/>
              </a:endParaRPr>
            </a:p>
          </p:txBody>
        </p:sp>
      </p:grpSp>
      <p:graphicFrame>
        <p:nvGraphicFramePr>
          <p:cNvPr id="59" name="Group 60">
            <a:extLst>
              <a:ext uri="{FF2B5EF4-FFF2-40B4-BE49-F238E27FC236}">
                <a16:creationId xmlns:a16="http://schemas.microsoft.com/office/drawing/2014/main" id="{31C88376-F69A-4DE0-87DA-A8F4F7496487}"/>
              </a:ext>
            </a:extLst>
          </p:cNvPr>
          <p:cNvGraphicFramePr>
            <a:graphicFrameLocks noGrp="1"/>
          </p:cNvGraphicFramePr>
          <p:nvPr>
            <p:extLst>
              <p:ext uri="{D42A27DB-BD31-4B8C-83A1-F6EECF244321}">
                <p14:modId xmlns:p14="http://schemas.microsoft.com/office/powerpoint/2010/main" val="3123108393"/>
              </p:ext>
            </p:extLst>
          </p:nvPr>
        </p:nvGraphicFramePr>
        <p:xfrm>
          <a:off x="2087562" y="565825"/>
          <a:ext cx="4968875" cy="2926080"/>
        </p:xfrm>
        <a:graphic>
          <a:graphicData uri="http://schemas.openxmlformats.org/drawingml/2006/table">
            <a:tbl>
              <a:tblPr>
                <a:tableStyleId>{3C2FFA5D-87B4-456A-9821-1D502468CF0F}</a:tableStyleId>
              </a:tblPr>
              <a:tblGrid>
                <a:gridCol w="981075">
                  <a:extLst>
                    <a:ext uri="{9D8B030D-6E8A-4147-A177-3AD203B41FA5}">
                      <a16:colId xmlns:a16="http://schemas.microsoft.com/office/drawing/2014/main" val="20000"/>
                    </a:ext>
                  </a:extLst>
                </a:gridCol>
                <a:gridCol w="1468438">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1511300">
                  <a:extLst>
                    <a:ext uri="{9D8B030D-6E8A-4147-A177-3AD203B41FA5}">
                      <a16:colId xmlns:a16="http://schemas.microsoft.com/office/drawing/2014/main" val="20003"/>
                    </a:ext>
                  </a:extLst>
                </a:gridCol>
              </a:tblGrid>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FF0000"/>
                          </a:solidFill>
                          <a:effectLst/>
                          <a:latin typeface="Consolas" pitchFamily="49" charset="0"/>
                          <a:ea typeface="仿宋" pitchFamily="49" charset="-122"/>
                          <a:cs typeface="Consolas" pitchFamily="49" charset="0"/>
                        </a:rPr>
                        <a:t>学号</a:t>
                      </a:r>
                      <a:endParaRPr kumimoji="0" lang="zh-CN" altLang="en-US" sz="18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FF0000"/>
                          </a:solidFill>
                          <a:effectLst/>
                          <a:latin typeface="Consolas" pitchFamily="49" charset="0"/>
                          <a:ea typeface="仿宋" pitchFamily="49" charset="-122"/>
                          <a:cs typeface="Consolas" pitchFamily="49" charset="0"/>
                        </a:rPr>
                        <a:t>姓名</a:t>
                      </a:r>
                      <a:endParaRPr kumimoji="0" lang="zh-CN" altLang="en-US" sz="18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FF0000"/>
                          </a:solidFill>
                          <a:effectLst/>
                          <a:latin typeface="Consolas" pitchFamily="49" charset="0"/>
                          <a:ea typeface="仿宋" pitchFamily="49" charset="-122"/>
                          <a:cs typeface="Consolas" pitchFamily="49" charset="0"/>
                        </a:rPr>
                        <a:t>性别</a:t>
                      </a:r>
                      <a:endParaRPr kumimoji="0" lang="zh-CN" altLang="en-US" sz="18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FF0000"/>
                          </a:solidFill>
                          <a:effectLst/>
                          <a:latin typeface="Consolas" pitchFamily="49" charset="0"/>
                          <a:ea typeface="仿宋" pitchFamily="49" charset="-122"/>
                          <a:cs typeface="Consolas" pitchFamily="49" charset="0"/>
                        </a:rPr>
                        <a:t>班号</a:t>
                      </a:r>
                      <a:endParaRPr kumimoji="0" lang="zh-CN" altLang="en-US" sz="18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张斌</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8</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刘丽</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9902</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34</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李英</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20</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陈华</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extLst>
                  <a:ext uri="{0D108BD9-81ED-4DB2-BD59-A6C34878D82A}">
                    <a16:rowId xmlns:a16="http://schemas.microsoft.com/office/drawing/2014/main" val="10004"/>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12</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a:ln>
                            <a:noFill/>
                          </a:ln>
                          <a:solidFill>
                            <a:srgbClr val="0000FF"/>
                          </a:solidFill>
                          <a:effectLst/>
                          <a:latin typeface="Consolas" pitchFamily="49" charset="0"/>
                          <a:ea typeface="仿宋" pitchFamily="49" charset="-122"/>
                          <a:cs typeface="Consolas" pitchFamily="49" charset="0"/>
                        </a:rPr>
                        <a:t>王奇</a:t>
                      </a:r>
                      <a:endParaRPr kumimoji="0" lang="zh-CN" altLang="en-US"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extLst>
                  <a:ext uri="{0D108BD9-81ED-4DB2-BD59-A6C34878D82A}">
                    <a16:rowId xmlns:a16="http://schemas.microsoft.com/office/drawing/2014/main" val="10005"/>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26</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a:ln>
                            <a:noFill/>
                          </a:ln>
                          <a:solidFill>
                            <a:srgbClr val="0000FF"/>
                          </a:solidFill>
                          <a:effectLst/>
                          <a:latin typeface="Consolas" pitchFamily="49" charset="0"/>
                          <a:ea typeface="仿宋" pitchFamily="49" charset="-122"/>
                          <a:cs typeface="Consolas" pitchFamily="49" charset="0"/>
                        </a:rPr>
                        <a:t>董强</a:t>
                      </a:r>
                      <a:endParaRPr kumimoji="0" lang="zh-CN" altLang="en-US"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extLst>
                  <a:ext uri="{0D108BD9-81ED-4DB2-BD59-A6C34878D82A}">
                    <a16:rowId xmlns:a16="http://schemas.microsoft.com/office/drawing/2014/main" val="10006"/>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en-US" altLang="zh-CN"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a:ln>
                            <a:noFill/>
                          </a:ln>
                          <a:solidFill>
                            <a:srgbClr val="0000FF"/>
                          </a:solidFill>
                          <a:effectLst/>
                          <a:latin typeface="Consolas" pitchFamily="49" charset="0"/>
                          <a:ea typeface="仿宋" pitchFamily="49" charset="-122"/>
                          <a:cs typeface="Consolas" pitchFamily="49" charset="0"/>
                        </a:rPr>
                        <a:t>王萍</a:t>
                      </a:r>
                      <a:endParaRPr kumimoji="0" lang="zh-CN" altLang="en-US"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u="none" strike="noStrike" cap="none" normalizeH="0" baseline="0">
                          <a:ln>
                            <a:noFill/>
                          </a:ln>
                          <a:solidFill>
                            <a:srgbClr val="0000FF"/>
                          </a:solidFill>
                          <a:effectLst/>
                          <a:latin typeface="Consolas" pitchFamily="49" charset="0"/>
                          <a:ea typeface="仿宋" pitchFamily="49" charset="-122"/>
                          <a:cs typeface="Consolas" pitchFamily="49" charset="0"/>
                        </a:rPr>
                        <a:t>女</a:t>
                      </a:r>
                      <a:endParaRPr kumimoji="0" lang="zh-CN" altLang="en-US" sz="18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8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solidFill>
                      <a:schemeClr val="bg1">
                        <a:lumMod val="95000"/>
                      </a:schemeClr>
                    </a:solidFill>
                  </a:tcPr>
                </a:tc>
                <a:extLst>
                  <a:ext uri="{0D108BD9-81ED-4DB2-BD59-A6C34878D82A}">
                    <a16:rowId xmlns:a16="http://schemas.microsoft.com/office/drawing/2014/main" val="10007"/>
                  </a:ext>
                </a:extLst>
              </a:tr>
            </a:tbl>
          </a:graphicData>
        </a:graphic>
      </p:graphicFrame>
      <p:grpSp>
        <p:nvGrpSpPr>
          <p:cNvPr id="60" name="组合 47">
            <a:extLst>
              <a:ext uri="{FF2B5EF4-FFF2-40B4-BE49-F238E27FC236}">
                <a16:creationId xmlns:a16="http://schemas.microsoft.com/office/drawing/2014/main" id="{2370F4A1-6BC9-4681-AE78-649D8340BCE2}"/>
              </a:ext>
            </a:extLst>
          </p:cNvPr>
          <p:cNvGrpSpPr/>
          <p:nvPr/>
        </p:nvGrpSpPr>
        <p:grpSpPr>
          <a:xfrm>
            <a:off x="5391876" y="4449483"/>
            <a:ext cx="568331" cy="970333"/>
            <a:chOff x="4018662" y="4767261"/>
            <a:chExt cx="568331" cy="970333"/>
          </a:xfrm>
        </p:grpSpPr>
        <p:sp>
          <p:nvSpPr>
            <p:cNvPr id="61" name="Line 103">
              <a:extLst>
                <a:ext uri="{FF2B5EF4-FFF2-40B4-BE49-F238E27FC236}">
                  <a16:creationId xmlns:a16="http://schemas.microsoft.com/office/drawing/2014/main" id="{6B145495-5A7F-4A5B-9760-873FB091EDFD}"/>
                </a:ext>
              </a:extLst>
            </p:cNvPr>
            <p:cNvSpPr>
              <a:spLocks noChangeShapeType="1"/>
            </p:cNvSpPr>
            <p:nvPr/>
          </p:nvSpPr>
          <p:spPr bwMode="auto">
            <a:xfrm>
              <a:off x="4311640" y="4767261"/>
              <a:ext cx="0" cy="533400"/>
            </a:xfrm>
            <a:prstGeom prst="line">
              <a:avLst/>
            </a:prstGeom>
            <a:noFill/>
            <a:ln w="28575">
              <a:solidFill>
                <a:srgbClr val="339933"/>
              </a:solidFill>
              <a:miter lim="800000"/>
              <a:headEnd/>
              <a:tailEnd type="triangle" w="med" len="med"/>
            </a:ln>
            <a:effectLst/>
          </p:spPr>
          <p:txBody>
            <a:bodyPr wrap="none"/>
            <a:lstStyle/>
            <a:p>
              <a:endParaRPr lang="zh-CN" altLang="en-US" sz="1800">
                <a:latin typeface="Consolas" pitchFamily="49" charset="0"/>
                <a:cs typeface="Consolas" pitchFamily="49" charset="0"/>
              </a:endParaRPr>
            </a:p>
          </p:txBody>
        </p:sp>
        <p:sp>
          <p:nvSpPr>
            <p:cNvPr id="62" name="Text Box 61">
              <a:extLst>
                <a:ext uri="{FF2B5EF4-FFF2-40B4-BE49-F238E27FC236}">
                  <a16:creationId xmlns:a16="http://schemas.microsoft.com/office/drawing/2014/main" id="{19035022-3126-4BDF-A995-E1B9CF50C1C6}"/>
                </a:ext>
              </a:extLst>
            </p:cNvPr>
            <p:cNvSpPr txBox="1">
              <a:spLocks noChangeArrowheads="1"/>
            </p:cNvSpPr>
            <p:nvPr/>
          </p:nvSpPr>
          <p:spPr bwMode="auto">
            <a:xfrm>
              <a:off x="4018662" y="5439075"/>
              <a:ext cx="568331" cy="298519"/>
            </a:xfrm>
            <a:prstGeom prst="rect">
              <a:avLst/>
            </a:prstGeom>
            <a:noFill/>
            <a:ln w="57150" algn="ctr">
              <a:noFill/>
              <a:miter lim="800000"/>
              <a:headEnd/>
              <a:tailEnd type="none" w="lg" len="lg"/>
            </a:ln>
            <a:effectLst/>
          </p:spPr>
          <p:txBody>
            <a:bodyPr wrap="square" tIns="76176" bIns="0">
              <a:spAutoFit/>
            </a:bodyPr>
            <a:lstStyle/>
            <a:p>
              <a:pPr marL="457200" indent="-457200"/>
              <a:r>
                <a:rPr lang="en-US" altLang="zh-CN" sz="1800" dirty="0">
                  <a:solidFill>
                    <a:srgbClr val="3333CC"/>
                  </a:solidFill>
                  <a:latin typeface="Consolas" pitchFamily="49" charset="0"/>
                  <a:ea typeface="宋体" charset="-122"/>
                  <a:cs typeface="Consolas" pitchFamily="49" charset="0"/>
                </a:rPr>
                <a:t>┇</a:t>
              </a:r>
            </a:p>
          </p:txBody>
        </p:sp>
      </p:grpSp>
      <p:sp>
        <p:nvSpPr>
          <p:cNvPr id="63" name="TextBox 31">
            <a:extLst>
              <a:ext uri="{FF2B5EF4-FFF2-40B4-BE49-F238E27FC236}">
                <a16:creationId xmlns:a16="http://schemas.microsoft.com/office/drawing/2014/main" id="{F47E246B-5A5A-45AB-B71B-932EB46A1AC8}"/>
              </a:ext>
            </a:extLst>
          </p:cNvPr>
          <p:cNvSpPr txBox="1"/>
          <p:nvPr/>
        </p:nvSpPr>
        <p:spPr>
          <a:xfrm>
            <a:off x="3452813" y="-5680"/>
            <a:ext cx="2824646" cy="526170"/>
          </a:xfrm>
          <a:prstGeom prst="rect">
            <a:avLst/>
          </a:prstGeom>
          <a:noFill/>
        </p:spPr>
        <p:txBody>
          <a:bodyPr wrap="square" rtlCol="0">
            <a:spAutoFit/>
          </a:bodyPr>
          <a:lstStyle/>
          <a:p>
            <a:pPr>
              <a:lnSpc>
                <a:spcPct val="130000"/>
              </a:lnSpc>
            </a:pPr>
            <a:r>
              <a:rPr lang="zh-CN" altLang="en-US" b="1" dirty="0">
                <a:solidFill>
                  <a:srgbClr val="0000FF"/>
                </a:solidFill>
                <a:latin typeface="Consolas" pitchFamily="49" charset="0"/>
                <a:ea typeface="楷体" pitchFamily="49" charset="-122"/>
                <a:cs typeface="Consolas" pitchFamily="49" charset="0"/>
              </a:rPr>
              <a:t>学生表的逻辑结构</a:t>
            </a:r>
          </a:p>
        </p:txBody>
      </p:sp>
      <p:sp>
        <p:nvSpPr>
          <p:cNvPr id="64" name="TextBox 34">
            <a:extLst>
              <a:ext uri="{FF2B5EF4-FFF2-40B4-BE49-F238E27FC236}">
                <a16:creationId xmlns:a16="http://schemas.microsoft.com/office/drawing/2014/main" id="{DB8CF8E7-BE47-4E99-ACB8-F6EA0DAB60E7}"/>
              </a:ext>
            </a:extLst>
          </p:cNvPr>
          <p:cNvSpPr txBox="1"/>
          <p:nvPr/>
        </p:nvSpPr>
        <p:spPr>
          <a:xfrm>
            <a:off x="6455162" y="3754164"/>
            <a:ext cx="492443" cy="2357454"/>
          </a:xfrm>
          <a:prstGeom prst="rect">
            <a:avLst/>
          </a:prstGeom>
          <a:noFill/>
        </p:spPr>
        <p:txBody>
          <a:bodyPr vert="eaVert" wrap="square" rtlCol="0">
            <a:spAutoFit/>
          </a:bodyPr>
          <a:lstStyle/>
          <a:p>
            <a:pPr>
              <a:lnSpc>
                <a:spcPct val="100000"/>
              </a:lnSpc>
            </a:pPr>
            <a:r>
              <a:rPr lang="zh-CN" altLang="en-US" sz="2000" dirty="0">
                <a:solidFill>
                  <a:srgbClr val="0000FF"/>
                </a:solidFill>
                <a:latin typeface="Consolas" pitchFamily="49" charset="0"/>
                <a:ea typeface="楷体" pitchFamily="49" charset="-122"/>
                <a:cs typeface="Consolas" pitchFamily="49" charset="0"/>
              </a:rPr>
              <a:t>存储结构建立完毕</a:t>
            </a:r>
            <a:endParaRPr lang="zh-CN" altLang="en-US" sz="2000" dirty="0">
              <a:solidFill>
                <a:srgbClr val="0000FF"/>
              </a:solidFill>
              <a:latin typeface="Consolas" pitchFamily="49" charset="0"/>
              <a:cs typeface="Consolas" pitchFamily="49" charset="0"/>
            </a:endParaRPr>
          </a:p>
        </p:txBody>
      </p:sp>
      <p:cxnSp>
        <p:nvCxnSpPr>
          <p:cNvPr id="65" name="直接箭头连接符 64">
            <a:extLst>
              <a:ext uri="{FF2B5EF4-FFF2-40B4-BE49-F238E27FC236}">
                <a16:creationId xmlns:a16="http://schemas.microsoft.com/office/drawing/2014/main" id="{D47E1D1F-06C4-461D-8DBF-A2E5AF44CE54}"/>
              </a:ext>
            </a:extLst>
          </p:cNvPr>
          <p:cNvCxnSpPr>
            <a:cxnSpLocks/>
          </p:cNvCxnSpPr>
          <p:nvPr/>
        </p:nvCxnSpPr>
        <p:spPr>
          <a:xfrm>
            <a:off x="2623167" y="1239016"/>
            <a:ext cx="604235" cy="2448470"/>
          </a:xfrm>
          <a:prstGeom prst="straightConnector1">
            <a:avLst/>
          </a:prstGeom>
          <a:ln w="2222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670D91B6-377E-49BC-837F-F89BE4E7D1BD}"/>
              </a:ext>
            </a:extLst>
          </p:cNvPr>
          <p:cNvCxnSpPr>
            <a:cxnSpLocks/>
          </p:cNvCxnSpPr>
          <p:nvPr/>
        </p:nvCxnSpPr>
        <p:spPr>
          <a:xfrm>
            <a:off x="2612054" y="1649121"/>
            <a:ext cx="604236" cy="2647965"/>
          </a:xfrm>
          <a:prstGeom prst="straightConnector1">
            <a:avLst/>
          </a:prstGeom>
          <a:ln w="2222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F4A3F19C-036E-4DD5-ABFC-6606A5A4C528}"/>
              </a:ext>
            </a:extLst>
          </p:cNvPr>
          <p:cNvCxnSpPr>
            <a:cxnSpLocks/>
          </p:cNvCxnSpPr>
          <p:nvPr/>
        </p:nvCxnSpPr>
        <p:spPr>
          <a:xfrm>
            <a:off x="2554292" y="3409740"/>
            <a:ext cx="668351" cy="2544694"/>
          </a:xfrm>
          <a:prstGeom prst="straightConnector1">
            <a:avLst/>
          </a:prstGeom>
          <a:ln w="22225">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9337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xit" presetSubtype="4" fill="hold" nodeType="clickEffect">
                                  <p:stCondLst>
                                    <p:cond delay="0"/>
                                  </p:stCondLst>
                                  <p:childTnLst>
                                    <p:animEffect transition="out" filter="wipe(down)">
                                      <p:cBhvr>
                                        <p:cTn id="13" dur="500"/>
                                        <p:tgtEl>
                                          <p:spTgt spid="65"/>
                                        </p:tgtEl>
                                      </p:cBhvr>
                                    </p:animEffect>
                                    <p:set>
                                      <p:cBhvr>
                                        <p:cTn id="14" dur="1" fill="hold">
                                          <p:stCondLst>
                                            <p:cond delay="499"/>
                                          </p:stCondLst>
                                        </p:cTn>
                                        <p:tgtEl>
                                          <p:spTgt spid="6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4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xit" presetSubtype="4" fill="hold" nodeType="clickEffect">
                                  <p:stCondLst>
                                    <p:cond delay="0"/>
                                  </p:stCondLst>
                                  <p:childTnLst>
                                    <p:animEffect transition="out" filter="wipe(down)">
                                      <p:cBhvr>
                                        <p:cTn id="25" dur="500"/>
                                        <p:tgtEl>
                                          <p:spTgt spid="66"/>
                                        </p:tgtEl>
                                      </p:cBhvr>
                                    </p:animEffect>
                                    <p:set>
                                      <p:cBhvr>
                                        <p:cTn id="26" dur="1" fill="hold">
                                          <p:stCondLst>
                                            <p:cond delay="499"/>
                                          </p:stCondLst>
                                        </p:cTn>
                                        <p:tgtEl>
                                          <p:spTgt spid="6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7"/>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5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nodeType="clickEffect">
                                  <p:stCondLst>
                                    <p:cond delay="0"/>
                                  </p:stCondLst>
                                  <p:childTnLst>
                                    <p:animEffect transition="out" filter="wipe(down)">
                                      <p:cBhvr>
                                        <p:cTn id="41" dur="500"/>
                                        <p:tgtEl>
                                          <p:spTgt spid="67"/>
                                        </p:tgtEl>
                                      </p:cBhvr>
                                    </p:animEffect>
                                    <p:set>
                                      <p:cBhvr>
                                        <p:cTn id="42" dur="1" fill="hold">
                                          <p:stCondLst>
                                            <p:cond delay="499"/>
                                          </p:stCondLst>
                                        </p:cTn>
                                        <p:tgtEl>
                                          <p:spTgt spid="6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3227" y="753133"/>
            <a:ext cx="9120773" cy="795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266700" algn="l" defTabSz="914400" rtl="0" eaLnBrk="0" fontAlgn="base" latinLnBrk="0" hangingPunct="0">
              <a:lnSpc>
                <a:spcPct val="12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（3）</a:t>
            </a:r>
            <a:r>
              <a:rPr kumimoji="0" lang="zh-CN" altLang="zh-CN" sz="2000" b="0" i="0" u="none" strike="noStrike" cap="none" normalizeH="0" baseline="0" dirty="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索引(Index)存储方法</a:t>
            </a:r>
            <a:r>
              <a:rPr kumimoji="0" lang="zh-CN" altLang="zh-CN" sz="20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：按关键字段建立索引表，用结点的索引号来确定结点的存储地址，而把每个结点的元素数据按一定规律顺序存放在存储单元中。</a:t>
            </a:r>
            <a:endParaRPr kumimoji="0" lang="zh-CN"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3" name="Group 60">
            <a:extLst>
              <a:ext uri="{FF2B5EF4-FFF2-40B4-BE49-F238E27FC236}">
                <a16:creationId xmlns:a16="http://schemas.microsoft.com/office/drawing/2014/main" id="{C4FF282C-821A-4710-B36C-0B938CDF2E93}"/>
              </a:ext>
            </a:extLst>
          </p:cNvPr>
          <p:cNvGraphicFramePr>
            <a:graphicFrameLocks noGrp="1"/>
          </p:cNvGraphicFramePr>
          <p:nvPr>
            <p:extLst>
              <p:ext uri="{D42A27DB-BD31-4B8C-83A1-F6EECF244321}">
                <p14:modId xmlns:p14="http://schemas.microsoft.com/office/powerpoint/2010/main" val="3539363559"/>
              </p:ext>
            </p:extLst>
          </p:nvPr>
        </p:nvGraphicFramePr>
        <p:xfrm>
          <a:off x="340870" y="2153296"/>
          <a:ext cx="3000396" cy="2688273"/>
        </p:xfrm>
        <a:graphic>
          <a:graphicData uri="http://schemas.openxmlformats.org/drawingml/2006/table">
            <a:tbl>
              <a:tblPr>
                <a:tableStyleId>{35758FB7-9AC5-4552-8A53-C91805E547FA}</a:tableStyleId>
              </a:tblPr>
              <a:tblGrid>
                <a:gridCol w="714380">
                  <a:extLst>
                    <a:ext uri="{9D8B030D-6E8A-4147-A177-3AD203B41FA5}">
                      <a16:colId xmlns:a16="http://schemas.microsoft.com/office/drawing/2014/main" val="20000"/>
                    </a:ext>
                  </a:extLst>
                </a:gridCol>
                <a:gridCol w="785818">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857256">
                  <a:extLst>
                    <a:ext uri="{9D8B030D-6E8A-4147-A177-3AD203B41FA5}">
                      <a16:colId xmlns:a16="http://schemas.microsoft.com/office/drawing/2014/main" val="20003"/>
                    </a:ext>
                  </a:extLst>
                </a:gridCol>
              </a:tblGrid>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学号</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姓名</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性别</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班号</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张斌</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8</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刘丽</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34</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李英</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20</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陈华</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4"/>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12</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王奇</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5"/>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26</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董强</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6"/>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王萍</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7"/>
                  </a:ext>
                </a:extLst>
              </a:tr>
            </a:tbl>
          </a:graphicData>
        </a:graphic>
      </p:graphicFrame>
      <p:graphicFrame>
        <p:nvGraphicFramePr>
          <p:cNvPr id="4" name="Group 60">
            <a:extLst>
              <a:ext uri="{FF2B5EF4-FFF2-40B4-BE49-F238E27FC236}">
                <a16:creationId xmlns:a16="http://schemas.microsoft.com/office/drawing/2014/main" id="{EF668762-00BE-4961-889C-9E5A299B75D5}"/>
              </a:ext>
            </a:extLst>
          </p:cNvPr>
          <p:cNvGraphicFramePr>
            <a:graphicFrameLocks noGrp="1"/>
          </p:cNvGraphicFramePr>
          <p:nvPr>
            <p:extLst>
              <p:ext uri="{D42A27DB-BD31-4B8C-83A1-F6EECF244321}">
                <p14:modId xmlns:p14="http://schemas.microsoft.com/office/powerpoint/2010/main" val="1777984578"/>
              </p:ext>
            </p:extLst>
          </p:nvPr>
        </p:nvGraphicFramePr>
        <p:xfrm>
          <a:off x="7039270" y="2411663"/>
          <a:ext cx="1928826" cy="2980881"/>
        </p:xfrm>
        <a:graphic>
          <a:graphicData uri="http://schemas.openxmlformats.org/drawingml/2006/table">
            <a:tbl>
              <a:tblPr>
                <a:tableStyleId>{775DCB02-9BB8-47FD-8907-85C794F793BA}</a:tableStyleId>
              </a:tblPr>
              <a:tblGrid>
                <a:gridCol w="1143008">
                  <a:extLst>
                    <a:ext uri="{9D8B030D-6E8A-4147-A177-3AD203B41FA5}">
                      <a16:colId xmlns:a16="http://schemas.microsoft.com/office/drawing/2014/main" val="20000"/>
                    </a:ext>
                  </a:extLst>
                </a:gridCol>
                <a:gridCol w="785818">
                  <a:extLst>
                    <a:ext uri="{9D8B030D-6E8A-4147-A177-3AD203B41FA5}">
                      <a16:colId xmlns:a16="http://schemas.microsoft.com/office/drawing/2014/main" val="20001"/>
                    </a:ext>
                  </a:extLst>
                </a:gridCol>
              </a:tblGrid>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FF0000"/>
                          </a:solidFill>
                          <a:effectLst/>
                          <a:latin typeface="Consolas" pitchFamily="49" charset="0"/>
                          <a:ea typeface="仿宋" pitchFamily="49" charset="-122"/>
                          <a:cs typeface="Consolas" pitchFamily="49" charset="0"/>
                        </a:rPr>
                        <a:t>学号</a:t>
                      </a:r>
                      <a:endParaRPr kumimoji="0" lang="en-US" altLang="zh-CN" sz="1600" b="1" u="none" strike="noStrike" cap="none" normalizeH="0" baseline="0">
                        <a:ln>
                          <a:noFill/>
                        </a:ln>
                        <a:solidFill>
                          <a:srgbClr val="FF0000"/>
                        </a:solidFill>
                        <a:effectLst/>
                        <a:latin typeface="Consolas" pitchFamily="49" charset="0"/>
                        <a:ea typeface="仿宋" pitchFamily="49" charset="-122"/>
                        <a:cs typeface="Consolas" pitchFamily="49"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FF0000"/>
                          </a:solidFill>
                          <a:effectLst/>
                          <a:latin typeface="Consolas" pitchFamily="49" charset="0"/>
                          <a:ea typeface="仿宋" pitchFamily="49" charset="-122"/>
                          <a:cs typeface="Consolas" pitchFamily="49" charset="0"/>
                        </a:rPr>
                        <a:t>（关键字）</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FF0000"/>
                          </a:solidFill>
                          <a:effectLst/>
                          <a:latin typeface="Consolas" pitchFamily="49" charset="0"/>
                          <a:ea typeface="仿宋" pitchFamily="49" charset="-122"/>
                          <a:cs typeface="Consolas" pitchFamily="49" charset="0"/>
                        </a:rPr>
                        <a:t>地址</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anchor="ctr" horzOverflow="overflow"/>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0</a:t>
                      </a:r>
                      <a:endParaRPr kumimoji="0" lang="zh-CN" altLang="en-US" sz="1600" b="1" i="0" u="none" strike="noStrike" cap="none" normalizeH="0" baseline="0" dirty="0">
                        <a:ln>
                          <a:noFill/>
                        </a:ln>
                        <a:solidFill>
                          <a:srgbClr val="00B0F0"/>
                        </a:solidFill>
                        <a:effectLst/>
                        <a:latin typeface="Consolas" pitchFamily="49" charset="0"/>
                        <a:ea typeface="仿宋" pitchFamily="49" charset="-122"/>
                        <a:cs typeface="Consolas" pitchFamily="49" charset="0"/>
                      </a:endParaRPr>
                    </a:p>
                  </a:txBody>
                  <a:tcPr horzOverflow="overflow">
                    <a:solidFill>
                      <a:schemeClr val="bg1"/>
                    </a:solidFill>
                  </a:tcPr>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B0F0"/>
                          </a:solidFill>
                          <a:effectLst/>
                          <a:latin typeface="Consolas" pitchFamily="49" charset="0"/>
                          <a:ea typeface="仿宋" pitchFamily="49" charset="-122"/>
                          <a:cs typeface="Consolas" pitchFamily="49" charset="0"/>
                        </a:rPr>
                        <a:t>6</a:t>
                      </a:r>
                      <a:endParaRPr kumimoji="0" lang="zh-CN" altLang="en-US" sz="1600" b="1" i="0" u="none" strike="noStrike" cap="none" normalizeH="0" baseline="0" dirty="0">
                        <a:ln>
                          <a:noFill/>
                        </a:ln>
                        <a:solidFill>
                          <a:srgbClr val="00B0F0"/>
                        </a:solidFill>
                        <a:effectLst/>
                        <a:latin typeface="Consolas" pitchFamily="49" charset="0"/>
                        <a:ea typeface="仿宋" pitchFamily="49" charset="-122"/>
                        <a:cs typeface="Consolas" pitchFamily="49" charset="0"/>
                      </a:endParaRPr>
                    </a:p>
                  </a:txBody>
                  <a:tcPr horzOverflow="overflow">
                    <a:solidFill>
                      <a:schemeClr val="bg1"/>
                    </a:solidFill>
                  </a:tcPr>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8</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1</a:t>
                      </a:r>
                      <a:endParaRPr kumimoji="0" lang="zh-CN" altLang="en-US" sz="1600" b="1" i="0" u="none" strike="noStrike" cap="none" normalizeH="0" baseline="0" dirty="0">
                        <a:ln>
                          <a:noFill/>
                        </a:ln>
                        <a:solidFill>
                          <a:srgbClr val="00B0F0"/>
                        </a:solidFill>
                        <a:effectLst/>
                        <a:latin typeface="Consolas" pitchFamily="49" charset="0"/>
                        <a:ea typeface="仿宋" pitchFamily="49" charset="-122"/>
                        <a:cs typeface="Consolas" pitchFamily="49" charset="0"/>
                      </a:endParaRPr>
                    </a:p>
                  </a:txBody>
                  <a:tcPr horzOverflow="overflow">
                    <a:solidFill>
                      <a:schemeClr val="bg1"/>
                    </a:solidFill>
                  </a:tcPr>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12</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4</a:t>
                      </a:r>
                      <a:endParaRPr kumimoji="0" lang="zh-CN" altLang="en-US" sz="1600" b="1" i="0" u="none" strike="noStrike" cap="none" normalizeH="0" baseline="0" dirty="0">
                        <a:ln>
                          <a:noFill/>
                        </a:ln>
                        <a:solidFill>
                          <a:srgbClr val="00B0F0"/>
                        </a:solidFill>
                        <a:effectLst/>
                        <a:latin typeface="Consolas" pitchFamily="49" charset="0"/>
                        <a:ea typeface="仿宋" pitchFamily="49" charset="-122"/>
                        <a:cs typeface="Consolas" pitchFamily="49" charset="0"/>
                      </a:endParaRPr>
                    </a:p>
                  </a:txBody>
                  <a:tcPr horzOverflow="overflow">
                    <a:solidFill>
                      <a:schemeClr val="bg1"/>
                    </a:solidFill>
                  </a:tcPr>
                </a:tc>
                <a:extLst>
                  <a:ext uri="{0D108BD9-81ED-4DB2-BD59-A6C34878D82A}">
                    <a16:rowId xmlns:a16="http://schemas.microsoft.com/office/drawing/2014/main" val="10004"/>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20</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3</a:t>
                      </a:r>
                      <a:endParaRPr kumimoji="0" lang="zh-CN" altLang="en-US" sz="1600" b="1" i="0" u="none" strike="noStrike" cap="none" normalizeH="0" baseline="0" dirty="0">
                        <a:ln>
                          <a:noFill/>
                        </a:ln>
                        <a:solidFill>
                          <a:srgbClr val="00B0F0"/>
                        </a:solidFill>
                        <a:effectLst/>
                        <a:latin typeface="Consolas" pitchFamily="49" charset="0"/>
                        <a:ea typeface="仿宋" pitchFamily="49" charset="-122"/>
                        <a:cs typeface="Consolas" pitchFamily="49" charset="0"/>
                      </a:endParaRPr>
                    </a:p>
                  </a:txBody>
                  <a:tcPr horzOverflow="overflow">
                    <a:solidFill>
                      <a:schemeClr val="bg1"/>
                    </a:solidFill>
                  </a:tcPr>
                </a:tc>
                <a:extLst>
                  <a:ext uri="{0D108BD9-81ED-4DB2-BD59-A6C34878D82A}">
                    <a16:rowId xmlns:a16="http://schemas.microsoft.com/office/drawing/2014/main" val="10005"/>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26</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5</a:t>
                      </a:r>
                      <a:endParaRPr kumimoji="0" lang="zh-CN" altLang="en-US" sz="1600" b="1" i="0" u="none" strike="noStrike" cap="none" normalizeH="0" baseline="0">
                        <a:ln>
                          <a:noFill/>
                        </a:ln>
                        <a:solidFill>
                          <a:srgbClr val="00B0F0"/>
                        </a:solidFill>
                        <a:effectLst/>
                        <a:latin typeface="Consolas" pitchFamily="49" charset="0"/>
                        <a:ea typeface="仿宋" pitchFamily="49" charset="-122"/>
                        <a:cs typeface="Consolas" pitchFamily="49" charset="0"/>
                      </a:endParaRPr>
                    </a:p>
                  </a:txBody>
                  <a:tcPr horzOverflow="overflow">
                    <a:solidFill>
                      <a:schemeClr val="bg1"/>
                    </a:solidFill>
                  </a:tcPr>
                </a:tc>
                <a:extLst>
                  <a:ext uri="{0D108BD9-81ED-4DB2-BD59-A6C34878D82A}">
                    <a16:rowId xmlns:a16="http://schemas.microsoft.com/office/drawing/2014/main" val="10006"/>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34</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B0F0"/>
                          </a:solidFill>
                          <a:effectLst/>
                          <a:latin typeface="Consolas" pitchFamily="49" charset="0"/>
                          <a:ea typeface="仿宋" pitchFamily="49" charset="-122"/>
                          <a:cs typeface="Consolas" pitchFamily="49" charset="0"/>
                        </a:rPr>
                        <a:t>2</a:t>
                      </a:r>
                      <a:endParaRPr kumimoji="0" lang="zh-CN" altLang="en-US" sz="1600" b="1" i="0" u="none" strike="noStrike" cap="none" normalizeH="0" baseline="0" dirty="0">
                        <a:ln>
                          <a:noFill/>
                        </a:ln>
                        <a:solidFill>
                          <a:srgbClr val="00B0F0"/>
                        </a:solidFill>
                        <a:effectLst/>
                        <a:latin typeface="Consolas" pitchFamily="49" charset="0"/>
                        <a:ea typeface="仿宋" pitchFamily="49" charset="-122"/>
                        <a:cs typeface="Consolas" pitchFamily="49" charset="0"/>
                      </a:endParaRPr>
                    </a:p>
                  </a:txBody>
                  <a:tcPr horzOverflow="overflow">
                    <a:solidFill>
                      <a:schemeClr val="bg1"/>
                    </a:solidFill>
                  </a:tcPr>
                </a:tc>
                <a:extLst>
                  <a:ext uri="{0D108BD9-81ED-4DB2-BD59-A6C34878D82A}">
                    <a16:rowId xmlns:a16="http://schemas.microsoft.com/office/drawing/2014/main" val="10007"/>
                  </a:ext>
                </a:extLst>
              </a:tr>
            </a:tbl>
          </a:graphicData>
        </a:graphic>
      </p:graphicFrame>
      <p:sp>
        <p:nvSpPr>
          <p:cNvPr id="5" name="TextBox 5">
            <a:extLst>
              <a:ext uri="{FF2B5EF4-FFF2-40B4-BE49-F238E27FC236}">
                <a16:creationId xmlns:a16="http://schemas.microsoft.com/office/drawing/2014/main" id="{0F0BA9EB-751E-46C9-B074-96826A6055C9}"/>
              </a:ext>
            </a:extLst>
          </p:cNvPr>
          <p:cNvSpPr txBox="1"/>
          <p:nvPr/>
        </p:nvSpPr>
        <p:spPr>
          <a:xfrm>
            <a:off x="4753254" y="2214885"/>
            <a:ext cx="1714512" cy="313932"/>
          </a:xfrm>
          <a:prstGeom prst="rect">
            <a:avLst/>
          </a:prstGeom>
          <a:noFill/>
        </p:spPr>
        <p:txBody>
          <a:bodyPr wrap="square" rtlCol="0">
            <a:spAutoFit/>
          </a:bodyPr>
          <a:lstStyle/>
          <a:p>
            <a:r>
              <a:rPr lang="zh-CN" altLang="en-US" sz="1800">
                <a:solidFill>
                  <a:srgbClr val="FF0000"/>
                </a:solidFill>
                <a:latin typeface="华文中宋" pitchFamily="2" charset="-122"/>
                <a:ea typeface="华文中宋" pitchFamily="2" charset="-122"/>
              </a:rPr>
              <a:t>主数据表</a:t>
            </a:r>
          </a:p>
        </p:txBody>
      </p:sp>
      <p:sp>
        <p:nvSpPr>
          <p:cNvPr id="7" name="TextBox 6">
            <a:extLst>
              <a:ext uri="{FF2B5EF4-FFF2-40B4-BE49-F238E27FC236}">
                <a16:creationId xmlns:a16="http://schemas.microsoft.com/office/drawing/2014/main" id="{AA01F22E-6557-4BF6-9CC2-9FCA2448DFE0}"/>
              </a:ext>
            </a:extLst>
          </p:cNvPr>
          <p:cNvSpPr txBox="1"/>
          <p:nvPr/>
        </p:nvSpPr>
        <p:spPr>
          <a:xfrm>
            <a:off x="823863" y="1713305"/>
            <a:ext cx="2571768" cy="417678"/>
          </a:xfrm>
          <a:prstGeom prst="rect">
            <a:avLst/>
          </a:prstGeom>
          <a:noFill/>
        </p:spPr>
        <p:txBody>
          <a:bodyPr wrap="square" rtlCol="0">
            <a:spAutoFit/>
          </a:bodyPr>
          <a:lstStyle/>
          <a:p>
            <a:pPr>
              <a:lnSpc>
                <a:spcPct val="130000"/>
              </a:lnSpc>
            </a:pPr>
            <a:r>
              <a:rPr lang="zh-CN" altLang="en-US" sz="1800" b="1" dirty="0">
                <a:solidFill>
                  <a:srgbClr val="0000FF"/>
                </a:solidFill>
                <a:latin typeface="Consolas" pitchFamily="49" charset="0"/>
                <a:ea typeface="楷体" pitchFamily="49" charset="-122"/>
                <a:cs typeface="Consolas" pitchFamily="49" charset="0"/>
              </a:rPr>
              <a:t>学生表的逻辑结构</a:t>
            </a:r>
          </a:p>
        </p:txBody>
      </p:sp>
      <p:graphicFrame>
        <p:nvGraphicFramePr>
          <p:cNvPr id="8" name="Group 60">
            <a:extLst>
              <a:ext uri="{FF2B5EF4-FFF2-40B4-BE49-F238E27FC236}">
                <a16:creationId xmlns:a16="http://schemas.microsoft.com/office/drawing/2014/main" id="{57AB200B-140A-40C0-A9F9-11B179797751}"/>
              </a:ext>
            </a:extLst>
          </p:cNvPr>
          <p:cNvGraphicFramePr>
            <a:graphicFrameLocks noGrp="1"/>
          </p:cNvGraphicFramePr>
          <p:nvPr>
            <p:extLst>
              <p:ext uri="{D42A27DB-BD31-4B8C-83A1-F6EECF244321}">
                <p14:modId xmlns:p14="http://schemas.microsoft.com/office/powerpoint/2010/main" val="3893133585"/>
              </p:ext>
            </p:extLst>
          </p:nvPr>
        </p:nvGraphicFramePr>
        <p:xfrm>
          <a:off x="3511476" y="2718378"/>
          <a:ext cx="3357584" cy="2688273"/>
        </p:xfrm>
        <a:graphic>
          <a:graphicData uri="http://schemas.openxmlformats.org/drawingml/2006/table">
            <a:tbl>
              <a:tblPr>
                <a:tableStyleId>{69C7853C-536D-4A76-A0AE-DD22124D55A5}</a:tableStyleId>
              </a:tblPr>
              <a:tblGrid>
                <a:gridCol w="645689">
                  <a:extLst>
                    <a:ext uri="{9D8B030D-6E8A-4147-A177-3AD203B41FA5}">
                      <a16:colId xmlns:a16="http://schemas.microsoft.com/office/drawing/2014/main" val="20000"/>
                    </a:ext>
                  </a:extLst>
                </a:gridCol>
                <a:gridCol w="645689">
                  <a:extLst>
                    <a:ext uri="{9D8B030D-6E8A-4147-A177-3AD203B41FA5}">
                      <a16:colId xmlns:a16="http://schemas.microsoft.com/office/drawing/2014/main" val="20001"/>
                    </a:ext>
                  </a:extLst>
                </a:gridCol>
                <a:gridCol w="637446">
                  <a:extLst>
                    <a:ext uri="{9D8B030D-6E8A-4147-A177-3AD203B41FA5}">
                      <a16:colId xmlns:a16="http://schemas.microsoft.com/office/drawing/2014/main" val="20002"/>
                    </a:ext>
                  </a:extLst>
                </a:gridCol>
                <a:gridCol w="653933">
                  <a:extLst>
                    <a:ext uri="{9D8B030D-6E8A-4147-A177-3AD203B41FA5}">
                      <a16:colId xmlns:a16="http://schemas.microsoft.com/office/drawing/2014/main" val="20003"/>
                    </a:ext>
                  </a:extLst>
                </a:gridCol>
                <a:gridCol w="774827">
                  <a:extLst>
                    <a:ext uri="{9D8B030D-6E8A-4147-A177-3AD203B41FA5}">
                      <a16:colId xmlns:a16="http://schemas.microsoft.com/office/drawing/2014/main" val="20004"/>
                    </a:ext>
                  </a:extLst>
                </a:gridCol>
              </a:tblGrid>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FF0000"/>
                          </a:solidFill>
                          <a:effectLst/>
                          <a:latin typeface="Consolas" pitchFamily="49" charset="0"/>
                          <a:ea typeface="楷体" pitchFamily="49" charset="-122"/>
                          <a:cs typeface="Consolas" pitchFamily="49" charset="0"/>
                        </a:rPr>
                        <a:t>地址</a:t>
                      </a:r>
                      <a:endParaRPr kumimoji="0" lang="zh-CN" altLang="en-US" sz="1600" b="1" i="0" u="none" strike="noStrike" cap="none" normalizeH="0" baseline="0" dirty="0">
                        <a:ln>
                          <a:noFill/>
                        </a:ln>
                        <a:solidFill>
                          <a:srgbClr val="FF000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学号</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姓名</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性别</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班号</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0</a:t>
                      </a:r>
                      <a:endParaRPr kumimoji="0" lang="en-US" altLang="zh-CN" sz="1600" b="1" i="0" u="none" strike="noStrike" cap="none" normalizeH="0" baseline="0" dirty="0">
                        <a:ln>
                          <a:noFill/>
                        </a:ln>
                        <a:solidFill>
                          <a:srgbClr val="00B0F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张斌</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1</a:t>
                      </a:r>
                      <a:endParaRPr kumimoji="0" lang="en-US" altLang="zh-CN" sz="1600" b="1" i="0" u="none" strike="noStrike" cap="none" normalizeH="0" baseline="0">
                        <a:ln>
                          <a:noFill/>
                        </a:ln>
                        <a:solidFill>
                          <a:srgbClr val="00B0F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8</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刘丽</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2</a:t>
                      </a:r>
                      <a:endParaRPr kumimoji="0" lang="en-US" altLang="zh-CN" sz="1600" b="1" i="0" u="none" strike="noStrike" cap="none" normalizeH="0" baseline="0">
                        <a:ln>
                          <a:noFill/>
                        </a:ln>
                        <a:solidFill>
                          <a:srgbClr val="00B0F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34</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李英</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3</a:t>
                      </a:r>
                      <a:endParaRPr kumimoji="0" lang="en-US" altLang="zh-CN" sz="1600" b="1" i="0" u="none" strike="noStrike" cap="none" normalizeH="0" baseline="0">
                        <a:ln>
                          <a:noFill/>
                        </a:ln>
                        <a:solidFill>
                          <a:srgbClr val="00B0F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20</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陈华</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4"/>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4</a:t>
                      </a:r>
                      <a:endParaRPr kumimoji="0" lang="en-US" altLang="zh-CN" sz="1600" b="1" i="0" u="none" strike="noStrike" cap="none" normalizeH="0" baseline="0">
                        <a:ln>
                          <a:noFill/>
                        </a:ln>
                        <a:solidFill>
                          <a:srgbClr val="00B0F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12</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王奇</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5"/>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5</a:t>
                      </a:r>
                      <a:endParaRPr kumimoji="0" lang="en-US" altLang="zh-CN" sz="1600" b="1" i="0" u="none" strike="noStrike" cap="none" normalizeH="0" baseline="0">
                        <a:ln>
                          <a:noFill/>
                        </a:ln>
                        <a:solidFill>
                          <a:srgbClr val="00B0F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26</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董强</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6"/>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6</a:t>
                      </a:r>
                      <a:endParaRPr kumimoji="0" lang="en-US" altLang="zh-CN" sz="1600" b="1" i="0" u="none" strike="noStrike" cap="none" normalizeH="0" baseline="0">
                        <a:ln>
                          <a:noFill/>
                        </a:ln>
                        <a:solidFill>
                          <a:srgbClr val="00B0F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王萍</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7"/>
                  </a:ext>
                </a:extLst>
              </a:tr>
            </a:tbl>
          </a:graphicData>
        </a:graphic>
      </p:graphicFrame>
      <p:sp>
        <p:nvSpPr>
          <p:cNvPr id="9" name="环形箭头 8">
            <a:extLst>
              <a:ext uri="{FF2B5EF4-FFF2-40B4-BE49-F238E27FC236}">
                <a16:creationId xmlns:a16="http://schemas.microsoft.com/office/drawing/2014/main" id="{6846DA87-1C21-4180-A353-E4DDD9CF1C3A}"/>
              </a:ext>
            </a:extLst>
          </p:cNvPr>
          <p:cNvSpPr/>
          <p:nvPr/>
        </p:nvSpPr>
        <p:spPr>
          <a:xfrm rot="1469818">
            <a:off x="3512686" y="2214885"/>
            <a:ext cx="857256" cy="714380"/>
          </a:xfrm>
          <a:prstGeom prst="circular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solidFill>
                <a:schemeClr val="tx1"/>
              </a:solidFill>
            </a:endParaRPr>
          </a:p>
        </p:txBody>
      </p:sp>
      <p:sp>
        <p:nvSpPr>
          <p:cNvPr id="10" name="TextBox 9">
            <a:extLst>
              <a:ext uri="{FF2B5EF4-FFF2-40B4-BE49-F238E27FC236}">
                <a16:creationId xmlns:a16="http://schemas.microsoft.com/office/drawing/2014/main" id="{F5235CB1-61C2-4A40-829D-52096A181430}"/>
              </a:ext>
            </a:extLst>
          </p:cNvPr>
          <p:cNvSpPr txBox="1"/>
          <p:nvPr/>
        </p:nvSpPr>
        <p:spPr>
          <a:xfrm>
            <a:off x="7039270" y="1974017"/>
            <a:ext cx="1714512" cy="313932"/>
          </a:xfrm>
          <a:prstGeom prst="rect">
            <a:avLst/>
          </a:prstGeom>
          <a:noFill/>
        </p:spPr>
        <p:txBody>
          <a:bodyPr wrap="square" rtlCol="0">
            <a:spAutoFit/>
          </a:bodyPr>
          <a:lstStyle/>
          <a:p>
            <a:r>
              <a:rPr lang="zh-CN" altLang="en-US" sz="1800" dirty="0">
                <a:solidFill>
                  <a:srgbClr val="FF0000"/>
                </a:solidFill>
                <a:latin typeface="华文中宋" pitchFamily="2" charset="-122"/>
                <a:ea typeface="华文中宋" pitchFamily="2" charset="-122"/>
              </a:rPr>
              <a:t>索引表</a:t>
            </a:r>
          </a:p>
        </p:txBody>
      </p:sp>
      <p:sp>
        <p:nvSpPr>
          <p:cNvPr id="11" name="TextBox 10">
            <a:extLst>
              <a:ext uri="{FF2B5EF4-FFF2-40B4-BE49-F238E27FC236}">
                <a16:creationId xmlns:a16="http://schemas.microsoft.com/office/drawing/2014/main" id="{8FA4EBA1-BDD1-4272-8954-9FCDE4B668EA}"/>
              </a:ext>
            </a:extLst>
          </p:cNvPr>
          <p:cNvSpPr txBox="1"/>
          <p:nvPr/>
        </p:nvSpPr>
        <p:spPr>
          <a:xfrm>
            <a:off x="273974" y="5546100"/>
            <a:ext cx="5572164" cy="9148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marL="457200" indent="-457200" algn="l">
              <a:lnSpc>
                <a:spcPct val="100000"/>
              </a:lnSpc>
              <a:buBlip>
                <a:blip r:embed="rId2"/>
              </a:buBlip>
            </a:pPr>
            <a:r>
              <a:rPr lang="zh-CN" altLang="en-US" sz="2000" dirty="0">
                <a:solidFill>
                  <a:srgbClr val="0000FF"/>
                </a:solidFill>
                <a:latin typeface="Consolas" pitchFamily="49" charset="0"/>
                <a:ea typeface="仿宋" pitchFamily="49" charset="-122"/>
                <a:cs typeface="Consolas" pitchFamily="49" charset="0"/>
              </a:rPr>
              <a:t>索引存储结构 </a:t>
            </a:r>
            <a:r>
              <a:rPr lang="en-US" altLang="zh-CN" sz="2000" dirty="0">
                <a:solidFill>
                  <a:srgbClr val="0000FF"/>
                </a:solidFill>
                <a:latin typeface="Consolas" pitchFamily="49" charset="0"/>
                <a:ea typeface="仿宋" pitchFamily="49" charset="-122"/>
                <a:cs typeface="Consolas" pitchFamily="49" charset="0"/>
              </a:rPr>
              <a:t>= </a:t>
            </a:r>
            <a:r>
              <a:rPr lang="zh-CN" altLang="en-US" sz="2000" dirty="0">
                <a:solidFill>
                  <a:srgbClr val="FF0000"/>
                </a:solidFill>
                <a:latin typeface="Consolas" pitchFamily="49" charset="0"/>
                <a:ea typeface="仿宋" pitchFamily="49" charset="-122"/>
                <a:cs typeface="Consolas" pitchFamily="49" charset="0"/>
              </a:rPr>
              <a:t>主数据表</a:t>
            </a:r>
            <a:r>
              <a:rPr lang="zh-CN" altLang="en-US" sz="2000" dirty="0">
                <a:solidFill>
                  <a:srgbClr val="0000FF"/>
                </a:solidFill>
                <a:latin typeface="Consolas" pitchFamily="49" charset="0"/>
                <a:ea typeface="仿宋" pitchFamily="49" charset="-122"/>
                <a:cs typeface="Consolas" pitchFamily="49" charset="0"/>
              </a:rPr>
              <a:t> </a:t>
            </a:r>
            <a:r>
              <a:rPr lang="en-US" altLang="zh-CN" sz="2000" dirty="0">
                <a:solidFill>
                  <a:srgbClr val="0000FF"/>
                </a:solidFill>
                <a:latin typeface="Consolas" pitchFamily="49" charset="0"/>
                <a:ea typeface="仿宋" pitchFamily="49" charset="-122"/>
                <a:cs typeface="Consolas" pitchFamily="49" charset="0"/>
              </a:rPr>
              <a:t>+ </a:t>
            </a:r>
            <a:r>
              <a:rPr lang="zh-CN" altLang="en-US" sz="2000" dirty="0">
                <a:solidFill>
                  <a:srgbClr val="FF0000"/>
                </a:solidFill>
                <a:latin typeface="Consolas" pitchFamily="49" charset="0"/>
                <a:ea typeface="仿宋" pitchFamily="49" charset="-122"/>
                <a:cs typeface="Consolas" pitchFamily="49" charset="0"/>
              </a:rPr>
              <a:t>索引表</a:t>
            </a:r>
            <a:r>
              <a:rPr lang="zh-CN" altLang="en-US" sz="2000" dirty="0">
                <a:solidFill>
                  <a:srgbClr val="0000FF"/>
                </a:solidFill>
                <a:latin typeface="Consolas" pitchFamily="49" charset="0"/>
                <a:ea typeface="仿宋" pitchFamily="49" charset="-122"/>
                <a:cs typeface="Consolas" pitchFamily="49" charset="0"/>
              </a:rPr>
              <a:t>。</a:t>
            </a:r>
            <a:endParaRPr lang="en-US" altLang="zh-CN" sz="2000" dirty="0">
              <a:solidFill>
                <a:srgbClr val="0000FF"/>
              </a:solidFill>
              <a:latin typeface="Consolas" pitchFamily="49" charset="0"/>
              <a:ea typeface="仿宋" pitchFamily="49" charset="-122"/>
              <a:cs typeface="Consolas" pitchFamily="49" charset="0"/>
            </a:endParaRPr>
          </a:p>
          <a:p>
            <a:pPr marL="457200" indent="-457200" algn="l">
              <a:lnSpc>
                <a:spcPct val="100000"/>
              </a:lnSpc>
              <a:buBlip>
                <a:blip r:embed="rId2"/>
              </a:buBlip>
            </a:pPr>
            <a:r>
              <a:rPr lang="zh-CN" altLang="en-US" sz="2000" dirty="0">
                <a:solidFill>
                  <a:srgbClr val="0000FF"/>
                </a:solidFill>
                <a:latin typeface="Consolas" pitchFamily="49" charset="0"/>
                <a:ea typeface="仿宋" pitchFamily="49" charset="-122"/>
                <a:cs typeface="Consolas" pitchFamily="49" charset="0"/>
              </a:rPr>
              <a:t>索引表中所有关键字有序排列（如递增）。</a:t>
            </a:r>
          </a:p>
        </p:txBody>
      </p:sp>
    </p:spTree>
    <p:extLst>
      <p:ext uri="{BB962C8B-B14F-4D97-AF65-F5344CB8AC3E}">
        <p14:creationId xmlns:p14="http://schemas.microsoft.com/office/powerpoint/2010/main" val="357317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10" grpId="0"/>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CF328984-EEA6-401C-8122-0D0DC6308D32}"/>
              </a:ext>
            </a:extLst>
          </p:cNvPr>
          <p:cNvSpPr>
            <a:spLocks noGrp="1"/>
          </p:cNvSpPr>
          <p:nvPr>
            <p:ph type="dt" sz="half" idx="10"/>
          </p:nvPr>
        </p:nvSpPr>
        <p:spPr/>
        <p:txBody>
          <a:bodyPr/>
          <a:lstStyle/>
          <a:p>
            <a:r>
              <a:rPr lang="en-US" altLang="zh-CN"/>
              <a:t>2016/2/5</a:t>
            </a:r>
            <a:endParaRPr lang="zh-CN" altLang="en-US" dirty="0"/>
          </a:p>
        </p:txBody>
      </p:sp>
      <p:sp>
        <p:nvSpPr>
          <p:cNvPr id="4" name="TextBox 2">
            <a:extLst>
              <a:ext uri="{FF2B5EF4-FFF2-40B4-BE49-F238E27FC236}">
                <a16:creationId xmlns:a16="http://schemas.microsoft.com/office/drawing/2014/main" id="{5C7EE46C-D970-40FC-80C0-2C56944DF3D5}"/>
              </a:ext>
            </a:extLst>
          </p:cNvPr>
          <p:cNvSpPr txBox="1"/>
          <p:nvPr/>
        </p:nvSpPr>
        <p:spPr>
          <a:xfrm>
            <a:off x="928662" y="4071942"/>
            <a:ext cx="7072362" cy="1910880"/>
          </a:xfrm>
          <a:prstGeom prst="rect">
            <a:avLst/>
          </a:prstGeom>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000"/>
              </a:lnSpc>
              <a:spcBef>
                <a:spcPts val="600"/>
              </a:spcBef>
            </a:pPr>
            <a:r>
              <a:rPr lang="zh-CN" altLang="en-US" sz="2000">
                <a:solidFill>
                  <a:srgbClr val="0000FF"/>
                </a:solidFill>
                <a:latin typeface="楷体" panose="02010609060101010101" pitchFamily="49" charset="-122"/>
                <a:ea typeface="楷体" panose="02010609060101010101" pitchFamily="49" charset="-122"/>
                <a:cs typeface="Consolas" pitchFamily="49" charset="0"/>
              </a:rPr>
              <a:t>查找关键字（如学号）为</a:t>
            </a:r>
            <a:r>
              <a:rPr lang="en-US" altLang="zh-CN" sz="2000" i="1">
                <a:solidFill>
                  <a:srgbClr val="0000FF"/>
                </a:solidFill>
                <a:latin typeface="楷体" panose="02010609060101010101" pitchFamily="49" charset="-122"/>
                <a:ea typeface="楷体" panose="02010609060101010101" pitchFamily="49" charset="-122"/>
                <a:cs typeface="Consolas" pitchFamily="49" charset="0"/>
              </a:rPr>
              <a:t>k</a:t>
            </a:r>
            <a:r>
              <a:rPr lang="zh-CN" altLang="en-US" sz="2000">
                <a:solidFill>
                  <a:srgbClr val="0000FF"/>
                </a:solidFill>
                <a:latin typeface="楷体" panose="02010609060101010101" pitchFamily="49" charset="-122"/>
                <a:ea typeface="楷体" panose="02010609060101010101" pitchFamily="49" charset="-122"/>
                <a:cs typeface="Consolas" pitchFamily="49" charset="0"/>
              </a:rPr>
              <a:t>的元素时：</a:t>
            </a:r>
            <a:endParaRPr lang="en-US" altLang="zh-CN" sz="2000">
              <a:solidFill>
                <a:srgbClr val="0000FF"/>
              </a:solidFill>
              <a:latin typeface="楷体" panose="02010609060101010101" pitchFamily="49" charset="-122"/>
              <a:ea typeface="楷体" panose="02010609060101010101" pitchFamily="49" charset="-122"/>
              <a:cs typeface="Consolas" pitchFamily="49" charset="0"/>
            </a:endParaRPr>
          </a:p>
          <a:p>
            <a:pPr marL="457200" indent="-457200" algn="l">
              <a:lnSpc>
                <a:spcPts val="3000"/>
              </a:lnSpc>
              <a:spcBef>
                <a:spcPts val="600"/>
              </a:spcBef>
              <a:buBlip>
                <a:blip r:embed="rId2"/>
              </a:buBlip>
            </a:pPr>
            <a:r>
              <a:rPr lang="zh-CN" altLang="en-US" sz="2000">
                <a:solidFill>
                  <a:srgbClr val="0000FF"/>
                </a:solidFill>
                <a:latin typeface="楷体" panose="02010609060101010101" pitchFamily="49" charset="-122"/>
                <a:ea typeface="楷体" panose="02010609060101010101" pitchFamily="49" charset="-122"/>
                <a:cs typeface="Consolas" pitchFamily="49" charset="0"/>
              </a:rPr>
              <a:t>先在索引表中快速查找（因为索引表中按关键字有序排列，可以采用二分查找）到相应的关键字</a:t>
            </a:r>
            <a:r>
              <a:rPr lang="en-US" altLang="zh-CN" sz="2000" i="1">
                <a:solidFill>
                  <a:srgbClr val="0000FF"/>
                </a:solidFill>
                <a:latin typeface="楷体" panose="02010609060101010101" pitchFamily="49" charset="-122"/>
                <a:ea typeface="楷体" panose="02010609060101010101" pitchFamily="49" charset="-122"/>
                <a:cs typeface="Consolas" pitchFamily="49" charset="0"/>
              </a:rPr>
              <a:t>k</a:t>
            </a:r>
            <a:r>
              <a:rPr lang="zh-CN" altLang="en-US" sz="2000">
                <a:solidFill>
                  <a:srgbClr val="0000FF"/>
                </a:solidFill>
                <a:latin typeface="楷体" panose="02010609060101010101" pitchFamily="49" charset="-122"/>
                <a:ea typeface="楷体" panose="02010609060101010101" pitchFamily="49" charset="-122"/>
                <a:cs typeface="Consolas" pitchFamily="49" charset="0"/>
              </a:rPr>
              <a:t>。</a:t>
            </a:r>
            <a:endParaRPr lang="en-US" altLang="zh-CN" sz="2000">
              <a:solidFill>
                <a:srgbClr val="0000FF"/>
              </a:solidFill>
              <a:latin typeface="楷体" panose="02010609060101010101" pitchFamily="49" charset="-122"/>
              <a:ea typeface="楷体" panose="02010609060101010101" pitchFamily="49" charset="-122"/>
              <a:cs typeface="Consolas" pitchFamily="49" charset="0"/>
            </a:endParaRPr>
          </a:p>
          <a:p>
            <a:pPr marL="457200" indent="-457200" algn="l">
              <a:lnSpc>
                <a:spcPts val="3000"/>
              </a:lnSpc>
              <a:spcBef>
                <a:spcPts val="600"/>
              </a:spcBef>
              <a:buBlip>
                <a:blip r:embed="rId2"/>
              </a:buBlip>
            </a:pPr>
            <a:r>
              <a:rPr lang="zh-CN" altLang="en-US" sz="2000">
                <a:solidFill>
                  <a:srgbClr val="0000FF"/>
                </a:solidFill>
                <a:latin typeface="楷体" panose="02010609060101010101" pitchFamily="49" charset="-122"/>
                <a:ea typeface="楷体" panose="02010609060101010101" pitchFamily="49" charset="-122"/>
                <a:cs typeface="Consolas" pitchFamily="49" charset="0"/>
              </a:rPr>
              <a:t>然后通过对应地址在主数据表中找到元素。</a:t>
            </a:r>
          </a:p>
        </p:txBody>
      </p:sp>
      <p:graphicFrame>
        <p:nvGraphicFramePr>
          <p:cNvPr id="5" name="Group 60">
            <a:extLst>
              <a:ext uri="{FF2B5EF4-FFF2-40B4-BE49-F238E27FC236}">
                <a16:creationId xmlns:a16="http://schemas.microsoft.com/office/drawing/2014/main" id="{ACF247EB-5003-4480-8812-F33C99885549}"/>
              </a:ext>
            </a:extLst>
          </p:cNvPr>
          <p:cNvGraphicFramePr>
            <a:graphicFrameLocks noGrp="1"/>
          </p:cNvGraphicFramePr>
          <p:nvPr>
            <p:extLst>
              <p:ext uri="{D42A27DB-BD31-4B8C-83A1-F6EECF244321}">
                <p14:modId xmlns:p14="http://schemas.microsoft.com/office/powerpoint/2010/main" val="1489614613"/>
              </p:ext>
            </p:extLst>
          </p:nvPr>
        </p:nvGraphicFramePr>
        <p:xfrm>
          <a:off x="4929190" y="642918"/>
          <a:ext cx="1928826" cy="2980881"/>
        </p:xfrm>
        <a:graphic>
          <a:graphicData uri="http://schemas.openxmlformats.org/drawingml/2006/table">
            <a:tbl>
              <a:tblPr>
                <a:tableStyleId>{775DCB02-9BB8-47FD-8907-85C794F793BA}</a:tableStyleId>
              </a:tblPr>
              <a:tblGrid>
                <a:gridCol w="1143008">
                  <a:extLst>
                    <a:ext uri="{9D8B030D-6E8A-4147-A177-3AD203B41FA5}">
                      <a16:colId xmlns:a16="http://schemas.microsoft.com/office/drawing/2014/main" val="20000"/>
                    </a:ext>
                  </a:extLst>
                </a:gridCol>
                <a:gridCol w="785818">
                  <a:extLst>
                    <a:ext uri="{9D8B030D-6E8A-4147-A177-3AD203B41FA5}">
                      <a16:colId xmlns:a16="http://schemas.microsoft.com/office/drawing/2014/main" val="20001"/>
                    </a:ext>
                  </a:extLst>
                </a:gridCol>
              </a:tblGrid>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FF0000"/>
                          </a:solidFill>
                          <a:effectLst/>
                          <a:latin typeface="Consolas" pitchFamily="49" charset="0"/>
                          <a:ea typeface="楷体" pitchFamily="49" charset="-122"/>
                          <a:cs typeface="Consolas" pitchFamily="49" charset="0"/>
                        </a:rPr>
                        <a:t>学号</a:t>
                      </a:r>
                      <a:endParaRPr kumimoji="0" lang="en-US" altLang="zh-CN" sz="1600" b="1" u="none" strike="noStrike" cap="none" normalizeH="0" baseline="0">
                        <a:ln>
                          <a:noFill/>
                        </a:ln>
                        <a:solidFill>
                          <a:srgbClr val="FF0000"/>
                        </a:solidFill>
                        <a:effectLst/>
                        <a:latin typeface="Consolas" pitchFamily="49" charset="0"/>
                        <a:ea typeface="楷体" pitchFamily="49" charset="-122"/>
                        <a:cs typeface="Consolas" pitchFamily="49"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FF0000"/>
                          </a:solidFill>
                          <a:effectLst/>
                          <a:latin typeface="Consolas" pitchFamily="49" charset="0"/>
                          <a:ea typeface="楷体" pitchFamily="49" charset="-122"/>
                          <a:cs typeface="Consolas" pitchFamily="49" charset="0"/>
                        </a:rPr>
                        <a:t>（关键字）</a:t>
                      </a:r>
                      <a:endParaRPr kumimoji="0" lang="zh-CN" altLang="en-US" sz="1600" b="1" i="0" u="none" strike="noStrike" cap="none" normalizeH="0" baseline="0" dirty="0">
                        <a:ln>
                          <a:noFill/>
                        </a:ln>
                        <a:solidFill>
                          <a:srgbClr val="FF0000"/>
                        </a:solidFill>
                        <a:effectLst/>
                        <a:latin typeface="Consolas" pitchFamily="49" charset="0"/>
                        <a:ea typeface="楷体" pitchFamily="49" charset="-122"/>
                        <a:cs typeface="Consolas"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FF0000"/>
                          </a:solidFill>
                          <a:effectLst/>
                          <a:latin typeface="Consolas" pitchFamily="49" charset="0"/>
                          <a:ea typeface="楷体" pitchFamily="49" charset="-122"/>
                          <a:cs typeface="Consolas" pitchFamily="49" charset="0"/>
                        </a:rPr>
                        <a:t>地址</a:t>
                      </a:r>
                      <a:endParaRPr kumimoji="0" lang="zh-CN" altLang="en-US" sz="1600" b="1" i="0" u="none" strike="noStrike" cap="none" normalizeH="0" baseline="0" dirty="0">
                        <a:ln>
                          <a:noFill/>
                        </a:ln>
                        <a:solidFill>
                          <a:srgbClr val="FF0000"/>
                        </a:solidFill>
                        <a:effectLst/>
                        <a:latin typeface="Consolas" pitchFamily="49" charset="0"/>
                        <a:ea typeface="楷体" pitchFamily="49" charset="-122"/>
                        <a:cs typeface="Consolas" pitchFamily="49" charset="0"/>
                      </a:endParaRPr>
                    </a:p>
                  </a:txBody>
                  <a:tcPr anchor="ctr" horzOverflow="overflow"/>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楷体" pitchFamily="49" charset="-122"/>
                          <a:cs typeface="Consolas" pitchFamily="49" charset="0"/>
                        </a:rPr>
                        <a:t>1</a:t>
                      </a:r>
                      <a:endParaRPr kumimoji="0" lang="en-US" altLang="zh-CN"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0</a:t>
                      </a:r>
                      <a:endParaRPr kumimoji="0" lang="zh-CN" altLang="en-US" sz="1600" b="1" i="0" u="none" strike="noStrike" cap="none" normalizeH="0" baseline="0" dirty="0">
                        <a:ln>
                          <a:noFill/>
                        </a:ln>
                        <a:solidFill>
                          <a:srgbClr val="00B0F0"/>
                        </a:solidFill>
                        <a:effectLst/>
                        <a:latin typeface="Consolas" pitchFamily="49" charset="0"/>
                        <a:ea typeface="楷体" pitchFamily="49" charset="-122"/>
                        <a:cs typeface="Consolas" pitchFamily="49" charset="0"/>
                      </a:endParaRPr>
                    </a:p>
                  </a:txBody>
                  <a:tcPr horzOverflow="overflow">
                    <a:solidFill>
                      <a:schemeClr val="bg1"/>
                    </a:solidFill>
                  </a:tcPr>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5</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a:ln>
                            <a:noFill/>
                          </a:ln>
                          <a:solidFill>
                            <a:srgbClr val="00B0F0"/>
                          </a:solidFill>
                          <a:effectLst/>
                          <a:latin typeface="Consolas" pitchFamily="49" charset="0"/>
                          <a:ea typeface="楷体" pitchFamily="49" charset="-122"/>
                          <a:cs typeface="Consolas" pitchFamily="49" charset="0"/>
                        </a:rPr>
                        <a:t>6</a:t>
                      </a:r>
                      <a:endParaRPr kumimoji="0" lang="zh-CN" altLang="en-US" sz="1600" b="1" i="0" u="none" strike="noStrike" cap="none" normalizeH="0" baseline="0" dirty="0">
                        <a:ln>
                          <a:noFill/>
                        </a:ln>
                        <a:solidFill>
                          <a:srgbClr val="00B0F0"/>
                        </a:solidFill>
                        <a:effectLst/>
                        <a:latin typeface="Consolas" pitchFamily="49" charset="0"/>
                        <a:ea typeface="楷体" pitchFamily="49" charset="-122"/>
                        <a:cs typeface="Consolas" pitchFamily="49" charset="0"/>
                      </a:endParaRPr>
                    </a:p>
                  </a:txBody>
                  <a:tcPr horzOverflow="overflow">
                    <a:solidFill>
                      <a:schemeClr val="bg1"/>
                    </a:solidFill>
                  </a:tcPr>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8</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1</a:t>
                      </a:r>
                      <a:endParaRPr kumimoji="0" lang="zh-CN" altLang="en-US" sz="1600" b="1" i="0" u="none" strike="noStrike" cap="none" normalizeH="0" baseline="0" dirty="0">
                        <a:ln>
                          <a:noFill/>
                        </a:ln>
                        <a:solidFill>
                          <a:srgbClr val="00B0F0"/>
                        </a:solidFill>
                        <a:effectLst/>
                        <a:latin typeface="Consolas" pitchFamily="49" charset="0"/>
                        <a:ea typeface="楷体" pitchFamily="49" charset="-122"/>
                        <a:cs typeface="Consolas" pitchFamily="49" charset="0"/>
                      </a:endParaRPr>
                    </a:p>
                  </a:txBody>
                  <a:tcPr horzOverflow="overflow">
                    <a:solidFill>
                      <a:schemeClr val="bg1"/>
                    </a:solidFill>
                  </a:tcPr>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12</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4</a:t>
                      </a:r>
                      <a:endParaRPr kumimoji="0" lang="zh-CN" altLang="en-US" sz="1600" b="1" i="0" u="none" strike="noStrike" cap="none" normalizeH="0" baseline="0" dirty="0">
                        <a:ln>
                          <a:noFill/>
                        </a:ln>
                        <a:solidFill>
                          <a:srgbClr val="00B0F0"/>
                        </a:solidFill>
                        <a:effectLst/>
                        <a:latin typeface="Consolas" pitchFamily="49" charset="0"/>
                        <a:ea typeface="楷体" pitchFamily="49" charset="-122"/>
                        <a:cs typeface="Consolas" pitchFamily="49" charset="0"/>
                      </a:endParaRPr>
                    </a:p>
                  </a:txBody>
                  <a:tcPr horzOverflow="overflow">
                    <a:solidFill>
                      <a:schemeClr val="bg1"/>
                    </a:solidFill>
                  </a:tcPr>
                </a:tc>
                <a:extLst>
                  <a:ext uri="{0D108BD9-81ED-4DB2-BD59-A6C34878D82A}">
                    <a16:rowId xmlns:a16="http://schemas.microsoft.com/office/drawing/2014/main" val="10004"/>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20</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3</a:t>
                      </a:r>
                      <a:endParaRPr kumimoji="0" lang="zh-CN" altLang="en-US" sz="1600" b="1" i="0" u="none" strike="noStrike" cap="none" normalizeH="0" baseline="0" dirty="0">
                        <a:ln>
                          <a:noFill/>
                        </a:ln>
                        <a:solidFill>
                          <a:srgbClr val="00B0F0"/>
                        </a:solidFill>
                        <a:effectLst/>
                        <a:latin typeface="Consolas" pitchFamily="49" charset="0"/>
                        <a:ea typeface="楷体" pitchFamily="49" charset="-122"/>
                        <a:cs typeface="Consolas" pitchFamily="49" charset="0"/>
                      </a:endParaRPr>
                    </a:p>
                  </a:txBody>
                  <a:tcPr horzOverflow="overflow">
                    <a:solidFill>
                      <a:schemeClr val="bg1"/>
                    </a:solidFill>
                  </a:tcPr>
                </a:tc>
                <a:extLst>
                  <a:ext uri="{0D108BD9-81ED-4DB2-BD59-A6C34878D82A}">
                    <a16:rowId xmlns:a16="http://schemas.microsoft.com/office/drawing/2014/main" val="10005"/>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26</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5</a:t>
                      </a:r>
                      <a:endParaRPr kumimoji="0" lang="zh-CN" altLang="en-US" sz="1600" b="1" i="0" u="none" strike="noStrike" cap="none" normalizeH="0" baseline="0">
                        <a:ln>
                          <a:noFill/>
                        </a:ln>
                        <a:solidFill>
                          <a:srgbClr val="00B0F0"/>
                        </a:solidFill>
                        <a:effectLst/>
                        <a:latin typeface="Consolas" pitchFamily="49" charset="0"/>
                        <a:ea typeface="楷体" pitchFamily="49" charset="-122"/>
                        <a:cs typeface="Consolas" pitchFamily="49" charset="0"/>
                      </a:endParaRPr>
                    </a:p>
                  </a:txBody>
                  <a:tcPr horzOverflow="overflow">
                    <a:solidFill>
                      <a:schemeClr val="bg1"/>
                    </a:solidFill>
                  </a:tcPr>
                </a:tc>
                <a:extLst>
                  <a:ext uri="{0D108BD9-81ED-4DB2-BD59-A6C34878D82A}">
                    <a16:rowId xmlns:a16="http://schemas.microsoft.com/office/drawing/2014/main" val="10006"/>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34</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B0F0"/>
                          </a:solidFill>
                          <a:effectLst/>
                          <a:latin typeface="Consolas" pitchFamily="49" charset="0"/>
                          <a:ea typeface="楷体" pitchFamily="49" charset="-122"/>
                          <a:cs typeface="Consolas" pitchFamily="49" charset="0"/>
                        </a:rPr>
                        <a:t>2</a:t>
                      </a:r>
                      <a:endParaRPr kumimoji="0" lang="zh-CN" altLang="en-US" sz="1600" b="1" i="0" u="none" strike="noStrike" cap="none" normalizeH="0" baseline="0" dirty="0">
                        <a:ln>
                          <a:noFill/>
                        </a:ln>
                        <a:solidFill>
                          <a:srgbClr val="00B0F0"/>
                        </a:solidFill>
                        <a:effectLst/>
                        <a:latin typeface="Consolas" pitchFamily="49" charset="0"/>
                        <a:ea typeface="楷体" pitchFamily="49" charset="-122"/>
                        <a:cs typeface="Consolas" pitchFamily="49" charset="0"/>
                      </a:endParaRPr>
                    </a:p>
                  </a:txBody>
                  <a:tcPr horzOverflow="overflow">
                    <a:solidFill>
                      <a:schemeClr val="bg1"/>
                    </a:solidFill>
                  </a:tcPr>
                </a:tc>
                <a:extLst>
                  <a:ext uri="{0D108BD9-81ED-4DB2-BD59-A6C34878D82A}">
                    <a16:rowId xmlns:a16="http://schemas.microsoft.com/office/drawing/2014/main" val="10007"/>
                  </a:ext>
                </a:extLst>
              </a:tr>
            </a:tbl>
          </a:graphicData>
        </a:graphic>
      </p:graphicFrame>
      <p:sp>
        <p:nvSpPr>
          <p:cNvPr id="6" name="TextBox 8">
            <a:extLst>
              <a:ext uri="{FF2B5EF4-FFF2-40B4-BE49-F238E27FC236}">
                <a16:creationId xmlns:a16="http://schemas.microsoft.com/office/drawing/2014/main" id="{A08F3861-CFB8-44F8-A9B3-EA5B44367017}"/>
              </a:ext>
            </a:extLst>
          </p:cNvPr>
          <p:cNvSpPr txBox="1"/>
          <p:nvPr/>
        </p:nvSpPr>
        <p:spPr>
          <a:xfrm>
            <a:off x="2643174" y="285728"/>
            <a:ext cx="1714512" cy="313932"/>
          </a:xfrm>
          <a:prstGeom prst="rect">
            <a:avLst/>
          </a:prstGeom>
          <a:noFill/>
        </p:spPr>
        <p:txBody>
          <a:bodyPr wrap="square" rtlCol="0">
            <a:spAutoFit/>
          </a:bodyPr>
          <a:lstStyle/>
          <a:p>
            <a:r>
              <a:rPr lang="zh-CN" altLang="en-US" sz="1800">
                <a:solidFill>
                  <a:srgbClr val="FF0000"/>
                </a:solidFill>
                <a:latin typeface="华文中宋" pitchFamily="2" charset="-122"/>
                <a:ea typeface="华文中宋" pitchFamily="2" charset="-122"/>
              </a:rPr>
              <a:t>主数据表</a:t>
            </a:r>
          </a:p>
        </p:txBody>
      </p:sp>
      <p:graphicFrame>
        <p:nvGraphicFramePr>
          <p:cNvPr id="7" name="Group 60">
            <a:extLst>
              <a:ext uri="{FF2B5EF4-FFF2-40B4-BE49-F238E27FC236}">
                <a16:creationId xmlns:a16="http://schemas.microsoft.com/office/drawing/2014/main" id="{7FB7A49B-573D-4540-ABD1-E8553B26AAE8}"/>
              </a:ext>
            </a:extLst>
          </p:cNvPr>
          <p:cNvGraphicFramePr>
            <a:graphicFrameLocks noGrp="1"/>
          </p:cNvGraphicFramePr>
          <p:nvPr/>
        </p:nvGraphicFramePr>
        <p:xfrm>
          <a:off x="1428728" y="928670"/>
          <a:ext cx="3357584" cy="2688273"/>
        </p:xfrm>
        <a:graphic>
          <a:graphicData uri="http://schemas.openxmlformats.org/drawingml/2006/table">
            <a:tbl>
              <a:tblPr>
                <a:tableStyleId>{69C7853C-536D-4A76-A0AE-DD22124D55A5}</a:tableStyleId>
              </a:tblPr>
              <a:tblGrid>
                <a:gridCol w="645689">
                  <a:extLst>
                    <a:ext uri="{9D8B030D-6E8A-4147-A177-3AD203B41FA5}">
                      <a16:colId xmlns:a16="http://schemas.microsoft.com/office/drawing/2014/main" val="20000"/>
                    </a:ext>
                  </a:extLst>
                </a:gridCol>
                <a:gridCol w="645689">
                  <a:extLst>
                    <a:ext uri="{9D8B030D-6E8A-4147-A177-3AD203B41FA5}">
                      <a16:colId xmlns:a16="http://schemas.microsoft.com/office/drawing/2014/main" val="20001"/>
                    </a:ext>
                  </a:extLst>
                </a:gridCol>
                <a:gridCol w="637446">
                  <a:extLst>
                    <a:ext uri="{9D8B030D-6E8A-4147-A177-3AD203B41FA5}">
                      <a16:colId xmlns:a16="http://schemas.microsoft.com/office/drawing/2014/main" val="20002"/>
                    </a:ext>
                  </a:extLst>
                </a:gridCol>
                <a:gridCol w="653933">
                  <a:extLst>
                    <a:ext uri="{9D8B030D-6E8A-4147-A177-3AD203B41FA5}">
                      <a16:colId xmlns:a16="http://schemas.microsoft.com/office/drawing/2014/main" val="20003"/>
                    </a:ext>
                  </a:extLst>
                </a:gridCol>
                <a:gridCol w="774827">
                  <a:extLst>
                    <a:ext uri="{9D8B030D-6E8A-4147-A177-3AD203B41FA5}">
                      <a16:colId xmlns:a16="http://schemas.microsoft.com/office/drawing/2014/main" val="20004"/>
                    </a:ext>
                  </a:extLst>
                </a:gridCol>
              </a:tblGrid>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FF0000"/>
                          </a:solidFill>
                          <a:effectLst/>
                          <a:latin typeface="Consolas" pitchFamily="49" charset="0"/>
                          <a:ea typeface="楷体" pitchFamily="49" charset="-122"/>
                          <a:cs typeface="Consolas" pitchFamily="49" charset="0"/>
                        </a:rPr>
                        <a:t>地址</a:t>
                      </a:r>
                      <a:endParaRPr kumimoji="0" lang="zh-CN" altLang="en-US" sz="1600" b="1" i="0" u="none" strike="noStrike" cap="none" normalizeH="0" baseline="0" dirty="0">
                        <a:ln>
                          <a:noFill/>
                        </a:ln>
                        <a:solidFill>
                          <a:srgbClr val="FF000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楷体" pitchFamily="49" charset="-122"/>
                          <a:cs typeface="Consolas" pitchFamily="49" charset="0"/>
                        </a:rPr>
                        <a:t>学号</a:t>
                      </a:r>
                      <a:endParaRPr kumimoji="0" lang="zh-CN" altLang="en-US" sz="1600" b="1" i="0" u="none" strike="noStrike" cap="none" normalizeH="0" baseline="0" dirty="0">
                        <a:ln>
                          <a:noFill/>
                        </a:ln>
                        <a:solidFill>
                          <a:srgbClr val="FF0000"/>
                        </a:solidFill>
                        <a:effectLst/>
                        <a:latin typeface="Consolas" pitchFamily="49" charset="0"/>
                        <a:ea typeface="楷体"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楷体" pitchFamily="49" charset="-122"/>
                          <a:cs typeface="Consolas" pitchFamily="49" charset="0"/>
                        </a:rPr>
                        <a:t>姓名</a:t>
                      </a:r>
                      <a:endParaRPr kumimoji="0" lang="zh-CN" altLang="en-US" sz="1600" b="1" i="0" u="none" strike="noStrike" cap="none" normalizeH="0" baseline="0" dirty="0">
                        <a:ln>
                          <a:noFill/>
                        </a:ln>
                        <a:solidFill>
                          <a:srgbClr val="FF0000"/>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楷体" pitchFamily="49" charset="-122"/>
                          <a:cs typeface="Consolas" pitchFamily="49" charset="0"/>
                        </a:rPr>
                        <a:t>性别</a:t>
                      </a:r>
                      <a:endParaRPr kumimoji="0" lang="zh-CN" altLang="en-US" sz="1600" b="1" i="0" u="none" strike="noStrike" cap="none" normalizeH="0" baseline="0" dirty="0">
                        <a:ln>
                          <a:noFill/>
                        </a:ln>
                        <a:solidFill>
                          <a:srgbClr val="FF0000"/>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楷体" pitchFamily="49" charset="-122"/>
                          <a:cs typeface="Consolas" pitchFamily="49" charset="0"/>
                        </a:rPr>
                        <a:t>班号</a:t>
                      </a:r>
                      <a:endParaRPr kumimoji="0" lang="zh-CN" altLang="en-US" sz="1600" b="1" i="0" u="none" strike="noStrike" cap="none" normalizeH="0" baseline="0" dirty="0">
                        <a:ln>
                          <a:noFill/>
                        </a:ln>
                        <a:solidFill>
                          <a:srgbClr val="FF0000"/>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0</a:t>
                      </a:r>
                      <a:endParaRPr kumimoji="0" lang="en-US" altLang="zh-CN" sz="1600" b="1" i="0" u="none" strike="noStrike" cap="none" normalizeH="0" baseline="0" dirty="0">
                        <a:ln>
                          <a:noFill/>
                        </a:ln>
                        <a:solidFill>
                          <a:srgbClr val="00B0F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楷体" pitchFamily="49" charset="-122"/>
                          <a:cs typeface="Consolas" pitchFamily="49" charset="0"/>
                        </a:rPr>
                        <a:t>1</a:t>
                      </a:r>
                      <a:endParaRPr kumimoji="0" lang="en-US" altLang="zh-CN"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张斌</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楷体" pitchFamily="49" charset="-122"/>
                          <a:cs typeface="Consolas" pitchFamily="49" charset="0"/>
                        </a:rPr>
                        <a:t>男</a:t>
                      </a:r>
                      <a:endParaRPr kumimoji="0" lang="zh-CN" altLang="en-US"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1</a:t>
                      </a:r>
                      <a:endParaRPr kumimoji="0" lang="en-US" altLang="zh-CN" sz="1600" b="1" i="0" u="none" strike="noStrike" cap="none" normalizeH="0" baseline="0">
                        <a:ln>
                          <a:noFill/>
                        </a:ln>
                        <a:solidFill>
                          <a:srgbClr val="00B0F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8</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刘丽</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9902</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2</a:t>
                      </a:r>
                      <a:endParaRPr kumimoji="0" lang="en-US" altLang="zh-CN" sz="1600" b="1" i="0" u="none" strike="noStrike" cap="none" normalizeH="0" baseline="0">
                        <a:ln>
                          <a:noFill/>
                        </a:ln>
                        <a:solidFill>
                          <a:srgbClr val="00B0F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34</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李英</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3</a:t>
                      </a:r>
                      <a:endParaRPr kumimoji="0" lang="en-US" altLang="zh-CN" sz="1600" b="1" i="0" u="none" strike="noStrike" cap="none" normalizeH="0" baseline="0">
                        <a:ln>
                          <a:noFill/>
                        </a:ln>
                        <a:solidFill>
                          <a:srgbClr val="00B0F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20</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陈华</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楷体"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4"/>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4</a:t>
                      </a:r>
                      <a:endParaRPr kumimoji="0" lang="en-US" altLang="zh-CN" sz="1600" b="1" i="0" u="none" strike="noStrike" cap="none" normalizeH="0" baseline="0">
                        <a:ln>
                          <a:noFill/>
                        </a:ln>
                        <a:solidFill>
                          <a:srgbClr val="00B0F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12</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楷体" pitchFamily="49" charset="-122"/>
                          <a:cs typeface="Consolas" pitchFamily="49" charset="0"/>
                        </a:rPr>
                        <a:t>王奇</a:t>
                      </a:r>
                      <a:endParaRPr kumimoji="0" lang="zh-CN" altLang="en-US"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楷体"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5"/>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5</a:t>
                      </a:r>
                      <a:endParaRPr kumimoji="0" lang="en-US" altLang="zh-CN" sz="1600" b="1" i="0" u="none" strike="noStrike" cap="none" normalizeH="0" baseline="0">
                        <a:ln>
                          <a:noFill/>
                        </a:ln>
                        <a:solidFill>
                          <a:srgbClr val="00B0F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26</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楷体" pitchFamily="49" charset="-122"/>
                          <a:cs typeface="Consolas" pitchFamily="49" charset="0"/>
                        </a:rPr>
                        <a:t>董强</a:t>
                      </a:r>
                      <a:endParaRPr kumimoji="0" lang="zh-CN" altLang="en-US"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楷体"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6"/>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楷体" pitchFamily="49" charset="-122"/>
                          <a:cs typeface="Consolas" pitchFamily="49" charset="0"/>
                        </a:rPr>
                        <a:t>6</a:t>
                      </a:r>
                      <a:endParaRPr kumimoji="0" lang="en-US" altLang="zh-CN" sz="1600" b="1" i="0" u="none" strike="noStrike" cap="none" normalizeH="0" baseline="0">
                        <a:ln>
                          <a:noFill/>
                        </a:ln>
                        <a:solidFill>
                          <a:srgbClr val="00B0F0"/>
                        </a:solidFill>
                        <a:effectLst/>
                        <a:latin typeface="Consolas" pitchFamily="49" charset="0"/>
                        <a:ea typeface="楷体"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5</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楷体" pitchFamily="49" charset="-122"/>
                          <a:cs typeface="Consolas" pitchFamily="49" charset="0"/>
                        </a:rPr>
                        <a:t>王萍</a:t>
                      </a:r>
                      <a:endParaRPr kumimoji="0" lang="zh-CN" altLang="en-US"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楷体" pitchFamily="49" charset="-122"/>
                          <a:cs typeface="Consolas" pitchFamily="49" charset="0"/>
                        </a:rPr>
                        <a:t>女</a:t>
                      </a:r>
                      <a:endParaRPr kumimoji="0" lang="zh-CN" altLang="en-US"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楷体"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7"/>
                  </a:ext>
                </a:extLst>
              </a:tr>
            </a:tbl>
          </a:graphicData>
        </a:graphic>
      </p:graphicFrame>
      <p:sp>
        <p:nvSpPr>
          <p:cNvPr id="8" name="TextBox 10">
            <a:extLst>
              <a:ext uri="{FF2B5EF4-FFF2-40B4-BE49-F238E27FC236}">
                <a16:creationId xmlns:a16="http://schemas.microsoft.com/office/drawing/2014/main" id="{A73E30DE-F89F-49DF-8BF4-8A925EC8DFE9}"/>
              </a:ext>
            </a:extLst>
          </p:cNvPr>
          <p:cNvSpPr txBox="1"/>
          <p:nvPr/>
        </p:nvSpPr>
        <p:spPr>
          <a:xfrm>
            <a:off x="4929190" y="214290"/>
            <a:ext cx="1714512" cy="313932"/>
          </a:xfrm>
          <a:prstGeom prst="rect">
            <a:avLst/>
          </a:prstGeom>
          <a:noFill/>
        </p:spPr>
        <p:txBody>
          <a:bodyPr wrap="square" rtlCol="0">
            <a:spAutoFit/>
          </a:bodyPr>
          <a:lstStyle/>
          <a:p>
            <a:r>
              <a:rPr lang="zh-CN" altLang="en-US" sz="1800">
                <a:solidFill>
                  <a:srgbClr val="FF0000"/>
                </a:solidFill>
                <a:latin typeface="华文中宋" pitchFamily="2" charset="-122"/>
                <a:ea typeface="华文中宋" pitchFamily="2" charset="-122"/>
              </a:rPr>
              <a:t>索引表</a:t>
            </a:r>
          </a:p>
        </p:txBody>
      </p:sp>
    </p:spTree>
    <p:extLst>
      <p:ext uri="{BB962C8B-B14F-4D97-AF65-F5344CB8AC3E}">
        <p14:creationId xmlns:p14="http://schemas.microsoft.com/office/powerpoint/2010/main" val="39135206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6B9A1911-A887-41CF-880C-88D92BF4FD6D}"/>
              </a:ext>
            </a:extLst>
          </p:cNvPr>
          <p:cNvSpPr>
            <a:spLocks noGrp="1"/>
          </p:cNvSpPr>
          <p:nvPr>
            <p:ph type="dt" sz="half" idx="10"/>
          </p:nvPr>
        </p:nvSpPr>
        <p:spPr/>
        <p:txBody>
          <a:bodyPr/>
          <a:lstStyle/>
          <a:p>
            <a:r>
              <a:rPr lang="en-US" altLang="zh-CN"/>
              <a:t>2016/2/5</a:t>
            </a:r>
            <a:endParaRPr lang="zh-CN" altLang="en-US" dirty="0"/>
          </a:p>
        </p:txBody>
      </p:sp>
      <p:sp>
        <p:nvSpPr>
          <p:cNvPr id="4" name="TextBox 2">
            <a:extLst>
              <a:ext uri="{FF2B5EF4-FFF2-40B4-BE49-F238E27FC236}">
                <a16:creationId xmlns:a16="http://schemas.microsoft.com/office/drawing/2014/main" id="{ED45AAC3-DAE3-4DB1-9CA9-6764377FDDDD}"/>
              </a:ext>
            </a:extLst>
          </p:cNvPr>
          <p:cNvSpPr txBox="1"/>
          <p:nvPr/>
        </p:nvSpPr>
        <p:spPr>
          <a:xfrm>
            <a:off x="1142975" y="928670"/>
            <a:ext cx="4272307" cy="461665"/>
          </a:xfrm>
          <a:prstGeom prst="rect">
            <a:avLst/>
          </a:prstGeom>
          <a:noFill/>
        </p:spPr>
        <p:txBody>
          <a:bodyPr wrap="square" rtlCol="0">
            <a:spAutoFit/>
          </a:bodyPr>
          <a:lstStyle/>
          <a:p>
            <a:pPr algn="l"/>
            <a:r>
              <a:rPr lang="zh-CN" altLang="en-US" sz="2400">
                <a:solidFill>
                  <a:srgbClr val="0000FF"/>
                </a:solidFill>
                <a:latin typeface="楷体" panose="02010609060101010101" pitchFamily="49" charset="-122"/>
                <a:ea typeface="楷体" panose="02010609060101010101" pitchFamily="49" charset="-122"/>
                <a:cs typeface="Consolas" pitchFamily="49" charset="0"/>
              </a:rPr>
              <a:t>索引存储结构</a:t>
            </a:r>
            <a:r>
              <a:rPr lang="zh-CN" altLang="en-US" sz="2400">
                <a:solidFill>
                  <a:srgbClr val="FF0000"/>
                </a:solidFill>
                <a:latin typeface="楷体" panose="02010609060101010101" pitchFamily="49" charset="-122"/>
                <a:ea typeface="楷体" panose="02010609060101010101" pitchFamily="49" charset="-122"/>
                <a:cs typeface="Consolas" pitchFamily="49" charset="0"/>
              </a:rPr>
              <a:t>特点</a:t>
            </a:r>
            <a:r>
              <a:rPr lang="zh-CN" altLang="en-US" sz="2400">
                <a:solidFill>
                  <a:srgbClr val="0000FF"/>
                </a:solidFill>
                <a:latin typeface="楷体" panose="02010609060101010101" pitchFamily="49" charset="-122"/>
                <a:ea typeface="楷体" panose="02010609060101010101" pitchFamily="49" charset="-122"/>
                <a:cs typeface="Consolas" pitchFamily="49" charset="0"/>
              </a:rPr>
              <a:t>：</a:t>
            </a:r>
            <a:endParaRPr lang="zh-CN" altLang="en-US" sz="2400">
              <a:latin typeface="楷体" panose="02010609060101010101" pitchFamily="49" charset="-122"/>
              <a:ea typeface="楷体" panose="02010609060101010101" pitchFamily="49" charset="-122"/>
              <a:cs typeface="Consolas" pitchFamily="49" charset="0"/>
            </a:endParaRPr>
          </a:p>
        </p:txBody>
      </p:sp>
      <p:sp>
        <p:nvSpPr>
          <p:cNvPr id="5" name="TextBox 3">
            <a:extLst>
              <a:ext uri="{FF2B5EF4-FFF2-40B4-BE49-F238E27FC236}">
                <a16:creationId xmlns:a16="http://schemas.microsoft.com/office/drawing/2014/main" id="{09092080-0FA3-4A11-829E-0F2E9A50010A}"/>
              </a:ext>
            </a:extLst>
          </p:cNvPr>
          <p:cNvSpPr txBox="1"/>
          <p:nvPr/>
        </p:nvSpPr>
        <p:spPr>
          <a:xfrm>
            <a:off x="1115616" y="1500174"/>
            <a:ext cx="5518396" cy="9582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3000"/>
              </a:lnSpc>
              <a:spcBef>
                <a:spcPts val="0"/>
              </a:spcBef>
              <a:buBlip>
                <a:blip r:embed="rId2"/>
              </a:buBlip>
            </a:pPr>
            <a:r>
              <a:rPr lang="zh-CN" altLang="en-US" sz="2400">
                <a:solidFill>
                  <a:srgbClr val="0000FF"/>
                </a:solidFill>
                <a:latin typeface="楷体" panose="02010609060101010101" pitchFamily="49" charset="-122"/>
                <a:ea typeface="楷体" panose="02010609060101010101" pitchFamily="49" charset="-122"/>
                <a:cs typeface="Consolas" pitchFamily="49" charset="0"/>
              </a:rPr>
              <a:t>通过索引表按关键字查找速度快</a:t>
            </a:r>
            <a:endParaRPr lang="en-US" altLang="zh-CN" sz="2400">
              <a:solidFill>
                <a:srgbClr val="0000FF"/>
              </a:solidFill>
              <a:latin typeface="楷体" panose="02010609060101010101" pitchFamily="49" charset="-122"/>
              <a:ea typeface="楷体" panose="02010609060101010101" pitchFamily="49" charset="-122"/>
              <a:cs typeface="Consolas" pitchFamily="49" charset="0"/>
            </a:endParaRPr>
          </a:p>
          <a:p>
            <a:pPr marL="457200" indent="-457200" algn="l">
              <a:lnSpc>
                <a:spcPts val="3000"/>
              </a:lnSpc>
              <a:spcBef>
                <a:spcPts val="0"/>
              </a:spcBef>
              <a:buBlip>
                <a:blip r:embed="rId2"/>
              </a:buBlip>
            </a:pPr>
            <a:r>
              <a:rPr lang="zh-CN" altLang="en-US" sz="2400">
                <a:solidFill>
                  <a:srgbClr val="0000FF"/>
                </a:solidFill>
                <a:latin typeface="楷体" panose="02010609060101010101" pitchFamily="49" charset="-122"/>
                <a:ea typeface="楷体" panose="02010609060101010101" pitchFamily="49" charset="-122"/>
                <a:cs typeface="Consolas" pitchFamily="49" charset="0"/>
              </a:rPr>
              <a:t>增加索引表 </a:t>
            </a:r>
            <a:r>
              <a:rPr lang="zh-CN" altLang="en-US" sz="2400">
                <a:solidFill>
                  <a:srgbClr val="FF0000"/>
                </a:solidFill>
                <a:latin typeface="楷体" panose="02010609060101010101" pitchFamily="49" charset="-122"/>
                <a:ea typeface="楷体" panose="02010609060101010101" pitchFamily="49" charset="-122"/>
                <a:cs typeface="Consolas" pitchFamily="49" charset="0"/>
                <a:sym typeface="Wingdings"/>
              </a:rPr>
              <a:t></a:t>
            </a:r>
            <a:r>
              <a:rPr lang="zh-CN" altLang="en-US" sz="2400">
                <a:solidFill>
                  <a:srgbClr val="0000FF"/>
                </a:solidFill>
                <a:latin typeface="楷体" panose="02010609060101010101" pitchFamily="49" charset="-122"/>
                <a:ea typeface="楷体" panose="02010609060101010101" pitchFamily="49" charset="-122"/>
                <a:cs typeface="Consolas" pitchFamily="49" charset="0"/>
                <a:sym typeface="Wingdings"/>
              </a:rPr>
              <a:t> 存储空间较大</a:t>
            </a:r>
            <a:endParaRPr lang="zh-CN" altLang="en-US" sz="2400">
              <a:solidFill>
                <a:srgbClr val="0000FF"/>
              </a:solidFill>
              <a:latin typeface="楷体" panose="02010609060101010101" pitchFamily="49" charset="-122"/>
              <a:ea typeface="楷体" panose="02010609060101010101" pitchFamily="49" charset="-122"/>
              <a:cs typeface="Consolas" pitchFamily="49" charset="0"/>
            </a:endParaRPr>
          </a:p>
        </p:txBody>
      </p:sp>
    </p:spTree>
    <p:extLst>
      <p:ext uri="{BB962C8B-B14F-4D97-AF65-F5344CB8AC3E}">
        <p14:creationId xmlns:p14="http://schemas.microsoft.com/office/powerpoint/2010/main" val="3750181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575556" y="620688"/>
            <a:ext cx="7992888" cy="795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266700" algn="l" defTabSz="914400" rtl="0" eaLnBrk="0" fontAlgn="base" latinLnBrk="0" hangingPunct="0">
              <a:lnSpc>
                <a:spcPct val="12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（4）</a:t>
            </a:r>
            <a:r>
              <a:rPr kumimoji="0" lang="zh-CN" altLang="zh-CN" sz="2000" b="0" i="0" u="none" strike="noStrike" cap="none" normalizeH="0" baseline="0" dirty="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散列(Hash)存储方法</a:t>
            </a:r>
            <a:r>
              <a:rPr kumimoji="0" lang="zh-CN" altLang="zh-CN" sz="2000" b="0" i="0" u="none" strike="noStrike" cap="none" normalizeH="0" baseline="0" dirty="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：设计散列函数，每个结点的存储单元位置通过设计的散列函数计算得到。</a:t>
            </a:r>
            <a:endParaRPr kumimoji="0" lang="zh-CN"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Text Box 3">
            <a:extLst>
              <a:ext uri="{FF2B5EF4-FFF2-40B4-BE49-F238E27FC236}">
                <a16:creationId xmlns:a16="http://schemas.microsoft.com/office/drawing/2014/main" id="{D29BDF58-34E2-4E2B-89DF-4D4D76840D4F}"/>
              </a:ext>
            </a:extLst>
          </p:cNvPr>
          <p:cNvSpPr txBox="1">
            <a:spLocks noChangeArrowheads="1"/>
          </p:cNvSpPr>
          <p:nvPr/>
        </p:nvSpPr>
        <p:spPr bwMode="auto">
          <a:xfrm>
            <a:off x="575556" y="1700808"/>
            <a:ext cx="8057088" cy="2042327"/>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just">
              <a:lnSpc>
                <a:spcPts val="3000"/>
              </a:lnSpc>
              <a:spcBef>
                <a:spcPts val="1200"/>
              </a:spcBef>
              <a:buBlip>
                <a:blip r:embed="rId2"/>
              </a:buBlip>
            </a:pPr>
            <a:r>
              <a:rPr lang="zh-CN" altLang="en-US" sz="2400" dirty="0">
                <a:solidFill>
                  <a:srgbClr val="0000FF"/>
                </a:solidFill>
                <a:latin typeface="楷体" panose="02010609060101010101" pitchFamily="49" charset="-122"/>
                <a:ea typeface="楷体" panose="02010609060101010101" pitchFamily="49" charset="-122"/>
                <a:cs typeface="Consolas" pitchFamily="49" charset="0"/>
              </a:rPr>
              <a:t>哈希存储结构 </a:t>
            </a:r>
            <a:r>
              <a:rPr lang="en-US" altLang="zh-CN" sz="2400" dirty="0">
                <a:solidFill>
                  <a:srgbClr val="0000FF"/>
                </a:solidFill>
                <a:latin typeface="楷体" panose="02010609060101010101" pitchFamily="49" charset="-122"/>
                <a:ea typeface="楷体" panose="02010609060101010101" pitchFamily="49" charset="-122"/>
                <a:cs typeface="Consolas" pitchFamily="49" charset="0"/>
              </a:rPr>
              <a:t>= </a:t>
            </a:r>
            <a:r>
              <a:rPr lang="zh-CN" altLang="en-US" sz="2400" dirty="0">
                <a:solidFill>
                  <a:srgbClr val="0000FF"/>
                </a:solidFill>
                <a:latin typeface="楷体" panose="02010609060101010101" pitchFamily="49" charset="-122"/>
                <a:ea typeface="楷体" panose="02010609060101010101" pitchFamily="49" charset="-122"/>
                <a:cs typeface="Consolas" pitchFamily="49" charset="0"/>
              </a:rPr>
              <a:t>哈希函数 </a:t>
            </a:r>
            <a:r>
              <a:rPr lang="en-US" altLang="zh-CN" sz="2400" dirty="0">
                <a:solidFill>
                  <a:srgbClr val="0000FF"/>
                </a:solidFill>
                <a:latin typeface="楷体" panose="02010609060101010101" pitchFamily="49" charset="-122"/>
                <a:ea typeface="楷体" panose="02010609060101010101" pitchFamily="49" charset="-122"/>
                <a:cs typeface="Consolas" pitchFamily="49" charset="0"/>
              </a:rPr>
              <a:t>+ </a:t>
            </a:r>
            <a:r>
              <a:rPr lang="zh-CN" altLang="en-US" sz="2400" dirty="0">
                <a:solidFill>
                  <a:srgbClr val="0000FF"/>
                </a:solidFill>
                <a:latin typeface="楷体" panose="02010609060101010101" pitchFamily="49" charset="-122"/>
                <a:ea typeface="楷体" panose="02010609060101010101" pitchFamily="49" charset="-122"/>
                <a:cs typeface="Consolas" pitchFamily="49" charset="0"/>
              </a:rPr>
              <a:t>解决冲突方法。</a:t>
            </a:r>
            <a:endParaRPr lang="en-US" altLang="zh-CN" sz="2400" dirty="0">
              <a:solidFill>
                <a:srgbClr val="0000FF"/>
              </a:solidFill>
              <a:latin typeface="楷体" panose="02010609060101010101" pitchFamily="49" charset="-122"/>
              <a:ea typeface="楷体" panose="02010609060101010101" pitchFamily="49" charset="-122"/>
              <a:cs typeface="Consolas" pitchFamily="49" charset="0"/>
            </a:endParaRPr>
          </a:p>
          <a:p>
            <a:pPr marL="457200" indent="-457200" algn="just">
              <a:lnSpc>
                <a:spcPts val="3000"/>
              </a:lnSpc>
              <a:spcBef>
                <a:spcPts val="1200"/>
              </a:spcBef>
              <a:buBlip>
                <a:blip r:embed="rId2"/>
              </a:buBlip>
            </a:pPr>
            <a:r>
              <a:rPr lang="zh-CN" altLang="en-US" sz="2400" dirty="0">
                <a:solidFill>
                  <a:srgbClr val="0000FF"/>
                </a:solidFill>
                <a:latin typeface="楷体" panose="02010609060101010101" pitchFamily="49" charset="-122"/>
                <a:ea typeface="楷体" panose="02010609060101010101" pitchFamily="49" charset="-122"/>
                <a:cs typeface="Consolas" pitchFamily="49" charset="0"/>
              </a:rPr>
              <a:t>哈希函数</a:t>
            </a:r>
            <a:r>
              <a:rPr lang="en-US" altLang="zh-CN" sz="2400" i="1" dirty="0">
                <a:solidFill>
                  <a:srgbClr val="0000FF"/>
                </a:solidFill>
                <a:latin typeface="楷体" panose="02010609060101010101" pitchFamily="49" charset="-122"/>
                <a:ea typeface="楷体" panose="02010609060101010101" pitchFamily="49" charset="-122"/>
                <a:cs typeface="Consolas" pitchFamily="49" charset="0"/>
              </a:rPr>
              <a:t>h</a:t>
            </a:r>
            <a:r>
              <a:rPr lang="en-US" altLang="zh-CN" sz="2400" dirty="0">
                <a:solidFill>
                  <a:srgbClr val="0000FF"/>
                </a:solidFill>
                <a:latin typeface="楷体" panose="02010609060101010101" pitchFamily="49" charset="-122"/>
                <a:ea typeface="楷体" panose="02010609060101010101" pitchFamily="49" charset="-122"/>
                <a:cs typeface="Consolas" pitchFamily="49" charset="0"/>
              </a:rPr>
              <a:t>(key)</a:t>
            </a:r>
            <a:r>
              <a:rPr lang="zh-CN" altLang="en-US" sz="2400" dirty="0">
                <a:solidFill>
                  <a:srgbClr val="0000FF"/>
                </a:solidFill>
                <a:latin typeface="楷体" panose="02010609060101010101" pitchFamily="49" charset="-122"/>
                <a:ea typeface="楷体" panose="02010609060101010101" pitchFamily="49" charset="-122"/>
                <a:cs typeface="Consolas" pitchFamily="49" charset="0"/>
              </a:rPr>
              <a:t>将关键字为</a:t>
            </a:r>
            <a:r>
              <a:rPr lang="en-US" altLang="zh-CN" sz="2400" dirty="0">
                <a:solidFill>
                  <a:srgbClr val="0000FF"/>
                </a:solidFill>
                <a:latin typeface="楷体" panose="02010609060101010101" pitchFamily="49" charset="-122"/>
                <a:ea typeface="楷体" panose="02010609060101010101" pitchFamily="49" charset="-122"/>
                <a:cs typeface="Consolas" pitchFamily="49" charset="0"/>
              </a:rPr>
              <a:t>key</a:t>
            </a:r>
            <a:r>
              <a:rPr lang="zh-CN" altLang="en-US" sz="2400" dirty="0">
                <a:solidFill>
                  <a:srgbClr val="0000FF"/>
                </a:solidFill>
                <a:latin typeface="楷体" panose="02010609060101010101" pitchFamily="49" charset="-122"/>
                <a:ea typeface="楷体" panose="02010609060101010101" pitchFamily="49" charset="-122"/>
                <a:cs typeface="Consolas" pitchFamily="49" charset="0"/>
              </a:rPr>
              <a:t>的元素存放在该地址。</a:t>
            </a:r>
            <a:endParaRPr lang="en-US" altLang="zh-CN" sz="2400" dirty="0">
              <a:solidFill>
                <a:srgbClr val="0000FF"/>
              </a:solidFill>
              <a:latin typeface="楷体" panose="02010609060101010101" pitchFamily="49" charset="-122"/>
              <a:ea typeface="楷体" panose="02010609060101010101" pitchFamily="49" charset="-122"/>
              <a:cs typeface="Consolas" pitchFamily="49" charset="0"/>
            </a:endParaRPr>
          </a:p>
          <a:p>
            <a:pPr marL="457200" indent="-457200" algn="just">
              <a:lnSpc>
                <a:spcPts val="3000"/>
              </a:lnSpc>
              <a:spcBef>
                <a:spcPts val="1200"/>
              </a:spcBef>
              <a:buBlip>
                <a:blip r:embed="rId2"/>
              </a:buBlip>
            </a:pPr>
            <a:r>
              <a:rPr lang="zh-CN" altLang="en-US" sz="2400" dirty="0">
                <a:solidFill>
                  <a:srgbClr val="0000FF"/>
                </a:solidFill>
                <a:latin typeface="楷体" panose="02010609060101010101" pitchFamily="49" charset="-122"/>
                <a:ea typeface="楷体" panose="02010609060101010101" pitchFamily="49" charset="-122"/>
                <a:cs typeface="Consolas" pitchFamily="49" charset="0"/>
              </a:rPr>
              <a:t>查找关键字为</a:t>
            </a:r>
            <a:r>
              <a:rPr lang="en-US" altLang="zh-CN" sz="2400" dirty="0">
                <a:solidFill>
                  <a:srgbClr val="0000FF"/>
                </a:solidFill>
                <a:latin typeface="楷体" panose="02010609060101010101" pitchFamily="49" charset="-122"/>
                <a:ea typeface="楷体" panose="02010609060101010101" pitchFamily="49" charset="-122"/>
                <a:cs typeface="Consolas" pitchFamily="49" charset="0"/>
              </a:rPr>
              <a:t>key</a:t>
            </a:r>
            <a:r>
              <a:rPr lang="zh-CN" altLang="en-US" sz="2400" dirty="0">
                <a:solidFill>
                  <a:srgbClr val="0000FF"/>
                </a:solidFill>
                <a:latin typeface="楷体" panose="02010609060101010101" pitchFamily="49" charset="-122"/>
                <a:ea typeface="楷体" panose="02010609060101010101" pitchFamily="49" charset="-122"/>
                <a:cs typeface="Consolas" pitchFamily="49" charset="0"/>
              </a:rPr>
              <a:t>的元素时，先计算</a:t>
            </a:r>
            <a:r>
              <a:rPr lang="en-US" altLang="zh-CN" sz="2400" i="1" dirty="0">
                <a:solidFill>
                  <a:srgbClr val="0000FF"/>
                </a:solidFill>
                <a:latin typeface="楷体" panose="02010609060101010101" pitchFamily="49" charset="-122"/>
                <a:ea typeface="楷体" panose="02010609060101010101" pitchFamily="49" charset="-122"/>
                <a:cs typeface="Consolas" pitchFamily="49" charset="0"/>
              </a:rPr>
              <a:t>h</a:t>
            </a:r>
            <a:r>
              <a:rPr lang="en-US" altLang="zh-CN" sz="2400" dirty="0">
                <a:solidFill>
                  <a:srgbClr val="0000FF"/>
                </a:solidFill>
                <a:latin typeface="楷体" panose="02010609060101010101" pitchFamily="49" charset="-122"/>
                <a:ea typeface="楷体" panose="02010609060101010101" pitchFamily="49" charset="-122"/>
                <a:cs typeface="Consolas" pitchFamily="49" charset="0"/>
              </a:rPr>
              <a:t>(key)</a:t>
            </a:r>
            <a:r>
              <a:rPr lang="zh-CN" altLang="en-US" sz="2400" dirty="0">
                <a:solidFill>
                  <a:srgbClr val="0000FF"/>
                </a:solidFill>
                <a:latin typeface="楷体" panose="02010609060101010101" pitchFamily="49" charset="-122"/>
                <a:ea typeface="楷体" panose="02010609060101010101" pitchFamily="49" charset="-122"/>
                <a:cs typeface="Consolas" pitchFamily="49" charset="0"/>
              </a:rPr>
              <a:t>，由该值和解决冲突方法来确定其存储地址。</a:t>
            </a:r>
          </a:p>
        </p:txBody>
      </p:sp>
      <p:sp>
        <p:nvSpPr>
          <p:cNvPr id="4" name="TextBox 3">
            <a:extLst>
              <a:ext uri="{FF2B5EF4-FFF2-40B4-BE49-F238E27FC236}">
                <a16:creationId xmlns:a16="http://schemas.microsoft.com/office/drawing/2014/main" id="{B96A4F15-E7C9-48D9-9D36-D748FCF8CAF3}"/>
              </a:ext>
            </a:extLst>
          </p:cNvPr>
          <p:cNvSpPr txBox="1"/>
          <p:nvPr/>
        </p:nvSpPr>
        <p:spPr>
          <a:xfrm>
            <a:off x="575556" y="4081632"/>
            <a:ext cx="3068414" cy="461665"/>
          </a:xfrm>
          <a:prstGeom prst="rect">
            <a:avLst/>
          </a:prstGeom>
          <a:noFill/>
        </p:spPr>
        <p:txBody>
          <a:bodyPr wrap="square" rtlCol="0">
            <a:spAutoFit/>
          </a:bodyPr>
          <a:lstStyle/>
          <a:p>
            <a:pPr algn="l"/>
            <a:r>
              <a:rPr lang="zh-CN" altLang="en-US" sz="2400">
                <a:solidFill>
                  <a:srgbClr val="0000FF"/>
                </a:solidFill>
                <a:latin typeface="楷体" panose="02010609060101010101" pitchFamily="49" charset="-122"/>
                <a:ea typeface="楷体" panose="02010609060101010101" pitchFamily="49" charset="-122"/>
                <a:cs typeface="Consolas" pitchFamily="49" charset="0"/>
              </a:rPr>
              <a:t>哈希存储结构的</a:t>
            </a:r>
            <a:r>
              <a:rPr lang="zh-CN" altLang="en-US" sz="2400">
                <a:solidFill>
                  <a:srgbClr val="FF0000"/>
                </a:solidFill>
                <a:latin typeface="楷体" panose="02010609060101010101" pitchFamily="49" charset="-122"/>
                <a:ea typeface="楷体" panose="02010609060101010101" pitchFamily="49" charset="-122"/>
              </a:rPr>
              <a:t>特点</a:t>
            </a:r>
          </a:p>
        </p:txBody>
      </p:sp>
      <p:sp>
        <p:nvSpPr>
          <p:cNvPr id="5" name="TextBox 4">
            <a:extLst>
              <a:ext uri="{FF2B5EF4-FFF2-40B4-BE49-F238E27FC236}">
                <a16:creationId xmlns:a16="http://schemas.microsoft.com/office/drawing/2014/main" id="{4D96740D-5FDE-4335-B56C-5BBFD19A4025}"/>
              </a:ext>
            </a:extLst>
          </p:cNvPr>
          <p:cNvSpPr txBox="1"/>
          <p:nvPr/>
        </p:nvSpPr>
        <p:spPr>
          <a:xfrm>
            <a:off x="575556" y="4653136"/>
            <a:ext cx="6137760" cy="13877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44000" bIns="144000" rtlCol="0">
            <a:spAutoFit/>
          </a:bodyPr>
          <a:lstStyle/>
          <a:p>
            <a:pPr marL="457200" indent="-457200" algn="l">
              <a:lnSpc>
                <a:spcPts val="3000"/>
              </a:lnSpc>
              <a:spcBef>
                <a:spcPts val="0"/>
              </a:spcBef>
              <a:buBlip>
                <a:blip r:embed="rId2"/>
              </a:buBlip>
            </a:pPr>
            <a:r>
              <a:rPr lang="zh-CN" altLang="en-US" sz="2400">
                <a:solidFill>
                  <a:srgbClr val="0000FF"/>
                </a:solidFill>
                <a:latin typeface="楷体" panose="02010609060101010101" pitchFamily="49" charset="-122"/>
                <a:ea typeface="楷体" panose="02010609060101010101" pitchFamily="49" charset="-122"/>
              </a:rPr>
              <a:t>按关键字查找速度快</a:t>
            </a:r>
            <a:endParaRPr lang="en-US" altLang="zh-CN" sz="2400">
              <a:solidFill>
                <a:srgbClr val="0000FF"/>
              </a:solidFill>
              <a:latin typeface="楷体" panose="02010609060101010101" pitchFamily="49" charset="-122"/>
              <a:ea typeface="楷体" panose="02010609060101010101" pitchFamily="49" charset="-122"/>
            </a:endParaRPr>
          </a:p>
          <a:p>
            <a:pPr marL="457200" indent="-457200" algn="l">
              <a:lnSpc>
                <a:spcPts val="3000"/>
              </a:lnSpc>
              <a:spcBef>
                <a:spcPts val="0"/>
              </a:spcBef>
              <a:buBlip>
                <a:blip r:embed="rId2"/>
              </a:buBlip>
            </a:pPr>
            <a:r>
              <a:rPr lang="zh-CN" altLang="en-US" sz="2400">
                <a:solidFill>
                  <a:srgbClr val="0000FF"/>
                </a:solidFill>
                <a:latin typeface="楷体" panose="02010609060101010101" pitchFamily="49" charset="-122"/>
                <a:ea typeface="楷体" panose="02010609060101010101" pitchFamily="49" charset="-122"/>
              </a:rPr>
              <a:t>需要解决冲突</a:t>
            </a:r>
            <a:endParaRPr lang="en-US" altLang="zh-CN" sz="2400">
              <a:solidFill>
                <a:srgbClr val="0000FF"/>
              </a:solidFill>
              <a:latin typeface="楷体" panose="02010609060101010101" pitchFamily="49" charset="-122"/>
              <a:ea typeface="楷体" panose="02010609060101010101" pitchFamily="49" charset="-122"/>
            </a:endParaRPr>
          </a:p>
          <a:p>
            <a:pPr marL="457200" indent="-457200" algn="l">
              <a:lnSpc>
                <a:spcPts val="3000"/>
              </a:lnSpc>
              <a:spcBef>
                <a:spcPts val="0"/>
              </a:spcBef>
              <a:buBlip>
                <a:blip r:embed="rId2"/>
              </a:buBlip>
            </a:pPr>
            <a:r>
              <a:rPr lang="zh-CN" altLang="en-US" sz="2400">
                <a:solidFill>
                  <a:srgbClr val="0000FF"/>
                </a:solidFill>
                <a:latin typeface="楷体" panose="02010609060101010101" pitchFamily="49" charset="-122"/>
                <a:ea typeface="楷体" panose="02010609060101010101" pitchFamily="49" charset="-122"/>
              </a:rPr>
              <a:t>但不非适合任何数据的存储</a:t>
            </a:r>
          </a:p>
        </p:txBody>
      </p:sp>
    </p:spTree>
    <p:extLst>
      <p:ext uri="{BB962C8B-B14F-4D97-AF65-F5344CB8AC3E}">
        <p14:creationId xmlns:p14="http://schemas.microsoft.com/office/powerpoint/2010/main" val="40797252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60">
            <a:extLst>
              <a:ext uri="{FF2B5EF4-FFF2-40B4-BE49-F238E27FC236}">
                <a16:creationId xmlns:a16="http://schemas.microsoft.com/office/drawing/2014/main" id="{A2754E87-F69E-40AB-BF0E-C944CE25270D}"/>
              </a:ext>
            </a:extLst>
          </p:cNvPr>
          <p:cNvGraphicFramePr>
            <a:graphicFrameLocks noGrp="1"/>
          </p:cNvGraphicFramePr>
          <p:nvPr>
            <p:extLst>
              <p:ext uri="{D42A27DB-BD31-4B8C-83A1-F6EECF244321}">
                <p14:modId xmlns:p14="http://schemas.microsoft.com/office/powerpoint/2010/main" val="144840078"/>
              </p:ext>
            </p:extLst>
          </p:nvPr>
        </p:nvGraphicFramePr>
        <p:xfrm>
          <a:off x="323528" y="341104"/>
          <a:ext cx="3000396" cy="2688273"/>
        </p:xfrm>
        <a:graphic>
          <a:graphicData uri="http://schemas.openxmlformats.org/drawingml/2006/table">
            <a:tbl>
              <a:tblPr>
                <a:tableStyleId>{35758FB7-9AC5-4552-8A53-C91805E547FA}</a:tableStyleId>
              </a:tblPr>
              <a:tblGrid>
                <a:gridCol w="714380">
                  <a:extLst>
                    <a:ext uri="{9D8B030D-6E8A-4147-A177-3AD203B41FA5}">
                      <a16:colId xmlns:a16="http://schemas.microsoft.com/office/drawing/2014/main" val="20000"/>
                    </a:ext>
                  </a:extLst>
                </a:gridCol>
                <a:gridCol w="785818">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857256">
                  <a:extLst>
                    <a:ext uri="{9D8B030D-6E8A-4147-A177-3AD203B41FA5}">
                      <a16:colId xmlns:a16="http://schemas.microsoft.com/office/drawing/2014/main" val="20003"/>
                    </a:ext>
                  </a:extLst>
                </a:gridCol>
              </a:tblGrid>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学号</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姓名</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性别</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班号</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张斌</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8</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刘丽</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34</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李英</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20</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陈华</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4"/>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12</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王奇</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5"/>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26</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董强</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6"/>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王萍</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7"/>
                  </a:ext>
                </a:extLst>
              </a:tr>
            </a:tbl>
          </a:graphicData>
        </a:graphic>
      </p:graphicFrame>
      <p:sp>
        <p:nvSpPr>
          <p:cNvPr id="5" name="TextBox 3">
            <a:extLst>
              <a:ext uri="{FF2B5EF4-FFF2-40B4-BE49-F238E27FC236}">
                <a16:creationId xmlns:a16="http://schemas.microsoft.com/office/drawing/2014/main" id="{D0C8A2C9-1036-41F2-B604-0ABF35B0EF79}"/>
              </a:ext>
            </a:extLst>
          </p:cNvPr>
          <p:cNvSpPr txBox="1"/>
          <p:nvPr/>
        </p:nvSpPr>
        <p:spPr>
          <a:xfrm>
            <a:off x="539552" y="-93006"/>
            <a:ext cx="2571768" cy="417678"/>
          </a:xfrm>
          <a:prstGeom prst="rect">
            <a:avLst/>
          </a:prstGeom>
          <a:noFill/>
        </p:spPr>
        <p:txBody>
          <a:bodyPr wrap="square" rtlCol="0">
            <a:spAutoFit/>
          </a:bodyPr>
          <a:lstStyle/>
          <a:p>
            <a:pPr>
              <a:lnSpc>
                <a:spcPct val="130000"/>
              </a:lnSpc>
            </a:pPr>
            <a:r>
              <a:rPr lang="zh-CN" altLang="en-US" sz="1800" b="1" dirty="0">
                <a:solidFill>
                  <a:srgbClr val="0000FF"/>
                </a:solidFill>
                <a:latin typeface="Consolas" pitchFamily="49" charset="0"/>
                <a:ea typeface="楷体" pitchFamily="49" charset="-122"/>
                <a:cs typeface="Consolas" pitchFamily="49" charset="0"/>
              </a:rPr>
              <a:t>学生表的逻辑结构</a:t>
            </a:r>
          </a:p>
        </p:txBody>
      </p:sp>
      <p:sp>
        <p:nvSpPr>
          <p:cNvPr id="6" name="TextBox 4">
            <a:extLst>
              <a:ext uri="{FF2B5EF4-FFF2-40B4-BE49-F238E27FC236}">
                <a16:creationId xmlns:a16="http://schemas.microsoft.com/office/drawing/2014/main" id="{3FD44E94-9096-45BC-87AB-721A6429BA71}"/>
              </a:ext>
            </a:extLst>
          </p:cNvPr>
          <p:cNvSpPr txBox="1"/>
          <p:nvPr/>
        </p:nvSpPr>
        <p:spPr>
          <a:xfrm>
            <a:off x="252090" y="3055748"/>
            <a:ext cx="3071834" cy="707886"/>
          </a:xfrm>
          <a:prstGeom prst="rect">
            <a:avLst/>
          </a:prstGeom>
          <a:noFill/>
        </p:spPr>
        <p:txBody>
          <a:bodyPr wrap="square" rtlCol="0">
            <a:spAutoFit/>
          </a:bodyPr>
          <a:lstStyle/>
          <a:p>
            <a:pPr algn="l">
              <a:lnSpc>
                <a:spcPts val="2400"/>
              </a:lnSpc>
              <a:spcBef>
                <a:spcPts val="0"/>
              </a:spcBef>
            </a:pPr>
            <a:r>
              <a:rPr lang="en-US" altLang="zh-CN" sz="1800" i="1">
                <a:solidFill>
                  <a:srgbClr val="0000FF"/>
                </a:solidFill>
                <a:latin typeface="Consolas" pitchFamily="49" charset="0"/>
                <a:ea typeface="仿宋" pitchFamily="49" charset="-122"/>
                <a:cs typeface="Consolas" pitchFamily="49" charset="0"/>
              </a:rPr>
              <a:t>n</a:t>
            </a:r>
            <a:r>
              <a:rPr lang="en-US" altLang="zh-CN" sz="1800">
                <a:solidFill>
                  <a:srgbClr val="0000FF"/>
                </a:solidFill>
                <a:latin typeface="Consolas" pitchFamily="49" charset="0"/>
                <a:ea typeface="仿宋" pitchFamily="49" charset="-122"/>
                <a:cs typeface="Consolas" pitchFamily="49" charset="0"/>
              </a:rPr>
              <a:t>=7,</a:t>
            </a:r>
            <a:r>
              <a:rPr lang="en-US" altLang="zh-CN" sz="1800" i="1">
                <a:solidFill>
                  <a:srgbClr val="0000FF"/>
                </a:solidFill>
                <a:latin typeface="Consolas" pitchFamily="49" charset="0"/>
                <a:ea typeface="仿宋" pitchFamily="49" charset="-122"/>
                <a:cs typeface="Consolas" pitchFamily="49" charset="0"/>
              </a:rPr>
              <a:t>m</a:t>
            </a:r>
            <a:r>
              <a:rPr lang="en-US" altLang="zh-CN" sz="1800">
                <a:solidFill>
                  <a:srgbClr val="0000FF"/>
                </a:solidFill>
                <a:latin typeface="Consolas" pitchFamily="49" charset="0"/>
                <a:ea typeface="仿宋" pitchFamily="49" charset="-122"/>
                <a:cs typeface="Consolas" pitchFamily="49" charset="0"/>
              </a:rPr>
              <a:t>=10</a:t>
            </a:r>
          </a:p>
          <a:p>
            <a:pPr algn="l">
              <a:lnSpc>
                <a:spcPts val="2400"/>
              </a:lnSpc>
              <a:spcBef>
                <a:spcPts val="0"/>
              </a:spcBef>
            </a:pPr>
            <a:r>
              <a:rPr lang="zh-CN" altLang="en-US" sz="1800">
                <a:solidFill>
                  <a:srgbClr val="0000FF"/>
                </a:solidFill>
                <a:latin typeface="Consolas" pitchFamily="49" charset="0"/>
                <a:ea typeface="仿宋" pitchFamily="49" charset="-122"/>
                <a:cs typeface="Consolas" pitchFamily="49" charset="0"/>
              </a:rPr>
              <a:t>哈希函数：</a:t>
            </a:r>
            <a:r>
              <a:rPr lang="en-US" altLang="zh-CN" sz="1800" i="1">
                <a:solidFill>
                  <a:srgbClr val="0000FF"/>
                </a:solidFill>
                <a:latin typeface="Consolas" pitchFamily="49" charset="0"/>
                <a:ea typeface="仿宋" pitchFamily="49" charset="-122"/>
                <a:cs typeface="Consolas" pitchFamily="49" charset="0"/>
              </a:rPr>
              <a:t>h</a:t>
            </a:r>
            <a:r>
              <a:rPr lang="en-US" altLang="zh-CN" sz="1800">
                <a:solidFill>
                  <a:srgbClr val="0000FF"/>
                </a:solidFill>
                <a:latin typeface="Consolas" pitchFamily="49" charset="0"/>
                <a:ea typeface="仿宋" pitchFamily="49" charset="-122"/>
                <a:cs typeface="Consolas" pitchFamily="49" charset="0"/>
              </a:rPr>
              <a:t>(key)=key%10</a:t>
            </a:r>
            <a:endParaRPr lang="zh-CN" altLang="en-US" sz="1800"/>
          </a:p>
        </p:txBody>
      </p:sp>
      <p:graphicFrame>
        <p:nvGraphicFramePr>
          <p:cNvPr id="7" name="Group 60">
            <a:extLst>
              <a:ext uri="{FF2B5EF4-FFF2-40B4-BE49-F238E27FC236}">
                <a16:creationId xmlns:a16="http://schemas.microsoft.com/office/drawing/2014/main" id="{D954C484-259A-49E4-AA61-E24642D939F2}"/>
              </a:ext>
            </a:extLst>
          </p:cNvPr>
          <p:cNvGraphicFramePr>
            <a:graphicFrameLocks noGrp="1"/>
          </p:cNvGraphicFramePr>
          <p:nvPr>
            <p:extLst>
              <p:ext uri="{D42A27DB-BD31-4B8C-83A1-F6EECF244321}">
                <p14:modId xmlns:p14="http://schemas.microsoft.com/office/powerpoint/2010/main" val="1850594236"/>
              </p:ext>
            </p:extLst>
          </p:nvPr>
        </p:nvGraphicFramePr>
        <p:xfrm>
          <a:off x="5038436" y="1409205"/>
          <a:ext cx="3357584" cy="3718245"/>
        </p:xfrm>
        <a:graphic>
          <a:graphicData uri="http://schemas.openxmlformats.org/drawingml/2006/table">
            <a:tbl>
              <a:tblPr>
                <a:tableStyleId>{69C7853C-536D-4A76-A0AE-DD22124D55A5}</a:tableStyleId>
              </a:tblPr>
              <a:tblGrid>
                <a:gridCol w="645689">
                  <a:extLst>
                    <a:ext uri="{9D8B030D-6E8A-4147-A177-3AD203B41FA5}">
                      <a16:colId xmlns:a16="http://schemas.microsoft.com/office/drawing/2014/main" val="20000"/>
                    </a:ext>
                  </a:extLst>
                </a:gridCol>
                <a:gridCol w="645689">
                  <a:extLst>
                    <a:ext uri="{9D8B030D-6E8A-4147-A177-3AD203B41FA5}">
                      <a16:colId xmlns:a16="http://schemas.microsoft.com/office/drawing/2014/main" val="20001"/>
                    </a:ext>
                  </a:extLst>
                </a:gridCol>
                <a:gridCol w="637446">
                  <a:extLst>
                    <a:ext uri="{9D8B030D-6E8A-4147-A177-3AD203B41FA5}">
                      <a16:colId xmlns:a16="http://schemas.microsoft.com/office/drawing/2014/main" val="20002"/>
                    </a:ext>
                  </a:extLst>
                </a:gridCol>
                <a:gridCol w="653933">
                  <a:extLst>
                    <a:ext uri="{9D8B030D-6E8A-4147-A177-3AD203B41FA5}">
                      <a16:colId xmlns:a16="http://schemas.microsoft.com/office/drawing/2014/main" val="20003"/>
                    </a:ext>
                  </a:extLst>
                </a:gridCol>
                <a:gridCol w="774827">
                  <a:extLst>
                    <a:ext uri="{9D8B030D-6E8A-4147-A177-3AD203B41FA5}">
                      <a16:colId xmlns:a16="http://schemas.microsoft.com/office/drawing/2014/main" val="20004"/>
                    </a:ext>
                  </a:extLst>
                </a:gridCol>
              </a:tblGrid>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FF0000"/>
                          </a:solidFill>
                          <a:effectLst/>
                          <a:latin typeface="Consolas" pitchFamily="49" charset="0"/>
                          <a:ea typeface="仿宋" pitchFamily="49" charset="-122"/>
                          <a:cs typeface="Consolas" pitchFamily="49" charset="0"/>
                        </a:rPr>
                        <a:t>地址</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学号</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姓名</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性别</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班号</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0</a:t>
                      </a:r>
                      <a:endParaRPr kumimoji="0" lang="en-US" altLang="zh-CN" sz="1600" b="1" i="0" u="none" strike="noStrike" cap="none" normalizeH="0" baseline="0" dirty="0">
                        <a:ln>
                          <a:noFill/>
                        </a:ln>
                        <a:solidFill>
                          <a:srgbClr val="00B0F0"/>
                        </a:solidFill>
                        <a:effectLst/>
                        <a:latin typeface="Consolas" pitchFamily="49" charset="0"/>
                        <a:ea typeface="仿宋"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20</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陈华</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1</a:t>
                      </a:r>
                      <a:endPar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张斌</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2</a:t>
                      </a:r>
                      <a:endPar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12</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王奇</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3</a:t>
                      </a:r>
                      <a:endPar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4"/>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4</a:t>
                      </a:r>
                      <a:endPar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34</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李英</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5"/>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rPr>
                        <a:t>5</a:t>
                      </a: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王萍</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6"/>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rPr>
                        <a:t>6</a:t>
                      </a: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26</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董强</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7"/>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rPr>
                        <a:t>7</a:t>
                      </a: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8"/>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rPr>
                        <a:t>8</a:t>
                      </a: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8</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刘丽</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9"/>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rPr>
                        <a:t>9</a:t>
                      </a: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10"/>
                  </a:ext>
                </a:extLst>
              </a:tr>
            </a:tbl>
          </a:graphicData>
        </a:graphic>
      </p:graphicFrame>
      <p:graphicFrame>
        <p:nvGraphicFramePr>
          <p:cNvPr id="8" name="Group 60">
            <a:extLst>
              <a:ext uri="{FF2B5EF4-FFF2-40B4-BE49-F238E27FC236}">
                <a16:creationId xmlns:a16="http://schemas.microsoft.com/office/drawing/2014/main" id="{6F3C70DB-3AEA-461B-9B4F-64C9052C1081}"/>
              </a:ext>
            </a:extLst>
          </p:cNvPr>
          <p:cNvGraphicFramePr>
            <a:graphicFrameLocks noGrp="1"/>
          </p:cNvGraphicFramePr>
          <p:nvPr>
            <p:extLst>
              <p:ext uri="{D42A27DB-BD31-4B8C-83A1-F6EECF244321}">
                <p14:modId xmlns:p14="http://schemas.microsoft.com/office/powerpoint/2010/main" val="993933697"/>
              </p:ext>
            </p:extLst>
          </p:nvPr>
        </p:nvGraphicFramePr>
        <p:xfrm>
          <a:off x="323528" y="3796499"/>
          <a:ext cx="3071834" cy="2688273"/>
        </p:xfrm>
        <a:graphic>
          <a:graphicData uri="http://schemas.openxmlformats.org/drawingml/2006/table">
            <a:tbl>
              <a:tblPr>
                <a:tableStyleId>{35758FB7-9AC5-4552-8A53-C91805E547FA}</a:tableStyleId>
              </a:tblPr>
              <a:tblGrid>
                <a:gridCol w="1462778">
                  <a:extLst>
                    <a:ext uri="{9D8B030D-6E8A-4147-A177-3AD203B41FA5}">
                      <a16:colId xmlns:a16="http://schemas.microsoft.com/office/drawing/2014/main" val="20000"/>
                    </a:ext>
                  </a:extLst>
                </a:gridCol>
                <a:gridCol w="1609056">
                  <a:extLst>
                    <a:ext uri="{9D8B030D-6E8A-4147-A177-3AD203B41FA5}">
                      <a16:colId xmlns:a16="http://schemas.microsoft.com/office/drawing/2014/main" val="20001"/>
                    </a:ext>
                  </a:extLst>
                </a:gridCol>
              </a:tblGrid>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FF0000"/>
                          </a:solidFill>
                          <a:effectLst/>
                          <a:latin typeface="Consolas" pitchFamily="49" charset="0"/>
                          <a:ea typeface="仿宋" pitchFamily="49" charset="-122"/>
                          <a:cs typeface="Consolas" pitchFamily="49" charset="0"/>
                        </a:rPr>
                        <a:t>学号</a:t>
                      </a:r>
                      <a:r>
                        <a:rPr kumimoji="0" lang="en-US" altLang="zh-CN" sz="1600" b="1" u="none" strike="noStrike" cap="none" normalizeH="0" baseline="0">
                          <a:ln>
                            <a:noFill/>
                          </a:ln>
                          <a:solidFill>
                            <a:srgbClr val="FF0000"/>
                          </a:solidFill>
                          <a:effectLst/>
                          <a:latin typeface="Consolas" pitchFamily="49" charset="0"/>
                          <a:ea typeface="仿宋" pitchFamily="49" charset="-122"/>
                          <a:cs typeface="Consolas" pitchFamily="49" charset="0"/>
                        </a:rPr>
                        <a:t>(key)</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1" u="none" strike="noStrike" cap="none" normalizeH="0" baseline="0">
                          <a:ln>
                            <a:noFill/>
                          </a:ln>
                          <a:solidFill>
                            <a:srgbClr val="FF0000"/>
                          </a:solidFill>
                          <a:effectLst/>
                          <a:latin typeface="Consolas" pitchFamily="49" charset="0"/>
                          <a:ea typeface="仿宋" pitchFamily="49" charset="-122"/>
                          <a:cs typeface="Consolas" pitchFamily="49" charset="0"/>
                        </a:rPr>
                        <a:t>h</a:t>
                      </a:r>
                      <a:r>
                        <a:rPr kumimoji="0" lang="en-US" altLang="zh-CN" sz="1600" b="1" u="none" strike="noStrike" cap="none" normalizeH="0" baseline="0">
                          <a:ln>
                            <a:noFill/>
                          </a:ln>
                          <a:solidFill>
                            <a:srgbClr val="FF0000"/>
                          </a:solidFill>
                          <a:effectLst/>
                          <a:latin typeface="Consolas" pitchFamily="49" charset="0"/>
                          <a:ea typeface="仿宋" pitchFamily="49" charset="-122"/>
                          <a:cs typeface="Consolas" pitchFamily="49" charset="0"/>
                        </a:rPr>
                        <a:t>(key)</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1%10 = </a:t>
                      </a: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1</a:t>
                      </a:r>
                      <a:endParaRPr kumimoji="0" lang="zh-CN" altLang="en-US" sz="1600" b="1" i="0" u="none" strike="noStrike" cap="none" normalizeH="0" baseline="0" dirty="0">
                        <a:ln>
                          <a:noFill/>
                        </a:ln>
                        <a:solidFill>
                          <a:srgbClr val="00B0F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8</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8%10 = </a:t>
                      </a: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8</a:t>
                      </a:r>
                      <a:endParaRPr kumimoji="0" lang="zh-CN" altLang="en-US" sz="1600" b="1" i="0" u="none" strike="noStrike" cap="none" normalizeH="0" baseline="0" dirty="0">
                        <a:ln>
                          <a:noFill/>
                        </a:ln>
                        <a:solidFill>
                          <a:srgbClr val="00B0F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34</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34%10 = </a:t>
                      </a: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4</a:t>
                      </a:r>
                      <a:endParaRPr kumimoji="0" lang="zh-CN" altLang="en-US" sz="1600" b="1" i="0" u="none" strike="noStrike" cap="none" normalizeH="0" baseline="0" dirty="0">
                        <a:ln>
                          <a:noFill/>
                        </a:ln>
                        <a:solidFill>
                          <a:srgbClr val="00B0F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20</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20%10 = </a:t>
                      </a: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0</a:t>
                      </a:r>
                      <a:endParaRPr kumimoji="0" lang="zh-CN" altLang="en-US" sz="1600" b="1" i="0" u="none" strike="noStrike" cap="none" normalizeH="0" baseline="0" dirty="0">
                        <a:ln>
                          <a:noFill/>
                        </a:ln>
                        <a:solidFill>
                          <a:srgbClr val="00B0F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4"/>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12</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12%10 = </a:t>
                      </a:r>
                      <a:r>
                        <a:rPr kumimoji="0" lang="en-US" altLang="zh-CN" sz="1600" b="1" u="none" strike="noStrike" cap="none" normalizeH="0" baseline="0" dirty="0">
                          <a:ln>
                            <a:noFill/>
                          </a:ln>
                          <a:solidFill>
                            <a:srgbClr val="00B0F0"/>
                          </a:solidFill>
                          <a:effectLst/>
                          <a:latin typeface="Consolas" pitchFamily="49" charset="0"/>
                          <a:ea typeface="仿宋" pitchFamily="49" charset="-122"/>
                          <a:cs typeface="Consolas" pitchFamily="49" charset="0"/>
                        </a:rPr>
                        <a:t>2</a:t>
                      </a:r>
                      <a:endParaRPr kumimoji="0" lang="zh-CN" altLang="en-US" sz="1600" b="1" i="0" u="none" strike="noStrike" cap="none" normalizeH="0" baseline="0" dirty="0">
                        <a:ln>
                          <a:noFill/>
                        </a:ln>
                        <a:solidFill>
                          <a:srgbClr val="00B0F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5"/>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26</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26%10 = </a:t>
                      </a: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6</a:t>
                      </a:r>
                      <a:endParaRPr kumimoji="0" lang="zh-CN" altLang="en-US" sz="1600" b="1" i="0" u="none" strike="noStrike" cap="none" normalizeH="0" baseline="0">
                        <a:ln>
                          <a:noFill/>
                        </a:ln>
                        <a:solidFill>
                          <a:srgbClr val="00B0F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6"/>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5%10 = </a:t>
                      </a:r>
                      <a:r>
                        <a:rPr kumimoji="0" lang="en-US" altLang="zh-CN" sz="1600" b="1" u="none" strike="noStrike" cap="none" normalizeH="0" baseline="0" dirty="0">
                          <a:ln>
                            <a:noFill/>
                          </a:ln>
                          <a:solidFill>
                            <a:srgbClr val="00B0F0"/>
                          </a:solidFill>
                          <a:effectLst/>
                          <a:latin typeface="Consolas" pitchFamily="49" charset="0"/>
                          <a:ea typeface="仿宋" pitchFamily="49" charset="-122"/>
                          <a:cs typeface="Consolas" pitchFamily="49" charset="0"/>
                        </a:rPr>
                        <a:t>5</a:t>
                      </a:r>
                      <a:endParaRPr kumimoji="0" lang="zh-CN" altLang="en-US" sz="1600" b="1" i="0" u="none" strike="noStrike" cap="none" normalizeH="0" baseline="0" dirty="0">
                        <a:ln>
                          <a:noFill/>
                        </a:ln>
                        <a:solidFill>
                          <a:srgbClr val="00B0F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7"/>
                  </a:ext>
                </a:extLst>
              </a:tr>
            </a:tbl>
          </a:graphicData>
        </a:graphic>
      </p:graphicFrame>
      <p:sp>
        <p:nvSpPr>
          <p:cNvPr id="9" name="TextBox 8">
            <a:extLst>
              <a:ext uri="{FF2B5EF4-FFF2-40B4-BE49-F238E27FC236}">
                <a16:creationId xmlns:a16="http://schemas.microsoft.com/office/drawing/2014/main" id="{3C8A9E7B-2B41-4467-8945-FFF5EDA00511}"/>
              </a:ext>
            </a:extLst>
          </p:cNvPr>
          <p:cNvSpPr txBox="1"/>
          <p:nvPr/>
        </p:nvSpPr>
        <p:spPr>
          <a:xfrm>
            <a:off x="5681378" y="841170"/>
            <a:ext cx="2643206" cy="400110"/>
          </a:xfrm>
          <a:prstGeom prst="rect">
            <a:avLst/>
          </a:prstGeom>
          <a:noFill/>
        </p:spPr>
        <p:txBody>
          <a:bodyPr wrap="square" rtlCol="0">
            <a:spAutoFit/>
          </a:bodyPr>
          <a:lstStyle/>
          <a:p>
            <a:pPr algn="l"/>
            <a:r>
              <a:rPr lang="zh-CN" altLang="en-US" sz="2000">
                <a:solidFill>
                  <a:srgbClr val="0000FF"/>
                </a:solidFill>
                <a:latin typeface="华文中宋" pitchFamily="2" charset="-122"/>
                <a:ea typeface="华文中宋" pitchFamily="2" charset="-122"/>
                <a:cs typeface="Consolas" pitchFamily="49" charset="0"/>
              </a:rPr>
              <a:t>学生表哈希存储结构</a:t>
            </a:r>
            <a:endParaRPr lang="zh-CN" altLang="en-US" sz="2000">
              <a:latin typeface="华文中宋" pitchFamily="2" charset="-122"/>
              <a:ea typeface="华文中宋" pitchFamily="2" charset="-122"/>
            </a:endParaRPr>
          </a:p>
        </p:txBody>
      </p:sp>
      <p:sp>
        <p:nvSpPr>
          <p:cNvPr id="10" name="右箭头 9">
            <a:extLst>
              <a:ext uri="{FF2B5EF4-FFF2-40B4-BE49-F238E27FC236}">
                <a16:creationId xmlns:a16="http://schemas.microsoft.com/office/drawing/2014/main" id="{205FAAFD-02BC-4823-8D0B-850C0DE1AF91}"/>
              </a:ext>
            </a:extLst>
          </p:cNvPr>
          <p:cNvSpPr/>
          <p:nvPr/>
        </p:nvSpPr>
        <p:spPr>
          <a:xfrm rot="19217804">
            <a:off x="3736232" y="3373300"/>
            <a:ext cx="1071570" cy="214314"/>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715032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60">
            <a:extLst>
              <a:ext uri="{FF2B5EF4-FFF2-40B4-BE49-F238E27FC236}">
                <a16:creationId xmlns:a16="http://schemas.microsoft.com/office/drawing/2014/main" id="{C7B438DC-DE65-4D36-A440-40B7725A0F6B}"/>
              </a:ext>
            </a:extLst>
          </p:cNvPr>
          <p:cNvGraphicFramePr>
            <a:graphicFrameLocks noGrp="1"/>
          </p:cNvGraphicFramePr>
          <p:nvPr>
            <p:extLst>
              <p:ext uri="{D42A27DB-BD31-4B8C-83A1-F6EECF244321}">
                <p14:modId xmlns:p14="http://schemas.microsoft.com/office/powerpoint/2010/main" val="519712713"/>
              </p:ext>
            </p:extLst>
          </p:nvPr>
        </p:nvGraphicFramePr>
        <p:xfrm>
          <a:off x="467544" y="764704"/>
          <a:ext cx="3357584" cy="3718245"/>
        </p:xfrm>
        <a:graphic>
          <a:graphicData uri="http://schemas.openxmlformats.org/drawingml/2006/table">
            <a:tbl>
              <a:tblPr>
                <a:tableStyleId>{69C7853C-536D-4A76-A0AE-DD22124D55A5}</a:tableStyleId>
              </a:tblPr>
              <a:tblGrid>
                <a:gridCol w="645689">
                  <a:extLst>
                    <a:ext uri="{9D8B030D-6E8A-4147-A177-3AD203B41FA5}">
                      <a16:colId xmlns:a16="http://schemas.microsoft.com/office/drawing/2014/main" val="20000"/>
                    </a:ext>
                  </a:extLst>
                </a:gridCol>
                <a:gridCol w="645689">
                  <a:extLst>
                    <a:ext uri="{9D8B030D-6E8A-4147-A177-3AD203B41FA5}">
                      <a16:colId xmlns:a16="http://schemas.microsoft.com/office/drawing/2014/main" val="20001"/>
                    </a:ext>
                  </a:extLst>
                </a:gridCol>
                <a:gridCol w="637446">
                  <a:extLst>
                    <a:ext uri="{9D8B030D-6E8A-4147-A177-3AD203B41FA5}">
                      <a16:colId xmlns:a16="http://schemas.microsoft.com/office/drawing/2014/main" val="20002"/>
                    </a:ext>
                  </a:extLst>
                </a:gridCol>
                <a:gridCol w="653933">
                  <a:extLst>
                    <a:ext uri="{9D8B030D-6E8A-4147-A177-3AD203B41FA5}">
                      <a16:colId xmlns:a16="http://schemas.microsoft.com/office/drawing/2014/main" val="20003"/>
                    </a:ext>
                  </a:extLst>
                </a:gridCol>
                <a:gridCol w="774827">
                  <a:extLst>
                    <a:ext uri="{9D8B030D-6E8A-4147-A177-3AD203B41FA5}">
                      <a16:colId xmlns:a16="http://schemas.microsoft.com/office/drawing/2014/main" val="20004"/>
                    </a:ext>
                  </a:extLst>
                </a:gridCol>
              </a:tblGrid>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FF0000"/>
                          </a:solidFill>
                          <a:effectLst/>
                          <a:latin typeface="Consolas" pitchFamily="49" charset="0"/>
                          <a:ea typeface="仿宋" pitchFamily="49" charset="-122"/>
                          <a:cs typeface="Consolas" pitchFamily="49" charset="0"/>
                        </a:rPr>
                        <a:t>地址</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学号</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姓名</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性别</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仿宋" pitchFamily="49" charset="-122"/>
                          <a:cs typeface="Consolas" pitchFamily="49" charset="0"/>
                        </a:rPr>
                        <a:t>班号</a:t>
                      </a:r>
                      <a:endParaRPr kumimoji="0" lang="zh-CN" altLang="en-US" sz="1600" b="1"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0</a:t>
                      </a:r>
                      <a:endParaRPr kumimoji="0" lang="en-US" altLang="zh-CN" sz="1600" b="1" i="0" u="none" strike="noStrike" cap="none" normalizeH="0" baseline="0" dirty="0">
                        <a:ln>
                          <a:noFill/>
                        </a:ln>
                        <a:solidFill>
                          <a:srgbClr val="00B0F0"/>
                        </a:solidFill>
                        <a:effectLst/>
                        <a:latin typeface="Consolas" pitchFamily="49" charset="0"/>
                        <a:ea typeface="仿宋"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20</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陈华</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1</a:t>
                      </a:r>
                      <a:endPar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张斌</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2</a:t>
                      </a:r>
                      <a:endPar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12</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王奇</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3</a:t>
                      </a:r>
                      <a:endPar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4"/>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B0F0"/>
                          </a:solidFill>
                          <a:effectLst/>
                          <a:latin typeface="Consolas" pitchFamily="49" charset="0"/>
                          <a:ea typeface="仿宋" pitchFamily="49" charset="-122"/>
                          <a:cs typeface="Consolas" pitchFamily="49" charset="0"/>
                        </a:rPr>
                        <a:t>4</a:t>
                      </a:r>
                      <a:endPar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34</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李英</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5"/>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rPr>
                        <a:t>5</a:t>
                      </a: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5</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王萍</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6"/>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rPr>
                        <a:t>6</a:t>
                      </a: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26</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仿宋" pitchFamily="49" charset="-122"/>
                          <a:cs typeface="Consolas" pitchFamily="49" charset="0"/>
                        </a:rPr>
                        <a:t>董强</a:t>
                      </a: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7"/>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rPr>
                        <a:t>7</a:t>
                      </a: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8"/>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rPr>
                        <a:t>8</a:t>
                      </a: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8</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刘丽</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仿宋"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仿宋" pitchFamily="49" charset="-122"/>
                          <a:cs typeface="Consolas" pitchFamily="49" charset="0"/>
                        </a:rPr>
                        <a:t>9902</a:t>
                      </a: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09"/>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a:ln>
                            <a:noFill/>
                          </a:ln>
                          <a:solidFill>
                            <a:srgbClr val="00B0F0"/>
                          </a:solidFill>
                          <a:effectLst/>
                          <a:latin typeface="Consolas" pitchFamily="49" charset="0"/>
                          <a:ea typeface="仿宋" pitchFamily="49" charset="-122"/>
                          <a:cs typeface="Consolas" pitchFamily="49" charset="0"/>
                        </a:rPr>
                        <a:t>9</a:t>
                      </a: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600" b="1" i="0" u="none" strike="noStrike" cap="none" normalizeH="0" baseline="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1600" b="1"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a:txBody>
                  <a:tcPr horzOverflow="overflow"/>
                </a:tc>
                <a:extLst>
                  <a:ext uri="{0D108BD9-81ED-4DB2-BD59-A6C34878D82A}">
                    <a16:rowId xmlns:a16="http://schemas.microsoft.com/office/drawing/2014/main" val="10010"/>
                  </a:ext>
                </a:extLst>
              </a:tr>
            </a:tbl>
          </a:graphicData>
        </a:graphic>
      </p:graphicFrame>
      <p:sp>
        <p:nvSpPr>
          <p:cNvPr id="5" name="TextBox 3">
            <a:extLst>
              <a:ext uri="{FF2B5EF4-FFF2-40B4-BE49-F238E27FC236}">
                <a16:creationId xmlns:a16="http://schemas.microsoft.com/office/drawing/2014/main" id="{469A4F9E-0DA0-4670-926A-289AB1C8AF61}"/>
              </a:ext>
            </a:extLst>
          </p:cNvPr>
          <p:cNvSpPr txBox="1"/>
          <p:nvPr/>
        </p:nvSpPr>
        <p:spPr>
          <a:xfrm>
            <a:off x="3825130" y="268107"/>
            <a:ext cx="3592420" cy="437043"/>
          </a:xfrm>
          <a:prstGeom prst="rect">
            <a:avLst/>
          </a:prstGeom>
          <a:noFill/>
        </p:spPr>
        <p:txBody>
          <a:bodyPr wrap="square" rtlCol="0">
            <a:spAutoFit/>
          </a:bodyPr>
          <a:lstStyle/>
          <a:p>
            <a:pPr algn="l"/>
            <a:r>
              <a:rPr lang="zh-CN" altLang="en-US" sz="2800" dirty="0">
                <a:solidFill>
                  <a:srgbClr val="0000FF"/>
                </a:solidFill>
                <a:latin typeface="华文中宋" pitchFamily="2" charset="-122"/>
                <a:ea typeface="华文中宋" pitchFamily="2" charset="-122"/>
                <a:cs typeface="Consolas" pitchFamily="49" charset="0"/>
              </a:rPr>
              <a:t>学生表哈希存储结构</a:t>
            </a:r>
            <a:endParaRPr lang="zh-CN" altLang="en-US" sz="2800" dirty="0">
              <a:latin typeface="华文中宋" pitchFamily="2" charset="-122"/>
              <a:ea typeface="华文中宋" pitchFamily="2" charset="-122"/>
            </a:endParaRPr>
          </a:p>
        </p:txBody>
      </p:sp>
      <p:sp>
        <p:nvSpPr>
          <p:cNvPr id="6" name="TextBox 4">
            <a:extLst>
              <a:ext uri="{FF2B5EF4-FFF2-40B4-BE49-F238E27FC236}">
                <a16:creationId xmlns:a16="http://schemas.microsoft.com/office/drawing/2014/main" id="{6914383F-60CB-4E3C-B850-FEC0BB389F29}"/>
              </a:ext>
            </a:extLst>
          </p:cNvPr>
          <p:cNvSpPr txBox="1"/>
          <p:nvPr/>
        </p:nvSpPr>
        <p:spPr>
          <a:xfrm>
            <a:off x="4325196" y="1911181"/>
            <a:ext cx="3524402" cy="400110"/>
          </a:xfrm>
          <a:prstGeom prst="rect">
            <a:avLst/>
          </a:prstGeom>
          <a:noFill/>
        </p:spPr>
        <p:txBody>
          <a:bodyPr wrap="square" rtlCol="0">
            <a:spAutoFit/>
          </a:bodyPr>
          <a:lstStyle/>
          <a:p>
            <a:pPr algn="l">
              <a:lnSpc>
                <a:spcPts val="2400"/>
              </a:lnSpc>
              <a:spcBef>
                <a:spcPts val="0"/>
              </a:spcBef>
            </a:pPr>
            <a:r>
              <a:rPr lang="zh-CN" altLang="en-US" sz="2000" dirty="0">
                <a:solidFill>
                  <a:srgbClr val="0000FF"/>
                </a:solidFill>
                <a:latin typeface="Consolas" pitchFamily="49" charset="0"/>
                <a:ea typeface="仿宋" pitchFamily="49" charset="-122"/>
                <a:cs typeface="Consolas" pitchFamily="49" charset="0"/>
              </a:rPr>
              <a:t>哈希函数：</a:t>
            </a:r>
            <a:r>
              <a:rPr lang="en-US" altLang="zh-CN" sz="2000" i="1" dirty="0">
                <a:solidFill>
                  <a:srgbClr val="0000FF"/>
                </a:solidFill>
                <a:latin typeface="Consolas" pitchFamily="49" charset="0"/>
                <a:ea typeface="仿宋" pitchFamily="49" charset="-122"/>
                <a:cs typeface="Consolas" pitchFamily="49" charset="0"/>
              </a:rPr>
              <a:t>h</a:t>
            </a:r>
            <a:r>
              <a:rPr lang="en-US" altLang="zh-CN" sz="2000" dirty="0">
                <a:solidFill>
                  <a:srgbClr val="0000FF"/>
                </a:solidFill>
                <a:latin typeface="Consolas" pitchFamily="49" charset="0"/>
                <a:ea typeface="仿宋" pitchFamily="49" charset="-122"/>
                <a:cs typeface="Consolas" pitchFamily="49" charset="0"/>
              </a:rPr>
              <a:t>(key)=key%10</a:t>
            </a:r>
            <a:endParaRPr lang="zh-CN" altLang="en-US" sz="2000" dirty="0"/>
          </a:p>
        </p:txBody>
      </p:sp>
      <p:sp>
        <p:nvSpPr>
          <p:cNvPr id="7" name="TextBox 5">
            <a:extLst>
              <a:ext uri="{FF2B5EF4-FFF2-40B4-BE49-F238E27FC236}">
                <a16:creationId xmlns:a16="http://schemas.microsoft.com/office/drawing/2014/main" id="{F24F8617-AEF5-4402-B6D4-0BDCDCD888E3}"/>
              </a:ext>
            </a:extLst>
          </p:cNvPr>
          <p:cNvSpPr txBox="1"/>
          <p:nvPr/>
        </p:nvSpPr>
        <p:spPr>
          <a:xfrm>
            <a:off x="967610" y="4697263"/>
            <a:ext cx="7072362" cy="14003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600"/>
              </a:spcBef>
            </a:pPr>
            <a:r>
              <a:rPr lang="zh-CN" altLang="en-US">
                <a:solidFill>
                  <a:srgbClr val="0000FF"/>
                </a:solidFill>
                <a:latin typeface="Consolas" pitchFamily="49" charset="0"/>
                <a:ea typeface="楷体" pitchFamily="49" charset="-122"/>
                <a:cs typeface="Consolas" pitchFamily="49" charset="0"/>
              </a:rPr>
              <a:t>查找关键字（如学号）为</a:t>
            </a:r>
            <a:r>
              <a:rPr lang="en-US" altLang="zh-CN" i="1">
                <a:solidFill>
                  <a:srgbClr val="0000FF"/>
                </a:solidFill>
                <a:latin typeface="Consolas" pitchFamily="49" charset="0"/>
                <a:ea typeface="楷体" pitchFamily="49" charset="-122"/>
                <a:cs typeface="Consolas" pitchFamily="49" charset="0"/>
              </a:rPr>
              <a:t>k</a:t>
            </a:r>
            <a:r>
              <a:rPr lang="zh-CN" altLang="en-US">
                <a:solidFill>
                  <a:srgbClr val="0000FF"/>
                </a:solidFill>
                <a:latin typeface="Consolas" pitchFamily="49" charset="0"/>
                <a:ea typeface="楷体" pitchFamily="49" charset="-122"/>
                <a:cs typeface="Consolas" pitchFamily="49" charset="0"/>
              </a:rPr>
              <a:t>的元素时：</a:t>
            </a:r>
            <a:endParaRPr lang="en-US" altLang="zh-CN">
              <a:solidFill>
                <a:srgbClr val="0000FF"/>
              </a:solidFill>
              <a:latin typeface="Consolas" pitchFamily="49" charset="0"/>
              <a:ea typeface="楷体" pitchFamily="49" charset="-122"/>
              <a:cs typeface="Consolas" pitchFamily="49" charset="0"/>
            </a:endParaRPr>
          </a:p>
          <a:p>
            <a:pPr marL="457200" indent="-457200" algn="l">
              <a:lnSpc>
                <a:spcPts val="3000"/>
              </a:lnSpc>
              <a:spcBef>
                <a:spcPts val="600"/>
              </a:spcBef>
              <a:buBlip>
                <a:blip r:embed="rId2"/>
              </a:buBlip>
            </a:pPr>
            <a:r>
              <a:rPr lang="zh-CN" altLang="en-US">
                <a:solidFill>
                  <a:srgbClr val="0000FF"/>
                </a:solidFill>
                <a:latin typeface="Consolas" pitchFamily="49" charset="0"/>
                <a:ea typeface="仿宋" pitchFamily="49" charset="-122"/>
                <a:cs typeface="Consolas" pitchFamily="49" charset="0"/>
              </a:rPr>
              <a:t>先计算</a:t>
            </a:r>
            <a:r>
              <a:rPr lang="en-US" altLang="zh-CN" i="1">
                <a:solidFill>
                  <a:srgbClr val="0000FF"/>
                </a:solidFill>
                <a:latin typeface="Consolas" pitchFamily="49" charset="0"/>
                <a:ea typeface="仿宋" pitchFamily="49" charset="-122"/>
                <a:cs typeface="Consolas" pitchFamily="49" charset="0"/>
              </a:rPr>
              <a:t>d</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h</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k</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spcBef>
                <a:spcPts val="600"/>
              </a:spcBef>
              <a:buBlip>
                <a:blip r:embed="rId2"/>
              </a:buBlip>
            </a:pPr>
            <a:r>
              <a:rPr lang="zh-CN" altLang="en-US">
                <a:solidFill>
                  <a:srgbClr val="0000FF"/>
                </a:solidFill>
                <a:latin typeface="Consolas" pitchFamily="49" charset="0"/>
                <a:ea typeface="仿宋" pitchFamily="49" charset="-122"/>
                <a:cs typeface="Consolas" pitchFamily="49" charset="0"/>
              </a:rPr>
              <a:t>在</a:t>
            </a:r>
            <a:r>
              <a:rPr lang="en-US" altLang="zh-CN" i="1">
                <a:solidFill>
                  <a:srgbClr val="0000FF"/>
                </a:solidFill>
                <a:latin typeface="Consolas" pitchFamily="49" charset="0"/>
                <a:ea typeface="仿宋" pitchFamily="49" charset="-122"/>
                <a:cs typeface="Consolas" pitchFamily="49" charset="0"/>
              </a:rPr>
              <a:t>d</a:t>
            </a:r>
            <a:r>
              <a:rPr lang="zh-CN" altLang="en-US">
                <a:solidFill>
                  <a:srgbClr val="0000FF"/>
                </a:solidFill>
                <a:latin typeface="Consolas" pitchFamily="49" charset="0"/>
                <a:ea typeface="仿宋" pitchFamily="49" charset="-122"/>
                <a:cs typeface="Consolas" pitchFamily="49" charset="0"/>
              </a:rPr>
              <a:t>地址比较关键字</a:t>
            </a:r>
            <a:r>
              <a:rPr lang="en-US" altLang="zh-CN" i="1">
                <a:solidFill>
                  <a:srgbClr val="0000FF"/>
                </a:solidFill>
                <a:latin typeface="Consolas" pitchFamily="49" charset="0"/>
                <a:ea typeface="仿宋" pitchFamily="49" charset="-122"/>
                <a:cs typeface="Consolas" pitchFamily="49" charset="0"/>
              </a:rPr>
              <a:t>k</a:t>
            </a:r>
            <a:r>
              <a:rPr lang="zh-CN" altLang="en-US">
                <a:solidFill>
                  <a:srgbClr val="0000FF"/>
                </a:solidFill>
                <a:latin typeface="Consolas" pitchFamily="49" charset="0"/>
                <a:ea typeface="仿宋" pitchFamily="49" charset="-122"/>
                <a:cs typeface="Consolas" pitchFamily="49" charset="0"/>
              </a:rPr>
              <a:t>，若相同，表示找到了！</a:t>
            </a:r>
          </a:p>
        </p:txBody>
      </p:sp>
    </p:spTree>
    <p:extLst>
      <p:ext uri="{BB962C8B-B14F-4D97-AF65-F5344CB8AC3E}">
        <p14:creationId xmlns:p14="http://schemas.microsoft.com/office/powerpoint/2010/main" val="36928892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47564" y="548680"/>
            <a:ext cx="7848872" cy="4967514"/>
          </a:xfrm>
          <a:prstGeom prst="rect">
            <a:avLst/>
          </a:prstGeom>
        </p:spPr>
        <p:txBody>
          <a:bodyPr wrap="square">
            <a:spAutoFit/>
          </a:bodyPr>
          <a:lstStyle/>
          <a:p>
            <a:pPr>
              <a:lnSpc>
                <a:spcPct val="120000"/>
              </a:lnSpc>
            </a:pP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当为解决实际问题而选择一个数据结构时需以下三步：</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endParaRPr lang="zh-CN"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分析问题，确定解决问题需满足的资源限制。</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一种算法如能在所需求的资源限制内将问题解决好，则称该算法是有效率的；</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确定满足资源限制的基本操作</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，例如对数据结构中的数据元素进行插入、删除、查找和定位等；</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选择满足需求的数据结构</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，每个数据结构都与代价和效益紧密相联，每一个问题都有时间和空间资源的限制。</a:t>
            </a:r>
          </a:p>
        </p:txBody>
      </p:sp>
      <p:sp>
        <p:nvSpPr>
          <p:cNvPr id="3" name="TextBox 3">
            <a:extLst>
              <a:ext uri="{FF2B5EF4-FFF2-40B4-BE49-F238E27FC236}">
                <a16:creationId xmlns:a16="http://schemas.microsoft.com/office/drawing/2014/main" id="{B13F4894-8533-4F62-94F0-FE209E3953EF}"/>
              </a:ext>
            </a:extLst>
          </p:cNvPr>
          <p:cNvSpPr txBox="1"/>
          <p:nvPr/>
        </p:nvSpPr>
        <p:spPr>
          <a:xfrm>
            <a:off x="1403648" y="5576434"/>
            <a:ext cx="6668244" cy="743184"/>
          </a:xfrm>
          <a:prstGeom prst="rect">
            <a:avLst/>
          </a:prstGeom>
          <a:noFill/>
          <a:ln>
            <a:noFill/>
          </a:ln>
          <a:effectLst/>
          <a:scene3d>
            <a:camera prst="orthographicFront">
              <a:rot lat="0" lon="0" rev="0"/>
            </a:camera>
            <a:lightRig rig="chilly" dir="t">
              <a:rot lat="0" lon="0" rev="18480000"/>
            </a:lightRig>
          </a:scene3d>
          <a:sp3d prstMaterial="clear">
            <a:bevelT h="63500"/>
          </a:sp3d>
        </p:spPr>
        <p:txBody>
          <a:bodyPr wrap="square" tIns="108000" bIns="144000" rtlCol="0">
            <a:spAutoFit/>
          </a:bodyPr>
          <a:lstStyle/>
          <a:p>
            <a:pPr algn="ctr">
              <a:lnSpc>
                <a:spcPct val="150000"/>
              </a:lnSpc>
            </a:pPr>
            <a:r>
              <a:rPr lang="zh-CN" altLang="en-US" sz="2400" dirty="0">
                <a:solidFill>
                  <a:srgbClr val="0000FF"/>
                </a:solidFill>
                <a:latin typeface="方正启体简体" pitchFamily="65" charset="-122"/>
                <a:ea typeface="方正启体简体" pitchFamily="65" charset="-122"/>
              </a:rPr>
              <a:t>同一逻辑结构可以选择多种存储结构</a:t>
            </a:r>
          </a:p>
        </p:txBody>
      </p:sp>
    </p:spTree>
    <p:extLst>
      <p:ext uri="{BB962C8B-B14F-4D97-AF65-F5344CB8AC3E}">
        <p14:creationId xmlns:p14="http://schemas.microsoft.com/office/powerpoint/2010/main" val="30795459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047503-8164-43B5-8703-6B43A8BE796F}"/>
              </a:ext>
            </a:extLst>
          </p:cNvPr>
          <p:cNvSpPr>
            <a:spLocks noGrp="1"/>
          </p:cNvSpPr>
          <p:nvPr>
            <p:ph type="title"/>
          </p:nvPr>
        </p:nvSpPr>
        <p:spPr>
          <a:xfrm>
            <a:off x="395536" y="620688"/>
            <a:ext cx="7520940" cy="548640"/>
          </a:xfrm>
        </p:spPr>
        <p:txBody>
          <a:bodyPr/>
          <a:lstStyle/>
          <a:p>
            <a:r>
              <a:rPr lang="zh-CN" altLang="en-US" b="1" dirty="0">
                <a:solidFill>
                  <a:srgbClr val="FF0000"/>
                </a:solidFill>
                <a:latin typeface="楷体" panose="02010609060101010101" pitchFamily="49" charset="-122"/>
                <a:ea typeface="楷体" panose="02010609060101010101" pitchFamily="49" charset="-122"/>
              </a:rPr>
              <a:t>数据操作（或运算）</a:t>
            </a:r>
          </a:p>
        </p:txBody>
      </p:sp>
      <p:sp>
        <p:nvSpPr>
          <p:cNvPr id="4" name="TextBox 6">
            <a:extLst>
              <a:ext uri="{FF2B5EF4-FFF2-40B4-BE49-F238E27FC236}">
                <a16:creationId xmlns:a16="http://schemas.microsoft.com/office/drawing/2014/main" id="{969E066E-ACC0-4756-99F9-27660EB8930D}"/>
              </a:ext>
            </a:extLst>
          </p:cNvPr>
          <p:cNvSpPr txBox="1"/>
          <p:nvPr/>
        </p:nvSpPr>
        <p:spPr>
          <a:xfrm>
            <a:off x="857224" y="1340768"/>
            <a:ext cx="7829576" cy="106930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ct val="150000"/>
              </a:lnSpc>
              <a:spcBef>
                <a:spcPts val="0"/>
              </a:spcBef>
              <a:buBlip>
                <a:blip r:embed="rId2"/>
              </a:buBlip>
            </a:pPr>
            <a:r>
              <a:rPr lang="zh-CN" altLang="en-US" sz="2000" dirty="0">
                <a:solidFill>
                  <a:schemeClr val="tx1"/>
                </a:solidFill>
                <a:latin typeface="楷体" panose="02010609060101010101" pitchFamily="49" charset="-122"/>
                <a:ea typeface="楷体" panose="02010609060101010101" pitchFamily="49" charset="-122"/>
                <a:cs typeface="Consolas" pitchFamily="49" charset="0"/>
              </a:rPr>
              <a:t>数据运算是对数据的操作。</a:t>
            </a:r>
            <a:endParaRPr lang="en-US" altLang="zh-CN" sz="2000" dirty="0">
              <a:solidFill>
                <a:schemeClr val="tx1"/>
              </a:solidFill>
              <a:latin typeface="楷体" panose="02010609060101010101" pitchFamily="49" charset="-122"/>
              <a:ea typeface="楷体" panose="02010609060101010101" pitchFamily="49" charset="-122"/>
              <a:cs typeface="Consolas" pitchFamily="49" charset="0"/>
            </a:endParaRPr>
          </a:p>
          <a:p>
            <a:pPr marL="457200" indent="-457200" algn="l">
              <a:lnSpc>
                <a:spcPct val="150000"/>
              </a:lnSpc>
              <a:spcBef>
                <a:spcPts val="0"/>
              </a:spcBef>
              <a:buBlip>
                <a:blip r:embed="rId2"/>
              </a:buBlip>
            </a:pPr>
            <a:r>
              <a:rPr lang="zh-CN" altLang="en-US" sz="2000" dirty="0">
                <a:solidFill>
                  <a:schemeClr val="tx1"/>
                </a:solidFill>
                <a:latin typeface="楷体" panose="02010609060101010101" pitchFamily="49" charset="-122"/>
                <a:ea typeface="楷体" panose="02010609060101010101" pitchFamily="49" charset="-122"/>
                <a:cs typeface="Consolas" pitchFamily="49" charset="0"/>
              </a:rPr>
              <a:t>数据运算分为两个层次：运算定义（或运算描述）和运算实现。</a:t>
            </a:r>
          </a:p>
        </p:txBody>
      </p:sp>
      <p:grpSp>
        <p:nvGrpSpPr>
          <p:cNvPr id="5" name="组合 17">
            <a:extLst>
              <a:ext uri="{FF2B5EF4-FFF2-40B4-BE49-F238E27FC236}">
                <a16:creationId xmlns:a16="http://schemas.microsoft.com/office/drawing/2014/main" id="{8F3A43F7-C374-41D3-8921-FF9E3C99D8B1}"/>
              </a:ext>
            </a:extLst>
          </p:cNvPr>
          <p:cNvGrpSpPr/>
          <p:nvPr/>
        </p:nvGrpSpPr>
        <p:grpSpPr>
          <a:xfrm>
            <a:off x="1752858" y="2924944"/>
            <a:ext cx="6163618" cy="2791212"/>
            <a:chOff x="928662" y="2780928"/>
            <a:chExt cx="6163618" cy="2791212"/>
          </a:xfrm>
        </p:grpSpPr>
        <p:sp>
          <p:nvSpPr>
            <p:cNvPr id="6" name="Text Box 3">
              <a:extLst>
                <a:ext uri="{FF2B5EF4-FFF2-40B4-BE49-F238E27FC236}">
                  <a16:creationId xmlns:a16="http://schemas.microsoft.com/office/drawing/2014/main" id="{456CDB13-8D4F-487B-8C15-068D13BD047D}"/>
                </a:ext>
              </a:extLst>
            </p:cNvPr>
            <p:cNvSpPr txBox="1">
              <a:spLocks noChangeArrowheads="1"/>
            </p:cNvSpPr>
            <p:nvPr/>
          </p:nvSpPr>
          <p:spPr bwMode="auto">
            <a:xfrm>
              <a:off x="928662" y="2780928"/>
              <a:ext cx="6163618" cy="461665"/>
            </a:xfrm>
            <a:prstGeom prst="rect">
              <a:avLst/>
            </a:prstGeom>
            <a:noFill/>
            <a:ln w="9525">
              <a:noFill/>
              <a:miter lim="800000"/>
              <a:headEnd/>
              <a:tailEnd/>
            </a:ln>
          </p:spPr>
          <p:txBody>
            <a:bodyPr wrap="square">
              <a:spAutoFit/>
            </a:bodyPr>
            <a:lstStyle/>
            <a:p>
              <a:r>
                <a:rPr lang="zh-CN" altLang="en-US" sz="2000" dirty="0">
                  <a:solidFill>
                    <a:srgbClr val="0000FF"/>
                  </a:solidFill>
                  <a:ea typeface="楷体" pitchFamily="49" charset="-122"/>
                  <a:cs typeface="Times New Roman" pitchFamily="18" charset="0"/>
                </a:rPr>
                <a:t>逻辑结构、存储结构和运算三者之间的关系</a:t>
              </a:r>
              <a:r>
                <a:rPr lang="zh-CN" altLang="en-US" sz="2400" dirty="0">
                  <a:solidFill>
                    <a:srgbClr val="0000FF"/>
                  </a:solidFill>
                  <a:ea typeface="楷体" pitchFamily="49" charset="-122"/>
                  <a:cs typeface="Times New Roman" pitchFamily="18" charset="0"/>
                </a:rPr>
                <a:t>：</a:t>
              </a:r>
            </a:p>
          </p:txBody>
        </p:sp>
        <p:sp>
          <p:nvSpPr>
            <p:cNvPr id="7" name="圆角矩形 10">
              <a:extLst>
                <a:ext uri="{FF2B5EF4-FFF2-40B4-BE49-F238E27FC236}">
                  <a16:creationId xmlns:a16="http://schemas.microsoft.com/office/drawing/2014/main" id="{207EE834-0E4A-43B0-857F-12DA1B22F591}"/>
                </a:ext>
              </a:extLst>
            </p:cNvPr>
            <p:cNvSpPr/>
            <p:nvPr/>
          </p:nvSpPr>
          <p:spPr>
            <a:xfrm>
              <a:off x="1428728" y="3357562"/>
              <a:ext cx="1643074" cy="642942"/>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400">
                  <a:solidFill>
                    <a:srgbClr val="0000FF"/>
                  </a:solidFill>
                  <a:latin typeface="仿宋" pitchFamily="49" charset="-122"/>
                  <a:ea typeface="仿宋" pitchFamily="49" charset="-122"/>
                </a:rPr>
                <a:t>运算定义</a:t>
              </a:r>
            </a:p>
          </p:txBody>
        </p:sp>
        <p:sp>
          <p:nvSpPr>
            <p:cNvPr id="8" name="折角形 11">
              <a:extLst>
                <a:ext uri="{FF2B5EF4-FFF2-40B4-BE49-F238E27FC236}">
                  <a16:creationId xmlns:a16="http://schemas.microsoft.com/office/drawing/2014/main" id="{06411B14-727D-464C-AB63-9E36CD1788DC}"/>
                </a:ext>
              </a:extLst>
            </p:cNvPr>
            <p:cNvSpPr/>
            <p:nvPr/>
          </p:nvSpPr>
          <p:spPr>
            <a:xfrm>
              <a:off x="1571604" y="4572008"/>
              <a:ext cx="1357322" cy="1000132"/>
            </a:xfrm>
            <a:prstGeom prst="foldedCorner">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400">
                  <a:solidFill>
                    <a:srgbClr val="0000FF"/>
                  </a:solidFill>
                  <a:latin typeface="仿宋" pitchFamily="49" charset="-122"/>
                  <a:ea typeface="仿宋" pitchFamily="49" charset="-122"/>
                </a:rPr>
                <a:t>逻辑结构</a:t>
              </a:r>
            </a:p>
          </p:txBody>
        </p:sp>
        <p:sp>
          <p:nvSpPr>
            <p:cNvPr id="9" name="圆柱形 8">
              <a:extLst>
                <a:ext uri="{FF2B5EF4-FFF2-40B4-BE49-F238E27FC236}">
                  <a16:creationId xmlns:a16="http://schemas.microsoft.com/office/drawing/2014/main" id="{C7260AFA-B007-4E3B-A80A-1B7EBF006E2D}"/>
                </a:ext>
              </a:extLst>
            </p:cNvPr>
            <p:cNvSpPr/>
            <p:nvPr/>
          </p:nvSpPr>
          <p:spPr>
            <a:xfrm>
              <a:off x="5085129" y="4539759"/>
              <a:ext cx="1428760" cy="100013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微软雅黑" pitchFamily="34" charset="-122"/>
                  <a:ea typeface="微软雅黑" pitchFamily="34" charset="-122"/>
                </a:rPr>
                <a:t>存储结构</a:t>
              </a:r>
            </a:p>
          </p:txBody>
        </p:sp>
        <p:sp>
          <p:nvSpPr>
            <p:cNvPr id="10" name="燕尾形箭头 13">
              <a:extLst>
                <a:ext uri="{FF2B5EF4-FFF2-40B4-BE49-F238E27FC236}">
                  <a16:creationId xmlns:a16="http://schemas.microsoft.com/office/drawing/2014/main" id="{14B64E51-4AC5-471C-B23B-6B43DAB3EB9A}"/>
                </a:ext>
              </a:extLst>
            </p:cNvPr>
            <p:cNvSpPr/>
            <p:nvPr/>
          </p:nvSpPr>
          <p:spPr>
            <a:xfrm>
              <a:off x="3214678" y="4643446"/>
              <a:ext cx="1643074" cy="857256"/>
            </a:xfrm>
            <a:prstGeom prst="notchedRightArrow">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zh-CN" altLang="en-US" sz="2000">
                  <a:solidFill>
                    <a:srgbClr val="FF0000"/>
                  </a:solidFill>
                  <a:ea typeface="楷体" pitchFamily="49" charset="-122"/>
                  <a:cs typeface="Times New Roman" pitchFamily="18" charset="0"/>
                </a:rPr>
                <a:t>映射</a:t>
              </a:r>
              <a:endParaRPr lang="zh-CN" altLang="en-US" sz="2000">
                <a:solidFill>
                  <a:srgbClr val="FF0000"/>
                </a:solidFill>
              </a:endParaRPr>
            </a:p>
          </p:txBody>
        </p:sp>
        <p:cxnSp>
          <p:nvCxnSpPr>
            <p:cNvPr id="11" name="直接箭头连接符 10">
              <a:extLst>
                <a:ext uri="{FF2B5EF4-FFF2-40B4-BE49-F238E27FC236}">
                  <a16:creationId xmlns:a16="http://schemas.microsoft.com/office/drawing/2014/main" id="{808E8CB7-B2F3-42DB-AABD-84FC6488AF30}"/>
                </a:ext>
              </a:extLst>
            </p:cNvPr>
            <p:cNvCxnSpPr>
              <a:stCxn id="7" idx="2"/>
              <a:endCxn id="8" idx="0"/>
            </p:cNvCxnSpPr>
            <p:nvPr/>
          </p:nvCxnSpPr>
          <p:spPr>
            <a:xfrm rot="5400000">
              <a:off x="1964513" y="4286256"/>
              <a:ext cx="571504" cy="1588"/>
            </a:xfrm>
            <a:prstGeom prst="straightConnector1">
              <a:avLst/>
            </a:prstGeom>
            <a:ln>
              <a:headEnd type="arrow"/>
              <a:tailEnd type="arrow"/>
            </a:ln>
          </p:spPr>
          <p:style>
            <a:lnRef idx="2">
              <a:schemeClr val="accent3"/>
            </a:lnRef>
            <a:fillRef idx="0">
              <a:schemeClr val="accent3"/>
            </a:fillRef>
            <a:effectRef idx="1">
              <a:schemeClr val="accent3"/>
            </a:effectRef>
            <a:fontRef idx="minor">
              <a:schemeClr val="tx1"/>
            </a:fontRef>
          </p:style>
        </p:cxnSp>
        <p:sp>
          <p:nvSpPr>
            <p:cNvPr id="12" name="圆角矩形 15">
              <a:extLst>
                <a:ext uri="{FF2B5EF4-FFF2-40B4-BE49-F238E27FC236}">
                  <a16:creationId xmlns:a16="http://schemas.microsoft.com/office/drawing/2014/main" id="{DDB84846-E037-4EE0-956B-5B4385195100}"/>
                </a:ext>
              </a:extLst>
            </p:cNvPr>
            <p:cNvSpPr/>
            <p:nvPr/>
          </p:nvSpPr>
          <p:spPr>
            <a:xfrm>
              <a:off x="4929190" y="3357562"/>
              <a:ext cx="1643074" cy="642942"/>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400">
                  <a:solidFill>
                    <a:srgbClr val="0000FF"/>
                  </a:solidFill>
                  <a:latin typeface="仿宋" pitchFamily="49" charset="-122"/>
                  <a:ea typeface="仿宋" pitchFamily="49" charset="-122"/>
                </a:rPr>
                <a:t>运算实现</a:t>
              </a:r>
            </a:p>
          </p:txBody>
        </p:sp>
        <p:cxnSp>
          <p:nvCxnSpPr>
            <p:cNvPr id="13" name="直接箭头连接符 12">
              <a:extLst>
                <a:ext uri="{FF2B5EF4-FFF2-40B4-BE49-F238E27FC236}">
                  <a16:creationId xmlns:a16="http://schemas.microsoft.com/office/drawing/2014/main" id="{05E3FA94-769C-4B90-9281-0112AC32B5A0}"/>
                </a:ext>
              </a:extLst>
            </p:cNvPr>
            <p:cNvCxnSpPr>
              <a:stCxn id="12" idx="2"/>
            </p:cNvCxnSpPr>
            <p:nvPr/>
          </p:nvCxnSpPr>
          <p:spPr>
            <a:xfrm rot="5400000">
              <a:off x="5464975" y="4286256"/>
              <a:ext cx="571504" cy="1588"/>
            </a:xfrm>
            <a:prstGeom prst="straightConnector1">
              <a:avLst/>
            </a:prstGeom>
            <a:ln>
              <a:headEnd type="arrow"/>
              <a:tailEnd type="arrow"/>
            </a:ln>
          </p:spPr>
          <p:style>
            <a:lnRef idx="2">
              <a:schemeClr val="accent3"/>
            </a:lnRef>
            <a:fillRef idx="0">
              <a:schemeClr val="accent3"/>
            </a:fillRef>
            <a:effectRef idx="1">
              <a:schemeClr val="accent3"/>
            </a:effectRef>
            <a:fontRef idx="minor">
              <a:schemeClr val="tx1"/>
            </a:fontRef>
          </p:style>
        </p:cxnSp>
      </p:grpSp>
    </p:spTree>
    <p:extLst>
      <p:ext uri="{BB962C8B-B14F-4D97-AF65-F5344CB8AC3E}">
        <p14:creationId xmlns:p14="http://schemas.microsoft.com/office/powerpoint/2010/main" val="4097301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1">
            <a:extLst>
              <a:ext uri="{FF2B5EF4-FFF2-40B4-BE49-F238E27FC236}">
                <a16:creationId xmlns:a16="http://schemas.microsoft.com/office/drawing/2014/main" id="{30EAC16C-4489-434F-B3D6-6D027B7FBB86}"/>
              </a:ext>
            </a:extLst>
          </p:cNvPr>
          <p:cNvGrpSpPr/>
          <p:nvPr/>
        </p:nvGrpSpPr>
        <p:grpSpPr>
          <a:xfrm>
            <a:off x="1171861" y="3232963"/>
            <a:ext cx="7744374" cy="3083726"/>
            <a:chOff x="500034" y="3098163"/>
            <a:chExt cx="7744374" cy="3083726"/>
          </a:xfrm>
        </p:grpSpPr>
        <p:sp>
          <p:nvSpPr>
            <p:cNvPr id="5" name="Text Box 2">
              <a:extLst>
                <a:ext uri="{FF2B5EF4-FFF2-40B4-BE49-F238E27FC236}">
                  <a16:creationId xmlns:a16="http://schemas.microsoft.com/office/drawing/2014/main" id="{ECAAF8C8-C879-41B5-9F4D-C7B0DA5B3A69}"/>
                </a:ext>
              </a:extLst>
            </p:cNvPr>
            <p:cNvSpPr txBox="1">
              <a:spLocks noChangeArrowheads="1"/>
            </p:cNvSpPr>
            <p:nvPr/>
          </p:nvSpPr>
          <p:spPr bwMode="auto">
            <a:xfrm>
              <a:off x="500034" y="3098163"/>
              <a:ext cx="7744374" cy="396904"/>
            </a:xfrm>
            <a:prstGeom prst="rect">
              <a:avLst/>
            </a:prstGeom>
            <a:noFill/>
            <a:ln w="9525">
              <a:noFill/>
              <a:miter lim="800000"/>
              <a:headEnd/>
              <a:tailEnd/>
            </a:ln>
            <a:effectLst/>
          </p:spPr>
          <p:txBody>
            <a:bodyPr wrap="square">
              <a:spAutoFit/>
            </a:bodyPr>
            <a:lstStyle/>
            <a:p>
              <a:pPr algn="l">
                <a:lnSpc>
                  <a:spcPct val="120000"/>
                </a:lnSpc>
              </a:pPr>
              <a:r>
                <a:rPr lang="zh-CN" altLang="en-US" b="1" dirty="0">
                  <a:latin typeface="Consolas" pitchFamily="49" charset="0"/>
                  <a:ea typeface="楷体" pitchFamily="49" charset="-122"/>
                  <a:cs typeface="Consolas" pitchFamily="49" charset="0"/>
                </a:rPr>
                <a:t>对于“学生表”这种数据结构，可以进行一系列的运算：</a:t>
              </a:r>
            </a:p>
          </p:txBody>
        </p:sp>
        <p:sp>
          <p:nvSpPr>
            <p:cNvPr id="6" name="Text Box 4">
              <a:extLst>
                <a:ext uri="{FF2B5EF4-FFF2-40B4-BE49-F238E27FC236}">
                  <a16:creationId xmlns:a16="http://schemas.microsoft.com/office/drawing/2014/main" id="{A41E6077-4359-4757-9234-F8996B07304F}"/>
                </a:ext>
              </a:extLst>
            </p:cNvPr>
            <p:cNvSpPr txBox="1">
              <a:spLocks noChangeArrowheads="1"/>
            </p:cNvSpPr>
            <p:nvPr/>
          </p:nvSpPr>
          <p:spPr bwMode="auto">
            <a:xfrm>
              <a:off x="642910" y="3708354"/>
              <a:ext cx="4643470" cy="2473535"/>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457200" indent="-457200" algn="just">
                <a:lnSpc>
                  <a:spcPts val="3000"/>
                </a:lnSpc>
                <a:spcBef>
                  <a:spcPts val="0"/>
                </a:spcBef>
                <a:buBlip>
                  <a:blip r:embed="rId2"/>
                </a:buBlip>
              </a:pPr>
              <a:r>
                <a:rPr lang="zh-CN" altLang="en-US" sz="2000" b="1" dirty="0">
                  <a:solidFill>
                    <a:schemeClr val="tx1"/>
                  </a:solidFill>
                  <a:latin typeface="Consolas" pitchFamily="49" charset="0"/>
                  <a:ea typeface="仿宋" pitchFamily="49" charset="-122"/>
                  <a:cs typeface="Consolas" pitchFamily="49" charset="0"/>
                </a:rPr>
                <a:t>查找序号为</a:t>
              </a:r>
              <a:r>
                <a:rPr lang="en-US" altLang="zh-CN" sz="2000" b="1" dirty="0">
                  <a:solidFill>
                    <a:schemeClr val="tx1"/>
                  </a:solidFill>
                  <a:latin typeface="Consolas" pitchFamily="49" charset="0"/>
                  <a:ea typeface="仿宋" pitchFamily="49" charset="-122"/>
                  <a:cs typeface="Consolas" pitchFamily="49" charset="0"/>
                </a:rPr>
                <a:t>2</a:t>
              </a:r>
              <a:r>
                <a:rPr lang="zh-CN" altLang="en-US" sz="2000" b="1" dirty="0">
                  <a:solidFill>
                    <a:schemeClr val="tx1"/>
                  </a:solidFill>
                  <a:latin typeface="Consolas" pitchFamily="49" charset="0"/>
                  <a:ea typeface="仿宋" pitchFamily="49" charset="-122"/>
                  <a:cs typeface="Consolas" pitchFamily="49" charset="0"/>
                </a:rPr>
                <a:t>的学生姓名</a:t>
              </a:r>
              <a:endParaRPr lang="en-US" altLang="zh-CN" sz="2000" b="1" dirty="0">
                <a:solidFill>
                  <a:schemeClr val="tx1"/>
                </a:solidFill>
                <a:latin typeface="Consolas" pitchFamily="49" charset="0"/>
                <a:ea typeface="仿宋" pitchFamily="49" charset="-122"/>
                <a:cs typeface="Consolas" pitchFamily="49" charset="0"/>
              </a:endParaRPr>
            </a:p>
            <a:p>
              <a:pPr marL="457200" indent="-457200" algn="just">
                <a:lnSpc>
                  <a:spcPts val="3000"/>
                </a:lnSpc>
                <a:spcBef>
                  <a:spcPts val="0"/>
                </a:spcBef>
                <a:buBlip>
                  <a:blip r:embed="rId2"/>
                </a:buBlip>
              </a:pPr>
              <a:r>
                <a:rPr lang="zh-CN" altLang="en-US" sz="2000" b="1" dirty="0">
                  <a:solidFill>
                    <a:schemeClr val="tx1"/>
                  </a:solidFill>
                  <a:latin typeface="Consolas" pitchFamily="49" charset="0"/>
                  <a:ea typeface="仿宋" pitchFamily="49" charset="-122"/>
                  <a:cs typeface="Consolas" pitchFamily="49" charset="0"/>
                </a:rPr>
                <a:t>增加一个学生记录；</a:t>
              </a:r>
            </a:p>
            <a:p>
              <a:pPr marL="457200" indent="-457200" algn="just">
                <a:lnSpc>
                  <a:spcPts val="3000"/>
                </a:lnSpc>
                <a:spcBef>
                  <a:spcPts val="0"/>
                </a:spcBef>
                <a:buBlip>
                  <a:blip r:embed="rId2"/>
                </a:buBlip>
              </a:pPr>
              <a:r>
                <a:rPr lang="zh-CN" altLang="en-US" sz="2000" b="1" dirty="0">
                  <a:solidFill>
                    <a:schemeClr val="tx1"/>
                  </a:solidFill>
                  <a:latin typeface="Consolas" pitchFamily="49" charset="0"/>
                  <a:ea typeface="仿宋" pitchFamily="49" charset="-122"/>
                  <a:cs typeface="Consolas" pitchFamily="49" charset="0"/>
                </a:rPr>
                <a:t>删除一个学生记录；</a:t>
              </a:r>
            </a:p>
            <a:p>
              <a:pPr marL="457200" indent="-457200" algn="just">
                <a:lnSpc>
                  <a:spcPts val="3000"/>
                </a:lnSpc>
                <a:spcBef>
                  <a:spcPts val="0"/>
                </a:spcBef>
                <a:buBlip>
                  <a:blip r:embed="rId2"/>
                </a:buBlip>
              </a:pPr>
              <a:r>
                <a:rPr lang="zh-CN" altLang="en-US" sz="2000" b="1" dirty="0">
                  <a:solidFill>
                    <a:schemeClr val="tx1"/>
                  </a:solidFill>
                  <a:latin typeface="Consolas" pitchFamily="49" charset="0"/>
                  <a:ea typeface="仿宋" pitchFamily="49" charset="-122"/>
                  <a:cs typeface="Consolas" pitchFamily="49" charset="0"/>
                </a:rPr>
                <a:t>查找性别为“女”的学生记录；</a:t>
              </a:r>
            </a:p>
            <a:p>
              <a:pPr marL="457200" indent="-457200" algn="just">
                <a:lnSpc>
                  <a:spcPts val="3000"/>
                </a:lnSpc>
                <a:spcBef>
                  <a:spcPts val="0"/>
                </a:spcBef>
                <a:buBlip>
                  <a:blip r:embed="rId2"/>
                </a:buBlip>
              </a:pPr>
              <a:r>
                <a:rPr lang="zh-CN" altLang="en-US" sz="2000" b="1" dirty="0">
                  <a:solidFill>
                    <a:schemeClr val="tx1"/>
                  </a:solidFill>
                  <a:latin typeface="Consolas" pitchFamily="49" charset="0"/>
                  <a:ea typeface="仿宋" pitchFamily="49" charset="-122"/>
                  <a:cs typeface="Consolas" pitchFamily="49" charset="0"/>
                </a:rPr>
                <a:t>查找班号为“</a:t>
              </a:r>
              <a:r>
                <a:rPr lang="en-US" altLang="zh-CN" sz="2000" b="1" dirty="0">
                  <a:solidFill>
                    <a:schemeClr val="tx1"/>
                  </a:solidFill>
                  <a:latin typeface="Consolas" pitchFamily="49" charset="0"/>
                  <a:ea typeface="仿宋" pitchFamily="49" charset="-122"/>
                  <a:cs typeface="Consolas" pitchFamily="49" charset="0"/>
                </a:rPr>
                <a:t>9902”</a:t>
              </a:r>
              <a:r>
                <a:rPr lang="zh-CN" altLang="en-US" sz="2000" b="1" dirty="0">
                  <a:solidFill>
                    <a:schemeClr val="tx1"/>
                  </a:solidFill>
                  <a:latin typeface="Consolas" pitchFamily="49" charset="0"/>
                  <a:ea typeface="仿宋" pitchFamily="49" charset="-122"/>
                  <a:cs typeface="Consolas" pitchFamily="49" charset="0"/>
                </a:rPr>
                <a:t>的学生记录；</a:t>
              </a:r>
            </a:p>
            <a:p>
              <a:pPr marL="457200" indent="-457200" algn="just">
                <a:lnSpc>
                  <a:spcPts val="3000"/>
                </a:lnSpc>
                <a:spcBef>
                  <a:spcPts val="0"/>
                </a:spcBef>
                <a:buBlip>
                  <a:blip r:embed="rId2"/>
                </a:buBlip>
              </a:pPr>
              <a:r>
                <a:rPr lang="en-US" altLang="zh-CN" sz="2000" b="1" dirty="0">
                  <a:solidFill>
                    <a:schemeClr val="tx1"/>
                  </a:solidFill>
                  <a:latin typeface="+mj-ea"/>
                  <a:ea typeface="+mj-ea"/>
                  <a:cs typeface="Consolas" pitchFamily="49" charset="0"/>
                </a:rPr>
                <a:t>……</a:t>
              </a:r>
            </a:p>
          </p:txBody>
        </p:sp>
        <p:sp>
          <p:nvSpPr>
            <p:cNvPr id="7" name="Text Box 6">
              <a:extLst>
                <a:ext uri="{FF2B5EF4-FFF2-40B4-BE49-F238E27FC236}">
                  <a16:creationId xmlns:a16="http://schemas.microsoft.com/office/drawing/2014/main" id="{2D9B333D-DAF0-4F59-B9A8-89A0A7C0E131}"/>
                </a:ext>
              </a:extLst>
            </p:cNvPr>
            <p:cNvSpPr txBox="1">
              <a:spLocks noChangeArrowheads="1"/>
            </p:cNvSpPr>
            <p:nvPr/>
          </p:nvSpPr>
          <p:spPr bwMode="auto">
            <a:xfrm>
              <a:off x="5654993" y="4071942"/>
              <a:ext cx="461665" cy="1584325"/>
            </a:xfrm>
            <a:prstGeom prst="rect">
              <a:avLst/>
            </a:prstGeom>
            <a:noFill/>
            <a:ln w="57150" algn="ctr">
              <a:noFill/>
              <a:miter lim="800000"/>
              <a:headEnd/>
              <a:tailEnd type="none" w="lg" len="lg"/>
            </a:ln>
            <a:effectLst/>
          </p:spPr>
          <p:txBody>
            <a:bodyPr vert="eaVert" tIns="76176" bIns="0">
              <a:spAutoFit/>
            </a:bodyPr>
            <a:lstStyle/>
            <a:p>
              <a:pPr marL="457200" indent="-457200"/>
              <a:r>
                <a:rPr lang="zh-CN" altLang="en-US" b="1" dirty="0">
                  <a:latin typeface="方正硬笔楷书简体" pitchFamily="65" charset="-122"/>
                  <a:ea typeface="方正硬笔楷书简体" pitchFamily="65" charset="-122"/>
                  <a:cs typeface="Consolas" pitchFamily="49" charset="0"/>
                </a:rPr>
                <a:t>运算描述</a:t>
              </a:r>
            </a:p>
          </p:txBody>
        </p:sp>
        <p:sp>
          <p:nvSpPr>
            <p:cNvPr id="8" name="右大括号 7">
              <a:extLst>
                <a:ext uri="{FF2B5EF4-FFF2-40B4-BE49-F238E27FC236}">
                  <a16:creationId xmlns:a16="http://schemas.microsoft.com/office/drawing/2014/main" id="{9F500821-7AFB-4AEB-A4CF-06A2CC320729}"/>
                </a:ext>
              </a:extLst>
            </p:cNvPr>
            <p:cNvSpPr/>
            <p:nvPr/>
          </p:nvSpPr>
          <p:spPr>
            <a:xfrm>
              <a:off x="5289280" y="3929066"/>
              <a:ext cx="251314" cy="1902473"/>
            </a:xfrm>
            <a:prstGeom prst="rightBrace">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2800">
                <a:latin typeface="Consolas" pitchFamily="49" charset="0"/>
                <a:cs typeface="Consolas" pitchFamily="49" charset="0"/>
              </a:endParaRPr>
            </a:p>
          </p:txBody>
        </p:sp>
      </p:grpSp>
      <p:graphicFrame>
        <p:nvGraphicFramePr>
          <p:cNvPr id="9" name="Group 60">
            <a:extLst>
              <a:ext uri="{FF2B5EF4-FFF2-40B4-BE49-F238E27FC236}">
                <a16:creationId xmlns:a16="http://schemas.microsoft.com/office/drawing/2014/main" id="{E435421C-8936-4943-9C75-7BC384ADEAE6}"/>
              </a:ext>
            </a:extLst>
          </p:cNvPr>
          <p:cNvGraphicFramePr>
            <a:graphicFrameLocks noGrp="1"/>
          </p:cNvGraphicFramePr>
          <p:nvPr>
            <p:extLst>
              <p:ext uri="{D42A27DB-BD31-4B8C-83A1-F6EECF244321}">
                <p14:modId xmlns:p14="http://schemas.microsoft.com/office/powerpoint/2010/main" val="3523502115"/>
              </p:ext>
            </p:extLst>
          </p:nvPr>
        </p:nvGraphicFramePr>
        <p:xfrm>
          <a:off x="2918293" y="332656"/>
          <a:ext cx="3000396" cy="2688273"/>
        </p:xfrm>
        <a:graphic>
          <a:graphicData uri="http://schemas.openxmlformats.org/drawingml/2006/table">
            <a:tbl>
              <a:tblPr>
                <a:tableStyleId>{35758FB7-9AC5-4552-8A53-C91805E547FA}</a:tableStyleId>
              </a:tblPr>
              <a:tblGrid>
                <a:gridCol w="714380">
                  <a:extLst>
                    <a:ext uri="{9D8B030D-6E8A-4147-A177-3AD203B41FA5}">
                      <a16:colId xmlns:a16="http://schemas.microsoft.com/office/drawing/2014/main" val="20000"/>
                    </a:ext>
                  </a:extLst>
                </a:gridCol>
                <a:gridCol w="785818">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857256">
                  <a:extLst>
                    <a:ext uri="{9D8B030D-6E8A-4147-A177-3AD203B41FA5}">
                      <a16:colId xmlns:a16="http://schemas.microsoft.com/office/drawing/2014/main" val="20003"/>
                    </a:ext>
                  </a:extLst>
                </a:gridCol>
              </a:tblGrid>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楷体" pitchFamily="49" charset="-122"/>
                          <a:cs typeface="Consolas" pitchFamily="49" charset="0"/>
                        </a:rPr>
                        <a:t>学号</a:t>
                      </a:r>
                      <a:endParaRPr kumimoji="0" lang="zh-CN" altLang="en-US" sz="1600" b="1" i="0" u="none" strike="noStrike" cap="none" normalizeH="0" baseline="0" dirty="0">
                        <a:ln>
                          <a:noFill/>
                        </a:ln>
                        <a:solidFill>
                          <a:srgbClr val="FF0000"/>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楷体" pitchFamily="49" charset="-122"/>
                          <a:cs typeface="Consolas" pitchFamily="49" charset="0"/>
                        </a:rPr>
                        <a:t>姓名</a:t>
                      </a:r>
                      <a:endParaRPr kumimoji="0" lang="zh-CN" altLang="en-US" sz="1600" b="1" i="0" u="none" strike="noStrike" cap="none" normalizeH="0" baseline="0" dirty="0">
                        <a:ln>
                          <a:noFill/>
                        </a:ln>
                        <a:solidFill>
                          <a:srgbClr val="FF0000"/>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楷体" pitchFamily="49" charset="-122"/>
                          <a:cs typeface="Consolas" pitchFamily="49" charset="0"/>
                        </a:rPr>
                        <a:t>性别</a:t>
                      </a:r>
                      <a:endParaRPr kumimoji="0" lang="zh-CN" altLang="en-US" sz="1600" b="1" i="0" u="none" strike="noStrike" cap="none" normalizeH="0" baseline="0" dirty="0">
                        <a:ln>
                          <a:noFill/>
                        </a:ln>
                        <a:solidFill>
                          <a:srgbClr val="FF0000"/>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FF0000"/>
                          </a:solidFill>
                          <a:effectLst/>
                          <a:latin typeface="Consolas" pitchFamily="49" charset="0"/>
                          <a:ea typeface="楷体" pitchFamily="49" charset="-122"/>
                          <a:cs typeface="Consolas" pitchFamily="49" charset="0"/>
                        </a:rPr>
                        <a:t>班号</a:t>
                      </a:r>
                      <a:endParaRPr kumimoji="0" lang="zh-CN" altLang="en-US" sz="1600" b="1" i="0" u="none" strike="noStrike" cap="none" normalizeH="0" baseline="0" dirty="0">
                        <a:ln>
                          <a:noFill/>
                        </a:ln>
                        <a:solidFill>
                          <a:srgbClr val="FF0000"/>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楷体" pitchFamily="49" charset="-122"/>
                          <a:cs typeface="Consolas" pitchFamily="49" charset="0"/>
                        </a:rPr>
                        <a:t>1</a:t>
                      </a:r>
                      <a:endParaRPr kumimoji="0" lang="en-US" altLang="zh-CN"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张斌</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楷体" pitchFamily="49" charset="-122"/>
                          <a:cs typeface="Consolas" pitchFamily="49" charset="0"/>
                        </a:rPr>
                        <a:t>男</a:t>
                      </a:r>
                      <a:endParaRPr kumimoji="0" lang="zh-CN" altLang="en-US"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8</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刘丽</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9902</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34</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李英</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女</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9901</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20</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陈华</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楷体"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4"/>
                  </a:ext>
                </a:extLst>
              </a:tr>
              <a:tr h="341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12</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楷体" pitchFamily="49" charset="-122"/>
                          <a:cs typeface="Consolas" pitchFamily="49" charset="0"/>
                        </a:rPr>
                        <a:t>王奇</a:t>
                      </a:r>
                      <a:endParaRPr kumimoji="0" lang="zh-CN" altLang="en-US"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楷体"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5"/>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26</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楷体" pitchFamily="49" charset="-122"/>
                          <a:cs typeface="Consolas" pitchFamily="49" charset="0"/>
                        </a:rPr>
                        <a:t>董强</a:t>
                      </a:r>
                      <a:endParaRPr kumimoji="0" lang="zh-CN" altLang="en-US"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dirty="0">
                          <a:ln>
                            <a:noFill/>
                          </a:ln>
                          <a:solidFill>
                            <a:srgbClr val="0000FF"/>
                          </a:solidFill>
                          <a:effectLst/>
                          <a:latin typeface="Consolas" pitchFamily="49" charset="0"/>
                          <a:ea typeface="楷体" pitchFamily="49" charset="-122"/>
                          <a:cs typeface="Consolas" pitchFamily="49" charset="0"/>
                        </a:rPr>
                        <a:t>男</a:t>
                      </a:r>
                      <a:endParaRPr kumimoji="0" lang="zh-CN" altLang="en-US"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楷体" pitchFamily="49" charset="-122"/>
                          <a:cs typeface="Consolas" pitchFamily="49" charset="0"/>
                        </a:rPr>
                        <a:t>9902</a:t>
                      </a:r>
                      <a:endParaRPr kumimoji="0" lang="en-US" altLang="zh-CN"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6"/>
                  </a:ext>
                </a:extLst>
              </a:tr>
              <a:tr h="3352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a:ln>
                            <a:noFill/>
                          </a:ln>
                          <a:solidFill>
                            <a:srgbClr val="0000FF"/>
                          </a:solidFill>
                          <a:effectLst/>
                          <a:latin typeface="Consolas" pitchFamily="49" charset="0"/>
                          <a:ea typeface="楷体" pitchFamily="49" charset="-122"/>
                          <a:cs typeface="Consolas" pitchFamily="49" charset="0"/>
                        </a:rPr>
                        <a:t>5</a:t>
                      </a:r>
                      <a:endParaRPr kumimoji="0" lang="en-US" altLang="zh-CN"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楷体" pitchFamily="49" charset="-122"/>
                          <a:cs typeface="Consolas" pitchFamily="49" charset="0"/>
                        </a:rPr>
                        <a:t>王萍</a:t>
                      </a:r>
                      <a:endParaRPr kumimoji="0" lang="zh-CN" altLang="en-US"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600" b="1" u="none" strike="noStrike" cap="none" normalizeH="0" baseline="0">
                          <a:ln>
                            <a:noFill/>
                          </a:ln>
                          <a:solidFill>
                            <a:srgbClr val="0000FF"/>
                          </a:solidFill>
                          <a:effectLst/>
                          <a:latin typeface="Consolas" pitchFamily="49" charset="0"/>
                          <a:ea typeface="楷体" pitchFamily="49" charset="-122"/>
                          <a:cs typeface="Consolas" pitchFamily="49" charset="0"/>
                        </a:rPr>
                        <a:t>女</a:t>
                      </a:r>
                      <a:endParaRPr kumimoji="0" lang="zh-CN" altLang="en-US" sz="1600" b="1" i="0" u="none" strike="noStrike" cap="none" normalizeH="0" baseline="0">
                        <a:ln>
                          <a:noFill/>
                        </a:ln>
                        <a:solidFill>
                          <a:srgbClr val="0000FF"/>
                        </a:solidFill>
                        <a:effectLst/>
                        <a:latin typeface="Consolas" pitchFamily="49" charset="0"/>
                        <a:ea typeface="楷体" pitchFamily="49" charset="-122"/>
                        <a:cs typeface="Consolas"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u="none" strike="noStrike" cap="none" normalizeH="0" baseline="0" dirty="0">
                          <a:ln>
                            <a:noFill/>
                          </a:ln>
                          <a:solidFill>
                            <a:srgbClr val="0000FF"/>
                          </a:solidFill>
                          <a:effectLst/>
                          <a:latin typeface="Consolas" pitchFamily="49" charset="0"/>
                          <a:ea typeface="楷体" pitchFamily="49" charset="-122"/>
                          <a:cs typeface="Consolas" pitchFamily="49" charset="0"/>
                        </a:rPr>
                        <a:t>9901</a:t>
                      </a:r>
                      <a:endParaRPr kumimoji="0" lang="en-US" altLang="zh-CN" sz="1600" b="1" i="0" u="none" strike="noStrike" cap="none" normalizeH="0" baseline="0" dirty="0">
                        <a:ln>
                          <a:noFill/>
                        </a:ln>
                        <a:solidFill>
                          <a:srgbClr val="0000FF"/>
                        </a:solidFill>
                        <a:effectLst/>
                        <a:latin typeface="Consolas" pitchFamily="49" charset="0"/>
                        <a:ea typeface="楷体" pitchFamily="49" charset="-122"/>
                        <a:cs typeface="Consolas" pitchFamily="49" charset="0"/>
                      </a:endParaRPr>
                    </a:p>
                  </a:txBody>
                  <a:tcPr horzOverflow="overflow"/>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687128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BEEE43D7-6BE1-430E-BEED-87EA3C6445AA}"/>
              </a:ext>
            </a:extLst>
          </p:cNvPr>
          <p:cNvSpPr txBox="1">
            <a:spLocks noChangeArrowheads="1"/>
          </p:cNvSpPr>
          <p:nvPr/>
        </p:nvSpPr>
        <p:spPr bwMode="auto">
          <a:xfrm>
            <a:off x="1043608" y="836712"/>
            <a:ext cx="6286544" cy="463763"/>
          </a:xfrm>
          <a:prstGeom prst="rect">
            <a:avLst/>
          </a:prstGeom>
          <a:ln>
            <a:headEnd/>
            <a:tailEnd/>
          </a:ln>
          <a:effectLst>
            <a:glow rad="101600">
              <a:schemeClr val="accent6">
                <a:satMod val="175000"/>
                <a:alpha val="40000"/>
              </a:schemeClr>
            </a:glow>
            <a:outerShdw blurRad="40000" dist="20000" dir="5400000" rotWithShape="0">
              <a:srgbClr val="000000">
                <a:alpha val="38000"/>
              </a:srgbClr>
            </a:outerShdw>
          </a:effectLst>
        </p:spPr>
        <p:style>
          <a:lnRef idx="1">
            <a:schemeClr val="accent1"/>
          </a:lnRef>
          <a:fillRef idx="2">
            <a:schemeClr val="accent1"/>
          </a:fillRef>
          <a:effectRef idx="1">
            <a:schemeClr val="accent1"/>
          </a:effectRef>
          <a:fontRef idx="minor">
            <a:schemeClr val="dk1"/>
          </a:fontRef>
        </p:style>
        <p:txBody>
          <a:bodyPr wrap="square" tIns="72000" bIns="72000">
            <a:spAutoFit/>
          </a:bodyPr>
          <a:lstStyle/>
          <a:p>
            <a:pPr marL="457200" indent="-457200">
              <a:lnSpc>
                <a:spcPct val="110000"/>
              </a:lnSpc>
            </a:pPr>
            <a:r>
              <a:rPr lang="zh-CN" altLang="en-US" sz="2000" b="1" dirty="0">
                <a:solidFill>
                  <a:srgbClr val="FF0000"/>
                </a:solidFill>
                <a:latin typeface="Consolas" pitchFamily="49" charset="0"/>
                <a:ea typeface="微软雅黑" pitchFamily="34" charset="-122"/>
                <a:cs typeface="Consolas" pitchFamily="49" charset="0"/>
                <a:sym typeface="Wingdings"/>
              </a:rPr>
              <a:t> 顺序</a:t>
            </a:r>
            <a:r>
              <a:rPr lang="zh-CN" altLang="en-US" sz="2000" b="1" dirty="0">
                <a:solidFill>
                  <a:srgbClr val="FF0000"/>
                </a:solidFill>
                <a:latin typeface="Consolas" pitchFamily="49" charset="0"/>
                <a:ea typeface="微软雅黑" pitchFamily="34" charset="-122"/>
                <a:cs typeface="Consolas" pitchFamily="49" charset="0"/>
              </a:rPr>
              <a:t>存储结构中实现“查找序号为</a:t>
            </a:r>
            <a:r>
              <a:rPr lang="en-US" altLang="zh-CN" sz="2000" b="1" dirty="0">
                <a:solidFill>
                  <a:srgbClr val="FF0000"/>
                </a:solidFill>
                <a:latin typeface="Consolas" pitchFamily="49" charset="0"/>
                <a:ea typeface="微软雅黑" pitchFamily="34" charset="-122"/>
                <a:cs typeface="Consolas" pitchFamily="49" charset="0"/>
              </a:rPr>
              <a:t>2</a:t>
            </a:r>
            <a:r>
              <a:rPr lang="zh-CN" altLang="en-US" sz="2000" b="1" dirty="0">
                <a:solidFill>
                  <a:srgbClr val="FF0000"/>
                </a:solidFill>
                <a:latin typeface="Consolas" pitchFamily="49" charset="0"/>
                <a:ea typeface="微软雅黑" pitchFamily="34" charset="-122"/>
                <a:cs typeface="Consolas" pitchFamily="49" charset="0"/>
              </a:rPr>
              <a:t>的学生姓名”</a:t>
            </a:r>
          </a:p>
        </p:txBody>
      </p:sp>
      <p:sp>
        <p:nvSpPr>
          <p:cNvPr id="5" name="Line 4">
            <a:extLst>
              <a:ext uri="{FF2B5EF4-FFF2-40B4-BE49-F238E27FC236}">
                <a16:creationId xmlns:a16="http://schemas.microsoft.com/office/drawing/2014/main" id="{07C58BA6-1E5D-417F-A5EB-A460E66E70F6}"/>
              </a:ext>
            </a:extLst>
          </p:cNvPr>
          <p:cNvSpPr>
            <a:spLocks noChangeShapeType="1"/>
          </p:cNvSpPr>
          <p:nvPr/>
        </p:nvSpPr>
        <p:spPr bwMode="auto">
          <a:xfrm flipH="1" flipV="1">
            <a:off x="1569113" y="2966581"/>
            <a:ext cx="0" cy="288000"/>
          </a:xfrm>
          <a:prstGeom prst="line">
            <a:avLst/>
          </a:prstGeom>
          <a:noFill/>
          <a:ln w="38100">
            <a:solidFill>
              <a:srgbClr val="CC00CC"/>
            </a:solidFill>
            <a:miter lim="800000"/>
            <a:headEnd/>
            <a:tailEnd type="triangle" w="med" len="med"/>
          </a:ln>
          <a:effectLst/>
        </p:spPr>
        <p:txBody>
          <a:bodyPr wrap="none"/>
          <a:lstStyle/>
          <a:p>
            <a:endParaRPr lang="zh-CN" altLang="en-US">
              <a:latin typeface="Consolas" pitchFamily="49" charset="0"/>
              <a:cs typeface="Consolas" pitchFamily="49" charset="0"/>
            </a:endParaRPr>
          </a:p>
        </p:txBody>
      </p:sp>
      <p:sp>
        <p:nvSpPr>
          <p:cNvPr id="6" name="Text Box 5">
            <a:extLst>
              <a:ext uri="{FF2B5EF4-FFF2-40B4-BE49-F238E27FC236}">
                <a16:creationId xmlns:a16="http://schemas.microsoft.com/office/drawing/2014/main" id="{0134A95C-1768-4EF7-9A76-9FB5DA781A58}"/>
              </a:ext>
            </a:extLst>
          </p:cNvPr>
          <p:cNvSpPr txBox="1">
            <a:spLocks noChangeArrowheads="1"/>
          </p:cNvSpPr>
          <p:nvPr/>
        </p:nvSpPr>
        <p:spPr bwMode="auto">
          <a:xfrm>
            <a:off x="1115046" y="3265604"/>
            <a:ext cx="2290774" cy="400110"/>
          </a:xfrm>
          <a:prstGeom prst="rect">
            <a:avLst/>
          </a:prstGeom>
          <a:noFill/>
          <a:ln w="9525">
            <a:noFill/>
            <a:miter lim="800000"/>
            <a:headEnd/>
            <a:tailEnd/>
          </a:ln>
          <a:effectLst/>
        </p:spPr>
        <p:txBody>
          <a:bodyPr wrap="square">
            <a:spAutoFit/>
          </a:bodyPr>
          <a:lstStyle/>
          <a:p>
            <a:pPr algn="l">
              <a:lnSpc>
                <a:spcPct val="100000"/>
              </a:lnSpc>
            </a:pPr>
            <a:r>
              <a:rPr lang="en-US" altLang="zh-CN" sz="2000" b="1" dirty="0">
                <a:solidFill>
                  <a:srgbClr val="0000FF"/>
                </a:solidFill>
                <a:latin typeface="Consolas" pitchFamily="49" charset="0"/>
                <a:ea typeface="楷体" pitchFamily="49" charset="-122"/>
                <a:cs typeface="Consolas" pitchFamily="49" charset="0"/>
              </a:rPr>
              <a:t>Stud</a:t>
            </a:r>
            <a:r>
              <a:rPr lang="zh-CN" altLang="en-US" sz="2000" b="1" dirty="0">
                <a:solidFill>
                  <a:srgbClr val="0000FF"/>
                </a:solidFill>
                <a:latin typeface="Consolas" pitchFamily="49" charset="0"/>
                <a:ea typeface="楷体" pitchFamily="49" charset="-122"/>
                <a:cs typeface="Consolas" pitchFamily="49" charset="0"/>
              </a:rPr>
              <a:t>数组起始地址</a:t>
            </a:r>
          </a:p>
        </p:txBody>
      </p:sp>
      <p:sp>
        <p:nvSpPr>
          <p:cNvPr id="7" name="Text Box 21">
            <a:extLst>
              <a:ext uri="{FF2B5EF4-FFF2-40B4-BE49-F238E27FC236}">
                <a16:creationId xmlns:a16="http://schemas.microsoft.com/office/drawing/2014/main" id="{C1C6FD07-4665-4A7E-BEAD-72D768A96D0D}"/>
              </a:ext>
            </a:extLst>
          </p:cNvPr>
          <p:cNvSpPr txBox="1">
            <a:spLocks noChangeArrowheads="1"/>
          </p:cNvSpPr>
          <p:nvPr/>
        </p:nvSpPr>
        <p:spPr bwMode="auto">
          <a:xfrm>
            <a:off x="6753890" y="2609391"/>
            <a:ext cx="647700" cy="276999"/>
          </a:xfrm>
          <a:prstGeom prst="rect">
            <a:avLst/>
          </a:prstGeom>
          <a:noFill/>
          <a:ln w="9525">
            <a:noFill/>
            <a:miter lim="800000"/>
            <a:headEnd/>
            <a:tailEnd/>
          </a:ln>
          <a:effectLst/>
        </p:spPr>
        <p:txBody>
          <a:bodyPr lIns="0" tIns="0" rIns="0" bIns="0">
            <a:spAutoFit/>
          </a:bodyPr>
          <a:lstStyle/>
          <a:p>
            <a:pPr>
              <a:lnSpc>
                <a:spcPct val="100000"/>
              </a:lnSpc>
            </a:pPr>
            <a:r>
              <a:rPr lang="en-US" altLang="zh-CN" sz="1800" dirty="0">
                <a:latin typeface="Consolas" pitchFamily="49" charset="0"/>
                <a:ea typeface="宋体" charset="-122"/>
                <a:cs typeface="Consolas" pitchFamily="49" charset="0"/>
              </a:rPr>
              <a:t>……</a:t>
            </a:r>
          </a:p>
        </p:txBody>
      </p:sp>
      <p:sp>
        <p:nvSpPr>
          <p:cNvPr id="8" name="Text Box 8">
            <a:extLst>
              <a:ext uri="{FF2B5EF4-FFF2-40B4-BE49-F238E27FC236}">
                <a16:creationId xmlns:a16="http://schemas.microsoft.com/office/drawing/2014/main" id="{2B4F4B36-20D7-4504-A07B-FA09CD0FC2A1}"/>
              </a:ext>
            </a:extLst>
          </p:cNvPr>
          <p:cNvSpPr txBox="1">
            <a:spLocks noChangeArrowheads="1"/>
          </p:cNvSpPr>
          <p:nvPr/>
        </p:nvSpPr>
        <p:spPr bwMode="auto">
          <a:xfrm>
            <a:off x="2291424" y="1966449"/>
            <a:ext cx="935038" cy="276999"/>
          </a:xfrm>
          <a:prstGeom prst="rect">
            <a:avLst/>
          </a:prstGeom>
          <a:noFill/>
          <a:ln w="9525">
            <a:noFill/>
            <a:miter lim="800000"/>
            <a:headEnd/>
            <a:tailEnd/>
          </a:ln>
          <a:effectLst/>
        </p:spPr>
        <p:txBody>
          <a:bodyPr lIns="0" tIns="0" rIns="0" bIns="0">
            <a:spAutoFit/>
          </a:bodyPr>
          <a:lstStyle/>
          <a:p>
            <a:pPr algn="ctr">
              <a:lnSpc>
                <a:spcPct val="100000"/>
              </a:lnSpc>
            </a:pPr>
            <a:r>
              <a:rPr lang="en-US" altLang="zh-CN" sz="1800" b="1" dirty="0">
                <a:solidFill>
                  <a:srgbClr val="0000FF"/>
                </a:solidFill>
                <a:latin typeface="Consolas" pitchFamily="49" charset="0"/>
                <a:cs typeface="Consolas" pitchFamily="49" charset="0"/>
              </a:rPr>
              <a:t>Stud[0]</a:t>
            </a:r>
          </a:p>
        </p:txBody>
      </p:sp>
      <p:sp>
        <p:nvSpPr>
          <p:cNvPr id="9" name="Rectangle 9">
            <a:extLst>
              <a:ext uri="{FF2B5EF4-FFF2-40B4-BE49-F238E27FC236}">
                <a16:creationId xmlns:a16="http://schemas.microsoft.com/office/drawing/2014/main" id="{86D00750-3E5D-4CF7-B49E-A889DCADB5FA}"/>
              </a:ext>
            </a:extLst>
          </p:cNvPr>
          <p:cNvSpPr>
            <a:spLocks noChangeAspect="1" noChangeArrowheads="1"/>
          </p:cNvSpPr>
          <p:nvPr/>
        </p:nvSpPr>
        <p:spPr bwMode="auto">
          <a:xfrm>
            <a:off x="1375417" y="2563342"/>
            <a:ext cx="431800" cy="3603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lIns="0" tIns="36000" rIns="0" bIns="0" anchor="ctr"/>
          <a:lstStyle/>
          <a:p>
            <a:pPr marL="457200" indent="-457200"/>
            <a:r>
              <a:rPr lang="en-US" altLang="zh-CN" sz="1600" b="1" dirty="0">
                <a:solidFill>
                  <a:srgbClr val="0000FF"/>
                </a:solidFill>
                <a:latin typeface="Consolas" pitchFamily="49" charset="0"/>
                <a:ea typeface="楷体" pitchFamily="49" charset="-122"/>
                <a:cs typeface="Consolas" pitchFamily="49" charset="0"/>
              </a:rPr>
              <a:t>1</a:t>
            </a:r>
          </a:p>
        </p:txBody>
      </p:sp>
      <p:sp>
        <p:nvSpPr>
          <p:cNvPr id="10" name="Rectangle 10">
            <a:extLst>
              <a:ext uri="{FF2B5EF4-FFF2-40B4-BE49-F238E27FC236}">
                <a16:creationId xmlns:a16="http://schemas.microsoft.com/office/drawing/2014/main" id="{557DA89F-C127-4DEF-8E17-F5C1A691B9F8}"/>
              </a:ext>
            </a:extLst>
          </p:cNvPr>
          <p:cNvSpPr>
            <a:spLocks noChangeArrowheads="1"/>
          </p:cNvSpPr>
          <p:nvPr/>
        </p:nvSpPr>
        <p:spPr bwMode="auto">
          <a:xfrm>
            <a:off x="1808805" y="2563342"/>
            <a:ext cx="719138" cy="3603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lIns="0" tIns="36000" rIns="0" bIns="0" anchor="ctr"/>
          <a:lstStyle/>
          <a:p>
            <a:pPr marL="457200" indent="-457200"/>
            <a:r>
              <a:rPr lang="zh-CN" altLang="en-US" sz="1600" b="1" dirty="0">
                <a:solidFill>
                  <a:srgbClr val="0000FF"/>
                </a:solidFill>
                <a:latin typeface="Consolas" pitchFamily="49" charset="0"/>
                <a:ea typeface="楷体" pitchFamily="49" charset="-122"/>
                <a:cs typeface="Consolas" pitchFamily="49" charset="0"/>
              </a:rPr>
              <a:t>张斌</a:t>
            </a:r>
          </a:p>
        </p:txBody>
      </p:sp>
      <p:sp>
        <p:nvSpPr>
          <p:cNvPr id="11" name="Rectangle 11">
            <a:extLst>
              <a:ext uri="{FF2B5EF4-FFF2-40B4-BE49-F238E27FC236}">
                <a16:creationId xmlns:a16="http://schemas.microsoft.com/office/drawing/2014/main" id="{FE479F35-ACE6-4ACD-AF09-99492450F57E}"/>
              </a:ext>
            </a:extLst>
          </p:cNvPr>
          <p:cNvSpPr>
            <a:spLocks noChangeArrowheads="1"/>
          </p:cNvSpPr>
          <p:nvPr/>
        </p:nvSpPr>
        <p:spPr bwMode="auto">
          <a:xfrm>
            <a:off x="2527942" y="2563342"/>
            <a:ext cx="719138" cy="3603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lIns="0" tIns="36000" rIns="0" bIns="0" anchor="ctr"/>
          <a:lstStyle/>
          <a:p>
            <a:pPr marL="457200" indent="-457200"/>
            <a:r>
              <a:rPr lang="zh-CN" altLang="en-US" sz="1600" b="1" dirty="0">
                <a:solidFill>
                  <a:srgbClr val="0000FF"/>
                </a:solidFill>
                <a:latin typeface="Consolas" pitchFamily="49" charset="0"/>
                <a:ea typeface="楷体" pitchFamily="49" charset="-122"/>
                <a:cs typeface="Consolas" pitchFamily="49" charset="0"/>
              </a:rPr>
              <a:t>男</a:t>
            </a:r>
          </a:p>
        </p:txBody>
      </p:sp>
      <p:sp>
        <p:nvSpPr>
          <p:cNvPr id="12" name="Rectangle 12">
            <a:extLst>
              <a:ext uri="{FF2B5EF4-FFF2-40B4-BE49-F238E27FC236}">
                <a16:creationId xmlns:a16="http://schemas.microsoft.com/office/drawing/2014/main" id="{152FCC0B-E8FA-41E1-9C99-0A3921BCF420}"/>
              </a:ext>
            </a:extLst>
          </p:cNvPr>
          <p:cNvSpPr>
            <a:spLocks noChangeArrowheads="1"/>
          </p:cNvSpPr>
          <p:nvPr/>
        </p:nvSpPr>
        <p:spPr bwMode="auto">
          <a:xfrm>
            <a:off x="3248667" y="2563342"/>
            <a:ext cx="719138" cy="3603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lIns="0" tIns="36000" rIns="0" bIns="0" anchor="ctr"/>
          <a:lstStyle/>
          <a:p>
            <a:pPr marL="457200" indent="-457200"/>
            <a:r>
              <a:rPr lang="en-US" altLang="zh-CN" sz="1600" b="1" dirty="0">
                <a:solidFill>
                  <a:srgbClr val="0000FF"/>
                </a:solidFill>
                <a:latin typeface="Consolas" pitchFamily="49" charset="0"/>
                <a:ea typeface="楷体" pitchFamily="49" charset="-122"/>
                <a:cs typeface="Consolas" pitchFamily="49" charset="0"/>
              </a:rPr>
              <a:t>9901</a:t>
            </a:r>
          </a:p>
        </p:txBody>
      </p:sp>
      <p:sp>
        <p:nvSpPr>
          <p:cNvPr id="13" name="Text Box 15">
            <a:extLst>
              <a:ext uri="{FF2B5EF4-FFF2-40B4-BE49-F238E27FC236}">
                <a16:creationId xmlns:a16="http://schemas.microsoft.com/office/drawing/2014/main" id="{B501F28F-EB11-407F-8782-393743AAAA77}"/>
              </a:ext>
            </a:extLst>
          </p:cNvPr>
          <p:cNvSpPr txBox="1">
            <a:spLocks noChangeArrowheads="1"/>
          </p:cNvSpPr>
          <p:nvPr/>
        </p:nvSpPr>
        <p:spPr bwMode="auto">
          <a:xfrm>
            <a:off x="4883814" y="1968037"/>
            <a:ext cx="935037" cy="276999"/>
          </a:xfrm>
          <a:prstGeom prst="rect">
            <a:avLst/>
          </a:prstGeom>
          <a:noFill/>
          <a:ln w="9525">
            <a:noFill/>
            <a:miter lim="800000"/>
            <a:headEnd/>
            <a:tailEnd/>
          </a:ln>
          <a:effectLst/>
        </p:spPr>
        <p:txBody>
          <a:bodyPr lIns="0" tIns="0" rIns="0" bIns="0">
            <a:spAutoFit/>
          </a:bodyPr>
          <a:lstStyle/>
          <a:p>
            <a:pPr algn="ctr">
              <a:lnSpc>
                <a:spcPct val="100000"/>
              </a:lnSpc>
            </a:pPr>
            <a:r>
              <a:rPr lang="en-US" altLang="zh-CN" sz="1800" b="1" dirty="0">
                <a:solidFill>
                  <a:srgbClr val="0000FF"/>
                </a:solidFill>
                <a:latin typeface="Consolas" pitchFamily="49" charset="0"/>
                <a:cs typeface="Consolas" pitchFamily="49" charset="0"/>
              </a:rPr>
              <a:t>Stud[1]</a:t>
            </a:r>
          </a:p>
        </p:txBody>
      </p:sp>
      <p:sp>
        <p:nvSpPr>
          <p:cNvPr id="14" name="Rectangle 16">
            <a:extLst>
              <a:ext uri="{FF2B5EF4-FFF2-40B4-BE49-F238E27FC236}">
                <a16:creationId xmlns:a16="http://schemas.microsoft.com/office/drawing/2014/main" id="{53798477-E13C-4BDF-8AFB-3CB4EFDED3F2}"/>
              </a:ext>
            </a:extLst>
          </p:cNvPr>
          <p:cNvSpPr>
            <a:spLocks noChangeAspect="1" noChangeArrowheads="1"/>
          </p:cNvSpPr>
          <p:nvPr/>
        </p:nvSpPr>
        <p:spPr bwMode="auto">
          <a:xfrm>
            <a:off x="3967807" y="2564929"/>
            <a:ext cx="431800" cy="36036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0" tIns="36000" rIns="0" bIns="0" anchor="ctr"/>
          <a:lstStyle/>
          <a:p>
            <a:pPr marL="457200" indent="-457200"/>
            <a:r>
              <a:rPr lang="en-US" altLang="zh-CN" sz="1600" b="1" dirty="0">
                <a:solidFill>
                  <a:srgbClr val="0000FF"/>
                </a:solidFill>
                <a:latin typeface="Consolas" pitchFamily="49" charset="0"/>
                <a:ea typeface="楷体" pitchFamily="49" charset="-122"/>
                <a:cs typeface="Consolas" pitchFamily="49" charset="0"/>
              </a:rPr>
              <a:t>8</a:t>
            </a:r>
          </a:p>
        </p:txBody>
      </p:sp>
      <p:sp>
        <p:nvSpPr>
          <p:cNvPr id="15" name="Rectangle 17">
            <a:extLst>
              <a:ext uri="{FF2B5EF4-FFF2-40B4-BE49-F238E27FC236}">
                <a16:creationId xmlns:a16="http://schemas.microsoft.com/office/drawing/2014/main" id="{79213B58-451E-48B2-A6E1-7B1B9BA18656}"/>
              </a:ext>
            </a:extLst>
          </p:cNvPr>
          <p:cNvSpPr>
            <a:spLocks noChangeArrowheads="1"/>
          </p:cNvSpPr>
          <p:nvPr/>
        </p:nvSpPr>
        <p:spPr bwMode="auto">
          <a:xfrm>
            <a:off x="4401194" y="2564929"/>
            <a:ext cx="719137" cy="36036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0" tIns="36000" rIns="0" bIns="0" anchor="ctr"/>
          <a:lstStyle/>
          <a:p>
            <a:pPr marL="457200" indent="-457200"/>
            <a:r>
              <a:rPr lang="zh-CN" altLang="en-US" sz="1600" b="1" dirty="0">
                <a:solidFill>
                  <a:srgbClr val="0000FF"/>
                </a:solidFill>
                <a:latin typeface="Consolas" pitchFamily="49" charset="0"/>
                <a:ea typeface="楷体" pitchFamily="49" charset="-122"/>
                <a:cs typeface="Consolas" pitchFamily="49" charset="0"/>
              </a:rPr>
              <a:t>刘丽</a:t>
            </a:r>
          </a:p>
        </p:txBody>
      </p:sp>
      <p:sp>
        <p:nvSpPr>
          <p:cNvPr id="16" name="Rectangle 18">
            <a:extLst>
              <a:ext uri="{FF2B5EF4-FFF2-40B4-BE49-F238E27FC236}">
                <a16:creationId xmlns:a16="http://schemas.microsoft.com/office/drawing/2014/main" id="{CD5296DB-6517-45AD-92CD-22C2AE1CFDBC}"/>
              </a:ext>
            </a:extLst>
          </p:cNvPr>
          <p:cNvSpPr>
            <a:spLocks noChangeArrowheads="1"/>
          </p:cNvSpPr>
          <p:nvPr/>
        </p:nvSpPr>
        <p:spPr bwMode="auto">
          <a:xfrm>
            <a:off x="5099714" y="2564929"/>
            <a:ext cx="719137" cy="36036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0" tIns="36000" rIns="0" bIns="0" anchor="ctr"/>
          <a:lstStyle/>
          <a:p>
            <a:pPr marL="457200" indent="-457200"/>
            <a:r>
              <a:rPr lang="zh-CN" altLang="en-US" sz="1600" b="1" dirty="0">
                <a:solidFill>
                  <a:srgbClr val="0000FF"/>
                </a:solidFill>
                <a:latin typeface="Consolas" pitchFamily="49" charset="0"/>
                <a:ea typeface="楷体" pitchFamily="49" charset="-122"/>
                <a:cs typeface="Consolas" pitchFamily="49" charset="0"/>
              </a:rPr>
              <a:t>女</a:t>
            </a:r>
          </a:p>
        </p:txBody>
      </p:sp>
      <p:sp>
        <p:nvSpPr>
          <p:cNvPr id="17" name="Rectangle 19">
            <a:extLst>
              <a:ext uri="{FF2B5EF4-FFF2-40B4-BE49-F238E27FC236}">
                <a16:creationId xmlns:a16="http://schemas.microsoft.com/office/drawing/2014/main" id="{765B625E-87D5-47F1-903E-F6053B6A5F2E}"/>
              </a:ext>
            </a:extLst>
          </p:cNvPr>
          <p:cNvSpPr>
            <a:spLocks noChangeArrowheads="1"/>
          </p:cNvSpPr>
          <p:nvPr/>
        </p:nvSpPr>
        <p:spPr bwMode="auto">
          <a:xfrm>
            <a:off x="5820439" y="2564929"/>
            <a:ext cx="719137" cy="36036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0" tIns="36000" rIns="0" bIns="0" anchor="ctr"/>
          <a:lstStyle/>
          <a:p>
            <a:pPr marL="457200" indent="-457200"/>
            <a:r>
              <a:rPr lang="en-US" altLang="zh-CN" sz="1600" b="1" dirty="0">
                <a:solidFill>
                  <a:srgbClr val="0000FF"/>
                </a:solidFill>
                <a:latin typeface="Consolas" pitchFamily="49" charset="0"/>
                <a:ea typeface="楷体" pitchFamily="49" charset="-122"/>
                <a:cs typeface="Consolas" pitchFamily="49" charset="0"/>
              </a:rPr>
              <a:t>9902</a:t>
            </a:r>
          </a:p>
        </p:txBody>
      </p:sp>
      <p:sp>
        <p:nvSpPr>
          <p:cNvPr id="18" name="右大括号 17">
            <a:extLst>
              <a:ext uri="{FF2B5EF4-FFF2-40B4-BE49-F238E27FC236}">
                <a16:creationId xmlns:a16="http://schemas.microsoft.com/office/drawing/2014/main" id="{8858A280-D1B4-456F-96A0-A45408897020}"/>
              </a:ext>
            </a:extLst>
          </p:cNvPr>
          <p:cNvSpPr>
            <a:spLocks noChangeAspect="1"/>
          </p:cNvSpPr>
          <p:nvPr/>
        </p:nvSpPr>
        <p:spPr>
          <a:xfrm rot="16200000">
            <a:off x="2622823" y="1341366"/>
            <a:ext cx="178595" cy="2143140"/>
          </a:xfrm>
          <a:prstGeom prst="rightBrace">
            <a:avLst/>
          </a:prstGeom>
          <a:ln w="22225">
            <a:solidFill>
              <a:srgbClr val="C00000"/>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9" name="右大括号 18">
            <a:extLst>
              <a:ext uri="{FF2B5EF4-FFF2-40B4-BE49-F238E27FC236}">
                <a16:creationId xmlns:a16="http://schemas.microsoft.com/office/drawing/2014/main" id="{31616067-BC8E-49C6-BBE5-879A4337932E}"/>
              </a:ext>
            </a:extLst>
          </p:cNvPr>
          <p:cNvSpPr>
            <a:spLocks noChangeAspect="1"/>
          </p:cNvSpPr>
          <p:nvPr/>
        </p:nvSpPr>
        <p:spPr>
          <a:xfrm rot="16200000">
            <a:off x="5194591" y="1341367"/>
            <a:ext cx="178595" cy="2143140"/>
          </a:xfrm>
          <a:prstGeom prst="rightBrace">
            <a:avLst/>
          </a:prstGeom>
          <a:ln w="22225">
            <a:solidFill>
              <a:srgbClr val="C00000"/>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grpSp>
        <p:nvGrpSpPr>
          <p:cNvPr id="20" name="组合 21">
            <a:extLst>
              <a:ext uri="{FF2B5EF4-FFF2-40B4-BE49-F238E27FC236}">
                <a16:creationId xmlns:a16="http://schemas.microsoft.com/office/drawing/2014/main" id="{0CB89C8E-B80B-4B9D-8D3C-5EC1B47EEE82}"/>
              </a:ext>
            </a:extLst>
          </p:cNvPr>
          <p:cNvGrpSpPr/>
          <p:nvPr/>
        </p:nvGrpSpPr>
        <p:grpSpPr>
          <a:xfrm>
            <a:off x="3829690" y="3105107"/>
            <a:ext cx="2786082" cy="1299824"/>
            <a:chOff x="3500430" y="2768437"/>
            <a:chExt cx="2786082" cy="1299824"/>
          </a:xfrm>
        </p:grpSpPr>
        <p:sp>
          <p:nvSpPr>
            <p:cNvPr id="21" name="TextBox 68">
              <a:extLst>
                <a:ext uri="{FF2B5EF4-FFF2-40B4-BE49-F238E27FC236}">
                  <a16:creationId xmlns:a16="http://schemas.microsoft.com/office/drawing/2014/main" id="{01B59CA5-10DC-4624-AEAC-E90FE540B8FC}"/>
                </a:ext>
              </a:extLst>
            </p:cNvPr>
            <p:cNvSpPr txBox="1"/>
            <p:nvPr/>
          </p:nvSpPr>
          <p:spPr>
            <a:xfrm>
              <a:off x="3500430" y="3286124"/>
              <a:ext cx="2786082" cy="782137"/>
            </a:xfrm>
            <a:prstGeom prst="rect">
              <a:avLst/>
            </a:prstGeom>
            <a:noFill/>
          </p:spPr>
          <p:txBody>
            <a:bodyPr wrap="square" rtlCol="0">
              <a:spAutoFit/>
            </a:bodyPr>
            <a:lstStyle/>
            <a:p>
              <a:pPr>
                <a:lnSpc>
                  <a:spcPts val="2800"/>
                </a:lnSpc>
                <a:spcBef>
                  <a:spcPts val="0"/>
                </a:spcBef>
              </a:pPr>
              <a:r>
                <a:rPr lang="zh-CN" altLang="en-US" sz="2000" dirty="0">
                  <a:solidFill>
                    <a:srgbClr val="0000FF"/>
                  </a:solidFill>
                  <a:latin typeface="Consolas" pitchFamily="49" charset="0"/>
                  <a:ea typeface="楷体" pitchFamily="49" charset="-122"/>
                  <a:cs typeface="Consolas" pitchFamily="49" charset="0"/>
                </a:rPr>
                <a:t>直接找到</a:t>
              </a:r>
              <a:r>
                <a:rPr lang="en-US" altLang="zh-CN" sz="2000">
                  <a:solidFill>
                    <a:srgbClr val="0000FF"/>
                  </a:solidFill>
                  <a:latin typeface="Consolas" pitchFamily="49" charset="0"/>
                  <a:ea typeface="楷体" pitchFamily="49" charset="-122"/>
                  <a:cs typeface="Consolas" pitchFamily="49" charset="0"/>
                </a:rPr>
                <a:t>Stud[1]</a:t>
              </a:r>
              <a:r>
                <a:rPr lang="zh-CN" altLang="en-US" sz="2000">
                  <a:solidFill>
                    <a:srgbClr val="0000FF"/>
                  </a:solidFill>
                  <a:latin typeface="Consolas" pitchFamily="49" charset="0"/>
                  <a:ea typeface="楷体" pitchFamily="49" charset="-122"/>
                  <a:cs typeface="Consolas" pitchFamily="49" charset="0"/>
                </a:rPr>
                <a:t>元素，</a:t>
              </a:r>
              <a:r>
                <a:rPr lang="zh-CN" altLang="en-US" sz="2000" dirty="0">
                  <a:solidFill>
                    <a:srgbClr val="0000FF"/>
                  </a:solidFill>
                  <a:latin typeface="Consolas" pitchFamily="49" charset="0"/>
                  <a:ea typeface="楷体" pitchFamily="49" charset="-122"/>
                  <a:cs typeface="Consolas" pitchFamily="49" charset="0"/>
                </a:rPr>
                <a:t>返回</a:t>
              </a:r>
              <a:r>
                <a:rPr lang="zh-CN" altLang="en-US" sz="2000" dirty="0">
                  <a:solidFill>
                    <a:srgbClr val="C00000"/>
                  </a:solidFill>
                  <a:latin typeface="方正硬笔楷书简体" pitchFamily="65" charset="-122"/>
                  <a:ea typeface="方正硬笔楷书简体" pitchFamily="65" charset="-122"/>
                  <a:cs typeface="Consolas" pitchFamily="49" charset="0"/>
                </a:rPr>
                <a:t>刘丽</a:t>
              </a:r>
            </a:p>
          </p:txBody>
        </p:sp>
        <p:sp>
          <p:nvSpPr>
            <p:cNvPr id="22" name="上箭头 69">
              <a:extLst>
                <a:ext uri="{FF2B5EF4-FFF2-40B4-BE49-F238E27FC236}">
                  <a16:creationId xmlns:a16="http://schemas.microsoft.com/office/drawing/2014/main" id="{E5F364A2-5072-4A58-96D5-23456DE484D4}"/>
                </a:ext>
              </a:extLst>
            </p:cNvPr>
            <p:cNvSpPr/>
            <p:nvPr/>
          </p:nvSpPr>
          <p:spPr bwMode="auto">
            <a:xfrm>
              <a:off x="4804134" y="2768437"/>
              <a:ext cx="196494" cy="473294"/>
            </a:xfrm>
            <a:prstGeom prst="upArrow">
              <a:avLst/>
            </a:prstGeom>
            <a:ln>
              <a:headEnd type="none" w="med" len="med"/>
              <a:tailEnd type="stealth" w="lg" len="lg"/>
            </a:ln>
          </p:spPr>
          <p:style>
            <a:lnRef idx="1">
              <a:schemeClr val="accent2"/>
            </a:lnRef>
            <a:fillRef idx="3">
              <a:schemeClr val="accent2"/>
            </a:fillRef>
            <a:effectRef idx="2">
              <a:schemeClr val="accent2"/>
            </a:effectRef>
            <a:fontRef idx="minor">
              <a:schemeClr val="lt1"/>
            </a:fontRef>
          </p:style>
          <p:txBody>
            <a:bodyPr vert="horz" wrap="square" lIns="91440" tIns="76176" rIns="91440" bIns="0" numCol="1" rtlCol="0" anchor="ctr" anchorCtr="0" compatLnSpc="1">
              <a:prstTxWarp prst="textNoShape">
                <a:avLst/>
              </a:prstTxWarp>
              <a:spAutoFit/>
            </a:bodyPr>
            <a:lstStyle/>
            <a:p>
              <a:pPr marL="457200" marR="0" indent="-457200" algn="ctr" defTabSz="914400" rtl="0" eaLnBrk="1" fontAlgn="base" latinLnBrk="0" hangingPunct="1">
                <a:lnSpc>
                  <a:spcPct val="80000"/>
                </a:lnSpc>
                <a:spcBef>
                  <a:spcPct val="50000"/>
                </a:spcBef>
                <a:spcAft>
                  <a:spcPct val="0"/>
                </a:spcAft>
                <a:buClrTx/>
                <a:buSzTx/>
                <a:buFontTx/>
                <a:buNone/>
                <a:tabLst/>
              </a:pPr>
              <a:endParaRPr kumimoji="1" lang="zh-CN" altLang="en-US" sz="2800" b="1" i="0" u="none" strike="noStrike" cap="none" normalizeH="0" baseline="0">
                <a:ln>
                  <a:noFill/>
                </a:ln>
                <a:solidFill>
                  <a:srgbClr val="0033CC"/>
                </a:solidFill>
                <a:effectLst/>
                <a:latin typeface="Consolas" pitchFamily="49" charset="0"/>
                <a:ea typeface="楷体_GB2312" pitchFamily="49" charset="-122"/>
                <a:cs typeface="Consolas" pitchFamily="49" charset="0"/>
              </a:endParaRPr>
            </a:p>
          </p:txBody>
        </p:sp>
      </p:grpSp>
    </p:spTree>
    <p:extLst>
      <p:ext uri="{BB962C8B-B14F-4D97-AF65-F5344CB8AC3E}">
        <p14:creationId xmlns:p14="http://schemas.microsoft.com/office/powerpoint/2010/main" val="844049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c 104">
            <a:extLst>
              <a:ext uri="{FF2B5EF4-FFF2-40B4-BE49-F238E27FC236}">
                <a16:creationId xmlns:a16="http://schemas.microsoft.com/office/drawing/2014/main" id="{D068CFEC-7442-4752-8FD9-BF70CFF688B9}"/>
              </a:ext>
            </a:extLst>
          </p:cNvPr>
          <p:cNvSpPr>
            <a:spLocks/>
          </p:cNvSpPr>
          <p:nvPr/>
        </p:nvSpPr>
        <p:spPr bwMode="auto">
          <a:xfrm>
            <a:off x="2614675" y="1601458"/>
            <a:ext cx="184730" cy="29851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339933"/>
            </a:solidFill>
            <a:round/>
            <a:headEnd/>
            <a:tailEnd type="stealth" w="lg" len="lg"/>
          </a:ln>
          <a:effectLst/>
        </p:spPr>
        <p:txBody>
          <a:bodyPr wrap="none" tIns="76176" bIns="0" anchor="ctr">
            <a:spAutoFit/>
          </a:bodyPr>
          <a:lstStyle/>
          <a:p>
            <a:endParaRPr lang="zh-CN" altLang="en-US" sz="1800">
              <a:latin typeface="Consolas" pitchFamily="49" charset="0"/>
              <a:cs typeface="Consolas" pitchFamily="49" charset="0"/>
            </a:endParaRPr>
          </a:p>
        </p:txBody>
      </p:sp>
      <p:sp>
        <p:nvSpPr>
          <p:cNvPr id="5" name="Text Box 105">
            <a:extLst>
              <a:ext uri="{FF2B5EF4-FFF2-40B4-BE49-F238E27FC236}">
                <a16:creationId xmlns:a16="http://schemas.microsoft.com/office/drawing/2014/main" id="{107A0C56-E25B-433A-A1C5-CA22DF86C499}"/>
              </a:ext>
            </a:extLst>
          </p:cNvPr>
          <p:cNvSpPr txBox="1">
            <a:spLocks noChangeArrowheads="1"/>
          </p:cNvSpPr>
          <p:nvPr/>
        </p:nvSpPr>
        <p:spPr bwMode="auto">
          <a:xfrm>
            <a:off x="1998014" y="1399790"/>
            <a:ext cx="792162" cy="221599"/>
          </a:xfrm>
          <a:prstGeom prst="rect">
            <a:avLst/>
          </a:prstGeom>
          <a:noFill/>
          <a:ln w="28575" algn="ctr">
            <a:noFill/>
            <a:miter lim="800000"/>
            <a:headEnd/>
            <a:tailEnd/>
          </a:ln>
          <a:effectLst/>
        </p:spPr>
        <p:txBody>
          <a:bodyPr lIns="0" tIns="0" rIns="0" bIns="0">
            <a:spAutoFit/>
          </a:bodyPr>
          <a:lstStyle/>
          <a:p>
            <a:pPr marL="457200" indent="-457200"/>
            <a:r>
              <a:rPr lang="en-US" altLang="zh-CN" sz="1800" b="1" dirty="0">
                <a:solidFill>
                  <a:srgbClr val="0000FF"/>
                </a:solidFill>
                <a:latin typeface="Consolas" pitchFamily="49" charset="0"/>
                <a:cs typeface="Consolas" pitchFamily="49" charset="0"/>
              </a:rPr>
              <a:t>head</a:t>
            </a:r>
          </a:p>
        </p:txBody>
      </p:sp>
      <p:sp>
        <p:nvSpPr>
          <p:cNvPr id="6" name="Text Box 4">
            <a:extLst>
              <a:ext uri="{FF2B5EF4-FFF2-40B4-BE49-F238E27FC236}">
                <a16:creationId xmlns:a16="http://schemas.microsoft.com/office/drawing/2014/main" id="{E14A5B82-A4DD-4EA2-A807-76AD1538C6E2}"/>
              </a:ext>
            </a:extLst>
          </p:cNvPr>
          <p:cNvSpPr txBox="1">
            <a:spLocks noChangeArrowheads="1"/>
          </p:cNvSpPr>
          <p:nvPr/>
        </p:nvSpPr>
        <p:spPr bwMode="auto">
          <a:xfrm>
            <a:off x="971600" y="692696"/>
            <a:ext cx="6429420" cy="483960"/>
          </a:xfrm>
          <a:prstGeom prst="rect">
            <a:avLst/>
          </a:prstGeom>
          <a:ln>
            <a:headEnd/>
            <a:tailEnd/>
          </a:ln>
          <a:effectLst>
            <a:glow rad="101600">
              <a:schemeClr val="accent6">
                <a:satMod val="175000"/>
                <a:alpha val="40000"/>
              </a:schemeClr>
            </a:glow>
            <a:outerShdw blurRad="40000" dist="20000" dir="5400000" rotWithShape="0">
              <a:srgbClr val="000000">
                <a:alpha val="38000"/>
              </a:srgbClr>
            </a:outerShdw>
          </a:effectLst>
        </p:spPr>
        <p:style>
          <a:lnRef idx="1">
            <a:schemeClr val="accent1"/>
          </a:lnRef>
          <a:fillRef idx="2">
            <a:schemeClr val="accent1"/>
          </a:fillRef>
          <a:effectRef idx="1">
            <a:schemeClr val="accent1"/>
          </a:effectRef>
          <a:fontRef idx="minor">
            <a:schemeClr val="dk1"/>
          </a:fontRef>
        </p:style>
        <p:txBody>
          <a:bodyPr wrap="square" tIns="72000" bIns="72000">
            <a:spAutoFit/>
          </a:bodyPr>
          <a:lstStyle/>
          <a:p>
            <a:pPr marL="457200" indent="-457200">
              <a:lnSpc>
                <a:spcPct val="110000"/>
              </a:lnSpc>
            </a:pPr>
            <a:r>
              <a:rPr lang="zh-CN" altLang="en-US" sz="2000" b="1">
                <a:solidFill>
                  <a:srgbClr val="FF0000"/>
                </a:solidFill>
                <a:latin typeface="Consolas" pitchFamily="49" charset="0"/>
                <a:ea typeface="微软雅黑" pitchFamily="34" charset="-122"/>
                <a:cs typeface="Consolas" pitchFamily="49" charset="0"/>
                <a:sym typeface="Wingdings"/>
              </a:rPr>
              <a:t> 链式</a:t>
            </a:r>
            <a:r>
              <a:rPr lang="zh-CN" altLang="en-US" sz="2000" b="1">
                <a:solidFill>
                  <a:srgbClr val="FF0000"/>
                </a:solidFill>
                <a:latin typeface="Consolas" pitchFamily="49" charset="0"/>
                <a:ea typeface="微软雅黑" pitchFamily="34" charset="-122"/>
                <a:cs typeface="Consolas" pitchFamily="49" charset="0"/>
              </a:rPr>
              <a:t>存储结构中</a:t>
            </a:r>
            <a:r>
              <a:rPr lang="zh-CN" altLang="en-US" sz="2000" b="1" dirty="0">
                <a:solidFill>
                  <a:srgbClr val="FF0000"/>
                </a:solidFill>
                <a:latin typeface="Consolas" pitchFamily="49" charset="0"/>
                <a:ea typeface="微软雅黑" pitchFamily="34" charset="-122"/>
                <a:cs typeface="Consolas" pitchFamily="49" charset="0"/>
              </a:rPr>
              <a:t>实现“查找序号为</a:t>
            </a:r>
            <a:r>
              <a:rPr lang="en-US" altLang="zh-CN" sz="2000" b="1" dirty="0">
                <a:solidFill>
                  <a:srgbClr val="FF0000"/>
                </a:solidFill>
                <a:latin typeface="Consolas" pitchFamily="49" charset="0"/>
                <a:ea typeface="微软雅黑" pitchFamily="34" charset="-122"/>
                <a:cs typeface="Consolas" pitchFamily="49" charset="0"/>
              </a:rPr>
              <a:t>2</a:t>
            </a:r>
            <a:r>
              <a:rPr lang="zh-CN" altLang="en-US" sz="2000" b="1" dirty="0">
                <a:solidFill>
                  <a:srgbClr val="FF0000"/>
                </a:solidFill>
                <a:latin typeface="Consolas" pitchFamily="49" charset="0"/>
                <a:ea typeface="微软雅黑" pitchFamily="34" charset="-122"/>
                <a:cs typeface="Consolas" pitchFamily="49" charset="0"/>
              </a:rPr>
              <a:t>的学生姓名”</a:t>
            </a:r>
          </a:p>
        </p:txBody>
      </p:sp>
      <p:grpSp>
        <p:nvGrpSpPr>
          <p:cNvPr id="7" name="Group 3">
            <a:extLst>
              <a:ext uri="{FF2B5EF4-FFF2-40B4-BE49-F238E27FC236}">
                <a16:creationId xmlns:a16="http://schemas.microsoft.com/office/drawing/2014/main" id="{EE9505CD-1A3F-4DBD-A441-214D84C4B93E}"/>
              </a:ext>
            </a:extLst>
          </p:cNvPr>
          <p:cNvGrpSpPr>
            <a:grpSpLocks/>
          </p:cNvGrpSpPr>
          <p:nvPr/>
        </p:nvGrpSpPr>
        <p:grpSpPr bwMode="auto">
          <a:xfrm>
            <a:off x="2686095" y="1930953"/>
            <a:ext cx="2941637" cy="396875"/>
            <a:chOff x="3102" y="720"/>
            <a:chExt cx="1853" cy="250"/>
          </a:xfrm>
        </p:grpSpPr>
        <p:sp>
          <p:nvSpPr>
            <p:cNvPr id="8" name="Rectangle 4">
              <a:extLst>
                <a:ext uri="{FF2B5EF4-FFF2-40B4-BE49-F238E27FC236}">
                  <a16:creationId xmlns:a16="http://schemas.microsoft.com/office/drawing/2014/main" id="{60157157-3500-49CA-98A9-353DFF2F5250}"/>
                </a:ext>
              </a:extLst>
            </p:cNvPr>
            <p:cNvSpPr>
              <a:spLocks noChangeArrowheads="1"/>
            </p:cNvSpPr>
            <p:nvPr/>
          </p:nvSpPr>
          <p:spPr bwMode="auto">
            <a:xfrm>
              <a:off x="3102" y="720"/>
              <a:ext cx="306"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en-US" altLang="zh-CN" sz="1600" b="1" dirty="0">
                  <a:solidFill>
                    <a:srgbClr val="0000FF"/>
                  </a:solidFill>
                  <a:latin typeface="Consolas" pitchFamily="49" charset="0"/>
                  <a:ea typeface="楷体" pitchFamily="49" charset="-122"/>
                  <a:cs typeface="Consolas" pitchFamily="49" charset="0"/>
                </a:rPr>
                <a:t>1</a:t>
              </a:r>
            </a:p>
          </p:txBody>
        </p:sp>
        <p:sp>
          <p:nvSpPr>
            <p:cNvPr id="9" name="Rectangle 5">
              <a:extLst>
                <a:ext uri="{FF2B5EF4-FFF2-40B4-BE49-F238E27FC236}">
                  <a16:creationId xmlns:a16="http://schemas.microsoft.com/office/drawing/2014/main" id="{E9748393-3ABD-4997-BD46-982F344A8634}"/>
                </a:ext>
              </a:extLst>
            </p:cNvPr>
            <p:cNvSpPr>
              <a:spLocks noChangeArrowheads="1"/>
            </p:cNvSpPr>
            <p:nvPr/>
          </p:nvSpPr>
          <p:spPr bwMode="auto">
            <a:xfrm>
              <a:off x="3372" y="720"/>
              <a:ext cx="498"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张斌</a:t>
              </a:r>
            </a:p>
          </p:txBody>
        </p:sp>
        <p:sp>
          <p:nvSpPr>
            <p:cNvPr id="10" name="Rectangle 6">
              <a:extLst>
                <a:ext uri="{FF2B5EF4-FFF2-40B4-BE49-F238E27FC236}">
                  <a16:creationId xmlns:a16="http://schemas.microsoft.com/office/drawing/2014/main" id="{50757D19-78E9-4589-9CC4-B9D8C377E037}"/>
                </a:ext>
              </a:extLst>
            </p:cNvPr>
            <p:cNvSpPr>
              <a:spLocks noChangeArrowheads="1"/>
            </p:cNvSpPr>
            <p:nvPr/>
          </p:nvSpPr>
          <p:spPr bwMode="auto">
            <a:xfrm>
              <a:off x="3852" y="720"/>
              <a:ext cx="288"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男</a:t>
              </a:r>
            </a:p>
          </p:txBody>
        </p:sp>
        <p:sp>
          <p:nvSpPr>
            <p:cNvPr id="11" name="Rectangle 7">
              <a:extLst>
                <a:ext uri="{FF2B5EF4-FFF2-40B4-BE49-F238E27FC236}">
                  <a16:creationId xmlns:a16="http://schemas.microsoft.com/office/drawing/2014/main" id="{5CF19D5B-8F45-44D7-94DF-6AFA40574332}"/>
                </a:ext>
              </a:extLst>
            </p:cNvPr>
            <p:cNvSpPr>
              <a:spLocks noChangeArrowheads="1"/>
            </p:cNvSpPr>
            <p:nvPr/>
          </p:nvSpPr>
          <p:spPr bwMode="auto">
            <a:xfrm>
              <a:off x="4122" y="720"/>
              <a:ext cx="544"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en-US" altLang="zh-CN" sz="1600" b="1">
                  <a:solidFill>
                    <a:srgbClr val="0000FF"/>
                  </a:solidFill>
                  <a:latin typeface="Consolas" pitchFamily="49" charset="0"/>
                  <a:ea typeface="楷体" pitchFamily="49" charset="-122"/>
                  <a:cs typeface="Consolas" pitchFamily="49" charset="0"/>
                </a:rPr>
                <a:t>9901</a:t>
              </a:r>
            </a:p>
          </p:txBody>
        </p:sp>
        <p:sp>
          <p:nvSpPr>
            <p:cNvPr id="12" name="Rectangle 8">
              <a:extLst>
                <a:ext uri="{FF2B5EF4-FFF2-40B4-BE49-F238E27FC236}">
                  <a16:creationId xmlns:a16="http://schemas.microsoft.com/office/drawing/2014/main" id="{545F9CD7-4EB8-441E-BCB9-F04D86650ECD}"/>
                </a:ext>
              </a:extLst>
            </p:cNvPr>
            <p:cNvSpPr>
              <a:spLocks noChangeArrowheads="1"/>
            </p:cNvSpPr>
            <p:nvPr/>
          </p:nvSpPr>
          <p:spPr bwMode="auto">
            <a:xfrm>
              <a:off x="4649" y="720"/>
              <a:ext cx="306"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endParaRPr kumimoji="0" lang="en-US" altLang="zh-CN" sz="1600" b="1">
                <a:solidFill>
                  <a:srgbClr val="0000FF"/>
                </a:solidFill>
                <a:latin typeface="Consolas" pitchFamily="49" charset="0"/>
                <a:ea typeface="楷体" pitchFamily="49" charset="-122"/>
                <a:cs typeface="Consolas" pitchFamily="49" charset="0"/>
              </a:endParaRPr>
            </a:p>
            <a:p>
              <a:pPr algn="ctr" eaLnBrk="0" hangingPunct="0">
                <a:lnSpc>
                  <a:spcPct val="112000"/>
                </a:lnSpc>
                <a:spcBef>
                  <a:spcPct val="0"/>
                </a:spcBef>
              </a:pPr>
              <a:endParaRPr kumimoji="0" lang="en-US" altLang="zh-CN" sz="1600" b="1">
                <a:solidFill>
                  <a:srgbClr val="0000FF"/>
                </a:solidFill>
                <a:latin typeface="Consolas" pitchFamily="49" charset="0"/>
                <a:ea typeface="楷体" pitchFamily="49" charset="-122"/>
                <a:cs typeface="Consolas" pitchFamily="49" charset="0"/>
              </a:endParaRPr>
            </a:p>
          </p:txBody>
        </p:sp>
      </p:grpSp>
      <p:grpSp>
        <p:nvGrpSpPr>
          <p:cNvPr id="13" name="Group 10">
            <a:extLst>
              <a:ext uri="{FF2B5EF4-FFF2-40B4-BE49-F238E27FC236}">
                <a16:creationId xmlns:a16="http://schemas.microsoft.com/office/drawing/2014/main" id="{C02694C0-3E97-473C-B48E-D3D60ADDBDD7}"/>
              </a:ext>
            </a:extLst>
          </p:cNvPr>
          <p:cNvGrpSpPr>
            <a:grpSpLocks/>
          </p:cNvGrpSpPr>
          <p:nvPr/>
        </p:nvGrpSpPr>
        <p:grpSpPr bwMode="auto">
          <a:xfrm>
            <a:off x="2674980" y="2540553"/>
            <a:ext cx="2952750" cy="396875"/>
            <a:chOff x="3095" y="1104"/>
            <a:chExt cx="1860" cy="250"/>
          </a:xfrm>
        </p:grpSpPr>
        <p:sp>
          <p:nvSpPr>
            <p:cNvPr id="14" name="Rectangle 11">
              <a:extLst>
                <a:ext uri="{FF2B5EF4-FFF2-40B4-BE49-F238E27FC236}">
                  <a16:creationId xmlns:a16="http://schemas.microsoft.com/office/drawing/2014/main" id="{53F90C6B-5025-425E-A003-E97AB5DCAD02}"/>
                </a:ext>
              </a:extLst>
            </p:cNvPr>
            <p:cNvSpPr>
              <a:spLocks noChangeArrowheads="1"/>
            </p:cNvSpPr>
            <p:nvPr/>
          </p:nvSpPr>
          <p:spPr bwMode="auto">
            <a:xfrm>
              <a:off x="3095" y="1104"/>
              <a:ext cx="306"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en-US" altLang="zh-CN" sz="1600" b="1" dirty="0">
                  <a:solidFill>
                    <a:srgbClr val="0000FF"/>
                  </a:solidFill>
                  <a:latin typeface="Consolas" pitchFamily="49" charset="0"/>
                  <a:ea typeface="楷体" pitchFamily="49" charset="-122"/>
                  <a:cs typeface="Consolas" pitchFamily="49" charset="0"/>
                </a:rPr>
                <a:t>8</a:t>
              </a:r>
            </a:p>
          </p:txBody>
        </p:sp>
        <p:sp>
          <p:nvSpPr>
            <p:cNvPr id="15" name="Rectangle 12">
              <a:extLst>
                <a:ext uri="{FF2B5EF4-FFF2-40B4-BE49-F238E27FC236}">
                  <a16:creationId xmlns:a16="http://schemas.microsoft.com/office/drawing/2014/main" id="{D9CD5C8E-15AB-4FD4-B94A-17D75E5A339D}"/>
                </a:ext>
              </a:extLst>
            </p:cNvPr>
            <p:cNvSpPr>
              <a:spLocks noChangeArrowheads="1"/>
            </p:cNvSpPr>
            <p:nvPr/>
          </p:nvSpPr>
          <p:spPr bwMode="auto">
            <a:xfrm>
              <a:off x="3372" y="1104"/>
              <a:ext cx="498"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zh-CN" altLang="en-US" sz="1600" b="1" dirty="0">
                  <a:solidFill>
                    <a:srgbClr val="C00000"/>
                  </a:solidFill>
                  <a:latin typeface="Consolas" pitchFamily="49" charset="0"/>
                  <a:ea typeface="楷体" pitchFamily="49" charset="-122"/>
                  <a:cs typeface="Consolas" pitchFamily="49" charset="0"/>
                </a:rPr>
                <a:t>刘丽</a:t>
              </a:r>
            </a:p>
          </p:txBody>
        </p:sp>
        <p:sp>
          <p:nvSpPr>
            <p:cNvPr id="16" name="Rectangle 13">
              <a:extLst>
                <a:ext uri="{FF2B5EF4-FFF2-40B4-BE49-F238E27FC236}">
                  <a16:creationId xmlns:a16="http://schemas.microsoft.com/office/drawing/2014/main" id="{2CBAB484-21CB-4120-85B0-FD8A4C8A4F7D}"/>
                </a:ext>
              </a:extLst>
            </p:cNvPr>
            <p:cNvSpPr>
              <a:spLocks noChangeArrowheads="1"/>
            </p:cNvSpPr>
            <p:nvPr/>
          </p:nvSpPr>
          <p:spPr bwMode="auto">
            <a:xfrm>
              <a:off x="3852" y="1104"/>
              <a:ext cx="288"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女</a:t>
              </a:r>
            </a:p>
          </p:txBody>
        </p:sp>
        <p:sp>
          <p:nvSpPr>
            <p:cNvPr id="17" name="Rectangle 14">
              <a:extLst>
                <a:ext uri="{FF2B5EF4-FFF2-40B4-BE49-F238E27FC236}">
                  <a16:creationId xmlns:a16="http://schemas.microsoft.com/office/drawing/2014/main" id="{D8C6D17F-7A7A-4810-8F17-B5E134DA08AE}"/>
                </a:ext>
              </a:extLst>
            </p:cNvPr>
            <p:cNvSpPr>
              <a:spLocks noChangeArrowheads="1"/>
            </p:cNvSpPr>
            <p:nvPr/>
          </p:nvSpPr>
          <p:spPr bwMode="auto">
            <a:xfrm>
              <a:off x="4122" y="1104"/>
              <a:ext cx="544"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en-US" altLang="zh-CN" sz="1600" b="1">
                  <a:solidFill>
                    <a:srgbClr val="0000FF"/>
                  </a:solidFill>
                  <a:latin typeface="Consolas" pitchFamily="49" charset="0"/>
                  <a:ea typeface="楷体" pitchFamily="49" charset="-122"/>
                  <a:cs typeface="Consolas" pitchFamily="49" charset="0"/>
                </a:rPr>
                <a:t>9902</a:t>
              </a:r>
            </a:p>
          </p:txBody>
        </p:sp>
        <p:sp>
          <p:nvSpPr>
            <p:cNvPr id="18" name="Rectangle 15">
              <a:extLst>
                <a:ext uri="{FF2B5EF4-FFF2-40B4-BE49-F238E27FC236}">
                  <a16:creationId xmlns:a16="http://schemas.microsoft.com/office/drawing/2014/main" id="{863ED3B3-E5E5-416E-AE20-65778693A8F0}"/>
                </a:ext>
              </a:extLst>
            </p:cNvPr>
            <p:cNvSpPr>
              <a:spLocks noChangeArrowheads="1"/>
            </p:cNvSpPr>
            <p:nvPr/>
          </p:nvSpPr>
          <p:spPr bwMode="auto">
            <a:xfrm>
              <a:off x="4649" y="1104"/>
              <a:ext cx="306"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endParaRPr kumimoji="0" lang="en-US" altLang="zh-CN" sz="1600" b="1">
                <a:solidFill>
                  <a:srgbClr val="0000FF"/>
                </a:solidFill>
                <a:latin typeface="Consolas" pitchFamily="49" charset="0"/>
                <a:ea typeface="楷体" pitchFamily="49" charset="-122"/>
                <a:cs typeface="Consolas" pitchFamily="49" charset="0"/>
              </a:endParaRPr>
            </a:p>
            <a:p>
              <a:pPr algn="ctr" eaLnBrk="0" hangingPunct="0">
                <a:lnSpc>
                  <a:spcPct val="112000"/>
                </a:lnSpc>
                <a:spcBef>
                  <a:spcPct val="0"/>
                </a:spcBef>
              </a:pPr>
              <a:endParaRPr kumimoji="0" lang="en-US" altLang="zh-CN" sz="1600" b="1">
                <a:solidFill>
                  <a:srgbClr val="0000FF"/>
                </a:solidFill>
                <a:latin typeface="Consolas" pitchFamily="49" charset="0"/>
                <a:ea typeface="楷体" pitchFamily="49" charset="-122"/>
                <a:cs typeface="Consolas" pitchFamily="49" charset="0"/>
              </a:endParaRPr>
            </a:p>
          </p:txBody>
        </p:sp>
      </p:grpSp>
      <p:grpSp>
        <p:nvGrpSpPr>
          <p:cNvPr id="19" name="Group 16">
            <a:extLst>
              <a:ext uri="{FF2B5EF4-FFF2-40B4-BE49-F238E27FC236}">
                <a16:creationId xmlns:a16="http://schemas.microsoft.com/office/drawing/2014/main" id="{E52BC66B-A2A6-4941-9698-2D50F162B6EA}"/>
              </a:ext>
            </a:extLst>
          </p:cNvPr>
          <p:cNvGrpSpPr>
            <a:grpSpLocks/>
          </p:cNvGrpSpPr>
          <p:nvPr/>
        </p:nvGrpSpPr>
        <p:grpSpPr bwMode="auto">
          <a:xfrm>
            <a:off x="2667045" y="3226353"/>
            <a:ext cx="2974975" cy="396875"/>
            <a:chOff x="3090" y="1536"/>
            <a:chExt cx="1874" cy="250"/>
          </a:xfrm>
        </p:grpSpPr>
        <p:sp>
          <p:nvSpPr>
            <p:cNvPr id="20" name="Rectangle 17">
              <a:extLst>
                <a:ext uri="{FF2B5EF4-FFF2-40B4-BE49-F238E27FC236}">
                  <a16:creationId xmlns:a16="http://schemas.microsoft.com/office/drawing/2014/main" id="{8C571CB4-5AD1-4CB0-9815-9C7D7233A970}"/>
                </a:ext>
              </a:extLst>
            </p:cNvPr>
            <p:cNvSpPr>
              <a:spLocks noChangeArrowheads="1"/>
            </p:cNvSpPr>
            <p:nvPr/>
          </p:nvSpPr>
          <p:spPr bwMode="auto">
            <a:xfrm>
              <a:off x="3090" y="1536"/>
              <a:ext cx="306"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en-US" altLang="zh-CN" sz="1600" b="1" dirty="0">
                  <a:solidFill>
                    <a:srgbClr val="0000FF"/>
                  </a:solidFill>
                  <a:latin typeface="Consolas" pitchFamily="49" charset="0"/>
                  <a:ea typeface="楷体" pitchFamily="49" charset="-122"/>
                  <a:cs typeface="Consolas" pitchFamily="49" charset="0"/>
                </a:rPr>
                <a:t>34</a:t>
              </a:r>
            </a:p>
          </p:txBody>
        </p:sp>
        <p:sp>
          <p:nvSpPr>
            <p:cNvPr id="21" name="Rectangle 18">
              <a:extLst>
                <a:ext uri="{FF2B5EF4-FFF2-40B4-BE49-F238E27FC236}">
                  <a16:creationId xmlns:a16="http://schemas.microsoft.com/office/drawing/2014/main" id="{EA24B079-6B6D-4E2D-897C-3CD423438E39}"/>
                </a:ext>
              </a:extLst>
            </p:cNvPr>
            <p:cNvSpPr>
              <a:spLocks noChangeArrowheads="1"/>
            </p:cNvSpPr>
            <p:nvPr/>
          </p:nvSpPr>
          <p:spPr bwMode="auto">
            <a:xfrm>
              <a:off x="3381" y="1536"/>
              <a:ext cx="498"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李英</a:t>
              </a:r>
            </a:p>
          </p:txBody>
        </p:sp>
        <p:sp>
          <p:nvSpPr>
            <p:cNvPr id="22" name="Rectangle 19">
              <a:extLst>
                <a:ext uri="{FF2B5EF4-FFF2-40B4-BE49-F238E27FC236}">
                  <a16:creationId xmlns:a16="http://schemas.microsoft.com/office/drawing/2014/main" id="{36CE9DF4-DB28-4172-B045-17275D0E1BF5}"/>
                </a:ext>
              </a:extLst>
            </p:cNvPr>
            <p:cNvSpPr>
              <a:spLocks noChangeArrowheads="1"/>
            </p:cNvSpPr>
            <p:nvPr/>
          </p:nvSpPr>
          <p:spPr bwMode="auto">
            <a:xfrm>
              <a:off x="3861" y="1536"/>
              <a:ext cx="288"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女</a:t>
              </a:r>
            </a:p>
          </p:txBody>
        </p:sp>
        <p:sp>
          <p:nvSpPr>
            <p:cNvPr id="23" name="Rectangle 20">
              <a:extLst>
                <a:ext uri="{FF2B5EF4-FFF2-40B4-BE49-F238E27FC236}">
                  <a16:creationId xmlns:a16="http://schemas.microsoft.com/office/drawing/2014/main" id="{F7DA2DCB-11D1-421B-990E-B5933BFA0551}"/>
                </a:ext>
              </a:extLst>
            </p:cNvPr>
            <p:cNvSpPr>
              <a:spLocks noChangeArrowheads="1"/>
            </p:cNvSpPr>
            <p:nvPr/>
          </p:nvSpPr>
          <p:spPr bwMode="auto">
            <a:xfrm>
              <a:off x="4131" y="1536"/>
              <a:ext cx="544"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en-US" altLang="zh-CN" sz="1600" b="1">
                  <a:solidFill>
                    <a:srgbClr val="0000FF"/>
                  </a:solidFill>
                  <a:latin typeface="Consolas" pitchFamily="49" charset="0"/>
                  <a:ea typeface="楷体" pitchFamily="49" charset="-122"/>
                  <a:cs typeface="Consolas" pitchFamily="49" charset="0"/>
                </a:rPr>
                <a:t>9901</a:t>
              </a:r>
            </a:p>
          </p:txBody>
        </p:sp>
        <p:sp>
          <p:nvSpPr>
            <p:cNvPr id="24" name="Rectangle 21">
              <a:extLst>
                <a:ext uri="{FF2B5EF4-FFF2-40B4-BE49-F238E27FC236}">
                  <a16:creationId xmlns:a16="http://schemas.microsoft.com/office/drawing/2014/main" id="{E8E7FD52-20F4-4C54-8AFB-5BF5802D7754}"/>
                </a:ext>
              </a:extLst>
            </p:cNvPr>
            <p:cNvSpPr>
              <a:spLocks noChangeArrowheads="1"/>
            </p:cNvSpPr>
            <p:nvPr/>
          </p:nvSpPr>
          <p:spPr bwMode="auto">
            <a:xfrm>
              <a:off x="4658" y="1536"/>
              <a:ext cx="306"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endParaRPr kumimoji="0" lang="en-US" altLang="zh-CN" sz="1600" b="1">
                <a:solidFill>
                  <a:srgbClr val="0000FF"/>
                </a:solidFill>
                <a:latin typeface="Consolas" pitchFamily="49" charset="0"/>
                <a:ea typeface="楷体" pitchFamily="49" charset="-122"/>
                <a:cs typeface="Consolas" pitchFamily="49" charset="0"/>
              </a:endParaRPr>
            </a:p>
            <a:p>
              <a:pPr algn="ctr" eaLnBrk="0" hangingPunct="0">
                <a:lnSpc>
                  <a:spcPct val="112000"/>
                </a:lnSpc>
                <a:spcBef>
                  <a:spcPct val="0"/>
                </a:spcBef>
              </a:pPr>
              <a:endParaRPr kumimoji="0" lang="en-US" altLang="zh-CN" sz="1600" b="1">
                <a:solidFill>
                  <a:srgbClr val="0000FF"/>
                </a:solidFill>
                <a:latin typeface="Consolas" pitchFamily="49" charset="0"/>
                <a:ea typeface="楷体" pitchFamily="49" charset="-122"/>
                <a:cs typeface="Consolas" pitchFamily="49" charset="0"/>
              </a:endParaRPr>
            </a:p>
          </p:txBody>
        </p:sp>
      </p:grpSp>
      <p:sp>
        <p:nvSpPr>
          <p:cNvPr id="25" name="Line 22">
            <a:extLst>
              <a:ext uri="{FF2B5EF4-FFF2-40B4-BE49-F238E27FC236}">
                <a16:creationId xmlns:a16="http://schemas.microsoft.com/office/drawing/2014/main" id="{8FE05175-D7B3-48FB-A42A-811948517FE5}"/>
              </a:ext>
            </a:extLst>
          </p:cNvPr>
          <p:cNvSpPr>
            <a:spLocks noChangeShapeType="1"/>
          </p:cNvSpPr>
          <p:nvPr/>
        </p:nvSpPr>
        <p:spPr bwMode="auto">
          <a:xfrm>
            <a:off x="5386430" y="2159552"/>
            <a:ext cx="0" cy="381000"/>
          </a:xfrm>
          <a:prstGeom prst="line">
            <a:avLst/>
          </a:prstGeom>
          <a:noFill/>
          <a:ln w="28575">
            <a:solidFill>
              <a:srgbClr val="339933"/>
            </a:solidFill>
            <a:miter lim="800000"/>
            <a:headEnd/>
            <a:tailEnd type="triangle" w="med" len="med"/>
          </a:ln>
          <a:effectLst/>
        </p:spPr>
        <p:txBody>
          <a:bodyPr wrap="none" tIns="36000"/>
          <a:lstStyle/>
          <a:p>
            <a:pPr algn="ctr"/>
            <a:endParaRPr lang="zh-CN" altLang="en-US" sz="1800" b="1">
              <a:solidFill>
                <a:srgbClr val="3333CC"/>
              </a:solidFill>
              <a:latin typeface="Consolas" pitchFamily="49" charset="0"/>
              <a:ea typeface="楷体" pitchFamily="49" charset="-122"/>
              <a:cs typeface="Consolas" pitchFamily="49" charset="0"/>
            </a:endParaRPr>
          </a:p>
        </p:txBody>
      </p:sp>
      <p:grpSp>
        <p:nvGrpSpPr>
          <p:cNvPr id="26" name="Group 23">
            <a:extLst>
              <a:ext uri="{FF2B5EF4-FFF2-40B4-BE49-F238E27FC236}">
                <a16:creationId xmlns:a16="http://schemas.microsoft.com/office/drawing/2014/main" id="{5B50B17A-EC24-453A-8B1E-FD6AC3F9EE04}"/>
              </a:ext>
            </a:extLst>
          </p:cNvPr>
          <p:cNvGrpSpPr>
            <a:grpSpLocks/>
          </p:cNvGrpSpPr>
          <p:nvPr/>
        </p:nvGrpSpPr>
        <p:grpSpPr bwMode="auto">
          <a:xfrm>
            <a:off x="2667045" y="3912153"/>
            <a:ext cx="2974975" cy="396875"/>
            <a:chOff x="3090" y="1968"/>
            <a:chExt cx="1874" cy="250"/>
          </a:xfrm>
        </p:grpSpPr>
        <p:sp>
          <p:nvSpPr>
            <p:cNvPr id="27" name="Rectangle 24">
              <a:extLst>
                <a:ext uri="{FF2B5EF4-FFF2-40B4-BE49-F238E27FC236}">
                  <a16:creationId xmlns:a16="http://schemas.microsoft.com/office/drawing/2014/main" id="{768B2F1E-1293-4E2B-AD7C-03C2AB37B370}"/>
                </a:ext>
              </a:extLst>
            </p:cNvPr>
            <p:cNvSpPr>
              <a:spLocks noChangeArrowheads="1"/>
            </p:cNvSpPr>
            <p:nvPr/>
          </p:nvSpPr>
          <p:spPr bwMode="auto">
            <a:xfrm>
              <a:off x="3090" y="1968"/>
              <a:ext cx="306"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en-US" altLang="zh-CN" sz="1600" b="1" dirty="0">
                  <a:solidFill>
                    <a:srgbClr val="0000FF"/>
                  </a:solidFill>
                  <a:latin typeface="Consolas" pitchFamily="49" charset="0"/>
                  <a:ea typeface="楷体" pitchFamily="49" charset="-122"/>
                  <a:cs typeface="Consolas" pitchFamily="49" charset="0"/>
                </a:rPr>
                <a:t>20</a:t>
              </a:r>
            </a:p>
          </p:txBody>
        </p:sp>
        <p:sp>
          <p:nvSpPr>
            <p:cNvPr id="28" name="Rectangle 25">
              <a:extLst>
                <a:ext uri="{FF2B5EF4-FFF2-40B4-BE49-F238E27FC236}">
                  <a16:creationId xmlns:a16="http://schemas.microsoft.com/office/drawing/2014/main" id="{9BB87F2B-DED2-4D45-8896-41EB6FEAB0A1}"/>
                </a:ext>
              </a:extLst>
            </p:cNvPr>
            <p:cNvSpPr>
              <a:spLocks noChangeArrowheads="1"/>
            </p:cNvSpPr>
            <p:nvPr/>
          </p:nvSpPr>
          <p:spPr bwMode="auto">
            <a:xfrm>
              <a:off x="3381" y="1968"/>
              <a:ext cx="498"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陈华</a:t>
              </a:r>
            </a:p>
          </p:txBody>
        </p:sp>
        <p:sp>
          <p:nvSpPr>
            <p:cNvPr id="29" name="Rectangle 26">
              <a:extLst>
                <a:ext uri="{FF2B5EF4-FFF2-40B4-BE49-F238E27FC236}">
                  <a16:creationId xmlns:a16="http://schemas.microsoft.com/office/drawing/2014/main" id="{56E1E5C3-5AA7-49C3-A6C3-B99CC48A6ADF}"/>
                </a:ext>
              </a:extLst>
            </p:cNvPr>
            <p:cNvSpPr>
              <a:spLocks noChangeArrowheads="1"/>
            </p:cNvSpPr>
            <p:nvPr/>
          </p:nvSpPr>
          <p:spPr bwMode="auto">
            <a:xfrm>
              <a:off x="3861" y="1968"/>
              <a:ext cx="288"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男</a:t>
              </a:r>
            </a:p>
          </p:txBody>
        </p:sp>
        <p:sp>
          <p:nvSpPr>
            <p:cNvPr id="30" name="Rectangle 27">
              <a:extLst>
                <a:ext uri="{FF2B5EF4-FFF2-40B4-BE49-F238E27FC236}">
                  <a16:creationId xmlns:a16="http://schemas.microsoft.com/office/drawing/2014/main" id="{914B45AD-AA7F-4DCB-B2EE-555786EA6C39}"/>
                </a:ext>
              </a:extLst>
            </p:cNvPr>
            <p:cNvSpPr>
              <a:spLocks noChangeArrowheads="1"/>
            </p:cNvSpPr>
            <p:nvPr/>
          </p:nvSpPr>
          <p:spPr bwMode="auto">
            <a:xfrm>
              <a:off x="4131" y="1968"/>
              <a:ext cx="544"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en-US" altLang="zh-CN" sz="1600" b="1">
                  <a:solidFill>
                    <a:srgbClr val="0000FF"/>
                  </a:solidFill>
                  <a:latin typeface="Consolas" pitchFamily="49" charset="0"/>
                  <a:ea typeface="楷体" pitchFamily="49" charset="-122"/>
                  <a:cs typeface="Consolas" pitchFamily="49" charset="0"/>
                </a:rPr>
                <a:t>9902</a:t>
              </a:r>
            </a:p>
          </p:txBody>
        </p:sp>
        <p:sp>
          <p:nvSpPr>
            <p:cNvPr id="31" name="Rectangle 28">
              <a:extLst>
                <a:ext uri="{FF2B5EF4-FFF2-40B4-BE49-F238E27FC236}">
                  <a16:creationId xmlns:a16="http://schemas.microsoft.com/office/drawing/2014/main" id="{940E7C74-8C87-4A7C-A5E8-227B53B9E32A}"/>
                </a:ext>
              </a:extLst>
            </p:cNvPr>
            <p:cNvSpPr>
              <a:spLocks noChangeArrowheads="1"/>
            </p:cNvSpPr>
            <p:nvPr/>
          </p:nvSpPr>
          <p:spPr bwMode="auto">
            <a:xfrm>
              <a:off x="4658" y="1968"/>
              <a:ext cx="306"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endParaRPr kumimoji="0" lang="en-US" altLang="zh-CN" sz="1600" b="1">
                <a:solidFill>
                  <a:srgbClr val="0000FF"/>
                </a:solidFill>
                <a:latin typeface="Consolas" pitchFamily="49" charset="0"/>
                <a:ea typeface="楷体" pitchFamily="49" charset="-122"/>
                <a:cs typeface="Consolas" pitchFamily="49" charset="0"/>
              </a:endParaRPr>
            </a:p>
            <a:p>
              <a:pPr algn="ctr" eaLnBrk="0" hangingPunct="0">
                <a:lnSpc>
                  <a:spcPct val="112000"/>
                </a:lnSpc>
                <a:spcBef>
                  <a:spcPct val="0"/>
                </a:spcBef>
              </a:pPr>
              <a:endParaRPr kumimoji="0" lang="en-US" altLang="zh-CN" sz="1600" b="1">
                <a:solidFill>
                  <a:srgbClr val="0000FF"/>
                </a:solidFill>
                <a:latin typeface="Consolas" pitchFamily="49" charset="0"/>
                <a:ea typeface="楷体" pitchFamily="49" charset="-122"/>
                <a:cs typeface="Consolas" pitchFamily="49" charset="0"/>
              </a:endParaRPr>
            </a:p>
          </p:txBody>
        </p:sp>
      </p:grpSp>
      <p:grpSp>
        <p:nvGrpSpPr>
          <p:cNvPr id="32" name="Group 29">
            <a:extLst>
              <a:ext uri="{FF2B5EF4-FFF2-40B4-BE49-F238E27FC236}">
                <a16:creationId xmlns:a16="http://schemas.microsoft.com/office/drawing/2014/main" id="{EB8C53FB-9010-4072-9888-14E00204A577}"/>
              </a:ext>
            </a:extLst>
          </p:cNvPr>
          <p:cNvGrpSpPr>
            <a:grpSpLocks/>
          </p:cNvGrpSpPr>
          <p:nvPr/>
        </p:nvGrpSpPr>
        <p:grpSpPr bwMode="auto">
          <a:xfrm>
            <a:off x="2681332" y="5817153"/>
            <a:ext cx="2974975" cy="396875"/>
            <a:chOff x="3099" y="3168"/>
            <a:chExt cx="1874" cy="250"/>
          </a:xfrm>
        </p:grpSpPr>
        <p:sp>
          <p:nvSpPr>
            <p:cNvPr id="33" name="Rectangle 30">
              <a:extLst>
                <a:ext uri="{FF2B5EF4-FFF2-40B4-BE49-F238E27FC236}">
                  <a16:creationId xmlns:a16="http://schemas.microsoft.com/office/drawing/2014/main" id="{ABB69D0B-FDC7-4D9B-AE20-D280E121C6C8}"/>
                </a:ext>
              </a:extLst>
            </p:cNvPr>
            <p:cNvSpPr>
              <a:spLocks noChangeArrowheads="1"/>
            </p:cNvSpPr>
            <p:nvPr/>
          </p:nvSpPr>
          <p:spPr bwMode="auto">
            <a:xfrm>
              <a:off x="3099" y="3168"/>
              <a:ext cx="306"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en-US" altLang="zh-CN" sz="1600" b="1" dirty="0">
                  <a:solidFill>
                    <a:srgbClr val="0000FF"/>
                  </a:solidFill>
                  <a:latin typeface="Consolas" pitchFamily="49" charset="0"/>
                  <a:ea typeface="楷体" pitchFamily="49" charset="-122"/>
                  <a:cs typeface="Consolas" pitchFamily="49" charset="0"/>
                </a:rPr>
                <a:t>5</a:t>
              </a:r>
            </a:p>
          </p:txBody>
        </p:sp>
        <p:sp>
          <p:nvSpPr>
            <p:cNvPr id="34" name="Rectangle 31">
              <a:extLst>
                <a:ext uri="{FF2B5EF4-FFF2-40B4-BE49-F238E27FC236}">
                  <a16:creationId xmlns:a16="http://schemas.microsoft.com/office/drawing/2014/main" id="{DB3BFD20-EF9E-442A-A936-72FBE109B6C0}"/>
                </a:ext>
              </a:extLst>
            </p:cNvPr>
            <p:cNvSpPr>
              <a:spLocks noChangeArrowheads="1"/>
            </p:cNvSpPr>
            <p:nvPr/>
          </p:nvSpPr>
          <p:spPr bwMode="auto">
            <a:xfrm>
              <a:off x="3390" y="3168"/>
              <a:ext cx="498"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王萍</a:t>
              </a:r>
            </a:p>
          </p:txBody>
        </p:sp>
        <p:sp>
          <p:nvSpPr>
            <p:cNvPr id="35" name="Rectangle 32">
              <a:extLst>
                <a:ext uri="{FF2B5EF4-FFF2-40B4-BE49-F238E27FC236}">
                  <a16:creationId xmlns:a16="http://schemas.microsoft.com/office/drawing/2014/main" id="{4F90C1B1-0C56-4E3D-9E56-04D3ACC087B8}"/>
                </a:ext>
              </a:extLst>
            </p:cNvPr>
            <p:cNvSpPr>
              <a:spLocks noChangeArrowheads="1"/>
            </p:cNvSpPr>
            <p:nvPr/>
          </p:nvSpPr>
          <p:spPr bwMode="auto">
            <a:xfrm>
              <a:off x="3870" y="3168"/>
              <a:ext cx="288"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女</a:t>
              </a:r>
            </a:p>
          </p:txBody>
        </p:sp>
        <p:sp>
          <p:nvSpPr>
            <p:cNvPr id="36" name="Rectangle 33">
              <a:extLst>
                <a:ext uri="{FF2B5EF4-FFF2-40B4-BE49-F238E27FC236}">
                  <a16:creationId xmlns:a16="http://schemas.microsoft.com/office/drawing/2014/main" id="{94DA75BB-B60D-438F-80AD-8C26DF533041}"/>
                </a:ext>
              </a:extLst>
            </p:cNvPr>
            <p:cNvSpPr>
              <a:spLocks noChangeArrowheads="1"/>
            </p:cNvSpPr>
            <p:nvPr/>
          </p:nvSpPr>
          <p:spPr bwMode="auto">
            <a:xfrm>
              <a:off x="4140" y="3168"/>
              <a:ext cx="544"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en-US" altLang="zh-CN" sz="1600" b="1">
                  <a:solidFill>
                    <a:srgbClr val="0000FF"/>
                  </a:solidFill>
                  <a:latin typeface="Consolas" pitchFamily="49" charset="0"/>
                  <a:ea typeface="楷体" pitchFamily="49" charset="-122"/>
                  <a:cs typeface="Consolas" pitchFamily="49" charset="0"/>
                </a:rPr>
                <a:t>9901</a:t>
              </a:r>
            </a:p>
          </p:txBody>
        </p:sp>
        <p:sp>
          <p:nvSpPr>
            <p:cNvPr id="37" name="Rectangle 34">
              <a:extLst>
                <a:ext uri="{FF2B5EF4-FFF2-40B4-BE49-F238E27FC236}">
                  <a16:creationId xmlns:a16="http://schemas.microsoft.com/office/drawing/2014/main" id="{562E644F-8DB4-40DF-AB0B-F6EA9E139C34}"/>
                </a:ext>
              </a:extLst>
            </p:cNvPr>
            <p:cNvSpPr>
              <a:spLocks noChangeArrowheads="1"/>
            </p:cNvSpPr>
            <p:nvPr/>
          </p:nvSpPr>
          <p:spPr bwMode="auto">
            <a:xfrm>
              <a:off x="4667" y="3168"/>
              <a:ext cx="306"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00000"/>
                </a:lnSpc>
                <a:spcBef>
                  <a:spcPct val="0"/>
                </a:spcBef>
              </a:pPr>
              <a:r>
                <a:rPr kumimoji="0" lang="en-US" altLang="zh-CN" sz="1600" b="1">
                  <a:solidFill>
                    <a:srgbClr val="0000FF"/>
                  </a:solidFill>
                  <a:latin typeface="Consolas" pitchFamily="49" charset="0"/>
                  <a:ea typeface="楷体" pitchFamily="49" charset="-122"/>
                  <a:cs typeface="Consolas" pitchFamily="49" charset="0"/>
                </a:rPr>
                <a:t>∧</a:t>
              </a:r>
            </a:p>
          </p:txBody>
        </p:sp>
      </p:grpSp>
      <p:sp>
        <p:nvSpPr>
          <p:cNvPr id="38" name="Line 35">
            <a:extLst>
              <a:ext uri="{FF2B5EF4-FFF2-40B4-BE49-F238E27FC236}">
                <a16:creationId xmlns:a16="http://schemas.microsoft.com/office/drawing/2014/main" id="{EF2EB718-5E63-4A5D-9931-42E2437B016D}"/>
              </a:ext>
            </a:extLst>
          </p:cNvPr>
          <p:cNvSpPr>
            <a:spLocks noChangeShapeType="1"/>
          </p:cNvSpPr>
          <p:nvPr/>
        </p:nvSpPr>
        <p:spPr bwMode="auto">
          <a:xfrm>
            <a:off x="5386430" y="2794553"/>
            <a:ext cx="0" cy="432000"/>
          </a:xfrm>
          <a:prstGeom prst="line">
            <a:avLst/>
          </a:prstGeom>
          <a:noFill/>
          <a:ln w="28575">
            <a:solidFill>
              <a:srgbClr val="339933"/>
            </a:solidFill>
            <a:miter lim="800000"/>
            <a:headEnd/>
            <a:tailEnd type="triangle" w="med" len="med"/>
          </a:ln>
          <a:effectLst/>
        </p:spPr>
        <p:txBody>
          <a:bodyPr wrap="none" tIns="36000"/>
          <a:lstStyle/>
          <a:p>
            <a:pPr algn="ctr"/>
            <a:endParaRPr lang="zh-CN" altLang="en-US" sz="1800" b="1">
              <a:solidFill>
                <a:srgbClr val="3333CC"/>
              </a:solidFill>
              <a:latin typeface="Consolas" pitchFamily="49" charset="0"/>
              <a:ea typeface="楷体" pitchFamily="49" charset="-122"/>
              <a:cs typeface="Consolas" pitchFamily="49" charset="0"/>
            </a:endParaRPr>
          </a:p>
        </p:txBody>
      </p:sp>
      <p:sp>
        <p:nvSpPr>
          <p:cNvPr id="39" name="Line 36">
            <a:extLst>
              <a:ext uri="{FF2B5EF4-FFF2-40B4-BE49-F238E27FC236}">
                <a16:creationId xmlns:a16="http://schemas.microsoft.com/office/drawing/2014/main" id="{5B625FDD-A4DE-4F2F-863D-A946D26FBC4A}"/>
              </a:ext>
            </a:extLst>
          </p:cNvPr>
          <p:cNvSpPr>
            <a:spLocks noChangeShapeType="1"/>
          </p:cNvSpPr>
          <p:nvPr/>
        </p:nvSpPr>
        <p:spPr bwMode="auto">
          <a:xfrm>
            <a:off x="5373730" y="3454952"/>
            <a:ext cx="0" cy="457200"/>
          </a:xfrm>
          <a:prstGeom prst="line">
            <a:avLst/>
          </a:prstGeom>
          <a:noFill/>
          <a:ln w="28575">
            <a:solidFill>
              <a:srgbClr val="339933"/>
            </a:solidFill>
            <a:miter lim="800000"/>
            <a:headEnd/>
            <a:tailEnd type="triangle" w="med" len="med"/>
          </a:ln>
          <a:effectLst/>
        </p:spPr>
        <p:txBody>
          <a:bodyPr wrap="none" tIns="36000"/>
          <a:lstStyle/>
          <a:p>
            <a:pPr algn="ctr"/>
            <a:endParaRPr lang="zh-CN" altLang="en-US" sz="1800" b="1">
              <a:solidFill>
                <a:srgbClr val="3333CC"/>
              </a:solidFill>
              <a:latin typeface="Consolas" pitchFamily="49" charset="0"/>
              <a:ea typeface="楷体" pitchFamily="49" charset="-122"/>
              <a:cs typeface="Consolas" pitchFamily="49" charset="0"/>
            </a:endParaRPr>
          </a:p>
        </p:txBody>
      </p:sp>
      <p:sp>
        <p:nvSpPr>
          <p:cNvPr id="40" name="Line 37">
            <a:extLst>
              <a:ext uri="{FF2B5EF4-FFF2-40B4-BE49-F238E27FC236}">
                <a16:creationId xmlns:a16="http://schemas.microsoft.com/office/drawing/2014/main" id="{DE92C25F-6702-428F-9666-C17553E75690}"/>
              </a:ext>
            </a:extLst>
          </p:cNvPr>
          <p:cNvSpPr>
            <a:spLocks noChangeShapeType="1"/>
          </p:cNvSpPr>
          <p:nvPr/>
        </p:nvSpPr>
        <p:spPr bwMode="auto">
          <a:xfrm>
            <a:off x="5373730" y="4140752"/>
            <a:ext cx="0" cy="457200"/>
          </a:xfrm>
          <a:prstGeom prst="line">
            <a:avLst/>
          </a:prstGeom>
          <a:noFill/>
          <a:ln w="28575">
            <a:solidFill>
              <a:srgbClr val="339933"/>
            </a:solidFill>
            <a:miter lim="800000"/>
            <a:headEnd/>
            <a:tailEnd type="triangle" w="med" len="med"/>
          </a:ln>
          <a:effectLst/>
        </p:spPr>
        <p:txBody>
          <a:bodyPr wrap="none" tIns="36000"/>
          <a:lstStyle/>
          <a:p>
            <a:pPr algn="ctr"/>
            <a:endParaRPr lang="zh-CN" altLang="en-US" sz="1800" b="1">
              <a:solidFill>
                <a:srgbClr val="3333CC"/>
              </a:solidFill>
              <a:latin typeface="Consolas" pitchFamily="49" charset="0"/>
              <a:ea typeface="楷体" pitchFamily="49" charset="-122"/>
              <a:cs typeface="Consolas" pitchFamily="49" charset="0"/>
            </a:endParaRPr>
          </a:p>
        </p:txBody>
      </p:sp>
      <p:grpSp>
        <p:nvGrpSpPr>
          <p:cNvPr id="41" name="Group 38">
            <a:extLst>
              <a:ext uri="{FF2B5EF4-FFF2-40B4-BE49-F238E27FC236}">
                <a16:creationId xmlns:a16="http://schemas.microsoft.com/office/drawing/2014/main" id="{4134859D-F878-43AD-9488-C4BDE1B71441}"/>
              </a:ext>
            </a:extLst>
          </p:cNvPr>
          <p:cNvGrpSpPr>
            <a:grpSpLocks/>
          </p:cNvGrpSpPr>
          <p:nvPr/>
        </p:nvGrpSpPr>
        <p:grpSpPr bwMode="auto">
          <a:xfrm>
            <a:off x="2667045" y="4597952"/>
            <a:ext cx="2974975" cy="609600"/>
            <a:chOff x="3090" y="2400"/>
            <a:chExt cx="1874" cy="384"/>
          </a:xfrm>
        </p:grpSpPr>
        <p:sp>
          <p:nvSpPr>
            <p:cNvPr id="42" name="Rectangle 39">
              <a:extLst>
                <a:ext uri="{FF2B5EF4-FFF2-40B4-BE49-F238E27FC236}">
                  <a16:creationId xmlns:a16="http://schemas.microsoft.com/office/drawing/2014/main" id="{FAD27477-F7B1-491F-BAF3-0154C207CF2F}"/>
                </a:ext>
              </a:extLst>
            </p:cNvPr>
            <p:cNvSpPr>
              <a:spLocks noChangeArrowheads="1"/>
            </p:cNvSpPr>
            <p:nvPr/>
          </p:nvSpPr>
          <p:spPr bwMode="auto">
            <a:xfrm>
              <a:off x="3090" y="2400"/>
              <a:ext cx="306"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en-US" altLang="zh-CN" sz="1600" b="1" dirty="0">
                  <a:solidFill>
                    <a:srgbClr val="0000FF"/>
                  </a:solidFill>
                  <a:latin typeface="Consolas" pitchFamily="49" charset="0"/>
                  <a:ea typeface="楷体" pitchFamily="49" charset="-122"/>
                  <a:cs typeface="Consolas" pitchFamily="49" charset="0"/>
                </a:rPr>
                <a:t>12</a:t>
              </a:r>
            </a:p>
          </p:txBody>
        </p:sp>
        <p:sp>
          <p:nvSpPr>
            <p:cNvPr id="43" name="Rectangle 40">
              <a:extLst>
                <a:ext uri="{FF2B5EF4-FFF2-40B4-BE49-F238E27FC236}">
                  <a16:creationId xmlns:a16="http://schemas.microsoft.com/office/drawing/2014/main" id="{579C6F4D-06DB-4202-9DC9-B69F428A09AA}"/>
                </a:ext>
              </a:extLst>
            </p:cNvPr>
            <p:cNvSpPr>
              <a:spLocks noChangeArrowheads="1"/>
            </p:cNvSpPr>
            <p:nvPr/>
          </p:nvSpPr>
          <p:spPr bwMode="auto">
            <a:xfrm>
              <a:off x="3381" y="2400"/>
              <a:ext cx="498"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王奇</a:t>
              </a:r>
            </a:p>
          </p:txBody>
        </p:sp>
        <p:sp>
          <p:nvSpPr>
            <p:cNvPr id="44" name="Rectangle 41">
              <a:extLst>
                <a:ext uri="{FF2B5EF4-FFF2-40B4-BE49-F238E27FC236}">
                  <a16:creationId xmlns:a16="http://schemas.microsoft.com/office/drawing/2014/main" id="{4DA2FCE1-6D5C-4EAA-BB4F-F5F9743D9FCF}"/>
                </a:ext>
              </a:extLst>
            </p:cNvPr>
            <p:cNvSpPr>
              <a:spLocks noChangeArrowheads="1"/>
            </p:cNvSpPr>
            <p:nvPr/>
          </p:nvSpPr>
          <p:spPr bwMode="auto">
            <a:xfrm>
              <a:off x="3861" y="2400"/>
              <a:ext cx="288"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男</a:t>
              </a:r>
            </a:p>
          </p:txBody>
        </p:sp>
        <p:sp>
          <p:nvSpPr>
            <p:cNvPr id="45" name="Rectangle 42">
              <a:extLst>
                <a:ext uri="{FF2B5EF4-FFF2-40B4-BE49-F238E27FC236}">
                  <a16:creationId xmlns:a16="http://schemas.microsoft.com/office/drawing/2014/main" id="{6335C4A4-D45B-4A1D-BCAA-C876BA3473AC}"/>
                </a:ext>
              </a:extLst>
            </p:cNvPr>
            <p:cNvSpPr>
              <a:spLocks noChangeArrowheads="1"/>
            </p:cNvSpPr>
            <p:nvPr/>
          </p:nvSpPr>
          <p:spPr bwMode="auto">
            <a:xfrm>
              <a:off x="4131" y="2400"/>
              <a:ext cx="544"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en-US" altLang="zh-CN" sz="1600" b="1">
                  <a:solidFill>
                    <a:srgbClr val="0000FF"/>
                  </a:solidFill>
                  <a:latin typeface="Consolas" pitchFamily="49" charset="0"/>
                  <a:ea typeface="楷体" pitchFamily="49" charset="-122"/>
                  <a:cs typeface="Consolas" pitchFamily="49" charset="0"/>
                </a:rPr>
                <a:t>9901</a:t>
              </a:r>
            </a:p>
          </p:txBody>
        </p:sp>
        <p:sp>
          <p:nvSpPr>
            <p:cNvPr id="46" name="Rectangle 43">
              <a:extLst>
                <a:ext uri="{FF2B5EF4-FFF2-40B4-BE49-F238E27FC236}">
                  <a16:creationId xmlns:a16="http://schemas.microsoft.com/office/drawing/2014/main" id="{0B4EDB43-5301-4BF0-8BAD-EA27F14CF20F}"/>
                </a:ext>
              </a:extLst>
            </p:cNvPr>
            <p:cNvSpPr>
              <a:spLocks noChangeArrowheads="1"/>
            </p:cNvSpPr>
            <p:nvPr/>
          </p:nvSpPr>
          <p:spPr bwMode="auto">
            <a:xfrm>
              <a:off x="4658" y="2400"/>
              <a:ext cx="306"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endParaRPr kumimoji="0" lang="en-US" altLang="zh-CN" sz="1600" b="1">
                <a:solidFill>
                  <a:srgbClr val="0000FF"/>
                </a:solidFill>
                <a:latin typeface="Consolas" pitchFamily="49" charset="0"/>
                <a:ea typeface="楷体" pitchFamily="49" charset="-122"/>
                <a:cs typeface="Consolas" pitchFamily="49" charset="0"/>
              </a:endParaRPr>
            </a:p>
            <a:p>
              <a:pPr algn="ctr" eaLnBrk="0" hangingPunct="0">
                <a:lnSpc>
                  <a:spcPct val="112000"/>
                </a:lnSpc>
                <a:spcBef>
                  <a:spcPct val="0"/>
                </a:spcBef>
              </a:pPr>
              <a:endParaRPr kumimoji="0" lang="en-US" altLang="zh-CN" sz="1600" b="1">
                <a:solidFill>
                  <a:srgbClr val="0000FF"/>
                </a:solidFill>
                <a:latin typeface="Consolas" pitchFamily="49" charset="0"/>
                <a:ea typeface="楷体" pitchFamily="49" charset="-122"/>
                <a:cs typeface="Consolas" pitchFamily="49" charset="0"/>
              </a:endParaRPr>
            </a:p>
          </p:txBody>
        </p:sp>
        <p:sp>
          <p:nvSpPr>
            <p:cNvPr id="47" name="Line 44">
              <a:extLst>
                <a:ext uri="{FF2B5EF4-FFF2-40B4-BE49-F238E27FC236}">
                  <a16:creationId xmlns:a16="http://schemas.microsoft.com/office/drawing/2014/main" id="{D8EDB238-6748-4A94-9B3A-AEC0BFA515E4}"/>
                </a:ext>
              </a:extLst>
            </p:cNvPr>
            <p:cNvSpPr>
              <a:spLocks noChangeShapeType="1"/>
            </p:cNvSpPr>
            <p:nvPr/>
          </p:nvSpPr>
          <p:spPr bwMode="auto">
            <a:xfrm>
              <a:off x="4795" y="2544"/>
              <a:ext cx="0" cy="240"/>
            </a:xfrm>
            <a:prstGeom prst="line">
              <a:avLst/>
            </a:prstGeom>
            <a:noFill/>
            <a:ln w="28575">
              <a:solidFill>
                <a:srgbClr val="339933"/>
              </a:solidFill>
              <a:miter lim="800000"/>
              <a:headEnd/>
              <a:tailEnd type="triangle" w="med" len="med"/>
            </a:ln>
            <a:effectLst/>
          </p:spPr>
          <p:txBody>
            <a:bodyPr wrap="none" tIns="36000"/>
            <a:lstStyle/>
            <a:p>
              <a:pPr algn="ctr"/>
              <a:endParaRPr lang="zh-CN" altLang="en-US" sz="1600" b="1">
                <a:solidFill>
                  <a:srgbClr val="0000FF"/>
                </a:solidFill>
                <a:latin typeface="Consolas" pitchFamily="49" charset="0"/>
                <a:ea typeface="楷体" pitchFamily="49" charset="-122"/>
                <a:cs typeface="Consolas" pitchFamily="49" charset="0"/>
              </a:endParaRPr>
            </a:p>
          </p:txBody>
        </p:sp>
      </p:grpSp>
      <p:grpSp>
        <p:nvGrpSpPr>
          <p:cNvPr id="48" name="Group 45">
            <a:extLst>
              <a:ext uri="{FF2B5EF4-FFF2-40B4-BE49-F238E27FC236}">
                <a16:creationId xmlns:a16="http://schemas.microsoft.com/office/drawing/2014/main" id="{5BEEDFCD-5178-4C9F-8A81-42837C91B4A7}"/>
              </a:ext>
            </a:extLst>
          </p:cNvPr>
          <p:cNvGrpSpPr>
            <a:grpSpLocks/>
          </p:cNvGrpSpPr>
          <p:nvPr/>
        </p:nvGrpSpPr>
        <p:grpSpPr bwMode="auto">
          <a:xfrm>
            <a:off x="2681332" y="5223428"/>
            <a:ext cx="2974975" cy="396875"/>
            <a:chOff x="2002" y="3169"/>
            <a:chExt cx="1874" cy="250"/>
          </a:xfrm>
        </p:grpSpPr>
        <p:sp>
          <p:nvSpPr>
            <p:cNvPr id="49" name="Rectangle 46">
              <a:extLst>
                <a:ext uri="{FF2B5EF4-FFF2-40B4-BE49-F238E27FC236}">
                  <a16:creationId xmlns:a16="http://schemas.microsoft.com/office/drawing/2014/main" id="{AA3DDFE6-41A2-46D6-BE9A-F673A3F0D92F}"/>
                </a:ext>
              </a:extLst>
            </p:cNvPr>
            <p:cNvSpPr>
              <a:spLocks noChangeArrowheads="1"/>
            </p:cNvSpPr>
            <p:nvPr/>
          </p:nvSpPr>
          <p:spPr bwMode="auto">
            <a:xfrm>
              <a:off x="2002" y="3169"/>
              <a:ext cx="306"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en-US" altLang="zh-CN" sz="1600" b="1" dirty="0">
                  <a:solidFill>
                    <a:srgbClr val="0000FF"/>
                  </a:solidFill>
                  <a:latin typeface="Consolas" pitchFamily="49" charset="0"/>
                  <a:ea typeface="楷体" pitchFamily="49" charset="-122"/>
                  <a:cs typeface="Consolas" pitchFamily="49" charset="0"/>
                </a:rPr>
                <a:t>26</a:t>
              </a:r>
            </a:p>
          </p:txBody>
        </p:sp>
        <p:sp>
          <p:nvSpPr>
            <p:cNvPr id="50" name="Rectangle 47">
              <a:extLst>
                <a:ext uri="{FF2B5EF4-FFF2-40B4-BE49-F238E27FC236}">
                  <a16:creationId xmlns:a16="http://schemas.microsoft.com/office/drawing/2014/main" id="{CD733B49-536D-4B51-98B6-F1C323138A34}"/>
                </a:ext>
              </a:extLst>
            </p:cNvPr>
            <p:cNvSpPr>
              <a:spLocks noChangeArrowheads="1"/>
            </p:cNvSpPr>
            <p:nvPr/>
          </p:nvSpPr>
          <p:spPr bwMode="auto">
            <a:xfrm>
              <a:off x="2293" y="3169"/>
              <a:ext cx="498"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董强</a:t>
              </a:r>
            </a:p>
          </p:txBody>
        </p:sp>
        <p:sp>
          <p:nvSpPr>
            <p:cNvPr id="51" name="Rectangle 48">
              <a:extLst>
                <a:ext uri="{FF2B5EF4-FFF2-40B4-BE49-F238E27FC236}">
                  <a16:creationId xmlns:a16="http://schemas.microsoft.com/office/drawing/2014/main" id="{F4F4238D-AC33-4F05-A911-337ABCD011C8}"/>
                </a:ext>
              </a:extLst>
            </p:cNvPr>
            <p:cNvSpPr>
              <a:spLocks noChangeArrowheads="1"/>
            </p:cNvSpPr>
            <p:nvPr/>
          </p:nvSpPr>
          <p:spPr bwMode="auto">
            <a:xfrm>
              <a:off x="2773" y="3169"/>
              <a:ext cx="288"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zh-CN" altLang="en-US" sz="1600" b="1">
                  <a:solidFill>
                    <a:srgbClr val="0000FF"/>
                  </a:solidFill>
                  <a:latin typeface="Consolas" pitchFamily="49" charset="0"/>
                  <a:ea typeface="楷体" pitchFamily="49" charset="-122"/>
                  <a:cs typeface="Consolas" pitchFamily="49" charset="0"/>
                </a:rPr>
                <a:t>男</a:t>
              </a:r>
            </a:p>
          </p:txBody>
        </p:sp>
        <p:sp>
          <p:nvSpPr>
            <p:cNvPr id="52" name="Rectangle 49">
              <a:extLst>
                <a:ext uri="{FF2B5EF4-FFF2-40B4-BE49-F238E27FC236}">
                  <a16:creationId xmlns:a16="http://schemas.microsoft.com/office/drawing/2014/main" id="{CCB5A15C-10BB-497E-9546-ACA409DF1FDD}"/>
                </a:ext>
              </a:extLst>
            </p:cNvPr>
            <p:cNvSpPr>
              <a:spLocks noChangeArrowheads="1"/>
            </p:cNvSpPr>
            <p:nvPr/>
          </p:nvSpPr>
          <p:spPr bwMode="auto">
            <a:xfrm>
              <a:off x="3043" y="3169"/>
              <a:ext cx="544"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r>
                <a:rPr kumimoji="0" lang="en-US" altLang="zh-CN" sz="1600" b="1">
                  <a:solidFill>
                    <a:srgbClr val="0000FF"/>
                  </a:solidFill>
                  <a:latin typeface="Consolas" pitchFamily="49" charset="0"/>
                  <a:ea typeface="楷体" pitchFamily="49" charset="-122"/>
                  <a:cs typeface="Consolas" pitchFamily="49" charset="0"/>
                </a:rPr>
                <a:t>9902</a:t>
              </a:r>
            </a:p>
          </p:txBody>
        </p:sp>
        <p:sp>
          <p:nvSpPr>
            <p:cNvPr id="53" name="Rectangle 50">
              <a:extLst>
                <a:ext uri="{FF2B5EF4-FFF2-40B4-BE49-F238E27FC236}">
                  <a16:creationId xmlns:a16="http://schemas.microsoft.com/office/drawing/2014/main" id="{0E549C57-8EBB-459C-8725-5A993CF0BC90}"/>
                </a:ext>
              </a:extLst>
            </p:cNvPr>
            <p:cNvSpPr>
              <a:spLocks noChangeArrowheads="1"/>
            </p:cNvSpPr>
            <p:nvPr/>
          </p:nvSpPr>
          <p:spPr bwMode="auto">
            <a:xfrm>
              <a:off x="3570" y="3169"/>
              <a:ext cx="306" cy="250"/>
            </a:xfrm>
            <a:prstGeom prst="rect">
              <a:avLst/>
            </a:prstGeom>
            <a:ln>
              <a:headEnd/>
              <a:tailEnd type="none" w="sm" len="sm"/>
            </a:ln>
          </p:spPr>
          <p:style>
            <a:lnRef idx="1">
              <a:schemeClr val="accent4"/>
            </a:lnRef>
            <a:fillRef idx="2">
              <a:schemeClr val="accent4"/>
            </a:fillRef>
            <a:effectRef idx="1">
              <a:schemeClr val="accent4"/>
            </a:effectRef>
            <a:fontRef idx="minor">
              <a:schemeClr val="dk1"/>
            </a:fontRef>
          </p:style>
          <p:txBody>
            <a:bodyPr tIns="36000" bIns="0"/>
            <a:lstStyle/>
            <a:p>
              <a:pPr algn="ctr" eaLnBrk="0" hangingPunct="0">
                <a:lnSpc>
                  <a:spcPct val="112000"/>
                </a:lnSpc>
                <a:spcBef>
                  <a:spcPct val="0"/>
                </a:spcBef>
              </a:pPr>
              <a:endParaRPr kumimoji="0" lang="en-US" altLang="zh-CN" sz="1600" b="1">
                <a:solidFill>
                  <a:srgbClr val="0000FF"/>
                </a:solidFill>
                <a:latin typeface="Consolas" pitchFamily="49" charset="0"/>
                <a:ea typeface="楷体" pitchFamily="49" charset="-122"/>
                <a:cs typeface="Consolas" pitchFamily="49" charset="0"/>
              </a:endParaRPr>
            </a:p>
            <a:p>
              <a:pPr algn="ctr" eaLnBrk="0" hangingPunct="0">
                <a:lnSpc>
                  <a:spcPct val="112000"/>
                </a:lnSpc>
                <a:spcBef>
                  <a:spcPct val="0"/>
                </a:spcBef>
              </a:pPr>
              <a:endParaRPr kumimoji="0" lang="en-US" altLang="zh-CN" sz="1600" b="1">
                <a:solidFill>
                  <a:srgbClr val="0000FF"/>
                </a:solidFill>
                <a:latin typeface="Consolas" pitchFamily="49" charset="0"/>
                <a:ea typeface="楷体" pitchFamily="49" charset="-122"/>
                <a:cs typeface="Consolas" pitchFamily="49" charset="0"/>
              </a:endParaRPr>
            </a:p>
          </p:txBody>
        </p:sp>
      </p:grpSp>
      <p:sp>
        <p:nvSpPr>
          <p:cNvPr id="54" name="Line 51">
            <a:extLst>
              <a:ext uri="{FF2B5EF4-FFF2-40B4-BE49-F238E27FC236}">
                <a16:creationId xmlns:a16="http://schemas.microsoft.com/office/drawing/2014/main" id="{3A9E1F5D-9B53-4C31-BE4D-1EFB02556786}"/>
              </a:ext>
            </a:extLst>
          </p:cNvPr>
          <p:cNvSpPr>
            <a:spLocks noChangeShapeType="1"/>
          </p:cNvSpPr>
          <p:nvPr/>
        </p:nvSpPr>
        <p:spPr bwMode="auto">
          <a:xfrm>
            <a:off x="5373730" y="5436152"/>
            <a:ext cx="0" cy="381000"/>
          </a:xfrm>
          <a:prstGeom prst="line">
            <a:avLst/>
          </a:prstGeom>
          <a:noFill/>
          <a:ln w="28575">
            <a:solidFill>
              <a:srgbClr val="339933"/>
            </a:solidFill>
            <a:miter lim="800000"/>
            <a:headEnd/>
            <a:tailEnd type="triangle" w="med" len="med"/>
          </a:ln>
          <a:effectLst/>
        </p:spPr>
        <p:txBody>
          <a:bodyPr wrap="none" tIns="36000"/>
          <a:lstStyle/>
          <a:p>
            <a:pPr algn="ctr"/>
            <a:endParaRPr lang="zh-CN" altLang="en-US" sz="1800" b="1">
              <a:solidFill>
                <a:srgbClr val="3333CC"/>
              </a:solidFill>
              <a:latin typeface="Consolas" pitchFamily="49" charset="0"/>
              <a:ea typeface="楷体" pitchFamily="49" charset="-122"/>
              <a:cs typeface="Consolas" pitchFamily="49" charset="0"/>
            </a:endParaRPr>
          </a:p>
        </p:txBody>
      </p:sp>
      <p:grpSp>
        <p:nvGrpSpPr>
          <p:cNvPr id="55" name="组合 65">
            <a:extLst>
              <a:ext uri="{FF2B5EF4-FFF2-40B4-BE49-F238E27FC236}">
                <a16:creationId xmlns:a16="http://schemas.microsoft.com/office/drawing/2014/main" id="{72C9DA1C-CAFB-4FB3-BA96-98D22A98CE44}"/>
              </a:ext>
            </a:extLst>
          </p:cNvPr>
          <p:cNvGrpSpPr/>
          <p:nvPr/>
        </p:nvGrpSpPr>
        <p:grpSpPr>
          <a:xfrm>
            <a:off x="981126" y="1843326"/>
            <a:ext cx="1682408" cy="452432"/>
            <a:chOff x="223808" y="1436359"/>
            <a:chExt cx="1682408" cy="452432"/>
          </a:xfrm>
        </p:grpSpPr>
        <p:cxnSp>
          <p:nvCxnSpPr>
            <p:cNvPr id="56" name="直接箭头连接符 55">
              <a:extLst>
                <a:ext uri="{FF2B5EF4-FFF2-40B4-BE49-F238E27FC236}">
                  <a16:creationId xmlns:a16="http://schemas.microsoft.com/office/drawing/2014/main" id="{35812FC3-9A19-4927-AEC0-9A4C10EF4830}"/>
                </a:ext>
              </a:extLst>
            </p:cNvPr>
            <p:cNvCxnSpPr/>
            <p:nvPr/>
          </p:nvCxnSpPr>
          <p:spPr>
            <a:xfrm flipV="1">
              <a:off x="1263292" y="1714488"/>
              <a:ext cx="642924" cy="0"/>
            </a:xfrm>
            <a:prstGeom prst="straightConnector1">
              <a:avLst/>
            </a:prstGeom>
            <a:ln w="22225">
              <a:solidFill>
                <a:srgbClr val="339933"/>
              </a:solidFill>
              <a:tailEnd type="arrow"/>
            </a:ln>
          </p:spPr>
          <p:style>
            <a:lnRef idx="1">
              <a:schemeClr val="accent1"/>
            </a:lnRef>
            <a:fillRef idx="0">
              <a:schemeClr val="accent1"/>
            </a:fillRef>
            <a:effectRef idx="0">
              <a:schemeClr val="accent1"/>
            </a:effectRef>
            <a:fontRef idx="minor">
              <a:schemeClr val="tx1"/>
            </a:fontRef>
          </p:style>
        </p:cxnSp>
        <p:sp>
          <p:nvSpPr>
            <p:cNvPr id="57" name="TextBox 110">
              <a:extLst>
                <a:ext uri="{FF2B5EF4-FFF2-40B4-BE49-F238E27FC236}">
                  <a16:creationId xmlns:a16="http://schemas.microsoft.com/office/drawing/2014/main" id="{71D47964-1095-46D0-A2D1-C690CA11E83E}"/>
                </a:ext>
              </a:extLst>
            </p:cNvPr>
            <p:cNvSpPr txBox="1"/>
            <p:nvPr/>
          </p:nvSpPr>
          <p:spPr>
            <a:xfrm>
              <a:off x="223808" y="1436359"/>
              <a:ext cx="1133482" cy="452432"/>
            </a:xfrm>
            <a:prstGeom prst="rect">
              <a:avLst/>
            </a:prstGeom>
            <a:noFill/>
          </p:spPr>
          <p:txBody>
            <a:bodyPr wrap="square" rtlCol="0">
              <a:spAutoFit/>
            </a:bodyPr>
            <a:lstStyle/>
            <a:p>
              <a:pPr>
                <a:lnSpc>
                  <a:spcPct val="130000"/>
                </a:lnSpc>
              </a:pPr>
              <a:r>
                <a:rPr lang="en-US" altLang="zh-CN" sz="1800" b="1" i="1" dirty="0" err="1">
                  <a:solidFill>
                    <a:srgbClr val="0000FF"/>
                  </a:solidFill>
                  <a:latin typeface="Consolas" pitchFamily="49" charset="0"/>
                  <a:ea typeface="楷体" pitchFamily="49" charset="-122"/>
                  <a:cs typeface="Consolas" pitchFamily="49" charset="0"/>
                </a:rPr>
                <a:t>i</a:t>
              </a:r>
              <a:r>
                <a:rPr lang="en-US" altLang="zh-CN" sz="1800" b="1" dirty="0">
                  <a:solidFill>
                    <a:srgbClr val="0000FF"/>
                  </a:solidFill>
                  <a:latin typeface="Consolas" pitchFamily="49" charset="0"/>
                  <a:ea typeface="楷体" pitchFamily="49" charset="-122"/>
                  <a:cs typeface="Consolas" pitchFamily="49" charset="0"/>
                </a:rPr>
                <a:t>=1</a:t>
              </a:r>
              <a:r>
                <a:rPr lang="zh-CN" altLang="en-US" sz="1800" b="1" dirty="0">
                  <a:solidFill>
                    <a:srgbClr val="0000FF"/>
                  </a:solidFill>
                  <a:latin typeface="Consolas" pitchFamily="49" charset="0"/>
                  <a:ea typeface="楷体" pitchFamily="49" charset="-122"/>
                  <a:cs typeface="Consolas" pitchFamily="49" charset="0"/>
                </a:rPr>
                <a:t>，</a:t>
              </a:r>
              <a:r>
                <a:rPr lang="en-US" altLang="zh-CN" sz="1800" b="1" i="1" dirty="0">
                  <a:solidFill>
                    <a:srgbClr val="0000FF"/>
                  </a:solidFill>
                  <a:latin typeface="Consolas" pitchFamily="49" charset="0"/>
                  <a:ea typeface="楷体" pitchFamily="49" charset="-122"/>
                  <a:cs typeface="Consolas" pitchFamily="49" charset="0"/>
                </a:rPr>
                <a:t>p</a:t>
              </a:r>
              <a:endParaRPr lang="zh-CN" altLang="en-US" sz="1800" b="1" i="1" dirty="0">
                <a:solidFill>
                  <a:srgbClr val="0000FF"/>
                </a:solidFill>
                <a:latin typeface="Consolas" pitchFamily="49" charset="0"/>
                <a:ea typeface="楷体" pitchFamily="49" charset="-122"/>
                <a:cs typeface="Consolas" pitchFamily="49" charset="0"/>
              </a:endParaRPr>
            </a:p>
          </p:txBody>
        </p:sp>
      </p:grpSp>
      <p:sp>
        <p:nvSpPr>
          <p:cNvPr id="58" name="TextBox 113">
            <a:extLst>
              <a:ext uri="{FF2B5EF4-FFF2-40B4-BE49-F238E27FC236}">
                <a16:creationId xmlns:a16="http://schemas.microsoft.com/office/drawing/2014/main" id="{E145A1AB-8BEC-4655-B006-90BB45AA74CF}"/>
              </a:ext>
            </a:extLst>
          </p:cNvPr>
          <p:cNvSpPr txBox="1"/>
          <p:nvPr/>
        </p:nvSpPr>
        <p:spPr>
          <a:xfrm>
            <a:off x="5757946" y="1899215"/>
            <a:ext cx="714380" cy="456151"/>
          </a:xfrm>
          <a:prstGeom prst="rect">
            <a:avLst/>
          </a:prstGeom>
          <a:noFill/>
        </p:spPr>
        <p:txBody>
          <a:bodyPr wrap="square" rtlCol="0">
            <a:spAutoFit/>
          </a:bodyPr>
          <a:lstStyle/>
          <a:p>
            <a:pPr>
              <a:lnSpc>
                <a:spcPct val="130000"/>
              </a:lnSpc>
            </a:pPr>
            <a:r>
              <a:rPr lang="en-US" altLang="zh-CN" sz="1800" b="1" i="1" dirty="0" err="1">
                <a:solidFill>
                  <a:srgbClr val="0000FF"/>
                </a:solidFill>
                <a:latin typeface="Consolas" pitchFamily="49" charset="0"/>
                <a:ea typeface="楷体" pitchFamily="49" charset="-122"/>
                <a:cs typeface="Consolas" pitchFamily="49" charset="0"/>
              </a:rPr>
              <a:t>i</a:t>
            </a:r>
            <a:r>
              <a:rPr lang="en-US" altLang="zh-CN" sz="1800" b="1" dirty="0" err="1">
                <a:solidFill>
                  <a:srgbClr val="0000FF"/>
                </a:solidFill>
                <a:latin typeface="Consolas" pitchFamily="49" charset="0"/>
                <a:ea typeface="楷体" pitchFamily="49" charset="-122"/>
                <a:cs typeface="Consolas" pitchFamily="49" charset="0"/>
                <a:sym typeface="Symbol"/>
              </a:rPr>
              <a:t>2</a:t>
            </a:r>
            <a:endParaRPr lang="zh-CN" altLang="en-US" sz="1800" b="1" dirty="0">
              <a:solidFill>
                <a:srgbClr val="0000FF"/>
              </a:solidFill>
              <a:latin typeface="Consolas" pitchFamily="49" charset="0"/>
              <a:ea typeface="楷体" pitchFamily="49" charset="-122"/>
              <a:cs typeface="Consolas" pitchFamily="49" charset="0"/>
            </a:endParaRPr>
          </a:p>
        </p:txBody>
      </p:sp>
      <p:grpSp>
        <p:nvGrpSpPr>
          <p:cNvPr id="59" name="组合 66">
            <a:extLst>
              <a:ext uri="{FF2B5EF4-FFF2-40B4-BE49-F238E27FC236}">
                <a16:creationId xmlns:a16="http://schemas.microsoft.com/office/drawing/2014/main" id="{F391AFB6-190B-485A-8265-BFF5C77A4303}"/>
              </a:ext>
            </a:extLst>
          </p:cNvPr>
          <p:cNvGrpSpPr/>
          <p:nvPr/>
        </p:nvGrpSpPr>
        <p:grpSpPr>
          <a:xfrm>
            <a:off x="1006942" y="2407207"/>
            <a:ext cx="1652888" cy="452432"/>
            <a:chOff x="249624" y="2000240"/>
            <a:chExt cx="1652888" cy="452432"/>
          </a:xfrm>
        </p:grpSpPr>
        <p:cxnSp>
          <p:nvCxnSpPr>
            <p:cNvPr id="60" name="直接箭头连接符 59">
              <a:extLst>
                <a:ext uri="{FF2B5EF4-FFF2-40B4-BE49-F238E27FC236}">
                  <a16:creationId xmlns:a16="http://schemas.microsoft.com/office/drawing/2014/main" id="{53BECDA0-3065-476B-B54D-43C7DF68F1A4}"/>
                </a:ext>
              </a:extLst>
            </p:cNvPr>
            <p:cNvCxnSpPr/>
            <p:nvPr/>
          </p:nvCxnSpPr>
          <p:spPr>
            <a:xfrm flipV="1">
              <a:off x="1259588" y="2338377"/>
              <a:ext cx="642924" cy="0"/>
            </a:xfrm>
            <a:prstGeom prst="straightConnector1">
              <a:avLst/>
            </a:prstGeom>
            <a:ln w="22225">
              <a:solidFill>
                <a:srgbClr val="339933"/>
              </a:solidFill>
              <a:tailEnd type="arrow"/>
            </a:ln>
          </p:spPr>
          <p:style>
            <a:lnRef idx="1">
              <a:schemeClr val="accent1"/>
            </a:lnRef>
            <a:fillRef idx="0">
              <a:schemeClr val="accent1"/>
            </a:fillRef>
            <a:effectRef idx="0">
              <a:schemeClr val="accent1"/>
            </a:effectRef>
            <a:fontRef idx="minor">
              <a:schemeClr val="tx1"/>
            </a:fontRef>
          </p:style>
        </p:cxnSp>
        <p:sp>
          <p:nvSpPr>
            <p:cNvPr id="61" name="TextBox 116">
              <a:extLst>
                <a:ext uri="{FF2B5EF4-FFF2-40B4-BE49-F238E27FC236}">
                  <a16:creationId xmlns:a16="http://schemas.microsoft.com/office/drawing/2014/main" id="{EBA83B0D-08A7-4B20-BE87-DD8B224F2635}"/>
                </a:ext>
              </a:extLst>
            </p:cNvPr>
            <p:cNvSpPr txBox="1"/>
            <p:nvPr/>
          </p:nvSpPr>
          <p:spPr>
            <a:xfrm>
              <a:off x="249624" y="2000240"/>
              <a:ext cx="1071570" cy="452432"/>
            </a:xfrm>
            <a:prstGeom prst="rect">
              <a:avLst/>
            </a:prstGeom>
            <a:noFill/>
          </p:spPr>
          <p:txBody>
            <a:bodyPr wrap="square" rtlCol="0">
              <a:spAutoFit/>
            </a:bodyPr>
            <a:lstStyle/>
            <a:p>
              <a:pPr>
                <a:lnSpc>
                  <a:spcPct val="130000"/>
                </a:lnSpc>
              </a:pPr>
              <a:r>
                <a:rPr lang="en-US" altLang="zh-CN" sz="1800" b="1" i="1" dirty="0" err="1">
                  <a:solidFill>
                    <a:srgbClr val="0000FF"/>
                  </a:solidFill>
                  <a:latin typeface="Consolas" pitchFamily="49" charset="0"/>
                  <a:ea typeface="楷体" pitchFamily="49" charset="-122"/>
                  <a:cs typeface="Consolas" pitchFamily="49" charset="0"/>
                </a:rPr>
                <a:t>i</a:t>
              </a:r>
              <a:r>
                <a:rPr lang="en-US" altLang="zh-CN" sz="1800" b="1" dirty="0">
                  <a:solidFill>
                    <a:srgbClr val="0000FF"/>
                  </a:solidFill>
                  <a:latin typeface="Consolas" pitchFamily="49" charset="0"/>
                  <a:ea typeface="楷体" pitchFamily="49" charset="-122"/>
                  <a:cs typeface="Consolas" pitchFamily="49" charset="0"/>
                </a:rPr>
                <a:t>=2</a:t>
              </a:r>
              <a:r>
                <a:rPr lang="zh-CN" altLang="en-US" sz="1800" b="1" dirty="0">
                  <a:solidFill>
                    <a:srgbClr val="0000FF"/>
                  </a:solidFill>
                  <a:latin typeface="Consolas" pitchFamily="49" charset="0"/>
                  <a:ea typeface="楷体" pitchFamily="49" charset="-122"/>
                  <a:cs typeface="Consolas" pitchFamily="49" charset="0"/>
                </a:rPr>
                <a:t>，</a:t>
              </a:r>
              <a:r>
                <a:rPr lang="en-US" altLang="zh-CN" sz="1800" b="1" i="1" dirty="0">
                  <a:solidFill>
                    <a:srgbClr val="0000FF"/>
                  </a:solidFill>
                  <a:latin typeface="Consolas" pitchFamily="49" charset="0"/>
                  <a:ea typeface="楷体" pitchFamily="49" charset="-122"/>
                  <a:cs typeface="Consolas" pitchFamily="49" charset="0"/>
                </a:rPr>
                <a:t>p</a:t>
              </a:r>
              <a:endParaRPr lang="zh-CN" altLang="en-US" sz="1800" b="1" i="1" dirty="0">
                <a:solidFill>
                  <a:srgbClr val="0000FF"/>
                </a:solidFill>
                <a:latin typeface="Consolas" pitchFamily="49" charset="0"/>
                <a:ea typeface="楷体" pitchFamily="49" charset="-122"/>
                <a:cs typeface="Consolas" pitchFamily="49" charset="0"/>
              </a:endParaRPr>
            </a:p>
          </p:txBody>
        </p:sp>
      </p:grpSp>
      <p:sp>
        <p:nvSpPr>
          <p:cNvPr id="62" name="TextBox 118">
            <a:extLst>
              <a:ext uri="{FF2B5EF4-FFF2-40B4-BE49-F238E27FC236}">
                <a16:creationId xmlns:a16="http://schemas.microsoft.com/office/drawing/2014/main" id="{2E5F4224-C66F-4C54-A89B-9C839740024B}"/>
              </a:ext>
            </a:extLst>
          </p:cNvPr>
          <p:cNvSpPr txBox="1"/>
          <p:nvPr/>
        </p:nvSpPr>
        <p:spPr>
          <a:xfrm>
            <a:off x="5757946" y="2518597"/>
            <a:ext cx="714380" cy="458395"/>
          </a:xfrm>
          <a:prstGeom prst="rect">
            <a:avLst/>
          </a:prstGeom>
          <a:noFill/>
        </p:spPr>
        <p:txBody>
          <a:bodyPr wrap="square" rtlCol="0">
            <a:spAutoFit/>
          </a:bodyPr>
          <a:lstStyle/>
          <a:p>
            <a:pPr>
              <a:lnSpc>
                <a:spcPct val="130000"/>
              </a:lnSpc>
            </a:pPr>
            <a:r>
              <a:rPr lang="en-US" altLang="zh-CN" sz="1800" b="1" i="1" dirty="0" err="1">
                <a:solidFill>
                  <a:srgbClr val="0000FF"/>
                </a:solidFill>
                <a:latin typeface="Consolas" pitchFamily="49" charset="0"/>
                <a:ea typeface="楷体" pitchFamily="49" charset="-122"/>
                <a:cs typeface="Consolas" pitchFamily="49" charset="0"/>
              </a:rPr>
              <a:t>i</a:t>
            </a:r>
            <a:r>
              <a:rPr lang="en-US" altLang="zh-CN" sz="1800" b="1" i="1" dirty="0">
                <a:solidFill>
                  <a:srgbClr val="0000FF"/>
                </a:solidFill>
                <a:latin typeface="Consolas" pitchFamily="49" charset="0"/>
                <a:ea typeface="楷体" pitchFamily="49" charset="-122"/>
                <a:cs typeface="Consolas" pitchFamily="49" charset="0"/>
              </a:rPr>
              <a:t>=</a:t>
            </a:r>
            <a:r>
              <a:rPr lang="en-US" altLang="zh-CN" sz="1800" b="1" dirty="0">
                <a:solidFill>
                  <a:srgbClr val="0000FF"/>
                </a:solidFill>
                <a:latin typeface="Consolas" pitchFamily="49" charset="0"/>
                <a:ea typeface="楷体" pitchFamily="49" charset="-122"/>
                <a:cs typeface="Consolas" pitchFamily="49" charset="0"/>
                <a:sym typeface="Symbol"/>
              </a:rPr>
              <a:t>2</a:t>
            </a:r>
            <a:endParaRPr lang="zh-CN" altLang="en-US" sz="1800" b="1" dirty="0">
              <a:solidFill>
                <a:srgbClr val="0000FF"/>
              </a:solidFill>
              <a:latin typeface="Consolas" pitchFamily="49" charset="0"/>
              <a:ea typeface="楷体" pitchFamily="49" charset="-122"/>
              <a:cs typeface="Consolas" pitchFamily="49" charset="0"/>
            </a:endParaRPr>
          </a:p>
        </p:txBody>
      </p:sp>
      <p:grpSp>
        <p:nvGrpSpPr>
          <p:cNvPr id="63" name="组合 79">
            <a:extLst>
              <a:ext uri="{FF2B5EF4-FFF2-40B4-BE49-F238E27FC236}">
                <a16:creationId xmlns:a16="http://schemas.microsoft.com/office/drawing/2014/main" id="{20D8F8CA-19D4-44BC-84F8-951E78176A8D}"/>
              </a:ext>
            </a:extLst>
          </p:cNvPr>
          <p:cNvGrpSpPr/>
          <p:nvPr/>
        </p:nvGrpSpPr>
        <p:grpSpPr>
          <a:xfrm>
            <a:off x="6472326" y="2145268"/>
            <a:ext cx="928694" cy="3405211"/>
            <a:chOff x="6000760" y="1738301"/>
            <a:chExt cx="928694" cy="3405211"/>
          </a:xfrm>
        </p:grpSpPr>
        <p:sp>
          <p:nvSpPr>
            <p:cNvPr id="64" name="TextBox 119">
              <a:extLst>
                <a:ext uri="{FF2B5EF4-FFF2-40B4-BE49-F238E27FC236}">
                  <a16:creationId xmlns:a16="http://schemas.microsoft.com/office/drawing/2014/main" id="{5D5C6851-4C62-4FC5-AC88-6DC8D4E9B675}"/>
                </a:ext>
              </a:extLst>
            </p:cNvPr>
            <p:cNvSpPr txBox="1"/>
            <p:nvPr/>
          </p:nvSpPr>
          <p:spPr>
            <a:xfrm>
              <a:off x="6384689" y="1738301"/>
              <a:ext cx="544765" cy="3405211"/>
            </a:xfrm>
            <a:prstGeom prst="rect">
              <a:avLst/>
            </a:prstGeom>
            <a:noFill/>
          </p:spPr>
          <p:txBody>
            <a:bodyPr vert="eaVert" wrap="square" rtlCol="0">
              <a:spAutoFit/>
            </a:bodyPr>
            <a:lstStyle/>
            <a:p>
              <a:pPr algn="l">
                <a:lnSpc>
                  <a:spcPct val="130000"/>
                </a:lnSpc>
              </a:pPr>
              <a:r>
                <a:rPr lang="zh-CN" altLang="en-US" sz="1800" b="1" dirty="0">
                  <a:solidFill>
                    <a:srgbClr val="0000FF"/>
                  </a:solidFill>
                  <a:latin typeface="Consolas" pitchFamily="49" charset="0"/>
                  <a:ea typeface="楷体" pitchFamily="49" charset="-122"/>
                  <a:cs typeface="Consolas" pitchFamily="49" charset="0"/>
                </a:rPr>
                <a:t>找到序号为</a:t>
              </a:r>
              <a:r>
                <a:rPr lang="en-US" altLang="zh-CN" sz="1800" b="1" dirty="0">
                  <a:solidFill>
                    <a:srgbClr val="0000FF"/>
                  </a:solidFill>
                  <a:latin typeface="Consolas" pitchFamily="49" charset="0"/>
                  <a:ea typeface="楷体" pitchFamily="49" charset="-122"/>
                  <a:cs typeface="Consolas" pitchFamily="49" charset="0"/>
                </a:rPr>
                <a:t>2</a:t>
              </a:r>
              <a:r>
                <a:rPr lang="zh-CN" altLang="en-US" sz="1800" b="1" dirty="0">
                  <a:solidFill>
                    <a:srgbClr val="0000FF"/>
                  </a:solidFill>
                  <a:latin typeface="Consolas" pitchFamily="49" charset="0"/>
                  <a:ea typeface="楷体" pitchFamily="49" charset="-122"/>
                  <a:cs typeface="Consolas" pitchFamily="49" charset="0"/>
                </a:rPr>
                <a:t>的记录，返回</a:t>
              </a:r>
              <a:r>
                <a:rPr lang="zh-CN" altLang="en-US" sz="1800" b="1" dirty="0">
                  <a:solidFill>
                    <a:srgbClr val="FF0000"/>
                  </a:solidFill>
                  <a:latin typeface="方正硬笔楷书简体" pitchFamily="65" charset="-122"/>
                  <a:ea typeface="方正硬笔楷书简体" pitchFamily="65" charset="-122"/>
                  <a:cs typeface="Consolas" pitchFamily="49" charset="0"/>
                </a:rPr>
                <a:t>刘丽</a:t>
              </a:r>
            </a:p>
          </p:txBody>
        </p:sp>
        <p:sp>
          <p:nvSpPr>
            <p:cNvPr id="65" name="右箭头 72">
              <a:extLst>
                <a:ext uri="{FF2B5EF4-FFF2-40B4-BE49-F238E27FC236}">
                  <a16:creationId xmlns:a16="http://schemas.microsoft.com/office/drawing/2014/main" id="{7770DE8F-1CEB-4B13-94B2-E6C8AB272256}"/>
                </a:ext>
              </a:extLst>
            </p:cNvPr>
            <p:cNvSpPr/>
            <p:nvPr/>
          </p:nvSpPr>
          <p:spPr>
            <a:xfrm>
              <a:off x="6000760" y="2285992"/>
              <a:ext cx="428628" cy="142876"/>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latin typeface="Consolas" pitchFamily="49" charset="0"/>
                <a:cs typeface="Consolas" pitchFamily="49" charset="0"/>
              </a:endParaRPr>
            </a:p>
          </p:txBody>
        </p:sp>
      </p:grpSp>
    </p:spTree>
    <p:extLst>
      <p:ext uri="{BB962C8B-B14F-4D97-AF65-F5344CB8AC3E}">
        <p14:creationId xmlns:p14="http://schemas.microsoft.com/office/powerpoint/2010/main" val="2998348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xit" presetSubtype="4" fill="hold" nodeType="clickEffect">
                                  <p:stCondLst>
                                    <p:cond delay="0"/>
                                  </p:stCondLst>
                                  <p:childTnLst>
                                    <p:animEffect transition="out" filter="wipe(down)">
                                      <p:cBhvr>
                                        <p:cTn id="13" dur="500"/>
                                        <p:tgtEl>
                                          <p:spTgt spid="55"/>
                                        </p:tgtEl>
                                      </p:cBhvr>
                                    </p:animEffect>
                                    <p:set>
                                      <p:cBhvr>
                                        <p:cTn id="14" dur="1" fill="hold">
                                          <p:stCondLst>
                                            <p:cond delay="499"/>
                                          </p:stCondLst>
                                        </p:cTn>
                                        <p:tgtEl>
                                          <p:spTgt spid="55"/>
                                        </p:tgtEl>
                                        <p:attrNameLst>
                                          <p:attrName>style.visibility</p:attrName>
                                        </p:attrNameLst>
                                      </p:cBhvr>
                                      <p:to>
                                        <p:strVal val="hidden"/>
                                      </p:to>
                                    </p:set>
                                  </p:childTnLst>
                                </p:cTn>
                              </p:par>
                            </p:childTnLst>
                          </p:cTn>
                        </p:par>
                        <p:par>
                          <p:cTn id="15" fill="hold">
                            <p:stCondLst>
                              <p:cond delay="500"/>
                            </p:stCondLst>
                            <p:childTnLst>
                              <p:par>
                                <p:cTn id="16" presetID="22" presetClass="exit" presetSubtype="4" fill="hold" grpId="1" nodeType="afterEffect">
                                  <p:stCondLst>
                                    <p:cond delay="0"/>
                                  </p:stCondLst>
                                  <p:childTnLst>
                                    <p:animEffect transition="out" filter="wipe(down)">
                                      <p:cBhvr>
                                        <p:cTn id="17" dur="500"/>
                                        <p:tgtEl>
                                          <p:spTgt spid="58"/>
                                        </p:tgtEl>
                                      </p:cBhvr>
                                    </p:animEffect>
                                    <p:set>
                                      <p:cBhvr>
                                        <p:cTn id="18" dur="1" fill="hold">
                                          <p:stCondLst>
                                            <p:cond delay="499"/>
                                          </p:stCondLst>
                                        </p:cTn>
                                        <p:tgtEl>
                                          <p:spTgt spid="5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6" presetClass="emph" presetSubtype="0" fill="hold" grpId="0" nodeType="clickEffect">
                                  <p:stCondLst>
                                    <p:cond delay="0"/>
                                  </p:stCondLst>
                                  <p:childTnLst>
                                    <p:animEffect transition="out" filter="fade">
                                      <p:cBhvr>
                                        <p:cTn id="22" dur="500" tmFilter="0, 0; .2, .5; .8, .5; 1, 0"/>
                                        <p:tgtEl>
                                          <p:spTgt spid="25"/>
                                        </p:tgtEl>
                                      </p:cBhvr>
                                    </p:animEffect>
                                    <p:animScale>
                                      <p:cBhvr>
                                        <p:cTn id="23" dur="250" autoRev="1" fill="hold"/>
                                        <p:tgtEl>
                                          <p:spTgt spid="25"/>
                                        </p:tgtEl>
                                      </p:cBhvr>
                                      <p:by x="105000" y="105000"/>
                                    </p:animScale>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2"/>
                                        </p:tgtEl>
                                        <p:attrNameLst>
                                          <p:attrName>style.visibility</p:attrName>
                                        </p:attrNameLst>
                                      </p:cBhvr>
                                      <p:to>
                                        <p:strVal val="visible"/>
                                      </p:to>
                                    </p:set>
                                  </p:childTnLst>
                                </p:cTn>
                              </p:par>
                            </p:childTnLst>
                          </p:cTn>
                        </p:par>
                        <p:par>
                          <p:cTn id="32" fill="hold">
                            <p:stCondLst>
                              <p:cond delay="0"/>
                            </p:stCondLst>
                            <p:childTnLst>
                              <p:par>
                                <p:cTn id="33" presetID="26" presetClass="emph" presetSubtype="0" fill="hold" grpId="1" nodeType="afterEffect">
                                  <p:stCondLst>
                                    <p:cond delay="0"/>
                                  </p:stCondLst>
                                  <p:childTnLst>
                                    <p:animEffect transition="out" filter="fade">
                                      <p:cBhvr>
                                        <p:cTn id="34" dur="500" tmFilter="0, 0; .2, .5; .8, .5; 1, 0"/>
                                        <p:tgtEl>
                                          <p:spTgt spid="62"/>
                                        </p:tgtEl>
                                      </p:cBhvr>
                                    </p:animEffect>
                                    <p:animScale>
                                      <p:cBhvr>
                                        <p:cTn id="35" dur="250" autoRev="1" fill="hold"/>
                                        <p:tgtEl>
                                          <p:spTgt spid="62"/>
                                        </p:tgtEl>
                                      </p:cBhvr>
                                      <p:by x="105000" y="105000"/>
                                    </p:animScale>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8" grpId="0"/>
      <p:bldP spid="58" grpId="1"/>
      <p:bldP spid="62" grpId="0"/>
      <p:bldP spid="62"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FCB3B0AA-58CC-424A-9B8B-99205985BA76}"/>
              </a:ext>
            </a:extLst>
          </p:cNvPr>
          <p:cNvSpPr txBox="1"/>
          <p:nvPr/>
        </p:nvSpPr>
        <p:spPr>
          <a:xfrm>
            <a:off x="714348" y="1571612"/>
            <a:ext cx="7072362" cy="1851180"/>
          </a:xfrm>
          <a:prstGeom prst="rect">
            <a:avLst/>
          </a:prstGeom>
          <a:noFill/>
          <a:ln>
            <a:noFill/>
          </a:ln>
          <a:effectLst/>
          <a:scene3d>
            <a:camera prst="orthographicFront">
              <a:rot lat="0" lon="0" rev="0"/>
            </a:camera>
            <a:lightRig rig="chilly" dir="t">
              <a:rot lat="0" lon="0" rev="18480000"/>
            </a:lightRig>
          </a:scene3d>
          <a:sp3d prstMaterial="clear">
            <a:bevelT h="63500"/>
          </a:sp3d>
        </p:spPr>
        <p:txBody>
          <a:bodyPr wrap="square" tIns="108000" bIns="144000" rtlCol="0">
            <a:spAutoFit/>
          </a:bodyPr>
          <a:lstStyle/>
          <a:p>
            <a:pPr marL="457200" indent="-457200" algn="just">
              <a:lnSpc>
                <a:spcPct val="150000"/>
              </a:lnSpc>
              <a:buBlip>
                <a:blip r:embed="rId2"/>
              </a:buBlip>
            </a:pPr>
            <a:r>
              <a:rPr lang="zh-CN" altLang="en-US" sz="2400" dirty="0">
                <a:solidFill>
                  <a:srgbClr val="FF0000"/>
                </a:solidFill>
                <a:latin typeface="微软雅黑" panose="020B0503020204020204" pitchFamily="34" charset="-122"/>
                <a:ea typeface="微软雅黑" panose="020B0503020204020204" pitchFamily="34" charset="-122"/>
              </a:rPr>
              <a:t>同一逻辑结构可以对应多种存储结构。</a:t>
            </a:r>
          </a:p>
          <a:p>
            <a:pPr marL="457200" indent="-457200" algn="just">
              <a:lnSpc>
                <a:spcPct val="150000"/>
              </a:lnSpc>
              <a:buBlip>
                <a:blip r:embed="rId2"/>
              </a:buBlip>
            </a:pPr>
            <a:r>
              <a:rPr lang="zh-CN" altLang="en-US" sz="2400" dirty="0">
                <a:solidFill>
                  <a:srgbClr val="FF0000"/>
                </a:solidFill>
                <a:latin typeface="微软雅黑" panose="020B0503020204020204" pitchFamily="34" charset="-122"/>
                <a:ea typeface="微软雅黑" panose="020B0503020204020204" pitchFamily="34" charset="-122"/>
              </a:rPr>
              <a:t>同样的运算，在不同的存储结构中，其实现过程是不同的。</a:t>
            </a:r>
          </a:p>
        </p:txBody>
      </p:sp>
    </p:spTree>
    <p:extLst>
      <p:ext uri="{BB962C8B-B14F-4D97-AF65-F5344CB8AC3E}">
        <p14:creationId xmlns:p14="http://schemas.microsoft.com/office/powerpoint/2010/main" val="6129506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2340" y="543841"/>
            <a:ext cx="7520940" cy="548640"/>
          </a:xfrm>
        </p:spPr>
        <p:txBody>
          <a:bodyPr/>
          <a:lstStyle/>
          <a:p>
            <a:r>
              <a:rPr lang="en-US" altLang="zh-CN" b="1"/>
              <a:t>1.2 </a:t>
            </a:r>
            <a:r>
              <a:rPr lang="zh-CN" altLang="zh-CN" b="1"/>
              <a:t>抽象数据类型</a:t>
            </a:r>
            <a:endParaRPr lang="zh-CN" altLang="en-US" dirty="0"/>
          </a:p>
        </p:txBody>
      </p:sp>
      <p:sp>
        <p:nvSpPr>
          <p:cNvPr id="7" name="Text Box 3">
            <a:extLst>
              <a:ext uri="{FF2B5EF4-FFF2-40B4-BE49-F238E27FC236}">
                <a16:creationId xmlns:a16="http://schemas.microsoft.com/office/drawing/2014/main" id="{B98D7EF0-F69D-44CC-8EB2-AA5F33B05AC0}"/>
              </a:ext>
            </a:extLst>
          </p:cNvPr>
          <p:cNvSpPr txBox="1">
            <a:spLocks noChangeArrowheads="1"/>
          </p:cNvSpPr>
          <p:nvPr/>
        </p:nvSpPr>
        <p:spPr bwMode="auto">
          <a:xfrm>
            <a:off x="642910" y="2400312"/>
            <a:ext cx="8047220" cy="957250"/>
          </a:xfrm>
          <a:prstGeom prst="rect">
            <a:avLst/>
          </a:prstGeom>
          <a:noFill/>
          <a:ln w="9525">
            <a:noFill/>
            <a:miter lim="800000"/>
            <a:headEnd/>
            <a:tailEnd/>
          </a:ln>
          <a:effectLst/>
        </p:spPr>
        <p:txBody>
          <a:bodyPr wrap="square">
            <a:spAutoFit/>
          </a:bodyPr>
          <a:lstStyle/>
          <a:p>
            <a:pPr algn="just">
              <a:lnSpc>
                <a:spcPct val="150000"/>
              </a:lnSpc>
            </a:pPr>
            <a:r>
              <a:rPr lang="zh-CN" altLang="en-US" sz="2000" b="1" dirty="0">
                <a:solidFill>
                  <a:srgbClr val="0000FF"/>
                </a:solidFill>
                <a:latin typeface="Times New Roman" pitchFamily="18" charset="0"/>
                <a:ea typeface="楷体" pitchFamily="49" charset="-122"/>
                <a:cs typeface="Times New Roman" pitchFamily="18" charset="0"/>
              </a:rPr>
              <a:t>      高级程序语言中提供了多种数据类型。不同数据类型的变量，其所能取的值的范围不同，所能进行的操作不同。       </a:t>
            </a:r>
          </a:p>
        </p:txBody>
      </p:sp>
      <p:sp>
        <p:nvSpPr>
          <p:cNvPr id="8" name="Text Box 2">
            <a:extLst>
              <a:ext uri="{FF2B5EF4-FFF2-40B4-BE49-F238E27FC236}">
                <a16:creationId xmlns:a16="http://schemas.microsoft.com/office/drawing/2014/main" id="{3024AC45-2F67-4F1D-A9F3-208376A9F842}"/>
              </a:ext>
            </a:extLst>
          </p:cNvPr>
          <p:cNvSpPr txBox="1">
            <a:spLocks noChangeArrowheads="1"/>
          </p:cNvSpPr>
          <p:nvPr/>
        </p:nvSpPr>
        <p:spPr bwMode="auto">
          <a:xfrm>
            <a:off x="829188" y="3674506"/>
            <a:ext cx="7674664" cy="1135054"/>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square">
            <a:spAutoFit/>
          </a:bodyPr>
          <a:lstStyle/>
          <a:p>
            <a:pPr marL="179388" lvl="1" algn="l">
              <a:lnSpc>
                <a:spcPct val="150000"/>
              </a:lnSpc>
            </a:pPr>
            <a:r>
              <a:rPr lang="zh-CN" altLang="en-US" sz="2400" b="1" dirty="0">
                <a:solidFill>
                  <a:srgbClr val="FF0000"/>
                </a:solidFill>
                <a:latin typeface="微软雅黑" pitchFamily="34" charset="-122"/>
                <a:ea typeface="微软雅黑" pitchFamily="34" charset="-122"/>
                <a:cs typeface="Times New Roman" pitchFamily="18" charset="0"/>
              </a:rPr>
              <a:t>数据类型</a:t>
            </a:r>
            <a:r>
              <a:rPr lang="zh-CN" altLang="en-US" sz="2400" b="1" dirty="0">
                <a:solidFill>
                  <a:srgbClr val="0000FF"/>
                </a:solidFill>
                <a:latin typeface="方正启体简体" pitchFamily="65" charset="-122"/>
                <a:ea typeface="方正启体简体" pitchFamily="65" charset="-122"/>
                <a:cs typeface="Times New Roman" pitchFamily="18" charset="0"/>
              </a:rPr>
              <a:t>是一个值的集合和定义在此集合上的一组操作的总称。</a:t>
            </a:r>
          </a:p>
        </p:txBody>
      </p:sp>
      <p:sp>
        <p:nvSpPr>
          <p:cNvPr id="3" name="矩形 2">
            <a:extLst>
              <a:ext uri="{FF2B5EF4-FFF2-40B4-BE49-F238E27FC236}">
                <a16:creationId xmlns:a16="http://schemas.microsoft.com/office/drawing/2014/main" id="{F19E5C01-EF9D-408B-A25D-8078226CF396}"/>
              </a:ext>
            </a:extLst>
          </p:cNvPr>
          <p:cNvSpPr/>
          <p:nvPr/>
        </p:nvSpPr>
        <p:spPr>
          <a:xfrm>
            <a:off x="3059832" y="1621703"/>
            <a:ext cx="2659702" cy="461665"/>
          </a:xfrm>
          <a:prstGeom prst="rect">
            <a:avLst/>
          </a:prstGeom>
        </p:spPr>
        <p:txBody>
          <a:bodyPr wrap="none">
            <a:spAutoFit/>
          </a:bodyPr>
          <a:lstStyle/>
          <a:p>
            <a:r>
              <a:rPr lang="zh-CN" altLang="en-US" sz="2400" b="1" dirty="0">
                <a:latin typeface="楷体" panose="02010609060101010101" pitchFamily="49" charset="-122"/>
                <a:ea typeface="楷体" panose="02010609060101010101" pitchFamily="49" charset="-122"/>
              </a:rPr>
              <a:t>什么是</a:t>
            </a:r>
            <a:r>
              <a:rPr lang="zh-CN" altLang="zh-CN" sz="2400" b="1" dirty="0">
                <a:latin typeface="楷体" panose="02010609060101010101" pitchFamily="49" charset="-122"/>
                <a:ea typeface="楷体" panose="02010609060101010101" pitchFamily="49" charset="-122"/>
              </a:rPr>
              <a:t>数据类型</a:t>
            </a:r>
            <a:r>
              <a:rPr lang="zh-CN" altLang="en-US" sz="2400" b="1" dirty="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2751409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52E0F745-1BB8-411B-BF8A-D702E715B67D}"/>
              </a:ext>
            </a:extLst>
          </p:cNvPr>
          <p:cNvSpPr txBox="1">
            <a:spLocks noChangeArrowheads="1"/>
          </p:cNvSpPr>
          <p:nvPr/>
        </p:nvSpPr>
        <p:spPr bwMode="auto">
          <a:xfrm>
            <a:off x="571472" y="928670"/>
            <a:ext cx="7168880" cy="830997"/>
          </a:xfrm>
          <a:prstGeom prst="rect">
            <a:avLst/>
          </a:prstGeom>
          <a:noFill/>
          <a:ln w="9525">
            <a:noFill/>
            <a:miter lim="800000"/>
            <a:headEnd/>
            <a:tailEnd/>
          </a:ln>
          <a:effectLst/>
        </p:spPr>
        <p:txBody>
          <a:bodyPr wrap="square">
            <a:spAutoFit/>
          </a:bodyPr>
          <a:lstStyle/>
          <a:p>
            <a:pPr algn="l">
              <a:lnSpc>
                <a:spcPct val="100000"/>
              </a:lnSpc>
            </a:pPr>
            <a:r>
              <a:rPr lang="zh-CN" altLang="en-US" sz="2400" b="1" dirty="0">
                <a:latin typeface="Consolas" pitchFamily="49" charset="0"/>
                <a:ea typeface="楷体" pitchFamily="49" charset="-122"/>
                <a:cs typeface="Consolas" pitchFamily="49" charset="0"/>
              </a:rPr>
              <a:t>例如，</a:t>
            </a:r>
            <a:r>
              <a:rPr lang="en-US" altLang="zh-CN" sz="2400" b="1" dirty="0">
                <a:latin typeface="Consolas" pitchFamily="49" charset="0"/>
                <a:ea typeface="楷体" pitchFamily="49" charset="-122"/>
                <a:cs typeface="Consolas" pitchFamily="49" charset="0"/>
              </a:rPr>
              <a:t>C/C++</a:t>
            </a:r>
            <a:r>
              <a:rPr lang="zh-CN" altLang="en-US" sz="2400" b="1" dirty="0">
                <a:latin typeface="Consolas" pitchFamily="49" charset="0"/>
                <a:ea typeface="楷体" pitchFamily="49" charset="-122"/>
                <a:cs typeface="Consolas" pitchFamily="49" charset="0"/>
              </a:rPr>
              <a:t>中的</a:t>
            </a:r>
            <a:r>
              <a:rPr lang="en-US" altLang="zh-CN" sz="2400" b="1" dirty="0" err="1">
                <a:latin typeface="Consolas" pitchFamily="49" charset="0"/>
                <a:ea typeface="楷体" pitchFamily="49" charset="-122"/>
                <a:cs typeface="Consolas" pitchFamily="49" charset="0"/>
              </a:rPr>
              <a:t>int</a:t>
            </a:r>
            <a:r>
              <a:rPr lang="zh-CN" altLang="en-US" sz="2400" b="1" dirty="0">
                <a:latin typeface="Consolas" pitchFamily="49" charset="0"/>
                <a:ea typeface="楷体" pitchFamily="49" charset="-122"/>
                <a:cs typeface="Consolas" pitchFamily="49" charset="0"/>
              </a:rPr>
              <a:t>就是整型数据类型</a:t>
            </a:r>
            <a:r>
              <a:rPr lang="zh-CN" altLang="en-US" sz="2400" dirty="0">
                <a:latin typeface="Consolas" pitchFamily="49" charset="0"/>
                <a:ea typeface="楷体" pitchFamily="49" charset="-122"/>
                <a:cs typeface="Consolas" pitchFamily="49" charset="0"/>
              </a:rPr>
              <a:t>（</a:t>
            </a:r>
            <a:r>
              <a:rPr lang="en-US" altLang="zh-CN" sz="2400" b="1" dirty="0">
                <a:latin typeface="Consolas" pitchFamily="49" charset="0"/>
                <a:ea typeface="楷体" pitchFamily="49" charset="-122"/>
                <a:cs typeface="Consolas" pitchFamily="49" charset="0"/>
              </a:rPr>
              <a:t>32</a:t>
            </a:r>
            <a:r>
              <a:rPr lang="zh-CN" altLang="en-US" sz="2400" b="1" dirty="0">
                <a:latin typeface="Consolas" pitchFamily="49" charset="0"/>
                <a:ea typeface="楷体" pitchFamily="49" charset="-122"/>
                <a:cs typeface="Consolas" pitchFamily="49" charset="0"/>
              </a:rPr>
              <a:t>位计算机）。</a:t>
            </a:r>
          </a:p>
        </p:txBody>
      </p:sp>
      <p:sp>
        <p:nvSpPr>
          <p:cNvPr id="5" name="椭圆 4">
            <a:extLst>
              <a:ext uri="{FF2B5EF4-FFF2-40B4-BE49-F238E27FC236}">
                <a16:creationId xmlns:a16="http://schemas.microsoft.com/office/drawing/2014/main" id="{0C1EFECD-C4DF-463D-89AD-3E32E6C41B53}"/>
              </a:ext>
            </a:extLst>
          </p:cNvPr>
          <p:cNvSpPr/>
          <p:nvPr/>
        </p:nvSpPr>
        <p:spPr>
          <a:xfrm>
            <a:off x="1763688" y="2924944"/>
            <a:ext cx="3095774" cy="1504310"/>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nSpc>
                <a:spcPct val="150000"/>
              </a:lnSpc>
            </a:pPr>
            <a:r>
              <a:rPr lang="en-US" altLang="zh-CN" sz="2000" dirty="0">
                <a:solidFill>
                  <a:srgbClr val="0000FF"/>
                </a:solidFill>
                <a:latin typeface="Consolas" pitchFamily="49" charset="0"/>
                <a:cs typeface="Consolas" pitchFamily="49" charset="0"/>
              </a:rPr>
              <a:t>-</a:t>
            </a:r>
            <a:r>
              <a:rPr lang="en-US" altLang="zh-CN" sz="2000" dirty="0">
                <a:solidFill>
                  <a:srgbClr val="0000FF"/>
                </a:solidFill>
                <a:latin typeface="Consolas" pitchFamily="49" charset="0"/>
                <a:ea typeface="楷体" pitchFamily="49" charset="-122"/>
                <a:cs typeface="Consolas" pitchFamily="49" charset="0"/>
              </a:rPr>
              <a:t>2147483648~ +2147483647</a:t>
            </a:r>
            <a:endParaRPr lang="zh-CN" altLang="en-US" sz="2000" dirty="0">
              <a:solidFill>
                <a:srgbClr val="0000FF"/>
              </a:solidFill>
              <a:latin typeface="Consolas" pitchFamily="49" charset="0"/>
              <a:cs typeface="Consolas" pitchFamily="49" charset="0"/>
            </a:endParaRPr>
          </a:p>
        </p:txBody>
      </p:sp>
      <p:sp>
        <p:nvSpPr>
          <p:cNvPr id="6" name="TextBox 15">
            <a:extLst>
              <a:ext uri="{FF2B5EF4-FFF2-40B4-BE49-F238E27FC236}">
                <a16:creationId xmlns:a16="http://schemas.microsoft.com/office/drawing/2014/main" id="{65B72195-0642-4B8A-8992-F8B3F2DF1E90}"/>
              </a:ext>
            </a:extLst>
          </p:cNvPr>
          <p:cNvSpPr txBox="1"/>
          <p:nvPr/>
        </p:nvSpPr>
        <p:spPr>
          <a:xfrm>
            <a:off x="2359132" y="2229200"/>
            <a:ext cx="2571768" cy="338554"/>
          </a:xfrm>
          <a:prstGeom prst="rect">
            <a:avLst/>
          </a:prstGeom>
          <a:noFill/>
        </p:spPr>
        <p:txBody>
          <a:bodyPr wrap="square" rtlCol="0">
            <a:spAutoFit/>
          </a:bodyPr>
          <a:lstStyle/>
          <a:p>
            <a:pPr algn="l"/>
            <a:r>
              <a:rPr lang="en-US" altLang="zh-CN" sz="2000">
                <a:solidFill>
                  <a:srgbClr val="0000FF"/>
                </a:solidFill>
                <a:latin typeface="+mj-ea"/>
                <a:ea typeface="+mj-ea"/>
                <a:cs typeface="Consolas" pitchFamily="49" charset="0"/>
              </a:rPr>
              <a:t>+</a:t>
            </a:r>
            <a:r>
              <a:rPr lang="zh-CN" altLang="en-US" sz="2000">
                <a:solidFill>
                  <a:srgbClr val="0000FF"/>
                </a:solidFill>
                <a:latin typeface="+mj-ea"/>
                <a:ea typeface="+mj-ea"/>
                <a:cs typeface="Consolas" pitchFamily="49" charset="0"/>
              </a:rPr>
              <a:t>、</a:t>
            </a:r>
            <a:r>
              <a:rPr lang="en-US" altLang="zh-CN" sz="2000">
                <a:solidFill>
                  <a:srgbClr val="0000FF"/>
                </a:solidFill>
                <a:latin typeface="+mj-ea"/>
                <a:ea typeface="+mj-ea"/>
                <a:cs typeface="Consolas" pitchFamily="49" charset="0"/>
              </a:rPr>
              <a:t>-</a:t>
            </a:r>
            <a:r>
              <a:rPr lang="zh-CN" altLang="en-US" sz="2000">
                <a:solidFill>
                  <a:srgbClr val="0000FF"/>
                </a:solidFill>
                <a:latin typeface="+mj-ea"/>
                <a:ea typeface="+mj-ea"/>
                <a:cs typeface="Consolas" pitchFamily="49" charset="0"/>
              </a:rPr>
              <a:t>、*、／  </a:t>
            </a:r>
            <a:r>
              <a:rPr lang="zh-CN" altLang="en-US" sz="2000">
                <a:solidFill>
                  <a:srgbClr val="0000FF"/>
                </a:solidFill>
                <a:latin typeface="+mn-ea"/>
                <a:ea typeface="+mn-ea"/>
                <a:cs typeface="Consolas" pitchFamily="49" charset="0"/>
                <a:sym typeface="Symbol"/>
              </a:rPr>
              <a:t></a:t>
            </a:r>
            <a:endParaRPr lang="zh-CN" altLang="en-US" sz="2000">
              <a:solidFill>
                <a:srgbClr val="0000FF"/>
              </a:solidFill>
              <a:latin typeface="+mn-ea"/>
              <a:ea typeface="+mn-ea"/>
              <a:cs typeface="Consolas" pitchFamily="49" charset="0"/>
            </a:endParaRPr>
          </a:p>
        </p:txBody>
      </p:sp>
      <p:sp>
        <p:nvSpPr>
          <p:cNvPr id="7" name="下箭头 16">
            <a:extLst>
              <a:ext uri="{FF2B5EF4-FFF2-40B4-BE49-F238E27FC236}">
                <a16:creationId xmlns:a16="http://schemas.microsoft.com/office/drawing/2014/main" id="{1B160250-08E3-4011-AE16-3ECFA4F5A407}"/>
              </a:ext>
            </a:extLst>
          </p:cNvPr>
          <p:cNvSpPr/>
          <p:nvPr/>
        </p:nvSpPr>
        <p:spPr>
          <a:xfrm>
            <a:off x="3469664" y="2603473"/>
            <a:ext cx="214314" cy="285752"/>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2800">
              <a:latin typeface="Consolas" pitchFamily="49" charset="0"/>
              <a:cs typeface="Consolas" pitchFamily="49" charset="0"/>
            </a:endParaRPr>
          </a:p>
        </p:txBody>
      </p:sp>
      <p:grpSp>
        <p:nvGrpSpPr>
          <p:cNvPr id="8" name="组合 23">
            <a:extLst>
              <a:ext uri="{FF2B5EF4-FFF2-40B4-BE49-F238E27FC236}">
                <a16:creationId xmlns:a16="http://schemas.microsoft.com/office/drawing/2014/main" id="{B6C896E1-3884-4F13-8C92-CD6421695843}"/>
              </a:ext>
            </a:extLst>
          </p:cNvPr>
          <p:cNvGrpSpPr/>
          <p:nvPr/>
        </p:nvGrpSpPr>
        <p:grpSpPr>
          <a:xfrm>
            <a:off x="4872162" y="2210564"/>
            <a:ext cx="1987564" cy="1860238"/>
            <a:chOff x="4656138" y="1928802"/>
            <a:chExt cx="1987564" cy="1500198"/>
          </a:xfrm>
        </p:grpSpPr>
        <p:sp>
          <p:nvSpPr>
            <p:cNvPr id="9" name="TextBox 17">
              <a:extLst>
                <a:ext uri="{FF2B5EF4-FFF2-40B4-BE49-F238E27FC236}">
                  <a16:creationId xmlns:a16="http://schemas.microsoft.com/office/drawing/2014/main" id="{8107AA88-3C63-47BA-9B05-9EB5EAAC462E}"/>
                </a:ext>
              </a:extLst>
            </p:cNvPr>
            <p:cNvSpPr txBox="1"/>
            <p:nvPr/>
          </p:nvSpPr>
          <p:spPr>
            <a:xfrm>
              <a:off x="5214942" y="3090446"/>
              <a:ext cx="1428760" cy="338554"/>
            </a:xfrm>
            <a:prstGeom prst="rect">
              <a:avLst/>
            </a:prstGeom>
            <a:noFill/>
          </p:spPr>
          <p:txBody>
            <a:bodyPr wrap="square" rtlCol="0">
              <a:spAutoFit/>
            </a:bodyPr>
            <a:lstStyle/>
            <a:p>
              <a:pPr algn="l"/>
              <a:r>
                <a:rPr lang="zh-CN" altLang="en-US" sz="2000">
                  <a:solidFill>
                    <a:srgbClr val="0000FF"/>
                  </a:solidFill>
                  <a:latin typeface="方正启体简体" pitchFamily="65" charset="-122"/>
                  <a:ea typeface="方正启体简体" pitchFamily="65" charset="-122"/>
                  <a:cs typeface="Consolas" pitchFamily="49" charset="0"/>
                </a:rPr>
                <a:t>值的集合</a:t>
              </a:r>
            </a:p>
          </p:txBody>
        </p:sp>
        <p:sp>
          <p:nvSpPr>
            <p:cNvPr id="10" name="TextBox 18">
              <a:extLst>
                <a:ext uri="{FF2B5EF4-FFF2-40B4-BE49-F238E27FC236}">
                  <a16:creationId xmlns:a16="http://schemas.microsoft.com/office/drawing/2014/main" id="{13B955EB-A2DD-4E6A-B1E8-1089213F25AC}"/>
                </a:ext>
              </a:extLst>
            </p:cNvPr>
            <p:cNvSpPr txBox="1"/>
            <p:nvPr/>
          </p:nvSpPr>
          <p:spPr>
            <a:xfrm>
              <a:off x="5214942" y="1928802"/>
              <a:ext cx="1357322" cy="338554"/>
            </a:xfrm>
            <a:prstGeom prst="rect">
              <a:avLst/>
            </a:prstGeom>
            <a:noFill/>
          </p:spPr>
          <p:txBody>
            <a:bodyPr wrap="square" rtlCol="0">
              <a:spAutoFit/>
            </a:bodyPr>
            <a:lstStyle/>
            <a:p>
              <a:pPr algn="l"/>
              <a:r>
                <a:rPr lang="zh-CN" altLang="en-US" sz="2000">
                  <a:solidFill>
                    <a:srgbClr val="0000FF"/>
                  </a:solidFill>
                  <a:latin typeface="方正启体简体" pitchFamily="65" charset="-122"/>
                  <a:ea typeface="方正启体简体" pitchFamily="65" charset="-122"/>
                  <a:cs typeface="Consolas" pitchFamily="49" charset="0"/>
                </a:rPr>
                <a:t>一组操作</a:t>
              </a:r>
            </a:p>
          </p:txBody>
        </p:sp>
        <p:cxnSp>
          <p:nvCxnSpPr>
            <p:cNvPr id="11" name="直接连接符 10">
              <a:extLst>
                <a:ext uri="{FF2B5EF4-FFF2-40B4-BE49-F238E27FC236}">
                  <a16:creationId xmlns:a16="http://schemas.microsoft.com/office/drawing/2014/main" id="{EDAD1AD0-8F36-43DD-893D-C8DB70606DED}"/>
                </a:ext>
              </a:extLst>
            </p:cNvPr>
            <p:cNvCxnSpPr/>
            <p:nvPr/>
          </p:nvCxnSpPr>
          <p:spPr>
            <a:xfrm>
              <a:off x="4656138" y="2084378"/>
              <a:ext cx="500066" cy="1588"/>
            </a:xfrm>
            <a:prstGeom prst="line">
              <a:avLst/>
            </a:prstGeom>
            <a:ln w="38100">
              <a:solidFill>
                <a:srgbClr val="6600CC"/>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3F5CFB0A-F556-483F-A006-09E0339C5BB4}"/>
                </a:ext>
              </a:extLst>
            </p:cNvPr>
            <p:cNvCxnSpPr/>
            <p:nvPr/>
          </p:nvCxnSpPr>
          <p:spPr>
            <a:xfrm>
              <a:off x="4727576" y="3227386"/>
              <a:ext cx="500066" cy="1588"/>
            </a:xfrm>
            <a:prstGeom prst="line">
              <a:avLst/>
            </a:prstGeom>
            <a:ln w="38100">
              <a:solidFill>
                <a:srgbClr val="6600CC"/>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99172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1">
            <a:extLst>
              <a:ext uri="{FF2B5EF4-FFF2-40B4-BE49-F238E27FC236}">
                <a16:creationId xmlns:a16="http://schemas.microsoft.com/office/drawing/2014/main" id="{DE2789BB-6FE0-47D0-8B21-AB3C9653DFBC}"/>
              </a:ext>
            </a:extLst>
          </p:cNvPr>
          <p:cNvGrpSpPr/>
          <p:nvPr/>
        </p:nvGrpSpPr>
        <p:grpSpPr>
          <a:xfrm>
            <a:off x="1043608" y="1268760"/>
            <a:ext cx="6357982" cy="1566752"/>
            <a:chOff x="500034" y="2428868"/>
            <a:chExt cx="6357982" cy="1566752"/>
          </a:xfrm>
        </p:grpSpPr>
        <p:sp>
          <p:nvSpPr>
            <p:cNvPr id="5" name="Text Box 1027">
              <a:extLst>
                <a:ext uri="{FF2B5EF4-FFF2-40B4-BE49-F238E27FC236}">
                  <a16:creationId xmlns:a16="http://schemas.microsoft.com/office/drawing/2014/main" id="{C1F7F460-6F94-4133-8128-9D7BC0EB1D29}"/>
                </a:ext>
              </a:extLst>
            </p:cNvPr>
            <p:cNvSpPr txBox="1">
              <a:spLocks noChangeArrowheads="1"/>
            </p:cNvSpPr>
            <p:nvPr/>
          </p:nvSpPr>
          <p:spPr bwMode="auto">
            <a:xfrm>
              <a:off x="500034" y="2428868"/>
              <a:ext cx="2500330" cy="1566752"/>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108000">
              <a:spAutoFit/>
            </a:bodyPr>
            <a:lstStyle/>
            <a:p>
              <a:pPr algn="l">
                <a:lnSpc>
                  <a:spcPct val="150000"/>
                </a:lnSpc>
                <a:spcBef>
                  <a:spcPts val="0"/>
                </a:spcBef>
              </a:pPr>
              <a:r>
                <a:rPr kumimoji="0" lang="en-US" altLang="zh-CN" sz="2000" b="1" dirty="0">
                  <a:solidFill>
                    <a:srgbClr val="FF0000"/>
                  </a:solidFill>
                  <a:latin typeface="Consolas" pitchFamily="49" charset="0"/>
                  <a:ea typeface="楷体" pitchFamily="49" charset="-122"/>
                  <a:cs typeface="Consolas" pitchFamily="49" charset="0"/>
                </a:rPr>
                <a:t>int</a:t>
              </a:r>
              <a:r>
                <a:rPr kumimoji="0" lang="en-US" altLang="zh-CN" sz="2000" b="1" dirty="0">
                  <a:solidFill>
                    <a:srgbClr val="0000FF"/>
                  </a:solidFill>
                  <a:latin typeface="Consolas" pitchFamily="49" charset="0"/>
                  <a:ea typeface="楷体" pitchFamily="49" charset="-122"/>
                  <a:cs typeface="Consolas" pitchFamily="49" charset="0"/>
                </a:rPr>
                <a:t> </a:t>
              </a:r>
              <a:r>
                <a:rPr kumimoji="0" lang="en-US" altLang="zh-CN" sz="2000" b="1" i="1" dirty="0" err="1">
                  <a:solidFill>
                    <a:srgbClr val="0000FF"/>
                  </a:solidFill>
                  <a:latin typeface="Consolas" pitchFamily="49" charset="0"/>
                  <a:ea typeface="楷体" pitchFamily="49" charset="-122"/>
                  <a:cs typeface="Consolas" pitchFamily="49" charset="0"/>
                </a:rPr>
                <a:t>i</a:t>
              </a:r>
              <a:r>
                <a:rPr kumimoji="0" lang="en-US" altLang="zh-CN" sz="2000" b="1" dirty="0">
                  <a:solidFill>
                    <a:srgbClr val="0000FF"/>
                  </a:solidFill>
                  <a:latin typeface="Consolas" pitchFamily="49" charset="0"/>
                  <a:ea typeface="楷体" pitchFamily="49" charset="-122"/>
                  <a:cs typeface="Consolas" pitchFamily="49" charset="0"/>
                </a:rPr>
                <a:t>=2</a:t>
              </a:r>
              <a:r>
                <a:rPr kumimoji="0" lang="zh-CN" altLang="en-US" sz="2000" b="1" dirty="0">
                  <a:solidFill>
                    <a:srgbClr val="0000FF"/>
                  </a:solidFill>
                  <a:latin typeface="Consolas" pitchFamily="49" charset="0"/>
                  <a:ea typeface="楷体" pitchFamily="49" charset="-122"/>
                  <a:cs typeface="Consolas" pitchFamily="49" charset="0"/>
                </a:rPr>
                <a:t>，</a:t>
              </a:r>
              <a:r>
                <a:rPr kumimoji="0" lang="en-US" altLang="zh-CN" sz="2000" b="1" i="1" dirty="0">
                  <a:solidFill>
                    <a:srgbClr val="0000FF"/>
                  </a:solidFill>
                  <a:latin typeface="Consolas" pitchFamily="49" charset="0"/>
                  <a:ea typeface="楷体" pitchFamily="49" charset="-122"/>
                  <a:cs typeface="Consolas" pitchFamily="49" charset="0"/>
                </a:rPr>
                <a:t>j</a:t>
              </a:r>
              <a:r>
                <a:rPr kumimoji="0" lang="en-US" altLang="zh-CN" sz="2000" b="1" dirty="0">
                  <a:solidFill>
                    <a:srgbClr val="0000FF"/>
                  </a:solidFill>
                  <a:latin typeface="Consolas" pitchFamily="49" charset="0"/>
                  <a:ea typeface="楷体" pitchFamily="49" charset="-122"/>
                  <a:cs typeface="Consolas" pitchFamily="49" charset="0"/>
                </a:rPr>
                <a:t>=5</a:t>
              </a:r>
              <a:r>
                <a:rPr kumimoji="0" lang="zh-CN" altLang="en-US" sz="2000" b="1" dirty="0">
                  <a:solidFill>
                    <a:srgbClr val="0000FF"/>
                  </a:solidFill>
                  <a:latin typeface="Consolas" pitchFamily="49" charset="0"/>
                  <a:ea typeface="楷体" pitchFamily="49" charset="-122"/>
                  <a:cs typeface="Consolas" pitchFamily="49" charset="0"/>
                </a:rPr>
                <a:t>，</a:t>
              </a:r>
              <a:r>
                <a:rPr kumimoji="0" lang="en-US" altLang="zh-CN" sz="2000" b="1" i="1" dirty="0">
                  <a:solidFill>
                    <a:srgbClr val="0000FF"/>
                  </a:solidFill>
                  <a:latin typeface="Consolas" pitchFamily="49" charset="0"/>
                  <a:ea typeface="楷体" pitchFamily="49" charset="-122"/>
                  <a:cs typeface="Consolas" pitchFamily="49" charset="0"/>
                </a:rPr>
                <a:t>k</a:t>
              </a:r>
              <a:r>
                <a:rPr kumimoji="0" lang="en-US" altLang="zh-CN" sz="2000" b="1" dirty="0">
                  <a:solidFill>
                    <a:srgbClr val="0000FF"/>
                  </a:solidFill>
                  <a:latin typeface="Consolas" pitchFamily="49" charset="0"/>
                  <a:ea typeface="楷体" pitchFamily="49" charset="-122"/>
                  <a:cs typeface="Consolas" pitchFamily="49" charset="0"/>
                </a:rPr>
                <a:t>;</a:t>
              </a:r>
            </a:p>
            <a:p>
              <a:pPr algn="l">
                <a:lnSpc>
                  <a:spcPct val="150000"/>
                </a:lnSpc>
                <a:spcBef>
                  <a:spcPts val="0"/>
                </a:spcBef>
              </a:pPr>
              <a:r>
                <a:rPr kumimoji="0" lang="en-US" altLang="zh-CN" sz="2000" b="1" i="1" dirty="0">
                  <a:solidFill>
                    <a:srgbClr val="0000FF"/>
                  </a:solidFill>
                  <a:latin typeface="Consolas" pitchFamily="49" charset="0"/>
                  <a:ea typeface="楷体" pitchFamily="49" charset="-122"/>
                  <a:cs typeface="Consolas" pitchFamily="49" charset="0"/>
                </a:rPr>
                <a:t>k</a:t>
              </a:r>
              <a:r>
                <a:rPr kumimoji="0" lang="en-US" altLang="zh-CN" sz="2000" b="1" dirty="0">
                  <a:solidFill>
                    <a:srgbClr val="0000FF"/>
                  </a:solidFill>
                  <a:latin typeface="Consolas" pitchFamily="49" charset="0"/>
                  <a:ea typeface="楷体" pitchFamily="49" charset="-122"/>
                  <a:cs typeface="Consolas" pitchFamily="49" charset="0"/>
                </a:rPr>
                <a:t>=</a:t>
              </a:r>
              <a:r>
                <a:rPr kumimoji="0" lang="en-US" altLang="zh-CN" sz="2000" b="1" i="1" dirty="0" err="1">
                  <a:solidFill>
                    <a:srgbClr val="0000FF"/>
                  </a:solidFill>
                  <a:latin typeface="Consolas" pitchFamily="49" charset="0"/>
                  <a:ea typeface="楷体" pitchFamily="49" charset="-122"/>
                  <a:cs typeface="Consolas" pitchFamily="49" charset="0"/>
                </a:rPr>
                <a:t>i</a:t>
              </a:r>
              <a:r>
                <a:rPr kumimoji="0" lang="en-US" altLang="zh-CN" sz="2000" b="1" dirty="0" err="1">
                  <a:solidFill>
                    <a:srgbClr val="0000FF"/>
                  </a:solidFill>
                  <a:latin typeface="Consolas" pitchFamily="49" charset="0"/>
                  <a:ea typeface="楷体" pitchFamily="49" charset="-122"/>
                  <a:cs typeface="Consolas" pitchFamily="49" charset="0"/>
                </a:rPr>
                <a:t>+</a:t>
              </a:r>
              <a:r>
                <a:rPr kumimoji="0" lang="en-US" altLang="zh-CN" sz="2000" b="1" i="1" dirty="0" err="1">
                  <a:solidFill>
                    <a:srgbClr val="0000FF"/>
                  </a:solidFill>
                  <a:latin typeface="Consolas" pitchFamily="49" charset="0"/>
                  <a:ea typeface="楷体" pitchFamily="49" charset="-122"/>
                  <a:cs typeface="Consolas" pitchFamily="49" charset="0"/>
                </a:rPr>
                <a:t>j</a:t>
              </a:r>
              <a:r>
                <a:rPr kumimoji="0" lang="en-US" altLang="zh-CN" sz="2000" b="1" dirty="0">
                  <a:solidFill>
                    <a:srgbClr val="0000FF"/>
                  </a:solidFill>
                  <a:latin typeface="Consolas" pitchFamily="49" charset="0"/>
                  <a:ea typeface="楷体" pitchFamily="49" charset="-122"/>
                  <a:cs typeface="Consolas" pitchFamily="49" charset="0"/>
                </a:rPr>
                <a:t>;</a:t>
              </a:r>
            </a:p>
            <a:p>
              <a:pPr algn="l">
                <a:lnSpc>
                  <a:spcPct val="100000"/>
                </a:lnSpc>
              </a:pPr>
              <a:r>
                <a:rPr kumimoji="0" lang="en-US" altLang="zh-CN" sz="2000" b="1" dirty="0">
                  <a:solidFill>
                    <a:srgbClr val="0000FF"/>
                  </a:solidFill>
                  <a:latin typeface="Consolas" pitchFamily="49" charset="0"/>
                  <a:ea typeface="楷体" pitchFamily="49" charset="-122"/>
                  <a:cs typeface="Consolas" pitchFamily="49" charset="0"/>
                </a:rPr>
                <a:t>...</a:t>
              </a:r>
            </a:p>
          </p:txBody>
        </p:sp>
        <p:sp>
          <p:nvSpPr>
            <p:cNvPr id="6" name="Text Box 1029">
              <a:extLst>
                <a:ext uri="{FF2B5EF4-FFF2-40B4-BE49-F238E27FC236}">
                  <a16:creationId xmlns:a16="http://schemas.microsoft.com/office/drawing/2014/main" id="{8881E6AA-CB61-4452-B381-F97A9E33BC50}"/>
                </a:ext>
              </a:extLst>
            </p:cNvPr>
            <p:cNvSpPr txBox="1">
              <a:spLocks noChangeArrowheads="1"/>
            </p:cNvSpPr>
            <p:nvPr/>
          </p:nvSpPr>
          <p:spPr bwMode="auto">
            <a:xfrm>
              <a:off x="4000496" y="2648546"/>
              <a:ext cx="2857520" cy="1323439"/>
            </a:xfrm>
            <a:prstGeom prst="rect">
              <a:avLst/>
            </a:prstGeom>
            <a:noFill/>
            <a:ln w="9525">
              <a:noFill/>
              <a:miter lim="800000"/>
              <a:headEnd/>
              <a:tailEnd/>
            </a:ln>
            <a:effectLst/>
          </p:spPr>
          <p:txBody>
            <a:bodyPr wrap="square">
              <a:spAutoFit/>
            </a:bodyPr>
            <a:lstStyle/>
            <a:p>
              <a:pPr algn="l">
                <a:lnSpc>
                  <a:spcPct val="100000"/>
                </a:lnSpc>
              </a:pPr>
              <a:r>
                <a:rPr kumimoji="0" lang="zh-CN" altLang="en-US" sz="2000" b="1" dirty="0">
                  <a:solidFill>
                    <a:srgbClr val="FF0000"/>
                  </a:solidFill>
                  <a:latin typeface="Consolas" pitchFamily="49" charset="0"/>
                  <a:ea typeface="楷体" pitchFamily="49" charset="-122"/>
                  <a:cs typeface="Consolas" pitchFamily="49" charset="0"/>
                  <a:sym typeface="Wingdings"/>
                </a:rPr>
                <a:t>√ </a:t>
              </a:r>
              <a:r>
                <a:rPr kumimoji="0" lang="zh-CN" altLang="en-US" sz="2000" b="1" dirty="0">
                  <a:solidFill>
                    <a:srgbClr val="0000FF"/>
                  </a:solidFill>
                  <a:latin typeface="Consolas" pitchFamily="49" charset="0"/>
                  <a:ea typeface="仿宋" pitchFamily="49" charset="-122"/>
                  <a:cs typeface="Consolas" pitchFamily="49" charset="0"/>
                </a:rPr>
                <a:t>因为</a:t>
              </a:r>
              <a:r>
                <a:rPr kumimoji="0" lang="en-US" altLang="zh-CN" sz="2000" b="1" i="1" dirty="0" err="1">
                  <a:solidFill>
                    <a:srgbClr val="0000FF"/>
                  </a:solidFill>
                  <a:latin typeface="Consolas" pitchFamily="49" charset="0"/>
                  <a:ea typeface="仿宋" pitchFamily="49" charset="-122"/>
                  <a:cs typeface="Consolas" pitchFamily="49" charset="0"/>
                </a:rPr>
                <a:t>i</a:t>
              </a:r>
              <a:r>
                <a:rPr kumimoji="0" lang="zh-CN" altLang="en-US" sz="2000" b="1" dirty="0">
                  <a:solidFill>
                    <a:srgbClr val="0000FF"/>
                  </a:solidFill>
                  <a:latin typeface="Consolas" pitchFamily="49" charset="0"/>
                  <a:ea typeface="仿宋" pitchFamily="49" charset="-122"/>
                  <a:cs typeface="Consolas" pitchFamily="49" charset="0"/>
                </a:rPr>
                <a:t>、</a:t>
              </a:r>
              <a:r>
                <a:rPr kumimoji="0" lang="en-US" altLang="zh-CN" sz="2000" b="1" i="1" dirty="0">
                  <a:solidFill>
                    <a:srgbClr val="0000FF"/>
                  </a:solidFill>
                  <a:latin typeface="Consolas" pitchFamily="49" charset="0"/>
                  <a:ea typeface="仿宋" pitchFamily="49" charset="-122"/>
                  <a:cs typeface="Consolas" pitchFamily="49" charset="0"/>
                </a:rPr>
                <a:t>j</a:t>
              </a:r>
              <a:r>
                <a:rPr kumimoji="0" lang="zh-CN" altLang="en-US" sz="2000" b="1" dirty="0">
                  <a:solidFill>
                    <a:srgbClr val="0000FF"/>
                  </a:solidFill>
                  <a:latin typeface="Consolas" pitchFamily="49" charset="0"/>
                  <a:ea typeface="仿宋" pitchFamily="49" charset="-122"/>
                  <a:cs typeface="Consolas" pitchFamily="49" charset="0"/>
                </a:rPr>
                <a:t>和</a:t>
              </a:r>
              <a:r>
                <a:rPr kumimoji="0" lang="en-US" altLang="zh-CN" sz="2000" b="1" i="1" dirty="0">
                  <a:solidFill>
                    <a:srgbClr val="0000FF"/>
                  </a:solidFill>
                  <a:latin typeface="Consolas" pitchFamily="49" charset="0"/>
                  <a:ea typeface="仿宋" pitchFamily="49" charset="-122"/>
                  <a:cs typeface="Consolas" pitchFamily="49" charset="0"/>
                </a:rPr>
                <a:t>k</a:t>
              </a:r>
              <a:r>
                <a:rPr kumimoji="0" lang="zh-CN" altLang="en-US" sz="2000" b="1" dirty="0">
                  <a:solidFill>
                    <a:srgbClr val="0000FF"/>
                  </a:solidFill>
                  <a:latin typeface="Consolas" pitchFamily="49" charset="0"/>
                  <a:ea typeface="仿宋" pitchFamily="49" charset="-122"/>
                  <a:cs typeface="Consolas" pitchFamily="49" charset="0"/>
                </a:rPr>
                <a:t>都属于</a:t>
              </a:r>
              <a:r>
                <a:rPr kumimoji="0" lang="en-US" altLang="zh-CN" sz="2000" b="1" dirty="0">
                  <a:solidFill>
                    <a:srgbClr val="0000FF"/>
                  </a:solidFill>
                  <a:latin typeface="Consolas" pitchFamily="49" charset="0"/>
                  <a:ea typeface="仿宋" pitchFamily="49" charset="-122"/>
                  <a:cs typeface="Consolas" pitchFamily="49" charset="0"/>
                </a:rPr>
                <a:t>int</a:t>
              </a:r>
              <a:r>
                <a:rPr kumimoji="0" lang="zh-CN" altLang="en-US" sz="2000" b="1" dirty="0">
                  <a:solidFill>
                    <a:srgbClr val="0000FF"/>
                  </a:solidFill>
                  <a:latin typeface="Consolas" pitchFamily="49" charset="0"/>
                  <a:ea typeface="仿宋" pitchFamily="49" charset="-122"/>
                  <a:cs typeface="Consolas" pitchFamily="49" charset="0"/>
                </a:rPr>
                <a:t>，而</a:t>
              </a:r>
              <a:r>
                <a:rPr kumimoji="0" lang="en-US" altLang="zh-CN" sz="2000" b="1" dirty="0" err="1">
                  <a:solidFill>
                    <a:srgbClr val="0000FF"/>
                  </a:solidFill>
                  <a:latin typeface="Consolas" pitchFamily="49" charset="0"/>
                  <a:ea typeface="仿宋" pitchFamily="49" charset="-122"/>
                  <a:cs typeface="Consolas" pitchFamily="49" charset="0"/>
                </a:rPr>
                <a:t>int</a:t>
              </a:r>
              <a:r>
                <a:rPr kumimoji="0" lang="zh-CN" altLang="en-US" sz="2000" b="1" dirty="0">
                  <a:solidFill>
                    <a:srgbClr val="0000FF"/>
                  </a:solidFill>
                  <a:latin typeface="Consolas" pitchFamily="49" charset="0"/>
                  <a:ea typeface="仿宋" pitchFamily="49" charset="-122"/>
                  <a:cs typeface="Consolas" pitchFamily="49" charset="0"/>
                </a:rPr>
                <a:t>提供了各种运算，所以可以进行相应运算。</a:t>
              </a:r>
            </a:p>
          </p:txBody>
        </p:sp>
        <p:sp>
          <p:nvSpPr>
            <p:cNvPr id="7" name="左箭头 8">
              <a:extLst>
                <a:ext uri="{FF2B5EF4-FFF2-40B4-BE49-F238E27FC236}">
                  <a16:creationId xmlns:a16="http://schemas.microsoft.com/office/drawing/2014/main" id="{2692349D-80CE-4C7C-B19F-37239BBD1F5A}"/>
                </a:ext>
              </a:extLst>
            </p:cNvPr>
            <p:cNvSpPr/>
            <p:nvPr/>
          </p:nvSpPr>
          <p:spPr>
            <a:xfrm>
              <a:off x="3000364" y="3000372"/>
              <a:ext cx="857256" cy="214314"/>
            </a:xfrm>
            <a:prstGeom prst="leftArrow">
              <a:avLst/>
            </a:prstGeom>
            <a:ln>
              <a:tailEnd type="arrow"/>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2000">
                <a:solidFill>
                  <a:srgbClr val="0000FF"/>
                </a:solidFill>
                <a:latin typeface="Consolas" pitchFamily="49" charset="0"/>
                <a:cs typeface="Consolas" pitchFamily="49" charset="0"/>
              </a:endParaRPr>
            </a:p>
          </p:txBody>
        </p:sp>
      </p:grpSp>
      <p:grpSp>
        <p:nvGrpSpPr>
          <p:cNvPr id="8" name="组合 12">
            <a:extLst>
              <a:ext uri="{FF2B5EF4-FFF2-40B4-BE49-F238E27FC236}">
                <a16:creationId xmlns:a16="http://schemas.microsoft.com/office/drawing/2014/main" id="{CE2E3C5A-C36A-4EBE-8257-01A5C5AB5BB5}"/>
              </a:ext>
            </a:extLst>
          </p:cNvPr>
          <p:cNvGrpSpPr/>
          <p:nvPr/>
        </p:nvGrpSpPr>
        <p:grpSpPr>
          <a:xfrm>
            <a:off x="1043608" y="3340462"/>
            <a:ext cx="4304532" cy="951199"/>
            <a:chOff x="500034" y="4000504"/>
            <a:chExt cx="4304532" cy="951199"/>
          </a:xfrm>
        </p:grpSpPr>
        <p:sp>
          <p:nvSpPr>
            <p:cNvPr id="9" name="Text Box 1031">
              <a:extLst>
                <a:ext uri="{FF2B5EF4-FFF2-40B4-BE49-F238E27FC236}">
                  <a16:creationId xmlns:a16="http://schemas.microsoft.com/office/drawing/2014/main" id="{B44873ED-6E76-4A04-B070-8F17ED18E13A}"/>
                </a:ext>
              </a:extLst>
            </p:cNvPr>
            <p:cNvSpPr txBox="1">
              <a:spLocks noChangeArrowheads="1"/>
            </p:cNvSpPr>
            <p:nvPr/>
          </p:nvSpPr>
          <p:spPr bwMode="auto">
            <a:xfrm>
              <a:off x="500034" y="4000504"/>
              <a:ext cx="2500330" cy="951199"/>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108000">
              <a:spAutoFit/>
            </a:bodyPr>
            <a:lstStyle/>
            <a:p>
              <a:pPr algn="l">
                <a:lnSpc>
                  <a:spcPct val="100000"/>
                </a:lnSpc>
              </a:pPr>
              <a:r>
                <a:rPr kumimoji="0" lang="en-US" altLang="zh-CN" sz="2000" b="1" dirty="0" err="1">
                  <a:solidFill>
                    <a:srgbClr val="FF0000"/>
                  </a:solidFill>
                  <a:latin typeface="Consolas" pitchFamily="49" charset="0"/>
                  <a:ea typeface="楷体" pitchFamily="49" charset="-122"/>
                  <a:cs typeface="Consolas" pitchFamily="49" charset="0"/>
                </a:rPr>
                <a:t>int</a:t>
              </a:r>
              <a:r>
                <a:rPr kumimoji="0" lang="en-US" altLang="zh-CN" sz="2000" b="1" dirty="0">
                  <a:solidFill>
                    <a:srgbClr val="0000FF"/>
                  </a:solidFill>
                  <a:latin typeface="Consolas" pitchFamily="49" charset="0"/>
                  <a:ea typeface="楷体" pitchFamily="49" charset="-122"/>
                  <a:cs typeface="Consolas" pitchFamily="49" charset="0"/>
                </a:rPr>
                <a:t> </a:t>
              </a:r>
              <a:r>
                <a:rPr kumimoji="0" lang="en-US" altLang="zh-CN" sz="2000" b="1" i="1" dirty="0" err="1">
                  <a:solidFill>
                    <a:srgbClr val="0000FF"/>
                  </a:solidFill>
                  <a:latin typeface="Consolas" pitchFamily="49" charset="0"/>
                  <a:ea typeface="楷体" pitchFamily="49" charset="-122"/>
                  <a:cs typeface="Consolas" pitchFamily="49" charset="0"/>
                </a:rPr>
                <a:t>i</a:t>
              </a:r>
              <a:r>
                <a:rPr kumimoji="0" lang="en-US" altLang="zh-CN" sz="2000" b="1" dirty="0">
                  <a:solidFill>
                    <a:srgbClr val="0000FF"/>
                  </a:solidFill>
                  <a:latin typeface="Consolas" pitchFamily="49" charset="0"/>
                  <a:ea typeface="楷体" pitchFamily="49" charset="-122"/>
                  <a:cs typeface="Consolas" pitchFamily="49" charset="0"/>
                </a:rPr>
                <a:t>=9999999999;</a:t>
              </a:r>
            </a:p>
            <a:p>
              <a:pPr algn="l">
                <a:lnSpc>
                  <a:spcPct val="100000"/>
                </a:lnSpc>
              </a:pPr>
              <a:r>
                <a:rPr kumimoji="0" lang="en-US" altLang="zh-CN" sz="2000" b="1" i="1" dirty="0" err="1">
                  <a:solidFill>
                    <a:srgbClr val="0000FF"/>
                  </a:solidFill>
                  <a:latin typeface="Consolas" pitchFamily="49" charset="0"/>
                  <a:ea typeface="楷体" pitchFamily="49" charset="-122"/>
                  <a:cs typeface="Consolas" pitchFamily="49" charset="0"/>
                </a:rPr>
                <a:t>i</a:t>
              </a:r>
              <a:r>
                <a:rPr kumimoji="0" lang="en-US" altLang="zh-CN" sz="2000" b="1" dirty="0">
                  <a:solidFill>
                    <a:srgbClr val="0000FF"/>
                  </a:solidFill>
                  <a:latin typeface="Consolas" pitchFamily="49" charset="0"/>
                  <a:ea typeface="楷体" pitchFamily="49" charset="-122"/>
                  <a:cs typeface="Consolas" pitchFamily="49" charset="0"/>
                </a:rPr>
                <a:t>**;</a:t>
              </a:r>
            </a:p>
          </p:txBody>
        </p:sp>
        <p:sp>
          <p:nvSpPr>
            <p:cNvPr id="10" name="TextBox 7">
              <a:extLst>
                <a:ext uri="{FF2B5EF4-FFF2-40B4-BE49-F238E27FC236}">
                  <a16:creationId xmlns:a16="http://schemas.microsoft.com/office/drawing/2014/main" id="{A0B00609-FEDA-4C67-A704-DB9F4B696DAF}"/>
                </a:ext>
              </a:extLst>
            </p:cNvPr>
            <p:cNvSpPr txBox="1"/>
            <p:nvPr/>
          </p:nvSpPr>
          <p:spPr>
            <a:xfrm>
              <a:off x="4018748" y="4210965"/>
              <a:ext cx="785818" cy="400110"/>
            </a:xfrm>
            <a:prstGeom prst="rect">
              <a:avLst/>
            </a:prstGeom>
            <a:noFill/>
          </p:spPr>
          <p:txBody>
            <a:bodyPr wrap="square" rtlCol="0">
              <a:spAutoFit/>
            </a:bodyPr>
            <a:lstStyle/>
            <a:p>
              <a:r>
                <a:rPr lang="en-US" altLang="zh-CN" sz="2000" dirty="0">
                  <a:solidFill>
                    <a:srgbClr val="FF0000"/>
                  </a:solidFill>
                  <a:latin typeface="Consolas" pitchFamily="49" charset="0"/>
                  <a:cs typeface="Consolas" pitchFamily="49" charset="0"/>
                  <a:sym typeface="Wingdings"/>
                </a:rPr>
                <a:t>X</a:t>
              </a:r>
              <a:endParaRPr lang="zh-CN" altLang="en-US" sz="2000" dirty="0">
                <a:solidFill>
                  <a:srgbClr val="FF0000"/>
                </a:solidFill>
                <a:latin typeface="Consolas" pitchFamily="49" charset="0"/>
                <a:cs typeface="Consolas" pitchFamily="49" charset="0"/>
              </a:endParaRPr>
            </a:p>
          </p:txBody>
        </p:sp>
        <p:sp>
          <p:nvSpPr>
            <p:cNvPr id="11" name="左箭头 10">
              <a:extLst>
                <a:ext uri="{FF2B5EF4-FFF2-40B4-BE49-F238E27FC236}">
                  <a16:creationId xmlns:a16="http://schemas.microsoft.com/office/drawing/2014/main" id="{DCA1258C-ECB4-4D8A-9DC1-FB58CFD24D67}"/>
                </a:ext>
              </a:extLst>
            </p:cNvPr>
            <p:cNvSpPr/>
            <p:nvPr/>
          </p:nvSpPr>
          <p:spPr>
            <a:xfrm>
              <a:off x="3000364" y="4275298"/>
              <a:ext cx="857256" cy="214314"/>
            </a:xfrm>
            <a:prstGeom prst="leftArrow">
              <a:avLst/>
            </a:prstGeom>
            <a:ln>
              <a:tailEnd type="arrow"/>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2000">
                <a:solidFill>
                  <a:srgbClr val="0000FF"/>
                </a:solidFill>
                <a:latin typeface="Consolas" pitchFamily="49" charset="0"/>
                <a:cs typeface="Consolas" pitchFamily="49" charset="0"/>
              </a:endParaRPr>
            </a:p>
          </p:txBody>
        </p:sp>
      </p:grpSp>
      <p:sp>
        <p:nvSpPr>
          <p:cNvPr id="12" name="TextBox 12">
            <a:extLst>
              <a:ext uri="{FF2B5EF4-FFF2-40B4-BE49-F238E27FC236}">
                <a16:creationId xmlns:a16="http://schemas.microsoft.com/office/drawing/2014/main" id="{CCF7AFD8-B193-4F00-B421-A3556D0B3FB6}"/>
              </a:ext>
            </a:extLst>
          </p:cNvPr>
          <p:cNvSpPr txBox="1"/>
          <p:nvPr/>
        </p:nvSpPr>
        <p:spPr>
          <a:xfrm>
            <a:off x="395536" y="612826"/>
            <a:ext cx="2928958" cy="461665"/>
          </a:xfrm>
          <a:prstGeom prst="rect">
            <a:avLst/>
          </a:prstGeom>
          <a:noFill/>
        </p:spPr>
        <p:txBody>
          <a:bodyPr wrap="square" rtlCol="0">
            <a:spAutoFit/>
          </a:bodyPr>
          <a:lstStyle/>
          <a:p>
            <a:pPr algn="l">
              <a:lnSpc>
                <a:spcPct val="100000"/>
              </a:lnSpc>
            </a:pPr>
            <a:r>
              <a:rPr lang="zh-CN" altLang="en-US" sz="2400" dirty="0">
                <a:latin typeface="Consolas" pitchFamily="49" charset="0"/>
                <a:ea typeface="楷体" pitchFamily="49" charset="-122"/>
                <a:cs typeface="Consolas" pitchFamily="49" charset="0"/>
              </a:rPr>
              <a:t>例如，</a:t>
            </a:r>
            <a:r>
              <a:rPr lang="en-US" altLang="zh-CN" sz="2400" dirty="0">
                <a:latin typeface="Consolas" pitchFamily="49" charset="0"/>
                <a:ea typeface="楷体" pitchFamily="49" charset="-122"/>
                <a:cs typeface="Consolas" pitchFamily="49" charset="0"/>
              </a:rPr>
              <a:t>int</a:t>
            </a:r>
            <a:r>
              <a:rPr lang="zh-CN" altLang="en-US" sz="2400" dirty="0">
                <a:latin typeface="Consolas" pitchFamily="49" charset="0"/>
                <a:ea typeface="楷体" pitchFamily="49" charset="-122"/>
                <a:cs typeface="Consolas" pitchFamily="49" charset="0"/>
              </a:rPr>
              <a:t>数据类型：</a:t>
            </a:r>
          </a:p>
        </p:txBody>
      </p:sp>
      <p:sp>
        <p:nvSpPr>
          <p:cNvPr id="13" name="下箭头 13">
            <a:extLst>
              <a:ext uri="{FF2B5EF4-FFF2-40B4-BE49-F238E27FC236}">
                <a16:creationId xmlns:a16="http://schemas.microsoft.com/office/drawing/2014/main" id="{1F330116-3B28-4525-86FE-A2D5402A00CD}"/>
              </a:ext>
            </a:extLst>
          </p:cNvPr>
          <p:cNvSpPr/>
          <p:nvPr/>
        </p:nvSpPr>
        <p:spPr>
          <a:xfrm>
            <a:off x="3758252" y="4480956"/>
            <a:ext cx="214314" cy="500066"/>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sz="2800"/>
          </a:p>
        </p:txBody>
      </p:sp>
      <p:sp>
        <p:nvSpPr>
          <p:cNvPr id="14" name="TextBox 15">
            <a:extLst>
              <a:ext uri="{FF2B5EF4-FFF2-40B4-BE49-F238E27FC236}">
                <a16:creationId xmlns:a16="http://schemas.microsoft.com/office/drawing/2014/main" id="{D00D36F8-2BF1-42CB-B12D-91834E9A5808}"/>
              </a:ext>
            </a:extLst>
          </p:cNvPr>
          <p:cNvSpPr txBox="1"/>
          <p:nvPr/>
        </p:nvSpPr>
        <p:spPr>
          <a:xfrm>
            <a:off x="757856" y="5126412"/>
            <a:ext cx="6929486" cy="84087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zh-CN" altLang="en-US" sz="2400" b="1" dirty="0">
                <a:solidFill>
                  <a:srgbClr val="0000FF"/>
                </a:solidFill>
                <a:ea typeface="楷体" pitchFamily="49" charset="-122"/>
                <a:cs typeface="Times New Roman" pitchFamily="18" charset="0"/>
              </a:rPr>
              <a:t>       数据类型和数据结构的关系：</a:t>
            </a:r>
            <a:r>
              <a:rPr lang="zh-CN" altLang="en-US" sz="2400" b="1" dirty="0">
                <a:solidFill>
                  <a:srgbClr val="C00000"/>
                </a:solidFill>
                <a:latin typeface="方正启体简体" pitchFamily="65" charset="-122"/>
                <a:ea typeface="方正启体简体" pitchFamily="65" charset="-122"/>
                <a:cs typeface="Times New Roman" pitchFamily="18" charset="0"/>
              </a:rPr>
              <a:t>数据类型就是已经实现了的数据结构</a:t>
            </a:r>
            <a:r>
              <a:rPr lang="zh-CN" altLang="en-US" sz="2400" b="1" dirty="0">
                <a:solidFill>
                  <a:srgbClr val="0000FF"/>
                </a:solidFill>
                <a:ea typeface="楷体" pitchFamily="49" charset="-122"/>
                <a:cs typeface="Times New Roman" pitchFamily="18" charset="0"/>
              </a:rPr>
              <a:t>。</a:t>
            </a:r>
            <a:endParaRPr lang="zh-CN" altLang="en-US" sz="2400" b="1" dirty="0"/>
          </a:p>
        </p:txBody>
      </p:sp>
    </p:spTree>
    <p:extLst>
      <p:ext uri="{BB962C8B-B14F-4D97-AF65-F5344CB8AC3E}">
        <p14:creationId xmlns:p14="http://schemas.microsoft.com/office/powerpoint/2010/main" val="14710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9E8841-EAEC-4684-9165-B2583B63E3B7}"/>
              </a:ext>
            </a:extLst>
          </p:cNvPr>
          <p:cNvSpPr>
            <a:spLocks noGrp="1"/>
          </p:cNvSpPr>
          <p:nvPr>
            <p:ph type="title"/>
          </p:nvPr>
        </p:nvSpPr>
        <p:spPr>
          <a:xfrm>
            <a:off x="456502" y="510998"/>
            <a:ext cx="7520940" cy="548640"/>
          </a:xfrm>
        </p:spPr>
        <p:txBody>
          <a:bodyPr/>
          <a:lstStyle/>
          <a:p>
            <a:r>
              <a:rPr lang="en-US" altLang="zh-CN" dirty="0">
                <a:latin typeface="楷体" panose="02010609060101010101" pitchFamily="49" charset="-122"/>
                <a:ea typeface="楷体" panose="02010609060101010101" pitchFamily="49" charset="-122"/>
                <a:cs typeface="Consolas" pitchFamily="49" charset="0"/>
              </a:rPr>
              <a:t>C/C++</a:t>
            </a:r>
            <a:r>
              <a:rPr lang="zh-CN" altLang="en-US" dirty="0">
                <a:latin typeface="楷体" panose="02010609060101010101" pitchFamily="49" charset="-122"/>
                <a:ea typeface="楷体" panose="02010609060101010101" pitchFamily="49" charset="-122"/>
                <a:cs typeface="Consolas" pitchFamily="49" charset="0"/>
              </a:rPr>
              <a:t>语言中常用的数据类型</a:t>
            </a:r>
            <a:endParaRPr lang="zh-CN" altLang="en-US" dirty="0">
              <a:latin typeface="楷体" panose="02010609060101010101" pitchFamily="49" charset="-122"/>
              <a:ea typeface="楷体" panose="02010609060101010101" pitchFamily="49" charset="-122"/>
            </a:endParaRPr>
          </a:p>
        </p:txBody>
      </p:sp>
      <p:sp>
        <p:nvSpPr>
          <p:cNvPr id="4" name="TextBox 3">
            <a:extLst>
              <a:ext uri="{FF2B5EF4-FFF2-40B4-BE49-F238E27FC236}">
                <a16:creationId xmlns:a16="http://schemas.microsoft.com/office/drawing/2014/main" id="{11E3A3BE-D79A-477A-A52A-6DECE000D221}"/>
              </a:ext>
            </a:extLst>
          </p:cNvPr>
          <p:cNvSpPr txBox="1"/>
          <p:nvPr/>
        </p:nvSpPr>
        <p:spPr>
          <a:xfrm>
            <a:off x="500034" y="1214422"/>
            <a:ext cx="4500594" cy="483960"/>
          </a:xfrm>
          <a:prstGeom prst="rect">
            <a:avLst/>
          </a:prstGeom>
        </p:spPr>
        <p:style>
          <a:lnRef idx="1">
            <a:schemeClr val="accent3"/>
          </a:lnRef>
          <a:fillRef idx="2">
            <a:schemeClr val="accent3"/>
          </a:fillRef>
          <a:effectRef idx="1">
            <a:schemeClr val="accent3"/>
          </a:effectRef>
          <a:fontRef idx="minor">
            <a:schemeClr val="dk1"/>
          </a:fontRef>
        </p:style>
        <p:txBody>
          <a:bodyPr wrap="square" tIns="72000" bIns="72000" rtlCol="0">
            <a:spAutoFit/>
          </a:bodyPr>
          <a:lstStyle/>
          <a:p>
            <a:pPr>
              <a:lnSpc>
                <a:spcPct val="100000"/>
              </a:lnSpc>
            </a:pPr>
            <a:r>
              <a:rPr lang="zh-CN" altLang="en-US" sz="2200" dirty="0">
                <a:solidFill>
                  <a:srgbClr val="FF0000"/>
                </a:solidFill>
                <a:latin typeface="Consolas" pitchFamily="49" charset="0"/>
                <a:ea typeface="微软雅黑" pitchFamily="34" charset="-122"/>
                <a:cs typeface="Consolas" pitchFamily="49" charset="0"/>
              </a:rPr>
              <a:t>（</a:t>
            </a:r>
            <a:r>
              <a:rPr lang="en-US" altLang="zh-CN" sz="2200" dirty="0">
                <a:solidFill>
                  <a:srgbClr val="FF0000"/>
                </a:solidFill>
                <a:latin typeface="Consolas" pitchFamily="49" charset="0"/>
                <a:ea typeface="微软雅黑" pitchFamily="34" charset="-122"/>
                <a:cs typeface="Consolas" pitchFamily="49" charset="0"/>
              </a:rPr>
              <a:t>1</a:t>
            </a:r>
            <a:r>
              <a:rPr lang="zh-CN" altLang="en-US" sz="2200" dirty="0">
                <a:solidFill>
                  <a:srgbClr val="FF0000"/>
                </a:solidFill>
                <a:latin typeface="Consolas" pitchFamily="49" charset="0"/>
                <a:ea typeface="微软雅黑" pitchFamily="34" charset="-122"/>
                <a:cs typeface="Consolas" pitchFamily="49" charset="0"/>
              </a:rPr>
              <a:t>）</a:t>
            </a:r>
            <a:r>
              <a:rPr lang="en-US" sz="2200" dirty="0">
                <a:solidFill>
                  <a:srgbClr val="FF0000"/>
                </a:solidFill>
                <a:latin typeface="Consolas" pitchFamily="49" charset="0"/>
                <a:ea typeface="微软雅黑" pitchFamily="34" charset="-122"/>
                <a:cs typeface="Consolas" pitchFamily="49" charset="0"/>
              </a:rPr>
              <a:t>C/C++</a:t>
            </a:r>
            <a:r>
              <a:rPr lang="zh-CN" altLang="en-US" sz="2200" dirty="0">
                <a:solidFill>
                  <a:srgbClr val="FF0000"/>
                </a:solidFill>
                <a:latin typeface="Consolas" pitchFamily="49" charset="0"/>
                <a:ea typeface="微软雅黑" pitchFamily="34" charset="-122"/>
                <a:cs typeface="Consolas" pitchFamily="49" charset="0"/>
              </a:rPr>
              <a:t>语言的基本数据类型</a:t>
            </a:r>
          </a:p>
        </p:txBody>
      </p:sp>
      <p:sp>
        <p:nvSpPr>
          <p:cNvPr id="6" name="矩形 5">
            <a:extLst>
              <a:ext uri="{FF2B5EF4-FFF2-40B4-BE49-F238E27FC236}">
                <a16:creationId xmlns:a16="http://schemas.microsoft.com/office/drawing/2014/main" id="{69018285-E505-48A8-A386-4109E19E5024}"/>
              </a:ext>
            </a:extLst>
          </p:cNvPr>
          <p:cNvSpPr/>
          <p:nvPr/>
        </p:nvSpPr>
        <p:spPr>
          <a:xfrm>
            <a:off x="467544" y="1781783"/>
            <a:ext cx="8568952" cy="1705723"/>
          </a:xfrm>
          <a:prstGeom prst="rect">
            <a:avLst/>
          </a:prstGeom>
        </p:spPr>
        <p:txBody>
          <a:bodyPr wrap="square">
            <a:spAutoFit/>
          </a:bodyPr>
          <a:lstStyle/>
          <a:p>
            <a:pPr marL="457200" indent="-457200">
              <a:lnSpc>
                <a:spcPct val="150000"/>
              </a:lnSpc>
              <a:buBlip>
                <a:blip r:embed="rId2"/>
              </a:buBlip>
            </a:pPr>
            <a:r>
              <a:rPr lang="en-US" altLang="zh-CN" dirty="0">
                <a:solidFill>
                  <a:srgbClr val="FF3399"/>
                </a:solidFill>
                <a:latin typeface="Consolas" pitchFamily="49" charset="0"/>
                <a:ea typeface="仿宋" pitchFamily="49" charset="-122"/>
                <a:cs typeface="Consolas" pitchFamily="49" charset="0"/>
              </a:rPr>
              <a:t>int</a:t>
            </a:r>
            <a:r>
              <a:rPr lang="zh-CN" altLang="en-US" dirty="0">
                <a:solidFill>
                  <a:srgbClr val="0000FF"/>
                </a:solidFill>
                <a:latin typeface="Consolas" pitchFamily="49" charset="0"/>
                <a:ea typeface="仿宋" pitchFamily="49" charset="-122"/>
                <a:cs typeface="Consolas" pitchFamily="49" charset="0"/>
              </a:rPr>
              <a:t>型：</a:t>
            </a:r>
            <a:r>
              <a:rPr lang="en-US" altLang="zh-CN" dirty="0">
                <a:solidFill>
                  <a:srgbClr val="0000FF"/>
                </a:solidFill>
                <a:latin typeface="Consolas" pitchFamily="49" charset="0"/>
                <a:ea typeface="仿宋" pitchFamily="49" charset="-122"/>
                <a:cs typeface="Consolas" pitchFamily="49" charset="0"/>
              </a:rPr>
              <a:t>3</a:t>
            </a:r>
            <a:r>
              <a:rPr lang="zh-CN" altLang="en-US" dirty="0">
                <a:solidFill>
                  <a:srgbClr val="0000FF"/>
                </a:solidFill>
                <a:latin typeface="Consolas" pitchFamily="49" charset="0"/>
                <a:ea typeface="仿宋" pitchFamily="49" charset="-122"/>
                <a:cs typeface="Consolas" pitchFamily="49" charset="0"/>
              </a:rPr>
              <a:t>个修饰符：</a:t>
            </a:r>
            <a:r>
              <a:rPr lang="en-US" altLang="zh-CN" dirty="0">
                <a:solidFill>
                  <a:srgbClr val="FF3399"/>
                </a:solidFill>
                <a:latin typeface="Consolas" pitchFamily="49" charset="0"/>
                <a:ea typeface="仿宋" pitchFamily="49" charset="-122"/>
                <a:cs typeface="Consolas" pitchFamily="49" charset="0"/>
              </a:rPr>
              <a:t>short</a:t>
            </a:r>
            <a:r>
              <a:rPr lang="zh-CN" altLang="en-US" dirty="0">
                <a:solidFill>
                  <a:srgbClr val="0000FF"/>
                </a:solidFill>
                <a:latin typeface="Consolas" pitchFamily="49" charset="0"/>
                <a:ea typeface="仿宋" pitchFamily="49" charset="-122"/>
                <a:cs typeface="Consolas" pitchFamily="49" charset="0"/>
              </a:rPr>
              <a:t>（短整）、</a:t>
            </a:r>
            <a:r>
              <a:rPr lang="en-US" altLang="zh-CN" dirty="0">
                <a:solidFill>
                  <a:srgbClr val="FF3399"/>
                </a:solidFill>
                <a:latin typeface="Consolas" pitchFamily="49" charset="0"/>
                <a:ea typeface="仿宋" pitchFamily="49" charset="-122"/>
                <a:cs typeface="Consolas" pitchFamily="49" charset="0"/>
              </a:rPr>
              <a:t>long</a:t>
            </a:r>
            <a:r>
              <a:rPr lang="zh-CN" altLang="en-US" dirty="0">
                <a:solidFill>
                  <a:srgbClr val="0000FF"/>
                </a:solidFill>
                <a:latin typeface="Consolas" pitchFamily="49" charset="0"/>
                <a:ea typeface="仿宋" pitchFamily="49" charset="-122"/>
                <a:cs typeface="Consolas" pitchFamily="49" charset="0"/>
              </a:rPr>
              <a:t>（长整）和</a:t>
            </a:r>
            <a:r>
              <a:rPr lang="en-US" altLang="zh-CN" dirty="0">
                <a:solidFill>
                  <a:srgbClr val="FF3399"/>
                </a:solidFill>
                <a:latin typeface="Consolas" pitchFamily="49" charset="0"/>
                <a:ea typeface="仿宋" pitchFamily="49" charset="-122"/>
                <a:cs typeface="Consolas" pitchFamily="49" charset="0"/>
              </a:rPr>
              <a:t>unsigned</a:t>
            </a:r>
            <a:r>
              <a:rPr lang="zh-CN" altLang="en-US" dirty="0">
                <a:solidFill>
                  <a:srgbClr val="0000FF"/>
                </a:solidFill>
                <a:latin typeface="Consolas" pitchFamily="49" charset="0"/>
                <a:ea typeface="仿宋" pitchFamily="49" charset="-122"/>
                <a:cs typeface="Consolas" pitchFamily="49" charset="0"/>
              </a:rPr>
              <a:t>（无符号整）</a:t>
            </a:r>
            <a:endParaRPr lang="en-US" altLang="zh-CN" dirty="0">
              <a:solidFill>
                <a:srgbClr val="0000FF"/>
              </a:solidFill>
              <a:latin typeface="Consolas" pitchFamily="49" charset="0"/>
              <a:ea typeface="仿宋" pitchFamily="49" charset="-122"/>
              <a:cs typeface="Consolas" pitchFamily="49" charset="0"/>
            </a:endParaRPr>
          </a:p>
          <a:p>
            <a:pPr marL="457200" indent="-457200">
              <a:lnSpc>
                <a:spcPct val="150000"/>
              </a:lnSpc>
              <a:buBlip>
                <a:blip r:embed="rId2"/>
              </a:buBlip>
            </a:pPr>
            <a:r>
              <a:rPr lang="en-US" altLang="zh-CN" dirty="0">
                <a:solidFill>
                  <a:srgbClr val="FF3399"/>
                </a:solidFill>
                <a:latin typeface="Consolas" pitchFamily="49" charset="0"/>
                <a:ea typeface="仿宋" pitchFamily="49" charset="-122"/>
                <a:cs typeface="Consolas" pitchFamily="49" charset="0"/>
              </a:rPr>
              <a:t>float</a:t>
            </a:r>
            <a:r>
              <a:rPr lang="zh-CN" altLang="en-US" dirty="0">
                <a:solidFill>
                  <a:srgbClr val="0000FF"/>
                </a:solidFill>
                <a:latin typeface="Consolas" pitchFamily="49" charset="0"/>
                <a:ea typeface="仿宋" pitchFamily="49" charset="-122"/>
                <a:cs typeface="Consolas" pitchFamily="49" charset="0"/>
              </a:rPr>
              <a:t>型</a:t>
            </a:r>
            <a:endParaRPr lang="en-US" altLang="zh-CN" dirty="0">
              <a:solidFill>
                <a:srgbClr val="0000FF"/>
              </a:solidFill>
              <a:latin typeface="Consolas" pitchFamily="49" charset="0"/>
              <a:ea typeface="仿宋" pitchFamily="49" charset="-122"/>
              <a:cs typeface="Consolas" pitchFamily="49" charset="0"/>
            </a:endParaRPr>
          </a:p>
          <a:p>
            <a:pPr marL="457200" indent="-457200">
              <a:lnSpc>
                <a:spcPct val="150000"/>
              </a:lnSpc>
              <a:buBlip>
                <a:blip r:embed="rId2"/>
              </a:buBlip>
            </a:pPr>
            <a:r>
              <a:rPr lang="en-US" altLang="zh-CN" dirty="0">
                <a:solidFill>
                  <a:srgbClr val="FF3399"/>
                </a:solidFill>
                <a:latin typeface="Consolas" pitchFamily="49" charset="0"/>
                <a:ea typeface="仿宋" pitchFamily="49" charset="-122"/>
                <a:cs typeface="Consolas" pitchFamily="49" charset="0"/>
              </a:rPr>
              <a:t>double</a:t>
            </a:r>
            <a:r>
              <a:rPr lang="zh-CN" altLang="en-US" dirty="0">
                <a:solidFill>
                  <a:srgbClr val="0000FF"/>
                </a:solidFill>
                <a:latin typeface="Consolas" pitchFamily="49" charset="0"/>
                <a:ea typeface="仿宋" pitchFamily="49" charset="-122"/>
                <a:cs typeface="Consolas" pitchFamily="49" charset="0"/>
              </a:rPr>
              <a:t>型</a:t>
            </a:r>
            <a:endParaRPr lang="en-US" altLang="zh-CN" dirty="0">
              <a:solidFill>
                <a:srgbClr val="0000FF"/>
              </a:solidFill>
              <a:latin typeface="Consolas" pitchFamily="49" charset="0"/>
              <a:ea typeface="仿宋" pitchFamily="49" charset="-122"/>
              <a:cs typeface="Consolas" pitchFamily="49" charset="0"/>
            </a:endParaRPr>
          </a:p>
          <a:p>
            <a:pPr marL="457200" indent="-457200">
              <a:lnSpc>
                <a:spcPct val="150000"/>
              </a:lnSpc>
              <a:buBlip>
                <a:blip r:embed="rId2"/>
              </a:buBlip>
            </a:pPr>
            <a:r>
              <a:rPr lang="en-US" altLang="zh-CN" dirty="0">
                <a:solidFill>
                  <a:srgbClr val="FF3399"/>
                </a:solidFill>
                <a:latin typeface="Consolas" pitchFamily="49" charset="0"/>
                <a:ea typeface="仿宋" pitchFamily="49" charset="-122"/>
                <a:cs typeface="Consolas" pitchFamily="49" charset="0"/>
              </a:rPr>
              <a:t>char</a:t>
            </a:r>
            <a:r>
              <a:rPr lang="zh-CN" altLang="en-US" dirty="0">
                <a:solidFill>
                  <a:srgbClr val="0000FF"/>
                </a:solidFill>
                <a:latin typeface="Consolas" pitchFamily="49" charset="0"/>
                <a:ea typeface="仿宋" pitchFamily="49" charset="-122"/>
                <a:cs typeface="Consolas" pitchFamily="49" charset="0"/>
              </a:rPr>
              <a:t>型</a:t>
            </a:r>
          </a:p>
        </p:txBody>
      </p:sp>
      <p:sp>
        <p:nvSpPr>
          <p:cNvPr id="7" name="TextBox 2">
            <a:extLst>
              <a:ext uri="{FF2B5EF4-FFF2-40B4-BE49-F238E27FC236}">
                <a16:creationId xmlns:a16="http://schemas.microsoft.com/office/drawing/2014/main" id="{36183417-1C4C-4AD0-8160-8B3C8936C651}"/>
              </a:ext>
            </a:extLst>
          </p:cNvPr>
          <p:cNvSpPr txBox="1"/>
          <p:nvPr/>
        </p:nvSpPr>
        <p:spPr>
          <a:xfrm>
            <a:off x="490852" y="3541383"/>
            <a:ext cx="3857652" cy="453183"/>
          </a:xfrm>
          <a:prstGeom prst="rect">
            <a:avLst/>
          </a:prstGeom>
        </p:spPr>
        <p:style>
          <a:lnRef idx="1">
            <a:schemeClr val="accent5"/>
          </a:lnRef>
          <a:fillRef idx="2">
            <a:schemeClr val="accent5"/>
          </a:fillRef>
          <a:effectRef idx="1">
            <a:schemeClr val="accent5"/>
          </a:effectRef>
          <a:fontRef idx="minor">
            <a:schemeClr val="dk1"/>
          </a:fontRef>
        </p:style>
        <p:txBody>
          <a:bodyPr wrap="square" tIns="72000" bIns="72000" rtlCol="0">
            <a:spAutoFit/>
          </a:bodyPr>
          <a:lstStyle/>
          <a:p>
            <a:pPr algn="ctr">
              <a:lnSpc>
                <a:spcPct val="100000"/>
              </a:lnSpc>
            </a:pPr>
            <a:r>
              <a:rPr lang="zh-CN" altLang="en-US" sz="2000">
                <a:solidFill>
                  <a:srgbClr val="FF0000"/>
                </a:solidFill>
                <a:latin typeface="Consolas" pitchFamily="49" charset="0"/>
                <a:ea typeface="微软雅黑" pitchFamily="34" charset="-122"/>
                <a:cs typeface="Consolas" pitchFamily="49" charset="0"/>
              </a:rPr>
              <a:t>（</a:t>
            </a:r>
            <a:r>
              <a:rPr lang="en-US" sz="2000">
                <a:solidFill>
                  <a:srgbClr val="FF0000"/>
                </a:solidFill>
                <a:latin typeface="Consolas" pitchFamily="49" charset="0"/>
                <a:ea typeface="微软雅黑" pitchFamily="34" charset="-122"/>
                <a:cs typeface="Consolas" pitchFamily="49" charset="0"/>
              </a:rPr>
              <a:t>2</a:t>
            </a:r>
            <a:r>
              <a:rPr lang="zh-CN" altLang="en-US" sz="2000">
                <a:solidFill>
                  <a:srgbClr val="FF0000"/>
                </a:solidFill>
                <a:latin typeface="Consolas" pitchFamily="49" charset="0"/>
                <a:ea typeface="微软雅黑" pitchFamily="34" charset="-122"/>
                <a:cs typeface="Consolas" pitchFamily="49" charset="0"/>
              </a:rPr>
              <a:t>）</a:t>
            </a:r>
            <a:r>
              <a:rPr lang="en-US" sz="2000">
                <a:solidFill>
                  <a:srgbClr val="FF0000"/>
                </a:solidFill>
                <a:latin typeface="Consolas" pitchFamily="49" charset="0"/>
                <a:ea typeface="微软雅黑" pitchFamily="34" charset="-122"/>
                <a:cs typeface="Consolas" pitchFamily="49" charset="0"/>
              </a:rPr>
              <a:t>C/C++</a:t>
            </a:r>
            <a:r>
              <a:rPr lang="zh-CN" altLang="en-US" sz="2000">
                <a:solidFill>
                  <a:srgbClr val="FF0000"/>
                </a:solidFill>
                <a:latin typeface="Consolas" pitchFamily="49" charset="0"/>
                <a:ea typeface="微软雅黑" pitchFamily="34" charset="-122"/>
                <a:cs typeface="Consolas" pitchFamily="49" charset="0"/>
              </a:rPr>
              <a:t>语言的指针类型</a:t>
            </a:r>
            <a:endParaRPr lang="zh-CN" altLang="en-US" sz="2000" dirty="0">
              <a:solidFill>
                <a:srgbClr val="FF0000"/>
              </a:solidFill>
              <a:latin typeface="Consolas" pitchFamily="49" charset="0"/>
              <a:ea typeface="微软雅黑" pitchFamily="34" charset="-122"/>
              <a:cs typeface="Consolas" pitchFamily="49" charset="0"/>
            </a:endParaRPr>
          </a:p>
        </p:txBody>
      </p:sp>
      <p:sp>
        <p:nvSpPr>
          <p:cNvPr id="8" name="矩形 7">
            <a:extLst>
              <a:ext uri="{FF2B5EF4-FFF2-40B4-BE49-F238E27FC236}">
                <a16:creationId xmlns:a16="http://schemas.microsoft.com/office/drawing/2014/main" id="{7C808DA4-8FE5-4269-92C3-B6C6B0315FD5}"/>
              </a:ext>
            </a:extLst>
          </p:cNvPr>
          <p:cNvSpPr/>
          <p:nvPr/>
        </p:nvSpPr>
        <p:spPr>
          <a:xfrm>
            <a:off x="499470" y="4048443"/>
            <a:ext cx="5665333" cy="459228"/>
          </a:xfrm>
          <a:prstGeom prst="rect">
            <a:avLst/>
          </a:prstGeom>
        </p:spPr>
        <p:txBody>
          <a:bodyPr wrap="none">
            <a:spAutoFit/>
          </a:bodyPr>
          <a:lstStyle/>
          <a:p>
            <a:pPr marL="457200" indent="-457200">
              <a:lnSpc>
                <a:spcPct val="150000"/>
              </a:lnSpc>
              <a:buBlip>
                <a:blip r:embed="rId2"/>
              </a:buBlip>
            </a:pPr>
            <a:r>
              <a:rPr lang="en-US" altLang="zh-CN" dirty="0">
                <a:solidFill>
                  <a:srgbClr val="0000FF"/>
                </a:solidFill>
                <a:latin typeface="Consolas" pitchFamily="49" charset="0"/>
                <a:ea typeface="楷体" pitchFamily="49" charset="-122"/>
                <a:cs typeface="Consolas" pitchFamily="49" charset="0"/>
              </a:rPr>
              <a:t>C/C++</a:t>
            </a:r>
            <a:r>
              <a:rPr lang="zh-CN" altLang="en-US" dirty="0">
                <a:solidFill>
                  <a:srgbClr val="0000FF"/>
                </a:solidFill>
                <a:latin typeface="Consolas" pitchFamily="49" charset="0"/>
                <a:ea typeface="楷体" pitchFamily="49" charset="-122"/>
                <a:cs typeface="Consolas" pitchFamily="49" charset="0"/>
              </a:rPr>
              <a:t>语言允许直接对存放变量的地址进行操作。</a:t>
            </a:r>
            <a:endParaRPr lang="zh-CN" altLang="en-US" dirty="0">
              <a:solidFill>
                <a:srgbClr val="0000FF"/>
              </a:solidFill>
              <a:latin typeface="Consolas" pitchFamily="49" charset="0"/>
              <a:ea typeface="仿宋" pitchFamily="49" charset="-122"/>
              <a:cs typeface="Consolas" pitchFamily="49" charset="0"/>
            </a:endParaRPr>
          </a:p>
        </p:txBody>
      </p:sp>
      <p:sp>
        <p:nvSpPr>
          <p:cNvPr id="9" name="TextBox 4">
            <a:extLst>
              <a:ext uri="{FF2B5EF4-FFF2-40B4-BE49-F238E27FC236}">
                <a16:creationId xmlns:a16="http://schemas.microsoft.com/office/drawing/2014/main" id="{78F79F29-534B-499B-9891-FDFBFAE2FF1C}"/>
              </a:ext>
            </a:extLst>
          </p:cNvPr>
          <p:cNvSpPr txBox="1"/>
          <p:nvPr/>
        </p:nvSpPr>
        <p:spPr>
          <a:xfrm>
            <a:off x="827584" y="4646216"/>
            <a:ext cx="2071702" cy="844783"/>
          </a:xfrm>
          <a:prstGeom prst="rect">
            <a:avLst/>
          </a:prstGeom>
          <a:noFill/>
        </p:spPr>
        <p:txBody>
          <a:bodyPr wrap="square" rtlCol="0">
            <a:spAutoFit/>
          </a:bodyPr>
          <a:lstStyle/>
          <a:p>
            <a:pPr algn="l">
              <a:lnSpc>
                <a:spcPts val="3000"/>
              </a:lnSpc>
              <a:spcBef>
                <a:spcPts val="0"/>
              </a:spcBef>
            </a:pPr>
            <a:r>
              <a:rPr lang="nb-NO" dirty="0">
                <a:solidFill>
                  <a:srgbClr val="0000FF"/>
                </a:solidFill>
                <a:latin typeface="Consolas" pitchFamily="49" charset="0"/>
                <a:cs typeface="Consolas" pitchFamily="49" charset="0"/>
              </a:rPr>
              <a:t>int i=2;</a:t>
            </a:r>
          </a:p>
          <a:p>
            <a:pPr algn="l">
              <a:lnSpc>
                <a:spcPts val="3000"/>
              </a:lnSpc>
              <a:spcBef>
                <a:spcPts val="0"/>
              </a:spcBef>
            </a:pPr>
            <a:r>
              <a:rPr lang="nb-NO" dirty="0">
                <a:solidFill>
                  <a:srgbClr val="0000FF"/>
                </a:solidFill>
                <a:latin typeface="Consolas" pitchFamily="49" charset="0"/>
                <a:cs typeface="Consolas" pitchFamily="49" charset="0"/>
              </a:rPr>
              <a:t>int *p=&amp;i;</a:t>
            </a:r>
            <a:endParaRPr lang="zh-CN" altLang="en-US" dirty="0">
              <a:solidFill>
                <a:srgbClr val="0000FF"/>
              </a:solidFill>
              <a:latin typeface="Consolas" pitchFamily="49" charset="0"/>
              <a:cs typeface="Consolas" pitchFamily="49" charset="0"/>
            </a:endParaRPr>
          </a:p>
        </p:txBody>
      </p:sp>
      <p:sp>
        <p:nvSpPr>
          <p:cNvPr id="10" name="矩形 9">
            <a:extLst>
              <a:ext uri="{FF2B5EF4-FFF2-40B4-BE49-F238E27FC236}">
                <a16:creationId xmlns:a16="http://schemas.microsoft.com/office/drawing/2014/main" id="{7081F6DB-C8F2-4586-B250-444062306416}"/>
              </a:ext>
            </a:extLst>
          </p:cNvPr>
          <p:cNvSpPr/>
          <p:nvPr/>
        </p:nvSpPr>
        <p:spPr bwMode="auto">
          <a:xfrm>
            <a:off x="7507228" y="5068609"/>
            <a:ext cx="1143008" cy="500066"/>
          </a:xfrm>
          <a:prstGeom prst="rect">
            <a:avLst/>
          </a:prstGeom>
          <a:ln>
            <a:headEnd/>
            <a:tailEnd type="triangl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zh-CN" sz="2000">
                <a:solidFill>
                  <a:srgbClr val="0000FF"/>
                </a:solidFill>
                <a:latin typeface="Consolas" pitchFamily="49" charset="0"/>
                <a:ea typeface="楷体" pitchFamily="49" charset="-122"/>
                <a:cs typeface="Consolas" pitchFamily="49" charset="0"/>
              </a:rPr>
              <a:t>2</a:t>
            </a:r>
            <a:endParaRPr lang="zh-CN" altLang="en-US" sz="2000">
              <a:solidFill>
                <a:srgbClr val="0000FF"/>
              </a:solidFill>
              <a:latin typeface="Consolas" pitchFamily="49" charset="0"/>
              <a:ea typeface="楷体" pitchFamily="49" charset="-122"/>
              <a:cs typeface="Consolas" pitchFamily="49" charset="0"/>
            </a:endParaRPr>
          </a:p>
        </p:txBody>
      </p:sp>
      <p:sp>
        <p:nvSpPr>
          <p:cNvPr id="11" name="TextBox 6">
            <a:extLst>
              <a:ext uri="{FF2B5EF4-FFF2-40B4-BE49-F238E27FC236}">
                <a16:creationId xmlns:a16="http://schemas.microsoft.com/office/drawing/2014/main" id="{FF6A7C94-BF36-4CB6-AD51-C1E30F26BF6E}"/>
              </a:ext>
            </a:extLst>
          </p:cNvPr>
          <p:cNvSpPr txBox="1"/>
          <p:nvPr/>
        </p:nvSpPr>
        <p:spPr>
          <a:xfrm>
            <a:off x="7786041" y="4620794"/>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i</a:t>
            </a:r>
            <a:endParaRPr lang="zh-CN" altLang="en-US" sz="2000" i="1">
              <a:solidFill>
                <a:srgbClr val="0000FF"/>
              </a:solidFill>
              <a:latin typeface="Consolas" pitchFamily="49" charset="0"/>
              <a:cs typeface="Consolas" pitchFamily="49" charset="0"/>
            </a:endParaRPr>
          </a:p>
        </p:txBody>
      </p:sp>
      <p:grpSp>
        <p:nvGrpSpPr>
          <p:cNvPr id="12" name="组合 7">
            <a:extLst>
              <a:ext uri="{FF2B5EF4-FFF2-40B4-BE49-F238E27FC236}">
                <a16:creationId xmlns:a16="http://schemas.microsoft.com/office/drawing/2014/main" id="{135C8B5C-0317-414A-938B-9CAB2184D2DE}"/>
              </a:ext>
            </a:extLst>
          </p:cNvPr>
          <p:cNvGrpSpPr/>
          <p:nvPr/>
        </p:nvGrpSpPr>
        <p:grpSpPr>
          <a:xfrm>
            <a:off x="4006766" y="4763670"/>
            <a:ext cx="1571636" cy="805005"/>
            <a:chOff x="1928794" y="3909879"/>
            <a:chExt cx="1571636" cy="805005"/>
          </a:xfrm>
        </p:grpSpPr>
        <p:sp>
          <p:nvSpPr>
            <p:cNvPr id="13" name="矩形 12">
              <a:extLst>
                <a:ext uri="{FF2B5EF4-FFF2-40B4-BE49-F238E27FC236}">
                  <a16:creationId xmlns:a16="http://schemas.microsoft.com/office/drawing/2014/main" id="{4F48C3A1-E7C4-4263-B218-C69E6B5BD6AC}"/>
                </a:ext>
              </a:extLst>
            </p:cNvPr>
            <p:cNvSpPr/>
            <p:nvPr/>
          </p:nvSpPr>
          <p:spPr bwMode="auto">
            <a:xfrm>
              <a:off x="2357422" y="4214818"/>
              <a:ext cx="1143008" cy="500066"/>
            </a:xfrm>
            <a:prstGeom prst="rect">
              <a:avLst/>
            </a:prstGeom>
            <a:ln>
              <a:headEnd/>
              <a:tailEnd type="triangle" w="med" len="med"/>
            </a:ln>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zh-CN" altLang="en-US">
                <a:latin typeface="楷体" pitchFamily="49" charset="-122"/>
                <a:ea typeface="楷体" pitchFamily="49" charset="-122"/>
              </a:endParaRPr>
            </a:p>
          </p:txBody>
        </p:sp>
        <p:sp>
          <p:nvSpPr>
            <p:cNvPr id="14" name="TextBox 9">
              <a:extLst>
                <a:ext uri="{FF2B5EF4-FFF2-40B4-BE49-F238E27FC236}">
                  <a16:creationId xmlns:a16="http://schemas.microsoft.com/office/drawing/2014/main" id="{1A452CCD-F28F-48FB-B494-98335242FDA1}"/>
                </a:ext>
              </a:extLst>
            </p:cNvPr>
            <p:cNvSpPr txBox="1"/>
            <p:nvPr/>
          </p:nvSpPr>
          <p:spPr>
            <a:xfrm>
              <a:off x="1928794" y="3909879"/>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p</a:t>
              </a:r>
              <a:endParaRPr lang="zh-CN" altLang="en-US" sz="2000" i="1">
                <a:solidFill>
                  <a:srgbClr val="0000FF"/>
                </a:solidFill>
                <a:latin typeface="Consolas" pitchFamily="49" charset="0"/>
                <a:cs typeface="Consolas" pitchFamily="49" charset="0"/>
              </a:endParaRPr>
            </a:p>
          </p:txBody>
        </p:sp>
      </p:grpSp>
      <p:grpSp>
        <p:nvGrpSpPr>
          <p:cNvPr id="15" name="组合 10">
            <a:extLst>
              <a:ext uri="{FF2B5EF4-FFF2-40B4-BE49-F238E27FC236}">
                <a16:creationId xmlns:a16="http://schemas.microsoft.com/office/drawing/2014/main" id="{01982662-EBAB-463A-820C-7FC432E83D6B}"/>
              </a:ext>
            </a:extLst>
          </p:cNvPr>
          <p:cNvGrpSpPr/>
          <p:nvPr/>
        </p:nvGrpSpPr>
        <p:grpSpPr>
          <a:xfrm>
            <a:off x="6390346" y="5120860"/>
            <a:ext cx="1785950" cy="1143559"/>
            <a:chOff x="4312374" y="4267069"/>
            <a:chExt cx="1785950" cy="1143559"/>
          </a:xfrm>
        </p:grpSpPr>
        <p:sp>
          <p:nvSpPr>
            <p:cNvPr id="16" name="TextBox 11">
              <a:extLst>
                <a:ext uri="{FF2B5EF4-FFF2-40B4-BE49-F238E27FC236}">
                  <a16:creationId xmlns:a16="http://schemas.microsoft.com/office/drawing/2014/main" id="{7310BF14-EC0B-4439-984E-3ABC3B02E3A7}"/>
                </a:ext>
              </a:extLst>
            </p:cNvPr>
            <p:cNvSpPr txBox="1"/>
            <p:nvPr/>
          </p:nvSpPr>
          <p:spPr>
            <a:xfrm>
              <a:off x="4922251" y="4267069"/>
              <a:ext cx="571504"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&amp;i</a:t>
              </a:r>
              <a:endParaRPr lang="zh-CN" altLang="en-US" sz="2000" i="1">
                <a:solidFill>
                  <a:srgbClr val="0000FF"/>
                </a:solidFill>
                <a:latin typeface="Consolas" pitchFamily="49" charset="0"/>
                <a:cs typeface="Consolas" pitchFamily="49" charset="0"/>
              </a:endParaRPr>
            </a:p>
          </p:txBody>
        </p:sp>
        <p:sp>
          <p:nvSpPr>
            <p:cNvPr id="17" name="TextBox 12">
              <a:extLst>
                <a:ext uri="{FF2B5EF4-FFF2-40B4-BE49-F238E27FC236}">
                  <a16:creationId xmlns:a16="http://schemas.microsoft.com/office/drawing/2014/main" id="{B60DE907-D5BB-4392-A3D0-D81BBEAB4685}"/>
                </a:ext>
              </a:extLst>
            </p:cNvPr>
            <p:cNvSpPr txBox="1"/>
            <p:nvPr/>
          </p:nvSpPr>
          <p:spPr>
            <a:xfrm>
              <a:off x="4312374" y="5072074"/>
              <a:ext cx="1785950" cy="338554"/>
            </a:xfrm>
            <a:prstGeom prst="rect">
              <a:avLst/>
            </a:prstGeom>
            <a:noFill/>
          </p:spPr>
          <p:txBody>
            <a:bodyPr wrap="square" rtlCol="0">
              <a:spAutoFit/>
            </a:bodyPr>
            <a:lstStyle/>
            <a:p>
              <a:r>
                <a:rPr lang="en-US" altLang="zh-CN" sz="2000" i="1" dirty="0" err="1">
                  <a:solidFill>
                    <a:srgbClr val="0000FF"/>
                  </a:solidFill>
                  <a:latin typeface="Consolas" pitchFamily="49" charset="0"/>
                  <a:ea typeface="仿宋" pitchFamily="49" charset="-122"/>
                  <a:cs typeface="Consolas" pitchFamily="49" charset="0"/>
                </a:rPr>
                <a:t>i</a:t>
              </a:r>
              <a:r>
                <a:rPr lang="zh-CN" altLang="en-US" sz="2000" dirty="0">
                  <a:solidFill>
                    <a:srgbClr val="0000FF"/>
                  </a:solidFill>
                  <a:latin typeface="Consolas" pitchFamily="49" charset="0"/>
                  <a:ea typeface="仿宋" pitchFamily="49" charset="-122"/>
                  <a:cs typeface="Consolas" pitchFamily="49" charset="0"/>
                </a:rPr>
                <a:t>的存储地址</a:t>
              </a:r>
            </a:p>
          </p:txBody>
        </p:sp>
        <p:cxnSp>
          <p:nvCxnSpPr>
            <p:cNvPr id="18" name="直接箭头连接符 17">
              <a:extLst>
                <a:ext uri="{FF2B5EF4-FFF2-40B4-BE49-F238E27FC236}">
                  <a16:creationId xmlns:a16="http://schemas.microsoft.com/office/drawing/2014/main" id="{55A16377-0F24-4626-BE48-BCCF6ADE5416}"/>
                </a:ext>
              </a:extLst>
            </p:cNvPr>
            <p:cNvCxnSpPr>
              <a:stCxn id="17" idx="0"/>
              <a:endCxn id="16" idx="2"/>
            </p:cNvCxnSpPr>
            <p:nvPr/>
          </p:nvCxnSpPr>
          <p:spPr>
            <a:xfrm flipV="1">
              <a:off x="5205349" y="4667179"/>
              <a:ext cx="2654" cy="404895"/>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grpSp>
      <p:sp>
        <p:nvSpPr>
          <p:cNvPr id="19" name="下弧形箭头 14">
            <a:extLst>
              <a:ext uri="{FF2B5EF4-FFF2-40B4-BE49-F238E27FC236}">
                <a16:creationId xmlns:a16="http://schemas.microsoft.com/office/drawing/2014/main" id="{9A678DBD-87DC-40BB-88D4-48573CC92B11}"/>
              </a:ext>
            </a:extLst>
          </p:cNvPr>
          <p:cNvSpPr/>
          <p:nvPr/>
        </p:nvSpPr>
        <p:spPr bwMode="auto">
          <a:xfrm rot="10800000">
            <a:off x="5364088" y="4639980"/>
            <a:ext cx="1857388" cy="428628"/>
          </a:xfrm>
          <a:prstGeom prst="curvedUpArrow">
            <a:avLst/>
          </a:prstGeom>
          <a:ln>
            <a:headEnd/>
            <a:tailEnd type="none" w="med" len="med"/>
          </a:ln>
        </p:spPr>
        <p:style>
          <a:lnRef idx="1">
            <a:schemeClr val="accent5"/>
          </a:lnRef>
          <a:fillRef idx="3">
            <a:schemeClr val="accent5"/>
          </a:fillRef>
          <a:effectRef idx="2">
            <a:schemeClr val="accent5"/>
          </a:effectRef>
          <a:fontRef idx="minor">
            <a:schemeClr val="lt1"/>
          </a:fontRef>
        </p:style>
        <p:txBody>
          <a:bodyPr wrap="none" rtlCol="0" anchor="ctr"/>
          <a:lstStyle/>
          <a:p>
            <a:pPr algn="ctr"/>
            <a:endParaRPr lang="zh-CN" altLang="en-US">
              <a:latin typeface="楷体" pitchFamily="49" charset="-122"/>
              <a:ea typeface="楷体" pitchFamily="49" charset="-122"/>
            </a:endParaRPr>
          </a:p>
        </p:txBody>
      </p:sp>
      <p:cxnSp>
        <p:nvCxnSpPr>
          <p:cNvPr id="20" name="直接箭头连接符 19">
            <a:extLst>
              <a:ext uri="{FF2B5EF4-FFF2-40B4-BE49-F238E27FC236}">
                <a16:creationId xmlns:a16="http://schemas.microsoft.com/office/drawing/2014/main" id="{46A8E929-6573-4E27-8619-2CD4826F29D8}"/>
              </a:ext>
            </a:extLst>
          </p:cNvPr>
          <p:cNvCxnSpPr/>
          <p:nvPr/>
        </p:nvCxnSpPr>
        <p:spPr>
          <a:xfrm>
            <a:off x="5104462" y="5315172"/>
            <a:ext cx="2357454" cy="1588"/>
          </a:xfrm>
          <a:prstGeom prst="straightConnector1">
            <a:avLst/>
          </a:prstGeom>
          <a:ln w="38100">
            <a:tailEnd type="arrow"/>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614446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par>
                          <p:cTn id="19" fill="hold">
                            <p:stCondLst>
                              <p:cond delay="0"/>
                            </p:stCondLst>
                            <p:childTnLst>
                              <p:par>
                                <p:cTn id="20" presetID="18" presetClass="entr" presetSubtype="12" fill="hold" grpId="0"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strips(downLeft)">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nodeType="clickEffect">
                                  <p:stCondLst>
                                    <p:cond delay="0"/>
                                  </p:stCondLst>
                                  <p:childTnLst>
                                    <p:animEffect transition="out" filter="wipe(down)">
                                      <p:cBhvr>
                                        <p:cTn id="26" dur="500"/>
                                        <p:tgtEl>
                                          <p:spTgt spid="15"/>
                                        </p:tgtEl>
                                      </p:cBhvr>
                                    </p:animEffect>
                                    <p:set>
                                      <p:cBhvr>
                                        <p:cTn id="27" dur="1" fill="hold">
                                          <p:stCondLst>
                                            <p:cond delay="499"/>
                                          </p:stCondLst>
                                        </p:cTn>
                                        <p:tgtEl>
                                          <p:spTgt spid="15"/>
                                        </p:tgtEl>
                                        <p:attrNameLst>
                                          <p:attrName>style.visibility</p:attrName>
                                        </p:attrNameLst>
                                      </p:cBhvr>
                                      <p:to>
                                        <p:strVal val="hidden"/>
                                      </p:to>
                                    </p:set>
                                  </p:childTnLst>
                                </p:cTn>
                              </p:par>
                            </p:childTnLst>
                          </p:cTn>
                        </p:par>
                        <p:par>
                          <p:cTn id="28" fill="hold">
                            <p:stCondLst>
                              <p:cond delay="500"/>
                            </p:stCondLst>
                            <p:childTnLst>
                              <p:par>
                                <p:cTn id="29" presetID="18" presetClass="entr" presetSubtype="3"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strips(upRight)">
                                      <p:cBhvr>
                                        <p:cTn id="31" dur="500"/>
                                        <p:tgtEl>
                                          <p:spTgt spid="20"/>
                                        </p:tgtEl>
                                      </p:cBhvr>
                                    </p:animEffect>
                                  </p:childTnLst>
                                </p:cTn>
                              </p:par>
                            </p:childTnLst>
                          </p:cTn>
                        </p:par>
                        <p:par>
                          <p:cTn id="32" fill="hold">
                            <p:stCondLst>
                              <p:cond delay="1000"/>
                            </p:stCondLst>
                            <p:childTnLst>
                              <p:par>
                                <p:cTn id="33" presetID="22" presetClass="exit" presetSubtype="4" fill="hold" grpId="1" nodeType="afterEffect">
                                  <p:stCondLst>
                                    <p:cond delay="0"/>
                                  </p:stCondLst>
                                  <p:childTnLst>
                                    <p:animEffect transition="out" filter="wipe(down)">
                                      <p:cBhvr>
                                        <p:cTn id="34" dur="500"/>
                                        <p:tgtEl>
                                          <p:spTgt spid="19"/>
                                        </p:tgtEl>
                                      </p:cBhvr>
                                    </p:animEffect>
                                    <p:set>
                                      <p:cBhvr>
                                        <p:cTn id="35"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9" grpId="0" animBg="1"/>
      <p:bldP spid="19"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9E8841-EAEC-4684-9165-B2583B63E3B7}"/>
              </a:ext>
            </a:extLst>
          </p:cNvPr>
          <p:cNvSpPr>
            <a:spLocks noGrp="1"/>
          </p:cNvSpPr>
          <p:nvPr>
            <p:ph type="title"/>
          </p:nvPr>
        </p:nvSpPr>
        <p:spPr>
          <a:xfrm>
            <a:off x="456502" y="510998"/>
            <a:ext cx="7520940" cy="548640"/>
          </a:xfrm>
        </p:spPr>
        <p:txBody>
          <a:bodyPr/>
          <a:lstStyle/>
          <a:p>
            <a:r>
              <a:rPr lang="en-US" altLang="zh-CN" dirty="0">
                <a:latin typeface="楷体" panose="02010609060101010101" pitchFamily="49" charset="-122"/>
                <a:ea typeface="楷体" panose="02010609060101010101" pitchFamily="49" charset="-122"/>
                <a:cs typeface="Consolas" pitchFamily="49" charset="0"/>
              </a:rPr>
              <a:t>C/C++</a:t>
            </a:r>
            <a:r>
              <a:rPr lang="zh-CN" altLang="en-US" dirty="0">
                <a:latin typeface="楷体" panose="02010609060101010101" pitchFamily="49" charset="-122"/>
                <a:ea typeface="楷体" panose="02010609060101010101" pitchFamily="49" charset="-122"/>
                <a:cs typeface="Consolas" pitchFamily="49" charset="0"/>
              </a:rPr>
              <a:t>语言中常用的数据类型</a:t>
            </a:r>
            <a:endParaRPr lang="zh-CN" altLang="en-US" dirty="0">
              <a:latin typeface="楷体" panose="02010609060101010101" pitchFamily="49" charset="-122"/>
              <a:ea typeface="楷体" panose="02010609060101010101" pitchFamily="49" charset="-122"/>
            </a:endParaRPr>
          </a:p>
        </p:txBody>
      </p:sp>
      <p:sp>
        <p:nvSpPr>
          <p:cNvPr id="21" name="TextBox 2">
            <a:extLst>
              <a:ext uri="{FF2B5EF4-FFF2-40B4-BE49-F238E27FC236}">
                <a16:creationId xmlns:a16="http://schemas.microsoft.com/office/drawing/2014/main" id="{0333854D-2E75-46B6-AC84-96FE3359E802}"/>
              </a:ext>
            </a:extLst>
          </p:cNvPr>
          <p:cNvSpPr txBox="1"/>
          <p:nvPr/>
        </p:nvSpPr>
        <p:spPr>
          <a:xfrm>
            <a:off x="416759" y="1170199"/>
            <a:ext cx="3714776" cy="453183"/>
          </a:xfrm>
          <a:prstGeom prst="rect">
            <a:avLst/>
          </a:prstGeom>
        </p:spPr>
        <p:style>
          <a:lnRef idx="1">
            <a:schemeClr val="accent5"/>
          </a:lnRef>
          <a:fillRef idx="2">
            <a:schemeClr val="accent5"/>
          </a:fillRef>
          <a:effectRef idx="1">
            <a:schemeClr val="accent5"/>
          </a:effectRef>
          <a:fontRef idx="minor">
            <a:schemeClr val="dk1"/>
          </a:fontRef>
        </p:style>
        <p:txBody>
          <a:bodyPr wrap="square" tIns="72000" bIns="72000" rtlCol="0">
            <a:spAutoFit/>
          </a:bodyPr>
          <a:lstStyle/>
          <a:p>
            <a:pPr>
              <a:lnSpc>
                <a:spcPct val="100000"/>
              </a:lnSpc>
            </a:pPr>
            <a:r>
              <a:rPr lang="zh-CN" altLang="en-US" sz="2000" dirty="0">
                <a:solidFill>
                  <a:srgbClr val="FF0000"/>
                </a:solidFill>
                <a:latin typeface="Consolas" pitchFamily="49" charset="0"/>
                <a:ea typeface="微软雅黑" pitchFamily="34" charset="-122"/>
                <a:cs typeface="Consolas" pitchFamily="49" charset="0"/>
              </a:rPr>
              <a:t>（</a:t>
            </a:r>
            <a:r>
              <a:rPr lang="en-US" sz="2000" dirty="0">
                <a:solidFill>
                  <a:srgbClr val="FF0000"/>
                </a:solidFill>
                <a:latin typeface="Consolas" pitchFamily="49" charset="0"/>
                <a:ea typeface="微软雅黑" pitchFamily="34" charset="-122"/>
                <a:cs typeface="Consolas" pitchFamily="49" charset="0"/>
              </a:rPr>
              <a:t>3</a:t>
            </a:r>
            <a:r>
              <a:rPr lang="zh-CN" altLang="en-US" sz="2000" dirty="0">
                <a:solidFill>
                  <a:srgbClr val="FF0000"/>
                </a:solidFill>
                <a:latin typeface="Consolas" pitchFamily="49" charset="0"/>
                <a:ea typeface="微软雅黑" pitchFamily="34" charset="-122"/>
                <a:cs typeface="Consolas" pitchFamily="49" charset="0"/>
              </a:rPr>
              <a:t>）</a:t>
            </a:r>
            <a:r>
              <a:rPr lang="en-US" sz="2000" dirty="0">
                <a:solidFill>
                  <a:srgbClr val="FF0000"/>
                </a:solidFill>
                <a:latin typeface="Consolas" pitchFamily="49" charset="0"/>
                <a:ea typeface="微软雅黑" pitchFamily="34" charset="-122"/>
                <a:cs typeface="Consolas" pitchFamily="49" charset="0"/>
              </a:rPr>
              <a:t>C/C++</a:t>
            </a:r>
            <a:r>
              <a:rPr lang="zh-CN" altLang="en-US" sz="2000" dirty="0">
                <a:solidFill>
                  <a:srgbClr val="FF0000"/>
                </a:solidFill>
                <a:latin typeface="Consolas" pitchFamily="49" charset="0"/>
                <a:ea typeface="微软雅黑" pitchFamily="34" charset="-122"/>
                <a:cs typeface="Consolas" pitchFamily="49" charset="0"/>
              </a:rPr>
              <a:t>语言的数组类型</a:t>
            </a:r>
          </a:p>
        </p:txBody>
      </p:sp>
      <p:sp>
        <p:nvSpPr>
          <p:cNvPr id="23" name="TextBox 2">
            <a:extLst>
              <a:ext uri="{FF2B5EF4-FFF2-40B4-BE49-F238E27FC236}">
                <a16:creationId xmlns:a16="http://schemas.microsoft.com/office/drawing/2014/main" id="{066DCFED-CC97-4BB6-9916-73905C33290C}"/>
              </a:ext>
            </a:extLst>
          </p:cNvPr>
          <p:cNvSpPr txBox="1"/>
          <p:nvPr/>
        </p:nvSpPr>
        <p:spPr>
          <a:xfrm>
            <a:off x="397829" y="3323888"/>
            <a:ext cx="4429156" cy="453183"/>
          </a:xfrm>
          <a:prstGeom prst="rect">
            <a:avLst/>
          </a:prstGeom>
        </p:spPr>
        <p:style>
          <a:lnRef idx="1">
            <a:schemeClr val="accent5"/>
          </a:lnRef>
          <a:fillRef idx="2">
            <a:schemeClr val="accent5"/>
          </a:fillRef>
          <a:effectRef idx="1">
            <a:schemeClr val="accent5"/>
          </a:effectRef>
          <a:fontRef idx="minor">
            <a:schemeClr val="dk1"/>
          </a:fontRef>
        </p:style>
        <p:txBody>
          <a:bodyPr wrap="square" tIns="72000" bIns="72000" rtlCol="0">
            <a:spAutoFit/>
          </a:bodyPr>
          <a:lstStyle/>
          <a:p>
            <a:pPr algn="ctr">
              <a:lnSpc>
                <a:spcPct val="100000"/>
              </a:lnSpc>
            </a:pPr>
            <a:r>
              <a:rPr lang="zh-CN" altLang="en-US" sz="2000" dirty="0">
                <a:solidFill>
                  <a:srgbClr val="FF0000"/>
                </a:solidFill>
                <a:latin typeface="Consolas" pitchFamily="49" charset="0"/>
                <a:ea typeface="微软雅黑" pitchFamily="34" charset="-122"/>
                <a:cs typeface="Consolas" pitchFamily="49" charset="0"/>
              </a:rPr>
              <a:t>（</a:t>
            </a:r>
            <a:r>
              <a:rPr lang="en-US" sz="2000" dirty="0">
                <a:solidFill>
                  <a:srgbClr val="FF0000"/>
                </a:solidFill>
                <a:latin typeface="Consolas" pitchFamily="49" charset="0"/>
                <a:ea typeface="微软雅黑" pitchFamily="34" charset="-122"/>
                <a:cs typeface="Consolas" pitchFamily="49" charset="0"/>
              </a:rPr>
              <a:t>4</a:t>
            </a:r>
            <a:r>
              <a:rPr lang="zh-CN" altLang="en-US" sz="2000" dirty="0">
                <a:solidFill>
                  <a:srgbClr val="FF0000"/>
                </a:solidFill>
                <a:latin typeface="Consolas" pitchFamily="49" charset="0"/>
                <a:ea typeface="微软雅黑" pitchFamily="34" charset="-122"/>
                <a:cs typeface="Consolas" pitchFamily="49" charset="0"/>
              </a:rPr>
              <a:t>）</a:t>
            </a:r>
            <a:r>
              <a:rPr lang="en-US" sz="2000" dirty="0">
                <a:solidFill>
                  <a:srgbClr val="FF0000"/>
                </a:solidFill>
                <a:latin typeface="Consolas" pitchFamily="49" charset="0"/>
                <a:ea typeface="微软雅黑" pitchFamily="34" charset="-122"/>
                <a:cs typeface="Consolas" pitchFamily="49" charset="0"/>
              </a:rPr>
              <a:t>C/C++</a:t>
            </a:r>
            <a:r>
              <a:rPr lang="zh-CN" altLang="en-US" sz="2000" dirty="0">
                <a:solidFill>
                  <a:srgbClr val="FF0000"/>
                </a:solidFill>
                <a:latin typeface="Consolas" pitchFamily="49" charset="0"/>
                <a:ea typeface="微软雅黑" pitchFamily="34" charset="-122"/>
                <a:cs typeface="Consolas" pitchFamily="49" charset="0"/>
              </a:rPr>
              <a:t>语言中的结构体类型</a:t>
            </a:r>
          </a:p>
        </p:txBody>
      </p:sp>
      <p:sp>
        <p:nvSpPr>
          <p:cNvPr id="25" name="TextBox 4">
            <a:extLst>
              <a:ext uri="{FF2B5EF4-FFF2-40B4-BE49-F238E27FC236}">
                <a16:creationId xmlns:a16="http://schemas.microsoft.com/office/drawing/2014/main" id="{15E9BBFB-B1A0-4CCD-937B-9FC600DD3F44}"/>
              </a:ext>
            </a:extLst>
          </p:cNvPr>
          <p:cNvSpPr txBox="1"/>
          <p:nvPr/>
        </p:nvSpPr>
        <p:spPr>
          <a:xfrm>
            <a:off x="5322028" y="3696038"/>
            <a:ext cx="3570452" cy="2549123"/>
          </a:xfrm>
          <a:prstGeom prst="rect">
            <a:avLst/>
          </a:prstGeom>
          <a:solidFill>
            <a:schemeClr val="accent4">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wrap="square" lIns="180000" tIns="144000" bIns="144000" rtlCol="0">
            <a:spAutoFit/>
          </a:bodyPr>
          <a:lstStyle/>
          <a:p>
            <a:pPr algn="l">
              <a:lnSpc>
                <a:spcPts val="3000"/>
              </a:lnSpc>
              <a:spcBef>
                <a:spcPts val="0"/>
              </a:spcBef>
            </a:pPr>
            <a:r>
              <a:rPr lang="en-US" sz="1400" dirty="0">
                <a:solidFill>
                  <a:srgbClr val="0000FF"/>
                </a:solidFill>
                <a:latin typeface="Consolas" pitchFamily="49" charset="0"/>
                <a:ea typeface="仿宋" pitchFamily="49" charset="-122"/>
                <a:cs typeface="Consolas" pitchFamily="49" charset="0"/>
              </a:rPr>
              <a:t>struct </a:t>
            </a:r>
            <a:r>
              <a:rPr lang="en-US" altLang="zh-CN" sz="1400" dirty="0">
                <a:solidFill>
                  <a:srgbClr val="FF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student</a:t>
            </a:r>
            <a:r>
              <a:rPr lang="en-US" sz="1400" dirty="0">
                <a:solidFill>
                  <a:srgbClr val="FF0000"/>
                </a:solidFill>
                <a:effectLst>
                  <a:outerShdw blurRad="38100" dist="38100" dir="2700000" algn="tl">
                    <a:srgbClr val="000000">
                      <a:alpha val="43137"/>
                    </a:srgbClr>
                  </a:outerShdw>
                </a:effectLst>
                <a:latin typeface="Consolas" pitchFamily="49" charset="0"/>
                <a:ea typeface="仿宋" pitchFamily="49" charset="-122"/>
                <a:cs typeface="Consolas" pitchFamily="49" charset="0"/>
              </a:rPr>
              <a:t>  </a:t>
            </a:r>
            <a:r>
              <a:rPr lang="en-US" sz="1400" dirty="0">
                <a:solidFill>
                  <a:srgbClr val="C00000"/>
                </a:solidFill>
                <a:latin typeface="Consolas" pitchFamily="49" charset="0"/>
                <a:ea typeface="仿宋" pitchFamily="49" charset="-122"/>
                <a:cs typeface="Consolas" pitchFamily="49" charset="0"/>
              </a:rPr>
              <a:t>//</a:t>
            </a:r>
            <a:r>
              <a:rPr lang="zh-CN" altLang="en-US" sz="1400" dirty="0">
                <a:solidFill>
                  <a:srgbClr val="C00000"/>
                </a:solidFill>
                <a:latin typeface="Consolas" pitchFamily="49" charset="0"/>
                <a:ea typeface="仿宋" pitchFamily="49" charset="-122"/>
                <a:cs typeface="Consolas" pitchFamily="49" charset="0"/>
              </a:rPr>
              <a:t>结构体类型</a:t>
            </a:r>
          </a:p>
          <a:p>
            <a:pPr algn="l">
              <a:lnSpc>
                <a:spcPts val="3000"/>
              </a:lnSpc>
              <a:spcBef>
                <a:spcPts val="0"/>
              </a:spcBef>
            </a:pPr>
            <a:r>
              <a:rPr lang="en-US" sz="1400" dirty="0">
                <a:solidFill>
                  <a:srgbClr val="0000FF"/>
                </a:solidFill>
                <a:latin typeface="Consolas" pitchFamily="49" charset="0"/>
                <a:ea typeface="仿宋" pitchFamily="49" charset="-122"/>
                <a:cs typeface="Consolas" pitchFamily="49" charset="0"/>
              </a:rPr>
              <a:t>{</a:t>
            </a:r>
          </a:p>
          <a:p>
            <a:pPr algn="l">
              <a:lnSpc>
                <a:spcPts val="3000"/>
              </a:lnSpc>
              <a:spcBef>
                <a:spcPts val="0"/>
              </a:spcBef>
            </a:pPr>
            <a:r>
              <a:rPr lang="en-US" sz="1400" dirty="0">
                <a:solidFill>
                  <a:srgbClr val="0000FF"/>
                </a:solidFill>
                <a:latin typeface="Consolas" pitchFamily="49" charset="0"/>
                <a:ea typeface="仿宋" pitchFamily="49" charset="-122"/>
                <a:cs typeface="Consolas" pitchFamily="49" charset="0"/>
              </a:rPr>
              <a:t>   int no  	</a:t>
            </a:r>
            <a:r>
              <a:rPr lang="en-US" sz="1400" dirty="0">
                <a:solidFill>
                  <a:srgbClr val="00B050"/>
                </a:solidFill>
                <a:latin typeface="Consolas" pitchFamily="49" charset="0"/>
                <a:ea typeface="仿宋" pitchFamily="49" charset="-122"/>
                <a:cs typeface="Consolas" pitchFamily="49" charset="0"/>
              </a:rPr>
              <a:t>//</a:t>
            </a:r>
            <a:r>
              <a:rPr lang="zh-CN" altLang="en-US" sz="1400" dirty="0">
                <a:solidFill>
                  <a:srgbClr val="00B050"/>
                </a:solidFill>
                <a:latin typeface="Consolas" pitchFamily="49" charset="0"/>
                <a:ea typeface="仿宋" pitchFamily="49" charset="-122"/>
                <a:cs typeface="Consolas" pitchFamily="49" charset="0"/>
              </a:rPr>
              <a:t>学生学号</a:t>
            </a:r>
          </a:p>
          <a:p>
            <a:pPr algn="l">
              <a:lnSpc>
                <a:spcPts val="3000"/>
              </a:lnSpc>
              <a:spcBef>
                <a:spcPts val="0"/>
              </a:spcBef>
            </a:pPr>
            <a:r>
              <a:rPr lang="en-US" sz="1400" dirty="0">
                <a:solidFill>
                  <a:srgbClr val="0000FF"/>
                </a:solidFill>
                <a:latin typeface="Consolas" pitchFamily="49" charset="0"/>
                <a:ea typeface="仿宋" pitchFamily="49" charset="-122"/>
                <a:cs typeface="Consolas" pitchFamily="49" charset="0"/>
              </a:rPr>
              <a:t>   char name[8];  </a:t>
            </a:r>
            <a:r>
              <a:rPr lang="en-US" sz="1400" dirty="0">
                <a:solidFill>
                  <a:srgbClr val="00B050"/>
                </a:solidFill>
                <a:latin typeface="Consolas" pitchFamily="49" charset="0"/>
                <a:ea typeface="仿宋" pitchFamily="49" charset="-122"/>
                <a:cs typeface="Consolas" pitchFamily="49" charset="0"/>
              </a:rPr>
              <a:t>//</a:t>
            </a:r>
            <a:r>
              <a:rPr lang="zh-CN" altLang="en-US" sz="1400" dirty="0">
                <a:solidFill>
                  <a:srgbClr val="00B050"/>
                </a:solidFill>
                <a:latin typeface="Consolas" pitchFamily="49" charset="0"/>
                <a:ea typeface="仿宋" pitchFamily="49" charset="-122"/>
                <a:cs typeface="Consolas" pitchFamily="49" charset="0"/>
              </a:rPr>
              <a:t>学生姓名</a:t>
            </a:r>
          </a:p>
          <a:p>
            <a:pPr algn="l">
              <a:lnSpc>
                <a:spcPts val="3000"/>
              </a:lnSpc>
              <a:spcBef>
                <a:spcPts val="0"/>
              </a:spcBef>
            </a:pPr>
            <a:r>
              <a:rPr lang="en-US" sz="1400" dirty="0">
                <a:solidFill>
                  <a:srgbClr val="0000FF"/>
                </a:solidFill>
                <a:latin typeface="Consolas" pitchFamily="49" charset="0"/>
                <a:ea typeface="仿宋" pitchFamily="49" charset="-122"/>
                <a:cs typeface="Consolas" pitchFamily="49" charset="0"/>
              </a:rPr>
              <a:t>   int age;       </a:t>
            </a:r>
            <a:r>
              <a:rPr lang="en-US" sz="1400" dirty="0">
                <a:solidFill>
                  <a:srgbClr val="00B050"/>
                </a:solidFill>
                <a:latin typeface="Consolas" pitchFamily="49" charset="0"/>
                <a:ea typeface="仿宋" pitchFamily="49" charset="-122"/>
                <a:cs typeface="Consolas" pitchFamily="49" charset="0"/>
              </a:rPr>
              <a:t>//</a:t>
            </a:r>
            <a:r>
              <a:rPr lang="zh-CN" altLang="en-US" sz="1400" dirty="0">
                <a:solidFill>
                  <a:srgbClr val="00B050"/>
                </a:solidFill>
                <a:latin typeface="Consolas" pitchFamily="49" charset="0"/>
                <a:ea typeface="仿宋" pitchFamily="49" charset="-122"/>
                <a:cs typeface="Consolas" pitchFamily="49" charset="0"/>
              </a:rPr>
              <a:t>学生年龄</a:t>
            </a:r>
          </a:p>
          <a:p>
            <a:pPr algn="l">
              <a:lnSpc>
                <a:spcPts val="3000"/>
              </a:lnSpc>
              <a:spcBef>
                <a:spcPts val="0"/>
              </a:spcBef>
            </a:pPr>
            <a:r>
              <a:rPr lang="en-US" sz="1400" dirty="0">
                <a:solidFill>
                  <a:srgbClr val="0000FF"/>
                </a:solidFill>
                <a:latin typeface="Consolas" pitchFamily="49" charset="0"/>
                <a:ea typeface="仿宋" pitchFamily="49" charset="-122"/>
                <a:cs typeface="Consolas" pitchFamily="49" charset="0"/>
              </a:rPr>
              <a:t>};</a:t>
            </a:r>
            <a:endParaRPr lang="zh-CN" altLang="en-US" sz="1400" dirty="0">
              <a:solidFill>
                <a:srgbClr val="0000FF"/>
              </a:solidFill>
              <a:latin typeface="Consolas" pitchFamily="49" charset="0"/>
              <a:ea typeface="仿宋" pitchFamily="49" charset="-122"/>
              <a:cs typeface="Consolas" pitchFamily="49" charset="0"/>
            </a:endParaRPr>
          </a:p>
        </p:txBody>
      </p:sp>
      <p:sp>
        <p:nvSpPr>
          <p:cNvPr id="5" name="矩形 4">
            <a:extLst>
              <a:ext uri="{FF2B5EF4-FFF2-40B4-BE49-F238E27FC236}">
                <a16:creationId xmlns:a16="http://schemas.microsoft.com/office/drawing/2014/main" id="{C4826C35-8FCB-40BB-A28A-67B0702B75F6}"/>
              </a:ext>
            </a:extLst>
          </p:cNvPr>
          <p:cNvSpPr/>
          <p:nvPr/>
        </p:nvSpPr>
        <p:spPr>
          <a:xfrm>
            <a:off x="365183" y="1792458"/>
            <a:ext cx="8380987" cy="1019638"/>
          </a:xfrm>
          <a:prstGeom prst="rect">
            <a:avLst/>
          </a:prstGeom>
        </p:spPr>
        <p:txBody>
          <a:bodyPr wrap="square">
            <a:spAutoFit/>
          </a:bodyPr>
          <a:lstStyle/>
          <a:p>
            <a:pPr marL="457200" indent="-457200">
              <a:lnSpc>
                <a:spcPts val="3200"/>
              </a:lnSpc>
              <a:spcBef>
                <a:spcPts val="1200"/>
              </a:spcBef>
              <a:buBlip>
                <a:blip r:embed="rId2"/>
              </a:buBlip>
            </a:pPr>
            <a:r>
              <a:rPr lang="zh-CN" altLang="en-US" dirty="0">
                <a:solidFill>
                  <a:srgbClr val="0000FF"/>
                </a:solidFill>
                <a:latin typeface="Consolas" pitchFamily="49" charset="0"/>
                <a:ea typeface="仿宋" pitchFamily="49" charset="-122"/>
                <a:cs typeface="Consolas" pitchFamily="49" charset="0"/>
              </a:rPr>
              <a:t>数组是同一数据类型的一组数据的有限序列。</a:t>
            </a:r>
            <a:endParaRPr lang="en-US" altLang="zh-CN" dirty="0">
              <a:solidFill>
                <a:srgbClr val="0000FF"/>
              </a:solidFill>
              <a:latin typeface="Consolas" pitchFamily="49" charset="0"/>
              <a:ea typeface="仿宋" pitchFamily="49" charset="-122"/>
              <a:cs typeface="Consolas" pitchFamily="49" charset="0"/>
            </a:endParaRPr>
          </a:p>
          <a:p>
            <a:pPr marL="457200" indent="-457200">
              <a:lnSpc>
                <a:spcPts val="3200"/>
              </a:lnSpc>
              <a:spcBef>
                <a:spcPts val="1200"/>
              </a:spcBef>
              <a:buBlip>
                <a:blip r:embed="rId2"/>
              </a:buBlip>
            </a:pPr>
            <a:r>
              <a:rPr lang="zh-CN" altLang="en-US" dirty="0">
                <a:solidFill>
                  <a:srgbClr val="0000FF"/>
                </a:solidFill>
                <a:latin typeface="Consolas" pitchFamily="49" charset="0"/>
                <a:ea typeface="仿宋" pitchFamily="49" charset="-122"/>
                <a:cs typeface="Consolas" pitchFamily="49" charset="0"/>
              </a:rPr>
              <a:t>例如，</a:t>
            </a:r>
            <a:r>
              <a:rPr lang="en-US" altLang="zh-CN" dirty="0">
                <a:solidFill>
                  <a:srgbClr val="0000FF"/>
                </a:solidFill>
                <a:latin typeface="Consolas" pitchFamily="49" charset="0"/>
                <a:ea typeface="仿宋" pitchFamily="49" charset="-122"/>
                <a:cs typeface="Consolas" pitchFamily="49" charset="0"/>
              </a:rPr>
              <a:t>int </a:t>
            </a:r>
            <a:r>
              <a:rPr lang="en-US" altLang="zh-CN" i="1" dirty="0">
                <a:solidFill>
                  <a:srgbClr val="0000FF"/>
                </a:solidFill>
                <a:latin typeface="Consolas" pitchFamily="49" charset="0"/>
                <a:ea typeface="仿宋" pitchFamily="49" charset="-122"/>
                <a:cs typeface="Consolas" pitchFamily="49" charset="0"/>
              </a:rPr>
              <a:t>a</a:t>
            </a:r>
            <a:r>
              <a:rPr lang="en-US" altLang="zh-CN" dirty="0">
                <a:solidFill>
                  <a:srgbClr val="0000FF"/>
                </a:solidFill>
                <a:latin typeface="Consolas" pitchFamily="49" charset="0"/>
                <a:ea typeface="仿宋" pitchFamily="49" charset="-122"/>
                <a:cs typeface="Consolas" pitchFamily="49" charset="0"/>
              </a:rPr>
              <a:t>[10]</a:t>
            </a:r>
            <a:r>
              <a:rPr lang="zh-CN" altLang="en-US" dirty="0">
                <a:solidFill>
                  <a:srgbClr val="0000FF"/>
                </a:solidFill>
                <a:latin typeface="Consolas" pitchFamily="49" charset="0"/>
                <a:ea typeface="仿宋" pitchFamily="49" charset="-122"/>
                <a:cs typeface="Consolas" pitchFamily="49" charset="0"/>
              </a:rPr>
              <a:t>定义了包含</a:t>
            </a:r>
            <a:r>
              <a:rPr lang="en-US" altLang="zh-CN" dirty="0">
                <a:solidFill>
                  <a:srgbClr val="0000FF"/>
                </a:solidFill>
                <a:latin typeface="Consolas" pitchFamily="49" charset="0"/>
                <a:ea typeface="仿宋" pitchFamily="49" charset="-122"/>
                <a:cs typeface="Consolas" pitchFamily="49" charset="0"/>
              </a:rPr>
              <a:t>10</a:t>
            </a:r>
            <a:r>
              <a:rPr lang="zh-CN" altLang="en-US" dirty="0">
                <a:solidFill>
                  <a:srgbClr val="0000FF"/>
                </a:solidFill>
                <a:latin typeface="Consolas" pitchFamily="49" charset="0"/>
                <a:ea typeface="仿宋" pitchFamily="49" charset="-122"/>
                <a:cs typeface="Consolas" pitchFamily="49" charset="0"/>
              </a:rPr>
              <a:t>个整数的数组</a:t>
            </a:r>
            <a:r>
              <a:rPr lang="en-US" altLang="zh-CN" i="1" dirty="0">
                <a:solidFill>
                  <a:srgbClr val="0000FF"/>
                </a:solidFill>
                <a:latin typeface="Consolas" pitchFamily="49" charset="0"/>
                <a:ea typeface="仿宋" pitchFamily="49" charset="-122"/>
                <a:cs typeface="Consolas" pitchFamily="49" charset="0"/>
              </a:rPr>
              <a:t>a</a:t>
            </a:r>
            <a:r>
              <a:rPr lang="zh-CN" altLang="en-US" dirty="0">
                <a:solidFill>
                  <a:srgbClr val="0000FF"/>
                </a:solidFill>
                <a:latin typeface="Consolas" pitchFamily="49" charset="0"/>
                <a:ea typeface="仿宋" pitchFamily="49" charset="-122"/>
                <a:cs typeface="Consolas" pitchFamily="49" charset="0"/>
              </a:rPr>
              <a:t>，其数组元素是</a:t>
            </a:r>
            <a:r>
              <a:rPr lang="en-US" altLang="zh-CN" i="1" dirty="0">
                <a:solidFill>
                  <a:srgbClr val="0000FF"/>
                </a:solidFill>
                <a:latin typeface="Consolas" pitchFamily="49" charset="0"/>
                <a:ea typeface="仿宋" pitchFamily="49" charset="-122"/>
                <a:cs typeface="Consolas" pitchFamily="49" charset="0"/>
              </a:rPr>
              <a:t>a</a:t>
            </a:r>
            <a:r>
              <a:rPr lang="en-US" altLang="zh-CN" dirty="0">
                <a:solidFill>
                  <a:srgbClr val="0000FF"/>
                </a:solidFill>
                <a:latin typeface="Consolas" pitchFamily="49" charset="0"/>
                <a:ea typeface="仿宋" pitchFamily="49" charset="-122"/>
                <a:cs typeface="Consolas" pitchFamily="49" charset="0"/>
              </a:rPr>
              <a:t>[0]～</a:t>
            </a:r>
            <a:r>
              <a:rPr lang="en-US" altLang="zh-CN" i="1" dirty="0">
                <a:solidFill>
                  <a:srgbClr val="0000FF"/>
                </a:solidFill>
                <a:latin typeface="Consolas" pitchFamily="49" charset="0"/>
                <a:ea typeface="仿宋" pitchFamily="49" charset="-122"/>
                <a:cs typeface="Consolas" pitchFamily="49" charset="0"/>
              </a:rPr>
              <a:t>a</a:t>
            </a:r>
            <a:r>
              <a:rPr lang="en-US" altLang="zh-CN" dirty="0">
                <a:solidFill>
                  <a:srgbClr val="0000FF"/>
                </a:solidFill>
                <a:latin typeface="Consolas" pitchFamily="49" charset="0"/>
                <a:ea typeface="仿宋" pitchFamily="49" charset="-122"/>
                <a:cs typeface="Consolas" pitchFamily="49" charset="0"/>
              </a:rPr>
              <a:t>[9]</a:t>
            </a:r>
            <a:r>
              <a:rPr lang="zh-CN" altLang="en-US" dirty="0">
                <a:solidFill>
                  <a:srgbClr val="0000FF"/>
                </a:solidFill>
                <a:latin typeface="Consolas" pitchFamily="49" charset="0"/>
                <a:ea typeface="仿宋" pitchFamily="49" charset="-122"/>
                <a:cs typeface="Consolas" pitchFamily="49" charset="0"/>
              </a:rPr>
              <a:t>。</a:t>
            </a:r>
          </a:p>
        </p:txBody>
      </p:sp>
      <p:sp>
        <p:nvSpPr>
          <p:cNvPr id="26" name="矩形 25">
            <a:extLst>
              <a:ext uri="{FF2B5EF4-FFF2-40B4-BE49-F238E27FC236}">
                <a16:creationId xmlns:a16="http://schemas.microsoft.com/office/drawing/2014/main" id="{70B3DEA4-4DFF-4147-83D5-0D9676409F77}"/>
              </a:ext>
            </a:extLst>
          </p:cNvPr>
          <p:cNvSpPr/>
          <p:nvPr/>
        </p:nvSpPr>
        <p:spPr>
          <a:xfrm>
            <a:off x="364308" y="4045905"/>
            <a:ext cx="4572000" cy="1667251"/>
          </a:xfrm>
          <a:prstGeom prst="rect">
            <a:avLst/>
          </a:prstGeom>
        </p:spPr>
        <p:txBody>
          <a:bodyPr>
            <a:spAutoFit/>
          </a:bodyPr>
          <a:lstStyle/>
          <a:p>
            <a:pPr marL="457200" indent="-457200">
              <a:lnSpc>
                <a:spcPts val="3000"/>
              </a:lnSpc>
              <a:spcBef>
                <a:spcPts val="600"/>
              </a:spcBef>
              <a:buBlip>
                <a:blip r:embed="rId2"/>
              </a:buBlip>
            </a:pPr>
            <a:r>
              <a:rPr lang="zh-CN" altLang="en-US" dirty="0">
                <a:solidFill>
                  <a:srgbClr val="FF0000"/>
                </a:solidFill>
                <a:latin typeface="华文中宋" pitchFamily="2" charset="-122"/>
                <a:ea typeface="华文中宋" pitchFamily="2" charset="-122"/>
                <a:cs typeface="Consolas" pitchFamily="49" charset="0"/>
              </a:rPr>
              <a:t>结构体</a:t>
            </a:r>
            <a:r>
              <a:rPr lang="zh-CN" altLang="en-US" dirty="0">
                <a:solidFill>
                  <a:srgbClr val="0000FF"/>
                </a:solidFill>
                <a:latin typeface="Consolas" pitchFamily="49" charset="0"/>
                <a:ea typeface="仿宋" pitchFamily="49" charset="-122"/>
                <a:cs typeface="Consolas" pitchFamily="49" charset="0"/>
              </a:rPr>
              <a:t>是由一组称为结构体成员的</a:t>
            </a:r>
            <a:r>
              <a:rPr lang="zh-CN" altLang="en-US" dirty="0">
                <a:solidFill>
                  <a:srgbClr val="FF3399"/>
                </a:solidFill>
                <a:latin typeface="方正启体简体" pitchFamily="65" charset="-122"/>
                <a:ea typeface="方正启体简体" pitchFamily="65" charset="-122"/>
                <a:cs typeface="Consolas" pitchFamily="49" charset="0"/>
              </a:rPr>
              <a:t>数据项</a:t>
            </a:r>
            <a:r>
              <a:rPr lang="zh-CN" altLang="en-US" dirty="0">
                <a:solidFill>
                  <a:srgbClr val="0000FF"/>
                </a:solidFill>
                <a:latin typeface="Consolas" pitchFamily="49" charset="0"/>
                <a:ea typeface="仿宋" pitchFamily="49" charset="-122"/>
                <a:cs typeface="Consolas" pitchFamily="49" charset="0"/>
              </a:rPr>
              <a:t>组成的。</a:t>
            </a:r>
            <a:endParaRPr lang="en-US" altLang="zh-CN" dirty="0">
              <a:solidFill>
                <a:srgbClr val="0000FF"/>
              </a:solidFill>
              <a:latin typeface="Consolas" pitchFamily="49" charset="0"/>
              <a:ea typeface="仿宋" pitchFamily="49" charset="-122"/>
              <a:cs typeface="Consolas" pitchFamily="49" charset="0"/>
            </a:endParaRPr>
          </a:p>
          <a:p>
            <a:pPr marL="457200" indent="-457200">
              <a:lnSpc>
                <a:spcPts val="3000"/>
              </a:lnSpc>
              <a:spcBef>
                <a:spcPts val="600"/>
              </a:spcBef>
              <a:buBlip>
                <a:blip r:embed="rId2"/>
              </a:buBlip>
            </a:pPr>
            <a:r>
              <a:rPr lang="zh-CN" altLang="en-US" dirty="0">
                <a:solidFill>
                  <a:srgbClr val="0000FF"/>
                </a:solidFill>
                <a:latin typeface="Consolas" pitchFamily="49" charset="0"/>
                <a:ea typeface="仿宋" pitchFamily="49" charset="-122"/>
                <a:cs typeface="Consolas" pitchFamily="49" charset="0"/>
              </a:rPr>
              <a:t>每个结构体成员都有自已的标识符，也称为</a:t>
            </a:r>
            <a:r>
              <a:rPr lang="zh-CN" altLang="en-US" dirty="0">
                <a:solidFill>
                  <a:srgbClr val="FF3399"/>
                </a:solidFill>
                <a:latin typeface="方正启体简体" pitchFamily="65" charset="-122"/>
                <a:ea typeface="方正启体简体" pitchFamily="65" charset="-122"/>
                <a:cs typeface="Consolas" pitchFamily="49" charset="0"/>
              </a:rPr>
              <a:t>数据成员域</a:t>
            </a:r>
            <a:r>
              <a:rPr lang="zh-CN" altLang="en-US" dirty="0">
                <a:solidFill>
                  <a:srgbClr val="0000FF"/>
                </a:solidFill>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3326964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2340" y="543841"/>
            <a:ext cx="7520940" cy="548640"/>
          </a:xfrm>
        </p:spPr>
        <p:txBody>
          <a:bodyPr/>
          <a:lstStyle/>
          <a:p>
            <a:r>
              <a:rPr lang="en-US" altLang="zh-CN" b="1" dirty="0"/>
              <a:t>1.2 </a:t>
            </a:r>
            <a:r>
              <a:rPr lang="zh-CN" altLang="zh-CN" b="1" dirty="0"/>
              <a:t>抽象数据类型</a:t>
            </a:r>
            <a:endParaRPr lang="zh-CN" altLang="en-US"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92080" y="1484784"/>
            <a:ext cx="3801845" cy="27354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5776548" y="4280763"/>
            <a:ext cx="3096344" cy="646331"/>
          </a:xfrm>
          <a:prstGeom prst="rect">
            <a:avLst/>
          </a:prstGeom>
        </p:spPr>
        <p:txBody>
          <a:bodyPr wrap="square">
            <a:spAutoFit/>
          </a:bodyPr>
          <a:lstStyle/>
          <a:p>
            <a:r>
              <a:rPr lang="zh-CN" altLang="zh-CN" dirty="0">
                <a:latin typeface="楷体" panose="02010609060101010101" pitchFamily="49" charset="-122"/>
                <a:ea typeface="楷体" panose="02010609060101010101" pitchFamily="49" charset="-122"/>
              </a:rPr>
              <a:t>图1-3 数据项、抽象数据类型和数据结构之间的关系</a:t>
            </a:r>
          </a:p>
        </p:txBody>
      </p:sp>
      <p:sp>
        <p:nvSpPr>
          <p:cNvPr id="6" name="矩形 5"/>
          <p:cNvSpPr/>
          <p:nvPr/>
        </p:nvSpPr>
        <p:spPr>
          <a:xfrm>
            <a:off x="297570" y="1268760"/>
            <a:ext cx="5090473" cy="3750322"/>
          </a:xfrm>
          <a:prstGeom prst="rect">
            <a:avLst/>
          </a:prstGeom>
        </p:spPr>
        <p:txBody>
          <a:bodyPr wrap="square">
            <a:spAutoFit/>
          </a:bodyPr>
          <a:lstStyle/>
          <a:p>
            <a:pPr marL="342900" indent="-342900" algn="just">
              <a:lnSpc>
                <a:spcPct val="120000"/>
              </a:lnSpc>
              <a:buFont typeface="Wingdings" panose="05000000000000000000" pitchFamily="2" charset="2"/>
              <a:buChar char="ü"/>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ADT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Abstract Data Type</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指基于一类逻辑关系的数据类型以及定义在这个类型之上的一组操作。</a:t>
            </a:r>
            <a:endParaRPr lang="zh-CN" altLang="en-US" dirty="0"/>
          </a:p>
          <a:p>
            <a:pPr marL="342900" indent="-342900" algn="just">
              <a:lnSpc>
                <a:spcPct val="120000"/>
              </a:lnSpc>
              <a:buFont typeface="Wingdings" panose="05000000000000000000" pitchFamily="2" charset="2"/>
              <a:buChar char="ü"/>
            </a:pP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抽象数据类型确定了一个模型，但将模型的实现细节隐藏起来；它定义了一组运算，但将运算的实现过程隐藏起来。  </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20000"/>
              </a:lnSpc>
              <a:buFont typeface="Wingdings" panose="05000000000000000000" pitchFamily="2" charset="2"/>
              <a:buChar char="ü"/>
            </a:pP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抽象：抽取反映问题本质的东西，忽略非本质的细节。</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20000"/>
              </a:lnSpc>
              <a:buFont typeface="Wingdings" panose="05000000000000000000" pitchFamily="2" charset="2"/>
              <a:buChar char="ü"/>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ADT</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：含有封装和泛化的思想，具有信息隐蔽的特点。</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174247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2340" y="543841"/>
            <a:ext cx="7520940" cy="548640"/>
          </a:xfrm>
        </p:spPr>
        <p:txBody>
          <a:bodyPr/>
          <a:lstStyle/>
          <a:p>
            <a:r>
              <a:rPr lang="en-US" altLang="zh-CN" b="1" dirty="0"/>
              <a:t>1.2 </a:t>
            </a:r>
            <a:r>
              <a:rPr lang="zh-CN" altLang="zh-CN" b="1" dirty="0"/>
              <a:t>抽象数据类型</a:t>
            </a:r>
            <a:endParaRPr lang="zh-CN" altLang="en-US" dirty="0"/>
          </a:p>
        </p:txBody>
      </p:sp>
      <p:sp>
        <p:nvSpPr>
          <p:cNvPr id="7" name="TextBox 4">
            <a:extLst>
              <a:ext uri="{FF2B5EF4-FFF2-40B4-BE49-F238E27FC236}">
                <a16:creationId xmlns:a16="http://schemas.microsoft.com/office/drawing/2014/main" id="{7B2C537C-CFCB-408F-8440-C94EA1B69382}"/>
              </a:ext>
            </a:extLst>
          </p:cNvPr>
          <p:cNvSpPr txBox="1"/>
          <p:nvPr/>
        </p:nvSpPr>
        <p:spPr>
          <a:xfrm>
            <a:off x="1739369" y="3789040"/>
            <a:ext cx="5665262" cy="732848"/>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6"/>
          </a:lnRef>
          <a:fillRef idx="2">
            <a:schemeClr val="accent6"/>
          </a:fillRef>
          <a:effectRef idx="1">
            <a:schemeClr val="accent6"/>
          </a:effectRef>
          <a:fontRef idx="minor">
            <a:schemeClr val="dk1"/>
          </a:fontRef>
        </p:style>
        <p:txBody>
          <a:bodyPr wrap="square" lIns="144000" tIns="180000" rIns="144000" bIns="180000" rtlCol="0">
            <a:spAutoFit/>
          </a:bodyPr>
          <a:lstStyle/>
          <a:p>
            <a:r>
              <a:rPr lang="zh-CN" altLang="en-US" sz="2400" b="1">
                <a:solidFill>
                  <a:srgbClr val="CC00CC"/>
                </a:solidFill>
                <a:latin typeface="微软雅黑" panose="020B0503020204020204" pitchFamily="34" charset="-122"/>
                <a:ea typeface="微软雅黑" panose="020B0503020204020204" pitchFamily="34" charset="-122"/>
                <a:cs typeface="Consolas" pitchFamily="49" charset="0"/>
              </a:rPr>
              <a:t>抽象数据类型 </a:t>
            </a:r>
            <a:r>
              <a:rPr lang="en-US" altLang="zh-CN" sz="2400" b="1">
                <a:solidFill>
                  <a:srgbClr val="CC00CC"/>
                </a:solidFill>
                <a:latin typeface="微软雅黑" panose="020B0503020204020204" pitchFamily="34" charset="-122"/>
                <a:ea typeface="微软雅黑" panose="020B0503020204020204" pitchFamily="34" charset="-122"/>
                <a:cs typeface="Consolas" pitchFamily="49" charset="0"/>
              </a:rPr>
              <a:t>= </a:t>
            </a:r>
            <a:r>
              <a:rPr lang="zh-CN" altLang="en-US" sz="2400" b="1">
                <a:solidFill>
                  <a:srgbClr val="CC00CC"/>
                </a:solidFill>
                <a:latin typeface="微软雅黑" panose="020B0503020204020204" pitchFamily="34" charset="-122"/>
                <a:ea typeface="微软雅黑" panose="020B0503020204020204" pitchFamily="34" charset="-122"/>
                <a:cs typeface="Consolas" pitchFamily="49" charset="0"/>
              </a:rPr>
              <a:t>逻辑结构 ＋ 抽象运算</a:t>
            </a:r>
            <a:endParaRPr lang="zh-CN" altLang="en-US" sz="2400" b="1">
              <a:latin typeface="微软雅黑" panose="020B0503020204020204" pitchFamily="34" charset="-122"/>
              <a:ea typeface="微软雅黑" panose="020B0503020204020204" pitchFamily="34" charset="-122"/>
              <a:cs typeface="Consolas" pitchFamily="49" charset="0"/>
            </a:endParaRPr>
          </a:p>
        </p:txBody>
      </p:sp>
      <p:sp>
        <p:nvSpPr>
          <p:cNvPr id="8" name="矩形 7">
            <a:extLst>
              <a:ext uri="{FF2B5EF4-FFF2-40B4-BE49-F238E27FC236}">
                <a16:creationId xmlns:a16="http://schemas.microsoft.com/office/drawing/2014/main" id="{BE86E5E1-973F-46AD-828F-00C6AD326E8C}"/>
              </a:ext>
            </a:extLst>
          </p:cNvPr>
          <p:cNvSpPr/>
          <p:nvPr/>
        </p:nvSpPr>
        <p:spPr>
          <a:xfrm>
            <a:off x="611560" y="1700808"/>
            <a:ext cx="8309492" cy="1200329"/>
          </a:xfrm>
          <a:prstGeom prst="rect">
            <a:avLst/>
          </a:prstGeom>
        </p:spPr>
        <p:txBody>
          <a:bodyPr wrap="square">
            <a:spAutoFit/>
          </a:bodyPr>
          <a:lstStyle/>
          <a:p>
            <a:r>
              <a:rPr lang="zh-CN" altLang="en-US" sz="2400" b="1" dirty="0">
                <a:solidFill>
                  <a:srgbClr val="FF0000"/>
                </a:solidFill>
                <a:latin typeface="楷体" panose="02010609060101010101" pitchFamily="49" charset="-122"/>
                <a:ea typeface="楷体" panose="02010609060101010101" pitchFamily="49" charset="-122"/>
                <a:cs typeface="Consolas" pitchFamily="49" charset="0"/>
              </a:rPr>
              <a:t>抽象数据类型（</a:t>
            </a:r>
            <a:r>
              <a:rPr lang="en-US" altLang="zh-CN" sz="2400" b="1" dirty="0">
                <a:solidFill>
                  <a:srgbClr val="FF0000"/>
                </a:solidFill>
                <a:latin typeface="楷体" panose="02010609060101010101" pitchFamily="49" charset="-122"/>
                <a:ea typeface="楷体" panose="02010609060101010101" pitchFamily="49" charset="-122"/>
                <a:cs typeface="Consolas" pitchFamily="49" charset="0"/>
              </a:rPr>
              <a:t>ADT</a:t>
            </a:r>
            <a:r>
              <a:rPr lang="zh-CN" altLang="en-US" sz="2400" b="1" dirty="0">
                <a:solidFill>
                  <a:srgbClr val="FF0000"/>
                </a:solidFill>
                <a:latin typeface="楷体" panose="02010609060101010101" pitchFamily="49" charset="-122"/>
                <a:ea typeface="楷体" panose="02010609060101010101" pitchFamily="49" charset="-122"/>
                <a:cs typeface="Consolas" pitchFamily="49" charset="0"/>
              </a:rPr>
              <a:t>）</a:t>
            </a:r>
            <a:r>
              <a:rPr lang="zh-CN" altLang="en-US" sz="2400" b="1" dirty="0">
                <a:solidFill>
                  <a:srgbClr val="0000FF"/>
                </a:solidFill>
                <a:latin typeface="楷体" panose="02010609060101010101" pitchFamily="49" charset="-122"/>
                <a:ea typeface="楷体" panose="02010609060101010101" pitchFamily="49" charset="-122"/>
                <a:cs typeface="Consolas" pitchFamily="49" charset="0"/>
              </a:rPr>
              <a:t>指的是从求解问题的数学模型中抽象出来的数据逻辑结构和运算（抽象运算），而不考虑计算机的具体实现。 </a:t>
            </a:r>
            <a:endParaRPr lang="zh-CN" altLang="en-US" sz="24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6398549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5536" y="620688"/>
            <a:ext cx="8534182" cy="5410712"/>
          </a:xfrm>
          <a:prstGeom prst="rect">
            <a:avLst/>
          </a:prstGeom>
        </p:spPr>
        <p:txBody>
          <a:bodyPr wrap="square">
            <a:spAutoFit/>
          </a:bodyPr>
          <a:lstStyle/>
          <a:p>
            <a:pPr>
              <a:lnSpc>
                <a:spcPct val="120000"/>
              </a:lnSpc>
            </a:pP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抽象数据类型</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可用以下三元组表示：</a:t>
            </a: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(D，R，P)</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其中：</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D表示数据对象，R是D上的关系，P是对D的基本操作集。</a:t>
            </a:r>
          </a:p>
          <a:p>
            <a:pPr>
              <a:lnSpc>
                <a:spcPct val="120000"/>
              </a:lnSpc>
            </a:pPr>
            <a:r>
              <a:rPr lang="zh-CN" altLang="zh-CN"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    ADT抽象数据类型名｛</a:t>
            </a:r>
          </a:p>
          <a:p>
            <a:pPr>
              <a:lnSpc>
                <a:spcPct val="120000"/>
              </a:lnSpc>
            </a:pPr>
            <a:r>
              <a:rPr lang="zh-CN" altLang="zh-CN"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    	数据对象：〈数据对象的定义〉</a:t>
            </a:r>
          </a:p>
          <a:p>
            <a:pPr>
              <a:lnSpc>
                <a:spcPct val="120000"/>
              </a:lnSpc>
            </a:pPr>
            <a:r>
              <a:rPr lang="zh-CN" altLang="zh-CN"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    	数据关系：〈数据关系的定义〉</a:t>
            </a:r>
          </a:p>
          <a:p>
            <a:pPr>
              <a:lnSpc>
                <a:spcPct val="120000"/>
              </a:lnSpc>
            </a:pPr>
            <a:r>
              <a:rPr lang="zh-CN" altLang="zh-CN"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    	基本操作：〈基本操作的定义〉</a:t>
            </a:r>
          </a:p>
          <a:p>
            <a:pPr>
              <a:lnSpc>
                <a:spcPct val="120000"/>
              </a:lnSpc>
            </a:pPr>
            <a:r>
              <a:rPr lang="zh-CN" altLang="zh-CN" sz="240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    ｝ADT抽象数据类型名</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其中数据对象和数据关系的定义用伪码描述，基本操作的定义格式为：</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基本操作名（参数表）</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初始条件：〈初始条件描述〉</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操作结构：〈操作结构的功能描述〉</a:t>
            </a:r>
          </a:p>
        </p:txBody>
      </p:sp>
    </p:spTree>
    <p:extLst>
      <p:ext uri="{BB962C8B-B14F-4D97-AF65-F5344CB8AC3E}">
        <p14:creationId xmlns:p14="http://schemas.microsoft.com/office/powerpoint/2010/main" val="36779684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79512" y="2636912"/>
            <a:ext cx="6588224" cy="3719736"/>
          </a:xfrm>
          <a:prstGeom prst="rect">
            <a:avLst/>
          </a:prstGeom>
        </p:spPr>
        <p:txBody>
          <a:bodyPr wrap="square">
            <a:spAutoFit/>
          </a:bodyPr>
          <a:lstStyle/>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手机通讯录的抽象数据类型描述如下：</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ADT Address_list{</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数据对象： D={a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∈ElemSet，i=1，2，…，n；n≥0}</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数据关系： R={&lt;a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&gt;| 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∈D，i=1，2，…，n}</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基本操作： 添加新联系人（指定人）；</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删除联系人（指定人）；</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排序联系人（指定数据项）；</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修改联系人（指定人）；</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查询联系人（指定数据项）；</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等等；</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}ADT Address_list</a:t>
            </a:r>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7942" y="31642"/>
            <a:ext cx="6362700" cy="2698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472855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B415A2C2-15FF-47DA-9266-B5A70952D96E}"/>
              </a:ext>
            </a:extLst>
          </p:cNvPr>
          <p:cNvSpPr txBox="1">
            <a:spLocks noChangeArrowheads="1"/>
          </p:cNvSpPr>
          <p:nvPr/>
        </p:nvSpPr>
        <p:spPr bwMode="auto">
          <a:xfrm>
            <a:off x="827584" y="1340768"/>
            <a:ext cx="7704856" cy="5013644"/>
          </a:xfrm>
          <a:prstGeom prst="rect">
            <a:avLst/>
          </a:prstGeom>
          <a:solidFill>
            <a:schemeClr val="bg1">
              <a:lumMod val="95000"/>
            </a:schemeClr>
          </a:solidFill>
          <a:ln>
            <a:headEnd/>
            <a:tailEnd/>
          </a:ln>
        </p:spPr>
        <p:style>
          <a:lnRef idx="1">
            <a:schemeClr val="accent1"/>
          </a:lnRef>
          <a:fillRef idx="2">
            <a:schemeClr val="accent1"/>
          </a:fillRef>
          <a:effectRef idx="1">
            <a:schemeClr val="accent1"/>
          </a:effectRef>
          <a:fontRef idx="minor">
            <a:schemeClr val="dk1"/>
          </a:fontRef>
        </p:style>
        <p:txBody>
          <a:bodyPr wrap="square" lIns="144000" tIns="144000" rIns="144000" bIns="144000">
            <a:spAutoFit/>
          </a:bodyPr>
          <a:lstStyle/>
          <a:p>
            <a:pPr algn="just">
              <a:lnSpc>
                <a:spcPct val="100000"/>
              </a:lnSpc>
            </a:pPr>
            <a:r>
              <a:rPr lang="en-US" altLang="zh-CN" sz="2000" b="1" dirty="0" err="1">
                <a:solidFill>
                  <a:schemeClr val="tx1"/>
                </a:solidFill>
                <a:ea typeface="楷体" panose="02010609060101010101" pitchFamily="49" charset="-122"/>
                <a:cs typeface="Consolas" pitchFamily="49" charset="0"/>
              </a:rPr>
              <a:t>ADT</a:t>
            </a:r>
            <a:r>
              <a:rPr lang="en-US" altLang="zh-CN" sz="2000" b="1" dirty="0">
                <a:solidFill>
                  <a:schemeClr val="tx1"/>
                </a:solidFill>
                <a:ea typeface="楷体" panose="02010609060101010101" pitchFamily="49" charset="-122"/>
                <a:cs typeface="Consolas" pitchFamily="49" charset="0"/>
              </a:rPr>
              <a:t> Complex </a:t>
            </a:r>
          </a:p>
          <a:p>
            <a:pPr algn="just">
              <a:lnSpc>
                <a:spcPct val="100000"/>
              </a:lnSpc>
            </a:pPr>
            <a:r>
              <a:rPr lang="en-US" altLang="zh-CN" sz="2000" b="1" dirty="0">
                <a:solidFill>
                  <a:schemeClr val="tx1"/>
                </a:solidFill>
                <a:ea typeface="楷体" panose="02010609060101010101" pitchFamily="49" charset="-122"/>
                <a:cs typeface="Consolas" pitchFamily="49" charset="0"/>
              </a:rPr>
              <a:t>{</a:t>
            </a:r>
          </a:p>
          <a:p>
            <a:pPr algn="just">
              <a:lnSpc>
                <a:spcPct val="150000"/>
              </a:lnSpc>
            </a:pPr>
            <a:r>
              <a:rPr lang="zh-CN" altLang="en-US" sz="2000" b="1" dirty="0">
                <a:solidFill>
                  <a:schemeClr val="tx1"/>
                </a:solidFill>
                <a:ea typeface="楷体" panose="02010609060101010101" pitchFamily="49" charset="-122"/>
              </a:rPr>
              <a:t>数据对象</a:t>
            </a:r>
            <a:r>
              <a:rPr lang="zh-CN" altLang="en-US" sz="2000" dirty="0">
                <a:solidFill>
                  <a:schemeClr val="tx1"/>
                </a:solidFill>
                <a:ea typeface="楷体" panose="02010609060101010101" pitchFamily="49" charset="-122"/>
              </a:rPr>
              <a:t>：</a:t>
            </a:r>
            <a:r>
              <a:rPr lang="en-US" altLang="zh-CN" sz="2000" dirty="0">
                <a:solidFill>
                  <a:schemeClr val="tx1"/>
                </a:solidFill>
                <a:ea typeface="楷体" panose="02010609060101010101" pitchFamily="49" charset="-122"/>
              </a:rPr>
              <a:t>D={  e1</a:t>
            </a:r>
            <a:r>
              <a:rPr lang="zh-CN" altLang="en-US" sz="2000" dirty="0">
                <a:solidFill>
                  <a:schemeClr val="tx1"/>
                </a:solidFill>
                <a:ea typeface="楷体" panose="02010609060101010101" pitchFamily="49" charset="-122"/>
              </a:rPr>
              <a:t>，</a:t>
            </a:r>
            <a:r>
              <a:rPr lang="en-US" altLang="zh-CN" sz="2000" dirty="0">
                <a:solidFill>
                  <a:schemeClr val="tx1"/>
                </a:solidFill>
                <a:ea typeface="楷体" panose="02010609060101010101" pitchFamily="49" charset="-122"/>
              </a:rPr>
              <a:t>e2   | e1</a:t>
            </a:r>
            <a:r>
              <a:rPr lang="zh-CN" altLang="en-US" sz="2000" dirty="0">
                <a:solidFill>
                  <a:schemeClr val="tx1"/>
                </a:solidFill>
                <a:ea typeface="楷体" panose="02010609060101010101" pitchFamily="49" charset="-122"/>
              </a:rPr>
              <a:t>，</a:t>
            </a:r>
            <a:r>
              <a:rPr lang="en-US" altLang="zh-CN" sz="2000" dirty="0">
                <a:solidFill>
                  <a:schemeClr val="tx1"/>
                </a:solidFill>
                <a:ea typeface="楷体" panose="02010609060101010101" pitchFamily="49" charset="-122"/>
              </a:rPr>
              <a:t>e2</a:t>
            </a:r>
            <a:r>
              <a:rPr lang="zh-CN" altLang="en-US" sz="2000" dirty="0">
                <a:solidFill>
                  <a:schemeClr val="tx1"/>
                </a:solidFill>
                <a:ea typeface="楷体" panose="02010609060101010101" pitchFamily="49" charset="-122"/>
              </a:rPr>
              <a:t>均为实数 </a:t>
            </a:r>
            <a:r>
              <a:rPr lang="en-US" altLang="zh-CN" sz="2000" dirty="0">
                <a:solidFill>
                  <a:schemeClr val="tx1"/>
                </a:solidFill>
                <a:ea typeface="楷体" panose="02010609060101010101" pitchFamily="49" charset="-122"/>
              </a:rPr>
              <a:t>}</a:t>
            </a:r>
          </a:p>
          <a:p>
            <a:pPr algn="just">
              <a:lnSpc>
                <a:spcPct val="150000"/>
              </a:lnSpc>
            </a:pPr>
            <a:r>
              <a:rPr lang="zh-CN" altLang="en-US" sz="2000" b="1" dirty="0">
                <a:solidFill>
                  <a:schemeClr val="tx1"/>
                </a:solidFill>
                <a:ea typeface="楷体" panose="02010609060101010101" pitchFamily="49" charset="-122"/>
              </a:rPr>
              <a:t>数据关系</a:t>
            </a:r>
            <a:r>
              <a:rPr lang="zh-CN" altLang="en-US" sz="2000" dirty="0">
                <a:solidFill>
                  <a:schemeClr val="tx1"/>
                </a:solidFill>
                <a:ea typeface="楷体" panose="02010609060101010101" pitchFamily="49" charset="-122"/>
              </a:rPr>
              <a:t>：</a:t>
            </a:r>
            <a:r>
              <a:rPr lang="en-US" altLang="zh-CN" sz="2000" dirty="0">
                <a:solidFill>
                  <a:schemeClr val="tx1"/>
                </a:solidFill>
                <a:ea typeface="楷体" panose="02010609060101010101" pitchFamily="49" charset="-122"/>
              </a:rPr>
              <a:t>R={&lt;e1</a:t>
            </a:r>
            <a:r>
              <a:rPr lang="zh-CN" altLang="en-US" sz="2000" dirty="0">
                <a:solidFill>
                  <a:schemeClr val="tx1"/>
                </a:solidFill>
                <a:ea typeface="楷体" panose="02010609060101010101" pitchFamily="49" charset="-122"/>
              </a:rPr>
              <a:t>，</a:t>
            </a:r>
            <a:r>
              <a:rPr lang="en-US" altLang="zh-CN" sz="2000" dirty="0">
                <a:solidFill>
                  <a:schemeClr val="tx1"/>
                </a:solidFill>
                <a:ea typeface="楷体" panose="02010609060101010101" pitchFamily="49" charset="-122"/>
              </a:rPr>
              <a:t>e2&gt; |  e1</a:t>
            </a:r>
            <a:r>
              <a:rPr lang="zh-CN" altLang="en-US" sz="2000" dirty="0">
                <a:solidFill>
                  <a:schemeClr val="tx1"/>
                </a:solidFill>
                <a:ea typeface="楷体" panose="02010609060101010101" pitchFamily="49" charset="-122"/>
              </a:rPr>
              <a:t>是复数的实部，</a:t>
            </a:r>
            <a:r>
              <a:rPr lang="en-US" altLang="zh-CN" sz="2000" dirty="0">
                <a:solidFill>
                  <a:schemeClr val="tx1"/>
                </a:solidFill>
                <a:ea typeface="楷体" panose="02010609060101010101" pitchFamily="49" charset="-122"/>
              </a:rPr>
              <a:t>e2</a:t>
            </a:r>
            <a:r>
              <a:rPr lang="zh-CN" altLang="en-US" sz="2000" dirty="0">
                <a:solidFill>
                  <a:schemeClr val="tx1"/>
                </a:solidFill>
                <a:ea typeface="楷体" panose="02010609060101010101" pitchFamily="49" charset="-122"/>
              </a:rPr>
              <a:t>是复数的虚部 </a:t>
            </a:r>
            <a:r>
              <a:rPr lang="en-US" altLang="zh-CN" sz="2000" dirty="0">
                <a:solidFill>
                  <a:schemeClr val="tx1"/>
                </a:solidFill>
                <a:ea typeface="楷体" panose="02010609060101010101" pitchFamily="49" charset="-122"/>
              </a:rPr>
              <a:t>}</a:t>
            </a:r>
          </a:p>
          <a:p>
            <a:pPr algn="just">
              <a:lnSpc>
                <a:spcPct val="150000"/>
              </a:lnSpc>
            </a:pPr>
            <a:r>
              <a:rPr lang="zh-CN" altLang="zh-CN" sz="2000" b="1" dirty="0">
                <a:solidFill>
                  <a:schemeClr val="tx1"/>
                </a:solidFill>
                <a:ea typeface="楷体" panose="02010609060101010101" pitchFamily="49" charset="-122"/>
              </a:rPr>
              <a:t>基本操作</a:t>
            </a:r>
            <a:r>
              <a:rPr lang="zh-CN" altLang="en-US" sz="2000" b="1" dirty="0">
                <a:solidFill>
                  <a:schemeClr val="tx1"/>
                </a:solidFill>
                <a:ea typeface="仿宋" pitchFamily="49" charset="-122"/>
                <a:cs typeface="Consolas" pitchFamily="49" charset="0"/>
              </a:rPr>
              <a:t>：</a:t>
            </a:r>
          </a:p>
          <a:p>
            <a:pPr algn="just">
              <a:lnSpc>
                <a:spcPct val="150000"/>
              </a:lnSpc>
            </a:pPr>
            <a:r>
              <a:rPr lang="zh-CN" altLang="en-US" sz="2000" b="1" dirty="0">
                <a:solidFill>
                  <a:schemeClr val="tx1"/>
                </a:solidFill>
                <a:ea typeface="仿宋" pitchFamily="49" charset="-122"/>
                <a:cs typeface="Consolas" pitchFamily="49" charset="0"/>
              </a:rPr>
              <a:t>      </a:t>
            </a:r>
            <a:r>
              <a:rPr lang="en-US" altLang="zh-CN" sz="2000" dirty="0" err="1">
                <a:solidFill>
                  <a:schemeClr val="tx1"/>
                </a:solidFill>
                <a:ea typeface="仿宋" pitchFamily="49" charset="-122"/>
                <a:cs typeface="Consolas" pitchFamily="49" charset="0"/>
              </a:rPr>
              <a:t>AssignComplex</a:t>
            </a:r>
            <a:r>
              <a:rPr lang="en-US" altLang="zh-CN" sz="2000" dirty="0">
                <a:solidFill>
                  <a:schemeClr val="tx1"/>
                </a:solidFill>
                <a:ea typeface="仿宋" pitchFamily="49" charset="-122"/>
                <a:cs typeface="Consolas" pitchFamily="49" charset="0"/>
              </a:rPr>
              <a:t>(&amp;z</a:t>
            </a:r>
            <a:r>
              <a:rPr lang="zh-CN" altLang="en-US" sz="2000" dirty="0">
                <a:solidFill>
                  <a:schemeClr val="tx1"/>
                </a:solidFill>
                <a:ea typeface="仿宋" pitchFamily="49" charset="-122"/>
                <a:cs typeface="Consolas" pitchFamily="49" charset="0"/>
              </a:rPr>
              <a:t>，</a:t>
            </a:r>
            <a:r>
              <a:rPr lang="en-US" altLang="zh-CN" sz="2000" dirty="0">
                <a:solidFill>
                  <a:schemeClr val="tx1"/>
                </a:solidFill>
                <a:ea typeface="仿宋" pitchFamily="49" charset="-122"/>
                <a:cs typeface="Consolas" pitchFamily="49" charset="0"/>
              </a:rPr>
              <a:t>v1</a:t>
            </a:r>
            <a:r>
              <a:rPr lang="zh-CN" altLang="en-US" sz="2000" dirty="0">
                <a:solidFill>
                  <a:schemeClr val="tx1"/>
                </a:solidFill>
                <a:ea typeface="仿宋" pitchFamily="49" charset="-122"/>
                <a:cs typeface="Consolas" pitchFamily="49" charset="0"/>
              </a:rPr>
              <a:t>，</a:t>
            </a:r>
            <a:r>
              <a:rPr lang="en-US" altLang="zh-CN" sz="2000" dirty="0">
                <a:solidFill>
                  <a:schemeClr val="tx1"/>
                </a:solidFill>
                <a:ea typeface="仿宋" pitchFamily="49" charset="-122"/>
                <a:cs typeface="Consolas" pitchFamily="49" charset="0"/>
              </a:rPr>
              <a:t>v2)</a:t>
            </a:r>
            <a:r>
              <a:rPr lang="zh-CN" altLang="en-US" sz="2000" dirty="0">
                <a:solidFill>
                  <a:schemeClr val="tx1"/>
                </a:solidFill>
                <a:ea typeface="仿宋" pitchFamily="49" charset="-122"/>
                <a:cs typeface="Consolas" pitchFamily="49" charset="0"/>
              </a:rPr>
              <a:t>：构造复数</a:t>
            </a:r>
            <a:r>
              <a:rPr lang="en-US" altLang="zh-CN" sz="2000" dirty="0">
                <a:solidFill>
                  <a:schemeClr val="tx1"/>
                </a:solidFill>
                <a:ea typeface="仿宋" pitchFamily="49" charset="-122"/>
                <a:cs typeface="Consolas" pitchFamily="49" charset="0"/>
              </a:rPr>
              <a:t>Z</a:t>
            </a:r>
            <a:r>
              <a:rPr lang="zh-CN" altLang="en-US" sz="2000" dirty="0">
                <a:solidFill>
                  <a:schemeClr val="tx1"/>
                </a:solidFill>
                <a:ea typeface="仿宋" pitchFamily="49" charset="-122"/>
                <a:cs typeface="Consolas" pitchFamily="49" charset="0"/>
              </a:rPr>
              <a:t>。</a:t>
            </a:r>
          </a:p>
          <a:p>
            <a:pPr algn="just">
              <a:lnSpc>
                <a:spcPct val="150000"/>
              </a:lnSpc>
            </a:pPr>
            <a:r>
              <a:rPr lang="zh-CN" altLang="en-US" sz="2000" dirty="0">
                <a:solidFill>
                  <a:schemeClr val="tx1"/>
                </a:solidFill>
                <a:ea typeface="仿宋" pitchFamily="49" charset="-122"/>
                <a:cs typeface="Consolas" pitchFamily="49" charset="0"/>
              </a:rPr>
              <a:t>      </a:t>
            </a:r>
            <a:r>
              <a:rPr lang="en-US" altLang="zh-CN" sz="2000" dirty="0" err="1">
                <a:solidFill>
                  <a:schemeClr val="tx1"/>
                </a:solidFill>
                <a:ea typeface="仿宋" pitchFamily="49" charset="-122"/>
                <a:cs typeface="Consolas" pitchFamily="49" charset="0"/>
              </a:rPr>
              <a:t>DestroyComplex</a:t>
            </a:r>
            <a:r>
              <a:rPr lang="en-US" altLang="zh-CN" sz="2000" dirty="0">
                <a:solidFill>
                  <a:schemeClr val="tx1"/>
                </a:solidFill>
                <a:ea typeface="仿宋" pitchFamily="49" charset="-122"/>
                <a:cs typeface="Consolas" pitchFamily="49" charset="0"/>
              </a:rPr>
              <a:t>(&amp;z)</a:t>
            </a:r>
            <a:r>
              <a:rPr lang="zh-CN" altLang="en-US" sz="2000" dirty="0">
                <a:solidFill>
                  <a:schemeClr val="tx1"/>
                </a:solidFill>
                <a:ea typeface="仿宋" pitchFamily="49" charset="-122"/>
                <a:cs typeface="Consolas" pitchFamily="49" charset="0"/>
              </a:rPr>
              <a:t>：复数</a:t>
            </a:r>
            <a:r>
              <a:rPr lang="en-US" altLang="zh-CN" sz="2000" dirty="0">
                <a:solidFill>
                  <a:schemeClr val="tx1"/>
                </a:solidFill>
                <a:ea typeface="仿宋" pitchFamily="49" charset="-122"/>
                <a:cs typeface="Consolas" pitchFamily="49" charset="0"/>
              </a:rPr>
              <a:t>z</a:t>
            </a:r>
            <a:r>
              <a:rPr lang="zh-CN" altLang="en-US" sz="2000" dirty="0">
                <a:solidFill>
                  <a:schemeClr val="tx1"/>
                </a:solidFill>
                <a:ea typeface="仿宋" pitchFamily="49" charset="-122"/>
                <a:cs typeface="Consolas" pitchFamily="49" charset="0"/>
              </a:rPr>
              <a:t>被销毁。 </a:t>
            </a:r>
          </a:p>
          <a:p>
            <a:pPr algn="just">
              <a:lnSpc>
                <a:spcPct val="150000"/>
              </a:lnSpc>
            </a:pPr>
            <a:r>
              <a:rPr lang="zh-CN" altLang="en-US" sz="2000" dirty="0">
                <a:solidFill>
                  <a:schemeClr val="tx1"/>
                </a:solidFill>
                <a:ea typeface="仿宋" pitchFamily="49" charset="-122"/>
                <a:cs typeface="Consolas" pitchFamily="49" charset="0"/>
              </a:rPr>
              <a:t>      </a:t>
            </a:r>
            <a:r>
              <a:rPr lang="en-US" altLang="zh-CN" sz="2000" dirty="0" err="1">
                <a:solidFill>
                  <a:schemeClr val="tx1"/>
                </a:solidFill>
                <a:ea typeface="仿宋" pitchFamily="49" charset="-122"/>
                <a:cs typeface="Consolas" pitchFamily="49" charset="0"/>
              </a:rPr>
              <a:t>GetReal</a:t>
            </a:r>
            <a:r>
              <a:rPr lang="en-US" altLang="zh-CN" sz="2000" dirty="0">
                <a:solidFill>
                  <a:schemeClr val="tx1"/>
                </a:solidFill>
                <a:ea typeface="仿宋" pitchFamily="49" charset="-122"/>
                <a:cs typeface="Consolas" pitchFamily="49" charset="0"/>
              </a:rPr>
              <a:t>(z</a:t>
            </a:r>
            <a:r>
              <a:rPr lang="zh-CN" altLang="en-US" sz="2000" dirty="0">
                <a:solidFill>
                  <a:schemeClr val="tx1"/>
                </a:solidFill>
                <a:ea typeface="仿宋" pitchFamily="49" charset="-122"/>
                <a:cs typeface="Consolas" pitchFamily="49" charset="0"/>
              </a:rPr>
              <a:t>，</a:t>
            </a:r>
            <a:r>
              <a:rPr lang="en-US" altLang="zh-CN" sz="2000" dirty="0">
                <a:solidFill>
                  <a:schemeClr val="tx1"/>
                </a:solidFill>
                <a:ea typeface="仿宋" pitchFamily="49" charset="-122"/>
                <a:cs typeface="Consolas" pitchFamily="49" charset="0"/>
              </a:rPr>
              <a:t>&amp;real)</a:t>
            </a:r>
            <a:r>
              <a:rPr lang="zh-CN" altLang="en-US" sz="2000" dirty="0">
                <a:solidFill>
                  <a:schemeClr val="tx1"/>
                </a:solidFill>
                <a:ea typeface="仿宋" pitchFamily="49" charset="-122"/>
                <a:cs typeface="Consolas" pitchFamily="49" charset="0"/>
              </a:rPr>
              <a:t>：返回复数</a:t>
            </a:r>
            <a:r>
              <a:rPr lang="en-US" altLang="zh-CN" sz="2000" dirty="0">
                <a:solidFill>
                  <a:schemeClr val="tx1"/>
                </a:solidFill>
                <a:ea typeface="仿宋" pitchFamily="49" charset="-122"/>
                <a:cs typeface="Consolas" pitchFamily="49" charset="0"/>
              </a:rPr>
              <a:t>z</a:t>
            </a:r>
            <a:r>
              <a:rPr lang="zh-CN" altLang="en-US" sz="2000" dirty="0">
                <a:solidFill>
                  <a:schemeClr val="tx1"/>
                </a:solidFill>
                <a:ea typeface="仿宋" pitchFamily="49" charset="-122"/>
                <a:cs typeface="Consolas" pitchFamily="49" charset="0"/>
              </a:rPr>
              <a:t>的实部值。</a:t>
            </a:r>
          </a:p>
          <a:p>
            <a:pPr algn="just">
              <a:lnSpc>
                <a:spcPct val="150000"/>
              </a:lnSpc>
            </a:pPr>
            <a:r>
              <a:rPr lang="zh-CN" altLang="en-US" sz="2000" dirty="0">
                <a:solidFill>
                  <a:schemeClr val="tx1"/>
                </a:solidFill>
                <a:ea typeface="仿宋" pitchFamily="49" charset="-122"/>
                <a:cs typeface="Consolas" pitchFamily="49" charset="0"/>
              </a:rPr>
              <a:t>      </a:t>
            </a:r>
            <a:r>
              <a:rPr lang="en-US" altLang="zh-CN" sz="2000" dirty="0" err="1">
                <a:solidFill>
                  <a:schemeClr val="tx1"/>
                </a:solidFill>
                <a:ea typeface="仿宋" pitchFamily="49" charset="-122"/>
                <a:cs typeface="Consolas" pitchFamily="49" charset="0"/>
              </a:rPr>
              <a:t>GetImag</a:t>
            </a:r>
            <a:r>
              <a:rPr lang="en-US" altLang="zh-CN" sz="2000" dirty="0">
                <a:solidFill>
                  <a:schemeClr val="tx1"/>
                </a:solidFill>
                <a:ea typeface="仿宋" pitchFamily="49" charset="-122"/>
                <a:cs typeface="Consolas" pitchFamily="49" charset="0"/>
              </a:rPr>
              <a:t>(z</a:t>
            </a:r>
            <a:r>
              <a:rPr lang="zh-CN" altLang="en-US" sz="2000" dirty="0">
                <a:solidFill>
                  <a:schemeClr val="tx1"/>
                </a:solidFill>
                <a:ea typeface="仿宋" pitchFamily="49" charset="-122"/>
                <a:cs typeface="Consolas" pitchFamily="49" charset="0"/>
              </a:rPr>
              <a:t>，</a:t>
            </a:r>
            <a:r>
              <a:rPr lang="en-US" altLang="zh-CN" sz="2000" dirty="0">
                <a:solidFill>
                  <a:schemeClr val="tx1"/>
                </a:solidFill>
                <a:ea typeface="仿宋" pitchFamily="49" charset="-122"/>
                <a:cs typeface="Consolas" pitchFamily="49" charset="0"/>
              </a:rPr>
              <a:t>&amp;</a:t>
            </a:r>
            <a:r>
              <a:rPr lang="en-US" altLang="zh-CN" sz="2000" dirty="0" err="1">
                <a:solidFill>
                  <a:schemeClr val="tx1"/>
                </a:solidFill>
                <a:ea typeface="仿宋" pitchFamily="49" charset="-122"/>
                <a:cs typeface="Consolas" pitchFamily="49" charset="0"/>
              </a:rPr>
              <a:t>Imag</a:t>
            </a:r>
            <a:r>
              <a:rPr lang="en-US" altLang="zh-CN" sz="2000" dirty="0">
                <a:solidFill>
                  <a:schemeClr val="tx1"/>
                </a:solidFill>
                <a:ea typeface="仿宋" pitchFamily="49" charset="-122"/>
                <a:cs typeface="Consolas" pitchFamily="49" charset="0"/>
              </a:rPr>
              <a:t>)</a:t>
            </a:r>
            <a:r>
              <a:rPr lang="zh-CN" altLang="en-US" sz="2000" dirty="0">
                <a:solidFill>
                  <a:schemeClr val="tx1"/>
                </a:solidFill>
                <a:ea typeface="仿宋" pitchFamily="49" charset="-122"/>
                <a:cs typeface="Consolas" pitchFamily="49" charset="0"/>
              </a:rPr>
              <a:t>：返回复数</a:t>
            </a:r>
            <a:r>
              <a:rPr lang="en-US" altLang="zh-CN" sz="2000" dirty="0">
                <a:solidFill>
                  <a:schemeClr val="tx1"/>
                </a:solidFill>
                <a:ea typeface="仿宋" pitchFamily="49" charset="-122"/>
                <a:cs typeface="Consolas" pitchFamily="49" charset="0"/>
              </a:rPr>
              <a:t>z</a:t>
            </a:r>
            <a:r>
              <a:rPr lang="zh-CN" altLang="en-US" sz="2000" dirty="0">
                <a:solidFill>
                  <a:schemeClr val="tx1"/>
                </a:solidFill>
                <a:ea typeface="仿宋" pitchFamily="49" charset="-122"/>
                <a:cs typeface="Consolas" pitchFamily="49" charset="0"/>
              </a:rPr>
              <a:t>的虚部值。</a:t>
            </a:r>
          </a:p>
          <a:p>
            <a:pPr algn="just">
              <a:lnSpc>
                <a:spcPct val="150000"/>
              </a:lnSpc>
            </a:pPr>
            <a:r>
              <a:rPr lang="zh-CN" altLang="en-US" sz="2000" dirty="0">
                <a:solidFill>
                  <a:schemeClr val="tx1"/>
                </a:solidFill>
                <a:ea typeface="仿宋" pitchFamily="49" charset="-122"/>
                <a:cs typeface="Consolas" pitchFamily="49" charset="0"/>
              </a:rPr>
              <a:t>      </a:t>
            </a:r>
            <a:r>
              <a:rPr lang="en-US" altLang="zh-CN" sz="2000" dirty="0">
                <a:solidFill>
                  <a:schemeClr val="tx1"/>
                </a:solidFill>
                <a:ea typeface="仿宋" pitchFamily="49" charset="-122"/>
                <a:cs typeface="Consolas" pitchFamily="49" charset="0"/>
              </a:rPr>
              <a:t>Add(z1</a:t>
            </a:r>
            <a:r>
              <a:rPr lang="zh-CN" altLang="en-US" sz="2000" dirty="0">
                <a:solidFill>
                  <a:schemeClr val="tx1"/>
                </a:solidFill>
                <a:ea typeface="仿宋" pitchFamily="49" charset="-122"/>
                <a:cs typeface="Consolas" pitchFamily="49" charset="0"/>
              </a:rPr>
              <a:t>，</a:t>
            </a:r>
            <a:r>
              <a:rPr lang="en-US" altLang="zh-CN" sz="2000" dirty="0">
                <a:solidFill>
                  <a:schemeClr val="tx1"/>
                </a:solidFill>
                <a:ea typeface="仿宋" pitchFamily="49" charset="-122"/>
                <a:cs typeface="Consolas" pitchFamily="49" charset="0"/>
              </a:rPr>
              <a:t>z2</a:t>
            </a:r>
            <a:r>
              <a:rPr lang="zh-CN" altLang="en-US" sz="2000" dirty="0">
                <a:solidFill>
                  <a:schemeClr val="tx1"/>
                </a:solidFill>
                <a:ea typeface="仿宋" pitchFamily="49" charset="-122"/>
                <a:cs typeface="Consolas" pitchFamily="49" charset="0"/>
              </a:rPr>
              <a:t>，</a:t>
            </a:r>
            <a:r>
              <a:rPr lang="en-US" altLang="zh-CN" sz="2000" dirty="0">
                <a:solidFill>
                  <a:schemeClr val="tx1"/>
                </a:solidFill>
                <a:ea typeface="仿宋" pitchFamily="49" charset="-122"/>
                <a:cs typeface="Consolas" pitchFamily="49" charset="0"/>
              </a:rPr>
              <a:t>&amp;sum)</a:t>
            </a:r>
            <a:r>
              <a:rPr lang="zh-CN" altLang="en-US" sz="2000" dirty="0">
                <a:solidFill>
                  <a:schemeClr val="tx1"/>
                </a:solidFill>
                <a:ea typeface="仿宋" pitchFamily="49" charset="-122"/>
                <a:cs typeface="Consolas" pitchFamily="49" charset="0"/>
              </a:rPr>
              <a:t>：返回两个复数</a:t>
            </a:r>
            <a:r>
              <a:rPr lang="en-US" altLang="zh-CN" sz="2000" dirty="0">
                <a:solidFill>
                  <a:schemeClr val="tx1"/>
                </a:solidFill>
                <a:ea typeface="仿宋" pitchFamily="49" charset="-122"/>
                <a:cs typeface="Consolas" pitchFamily="49" charset="0"/>
              </a:rPr>
              <a:t>z1</a:t>
            </a:r>
            <a:r>
              <a:rPr lang="zh-CN" altLang="en-US" sz="2000" dirty="0">
                <a:solidFill>
                  <a:schemeClr val="tx1"/>
                </a:solidFill>
                <a:ea typeface="仿宋" pitchFamily="49" charset="-122"/>
                <a:cs typeface="Consolas" pitchFamily="49" charset="0"/>
              </a:rPr>
              <a:t>、</a:t>
            </a:r>
            <a:r>
              <a:rPr lang="en-US" altLang="zh-CN" sz="2000" dirty="0">
                <a:solidFill>
                  <a:schemeClr val="tx1"/>
                </a:solidFill>
                <a:ea typeface="仿宋" pitchFamily="49" charset="-122"/>
                <a:cs typeface="Consolas" pitchFamily="49" charset="0"/>
              </a:rPr>
              <a:t>z2</a:t>
            </a:r>
            <a:r>
              <a:rPr lang="zh-CN" altLang="en-US" sz="2000" dirty="0">
                <a:solidFill>
                  <a:schemeClr val="tx1"/>
                </a:solidFill>
                <a:ea typeface="仿宋" pitchFamily="49" charset="-122"/>
                <a:cs typeface="Consolas" pitchFamily="49" charset="0"/>
              </a:rPr>
              <a:t>的和。</a:t>
            </a:r>
          </a:p>
          <a:p>
            <a:pPr algn="just">
              <a:lnSpc>
                <a:spcPct val="150000"/>
              </a:lnSpc>
            </a:pPr>
            <a:r>
              <a:rPr lang="en-US" altLang="zh-CN" sz="2000" b="1" dirty="0">
                <a:solidFill>
                  <a:schemeClr val="tx1"/>
                </a:solidFill>
                <a:ea typeface="仿宋" pitchFamily="49" charset="-122"/>
                <a:cs typeface="Consolas" pitchFamily="49" charset="0"/>
              </a:rPr>
              <a:t>}  ADT Complex</a:t>
            </a:r>
          </a:p>
        </p:txBody>
      </p:sp>
      <p:sp>
        <p:nvSpPr>
          <p:cNvPr id="5" name="Text Box 4">
            <a:extLst>
              <a:ext uri="{FF2B5EF4-FFF2-40B4-BE49-F238E27FC236}">
                <a16:creationId xmlns:a16="http://schemas.microsoft.com/office/drawing/2014/main" id="{82CB841F-4DCA-433C-9A13-F58A9AB5DCE8}"/>
              </a:ext>
            </a:extLst>
          </p:cNvPr>
          <p:cNvSpPr txBox="1">
            <a:spLocks noChangeArrowheads="1"/>
          </p:cNvSpPr>
          <p:nvPr/>
        </p:nvSpPr>
        <p:spPr bwMode="auto">
          <a:xfrm>
            <a:off x="1979712" y="998340"/>
            <a:ext cx="5572164" cy="369332"/>
          </a:xfrm>
          <a:prstGeom prst="rect">
            <a:avLst/>
          </a:prstGeom>
          <a:noFill/>
          <a:ln w="9525">
            <a:noFill/>
            <a:miter lim="800000"/>
            <a:headEnd/>
            <a:tailEnd/>
          </a:ln>
          <a:effectLst/>
        </p:spPr>
        <p:txBody>
          <a:bodyPr wrap="square">
            <a:spAutoFit/>
          </a:bodyPr>
          <a:lstStyle/>
          <a:p>
            <a:pPr algn="l">
              <a:lnSpc>
                <a:spcPct val="100000"/>
              </a:lnSpc>
              <a:spcBef>
                <a:spcPct val="0"/>
              </a:spcBef>
            </a:pPr>
            <a:r>
              <a:rPr lang="zh-CN" altLang="en-US" b="1" dirty="0">
                <a:ea typeface="楷体" panose="02010609060101010101" pitchFamily="49" charset="-122"/>
                <a:cs typeface="Consolas" pitchFamily="49" charset="0"/>
              </a:rPr>
              <a:t>一个复数的形式：</a:t>
            </a:r>
            <a:r>
              <a:rPr lang="en-US" altLang="zh-CN" b="1" i="1" dirty="0" err="1">
                <a:ea typeface="楷体" panose="02010609060101010101" pitchFamily="49" charset="-122"/>
                <a:cs typeface="Consolas" pitchFamily="49" charset="0"/>
              </a:rPr>
              <a:t>e</a:t>
            </a:r>
            <a:r>
              <a:rPr lang="en-US" altLang="zh-CN" b="1" baseline="-25000" dirty="0" err="1">
                <a:ea typeface="楷体" panose="02010609060101010101" pitchFamily="49" charset="-122"/>
                <a:cs typeface="Consolas" pitchFamily="49" charset="0"/>
              </a:rPr>
              <a:t>1</a:t>
            </a:r>
            <a:r>
              <a:rPr lang="en-US" altLang="zh-CN" b="1" dirty="0" err="1">
                <a:ea typeface="楷体" panose="02010609060101010101" pitchFamily="49" charset="-122"/>
                <a:cs typeface="Consolas" pitchFamily="49" charset="0"/>
              </a:rPr>
              <a:t>+</a:t>
            </a:r>
            <a:r>
              <a:rPr lang="en-US" altLang="zh-CN" b="1" i="1" dirty="0" err="1">
                <a:ea typeface="楷体" panose="02010609060101010101" pitchFamily="49" charset="-122"/>
                <a:cs typeface="Consolas" pitchFamily="49" charset="0"/>
              </a:rPr>
              <a:t>e</a:t>
            </a:r>
            <a:r>
              <a:rPr lang="en-US" altLang="zh-CN" b="1" baseline="-25000" dirty="0" err="1">
                <a:ea typeface="楷体" panose="02010609060101010101" pitchFamily="49" charset="-122"/>
                <a:cs typeface="Consolas" pitchFamily="49" charset="0"/>
              </a:rPr>
              <a:t>2</a:t>
            </a:r>
            <a:r>
              <a:rPr lang="en-US" altLang="zh-CN" b="1" i="1" dirty="0" err="1">
                <a:ea typeface="楷体" panose="02010609060101010101" pitchFamily="49" charset="-122"/>
                <a:cs typeface="Consolas" pitchFamily="49" charset="0"/>
              </a:rPr>
              <a:t>i</a:t>
            </a:r>
            <a:r>
              <a:rPr lang="zh-CN" altLang="en-US" b="1" dirty="0">
                <a:ea typeface="楷体" panose="02010609060101010101" pitchFamily="49" charset="-122"/>
                <a:cs typeface="Consolas" pitchFamily="49" charset="0"/>
              </a:rPr>
              <a:t>或（</a:t>
            </a:r>
            <a:r>
              <a:rPr lang="en-US" altLang="zh-CN" b="1" i="1" dirty="0">
                <a:ea typeface="楷体" panose="02010609060101010101" pitchFamily="49" charset="-122"/>
                <a:cs typeface="Consolas" pitchFamily="49" charset="0"/>
              </a:rPr>
              <a:t>e</a:t>
            </a:r>
            <a:r>
              <a:rPr lang="en-US" altLang="zh-CN" b="1" baseline="-25000" dirty="0">
                <a:ea typeface="楷体" panose="02010609060101010101" pitchFamily="49" charset="-122"/>
                <a:cs typeface="Consolas" pitchFamily="49" charset="0"/>
              </a:rPr>
              <a:t>1</a:t>
            </a:r>
            <a:r>
              <a:rPr lang="zh-CN" altLang="en-US" b="1" dirty="0">
                <a:ea typeface="楷体" panose="02010609060101010101" pitchFamily="49" charset="-122"/>
                <a:cs typeface="Consolas" pitchFamily="49" charset="0"/>
              </a:rPr>
              <a:t>，</a:t>
            </a:r>
            <a:r>
              <a:rPr lang="en-US" altLang="zh-CN" b="1" i="1" dirty="0">
                <a:ea typeface="楷体" panose="02010609060101010101" pitchFamily="49" charset="-122"/>
                <a:cs typeface="Consolas" pitchFamily="49" charset="0"/>
              </a:rPr>
              <a:t>e</a:t>
            </a:r>
            <a:r>
              <a:rPr lang="en-US" altLang="zh-CN" b="1" baseline="-25000" dirty="0">
                <a:ea typeface="楷体" panose="02010609060101010101" pitchFamily="49" charset="-122"/>
                <a:cs typeface="Consolas" pitchFamily="49" charset="0"/>
              </a:rPr>
              <a:t>2</a:t>
            </a:r>
            <a:r>
              <a:rPr lang="zh-CN" altLang="en-US" b="1" dirty="0">
                <a:ea typeface="楷体" panose="02010609060101010101" pitchFamily="49" charset="-122"/>
                <a:cs typeface="Consolas" pitchFamily="49" charset="0"/>
              </a:rPr>
              <a:t>）</a:t>
            </a:r>
          </a:p>
        </p:txBody>
      </p:sp>
      <p:sp>
        <p:nvSpPr>
          <p:cNvPr id="6" name="Text Box 5">
            <a:extLst>
              <a:ext uri="{FF2B5EF4-FFF2-40B4-BE49-F238E27FC236}">
                <a16:creationId xmlns:a16="http://schemas.microsoft.com/office/drawing/2014/main" id="{5C1AD5A3-BA5C-4DDF-99F7-B769FDEC6479}"/>
              </a:ext>
            </a:extLst>
          </p:cNvPr>
          <p:cNvSpPr txBox="1">
            <a:spLocks noChangeArrowheads="1"/>
          </p:cNvSpPr>
          <p:nvPr/>
        </p:nvSpPr>
        <p:spPr bwMode="auto">
          <a:xfrm>
            <a:off x="447660" y="501445"/>
            <a:ext cx="5838852" cy="461665"/>
          </a:xfrm>
          <a:prstGeom prst="rect">
            <a:avLst/>
          </a:prstGeom>
          <a:noFill/>
          <a:ln w="9525" algn="ctr">
            <a:noFill/>
            <a:miter lim="800000"/>
            <a:headEnd/>
            <a:tailEnd/>
          </a:ln>
          <a:effectLst/>
        </p:spPr>
        <p:txBody>
          <a:bodyPr wrap="square">
            <a:spAutoFit/>
          </a:bodyPr>
          <a:lstStyle/>
          <a:p>
            <a:pPr marL="457200" indent="-457200" algn="l">
              <a:lnSpc>
                <a:spcPct val="100000"/>
              </a:lnSpc>
            </a:pPr>
            <a:r>
              <a:rPr lang="zh-CN" altLang="en-US" sz="2400" b="1" dirty="0">
                <a:latin typeface="楷体" panose="02010609060101010101" pitchFamily="49" charset="-122"/>
                <a:ea typeface="楷体" panose="02010609060101010101" pitchFamily="49" charset="-122"/>
                <a:cs typeface="Consolas" pitchFamily="49" charset="0"/>
              </a:rPr>
              <a:t>例如</a:t>
            </a:r>
            <a:r>
              <a:rPr lang="zh-CN" altLang="en-US" sz="2400" dirty="0">
                <a:latin typeface="楷体" panose="02010609060101010101" pitchFamily="49" charset="-122"/>
                <a:ea typeface="楷体" panose="02010609060101010101" pitchFamily="49" charset="-122"/>
                <a:cs typeface="Consolas" pitchFamily="49" charset="0"/>
              </a:rPr>
              <a:t>，定义复数抽象数据类型</a:t>
            </a:r>
            <a:r>
              <a:rPr lang="en-US" altLang="zh-CN" sz="2400" dirty="0">
                <a:latin typeface="楷体" panose="02010609060101010101" pitchFamily="49" charset="-122"/>
                <a:ea typeface="楷体" panose="02010609060101010101" pitchFamily="49" charset="-122"/>
                <a:cs typeface="Consolas" pitchFamily="49" charset="0"/>
              </a:rPr>
              <a:t>Complex</a:t>
            </a:r>
            <a:endParaRPr lang="zh-CN" altLang="en-US" sz="2400" b="1" dirty="0">
              <a:latin typeface="楷体" panose="02010609060101010101" pitchFamily="49" charset="-122"/>
              <a:ea typeface="楷体" panose="02010609060101010101" pitchFamily="49" charset="-122"/>
              <a:cs typeface="Consolas" pitchFamily="49" charset="0"/>
            </a:endParaRPr>
          </a:p>
        </p:txBody>
      </p:sp>
    </p:spTree>
    <p:extLst>
      <p:ext uri="{BB962C8B-B14F-4D97-AF65-F5344CB8AC3E}">
        <p14:creationId xmlns:p14="http://schemas.microsoft.com/office/powerpoint/2010/main" val="35939171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7E94AE8D-8099-46DF-93AC-0CF8B88B76B6}"/>
              </a:ext>
            </a:extLst>
          </p:cNvPr>
          <p:cNvSpPr>
            <a:spLocks noGrp="1"/>
          </p:cNvSpPr>
          <p:nvPr>
            <p:ph type="dt" sz="half" idx="10"/>
          </p:nvPr>
        </p:nvSpPr>
        <p:spPr/>
        <p:txBody>
          <a:bodyPr/>
          <a:lstStyle/>
          <a:p>
            <a:r>
              <a:rPr lang="en-US" altLang="zh-CN"/>
              <a:t>2016/2/5</a:t>
            </a:r>
            <a:endParaRPr lang="zh-CN" altLang="en-US" dirty="0"/>
          </a:p>
        </p:txBody>
      </p:sp>
      <p:sp>
        <p:nvSpPr>
          <p:cNvPr id="4" name="TextBox 1">
            <a:extLst>
              <a:ext uri="{FF2B5EF4-FFF2-40B4-BE49-F238E27FC236}">
                <a16:creationId xmlns:a16="http://schemas.microsoft.com/office/drawing/2014/main" id="{2272D55C-DEB6-4AC2-837D-5646F0EED2AB}"/>
              </a:ext>
            </a:extLst>
          </p:cNvPr>
          <p:cNvSpPr txBox="1"/>
          <p:nvPr/>
        </p:nvSpPr>
        <p:spPr>
          <a:xfrm>
            <a:off x="1785918" y="586215"/>
            <a:ext cx="1643074" cy="743995"/>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6"/>
          </a:lnRef>
          <a:fillRef idx="3">
            <a:schemeClr val="accent6"/>
          </a:fillRef>
          <a:effectRef idx="2">
            <a:schemeClr val="accent6"/>
          </a:effectRef>
          <a:fontRef idx="minor">
            <a:schemeClr val="lt1"/>
          </a:fontRef>
        </p:style>
        <p:txBody>
          <a:bodyPr wrap="square" tIns="252000" bIns="180000" rtlCol="0">
            <a:spAutoFit/>
          </a:bodyPr>
          <a:lstStyle/>
          <a:p>
            <a:pPr algn="ctr"/>
            <a:r>
              <a:rPr lang="en-US" altLang="zh-CN" sz="2000" b="1" dirty="0">
                <a:solidFill>
                  <a:srgbClr val="FF0000"/>
                </a:solidFill>
                <a:latin typeface="Calibri" panose="020F0502020204030204" pitchFamily="34" charset="0"/>
                <a:ea typeface="楷体" pitchFamily="49" charset="-122"/>
                <a:cs typeface="Calibri" panose="020F0502020204030204" pitchFamily="34" charset="0"/>
              </a:rPr>
              <a:t>Complex</a:t>
            </a:r>
          </a:p>
        </p:txBody>
      </p:sp>
      <p:sp>
        <p:nvSpPr>
          <p:cNvPr id="6" name="TextBox 5">
            <a:extLst>
              <a:ext uri="{FF2B5EF4-FFF2-40B4-BE49-F238E27FC236}">
                <a16:creationId xmlns:a16="http://schemas.microsoft.com/office/drawing/2014/main" id="{1EA3F8D8-96C8-4F35-84B0-FA3A424BA2D0}"/>
              </a:ext>
            </a:extLst>
          </p:cNvPr>
          <p:cNvSpPr txBox="1"/>
          <p:nvPr/>
        </p:nvSpPr>
        <p:spPr>
          <a:xfrm>
            <a:off x="3702456" y="2791168"/>
            <a:ext cx="4464496" cy="400110"/>
          </a:xfrm>
          <a:prstGeom prst="rect">
            <a:avLst/>
          </a:prstGeom>
          <a:noFill/>
        </p:spPr>
        <p:txBody>
          <a:bodyPr wrap="square" rtlCol="0">
            <a:spAutoFit/>
          </a:bodyPr>
          <a:lstStyle/>
          <a:p>
            <a:pPr algn="l"/>
            <a:r>
              <a:rPr lang="zh-CN" altLang="en-US" sz="2000" b="1" dirty="0">
                <a:solidFill>
                  <a:srgbClr val="0000FF"/>
                </a:solidFill>
                <a:latin typeface="楷体" panose="02010609060101010101" pitchFamily="49" charset="-122"/>
                <a:ea typeface="楷体" panose="02010609060101010101" pitchFamily="49" charset="-122"/>
                <a:cs typeface="Times New Roman" pitchFamily="18" charset="0"/>
              </a:rPr>
              <a:t>程序员编程实现该数据结构</a:t>
            </a:r>
            <a:endParaRPr lang="zh-CN" altLang="en-US" sz="2000" b="1" dirty="0">
              <a:solidFill>
                <a:srgbClr val="0000FF"/>
              </a:solidFill>
              <a:latin typeface="楷体" panose="02010609060101010101" pitchFamily="49" charset="-122"/>
              <a:ea typeface="楷体" panose="02010609060101010101" pitchFamily="49" charset="-122"/>
            </a:endParaRPr>
          </a:p>
        </p:txBody>
      </p:sp>
      <p:grpSp>
        <p:nvGrpSpPr>
          <p:cNvPr id="7" name="组合 11">
            <a:extLst>
              <a:ext uri="{FF2B5EF4-FFF2-40B4-BE49-F238E27FC236}">
                <a16:creationId xmlns:a16="http://schemas.microsoft.com/office/drawing/2014/main" id="{67A2621B-C0AD-492B-853D-683E282D1ECE}"/>
              </a:ext>
            </a:extLst>
          </p:cNvPr>
          <p:cNvGrpSpPr/>
          <p:nvPr/>
        </p:nvGrpSpPr>
        <p:grpSpPr>
          <a:xfrm>
            <a:off x="571472" y="4143380"/>
            <a:ext cx="7572428" cy="1877844"/>
            <a:chOff x="571472" y="4143380"/>
            <a:chExt cx="7572428" cy="1877844"/>
          </a:xfrm>
          <a:effectLst>
            <a:outerShdw blurRad="50800" dist="38100" dir="5400000" algn="t" rotWithShape="0">
              <a:prstClr val="black">
                <a:alpha val="40000"/>
              </a:prstClr>
            </a:outerShdw>
          </a:effectLst>
        </p:grpSpPr>
        <p:sp>
          <p:nvSpPr>
            <p:cNvPr id="8" name="左弧形箭头 7">
              <a:extLst>
                <a:ext uri="{FF2B5EF4-FFF2-40B4-BE49-F238E27FC236}">
                  <a16:creationId xmlns:a16="http://schemas.microsoft.com/office/drawing/2014/main" id="{E43EF73B-DEB5-4A2C-AA43-8AAD08E6BCF2}"/>
                </a:ext>
              </a:extLst>
            </p:cNvPr>
            <p:cNvSpPr/>
            <p:nvPr/>
          </p:nvSpPr>
          <p:spPr>
            <a:xfrm>
              <a:off x="571472" y="4143380"/>
              <a:ext cx="357190" cy="857256"/>
            </a:xfrm>
            <a:prstGeom prst="curved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sz="4000">
                <a:solidFill>
                  <a:schemeClr val="tx1"/>
                </a:solidFill>
                <a:latin typeface="楷体" panose="02010609060101010101" pitchFamily="49" charset="-122"/>
                <a:ea typeface="楷体" panose="02010609060101010101" pitchFamily="49" charset="-122"/>
              </a:endParaRPr>
            </a:p>
          </p:txBody>
        </p:sp>
        <p:sp>
          <p:nvSpPr>
            <p:cNvPr id="9" name="TextBox 10">
              <a:extLst>
                <a:ext uri="{FF2B5EF4-FFF2-40B4-BE49-F238E27FC236}">
                  <a16:creationId xmlns:a16="http://schemas.microsoft.com/office/drawing/2014/main" id="{0CCF50DF-7FB6-4285-A22E-278B8EA1E117}"/>
                </a:ext>
              </a:extLst>
            </p:cNvPr>
            <p:cNvSpPr txBox="1"/>
            <p:nvPr/>
          </p:nvSpPr>
          <p:spPr>
            <a:xfrm>
              <a:off x="1000100" y="4572008"/>
              <a:ext cx="7143800" cy="1449216"/>
            </a:xfrm>
            <a:prstGeom prst="rect">
              <a:avLst/>
            </a:prstGeom>
          </p:spPr>
          <p:style>
            <a:lnRef idx="1">
              <a:schemeClr val="accent5"/>
            </a:lnRef>
            <a:fillRef idx="2">
              <a:schemeClr val="accent5"/>
            </a:fillRef>
            <a:effectRef idx="1">
              <a:schemeClr val="accent5"/>
            </a:effectRef>
            <a:fontRef idx="minor">
              <a:schemeClr val="dk1"/>
            </a:fontRef>
          </p:style>
          <p:txBody>
            <a:bodyPr wrap="square" lIns="144000" tIns="108000" rIns="144000" bIns="108000" rtlCol="0">
              <a:spAutoFit/>
            </a:bodyPr>
            <a:lstStyle/>
            <a:p>
              <a:pPr algn="l">
                <a:lnSpc>
                  <a:spcPts val="3200"/>
                </a:lnSpc>
              </a:pPr>
              <a:r>
                <a:rPr lang="zh-CN" altLang="en-US" sz="2400" b="1" dirty="0">
                  <a:solidFill>
                    <a:srgbClr val="0000FF"/>
                  </a:solidFill>
                  <a:latin typeface="楷体" panose="02010609060101010101" pitchFamily="49" charset="-122"/>
                  <a:ea typeface="楷体" panose="02010609060101010101" pitchFamily="49" charset="-122"/>
                  <a:cs typeface="Times New Roman" pitchFamily="18" charset="0"/>
                </a:rPr>
                <a:t>抽象数据类型实质上就是对一个求解问题的形式化描述（与计算机无关），程序员可以在理解基础上实现它。</a:t>
              </a:r>
            </a:p>
          </p:txBody>
        </p:sp>
      </p:grpSp>
      <p:sp>
        <p:nvSpPr>
          <p:cNvPr id="10" name="TextBox 3">
            <a:extLst>
              <a:ext uri="{FF2B5EF4-FFF2-40B4-BE49-F238E27FC236}">
                <a16:creationId xmlns:a16="http://schemas.microsoft.com/office/drawing/2014/main" id="{EBF56D69-F715-4AA1-9524-E1044B44D84D}"/>
              </a:ext>
            </a:extLst>
          </p:cNvPr>
          <p:cNvSpPr txBox="1"/>
          <p:nvPr/>
        </p:nvSpPr>
        <p:spPr>
          <a:xfrm>
            <a:off x="3719172" y="577318"/>
            <a:ext cx="928694" cy="393121"/>
          </a:xfrm>
          <a:prstGeom prst="rect">
            <a:avLst/>
          </a:prstGeom>
          <a:noFill/>
        </p:spPr>
        <p:txBody>
          <a:bodyPr wrap="square" rtlCol="0">
            <a:spAutoFit/>
          </a:bodyPr>
          <a:lstStyle/>
          <a:p>
            <a:pPr algn="l"/>
            <a:r>
              <a:rPr lang="en-US" altLang="zh-CN" dirty="0">
                <a:solidFill>
                  <a:srgbClr val="0000FF"/>
                </a:solidFill>
                <a:latin typeface="Consolas" pitchFamily="49" charset="0"/>
                <a:ea typeface="楷体" pitchFamily="49" charset="-122"/>
                <a:cs typeface="Consolas" pitchFamily="49" charset="0"/>
              </a:rPr>
              <a:t>ADT</a:t>
            </a:r>
            <a:endParaRPr lang="zh-CN" altLang="en-US" dirty="0">
              <a:solidFill>
                <a:srgbClr val="0000FF"/>
              </a:solidFill>
              <a:latin typeface="Consolas" pitchFamily="49" charset="0"/>
              <a:ea typeface="楷体" pitchFamily="49" charset="-122"/>
              <a:cs typeface="Consolas" pitchFamily="49" charset="0"/>
            </a:endParaRPr>
          </a:p>
        </p:txBody>
      </p:sp>
      <p:sp>
        <p:nvSpPr>
          <p:cNvPr id="11" name="下箭头 2">
            <a:extLst>
              <a:ext uri="{FF2B5EF4-FFF2-40B4-BE49-F238E27FC236}">
                <a16:creationId xmlns:a16="http://schemas.microsoft.com/office/drawing/2014/main" id="{7357485D-7944-4A50-81E2-2337383C10C2}"/>
              </a:ext>
            </a:extLst>
          </p:cNvPr>
          <p:cNvSpPr/>
          <p:nvPr/>
        </p:nvSpPr>
        <p:spPr>
          <a:xfrm>
            <a:off x="2464579" y="1500174"/>
            <a:ext cx="285752" cy="357190"/>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sz="2800"/>
          </a:p>
        </p:txBody>
      </p:sp>
      <p:pic>
        <p:nvPicPr>
          <p:cNvPr id="1026" name="Picture 2" descr="https://imgconvert.csdnimg.cn/aHR0cHM6Ly9tbWJpei5xcGljLmNuL21tYml6X3BuZy9pY1FiV3ZyRk1lSlhyeWFBaWNHd0U4a293azBkNG9BMW9yaWNRT0d6QUlDWU1SbkJLaWJsclltTGRpY3RiaWNJdkhOdEVvaWN0NWJoRVVFbTBIdHpBaWJNV2M3bHhnLzY0MA?x-oss-process=image/format,png">
            <a:extLst>
              <a:ext uri="{FF2B5EF4-FFF2-40B4-BE49-F238E27FC236}">
                <a16:creationId xmlns:a16="http://schemas.microsoft.com/office/drawing/2014/main" id="{D76B2A7E-A8D5-4A8B-840E-F493CE22FC2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87891" y="1903225"/>
            <a:ext cx="2175997" cy="2175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087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7157" y="511555"/>
            <a:ext cx="7520940" cy="548640"/>
          </a:xfrm>
        </p:spPr>
        <p:txBody>
          <a:bodyPr/>
          <a:lstStyle/>
          <a:p>
            <a:r>
              <a:rPr lang="en-US" altLang="zh-CN" b="1" dirty="0"/>
              <a:t>1.3 </a:t>
            </a:r>
            <a:r>
              <a:rPr lang="zh-CN" altLang="zh-CN" b="1" dirty="0"/>
              <a:t>问题、算法和程序</a:t>
            </a:r>
            <a:endParaRPr lang="zh-CN" altLang="en-US" dirty="0"/>
          </a:p>
        </p:txBody>
      </p:sp>
      <p:sp>
        <p:nvSpPr>
          <p:cNvPr id="7" name="Text Box 2">
            <a:extLst>
              <a:ext uri="{FF2B5EF4-FFF2-40B4-BE49-F238E27FC236}">
                <a16:creationId xmlns:a16="http://schemas.microsoft.com/office/drawing/2014/main" id="{0823A265-F745-4B7A-8654-A1C04A6A7CC1}"/>
              </a:ext>
            </a:extLst>
          </p:cNvPr>
          <p:cNvSpPr txBox="1">
            <a:spLocks noChangeArrowheads="1"/>
          </p:cNvSpPr>
          <p:nvPr/>
        </p:nvSpPr>
        <p:spPr bwMode="auto">
          <a:xfrm>
            <a:off x="395536" y="1196752"/>
            <a:ext cx="8569325" cy="889667"/>
          </a:xfrm>
          <a:prstGeom prst="rect">
            <a:avLst/>
          </a:prstGeom>
          <a:noFill/>
          <a:ln w="9525">
            <a:noFill/>
            <a:miter lim="800000"/>
            <a:headEnd/>
            <a:tailEnd/>
          </a:ln>
          <a:effectLst/>
        </p:spPr>
        <p:txBody>
          <a:bodyPr>
            <a:spAutoFit/>
          </a:bodyPr>
          <a:lstStyle/>
          <a:p>
            <a:pPr eaLnBrk="0" hangingPunct="0">
              <a:lnSpc>
                <a:spcPct val="140000"/>
              </a:lnSpc>
              <a:spcBef>
                <a:spcPct val="0"/>
              </a:spcBef>
            </a:pPr>
            <a:r>
              <a:rPr lang="zh-CN" altLang="en-US" sz="2000" dirty="0">
                <a:latin typeface="楷体" panose="02010609060101010101" pitchFamily="49" charset="-122"/>
                <a:ea typeface="楷体" panose="02010609060101010101" pitchFamily="49" charset="-122"/>
              </a:rPr>
              <a:t>数据元素之间的关系有</a:t>
            </a:r>
            <a:r>
              <a:rPr lang="zh-CN" altLang="en-US" sz="2000" b="1" dirty="0">
                <a:solidFill>
                  <a:srgbClr val="FF0000"/>
                </a:solidFill>
                <a:latin typeface="楷体" panose="02010609060101010101" pitchFamily="49" charset="-122"/>
                <a:ea typeface="楷体" panose="02010609060101010101" pitchFamily="49" charset="-122"/>
              </a:rPr>
              <a:t>逻辑关系</a:t>
            </a:r>
            <a:r>
              <a:rPr lang="zh-CN" altLang="en-US" sz="2000" dirty="0">
                <a:latin typeface="楷体" panose="02010609060101010101" pitchFamily="49" charset="-122"/>
                <a:ea typeface="楷体" panose="02010609060101010101" pitchFamily="49" charset="-122"/>
              </a:rPr>
              <a:t>和</a:t>
            </a:r>
            <a:r>
              <a:rPr lang="zh-CN" altLang="en-US" sz="2000" b="1" dirty="0">
                <a:solidFill>
                  <a:srgbClr val="FF0000"/>
                </a:solidFill>
                <a:latin typeface="楷体" panose="02010609060101010101" pitchFamily="49" charset="-122"/>
                <a:ea typeface="楷体" panose="02010609060101010101" pitchFamily="49" charset="-122"/>
              </a:rPr>
              <a:t>物理关系</a:t>
            </a:r>
            <a:r>
              <a:rPr lang="zh-CN" altLang="en-US" sz="2000" dirty="0">
                <a:latin typeface="楷体" panose="02010609060101010101" pitchFamily="49" charset="-122"/>
                <a:ea typeface="楷体" panose="02010609060101010101" pitchFamily="49" charset="-122"/>
              </a:rPr>
              <a:t>，对应的运算有基于逻辑结构的</a:t>
            </a:r>
            <a:r>
              <a:rPr lang="zh-CN" altLang="en-US" sz="2000" b="1" dirty="0">
                <a:solidFill>
                  <a:srgbClr val="FF0000"/>
                </a:solidFill>
                <a:latin typeface="楷体" panose="02010609060101010101" pitchFamily="49" charset="-122"/>
                <a:ea typeface="楷体" panose="02010609060101010101" pitchFamily="49" charset="-122"/>
              </a:rPr>
              <a:t>运算定义（或运算描述）</a:t>
            </a:r>
            <a:r>
              <a:rPr lang="zh-CN" altLang="en-US" sz="2000" dirty="0">
                <a:latin typeface="楷体" panose="02010609060101010101" pitchFamily="49" charset="-122"/>
                <a:ea typeface="楷体" panose="02010609060101010101" pitchFamily="49" charset="-122"/>
              </a:rPr>
              <a:t>和基于存储结构的</a:t>
            </a:r>
            <a:r>
              <a:rPr lang="zh-CN" altLang="en-US" sz="2000" b="1" dirty="0">
                <a:solidFill>
                  <a:srgbClr val="FF0000"/>
                </a:solidFill>
                <a:latin typeface="楷体" panose="02010609060101010101" pitchFamily="49" charset="-122"/>
                <a:ea typeface="楷体" panose="02010609060101010101" pitchFamily="49" charset="-122"/>
              </a:rPr>
              <a:t>运算实现</a:t>
            </a:r>
            <a:r>
              <a:rPr lang="zh-CN" altLang="en-US" sz="2000" dirty="0">
                <a:latin typeface="楷体" panose="02010609060101010101" pitchFamily="49" charset="-122"/>
                <a:ea typeface="楷体" panose="02010609060101010101" pitchFamily="49" charset="-122"/>
              </a:rPr>
              <a:t>。        </a:t>
            </a:r>
          </a:p>
        </p:txBody>
      </p:sp>
      <p:grpSp>
        <p:nvGrpSpPr>
          <p:cNvPr id="8" name="组合 7">
            <a:extLst>
              <a:ext uri="{FF2B5EF4-FFF2-40B4-BE49-F238E27FC236}">
                <a16:creationId xmlns:a16="http://schemas.microsoft.com/office/drawing/2014/main" id="{E52BEE30-246D-43E3-861F-BB5536F6B25B}"/>
              </a:ext>
            </a:extLst>
          </p:cNvPr>
          <p:cNvGrpSpPr/>
          <p:nvPr/>
        </p:nvGrpSpPr>
        <p:grpSpPr>
          <a:xfrm>
            <a:off x="1236292" y="3052068"/>
            <a:ext cx="6357982" cy="1000132"/>
            <a:chOff x="1285852" y="4857760"/>
            <a:chExt cx="6357982" cy="1000132"/>
          </a:xfrm>
        </p:grpSpPr>
        <p:sp>
          <p:nvSpPr>
            <p:cNvPr id="9" name="矩形 8">
              <a:extLst>
                <a:ext uri="{FF2B5EF4-FFF2-40B4-BE49-F238E27FC236}">
                  <a16:creationId xmlns:a16="http://schemas.microsoft.com/office/drawing/2014/main" id="{5F783301-AFB4-4FB3-A3AE-549B70F9718A}"/>
                </a:ext>
              </a:extLst>
            </p:cNvPr>
            <p:cNvSpPr/>
            <p:nvPr/>
          </p:nvSpPr>
          <p:spPr>
            <a:xfrm>
              <a:off x="1285852" y="4857760"/>
              <a:ext cx="1357322" cy="1000132"/>
            </a:xfrm>
            <a:prstGeom prst="rect">
              <a:avLst/>
            </a:prstGeom>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000" dirty="0">
                  <a:solidFill>
                    <a:srgbClr val="3333FF"/>
                  </a:solidFill>
                  <a:latin typeface="华文中宋" pitchFamily="2" charset="-122"/>
                  <a:ea typeface="华文中宋" pitchFamily="2" charset="-122"/>
                </a:rPr>
                <a:t>运算功能描述</a:t>
              </a:r>
            </a:p>
          </p:txBody>
        </p:sp>
        <p:sp>
          <p:nvSpPr>
            <p:cNvPr id="10" name="矩形 9">
              <a:extLst>
                <a:ext uri="{FF2B5EF4-FFF2-40B4-BE49-F238E27FC236}">
                  <a16:creationId xmlns:a16="http://schemas.microsoft.com/office/drawing/2014/main" id="{FB792C3A-1CEB-49F6-A2F3-37D47FB335CE}"/>
                </a:ext>
              </a:extLst>
            </p:cNvPr>
            <p:cNvSpPr/>
            <p:nvPr/>
          </p:nvSpPr>
          <p:spPr>
            <a:xfrm>
              <a:off x="5143504" y="4929198"/>
              <a:ext cx="1428760" cy="928694"/>
            </a:xfrm>
            <a:prstGeom prst="rect">
              <a:avLst/>
            </a:prstGeom>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000" dirty="0">
                  <a:solidFill>
                    <a:srgbClr val="92D050"/>
                  </a:solidFill>
                  <a:latin typeface="华文中宋" pitchFamily="2" charset="-122"/>
                  <a:ea typeface="华文中宋" pitchFamily="2" charset="-122"/>
                </a:rPr>
                <a:t>运算功能实现</a:t>
              </a:r>
            </a:p>
          </p:txBody>
        </p:sp>
        <p:cxnSp>
          <p:nvCxnSpPr>
            <p:cNvPr id="11" name="直接箭头连接符 10">
              <a:extLst>
                <a:ext uri="{FF2B5EF4-FFF2-40B4-BE49-F238E27FC236}">
                  <a16:creationId xmlns:a16="http://schemas.microsoft.com/office/drawing/2014/main" id="{8E6063BF-CA46-4179-8EB6-58750D0677FF}"/>
                </a:ext>
              </a:extLst>
            </p:cNvPr>
            <p:cNvCxnSpPr>
              <a:endCxn id="10" idx="1"/>
            </p:cNvCxnSpPr>
            <p:nvPr/>
          </p:nvCxnSpPr>
          <p:spPr>
            <a:xfrm>
              <a:off x="2428860" y="5357826"/>
              <a:ext cx="2664000" cy="0"/>
            </a:xfrm>
            <a:prstGeom prst="straightConnector1">
              <a:avLst/>
            </a:prstGeom>
            <a:ln w="3810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0">
              <a:extLst>
                <a:ext uri="{FF2B5EF4-FFF2-40B4-BE49-F238E27FC236}">
                  <a16:creationId xmlns:a16="http://schemas.microsoft.com/office/drawing/2014/main" id="{192B79D0-BDAE-4C09-A3CC-A8752A5612AB}"/>
                </a:ext>
              </a:extLst>
            </p:cNvPr>
            <p:cNvSpPr txBox="1"/>
            <p:nvPr/>
          </p:nvSpPr>
          <p:spPr>
            <a:xfrm>
              <a:off x="2928926" y="4926939"/>
              <a:ext cx="1857388" cy="359778"/>
            </a:xfrm>
            <a:prstGeom prst="rect">
              <a:avLst/>
            </a:prstGeom>
            <a:noFill/>
          </p:spPr>
          <p:txBody>
            <a:bodyPr wrap="square" rtlCol="0">
              <a:spAutoFit/>
            </a:bodyPr>
            <a:lstStyle/>
            <a:p>
              <a:r>
                <a:rPr lang="zh-CN" altLang="en-US" sz="1800" dirty="0">
                  <a:solidFill>
                    <a:srgbClr val="3333FF"/>
                  </a:solidFill>
                  <a:latin typeface="仿宋" pitchFamily="49" charset="-122"/>
                  <a:ea typeface="仿宋" pitchFamily="49" charset="-122"/>
                </a:rPr>
                <a:t>基于存储结构</a:t>
              </a:r>
            </a:p>
          </p:txBody>
        </p:sp>
        <p:sp>
          <p:nvSpPr>
            <p:cNvPr id="13" name="椭圆形标注 11">
              <a:extLst>
                <a:ext uri="{FF2B5EF4-FFF2-40B4-BE49-F238E27FC236}">
                  <a16:creationId xmlns:a16="http://schemas.microsoft.com/office/drawing/2014/main" id="{F3045EAE-5F9F-49D5-B1F7-53AAA32B8F2E}"/>
                </a:ext>
              </a:extLst>
            </p:cNvPr>
            <p:cNvSpPr/>
            <p:nvPr/>
          </p:nvSpPr>
          <p:spPr>
            <a:xfrm>
              <a:off x="6715140" y="4857760"/>
              <a:ext cx="928694" cy="571504"/>
            </a:xfrm>
            <a:prstGeom prst="wedgeEllipseCallout">
              <a:avLst>
                <a:gd name="adj1" fmla="val -82371"/>
                <a:gd name="adj2" fmla="val 55833"/>
              </a:avLst>
            </a:prstGeom>
          </p:spPr>
          <p:style>
            <a:lnRef idx="1">
              <a:schemeClr val="accent2"/>
            </a:lnRef>
            <a:fillRef idx="2">
              <a:schemeClr val="accent2"/>
            </a:fillRef>
            <a:effectRef idx="1">
              <a:schemeClr val="accent2"/>
            </a:effectRef>
            <a:fontRef idx="minor">
              <a:schemeClr val="dk1"/>
            </a:fontRef>
          </p:style>
          <p:txBody>
            <a:bodyPr lIns="0" tIns="0" rIns="0" bIns="0" rtlCol="0" anchor="ctr"/>
            <a:lstStyle/>
            <a:p>
              <a:pPr algn="ctr"/>
              <a:r>
                <a:rPr lang="zh-CN" altLang="en-US" sz="1800" dirty="0">
                  <a:solidFill>
                    <a:srgbClr val="3333FF"/>
                  </a:solidFill>
                  <a:latin typeface="微软雅黑" pitchFamily="34" charset="-122"/>
                  <a:ea typeface="微软雅黑" pitchFamily="34" charset="-122"/>
                </a:rPr>
                <a:t>算法</a:t>
              </a:r>
            </a:p>
          </p:txBody>
        </p:sp>
      </p:grpSp>
      <p:sp>
        <p:nvSpPr>
          <p:cNvPr id="14" name="TextBox 13">
            <a:extLst>
              <a:ext uri="{FF2B5EF4-FFF2-40B4-BE49-F238E27FC236}">
                <a16:creationId xmlns:a16="http://schemas.microsoft.com/office/drawing/2014/main" id="{E6EDACAF-CFB8-464B-9020-453F5463F3C6}"/>
              </a:ext>
            </a:extLst>
          </p:cNvPr>
          <p:cNvSpPr txBox="1"/>
          <p:nvPr/>
        </p:nvSpPr>
        <p:spPr>
          <a:xfrm>
            <a:off x="1253047" y="2251101"/>
            <a:ext cx="6858048" cy="400110"/>
          </a:xfrm>
          <a:prstGeom prst="rect">
            <a:avLst/>
          </a:prstGeom>
          <a:noFill/>
        </p:spPr>
        <p:txBody>
          <a:bodyPr wrap="square" rtlCol="0">
            <a:spAutoFit/>
          </a:bodyPr>
          <a:lstStyle/>
          <a:p>
            <a:r>
              <a:rPr lang="zh-CN" altLang="en-US" sz="2000" dirty="0">
                <a:solidFill>
                  <a:srgbClr val="3333FF"/>
                </a:solidFill>
                <a:latin typeface="楷体" panose="02010609060101010101" pitchFamily="49" charset="-122"/>
                <a:ea typeface="楷体" panose="02010609060101010101" pitchFamily="49" charset="-122"/>
              </a:rPr>
              <a:t>通常把</a:t>
            </a:r>
            <a:r>
              <a:rPr lang="zh-CN" altLang="en-US" sz="2000" dirty="0">
                <a:solidFill>
                  <a:srgbClr val="FF00FF"/>
                </a:solidFill>
                <a:latin typeface="楷体" panose="02010609060101010101" pitchFamily="49" charset="-122"/>
                <a:ea typeface="楷体" panose="02010609060101010101" pitchFamily="49" charset="-122"/>
              </a:rPr>
              <a:t>基于存储结构</a:t>
            </a:r>
            <a:r>
              <a:rPr lang="zh-CN" altLang="en-US" sz="2000" dirty="0">
                <a:solidFill>
                  <a:srgbClr val="3333FF"/>
                </a:solidFill>
                <a:latin typeface="楷体" panose="02010609060101010101" pitchFamily="49" charset="-122"/>
                <a:ea typeface="楷体" panose="02010609060101010101" pitchFamily="49" charset="-122"/>
              </a:rPr>
              <a:t>的运算实现的步骤或过程称为</a:t>
            </a:r>
            <a:r>
              <a:rPr lang="zh-CN" altLang="en-US" sz="2000" dirty="0">
                <a:solidFill>
                  <a:srgbClr val="FF3300"/>
                </a:solidFill>
                <a:latin typeface="楷体" panose="02010609060101010101" pitchFamily="49" charset="-122"/>
                <a:ea typeface="楷体" panose="02010609060101010101" pitchFamily="49" charset="-122"/>
              </a:rPr>
              <a:t>算法</a:t>
            </a:r>
            <a:r>
              <a:rPr lang="zh-CN" altLang="en-US" sz="2000" dirty="0">
                <a:latin typeface="楷体" panose="02010609060101010101" pitchFamily="49" charset="-122"/>
                <a:ea typeface="楷体" panose="02010609060101010101" pitchFamily="49" charset="-122"/>
              </a:rPr>
              <a:t>。</a:t>
            </a:r>
          </a:p>
        </p:txBody>
      </p:sp>
      <p:sp>
        <p:nvSpPr>
          <p:cNvPr id="15" name="TextBox 14">
            <a:extLst>
              <a:ext uri="{FF2B5EF4-FFF2-40B4-BE49-F238E27FC236}">
                <a16:creationId xmlns:a16="http://schemas.microsoft.com/office/drawing/2014/main" id="{858D2164-2696-445D-B6D7-967B76D3BE4F}"/>
              </a:ext>
            </a:extLst>
          </p:cNvPr>
          <p:cNvSpPr txBox="1"/>
          <p:nvPr/>
        </p:nvSpPr>
        <p:spPr>
          <a:xfrm>
            <a:off x="1088095" y="4629904"/>
            <a:ext cx="6525938" cy="400110"/>
          </a:xfrm>
          <a:prstGeom prst="rect">
            <a:avLst/>
          </a:prstGeom>
          <a:noFill/>
        </p:spPr>
        <p:txBody>
          <a:bodyPr wrap="square" rtlCol="0">
            <a:spAutoFit/>
          </a:bodyPr>
          <a:lstStyle/>
          <a:p>
            <a:r>
              <a:rPr lang="zh-CN" altLang="en-US" sz="2000" dirty="0">
                <a:solidFill>
                  <a:srgbClr val="3333FF"/>
                </a:solidFill>
                <a:latin typeface="楷体" panose="02010609060101010101" pitchFamily="49" charset="-122"/>
                <a:ea typeface="楷体" panose="02010609060101010101" pitchFamily="49" charset="-122"/>
              </a:rPr>
              <a:t>更一般地，</a:t>
            </a:r>
            <a:r>
              <a:rPr lang="zh-CN" altLang="en-US" sz="2000" dirty="0">
                <a:solidFill>
                  <a:srgbClr val="FF0000"/>
                </a:solidFill>
                <a:latin typeface="楷体" panose="02010609060101010101" pitchFamily="49" charset="-122"/>
                <a:ea typeface="楷体" panose="02010609060101010101" pitchFamily="49" charset="-122"/>
              </a:rPr>
              <a:t>算法</a:t>
            </a:r>
            <a:r>
              <a:rPr lang="zh-CN" altLang="en-US" sz="2000" dirty="0">
                <a:solidFill>
                  <a:srgbClr val="3333FF"/>
                </a:solidFill>
                <a:latin typeface="楷体" panose="02010609060101010101" pitchFamily="49" charset="-122"/>
                <a:ea typeface="楷体" panose="02010609060101010101" pitchFamily="49" charset="-122"/>
              </a:rPr>
              <a:t>是“解决问题的处理步骤”之一 </a:t>
            </a:r>
            <a:endParaRPr lang="zh-CN" altLang="en-US" sz="2000" dirty="0">
              <a:latin typeface="楷体" panose="02010609060101010101" pitchFamily="49" charset="-122"/>
              <a:ea typeface="楷体" panose="02010609060101010101" pitchFamily="49" charset="-122"/>
            </a:endParaRPr>
          </a:p>
        </p:txBody>
      </p:sp>
      <p:sp>
        <p:nvSpPr>
          <p:cNvPr id="16" name="TextBox 16">
            <a:extLst>
              <a:ext uri="{FF2B5EF4-FFF2-40B4-BE49-F238E27FC236}">
                <a16:creationId xmlns:a16="http://schemas.microsoft.com/office/drawing/2014/main" id="{225FC353-C24B-4D23-8802-F5AAAB69BF7A}"/>
              </a:ext>
            </a:extLst>
          </p:cNvPr>
          <p:cNvSpPr txBox="1"/>
          <p:nvPr/>
        </p:nvSpPr>
        <p:spPr>
          <a:xfrm>
            <a:off x="1236292" y="5163918"/>
            <a:ext cx="6023022" cy="90702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marL="342900" indent="-342900">
              <a:lnSpc>
                <a:spcPct val="130000"/>
              </a:lnSpc>
              <a:spcBef>
                <a:spcPts val="0"/>
              </a:spcBef>
              <a:buBlip>
                <a:blip r:embed="rId2"/>
              </a:buBlip>
            </a:pPr>
            <a:r>
              <a:rPr lang="zh-CN" altLang="en-US" sz="2000">
                <a:solidFill>
                  <a:srgbClr val="006600"/>
                </a:solidFill>
                <a:latin typeface="楷体" panose="02010609060101010101" pitchFamily="49" charset="-122"/>
                <a:ea typeface="楷体" panose="02010609060101010101" pitchFamily="49" charset="-122"/>
                <a:cs typeface="Consolas" pitchFamily="49" charset="0"/>
              </a:rPr>
              <a:t>数据是各种信息的表现形式</a:t>
            </a:r>
            <a:endParaRPr lang="en-US" altLang="zh-CN" sz="2000">
              <a:solidFill>
                <a:srgbClr val="006600"/>
              </a:solidFill>
              <a:latin typeface="楷体" panose="02010609060101010101" pitchFamily="49" charset="-122"/>
              <a:ea typeface="楷体" panose="02010609060101010101" pitchFamily="49" charset="-122"/>
              <a:cs typeface="Consolas" pitchFamily="49" charset="0"/>
            </a:endParaRPr>
          </a:p>
          <a:p>
            <a:pPr marL="342900" indent="-342900">
              <a:lnSpc>
                <a:spcPct val="130000"/>
              </a:lnSpc>
              <a:spcBef>
                <a:spcPts val="0"/>
              </a:spcBef>
              <a:buBlip>
                <a:blip r:embed="rId2"/>
              </a:buBlip>
            </a:pPr>
            <a:r>
              <a:rPr lang="zh-CN" altLang="en-US" sz="2000">
                <a:solidFill>
                  <a:srgbClr val="006600"/>
                </a:solidFill>
                <a:latin typeface="楷体" panose="02010609060101010101" pitchFamily="49" charset="-122"/>
                <a:ea typeface="楷体" panose="02010609060101010101" pitchFamily="49" charset="-122"/>
                <a:cs typeface="Consolas" pitchFamily="49" charset="0"/>
              </a:rPr>
              <a:t>算法表现为“处理”和“数据”的结合</a:t>
            </a:r>
          </a:p>
        </p:txBody>
      </p:sp>
    </p:spTree>
    <p:extLst>
      <p:ext uri="{BB962C8B-B14F-4D97-AF65-F5344CB8AC3E}">
        <p14:creationId xmlns:p14="http://schemas.microsoft.com/office/powerpoint/2010/main" val="12271921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7157" y="511555"/>
            <a:ext cx="7520940" cy="548640"/>
          </a:xfrm>
        </p:spPr>
        <p:txBody>
          <a:bodyPr/>
          <a:lstStyle/>
          <a:p>
            <a:r>
              <a:rPr lang="en-US" altLang="zh-CN" b="1" dirty="0"/>
              <a:t>1.3 </a:t>
            </a:r>
            <a:r>
              <a:rPr lang="zh-CN" altLang="zh-CN" b="1" dirty="0"/>
              <a:t>问题、算法和程序</a:t>
            </a:r>
            <a:endParaRPr lang="zh-CN" altLang="en-US" dirty="0"/>
          </a:p>
        </p:txBody>
      </p:sp>
      <p:sp>
        <p:nvSpPr>
          <p:cNvPr id="4" name="矩形 3"/>
          <p:cNvSpPr/>
          <p:nvPr/>
        </p:nvSpPr>
        <p:spPr>
          <a:xfrm>
            <a:off x="323528" y="3366316"/>
            <a:ext cx="8854433" cy="535531"/>
          </a:xfrm>
          <a:prstGeom prst="rect">
            <a:avLst/>
          </a:prstGeom>
        </p:spPr>
        <p:txBody>
          <a:bodyPr wrap="square">
            <a:spAutoFit/>
          </a:bodyPr>
          <a:lstStyle/>
          <a:p>
            <a:pPr marL="342900" indent="-342900">
              <a:lnSpc>
                <a:spcPct val="120000"/>
              </a:lnSpc>
              <a:buFont typeface="Wingdings" panose="05000000000000000000" pitchFamily="2" charset="2"/>
              <a:buChar char="n"/>
            </a:pP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问题</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problem</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）是一种计算机需要完成的任务。</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矩形 2"/>
          <p:cNvSpPr/>
          <p:nvPr/>
        </p:nvSpPr>
        <p:spPr>
          <a:xfrm>
            <a:off x="501505" y="1251122"/>
            <a:ext cx="7831193" cy="2015936"/>
          </a:xfrm>
          <a:prstGeom prst="rect">
            <a:avLst/>
          </a:prstGeom>
        </p:spPr>
        <p:txBody>
          <a:bodyPr wrap="square">
            <a:spAutoFit/>
          </a:bodyPr>
          <a:lstStyle/>
          <a:p>
            <a:pPr>
              <a:lnSpc>
                <a:spcPct val="125000"/>
              </a:lnSpc>
              <a:spcAft>
                <a:spcPts val="600"/>
              </a:spcAft>
            </a:pPr>
            <a:r>
              <a:rPr lang="zh-CN" altLang="zh-CN" sz="2400" b="1" dirty="0">
                <a:solidFill>
                  <a:srgbClr val="0070C0"/>
                </a:solidFill>
                <a:latin typeface="+mn-ea"/>
                <a:cs typeface="Times New Roman" panose="02020603050405020304" pitchFamily="18" charset="0"/>
              </a:rPr>
              <a:t>解决实际问题</a:t>
            </a:r>
            <a:r>
              <a:rPr lang="zh-CN" altLang="en-US" sz="2400" b="1" dirty="0">
                <a:solidFill>
                  <a:srgbClr val="0070C0"/>
                </a:solidFill>
                <a:latin typeface="+mn-ea"/>
                <a:cs typeface="Times New Roman" panose="02020603050405020304" pitchFamily="18" charset="0"/>
              </a:rPr>
              <a:t>的一般过程</a:t>
            </a:r>
            <a:endParaRPr lang="en-US" altLang="zh-CN" sz="2400" b="1" dirty="0">
              <a:solidFill>
                <a:srgbClr val="0070C0"/>
              </a:solidFill>
              <a:latin typeface="+mn-ea"/>
              <a:cs typeface="Times New Roman" panose="02020603050405020304" pitchFamily="18" charset="0"/>
            </a:endParaRPr>
          </a:p>
          <a:p>
            <a:pPr>
              <a:lnSpc>
                <a:spcPct val="125000"/>
              </a:lnSpc>
            </a:pPr>
            <a:r>
              <a:rPr lang="zh-CN" altLang="zh-CN" sz="2400" dirty="0">
                <a:latin typeface="+mn-ea"/>
                <a:cs typeface="Times New Roman" panose="02020603050405020304" pitchFamily="18" charset="0"/>
              </a:rPr>
              <a:t>首先要从</a:t>
            </a:r>
            <a:r>
              <a:rPr lang="en-US" altLang="zh-CN" sz="2400" dirty="0">
                <a:latin typeface="+mn-ea"/>
                <a:cs typeface="Times New Roman" panose="02020603050405020304" pitchFamily="18" charset="0"/>
              </a:rPr>
              <a:t>“</a:t>
            </a:r>
            <a:r>
              <a:rPr lang="zh-CN" altLang="zh-CN" sz="2400" dirty="0">
                <a:latin typeface="+mn-ea"/>
                <a:cs typeface="Times New Roman" panose="02020603050405020304" pitchFamily="18" charset="0"/>
              </a:rPr>
              <a:t>问题</a:t>
            </a:r>
            <a:r>
              <a:rPr lang="en-US" altLang="zh-CN" sz="2400" dirty="0">
                <a:latin typeface="+mn-ea"/>
                <a:cs typeface="Times New Roman" panose="02020603050405020304" pitchFamily="18" charset="0"/>
              </a:rPr>
              <a:t>”</a:t>
            </a:r>
            <a:r>
              <a:rPr lang="zh-CN" altLang="zh-CN" sz="2400" dirty="0">
                <a:latin typeface="+mn-ea"/>
                <a:cs typeface="Times New Roman" panose="02020603050405020304" pitchFamily="18" charset="0"/>
              </a:rPr>
              <a:t>中抽象出数学模型</a:t>
            </a:r>
            <a:r>
              <a:rPr lang="zh-CN" altLang="en-US" sz="2400" dirty="0">
                <a:latin typeface="+mn-ea"/>
                <a:cs typeface="Times New Roman" panose="02020603050405020304" pitchFamily="18" charset="0"/>
              </a:rPr>
              <a:t>；</a:t>
            </a:r>
            <a:r>
              <a:rPr lang="zh-CN" altLang="zh-CN" sz="2400" dirty="0">
                <a:latin typeface="+mn-ea"/>
                <a:cs typeface="Times New Roman" panose="02020603050405020304" pitchFamily="18" charset="0"/>
              </a:rPr>
              <a:t>然后设计一个求解此数学模型的</a:t>
            </a:r>
            <a:r>
              <a:rPr lang="en-US" altLang="zh-CN" sz="2400" dirty="0">
                <a:latin typeface="+mn-ea"/>
                <a:cs typeface="Times New Roman" panose="02020603050405020304" pitchFamily="18" charset="0"/>
              </a:rPr>
              <a:t>“</a:t>
            </a:r>
            <a:r>
              <a:rPr lang="zh-CN" altLang="zh-CN" sz="2400" dirty="0">
                <a:latin typeface="+mn-ea"/>
                <a:cs typeface="Times New Roman" panose="02020603050405020304" pitchFamily="18" charset="0"/>
              </a:rPr>
              <a:t>算法</a:t>
            </a:r>
            <a:r>
              <a:rPr lang="en-US" altLang="zh-CN" sz="2400" dirty="0">
                <a:latin typeface="+mn-ea"/>
                <a:cs typeface="Times New Roman" panose="02020603050405020304" pitchFamily="18" charset="0"/>
              </a:rPr>
              <a:t>”</a:t>
            </a:r>
            <a:r>
              <a:rPr lang="zh-CN" altLang="en-US" sz="2400" dirty="0">
                <a:latin typeface="+mn-ea"/>
                <a:cs typeface="Times New Roman" panose="02020603050405020304" pitchFamily="18" charset="0"/>
              </a:rPr>
              <a:t>；</a:t>
            </a:r>
            <a:r>
              <a:rPr lang="zh-CN" altLang="zh-CN" sz="2400" dirty="0">
                <a:latin typeface="+mn-ea"/>
                <a:cs typeface="Times New Roman" panose="02020603050405020304" pitchFamily="18" charset="0"/>
              </a:rPr>
              <a:t>选择合适的数据结构，最后编出</a:t>
            </a:r>
            <a:r>
              <a:rPr lang="en-US" altLang="zh-CN" sz="2400" dirty="0">
                <a:latin typeface="+mn-ea"/>
                <a:cs typeface="Times New Roman" panose="02020603050405020304" pitchFamily="18" charset="0"/>
              </a:rPr>
              <a:t>“</a:t>
            </a:r>
            <a:r>
              <a:rPr lang="zh-CN" altLang="zh-CN" sz="2400" dirty="0">
                <a:latin typeface="+mn-ea"/>
                <a:cs typeface="Times New Roman" panose="02020603050405020304" pitchFamily="18" charset="0"/>
              </a:rPr>
              <a:t>程序</a:t>
            </a:r>
            <a:r>
              <a:rPr lang="en-US" altLang="zh-CN" sz="2400" dirty="0">
                <a:latin typeface="+mn-ea"/>
                <a:cs typeface="Times New Roman" panose="02020603050405020304" pitchFamily="18" charset="0"/>
              </a:rPr>
              <a:t>”</a:t>
            </a:r>
            <a:r>
              <a:rPr lang="zh-CN" altLang="zh-CN" sz="2400" dirty="0">
                <a:latin typeface="+mn-ea"/>
                <a:cs typeface="Times New Roman" panose="02020603050405020304" pitchFamily="18" charset="0"/>
              </a:rPr>
              <a:t>，进行调试直至得出解答。</a:t>
            </a:r>
            <a:endParaRPr lang="en-US" altLang="zh-CN" sz="2400" dirty="0">
              <a:latin typeface="+mn-ea"/>
              <a:cs typeface="Times New Roman" panose="02020603050405020304" pitchFamily="18" charset="0"/>
            </a:endParaRPr>
          </a:p>
        </p:txBody>
      </p:sp>
      <p:sp>
        <p:nvSpPr>
          <p:cNvPr id="5" name="矩形 4"/>
          <p:cNvSpPr/>
          <p:nvPr/>
        </p:nvSpPr>
        <p:spPr>
          <a:xfrm>
            <a:off x="322252" y="4795345"/>
            <a:ext cx="8856984" cy="1400383"/>
          </a:xfrm>
          <a:prstGeom prst="rect">
            <a:avLst/>
          </a:prstGeom>
        </p:spPr>
        <p:txBody>
          <a:bodyPr wrap="square">
            <a:spAutoFit/>
          </a:bodyPr>
          <a:lstStyle/>
          <a:p>
            <a:pPr>
              <a:lnSpc>
                <a:spcPct val="125000"/>
              </a:lnSpc>
            </a:pP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任何算法可以用自然语言、伪代码或者某种计算机语言来描述。</a:t>
            </a:r>
          </a:p>
          <a:p>
            <a:pPr marL="342900" indent="-342900">
              <a:lnSpc>
                <a:spcPct val="125000"/>
              </a:lnSpc>
              <a:buFont typeface="Wingdings" panose="05000000000000000000" pitchFamily="2" charset="2"/>
              <a:buChar char="n"/>
            </a:pP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程序（</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program</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是指一组指示计算机每一步动作的指令序列，通常用某种程序设计语言编写，运行于某种目标体系结构上</a:t>
            </a:r>
            <a:r>
              <a:rPr lang="zh-CN" altLang="en-US" sz="2400" dirty="0"/>
              <a:t>。</a:t>
            </a:r>
            <a:endParaRPr lang="en-US" altLang="zh-CN" sz="2400" dirty="0"/>
          </a:p>
        </p:txBody>
      </p:sp>
      <p:sp>
        <p:nvSpPr>
          <p:cNvPr id="6" name="矩形 5"/>
          <p:cNvSpPr/>
          <p:nvPr/>
        </p:nvSpPr>
        <p:spPr>
          <a:xfrm>
            <a:off x="323528" y="3919650"/>
            <a:ext cx="8352928" cy="978729"/>
          </a:xfrm>
          <a:prstGeom prst="rect">
            <a:avLst/>
          </a:prstGeom>
        </p:spPr>
        <p:txBody>
          <a:bodyPr wrap="square">
            <a:spAutoFit/>
          </a:bodyPr>
          <a:lstStyle/>
          <a:p>
            <a:pPr marL="342900" indent="-342900">
              <a:lnSpc>
                <a:spcPct val="120000"/>
              </a:lnSpc>
              <a:buFont typeface="Wingdings" panose="05000000000000000000" pitchFamily="2" charset="2"/>
              <a:buChar char="n"/>
            </a:pP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算法</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algorithm</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）是计算机对特定问题求解步骤的一种描述，它是指令的有限序列</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0855469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620688"/>
            <a:ext cx="7520940" cy="548640"/>
          </a:xfrm>
        </p:spPr>
        <p:txBody>
          <a:bodyPr/>
          <a:lstStyle/>
          <a:p>
            <a:pPr marL="342900" indent="-342900">
              <a:lnSpc>
                <a:spcPct val="120000"/>
              </a:lnSpc>
              <a:buFont typeface="Wingdings" panose="05000000000000000000" pitchFamily="2" charset="2"/>
              <a:buChar char="n"/>
            </a:pPr>
            <a:r>
              <a:rPr lang="zh-CN" altLang="zh-CN" b="1" dirty="0">
                <a:latin typeface="Times New Roman" panose="02020603050405020304" pitchFamily="18" charset="0"/>
                <a:ea typeface="楷体" panose="02010609060101010101" pitchFamily="49" charset="-122"/>
                <a:cs typeface="Times New Roman" panose="02020603050405020304" pitchFamily="18" charset="0"/>
              </a:rPr>
              <a:t>算法</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特性：</a:t>
            </a:r>
          </a:p>
        </p:txBody>
      </p:sp>
      <p:sp>
        <p:nvSpPr>
          <p:cNvPr id="4" name="矩形 3"/>
          <p:cNvSpPr/>
          <p:nvPr/>
        </p:nvSpPr>
        <p:spPr>
          <a:xfrm>
            <a:off x="323528" y="1169328"/>
            <a:ext cx="8676456" cy="5576976"/>
          </a:xfrm>
          <a:prstGeom prst="rect">
            <a:avLst/>
          </a:prstGeom>
        </p:spPr>
        <p:txBody>
          <a:bodyPr wrap="square">
            <a:spAutoFit/>
          </a:bodyPr>
          <a:lstStyle/>
          <a:p>
            <a:pPr>
              <a:lnSpc>
                <a:spcPct val="150000"/>
              </a:lnSpc>
            </a:pP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有穷性</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：对任何合法的输入值，一个算法的执行步骤是有限的，且每一步都可在有穷时间内完成。</a:t>
            </a:r>
          </a:p>
          <a:p>
            <a:pPr>
              <a:lnSpc>
                <a:spcPct val="150000"/>
              </a:lnSpc>
            </a:pP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确定性</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：算法中的每个步骤都应明确，算法的每一条指令必须有确切的含义，使读者理解时不会产生歧义。而且，算法在给定输入条件下都有且只有一条实际的执行路径，即相同的输入下得到相同的输出。</a:t>
            </a: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可行性</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：指令可以在现在的计算技术基础上实现，即算法是有效的。</a:t>
            </a: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4</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输入</a:t>
            </a:r>
            <a:r>
              <a:rPr lang="en-US" altLang="zh-CN"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输出</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：任何算法都是对输入数据加工的过程，最后给出输出结果。</a:t>
            </a:r>
            <a:endParaRPr lang="zh-CN"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619699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490D1D53-1A33-4234-9E6B-91657ABD5188}"/>
              </a:ext>
            </a:extLst>
          </p:cNvPr>
          <p:cNvSpPr txBox="1">
            <a:spLocks noChangeArrowheads="1"/>
          </p:cNvSpPr>
          <p:nvPr/>
        </p:nvSpPr>
        <p:spPr bwMode="auto">
          <a:xfrm>
            <a:off x="1119004" y="1138424"/>
            <a:ext cx="7572460" cy="816890"/>
          </a:xfrm>
          <a:prstGeom prst="rect">
            <a:avLst/>
          </a:prstGeom>
          <a:noFill/>
          <a:ln w="9525">
            <a:noFill/>
            <a:miter lim="800000"/>
            <a:headEnd/>
            <a:tailEnd/>
          </a:ln>
          <a:effectLst/>
        </p:spPr>
        <p:txBody>
          <a:bodyPr wrap="square">
            <a:spAutoFit/>
          </a:bodyPr>
          <a:lstStyle/>
          <a:p>
            <a:pPr algn="just">
              <a:lnSpc>
                <a:spcPts val="3000"/>
              </a:lnSpc>
              <a:spcBef>
                <a:spcPts val="0"/>
              </a:spcBef>
            </a:pPr>
            <a:r>
              <a:rPr lang="zh-CN" altLang="en-US" sz="2000" dirty="0">
                <a:solidFill>
                  <a:srgbClr val="3333FF"/>
                </a:solidFill>
                <a:latin typeface="楷体" panose="02010609060101010101" pitchFamily="49" charset="-122"/>
                <a:ea typeface="楷体" panose="02010609060101010101" pitchFamily="49" charset="-122"/>
                <a:cs typeface="Times New Roman" pitchFamily="18" charset="0"/>
              </a:rPr>
              <a:t>   考虑下列两段描述，这两段描述均不能满足算法的特性，试问它们违反了哪些特性？</a:t>
            </a:r>
          </a:p>
        </p:txBody>
      </p:sp>
      <p:sp>
        <p:nvSpPr>
          <p:cNvPr id="5" name="Text Box 2">
            <a:extLst>
              <a:ext uri="{FF2B5EF4-FFF2-40B4-BE49-F238E27FC236}">
                <a16:creationId xmlns:a16="http://schemas.microsoft.com/office/drawing/2014/main" id="{FF764201-286A-4441-83E6-B5D4537DF7CF}"/>
              </a:ext>
            </a:extLst>
          </p:cNvPr>
          <p:cNvSpPr txBox="1">
            <a:spLocks noChangeArrowheads="1"/>
          </p:cNvSpPr>
          <p:nvPr/>
        </p:nvSpPr>
        <p:spPr bwMode="auto">
          <a:xfrm>
            <a:off x="1547664" y="2852936"/>
            <a:ext cx="3286148" cy="2604275"/>
          </a:xfrm>
          <a:prstGeom prst="rect">
            <a:avLst/>
          </a:prstGeom>
          <a:gradFill flip="none"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2700000" scaled="1"/>
            <a:tileRect/>
          </a:gra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44000" tIns="108000" rIns="144000" bIns="108000">
            <a:spAutoFit/>
          </a:bodyPr>
          <a:lstStyle/>
          <a:p>
            <a:pPr algn="just">
              <a:lnSpc>
                <a:spcPct val="80000"/>
              </a:lnSpc>
            </a:pPr>
            <a:r>
              <a:rPr lang="en-US" altLang="zh-CN" sz="1800" dirty="0">
                <a:solidFill>
                  <a:srgbClr val="FF00FF"/>
                </a:solidFill>
                <a:latin typeface="Consolas" pitchFamily="49" charset="0"/>
                <a:ea typeface="楷体" pitchFamily="49" charset="-122"/>
                <a:cs typeface="Consolas" pitchFamily="49" charset="0"/>
              </a:rPr>
              <a:t>void </a:t>
            </a:r>
            <a:r>
              <a:rPr lang="en-US" altLang="zh-CN" sz="1800" dirty="0" err="1">
                <a:solidFill>
                  <a:srgbClr val="FF00FF"/>
                </a:solidFill>
                <a:latin typeface="Consolas" pitchFamily="49" charset="0"/>
                <a:ea typeface="楷体" pitchFamily="49" charset="-122"/>
                <a:cs typeface="Consolas" pitchFamily="49" charset="0"/>
              </a:rPr>
              <a:t>exam1</a:t>
            </a:r>
            <a:r>
              <a:rPr lang="en-US" altLang="zh-CN" sz="1800" dirty="0">
                <a:solidFill>
                  <a:srgbClr val="FF00FF"/>
                </a:solidFill>
                <a:latin typeface="Consolas" pitchFamily="49" charset="0"/>
                <a:ea typeface="楷体" pitchFamily="49" charset="-122"/>
                <a:cs typeface="Consolas" pitchFamily="49" charset="0"/>
              </a:rPr>
              <a:t>() </a:t>
            </a:r>
          </a:p>
          <a:p>
            <a:pPr algn="just">
              <a:lnSpc>
                <a:spcPct val="80000"/>
              </a:lnSpc>
            </a:pPr>
            <a:r>
              <a:rPr lang="en-US" altLang="zh-CN" sz="1800" dirty="0">
                <a:solidFill>
                  <a:srgbClr val="FF00FF"/>
                </a:solidFill>
                <a:latin typeface="Consolas" pitchFamily="49" charset="0"/>
                <a:ea typeface="楷体" pitchFamily="49" charset="-122"/>
                <a:cs typeface="Consolas" pitchFamily="49" charset="0"/>
              </a:rPr>
              <a:t>{</a:t>
            </a:r>
          </a:p>
          <a:p>
            <a:pPr algn="just">
              <a:lnSpc>
                <a:spcPct val="80000"/>
              </a:lnSpc>
            </a:pPr>
            <a:r>
              <a:rPr lang="en-US" altLang="zh-CN" sz="1800" dirty="0">
                <a:solidFill>
                  <a:srgbClr val="FF00FF"/>
                </a:solidFill>
                <a:latin typeface="Consolas" pitchFamily="49" charset="0"/>
                <a:ea typeface="楷体" pitchFamily="49" charset="-122"/>
                <a:cs typeface="Consolas" pitchFamily="49" charset="0"/>
              </a:rPr>
              <a:t>   </a:t>
            </a:r>
            <a:r>
              <a:rPr lang="en-US" altLang="zh-CN" sz="1800" dirty="0">
                <a:solidFill>
                  <a:srgbClr val="3333FF"/>
                </a:solidFill>
                <a:latin typeface="Consolas" pitchFamily="49" charset="0"/>
                <a:ea typeface="楷体" pitchFamily="49" charset="-122"/>
                <a:cs typeface="Consolas" pitchFamily="49" charset="0"/>
              </a:rPr>
              <a:t>int  n</a:t>
            </a:r>
            <a:r>
              <a:rPr lang="zh-CN" altLang="en-US" sz="1800" dirty="0">
                <a:solidFill>
                  <a:srgbClr val="3333FF"/>
                </a:solidFill>
                <a:latin typeface="Consolas" pitchFamily="49" charset="0"/>
                <a:ea typeface="楷体" pitchFamily="49" charset="-122"/>
                <a:cs typeface="Consolas" pitchFamily="49" charset="0"/>
              </a:rPr>
              <a:t>＝</a:t>
            </a:r>
            <a:r>
              <a:rPr lang="en-US" altLang="zh-CN" sz="1800" dirty="0">
                <a:solidFill>
                  <a:srgbClr val="3333FF"/>
                </a:solidFill>
                <a:latin typeface="Consolas" pitchFamily="49" charset="0"/>
                <a:ea typeface="楷体" pitchFamily="49" charset="-122"/>
                <a:cs typeface="Consolas" pitchFamily="49" charset="0"/>
              </a:rPr>
              <a:t>2;</a:t>
            </a:r>
          </a:p>
          <a:p>
            <a:pPr algn="just">
              <a:lnSpc>
                <a:spcPct val="80000"/>
              </a:lnSpc>
            </a:pPr>
            <a:r>
              <a:rPr lang="en-US" altLang="zh-CN" sz="1800" dirty="0">
                <a:solidFill>
                  <a:srgbClr val="3333FF"/>
                </a:solidFill>
                <a:latin typeface="Consolas" pitchFamily="49" charset="0"/>
                <a:ea typeface="楷体" pitchFamily="49" charset="-122"/>
                <a:cs typeface="Consolas" pitchFamily="49" charset="0"/>
              </a:rPr>
              <a:t>   while (n%2==0)    </a:t>
            </a:r>
          </a:p>
          <a:p>
            <a:pPr algn="just">
              <a:lnSpc>
                <a:spcPct val="80000"/>
              </a:lnSpc>
            </a:pPr>
            <a:r>
              <a:rPr lang="en-US" altLang="zh-CN" sz="1800" dirty="0">
                <a:solidFill>
                  <a:srgbClr val="3333FF"/>
                </a:solidFill>
                <a:latin typeface="Consolas" pitchFamily="49" charset="0"/>
                <a:ea typeface="楷体" pitchFamily="49" charset="-122"/>
                <a:cs typeface="Consolas" pitchFamily="49" charset="0"/>
              </a:rPr>
              <a:t>       n</a:t>
            </a:r>
            <a:r>
              <a:rPr lang="zh-CN" altLang="en-US" sz="1800" dirty="0">
                <a:solidFill>
                  <a:srgbClr val="3333FF"/>
                </a:solidFill>
                <a:latin typeface="Consolas" pitchFamily="49" charset="0"/>
                <a:ea typeface="楷体" pitchFamily="49" charset="-122"/>
                <a:cs typeface="Consolas" pitchFamily="49" charset="0"/>
              </a:rPr>
              <a:t>＝</a:t>
            </a:r>
            <a:r>
              <a:rPr lang="en-US" altLang="zh-CN" sz="1800" dirty="0" err="1">
                <a:solidFill>
                  <a:srgbClr val="3333FF"/>
                </a:solidFill>
                <a:latin typeface="Consolas" pitchFamily="49" charset="0"/>
                <a:ea typeface="楷体" pitchFamily="49" charset="-122"/>
                <a:cs typeface="Consolas" pitchFamily="49" charset="0"/>
              </a:rPr>
              <a:t>n+2</a:t>
            </a:r>
            <a:r>
              <a:rPr lang="en-US" altLang="zh-CN" sz="1800" dirty="0">
                <a:solidFill>
                  <a:srgbClr val="3333FF"/>
                </a:solidFill>
                <a:latin typeface="Consolas" pitchFamily="49" charset="0"/>
                <a:ea typeface="楷体" pitchFamily="49" charset="-122"/>
                <a:cs typeface="Consolas" pitchFamily="49" charset="0"/>
              </a:rPr>
              <a:t>; </a:t>
            </a:r>
          </a:p>
          <a:p>
            <a:pPr algn="just">
              <a:lnSpc>
                <a:spcPct val="80000"/>
              </a:lnSpc>
            </a:pPr>
            <a:r>
              <a:rPr lang="en-US" altLang="zh-CN" sz="1800" dirty="0">
                <a:solidFill>
                  <a:srgbClr val="3333FF"/>
                </a:solidFill>
                <a:latin typeface="Consolas" pitchFamily="49" charset="0"/>
                <a:ea typeface="楷体" pitchFamily="49" charset="-122"/>
                <a:cs typeface="Consolas" pitchFamily="49" charset="0"/>
              </a:rPr>
              <a:t>   </a:t>
            </a:r>
            <a:r>
              <a:rPr lang="en-US" altLang="zh-CN" sz="1800" dirty="0" err="1">
                <a:solidFill>
                  <a:srgbClr val="3333FF"/>
                </a:solidFill>
                <a:latin typeface="Consolas" pitchFamily="49" charset="0"/>
                <a:ea typeface="楷体" pitchFamily="49" charset="-122"/>
                <a:cs typeface="Consolas" pitchFamily="49" charset="0"/>
              </a:rPr>
              <a:t>printf</a:t>
            </a:r>
            <a:r>
              <a:rPr lang="en-US" altLang="zh-CN" sz="1800" dirty="0">
                <a:solidFill>
                  <a:srgbClr val="3333FF"/>
                </a:solidFill>
                <a:latin typeface="Consolas" pitchFamily="49" charset="0"/>
                <a:ea typeface="楷体" pitchFamily="49" charset="-122"/>
                <a:cs typeface="Consolas" pitchFamily="49" charset="0"/>
              </a:rPr>
              <a:t>("%d\n"</a:t>
            </a:r>
            <a:r>
              <a:rPr lang="zh-CN" altLang="en-US" sz="1800" dirty="0">
                <a:solidFill>
                  <a:srgbClr val="3333FF"/>
                </a:solidFill>
                <a:latin typeface="Consolas" pitchFamily="49" charset="0"/>
                <a:ea typeface="楷体" pitchFamily="49" charset="-122"/>
                <a:cs typeface="Consolas" pitchFamily="49" charset="0"/>
              </a:rPr>
              <a:t>，</a:t>
            </a:r>
            <a:r>
              <a:rPr lang="en-US" altLang="zh-CN" sz="1800" dirty="0">
                <a:solidFill>
                  <a:srgbClr val="3333FF"/>
                </a:solidFill>
                <a:latin typeface="Consolas" pitchFamily="49" charset="0"/>
                <a:ea typeface="楷体" pitchFamily="49" charset="-122"/>
                <a:cs typeface="Consolas" pitchFamily="49" charset="0"/>
              </a:rPr>
              <a:t>n);</a:t>
            </a:r>
          </a:p>
          <a:p>
            <a:pPr algn="just">
              <a:lnSpc>
                <a:spcPct val="80000"/>
              </a:lnSpc>
            </a:pPr>
            <a:r>
              <a:rPr lang="en-US" altLang="zh-CN" sz="1800" dirty="0">
                <a:solidFill>
                  <a:srgbClr val="FF00FF"/>
                </a:solidFill>
                <a:latin typeface="Consolas" pitchFamily="49" charset="0"/>
                <a:ea typeface="楷体" pitchFamily="49" charset="-122"/>
                <a:cs typeface="Consolas" pitchFamily="49" charset="0"/>
              </a:rPr>
              <a:t>}</a:t>
            </a:r>
          </a:p>
        </p:txBody>
      </p:sp>
      <p:grpSp>
        <p:nvGrpSpPr>
          <p:cNvPr id="6" name="组合 5">
            <a:extLst>
              <a:ext uri="{FF2B5EF4-FFF2-40B4-BE49-F238E27FC236}">
                <a16:creationId xmlns:a16="http://schemas.microsoft.com/office/drawing/2014/main" id="{5C44C37E-DD72-4CC0-A1D3-1A11C3E12841}"/>
              </a:ext>
            </a:extLst>
          </p:cNvPr>
          <p:cNvGrpSpPr/>
          <p:nvPr/>
        </p:nvGrpSpPr>
        <p:grpSpPr>
          <a:xfrm>
            <a:off x="4833812" y="2924374"/>
            <a:ext cx="3500462" cy="2071702"/>
            <a:chOff x="4857752" y="2285992"/>
            <a:chExt cx="3500462" cy="2071702"/>
          </a:xfrm>
        </p:grpSpPr>
        <p:sp>
          <p:nvSpPr>
            <p:cNvPr id="7" name="右大括号 6">
              <a:extLst>
                <a:ext uri="{FF2B5EF4-FFF2-40B4-BE49-F238E27FC236}">
                  <a16:creationId xmlns:a16="http://schemas.microsoft.com/office/drawing/2014/main" id="{505A930A-454C-4D88-969A-8A6E792F6BC2}"/>
                </a:ext>
              </a:extLst>
            </p:cNvPr>
            <p:cNvSpPr/>
            <p:nvPr/>
          </p:nvSpPr>
          <p:spPr>
            <a:xfrm>
              <a:off x="4857752" y="2285992"/>
              <a:ext cx="142876" cy="2071702"/>
            </a:xfrm>
            <a:prstGeom prst="rightBrace">
              <a:avLst/>
            </a:prstGeom>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p>
          </p:txBody>
        </p:sp>
        <p:sp>
          <p:nvSpPr>
            <p:cNvPr id="8" name="TextBox 4">
              <a:extLst>
                <a:ext uri="{FF2B5EF4-FFF2-40B4-BE49-F238E27FC236}">
                  <a16:creationId xmlns:a16="http://schemas.microsoft.com/office/drawing/2014/main" id="{D91CB17A-43BF-4115-8C0C-7FD054AABCF0}"/>
                </a:ext>
              </a:extLst>
            </p:cNvPr>
            <p:cNvSpPr txBox="1"/>
            <p:nvPr/>
          </p:nvSpPr>
          <p:spPr>
            <a:xfrm>
              <a:off x="5000628" y="2945311"/>
              <a:ext cx="3357586" cy="707886"/>
            </a:xfrm>
            <a:prstGeom prst="rect">
              <a:avLst/>
            </a:prstGeom>
            <a:noFill/>
          </p:spPr>
          <p:txBody>
            <a:bodyPr wrap="square" rtlCol="0">
              <a:spAutoFit/>
            </a:bodyPr>
            <a:lstStyle/>
            <a:p>
              <a:r>
                <a:rPr lang="zh-CN" altLang="en-US" sz="2000" dirty="0">
                  <a:solidFill>
                    <a:srgbClr val="3333FF"/>
                  </a:solidFill>
                  <a:latin typeface="楷体" panose="02010609060101010101" pitchFamily="49" charset="-122"/>
                  <a:ea typeface="楷体" panose="02010609060101010101" pitchFamily="49" charset="-122"/>
                  <a:cs typeface="Times New Roman" pitchFamily="18" charset="0"/>
                </a:rPr>
                <a:t>其中有一个死循环，违反了算法的</a:t>
              </a:r>
              <a:r>
                <a:rPr lang="zh-CN" altLang="en-US" sz="2000" dirty="0">
                  <a:solidFill>
                    <a:srgbClr val="FF3300"/>
                  </a:solidFill>
                  <a:latin typeface="楷体" panose="02010609060101010101" pitchFamily="49" charset="-122"/>
                  <a:ea typeface="楷体" panose="02010609060101010101" pitchFamily="49" charset="-122"/>
                  <a:cs typeface="Times New Roman" pitchFamily="18" charset="0"/>
                </a:rPr>
                <a:t>有穷性</a:t>
              </a:r>
              <a:r>
                <a:rPr lang="zh-CN" altLang="en-US" sz="2000" dirty="0">
                  <a:solidFill>
                    <a:srgbClr val="3333FF"/>
                  </a:solidFill>
                  <a:latin typeface="楷体" panose="02010609060101010101" pitchFamily="49" charset="-122"/>
                  <a:ea typeface="楷体" panose="02010609060101010101" pitchFamily="49" charset="-122"/>
                  <a:cs typeface="Times New Roman" pitchFamily="18" charset="0"/>
                </a:rPr>
                <a:t>特性。</a:t>
              </a:r>
            </a:p>
          </p:txBody>
        </p:sp>
      </p:grpSp>
      <p:sp>
        <p:nvSpPr>
          <p:cNvPr id="9" name="TextBox 5">
            <a:extLst>
              <a:ext uri="{FF2B5EF4-FFF2-40B4-BE49-F238E27FC236}">
                <a16:creationId xmlns:a16="http://schemas.microsoft.com/office/drawing/2014/main" id="{F37BB810-DD73-47D0-8953-68EC424B0634}"/>
              </a:ext>
            </a:extLst>
          </p:cNvPr>
          <p:cNvSpPr txBox="1"/>
          <p:nvPr/>
        </p:nvSpPr>
        <p:spPr>
          <a:xfrm>
            <a:off x="761846" y="2159893"/>
            <a:ext cx="2571768" cy="407291"/>
          </a:xfrm>
          <a:prstGeom prst="rect">
            <a:avLst/>
          </a:prstGeom>
          <a:noFill/>
        </p:spPr>
        <p:txBody>
          <a:bodyPr wrap="square" rtlCol="0">
            <a:spAutoFit/>
          </a:bodyPr>
          <a:lstStyle/>
          <a:p>
            <a:r>
              <a:rPr lang="zh-CN" altLang="en-US" sz="2000" dirty="0">
                <a:solidFill>
                  <a:srgbClr val="3333FF"/>
                </a:solidFill>
                <a:latin typeface="微软雅黑" pitchFamily="34" charset="-122"/>
                <a:ea typeface="微软雅黑" pitchFamily="34" charset="-122"/>
                <a:cs typeface="Times New Roman" pitchFamily="18" charset="0"/>
              </a:rPr>
              <a:t>（</a:t>
            </a:r>
            <a:r>
              <a:rPr lang="en-US" altLang="zh-CN" sz="2000" dirty="0">
                <a:solidFill>
                  <a:srgbClr val="3333FF"/>
                </a:solidFill>
                <a:latin typeface="微软雅黑" pitchFamily="34" charset="-122"/>
                <a:ea typeface="微软雅黑" pitchFamily="34" charset="-122"/>
                <a:cs typeface="Times New Roman" pitchFamily="18" charset="0"/>
              </a:rPr>
              <a:t>1</a:t>
            </a:r>
            <a:r>
              <a:rPr lang="zh-CN" altLang="en-US" sz="2000" dirty="0">
                <a:solidFill>
                  <a:srgbClr val="3333FF"/>
                </a:solidFill>
                <a:latin typeface="微软雅黑" pitchFamily="34" charset="-122"/>
                <a:ea typeface="微软雅黑" pitchFamily="34" charset="-122"/>
                <a:cs typeface="Times New Roman" pitchFamily="18" charset="0"/>
              </a:rPr>
              <a:t>）描述一</a:t>
            </a:r>
          </a:p>
        </p:txBody>
      </p:sp>
      <p:grpSp>
        <p:nvGrpSpPr>
          <p:cNvPr id="10" name="组合 9">
            <a:extLst>
              <a:ext uri="{FF2B5EF4-FFF2-40B4-BE49-F238E27FC236}">
                <a16:creationId xmlns:a16="http://schemas.microsoft.com/office/drawing/2014/main" id="{4BDD1F7A-0611-43DF-B38C-BF16CB1495AC}"/>
              </a:ext>
            </a:extLst>
          </p:cNvPr>
          <p:cNvGrpSpPr/>
          <p:nvPr/>
        </p:nvGrpSpPr>
        <p:grpSpPr>
          <a:xfrm>
            <a:off x="261780" y="852672"/>
            <a:ext cx="1000100" cy="785817"/>
            <a:chOff x="5691204" y="3835411"/>
            <a:chExt cx="1238250" cy="1236663"/>
          </a:xfrm>
        </p:grpSpPr>
        <p:grpSp>
          <p:nvGrpSpPr>
            <p:cNvPr id="11" name="Group 19">
              <a:extLst>
                <a:ext uri="{FF2B5EF4-FFF2-40B4-BE49-F238E27FC236}">
                  <a16:creationId xmlns:a16="http://schemas.microsoft.com/office/drawing/2014/main" id="{4CAEB405-AB07-4BC2-82AD-CA0C7DC127A2}"/>
                </a:ext>
              </a:extLst>
            </p:cNvPr>
            <p:cNvGrpSpPr>
              <a:grpSpLocks/>
            </p:cNvGrpSpPr>
            <p:nvPr/>
          </p:nvGrpSpPr>
          <p:grpSpPr bwMode="auto">
            <a:xfrm>
              <a:off x="5691204" y="3835411"/>
              <a:ext cx="1238250" cy="1236663"/>
              <a:chOff x="802" y="845"/>
              <a:chExt cx="827" cy="826"/>
            </a:xfrm>
          </p:grpSpPr>
          <p:sp>
            <p:nvSpPr>
              <p:cNvPr id="13" name="Oval 20">
                <a:extLst>
                  <a:ext uri="{FF2B5EF4-FFF2-40B4-BE49-F238E27FC236}">
                    <a16:creationId xmlns:a16="http://schemas.microsoft.com/office/drawing/2014/main" id="{CD374B79-8848-4009-B8E1-D6FF21086C67}"/>
                  </a:ext>
                </a:extLst>
              </p:cNvPr>
              <p:cNvSpPr>
                <a:spLocks noChangeArrowheads="1"/>
              </p:cNvSpPr>
              <p:nvPr/>
            </p:nvSpPr>
            <p:spPr bwMode="gray">
              <a:xfrm>
                <a:off x="802" y="845"/>
                <a:ext cx="827" cy="826"/>
              </a:xfrm>
              <a:prstGeom prst="ellipse">
                <a:avLst/>
              </a:prstGeom>
              <a:solidFill>
                <a:srgbClr val="F8F8F8"/>
              </a:solidFill>
              <a:ln w="38100">
                <a:solidFill>
                  <a:schemeClr val="hlink"/>
                </a:solidFill>
                <a:round/>
                <a:headEnd/>
                <a:tailEnd/>
              </a:ln>
            </p:spPr>
            <p:txBody>
              <a:bodyPr wrap="none" anchor="ctr"/>
              <a:lstStyle/>
              <a:p>
                <a:endParaRPr lang="zh-CN" altLang="zh-CN">
                  <a:latin typeface="Calibri" pitchFamily="34" charset="0"/>
                  <a:cs typeface="Arial" pitchFamily="34" charset="0"/>
                </a:endParaRPr>
              </a:p>
            </p:txBody>
          </p:sp>
          <p:sp>
            <p:nvSpPr>
              <p:cNvPr id="14" name="Oval 21">
                <a:extLst>
                  <a:ext uri="{FF2B5EF4-FFF2-40B4-BE49-F238E27FC236}">
                    <a16:creationId xmlns:a16="http://schemas.microsoft.com/office/drawing/2014/main" id="{C34EC910-D958-4DB2-ADEA-3A57DA0BA581}"/>
                  </a:ext>
                </a:extLst>
              </p:cNvPr>
              <p:cNvSpPr>
                <a:spLocks noChangeArrowheads="1"/>
              </p:cNvSpPr>
              <p:nvPr/>
            </p:nvSpPr>
            <p:spPr bwMode="gray">
              <a:xfrm>
                <a:off x="836" y="879"/>
                <a:ext cx="758" cy="758"/>
              </a:xfrm>
              <a:prstGeom prst="ellipse">
                <a:avLst/>
              </a:prstGeom>
              <a:noFill/>
              <a:ln w="38100">
                <a:solidFill>
                  <a:schemeClr val="hlink">
                    <a:alpha val="70195"/>
                  </a:schemeClr>
                </a:solidFill>
                <a:round/>
                <a:headEnd/>
                <a:tailEnd/>
              </a:ln>
            </p:spPr>
            <p:txBody>
              <a:bodyPr wrap="none" anchor="ctr"/>
              <a:lstStyle/>
              <a:p>
                <a:endParaRPr lang="zh-CN" altLang="zh-CN">
                  <a:latin typeface="Calibri" pitchFamily="34" charset="0"/>
                  <a:cs typeface="Arial" pitchFamily="34" charset="0"/>
                </a:endParaRPr>
              </a:p>
            </p:txBody>
          </p:sp>
          <p:sp>
            <p:nvSpPr>
              <p:cNvPr id="15" name="Oval 22">
                <a:extLst>
                  <a:ext uri="{FF2B5EF4-FFF2-40B4-BE49-F238E27FC236}">
                    <a16:creationId xmlns:a16="http://schemas.microsoft.com/office/drawing/2014/main" id="{7AD13B60-6F60-479A-BFD6-F263354281B7}"/>
                  </a:ext>
                </a:extLst>
              </p:cNvPr>
              <p:cNvSpPr>
                <a:spLocks noChangeArrowheads="1"/>
              </p:cNvSpPr>
              <p:nvPr/>
            </p:nvSpPr>
            <p:spPr bwMode="gray">
              <a:xfrm>
                <a:off x="870" y="915"/>
                <a:ext cx="690" cy="690"/>
              </a:xfrm>
              <a:prstGeom prst="ellipse">
                <a:avLst/>
              </a:prstGeom>
              <a:noFill/>
              <a:ln w="38100">
                <a:solidFill>
                  <a:schemeClr val="hlink">
                    <a:alpha val="30196"/>
                  </a:schemeClr>
                </a:solidFill>
                <a:round/>
                <a:headEnd/>
                <a:tailEnd/>
              </a:ln>
            </p:spPr>
            <p:txBody>
              <a:bodyPr wrap="none" anchor="ctr"/>
              <a:lstStyle/>
              <a:p>
                <a:endParaRPr lang="zh-CN" altLang="zh-CN">
                  <a:latin typeface="Calibri" pitchFamily="34" charset="0"/>
                  <a:cs typeface="Arial" pitchFamily="34" charset="0"/>
                </a:endParaRPr>
              </a:p>
            </p:txBody>
          </p:sp>
        </p:grpSp>
        <p:sp>
          <p:nvSpPr>
            <p:cNvPr id="12" name="Text Box 23">
              <a:extLst>
                <a:ext uri="{FF2B5EF4-FFF2-40B4-BE49-F238E27FC236}">
                  <a16:creationId xmlns:a16="http://schemas.microsoft.com/office/drawing/2014/main" id="{63E8939D-3308-4870-A2AC-FDB6E7BBABB4}"/>
                </a:ext>
              </a:extLst>
            </p:cNvPr>
            <p:cNvSpPr txBox="1">
              <a:spLocks noChangeArrowheads="1"/>
            </p:cNvSpPr>
            <p:nvPr/>
          </p:nvSpPr>
          <p:spPr bwMode="gray">
            <a:xfrm>
              <a:off x="5762641" y="4214818"/>
              <a:ext cx="1082674" cy="557010"/>
            </a:xfrm>
            <a:prstGeom prst="rect">
              <a:avLst/>
            </a:prstGeom>
            <a:noFill/>
            <a:ln w="9525" algn="ctr">
              <a:noFill/>
              <a:miter lim="800000"/>
              <a:headEnd/>
              <a:tailEnd/>
            </a:ln>
          </p:spPr>
          <p:txBody>
            <a:bodyPr>
              <a:spAutoFit/>
            </a:bodyPr>
            <a:lstStyle/>
            <a:p>
              <a:pPr algn="ctr">
                <a:spcBef>
                  <a:spcPct val="50000"/>
                </a:spcBef>
              </a:pPr>
              <a:r>
                <a:rPr lang="zh-CN" altLang="en-US" sz="2000" b="1">
                  <a:solidFill>
                    <a:srgbClr val="FF0000"/>
                  </a:solidFill>
                  <a:latin typeface="方正启体简体" pitchFamily="65" charset="-122"/>
                  <a:ea typeface="方正启体简体" pitchFamily="65" charset="-122"/>
                  <a:cs typeface="Consolas" pitchFamily="49" charset="0"/>
                </a:rPr>
                <a:t>示例</a:t>
              </a:r>
            </a:p>
          </p:txBody>
        </p:sp>
      </p:grpSp>
    </p:spTree>
    <p:extLst>
      <p:ext uri="{BB962C8B-B14F-4D97-AF65-F5344CB8AC3E}">
        <p14:creationId xmlns:p14="http://schemas.microsoft.com/office/powerpoint/2010/main" val="2368174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45F9BB90-BADB-45D0-A181-AED1DD5E3AC1}"/>
              </a:ext>
            </a:extLst>
          </p:cNvPr>
          <p:cNvSpPr txBox="1">
            <a:spLocks noChangeArrowheads="1"/>
          </p:cNvSpPr>
          <p:nvPr/>
        </p:nvSpPr>
        <p:spPr bwMode="auto">
          <a:xfrm>
            <a:off x="785786" y="1916832"/>
            <a:ext cx="3786214" cy="2157102"/>
          </a:xfrm>
          <a:prstGeom prst="rect">
            <a:avLst/>
          </a:prstGeom>
          <a:gradFill flip="none"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2700000" scaled="1"/>
            <a:tileRect/>
          </a:gra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44000" tIns="108000" rIns="144000" bIns="108000">
            <a:spAutoFit/>
          </a:bodyPr>
          <a:lstStyle/>
          <a:p>
            <a:pPr algn="just">
              <a:lnSpc>
                <a:spcPct val="100000"/>
              </a:lnSpc>
              <a:spcBef>
                <a:spcPts val="0"/>
              </a:spcBef>
            </a:pPr>
            <a:r>
              <a:rPr lang="en-US" altLang="zh-CN" sz="1800" dirty="0">
                <a:solidFill>
                  <a:srgbClr val="FF00FF"/>
                </a:solidFill>
                <a:latin typeface="Consolas" pitchFamily="49" charset="0"/>
                <a:ea typeface="楷体" pitchFamily="49" charset="-122"/>
                <a:cs typeface="Consolas" pitchFamily="49" charset="0"/>
              </a:rPr>
              <a:t>void </a:t>
            </a:r>
            <a:r>
              <a:rPr lang="en-US" altLang="zh-CN" sz="1800" dirty="0" err="1">
                <a:solidFill>
                  <a:srgbClr val="FF00FF"/>
                </a:solidFill>
                <a:latin typeface="Consolas" pitchFamily="49" charset="0"/>
                <a:ea typeface="楷体" pitchFamily="49" charset="-122"/>
                <a:cs typeface="Consolas" pitchFamily="49" charset="0"/>
              </a:rPr>
              <a:t>exam2</a:t>
            </a:r>
            <a:r>
              <a:rPr lang="en-US" altLang="zh-CN" sz="1800" dirty="0">
                <a:solidFill>
                  <a:srgbClr val="FF00FF"/>
                </a:solidFill>
                <a:latin typeface="Consolas" pitchFamily="49" charset="0"/>
                <a:ea typeface="楷体" pitchFamily="49" charset="-122"/>
                <a:cs typeface="Consolas" pitchFamily="49" charset="0"/>
              </a:rPr>
              <a:t>()</a:t>
            </a:r>
          </a:p>
          <a:p>
            <a:pPr algn="just">
              <a:lnSpc>
                <a:spcPct val="100000"/>
              </a:lnSpc>
              <a:spcBef>
                <a:spcPts val="0"/>
              </a:spcBef>
            </a:pPr>
            <a:r>
              <a:rPr lang="en-US" altLang="zh-CN" sz="1800" dirty="0">
                <a:solidFill>
                  <a:srgbClr val="FF00FF"/>
                </a:solidFill>
                <a:latin typeface="Consolas" pitchFamily="49" charset="0"/>
                <a:ea typeface="楷体" pitchFamily="49" charset="-122"/>
                <a:cs typeface="Consolas" pitchFamily="49" charset="0"/>
              </a:rPr>
              <a:t>{</a:t>
            </a:r>
          </a:p>
          <a:p>
            <a:pPr algn="just">
              <a:lnSpc>
                <a:spcPct val="100000"/>
              </a:lnSpc>
              <a:spcBef>
                <a:spcPts val="0"/>
              </a:spcBef>
            </a:pPr>
            <a:r>
              <a:rPr lang="en-US" altLang="zh-CN" sz="1800" dirty="0">
                <a:solidFill>
                  <a:srgbClr val="FF00FF"/>
                </a:solidFill>
                <a:latin typeface="Consolas" pitchFamily="49" charset="0"/>
                <a:ea typeface="楷体" pitchFamily="49" charset="-122"/>
                <a:cs typeface="Consolas" pitchFamily="49" charset="0"/>
              </a:rPr>
              <a:t>   </a:t>
            </a:r>
            <a:r>
              <a:rPr lang="en-US" altLang="zh-CN" sz="1800" dirty="0">
                <a:solidFill>
                  <a:srgbClr val="3333FF"/>
                </a:solidFill>
                <a:latin typeface="Consolas" pitchFamily="49" charset="0"/>
                <a:ea typeface="楷体" pitchFamily="49" charset="-122"/>
                <a:cs typeface="Consolas" pitchFamily="49" charset="0"/>
              </a:rPr>
              <a:t>int x</a:t>
            </a:r>
            <a:r>
              <a:rPr lang="zh-CN" altLang="en-US" sz="1800" dirty="0">
                <a:solidFill>
                  <a:srgbClr val="3333FF"/>
                </a:solidFill>
                <a:latin typeface="Consolas" pitchFamily="49" charset="0"/>
                <a:ea typeface="楷体" pitchFamily="49" charset="-122"/>
                <a:cs typeface="Consolas" pitchFamily="49" charset="0"/>
              </a:rPr>
              <a:t>，</a:t>
            </a:r>
            <a:r>
              <a:rPr lang="en-US" altLang="zh-CN" sz="1800" dirty="0">
                <a:solidFill>
                  <a:srgbClr val="3333FF"/>
                </a:solidFill>
                <a:latin typeface="Consolas" pitchFamily="49" charset="0"/>
                <a:ea typeface="楷体" pitchFamily="49" charset="-122"/>
                <a:cs typeface="Consolas" pitchFamily="49" charset="0"/>
              </a:rPr>
              <a:t>y;</a:t>
            </a:r>
          </a:p>
          <a:p>
            <a:pPr algn="just">
              <a:lnSpc>
                <a:spcPct val="100000"/>
              </a:lnSpc>
              <a:spcBef>
                <a:spcPts val="0"/>
              </a:spcBef>
            </a:pPr>
            <a:r>
              <a:rPr lang="en-US" altLang="zh-CN" sz="1800" dirty="0">
                <a:solidFill>
                  <a:srgbClr val="3333FF"/>
                </a:solidFill>
                <a:latin typeface="Consolas" pitchFamily="49" charset="0"/>
                <a:ea typeface="楷体" pitchFamily="49" charset="-122"/>
                <a:cs typeface="Consolas" pitchFamily="49" charset="0"/>
              </a:rPr>
              <a:t>   y=0;</a:t>
            </a:r>
          </a:p>
          <a:p>
            <a:pPr algn="just">
              <a:lnSpc>
                <a:spcPct val="100000"/>
              </a:lnSpc>
              <a:spcBef>
                <a:spcPts val="0"/>
              </a:spcBef>
            </a:pPr>
            <a:r>
              <a:rPr lang="en-US" altLang="zh-CN" sz="1800" dirty="0">
                <a:solidFill>
                  <a:srgbClr val="3333FF"/>
                </a:solidFill>
                <a:latin typeface="Consolas" pitchFamily="49" charset="0"/>
                <a:ea typeface="楷体" pitchFamily="49" charset="-122"/>
                <a:cs typeface="Consolas" pitchFamily="49" charset="0"/>
              </a:rPr>
              <a:t>   x=5/y;</a:t>
            </a:r>
          </a:p>
          <a:p>
            <a:pPr algn="just">
              <a:lnSpc>
                <a:spcPct val="100000"/>
              </a:lnSpc>
              <a:spcBef>
                <a:spcPts val="0"/>
              </a:spcBef>
            </a:pPr>
            <a:r>
              <a:rPr lang="en-US" altLang="zh-CN" sz="1800" dirty="0">
                <a:solidFill>
                  <a:srgbClr val="3333FF"/>
                </a:solidFill>
                <a:latin typeface="Consolas" pitchFamily="49" charset="0"/>
                <a:ea typeface="楷体" pitchFamily="49" charset="-122"/>
                <a:cs typeface="Consolas" pitchFamily="49" charset="0"/>
              </a:rPr>
              <a:t>   </a:t>
            </a:r>
            <a:r>
              <a:rPr lang="en-US" altLang="zh-CN" sz="1800" dirty="0" err="1">
                <a:solidFill>
                  <a:srgbClr val="3333FF"/>
                </a:solidFill>
                <a:latin typeface="Consolas" pitchFamily="49" charset="0"/>
                <a:ea typeface="楷体" pitchFamily="49" charset="-122"/>
                <a:cs typeface="Consolas" pitchFamily="49" charset="0"/>
              </a:rPr>
              <a:t>printf</a:t>
            </a:r>
            <a:r>
              <a:rPr lang="en-US" altLang="zh-CN" sz="1800" dirty="0">
                <a:solidFill>
                  <a:srgbClr val="3333FF"/>
                </a:solidFill>
                <a:latin typeface="Consolas" pitchFamily="49" charset="0"/>
                <a:ea typeface="楷体" pitchFamily="49" charset="-122"/>
                <a:cs typeface="Consolas" pitchFamily="49" charset="0"/>
              </a:rPr>
              <a:t>("%d</a:t>
            </a:r>
            <a:r>
              <a:rPr lang="zh-CN" altLang="en-US" sz="1800" dirty="0">
                <a:solidFill>
                  <a:srgbClr val="3333FF"/>
                </a:solidFill>
                <a:latin typeface="Consolas" pitchFamily="49" charset="0"/>
                <a:ea typeface="楷体" pitchFamily="49" charset="-122"/>
                <a:cs typeface="Consolas" pitchFamily="49" charset="0"/>
              </a:rPr>
              <a:t>，</a:t>
            </a:r>
            <a:r>
              <a:rPr lang="en-US" altLang="zh-CN" sz="1800" dirty="0">
                <a:solidFill>
                  <a:srgbClr val="3333FF"/>
                </a:solidFill>
                <a:latin typeface="Consolas" pitchFamily="49" charset="0"/>
                <a:ea typeface="楷体" pitchFamily="49" charset="-122"/>
                <a:cs typeface="Consolas" pitchFamily="49" charset="0"/>
              </a:rPr>
              <a:t>%d\n"</a:t>
            </a:r>
            <a:r>
              <a:rPr lang="zh-CN" altLang="en-US" sz="1800" dirty="0">
                <a:solidFill>
                  <a:srgbClr val="3333FF"/>
                </a:solidFill>
                <a:latin typeface="Consolas" pitchFamily="49" charset="0"/>
                <a:ea typeface="楷体" pitchFamily="49" charset="-122"/>
                <a:cs typeface="Consolas" pitchFamily="49" charset="0"/>
              </a:rPr>
              <a:t>，</a:t>
            </a:r>
            <a:r>
              <a:rPr lang="en-US" altLang="zh-CN" sz="1800" dirty="0">
                <a:solidFill>
                  <a:srgbClr val="3333FF"/>
                </a:solidFill>
                <a:latin typeface="Consolas" pitchFamily="49" charset="0"/>
                <a:ea typeface="楷体" pitchFamily="49" charset="-122"/>
                <a:cs typeface="Consolas" pitchFamily="49" charset="0"/>
              </a:rPr>
              <a:t>x</a:t>
            </a:r>
            <a:r>
              <a:rPr lang="zh-CN" altLang="en-US" sz="1800" dirty="0">
                <a:solidFill>
                  <a:srgbClr val="3333FF"/>
                </a:solidFill>
                <a:latin typeface="Consolas" pitchFamily="49" charset="0"/>
                <a:ea typeface="楷体" pitchFamily="49" charset="-122"/>
                <a:cs typeface="Consolas" pitchFamily="49" charset="0"/>
              </a:rPr>
              <a:t>，</a:t>
            </a:r>
            <a:r>
              <a:rPr lang="en-US" altLang="zh-CN" sz="1800" dirty="0">
                <a:solidFill>
                  <a:srgbClr val="3333FF"/>
                </a:solidFill>
                <a:latin typeface="Consolas" pitchFamily="49" charset="0"/>
                <a:ea typeface="楷体" pitchFamily="49" charset="-122"/>
                <a:cs typeface="Consolas" pitchFamily="49" charset="0"/>
              </a:rPr>
              <a:t>y);</a:t>
            </a:r>
          </a:p>
          <a:p>
            <a:pPr algn="just">
              <a:lnSpc>
                <a:spcPct val="100000"/>
              </a:lnSpc>
              <a:spcBef>
                <a:spcPts val="0"/>
              </a:spcBef>
            </a:pPr>
            <a:r>
              <a:rPr lang="en-US" altLang="zh-CN" sz="1800" dirty="0">
                <a:solidFill>
                  <a:srgbClr val="FF00FF"/>
                </a:solidFill>
                <a:latin typeface="Consolas" pitchFamily="49" charset="0"/>
                <a:ea typeface="楷体" pitchFamily="49" charset="-122"/>
                <a:cs typeface="Consolas" pitchFamily="49" charset="0"/>
              </a:rPr>
              <a:t>}</a:t>
            </a:r>
          </a:p>
        </p:txBody>
      </p:sp>
      <p:grpSp>
        <p:nvGrpSpPr>
          <p:cNvPr id="5" name="组合 4">
            <a:extLst>
              <a:ext uri="{FF2B5EF4-FFF2-40B4-BE49-F238E27FC236}">
                <a16:creationId xmlns:a16="http://schemas.microsoft.com/office/drawing/2014/main" id="{EA9DAA9C-AC1A-48FD-BB65-D9E69CB83EAE}"/>
              </a:ext>
            </a:extLst>
          </p:cNvPr>
          <p:cNvGrpSpPr/>
          <p:nvPr/>
        </p:nvGrpSpPr>
        <p:grpSpPr>
          <a:xfrm>
            <a:off x="4714876" y="1981337"/>
            <a:ext cx="3571900" cy="1714512"/>
            <a:chOff x="4929190" y="1785926"/>
            <a:chExt cx="3571900" cy="1714512"/>
          </a:xfrm>
        </p:grpSpPr>
        <p:sp>
          <p:nvSpPr>
            <p:cNvPr id="6" name="右大括号 5">
              <a:extLst>
                <a:ext uri="{FF2B5EF4-FFF2-40B4-BE49-F238E27FC236}">
                  <a16:creationId xmlns:a16="http://schemas.microsoft.com/office/drawing/2014/main" id="{2D7DD351-EB2A-4038-8F87-31E0EA4A6C5D}"/>
                </a:ext>
              </a:extLst>
            </p:cNvPr>
            <p:cNvSpPr/>
            <p:nvPr/>
          </p:nvSpPr>
          <p:spPr>
            <a:xfrm>
              <a:off x="4929190" y="1785926"/>
              <a:ext cx="142876" cy="1714512"/>
            </a:xfrm>
            <a:prstGeom prst="rightBrace">
              <a:avLst/>
            </a:prstGeom>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p>
          </p:txBody>
        </p:sp>
        <p:sp>
          <p:nvSpPr>
            <p:cNvPr id="7" name="TextBox 3">
              <a:extLst>
                <a:ext uri="{FF2B5EF4-FFF2-40B4-BE49-F238E27FC236}">
                  <a16:creationId xmlns:a16="http://schemas.microsoft.com/office/drawing/2014/main" id="{09920440-29E2-4D76-8B31-BCEAE43BC6C2}"/>
                </a:ext>
              </a:extLst>
            </p:cNvPr>
            <p:cNvSpPr txBox="1"/>
            <p:nvPr/>
          </p:nvSpPr>
          <p:spPr>
            <a:xfrm>
              <a:off x="5143504" y="2285992"/>
              <a:ext cx="3357586" cy="707886"/>
            </a:xfrm>
            <a:prstGeom prst="rect">
              <a:avLst/>
            </a:prstGeom>
            <a:noFill/>
          </p:spPr>
          <p:txBody>
            <a:bodyPr wrap="square" rtlCol="0">
              <a:spAutoFit/>
            </a:bodyPr>
            <a:lstStyle/>
            <a:p>
              <a:r>
                <a:rPr lang="zh-CN" altLang="en-US" sz="2000" dirty="0">
                  <a:solidFill>
                    <a:srgbClr val="3333FF"/>
                  </a:solidFill>
                  <a:latin typeface="楷体" panose="02010609060101010101" pitchFamily="49" charset="-122"/>
                  <a:ea typeface="楷体" panose="02010609060101010101" pitchFamily="49" charset="-122"/>
                </a:rPr>
                <a:t>其中包含除零错误，违反了算法的</a:t>
              </a:r>
              <a:r>
                <a:rPr lang="zh-CN" altLang="en-US" sz="2000" dirty="0">
                  <a:solidFill>
                    <a:srgbClr val="FF3300"/>
                  </a:solidFill>
                  <a:latin typeface="楷体" panose="02010609060101010101" pitchFamily="49" charset="-122"/>
                  <a:ea typeface="楷体" panose="02010609060101010101" pitchFamily="49" charset="-122"/>
                </a:rPr>
                <a:t>可行性</a:t>
              </a:r>
              <a:r>
                <a:rPr lang="zh-CN" altLang="en-US" sz="2000" dirty="0">
                  <a:solidFill>
                    <a:srgbClr val="3333FF"/>
                  </a:solidFill>
                  <a:latin typeface="楷体" panose="02010609060101010101" pitchFamily="49" charset="-122"/>
                  <a:ea typeface="楷体" panose="02010609060101010101" pitchFamily="49" charset="-122"/>
                </a:rPr>
                <a:t>特性</a:t>
              </a:r>
              <a:endParaRPr lang="zh-CN" altLang="en-US" sz="2000" dirty="0">
                <a:solidFill>
                  <a:srgbClr val="3333FF"/>
                </a:solidFill>
                <a:latin typeface="楷体" panose="02010609060101010101" pitchFamily="49" charset="-122"/>
                <a:ea typeface="楷体" panose="02010609060101010101" pitchFamily="49" charset="-122"/>
                <a:cs typeface="Times New Roman" pitchFamily="18" charset="0"/>
              </a:endParaRPr>
            </a:p>
          </p:txBody>
        </p:sp>
      </p:grpSp>
      <p:sp>
        <p:nvSpPr>
          <p:cNvPr id="8" name="TextBox 4">
            <a:extLst>
              <a:ext uri="{FF2B5EF4-FFF2-40B4-BE49-F238E27FC236}">
                <a16:creationId xmlns:a16="http://schemas.microsoft.com/office/drawing/2014/main" id="{7BBDC67A-542A-4A68-B7FA-D0F4A008DF40}"/>
              </a:ext>
            </a:extLst>
          </p:cNvPr>
          <p:cNvSpPr txBox="1"/>
          <p:nvPr/>
        </p:nvSpPr>
        <p:spPr>
          <a:xfrm>
            <a:off x="642910" y="1124081"/>
            <a:ext cx="2357454" cy="407291"/>
          </a:xfrm>
          <a:prstGeom prst="rect">
            <a:avLst/>
          </a:prstGeom>
          <a:noFill/>
        </p:spPr>
        <p:txBody>
          <a:bodyPr wrap="square" rtlCol="0">
            <a:spAutoFit/>
          </a:bodyPr>
          <a:lstStyle/>
          <a:p>
            <a:r>
              <a:rPr lang="zh-CN" altLang="en-US" sz="2000" dirty="0">
                <a:solidFill>
                  <a:srgbClr val="3333FF"/>
                </a:solidFill>
                <a:latin typeface="微软雅黑" pitchFamily="34" charset="-122"/>
                <a:ea typeface="微软雅黑" pitchFamily="34" charset="-122"/>
                <a:cs typeface="Times New Roman" pitchFamily="18" charset="0"/>
              </a:rPr>
              <a:t>（</a:t>
            </a:r>
            <a:r>
              <a:rPr lang="en-US" altLang="zh-CN" sz="2000" dirty="0">
                <a:solidFill>
                  <a:srgbClr val="3333FF"/>
                </a:solidFill>
                <a:latin typeface="微软雅黑" pitchFamily="34" charset="-122"/>
                <a:ea typeface="微软雅黑" pitchFamily="34" charset="-122"/>
                <a:cs typeface="Times New Roman" pitchFamily="18" charset="0"/>
              </a:rPr>
              <a:t>2</a:t>
            </a:r>
            <a:r>
              <a:rPr lang="zh-CN" altLang="en-US" sz="2000" dirty="0">
                <a:solidFill>
                  <a:srgbClr val="3333FF"/>
                </a:solidFill>
                <a:latin typeface="微软雅黑" pitchFamily="34" charset="-122"/>
                <a:ea typeface="微软雅黑" pitchFamily="34" charset="-122"/>
                <a:cs typeface="Times New Roman" pitchFamily="18" charset="0"/>
              </a:rPr>
              <a:t>） 描述二</a:t>
            </a:r>
            <a:endParaRPr lang="zh-CN" altLang="en-US" sz="2000" dirty="0">
              <a:solidFill>
                <a:srgbClr val="3333FF"/>
              </a:solidFill>
              <a:latin typeface="微软雅黑" pitchFamily="34" charset="-122"/>
              <a:ea typeface="微软雅黑" pitchFamily="34" charset="-122"/>
            </a:endParaRPr>
          </a:p>
        </p:txBody>
      </p:sp>
    </p:spTree>
    <p:extLst>
      <p:ext uri="{BB962C8B-B14F-4D97-AF65-F5344CB8AC3E}">
        <p14:creationId xmlns:p14="http://schemas.microsoft.com/office/powerpoint/2010/main" val="203842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a:extLst>
              <a:ext uri="{FF2B5EF4-FFF2-40B4-BE49-F238E27FC236}">
                <a16:creationId xmlns:a16="http://schemas.microsoft.com/office/drawing/2014/main" id="{AA9382A6-EFCF-4EA9-9677-69FB80334ECC}"/>
              </a:ext>
            </a:extLst>
          </p:cNvPr>
          <p:cNvSpPr txBox="1"/>
          <p:nvPr/>
        </p:nvSpPr>
        <p:spPr>
          <a:xfrm>
            <a:off x="754436" y="2627666"/>
            <a:ext cx="7994028" cy="1200329"/>
          </a:xfrm>
          <a:prstGeom prst="rect">
            <a:avLst/>
          </a:prstGeom>
          <a:noFill/>
        </p:spPr>
        <p:txBody>
          <a:bodyPr wrap="square" rtlCol="0">
            <a:spAutoFit/>
          </a:bodyPr>
          <a:lstStyle/>
          <a:p>
            <a:pPr marL="457200" indent="-457200">
              <a:buBlip>
                <a:blip r:embed="rId2"/>
              </a:buBlip>
            </a:pPr>
            <a:r>
              <a:rPr lang="zh-CN" altLang="zh-CN" sz="2400" dirty="0">
                <a:solidFill>
                  <a:srgbClr val="FF0000"/>
                </a:solidFill>
                <a:latin typeface="楷体" panose="02010609060101010101" pitchFamily="49" charset="-122"/>
                <a:ea typeface="楷体" panose="02010609060101010101" pitchFamily="49" charset="-122"/>
              </a:rPr>
              <a:t>程序</a:t>
            </a:r>
            <a:r>
              <a:rPr lang="zh-CN" altLang="zh-CN" sz="2400" dirty="0">
                <a:solidFill>
                  <a:srgbClr val="3333FF"/>
                </a:solidFill>
                <a:latin typeface="楷体" panose="02010609060101010101" pitchFamily="49" charset="-122"/>
                <a:ea typeface="楷体" panose="02010609060101010101" pitchFamily="49" charset="-122"/>
              </a:rPr>
              <a:t>是指使用某种计算机语言对一个算法的具体实现，即具体要怎么做</a:t>
            </a:r>
            <a:r>
              <a:rPr lang="zh-CN" altLang="en-US" sz="2400" dirty="0">
                <a:solidFill>
                  <a:srgbClr val="3333FF"/>
                </a:solidFill>
                <a:latin typeface="楷体" panose="02010609060101010101" pitchFamily="49" charset="-122"/>
                <a:ea typeface="楷体" panose="02010609060101010101" pitchFamily="49" charset="-122"/>
              </a:rPr>
              <a:t>。</a:t>
            </a:r>
            <a:endParaRPr lang="en-US" altLang="zh-CN" sz="2400" dirty="0">
              <a:solidFill>
                <a:srgbClr val="3333FF"/>
              </a:solidFill>
              <a:latin typeface="楷体" panose="02010609060101010101" pitchFamily="49" charset="-122"/>
              <a:ea typeface="楷体" panose="02010609060101010101" pitchFamily="49" charset="-122"/>
            </a:endParaRPr>
          </a:p>
          <a:p>
            <a:pPr marL="457200" indent="-457200">
              <a:buBlip>
                <a:blip r:embed="rId2"/>
              </a:buBlip>
            </a:pPr>
            <a:r>
              <a:rPr lang="zh-CN" altLang="zh-CN" sz="2400" dirty="0">
                <a:solidFill>
                  <a:srgbClr val="FF0000"/>
                </a:solidFill>
                <a:latin typeface="楷体" panose="02010609060101010101" pitchFamily="49" charset="-122"/>
                <a:ea typeface="楷体" panose="02010609060101010101" pitchFamily="49" charset="-122"/>
              </a:rPr>
              <a:t>算法</a:t>
            </a:r>
            <a:r>
              <a:rPr lang="zh-CN" altLang="zh-CN" sz="2400" dirty="0">
                <a:solidFill>
                  <a:srgbClr val="3333FF"/>
                </a:solidFill>
                <a:latin typeface="楷体" panose="02010609060101010101" pitchFamily="49" charset="-122"/>
                <a:ea typeface="楷体" panose="02010609060101010101" pitchFamily="49" charset="-122"/>
              </a:rPr>
              <a:t>侧重于对解决问题的方法描述，即要做什么</a:t>
            </a:r>
            <a:r>
              <a:rPr lang="zh-CN" altLang="en-US" sz="2400" dirty="0">
                <a:solidFill>
                  <a:srgbClr val="3333FF"/>
                </a:solidFill>
                <a:latin typeface="楷体" panose="02010609060101010101" pitchFamily="49" charset="-122"/>
                <a:ea typeface="楷体" panose="02010609060101010101" pitchFamily="49" charset="-122"/>
              </a:rPr>
              <a:t>。</a:t>
            </a:r>
          </a:p>
        </p:txBody>
      </p:sp>
      <p:sp>
        <p:nvSpPr>
          <p:cNvPr id="6" name="椭圆形标注 4">
            <a:extLst>
              <a:ext uri="{FF2B5EF4-FFF2-40B4-BE49-F238E27FC236}">
                <a16:creationId xmlns:a16="http://schemas.microsoft.com/office/drawing/2014/main" id="{C77F9FEF-293D-467A-A7A2-89D45E4B8207}"/>
              </a:ext>
            </a:extLst>
          </p:cNvPr>
          <p:cNvSpPr/>
          <p:nvPr/>
        </p:nvSpPr>
        <p:spPr>
          <a:xfrm>
            <a:off x="1325940" y="1526306"/>
            <a:ext cx="1990004" cy="928694"/>
          </a:xfrm>
          <a:prstGeom prst="wedgeEllipse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000" dirty="0">
                <a:solidFill>
                  <a:srgbClr val="3333FF"/>
                </a:solidFill>
                <a:latin typeface="华文中宋" pitchFamily="2" charset="-122"/>
                <a:ea typeface="华文中宋" pitchFamily="2" charset="-122"/>
                <a:cs typeface="Consolas" pitchFamily="49" charset="0"/>
              </a:rPr>
              <a:t>不一定满足</a:t>
            </a:r>
            <a:r>
              <a:rPr lang="zh-CN" altLang="en-US" sz="2000" dirty="0">
                <a:solidFill>
                  <a:srgbClr val="C00000"/>
                </a:solidFill>
                <a:latin typeface="华文中宋" pitchFamily="2" charset="-122"/>
                <a:ea typeface="华文中宋" pitchFamily="2" charset="-122"/>
                <a:cs typeface="Consolas" pitchFamily="49" charset="0"/>
              </a:rPr>
              <a:t>有穷性</a:t>
            </a:r>
            <a:endParaRPr lang="zh-CN" altLang="en-US" sz="2000" dirty="0"/>
          </a:p>
        </p:txBody>
      </p:sp>
      <p:sp>
        <p:nvSpPr>
          <p:cNvPr id="7" name="椭圆形标注 5">
            <a:extLst>
              <a:ext uri="{FF2B5EF4-FFF2-40B4-BE49-F238E27FC236}">
                <a16:creationId xmlns:a16="http://schemas.microsoft.com/office/drawing/2014/main" id="{6CFCE9F4-93BB-4C3D-B2A9-3C2C613E4BB3}"/>
              </a:ext>
            </a:extLst>
          </p:cNvPr>
          <p:cNvSpPr/>
          <p:nvPr/>
        </p:nvSpPr>
        <p:spPr>
          <a:xfrm>
            <a:off x="1325940" y="3979984"/>
            <a:ext cx="1857388" cy="928694"/>
          </a:xfrm>
          <a:prstGeom prst="wedgeEllipseCallout">
            <a:avLst>
              <a:gd name="adj1" fmla="val -29956"/>
              <a:gd name="adj2" fmla="val -67755"/>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000" dirty="0">
                <a:solidFill>
                  <a:srgbClr val="3333FF"/>
                </a:solidFill>
                <a:latin typeface="华文中宋" pitchFamily="2" charset="-122"/>
                <a:ea typeface="华文中宋" pitchFamily="2" charset="-122"/>
                <a:cs typeface="Consolas" pitchFamily="49" charset="0"/>
              </a:rPr>
              <a:t>一定满足</a:t>
            </a:r>
            <a:r>
              <a:rPr lang="zh-CN" altLang="en-US" sz="2000" dirty="0">
                <a:solidFill>
                  <a:srgbClr val="C00000"/>
                </a:solidFill>
                <a:latin typeface="华文中宋" pitchFamily="2" charset="-122"/>
                <a:ea typeface="华文中宋" pitchFamily="2" charset="-122"/>
                <a:cs typeface="Consolas" pitchFamily="49" charset="0"/>
              </a:rPr>
              <a:t>有穷性</a:t>
            </a:r>
            <a:endParaRPr lang="zh-CN" altLang="en-US" sz="2000" dirty="0"/>
          </a:p>
        </p:txBody>
      </p:sp>
      <p:sp>
        <p:nvSpPr>
          <p:cNvPr id="8" name="TextBox 6">
            <a:extLst>
              <a:ext uri="{FF2B5EF4-FFF2-40B4-BE49-F238E27FC236}">
                <a16:creationId xmlns:a16="http://schemas.microsoft.com/office/drawing/2014/main" id="{DB0EB585-B5EA-4C78-B8BA-604C1E62AC1F}"/>
              </a:ext>
            </a:extLst>
          </p:cNvPr>
          <p:cNvSpPr txBox="1"/>
          <p:nvPr/>
        </p:nvSpPr>
        <p:spPr>
          <a:xfrm>
            <a:off x="1979712" y="5301459"/>
            <a:ext cx="5328592" cy="461665"/>
          </a:xfrm>
          <a:prstGeom prst="rect">
            <a:avLst/>
          </a:prstGeom>
          <a:noFill/>
        </p:spPr>
        <p:txBody>
          <a:bodyPr wrap="square" rtlCol="0">
            <a:spAutoFit/>
          </a:bodyPr>
          <a:lstStyle/>
          <a:p>
            <a:r>
              <a:rPr lang="zh-CN" altLang="en-US" sz="2400">
                <a:solidFill>
                  <a:srgbClr val="FF0000"/>
                </a:solidFill>
                <a:latin typeface="楷体" panose="02010609060101010101" pitchFamily="49" charset="-122"/>
                <a:ea typeface="楷体" panose="02010609060101010101" pitchFamily="49" charset="-122"/>
              </a:rPr>
              <a:t>算法</a:t>
            </a:r>
            <a:r>
              <a:rPr lang="zh-CN" altLang="en-US" sz="2400">
                <a:solidFill>
                  <a:srgbClr val="00B050"/>
                </a:solidFill>
                <a:latin typeface="楷体" panose="02010609060101010101" pitchFamily="49" charset="-122"/>
                <a:ea typeface="楷体" panose="02010609060101010101" pitchFamily="49" charset="-122"/>
              </a:rPr>
              <a:t>用计算机语言描述  </a:t>
            </a:r>
            <a:r>
              <a:rPr lang="zh-CN" altLang="en-US" sz="2400">
                <a:solidFill>
                  <a:srgbClr val="00B050"/>
                </a:solidFill>
                <a:latin typeface="楷体" panose="02010609060101010101" pitchFamily="49" charset="-122"/>
                <a:ea typeface="楷体" panose="02010609060101010101" pitchFamily="49" charset="-122"/>
                <a:sym typeface="Wingdings"/>
              </a:rPr>
              <a:t> </a:t>
            </a:r>
            <a:r>
              <a:rPr lang="zh-CN" altLang="en-US" sz="2400">
                <a:solidFill>
                  <a:srgbClr val="FF0000"/>
                </a:solidFill>
                <a:latin typeface="楷体" panose="02010609060101010101" pitchFamily="49" charset="-122"/>
                <a:ea typeface="楷体" panose="02010609060101010101" pitchFamily="49" charset="-122"/>
                <a:sym typeface="Wingdings"/>
              </a:rPr>
              <a:t>程序</a:t>
            </a:r>
            <a:endParaRPr lang="zh-CN" altLang="en-US" sz="2400">
              <a:solidFill>
                <a:srgbClr val="FF0000"/>
              </a:solidFill>
              <a:latin typeface="楷体" panose="02010609060101010101" pitchFamily="49" charset="-122"/>
              <a:ea typeface="楷体" panose="02010609060101010101" pitchFamily="49" charset="-122"/>
            </a:endParaRPr>
          </a:p>
        </p:txBody>
      </p:sp>
      <p:sp>
        <p:nvSpPr>
          <p:cNvPr id="9" name="矩形 8">
            <a:extLst>
              <a:ext uri="{FF2B5EF4-FFF2-40B4-BE49-F238E27FC236}">
                <a16:creationId xmlns:a16="http://schemas.microsoft.com/office/drawing/2014/main" id="{EDBF81EA-E73E-46E7-8B05-44E74A3711F8}"/>
              </a:ext>
            </a:extLst>
          </p:cNvPr>
          <p:cNvSpPr/>
          <p:nvPr/>
        </p:nvSpPr>
        <p:spPr>
          <a:xfrm>
            <a:off x="2843808" y="636013"/>
            <a:ext cx="2646879" cy="461665"/>
          </a:xfrm>
          <a:prstGeom prst="rect">
            <a:avLst/>
          </a:prstGeom>
        </p:spPr>
        <p:txBody>
          <a:bodyPr wrap="none">
            <a:spAutoFit/>
          </a:bodyPr>
          <a:lstStyle/>
          <a:p>
            <a:pPr algn="ctr"/>
            <a:r>
              <a:rPr lang="zh-CN" altLang="zh-CN" sz="2400" b="1" dirty="0">
                <a:latin typeface="楷体" panose="02010609060101010101" pitchFamily="49" charset="-122"/>
                <a:ea typeface="楷体" panose="02010609060101010101" pitchFamily="49" charset="-122"/>
              </a:rPr>
              <a:t>算法和程序</a:t>
            </a:r>
            <a:r>
              <a:rPr lang="zh-CN" altLang="en-US" sz="2400" b="1" dirty="0">
                <a:latin typeface="楷体" panose="02010609060101010101" pitchFamily="49" charset="-122"/>
                <a:ea typeface="楷体" panose="02010609060101010101" pitchFamily="49" charset="-122"/>
              </a:rPr>
              <a:t>的</a:t>
            </a:r>
            <a:r>
              <a:rPr lang="zh-CN" altLang="zh-CN" sz="2400" b="1" dirty="0">
                <a:latin typeface="楷体" panose="02010609060101010101" pitchFamily="49" charset="-122"/>
                <a:ea typeface="楷体" panose="02010609060101010101" pitchFamily="49" charset="-122"/>
              </a:rPr>
              <a:t>区别</a:t>
            </a:r>
            <a:endParaRPr lang="zh-CN" altLang="en-US" sz="24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980905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1560" y="1772816"/>
            <a:ext cx="8280920" cy="2955424"/>
          </a:xfrm>
          <a:prstGeom prst="rect">
            <a:avLst/>
          </a:prstGeom>
        </p:spPr>
        <p:txBody>
          <a:bodyPr wrap="square">
            <a:spAutoFit/>
          </a:bodyPr>
          <a:lstStyle/>
          <a:p>
            <a:pPr>
              <a:lnSpc>
                <a:spcPct val="150000"/>
              </a:lnSpc>
              <a:spcBef>
                <a:spcPts val="600"/>
              </a:spcBef>
              <a:spcAft>
                <a:spcPts val="600"/>
              </a:spcAft>
            </a:pP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5</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通用性</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：算法要具有一般性，对一般的数据集合都要成立。</a:t>
            </a:r>
          </a:p>
          <a:p>
            <a:pPr>
              <a:lnSpc>
                <a:spcPct val="150000"/>
              </a:lnSpc>
              <a:spcBef>
                <a:spcPts val="600"/>
              </a:spcBef>
              <a:spcAft>
                <a:spcPts val="600"/>
              </a:spcAft>
            </a:pP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6</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可读性</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：具备良好可读性的算法有利于查错和理解。</a:t>
            </a:r>
          </a:p>
          <a:p>
            <a:pPr>
              <a:lnSpc>
                <a:spcPct val="150000"/>
              </a:lnSpc>
              <a:spcBef>
                <a:spcPts val="600"/>
              </a:spcBef>
              <a:spcAft>
                <a:spcPts val="600"/>
              </a:spcAft>
            </a:pP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7</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200"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健壮性</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：当输入数据非法时，算法能适当的处理并作出反应，而不应出现死机状况或输出异常结果。</a:t>
            </a: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2405E722-5AE1-4B5B-8A14-0401CA058342}"/>
              </a:ext>
            </a:extLst>
          </p:cNvPr>
          <p:cNvSpPr/>
          <p:nvPr/>
        </p:nvSpPr>
        <p:spPr>
          <a:xfrm>
            <a:off x="611560" y="836712"/>
            <a:ext cx="2348720" cy="637675"/>
          </a:xfrm>
          <a:prstGeom prst="rect">
            <a:avLst/>
          </a:prstGeom>
        </p:spPr>
        <p:txBody>
          <a:bodyPr wrap="none">
            <a:spAutoFit/>
          </a:bodyPr>
          <a:lstStyle/>
          <a:p>
            <a:pPr>
              <a:lnSpc>
                <a:spcPct val="150000"/>
              </a:lnSpc>
            </a:pPr>
            <a:r>
              <a:rPr lang="zh-CN" altLang="en-US" sz="28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更好的算法：</a:t>
            </a:r>
            <a:endParaRPr lang="en-US" altLang="zh-CN" sz="2800" b="1" dirty="0">
              <a:solidFill>
                <a:srgbClr val="FF0000"/>
              </a:solidFill>
              <a:latin typeface="楷体" panose="02010609060101010101" pitchFamily="49" charset="-122"/>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6465198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124744"/>
            <a:ext cx="8280920" cy="2400657"/>
          </a:xfrm>
          <a:prstGeom prst="rect">
            <a:avLst/>
          </a:prstGeom>
        </p:spPr>
        <p:txBody>
          <a:bodyPr wrap="square">
            <a:spAutoFit/>
          </a:bodyPr>
          <a:lstStyle/>
          <a:p>
            <a:pPr>
              <a:lnSpc>
                <a:spcPct val="125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判断算法性能的两个重要因素：</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25000"/>
              </a:lnSpc>
              <a:buFont typeface="Wingdings" pitchFamily="2" charset="2"/>
              <a:buChar char="ü"/>
            </a:pP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时间复杂度</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：如何使算法执行速度尽可能快，所需时间尽可能短；</a:t>
            </a:r>
          </a:p>
          <a:p>
            <a:pPr marL="342900" indent="-342900">
              <a:lnSpc>
                <a:spcPct val="125000"/>
              </a:lnSpc>
              <a:buFont typeface="Wingdings" pitchFamily="2" charset="2"/>
              <a:buChar char="ü"/>
            </a:pP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空间复杂度</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：如何使执行算法运行所需的存储量尽可能小。</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4025712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B11A2F20-D9A0-40D8-99C5-23650A449C25}"/>
              </a:ext>
            </a:extLst>
          </p:cNvPr>
          <p:cNvSpPr txBox="1"/>
          <p:nvPr/>
        </p:nvSpPr>
        <p:spPr>
          <a:xfrm>
            <a:off x="1157612" y="807788"/>
            <a:ext cx="7072362" cy="407676"/>
          </a:xfrm>
          <a:prstGeom prst="rect">
            <a:avLst/>
          </a:prstGeom>
          <a:noFill/>
        </p:spPr>
        <p:txBody>
          <a:bodyPr wrap="square" rtlCol="0">
            <a:spAutoFit/>
          </a:bodyPr>
          <a:lstStyle/>
          <a:p>
            <a:pPr algn="l"/>
            <a:r>
              <a:rPr lang="zh-CN" altLang="en-US" sz="2000" dirty="0">
                <a:solidFill>
                  <a:srgbClr val="0000FF"/>
                </a:solidFill>
                <a:latin typeface="Consolas" pitchFamily="49" charset="0"/>
                <a:ea typeface="楷体" pitchFamily="49" charset="-122"/>
                <a:cs typeface="Consolas" pitchFamily="49" charset="0"/>
              </a:rPr>
              <a:t>设计一个算法求</a:t>
            </a:r>
            <a:r>
              <a:rPr lang="en-US" altLang="zh-CN" sz="2000" dirty="0">
                <a:solidFill>
                  <a:srgbClr val="0000FF"/>
                </a:solidFill>
                <a:latin typeface="Consolas" pitchFamily="49" charset="0"/>
                <a:ea typeface="楷体" pitchFamily="49" charset="-122"/>
                <a:cs typeface="Consolas" pitchFamily="49" charset="0"/>
              </a:rPr>
              <a:t>1+(1+2)+(1+2+3)+</a:t>
            </a:r>
            <a:r>
              <a:rPr lang="en-US" altLang="zh-CN" sz="2000" dirty="0">
                <a:solidFill>
                  <a:srgbClr val="0000FF"/>
                </a:solidFill>
                <a:latin typeface="宋体" pitchFamily="2" charset="-122"/>
                <a:ea typeface="宋体" pitchFamily="2" charset="-122"/>
                <a:cs typeface="Consolas" pitchFamily="49" charset="0"/>
              </a:rPr>
              <a:t>…</a:t>
            </a:r>
            <a:r>
              <a:rPr lang="en-US" altLang="zh-CN" sz="2000" dirty="0">
                <a:solidFill>
                  <a:srgbClr val="0000FF"/>
                </a:solidFill>
                <a:latin typeface="Consolas" pitchFamily="49" charset="0"/>
                <a:ea typeface="楷体" pitchFamily="49" charset="-122"/>
                <a:cs typeface="Consolas" pitchFamily="49" charset="0"/>
              </a:rPr>
              <a:t>+(1+2+3+</a:t>
            </a:r>
            <a:r>
              <a:rPr lang="en-US" altLang="zh-CN" sz="2000" dirty="0">
                <a:solidFill>
                  <a:srgbClr val="0000FF"/>
                </a:solidFill>
                <a:latin typeface="宋体" pitchFamily="2" charset="-122"/>
                <a:ea typeface="宋体" pitchFamily="2"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 </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&gt;2</a:t>
            </a:r>
            <a:r>
              <a:rPr lang="zh-CN" altLang="en-US" sz="2000" dirty="0">
                <a:solidFill>
                  <a:srgbClr val="0000FF"/>
                </a:solidFill>
                <a:latin typeface="Consolas" pitchFamily="49" charset="0"/>
                <a:ea typeface="楷体" pitchFamily="49" charset="-122"/>
                <a:cs typeface="Consolas" pitchFamily="49" charset="0"/>
              </a:rPr>
              <a:t>。</a:t>
            </a:r>
          </a:p>
        </p:txBody>
      </p:sp>
      <p:grpSp>
        <p:nvGrpSpPr>
          <p:cNvPr id="5" name="组合 4">
            <a:extLst>
              <a:ext uri="{FF2B5EF4-FFF2-40B4-BE49-F238E27FC236}">
                <a16:creationId xmlns:a16="http://schemas.microsoft.com/office/drawing/2014/main" id="{C32B8915-3E7F-4E0C-AE43-DE1B3C9E9C71}"/>
              </a:ext>
            </a:extLst>
          </p:cNvPr>
          <p:cNvGrpSpPr/>
          <p:nvPr/>
        </p:nvGrpSpPr>
        <p:grpSpPr>
          <a:xfrm>
            <a:off x="37140" y="705633"/>
            <a:ext cx="1000100" cy="785817"/>
            <a:chOff x="5691204" y="3835411"/>
            <a:chExt cx="1238250" cy="1236663"/>
          </a:xfrm>
        </p:grpSpPr>
        <p:grpSp>
          <p:nvGrpSpPr>
            <p:cNvPr id="6" name="Group 19">
              <a:extLst>
                <a:ext uri="{FF2B5EF4-FFF2-40B4-BE49-F238E27FC236}">
                  <a16:creationId xmlns:a16="http://schemas.microsoft.com/office/drawing/2014/main" id="{EC1D3635-A727-4E9D-8520-3AE2CD7440DE}"/>
                </a:ext>
              </a:extLst>
            </p:cNvPr>
            <p:cNvGrpSpPr>
              <a:grpSpLocks/>
            </p:cNvGrpSpPr>
            <p:nvPr/>
          </p:nvGrpSpPr>
          <p:grpSpPr bwMode="auto">
            <a:xfrm>
              <a:off x="5691204" y="3835411"/>
              <a:ext cx="1238250" cy="1236663"/>
              <a:chOff x="802" y="845"/>
              <a:chExt cx="827" cy="826"/>
            </a:xfrm>
          </p:grpSpPr>
          <p:sp>
            <p:nvSpPr>
              <p:cNvPr id="8" name="Oval 20">
                <a:extLst>
                  <a:ext uri="{FF2B5EF4-FFF2-40B4-BE49-F238E27FC236}">
                    <a16:creationId xmlns:a16="http://schemas.microsoft.com/office/drawing/2014/main" id="{7FF76F43-9B2C-4778-B51D-66CF4D07746E}"/>
                  </a:ext>
                </a:extLst>
              </p:cNvPr>
              <p:cNvSpPr>
                <a:spLocks noChangeArrowheads="1"/>
              </p:cNvSpPr>
              <p:nvPr/>
            </p:nvSpPr>
            <p:spPr bwMode="gray">
              <a:xfrm>
                <a:off x="802" y="845"/>
                <a:ext cx="827" cy="826"/>
              </a:xfrm>
              <a:prstGeom prst="ellipse">
                <a:avLst/>
              </a:prstGeom>
              <a:solidFill>
                <a:srgbClr val="F8F8F8"/>
              </a:solidFill>
              <a:ln w="38100">
                <a:solidFill>
                  <a:schemeClr val="hlink"/>
                </a:solidFill>
                <a:round/>
                <a:headEnd/>
                <a:tailEnd/>
              </a:ln>
            </p:spPr>
            <p:txBody>
              <a:bodyPr wrap="none" anchor="ctr"/>
              <a:lstStyle/>
              <a:p>
                <a:endParaRPr lang="zh-CN" altLang="zh-CN">
                  <a:latin typeface="Calibri" pitchFamily="34" charset="0"/>
                  <a:cs typeface="Arial" pitchFamily="34" charset="0"/>
                </a:endParaRPr>
              </a:p>
            </p:txBody>
          </p:sp>
          <p:sp>
            <p:nvSpPr>
              <p:cNvPr id="9" name="Oval 21">
                <a:extLst>
                  <a:ext uri="{FF2B5EF4-FFF2-40B4-BE49-F238E27FC236}">
                    <a16:creationId xmlns:a16="http://schemas.microsoft.com/office/drawing/2014/main" id="{1B5DE452-0B0B-489F-BCAC-3773AAC2BCFC}"/>
                  </a:ext>
                </a:extLst>
              </p:cNvPr>
              <p:cNvSpPr>
                <a:spLocks noChangeArrowheads="1"/>
              </p:cNvSpPr>
              <p:nvPr/>
            </p:nvSpPr>
            <p:spPr bwMode="gray">
              <a:xfrm>
                <a:off x="836" y="879"/>
                <a:ext cx="758" cy="758"/>
              </a:xfrm>
              <a:prstGeom prst="ellipse">
                <a:avLst/>
              </a:prstGeom>
              <a:noFill/>
              <a:ln w="38100">
                <a:solidFill>
                  <a:schemeClr val="hlink">
                    <a:alpha val="70195"/>
                  </a:schemeClr>
                </a:solidFill>
                <a:round/>
                <a:headEnd/>
                <a:tailEnd/>
              </a:ln>
            </p:spPr>
            <p:txBody>
              <a:bodyPr wrap="none" anchor="ctr"/>
              <a:lstStyle/>
              <a:p>
                <a:endParaRPr lang="zh-CN" altLang="zh-CN">
                  <a:latin typeface="Calibri" pitchFamily="34" charset="0"/>
                  <a:cs typeface="Arial" pitchFamily="34" charset="0"/>
                </a:endParaRPr>
              </a:p>
            </p:txBody>
          </p:sp>
          <p:sp>
            <p:nvSpPr>
              <p:cNvPr id="10" name="Oval 22">
                <a:extLst>
                  <a:ext uri="{FF2B5EF4-FFF2-40B4-BE49-F238E27FC236}">
                    <a16:creationId xmlns:a16="http://schemas.microsoft.com/office/drawing/2014/main" id="{A4548D31-B7E7-490E-8CC9-39E627213144}"/>
                  </a:ext>
                </a:extLst>
              </p:cNvPr>
              <p:cNvSpPr>
                <a:spLocks noChangeArrowheads="1"/>
              </p:cNvSpPr>
              <p:nvPr/>
            </p:nvSpPr>
            <p:spPr bwMode="gray">
              <a:xfrm>
                <a:off x="870" y="915"/>
                <a:ext cx="690" cy="690"/>
              </a:xfrm>
              <a:prstGeom prst="ellipse">
                <a:avLst/>
              </a:prstGeom>
              <a:noFill/>
              <a:ln w="38100">
                <a:solidFill>
                  <a:schemeClr val="hlink">
                    <a:alpha val="30196"/>
                  </a:schemeClr>
                </a:solidFill>
                <a:round/>
                <a:headEnd/>
                <a:tailEnd/>
              </a:ln>
            </p:spPr>
            <p:txBody>
              <a:bodyPr wrap="none" anchor="ctr"/>
              <a:lstStyle/>
              <a:p>
                <a:endParaRPr lang="zh-CN" altLang="zh-CN">
                  <a:latin typeface="Calibri" pitchFamily="34" charset="0"/>
                  <a:cs typeface="Arial" pitchFamily="34" charset="0"/>
                </a:endParaRPr>
              </a:p>
            </p:txBody>
          </p:sp>
        </p:grpSp>
        <p:sp>
          <p:nvSpPr>
            <p:cNvPr id="7" name="Text Box 23">
              <a:extLst>
                <a:ext uri="{FF2B5EF4-FFF2-40B4-BE49-F238E27FC236}">
                  <a16:creationId xmlns:a16="http://schemas.microsoft.com/office/drawing/2014/main" id="{F6CAB970-1043-4BFA-B575-23E62DFDE96A}"/>
                </a:ext>
              </a:extLst>
            </p:cNvPr>
            <p:cNvSpPr txBox="1">
              <a:spLocks noChangeArrowheads="1"/>
            </p:cNvSpPr>
            <p:nvPr/>
          </p:nvSpPr>
          <p:spPr bwMode="gray">
            <a:xfrm>
              <a:off x="5762641" y="4214818"/>
              <a:ext cx="1082674" cy="557010"/>
            </a:xfrm>
            <a:prstGeom prst="rect">
              <a:avLst/>
            </a:prstGeom>
            <a:noFill/>
            <a:ln w="9525" algn="ctr">
              <a:noFill/>
              <a:miter lim="800000"/>
              <a:headEnd/>
              <a:tailEnd/>
            </a:ln>
          </p:spPr>
          <p:txBody>
            <a:bodyPr>
              <a:spAutoFit/>
            </a:bodyPr>
            <a:lstStyle/>
            <a:p>
              <a:pPr algn="ctr">
                <a:spcBef>
                  <a:spcPct val="50000"/>
                </a:spcBef>
              </a:pPr>
              <a:r>
                <a:rPr lang="zh-CN" altLang="en-US" sz="2000" b="1">
                  <a:solidFill>
                    <a:srgbClr val="FF0000"/>
                  </a:solidFill>
                  <a:latin typeface="方正启体简体" pitchFamily="65" charset="-122"/>
                  <a:ea typeface="方正启体简体" pitchFamily="65" charset="-122"/>
                  <a:cs typeface="Consolas" pitchFamily="49" charset="0"/>
                </a:rPr>
                <a:t>示例</a:t>
              </a:r>
            </a:p>
          </p:txBody>
        </p:sp>
      </p:grpSp>
      <p:sp>
        <p:nvSpPr>
          <p:cNvPr id="11" name="TextBox 9">
            <a:extLst>
              <a:ext uri="{FF2B5EF4-FFF2-40B4-BE49-F238E27FC236}">
                <a16:creationId xmlns:a16="http://schemas.microsoft.com/office/drawing/2014/main" id="{B8B6E05A-8796-461D-ADB5-1F9FC4D405AE}"/>
              </a:ext>
            </a:extLst>
          </p:cNvPr>
          <p:cNvSpPr txBox="1"/>
          <p:nvPr/>
        </p:nvSpPr>
        <p:spPr>
          <a:xfrm>
            <a:off x="1003529" y="1437259"/>
            <a:ext cx="5805288" cy="2229805"/>
          </a:xfrm>
          <a:prstGeom prst="rect">
            <a:avLst/>
          </a:prstGeom>
        </p:spPr>
        <p:style>
          <a:lnRef idx="1">
            <a:schemeClr val="accent3"/>
          </a:lnRef>
          <a:fillRef idx="2">
            <a:schemeClr val="accent3"/>
          </a:fillRef>
          <a:effectRef idx="1">
            <a:schemeClr val="accent3"/>
          </a:effectRef>
          <a:fontRef idx="minor">
            <a:schemeClr val="dk1"/>
          </a:fontRef>
        </p:style>
        <p:txBody>
          <a:bodyPr wrap="square" lIns="180000" tIns="144000" bIns="144000" rtlCol="0">
            <a:spAutoFit/>
          </a:bodyPr>
          <a:lstStyle/>
          <a:p>
            <a:pPr algn="l">
              <a:spcBef>
                <a:spcPts val="0"/>
              </a:spcBef>
            </a:pPr>
            <a:r>
              <a:rPr lang="en-US" altLang="zh-CN" sz="1800" dirty="0">
                <a:solidFill>
                  <a:srgbClr val="0000FF"/>
                </a:solidFill>
                <a:latin typeface="Consolas" pitchFamily="49" charset="0"/>
                <a:ea typeface="仿宋" pitchFamily="49" charset="-122"/>
                <a:cs typeface="Consolas" pitchFamily="49" charset="0"/>
              </a:rPr>
              <a:t>int </a:t>
            </a:r>
            <a:r>
              <a:rPr lang="en-US" altLang="zh-CN" sz="1800" dirty="0">
                <a:solidFill>
                  <a:srgbClr val="FF0000"/>
                </a:solidFill>
                <a:latin typeface="Consolas" pitchFamily="49" charset="0"/>
                <a:ea typeface="仿宋" pitchFamily="49" charset="-122"/>
                <a:cs typeface="Consolas" pitchFamily="49" charset="0"/>
              </a:rPr>
              <a:t>Sum1</a:t>
            </a:r>
            <a:r>
              <a:rPr lang="en-US" altLang="zh-CN" sz="1800" dirty="0">
                <a:solidFill>
                  <a:srgbClr val="0000FF"/>
                </a:solidFill>
                <a:latin typeface="Consolas" pitchFamily="49" charset="0"/>
                <a:ea typeface="仿宋" pitchFamily="49" charset="-122"/>
                <a:cs typeface="Consolas" pitchFamily="49" charset="0"/>
              </a:rPr>
              <a:t>(int n) {</a:t>
            </a:r>
          </a:p>
          <a:p>
            <a:pPr algn="l">
              <a:spcBef>
                <a:spcPts val="0"/>
              </a:spcBef>
            </a:pPr>
            <a:r>
              <a:rPr lang="en-US" altLang="zh-CN" sz="1800" dirty="0">
                <a:solidFill>
                  <a:srgbClr val="0000FF"/>
                </a:solidFill>
                <a:latin typeface="Consolas" pitchFamily="49" charset="0"/>
                <a:ea typeface="仿宋" pitchFamily="49" charset="-122"/>
                <a:cs typeface="Consolas" pitchFamily="49" charset="0"/>
              </a:rPr>
              <a:t>   int sum=0;</a:t>
            </a:r>
          </a:p>
          <a:p>
            <a:pPr algn="l">
              <a:spcBef>
                <a:spcPts val="0"/>
              </a:spcBef>
            </a:pPr>
            <a:r>
              <a:rPr lang="en-US" altLang="zh-CN" sz="1800" dirty="0">
                <a:solidFill>
                  <a:srgbClr val="0000FF"/>
                </a:solidFill>
                <a:latin typeface="Consolas" pitchFamily="49" charset="0"/>
                <a:ea typeface="仿宋" pitchFamily="49" charset="-122"/>
                <a:cs typeface="Consolas" pitchFamily="49" charset="0"/>
              </a:rPr>
              <a:t>   for (int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=1;i&lt;=</a:t>
            </a:r>
            <a:r>
              <a:rPr lang="en-US" altLang="zh-CN" sz="1800" dirty="0" err="1">
                <a:solidFill>
                  <a:srgbClr val="0000FF"/>
                </a:solidFill>
                <a:latin typeface="Consolas" pitchFamily="49" charset="0"/>
                <a:ea typeface="仿宋" pitchFamily="49" charset="-122"/>
                <a:cs typeface="Consolas" pitchFamily="49" charset="0"/>
              </a:rPr>
              <a:t>n;i</a:t>
            </a:r>
            <a:r>
              <a:rPr lang="en-US" altLang="zh-CN" sz="1800" dirty="0">
                <a:solidFill>
                  <a:srgbClr val="0000FF"/>
                </a:solidFill>
                <a:latin typeface="Consolas" pitchFamily="49" charset="0"/>
                <a:ea typeface="仿宋" pitchFamily="49" charset="-122"/>
                <a:cs typeface="Consolas" pitchFamily="49" charset="0"/>
              </a:rPr>
              <a:t>++)</a:t>
            </a:r>
          </a:p>
          <a:p>
            <a:pPr algn="l">
              <a:spcBef>
                <a:spcPts val="0"/>
              </a:spcBef>
            </a:pPr>
            <a:r>
              <a:rPr lang="en-US" altLang="zh-CN" sz="1800" dirty="0">
                <a:solidFill>
                  <a:srgbClr val="0000FF"/>
                </a:solidFill>
                <a:latin typeface="Consolas" pitchFamily="49" charset="0"/>
                <a:ea typeface="仿宋" pitchFamily="49" charset="-122"/>
                <a:cs typeface="Consolas" pitchFamily="49" charset="0"/>
              </a:rPr>
              <a:t>     for (int j=1;j&lt;=</a:t>
            </a:r>
            <a:r>
              <a:rPr lang="en-US" altLang="zh-CN" sz="1800" dirty="0" err="1">
                <a:solidFill>
                  <a:srgbClr val="0000FF"/>
                </a:solidFill>
                <a:latin typeface="Consolas" pitchFamily="49" charset="0"/>
                <a:ea typeface="仿宋" pitchFamily="49" charset="-122"/>
                <a:cs typeface="Consolas" pitchFamily="49" charset="0"/>
              </a:rPr>
              <a:t>i;j</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求</a:t>
            </a:r>
            <a:r>
              <a:rPr lang="en-US" altLang="zh-CN" sz="1800" dirty="0">
                <a:solidFill>
                  <a:srgbClr val="00B0F0"/>
                </a:solidFill>
                <a:latin typeface="Consolas" pitchFamily="49" charset="0"/>
                <a:ea typeface="仿宋" pitchFamily="49" charset="-122"/>
                <a:cs typeface="Consolas" pitchFamily="49" charset="0"/>
              </a:rPr>
              <a:t>1+2+…+</a:t>
            </a:r>
            <a:r>
              <a:rPr lang="en-US" altLang="zh-CN" sz="1800" dirty="0" err="1">
                <a:solidFill>
                  <a:srgbClr val="00B0F0"/>
                </a:solidFill>
                <a:latin typeface="Consolas" pitchFamily="49" charset="0"/>
                <a:ea typeface="仿宋" pitchFamily="49" charset="-122"/>
                <a:cs typeface="Consolas" pitchFamily="49" charset="0"/>
              </a:rPr>
              <a:t>i</a:t>
            </a:r>
            <a:endParaRPr lang="en-US" altLang="zh-CN" sz="1800" dirty="0">
              <a:solidFill>
                <a:srgbClr val="00B0F0"/>
              </a:solidFill>
              <a:latin typeface="Consolas" pitchFamily="49" charset="0"/>
              <a:ea typeface="仿宋" pitchFamily="49" charset="-122"/>
              <a:cs typeface="Consolas" pitchFamily="49" charset="0"/>
            </a:endParaRPr>
          </a:p>
          <a:p>
            <a:pPr algn="l">
              <a:spcBef>
                <a:spcPts val="0"/>
              </a:spcBef>
            </a:pPr>
            <a:r>
              <a:rPr lang="en-US" altLang="zh-CN" sz="1800" dirty="0">
                <a:solidFill>
                  <a:srgbClr val="0000FF"/>
                </a:solidFill>
                <a:latin typeface="Consolas" pitchFamily="49" charset="0"/>
                <a:ea typeface="仿宋" pitchFamily="49" charset="-122"/>
                <a:cs typeface="Consolas" pitchFamily="49" charset="0"/>
              </a:rPr>
              <a:t>        sum+=j;</a:t>
            </a:r>
          </a:p>
          <a:p>
            <a:pPr algn="l">
              <a:spcBef>
                <a:spcPts val="0"/>
              </a:spcBef>
            </a:pPr>
            <a:r>
              <a:rPr lang="en-US" altLang="zh-CN" sz="1800" dirty="0">
                <a:solidFill>
                  <a:srgbClr val="0000FF"/>
                </a:solidFill>
                <a:latin typeface="Consolas" pitchFamily="49" charset="0"/>
                <a:ea typeface="仿宋" pitchFamily="49" charset="-122"/>
                <a:cs typeface="Consolas" pitchFamily="49" charset="0"/>
              </a:rPr>
              <a:t>   return sum;</a:t>
            </a:r>
          </a:p>
          <a:p>
            <a:pPr algn="l">
              <a:spcBef>
                <a:spcPts val="0"/>
              </a:spcBef>
            </a:pPr>
            <a:r>
              <a:rPr lang="en-US" altLang="zh-CN" sz="1800" dirty="0">
                <a:solidFill>
                  <a:srgbClr val="0000FF"/>
                </a:solidFill>
                <a:latin typeface="Consolas" pitchFamily="49" charset="0"/>
                <a:ea typeface="仿宋" pitchFamily="49" charset="-122"/>
                <a:cs typeface="Consolas" pitchFamily="49" charset="0"/>
              </a:rPr>
              <a:t>}</a:t>
            </a:r>
            <a:endParaRPr lang="zh-CN" altLang="en-US" sz="1800" dirty="0">
              <a:solidFill>
                <a:srgbClr val="0000FF"/>
              </a:solidFill>
              <a:latin typeface="Consolas" pitchFamily="49" charset="0"/>
              <a:ea typeface="仿宋" pitchFamily="49" charset="-122"/>
              <a:cs typeface="Consolas" pitchFamily="49" charset="0"/>
            </a:endParaRPr>
          </a:p>
        </p:txBody>
      </p:sp>
      <p:sp>
        <p:nvSpPr>
          <p:cNvPr id="12" name="TextBox 10">
            <a:extLst>
              <a:ext uri="{FF2B5EF4-FFF2-40B4-BE49-F238E27FC236}">
                <a16:creationId xmlns:a16="http://schemas.microsoft.com/office/drawing/2014/main" id="{B70004EC-26E9-4DF4-A4A1-7A8A524B4671}"/>
              </a:ext>
            </a:extLst>
          </p:cNvPr>
          <p:cNvSpPr txBox="1"/>
          <p:nvPr/>
        </p:nvSpPr>
        <p:spPr>
          <a:xfrm>
            <a:off x="1003529" y="3837055"/>
            <a:ext cx="5805288" cy="2506804"/>
          </a:xfrm>
          <a:prstGeom prst="rect">
            <a:avLst/>
          </a:prstGeom>
        </p:spPr>
        <p:style>
          <a:lnRef idx="1">
            <a:schemeClr val="accent3"/>
          </a:lnRef>
          <a:fillRef idx="2">
            <a:schemeClr val="accent3"/>
          </a:fillRef>
          <a:effectRef idx="1">
            <a:schemeClr val="accent3"/>
          </a:effectRef>
          <a:fontRef idx="minor">
            <a:schemeClr val="dk1"/>
          </a:fontRef>
        </p:style>
        <p:txBody>
          <a:bodyPr wrap="square" lIns="216000" tIns="144000" bIns="144000" rtlCol="0">
            <a:spAutoFit/>
          </a:bodyPr>
          <a:lstStyle/>
          <a:p>
            <a:pPr algn="l">
              <a:spcBef>
                <a:spcPts val="0"/>
              </a:spcBef>
            </a:pPr>
            <a:r>
              <a:rPr lang="en-US" altLang="zh-CN" sz="1800" dirty="0">
                <a:solidFill>
                  <a:srgbClr val="0000FF"/>
                </a:solidFill>
                <a:latin typeface="Consolas" pitchFamily="49" charset="0"/>
                <a:ea typeface="仿宋" pitchFamily="49" charset="-122"/>
                <a:cs typeface="Consolas" pitchFamily="49" charset="0"/>
              </a:rPr>
              <a:t>int </a:t>
            </a:r>
            <a:r>
              <a:rPr lang="en-US" altLang="zh-CN" sz="1800" dirty="0">
                <a:solidFill>
                  <a:srgbClr val="FF0000"/>
                </a:solidFill>
                <a:latin typeface="Consolas" pitchFamily="49" charset="0"/>
                <a:ea typeface="仿宋" pitchFamily="49" charset="-122"/>
                <a:cs typeface="Consolas" pitchFamily="49" charset="0"/>
              </a:rPr>
              <a:t>Sum2</a:t>
            </a:r>
            <a:r>
              <a:rPr lang="en-US" altLang="zh-CN" sz="1800" dirty="0">
                <a:solidFill>
                  <a:srgbClr val="0000FF"/>
                </a:solidFill>
                <a:latin typeface="Consolas" pitchFamily="49" charset="0"/>
                <a:ea typeface="仿宋" pitchFamily="49" charset="-122"/>
                <a:cs typeface="Consolas" pitchFamily="49" charset="0"/>
              </a:rPr>
              <a:t>(int n) {</a:t>
            </a:r>
          </a:p>
          <a:p>
            <a:pPr algn="l">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int</a:t>
            </a:r>
            <a:r>
              <a:rPr lang="en-US" altLang="zh-CN" sz="1800" dirty="0">
                <a:solidFill>
                  <a:srgbClr val="0000FF"/>
                </a:solidFill>
                <a:latin typeface="Consolas" pitchFamily="49" charset="0"/>
                <a:ea typeface="仿宋" pitchFamily="49" charset="-122"/>
                <a:cs typeface="Consolas" pitchFamily="49" charset="0"/>
              </a:rPr>
              <a:t> sum = 0, s = 0;</a:t>
            </a:r>
          </a:p>
          <a:p>
            <a:pPr algn="l">
              <a:spcBef>
                <a:spcPts val="0"/>
              </a:spcBef>
            </a:pPr>
            <a:r>
              <a:rPr lang="en-US" altLang="zh-CN" sz="1800" dirty="0">
                <a:solidFill>
                  <a:srgbClr val="0000FF"/>
                </a:solidFill>
                <a:latin typeface="Consolas" pitchFamily="49" charset="0"/>
                <a:ea typeface="仿宋" pitchFamily="49" charset="-122"/>
                <a:cs typeface="Consolas" pitchFamily="49" charset="0"/>
              </a:rPr>
              <a:t>   for (int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=1;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&lt;=n;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 {</a:t>
            </a:r>
          </a:p>
          <a:p>
            <a:pPr algn="l">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FF0000"/>
                </a:solidFill>
                <a:latin typeface="Consolas" pitchFamily="49" charset="0"/>
                <a:ea typeface="仿宋" pitchFamily="49" charset="-122"/>
                <a:cs typeface="Consolas" pitchFamily="49" charset="0"/>
              </a:rPr>
              <a:t>s += </a:t>
            </a:r>
            <a:r>
              <a:rPr lang="en-US" altLang="zh-CN" sz="1800" dirty="0" err="1">
                <a:solidFill>
                  <a:srgbClr val="FF0000"/>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p>
          <a:p>
            <a:pPr algn="l">
              <a:spcBef>
                <a:spcPts val="0"/>
              </a:spcBef>
            </a:pPr>
            <a:r>
              <a:rPr lang="en-US" altLang="zh-CN" sz="1800" dirty="0">
                <a:solidFill>
                  <a:srgbClr val="0000FF"/>
                </a:solidFill>
                <a:latin typeface="Consolas" pitchFamily="49" charset="0"/>
                <a:ea typeface="仿宋" pitchFamily="49" charset="-122"/>
                <a:cs typeface="Consolas" pitchFamily="49" charset="0"/>
              </a:rPr>
              <a:t>      sum += s;</a:t>
            </a:r>
          </a:p>
          <a:p>
            <a:pPr algn="l">
              <a:spcBef>
                <a:spcPts val="0"/>
              </a:spcBef>
            </a:pPr>
            <a:r>
              <a:rPr lang="en-US" altLang="zh-CN" sz="1800" dirty="0">
                <a:solidFill>
                  <a:srgbClr val="0000FF"/>
                </a:solidFill>
                <a:latin typeface="Consolas" pitchFamily="49" charset="0"/>
                <a:ea typeface="仿宋" pitchFamily="49" charset="-122"/>
                <a:cs typeface="Consolas" pitchFamily="49" charset="0"/>
              </a:rPr>
              <a:t>   }</a:t>
            </a:r>
          </a:p>
          <a:p>
            <a:pPr algn="l">
              <a:spcBef>
                <a:spcPts val="0"/>
              </a:spcBef>
            </a:pPr>
            <a:r>
              <a:rPr lang="en-US" altLang="zh-CN" sz="1800" dirty="0">
                <a:solidFill>
                  <a:srgbClr val="0000FF"/>
                </a:solidFill>
                <a:latin typeface="Consolas" pitchFamily="49" charset="0"/>
                <a:ea typeface="仿宋" pitchFamily="49" charset="-122"/>
                <a:cs typeface="Consolas" pitchFamily="49" charset="0"/>
              </a:rPr>
              <a:t>   return sum;</a:t>
            </a:r>
          </a:p>
          <a:p>
            <a:pPr algn="l">
              <a:spcBef>
                <a:spcPts val="0"/>
              </a:spcBef>
            </a:pPr>
            <a:r>
              <a:rPr lang="en-US" altLang="zh-CN" sz="1800" dirty="0">
                <a:solidFill>
                  <a:srgbClr val="0000FF"/>
                </a:solidFill>
                <a:latin typeface="Consolas" pitchFamily="49" charset="0"/>
                <a:ea typeface="仿宋" pitchFamily="49" charset="-122"/>
                <a:cs typeface="Consolas" pitchFamily="49" charset="0"/>
              </a:rPr>
              <a:t>}</a:t>
            </a:r>
            <a:endParaRPr lang="zh-CN" altLang="en-US" sz="1800" dirty="0">
              <a:solidFill>
                <a:srgbClr val="0000FF"/>
              </a:solidFill>
              <a:latin typeface="Consolas" pitchFamily="49" charset="0"/>
              <a:ea typeface="仿宋" pitchFamily="49" charset="-122"/>
              <a:cs typeface="Consolas" pitchFamily="49" charset="0"/>
            </a:endParaRPr>
          </a:p>
        </p:txBody>
      </p:sp>
      <p:grpSp>
        <p:nvGrpSpPr>
          <p:cNvPr id="13" name="组合 12">
            <a:extLst>
              <a:ext uri="{FF2B5EF4-FFF2-40B4-BE49-F238E27FC236}">
                <a16:creationId xmlns:a16="http://schemas.microsoft.com/office/drawing/2014/main" id="{04C38AE5-0E44-411A-AD95-9FC008F757CB}"/>
              </a:ext>
            </a:extLst>
          </p:cNvPr>
          <p:cNvGrpSpPr/>
          <p:nvPr/>
        </p:nvGrpSpPr>
        <p:grpSpPr>
          <a:xfrm>
            <a:off x="7020272" y="2301764"/>
            <a:ext cx="1681025" cy="3070582"/>
            <a:chOff x="6913163" y="1930053"/>
            <a:chExt cx="1681025" cy="3070582"/>
          </a:xfrm>
        </p:grpSpPr>
        <p:sp>
          <p:nvSpPr>
            <p:cNvPr id="14" name="TextBox 11">
              <a:extLst>
                <a:ext uri="{FF2B5EF4-FFF2-40B4-BE49-F238E27FC236}">
                  <a16:creationId xmlns:a16="http://schemas.microsoft.com/office/drawing/2014/main" id="{C1C2DDA0-CC59-488E-8028-2F3529ED9403}"/>
                </a:ext>
              </a:extLst>
            </p:cNvPr>
            <p:cNvSpPr txBox="1"/>
            <p:nvPr/>
          </p:nvSpPr>
          <p:spPr>
            <a:xfrm>
              <a:off x="7308304" y="1930053"/>
              <a:ext cx="1285884" cy="430887"/>
            </a:xfrm>
            <a:prstGeom prst="rect">
              <a:avLst/>
            </a:prstGeom>
            <a:noFill/>
          </p:spPr>
          <p:txBody>
            <a:bodyPr wrap="square" rtlCol="0">
              <a:spAutoFit/>
            </a:bodyPr>
            <a:lstStyle/>
            <a:p>
              <a:pPr algn="l"/>
              <a:r>
                <a:rPr lang="zh-CN" altLang="en-US" sz="2000" dirty="0">
                  <a:solidFill>
                    <a:srgbClr val="FF00FF"/>
                  </a:solidFill>
                  <a:latin typeface="方正启体简体" pitchFamily="65" charset="-122"/>
                  <a:ea typeface="方正启体简体" pitchFamily="65" charset="-122"/>
                </a:rPr>
                <a:t>两重循环</a:t>
              </a:r>
            </a:p>
          </p:txBody>
        </p:sp>
        <p:sp>
          <p:nvSpPr>
            <p:cNvPr id="15" name="右箭头 12">
              <a:extLst>
                <a:ext uri="{FF2B5EF4-FFF2-40B4-BE49-F238E27FC236}">
                  <a16:creationId xmlns:a16="http://schemas.microsoft.com/office/drawing/2014/main" id="{AD4AA408-57C6-4C36-BEF4-3E307FB9044E}"/>
                </a:ext>
              </a:extLst>
            </p:cNvPr>
            <p:cNvSpPr/>
            <p:nvPr/>
          </p:nvSpPr>
          <p:spPr>
            <a:xfrm>
              <a:off x="6913163" y="2038339"/>
              <a:ext cx="285752" cy="214314"/>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16" name="TextBox 13">
              <a:extLst>
                <a:ext uri="{FF2B5EF4-FFF2-40B4-BE49-F238E27FC236}">
                  <a16:creationId xmlns:a16="http://schemas.microsoft.com/office/drawing/2014/main" id="{FA302506-91AD-4103-950F-2415FB771375}"/>
                </a:ext>
              </a:extLst>
            </p:cNvPr>
            <p:cNvSpPr txBox="1"/>
            <p:nvPr/>
          </p:nvSpPr>
          <p:spPr>
            <a:xfrm>
              <a:off x="7303261" y="4569748"/>
              <a:ext cx="1285884" cy="430887"/>
            </a:xfrm>
            <a:prstGeom prst="rect">
              <a:avLst/>
            </a:prstGeom>
            <a:noFill/>
          </p:spPr>
          <p:txBody>
            <a:bodyPr wrap="square" rtlCol="0">
              <a:spAutoFit/>
            </a:bodyPr>
            <a:lstStyle/>
            <a:p>
              <a:pPr algn="l"/>
              <a:r>
                <a:rPr lang="zh-CN" altLang="en-US" sz="2000" dirty="0">
                  <a:solidFill>
                    <a:srgbClr val="FF00FF"/>
                  </a:solidFill>
                  <a:latin typeface="方正启体简体" pitchFamily="65" charset="-122"/>
                  <a:ea typeface="方正启体简体" pitchFamily="65" charset="-122"/>
                </a:rPr>
                <a:t>一重循环</a:t>
              </a:r>
            </a:p>
          </p:txBody>
        </p:sp>
        <p:sp>
          <p:nvSpPr>
            <p:cNvPr id="17" name="右箭头 14">
              <a:extLst>
                <a:ext uri="{FF2B5EF4-FFF2-40B4-BE49-F238E27FC236}">
                  <a16:creationId xmlns:a16="http://schemas.microsoft.com/office/drawing/2014/main" id="{DD8AD52D-C807-456E-ACB9-E950642E2BE4}"/>
                </a:ext>
              </a:extLst>
            </p:cNvPr>
            <p:cNvSpPr/>
            <p:nvPr/>
          </p:nvSpPr>
          <p:spPr>
            <a:xfrm>
              <a:off x="6913163" y="4678035"/>
              <a:ext cx="285752" cy="214314"/>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grpSp>
    </p:spTree>
    <p:extLst>
      <p:ext uri="{BB962C8B-B14F-4D97-AF65-F5344CB8AC3E}">
        <p14:creationId xmlns:p14="http://schemas.microsoft.com/office/powerpoint/2010/main" val="329649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a:xfrm>
            <a:off x="611560" y="1556792"/>
            <a:ext cx="7887820" cy="3579849"/>
          </a:xfrm>
          <a:prstGeom prst="rect">
            <a:avLst/>
          </a:prstGeom>
        </p:spPr>
        <p:txBody>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r>
              <a:rPr lang="en-US" altLang="zh-CN" sz="2400" b="0" dirty="0">
                <a:latin typeface="楷体" panose="02010609060101010101" pitchFamily="49" charset="-122"/>
                <a:ea typeface="楷体" panose="02010609060101010101" pitchFamily="49" charset="-122"/>
              </a:rPr>
              <a:t>     </a:t>
            </a:r>
            <a:r>
              <a:rPr lang="zh-CN" altLang="zh-CN" sz="2400" b="0" dirty="0">
                <a:latin typeface="楷体" panose="02010609060101010101" pitchFamily="49" charset="-122"/>
                <a:ea typeface="楷体" panose="02010609060101010101" pitchFamily="49" charset="-122"/>
              </a:rPr>
              <a:t>一个用高级程序语言编写的程序在计算机上运行时所消耗的时间取决于下列因素：</a:t>
            </a:r>
          </a:p>
          <a:p>
            <a:r>
              <a:rPr lang="zh-CN" altLang="zh-CN" sz="2400" b="0" dirty="0">
                <a:latin typeface="楷体" panose="02010609060101010101" pitchFamily="49" charset="-122"/>
                <a:ea typeface="楷体" panose="02010609060101010101" pitchFamily="49" charset="-122"/>
              </a:rPr>
              <a:t>	（1）算法采用的</a:t>
            </a:r>
            <a:r>
              <a:rPr lang="zh-CN" altLang="zh-CN" sz="2400" b="0" u="sng" dirty="0">
                <a:latin typeface="楷体" panose="02010609060101010101" pitchFamily="49" charset="-122"/>
                <a:ea typeface="楷体" panose="02010609060101010101" pitchFamily="49" charset="-122"/>
              </a:rPr>
              <a:t>策略</a:t>
            </a:r>
            <a:r>
              <a:rPr lang="zh-CN" altLang="zh-CN" sz="2400" b="0" dirty="0">
                <a:latin typeface="楷体" panose="02010609060101010101" pitchFamily="49" charset="-122"/>
                <a:ea typeface="楷体" panose="02010609060101010101" pitchFamily="49" charset="-122"/>
              </a:rPr>
              <a:t>；</a:t>
            </a:r>
          </a:p>
          <a:p>
            <a:r>
              <a:rPr lang="zh-CN" altLang="zh-CN" sz="2400" b="0" dirty="0">
                <a:latin typeface="楷体" panose="02010609060101010101" pitchFamily="49" charset="-122"/>
                <a:ea typeface="楷体" panose="02010609060101010101" pitchFamily="49" charset="-122"/>
              </a:rPr>
              <a:t>	（2）问题的</a:t>
            </a:r>
            <a:r>
              <a:rPr lang="zh-CN" altLang="zh-CN" sz="2400" b="0" u="sng" dirty="0">
                <a:latin typeface="楷体" panose="02010609060101010101" pitchFamily="49" charset="-122"/>
                <a:ea typeface="楷体" panose="02010609060101010101" pitchFamily="49" charset="-122"/>
              </a:rPr>
              <a:t>规模</a:t>
            </a:r>
            <a:r>
              <a:rPr lang="zh-CN" altLang="zh-CN" sz="2400" b="0" dirty="0">
                <a:latin typeface="楷体" panose="02010609060101010101" pitchFamily="49" charset="-122"/>
                <a:ea typeface="楷体" panose="02010609060101010101" pitchFamily="49" charset="-122"/>
              </a:rPr>
              <a:t>；</a:t>
            </a:r>
          </a:p>
          <a:p>
            <a:r>
              <a:rPr lang="zh-CN" altLang="zh-CN" sz="2400" b="0" dirty="0">
                <a:latin typeface="楷体" panose="02010609060101010101" pitchFamily="49" charset="-122"/>
                <a:ea typeface="楷体" panose="02010609060101010101" pitchFamily="49" charset="-122"/>
              </a:rPr>
              <a:t>	（3）编写程序所采用的计算机</a:t>
            </a:r>
            <a:r>
              <a:rPr lang="zh-CN" altLang="zh-CN" sz="2400" b="0" u="sng" dirty="0">
                <a:latin typeface="楷体" panose="02010609060101010101" pitchFamily="49" charset="-122"/>
                <a:ea typeface="楷体" panose="02010609060101010101" pitchFamily="49" charset="-122"/>
              </a:rPr>
              <a:t>语言</a:t>
            </a:r>
            <a:r>
              <a:rPr lang="zh-CN" altLang="zh-CN" sz="2400" b="0" dirty="0">
                <a:latin typeface="楷体" panose="02010609060101010101" pitchFamily="49" charset="-122"/>
                <a:ea typeface="楷体" panose="02010609060101010101" pitchFamily="49" charset="-122"/>
              </a:rPr>
              <a:t>，通常，实现语言的级别越高，执行效率就越低；</a:t>
            </a:r>
          </a:p>
          <a:p>
            <a:r>
              <a:rPr lang="zh-CN" altLang="zh-CN" sz="2400" b="0" dirty="0">
                <a:latin typeface="楷体" panose="02010609060101010101" pitchFamily="49" charset="-122"/>
                <a:ea typeface="楷体" panose="02010609060101010101" pitchFamily="49" charset="-122"/>
              </a:rPr>
              <a:t>	（4）编译和运行</a:t>
            </a:r>
            <a:r>
              <a:rPr lang="zh-CN" altLang="zh-CN" sz="2400" b="0" u="sng" dirty="0">
                <a:latin typeface="楷体" panose="02010609060101010101" pitchFamily="49" charset="-122"/>
                <a:ea typeface="楷体" panose="02010609060101010101" pitchFamily="49" charset="-122"/>
              </a:rPr>
              <a:t>环境</a:t>
            </a:r>
            <a:r>
              <a:rPr lang="zh-CN" altLang="zh-CN" sz="2400" b="0" dirty="0">
                <a:latin typeface="楷体" panose="02010609060101010101" pitchFamily="49" charset="-122"/>
                <a:ea typeface="楷体" panose="02010609060101010101" pitchFamily="49" charset="-122"/>
              </a:rPr>
              <a:t>。</a:t>
            </a:r>
          </a:p>
          <a:p>
            <a:endParaRPr lang="zh-CN" altLang="en-US" sz="2400" b="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1394855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764705"/>
            <a:ext cx="5040560" cy="720079"/>
          </a:xfrm>
        </p:spPr>
        <p:txBody>
          <a:bodyPr>
            <a:normAutofit/>
          </a:bodyPr>
          <a:lstStyle/>
          <a:p>
            <a:r>
              <a:rPr lang="zh-CN" altLang="en-US" dirty="0"/>
              <a:t>运行时间评估</a:t>
            </a:r>
            <a:endParaRPr lang="zh-CN" altLang="en-US" b="0" dirty="0"/>
          </a:p>
        </p:txBody>
      </p:sp>
      <p:sp>
        <p:nvSpPr>
          <p:cNvPr id="8" name="Text Box 3"/>
          <p:cNvSpPr txBox="1">
            <a:spLocks noChangeArrowheads="1"/>
          </p:cNvSpPr>
          <p:nvPr/>
        </p:nvSpPr>
        <p:spPr bwMode="auto">
          <a:xfrm>
            <a:off x="323849" y="1376735"/>
            <a:ext cx="8689993"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spcBef>
                <a:spcPct val="50000"/>
              </a:spcBef>
              <a:spcAft>
                <a:spcPct val="25000"/>
              </a:spcAft>
              <a:buClr>
                <a:schemeClr val="folHlink"/>
              </a:buClr>
              <a:buSzPct val="80000"/>
              <a:buFont typeface="Wingdings" pitchFamily="2" charset="2"/>
              <a:buNone/>
            </a:pPr>
            <a:r>
              <a:rPr kumimoji="1" lang="zh-CN" altLang="en-US" sz="2400" dirty="0">
                <a:solidFill>
                  <a:schemeClr val="folHlink"/>
                </a:solidFill>
                <a:latin typeface="+mn-ea"/>
              </a:rPr>
              <a:t>    </a:t>
            </a:r>
            <a:r>
              <a:rPr kumimoji="1" lang="zh-CN" altLang="en-US" sz="2400" dirty="0">
                <a:latin typeface="+mn-ea"/>
                <a:cs typeface="Simplified Arabic" panose="02020603050405020304" pitchFamily="18" charset="-78"/>
              </a:rPr>
              <a:t>假设目前的硬件一秒钟可以处理</a:t>
            </a:r>
            <a:r>
              <a:rPr kumimoji="1" lang="en-US" altLang="zh-CN" sz="2400" dirty="0">
                <a:latin typeface="+mn-ea"/>
                <a:cs typeface="Simplified Arabic" panose="02020603050405020304" pitchFamily="18" charset="-78"/>
              </a:rPr>
              <a:t>10</a:t>
            </a:r>
            <a:r>
              <a:rPr kumimoji="1" lang="en-US" altLang="zh-CN" sz="2400" baseline="30000" dirty="0">
                <a:latin typeface="+mn-ea"/>
                <a:cs typeface="Simplified Arabic" panose="02020603050405020304" pitchFamily="18" charset="-78"/>
              </a:rPr>
              <a:t>6</a:t>
            </a:r>
            <a:r>
              <a:rPr kumimoji="1" lang="en-US" altLang="zh-CN" sz="2400" dirty="0">
                <a:latin typeface="+mn-ea"/>
                <a:cs typeface="Simplified Arabic" panose="02020603050405020304" pitchFamily="18" charset="-78"/>
              </a:rPr>
              <a:t> </a:t>
            </a:r>
            <a:r>
              <a:rPr kumimoji="1" lang="zh-CN" altLang="en-US" sz="2400" dirty="0">
                <a:latin typeface="+mn-ea"/>
                <a:cs typeface="Simplified Arabic" panose="02020603050405020304" pitchFamily="18" charset="-78"/>
              </a:rPr>
              <a:t>条指令</a:t>
            </a:r>
            <a:r>
              <a:rPr kumimoji="1" lang="en-US" altLang="zh-CN" sz="2400" dirty="0">
                <a:latin typeface="+mn-ea"/>
                <a:cs typeface="Simplified Arabic" panose="02020603050405020304" pitchFamily="18" charset="-78"/>
              </a:rPr>
              <a:t>. </a:t>
            </a:r>
            <a:r>
              <a:rPr kumimoji="1" lang="zh-CN" altLang="en-US" sz="2400" dirty="0">
                <a:latin typeface="+mn-ea"/>
                <a:cs typeface="Simplified Arabic" panose="02020603050405020304" pitchFamily="18" charset="-78"/>
              </a:rPr>
              <a:t>假设算法复杂度函数为</a:t>
            </a:r>
            <a:r>
              <a:rPr kumimoji="1" lang="en-US" altLang="zh-CN" sz="2400" dirty="0">
                <a:latin typeface="+mn-ea"/>
                <a:cs typeface="Simplified Arabic" panose="02020603050405020304" pitchFamily="18" charset="-78"/>
              </a:rPr>
              <a:t>: T(n)=2n</a:t>
            </a:r>
            <a:r>
              <a:rPr kumimoji="1" lang="en-US" altLang="zh-CN" sz="2400" baseline="30000" dirty="0">
                <a:latin typeface="+mn-ea"/>
                <a:cs typeface="Simplified Arabic" panose="02020603050405020304" pitchFamily="18" charset="-78"/>
              </a:rPr>
              <a:t>2</a:t>
            </a:r>
            <a:r>
              <a:rPr kumimoji="1" lang="en-US" altLang="zh-CN" sz="2400" dirty="0">
                <a:latin typeface="+mn-ea"/>
                <a:cs typeface="Simplified Arabic" panose="02020603050405020304" pitchFamily="18" charset="-78"/>
              </a:rPr>
              <a:t> , </a:t>
            </a:r>
            <a:r>
              <a:rPr kumimoji="1" lang="zh-CN" altLang="en-US" sz="2400" dirty="0">
                <a:latin typeface="+mn-ea"/>
                <a:cs typeface="Simplified Arabic" panose="02020603050405020304" pitchFamily="18" charset="-78"/>
              </a:rPr>
              <a:t>计算处理输入规模</a:t>
            </a:r>
            <a:r>
              <a:rPr kumimoji="1" lang="en-US" altLang="zh-CN" sz="2400" dirty="0">
                <a:latin typeface="+mn-ea"/>
                <a:cs typeface="Simplified Arabic" panose="02020603050405020304" pitchFamily="18" charset="-78"/>
              </a:rPr>
              <a:t>n = 10</a:t>
            </a:r>
            <a:r>
              <a:rPr kumimoji="1" lang="en-US" altLang="zh-CN" sz="2400" baseline="30000" dirty="0">
                <a:latin typeface="+mn-ea"/>
                <a:cs typeface="Simplified Arabic" panose="02020603050405020304" pitchFamily="18" charset="-78"/>
              </a:rPr>
              <a:t>8</a:t>
            </a:r>
            <a:r>
              <a:rPr kumimoji="1" lang="zh-CN" altLang="en-US" sz="2400" dirty="0">
                <a:latin typeface="+mn-ea"/>
                <a:cs typeface="Simplified Arabic" panose="02020603050405020304" pitchFamily="18" charset="-78"/>
              </a:rPr>
              <a:t>需多长时间</a:t>
            </a:r>
            <a:r>
              <a:rPr kumimoji="1" lang="en-US" altLang="zh-CN" sz="2400" dirty="0">
                <a:latin typeface="+mn-ea"/>
                <a:cs typeface="Simplified Arabic" panose="02020603050405020304" pitchFamily="18" charset="-78"/>
              </a:rPr>
              <a:t>?</a:t>
            </a:r>
          </a:p>
        </p:txBody>
      </p:sp>
      <p:sp>
        <p:nvSpPr>
          <p:cNvPr id="9" name="TextBox 1"/>
          <p:cNvSpPr txBox="1"/>
          <p:nvPr/>
        </p:nvSpPr>
        <p:spPr>
          <a:xfrm>
            <a:off x="611560" y="2420888"/>
            <a:ext cx="7597629" cy="938719"/>
          </a:xfrm>
          <a:prstGeom prst="rect">
            <a:avLst/>
          </a:prstGeom>
          <a:solidFill>
            <a:srgbClr val="FFFFD9"/>
          </a:solidFill>
        </p:spPr>
        <p:txBody>
          <a:bodyPr wrap="square" rtlCol="0">
            <a:spAutoFit/>
          </a:bodyPr>
          <a:lstStyle/>
          <a:p>
            <a:pPr>
              <a:spcBef>
                <a:spcPct val="50000"/>
              </a:spcBef>
              <a:buClr>
                <a:schemeClr val="folHlink"/>
              </a:buClr>
              <a:buSzPct val="80000"/>
              <a:buFont typeface="Wingdings" pitchFamily="2" charset="2"/>
              <a:buNone/>
            </a:pPr>
            <a:r>
              <a:rPr kumimoji="1" lang="zh-CN" altLang="en-US" sz="2200" dirty="0">
                <a:latin typeface="TimesNewRoman" charset="0"/>
                <a:ea typeface="宋体" pitchFamily="2" charset="-122"/>
              </a:rPr>
              <a:t>需执行的指令数为：</a:t>
            </a:r>
            <a:endParaRPr kumimoji="1" lang="en-US" altLang="zh-CN" sz="2200" dirty="0">
              <a:latin typeface="TimesNewRoman" charset="0"/>
              <a:ea typeface="宋体" pitchFamily="2" charset="-122"/>
            </a:endParaRPr>
          </a:p>
          <a:p>
            <a:pPr>
              <a:spcBef>
                <a:spcPct val="50000"/>
              </a:spcBef>
              <a:buClr>
                <a:schemeClr val="folHlink"/>
              </a:buClr>
              <a:buSzPct val="80000"/>
              <a:buFont typeface="Wingdings" pitchFamily="2" charset="2"/>
              <a:buNone/>
            </a:pPr>
            <a:r>
              <a:rPr kumimoji="1" lang="en-US" altLang="zh-CN" sz="2200" dirty="0">
                <a:solidFill>
                  <a:srgbClr val="C00000"/>
                </a:solidFill>
                <a:latin typeface="TimesNewRoman" charset="0"/>
                <a:ea typeface="宋体" pitchFamily="2" charset="-122"/>
              </a:rPr>
              <a:t>	T(10</a:t>
            </a:r>
            <a:r>
              <a:rPr kumimoji="1" lang="en-US" altLang="zh-CN" sz="2200" baseline="30000" dirty="0">
                <a:solidFill>
                  <a:srgbClr val="C00000"/>
                </a:solidFill>
                <a:latin typeface="TimesNewRoman" charset="0"/>
                <a:ea typeface="宋体" pitchFamily="2" charset="-122"/>
              </a:rPr>
              <a:t>8</a:t>
            </a:r>
            <a:r>
              <a:rPr kumimoji="1" lang="en-US" altLang="zh-CN" sz="2200" dirty="0">
                <a:solidFill>
                  <a:srgbClr val="C00000"/>
                </a:solidFill>
                <a:latin typeface="TimesNewRoman" charset="0"/>
                <a:ea typeface="宋体" pitchFamily="2" charset="-122"/>
              </a:rPr>
              <a:t>)=2*(10</a:t>
            </a:r>
            <a:r>
              <a:rPr kumimoji="1" lang="en-US" altLang="zh-CN" sz="2200" baseline="30000" dirty="0">
                <a:solidFill>
                  <a:srgbClr val="C00000"/>
                </a:solidFill>
                <a:latin typeface="TimesNewRoman" charset="0"/>
                <a:ea typeface="宋体" pitchFamily="2" charset="-122"/>
              </a:rPr>
              <a:t>8</a:t>
            </a:r>
            <a:r>
              <a:rPr kumimoji="1" lang="en-US" altLang="zh-CN" sz="2200" dirty="0">
                <a:solidFill>
                  <a:srgbClr val="C00000"/>
                </a:solidFill>
                <a:latin typeface="TimesNewRoman" charset="0"/>
                <a:ea typeface="宋体" pitchFamily="2" charset="-122"/>
              </a:rPr>
              <a:t>)</a:t>
            </a:r>
            <a:r>
              <a:rPr kumimoji="1" lang="en-US" altLang="zh-CN" sz="2200" baseline="30000" dirty="0">
                <a:solidFill>
                  <a:srgbClr val="C00000"/>
                </a:solidFill>
                <a:latin typeface="TimesNewRoman" charset="0"/>
                <a:ea typeface="宋体" pitchFamily="2" charset="-122"/>
              </a:rPr>
              <a:t>2</a:t>
            </a:r>
            <a:r>
              <a:rPr kumimoji="1" lang="en-US" altLang="zh-CN" sz="2200" dirty="0">
                <a:solidFill>
                  <a:srgbClr val="C00000"/>
                </a:solidFill>
                <a:latin typeface="TimesNewRoman" charset="0"/>
                <a:ea typeface="宋体" pitchFamily="2" charset="-122"/>
              </a:rPr>
              <a:t>=2*10</a:t>
            </a:r>
            <a:r>
              <a:rPr kumimoji="1" lang="en-US" altLang="zh-CN" sz="2200" baseline="30000" dirty="0">
                <a:solidFill>
                  <a:srgbClr val="C00000"/>
                </a:solidFill>
                <a:latin typeface="TimesNewRoman" charset="0"/>
                <a:ea typeface="宋体" pitchFamily="2" charset="-122"/>
              </a:rPr>
              <a:t>16</a:t>
            </a:r>
            <a:endParaRPr lang="zh-CN" altLang="en-US" dirty="0"/>
          </a:p>
        </p:txBody>
      </p:sp>
      <p:sp>
        <p:nvSpPr>
          <p:cNvPr id="10" name="TextBox 4"/>
          <p:cNvSpPr txBox="1"/>
          <p:nvPr/>
        </p:nvSpPr>
        <p:spPr>
          <a:xfrm>
            <a:off x="657854" y="3710120"/>
            <a:ext cx="7632848" cy="871008"/>
          </a:xfrm>
          <a:prstGeom prst="rect">
            <a:avLst/>
          </a:prstGeom>
          <a:solidFill>
            <a:srgbClr val="FFFFD9"/>
          </a:solidFill>
        </p:spPr>
        <p:txBody>
          <a:bodyPr wrap="square" rtlCol="0">
            <a:spAutoFit/>
          </a:bodyPr>
          <a:lstStyle/>
          <a:p>
            <a:pPr>
              <a:lnSpc>
                <a:spcPct val="90000"/>
              </a:lnSpc>
              <a:spcBef>
                <a:spcPct val="50000"/>
              </a:spcBef>
              <a:buClr>
                <a:schemeClr val="folHlink"/>
              </a:buClr>
              <a:buSzPct val="80000"/>
              <a:buFont typeface="Wingdings" pitchFamily="2" charset="2"/>
              <a:buNone/>
            </a:pPr>
            <a:r>
              <a:rPr kumimoji="1" lang="zh-CN" altLang="en-US" sz="2200" dirty="0">
                <a:latin typeface="TimesNewRoman" charset="0"/>
                <a:ea typeface="宋体" pitchFamily="2" charset="-122"/>
              </a:rPr>
              <a:t>所需时间为</a:t>
            </a:r>
            <a:endParaRPr kumimoji="1" lang="en-US" altLang="zh-CN" sz="2200" dirty="0">
              <a:latin typeface="TimesNewRoman" charset="0"/>
              <a:ea typeface="宋体" pitchFamily="2" charset="-122"/>
            </a:endParaRPr>
          </a:p>
          <a:p>
            <a:pPr>
              <a:lnSpc>
                <a:spcPct val="90000"/>
              </a:lnSpc>
              <a:spcBef>
                <a:spcPct val="50000"/>
              </a:spcBef>
              <a:buClr>
                <a:schemeClr val="folHlink"/>
              </a:buClr>
              <a:buSzPct val="80000"/>
              <a:buFont typeface="Wingdings" pitchFamily="2" charset="2"/>
              <a:buNone/>
            </a:pPr>
            <a:r>
              <a:rPr kumimoji="1" lang="en-US" altLang="zh-CN" sz="2200" dirty="0">
                <a:solidFill>
                  <a:srgbClr val="C00000"/>
                </a:solidFill>
                <a:latin typeface="TimesNewRoman" charset="0"/>
                <a:ea typeface="宋体" pitchFamily="2" charset="-122"/>
              </a:rPr>
              <a:t>           T(10</a:t>
            </a:r>
            <a:r>
              <a:rPr kumimoji="1" lang="en-US" altLang="zh-CN" sz="2200" baseline="30000" dirty="0">
                <a:solidFill>
                  <a:srgbClr val="C00000"/>
                </a:solidFill>
                <a:latin typeface="TimesNewRoman" charset="0"/>
                <a:ea typeface="宋体" pitchFamily="2" charset="-122"/>
              </a:rPr>
              <a:t>8</a:t>
            </a:r>
            <a:r>
              <a:rPr kumimoji="1" lang="en-US" altLang="zh-CN" sz="2200" dirty="0">
                <a:solidFill>
                  <a:srgbClr val="C00000"/>
                </a:solidFill>
                <a:latin typeface="TimesNewRoman" charset="0"/>
                <a:ea typeface="宋体" pitchFamily="2" charset="-122"/>
              </a:rPr>
              <a:t>)/10</a:t>
            </a:r>
            <a:r>
              <a:rPr kumimoji="1" lang="en-US" altLang="zh-CN" sz="2200" baseline="30000" dirty="0">
                <a:solidFill>
                  <a:srgbClr val="C00000"/>
                </a:solidFill>
                <a:latin typeface="TimesNewRoman" charset="0"/>
                <a:ea typeface="宋体" pitchFamily="2" charset="-122"/>
              </a:rPr>
              <a:t>6 </a:t>
            </a:r>
          </a:p>
        </p:txBody>
      </p:sp>
      <p:sp>
        <p:nvSpPr>
          <p:cNvPr id="11" name="TextBox 5"/>
          <p:cNvSpPr txBox="1"/>
          <p:nvPr/>
        </p:nvSpPr>
        <p:spPr>
          <a:xfrm>
            <a:off x="718787" y="4911434"/>
            <a:ext cx="7597629" cy="1181862"/>
          </a:xfrm>
          <a:prstGeom prst="rect">
            <a:avLst/>
          </a:prstGeom>
          <a:solidFill>
            <a:srgbClr val="FFFFD9"/>
          </a:solidFill>
        </p:spPr>
        <p:txBody>
          <a:bodyPr wrap="square" rtlCol="0">
            <a:spAutoFit/>
          </a:bodyPr>
          <a:lstStyle/>
          <a:p>
            <a:pPr>
              <a:spcBef>
                <a:spcPct val="50000"/>
              </a:spcBef>
              <a:buClr>
                <a:schemeClr val="folHlink"/>
              </a:buClr>
              <a:buSzPct val="80000"/>
              <a:buFont typeface="Wingdings" pitchFamily="2" charset="2"/>
              <a:buNone/>
            </a:pPr>
            <a:r>
              <a:rPr kumimoji="1" lang="zh-CN" altLang="en-US" sz="2200" dirty="0">
                <a:latin typeface="TimesNewRoman" charset="0"/>
                <a:ea typeface="宋体" pitchFamily="2" charset="-122"/>
              </a:rPr>
              <a:t>那么</a:t>
            </a:r>
            <a:r>
              <a:rPr kumimoji="1" lang="en-US" altLang="zh-CN" sz="2200" dirty="0">
                <a:latin typeface="TimesNewRoman" charset="0"/>
                <a:ea typeface="宋体" pitchFamily="2" charset="-122"/>
              </a:rPr>
              <a:t>:    </a:t>
            </a:r>
            <a:r>
              <a:rPr kumimoji="1" lang="zh-CN" altLang="en-US" sz="2200" dirty="0">
                <a:latin typeface="TimesNewRoman" charset="0"/>
                <a:ea typeface="宋体" pitchFamily="2" charset="-122"/>
              </a:rPr>
              <a:t>运行时间 </a:t>
            </a:r>
            <a:r>
              <a:rPr kumimoji="1" lang="en-US" altLang="zh-CN" sz="2200" dirty="0">
                <a:latin typeface="TimesNewRoman" charset="0"/>
                <a:ea typeface="宋体" pitchFamily="2" charset="-122"/>
              </a:rPr>
              <a:t>= </a:t>
            </a:r>
            <a:r>
              <a:rPr kumimoji="1" lang="en-US" altLang="zh-CN" sz="2200" dirty="0">
                <a:solidFill>
                  <a:srgbClr val="C00000"/>
                </a:solidFill>
                <a:latin typeface="TimesNewRoman" charset="0"/>
                <a:ea typeface="宋体" pitchFamily="2" charset="-122"/>
              </a:rPr>
              <a:t>2*10</a:t>
            </a:r>
            <a:r>
              <a:rPr kumimoji="1" lang="en-US" altLang="zh-CN" sz="2200" baseline="30000" dirty="0">
                <a:solidFill>
                  <a:srgbClr val="C00000"/>
                </a:solidFill>
                <a:latin typeface="TimesNewRoman" charset="0"/>
                <a:ea typeface="宋体" pitchFamily="2" charset="-122"/>
              </a:rPr>
              <a:t>16</a:t>
            </a:r>
            <a:r>
              <a:rPr kumimoji="1" lang="en-US" altLang="zh-CN" sz="2200" dirty="0">
                <a:solidFill>
                  <a:srgbClr val="C00000"/>
                </a:solidFill>
                <a:latin typeface="TimesNewRoman" charset="0"/>
                <a:ea typeface="宋体" pitchFamily="2" charset="-122"/>
              </a:rPr>
              <a:t>/10</a:t>
            </a:r>
            <a:r>
              <a:rPr kumimoji="1" lang="en-US" altLang="zh-CN" sz="2200" baseline="30000" dirty="0">
                <a:solidFill>
                  <a:srgbClr val="C00000"/>
                </a:solidFill>
                <a:latin typeface="TimesNewRoman" charset="0"/>
                <a:ea typeface="宋体" pitchFamily="2" charset="-122"/>
              </a:rPr>
              <a:t>6</a:t>
            </a:r>
            <a:r>
              <a:rPr kumimoji="1" lang="en-US" altLang="zh-CN" sz="2200" dirty="0">
                <a:solidFill>
                  <a:srgbClr val="C00000"/>
                </a:solidFill>
                <a:latin typeface="TimesNewRoman" charset="0"/>
                <a:ea typeface="宋体" pitchFamily="2" charset="-122"/>
              </a:rPr>
              <a:t> = 2*10</a:t>
            </a:r>
            <a:r>
              <a:rPr kumimoji="1" lang="en-US" altLang="zh-CN" sz="2200" baseline="30000" dirty="0">
                <a:solidFill>
                  <a:srgbClr val="C00000"/>
                </a:solidFill>
                <a:latin typeface="TimesNewRoman" charset="0"/>
                <a:ea typeface="宋体" pitchFamily="2" charset="-122"/>
              </a:rPr>
              <a:t>10</a:t>
            </a:r>
          </a:p>
          <a:p>
            <a:pPr>
              <a:lnSpc>
                <a:spcPct val="90000"/>
              </a:lnSpc>
              <a:spcBef>
                <a:spcPct val="50000"/>
              </a:spcBef>
              <a:buClr>
                <a:schemeClr val="folHlink"/>
              </a:buClr>
              <a:buSzPct val="80000"/>
              <a:buFont typeface="Wingdings" pitchFamily="2" charset="2"/>
              <a:buNone/>
            </a:pPr>
            <a:r>
              <a:rPr kumimoji="1" lang="en-US" altLang="zh-CN" sz="2200" dirty="0">
                <a:latin typeface="TimesNewRoman" charset="0"/>
                <a:ea typeface="宋体" pitchFamily="2" charset="-122"/>
              </a:rPr>
              <a:t> </a:t>
            </a:r>
            <a:r>
              <a:rPr kumimoji="1" lang="zh-CN" altLang="en-US" sz="2200" dirty="0">
                <a:latin typeface="TimesNewRoman" charset="0"/>
                <a:ea typeface="宋体" pitchFamily="2" charset="-122"/>
              </a:rPr>
              <a:t>一天有</a:t>
            </a:r>
            <a:r>
              <a:rPr kumimoji="1" lang="en-US" altLang="zh-CN" sz="2200" dirty="0">
                <a:latin typeface="TimesNewRoman" charset="0"/>
                <a:ea typeface="宋体" pitchFamily="2" charset="-122"/>
              </a:rPr>
              <a:t>86,400</a:t>
            </a:r>
            <a:r>
              <a:rPr kumimoji="1" lang="zh-CN" altLang="en-US" sz="2200" dirty="0">
                <a:latin typeface="TimesNewRoman" charset="0"/>
                <a:ea typeface="宋体" pitchFamily="2" charset="-122"/>
              </a:rPr>
              <a:t>秒，</a:t>
            </a:r>
            <a:r>
              <a:rPr kumimoji="1" lang="en-US" altLang="zh-CN" sz="2200" dirty="0">
                <a:latin typeface="TimesNewRoman" charset="0"/>
                <a:ea typeface="宋体" pitchFamily="2" charset="-122"/>
              </a:rPr>
              <a:t> </a:t>
            </a:r>
            <a:r>
              <a:rPr kumimoji="1" lang="zh-CN" altLang="en-US" sz="2200" dirty="0">
                <a:latin typeface="TimesNewRoman" charset="0"/>
                <a:ea typeface="宋体" pitchFamily="2" charset="-122"/>
              </a:rPr>
              <a:t>因此一共需要约</a:t>
            </a:r>
            <a:r>
              <a:rPr kumimoji="1" lang="en-US" altLang="zh-CN" sz="2200" dirty="0">
                <a:latin typeface="TimesNewRoman" charset="0"/>
                <a:ea typeface="宋体" pitchFamily="2" charset="-122"/>
              </a:rPr>
              <a:t>231,480</a:t>
            </a:r>
            <a:r>
              <a:rPr kumimoji="1" lang="zh-CN" altLang="en-US" sz="2200" dirty="0">
                <a:latin typeface="TimesNewRoman" charset="0"/>
                <a:ea typeface="宋体" pitchFamily="2" charset="-122"/>
              </a:rPr>
              <a:t>天</a:t>
            </a:r>
            <a:r>
              <a:rPr kumimoji="1" lang="en-US" altLang="zh-CN" sz="2200" dirty="0">
                <a:latin typeface="TimesNewRoman" charset="0"/>
                <a:ea typeface="宋体" pitchFamily="2" charset="-122"/>
              </a:rPr>
              <a:t> (634</a:t>
            </a:r>
            <a:r>
              <a:rPr kumimoji="1" lang="zh-CN" altLang="en-US" sz="2200" dirty="0">
                <a:latin typeface="TimesNewRoman" charset="0"/>
                <a:ea typeface="宋体" pitchFamily="2" charset="-122"/>
              </a:rPr>
              <a:t>年</a:t>
            </a:r>
            <a:r>
              <a:rPr kumimoji="1" lang="en-US" altLang="zh-CN" sz="2200" dirty="0">
                <a:latin typeface="TimesNewRoman" charset="0"/>
                <a:ea typeface="宋体" pitchFamily="2" charset="-122"/>
              </a:rPr>
              <a:t>).</a:t>
            </a:r>
          </a:p>
          <a:p>
            <a:endParaRPr lang="zh-CN" altLang="en-US" dirty="0"/>
          </a:p>
        </p:txBody>
      </p:sp>
    </p:spTree>
    <p:extLst>
      <p:ext uri="{BB962C8B-B14F-4D97-AF65-F5344CB8AC3E}">
        <p14:creationId xmlns:p14="http://schemas.microsoft.com/office/powerpoint/2010/main" val="30911057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764705"/>
            <a:ext cx="5040560" cy="720079"/>
          </a:xfrm>
        </p:spPr>
        <p:txBody>
          <a:bodyPr>
            <a:normAutofit/>
          </a:bodyPr>
          <a:lstStyle/>
          <a:p>
            <a:r>
              <a:rPr lang="zh-CN" altLang="en-US" dirty="0"/>
              <a:t>运行时间评估</a:t>
            </a:r>
            <a:endParaRPr lang="zh-CN" altLang="en-US" b="0" dirty="0"/>
          </a:p>
        </p:txBody>
      </p:sp>
      <p:sp>
        <p:nvSpPr>
          <p:cNvPr id="8" name="Text Box 3"/>
          <p:cNvSpPr txBox="1">
            <a:spLocks noChangeArrowheads="1"/>
          </p:cNvSpPr>
          <p:nvPr/>
        </p:nvSpPr>
        <p:spPr bwMode="auto">
          <a:xfrm>
            <a:off x="323849" y="1376735"/>
            <a:ext cx="8689993"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spcBef>
                <a:spcPct val="50000"/>
              </a:spcBef>
              <a:spcAft>
                <a:spcPct val="25000"/>
              </a:spcAft>
              <a:buClr>
                <a:schemeClr val="folHlink"/>
              </a:buClr>
              <a:buSzPct val="80000"/>
              <a:buFont typeface="Wingdings" pitchFamily="2" charset="2"/>
              <a:buNone/>
            </a:pPr>
            <a:r>
              <a:rPr kumimoji="1" lang="zh-CN" altLang="en-US" sz="2400" dirty="0">
                <a:solidFill>
                  <a:schemeClr val="folHlink"/>
                </a:solidFill>
                <a:latin typeface="+mn-ea"/>
              </a:rPr>
              <a:t>    </a:t>
            </a:r>
            <a:r>
              <a:rPr kumimoji="1" lang="zh-CN" altLang="en-US" sz="2400" dirty="0">
                <a:latin typeface="+mn-ea"/>
                <a:cs typeface="Simplified Arabic" panose="02020603050405020304" pitchFamily="18" charset="-78"/>
              </a:rPr>
              <a:t>如果使用另一算法，复杂度函数为</a:t>
            </a:r>
            <a:r>
              <a:rPr kumimoji="1" lang="en-US" altLang="zh-CN" sz="2400" dirty="0">
                <a:latin typeface="+mn-ea"/>
                <a:cs typeface="Simplified Arabic" panose="02020603050405020304" pitchFamily="18" charset="-78"/>
              </a:rPr>
              <a:t>: T(n)=</a:t>
            </a:r>
            <a:r>
              <a:rPr kumimoji="1" lang="en-US" altLang="zh-CN" sz="2400" dirty="0" err="1">
                <a:latin typeface="+mn-ea"/>
                <a:cs typeface="Simplified Arabic" panose="02020603050405020304" pitchFamily="18" charset="-78"/>
              </a:rPr>
              <a:t>nlogn</a:t>
            </a:r>
            <a:r>
              <a:rPr kumimoji="1" lang="en-US" altLang="zh-CN" sz="2400" dirty="0">
                <a:latin typeface="+mn-ea"/>
                <a:cs typeface="Simplified Arabic" panose="02020603050405020304" pitchFamily="18" charset="-78"/>
              </a:rPr>
              <a:t> , </a:t>
            </a:r>
            <a:r>
              <a:rPr kumimoji="1" lang="zh-CN" altLang="en-US" sz="2400" dirty="0">
                <a:latin typeface="+mn-ea"/>
                <a:cs typeface="Simplified Arabic" panose="02020603050405020304" pitchFamily="18" charset="-78"/>
              </a:rPr>
              <a:t>计算处理输入规模</a:t>
            </a:r>
            <a:r>
              <a:rPr kumimoji="1" lang="en-US" altLang="zh-CN" sz="2400" dirty="0">
                <a:latin typeface="+mn-ea"/>
                <a:cs typeface="Simplified Arabic" panose="02020603050405020304" pitchFamily="18" charset="-78"/>
              </a:rPr>
              <a:t>n = 10</a:t>
            </a:r>
            <a:r>
              <a:rPr kumimoji="1" lang="en-US" altLang="zh-CN" sz="2400" baseline="30000" dirty="0">
                <a:latin typeface="+mn-ea"/>
                <a:cs typeface="Simplified Arabic" panose="02020603050405020304" pitchFamily="18" charset="-78"/>
              </a:rPr>
              <a:t>8</a:t>
            </a:r>
            <a:r>
              <a:rPr kumimoji="1" lang="zh-CN" altLang="en-US" sz="2400" dirty="0">
                <a:latin typeface="+mn-ea"/>
                <a:cs typeface="Simplified Arabic" panose="02020603050405020304" pitchFamily="18" charset="-78"/>
              </a:rPr>
              <a:t>需多长时间</a:t>
            </a:r>
            <a:r>
              <a:rPr kumimoji="1" lang="en-US" altLang="zh-CN" sz="2400" dirty="0">
                <a:latin typeface="+mn-ea"/>
                <a:cs typeface="Simplified Arabic" panose="02020603050405020304" pitchFamily="18" charset="-78"/>
              </a:rPr>
              <a:t>?</a:t>
            </a:r>
          </a:p>
        </p:txBody>
      </p:sp>
      <p:sp>
        <p:nvSpPr>
          <p:cNvPr id="9" name="TextBox 1"/>
          <p:cNvSpPr txBox="1"/>
          <p:nvPr/>
        </p:nvSpPr>
        <p:spPr>
          <a:xfrm>
            <a:off x="611560" y="2492896"/>
            <a:ext cx="7597629" cy="837152"/>
          </a:xfrm>
          <a:prstGeom prst="rect">
            <a:avLst/>
          </a:prstGeom>
          <a:solidFill>
            <a:srgbClr val="FFFFD9"/>
          </a:solidFill>
        </p:spPr>
        <p:txBody>
          <a:bodyPr wrap="square" rtlCol="0">
            <a:spAutoFit/>
          </a:bodyPr>
          <a:lstStyle/>
          <a:p>
            <a:pPr>
              <a:spcBef>
                <a:spcPct val="50000"/>
              </a:spcBef>
              <a:buClr>
                <a:schemeClr val="folHlink"/>
              </a:buClr>
              <a:buSzPct val="80000"/>
              <a:buFont typeface="Wingdings" pitchFamily="2" charset="2"/>
              <a:buNone/>
            </a:pPr>
            <a:r>
              <a:rPr kumimoji="1" lang="zh-CN" altLang="en-US" sz="2200" dirty="0">
                <a:latin typeface="TimesNewRoman" charset="0"/>
                <a:ea typeface="宋体" pitchFamily="2" charset="-122"/>
              </a:rPr>
              <a:t>需执行的指令数为：</a:t>
            </a:r>
            <a:endParaRPr kumimoji="1" lang="en-US" altLang="zh-CN" sz="2200" dirty="0">
              <a:latin typeface="TimesNewRoman" charset="0"/>
              <a:ea typeface="宋体" pitchFamily="2" charset="-122"/>
            </a:endParaRPr>
          </a:p>
          <a:p>
            <a:pPr>
              <a:lnSpc>
                <a:spcPct val="90000"/>
              </a:lnSpc>
              <a:spcBef>
                <a:spcPct val="30000"/>
              </a:spcBef>
              <a:spcAft>
                <a:spcPct val="25000"/>
              </a:spcAft>
              <a:buClr>
                <a:schemeClr val="folHlink"/>
              </a:buClr>
              <a:buSzPct val="80000"/>
              <a:buFont typeface="Wingdings" pitchFamily="2" charset="2"/>
              <a:buNone/>
            </a:pPr>
            <a:r>
              <a:rPr kumimoji="1" lang="en-US" altLang="zh-CN" sz="2200" dirty="0">
                <a:solidFill>
                  <a:srgbClr val="C00000"/>
                </a:solidFill>
                <a:latin typeface="TimesNewRoman" charset="0"/>
                <a:ea typeface="宋体" pitchFamily="2" charset="-122"/>
              </a:rPr>
              <a:t>	</a:t>
            </a:r>
            <a:r>
              <a:rPr kumimoji="1" lang="en-US" altLang="zh-CN" sz="2200" dirty="0">
                <a:solidFill>
                  <a:srgbClr val="C00000"/>
                </a:solidFill>
                <a:ea typeface="SymbolMT" charset="-122"/>
              </a:rPr>
              <a:t>T(10</a:t>
            </a:r>
            <a:r>
              <a:rPr kumimoji="1" lang="en-US" altLang="zh-CN" sz="2200" baseline="30000" dirty="0">
                <a:solidFill>
                  <a:srgbClr val="C00000"/>
                </a:solidFill>
                <a:ea typeface="SymbolMT" charset="-122"/>
              </a:rPr>
              <a:t>8</a:t>
            </a:r>
            <a:r>
              <a:rPr kumimoji="1" lang="en-US" altLang="zh-CN" sz="2200" dirty="0">
                <a:solidFill>
                  <a:srgbClr val="C00000"/>
                </a:solidFill>
                <a:ea typeface="SymbolMT" charset="-122"/>
              </a:rPr>
              <a:t>)= </a:t>
            </a:r>
            <a:r>
              <a:rPr kumimoji="1" lang="en-US" altLang="zh-CN" sz="2200" dirty="0">
                <a:solidFill>
                  <a:srgbClr val="C00000"/>
                </a:solidFill>
                <a:latin typeface="TimesNewRoman" charset="0"/>
              </a:rPr>
              <a:t>10</a:t>
            </a:r>
            <a:r>
              <a:rPr kumimoji="1" lang="en-US" altLang="zh-CN" sz="2200" baseline="30000" dirty="0">
                <a:solidFill>
                  <a:srgbClr val="C00000"/>
                </a:solidFill>
                <a:latin typeface="TimesNewRoman" charset="0"/>
              </a:rPr>
              <a:t>8</a:t>
            </a:r>
            <a:r>
              <a:rPr kumimoji="1" lang="en-US" altLang="zh-CN" sz="2200" i="1" dirty="0">
                <a:solidFill>
                  <a:srgbClr val="C00000"/>
                </a:solidFill>
                <a:latin typeface="TimesNewRoman" charset="0"/>
              </a:rPr>
              <a:t> </a:t>
            </a:r>
            <a:r>
              <a:rPr kumimoji="1" lang="en-US" altLang="zh-CN" sz="2200" dirty="0">
                <a:solidFill>
                  <a:srgbClr val="C00000"/>
                </a:solidFill>
                <a:latin typeface="TimesNewRoman" charset="0"/>
              </a:rPr>
              <a:t>log(10</a:t>
            </a:r>
            <a:r>
              <a:rPr kumimoji="1" lang="en-US" altLang="zh-CN" sz="2200" baseline="30000" dirty="0">
                <a:solidFill>
                  <a:srgbClr val="C00000"/>
                </a:solidFill>
                <a:latin typeface="TimesNewRoman" charset="0"/>
              </a:rPr>
              <a:t>8</a:t>
            </a:r>
            <a:r>
              <a:rPr kumimoji="1" lang="en-US" altLang="zh-CN" sz="2200" dirty="0">
                <a:solidFill>
                  <a:srgbClr val="C00000"/>
                </a:solidFill>
                <a:latin typeface="TimesNewRoman" charset="0"/>
              </a:rPr>
              <a:t>) </a:t>
            </a:r>
            <a:r>
              <a:rPr kumimoji="1" lang="en-US" altLang="zh-CN" sz="2200" dirty="0">
                <a:solidFill>
                  <a:srgbClr val="C00000"/>
                </a:solidFill>
                <a:latin typeface="TimesNewRoman" charset="0"/>
                <a:sym typeface="Symbol" pitchFamily="18" charset="2"/>
              </a:rPr>
              <a:t> 2.66*10</a:t>
            </a:r>
            <a:r>
              <a:rPr kumimoji="1" lang="en-US" altLang="zh-CN" sz="2200" baseline="30000" dirty="0">
                <a:solidFill>
                  <a:srgbClr val="C00000"/>
                </a:solidFill>
                <a:latin typeface="TimesNewRoman" charset="0"/>
                <a:sym typeface="Symbol" pitchFamily="18" charset="2"/>
              </a:rPr>
              <a:t>9</a:t>
            </a:r>
            <a:endParaRPr kumimoji="1" lang="en-US" altLang="zh-CN" sz="2200" baseline="30000" dirty="0">
              <a:solidFill>
                <a:srgbClr val="C00000"/>
              </a:solidFill>
              <a:latin typeface="TimesNewRoman" charset="0"/>
            </a:endParaRPr>
          </a:p>
        </p:txBody>
      </p:sp>
      <p:sp>
        <p:nvSpPr>
          <p:cNvPr id="10" name="TextBox 4"/>
          <p:cNvSpPr txBox="1"/>
          <p:nvPr/>
        </p:nvSpPr>
        <p:spPr>
          <a:xfrm>
            <a:off x="657854" y="3705823"/>
            <a:ext cx="7632848" cy="803297"/>
          </a:xfrm>
          <a:prstGeom prst="rect">
            <a:avLst/>
          </a:prstGeom>
          <a:solidFill>
            <a:srgbClr val="FFFFD9"/>
          </a:solidFill>
        </p:spPr>
        <p:txBody>
          <a:bodyPr wrap="square" rtlCol="0">
            <a:spAutoFit/>
          </a:bodyPr>
          <a:lstStyle/>
          <a:p>
            <a:pPr>
              <a:lnSpc>
                <a:spcPct val="90000"/>
              </a:lnSpc>
              <a:spcBef>
                <a:spcPct val="50000"/>
              </a:spcBef>
              <a:buClr>
                <a:schemeClr val="folHlink"/>
              </a:buClr>
              <a:buSzPct val="80000"/>
              <a:buFont typeface="Wingdings" pitchFamily="2" charset="2"/>
              <a:buNone/>
            </a:pPr>
            <a:r>
              <a:rPr kumimoji="1" lang="zh-CN" altLang="en-US" sz="2200" dirty="0">
                <a:latin typeface="TimesNewRoman" charset="0"/>
                <a:ea typeface="宋体" pitchFamily="2" charset="-122"/>
              </a:rPr>
              <a:t>所需时间为</a:t>
            </a:r>
            <a:endParaRPr kumimoji="1" lang="en-US" altLang="zh-CN" sz="2200" dirty="0">
              <a:latin typeface="TimesNewRoman" charset="0"/>
              <a:ea typeface="宋体" pitchFamily="2" charset="-122"/>
            </a:endParaRPr>
          </a:p>
          <a:p>
            <a:pPr>
              <a:lnSpc>
                <a:spcPct val="90000"/>
              </a:lnSpc>
              <a:spcBef>
                <a:spcPct val="30000"/>
              </a:spcBef>
              <a:buClr>
                <a:schemeClr val="folHlink"/>
              </a:buClr>
              <a:buSzPct val="80000"/>
              <a:buFont typeface="Wingdings" pitchFamily="2" charset="2"/>
              <a:buNone/>
            </a:pPr>
            <a:r>
              <a:rPr kumimoji="1" lang="en-US" altLang="zh-CN" sz="2200" dirty="0">
                <a:solidFill>
                  <a:srgbClr val="C00000"/>
                </a:solidFill>
              </a:rPr>
              <a:t>      T(</a:t>
            </a:r>
            <a:r>
              <a:rPr kumimoji="1" lang="en-US" altLang="zh-CN" sz="2200" dirty="0">
                <a:solidFill>
                  <a:srgbClr val="C00000"/>
                </a:solidFill>
                <a:latin typeface="TimesNewRoman" charset="0"/>
              </a:rPr>
              <a:t>10</a:t>
            </a:r>
            <a:r>
              <a:rPr kumimoji="1" lang="en-US" altLang="zh-CN" sz="2200" baseline="30000" dirty="0">
                <a:solidFill>
                  <a:srgbClr val="C00000"/>
                </a:solidFill>
                <a:latin typeface="TimesNewRoman" charset="0"/>
              </a:rPr>
              <a:t>8</a:t>
            </a:r>
            <a:r>
              <a:rPr kumimoji="1" lang="en-US" altLang="zh-CN" sz="2200" dirty="0">
                <a:solidFill>
                  <a:srgbClr val="C00000"/>
                </a:solidFill>
              </a:rPr>
              <a:t>)/10</a:t>
            </a:r>
            <a:r>
              <a:rPr kumimoji="1" lang="en-US" altLang="zh-CN" sz="2200" baseline="30000" dirty="0">
                <a:solidFill>
                  <a:srgbClr val="C00000"/>
                </a:solidFill>
              </a:rPr>
              <a:t>6</a:t>
            </a:r>
            <a:endParaRPr kumimoji="1" lang="en-US" altLang="zh-CN" sz="2200" baseline="30000" dirty="0">
              <a:solidFill>
                <a:srgbClr val="C00000"/>
              </a:solidFill>
              <a:latin typeface="TimesNewRoman" charset="0"/>
              <a:sym typeface="Symbol" pitchFamily="18" charset="2"/>
            </a:endParaRPr>
          </a:p>
        </p:txBody>
      </p:sp>
      <p:sp>
        <p:nvSpPr>
          <p:cNvPr id="11" name="TextBox 5"/>
          <p:cNvSpPr txBox="1"/>
          <p:nvPr/>
        </p:nvSpPr>
        <p:spPr>
          <a:xfrm>
            <a:off x="718787" y="4839426"/>
            <a:ext cx="7597629" cy="1181862"/>
          </a:xfrm>
          <a:prstGeom prst="rect">
            <a:avLst/>
          </a:prstGeom>
          <a:solidFill>
            <a:srgbClr val="FFFFD9"/>
          </a:solidFill>
        </p:spPr>
        <p:txBody>
          <a:bodyPr wrap="square" rtlCol="0">
            <a:spAutoFit/>
          </a:bodyPr>
          <a:lstStyle/>
          <a:p>
            <a:pPr>
              <a:spcBef>
                <a:spcPct val="50000"/>
              </a:spcBef>
              <a:buClr>
                <a:schemeClr val="folHlink"/>
              </a:buClr>
              <a:buSzPct val="80000"/>
              <a:buFont typeface="Wingdings" pitchFamily="2" charset="2"/>
              <a:buNone/>
            </a:pPr>
            <a:r>
              <a:rPr kumimoji="1" lang="zh-CN" altLang="en-US" sz="2200" dirty="0">
                <a:latin typeface="TimesNewRoman" charset="0"/>
                <a:ea typeface="宋体" pitchFamily="2" charset="-122"/>
              </a:rPr>
              <a:t>那么</a:t>
            </a:r>
            <a:r>
              <a:rPr kumimoji="1" lang="en-US" altLang="zh-CN" sz="2200" dirty="0">
                <a:latin typeface="TimesNewRoman" charset="0"/>
                <a:ea typeface="宋体" pitchFamily="2" charset="-122"/>
              </a:rPr>
              <a:t>:    </a:t>
            </a:r>
            <a:r>
              <a:rPr kumimoji="1" lang="zh-CN" altLang="en-US" sz="2200" dirty="0">
                <a:latin typeface="TimesNewRoman" charset="0"/>
                <a:ea typeface="宋体" pitchFamily="2" charset="-122"/>
              </a:rPr>
              <a:t>运行时间 </a:t>
            </a:r>
            <a:r>
              <a:rPr kumimoji="1" lang="en-US" altLang="zh-CN" sz="2200" dirty="0">
                <a:latin typeface="TimesNewRoman" charset="0"/>
                <a:ea typeface="宋体" pitchFamily="2" charset="-122"/>
              </a:rPr>
              <a:t>= </a:t>
            </a:r>
            <a:r>
              <a:rPr kumimoji="1" lang="en-US" altLang="zh-CN" sz="2200" dirty="0">
                <a:solidFill>
                  <a:srgbClr val="C00000"/>
                </a:solidFill>
                <a:latin typeface="TimesNewRoman" charset="0"/>
                <a:ea typeface="宋体" pitchFamily="2" charset="-122"/>
              </a:rPr>
              <a:t>2.66*10</a:t>
            </a:r>
            <a:r>
              <a:rPr kumimoji="1" lang="en-US" altLang="zh-CN" sz="2200" baseline="30000" dirty="0">
                <a:solidFill>
                  <a:srgbClr val="C00000"/>
                </a:solidFill>
                <a:latin typeface="TimesNewRoman" charset="0"/>
                <a:ea typeface="宋体" pitchFamily="2" charset="-122"/>
              </a:rPr>
              <a:t>9</a:t>
            </a:r>
            <a:r>
              <a:rPr kumimoji="1" lang="en-US" altLang="zh-CN" sz="2200" dirty="0">
                <a:solidFill>
                  <a:srgbClr val="C00000"/>
                </a:solidFill>
                <a:latin typeface="TimesNewRoman" charset="0"/>
                <a:ea typeface="宋体" pitchFamily="2" charset="-122"/>
              </a:rPr>
              <a:t>/10</a:t>
            </a:r>
            <a:r>
              <a:rPr kumimoji="1" lang="en-US" altLang="zh-CN" sz="2200" baseline="30000" dirty="0">
                <a:solidFill>
                  <a:srgbClr val="C00000"/>
                </a:solidFill>
                <a:latin typeface="TimesNewRoman" charset="0"/>
                <a:ea typeface="宋体" pitchFamily="2" charset="-122"/>
              </a:rPr>
              <a:t>6</a:t>
            </a:r>
            <a:r>
              <a:rPr kumimoji="1" lang="en-US" altLang="zh-CN" sz="2200" dirty="0">
                <a:solidFill>
                  <a:srgbClr val="C00000"/>
                </a:solidFill>
                <a:latin typeface="TimesNewRoman" charset="0"/>
                <a:ea typeface="宋体" pitchFamily="2" charset="-122"/>
              </a:rPr>
              <a:t> = 2.66*10</a:t>
            </a:r>
            <a:r>
              <a:rPr kumimoji="1" lang="en-US" altLang="zh-CN" sz="2200" baseline="30000" dirty="0">
                <a:solidFill>
                  <a:srgbClr val="C00000"/>
                </a:solidFill>
                <a:latin typeface="TimesNewRoman" charset="0"/>
                <a:ea typeface="宋体" pitchFamily="2" charset="-122"/>
              </a:rPr>
              <a:t>3</a:t>
            </a:r>
          </a:p>
          <a:p>
            <a:pPr>
              <a:lnSpc>
                <a:spcPct val="90000"/>
              </a:lnSpc>
              <a:spcBef>
                <a:spcPct val="50000"/>
              </a:spcBef>
              <a:buClr>
                <a:schemeClr val="folHlink"/>
              </a:buClr>
              <a:buSzPct val="80000"/>
              <a:buFont typeface="Wingdings" pitchFamily="2" charset="2"/>
              <a:buNone/>
            </a:pPr>
            <a:r>
              <a:rPr kumimoji="1" lang="en-US" altLang="zh-CN" sz="2200" dirty="0">
                <a:latin typeface="TimesNewRoman" charset="0"/>
                <a:ea typeface="宋体" pitchFamily="2" charset="-122"/>
              </a:rPr>
              <a:t> </a:t>
            </a:r>
            <a:r>
              <a:rPr kumimoji="1" lang="zh-CN" altLang="en-US" sz="2200" dirty="0">
                <a:latin typeface="TimesNewRoman" charset="0"/>
                <a:ea typeface="宋体" pitchFamily="2" charset="-122"/>
              </a:rPr>
              <a:t>约</a:t>
            </a:r>
            <a:r>
              <a:rPr kumimoji="1" lang="en-US" altLang="zh-CN" sz="2200" dirty="0">
                <a:latin typeface="TimesNewRoman" charset="0"/>
                <a:ea typeface="宋体" pitchFamily="2" charset="-122"/>
              </a:rPr>
              <a:t>44.33</a:t>
            </a:r>
            <a:r>
              <a:rPr kumimoji="1" lang="zh-CN" altLang="en-US" sz="2200" dirty="0">
                <a:latin typeface="TimesNewRoman" charset="0"/>
                <a:ea typeface="宋体" pitchFamily="2" charset="-122"/>
              </a:rPr>
              <a:t>分钟</a:t>
            </a:r>
            <a:endParaRPr kumimoji="1" lang="en-US" altLang="zh-CN" sz="2200" dirty="0">
              <a:latin typeface="TimesNewRoman" charset="0"/>
              <a:ea typeface="宋体" pitchFamily="2" charset="-122"/>
            </a:endParaRPr>
          </a:p>
          <a:p>
            <a:endParaRPr lang="zh-CN" altLang="en-US" dirty="0"/>
          </a:p>
        </p:txBody>
      </p:sp>
    </p:spTree>
    <p:extLst>
      <p:ext uri="{BB962C8B-B14F-4D97-AF65-F5344CB8AC3E}">
        <p14:creationId xmlns:p14="http://schemas.microsoft.com/office/powerpoint/2010/main" val="552080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Grp="1" noChangeArrowheads="1"/>
          </p:cNvSpPr>
          <p:nvPr>
            <p:ph type="title"/>
          </p:nvPr>
        </p:nvSpPr>
        <p:spPr>
          <a:xfrm>
            <a:off x="2627784" y="650651"/>
            <a:ext cx="3281167" cy="569913"/>
          </a:xfrm>
        </p:spPr>
        <p:txBody>
          <a:bodyPr>
            <a:normAutofit/>
          </a:bodyPr>
          <a:lstStyle/>
          <a:p>
            <a:pPr algn="l"/>
            <a:r>
              <a:rPr lang="zh-CN" altLang="en-US" dirty="0">
                <a:solidFill>
                  <a:srgbClr val="FF0000"/>
                </a:solidFill>
                <a:effectLst>
                  <a:outerShdw blurRad="38100" dist="38100" dir="2700000" algn="tl">
                    <a:srgbClr val="C0C0C0"/>
                  </a:outerShdw>
                </a:effectLst>
                <a:ea typeface="宋体" pitchFamily="2" charset="-122"/>
              </a:rPr>
              <a:t>最大问题规模</a:t>
            </a:r>
            <a:r>
              <a:rPr lang="en-US" altLang="zh-CN" dirty="0">
                <a:solidFill>
                  <a:srgbClr val="FF0000"/>
                </a:solidFill>
                <a:effectLst>
                  <a:outerShdw blurRad="38100" dist="38100" dir="2700000" algn="tl">
                    <a:srgbClr val="C0C0C0"/>
                  </a:outerShdw>
                </a:effectLst>
                <a:ea typeface="宋体" pitchFamily="2" charset="-122"/>
              </a:rPr>
              <a:t>?</a:t>
            </a:r>
          </a:p>
        </p:txBody>
      </p:sp>
      <p:sp>
        <p:nvSpPr>
          <p:cNvPr id="13" name="Text Box 3"/>
          <p:cNvSpPr txBox="1">
            <a:spLocks noChangeArrowheads="1"/>
          </p:cNvSpPr>
          <p:nvPr/>
        </p:nvSpPr>
        <p:spPr bwMode="auto">
          <a:xfrm>
            <a:off x="378060" y="1377548"/>
            <a:ext cx="8535108"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spcBef>
                <a:spcPct val="50000"/>
              </a:spcBef>
              <a:buClr>
                <a:schemeClr val="folHlink"/>
              </a:buClr>
              <a:buSzPct val="80000"/>
              <a:buFont typeface="Wingdings" pitchFamily="2" charset="2"/>
              <a:buNone/>
            </a:pPr>
            <a:r>
              <a:rPr kumimoji="1" lang="zh-CN" altLang="en-US" sz="2400" dirty="0">
                <a:latin typeface="Ebrima" panose="02000000000000000000" pitchFamily="2" charset="0"/>
                <a:ea typeface="宋体" pitchFamily="2" charset="-122"/>
                <a:cs typeface="Ebrima" panose="02000000000000000000" pitchFamily="2" charset="0"/>
              </a:rPr>
              <a:t>    另外一种处理该问题的方法是分析在给定算法复杂度函数和硬件速度的条件下，算法在给定时间内能处理的最大问题规模。</a:t>
            </a:r>
            <a:endParaRPr kumimoji="1" lang="en-US" altLang="zh-CN" sz="2400" dirty="0">
              <a:latin typeface="Ebrima" panose="02000000000000000000" pitchFamily="2" charset="0"/>
              <a:ea typeface="Ebrima" panose="02000000000000000000" pitchFamily="2" charset="0"/>
              <a:cs typeface="Ebrima" panose="02000000000000000000" pitchFamily="2" charset="0"/>
            </a:endParaRPr>
          </a:p>
        </p:txBody>
      </p:sp>
      <p:sp>
        <p:nvSpPr>
          <p:cNvPr id="14" name="TextBox 1"/>
          <p:cNvSpPr txBox="1"/>
          <p:nvPr/>
        </p:nvSpPr>
        <p:spPr>
          <a:xfrm>
            <a:off x="395536" y="2503137"/>
            <a:ext cx="8350363" cy="827919"/>
          </a:xfrm>
          <a:prstGeom prst="rect">
            <a:avLst/>
          </a:prstGeom>
          <a:solidFill>
            <a:srgbClr val="D8EEC0"/>
          </a:solidFill>
        </p:spPr>
        <p:txBody>
          <a:bodyPr wrap="none" rtlCol="0">
            <a:spAutoFit/>
          </a:bodyPr>
          <a:lstStyle/>
          <a:p>
            <a:pPr>
              <a:lnSpc>
                <a:spcPct val="90000"/>
              </a:lnSpc>
              <a:spcBef>
                <a:spcPct val="50000"/>
              </a:spcBef>
              <a:buClr>
                <a:schemeClr val="folHlink"/>
              </a:buClr>
              <a:buSzPct val="80000"/>
              <a:buFont typeface="Wingdings" pitchFamily="2" charset="2"/>
              <a:buNone/>
            </a:pPr>
            <a:r>
              <a:rPr kumimoji="1" lang="en-US" altLang="zh-CN" sz="2200" dirty="0">
                <a:latin typeface="TimesNewRoman" charset="0"/>
                <a:ea typeface="宋体" pitchFamily="2" charset="-122"/>
              </a:rPr>
              <a:t> </a:t>
            </a:r>
            <a:r>
              <a:rPr kumimoji="1" lang="zh-CN" altLang="en-US" sz="2200" dirty="0">
                <a:latin typeface="TimesNewRoman" charset="0"/>
                <a:ea typeface="宋体" pitchFamily="2" charset="-122"/>
              </a:rPr>
              <a:t>假设硬件速度为</a:t>
            </a:r>
            <a:r>
              <a:rPr kumimoji="1" lang="zh-CN" altLang="en-US" sz="2000" dirty="0">
                <a:latin typeface="+mn-ea"/>
                <a:cs typeface="Simplified Arabic" panose="02020603050405020304" pitchFamily="18" charset="-78"/>
              </a:rPr>
              <a:t>一秒钟可以处理</a:t>
            </a:r>
            <a:r>
              <a:rPr kumimoji="1" lang="en-US" altLang="zh-CN" sz="2000" dirty="0">
                <a:latin typeface="+mn-ea"/>
                <a:cs typeface="Simplified Arabic" panose="02020603050405020304" pitchFamily="18" charset="-78"/>
              </a:rPr>
              <a:t>10</a:t>
            </a:r>
            <a:r>
              <a:rPr kumimoji="1" lang="en-US" altLang="zh-CN" sz="2000" baseline="30000" dirty="0">
                <a:latin typeface="+mn-ea"/>
                <a:cs typeface="Simplified Arabic" panose="02020603050405020304" pitchFamily="18" charset="-78"/>
              </a:rPr>
              <a:t>6</a:t>
            </a:r>
            <a:r>
              <a:rPr kumimoji="1" lang="en-US" altLang="zh-CN" sz="2000" dirty="0">
                <a:latin typeface="+mn-ea"/>
                <a:cs typeface="Simplified Arabic" panose="02020603050405020304" pitchFamily="18" charset="-78"/>
              </a:rPr>
              <a:t> </a:t>
            </a:r>
            <a:r>
              <a:rPr kumimoji="1" lang="zh-CN" altLang="en-US" sz="2000" dirty="0">
                <a:latin typeface="+mn-ea"/>
                <a:cs typeface="Simplified Arabic" panose="02020603050405020304" pitchFamily="18" charset="-78"/>
              </a:rPr>
              <a:t>条指令，那么在一个小时内能处理</a:t>
            </a:r>
            <a:endParaRPr kumimoji="1" lang="en-US" altLang="zh-CN" sz="2000" dirty="0">
              <a:latin typeface="+mn-ea"/>
              <a:cs typeface="Simplified Arabic" panose="02020603050405020304" pitchFamily="18" charset="-78"/>
            </a:endParaRPr>
          </a:p>
          <a:p>
            <a:pPr>
              <a:lnSpc>
                <a:spcPct val="90000"/>
              </a:lnSpc>
              <a:spcBef>
                <a:spcPct val="50000"/>
              </a:spcBef>
              <a:buClr>
                <a:schemeClr val="folHlink"/>
              </a:buClr>
              <a:buSzPct val="80000"/>
              <a:buFont typeface="Wingdings" pitchFamily="2" charset="2"/>
              <a:buNone/>
            </a:pPr>
            <a:r>
              <a:rPr kumimoji="1" lang="zh-CN" altLang="en-US" sz="2000" dirty="0">
                <a:latin typeface="+mn-ea"/>
                <a:cs typeface="Simplified Arabic" panose="02020603050405020304" pitchFamily="18" charset="-78"/>
              </a:rPr>
              <a:t>的最大问题</a:t>
            </a:r>
            <a:r>
              <a:rPr kumimoji="1" lang="zh-CN" altLang="en-US" sz="2000" dirty="0">
                <a:latin typeface="+mn-ea"/>
                <a:ea typeface="宋体" pitchFamily="2" charset="-122"/>
                <a:cs typeface="Simplified Arabic" panose="02020603050405020304" pitchFamily="18" charset="-78"/>
              </a:rPr>
              <a:t>规模是多少？</a:t>
            </a:r>
            <a:endParaRPr kumimoji="1" lang="en-US" altLang="zh-CN" sz="2200" dirty="0">
              <a:latin typeface="TimesNewRoman" charset="0"/>
              <a:ea typeface="宋体" pitchFamily="2" charset="-122"/>
            </a:endParaRPr>
          </a:p>
        </p:txBody>
      </p:sp>
      <p:sp>
        <p:nvSpPr>
          <p:cNvPr id="15" name="TextBox 2"/>
          <p:cNvSpPr txBox="1"/>
          <p:nvPr/>
        </p:nvSpPr>
        <p:spPr>
          <a:xfrm>
            <a:off x="395536" y="3645024"/>
            <a:ext cx="8350363" cy="1074140"/>
          </a:xfrm>
          <a:prstGeom prst="rect">
            <a:avLst/>
          </a:prstGeom>
          <a:solidFill>
            <a:srgbClr val="FFFFD9"/>
          </a:solidFill>
        </p:spPr>
        <p:txBody>
          <a:bodyPr wrap="square" rtlCol="0">
            <a:spAutoFit/>
          </a:bodyPr>
          <a:lstStyle/>
          <a:p>
            <a:pPr>
              <a:lnSpc>
                <a:spcPct val="90000"/>
              </a:lnSpc>
              <a:spcBef>
                <a:spcPct val="50000"/>
              </a:spcBef>
              <a:buClr>
                <a:schemeClr val="folHlink"/>
              </a:buClr>
              <a:buSzPct val="80000"/>
              <a:buFont typeface="Wingdings" pitchFamily="2" charset="2"/>
              <a:buNone/>
            </a:pPr>
            <a:r>
              <a:rPr kumimoji="1" lang="en-US" altLang="zh-CN" sz="2200" dirty="0">
                <a:latin typeface="TimesNewRoman" charset="0"/>
                <a:ea typeface="宋体" pitchFamily="2" charset="-122"/>
              </a:rPr>
              <a:t> </a:t>
            </a:r>
            <a:r>
              <a:rPr kumimoji="1" lang="zh-CN" altLang="en-US" sz="2200" dirty="0">
                <a:latin typeface="TimesNewRoman" charset="0"/>
                <a:ea typeface="宋体" pitchFamily="2" charset="-122"/>
              </a:rPr>
              <a:t>如果复杂度函数是 </a:t>
            </a:r>
            <a:r>
              <a:rPr kumimoji="1" lang="en-US" altLang="zh-CN" sz="2200" b="1" dirty="0">
                <a:solidFill>
                  <a:schemeClr val="folHlink"/>
                </a:solidFill>
                <a:latin typeface="TimesNewRoman" charset="0"/>
                <a:ea typeface="宋体" pitchFamily="2" charset="-122"/>
              </a:rPr>
              <a:t>T(n)=2n</a:t>
            </a:r>
            <a:r>
              <a:rPr kumimoji="1" lang="en-US" altLang="zh-CN" sz="2200" b="1" baseline="30000" dirty="0">
                <a:solidFill>
                  <a:schemeClr val="folHlink"/>
                </a:solidFill>
                <a:latin typeface="TimesNewRoman" charset="0"/>
                <a:ea typeface="宋体" pitchFamily="2" charset="-122"/>
              </a:rPr>
              <a:t>2</a:t>
            </a:r>
            <a:r>
              <a:rPr kumimoji="1" lang="en-US" altLang="zh-CN" sz="2200" baseline="30000" dirty="0">
                <a:latin typeface="TimesNewRoman" charset="0"/>
                <a:ea typeface="宋体" pitchFamily="2" charset="-122"/>
              </a:rPr>
              <a:t> </a:t>
            </a:r>
            <a:r>
              <a:rPr kumimoji="1" lang="en-US" altLang="zh-CN" sz="2200" dirty="0">
                <a:latin typeface="TimesNewRoman" charset="0"/>
                <a:ea typeface="宋体" pitchFamily="2" charset="-122"/>
              </a:rPr>
              <a:t>, </a:t>
            </a:r>
            <a:r>
              <a:rPr kumimoji="1" lang="zh-CN" altLang="en-US" sz="2200" dirty="0">
                <a:latin typeface="TimesNewRoman" charset="0"/>
                <a:ea typeface="宋体" pitchFamily="2" charset="-122"/>
              </a:rPr>
              <a:t>那么</a:t>
            </a:r>
            <a:r>
              <a:rPr kumimoji="1" lang="en-US" altLang="zh-CN" sz="2200" dirty="0">
                <a:latin typeface="TimesNewRoman" charset="0"/>
                <a:ea typeface="宋体" pitchFamily="2" charset="-122"/>
              </a:rPr>
              <a:t>:</a:t>
            </a:r>
          </a:p>
          <a:p>
            <a:pPr>
              <a:lnSpc>
                <a:spcPct val="90000"/>
              </a:lnSpc>
              <a:spcBef>
                <a:spcPct val="10000"/>
              </a:spcBef>
              <a:buClr>
                <a:schemeClr val="folHlink"/>
              </a:buClr>
              <a:buSzPct val="80000"/>
              <a:buFont typeface="Wingdings" pitchFamily="2" charset="2"/>
              <a:buNone/>
            </a:pPr>
            <a:r>
              <a:rPr kumimoji="1" lang="en-US" altLang="zh-CN" sz="2200" dirty="0">
                <a:latin typeface="TimesNewRoman" charset="0"/>
                <a:ea typeface="宋体" pitchFamily="2" charset="-122"/>
              </a:rPr>
              <a:t>	 2n</a:t>
            </a:r>
            <a:r>
              <a:rPr kumimoji="1" lang="en-US" altLang="zh-CN" sz="2200" baseline="30000" dirty="0">
                <a:latin typeface="TimesNewRoman" charset="0"/>
                <a:ea typeface="宋体" pitchFamily="2" charset="-122"/>
              </a:rPr>
              <a:t>2</a:t>
            </a:r>
            <a:r>
              <a:rPr kumimoji="1" lang="en-US" altLang="zh-CN" sz="2200" dirty="0">
                <a:latin typeface="TimesNewRoman" charset="0"/>
                <a:ea typeface="宋体" pitchFamily="2" charset="-122"/>
              </a:rPr>
              <a:t> </a:t>
            </a:r>
            <a:r>
              <a:rPr kumimoji="1" lang="en-US" altLang="zh-CN" sz="2200" dirty="0">
                <a:latin typeface="TimesNewRoman" charset="0"/>
                <a:ea typeface="宋体" pitchFamily="2" charset="-122"/>
                <a:sym typeface="Symbol" pitchFamily="18" charset="2"/>
              </a:rPr>
              <a:t> 3600*10</a:t>
            </a:r>
            <a:r>
              <a:rPr kumimoji="1" lang="en-US" altLang="zh-CN" sz="2200" baseline="30000" dirty="0">
                <a:latin typeface="TimesNewRoman" charset="0"/>
                <a:ea typeface="宋体" pitchFamily="2" charset="-122"/>
                <a:sym typeface="Symbol" pitchFamily="18" charset="2"/>
              </a:rPr>
              <a:t>6</a:t>
            </a:r>
            <a:endParaRPr kumimoji="1" lang="en-US" altLang="zh-CN" sz="2200" baseline="30000" dirty="0">
              <a:latin typeface="TimesNewRoman" charset="0"/>
              <a:ea typeface="宋体" pitchFamily="2" charset="-122"/>
            </a:endParaRPr>
          </a:p>
          <a:p>
            <a:pPr>
              <a:lnSpc>
                <a:spcPct val="90000"/>
              </a:lnSpc>
              <a:spcBef>
                <a:spcPct val="10000"/>
              </a:spcBef>
              <a:buClr>
                <a:schemeClr val="folHlink"/>
              </a:buClr>
              <a:buSzPct val="80000"/>
              <a:buFont typeface="Wingdings" pitchFamily="2" charset="2"/>
              <a:buNone/>
            </a:pPr>
            <a:r>
              <a:rPr kumimoji="1" lang="en-US" altLang="zh-CN" sz="2200" dirty="0">
                <a:latin typeface="TimesNewRoman" charset="0"/>
                <a:ea typeface="宋体" pitchFamily="2" charset="-122"/>
              </a:rPr>
              <a:t>   </a:t>
            </a:r>
            <a:r>
              <a:rPr kumimoji="1" lang="zh-CN" altLang="en-US" sz="2200" dirty="0">
                <a:latin typeface="TimesNewRoman" charset="0"/>
                <a:ea typeface="宋体" pitchFamily="2" charset="-122"/>
              </a:rPr>
              <a:t>可得</a:t>
            </a:r>
            <a:r>
              <a:rPr kumimoji="1" lang="en-US" altLang="zh-CN" sz="2200" dirty="0">
                <a:latin typeface="TimesNewRoman" charset="0"/>
                <a:ea typeface="宋体" pitchFamily="2" charset="-122"/>
              </a:rPr>
              <a:t>:  n </a:t>
            </a:r>
            <a:r>
              <a:rPr kumimoji="1" lang="en-US" altLang="zh-CN" sz="2200" dirty="0">
                <a:latin typeface="TimesNewRoman" charset="0"/>
                <a:ea typeface="宋体" pitchFamily="2" charset="-122"/>
                <a:sym typeface="Symbol" pitchFamily="18" charset="2"/>
              </a:rPr>
              <a:t> 42426</a:t>
            </a:r>
            <a:endParaRPr kumimoji="1" lang="en-US" altLang="zh-CN" sz="2200" dirty="0">
              <a:latin typeface="TimesNewRoman" charset="0"/>
              <a:ea typeface="宋体" pitchFamily="2" charset="-122"/>
            </a:endParaRPr>
          </a:p>
        </p:txBody>
      </p:sp>
      <p:sp>
        <p:nvSpPr>
          <p:cNvPr id="16" name="TextBox 5"/>
          <p:cNvSpPr txBox="1"/>
          <p:nvPr/>
        </p:nvSpPr>
        <p:spPr>
          <a:xfrm>
            <a:off x="378060" y="5033132"/>
            <a:ext cx="8341161" cy="1074140"/>
          </a:xfrm>
          <a:prstGeom prst="rect">
            <a:avLst/>
          </a:prstGeom>
          <a:solidFill>
            <a:srgbClr val="FFFFD9"/>
          </a:solidFill>
        </p:spPr>
        <p:txBody>
          <a:bodyPr wrap="square" rtlCol="0">
            <a:spAutoFit/>
          </a:bodyPr>
          <a:lstStyle/>
          <a:p>
            <a:pPr>
              <a:lnSpc>
                <a:spcPct val="90000"/>
              </a:lnSpc>
              <a:spcBef>
                <a:spcPct val="50000"/>
              </a:spcBef>
              <a:buClr>
                <a:schemeClr val="folHlink"/>
              </a:buClr>
              <a:buSzPct val="80000"/>
              <a:buFont typeface="Wingdings" pitchFamily="2" charset="2"/>
              <a:buNone/>
            </a:pPr>
            <a:r>
              <a:rPr kumimoji="1" lang="zh-CN" altLang="en-US" sz="2200" dirty="0">
                <a:latin typeface="TimesNewRoman" charset="0"/>
                <a:ea typeface="宋体" pitchFamily="2" charset="-122"/>
              </a:rPr>
              <a:t>如果复杂度函数是 </a:t>
            </a:r>
            <a:r>
              <a:rPr kumimoji="1" lang="en-US" altLang="zh-CN" sz="2200" b="1" dirty="0">
                <a:solidFill>
                  <a:schemeClr val="folHlink"/>
                </a:solidFill>
                <a:latin typeface="TimesNewRoman" charset="0"/>
                <a:ea typeface="宋体" pitchFamily="2" charset="-122"/>
              </a:rPr>
              <a:t>T(n)= </a:t>
            </a:r>
            <a:r>
              <a:rPr kumimoji="1" lang="en-US" altLang="zh-CN" sz="2200" b="1" i="1" dirty="0">
                <a:solidFill>
                  <a:schemeClr val="folHlink"/>
                </a:solidFill>
                <a:latin typeface="TimesNewRoman" charset="0"/>
                <a:ea typeface="宋体" pitchFamily="2" charset="-122"/>
              </a:rPr>
              <a:t>n </a:t>
            </a:r>
            <a:r>
              <a:rPr kumimoji="1" lang="en-US" altLang="zh-CN" sz="2200" b="1" dirty="0">
                <a:solidFill>
                  <a:schemeClr val="folHlink"/>
                </a:solidFill>
                <a:latin typeface="TimesNewRoman" charset="0"/>
                <a:ea typeface="宋体" pitchFamily="2" charset="-122"/>
              </a:rPr>
              <a:t>log </a:t>
            </a:r>
            <a:r>
              <a:rPr kumimoji="1" lang="en-US" altLang="zh-CN" sz="2200" b="1" i="1" dirty="0">
                <a:solidFill>
                  <a:schemeClr val="folHlink"/>
                </a:solidFill>
                <a:latin typeface="TimesNewRoman" charset="0"/>
                <a:ea typeface="宋体" pitchFamily="2" charset="-122"/>
              </a:rPr>
              <a:t>n</a:t>
            </a:r>
            <a:r>
              <a:rPr kumimoji="1" lang="en-US" altLang="zh-CN" sz="2200" dirty="0">
                <a:latin typeface="TimesNewRoman" charset="0"/>
                <a:ea typeface="宋体" pitchFamily="2" charset="-122"/>
              </a:rPr>
              <a:t>, </a:t>
            </a:r>
            <a:r>
              <a:rPr kumimoji="1" lang="zh-CN" altLang="en-US" sz="2200" dirty="0">
                <a:latin typeface="TimesNewRoman" charset="0"/>
                <a:ea typeface="宋体" pitchFamily="2" charset="-122"/>
              </a:rPr>
              <a:t>那么</a:t>
            </a:r>
            <a:r>
              <a:rPr kumimoji="1" lang="en-US" altLang="zh-CN" sz="2200" dirty="0">
                <a:latin typeface="TimesNewRoman" charset="0"/>
                <a:ea typeface="宋体" pitchFamily="2" charset="-122"/>
              </a:rPr>
              <a:t>:</a:t>
            </a:r>
          </a:p>
          <a:p>
            <a:pPr>
              <a:lnSpc>
                <a:spcPct val="90000"/>
              </a:lnSpc>
              <a:spcBef>
                <a:spcPct val="10000"/>
              </a:spcBef>
              <a:buClr>
                <a:schemeClr val="folHlink"/>
              </a:buClr>
              <a:buSzPct val="80000"/>
              <a:buFont typeface="Wingdings" pitchFamily="2" charset="2"/>
              <a:buNone/>
            </a:pPr>
            <a:r>
              <a:rPr kumimoji="1" lang="en-US" altLang="zh-CN" sz="2200" dirty="0">
                <a:latin typeface="TimesNewRoman" charset="0"/>
                <a:ea typeface="宋体" pitchFamily="2" charset="-122"/>
              </a:rPr>
              <a:t>	 </a:t>
            </a:r>
            <a:r>
              <a:rPr kumimoji="1" lang="en-US" altLang="zh-CN" sz="2200" i="1" dirty="0">
                <a:latin typeface="TimesNewRoman" charset="0"/>
                <a:ea typeface="宋体" pitchFamily="2" charset="-122"/>
              </a:rPr>
              <a:t>n </a:t>
            </a:r>
            <a:r>
              <a:rPr kumimoji="1" lang="en-US" altLang="zh-CN" sz="2200" dirty="0">
                <a:latin typeface="TimesNewRoman" charset="0"/>
                <a:ea typeface="宋体" pitchFamily="2" charset="-122"/>
              </a:rPr>
              <a:t>log </a:t>
            </a:r>
            <a:r>
              <a:rPr kumimoji="1" lang="en-US" altLang="zh-CN" sz="2200" i="1" dirty="0">
                <a:latin typeface="TimesNewRoman" charset="0"/>
                <a:ea typeface="宋体" pitchFamily="2" charset="-122"/>
              </a:rPr>
              <a:t>n</a:t>
            </a:r>
            <a:r>
              <a:rPr kumimoji="1" lang="en-US" altLang="zh-CN" sz="2200" dirty="0">
                <a:latin typeface="TimesNewRoman" charset="0"/>
                <a:ea typeface="宋体" pitchFamily="2" charset="-122"/>
              </a:rPr>
              <a:t> </a:t>
            </a:r>
            <a:r>
              <a:rPr kumimoji="1" lang="en-US" altLang="zh-CN" sz="2200" dirty="0">
                <a:latin typeface="TimesNewRoman" charset="0"/>
                <a:ea typeface="宋体" pitchFamily="2" charset="-122"/>
                <a:sym typeface="Symbol" pitchFamily="18" charset="2"/>
              </a:rPr>
              <a:t> 3600*10</a:t>
            </a:r>
            <a:r>
              <a:rPr kumimoji="1" lang="en-US" altLang="zh-CN" sz="2200" baseline="30000" dirty="0">
                <a:latin typeface="TimesNewRoman" charset="0"/>
                <a:ea typeface="宋体" pitchFamily="2" charset="-122"/>
                <a:sym typeface="Symbol" pitchFamily="18" charset="2"/>
              </a:rPr>
              <a:t>6</a:t>
            </a:r>
            <a:endParaRPr kumimoji="1" lang="en-US" altLang="zh-CN" sz="2200" baseline="30000" dirty="0">
              <a:latin typeface="TimesNewRoman" charset="0"/>
              <a:ea typeface="宋体" pitchFamily="2" charset="-122"/>
            </a:endParaRPr>
          </a:p>
          <a:p>
            <a:pPr>
              <a:lnSpc>
                <a:spcPct val="90000"/>
              </a:lnSpc>
              <a:spcBef>
                <a:spcPct val="10000"/>
              </a:spcBef>
              <a:buClr>
                <a:schemeClr val="folHlink"/>
              </a:buClr>
              <a:buSzPct val="80000"/>
              <a:buFont typeface="Wingdings" pitchFamily="2" charset="2"/>
              <a:buNone/>
            </a:pPr>
            <a:r>
              <a:rPr kumimoji="1" lang="en-US" altLang="zh-CN" sz="2200" dirty="0">
                <a:latin typeface="TimesNewRoman" charset="0"/>
                <a:ea typeface="宋体" pitchFamily="2" charset="-122"/>
              </a:rPr>
              <a:t>  </a:t>
            </a:r>
            <a:r>
              <a:rPr kumimoji="1" lang="zh-CN" altLang="en-US" sz="2200" dirty="0">
                <a:latin typeface="TimesNewRoman" charset="0"/>
                <a:ea typeface="宋体" pitchFamily="2" charset="-122"/>
              </a:rPr>
              <a:t>可得</a:t>
            </a:r>
            <a:r>
              <a:rPr kumimoji="1" lang="en-US" altLang="zh-CN" sz="2200" dirty="0">
                <a:latin typeface="TimesNewRoman" charset="0"/>
                <a:ea typeface="宋体" pitchFamily="2" charset="-122"/>
              </a:rPr>
              <a:t>:  n </a:t>
            </a:r>
            <a:r>
              <a:rPr kumimoji="1" lang="en-US" altLang="zh-CN" sz="2200" dirty="0">
                <a:latin typeface="TimesNewRoman" charset="0"/>
                <a:ea typeface="宋体" pitchFamily="2" charset="-122"/>
                <a:sym typeface="Symbol" pitchFamily="18" charset="2"/>
              </a:rPr>
              <a:t> 133800000</a:t>
            </a:r>
            <a:endParaRPr lang="zh-CN" altLang="en-US" sz="2200" dirty="0"/>
          </a:p>
        </p:txBody>
      </p:sp>
    </p:spTree>
    <p:extLst>
      <p:ext uri="{BB962C8B-B14F-4D97-AF65-F5344CB8AC3E}">
        <p14:creationId xmlns:p14="http://schemas.microsoft.com/office/powerpoint/2010/main" val="985064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1.4 </a:t>
            </a:r>
            <a:r>
              <a:rPr lang="zh-CN" altLang="en-US" b="1" dirty="0"/>
              <a:t>算法分析</a:t>
            </a:r>
            <a:r>
              <a:rPr lang="zh-CN" altLang="zh-CN" b="1" dirty="0"/>
              <a:t>概述</a:t>
            </a:r>
            <a:endParaRPr lang="zh-CN" altLang="en-US" dirty="0"/>
          </a:p>
        </p:txBody>
      </p:sp>
      <p:sp>
        <p:nvSpPr>
          <p:cNvPr id="4" name="文本框 3"/>
          <p:cNvSpPr txBox="1"/>
          <p:nvPr/>
        </p:nvSpPr>
        <p:spPr>
          <a:xfrm>
            <a:off x="971600" y="2060848"/>
            <a:ext cx="7488832" cy="1846659"/>
          </a:xfrm>
          <a:prstGeom prst="rect">
            <a:avLst/>
          </a:prstGeom>
          <a:noFill/>
        </p:spPr>
        <p:txBody>
          <a:bodyPr wrap="square" rtlCol="0">
            <a:spAutoFit/>
          </a:bodyPr>
          <a:lstStyle/>
          <a:p>
            <a:r>
              <a:rPr lang="en-US" altLang="zh-CN" sz="2800" dirty="0">
                <a:solidFill>
                  <a:srgbClr val="0070C0"/>
                </a:solidFill>
                <a:latin typeface="Times New Roman" panose="02020603050405020304" pitchFamily="18" charset="0"/>
                <a:cs typeface="Times New Roman" panose="02020603050405020304" pitchFamily="18" charset="0"/>
              </a:rPr>
              <a:t>To measure is to know. </a:t>
            </a:r>
          </a:p>
          <a:p>
            <a:pPr>
              <a:spcAft>
                <a:spcPts val="600"/>
              </a:spcAft>
            </a:pPr>
            <a:r>
              <a:rPr lang="en-US" altLang="zh-CN" sz="2800" dirty="0">
                <a:solidFill>
                  <a:srgbClr val="0070C0"/>
                </a:solidFill>
                <a:latin typeface="Times New Roman" panose="02020603050405020304" pitchFamily="18" charset="0"/>
                <a:cs typeface="Times New Roman" panose="02020603050405020304" pitchFamily="18" charset="0"/>
              </a:rPr>
              <a:t>If you can not measure it, you can not improve it.</a:t>
            </a:r>
          </a:p>
          <a:p>
            <a:pPr>
              <a:spcAft>
                <a:spcPts val="600"/>
              </a:spcAft>
            </a:pP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（衡量即了解。若无法衡量，便无法改进。）</a:t>
            </a:r>
            <a:endParaRPr lang="en-US"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sz="2800" dirty="0">
                <a:solidFill>
                  <a:srgbClr val="7030A0"/>
                </a:solidFill>
                <a:latin typeface="Times New Roman" panose="02020603050405020304" pitchFamily="18" charset="0"/>
                <a:cs typeface="Times New Roman" panose="02020603050405020304" pitchFamily="18" charset="0"/>
              </a:rPr>
              <a:t>- Lord Kelvin</a:t>
            </a:r>
            <a:endParaRPr lang="zh-CN" altLang="en-US" sz="2800" dirty="0">
              <a:solidFill>
                <a:srgbClr val="7030A0"/>
              </a:solidFill>
              <a:latin typeface="Times New Roman" panose="02020603050405020304" pitchFamily="18" charset="0"/>
              <a:cs typeface="Times New Roman" panose="02020603050405020304" pitchFamily="18" charset="0"/>
            </a:endParaRPr>
          </a:p>
        </p:txBody>
      </p:sp>
      <p:sp>
        <p:nvSpPr>
          <p:cNvPr id="5" name="TextBox 14">
            <a:extLst>
              <a:ext uri="{FF2B5EF4-FFF2-40B4-BE49-F238E27FC236}">
                <a16:creationId xmlns:a16="http://schemas.microsoft.com/office/drawing/2014/main" id="{89341973-BE0B-4FED-9BA4-F5DEBE2C0977}"/>
              </a:ext>
            </a:extLst>
          </p:cNvPr>
          <p:cNvSpPr txBox="1"/>
          <p:nvPr/>
        </p:nvSpPr>
        <p:spPr>
          <a:xfrm>
            <a:off x="971600" y="4509120"/>
            <a:ext cx="7675216" cy="1053347"/>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5"/>
          </a:lnRef>
          <a:fillRef idx="2">
            <a:schemeClr val="accent5"/>
          </a:fillRef>
          <a:effectRef idx="1">
            <a:schemeClr val="accent5"/>
          </a:effectRef>
          <a:fontRef idx="minor">
            <a:schemeClr val="dk1"/>
          </a:fontRef>
        </p:style>
        <p:txBody>
          <a:bodyPr wrap="square" tIns="144000" rtlCol="0">
            <a:spAutoFit/>
          </a:bodyPr>
          <a:lstStyle/>
          <a:p>
            <a:pPr algn="l"/>
            <a:r>
              <a:rPr lang="zh-CN" altLang="en-US" sz="2800" b="1" dirty="0">
                <a:solidFill>
                  <a:srgbClr val="C00000"/>
                </a:solidFill>
                <a:latin typeface="楷体" panose="02010609060101010101" pitchFamily="49" charset="-122"/>
                <a:ea typeface="楷体" panose="02010609060101010101" pitchFamily="49" charset="-122"/>
                <a:cs typeface="Consolas" pitchFamily="49" charset="0"/>
              </a:rPr>
              <a:t>算法分析目的：</a:t>
            </a:r>
            <a:r>
              <a:rPr lang="zh-CN" altLang="en-US" sz="2800" b="1" dirty="0">
                <a:solidFill>
                  <a:srgbClr val="0000FF"/>
                </a:solidFill>
                <a:latin typeface="楷体" panose="02010609060101010101" pitchFamily="49" charset="-122"/>
                <a:ea typeface="楷体" panose="02010609060101010101" pitchFamily="49" charset="-122"/>
                <a:cs typeface="Consolas" pitchFamily="49" charset="0"/>
              </a:rPr>
              <a:t>分析算法的时空效率以便</a:t>
            </a:r>
            <a:r>
              <a:rPr lang="zh-CN" altLang="en-US" sz="2800" b="1" dirty="0">
                <a:solidFill>
                  <a:srgbClr val="FF0000"/>
                </a:solidFill>
                <a:latin typeface="楷体" panose="02010609060101010101" pitchFamily="49" charset="-122"/>
                <a:ea typeface="楷体" panose="02010609060101010101" pitchFamily="49" charset="-122"/>
                <a:cs typeface="Consolas" pitchFamily="49" charset="0"/>
              </a:rPr>
              <a:t>改进</a:t>
            </a:r>
            <a:r>
              <a:rPr lang="zh-CN" altLang="en-US" sz="2800" b="1" dirty="0">
                <a:solidFill>
                  <a:srgbClr val="0000FF"/>
                </a:solidFill>
                <a:latin typeface="楷体" panose="02010609060101010101" pitchFamily="49" charset="-122"/>
                <a:ea typeface="楷体" panose="02010609060101010101" pitchFamily="49" charset="-122"/>
                <a:cs typeface="Consolas" pitchFamily="49" charset="0"/>
              </a:rPr>
              <a:t>算法性能。</a:t>
            </a:r>
          </a:p>
        </p:txBody>
      </p:sp>
    </p:spTree>
    <p:extLst>
      <p:ext uri="{BB962C8B-B14F-4D97-AF65-F5344CB8AC3E}">
        <p14:creationId xmlns:p14="http://schemas.microsoft.com/office/powerpoint/2010/main" val="377027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31540" y="908720"/>
            <a:ext cx="8280920" cy="5493812"/>
          </a:xfrm>
          <a:prstGeom prst="rect">
            <a:avLst/>
          </a:prstGeom>
        </p:spPr>
        <p:txBody>
          <a:bodyPr wrap="square">
            <a:spAutoFit/>
          </a:bodyPr>
          <a:lstStyle/>
          <a:p>
            <a:pPr algn="just">
              <a:lnSpc>
                <a:spcPct val="150000"/>
              </a:lnSpc>
            </a:pPr>
            <a:r>
              <a:rPr lang="en-US"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渐近算法分析</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（asymptotic algorithm analysis），简称算法分析（algorithm analysis）</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是一种估算方法，可以估算出</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随着问题规模的增大，计算成本如何增长</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200000"/>
              </a:lnSpc>
            </a:pPr>
            <a:r>
              <a:rPr lang="zh-CN" altLang="en-US" sz="2000" dirty="0">
                <a:latin typeface="黑体" panose="02010609060101010101" pitchFamily="49" charset="-122"/>
                <a:ea typeface="黑体" panose="02010609060101010101" pitchFamily="49" charset="-122"/>
                <a:cs typeface="Times New Roman" panose="02020603050405020304" pitchFamily="18" charset="0"/>
              </a:rPr>
              <a:t>注意，这里更关心足够大的问题。</a:t>
            </a:r>
            <a:endParaRPr lang="en-US" altLang="zh-CN" sz="2000" dirty="0">
              <a:latin typeface="黑体" panose="02010609060101010101" pitchFamily="49" charset="-122"/>
              <a:ea typeface="黑体" panose="02010609060101010101" pitchFamily="49" charset="-122"/>
              <a:cs typeface="Times New Roman" panose="02020603050405020304" pitchFamily="18" charset="0"/>
            </a:endParaRPr>
          </a:p>
          <a:p>
            <a:pPr algn="just">
              <a:lnSpc>
                <a:spcPct val="150000"/>
              </a:lnSpc>
              <a:spcBef>
                <a:spcPts val="600"/>
              </a:spcBef>
            </a:pP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渐近时间复杂度</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（asymptotic time complexity）是指评估算法编制完成程序后，在计算机中运行所消耗的时间函数</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spcBef>
                <a:spcPts val="1200"/>
              </a:spcBef>
            </a:pP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渐近</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空间</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复杂度</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（asymptotic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space</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complexity）是指评估算法编制完成程序后，在计算机中运行</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时所占用的存储空间</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函数。 </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3222364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764705"/>
            <a:ext cx="7920880" cy="2808312"/>
          </a:xfrm>
        </p:spPr>
        <p:txBody>
          <a:bodyPr>
            <a:normAutofit/>
          </a:bodyPr>
          <a:lstStyle/>
          <a:p>
            <a:r>
              <a:rPr lang="en-US" altLang="zh-CN" dirty="0"/>
              <a:t>	</a:t>
            </a:r>
            <a:r>
              <a:rPr lang="zh-CN" altLang="zh-CN" dirty="0">
                <a:solidFill>
                  <a:srgbClr val="FF0000"/>
                </a:solidFill>
              </a:rPr>
              <a:t>算法增长率</a:t>
            </a:r>
            <a:r>
              <a:rPr lang="zh-CN" altLang="zh-CN" dirty="0"/>
              <a:t>（</a:t>
            </a:r>
            <a:r>
              <a:rPr lang="en-US" altLang="zh-CN" dirty="0"/>
              <a:t>growth rate</a:t>
            </a:r>
            <a:r>
              <a:rPr lang="zh-CN" altLang="zh-CN" dirty="0"/>
              <a:t>）</a:t>
            </a:r>
            <a:r>
              <a:rPr lang="zh-CN" altLang="zh-CN" b="0" dirty="0"/>
              <a:t>是指当输入的问题规模增长时，算法代价的增长速率。通过渐</a:t>
            </a:r>
            <a:r>
              <a:rPr lang="zh-CN" altLang="en-US" b="0" dirty="0"/>
              <a:t>近</a:t>
            </a:r>
            <a:r>
              <a:rPr lang="zh-CN" altLang="zh-CN" b="0" dirty="0"/>
              <a:t>复杂度分析，可以把某个算法实际的复杂度函数表示结果化简到某个简化函数类别上。</a:t>
            </a:r>
            <a:endParaRPr lang="zh-CN" altLang="en-US" b="0"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907704" y="2564904"/>
            <a:ext cx="5836884" cy="3744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76024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2348880"/>
            <a:ext cx="8640960" cy="2787761"/>
          </a:xfrm>
        </p:spPr>
        <p:txBody>
          <a:bodyPr>
            <a:noAutofit/>
          </a:bodyPr>
          <a:lstStyle/>
          <a:p>
            <a:pPr>
              <a:buFont typeface="Wingdings" panose="05000000000000000000" pitchFamily="2" charset="2"/>
              <a:buChar char="ü"/>
            </a:pPr>
            <a:r>
              <a:rPr lang="zh-CN" altLang="zh-CN" sz="2200" b="0" dirty="0"/>
              <a:t>标记为</a:t>
            </a:r>
            <a:r>
              <a:rPr lang="en-US" altLang="zh-CN" sz="2200" b="0" dirty="0"/>
              <a:t>n</a:t>
            </a:r>
            <a:r>
              <a:rPr lang="zh-CN" altLang="zh-CN" sz="2200" b="0" dirty="0"/>
              <a:t>的函数图像为直线，对应的时间复杂度为O(n)，称为</a:t>
            </a:r>
            <a:r>
              <a:rPr lang="zh-CN" altLang="zh-CN" sz="2200" dirty="0">
                <a:solidFill>
                  <a:srgbClr val="FF0000"/>
                </a:solidFill>
              </a:rPr>
              <a:t>线性阶</a:t>
            </a:r>
            <a:r>
              <a:rPr lang="zh-CN" altLang="zh-CN" sz="2200" b="0" dirty="0"/>
              <a:t>。说明，当</a:t>
            </a:r>
            <a:r>
              <a:rPr lang="en-US" altLang="zh-CN" sz="2200" b="0" dirty="0"/>
              <a:t>n</a:t>
            </a:r>
            <a:r>
              <a:rPr lang="zh-CN" altLang="zh-CN" sz="2200" b="0" dirty="0"/>
              <a:t>增大时，算法的运行时间也以相同的比例增加。</a:t>
            </a:r>
            <a:endParaRPr lang="en-US" altLang="zh-CN" sz="2200" b="0" dirty="0"/>
          </a:p>
          <a:p>
            <a:pPr>
              <a:buFont typeface="Wingdings" panose="05000000000000000000" pitchFamily="2" charset="2"/>
              <a:buChar char="ü"/>
            </a:pPr>
            <a:r>
              <a:rPr lang="zh-CN" altLang="zh-CN" sz="2200" b="0" dirty="0"/>
              <a:t>标记为</a:t>
            </a:r>
            <a:r>
              <a:rPr lang="en-US" altLang="zh-CN" sz="2200" b="0" dirty="0"/>
              <a:t>n</a:t>
            </a:r>
            <a:r>
              <a:rPr lang="en-US" altLang="zh-CN" sz="2200" b="0" baseline="30000" dirty="0"/>
              <a:t>2</a:t>
            </a:r>
            <a:r>
              <a:rPr lang="zh-CN" altLang="zh-CN" sz="2200" b="0" dirty="0"/>
              <a:t>的函数图像为抛物线，对应的时间复杂度为O(n</a:t>
            </a:r>
            <a:r>
              <a:rPr lang="zh-CN" altLang="zh-CN" sz="2200" b="0" baseline="30000" dirty="0"/>
              <a:t>2</a:t>
            </a:r>
            <a:r>
              <a:rPr lang="zh-CN" altLang="zh-CN" sz="2200" b="0" dirty="0"/>
              <a:t>)，称为</a:t>
            </a:r>
            <a:r>
              <a:rPr lang="zh-CN" altLang="zh-CN" sz="2200" dirty="0">
                <a:solidFill>
                  <a:srgbClr val="FF0000"/>
                </a:solidFill>
              </a:rPr>
              <a:t>平方阶</a:t>
            </a:r>
            <a:r>
              <a:rPr lang="zh-CN" altLang="zh-CN" sz="2200" b="0" dirty="0"/>
              <a:t>。如果算法的运行时间函数中含有形如</a:t>
            </a:r>
            <a:r>
              <a:rPr lang="en-US" altLang="zh-CN" sz="2200" b="0" dirty="0"/>
              <a:t>n</a:t>
            </a:r>
            <a:r>
              <a:rPr lang="en-US" altLang="zh-CN" sz="2200" b="0" baseline="30000" dirty="0"/>
              <a:t>2</a:t>
            </a:r>
            <a:r>
              <a:rPr lang="zh-CN" altLang="zh-CN" sz="2200" b="0" dirty="0"/>
              <a:t>的高次项，则称为二次增长率。</a:t>
            </a:r>
            <a:endParaRPr lang="en-US" altLang="zh-CN" sz="2200" b="0" dirty="0"/>
          </a:p>
          <a:p>
            <a:pPr>
              <a:buFont typeface="Wingdings" panose="05000000000000000000" pitchFamily="2" charset="2"/>
              <a:buChar char="ü"/>
            </a:pPr>
            <a:r>
              <a:rPr lang="zh-CN" altLang="zh-CN" sz="2200" b="0" dirty="0"/>
              <a:t>标有</a:t>
            </a:r>
            <a:r>
              <a:rPr lang="en-US" altLang="zh-CN" sz="2200" b="0" dirty="0"/>
              <a:t>2</a:t>
            </a:r>
            <a:r>
              <a:rPr lang="en-US" altLang="zh-CN" sz="2200" b="0" baseline="30000" dirty="0"/>
              <a:t>n</a:t>
            </a:r>
            <a:r>
              <a:rPr lang="zh-CN" altLang="zh-CN" sz="2200" b="0" dirty="0"/>
              <a:t>的曲线属于指数增长率（</a:t>
            </a:r>
            <a:r>
              <a:rPr lang="en-US" altLang="zh-CN" sz="2200" b="0" dirty="0"/>
              <a:t>exponential growth rate</a:t>
            </a:r>
            <a:r>
              <a:rPr lang="zh-CN" altLang="zh-CN" sz="2200" b="0" dirty="0"/>
              <a:t>），对应的时间复杂度为O(</a:t>
            </a:r>
            <a:r>
              <a:rPr lang="en-US" altLang="zh-CN" sz="2200" b="0" dirty="0"/>
              <a:t>2</a:t>
            </a:r>
            <a:r>
              <a:rPr lang="en-US" altLang="zh-CN" sz="2200" b="0" baseline="30000" dirty="0"/>
              <a:t>n</a:t>
            </a:r>
            <a:r>
              <a:rPr lang="zh-CN" altLang="zh-CN" sz="2200" b="0" dirty="0"/>
              <a:t>)，称为</a:t>
            </a:r>
            <a:r>
              <a:rPr lang="zh-CN" altLang="zh-CN" sz="2200" dirty="0">
                <a:solidFill>
                  <a:srgbClr val="FF0000"/>
                </a:solidFill>
              </a:rPr>
              <a:t>指数阶</a:t>
            </a:r>
            <a:r>
              <a:rPr lang="zh-CN" altLang="zh-CN" sz="2200" b="0" dirty="0"/>
              <a:t>。</a:t>
            </a:r>
            <a:endParaRPr lang="en-US" altLang="zh-CN" sz="2200" b="0" dirty="0"/>
          </a:p>
          <a:p>
            <a:pPr>
              <a:buFont typeface="Wingdings" panose="05000000000000000000" pitchFamily="2" charset="2"/>
              <a:buChar char="ü"/>
            </a:pPr>
            <a:r>
              <a:rPr lang="zh-CN" altLang="zh-CN" sz="2200" b="0" dirty="0"/>
              <a:t>此外，还有</a:t>
            </a:r>
            <a:r>
              <a:rPr lang="zh-CN" altLang="zh-CN" sz="2200" dirty="0">
                <a:solidFill>
                  <a:srgbClr val="FF0000"/>
                </a:solidFill>
              </a:rPr>
              <a:t>常数阶</a:t>
            </a:r>
            <a:r>
              <a:rPr lang="zh-CN" altLang="zh-CN" sz="2200" b="0" dirty="0"/>
              <a:t>O(1)，</a:t>
            </a:r>
            <a:r>
              <a:rPr lang="zh-CN" altLang="zh-CN" sz="2200" dirty="0">
                <a:solidFill>
                  <a:srgbClr val="FF0000"/>
                </a:solidFill>
              </a:rPr>
              <a:t>对数阶</a:t>
            </a:r>
            <a:r>
              <a:rPr lang="en-US" altLang="zh-CN" sz="2200" b="0" dirty="0"/>
              <a:t>O(</a:t>
            </a:r>
            <a:r>
              <a:rPr lang="en-US" altLang="zh-CN" sz="2200" b="0" dirty="0" err="1"/>
              <a:t>logn</a:t>
            </a:r>
            <a:r>
              <a:rPr lang="en-US" altLang="zh-CN" sz="2200" b="0" dirty="0"/>
              <a:t>)</a:t>
            </a:r>
            <a:r>
              <a:rPr lang="zh-CN" altLang="zh-CN" sz="2200" b="0" dirty="0"/>
              <a:t>等，它们都是由</a:t>
            </a:r>
            <a:r>
              <a:rPr lang="en-US" altLang="zh-CN" sz="2200" b="0" dirty="0"/>
              <a:t>n</a:t>
            </a:r>
            <a:r>
              <a:rPr lang="zh-CN" altLang="zh-CN" sz="2200" b="0" dirty="0"/>
              <a:t>出现的位置而得名。</a:t>
            </a:r>
            <a:endParaRPr lang="zh-CN" altLang="en-US" sz="2200" b="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235809" y="-27384"/>
            <a:ext cx="3908191" cy="25071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97725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764705"/>
            <a:ext cx="5040560" cy="720079"/>
          </a:xfrm>
        </p:spPr>
        <p:txBody>
          <a:bodyPr>
            <a:normAutofit/>
          </a:bodyPr>
          <a:lstStyle/>
          <a:p>
            <a:r>
              <a:rPr lang="en-US" altLang="zh-CN" dirty="0"/>
              <a:t>	</a:t>
            </a:r>
            <a:r>
              <a:rPr lang="zh-CN" altLang="zh-CN" dirty="0">
                <a:solidFill>
                  <a:srgbClr val="FF0000"/>
                </a:solidFill>
              </a:rPr>
              <a:t>算法增长率</a:t>
            </a:r>
            <a:endParaRPr lang="zh-CN" altLang="en-US" b="0" dirty="0"/>
          </a:p>
        </p:txBody>
      </p:sp>
      <p:sp>
        <p:nvSpPr>
          <p:cNvPr id="4" name="TextBox 1"/>
          <p:cNvSpPr txBox="1"/>
          <p:nvPr/>
        </p:nvSpPr>
        <p:spPr>
          <a:xfrm>
            <a:off x="5220072" y="1196752"/>
            <a:ext cx="3422732" cy="461665"/>
          </a:xfrm>
          <a:prstGeom prst="rect">
            <a:avLst/>
          </a:prstGeom>
          <a:solidFill>
            <a:srgbClr val="FFFF00"/>
          </a:solidFill>
        </p:spPr>
        <p:txBody>
          <a:bodyPr wrap="none" rtlCol="0">
            <a:spAutoFit/>
          </a:bodyPr>
          <a:lstStyle/>
          <a:p>
            <a:r>
              <a:rPr lang="en-US" altLang="zh-CN" sz="2400" dirty="0"/>
              <a:t>2</a:t>
            </a:r>
            <a:r>
              <a:rPr lang="en-US" altLang="zh-CN" sz="2400" baseline="30000" dirty="0"/>
              <a:t>n</a:t>
            </a:r>
            <a:r>
              <a:rPr lang="en-US" altLang="zh-CN" sz="2400" dirty="0"/>
              <a:t>,2n</a:t>
            </a:r>
            <a:r>
              <a:rPr lang="en-US" altLang="zh-CN" sz="2400" baseline="30000" dirty="0"/>
              <a:t>2</a:t>
            </a:r>
            <a:r>
              <a:rPr lang="en-US" altLang="zh-CN" sz="2400" dirty="0"/>
              <a:t>,20n, 5nlogn,10n</a:t>
            </a:r>
            <a:endParaRPr lang="zh-CN" altLang="en-US" sz="2400" dirty="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6335" y="1971228"/>
            <a:ext cx="4325665" cy="3379820"/>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16015" y="1916832"/>
            <a:ext cx="4399769" cy="3424155"/>
          </a:xfrm>
          <a:prstGeom prst="rect">
            <a:avLst/>
          </a:prstGeom>
        </p:spPr>
      </p:pic>
    </p:spTree>
    <p:extLst>
      <p:ext uri="{BB962C8B-B14F-4D97-AF65-F5344CB8AC3E}">
        <p14:creationId xmlns:p14="http://schemas.microsoft.com/office/powerpoint/2010/main" val="24889528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1.5 </a:t>
            </a:r>
            <a:r>
              <a:rPr lang="zh-CN" altLang="zh-CN" b="1" dirty="0"/>
              <a:t>时间复杂度</a:t>
            </a:r>
            <a:endParaRPr lang="zh-CN" altLang="en-US" dirty="0"/>
          </a:p>
        </p:txBody>
      </p:sp>
      <p:sp>
        <p:nvSpPr>
          <p:cNvPr id="3" name="内容占位符 2"/>
          <p:cNvSpPr>
            <a:spLocks noGrp="1"/>
          </p:cNvSpPr>
          <p:nvPr>
            <p:ph idx="1"/>
          </p:nvPr>
        </p:nvSpPr>
        <p:spPr>
          <a:xfrm>
            <a:off x="827584" y="1628800"/>
            <a:ext cx="7520940" cy="4392488"/>
          </a:xfrm>
        </p:spPr>
        <p:txBody>
          <a:bodyPr>
            <a:normAutofit/>
          </a:bodyPr>
          <a:lstStyle/>
          <a:p>
            <a:pPr>
              <a:lnSpc>
                <a:spcPct val="150000"/>
              </a:lnSpc>
            </a:pPr>
            <a:r>
              <a:rPr lang="zh-CN" altLang="zh-CN" b="0" dirty="0"/>
              <a:t>时间复杂度分析涉及两个阶段</a:t>
            </a:r>
            <a:r>
              <a:rPr lang="zh-CN" altLang="en-US" b="0" dirty="0"/>
              <a:t>：</a:t>
            </a:r>
            <a:endParaRPr lang="en-US" altLang="zh-CN" b="0" dirty="0"/>
          </a:p>
          <a:p>
            <a:pPr>
              <a:lnSpc>
                <a:spcPct val="150000"/>
              </a:lnSpc>
              <a:buFont typeface="Wingdings" pitchFamily="2" charset="2"/>
              <a:buChar char="p"/>
            </a:pPr>
            <a:r>
              <a:rPr lang="zh-CN" altLang="zh-CN" b="0" dirty="0">
                <a:solidFill>
                  <a:srgbClr val="FF0000"/>
                </a:solidFill>
              </a:rPr>
              <a:t>第一阶段是算法分析</a:t>
            </a:r>
            <a:r>
              <a:rPr lang="zh-CN" altLang="zh-CN" b="0" dirty="0"/>
              <a:t>：对算法或数据结构进行分析，用函数</a:t>
            </a:r>
            <a:r>
              <a:rPr lang="en-US" altLang="zh-CN" b="0" dirty="0"/>
              <a:t>T(n)</a:t>
            </a:r>
            <a:r>
              <a:rPr lang="zh-CN" altLang="zh-CN" b="0" dirty="0"/>
              <a:t>测量复杂度，</a:t>
            </a:r>
            <a:r>
              <a:rPr lang="en-US" altLang="zh-CN" b="0" dirty="0"/>
              <a:t>T(n)</a:t>
            </a:r>
            <a:r>
              <a:rPr lang="zh-CN" altLang="zh-CN" b="0" dirty="0"/>
              <a:t>是关于输入数据大小</a:t>
            </a:r>
            <a:r>
              <a:rPr lang="en-US" altLang="zh-CN" b="0" dirty="0"/>
              <a:t>n</a:t>
            </a:r>
            <a:r>
              <a:rPr lang="zh-CN" altLang="zh-CN" b="0" dirty="0"/>
              <a:t>的函数；</a:t>
            </a:r>
            <a:endParaRPr lang="en-US" altLang="zh-CN" b="0" dirty="0"/>
          </a:p>
          <a:p>
            <a:pPr>
              <a:lnSpc>
                <a:spcPct val="150000"/>
              </a:lnSpc>
              <a:buFont typeface="Wingdings" pitchFamily="2" charset="2"/>
              <a:buChar char="p"/>
            </a:pPr>
            <a:r>
              <a:rPr lang="zh-CN" altLang="zh-CN" b="0" dirty="0">
                <a:solidFill>
                  <a:srgbClr val="FF0000"/>
                </a:solidFill>
              </a:rPr>
              <a:t>第二阶段是渐近分析</a:t>
            </a:r>
            <a:r>
              <a:rPr lang="zh-CN" altLang="zh-CN" b="0" dirty="0"/>
              <a:t>：分析函数</a:t>
            </a:r>
            <a:r>
              <a:rPr lang="en-US" altLang="zh-CN" b="0" dirty="0"/>
              <a:t>T(n)</a:t>
            </a:r>
            <a:r>
              <a:rPr lang="zh-CN" altLang="zh-CN" b="0" dirty="0"/>
              <a:t>，确定它属于哪种复杂度类型。</a:t>
            </a:r>
            <a:endParaRPr lang="zh-CN" altLang="en-US" b="0" dirty="0"/>
          </a:p>
        </p:txBody>
      </p:sp>
    </p:spTree>
    <p:extLst>
      <p:ext uri="{BB962C8B-B14F-4D97-AF65-F5344CB8AC3E}">
        <p14:creationId xmlns:p14="http://schemas.microsoft.com/office/powerpoint/2010/main" val="2998159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764704"/>
            <a:ext cx="7520940" cy="5544616"/>
          </a:xfrm>
        </p:spPr>
        <p:txBody>
          <a:bodyPr>
            <a:normAutofit lnSpcReduction="10000"/>
          </a:bodyPr>
          <a:lstStyle/>
          <a:p>
            <a:r>
              <a:rPr lang="zh-CN" altLang="zh-CN" b="0" dirty="0">
                <a:solidFill>
                  <a:srgbClr val="0070C0"/>
                </a:solidFill>
              </a:rPr>
              <a:t>算法分析</a:t>
            </a:r>
            <a:endParaRPr lang="en-US" altLang="zh-CN" dirty="0">
              <a:solidFill>
                <a:srgbClr val="0070C0"/>
              </a:solidFill>
            </a:endParaRPr>
          </a:p>
          <a:p>
            <a:r>
              <a:rPr lang="zh-CN" altLang="zh-CN" dirty="0">
                <a:solidFill>
                  <a:srgbClr val="FF0000"/>
                </a:solidFill>
              </a:rPr>
              <a:t>严格分析规则</a:t>
            </a:r>
            <a:r>
              <a:rPr lang="zh-CN" altLang="zh-CN" dirty="0"/>
              <a:t>：</a:t>
            </a:r>
          </a:p>
          <a:p>
            <a:r>
              <a:rPr lang="en-US" altLang="zh-CN" b="0" dirty="0"/>
              <a:t>	</a:t>
            </a:r>
            <a:r>
              <a:rPr lang="zh-CN" altLang="zh-CN" b="0" dirty="0"/>
              <a:t>（</a:t>
            </a:r>
            <a:r>
              <a:rPr lang="en-US" altLang="zh-CN" b="0" dirty="0"/>
              <a:t>1</a:t>
            </a:r>
            <a:r>
              <a:rPr lang="zh-CN" altLang="zh-CN" b="0" dirty="0"/>
              <a:t>）可以假设一个</a:t>
            </a:r>
            <a:r>
              <a:rPr lang="zh-CN" altLang="zh-CN" b="0" dirty="0">
                <a:solidFill>
                  <a:srgbClr val="FF0000"/>
                </a:solidFill>
              </a:rPr>
              <a:t>时间单位</a:t>
            </a:r>
            <a:r>
              <a:rPr lang="en-US" altLang="zh-CN" b="0" dirty="0"/>
              <a:t>.</a:t>
            </a:r>
            <a:endParaRPr lang="zh-CN" altLang="zh-CN" b="0" dirty="0"/>
          </a:p>
          <a:p>
            <a:r>
              <a:rPr lang="en-US" altLang="zh-CN" b="0" dirty="0"/>
              <a:t>	</a:t>
            </a:r>
            <a:r>
              <a:rPr lang="zh-CN" altLang="zh-CN" b="0" dirty="0"/>
              <a:t>（</a:t>
            </a:r>
            <a:r>
              <a:rPr lang="en-US" altLang="zh-CN" b="0" dirty="0"/>
              <a:t>2</a:t>
            </a:r>
            <a:r>
              <a:rPr lang="zh-CN" altLang="zh-CN" b="0" dirty="0"/>
              <a:t>）执行如下的操作之一，花费的</a:t>
            </a:r>
            <a:r>
              <a:rPr lang="zh-CN" altLang="zh-CN" b="0" dirty="0">
                <a:solidFill>
                  <a:srgbClr val="FF0000"/>
                </a:solidFill>
              </a:rPr>
              <a:t>时间计为</a:t>
            </a:r>
            <a:r>
              <a:rPr lang="en-US" altLang="zh-CN" b="0" dirty="0">
                <a:solidFill>
                  <a:srgbClr val="FF0000"/>
                </a:solidFill>
              </a:rPr>
              <a:t>1</a:t>
            </a:r>
            <a:r>
              <a:rPr lang="zh-CN" altLang="zh-CN" b="0" dirty="0"/>
              <a:t>：</a:t>
            </a:r>
          </a:p>
          <a:p>
            <a:r>
              <a:rPr lang="en-US" altLang="zh-CN" b="0" dirty="0"/>
              <a:t>		a</a:t>
            </a:r>
            <a:r>
              <a:rPr lang="zh-CN" altLang="zh-CN" b="0" dirty="0"/>
              <a:t>．赋值运算</a:t>
            </a:r>
          </a:p>
          <a:p>
            <a:r>
              <a:rPr lang="en-US" altLang="zh-CN" b="0" dirty="0"/>
              <a:t>		b</a:t>
            </a:r>
            <a:r>
              <a:rPr lang="zh-CN" altLang="zh-CN" b="0" dirty="0"/>
              <a:t>．单一的输入</a:t>
            </a:r>
            <a:r>
              <a:rPr lang="en-US" altLang="zh-CN" b="0" dirty="0"/>
              <a:t>/</a:t>
            </a:r>
            <a:r>
              <a:rPr lang="zh-CN" altLang="zh-CN" b="0" dirty="0"/>
              <a:t>输出操作</a:t>
            </a:r>
          </a:p>
          <a:p>
            <a:r>
              <a:rPr lang="en-US" altLang="zh-CN" b="0" dirty="0"/>
              <a:t>		c</a:t>
            </a:r>
            <a:r>
              <a:rPr lang="zh-CN" altLang="zh-CN" b="0" dirty="0"/>
              <a:t>．布尔操作，数据比较</a:t>
            </a:r>
          </a:p>
          <a:p>
            <a:r>
              <a:rPr lang="en-US" altLang="zh-CN" b="0" dirty="0"/>
              <a:t>		d</a:t>
            </a:r>
            <a:r>
              <a:rPr lang="zh-CN" altLang="zh-CN" b="0" dirty="0"/>
              <a:t>．算术运算</a:t>
            </a:r>
          </a:p>
          <a:p>
            <a:r>
              <a:rPr lang="en-US" altLang="zh-CN" b="0" dirty="0"/>
              <a:t>		e</a:t>
            </a:r>
            <a:r>
              <a:rPr lang="zh-CN" altLang="zh-CN" b="0" dirty="0"/>
              <a:t>．函数返回</a:t>
            </a:r>
          </a:p>
          <a:p>
            <a:r>
              <a:rPr lang="en-US" altLang="zh-CN" b="0" dirty="0"/>
              <a:t>		f</a:t>
            </a:r>
            <a:r>
              <a:rPr lang="zh-CN" altLang="zh-CN" b="0" dirty="0"/>
              <a:t>．数组下标操作，指针引用</a:t>
            </a:r>
          </a:p>
          <a:p>
            <a:r>
              <a:rPr lang="en-US" altLang="zh-CN" b="0" dirty="0"/>
              <a:t>	</a:t>
            </a:r>
            <a:endParaRPr lang="zh-CN" altLang="en-US" b="0" dirty="0"/>
          </a:p>
        </p:txBody>
      </p:sp>
    </p:spTree>
    <p:extLst>
      <p:ext uri="{BB962C8B-B14F-4D97-AF65-F5344CB8AC3E}">
        <p14:creationId xmlns:p14="http://schemas.microsoft.com/office/powerpoint/2010/main" val="1388206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052736"/>
            <a:ext cx="8280920" cy="4896544"/>
          </a:xfrm>
        </p:spPr>
        <p:txBody>
          <a:bodyPr>
            <a:normAutofit/>
          </a:bodyPr>
          <a:lstStyle/>
          <a:p>
            <a:r>
              <a:rPr lang="zh-CN" altLang="en-US" dirty="0"/>
              <a:t>    </a:t>
            </a:r>
            <a:r>
              <a:rPr lang="zh-CN" altLang="en-US" b="0" dirty="0"/>
              <a:t>（</a:t>
            </a:r>
            <a:r>
              <a:rPr lang="en-US" altLang="zh-CN" b="0" dirty="0"/>
              <a:t>3</a:t>
            </a:r>
            <a:r>
              <a:rPr lang="zh-CN" altLang="en-US" b="0" dirty="0"/>
              <a:t>）</a:t>
            </a:r>
            <a:r>
              <a:rPr lang="zh-CN" altLang="en-US" b="0" dirty="0">
                <a:solidFill>
                  <a:srgbClr val="FF0000"/>
                </a:solidFill>
              </a:rPr>
              <a:t>选择语句</a:t>
            </a:r>
            <a:r>
              <a:rPr lang="zh-CN" altLang="en-US" b="0" dirty="0"/>
              <a:t>（</a:t>
            </a:r>
            <a:r>
              <a:rPr lang="en-US" altLang="zh-CN" b="0" dirty="0"/>
              <a:t>if</a:t>
            </a:r>
            <a:r>
              <a:rPr lang="zh-CN" altLang="en-US" b="0" dirty="0"/>
              <a:t>，</a:t>
            </a:r>
            <a:r>
              <a:rPr lang="en-US" altLang="zh-CN" b="0" dirty="0"/>
              <a:t>switch</a:t>
            </a:r>
            <a:r>
              <a:rPr lang="zh-CN" altLang="en-US" b="0" dirty="0"/>
              <a:t>）运行时间：</a:t>
            </a:r>
          </a:p>
          <a:p>
            <a:r>
              <a:rPr lang="zh-CN" altLang="en-US" b="0" dirty="0"/>
              <a:t>		条件计算 </a:t>
            </a:r>
            <a:r>
              <a:rPr lang="en-US" altLang="zh-CN" b="0" dirty="0"/>
              <a:t>+ </a:t>
            </a:r>
            <a:r>
              <a:rPr lang="zh-CN" altLang="en-US" b="0" dirty="0"/>
              <a:t>选择语句中运行时间最长的语句执行时间</a:t>
            </a:r>
          </a:p>
          <a:p>
            <a:r>
              <a:rPr lang="zh-CN" altLang="en-US" b="0" dirty="0"/>
              <a:t>	（</a:t>
            </a:r>
            <a:r>
              <a:rPr lang="en-US" altLang="zh-CN" b="0" dirty="0"/>
              <a:t>4</a:t>
            </a:r>
            <a:r>
              <a:rPr lang="zh-CN" altLang="en-US" b="0" dirty="0"/>
              <a:t>）</a:t>
            </a:r>
            <a:r>
              <a:rPr lang="zh-CN" altLang="en-US" b="0" dirty="0">
                <a:solidFill>
                  <a:srgbClr val="FF0000"/>
                </a:solidFill>
              </a:rPr>
              <a:t>循环执行时间</a:t>
            </a:r>
            <a:r>
              <a:rPr lang="zh-CN" altLang="en-US" b="0" dirty="0"/>
              <a:t>：</a:t>
            </a:r>
          </a:p>
          <a:p>
            <a:r>
              <a:rPr lang="zh-CN" altLang="en-US" b="0" dirty="0"/>
              <a:t>		循环体执行时间 </a:t>
            </a:r>
            <a:r>
              <a:rPr lang="en-US" altLang="zh-CN" b="0" dirty="0"/>
              <a:t>+ </a:t>
            </a:r>
            <a:r>
              <a:rPr lang="zh-CN" altLang="en-US" b="0" dirty="0"/>
              <a:t>循环条件检查和更新操作时间 </a:t>
            </a:r>
            <a:r>
              <a:rPr lang="en-US" altLang="zh-CN" b="0" dirty="0"/>
              <a:t>+</a:t>
            </a:r>
            <a:r>
              <a:rPr lang="zh-CN" altLang="en-US" b="0" dirty="0"/>
              <a:t>　创建循环的时间</a:t>
            </a:r>
          </a:p>
          <a:p>
            <a:r>
              <a:rPr lang="zh-CN" altLang="en-US" b="0" dirty="0"/>
              <a:t>		通常假设循环执行的最大可能迭代数量。</a:t>
            </a:r>
          </a:p>
          <a:p>
            <a:r>
              <a:rPr lang="zh-CN" altLang="en-US" b="0" dirty="0"/>
              <a:t>	（</a:t>
            </a:r>
            <a:r>
              <a:rPr lang="en-US" altLang="zh-CN" b="0" dirty="0"/>
              <a:t>5</a:t>
            </a:r>
            <a:r>
              <a:rPr lang="zh-CN" altLang="en-US" b="0" dirty="0"/>
              <a:t>）</a:t>
            </a:r>
            <a:r>
              <a:rPr lang="zh-CN" altLang="en-US" b="0" dirty="0">
                <a:solidFill>
                  <a:srgbClr val="FF0000"/>
                </a:solidFill>
              </a:rPr>
              <a:t>函数调用</a:t>
            </a:r>
            <a:r>
              <a:rPr lang="zh-CN" altLang="en-US" b="0" dirty="0"/>
              <a:t>的运行时间：</a:t>
            </a:r>
          </a:p>
          <a:p>
            <a:r>
              <a:rPr lang="zh-CN" altLang="en-US" b="0" dirty="0"/>
              <a:t>		创建函数时间（</a:t>
            </a:r>
            <a:r>
              <a:rPr lang="en-US" altLang="zh-CN" b="0" dirty="0"/>
              <a:t>1</a:t>
            </a:r>
            <a:r>
              <a:rPr lang="zh-CN" altLang="en-US" b="0" dirty="0"/>
              <a:t>）</a:t>
            </a:r>
            <a:r>
              <a:rPr lang="en-US" altLang="zh-CN" b="0" dirty="0"/>
              <a:t>+ </a:t>
            </a:r>
            <a:r>
              <a:rPr lang="zh-CN" altLang="en-US" b="0" dirty="0"/>
              <a:t>所有的参数计算时间 </a:t>
            </a:r>
            <a:r>
              <a:rPr lang="en-US" altLang="zh-CN" b="0" dirty="0"/>
              <a:t>+ </a:t>
            </a:r>
            <a:r>
              <a:rPr lang="zh-CN" altLang="en-US" b="0" dirty="0"/>
              <a:t>函数体执行时间</a:t>
            </a:r>
          </a:p>
        </p:txBody>
      </p:sp>
    </p:spTree>
    <p:extLst>
      <p:ext uri="{BB962C8B-B14F-4D97-AF65-F5344CB8AC3E}">
        <p14:creationId xmlns:p14="http://schemas.microsoft.com/office/powerpoint/2010/main" val="203807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833551"/>
            <a:ext cx="7520940" cy="651234"/>
          </a:xfrm>
        </p:spPr>
        <p:txBody>
          <a:bodyPr/>
          <a:lstStyle/>
          <a:p>
            <a:r>
              <a:rPr lang="zh-CN" altLang="zh-CN" dirty="0"/>
              <a:t>【例</a:t>
            </a:r>
            <a:r>
              <a:rPr lang="en-US" altLang="zh-CN" dirty="0"/>
              <a:t>1-2</a:t>
            </a:r>
            <a:r>
              <a:rPr lang="zh-CN" altLang="zh-CN" dirty="0"/>
              <a:t>】分析双重</a:t>
            </a:r>
            <a:r>
              <a:rPr lang="zh-CN" altLang="en-US" dirty="0"/>
              <a:t>循环</a:t>
            </a:r>
            <a:r>
              <a:rPr lang="zh-CN" altLang="zh-CN" dirty="0"/>
              <a:t>程序段的运行时间：</a:t>
            </a:r>
            <a:endParaRPr lang="zh-CN" altLang="en-US" dirty="0"/>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7744" y="1742525"/>
            <a:ext cx="4068763" cy="256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圆角矩形标注 3"/>
          <p:cNvSpPr/>
          <p:nvPr/>
        </p:nvSpPr>
        <p:spPr>
          <a:xfrm>
            <a:off x="79309" y="1528124"/>
            <a:ext cx="2160240" cy="864096"/>
          </a:xfrm>
          <a:prstGeom prst="wedgeRoundRectCallout">
            <a:avLst>
              <a:gd name="adj1" fmla="val 85853"/>
              <a:gd name="adj2" fmla="val 39824"/>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a:latin typeface="Times New Roman" pitchFamily="18" charset="0"/>
                <a:ea typeface="楷体" pitchFamily="49" charset="-122"/>
                <a:cs typeface="Times New Roman" pitchFamily="18" charset="0"/>
              </a:rPr>
              <a:t>遵守规则</a:t>
            </a:r>
            <a:r>
              <a:rPr lang="en-US" altLang="zh-CN" dirty="0">
                <a:latin typeface="Times New Roman" pitchFamily="18" charset="0"/>
                <a:ea typeface="楷体" pitchFamily="49" charset="-122"/>
                <a:cs typeface="Times New Roman" pitchFamily="18" charset="0"/>
              </a:rPr>
              <a:t>4</a:t>
            </a:r>
            <a:r>
              <a:rPr lang="zh-CN" altLang="zh-CN" dirty="0">
                <a:latin typeface="Times New Roman" pitchFamily="18" charset="0"/>
                <a:ea typeface="楷体" pitchFamily="49" charset="-122"/>
                <a:cs typeface="Times New Roman" pitchFamily="18" charset="0"/>
              </a:rPr>
              <a:t>和</a:t>
            </a:r>
            <a:r>
              <a:rPr lang="en-US" altLang="zh-CN" dirty="0">
                <a:latin typeface="Times New Roman" pitchFamily="18" charset="0"/>
                <a:ea typeface="楷体" pitchFamily="49" charset="-122"/>
                <a:cs typeface="Times New Roman" pitchFamily="18" charset="0"/>
              </a:rPr>
              <a:t>2a</a:t>
            </a:r>
            <a:r>
              <a:rPr lang="zh-CN" altLang="zh-CN" dirty="0">
                <a:latin typeface="Times New Roman" pitchFamily="18" charset="0"/>
                <a:ea typeface="楷体" pitchFamily="49" charset="-122"/>
                <a:cs typeface="Times New Roman" pitchFamily="18" charset="0"/>
              </a:rPr>
              <a:t>，在进入循环前，执行时间为</a:t>
            </a:r>
            <a:r>
              <a:rPr lang="en-US" altLang="zh-CN" dirty="0">
                <a:latin typeface="Times New Roman" pitchFamily="18" charset="0"/>
                <a:ea typeface="楷体" pitchFamily="49" charset="-122"/>
                <a:cs typeface="Times New Roman" pitchFamily="18" charset="0"/>
              </a:rPr>
              <a:t>1</a:t>
            </a:r>
            <a:endParaRPr lang="zh-CN" altLang="en-US" dirty="0">
              <a:latin typeface="Times New Roman" pitchFamily="18" charset="0"/>
              <a:ea typeface="楷体" pitchFamily="49" charset="-122"/>
              <a:cs typeface="Times New Roman" pitchFamily="18" charset="0"/>
            </a:endParaRPr>
          </a:p>
        </p:txBody>
      </p:sp>
      <p:sp>
        <p:nvSpPr>
          <p:cNvPr id="7" name="圆角矩形标注 6"/>
          <p:cNvSpPr/>
          <p:nvPr/>
        </p:nvSpPr>
        <p:spPr>
          <a:xfrm>
            <a:off x="6516216" y="1124744"/>
            <a:ext cx="2448272" cy="864096"/>
          </a:xfrm>
          <a:prstGeom prst="wedgeRoundRectCallout">
            <a:avLst>
              <a:gd name="adj1" fmla="val -125866"/>
              <a:gd name="adj2" fmla="val 74378"/>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a:latin typeface="Times New Roman" pitchFamily="18" charset="0"/>
                <a:ea typeface="楷体" pitchFamily="49" charset="-122"/>
                <a:cs typeface="Times New Roman" pitchFamily="18" charset="0"/>
              </a:rPr>
              <a:t>遵守规则</a:t>
            </a:r>
            <a:r>
              <a:rPr lang="en-US" altLang="zh-CN" dirty="0">
                <a:latin typeface="Times New Roman" pitchFamily="18" charset="0"/>
                <a:ea typeface="楷体" pitchFamily="49" charset="-122"/>
                <a:cs typeface="Times New Roman" pitchFamily="18" charset="0"/>
              </a:rPr>
              <a:t>4</a:t>
            </a:r>
            <a:r>
              <a:rPr lang="zh-CN" altLang="zh-CN" dirty="0">
                <a:latin typeface="Times New Roman" pitchFamily="18" charset="0"/>
                <a:ea typeface="楷体" pitchFamily="49" charset="-122"/>
                <a:cs typeface="Times New Roman" pitchFamily="18" charset="0"/>
              </a:rPr>
              <a:t>，</a:t>
            </a:r>
            <a:r>
              <a:rPr lang="en-US" altLang="zh-CN" dirty="0">
                <a:latin typeface="Times New Roman" pitchFamily="18" charset="0"/>
                <a:ea typeface="楷体" pitchFamily="49" charset="-122"/>
                <a:cs typeface="Times New Roman" pitchFamily="18" charset="0"/>
              </a:rPr>
              <a:t>2c</a:t>
            </a:r>
            <a:r>
              <a:rPr lang="zh-CN" altLang="zh-CN" dirty="0">
                <a:latin typeface="Times New Roman" pitchFamily="18" charset="0"/>
                <a:ea typeface="楷体" pitchFamily="49" charset="-122"/>
                <a:cs typeface="Times New Roman" pitchFamily="18" charset="0"/>
              </a:rPr>
              <a:t>和</a:t>
            </a:r>
            <a:r>
              <a:rPr lang="en-US" altLang="zh-CN" dirty="0">
                <a:latin typeface="Times New Roman" pitchFamily="18" charset="0"/>
                <a:ea typeface="楷体" pitchFamily="49" charset="-122"/>
                <a:cs typeface="Times New Roman" pitchFamily="18" charset="0"/>
              </a:rPr>
              <a:t>2d</a:t>
            </a:r>
            <a:r>
              <a:rPr lang="zh-CN" altLang="zh-CN" dirty="0">
                <a:latin typeface="Times New Roman" pitchFamily="18" charset="0"/>
                <a:ea typeface="楷体" pitchFamily="49" charset="-122"/>
                <a:cs typeface="Times New Roman" pitchFamily="18" charset="0"/>
              </a:rPr>
              <a:t>，外层循环每次迭代的执行时间为</a:t>
            </a:r>
            <a:r>
              <a:rPr lang="en-US" altLang="zh-CN" dirty="0">
                <a:latin typeface="Times New Roman" pitchFamily="18" charset="0"/>
                <a:ea typeface="楷体" pitchFamily="49" charset="-122"/>
                <a:cs typeface="Times New Roman" pitchFamily="18" charset="0"/>
              </a:rPr>
              <a:t>3</a:t>
            </a:r>
            <a:endParaRPr lang="zh-CN" altLang="en-US" dirty="0">
              <a:latin typeface="Times New Roman" pitchFamily="18" charset="0"/>
              <a:ea typeface="楷体" pitchFamily="49" charset="-122"/>
              <a:cs typeface="Times New Roman" pitchFamily="18" charset="0"/>
            </a:endParaRPr>
          </a:p>
        </p:txBody>
      </p:sp>
      <p:sp>
        <p:nvSpPr>
          <p:cNvPr id="8" name="圆角矩形标注 7"/>
          <p:cNvSpPr/>
          <p:nvPr/>
        </p:nvSpPr>
        <p:spPr>
          <a:xfrm>
            <a:off x="119674" y="2750637"/>
            <a:ext cx="2160240" cy="864096"/>
          </a:xfrm>
          <a:prstGeom prst="wedgeRoundRectCallout">
            <a:avLst>
              <a:gd name="adj1" fmla="val 107449"/>
              <a:gd name="adj2" fmla="val -22805"/>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a:latin typeface="Times New Roman" pitchFamily="18" charset="0"/>
                <a:ea typeface="楷体" pitchFamily="49" charset="-122"/>
                <a:cs typeface="Times New Roman" pitchFamily="18" charset="0"/>
              </a:rPr>
              <a:t>遵守规则</a:t>
            </a:r>
            <a:r>
              <a:rPr lang="en-US" altLang="zh-CN" dirty="0">
                <a:latin typeface="Times New Roman" pitchFamily="18" charset="0"/>
                <a:ea typeface="楷体" pitchFamily="49" charset="-122"/>
                <a:cs typeface="Times New Roman" pitchFamily="18" charset="0"/>
              </a:rPr>
              <a:t>4</a:t>
            </a:r>
            <a:r>
              <a:rPr lang="zh-CN" altLang="zh-CN" dirty="0">
                <a:latin typeface="Times New Roman" pitchFamily="18" charset="0"/>
                <a:ea typeface="楷体" pitchFamily="49" charset="-122"/>
                <a:cs typeface="Times New Roman" pitchFamily="18" charset="0"/>
              </a:rPr>
              <a:t>和</a:t>
            </a:r>
            <a:r>
              <a:rPr lang="en-US" altLang="zh-CN" dirty="0">
                <a:latin typeface="Times New Roman" pitchFamily="18" charset="0"/>
                <a:ea typeface="楷体" pitchFamily="49" charset="-122"/>
                <a:cs typeface="Times New Roman" pitchFamily="18" charset="0"/>
              </a:rPr>
              <a:t>2a</a:t>
            </a:r>
            <a:r>
              <a:rPr lang="zh-CN" altLang="zh-CN" dirty="0">
                <a:latin typeface="Times New Roman" pitchFamily="18" charset="0"/>
                <a:ea typeface="楷体" pitchFamily="49" charset="-122"/>
                <a:cs typeface="Times New Roman" pitchFamily="18" charset="0"/>
              </a:rPr>
              <a:t>，执行时间为</a:t>
            </a:r>
            <a:r>
              <a:rPr lang="en-US" altLang="zh-CN" dirty="0">
                <a:latin typeface="Times New Roman" pitchFamily="18" charset="0"/>
                <a:ea typeface="楷体" pitchFamily="49" charset="-122"/>
                <a:cs typeface="Times New Roman" pitchFamily="18" charset="0"/>
              </a:rPr>
              <a:t>1</a:t>
            </a:r>
            <a:endParaRPr lang="zh-CN" altLang="en-US" dirty="0">
              <a:latin typeface="Times New Roman" pitchFamily="18" charset="0"/>
              <a:ea typeface="楷体" pitchFamily="49" charset="-122"/>
              <a:cs typeface="Times New Roman" pitchFamily="18" charset="0"/>
            </a:endParaRPr>
          </a:p>
        </p:txBody>
      </p:sp>
      <p:sp>
        <p:nvSpPr>
          <p:cNvPr id="9" name="圆角矩形标注 8"/>
          <p:cNvSpPr/>
          <p:nvPr/>
        </p:nvSpPr>
        <p:spPr>
          <a:xfrm>
            <a:off x="6336506" y="2166189"/>
            <a:ext cx="2483965" cy="1016496"/>
          </a:xfrm>
          <a:prstGeom prst="wedgeRoundRectCallout">
            <a:avLst>
              <a:gd name="adj1" fmla="val -117827"/>
              <a:gd name="adj2" fmla="val 27573"/>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a:latin typeface="Times New Roman" pitchFamily="18" charset="0"/>
                <a:ea typeface="楷体" pitchFamily="49" charset="-122"/>
                <a:cs typeface="Times New Roman" pitchFamily="18" charset="0"/>
              </a:rPr>
              <a:t>遵守规则</a:t>
            </a:r>
            <a:r>
              <a:rPr lang="en-US" altLang="zh-CN" dirty="0">
                <a:latin typeface="Times New Roman" pitchFamily="18" charset="0"/>
                <a:ea typeface="楷体" pitchFamily="49" charset="-122"/>
                <a:cs typeface="Times New Roman" pitchFamily="18" charset="0"/>
              </a:rPr>
              <a:t>4</a:t>
            </a:r>
            <a:r>
              <a:rPr lang="zh-CN" altLang="zh-CN" dirty="0">
                <a:latin typeface="Times New Roman" pitchFamily="18" charset="0"/>
                <a:ea typeface="楷体" pitchFamily="49" charset="-122"/>
                <a:cs typeface="Times New Roman" pitchFamily="18" charset="0"/>
              </a:rPr>
              <a:t>，</a:t>
            </a:r>
            <a:r>
              <a:rPr lang="en-US" altLang="zh-CN" dirty="0">
                <a:latin typeface="Times New Roman" pitchFamily="18" charset="0"/>
                <a:ea typeface="楷体" pitchFamily="49" charset="-122"/>
                <a:cs typeface="Times New Roman" pitchFamily="18" charset="0"/>
              </a:rPr>
              <a:t>2c</a:t>
            </a:r>
            <a:r>
              <a:rPr lang="zh-CN" altLang="zh-CN" dirty="0">
                <a:latin typeface="Times New Roman" pitchFamily="18" charset="0"/>
                <a:ea typeface="楷体" pitchFamily="49" charset="-122"/>
                <a:cs typeface="Times New Roman" pitchFamily="18" charset="0"/>
              </a:rPr>
              <a:t>和</a:t>
            </a:r>
            <a:r>
              <a:rPr lang="en-US" altLang="zh-CN" dirty="0">
                <a:latin typeface="Times New Roman" pitchFamily="18" charset="0"/>
                <a:ea typeface="楷体" pitchFamily="49" charset="-122"/>
                <a:cs typeface="Times New Roman" pitchFamily="18" charset="0"/>
              </a:rPr>
              <a:t>2d</a:t>
            </a:r>
            <a:r>
              <a:rPr lang="zh-CN" altLang="zh-CN" dirty="0">
                <a:latin typeface="Times New Roman" pitchFamily="18" charset="0"/>
                <a:ea typeface="楷体" pitchFamily="49" charset="-122"/>
                <a:cs typeface="Times New Roman" pitchFamily="18" charset="0"/>
              </a:rPr>
              <a:t>，内层循环每次迭代的执行时间为</a:t>
            </a:r>
            <a:r>
              <a:rPr lang="en-US" altLang="zh-CN" dirty="0">
                <a:latin typeface="Times New Roman" pitchFamily="18" charset="0"/>
                <a:ea typeface="楷体" pitchFamily="49" charset="-122"/>
                <a:cs typeface="Times New Roman" pitchFamily="18" charset="0"/>
              </a:rPr>
              <a:t>2</a:t>
            </a:r>
            <a:endParaRPr lang="zh-CN" altLang="en-US" dirty="0">
              <a:latin typeface="Times New Roman" pitchFamily="18" charset="0"/>
              <a:ea typeface="楷体" pitchFamily="49" charset="-122"/>
              <a:cs typeface="Times New Roman" pitchFamily="18" charset="0"/>
            </a:endParaRPr>
          </a:p>
        </p:txBody>
      </p:sp>
      <p:sp>
        <p:nvSpPr>
          <p:cNvPr id="10" name="圆角矩形标注 9"/>
          <p:cNvSpPr/>
          <p:nvPr/>
        </p:nvSpPr>
        <p:spPr>
          <a:xfrm>
            <a:off x="6444208" y="3425841"/>
            <a:ext cx="2520280" cy="864096"/>
          </a:xfrm>
          <a:prstGeom prst="wedgeRoundRectCallout">
            <a:avLst>
              <a:gd name="adj1" fmla="val -135478"/>
              <a:gd name="adj2" fmla="val -24965"/>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a:latin typeface="Times New Roman" pitchFamily="18" charset="0"/>
                <a:ea typeface="楷体" pitchFamily="49" charset="-122"/>
                <a:cs typeface="Times New Roman" pitchFamily="18" charset="0"/>
              </a:rPr>
              <a:t>遵守规则</a:t>
            </a:r>
            <a:r>
              <a:rPr lang="en-US" altLang="zh-CN" dirty="0">
                <a:latin typeface="Times New Roman" pitchFamily="18" charset="0"/>
                <a:ea typeface="楷体" pitchFamily="49" charset="-122"/>
                <a:cs typeface="Times New Roman" pitchFamily="18" charset="0"/>
              </a:rPr>
              <a:t>2a</a:t>
            </a:r>
            <a:r>
              <a:rPr lang="zh-CN" altLang="zh-CN" dirty="0">
                <a:latin typeface="Times New Roman" pitchFamily="18" charset="0"/>
                <a:ea typeface="楷体" pitchFamily="49" charset="-122"/>
                <a:cs typeface="Times New Roman" pitchFamily="18" charset="0"/>
              </a:rPr>
              <a:t>和</a:t>
            </a:r>
            <a:r>
              <a:rPr lang="en-US" altLang="zh-CN" dirty="0">
                <a:latin typeface="Times New Roman" pitchFamily="18" charset="0"/>
                <a:ea typeface="楷体" pitchFamily="49" charset="-122"/>
                <a:cs typeface="Times New Roman" pitchFamily="18" charset="0"/>
              </a:rPr>
              <a:t>2f</a:t>
            </a:r>
            <a:r>
              <a:rPr lang="zh-CN" altLang="zh-CN" dirty="0">
                <a:latin typeface="Times New Roman" pitchFamily="18" charset="0"/>
                <a:ea typeface="楷体" pitchFamily="49" charset="-122"/>
                <a:cs typeface="Times New Roman" pitchFamily="18" charset="0"/>
              </a:rPr>
              <a:t>，每次内层循环执行时间为</a:t>
            </a:r>
            <a:r>
              <a:rPr lang="en-US" altLang="zh-CN" dirty="0">
                <a:latin typeface="Times New Roman" pitchFamily="18" charset="0"/>
                <a:ea typeface="楷体" pitchFamily="49" charset="-122"/>
                <a:cs typeface="Times New Roman" pitchFamily="18" charset="0"/>
              </a:rPr>
              <a:t>3</a:t>
            </a:r>
            <a:endParaRPr lang="zh-CN" altLang="en-US" dirty="0">
              <a:latin typeface="Times New Roman" pitchFamily="18" charset="0"/>
              <a:ea typeface="楷体" pitchFamily="49" charset="-122"/>
              <a:cs typeface="Times New Roman" pitchFamily="18" charset="0"/>
            </a:endParaRPr>
          </a:p>
        </p:txBody>
      </p:sp>
      <p:sp>
        <p:nvSpPr>
          <p:cNvPr id="5" name="矩形 4"/>
          <p:cNvSpPr/>
          <p:nvPr/>
        </p:nvSpPr>
        <p:spPr>
          <a:xfrm>
            <a:off x="488702" y="4580925"/>
            <a:ext cx="1422184"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总的时间</a:t>
            </a:r>
          </a:p>
        </p:txBody>
      </p:sp>
      <p:sp>
        <p:nvSpPr>
          <p:cNvPr id="6"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11" name="对象 10"/>
              <p:cNvSpPr txBox="1"/>
              <p:nvPr/>
            </p:nvSpPr>
            <p:spPr bwMode="auto">
              <a:xfrm>
                <a:off x="1509713" y="5084763"/>
                <a:ext cx="5584825" cy="768350"/>
              </a:xfrm>
              <a:prstGeom prst="rect">
                <a:avLst/>
              </a:prstGeom>
              <a:noFill/>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r>
                        <a:rPr lang="zh-CN" altLang="en-US" i="1" smtClean="0">
                          <a:solidFill>
                            <a:srgbClr val="000000"/>
                          </a:solidFill>
                          <a:latin typeface="Cambria Math" panose="02040503050406030204" pitchFamily="18" charset="0"/>
                        </a:rPr>
                        <m:t>𝑇</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𝑛</m:t>
                      </m:r>
                      <m:r>
                        <a:rPr lang="zh-CN" altLang="en-US" i="1" smtClean="0">
                          <a:solidFill>
                            <a:srgbClr val="000000"/>
                          </a:solidFill>
                          <a:latin typeface="Cambria Math" panose="02040503050406030204" pitchFamily="18" charset="0"/>
                        </a:rPr>
                        <m:t>)=1+</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−2</m:t>
                          </m:r>
                        </m:sup>
                        <m:e>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4+</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p>
                                <m:e>
                                  <m:r>
                                    <a:rPr lang="zh-CN" altLang="en-US" i="1">
                                      <a:solidFill>
                                        <a:srgbClr val="000000"/>
                                      </a:solidFill>
                                      <a:latin typeface="Cambria Math" panose="02040503050406030204" pitchFamily="18" charset="0"/>
                                    </a:rPr>
                                    <m:t>5+1</m:t>
                                  </m:r>
                                </m:e>
                              </m:nary>
                            </m:e>
                          </m:d>
                        </m:e>
                      </m:nary>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5</m:t>
                          </m:r>
                        </m:num>
                        <m:den>
                          <m:r>
                            <a:rPr lang="zh-CN" altLang="en-US" i="1">
                              <a:solidFill>
                                <a:srgbClr val="000000"/>
                              </a:solidFill>
                              <a:latin typeface="Cambria Math" panose="02040503050406030204" pitchFamily="18" charset="0"/>
                            </a:rPr>
                            <m:t>2</m:t>
                          </m:r>
                        </m:den>
                      </m:f>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𝑛</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5</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+2</m:t>
                      </m:r>
                    </m:oMath>
                  </m:oMathPara>
                </a14:m>
                <a:endParaRPr lang="zh-CN" altLang="en-US" dirty="0"/>
              </a:p>
            </p:txBody>
          </p:sp>
        </mc:Choice>
        <mc:Fallback xmlns="">
          <p:sp>
            <p:nvSpPr>
              <p:cNvPr id="11" name="对象 10"/>
              <p:cNvSpPr txBox="1">
                <a:spLocks noRot="1" noChangeAspect="1" noMove="1" noResize="1" noEditPoints="1" noAdjustHandles="1" noChangeArrowheads="1" noChangeShapeType="1" noTextEdit="1"/>
              </p:cNvSpPr>
              <p:nvPr/>
            </p:nvSpPr>
            <p:spPr bwMode="auto">
              <a:xfrm>
                <a:off x="1509713" y="5084763"/>
                <a:ext cx="5584825" cy="768350"/>
              </a:xfrm>
              <a:prstGeom prst="rect">
                <a:avLst/>
              </a:prstGeom>
              <a:blipFill>
                <a:blip r:embed="rId3"/>
                <a:stretch>
                  <a:fillRect/>
                </a:stretch>
              </a:blipFill>
              <a:extLst/>
            </p:spPr>
            <p:txBody>
              <a:bodyPr/>
              <a:lstStyle/>
              <a:p>
                <a:r>
                  <a:rPr lang="zh-CN" altLang="en-US">
                    <a:noFill/>
                  </a:rPr>
                  <a:t> </a:t>
                </a:r>
              </a:p>
            </p:txBody>
          </p:sp>
        </mc:Fallback>
      </mc:AlternateContent>
      <p:sp>
        <p:nvSpPr>
          <p:cNvPr id="13" name="圆角矩形标注 12"/>
          <p:cNvSpPr/>
          <p:nvPr/>
        </p:nvSpPr>
        <p:spPr>
          <a:xfrm>
            <a:off x="107504" y="3714883"/>
            <a:ext cx="2160240" cy="864096"/>
          </a:xfrm>
          <a:prstGeom prst="wedgeRoundRectCallout">
            <a:avLst>
              <a:gd name="adj1" fmla="val 56734"/>
              <a:gd name="adj2" fmla="val -26798"/>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latin typeface="Times New Roman" pitchFamily="18" charset="0"/>
                <a:ea typeface="楷体" pitchFamily="49" charset="-122"/>
                <a:cs typeface="Times New Roman" pitchFamily="18" charset="0"/>
              </a:rPr>
              <a:t>每一个循环多做一次测试退出</a:t>
            </a:r>
          </a:p>
        </p:txBody>
      </p:sp>
    </p:spTree>
    <p:extLst>
      <p:ext uri="{BB962C8B-B14F-4D97-AF65-F5344CB8AC3E}">
        <p14:creationId xmlns:p14="http://schemas.microsoft.com/office/powerpoint/2010/main" val="764352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5" grpId="0"/>
      <p:bldP spid="11" grpId="0"/>
      <p:bldP spid="13"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836713"/>
            <a:ext cx="7736964" cy="2520280"/>
          </a:xfrm>
        </p:spPr>
        <p:txBody>
          <a:bodyPr/>
          <a:lstStyle/>
          <a:p>
            <a:r>
              <a:rPr lang="zh-CN" altLang="en-US" dirty="0">
                <a:solidFill>
                  <a:srgbClr val="FF0000"/>
                </a:solidFill>
              </a:rPr>
              <a:t>时间复杂度函数的</a:t>
            </a:r>
            <a:r>
              <a:rPr lang="zh-CN" altLang="zh-CN" dirty="0">
                <a:solidFill>
                  <a:srgbClr val="FF0000"/>
                </a:solidFill>
              </a:rPr>
              <a:t>简</a:t>
            </a:r>
            <a:r>
              <a:rPr lang="zh-CN" altLang="en-US" dirty="0">
                <a:solidFill>
                  <a:srgbClr val="FF0000"/>
                </a:solidFill>
              </a:rPr>
              <a:t>化</a:t>
            </a:r>
            <a:r>
              <a:rPr lang="zh-CN" altLang="zh-CN" dirty="0">
                <a:solidFill>
                  <a:srgbClr val="FF0000"/>
                </a:solidFill>
              </a:rPr>
              <a:t>分析方法</a:t>
            </a:r>
            <a:r>
              <a:rPr lang="zh-CN" altLang="en-US" dirty="0"/>
              <a:t>：</a:t>
            </a:r>
            <a:endParaRPr lang="en-US" altLang="zh-CN" dirty="0"/>
          </a:p>
          <a:p>
            <a:r>
              <a:rPr lang="zh-CN" altLang="en-US" b="0" dirty="0"/>
              <a:t> </a:t>
            </a:r>
            <a:r>
              <a:rPr lang="zh-CN" altLang="en-US" sz="2200" b="0" dirty="0"/>
              <a:t>    通常，可以采用简单分析方法计算程序或算法的运行时间，假设程序的每步执行时间为</a:t>
            </a:r>
            <a:r>
              <a:rPr lang="en-US" altLang="zh-CN" sz="2200" b="0" dirty="0"/>
              <a:t>1</a:t>
            </a:r>
            <a:r>
              <a:rPr lang="zh-CN" altLang="en-US" sz="2200" b="0" dirty="0"/>
              <a:t>。</a:t>
            </a:r>
            <a:endParaRPr lang="en-US" altLang="zh-CN" sz="2200" b="0" dirty="0"/>
          </a:p>
          <a:p>
            <a:r>
              <a:rPr lang="en-US" altLang="zh-CN" sz="2200" b="0" dirty="0"/>
              <a:t>     </a:t>
            </a:r>
            <a:r>
              <a:rPr lang="zh-CN" altLang="en-US" sz="2200" dirty="0">
                <a:solidFill>
                  <a:srgbClr val="FF0000"/>
                </a:solidFill>
              </a:rPr>
              <a:t>程序步</a:t>
            </a:r>
            <a:r>
              <a:rPr lang="zh-CN" altLang="en-US" sz="2200" b="0" dirty="0"/>
              <a:t>可以定义为一个语法或语义意义上的程序片段，该片段的执行时间独立于实例特征。</a:t>
            </a:r>
          </a:p>
        </p:txBody>
      </p:sp>
      <p:graphicFrame>
        <p:nvGraphicFramePr>
          <p:cNvPr id="4" name="表格 3"/>
          <p:cNvGraphicFramePr>
            <a:graphicFrameLocks noGrp="1"/>
          </p:cNvGraphicFramePr>
          <p:nvPr>
            <p:extLst>
              <p:ext uri="{D42A27DB-BD31-4B8C-83A1-F6EECF244321}">
                <p14:modId xmlns:p14="http://schemas.microsoft.com/office/powerpoint/2010/main" val="2373597148"/>
              </p:ext>
            </p:extLst>
          </p:nvPr>
        </p:nvGraphicFramePr>
        <p:xfrm>
          <a:off x="827584" y="3717032"/>
          <a:ext cx="7704856" cy="2562259"/>
        </p:xfrm>
        <a:graphic>
          <a:graphicData uri="http://schemas.openxmlformats.org/drawingml/2006/table">
            <a:tbl>
              <a:tblPr>
                <a:tableStyleId>{ED083AE6-46FA-4A59-8FB0-9F97EB10719F}</a:tableStyleId>
              </a:tblPr>
              <a:tblGrid>
                <a:gridCol w="3247123">
                  <a:extLst>
                    <a:ext uri="{9D8B030D-6E8A-4147-A177-3AD203B41FA5}">
                      <a16:colId xmlns:a16="http://schemas.microsoft.com/office/drawing/2014/main" val="20000"/>
                    </a:ext>
                  </a:extLst>
                </a:gridCol>
                <a:gridCol w="832295">
                  <a:extLst>
                    <a:ext uri="{9D8B030D-6E8A-4147-A177-3AD203B41FA5}">
                      <a16:colId xmlns:a16="http://schemas.microsoft.com/office/drawing/2014/main" val="20001"/>
                    </a:ext>
                  </a:extLst>
                </a:gridCol>
                <a:gridCol w="1510066">
                  <a:extLst>
                    <a:ext uri="{9D8B030D-6E8A-4147-A177-3AD203B41FA5}">
                      <a16:colId xmlns:a16="http://schemas.microsoft.com/office/drawing/2014/main" val="20002"/>
                    </a:ext>
                  </a:extLst>
                </a:gridCol>
                <a:gridCol w="2115372">
                  <a:extLst>
                    <a:ext uri="{9D8B030D-6E8A-4147-A177-3AD203B41FA5}">
                      <a16:colId xmlns:a16="http://schemas.microsoft.com/office/drawing/2014/main" val="20003"/>
                    </a:ext>
                  </a:extLst>
                </a:gridCol>
              </a:tblGrid>
              <a:tr h="431332">
                <a:tc>
                  <a:txBody>
                    <a:bodyPr/>
                    <a:lstStyle/>
                    <a:p>
                      <a:pPr algn="ctr" fontAlgn="base">
                        <a:spcAft>
                          <a:spcPts val="0"/>
                        </a:spcAft>
                      </a:pPr>
                      <a:r>
                        <a:rPr lang="zh-CN" sz="2000" kern="1200" dirty="0">
                          <a:effectLst/>
                        </a:rPr>
                        <a:t>语句</a:t>
                      </a:r>
                      <a:endParaRPr lang="zh-CN" sz="2000" kern="100" dirty="0">
                        <a:effectLst/>
                        <a:latin typeface="Times New Roman" pitchFamily="18" charset="0"/>
                        <a:ea typeface="宋体"/>
                        <a:cs typeface="Times New Roman" pitchFamily="18" charset="0"/>
                      </a:endParaRPr>
                    </a:p>
                  </a:txBody>
                  <a:tcPr marB="0" anchor="ctr"/>
                </a:tc>
                <a:tc>
                  <a:txBody>
                    <a:bodyPr/>
                    <a:lstStyle/>
                    <a:p>
                      <a:pPr algn="ctr" fontAlgn="base">
                        <a:spcAft>
                          <a:spcPts val="0"/>
                        </a:spcAft>
                      </a:pPr>
                      <a:r>
                        <a:rPr lang="zh-CN" sz="2000" kern="1200" dirty="0">
                          <a:effectLst/>
                        </a:rPr>
                        <a:t>步数</a:t>
                      </a:r>
                      <a:endParaRPr lang="zh-CN" sz="2000" kern="100" dirty="0">
                        <a:effectLst/>
                        <a:latin typeface="Times New Roman" pitchFamily="18" charset="0"/>
                        <a:ea typeface="宋体"/>
                        <a:cs typeface="Times New Roman" pitchFamily="18" charset="0"/>
                      </a:endParaRPr>
                    </a:p>
                  </a:txBody>
                  <a:tcPr marB="0" anchor="ctr"/>
                </a:tc>
                <a:tc>
                  <a:txBody>
                    <a:bodyPr/>
                    <a:lstStyle/>
                    <a:p>
                      <a:pPr algn="ctr" fontAlgn="base">
                        <a:spcAft>
                          <a:spcPts val="0"/>
                        </a:spcAft>
                      </a:pPr>
                      <a:r>
                        <a:rPr lang="zh-CN" sz="2000" kern="1200" dirty="0">
                          <a:effectLst/>
                        </a:rPr>
                        <a:t>频率</a:t>
                      </a:r>
                      <a:endParaRPr lang="zh-CN" sz="2000" kern="100" dirty="0">
                        <a:effectLst/>
                        <a:latin typeface="Times New Roman" pitchFamily="18" charset="0"/>
                        <a:ea typeface="宋体"/>
                        <a:cs typeface="Times New Roman" pitchFamily="18" charset="0"/>
                      </a:endParaRPr>
                    </a:p>
                  </a:txBody>
                  <a:tcPr marB="0" anchor="ctr"/>
                </a:tc>
                <a:tc>
                  <a:txBody>
                    <a:bodyPr/>
                    <a:lstStyle/>
                    <a:p>
                      <a:pPr algn="ctr" fontAlgn="base">
                        <a:spcAft>
                          <a:spcPts val="0"/>
                        </a:spcAft>
                      </a:pPr>
                      <a:r>
                        <a:rPr lang="zh-CN" sz="2000" kern="1200" dirty="0">
                          <a:effectLst/>
                        </a:rPr>
                        <a:t>总步数</a:t>
                      </a:r>
                      <a:endParaRPr lang="zh-CN" sz="2000" kern="100" dirty="0">
                        <a:effectLst/>
                        <a:latin typeface="Times New Roman" pitchFamily="18" charset="0"/>
                        <a:ea typeface="宋体"/>
                        <a:cs typeface="Times New Roman" pitchFamily="18" charset="0"/>
                      </a:endParaRPr>
                    </a:p>
                  </a:txBody>
                  <a:tcPr marB="0" anchor="ctr"/>
                </a:tc>
                <a:extLst>
                  <a:ext uri="{0D108BD9-81ED-4DB2-BD59-A6C34878D82A}">
                    <a16:rowId xmlns:a16="http://schemas.microsoft.com/office/drawing/2014/main" val="10000"/>
                  </a:ext>
                </a:extLst>
              </a:tr>
              <a:tr h="1728908">
                <a:tc>
                  <a:txBody>
                    <a:bodyPr/>
                    <a:lstStyle/>
                    <a:p>
                      <a:pPr algn="ctr" fontAlgn="base">
                        <a:lnSpc>
                          <a:spcPct val="120000"/>
                        </a:lnSpc>
                        <a:spcAft>
                          <a:spcPts val="0"/>
                        </a:spcAft>
                      </a:pPr>
                      <a:r>
                        <a:rPr lang="en-US" sz="1600" kern="1200" dirty="0">
                          <a:effectLst/>
                        </a:rPr>
                        <a:t>for (i = 0;  i &lt; n-1;   i++)  {</a:t>
                      </a:r>
                      <a:endParaRPr lang="zh-CN" sz="1600" kern="100" dirty="0">
                        <a:effectLst/>
                      </a:endParaRPr>
                    </a:p>
                    <a:p>
                      <a:pPr algn="ctr" fontAlgn="base">
                        <a:lnSpc>
                          <a:spcPct val="120000"/>
                        </a:lnSpc>
                        <a:spcAft>
                          <a:spcPts val="0"/>
                        </a:spcAft>
                      </a:pPr>
                      <a:r>
                        <a:rPr lang="en-US" sz="1600" kern="1200" dirty="0">
                          <a:effectLst/>
                        </a:rPr>
                        <a:t>    for (j = 0;  j &lt; i;  j++ ) {</a:t>
                      </a:r>
                      <a:endParaRPr lang="zh-CN" sz="1600" kern="100" dirty="0">
                        <a:effectLst/>
                      </a:endParaRPr>
                    </a:p>
                    <a:p>
                      <a:pPr algn="ctr" fontAlgn="base">
                        <a:lnSpc>
                          <a:spcPct val="120000"/>
                        </a:lnSpc>
                        <a:spcAft>
                          <a:spcPts val="0"/>
                        </a:spcAft>
                      </a:pPr>
                      <a:r>
                        <a:rPr lang="en-US" sz="1600" kern="1200" dirty="0">
                          <a:effectLst/>
                        </a:rPr>
                        <a:t>  array[i][j] = 0;</a:t>
                      </a:r>
                      <a:endParaRPr lang="zh-CN" sz="1600" kern="100" dirty="0">
                        <a:effectLst/>
                      </a:endParaRPr>
                    </a:p>
                    <a:p>
                      <a:pPr indent="457200" algn="just" fontAlgn="base">
                        <a:lnSpc>
                          <a:spcPct val="120000"/>
                        </a:lnSpc>
                        <a:spcAft>
                          <a:spcPts val="0"/>
                        </a:spcAft>
                      </a:pPr>
                      <a:r>
                        <a:rPr lang="en-US" sz="1600" kern="1200" dirty="0">
                          <a:effectLst/>
                        </a:rPr>
                        <a:t>      }</a:t>
                      </a:r>
                      <a:endParaRPr lang="zh-CN" sz="1600" kern="100" dirty="0">
                        <a:effectLst/>
                      </a:endParaRPr>
                    </a:p>
                    <a:p>
                      <a:pPr indent="228600" algn="just" fontAlgn="base">
                        <a:lnSpc>
                          <a:spcPct val="120000"/>
                        </a:lnSpc>
                        <a:spcAft>
                          <a:spcPts val="0"/>
                        </a:spcAft>
                      </a:pPr>
                      <a:r>
                        <a:rPr lang="en-US" sz="1600" kern="1200" dirty="0">
                          <a:effectLst/>
                        </a:rPr>
                        <a:t>    }</a:t>
                      </a:r>
                      <a:endParaRPr lang="zh-CN" sz="1600" kern="100" dirty="0">
                        <a:effectLst/>
                        <a:latin typeface="Times New Roman" pitchFamily="18" charset="0"/>
                        <a:ea typeface="宋体"/>
                        <a:cs typeface="Times New Roman" pitchFamily="18" charset="0"/>
                      </a:endParaRPr>
                    </a:p>
                  </a:txBody>
                  <a:tcPr marB="0" anchor="ctr"/>
                </a:tc>
                <a:tc>
                  <a:txBody>
                    <a:bodyPr/>
                    <a:lstStyle/>
                    <a:p>
                      <a:pPr algn="ctr" fontAlgn="base">
                        <a:lnSpc>
                          <a:spcPct val="120000"/>
                        </a:lnSpc>
                        <a:spcAft>
                          <a:spcPts val="0"/>
                        </a:spcAft>
                      </a:pPr>
                      <a:r>
                        <a:rPr lang="en-US" sz="1600" kern="1200" dirty="0">
                          <a:effectLst/>
                        </a:rPr>
                        <a:t>1</a:t>
                      </a:r>
                      <a:endParaRPr lang="zh-CN" sz="1600" kern="100" dirty="0">
                        <a:effectLst/>
                      </a:endParaRPr>
                    </a:p>
                    <a:p>
                      <a:pPr algn="ctr" fontAlgn="base">
                        <a:lnSpc>
                          <a:spcPct val="120000"/>
                        </a:lnSpc>
                        <a:spcAft>
                          <a:spcPts val="0"/>
                        </a:spcAft>
                      </a:pPr>
                      <a:r>
                        <a:rPr lang="en-US" sz="1600" kern="1200" dirty="0">
                          <a:effectLst/>
                        </a:rPr>
                        <a:t>1</a:t>
                      </a:r>
                      <a:endParaRPr lang="zh-CN" sz="1600" kern="100" dirty="0">
                        <a:effectLst/>
                      </a:endParaRPr>
                    </a:p>
                    <a:p>
                      <a:pPr algn="ctr" fontAlgn="base">
                        <a:lnSpc>
                          <a:spcPct val="120000"/>
                        </a:lnSpc>
                        <a:spcAft>
                          <a:spcPts val="0"/>
                        </a:spcAft>
                      </a:pPr>
                      <a:r>
                        <a:rPr lang="en-US" sz="1600" kern="1200" dirty="0">
                          <a:effectLst/>
                        </a:rPr>
                        <a:t>1</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latin typeface="Times New Roman" pitchFamily="18" charset="0"/>
                        <a:ea typeface="宋体"/>
                        <a:cs typeface="Times New Roman" pitchFamily="18" charset="0"/>
                      </a:endParaRPr>
                    </a:p>
                  </a:txBody>
                  <a:tcPr marB="0" anchor="ctr"/>
                </a:tc>
                <a:tc>
                  <a:txBody>
                    <a:bodyPr/>
                    <a:lstStyle/>
                    <a:p>
                      <a:pPr algn="ctr" fontAlgn="base">
                        <a:lnSpc>
                          <a:spcPct val="120000"/>
                        </a:lnSpc>
                        <a:spcAft>
                          <a:spcPts val="0"/>
                        </a:spcAft>
                      </a:pPr>
                      <a:r>
                        <a:rPr lang="en-US" sz="1600" kern="1200" dirty="0">
                          <a:effectLst/>
                        </a:rPr>
                        <a:t>n</a:t>
                      </a:r>
                      <a:endParaRPr lang="zh-CN" sz="1600" kern="100" dirty="0">
                        <a:effectLst/>
                      </a:endParaRPr>
                    </a:p>
                    <a:p>
                      <a:pPr algn="ctr" fontAlgn="base">
                        <a:lnSpc>
                          <a:spcPct val="120000"/>
                        </a:lnSpc>
                        <a:spcAft>
                          <a:spcPts val="0"/>
                        </a:spcAft>
                      </a:pPr>
                      <a:r>
                        <a:rPr lang="en-US" sz="1600" kern="1200" dirty="0">
                          <a:effectLst/>
                        </a:rPr>
                        <a:t>1+2...+n-1</a:t>
                      </a:r>
                      <a:endParaRPr lang="zh-CN" sz="1600" kern="100" dirty="0">
                        <a:effectLst/>
                      </a:endParaRPr>
                    </a:p>
                    <a:p>
                      <a:pPr algn="ctr" fontAlgn="base">
                        <a:lnSpc>
                          <a:spcPct val="120000"/>
                        </a:lnSpc>
                        <a:spcAft>
                          <a:spcPts val="0"/>
                        </a:spcAft>
                      </a:pPr>
                      <a:r>
                        <a:rPr lang="en-US" sz="1600" kern="1200" dirty="0">
                          <a:effectLst/>
                        </a:rPr>
                        <a:t>0+1...+n-2</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latin typeface="Times New Roman" pitchFamily="18" charset="0"/>
                        <a:ea typeface="宋体"/>
                        <a:cs typeface="Times New Roman" pitchFamily="18" charset="0"/>
                      </a:endParaRPr>
                    </a:p>
                  </a:txBody>
                  <a:tcPr marB="0" anchor="ctr"/>
                </a:tc>
                <a:tc>
                  <a:txBody>
                    <a:bodyPr/>
                    <a:lstStyle/>
                    <a:p>
                      <a:pPr algn="ctr" fontAlgn="base">
                        <a:lnSpc>
                          <a:spcPct val="120000"/>
                        </a:lnSpc>
                        <a:spcAft>
                          <a:spcPts val="0"/>
                        </a:spcAft>
                      </a:pPr>
                      <a:r>
                        <a:rPr lang="en-US" sz="1600" kern="1200" dirty="0">
                          <a:effectLst/>
                        </a:rPr>
                        <a:t>n</a:t>
                      </a:r>
                      <a:endParaRPr lang="zh-CN" sz="1600" kern="100" dirty="0">
                        <a:effectLst/>
                      </a:endParaRPr>
                    </a:p>
                    <a:p>
                      <a:pPr algn="ctr" fontAlgn="base">
                        <a:lnSpc>
                          <a:spcPct val="120000"/>
                        </a:lnSpc>
                        <a:spcAft>
                          <a:spcPts val="0"/>
                        </a:spcAft>
                      </a:pPr>
                      <a:r>
                        <a:rPr lang="en-US" sz="1600" kern="1200" dirty="0">
                          <a:effectLst/>
                        </a:rPr>
                        <a:t>n(n-1)/2</a:t>
                      </a:r>
                      <a:endParaRPr lang="zh-CN" sz="1600" kern="100" dirty="0">
                        <a:effectLst/>
                      </a:endParaRPr>
                    </a:p>
                    <a:p>
                      <a:pPr algn="ctr" fontAlgn="base">
                        <a:lnSpc>
                          <a:spcPct val="120000"/>
                        </a:lnSpc>
                        <a:spcAft>
                          <a:spcPts val="0"/>
                        </a:spcAft>
                      </a:pPr>
                      <a:r>
                        <a:rPr lang="en-US" sz="1600" kern="1200" dirty="0">
                          <a:effectLst/>
                        </a:rPr>
                        <a:t>(n-1)(n-2)/2</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latin typeface="Times New Roman" pitchFamily="18" charset="0"/>
                        <a:ea typeface="宋体"/>
                        <a:cs typeface="Times New Roman" pitchFamily="18" charset="0"/>
                      </a:endParaRPr>
                    </a:p>
                  </a:txBody>
                  <a:tcPr marB="0" anchor="ctr"/>
                </a:tc>
                <a:extLst>
                  <a:ext uri="{0D108BD9-81ED-4DB2-BD59-A6C34878D82A}">
                    <a16:rowId xmlns:a16="http://schemas.microsoft.com/office/drawing/2014/main" val="10001"/>
                  </a:ext>
                </a:extLst>
              </a:tr>
              <a:tr h="402019">
                <a:tc>
                  <a:txBody>
                    <a:bodyPr/>
                    <a:lstStyle/>
                    <a:p>
                      <a:pPr algn="ctr" fontAlgn="base">
                        <a:spcAft>
                          <a:spcPts val="0"/>
                        </a:spcAft>
                      </a:pPr>
                      <a:r>
                        <a:rPr lang="en-US" sz="1600" kern="1200">
                          <a:effectLst/>
                        </a:rPr>
                        <a:t>total</a:t>
                      </a:r>
                      <a:endParaRPr lang="zh-CN" sz="1600" kern="100">
                        <a:effectLst/>
                        <a:latin typeface="Times New Roman" pitchFamily="18" charset="0"/>
                        <a:ea typeface="宋体"/>
                        <a:cs typeface="Times New Roman" pitchFamily="18" charset="0"/>
                      </a:endParaRPr>
                    </a:p>
                  </a:txBody>
                  <a:tcPr marB="0" anchor="ctr"/>
                </a:tc>
                <a:tc gridSpan="3">
                  <a:txBody>
                    <a:bodyPr/>
                    <a:lstStyle/>
                    <a:p>
                      <a:pPr algn="ctr" fontAlgn="base">
                        <a:spcAft>
                          <a:spcPts val="0"/>
                        </a:spcAft>
                      </a:pPr>
                      <a:r>
                        <a:rPr lang="en-US" sz="1600" kern="1200" dirty="0">
                          <a:effectLst/>
                        </a:rPr>
                        <a:t>                        n</a:t>
                      </a:r>
                      <a:r>
                        <a:rPr lang="en-US" sz="1600" kern="1200" baseline="30000" dirty="0">
                          <a:effectLst/>
                        </a:rPr>
                        <a:t>2</a:t>
                      </a:r>
                      <a:r>
                        <a:rPr lang="en-US" sz="1600" kern="1200" dirty="0">
                          <a:effectLst/>
                        </a:rPr>
                        <a:t>-n+1</a:t>
                      </a:r>
                      <a:endParaRPr lang="zh-CN" sz="1600" kern="100" dirty="0">
                        <a:effectLst/>
                        <a:latin typeface="Times New Roman" pitchFamily="18" charset="0"/>
                        <a:ea typeface="宋体"/>
                        <a:cs typeface="Times New Roman" pitchFamily="18" charset="0"/>
                      </a:endParaRPr>
                    </a:p>
                  </a:txBody>
                  <a:tcPr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2"/>
                  </a:ext>
                </a:extLst>
              </a:tr>
            </a:tbl>
          </a:graphicData>
        </a:graphic>
      </p:graphicFrame>
      <p:sp>
        <p:nvSpPr>
          <p:cNvPr id="5" name="矩形 4"/>
          <p:cNvSpPr/>
          <p:nvPr/>
        </p:nvSpPr>
        <p:spPr>
          <a:xfrm>
            <a:off x="3017728" y="3275692"/>
            <a:ext cx="3550972" cy="369332"/>
          </a:xfrm>
          <a:prstGeom prst="rect">
            <a:avLst/>
          </a:prstGeom>
        </p:spPr>
        <p:txBody>
          <a:bodyPr wrap="none">
            <a:spAutoFit/>
          </a:bodyPr>
          <a:lstStyle/>
          <a:p>
            <a:r>
              <a:rPr lang="zh-CN" altLang="en-US" dirty="0">
                <a:latin typeface="Times New Roman" pitchFamily="18" charset="0"/>
                <a:ea typeface="楷体" pitchFamily="49" charset="-122"/>
                <a:cs typeface="Times New Roman" pitchFamily="18" charset="0"/>
              </a:rPr>
              <a:t>例</a:t>
            </a:r>
            <a:r>
              <a:rPr lang="en-US" altLang="zh-CN" dirty="0">
                <a:latin typeface="Times New Roman" pitchFamily="18" charset="0"/>
                <a:ea typeface="楷体" pitchFamily="49" charset="-122"/>
                <a:cs typeface="Times New Roman" pitchFamily="18" charset="0"/>
              </a:rPr>
              <a:t>1-2 </a:t>
            </a:r>
            <a:r>
              <a:rPr lang="zh-CN" altLang="en-US" dirty="0">
                <a:latin typeface="Times New Roman" pitchFamily="18" charset="0"/>
                <a:ea typeface="楷体" pitchFamily="49" charset="-122"/>
                <a:cs typeface="Times New Roman" pitchFamily="18" charset="0"/>
              </a:rPr>
              <a:t>程序段用简单分析方法描述</a:t>
            </a:r>
          </a:p>
        </p:txBody>
      </p:sp>
    </p:spTree>
    <p:extLst>
      <p:ext uri="{BB962C8B-B14F-4D97-AF65-F5344CB8AC3E}">
        <p14:creationId xmlns:p14="http://schemas.microsoft.com/office/powerpoint/2010/main" val="22531015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6"/>
            <a:ext cx="7520940" cy="949117"/>
          </a:xfrm>
        </p:spPr>
        <p:txBody>
          <a:bodyPr/>
          <a:lstStyle/>
          <a:p>
            <a:pPr>
              <a:lnSpc>
                <a:spcPct val="120000"/>
              </a:lnSpc>
            </a:pPr>
            <a:r>
              <a:rPr lang="zh-CN" altLang="zh-CN" sz="2400" dirty="0"/>
              <a:t>【例</a:t>
            </a:r>
            <a:r>
              <a:rPr lang="en-US" altLang="zh-CN" sz="2400" dirty="0"/>
              <a:t>1-3</a:t>
            </a:r>
            <a:r>
              <a:rPr lang="zh-CN" altLang="zh-CN" sz="2400" dirty="0"/>
              <a:t>】统计</a:t>
            </a:r>
            <a:r>
              <a:rPr lang="en-US" altLang="zh-CN" sz="2400" dirty="0"/>
              <a:t>a[0..n-1]</a:t>
            </a:r>
            <a:r>
              <a:rPr lang="zh-CN" altLang="zh-CN" sz="2400" dirty="0"/>
              <a:t>的元素和，该算法用简单分析方法描述如下所示。</a:t>
            </a:r>
            <a:endParaRPr lang="zh-CN" altLang="en-US" dirty="0"/>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11560" y="1916832"/>
            <a:ext cx="8055294" cy="35505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90701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9592" y="764704"/>
            <a:ext cx="7520940" cy="1237149"/>
          </a:xfrm>
        </p:spPr>
        <p:txBody>
          <a:bodyPr/>
          <a:lstStyle/>
          <a:p>
            <a:pPr>
              <a:lnSpc>
                <a:spcPct val="150000"/>
              </a:lnSpc>
            </a:pPr>
            <a:r>
              <a:rPr lang="zh-CN" altLang="zh-CN" sz="2400" dirty="0"/>
              <a:t>【例</a:t>
            </a:r>
            <a:r>
              <a:rPr lang="en-US" altLang="zh-CN" sz="2400" dirty="0"/>
              <a:t>1-4</a:t>
            </a:r>
            <a:r>
              <a:rPr lang="zh-CN" altLang="zh-CN" sz="2400" dirty="0"/>
              <a:t>】递归</a:t>
            </a:r>
            <a:r>
              <a:rPr lang="zh-CN" altLang="en-US" sz="2400" dirty="0"/>
              <a:t>算法</a:t>
            </a:r>
            <a:r>
              <a:rPr lang="zh-CN" altLang="zh-CN" sz="2400" dirty="0"/>
              <a:t>统计</a:t>
            </a:r>
            <a:r>
              <a:rPr lang="en-US" altLang="zh-CN" sz="2400" dirty="0"/>
              <a:t>a[0..n-1]</a:t>
            </a:r>
            <a:r>
              <a:rPr lang="zh-CN" altLang="zh-CN" sz="2400" dirty="0"/>
              <a:t>的元素和，该算法用简单分析方法描述如下所示。</a:t>
            </a:r>
            <a:endParaRPr lang="zh-CN" altLang="en-US" dirty="0"/>
          </a:p>
        </p:txBody>
      </p:sp>
      <p:pic>
        <p:nvPicPr>
          <p:cNvPr id="409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2204864"/>
            <a:ext cx="8377222" cy="3292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8463001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755576" y="732025"/>
            <a:ext cx="7520940" cy="548640"/>
          </a:xfrm>
        </p:spPr>
        <p:txBody>
          <a:bodyPr/>
          <a:lstStyle/>
          <a:p>
            <a:r>
              <a:rPr lang="en-US" altLang="zh-CN" b="1" dirty="0"/>
              <a:t>1.6 </a:t>
            </a:r>
            <a:r>
              <a:rPr lang="zh-CN" altLang="zh-CN" b="1" dirty="0"/>
              <a:t>渐近分析</a:t>
            </a:r>
            <a:endParaRPr lang="zh-CN" altLang="en-US"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1772816"/>
            <a:ext cx="8535140" cy="2034716"/>
          </a:xfrm>
          <a:prstGeom prst="rect">
            <a:avLst/>
          </a:prstGeom>
        </p:spPr>
      </p:pic>
      <p:sp>
        <p:nvSpPr>
          <p:cNvPr id="6" name="文本框 5"/>
          <p:cNvSpPr txBox="1"/>
          <p:nvPr/>
        </p:nvSpPr>
        <p:spPr>
          <a:xfrm>
            <a:off x="899592" y="4293096"/>
            <a:ext cx="5578771" cy="461665"/>
          </a:xfrm>
          <a:prstGeom prst="rect">
            <a:avLst/>
          </a:prstGeom>
          <a:noFill/>
        </p:spPr>
        <p:txBody>
          <a:bodyPr wrap="none" rtlCol="0">
            <a:spAutoFit/>
          </a:bodyPr>
          <a:lstStyle/>
          <a:p>
            <a:r>
              <a:rPr lang="zh-CN" altLang="en-US" sz="2400" dirty="0"/>
              <a:t>横轴表示问题规模</a:t>
            </a:r>
            <a:r>
              <a:rPr lang="en-US" altLang="zh-CN" sz="2400" dirty="0"/>
              <a:t>n</a:t>
            </a:r>
            <a:r>
              <a:rPr lang="zh-CN" altLang="en-US" sz="2400" dirty="0"/>
              <a:t>，纵轴表示计算成本</a:t>
            </a:r>
          </a:p>
        </p:txBody>
      </p:sp>
      <p:sp>
        <p:nvSpPr>
          <p:cNvPr id="8" name="文本框 7"/>
          <p:cNvSpPr txBox="1"/>
          <p:nvPr/>
        </p:nvSpPr>
        <p:spPr>
          <a:xfrm>
            <a:off x="899592" y="5085184"/>
            <a:ext cx="7743052" cy="1137106"/>
          </a:xfrm>
          <a:prstGeom prst="rect">
            <a:avLst/>
          </a:prstGeom>
          <a:noFill/>
        </p:spPr>
        <p:txBody>
          <a:bodyPr wrap="square" rtlCol="0">
            <a:spAutoFit/>
          </a:bodyPr>
          <a:lstStyle/>
          <a:p>
            <a:pPr>
              <a:lnSpc>
                <a:spcPct val="150000"/>
              </a:lnSpc>
            </a:pPr>
            <a:r>
              <a:rPr lang="zh-CN" altLang="en-US" sz="2400" dirty="0"/>
              <a:t>我们关心的并不是曲线局部的、暂时的、细微的趋势，而是</a:t>
            </a:r>
            <a:r>
              <a:rPr lang="zh-CN" altLang="en-US" sz="2400" dirty="0">
                <a:solidFill>
                  <a:srgbClr val="FF0000"/>
                </a:solidFill>
              </a:rPr>
              <a:t>长远</a:t>
            </a:r>
            <a:r>
              <a:rPr lang="zh-CN" altLang="en-US" sz="2400" dirty="0"/>
              <a:t>的变化趋势。</a:t>
            </a:r>
          </a:p>
        </p:txBody>
      </p:sp>
    </p:spTree>
    <p:extLst>
      <p:ext uri="{BB962C8B-B14F-4D97-AF65-F5344CB8AC3E}">
        <p14:creationId xmlns:p14="http://schemas.microsoft.com/office/powerpoint/2010/main" val="28699363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628800"/>
            <a:ext cx="7776864" cy="4392488"/>
          </a:xfrm>
        </p:spPr>
        <p:txBody>
          <a:bodyPr/>
          <a:lstStyle/>
          <a:p>
            <a:r>
              <a:rPr lang="en-US" altLang="zh-CN" dirty="0"/>
              <a:t>1.6.1 </a:t>
            </a:r>
            <a:r>
              <a:rPr lang="zh-CN" altLang="zh-CN" dirty="0"/>
              <a:t>上限表示法</a:t>
            </a:r>
            <a:r>
              <a:rPr lang="zh-CN" altLang="en-US" dirty="0"/>
              <a:t>（</a:t>
            </a:r>
            <a:r>
              <a:rPr lang="zh-CN" altLang="zh-CN" dirty="0">
                <a:solidFill>
                  <a:srgbClr val="FF0000"/>
                </a:solidFill>
              </a:rPr>
              <a:t>大</a:t>
            </a:r>
            <a:r>
              <a:rPr lang="zh-CN" altLang="zh-CN" i="1" dirty="0">
                <a:solidFill>
                  <a:srgbClr val="FF0000"/>
                </a:solidFill>
              </a:rPr>
              <a:t>O</a:t>
            </a:r>
            <a:r>
              <a:rPr lang="zh-CN" altLang="zh-CN" dirty="0">
                <a:solidFill>
                  <a:srgbClr val="FF0000"/>
                </a:solidFill>
              </a:rPr>
              <a:t>表示法</a:t>
            </a:r>
            <a:r>
              <a:rPr lang="zh-CN" altLang="en-US" dirty="0"/>
              <a:t>）</a:t>
            </a:r>
            <a:endParaRPr lang="en-US" altLang="zh-CN" dirty="0"/>
          </a:p>
          <a:p>
            <a:pPr algn="just"/>
            <a:r>
              <a:rPr lang="en-US" altLang="zh-CN" b="0" dirty="0"/>
              <a:t>	</a:t>
            </a:r>
            <a:r>
              <a:rPr lang="zh-CN" altLang="zh-CN" dirty="0">
                <a:solidFill>
                  <a:srgbClr val="FF0000"/>
                </a:solidFill>
              </a:rPr>
              <a:t>算法运行时间的上限</a:t>
            </a:r>
            <a:r>
              <a:rPr lang="zh-CN" altLang="zh-CN" b="0" dirty="0"/>
              <a:t>（upper bound）就是用以估计问题所需某种资源的复杂程度的界限函数，它表示该算法可能有的</a:t>
            </a:r>
            <a:r>
              <a:rPr lang="zh-CN" altLang="zh-CN" dirty="0"/>
              <a:t>最高增长率</a:t>
            </a:r>
            <a:r>
              <a:rPr lang="zh-CN" altLang="zh-CN" b="0" dirty="0"/>
              <a:t>。算法的上限还应与输入规模n有关。</a:t>
            </a:r>
          </a:p>
          <a:p>
            <a:pPr algn="just"/>
            <a:r>
              <a:rPr lang="en-US" altLang="zh-CN" b="0" dirty="0"/>
              <a:t>	</a:t>
            </a:r>
            <a:r>
              <a:rPr lang="zh-CN" altLang="zh-CN" b="0" dirty="0"/>
              <a:t>为了表示起来更简单，采用</a:t>
            </a:r>
            <a:r>
              <a:rPr lang="zh-CN" altLang="zh-CN" dirty="0">
                <a:solidFill>
                  <a:srgbClr val="FF0000"/>
                </a:solidFill>
              </a:rPr>
              <a:t>大</a:t>
            </a:r>
            <a:r>
              <a:rPr lang="zh-CN" altLang="zh-CN" i="1" dirty="0">
                <a:solidFill>
                  <a:srgbClr val="FF0000"/>
                </a:solidFill>
              </a:rPr>
              <a:t>O</a:t>
            </a:r>
            <a:r>
              <a:rPr lang="zh-CN" altLang="zh-CN" dirty="0">
                <a:solidFill>
                  <a:srgbClr val="FF0000"/>
                </a:solidFill>
              </a:rPr>
              <a:t>表示法</a:t>
            </a:r>
            <a:r>
              <a:rPr lang="zh-CN" altLang="zh-CN" b="0" dirty="0"/>
              <a:t>，给出函数</a:t>
            </a:r>
            <a:r>
              <a:rPr lang="zh-CN" altLang="zh-CN" b="0" i="1" dirty="0"/>
              <a:t>f</a:t>
            </a:r>
            <a:r>
              <a:rPr lang="zh-CN" altLang="zh-CN" b="0" dirty="0"/>
              <a:t>(n)的一个上限。</a:t>
            </a:r>
            <a:endParaRPr lang="zh-CN" altLang="en-US" b="0" dirty="0"/>
          </a:p>
        </p:txBody>
      </p:sp>
    </p:spTree>
    <p:extLst>
      <p:ext uri="{BB962C8B-B14F-4D97-AF65-F5344CB8AC3E}">
        <p14:creationId xmlns:p14="http://schemas.microsoft.com/office/powerpoint/2010/main" val="10421519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68760"/>
            <a:ext cx="7530630" cy="4732008"/>
          </a:xfrm>
        </p:spPr>
        <p:txBody>
          <a:bodyPr>
            <a:normAutofit/>
          </a:bodyPr>
          <a:lstStyle/>
          <a:p>
            <a:pPr algn="just"/>
            <a:r>
              <a:rPr lang="zh-CN" altLang="zh-CN" dirty="0"/>
              <a:t>【定义：</a:t>
            </a:r>
            <a:r>
              <a:rPr lang="zh-CN" altLang="zh-CN" i="1" dirty="0"/>
              <a:t>O</a:t>
            </a:r>
            <a:r>
              <a:rPr lang="zh-CN" altLang="zh-CN" dirty="0"/>
              <a:t>符号】：设</a:t>
            </a:r>
            <a:r>
              <a:rPr lang="zh-CN" altLang="zh-CN" i="1" dirty="0"/>
              <a:t>f</a:t>
            </a:r>
            <a:r>
              <a:rPr lang="zh-CN" altLang="zh-CN" dirty="0"/>
              <a:t>(n)和</a:t>
            </a:r>
            <a:r>
              <a:rPr lang="zh-CN" altLang="zh-CN" i="1" dirty="0"/>
              <a:t>g</a:t>
            </a:r>
            <a:r>
              <a:rPr lang="zh-CN" altLang="zh-CN" dirty="0"/>
              <a:t>(n)是两个关于整数n的非负函数，若存在两个正常数c和n</a:t>
            </a:r>
            <a:r>
              <a:rPr lang="zh-CN" altLang="zh-CN" baseline="-25000" dirty="0"/>
              <a:t>0</a:t>
            </a:r>
            <a:r>
              <a:rPr lang="zh-CN" altLang="zh-CN" dirty="0"/>
              <a:t>，对所有的n＞n</a:t>
            </a:r>
            <a:r>
              <a:rPr lang="zh-CN" altLang="zh-CN" baseline="-25000" dirty="0"/>
              <a:t>0</a:t>
            </a:r>
            <a:r>
              <a:rPr lang="zh-CN" altLang="zh-CN" dirty="0"/>
              <a:t>，有</a:t>
            </a:r>
            <a:r>
              <a:rPr lang="zh-CN" altLang="zh-CN" i="1" dirty="0"/>
              <a:t>f</a:t>
            </a:r>
            <a:r>
              <a:rPr lang="zh-CN" altLang="zh-CN" dirty="0"/>
              <a:t>(n)≤c</a:t>
            </a:r>
            <a:r>
              <a:rPr lang="zh-CN" altLang="zh-CN" i="1" dirty="0"/>
              <a:t>g</a:t>
            </a:r>
            <a:r>
              <a:rPr lang="zh-CN" altLang="zh-CN" dirty="0"/>
              <a:t>(n)，则称</a:t>
            </a:r>
            <a:r>
              <a:rPr lang="zh-CN" altLang="zh-CN" i="1" dirty="0"/>
              <a:t>f</a:t>
            </a:r>
            <a:r>
              <a:rPr lang="zh-CN" altLang="zh-CN" dirty="0"/>
              <a:t>(n)在集合</a:t>
            </a:r>
            <a:r>
              <a:rPr lang="zh-CN" altLang="zh-CN" i="1" dirty="0"/>
              <a:t>O</a:t>
            </a:r>
            <a:r>
              <a:rPr lang="zh-CN" altLang="zh-CN" dirty="0"/>
              <a:t>(</a:t>
            </a:r>
            <a:r>
              <a:rPr lang="zh-CN" altLang="zh-CN" i="1" dirty="0"/>
              <a:t>g</a:t>
            </a:r>
            <a:r>
              <a:rPr lang="zh-CN" altLang="zh-CN" dirty="0"/>
              <a:t>(n))中，简记为</a:t>
            </a:r>
            <a:r>
              <a:rPr lang="zh-CN" altLang="zh-CN" i="1" dirty="0"/>
              <a:t>f</a:t>
            </a:r>
            <a:r>
              <a:rPr lang="zh-CN" altLang="zh-CN" dirty="0"/>
              <a:t>(n)=</a:t>
            </a:r>
            <a:r>
              <a:rPr lang="zh-CN" altLang="zh-CN" i="1" dirty="0"/>
              <a:t> O</a:t>
            </a:r>
            <a:r>
              <a:rPr lang="zh-CN" altLang="zh-CN" dirty="0"/>
              <a:t>(</a:t>
            </a:r>
            <a:r>
              <a:rPr lang="zh-CN" altLang="zh-CN" i="1" dirty="0"/>
              <a:t>g</a:t>
            </a:r>
            <a:r>
              <a:rPr lang="zh-CN" altLang="zh-CN" dirty="0"/>
              <a:t>(n))。其中，常数n</a:t>
            </a:r>
            <a:r>
              <a:rPr lang="zh-CN" altLang="zh-CN" baseline="-25000" dirty="0"/>
              <a:t>0</a:t>
            </a:r>
            <a:r>
              <a:rPr lang="zh-CN" altLang="zh-CN" dirty="0"/>
              <a:t>是使上限成立的n的最小值，c是某个确定的常数。</a:t>
            </a:r>
            <a:endParaRPr lang="en-US" altLang="zh-CN" dirty="0"/>
          </a:p>
          <a:p>
            <a:pPr algn="just"/>
            <a:endParaRPr lang="zh-CN" altLang="zh-CN" dirty="0"/>
          </a:p>
          <a:p>
            <a:pPr algn="just"/>
            <a:r>
              <a:rPr lang="en-US" altLang="zh-CN" b="0" dirty="0"/>
              <a:t>	</a:t>
            </a:r>
            <a:r>
              <a:rPr lang="zh-CN" altLang="zh-CN" b="0" dirty="0"/>
              <a:t>若</a:t>
            </a:r>
            <a:r>
              <a:rPr lang="zh-CN" altLang="zh-CN" b="0" i="1" dirty="0"/>
              <a:t>f</a:t>
            </a:r>
            <a:r>
              <a:rPr lang="zh-CN" altLang="zh-CN" b="0" dirty="0"/>
              <a:t>(n)=</a:t>
            </a:r>
            <a:r>
              <a:rPr lang="zh-CN" altLang="zh-CN" b="0" i="1" dirty="0"/>
              <a:t>T</a:t>
            </a:r>
            <a:r>
              <a:rPr lang="zh-CN" altLang="zh-CN" b="0" dirty="0"/>
              <a:t>(n)，则对于问题的所有（如最差情况）输入，只要输入规模足够大（即n＞n</a:t>
            </a:r>
            <a:r>
              <a:rPr lang="zh-CN" altLang="zh-CN" b="0" baseline="-25000" dirty="0"/>
              <a:t>0</a:t>
            </a:r>
            <a:r>
              <a:rPr lang="zh-CN" altLang="zh-CN" b="0" dirty="0"/>
              <a:t>），算法总能在c</a:t>
            </a:r>
            <a:r>
              <a:rPr lang="zh-CN" altLang="zh-CN" b="0" i="1" dirty="0"/>
              <a:t>g</a:t>
            </a:r>
            <a:r>
              <a:rPr lang="zh-CN" altLang="zh-CN" b="0" dirty="0"/>
              <a:t>(n)步以内完成。</a:t>
            </a:r>
          </a:p>
          <a:p>
            <a:endParaRPr lang="zh-CN" altLang="en-US" dirty="0"/>
          </a:p>
        </p:txBody>
      </p:sp>
    </p:spTree>
    <p:extLst>
      <p:ext uri="{BB962C8B-B14F-4D97-AF65-F5344CB8AC3E}">
        <p14:creationId xmlns:p14="http://schemas.microsoft.com/office/powerpoint/2010/main" val="117178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6"/>
            <a:ext cx="7520940" cy="949117"/>
          </a:xfrm>
        </p:spPr>
        <p:txBody>
          <a:bodyPr/>
          <a:lstStyle/>
          <a:p>
            <a:pPr>
              <a:lnSpc>
                <a:spcPct val="120000"/>
              </a:lnSpc>
            </a:pP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【例</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5】（线性函数）考察</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T(n) = 3n+ 2</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T(n)</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是一个线性变化的函数。</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内容占位符 2"/>
          <p:cNvSpPr>
            <a:spLocks noGrp="1"/>
          </p:cNvSpPr>
          <p:nvPr>
            <p:ph idx="1"/>
          </p:nvPr>
        </p:nvSpPr>
        <p:spPr>
          <a:xfrm>
            <a:off x="827584" y="2132856"/>
            <a:ext cx="7520940" cy="3672408"/>
          </a:xfrm>
        </p:spPr>
        <p:txBody>
          <a:bodyPr>
            <a:normAutofit lnSpcReduction="10000"/>
          </a:bodyPr>
          <a:lstStyle/>
          <a:p>
            <a:r>
              <a:rPr lang="en-US" altLang="zh-CN" b="0" dirty="0"/>
              <a:t>	</a:t>
            </a:r>
            <a:r>
              <a:rPr lang="zh-CN" altLang="zh-CN" b="0" dirty="0"/>
              <a:t>（</a:t>
            </a:r>
            <a:r>
              <a:rPr lang="en-US" altLang="zh-CN" b="0" dirty="0"/>
              <a:t>1</a:t>
            </a:r>
            <a:r>
              <a:rPr lang="zh-CN" altLang="zh-CN" b="0" dirty="0"/>
              <a:t>）当</a:t>
            </a:r>
            <a:r>
              <a:rPr lang="en-US" altLang="zh-CN" b="0" dirty="0"/>
              <a:t>n≥2</a:t>
            </a:r>
            <a:r>
              <a:rPr lang="zh-CN" altLang="zh-CN" b="0" dirty="0"/>
              <a:t>时，</a:t>
            </a:r>
            <a:r>
              <a:rPr lang="en-US" altLang="zh-CN" b="0" dirty="0"/>
              <a:t>3n+ 2≤3n+n</a:t>
            </a:r>
            <a:r>
              <a:rPr lang="zh-CN" altLang="zh-CN" b="0" dirty="0"/>
              <a:t>＝</a:t>
            </a:r>
            <a:r>
              <a:rPr lang="en-US" altLang="zh-CN" b="0" dirty="0"/>
              <a:t>4n</a:t>
            </a:r>
            <a:r>
              <a:rPr lang="zh-CN" altLang="zh-CN" b="0" dirty="0"/>
              <a:t>，所以</a:t>
            </a:r>
            <a:r>
              <a:rPr lang="en-US" altLang="zh-CN" b="0" i="1" dirty="0"/>
              <a:t>T</a:t>
            </a:r>
            <a:r>
              <a:rPr lang="en-US" altLang="zh-CN" b="0" dirty="0"/>
              <a:t>(n)=</a:t>
            </a:r>
            <a:r>
              <a:rPr lang="en-US" altLang="zh-CN" b="0" i="1" dirty="0"/>
              <a:t> O</a:t>
            </a:r>
            <a:r>
              <a:rPr lang="en-US" altLang="zh-CN" b="0" dirty="0"/>
              <a:t>(n)</a:t>
            </a:r>
            <a:r>
              <a:rPr lang="zh-CN" altLang="zh-CN" b="0" dirty="0"/>
              <a:t>，其中：</a:t>
            </a:r>
            <a:r>
              <a:rPr lang="en-US" altLang="zh-CN" b="0" dirty="0"/>
              <a:t>n</a:t>
            </a:r>
            <a:r>
              <a:rPr lang="en-US" altLang="zh-CN" b="0" baseline="-25000" dirty="0"/>
              <a:t>0</a:t>
            </a:r>
            <a:r>
              <a:rPr lang="en-US" altLang="zh-CN" b="0" dirty="0"/>
              <a:t>=2</a:t>
            </a:r>
            <a:r>
              <a:rPr lang="zh-CN" altLang="zh-CN" b="0" dirty="0"/>
              <a:t>，</a:t>
            </a:r>
            <a:r>
              <a:rPr lang="en-US" altLang="zh-CN" b="0" dirty="0"/>
              <a:t>c=4</a:t>
            </a:r>
            <a:endParaRPr lang="zh-CN" altLang="zh-CN" b="0" dirty="0"/>
          </a:p>
          <a:p>
            <a:r>
              <a:rPr lang="en-US" altLang="zh-CN" b="0" dirty="0"/>
              <a:t>	</a:t>
            </a:r>
            <a:r>
              <a:rPr lang="zh-CN" altLang="zh-CN" b="0" dirty="0"/>
              <a:t>（</a:t>
            </a:r>
            <a:r>
              <a:rPr lang="en-US" altLang="zh-CN" b="0" dirty="0"/>
              <a:t>2</a:t>
            </a:r>
            <a:r>
              <a:rPr lang="zh-CN" altLang="zh-CN" b="0" dirty="0"/>
              <a:t>）当</a:t>
            </a:r>
            <a:r>
              <a:rPr lang="en-US" altLang="zh-CN" b="0" dirty="0"/>
              <a:t>n≥1</a:t>
            </a:r>
            <a:r>
              <a:rPr lang="zh-CN" altLang="zh-CN" b="0" dirty="0"/>
              <a:t>时，</a:t>
            </a:r>
            <a:r>
              <a:rPr lang="en-US" altLang="zh-CN" b="0" dirty="0"/>
              <a:t>3n+ 2≤3n+ 2n= 5n</a:t>
            </a:r>
            <a:r>
              <a:rPr lang="zh-CN" altLang="zh-CN" b="0" dirty="0"/>
              <a:t>，所以</a:t>
            </a:r>
            <a:r>
              <a:rPr lang="en-US" altLang="zh-CN" b="0" i="1" dirty="0"/>
              <a:t>T</a:t>
            </a:r>
            <a:r>
              <a:rPr lang="en-US" altLang="zh-CN" b="0" dirty="0"/>
              <a:t>(n)=</a:t>
            </a:r>
            <a:r>
              <a:rPr lang="en-US" altLang="zh-CN" b="0" i="1" dirty="0"/>
              <a:t> O</a:t>
            </a:r>
            <a:r>
              <a:rPr lang="en-US" altLang="zh-CN" b="0" dirty="0"/>
              <a:t>(n)</a:t>
            </a:r>
            <a:r>
              <a:rPr lang="zh-CN" altLang="zh-CN" b="0" dirty="0"/>
              <a:t>，其中：</a:t>
            </a:r>
            <a:r>
              <a:rPr lang="en-US" altLang="zh-CN" b="0" dirty="0"/>
              <a:t>n</a:t>
            </a:r>
            <a:r>
              <a:rPr lang="en-US" altLang="zh-CN" b="0" baseline="-25000" dirty="0"/>
              <a:t>0</a:t>
            </a:r>
            <a:r>
              <a:rPr lang="en-US" altLang="zh-CN" b="0" dirty="0"/>
              <a:t>=1</a:t>
            </a:r>
            <a:r>
              <a:rPr lang="zh-CN" altLang="zh-CN" b="0" dirty="0"/>
              <a:t>，</a:t>
            </a:r>
            <a:r>
              <a:rPr lang="en-US" altLang="zh-CN" b="0" dirty="0"/>
              <a:t>c=5</a:t>
            </a:r>
            <a:endParaRPr lang="zh-CN" altLang="zh-CN" b="0" dirty="0"/>
          </a:p>
          <a:p>
            <a:r>
              <a:rPr lang="en-US" altLang="zh-CN" b="0" dirty="0"/>
              <a:t>	</a:t>
            </a:r>
            <a:r>
              <a:rPr lang="zh-CN" altLang="zh-CN" b="0" dirty="0"/>
              <a:t>对于两组</a:t>
            </a:r>
            <a:r>
              <a:rPr lang="en-US" altLang="zh-CN" b="0" dirty="0"/>
              <a:t>n</a:t>
            </a:r>
            <a:r>
              <a:rPr lang="en-US" altLang="zh-CN" b="0" baseline="-25000" dirty="0"/>
              <a:t>0</a:t>
            </a:r>
            <a:r>
              <a:rPr lang="zh-CN" altLang="zh-CN" b="0" dirty="0"/>
              <a:t>和</a:t>
            </a:r>
            <a:r>
              <a:rPr lang="en-US" altLang="zh-CN" b="0" dirty="0"/>
              <a:t>c</a:t>
            </a:r>
            <a:r>
              <a:rPr lang="zh-CN" altLang="zh-CN" b="0" dirty="0"/>
              <a:t>的取值都满足</a:t>
            </a:r>
            <a:r>
              <a:rPr lang="en-US" altLang="zh-CN" b="0" dirty="0"/>
              <a:t>n</a:t>
            </a:r>
            <a:r>
              <a:rPr lang="zh-CN" altLang="zh-CN" b="0" dirty="0"/>
              <a:t>的大</a:t>
            </a:r>
            <a:r>
              <a:rPr lang="zh-CN" altLang="zh-CN" b="0" i="1" dirty="0"/>
              <a:t>O</a:t>
            </a:r>
            <a:r>
              <a:rPr lang="zh-CN" altLang="zh-CN" b="0" dirty="0"/>
              <a:t>定义，也即它们都是线性函数（对于一定的</a:t>
            </a:r>
            <a:r>
              <a:rPr lang="en-US" altLang="zh-CN" b="0" dirty="0"/>
              <a:t>n</a:t>
            </a:r>
            <a:r>
              <a:rPr lang="zh-CN" altLang="zh-CN" b="0" dirty="0"/>
              <a:t>）。</a:t>
            </a:r>
          </a:p>
          <a:p>
            <a:r>
              <a:rPr lang="en-US" altLang="zh-CN" b="0" dirty="0"/>
              <a:t>	</a:t>
            </a:r>
            <a:r>
              <a:rPr lang="zh-CN" altLang="zh-CN" b="0" dirty="0"/>
              <a:t>因此，用来满足大</a:t>
            </a:r>
            <a:r>
              <a:rPr lang="zh-CN" altLang="zh-CN" b="0" i="1" dirty="0"/>
              <a:t>O</a:t>
            </a:r>
            <a:r>
              <a:rPr lang="zh-CN" altLang="zh-CN" b="0" dirty="0"/>
              <a:t>定义的</a:t>
            </a:r>
            <a:r>
              <a:rPr lang="en-US" altLang="zh-CN" b="0" dirty="0"/>
              <a:t>c</a:t>
            </a:r>
            <a:r>
              <a:rPr lang="zh-CN" altLang="zh-CN" b="0" dirty="0"/>
              <a:t>和</a:t>
            </a:r>
            <a:r>
              <a:rPr lang="en-US" altLang="zh-CN" b="0" dirty="0"/>
              <a:t>n</a:t>
            </a:r>
            <a:r>
              <a:rPr lang="en-US" altLang="zh-CN" b="0" baseline="-25000" dirty="0"/>
              <a:t>0</a:t>
            </a:r>
            <a:r>
              <a:rPr lang="en-US" altLang="zh-CN" b="0" dirty="0"/>
              <a:t> </a:t>
            </a:r>
            <a:r>
              <a:rPr lang="zh-CN" altLang="zh-CN" b="0" dirty="0"/>
              <a:t>的值并不重要，因为只需说明</a:t>
            </a:r>
            <a:r>
              <a:rPr lang="en-US" altLang="zh-CN" b="0" i="1" dirty="0"/>
              <a:t>T</a:t>
            </a:r>
            <a:r>
              <a:rPr lang="en-US" altLang="zh-CN" b="0" dirty="0"/>
              <a:t>(n)</a:t>
            </a:r>
            <a:r>
              <a:rPr lang="zh-CN" altLang="zh-CN" b="0" dirty="0"/>
              <a:t>在</a:t>
            </a:r>
            <a:r>
              <a:rPr lang="zh-CN" altLang="zh-CN" b="0" i="1" dirty="0"/>
              <a:t>O</a:t>
            </a:r>
            <a:r>
              <a:rPr lang="en-US" altLang="zh-CN" b="0" dirty="0"/>
              <a:t>(</a:t>
            </a:r>
            <a:r>
              <a:rPr lang="en-US" altLang="zh-CN" b="0" i="1" dirty="0"/>
              <a:t>g</a:t>
            </a:r>
            <a:r>
              <a:rPr lang="en-US" altLang="zh-CN" b="0" dirty="0"/>
              <a:t>(n) )</a:t>
            </a:r>
            <a:r>
              <a:rPr lang="zh-CN" altLang="zh-CN" b="0" dirty="0"/>
              <a:t>中即可。</a:t>
            </a:r>
          </a:p>
          <a:p>
            <a:endParaRPr lang="zh-CN" altLang="en-US" b="0" dirty="0"/>
          </a:p>
        </p:txBody>
      </p:sp>
    </p:spTree>
    <p:extLst>
      <p:ext uri="{BB962C8B-B14F-4D97-AF65-F5344CB8AC3E}">
        <p14:creationId xmlns:p14="http://schemas.microsoft.com/office/powerpoint/2010/main" val="440984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2592251"/>
            <a:ext cx="8424936" cy="3816424"/>
          </a:xfrm>
        </p:spPr>
        <p:txBody>
          <a:bodyPr>
            <a:normAutofit/>
          </a:bodyPr>
          <a:lstStyle/>
          <a:p>
            <a:pPr>
              <a:lnSpc>
                <a:spcPct val="150000"/>
              </a:lnSpc>
            </a:pPr>
            <a:r>
              <a:rPr lang="en-US" altLang="zh-CN" dirty="0"/>
              <a:t>	【</a:t>
            </a:r>
            <a:r>
              <a:rPr lang="zh-CN" altLang="en-US" dirty="0"/>
              <a:t>例</a:t>
            </a:r>
            <a:r>
              <a:rPr lang="en-US" altLang="zh-CN" dirty="0"/>
              <a:t>1-6】</a:t>
            </a:r>
            <a:r>
              <a:rPr lang="zh-CN" altLang="en-US" dirty="0"/>
              <a:t>（平方函数）考虑冒泡排序算法，</a:t>
            </a:r>
            <a:r>
              <a:rPr lang="en-US" altLang="zh-CN" dirty="0"/>
              <a:t>T(n)= c</a:t>
            </a:r>
            <a:r>
              <a:rPr lang="en-US" altLang="zh-CN" baseline="-25000" dirty="0"/>
              <a:t>1</a:t>
            </a:r>
            <a:r>
              <a:rPr lang="en-US" altLang="zh-CN" dirty="0"/>
              <a:t>[n(n−1)]∕2</a:t>
            </a:r>
            <a:r>
              <a:rPr lang="zh-CN" altLang="en-US" dirty="0"/>
              <a:t>。</a:t>
            </a:r>
            <a:r>
              <a:rPr lang="en-US" altLang="zh-CN" dirty="0"/>
              <a:t>T(n)</a:t>
            </a:r>
            <a:r>
              <a:rPr lang="zh-CN" altLang="en-US" dirty="0"/>
              <a:t>是一个平方函数。</a:t>
            </a:r>
            <a:endParaRPr lang="en-US" altLang="zh-CN" dirty="0"/>
          </a:p>
          <a:p>
            <a:pPr>
              <a:lnSpc>
                <a:spcPct val="150000"/>
              </a:lnSpc>
            </a:pPr>
            <a:endParaRPr lang="zh-CN" altLang="en-US" dirty="0"/>
          </a:p>
          <a:p>
            <a:pPr>
              <a:lnSpc>
                <a:spcPct val="150000"/>
              </a:lnSpc>
            </a:pPr>
            <a:r>
              <a:rPr lang="zh-CN" altLang="en-US" dirty="0"/>
              <a:t>	</a:t>
            </a:r>
            <a:r>
              <a:rPr lang="zh-CN" altLang="en-US" b="0" dirty="0"/>
              <a:t>如果比较数组中相邻元素需要的时间为</a:t>
            </a:r>
            <a:r>
              <a:rPr lang="en-US" altLang="zh-CN" b="0" dirty="0"/>
              <a:t>c</a:t>
            </a:r>
            <a:r>
              <a:rPr lang="en-US" altLang="zh-CN" b="0" baseline="-25000" dirty="0"/>
              <a:t>1</a:t>
            </a:r>
            <a:r>
              <a:rPr lang="zh-CN" altLang="en-US" b="0" dirty="0"/>
              <a:t>（</a:t>
            </a:r>
            <a:r>
              <a:rPr lang="en-US" altLang="zh-CN" b="0" dirty="0"/>
              <a:t>c</a:t>
            </a:r>
            <a:r>
              <a:rPr lang="en-US" altLang="zh-CN" b="0" baseline="-25000" dirty="0"/>
              <a:t>1</a:t>
            </a:r>
            <a:r>
              <a:rPr lang="zh-CN" altLang="en-US" b="0" dirty="0"/>
              <a:t>为正数），那么在最差情况下，对于</a:t>
            </a:r>
            <a:r>
              <a:rPr lang="en-US" altLang="zh-CN" b="0" dirty="0"/>
              <a:t>n</a:t>
            </a:r>
            <a:r>
              <a:rPr lang="zh-CN" altLang="en-US" b="0" dirty="0"/>
              <a:t>＞</a:t>
            </a:r>
            <a:r>
              <a:rPr lang="en-US" altLang="zh-CN" b="0" dirty="0"/>
              <a:t>1</a:t>
            </a:r>
            <a:r>
              <a:rPr lang="zh-CN" altLang="en-US" b="0" dirty="0"/>
              <a:t>，</a:t>
            </a:r>
            <a:r>
              <a:rPr lang="en-US" altLang="zh-CN" b="0" dirty="0"/>
              <a:t>c</a:t>
            </a:r>
            <a:r>
              <a:rPr lang="en-US" altLang="zh-CN" b="0" baseline="-25000" dirty="0"/>
              <a:t>1</a:t>
            </a:r>
            <a:r>
              <a:rPr lang="en-US" altLang="zh-CN" b="0" dirty="0"/>
              <a:t>[n(n−1)]∕2≤c</a:t>
            </a:r>
            <a:r>
              <a:rPr lang="en-US" altLang="zh-CN" b="0" baseline="-25000" dirty="0"/>
              <a:t>1</a:t>
            </a:r>
            <a:r>
              <a:rPr lang="en-US" altLang="zh-CN" b="0" dirty="0"/>
              <a:t>n</a:t>
            </a:r>
            <a:r>
              <a:rPr lang="en-US" altLang="zh-CN" b="0" baseline="30000" dirty="0"/>
              <a:t>2</a:t>
            </a:r>
            <a:r>
              <a:rPr lang="zh-CN" altLang="en-US" b="0" dirty="0"/>
              <a:t>。所以</a:t>
            </a:r>
            <a:r>
              <a:rPr lang="en-US" altLang="zh-CN" b="0" dirty="0"/>
              <a:t>T(n)= O(n</a:t>
            </a:r>
            <a:r>
              <a:rPr lang="en-US" altLang="zh-CN" b="0" baseline="30000" dirty="0"/>
              <a:t>2</a:t>
            </a:r>
            <a:r>
              <a:rPr lang="en-US" altLang="zh-CN" b="0" dirty="0"/>
              <a:t>)</a:t>
            </a:r>
            <a:r>
              <a:rPr lang="zh-CN" altLang="en-US" b="0" dirty="0"/>
              <a:t>，其中：</a:t>
            </a:r>
            <a:r>
              <a:rPr lang="en-US" altLang="zh-CN" b="0" dirty="0"/>
              <a:t>n</a:t>
            </a:r>
            <a:r>
              <a:rPr lang="en-US" altLang="zh-CN" b="0" baseline="-25000" dirty="0"/>
              <a:t>0</a:t>
            </a:r>
            <a:r>
              <a:rPr lang="en-US" altLang="zh-CN" b="0" dirty="0"/>
              <a:t>=1</a:t>
            </a:r>
            <a:r>
              <a:rPr lang="zh-CN" altLang="en-US" b="0" dirty="0"/>
              <a:t>，</a:t>
            </a:r>
            <a:r>
              <a:rPr lang="en-US" altLang="zh-CN" b="0" dirty="0"/>
              <a:t>c=c</a:t>
            </a:r>
            <a:r>
              <a:rPr lang="en-US" altLang="zh-CN" b="0" baseline="-25000" dirty="0"/>
              <a:t>1</a:t>
            </a:r>
            <a:r>
              <a:rPr lang="zh-CN" altLang="en-US" b="0" dirty="0"/>
              <a:t>。 </a:t>
            </a:r>
          </a:p>
          <a:p>
            <a:endParaRPr lang="zh-CN" altLang="en-US" dirty="0"/>
          </a:p>
        </p:txBody>
      </p:sp>
      <p:sp>
        <p:nvSpPr>
          <p:cNvPr id="2" name="Rectangle 2">
            <a:extLst>
              <a:ext uri="{FF2B5EF4-FFF2-40B4-BE49-F238E27FC236}">
                <a16:creationId xmlns:a16="http://schemas.microsoft.com/office/drawing/2014/main" id="{343D04E2-FB61-4816-B722-DD463EA2F74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D9E650E2-8AE7-4B9C-B8F0-DFFAA237BA10}"/>
              </a:ext>
            </a:extLst>
          </p:cNvPr>
          <p:cNvGraphicFramePr>
            <a:graphicFrameLocks noChangeAspect="1"/>
          </p:cNvGraphicFramePr>
          <p:nvPr/>
        </p:nvGraphicFramePr>
        <p:xfrm>
          <a:off x="0" y="0"/>
          <a:ext cx="4257675" cy="2571750"/>
        </p:xfrm>
        <a:graphic>
          <a:graphicData uri="http://schemas.openxmlformats.org/presentationml/2006/ole">
            <mc:AlternateContent xmlns:mc="http://schemas.openxmlformats.org/markup-compatibility/2006">
              <mc:Choice xmlns:v="urn:schemas-microsoft-com:vml" Requires="v">
                <p:oleObj spid="_x0000_s1030" name="Visio" r:id="rId3" imgW="7744568" imgH="4648829" progId="Visio.Drawing.11">
                  <p:embed/>
                </p:oleObj>
              </mc:Choice>
              <mc:Fallback>
                <p:oleObj name="Visio" r:id="rId3" imgW="7744568" imgH="4648829"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4257675" cy="2571750"/>
                      </a:xfrm>
                      <a:prstGeom prst="rect">
                        <a:avLst/>
                      </a:prstGeom>
                      <a:noFill/>
                    </p:spPr>
                  </p:pic>
                </p:oleObj>
              </mc:Fallback>
            </mc:AlternateContent>
          </a:graphicData>
        </a:graphic>
      </p:graphicFrame>
    </p:spTree>
    <p:extLst>
      <p:ext uri="{BB962C8B-B14F-4D97-AF65-F5344CB8AC3E}">
        <p14:creationId xmlns:p14="http://schemas.microsoft.com/office/powerpoint/2010/main" val="1453402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836712"/>
            <a:ext cx="8429684" cy="5472608"/>
          </a:xfrm>
        </p:spPr>
        <p:txBody>
          <a:bodyPr>
            <a:normAutofit/>
          </a:bodyPr>
          <a:lstStyle/>
          <a:p>
            <a:pPr>
              <a:lnSpc>
                <a:spcPct val="150000"/>
              </a:lnSpc>
            </a:pPr>
            <a:r>
              <a:rPr lang="en-US" altLang="zh-CN" dirty="0"/>
              <a:t>【</a:t>
            </a:r>
            <a:r>
              <a:rPr lang="zh-CN" altLang="en-US" dirty="0"/>
              <a:t>例</a:t>
            </a:r>
            <a:r>
              <a:rPr lang="en-US" altLang="zh-CN" dirty="0"/>
              <a:t>1-7】</a:t>
            </a:r>
            <a:r>
              <a:rPr lang="zh-CN" altLang="en-US" dirty="0"/>
              <a:t>（立方函数）某一算法最差情况下</a:t>
            </a:r>
            <a:r>
              <a:rPr lang="en-US" altLang="zh-CN" b="0" dirty="0"/>
              <a:t>T(n)=c</a:t>
            </a:r>
            <a:r>
              <a:rPr lang="en-US" altLang="zh-CN" b="0" baseline="-25000" dirty="0"/>
              <a:t>1</a:t>
            </a:r>
            <a:r>
              <a:rPr lang="en-US" altLang="zh-CN" b="0" dirty="0"/>
              <a:t>n</a:t>
            </a:r>
            <a:r>
              <a:rPr lang="en-US" altLang="zh-CN" b="0" baseline="30000" dirty="0"/>
              <a:t>3</a:t>
            </a:r>
            <a:r>
              <a:rPr lang="en-US" altLang="zh-CN" b="0" dirty="0"/>
              <a:t>+c</a:t>
            </a:r>
            <a:r>
              <a:rPr lang="en-US" altLang="zh-CN" b="0" baseline="-25000" dirty="0"/>
              <a:t>2</a:t>
            </a:r>
            <a:r>
              <a:rPr lang="en-US" altLang="zh-CN" b="0" dirty="0"/>
              <a:t>n</a:t>
            </a:r>
            <a:r>
              <a:rPr lang="en-US" altLang="zh-CN" b="0" baseline="30000" dirty="0"/>
              <a:t>2</a:t>
            </a:r>
            <a:r>
              <a:rPr lang="en-US" altLang="zh-CN" b="0" dirty="0"/>
              <a:t>+c</a:t>
            </a:r>
            <a:r>
              <a:rPr lang="en-US" altLang="zh-CN" b="0" baseline="-25000" dirty="0"/>
              <a:t>3</a:t>
            </a:r>
            <a:r>
              <a:rPr lang="en-US" altLang="zh-CN" b="0" dirty="0"/>
              <a:t>n</a:t>
            </a:r>
            <a:r>
              <a:rPr lang="zh-CN" altLang="en-US" b="0" dirty="0"/>
              <a:t>，</a:t>
            </a:r>
            <a:r>
              <a:rPr lang="en-US" altLang="zh-CN" b="0" dirty="0"/>
              <a:t>c</a:t>
            </a:r>
            <a:r>
              <a:rPr lang="en-US" altLang="zh-CN" b="0" baseline="-25000" dirty="0"/>
              <a:t>1</a:t>
            </a:r>
            <a:r>
              <a:rPr lang="zh-CN" altLang="en-US" b="0" dirty="0"/>
              <a:t>，</a:t>
            </a:r>
            <a:r>
              <a:rPr lang="en-US" altLang="zh-CN" b="0" dirty="0"/>
              <a:t>c</a:t>
            </a:r>
            <a:r>
              <a:rPr lang="en-US" altLang="zh-CN" b="0" baseline="-25000" dirty="0"/>
              <a:t>2</a:t>
            </a:r>
            <a:r>
              <a:rPr lang="zh-CN" altLang="en-US" b="0" dirty="0"/>
              <a:t>，</a:t>
            </a:r>
            <a:r>
              <a:rPr lang="en-US" altLang="zh-CN" b="0" dirty="0"/>
              <a:t>c</a:t>
            </a:r>
            <a:r>
              <a:rPr lang="en-US" altLang="zh-CN" b="0" baseline="-25000" dirty="0"/>
              <a:t>3</a:t>
            </a:r>
            <a:r>
              <a:rPr lang="zh-CN" altLang="en-US" b="0" dirty="0"/>
              <a:t>为正数。</a:t>
            </a:r>
            <a:endParaRPr lang="en-US" altLang="zh-CN" b="0" dirty="0"/>
          </a:p>
          <a:p>
            <a:pPr>
              <a:lnSpc>
                <a:spcPct val="150000"/>
              </a:lnSpc>
            </a:pPr>
            <a:r>
              <a:rPr lang="zh-CN" altLang="en-US" b="0" dirty="0"/>
              <a:t>若</a:t>
            </a:r>
            <a:r>
              <a:rPr lang="en-US" altLang="zh-CN" b="0" dirty="0"/>
              <a:t>n</a:t>
            </a:r>
            <a:r>
              <a:rPr lang="zh-CN" altLang="en-US" b="0" dirty="0"/>
              <a:t>＞</a:t>
            </a:r>
            <a:r>
              <a:rPr lang="en-US" altLang="zh-CN" b="0" dirty="0"/>
              <a:t>1</a:t>
            </a:r>
            <a:r>
              <a:rPr lang="zh-CN" altLang="en-US" b="0" dirty="0"/>
              <a:t>，</a:t>
            </a:r>
            <a:r>
              <a:rPr lang="en-US" altLang="zh-CN" b="0" dirty="0"/>
              <a:t>c</a:t>
            </a:r>
            <a:r>
              <a:rPr lang="en-US" altLang="zh-CN" b="0" baseline="-25000" dirty="0"/>
              <a:t>1</a:t>
            </a:r>
            <a:r>
              <a:rPr lang="en-US" altLang="zh-CN" b="0" dirty="0"/>
              <a:t>n</a:t>
            </a:r>
            <a:r>
              <a:rPr lang="en-US" altLang="zh-CN" b="0" baseline="30000" dirty="0"/>
              <a:t>3</a:t>
            </a:r>
            <a:r>
              <a:rPr lang="en-US" altLang="zh-CN" b="0" dirty="0"/>
              <a:t>+c</a:t>
            </a:r>
            <a:r>
              <a:rPr lang="en-US" altLang="zh-CN" b="0" baseline="-25000" dirty="0"/>
              <a:t>2</a:t>
            </a:r>
            <a:r>
              <a:rPr lang="en-US" altLang="zh-CN" b="0" dirty="0"/>
              <a:t>n</a:t>
            </a:r>
            <a:r>
              <a:rPr lang="en-US" altLang="zh-CN" b="0" baseline="30000" dirty="0"/>
              <a:t>2</a:t>
            </a:r>
            <a:r>
              <a:rPr lang="en-US" altLang="zh-CN" b="0" dirty="0"/>
              <a:t>+c</a:t>
            </a:r>
            <a:r>
              <a:rPr lang="en-US" altLang="zh-CN" b="0" baseline="-25000" dirty="0"/>
              <a:t>3</a:t>
            </a:r>
            <a:r>
              <a:rPr lang="en-US" altLang="zh-CN" b="0" dirty="0"/>
              <a:t>n≤</a:t>
            </a:r>
            <a:r>
              <a:rPr lang="zh-CN" altLang="en-US" b="0" dirty="0"/>
              <a:t>（</a:t>
            </a:r>
            <a:r>
              <a:rPr lang="en-US" altLang="zh-CN" b="0" dirty="0"/>
              <a:t>c</a:t>
            </a:r>
            <a:r>
              <a:rPr lang="en-US" altLang="zh-CN" b="0" baseline="-25000" dirty="0"/>
              <a:t>1</a:t>
            </a:r>
            <a:r>
              <a:rPr lang="en-US" altLang="zh-CN" b="0" dirty="0"/>
              <a:t>+c</a:t>
            </a:r>
            <a:r>
              <a:rPr lang="en-US" altLang="zh-CN" b="0" baseline="-25000" dirty="0"/>
              <a:t>2</a:t>
            </a:r>
            <a:r>
              <a:rPr lang="en-US" altLang="zh-CN" b="0" dirty="0"/>
              <a:t>+c</a:t>
            </a:r>
            <a:r>
              <a:rPr lang="en-US" altLang="zh-CN" b="0" baseline="-25000" dirty="0"/>
              <a:t>3</a:t>
            </a:r>
            <a:r>
              <a:rPr lang="zh-CN" altLang="en-US" b="0" dirty="0"/>
              <a:t>）</a:t>
            </a:r>
            <a:r>
              <a:rPr lang="en-US" altLang="zh-CN" b="0" dirty="0"/>
              <a:t>n</a:t>
            </a:r>
            <a:r>
              <a:rPr lang="en-US" altLang="zh-CN" b="0" baseline="30000" dirty="0"/>
              <a:t>3</a:t>
            </a:r>
            <a:r>
              <a:rPr lang="zh-CN" altLang="en-US" b="0" dirty="0"/>
              <a:t>。取</a:t>
            </a:r>
            <a:r>
              <a:rPr lang="en-US" altLang="zh-CN" b="0" dirty="0"/>
              <a:t>c=c</a:t>
            </a:r>
            <a:r>
              <a:rPr lang="en-US" altLang="zh-CN" b="0" baseline="-25000" dirty="0"/>
              <a:t>1</a:t>
            </a:r>
            <a:r>
              <a:rPr lang="en-US" altLang="zh-CN" b="0" dirty="0"/>
              <a:t>+c</a:t>
            </a:r>
            <a:r>
              <a:rPr lang="en-US" altLang="zh-CN" b="0" baseline="-25000" dirty="0"/>
              <a:t>2</a:t>
            </a:r>
            <a:r>
              <a:rPr lang="en-US" altLang="zh-CN" b="0" dirty="0"/>
              <a:t>+c</a:t>
            </a:r>
            <a:r>
              <a:rPr lang="en-US" altLang="zh-CN" b="0" baseline="-25000" dirty="0"/>
              <a:t>3</a:t>
            </a:r>
            <a:r>
              <a:rPr lang="zh-CN" altLang="en-US" b="0" dirty="0"/>
              <a:t>，</a:t>
            </a:r>
            <a:r>
              <a:rPr lang="en-US" altLang="zh-CN" b="0" dirty="0"/>
              <a:t>n</a:t>
            </a:r>
            <a:r>
              <a:rPr lang="en-US" altLang="zh-CN" b="0" baseline="-25000" dirty="0"/>
              <a:t>0</a:t>
            </a:r>
            <a:r>
              <a:rPr lang="en-US" altLang="zh-CN" b="0" dirty="0"/>
              <a:t>=1</a:t>
            </a:r>
            <a:r>
              <a:rPr lang="zh-CN" altLang="en-US" b="0" dirty="0"/>
              <a:t>，有</a:t>
            </a:r>
            <a:r>
              <a:rPr lang="en-US" altLang="zh-CN" b="0" dirty="0"/>
              <a:t>T(n)≤cn</a:t>
            </a:r>
            <a:r>
              <a:rPr lang="en-US" altLang="zh-CN" b="0" baseline="30000" dirty="0"/>
              <a:t>3</a:t>
            </a:r>
            <a:r>
              <a:rPr lang="zh-CN" altLang="en-US" b="0" dirty="0"/>
              <a:t>，则</a:t>
            </a:r>
            <a:r>
              <a:rPr lang="en-US" altLang="zh-CN" b="0" dirty="0"/>
              <a:t>T(n)= O(n</a:t>
            </a:r>
            <a:r>
              <a:rPr lang="en-US" altLang="zh-CN" b="0" baseline="30000" dirty="0"/>
              <a:t>3</a:t>
            </a:r>
            <a:r>
              <a:rPr lang="en-US" altLang="zh-CN" b="0" dirty="0"/>
              <a:t>)</a:t>
            </a:r>
            <a:r>
              <a:rPr lang="zh-CN" altLang="en-US" b="0" dirty="0"/>
              <a:t>。</a:t>
            </a:r>
            <a:endParaRPr lang="en-US" altLang="zh-CN" b="0" dirty="0"/>
          </a:p>
          <a:p>
            <a:pPr>
              <a:lnSpc>
                <a:spcPct val="150000"/>
              </a:lnSpc>
            </a:pPr>
            <a:endParaRPr lang="zh-CN" altLang="en-US" b="0" dirty="0"/>
          </a:p>
          <a:p>
            <a:pPr>
              <a:lnSpc>
                <a:spcPct val="150000"/>
              </a:lnSpc>
            </a:pPr>
            <a:r>
              <a:rPr lang="zh-CN" altLang="en-US" dirty="0"/>
              <a:t>	</a:t>
            </a:r>
            <a:r>
              <a:rPr lang="en-US" altLang="zh-CN" dirty="0"/>
              <a:t>【</a:t>
            </a:r>
            <a:r>
              <a:rPr lang="zh-CN" altLang="en-US" dirty="0"/>
              <a:t>例</a:t>
            </a:r>
            <a:r>
              <a:rPr lang="en-US" altLang="zh-CN" dirty="0"/>
              <a:t>1-8】</a:t>
            </a:r>
            <a:r>
              <a:rPr lang="zh-CN" altLang="en-US" dirty="0"/>
              <a:t>（常数函数）</a:t>
            </a:r>
            <a:r>
              <a:rPr lang="zh-CN" altLang="en-US" b="0" dirty="0"/>
              <a:t>当</a:t>
            </a:r>
            <a:r>
              <a:rPr lang="en-US" altLang="zh-CN" b="0" dirty="0"/>
              <a:t>T (n)</a:t>
            </a:r>
            <a:r>
              <a:rPr lang="zh-CN" altLang="en-US" b="0" dirty="0"/>
              <a:t>是一个常数时，如</a:t>
            </a:r>
            <a:r>
              <a:rPr lang="en-US" altLang="zh-CN" b="0" dirty="0"/>
              <a:t>T (n) = 10</a:t>
            </a:r>
            <a:r>
              <a:rPr lang="zh-CN" altLang="en-US" b="0" dirty="0"/>
              <a:t>，对于</a:t>
            </a:r>
            <a:r>
              <a:rPr lang="en-US" altLang="zh-CN" b="0" dirty="0"/>
              <a:t>T(n) = 10≤10 * 1</a:t>
            </a:r>
            <a:r>
              <a:rPr lang="zh-CN" altLang="en-US" b="0" dirty="0"/>
              <a:t>，所以</a:t>
            </a:r>
            <a:r>
              <a:rPr lang="en-US" altLang="zh-CN" b="0" dirty="0"/>
              <a:t>T(n)= O(1)</a:t>
            </a:r>
            <a:r>
              <a:rPr lang="zh-CN" altLang="en-US" b="0" dirty="0"/>
              <a:t>，其中：</a:t>
            </a:r>
            <a:r>
              <a:rPr lang="en-US" altLang="zh-CN" b="0" dirty="0"/>
              <a:t>n0 =0</a:t>
            </a:r>
            <a:r>
              <a:rPr lang="zh-CN" altLang="en-US" b="0" dirty="0"/>
              <a:t>，</a:t>
            </a:r>
            <a:r>
              <a:rPr lang="en-US" altLang="zh-CN" b="0" dirty="0"/>
              <a:t>c=10</a:t>
            </a:r>
            <a:r>
              <a:rPr lang="zh-CN" altLang="en-US" b="0" dirty="0"/>
              <a:t>。 </a:t>
            </a:r>
          </a:p>
          <a:p>
            <a:pPr>
              <a:lnSpc>
                <a:spcPct val="150000"/>
              </a:lnSpc>
            </a:pPr>
            <a:endParaRPr lang="zh-CN" altLang="en-US" dirty="0"/>
          </a:p>
        </p:txBody>
      </p:sp>
    </p:spTree>
    <p:extLst>
      <p:ext uri="{BB962C8B-B14F-4D97-AF65-F5344CB8AC3E}">
        <p14:creationId xmlns:p14="http://schemas.microsoft.com/office/powerpoint/2010/main" val="88318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328592"/>
          </a:xfrm>
        </p:spPr>
        <p:txBody>
          <a:bodyPr>
            <a:normAutofit/>
          </a:bodyPr>
          <a:lstStyle/>
          <a:p>
            <a:r>
              <a:rPr lang="zh-CN" altLang="zh-CN" dirty="0"/>
              <a:t>【定理</a:t>
            </a:r>
            <a:r>
              <a:rPr lang="en-US" altLang="zh-CN" dirty="0"/>
              <a:t>1-1</a:t>
            </a:r>
            <a:r>
              <a:rPr lang="zh-CN" altLang="zh-CN" dirty="0"/>
              <a:t>】 如果</a:t>
            </a:r>
            <a:r>
              <a:rPr lang="en-US" altLang="zh-CN" i="1" dirty="0"/>
              <a:t>f </a:t>
            </a:r>
            <a:r>
              <a:rPr lang="en-US" altLang="zh-CN" dirty="0"/>
              <a:t>(</a:t>
            </a:r>
            <a:r>
              <a:rPr lang="en-US" altLang="zh-CN" i="1" dirty="0"/>
              <a:t>n</a:t>
            </a:r>
            <a:r>
              <a:rPr lang="en-US" altLang="zh-CN" dirty="0"/>
              <a:t>) =</a:t>
            </a:r>
            <a:r>
              <a:rPr lang="en-US" altLang="zh-CN" i="1" dirty="0"/>
              <a:t>a</a:t>
            </a:r>
            <a:r>
              <a:rPr lang="en-US" altLang="zh-CN" i="1" baseline="-25000" dirty="0"/>
              <a:t>m</a:t>
            </a:r>
            <a:r>
              <a:rPr lang="en-US" altLang="zh-CN" i="1" dirty="0"/>
              <a:t> n</a:t>
            </a:r>
            <a:r>
              <a:rPr lang="en-US" altLang="zh-CN" i="1" baseline="30000" dirty="0"/>
              <a:t>m</a:t>
            </a:r>
            <a:r>
              <a:rPr lang="en-US" altLang="zh-CN" i="1" dirty="0"/>
              <a:t> </a:t>
            </a:r>
            <a:r>
              <a:rPr lang="en-US" altLang="zh-CN" dirty="0"/>
              <a:t>+ </a:t>
            </a:r>
            <a:r>
              <a:rPr lang="en-US" altLang="zh-CN" i="1" dirty="0"/>
              <a:t>a</a:t>
            </a:r>
            <a:r>
              <a:rPr lang="en-US" altLang="zh-CN" i="1" baseline="-25000" dirty="0"/>
              <a:t>m-1</a:t>
            </a:r>
            <a:r>
              <a:rPr lang="en-US" altLang="zh-CN" i="1" dirty="0"/>
              <a:t> n</a:t>
            </a:r>
            <a:r>
              <a:rPr lang="en-US" altLang="zh-CN" i="1" baseline="30000" dirty="0"/>
              <a:t>m-1</a:t>
            </a:r>
            <a:r>
              <a:rPr lang="en-US" altLang="zh-CN" dirty="0"/>
              <a:t>…+ </a:t>
            </a:r>
            <a:r>
              <a:rPr lang="en-US" altLang="zh-CN" i="1" dirty="0"/>
              <a:t>a</a:t>
            </a:r>
            <a:r>
              <a:rPr lang="en-US" altLang="zh-CN" baseline="-25000" dirty="0"/>
              <a:t>1</a:t>
            </a:r>
            <a:r>
              <a:rPr lang="en-US" altLang="zh-CN" dirty="0"/>
              <a:t> </a:t>
            </a:r>
            <a:r>
              <a:rPr lang="en-US" altLang="zh-CN" i="1" dirty="0"/>
              <a:t>n</a:t>
            </a:r>
            <a:r>
              <a:rPr lang="en-US" altLang="zh-CN" dirty="0"/>
              <a:t>+</a:t>
            </a:r>
            <a:r>
              <a:rPr lang="en-US" altLang="zh-CN" i="1" dirty="0"/>
              <a:t>a</a:t>
            </a:r>
            <a:r>
              <a:rPr lang="en-US" altLang="zh-CN" baseline="-25000" dirty="0"/>
              <a:t>0 </a:t>
            </a:r>
            <a:r>
              <a:rPr lang="zh-CN" altLang="zh-CN" dirty="0"/>
              <a:t>且</a:t>
            </a:r>
            <a:r>
              <a:rPr lang="en-US" altLang="zh-CN" i="1" dirty="0"/>
              <a:t>a</a:t>
            </a:r>
            <a:r>
              <a:rPr lang="en-US" altLang="zh-CN" i="1" baseline="-25000" dirty="0"/>
              <a:t>m </a:t>
            </a:r>
            <a:r>
              <a:rPr lang="en-US" altLang="zh-CN" dirty="0"/>
              <a:t>&gt; 0</a:t>
            </a:r>
            <a:r>
              <a:rPr lang="zh-CN" altLang="zh-CN" dirty="0"/>
              <a:t>，则</a:t>
            </a:r>
            <a:r>
              <a:rPr lang="en-US" altLang="zh-CN" i="1" dirty="0"/>
              <a:t>f </a:t>
            </a:r>
            <a:r>
              <a:rPr lang="en-US" altLang="zh-CN" dirty="0"/>
              <a:t>(</a:t>
            </a:r>
            <a:r>
              <a:rPr lang="en-US" altLang="zh-CN" i="1" dirty="0"/>
              <a:t>n</a:t>
            </a:r>
            <a:r>
              <a:rPr lang="en-US" altLang="zh-CN" dirty="0"/>
              <a:t>)=</a:t>
            </a:r>
            <a:r>
              <a:rPr lang="en-US" altLang="zh-CN" i="1" dirty="0"/>
              <a:t> O</a:t>
            </a:r>
            <a:r>
              <a:rPr lang="en-US" altLang="zh-CN" dirty="0"/>
              <a:t>(</a:t>
            </a:r>
            <a:r>
              <a:rPr lang="en-US" altLang="zh-CN" i="1" dirty="0"/>
              <a:t>n</a:t>
            </a:r>
            <a:r>
              <a:rPr lang="en-US" altLang="zh-CN" i="1" baseline="30000" dirty="0"/>
              <a:t>m</a:t>
            </a:r>
            <a:r>
              <a:rPr lang="en-US" altLang="zh-CN" dirty="0"/>
              <a:t>)</a:t>
            </a:r>
            <a:r>
              <a:rPr lang="zh-CN" altLang="zh-CN" dirty="0"/>
              <a:t>。</a:t>
            </a:r>
          </a:p>
          <a:p>
            <a:r>
              <a:rPr lang="en-US" altLang="zh-CN" dirty="0"/>
              <a:t>	</a:t>
            </a:r>
            <a:r>
              <a:rPr lang="zh-CN" altLang="zh-CN" b="0" dirty="0"/>
              <a:t>证明对于所有的</a:t>
            </a:r>
            <a:r>
              <a:rPr lang="en-US" altLang="zh-CN" b="0" dirty="0"/>
              <a:t>n≥1</a:t>
            </a:r>
            <a:r>
              <a:rPr lang="zh-CN" altLang="zh-CN" b="0" dirty="0"/>
              <a:t>有：</a:t>
            </a:r>
            <a:endParaRPr lang="en-US" altLang="zh-CN" b="0" dirty="0"/>
          </a:p>
          <a:p>
            <a:endParaRPr lang="en-US" altLang="zh-CN" dirty="0"/>
          </a:p>
          <a:p>
            <a:endParaRPr lang="en-US" altLang="zh-CN" dirty="0"/>
          </a:p>
          <a:p>
            <a:endParaRPr lang="zh-CN" altLang="zh-CN" dirty="0"/>
          </a:p>
          <a:p>
            <a:r>
              <a:rPr lang="en-US" altLang="zh-CN" dirty="0"/>
              <a:t>	</a:t>
            </a:r>
          </a:p>
          <a:p>
            <a:endParaRPr lang="en-US" altLang="zh-CN" dirty="0"/>
          </a:p>
          <a:p>
            <a:r>
              <a:rPr lang="en-US" altLang="zh-CN" dirty="0"/>
              <a:t>	</a:t>
            </a:r>
            <a:r>
              <a:rPr lang="zh-CN" altLang="zh-CN" b="0" dirty="0"/>
              <a:t>即，若</a:t>
            </a:r>
            <a:r>
              <a:rPr lang="en-US" altLang="zh-CN" b="0" i="1" dirty="0"/>
              <a:t>f </a:t>
            </a:r>
            <a:r>
              <a:rPr lang="en-US" altLang="zh-CN" b="0" dirty="0"/>
              <a:t>(</a:t>
            </a:r>
            <a:r>
              <a:rPr lang="en-US" altLang="zh-CN" b="0" i="1" dirty="0"/>
              <a:t>n</a:t>
            </a:r>
            <a:r>
              <a:rPr lang="en-US" altLang="zh-CN" b="0" dirty="0"/>
              <a:t>)</a:t>
            </a:r>
            <a:r>
              <a:rPr lang="zh-CN" altLang="zh-CN" b="0" dirty="0"/>
              <a:t>是一个关于</a:t>
            </a:r>
            <a:r>
              <a:rPr lang="en-US" altLang="zh-CN" b="0" dirty="0"/>
              <a:t>n</a:t>
            </a:r>
            <a:r>
              <a:rPr lang="zh-CN" altLang="zh-CN" b="0" dirty="0"/>
              <a:t>的多项式，则其算法复杂度取最高次幂：</a:t>
            </a:r>
            <a:r>
              <a:rPr lang="en-US" altLang="zh-CN" b="0" i="1" dirty="0"/>
              <a:t>f </a:t>
            </a:r>
            <a:r>
              <a:rPr lang="en-US" altLang="zh-CN" b="0" dirty="0"/>
              <a:t>(</a:t>
            </a:r>
            <a:r>
              <a:rPr lang="en-US" altLang="zh-CN" b="0" i="1" dirty="0"/>
              <a:t>n</a:t>
            </a:r>
            <a:r>
              <a:rPr lang="en-US" altLang="zh-CN" b="0" dirty="0"/>
              <a:t>)= </a:t>
            </a:r>
            <a:r>
              <a:rPr lang="en-US" altLang="zh-CN" b="0" i="1" dirty="0"/>
              <a:t>O</a:t>
            </a:r>
            <a:r>
              <a:rPr lang="en-US" altLang="zh-CN" b="0" dirty="0"/>
              <a:t>(</a:t>
            </a:r>
            <a:r>
              <a:rPr lang="en-US" altLang="zh-CN" b="0" i="1" dirty="0"/>
              <a:t>n</a:t>
            </a:r>
            <a:r>
              <a:rPr lang="en-US" altLang="zh-CN" b="0" i="1" baseline="30000" dirty="0"/>
              <a:t>m</a:t>
            </a:r>
            <a:r>
              <a:rPr lang="en-US" altLang="zh-CN" b="0" dirty="0"/>
              <a:t>)</a:t>
            </a:r>
            <a:r>
              <a:rPr lang="zh-CN" altLang="zh-CN" b="0" dirty="0"/>
              <a:t>。</a:t>
            </a:r>
          </a:p>
          <a:p>
            <a:endParaRPr lang="zh-CN" altLang="en-US" dirty="0"/>
          </a:p>
        </p:txBody>
      </p:sp>
      <p:pic>
        <p:nvPicPr>
          <p:cNvPr id="512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3848" y="2492896"/>
            <a:ext cx="2283892" cy="25340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95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12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1.6.2 </a:t>
            </a:r>
            <a:r>
              <a:rPr lang="zh-CN" altLang="zh-CN" b="1" dirty="0"/>
              <a:t>下限表示法</a:t>
            </a:r>
            <a:r>
              <a:rPr lang="zh-CN" altLang="en-US" b="1" dirty="0"/>
              <a:t>（</a:t>
            </a:r>
            <a:r>
              <a:rPr lang="zh-CN" altLang="zh-CN" dirty="0">
                <a:solidFill>
                  <a:srgbClr val="FF0000"/>
                </a:solidFill>
              </a:rPr>
              <a:t>大</a:t>
            </a:r>
            <a:r>
              <a:rPr lang="en-US" altLang="zh-CN" i="1" dirty="0">
                <a:solidFill>
                  <a:srgbClr val="FF0000"/>
                </a:solidFill>
              </a:rPr>
              <a:t>Ω</a:t>
            </a:r>
            <a:r>
              <a:rPr lang="zh-CN" altLang="en-US" dirty="0">
                <a:solidFill>
                  <a:srgbClr val="FF0000"/>
                </a:solidFill>
              </a:rPr>
              <a:t>表示法</a:t>
            </a:r>
            <a:r>
              <a:rPr lang="zh-CN" altLang="en-US" b="1" dirty="0"/>
              <a:t>）</a:t>
            </a:r>
            <a:endParaRPr lang="zh-CN" altLang="en-US" dirty="0"/>
          </a:p>
        </p:txBody>
      </p:sp>
      <p:sp>
        <p:nvSpPr>
          <p:cNvPr id="3" name="内容占位符 2"/>
          <p:cNvSpPr>
            <a:spLocks noGrp="1"/>
          </p:cNvSpPr>
          <p:nvPr>
            <p:ph idx="1"/>
          </p:nvPr>
        </p:nvSpPr>
        <p:spPr>
          <a:xfrm>
            <a:off x="827584" y="1628800"/>
            <a:ext cx="7848872" cy="4248472"/>
          </a:xfrm>
        </p:spPr>
        <p:txBody>
          <a:bodyPr>
            <a:normAutofit/>
          </a:bodyPr>
          <a:lstStyle/>
          <a:p>
            <a:r>
              <a:rPr lang="en-US" altLang="zh-CN" dirty="0"/>
              <a:t>	</a:t>
            </a:r>
            <a:r>
              <a:rPr lang="zh-CN" altLang="zh-CN" b="0" dirty="0"/>
              <a:t>同上限表示法一样，算法运行时间的下限也是估计问题所需某种资源的复杂程度的界限函数，它表示该算法可能有的</a:t>
            </a:r>
            <a:r>
              <a:rPr lang="zh-CN" altLang="zh-CN" dirty="0">
                <a:solidFill>
                  <a:srgbClr val="FF0000"/>
                </a:solidFill>
              </a:rPr>
              <a:t>最小增长率</a:t>
            </a:r>
            <a:r>
              <a:rPr lang="zh-CN" altLang="zh-CN" b="0" dirty="0"/>
              <a:t>。与大</a:t>
            </a:r>
            <a:r>
              <a:rPr lang="zh-CN" altLang="zh-CN" b="0" i="1" dirty="0"/>
              <a:t>O</a:t>
            </a:r>
            <a:r>
              <a:rPr lang="zh-CN" altLang="zh-CN" b="0" dirty="0"/>
              <a:t>表示法类似，用符号大</a:t>
            </a:r>
            <a:r>
              <a:rPr lang="en-US" altLang="zh-CN" b="0" i="1" dirty="0"/>
              <a:t>Ω</a:t>
            </a:r>
            <a:r>
              <a:rPr lang="zh-CN" altLang="zh-CN" b="0" dirty="0"/>
              <a:t>来估算函数</a:t>
            </a:r>
            <a:r>
              <a:rPr lang="zh-CN" altLang="zh-CN" b="0" i="1" dirty="0"/>
              <a:t>f</a:t>
            </a:r>
            <a:r>
              <a:rPr lang="zh-CN" altLang="zh-CN" b="0" dirty="0"/>
              <a:t>(n)的下限值。</a:t>
            </a:r>
            <a:endParaRPr lang="en-US" altLang="zh-CN" b="0" dirty="0"/>
          </a:p>
          <a:p>
            <a:endParaRPr lang="en-US" altLang="zh-CN" b="0" dirty="0"/>
          </a:p>
          <a:p>
            <a:pPr algn="just"/>
            <a:r>
              <a:rPr lang="zh-CN" altLang="zh-CN" dirty="0"/>
              <a:t>【定义：</a:t>
            </a:r>
            <a:r>
              <a:rPr lang="en-US" altLang="zh-CN" i="1" dirty="0"/>
              <a:t>Ω</a:t>
            </a:r>
            <a:r>
              <a:rPr lang="zh-CN" altLang="zh-CN" dirty="0"/>
              <a:t>符号】假设</a:t>
            </a:r>
            <a:r>
              <a:rPr lang="en-US" altLang="zh-CN" i="1" dirty="0"/>
              <a:t>f </a:t>
            </a:r>
            <a:r>
              <a:rPr lang="en-US" altLang="zh-CN" dirty="0"/>
              <a:t>(</a:t>
            </a:r>
            <a:r>
              <a:rPr lang="en-US" altLang="zh-CN" i="1" dirty="0"/>
              <a:t>n</a:t>
            </a:r>
            <a:r>
              <a:rPr lang="en-US" altLang="zh-CN" dirty="0"/>
              <a:t>)</a:t>
            </a:r>
            <a:r>
              <a:rPr lang="zh-CN" altLang="zh-CN" dirty="0"/>
              <a:t>和</a:t>
            </a:r>
            <a:r>
              <a:rPr lang="en-US" altLang="zh-CN" i="1" dirty="0"/>
              <a:t>g </a:t>
            </a:r>
            <a:r>
              <a:rPr lang="en-US" altLang="zh-CN" dirty="0"/>
              <a:t>(</a:t>
            </a:r>
            <a:r>
              <a:rPr lang="en-US" altLang="zh-CN" i="1" dirty="0"/>
              <a:t>n</a:t>
            </a:r>
            <a:r>
              <a:rPr lang="en-US" altLang="zh-CN" dirty="0"/>
              <a:t>)</a:t>
            </a:r>
            <a:r>
              <a:rPr lang="zh-CN" altLang="zh-CN" dirty="0"/>
              <a:t>是关于整数</a:t>
            </a:r>
            <a:r>
              <a:rPr lang="en-US" altLang="zh-CN" dirty="0"/>
              <a:t>n</a:t>
            </a:r>
            <a:r>
              <a:rPr lang="zh-CN" altLang="zh-CN" dirty="0"/>
              <a:t>的非负函数，若存在两个正常数c和n</a:t>
            </a:r>
            <a:r>
              <a:rPr lang="zh-CN" altLang="zh-CN" baseline="-25000" dirty="0"/>
              <a:t>0</a:t>
            </a:r>
            <a:r>
              <a:rPr lang="zh-CN" altLang="zh-CN" dirty="0"/>
              <a:t>，对于n</a:t>
            </a:r>
            <a:r>
              <a:rPr lang="en-US" altLang="zh-CN" dirty="0"/>
              <a:t>≥</a:t>
            </a:r>
            <a:r>
              <a:rPr lang="zh-CN" altLang="zh-CN" dirty="0"/>
              <a:t>n</a:t>
            </a:r>
            <a:r>
              <a:rPr lang="zh-CN" altLang="zh-CN" baseline="-25000" dirty="0"/>
              <a:t>0</a:t>
            </a:r>
            <a:r>
              <a:rPr lang="zh-CN" altLang="zh-CN" dirty="0"/>
              <a:t>，有</a:t>
            </a:r>
            <a:r>
              <a:rPr lang="zh-CN" altLang="zh-CN" i="1" dirty="0"/>
              <a:t>f</a:t>
            </a:r>
            <a:r>
              <a:rPr lang="zh-CN" altLang="zh-CN" dirty="0"/>
              <a:t>(n)≥ c</a:t>
            </a:r>
            <a:r>
              <a:rPr lang="zh-CN" altLang="zh-CN" i="1" dirty="0"/>
              <a:t>g</a:t>
            </a:r>
            <a:r>
              <a:rPr lang="zh-CN" altLang="zh-CN" dirty="0"/>
              <a:t>(n)，则称</a:t>
            </a:r>
            <a:r>
              <a:rPr lang="zh-CN" altLang="zh-CN" i="1" dirty="0"/>
              <a:t>f</a:t>
            </a:r>
            <a:r>
              <a:rPr lang="zh-CN" altLang="zh-CN" dirty="0"/>
              <a:t>(n)在集合</a:t>
            </a:r>
            <a:r>
              <a:rPr lang="en-US" altLang="zh-CN" i="1" dirty="0"/>
              <a:t>Ω</a:t>
            </a:r>
            <a:r>
              <a:rPr lang="zh-CN" altLang="zh-CN" dirty="0"/>
              <a:t>(</a:t>
            </a:r>
            <a:r>
              <a:rPr lang="zh-CN" altLang="zh-CN" i="1" dirty="0"/>
              <a:t>g</a:t>
            </a:r>
            <a:r>
              <a:rPr lang="zh-CN" altLang="zh-CN" dirty="0"/>
              <a:t>(n))中。简记为</a:t>
            </a:r>
            <a:r>
              <a:rPr lang="zh-CN" altLang="zh-CN" i="1" dirty="0"/>
              <a:t>f</a:t>
            </a:r>
            <a:r>
              <a:rPr lang="zh-CN" altLang="zh-CN" dirty="0"/>
              <a:t>(n)=</a:t>
            </a:r>
            <a:r>
              <a:rPr lang="en-US" altLang="zh-CN" i="1" dirty="0"/>
              <a:t>Ω</a:t>
            </a:r>
            <a:r>
              <a:rPr lang="zh-CN" altLang="zh-CN" dirty="0"/>
              <a:t>(</a:t>
            </a:r>
            <a:r>
              <a:rPr lang="zh-CN" altLang="zh-CN" i="1" dirty="0"/>
              <a:t>g</a:t>
            </a:r>
            <a:r>
              <a:rPr lang="zh-CN" altLang="zh-CN" dirty="0"/>
              <a:t>(n))。</a:t>
            </a:r>
            <a:endParaRPr lang="zh-CN" altLang="en-US" dirty="0"/>
          </a:p>
        </p:txBody>
      </p:sp>
    </p:spTree>
    <p:extLst>
      <p:ext uri="{BB962C8B-B14F-4D97-AF65-F5344CB8AC3E}">
        <p14:creationId xmlns:p14="http://schemas.microsoft.com/office/powerpoint/2010/main" val="1208877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1124744"/>
            <a:ext cx="8208912" cy="4608512"/>
          </a:xfrm>
        </p:spPr>
        <p:txBody>
          <a:bodyPr>
            <a:normAutofit/>
          </a:bodyPr>
          <a:lstStyle/>
          <a:p>
            <a:r>
              <a:rPr lang="zh-CN" altLang="zh-CN" b="0" dirty="0"/>
              <a:t>【例</a:t>
            </a:r>
            <a:r>
              <a:rPr lang="en-US" altLang="zh-CN" b="0" dirty="0"/>
              <a:t>1-9</a:t>
            </a:r>
            <a:r>
              <a:rPr lang="zh-CN" altLang="zh-CN" b="0" dirty="0"/>
              <a:t>】对于所有的</a:t>
            </a:r>
            <a:r>
              <a:rPr lang="en-US" altLang="zh-CN" b="0" dirty="0"/>
              <a:t>n</a:t>
            </a:r>
            <a:r>
              <a:rPr lang="zh-CN" altLang="zh-CN" b="0" dirty="0"/>
              <a:t>，有</a:t>
            </a:r>
            <a:r>
              <a:rPr lang="en-US" altLang="zh-CN" b="0" i="1" dirty="0"/>
              <a:t>T</a:t>
            </a:r>
            <a:r>
              <a:rPr lang="en-US" altLang="zh-CN" b="0" dirty="0"/>
              <a:t>(n) = 3n+ 2 &gt; 3n</a:t>
            </a:r>
            <a:r>
              <a:rPr lang="zh-CN" altLang="zh-CN" b="0" dirty="0"/>
              <a:t>，因此</a:t>
            </a:r>
            <a:r>
              <a:rPr lang="en-US" altLang="zh-CN" b="0" i="1" dirty="0"/>
              <a:t>T</a:t>
            </a:r>
            <a:r>
              <a:rPr lang="en-US" altLang="zh-CN" b="0" dirty="0"/>
              <a:t>(n)=</a:t>
            </a:r>
            <a:r>
              <a:rPr lang="en-US" altLang="zh-CN" b="0" i="1" dirty="0"/>
              <a:t>Ω</a:t>
            </a:r>
            <a:r>
              <a:rPr lang="en-US" altLang="zh-CN" b="0" dirty="0"/>
              <a:t>(n)</a:t>
            </a:r>
            <a:r>
              <a:rPr lang="zh-CN" altLang="zh-CN" b="0" dirty="0"/>
              <a:t>。同样地， </a:t>
            </a:r>
            <a:r>
              <a:rPr lang="en-US" altLang="zh-CN" b="0" i="1" dirty="0"/>
              <a:t>T</a:t>
            </a:r>
            <a:r>
              <a:rPr lang="en-US" altLang="zh-CN" b="0" dirty="0"/>
              <a:t>(n) = 3n+ 3 &gt; 3n</a:t>
            </a:r>
            <a:r>
              <a:rPr lang="zh-CN" altLang="zh-CN" b="0" dirty="0"/>
              <a:t>，所以有</a:t>
            </a:r>
            <a:r>
              <a:rPr lang="en-US" altLang="zh-CN" b="0" i="1" dirty="0"/>
              <a:t>T</a:t>
            </a:r>
            <a:r>
              <a:rPr lang="en-US" altLang="zh-CN" b="0" dirty="0"/>
              <a:t>(n)=</a:t>
            </a:r>
            <a:r>
              <a:rPr lang="en-US" altLang="zh-CN" b="0" i="1" dirty="0"/>
              <a:t>Ω</a:t>
            </a:r>
            <a:r>
              <a:rPr lang="en-US" altLang="zh-CN" b="0" dirty="0"/>
              <a:t>(n)</a:t>
            </a:r>
            <a:r>
              <a:rPr lang="zh-CN" altLang="zh-CN" b="0" dirty="0"/>
              <a:t>。因而</a:t>
            </a:r>
            <a:r>
              <a:rPr lang="en-US" altLang="zh-CN" b="0" dirty="0"/>
              <a:t>3n+ 2</a:t>
            </a:r>
            <a:r>
              <a:rPr lang="zh-CN" altLang="zh-CN" b="0" dirty="0"/>
              <a:t>和</a:t>
            </a:r>
            <a:r>
              <a:rPr lang="en-US" altLang="zh-CN" b="0" dirty="0"/>
              <a:t>3n+ 3</a:t>
            </a:r>
            <a:r>
              <a:rPr lang="zh-CN" altLang="zh-CN" b="0" dirty="0"/>
              <a:t>都是带有下限的线性函数。</a:t>
            </a:r>
            <a:endParaRPr lang="en-US" altLang="zh-CN" b="0" dirty="0"/>
          </a:p>
          <a:p>
            <a:endParaRPr lang="zh-CN" altLang="zh-CN" b="0" dirty="0"/>
          </a:p>
          <a:p>
            <a:r>
              <a:rPr lang="zh-CN" altLang="zh-CN" b="0" dirty="0"/>
              <a:t>【例</a:t>
            </a:r>
            <a:r>
              <a:rPr lang="en-US" altLang="zh-CN" b="0" dirty="0"/>
              <a:t>1-10</a:t>
            </a:r>
            <a:r>
              <a:rPr lang="zh-CN" altLang="zh-CN" b="0" dirty="0"/>
              <a:t>】某一算法平均情况下</a:t>
            </a:r>
            <a:r>
              <a:rPr lang="zh-CN" altLang="zh-CN" b="0" i="1" dirty="0"/>
              <a:t>T</a:t>
            </a:r>
            <a:r>
              <a:rPr lang="zh-CN" altLang="zh-CN" b="0" dirty="0"/>
              <a:t>(n)= c</a:t>
            </a:r>
            <a:r>
              <a:rPr lang="zh-CN" altLang="zh-CN" b="0" baseline="-25000" dirty="0"/>
              <a:t>1</a:t>
            </a:r>
            <a:r>
              <a:rPr lang="zh-CN" altLang="zh-CN" b="0" dirty="0"/>
              <a:t>n</a:t>
            </a:r>
            <a:r>
              <a:rPr lang="zh-CN" altLang="zh-CN" b="0" baseline="30000" dirty="0"/>
              <a:t>3</a:t>
            </a:r>
            <a:r>
              <a:rPr lang="zh-CN" altLang="zh-CN" b="0" dirty="0"/>
              <a:t>+c</a:t>
            </a:r>
            <a:r>
              <a:rPr lang="zh-CN" altLang="zh-CN" b="0" baseline="-25000" dirty="0"/>
              <a:t>2</a:t>
            </a:r>
            <a:r>
              <a:rPr lang="zh-CN" altLang="zh-CN" b="0" dirty="0"/>
              <a:t>n</a:t>
            </a:r>
            <a:r>
              <a:rPr lang="zh-CN" altLang="zh-CN" b="0" baseline="30000" dirty="0"/>
              <a:t>2</a:t>
            </a:r>
            <a:r>
              <a:rPr lang="zh-CN" altLang="zh-CN" b="0" dirty="0"/>
              <a:t>+c</a:t>
            </a:r>
            <a:r>
              <a:rPr lang="zh-CN" altLang="zh-CN" b="0" baseline="-25000" dirty="0"/>
              <a:t>3</a:t>
            </a:r>
            <a:r>
              <a:rPr lang="zh-CN" altLang="zh-CN" b="0" dirty="0"/>
              <a:t>n，</a:t>
            </a:r>
            <a:r>
              <a:rPr lang="zh-CN" altLang="en-US" b="0" dirty="0"/>
              <a:t>其中：</a:t>
            </a:r>
            <a:r>
              <a:rPr lang="zh-CN" altLang="zh-CN" b="0" dirty="0"/>
              <a:t>c</a:t>
            </a:r>
            <a:r>
              <a:rPr lang="zh-CN" altLang="zh-CN" b="0" baseline="-25000" dirty="0"/>
              <a:t>1</a:t>
            </a:r>
            <a:r>
              <a:rPr lang="zh-CN" altLang="zh-CN" b="0" dirty="0"/>
              <a:t>，c</a:t>
            </a:r>
            <a:r>
              <a:rPr lang="zh-CN" altLang="zh-CN" b="0" baseline="-25000" dirty="0"/>
              <a:t>2</a:t>
            </a:r>
            <a:r>
              <a:rPr lang="zh-CN" altLang="zh-CN" b="0" dirty="0"/>
              <a:t>，c</a:t>
            </a:r>
            <a:r>
              <a:rPr lang="zh-CN" altLang="zh-CN" b="0" baseline="-25000" dirty="0"/>
              <a:t>3</a:t>
            </a:r>
            <a:r>
              <a:rPr lang="zh-CN" altLang="zh-CN" b="0" dirty="0"/>
              <a:t>为正数，则有：</a:t>
            </a:r>
          </a:p>
          <a:p>
            <a:r>
              <a:rPr lang="zh-CN" altLang="zh-CN" b="0" dirty="0"/>
              <a:t>                              c</a:t>
            </a:r>
            <a:r>
              <a:rPr lang="zh-CN" altLang="zh-CN" b="0" baseline="-25000" dirty="0"/>
              <a:t>1</a:t>
            </a:r>
            <a:r>
              <a:rPr lang="zh-CN" altLang="zh-CN" b="0" dirty="0"/>
              <a:t>n</a:t>
            </a:r>
            <a:r>
              <a:rPr lang="zh-CN" altLang="zh-CN" b="0" baseline="30000" dirty="0"/>
              <a:t>3</a:t>
            </a:r>
            <a:r>
              <a:rPr lang="zh-CN" altLang="zh-CN" b="0" dirty="0"/>
              <a:t>+c</a:t>
            </a:r>
            <a:r>
              <a:rPr lang="zh-CN" altLang="zh-CN" b="0" baseline="-25000" dirty="0"/>
              <a:t>2</a:t>
            </a:r>
            <a:r>
              <a:rPr lang="zh-CN" altLang="zh-CN" b="0" dirty="0"/>
              <a:t>n</a:t>
            </a:r>
            <a:r>
              <a:rPr lang="zh-CN" altLang="zh-CN" b="0" baseline="30000" dirty="0"/>
              <a:t>2</a:t>
            </a:r>
            <a:r>
              <a:rPr lang="zh-CN" altLang="zh-CN" b="0" dirty="0"/>
              <a:t>+c</a:t>
            </a:r>
            <a:r>
              <a:rPr lang="zh-CN" altLang="zh-CN" b="0" baseline="-25000" dirty="0"/>
              <a:t>3</a:t>
            </a:r>
            <a:r>
              <a:rPr lang="zh-CN" altLang="zh-CN" b="0" dirty="0"/>
              <a:t>n≥c</a:t>
            </a:r>
            <a:r>
              <a:rPr lang="zh-CN" altLang="zh-CN" b="0" baseline="-25000" dirty="0"/>
              <a:t>1</a:t>
            </a:r>
            <a:r>
              <a:rPr lang="zh-CN" altLang="zh-CN" b="0" dirty="0"/>
              <a:t>n</a:t>
            </a:r>
            <a:r>
              <a:rPr lang="zh-CN" altLang="zh-CN" b="0" baseline="30000" dirty="0"/>
              <a:t>3</a:t>
            </a:r>
            <a:r>
              <a:rPr lang="zh-CN" altLang="zh-CN" b="0" dirty="0"/>
              <a:t>  （n＞1）</a:t>
            </a:r>
          </a:p>
          <a:p>
            <a:r>
              <a:rPr lang="zh-CN" altLang="zh-CN" b="0" dirty="0"/>
              <a:t>    因此，取c=c</a:t>
            </a:r>
            <a:r>
              <a:rPr lang="zh-CN" altLang="zh-CN" b="0" baseline="-25000" dirty="0"/>
              <a:t>1</a:t>
            </a:r>
            <a:r>
              <a:rPr lang="zh-CN" altLang="zh-CN" b="0" dirty="0"/>
              <a:t>，n</a:t>
            </a:r>
            <a:r>
              <a:rPr lang="zh-CN" altLang="zh-CN" b="0" baseline="-25000" dirty="0"/>
              <a:t>0</a:t>
            </a:r>
            <a:r>
              <a:rPr lang="zh-CN" altLang="zh-CN" b="0" dirty="0"/>
              <a:t>=1，有</a:t>
            </a:r>
            <a:r>
              <a:rPr lang="zh-CN" altLang="zh-CN" b="0" i="1" dirty="0"/>
              <a:t>T</a:t>
            </a:r>
            <a:r>
              <a:rPr lang="zh-CN" altLang="zh-CN" b="0" dirty="0"/>
              <a:t>(n)≥cn</a:t>
            </a:r>
            <a:r>
              <a:rPr lang="zh-CN" altLang="zh-CN" b="0" baseline="30000" dirty="0"/>
              <a:t>3</a:t>
            </a:r>
            <a:r>
              <a:rPr lang="zh-CN" altLang="zh-CN" b="0" dirty="0"/>
              <a:t>，则</a:t>
            </a:r>
            <a:r>
              <a:rPr lang="zh-CN" altLang="zh-CN" b="0" i="1" dirty="0"/>
              <a:t>T</a:t>
            </a:r>
            <a:r>
              <a:rPr lang="zh-CN" altLang="zh-CN" b="0" dirty="0"/>
              <a:t>(n)=</a:t>
            </a:r>
            <a:r>
              <a:rPr lang="en-US" altLang="zh-CN" b="0" dirty="0"/>
              <a:t>Ω</a:t>
            </a:r>
            <a:r>
              <a:rPr lang="zh-CN" altLang="zh-CN" b="0" dirty="0"/>
              <a:t>(n</a:t>
            </a:r>
            <a:r>
              <a:rPr lang="zh-CN" altLang="zh-CN" b="0" baseline="30000" dirty="0"/>
              <a:t>3</a:t>
            </a:r>
            <a:r>
              <a:rPr lang="zh-CN" altLang="zh-CN" b="0" dirty="0"/>
              <a:t>)。</a:t>
            </a:r>
          </a:p>
        </p:txBody>
      </p:sp>
    </p:spTree>
    <p:extLst>
      <p:ext uri="{BB962C8B-B14F-4D97-AF65-F5344CB8AC3E}">
        <p14:creationId xmlns:p14="http://schemas.microsoft.com/office/powerpoint/2010/main" val="165707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816382" cy="4824536"/>
          </a:xfrm>
        </p:spPr>
        <p:txBody>
          <a:bodyPr>
            <a:normAutofit/>
          </a:bodyPr>
          <a:lstStyle/>
          <a:p>
            <a:r>
              <a:rPr lang="en-US" altLang="zh-CN" b="0" dirty="0"/>
              <a:t>	</a:t>
            </a:r>
            <a:r>
              <a:rPr lang="zh-CN" altLang="zh-CN" dirty="0"/>
              <a:t>【定理</a:t>
            </a:r>
            <a:r>
              <a:rPr lang="en-US" altLang="zh-CN" dirty="0"/>
              <a:t>1-3 </a:t>
            </a:r>
            <a:r>
              <a:rPr lang="zh-CN" altLang="zh-CN" dirty="0"/>
              <a:t>】如果</a:t>
            </a:r>
            <a:r>
              <a:rPr lang="en-US" altLang="zh-CN" i="1" dirty="0"/>
              <a:t>f </a:t>
            </a:r>
            <a:r>
              <a:rPr lang="en-US" altLang="zh-CN" dirty="0"/>
              <a:t>(</a:t>
            </a:r>
            <a:r>
              <a:rPr lang="en-US" altLang="zh-CN" i="1" dirty="0"/>
              <a:t>n</a:t>
            </a:r>
            <a:r>
              <a:rPr lang="en-US" altLang="zh-CN" dirty="0"/>
              <a:t>) =</a:t>
            </a:r>
            <a:r>
              <a:rPr lang="en-US" altLang="zh-CN" i="1" dirty="0"/>
              <a:t>a</a:t>
            </a:r>
            <a:r>
              <a:rPr lang="en-US" altLang="zh-CN" i="1" baseline="-25000" dirty="0"/>
              <a:t>m</a:t>
            </a:r>
            <a:r>
              <a:rPr lang="en-US" altLang="zh-CN" i="1" dirty="0"/>
              <a:t> n</a:t>
            </a:r>
            <a:r>
              <a:rPr lang="en-US" altLang="zh-CN" i="1" baseline="30000" dirty="0"/>
              <a:t>m</a:t>
            </a:r>
            <a:r>
              <a:rPr lang="en-US" altLang="zh-CN" dirty="0"/>
              <a:t> +…+</a:t>
            </a:r>
            <a:r>
              <a:rPr lang="en-US" altLang="zh-CN" i="1" dirty="0"/>
              <a:t>a</a:t>
            </a:r>
            <a:r>
              <a:rPr lang="en-US" altLang="zh-CN" i="1" baseline="-25000" dirty="0"/>
              <a:t>1</a:t>
            </a:r>
            <a:r>
              <a:rPr lang="en-US" altLang="zh-CN" i="1" dirty="0"/>
              <a:t>n</a:t>
            </a:r>
            <a:r>
              <a:rPr lang="en-US" altLang="zh-CN" dirty="0"/>
              <a:t>+</a:t>
            </a:r>
            <a:r>
              <a:rPr lang="en-US" altLang="zh-CN" i="1" dirty="0"/>
              <a:t>a</a:t>
            </a:r>
            <a:r>
              <a:rPr lang="en-US" altLang="zh-CN" i="1" baseline="-25000" dirty="0"/>
              <a:t>0</a:t>
            </a:r>
            <a:r>
              <a:rPr lang="en-US" altLang="zh-CN" dirty="0"/>
              <a:t> </a:t>
            </a:r>
            <a:r>
              <a:rPr lang="zh-CN" altLang="zh-CN" dirty="0"/>
              <a:t>且</a:t>
            </a:r>
            <a:r>
              <a:rPr lang="en-US" altLang="zh-CN" i="1" dirty="0"/>
              <a:t>a</a:t>
            </a:r>
            <a:r>
              <a:rPr lang="en-US" altLang="zh-CN" i="1" baseline="-25000" dirty="0"/>
              <a:t>m</a:t>
            </a:r>
            <a:r>
              <a:rPr lang="en-US" altLang="zh-CN" i="1" dirty="0"/>
              <a:t> </a:t>
            </a:r>
            <a:r>
              <a:rPr lang="en-US" altLang="zh-CN" dirty="0"/>
              <a:t>&gt; 0</a:t>
            </a:r>
            <a:r>
              <a:rPr lang="zh-CN" altLang="zh-CN" dirty="0"/>
              <a:t>，则</a:t>
            </a:r>
            <a:r>
              <a:rPr lang="en-US" altLang="zh-CN" i="1" dirty="0"/>
              <a:t>f</a:t>
            </a:r>
            <a:r>
              <a:rPr lang="en-US" altLang="zh-CN" dirty="0"/>
              <a:t>(</a:t>
            </a:r>
            <a:r>
              <a:rPr lang="en-US" altLang="zh-CN" i="1" dirty="0"/>
              <a:t>n</a:t>
            </a:r>
            <a:r>
              <a:rPr lang="en-US" altLang="zh-CN" dirty="0"/>
              <a:t>) =</a:t>
            </a:r>
            <a:r>
              <a:rPr lang="en-US" altLang="zh-CN" i="1" dirty="0"/>
              <a:t>Ω</a:t>
            </a:r>
            <a:r>
              <a:rPr lang="en-US" altLang="zh-CN" dirty="0"/>
              <a:t>(</a:t>
            </a:r>
            <a:r>
              <a:rPr lang="en-US" altLang="zh-CN" i="1" dirty="0"/>
              <a:t> n</a:t>
            </a:r>
            <a:r>
              <a:rPr lang="en-US" altLang="zh-CN" i="1" baseline="30000" dirty="0"/>
              <a:t>m</a:t>
            </a:r>
            <a:r>
              <a:rPr lang="en-US" altLang="zh-CN" dirty="0"/>
              <a:t>)</a:t>
            </a:r>
            <a:r>
              <a:rPr lang="zh-CN" altLang="zh-CN" dirty="0"/>
              <a:t>。</a:t>
            </a:r>
            <a:r>
              <a:rPr lang="zh-CN" altLang="zh-CN" b="0" dirty="0"/>
              <a:t>（证明略）</a:t>
            </a:r>
          </a:p>
          <a:p>
            <a:r>
              <a:rPr lang="zh-CN" altLang="zh-CN" b="0" dirty="0"/>
              <a:t>	</a:t>
            </a:r>
            <a:r>
              <a:rPr lang="en-US" altLang="zh-CN" b="0" dirty="0"/>
              <a:t>        </a:t>
            </a:r>
            <a:r>
              <a:rPr lang="zh-CN" altLang="zh-CN" b="0" dirty="0"/>
              <a:t>因此，如果某种算法在</a:t>
            </a:r>
            <a:r>
              <a:rPr lang="en-US" altLang="zh-CN" b="0" i="1" dirty="0"/>
              <a:t>Ω</a:t>
            </a:r>
            <a:r>
              <a:rPr lang="zh-CN" altLang="zh-CN" b="0" dirty="0"/>
              <a:t>(n</a:t>
            </a:r>
            <a:r>
              <a:rPr lang="zh-CN" altLang="zh-CN" b="0" baseline="30000" dirty="0"/>
              <a:t>3</a:t>
            </a:r>
            <a:r>
              <a:rPr lang="zh-CN" altLang="zh-CN" b="0" dirty="0"/>
              <a:t>)中，那也一定在</a:t>
            </a:r>
            <a:r>
              <a:rPr lang="en-US" altLang="zh-CN" b="0" i="1" dirty="0"/>
              <a:t>Ω</a:t>
            </a:r>
            <a:r>
              <a:rPr lang="zh-CN" altLang="zh-CN" b="0" dirty="0"/>
              <a:t>(n</a:t>
            </a:r>
            <a:r>
              <a:rPr lang="zh-CN" altLang="zh-CN" b="0" baseline="30000" dirty="0"/>
              <a:t>2</a:t>
            </a:r>
            <a:r>
              <a:rPr lang="zh-CN" altLang="zh-CN" b="0" dirty="0"/>
              <a:t>)中，正如大</a:t>
            </a:r>
            <a:r>
              <a:rPr lang="zh-CN" altLang="zh-CN" b="0" i="1" dirty="0"/>
              <a:t>O</a:t>
            </a:r>
            <a:r>
              <a:rPr lang="zh-CN" altLang="zh-CN" b="0" dirty="0"/>
              <a:t>表示法，我们同样希望找到一个最“紧”（即最大）的下限。</a:t>
            </a:r>
            <a:endParaRPr lang="en-US" altLang="zh-CN" b="0" dirty="0"/>
          </a:p>
          <a:p>
            <a:endParaRPr lang="zh-CN" altLang="zh-CN" b="0" dirty="0"/>
          </a:p>
          <a:p>
            <a:r>
              <a:rPr lang="en-US" altLang="zh-CN" b="0" dirty="0"/>
              <a:t>	</a:t>
            </a:r>
            <a:endParaRPr lang="zh-CN" altLang="en-US" dirty="0"/>
          </a:p>
        </p:txBody>
      </p:sp>
    </p:spTree>
    <p:extLst>
      <p:ext uri="{BB962C8B-B14F-4D97-AF65-F5344CB8AC3E}">
        <p14:creationId xmlns:p14="http://schemas.microsoft.com/office/powerpoint/2010/main" val="2869280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1.6.3 Θ</a:t>
            </a:r>
            <a:r>
              <a:rPr lang="zh-CN" altLang="zh-CN" b="1" dirty="0"/>
              <a:t>表示法</a:t>
            </a:r>
            <a:endParaRPr lang="zh-CN" altLang="en-US" dirty="0"/>
          </a:p>
        </p:txBody>
      </p:sp>
      <p:sp>
        <p:nvSpPr>
          <p:cNvPr id="3" name="内容占位符 2"/>
          <p:cNvSpPr>
            <a:spLocks noGrp="1"/>
          </p:cNvSpPr>
          <p:nvPr>
            <p:ph idx="1"/>
          </p:nvPr>
        </p:nvSpPr>
        <p:spPr>
          <a:xfrm>
            <a:off x="827584" y="1628800"/>
            <a:ext cx="7488832" cy="3579849"/>
          </a:xfrm>
        </p:spPr>
        <p:txBody>
          <a:bodyPr>
            <a:normAutofit fontScale="92500" lnSpcReduction="10000"/>
          </a:bodyPr>
          <a:lstStyle/>
          <a:p>
            <a:pPr marL="0" indent="342900" algn="just">
              <a:lnSpc>
                <a:spcPct val="130000"/>
              </a:lnSpc>
              <a:spcBef>
                <a:spcPts val="600"/>
              </a:spcBef>
            </a:pPr>
            <a:r>
              <a:rPr lang="zh-CN" altLang="zh-CN" b="0" dirty="0"/>
              <a:t>以上大</a:t>
            </a:r>
            <a:r>
              <a:rPr lang="en-US" altLang="zh-CN" b="0" dirty="0"/>
              <a:t>O</a:t>
            </a:r>
            <a:r>
              <a:rPr lang="zh-CN" altLang="zh-CN" b="0" dirty="0"/>
              <a:t>表示法和大</a:t>
            </a:r>
            <a:r>
              <a:rPr lang="en-US" altLang="zh-CN" b="0" dirty="0"/>
              <a:t>Ω</a:t>
            </a:r>
            <a:r>
              <a:rPr lang="zh-CN" altLang="zh-CN" b="0" dirty="0"/>
              <a:t>表示法是描述某一算法的界限函数。</a:t>
            </a:r>
            <a:r>
              <a:rPr lang="zh-CN" altLang="zh-CN" dirty="0"/>
              <a:t>当界限函数的上、下限相等时</a:t>
            </a:r>
            <a:r>
              <a:rPr lang="zh-CN" altLang="zh-CN" b="0" dirty="0"/>
              <a:t>，即如果一种算法既在</a:t>
            </a:r>
            <a:r>
              <a:rPr lang="en-US" altLang="zh-CN" b="0" dirty="0"/>
              <a:t>O</a:t>
            </a:r>
            <a:r>
              <a:rPr lang="zh-CN" altLang="zh-CN" b="0" dirty="0"/>
              <a:t>(h(n))中，又在</a:t>
            </a:r>
            <a:r>
              <a:rPr lang="en-US" altLang="zh-CN" b="0" dirty="0"/>
              <a:t>Ω(h(n))</a:t>
            </a:r>
            <a:r>
              <a:rPr lang="zh-CN" altLang="zh-CN" b="0" dirty="0"/>
              <a:t>中，则用Θ</a:t>
            </a:r>
            <a:r>
              <a:rPr lang="zh-CN" altLang="en-US" b="0" dirty="0"/>
              <a:t>（</a:t>
            </a:r>
            <a:r>
              <a:rPr lang="zh-CN" altLang="en-US" sz="1700" dirty="0">
                <a:latin typeface="黑体" panose="02010609060101010101" pitchFamily="49" charset="-122"/>
                <a:ea typeface="黑体" panose="02010609060101010101" pitchFamily="49" charset="-122"/>
              </a:rPr>
              <a:t>西塔（</a:t>
            </a:r>
            <a:r>
              <a:rPr lang="en-US" altLang="zh-CN" sz="1700" dirty="0" err="1">
                <a:latin typeface="黑体" panose="02010609060101010101" pitchFamily="49" charset="-122"/>
                <a:ea typeface="黑体" panose="02010609060101010101" pitchFamily="49" charset="-122"/>
              </a:rPr>
              <a:t>Θθ</a:t>
            </a:r>
            <a:r>
              <a:rPr lang="zh-CN" altLang="en-US" sz="1700" dirty="0">
                <a:latin typeface="黑体" panose="02010609060101010101" pitchFamily="49" charset="-122"/>
                <a:ea typeface="黑体" panose="02010609060101010101" pitchFamily="49" charset="-122"/>
              </a:rPr>
              <a:t>）​</a:t>
            </a:r>
            <a:r>
              <a:rPr lang="en-US" altLang="zh-CN" sz="1700" b="0" dirty="0">
                <a:latin typeface="黑体" panose="02010609060101010101" pitchFamily="49" charset="-122"/>
                <a:ea typeface="黑体" panose="02010609060101010101" pitchFamily="49" charset="-122"/>
              </a:rPr>
              <a:t>Theta</a:t>
            </a:r>
            <a:r>
              <a:rPr lang="zh-CN" altLang="en-US" sz="1700" b="0" dirty="0">
                <a:latin typeface="黑体" panose="02010609060101010101" pitchFamily="49" charset="-122"/>
                <a:ea typeface="黑体" panose="02010609060101010101" pitchFamily="49" charset="-122"/>
              </a:rPr>
              <a:t>，国际音标为</a:t>
            </a:r>
            <a:r>
              <a:rPr lang="en-US" altLang="zh-CN" sz="1700" b="0" dirty="0">
                <a:latin typeface="黑体" panose="02010609060101010101" pitchFamily="49" charset="-122"/>
                <a:ea typeface="黑体" panose="02010609060101010101" pitchFamily="49" charset="-122"/>
              </a:rPr>
              <a:t>/'</a:t>
            </a:r>
            <a:r>
              <a:rPr lang="en-US" altLang="zh-CN" sz="1700" b="0" dirty="0" err="1">
                <a:latin typeface="黑体" panose="02010609060101010101" pitchFamily="49" charset="-122"/>
                <a:ea typeface="黑体" panose="02010609060101010101" pitchFamily="49" charset="-122"/>
              </a:rPr>
              <a:t>θi:tə</a:t>
            </a:r>
            <a:r>
              <a:rPr lang="en-US" altLang="zh-CN" sz="1700" b="0" dirty="0">
                <a:latin typeface="黑体" panose="02010609060101010101" pitchFamily="49" charset="-122"/>
                <a:ea typeface="黑体" panose="02010609060101010101" pitchFamily="49" charset="-122"/>
              </a:rPr>
              <a:t>/ </a:t>
            </a:r>
            <a:r>
              <a:rPr lang="zh-CN" altLang="en-US" sz="1700" b="0" dirty="0">
                <a:latin typeface="黑体" panose="02010609060101010101" pitchFamily="49" charset="-122"/>
                <a:ea typeface="黑体" panose="02010609060101010101" pitchFamily="49" charset="-122"/>
              </a:rPr>
              <a:t>）</a:t>
            </a:r>
            <a:r>
              <a:rPr lang="zh-CN" altLang="zh-CN" b="0" dirty="0"/>
              <a:t>表示法，称其为Θ(h(n))。 </a:t>
            </a:r>
            <a:endParaRPr lang="en-US" altLang="zh-CN" b="0" dirty="0"/>
          </a:p>
          <a:p>
            <a:pPr algn="just"/>
            <a:endParaRPr lang="en-US" altLang="zh-CN" b="0" dirty="0"/>
          </a:p>
          <a:p>
            <a:pPr algn="just"/>
            <a:r>
              <a:rPr lang="zh-CN" altLang="zh-CN" dirty="0"/>
              <a:t>【定义：</a:t>
            </a:r>
            <a:r>
              <a:rPr lang="zh-CN" altLang="zh-CN" i="1" dirty="0"/>
              <a:t>Θ</a:t>
            </a:r>
            <a:r>
              <a:rPr lang="zh-CN" altLang="zh-CN" dirty="0"/>
              <a:t>符号】</a:t>
            </a:r>
            <a:r>
              <a:rPr lang="en-US" altLang="zh-CN" dirty="0"/>
              <a:t> </a:t>
            </a:r>
            <a:r>
              <a:rPr lang="zh-CN" altLang="zh-CN" dirty="0"/>
              <a:t>假设</a:t>
            </a:r>
            <a:r>
              <a:rPr lang="en-US" altLang="zh-CN" i="1" dirty="0"/>
              <a:t>f </a:t>
            </a:r>
            <a:r>
              <a:rPr lang="en-US" altLang="zh-CN" dirty="0"/>
              <a:t>(</a:t>
            </a:r>
            <a:r>
              <a:rPr lang="en-US" altLang="zh-CN" i="1" dirty="0"/>
              <a:t>n</a:t>
            </a:r>
            <a:r>
              <a:rPr lang="en-US" altLang="zh-CN" dirty="0"/>
              <a:t>)</a:t>
            </a:r>
            <a:r>
              <a:rPr lang="zh-CN" altLang="zh-CN" dirty="0"/>
              <a:t>和</a:t>
            </a:r>
            <a:r>
              <a:rPr lang="en-US" altLang="zh-CN" i="1" dirty="0"/>
              <a:t>g</a:t>
            </a:r>
            <a:r>
              <a:rPr lang="en-US" altLang="zh-CN" dirty="0"/>
              <a:t>(</a:t>
            </a:r>
            <a:r>
              <a:rPr lang="en-US" altLang="zh-CN" i="1" dirty="0"/>
              <a:t>n</a:t>
            </a:r>
            <a:r>
              <a:rPr lang="en-US" altLang="zh-CN" dirty="0"/>
              <a:t>) </a:t>
            </a:r>
            <a:r>
              <a:rPr lang="zh-CN" altLang="zh-CN" dirty="0"/>
              <a:t>是关于整数</a:t>
            </a:r>
            <a:r>
              <a:rPr lang="en-US" altLang="zh-CN" dirty="0"/>
              <a:t>n</a:t>
            </a:r>
            <a:r>
              <a:rPr lang="zh-CN" altLang="zh-CN" dirty="0"/>
              <a:t>的非负函数，</a:t>
            </a:r>
            <a:r>
              <a:rPr lang="en-US" altLang="zh-CN" i="1" dirty="0"/>
              <a:t>f </a:t>
            </a:r>
            <a:r>
              <a:rPr lang="en-US" altLang="zh-CN" dirty="0"/>
              <a:t>(</a:t>
            </a:r>
            <a:r>
              <a:rPr lang="en-US" altLang="zh-CN" i="1" dirty="0"/>
              <a:t>n</a:t>
            </a:r>
            <a:r>
              <a:rPr lang="en-US" altLang="zh-CN" dirty="0"/>
              <a:t>)=</a:t>
            </a:r>
            <a:r>
              <a:rPr lang="zh-CN" altLang="zh-CN" i="1" dirty="0"/>
              <a:t> Θ</a:t>
            </a:r>
            <a:r>
              <a:rPr lang="en-US" altLang="zh-CN" dirty="0"/>
              <a:t>(</a:t>
            </a:r>
            <a:r>
              <a:rPr lang="en-US" altLang="zh-CN" i="1" dirty="0"/>
              <a:t>g</a:t>
            </a:r>
            <a:r>
              <a:rPr lang="en-US" altLang="zh-CN" dirty="0"/>
              <a:t>(</a:t>
            </a:r>
            <a:r>
              <a:rPr lang="en-US" altLang="zh-CN" i="1" dirty="0"/>
              <a:t>n</a:t>
            </a:r>
            <a:r>
              <a:rPr lang="en-US" altLang="zh-CN" dirty="0"/>
              <a:t>))</a:t>
            </a:r>
            <a:r>
              <a:rPr lang="zh-CN" altLang="zh-CN" dirty="0"/>
              <a:t>当且仅当存在正常数</a:t>
            </a:r>
            <a:r>
              <a:rPr lang="en-US" altLang="zh-CN" i="1" dirty="0"/>
              <a:t>c</a:t>
            </a:r>
            <a:r>
              <a:rPr lang="en-US" altLang="zh-CN" baseline="-25000" dirty="0"/>
              <a:t>1</a:t>
            </a:r>
            <a:r>
              <a:rPr lang="en-US" altLang="zh-CN" dirty="0"/>
              <a:t> , </a:t>
            </a:r>
            <a:r>
              <a:rPr lang="en-US" altLang="zh-CN" i="1" dirty="0"/>
              <a:t>c</a:t>
            </a:r>
            <a:r>
              <a:rPr lang="en-US" altLang="zh-CN" baseline="-25000" dirty="0"/>
              <a:t>2</a:t>
            </a:r>
            <a:r>
              <a:rPr lang="en-US" altLang="zh-CN" dirty="0"/>
              <a:t> </a:t>
            </a:r>
            <a:r>
              <a:rPr lang="zh-CN" altLang="zh-CN" dirty="0"/>
              <a:t>和某个</a:t>
            </a:r>
            <a:r>
              <a:rPr lang="en-US" altLang="zh-CN" i="1" dirty="0"/>
              <a:t>n</a:t>
            </a:r>
            <a:r>
              <a:rPr lang="en-US" altLang="zh-CN" baseline="-25000" dirty="0"/>
              <a:t>0</a:t>
            </a:r>
            <a:r>
              <a:rPr lang="zh-CN" altLang="zh-CN" dirty="0"/>
              <a:t>，使得对于所有的</a:t>
            </a:r>
            <a:r>
              <a:rPr lang="en-US" altLang="zh-CN" i="1" dirty="0"/>
              <a:t>n</a:t>
            </a:r>
            <a:r>
              <a:rPr lang="en-US" altLang="zh-CN" dirty="0"/>
              <a:t>≥</a:t>
            </a:r>
            <a:r>
              <a:rPr lang="en-US" altLang="zh-CN" i="1" dirty="0"/>
              <a:t>n</a:t>
            </a:r>
            <a:r>
              <a:rPr lang="en-US" altLang="zh-CN" baseline="-25000" dirty="0"/>
              <a:t>0</a:t>
            </a:r>
            <a:r>
              <a:rPr lang="en-US" altLang="zh-CN" dirty="0"/>
              <a:t> </a:t>
            </a:r>
            <a:r>
              <a:rPr lang="zh-CN" altLang="zh-CN" dirty="0"/>
              <a:t>，有</a:t>
            </a:r>
            <a:r>
              <a:rPr lang="en-US" altLang="zh-CN" i="1" dirty="0"/>
              <a:t>c</a:t>
            </a:r>
            <a:r>
              <a:rPr lang="en-US" altLang="zh-CN" baseline="-25000" dirty="0"/>
              <a:t>1</a:t>
            </a:r>
            <a:r>
              <a:rPr lang="en-US" altLang="zh-CN" dirty="0"/>
              <a:t> </a:t>
            </a:r>
            <a:r>
              <a:rPr lang="en-US" altLang="zh-CN" i="1" dirty="0"/>
              <a:t>g</a:t>
            </a:r>
            <a:r>
              <a:rPr lang="en-US" altLang="zh-CN" dirty="0"/>
              <a:t>(</a:t>
            </a:r>
            <a:r>
              <a:rPr lang="en-US" altLang="zh-CN" i="1" dirty="0"/>
              <a:t>n</a:t>
            </a:r>
            <a:r>
              <a:rPr lang="en-US" altLang="zh-CN" dirty="0"/>
              <a:t>) ≤ </a:t>
            </a:r>
            <a:r>
              <a:rPr lang="en-US" altLang="zh-CN" i="1" dirty="0"/>
              <a:t>f </a:t>
            </a:r>
            <a:r>
              <a:rPr lang="en-US" altLang="zh-CN" dirty="0"/>
              <a:t>(</a:t>
            </a:r>
            <a:r>
              <a:rPr lang="en-US" altLang="zh-CN" i="1" dirty="0"/>
              <a:t>n</a:t>
            </a:r>
            <a:r>
              <a:rPr lang="en-US" altLang="zh-CN" dirty="0"/>
              <a:t>) ≤ </a:t>
            </a:r>
            <a:r>
              <a:rPr lang="en-US" altLang="zh-CN" i="1" dirty="0"/>
              <a:t>c</a:t>
            </a:r>
            <a:r>
              <a:rPr lang="en-US" altLang="zh-CN" baseline="-25000" dirty="0"/>
              <a:t>2</a:t>
            </a:r>
            <a:r>
              <a:rPr lang="en-US" altLang="zh-CN" dirty="0"/>
              <a:t> </a:t>
            </a:r>
            <a:r>
              <a:rPr lang="en-US" altLang="zh-CN" i="1" dirty="0"/>
              <a:t>g </a:t>
            </a:r>
            <a:r>
              <a:rPr lang="en-US" altLang="zh-CN" dirty="0"/>
              <a:t>(</a:t>
            </a:r>
            <a:r>
              <a:rPr lang="en-US" altLang="zh-CN" i="1" dirty="0"/>
              <a:t>n</a:t>
            </a:r>
            <a:r>
              <a:rPr lang="en-US" altLang="zh-CN" dirty="0"/>
              <a:t>)</a:t>
            </a:r>
            <a:r>
              <a:rPr lang="zh-CN" altLang="zh-CN" dirty="0"/>
              <a:t>。</a:t>
            </a:r>
            <a:endParaRPr lang="zh-CN" altLang="en-US" dirty="0"/>
          </a:p>
        </p:txBody>
      </p:sp>
    </p:spTree>
    <p:extLst>
      <p:ext uri="{BB962C8B-B14F-4D97-AF65-F5344CB8AC3E}">
        <p14:creationId xmlns:p14="http://schemas.microsoft.com/office/powerpoint/2010/main" val="1349606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5328592" cy="548640"/>
          </a:xfrm>
        </p:spPr>
        <p:txBody>
          <a:bodyPr/>
          <a:lstStyle/>
          <a:p>
            <a:r>
              <a:rPr lang="en-US" altLang="zh-CN" b="1" dirty="0"/>
              <a:t>1.6.4 </a:t>
            </a:r>
            <a:r>
              <a:rPr lang="zh-CN" altLang="zh-CN" b="1" dirty="0"/>
              <a:t>化简法则</a:t>
            </a:r>
            <a:endParaRPr lang="zh-CN" altLang="en-US" dirty="0"/>
          </a:p>
        </p:txBody>
      </p:sp>
      <p:sp>
        <p:nvSpPr>
          <p:cNvPr id="3" name="内容占位符 2"/>
          <p:cNvSpPr>
            <a:spLocks noGrp="1"/>
          </p:cNvSpPr>
          <p:nvPr>
            <p:ph idx="1"/>
          </p:nvPr>
        </p:nvSpPr>
        <p:spPr>
          <a:xfrm>
            <a:off x="357158" y="1628800"/>
            <a:ext cx="8607330" cy="4680520"/>
          </a:xfrm>
        </p:spPr>
        <p:txBody>
          <a:bodyPr>
            <a:normAutofit fontScale="92500"/>
          </a:bodyPr>
          <a:lstStyle/>
          <a:p>
            <a:r>
              <a:rPr lang="zh-CN" altLang="zh-CN" dirty="0"/>
              <a:t>化简规则如下：</a:t>
            </a:r>
          </a:p>
          <a:p>
            <a:r>
              <a:rPr lang="zh-CN" altLang="zh-CN" b="0" dirty="0"/>
              <a:t>（1）</a:t>
            </a:r>
            <a:r>
              <a:rPr lang="zh-CN" altLang="zh-CN" dirty="0">
                <a:solidFill>
                  <a:srgbClr val="FF0000"/>
                </a:solidFill>
              </a:rPr>
              <a:t>传递性</a:t>
            </a:r>
            <a:r>
              <a:rPr lang="zh-CN" altLang="zh-CN" b="0" dirty="0"/>
              <a:t>：</a:t>
            </a:r>
            <a:r>
              <a:rPr lang="zh-CN" altLang="zh-CN" dirty="0"/>
              <a:t>如果 </a:t>
            </a:r>
            <a:r>
              <a:rPr lang="zh-CN" altLang="zh-CN" i="1" dirty="0"/>
              <a:t>f</a:t>
            </a:r>
            <a:r>
              <a:rPr lang="zh-CN" altLang="zh-CN" dirty="0"/>
              <a:t>(n)=</a:t>
            </a:r>
            <a:r>
              <a:rPr lang="en-US" altLang="zh-CN" dirty="0"/>
              <a:t>O</a:t>
            </a:r>
            <a:r>
              <a:rPr lang="zh-CN" altLang="zh-CN" dirty="0"/>
              <a:t>(g(n))，且 </a:t>
            </a:r>
            <a:r>
              <a:rPr lang="zh-CN" altLang="zh-CN" i="1" dirty="0"/>
              <a:t>g</a:t>
            </a:r>
            <a:r>
              <a:rPr lang="zh-CN" altLang="zh-CN" dirty="0"/>
              <a:t>(n)=</a:t>
            </a:r>
            <a:r>
              <a:rPr lang="en-US" altLang="zh-CN" dirty="0"/>
              <a:t> O</a:t>
            </a:r>
            <a:r>
              <a:rPr lang="zh-CN" altLang="zh-CN" dirty="0"/>
              <a:t>(</a:t>
            </a:r>
            <a:r>
              <a:rPr lang="zh-CN" altLang="zh-CN" i="1" dirty="0"/>
              <a:t>h</a:t>
            </a:r>
            <a:r>
              <a:rPr lang="zh-CN" altLang="zh-CN" dirty="0"/>
              <a:t>(n))，则</a:t>
            </a:r>
            <a:r>
              <a:rPr lang="zh-CN" altLang="zh-CN" i="1" dirty="0"/>
              <a:t>f</a:t>
            </a:r>
            <a:r>
              <a:rPr lang="zh-CN" altLang="zh-CN" dirty="0"/>
              <a:t>(n)=</a:t>
            </a:r>
            <a:r>
              <a:rPr lang="en-US" altLang="zh-CN" dirty="0"/>
              <a:t>O</a:t>
            </a:r>
            <a:r>
              <a:rPr lang="zh-CN" altLang="zh-CN" dirty="0"/>
              <a:t>(</a:t>
            </a:r>
            <a:r>
              <a:rPr lang="zh-CN" altLang="zh-CN" i="1" dirty="0"/>
              <a:t>h</a:t>
            </a:r>
            <a:r>
              <a:rPr lang="zh-CN" altLang="zh-CN" dirty="0"/>
              <a:t>(n))。</a:t>
            </a:r>
          </a:p>
          <a:p>
            <a:r>
              <a:rPr lang="en-US" altLang="zh-CN" b="0" dirty="0"/>
              <a:t>	</a:t>
            </a:r>
            <a:r>
              <a:rPr lang="zh-CN" altLang="zh-CN" b="0" dirty="0"/>
              <a:t>如</a:t>
            </a:r>
            <a:r>
              <a:rPr lang="en-US" altLang="zh-CN" b="0" dirty="0"/>
              <a:t>n= O(n</a:t>
            </a:r>
            <a:r>
              <a:rPr lang="en-US" altLang="zh-CN" b="0" baseline="30000" dirty="0"/>
              <a:t>2</a:t>
            </a:r>
            <a:r>
              <a:rPr lang="en-US" altLang="zh-CN" b="0" dirty="0"/>
              <a:t>)</a:t>
            </a:r>
            <a:r>
              <a:rPr lang="zh-CN" altLang="zh-CN" b="0" dirty="0"/>
              <a:t>且</a:t>
            </a:r>
            <a:r>
              <a:rPr lang="en-US" altLang="zh-CN" b="0" dirty="0"/>
              <a:t>n</a:t>
            </a:r>
            <a:r>
              <a:rPr lang="en-US" altLang="zh-CN" b="0" baseline="30000" dirty="0"/>
              <a:t>2</a:t>
            </a:r>
            <a:r>
              <a:rPr lang="en-US" altLang="zh-CN" b="0" dirty="0"/>
              <a:t>=O(n</a:t>
            </a:r>
            <a:r>
              <a:rPr lang="en-US" altLang="zh-CN" b="0" baseline="30000" dirty="0"/>
              <a:t>3</a:t>
            </a:r>
            <a:r>
              <a:rPr lang="en-US" altLang="zh-CN" b="0" dirty="0"/>
              <a:t>)</a:t>
            </a:r>
            <a:r>
              <a:rPr lang="zh-CN" altLang="zh-CN" b="0" dirty="0"/>
              <a:t>，则</a:t>
            </a:r>
            <a:r>
              <a:rPr lang="en-US" altLang="zh-CN" b="0" dirty="0"/>
              <a:t>n= O(n</a:t>
            </a:r>
            <a:r>
              <a:rPr lang="en-US" altLang="zh-CN" b="0" baseline="30000" dirty="0"/>
              <a:t>3</a:t>
            </a:r>
            <a:r>
              <a:rPr lang="en-US" altLang="zh-CN" b="0" dirty="0"/>
              <a:t>)</a:t>
            </a:r>
            <a:r>
              <a:rPr lang="zh-CN" altLang="zh-CN" b="0" dirty="0"/>
              <a:t>。该规则说明，如果g(n)是算法代价函数的一个上限，则g(n)的任意上限也是该算法代价的上限。</a:t>
            </a:r>
            <a:r>
              <a:rPr lang="zh-CN" altLang="zh-CN" dirty="0">
                <a:solidFill>
                  <a:srgbClr val="7030A0"/>
                </a:solidFill>
              </a:rPr>
              <a:t>在实际问题中，总是试图找到一个最“紧”的上限。</a:t>
            </a:r>
          </a:p>
          <a:p>
            <a:endParaRPr lang="en-US" altLang="zh-CN" b="0" dirty="0"/>
          </a:p>
          <a:p>
            <a:r>
              <a:rPr lang="zh-CN" altLang="zh-CN" b="0" dirty="0"/>
              <a:t>（</a:t>
            </a:r>
            <a:r>
              <a:rPr lang="en-US" altLang="zh-CN" b="0" dirty="0"/>
              <a:t>2</a:t>
            </a:r>
            <a:r>
              <a:rPr lang="zh-CN" altLang="zh-CN" b="0" dirty="0"/>
              <a:t>）</a:t>
            </a:r>
            <a:r>
              <a:rPr lang="zh-CN" altLang="zh-CN" dirty="0">
                <a:solidFill>
                  <a:srgbClr val="FF0000"/>
                </a:solidFill>
              </a:rPr>
              <a:t>系数提取</a:t>
            </a:r>
            <a:r>
              <a:rPr lang="zh-CN" altLang="zh-CN" b="0" dirty="0"/>
              <a:t>：</a:t>
            </a:r>
            <a:r>
              <a:rPr lang="zh-CN" altLang="zh-CN" dirty="0"/>
              <a:t>如果 </a:t>
            </a:r>
            <a:r>
              <a:rPr lang="en-US" altLang="zh-CN" i="1" dirty="0"/>
              <a:t>f</a:t>
            </a:r>
            <a:r>
              <a:rPr lang="en-US" altLang="zh-CN" dirty="0"/>
              <a:t>(n)= O(k</a:t>
            </a:r>
            <a:r>
              <a:rPr lang="en-US" altLang="zh-CN" i="1" dirty="0"/>
              <a:t>g</a:t>
            </a:r>
            <a:r>
              <a:rPr lang="en-US" altLang="zh-CN" dirty="0"/>
              <a:t>(n))</a:t>
            </a:r>
            <a:r>
              <a:rPr lang="zh-CN" altLang="zh-CN" dirty="0"/>
              <a:t>，对常量</a:t>
            </a:r>
            <a:r>
              <a:rPr lang="en-US" altLang="zh-CN" dirty="0"/>
              <a:t>k&gt;0</a:t>
            </a:r>
            <a:r>
              <a:rPr lang="zh-CN" altLang="zh-CN" dirty="0"/>
              <a:t>，则</a:t>
            </a:r>
            <a:r>
              <a:rPr lang="en-US" altLang="zh-CN" i="1" dirty="0"/>
              <a:t>f</a:t>
            </a:r>
            <a:r>
              <a:rPr lang="en-US" altLang="zh-CN" dirty="0"/>
              <a:t>(n)=O(g(n))</a:t>
            </a:r>
            <a:r>
              <a:rPr lang="zh-CN" altLang="zh-CN" dirty="0"/>
              <a:t>。</a:t>
            </a:r>
          </a:p>
          <a:p>
            <a:r>
              <a:rPr lang="en-US" altLang="zh-CN" b="0" dirty="0"/>
              <a:t>	</a:t>
            </a:r>
            <a:r>
              <a:rPr lang="zh-CN" altLang="zh-CN" b="0" dirty="0"/>
              <a:t>如</a:t>
            </a:r>
            <a:r>
              <a:rPr lang="en-US" altLang="zh-CN" b="0" dirty="0"/>
              <a:t>5n= O(n)</a:t>
            </a:r>
            <a:r>
              <a:rPr lang="zh-CN" altLang="zh-CN" b="0" dirty="0"/>
              <a:t>，</a:t>
            </a:r>
            <a:r>
              <a:rPr lang="en-US" altLang="zh-CN" b="0" dirty="0"/>
              <a:t>100n</a:t>
            </a:r>
            <a:r>
              <a:rPr lang="en-US" altLang="zh-CN" b="0" baseline="30000" dirty="0"/>
              <a:t>2</a:t>
            </a:r>
            <a:r>
              <a:rPr lang="en-US" altLang="zh-CN" b="0" dirty="0"/>
              <a:t>= O(n</a:t>
            </a:r>
            <a:r>
              <a:rPr lang="en-US" altLang="zh-CN" b="0" baseline="30000" dirty="0"/>
              <a:t>2</a:t>
            </a:r>
            <a:r>
              <a:rPr lang="en-US" altLang="zh-CN" b="0" dirty="0"/>
              <a:t>)</a:t>
            </a:r>
            <a:r>
              <a:rPr lang="zh-CN" altLang="zh-CN" b="0" dirty="0"/>
              <a:t>。该规则说明大</a:t>
            </a:r>
            <a:r>
              <a:rPr lang="zh-CN" altLang="zh-CN" b="0" i="1" dirty="0"/>
              <a:t>O</a:t>
            </a:r>
            <a:r>
              <a:rPr lang="zh-CN" altLang="zh-CN" b="0" dirty="0"/>
              <a:t>表示法中的常数因子无关紧要。对于</a:t>
            </a:r>
            <a:r>
              <a:rPr lang="en-US" altLang="zh-CN" b="0" i="1" dirty="0"/>
              <a:t>Ω</a:t>
            </a:r>
            <a:r>
              <a:rPr lang="zh-CN" altLang="zh-CN" b="0" dirty="0"/>
              <a:t>和</a:t>
            </a:r>
            <a:r>
              <a:rPr lang="zh-CN" altLang="zh-CN" b="0" i="1" dirty="0"/>
              <a:t>Θ</a:t>
            </a:r>
            <a:r>
              <a:rPr lang="zh-CN" altLang="zh-CN" b="0" dirty="0"/>
              <a:t>表示法同样有这样的性质。</a:t>
            </a:r>
          </a:p>
        </p:txBody>
      </p:sp>
    </p:spTree>
    <p:extLst>
      <p:ext uri="{BB962C8B-B14F-4D97-AF65-F5344CB8AC3E}">
        <p14:creationId xmlns:p14="http://schemas.microsoft.com/office/powerpoint/2010/main" val="53715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268760"/>
            <a:ext cx="7888390" cy="4536504"/>
          </a:xfrm>
        </p:spPr>
        <p:txBody>
          <a:bodyPr>
            <a:normAutofit/>
          </a:bodyPr>
          <a:lstStyle/>
          <a:p>
            <a:r>
              <a:rPr lang="zh-CN" altLang="zh-CN" b="0" dirty="0"/>
              <a:t>（</a:t>
            </a:r>
            <a:r>
              <a:rPr lang="en-US" altLang="zh-CN" b="0" dirty="0"/>
              <a:t>3</a:t>
            </a:r>
            <a:r>
              <a:rPr lang="zh-CN" altLang="zh-CN" b="0" dirty="0"/>
              <a:t>）</a:t>
            </a:r>
            <a:r>
              <a:rPr lang="zh-CN" altLang="zh-CN" dirty="0">
                <a:solidFill>
                  <a:srgbClr val="FF0000"/>
                </a:solidFill>
              </a:rPr>
              <a:t>加法规则</a:t>
            </a:r>
            <a:r>
              <a:rPr lang="zh-CN" altLang="zh-CN" b="0" dirty="0"/>
              <a:t>：</a:t>
            </a:r>
            <a:r>
              <a:rPr lang="zh-CN" altLang="zh-CN" dirty="0"/>
              <a:t>如果</a:t>
            </a:r>
            <a:r>
              <a:rPr lang="en-US" altLang="zh-CN" i="1" dirty="0"/>
              <a:t>f</a:t>
            </a:r>
            <a:r>
              <a:rPr lang="en-US" altLang="zh-CN" baseline="-25000" dirty="0"/>
              <a:t>1</a:t>
            </a:r>
            <a:r>
              <a:rPr lang="en-US" altLang="zh-CN" dirty="0"/>
              <a:t>(n)=O(g</a:t>
            </a:r>
            <a:r>
              <a:rPr lang="en-US" altLang="zh-CN" baseline="-25000" dirty="0"/>
              <a:t>1</a:t>
            </a:r>
            <a:r>
              <a:rPr lang="en-US" altLang="zh-CN" dirty="0"/>
              <a:t>(n))</a:t>
            </a:r>
            <a:r>
              <a:rPr lang="zh-CN" altLang="zh-CN" dirty="0"/>
              <a:t>，且</a:t>
            </a:r>
            <a:r>
              <a:rPr lang="en-US" altLang="zh-CN" i="1" dirty="0"/>
              <a:t>f</a:t>
            </a:r>
            <a:r>
              <a:rPr lang="en-US" altLang="zh-CN" baseline="-25000" dirty="0"/>
              <a:t>2</a:t>
            </a:r>
            <a:r>
              <a:rPr lang="en-US" altLang="zh-CN" dirty="0"/>
              <a:t>(n)=O(g</a:t>
            </a:r>
            <a:r>
              <a:rPr lang="en-US" altLang="zh-CN" baseline="-25000" dirty="0"/>
              <a:t>2</a:t>
            </a:r>
            <a:r>
              <a:rPr lang="en-US" altLang="zh-CN" dirty="0"/>
              <a:t>(n))</a:t>
            </a:r>
            <a:r>
              <a:rPr lang="zh-CN" altLang="zh-CN" dirty="0"/>
              <a:t>，则</a:t>
            </a:r>
            <a:r>
              <a:rPr lang="en-US" altLang="zh-CN" i="1" dirty="0"/>
              <a:t>f</a:t>
            </a:r>
            <a:r>
              <a:rPr lang="en-US" altLang="zh-CN" baseline="-25000" dirty="0"/>
              <a:t>1</a:t>
            </a:r>
            <a:r>
              <a:rPr lang="en-US" altLang="zh-CN" dirty="0"/>
              <a:t>(n)+</a:t>
            </a:r>
            <a:r>
              <a:rPr lang="en-US" altLang="zh-CN" i="1" dirty="0"/>
              <a:t>f</a:t>
            </a:r>
            <a:r>
              <a:rPr lang="en-US" altLang="zh-CN" baseline="-25000" dirty="0"/>
              <a:t>2</a:t>
            </a:r>
            <a:r>
              <a:rPr lang="en-US" altLang="zh-CN" dirty="0"/>
              <a:t>(n)= O(max(g</a:t>
            </a:r>
            <a:r>
              <a:rPr lang="en-US" altLang="zh-CN" baseline="-25000" dirty="0"/>
              <a:t>1</a:t>
            </a:r>
            <a:r>
              <a:rPr lang="en-US" altLang="zh-CN" dirty="0"/>
              <a:t>(n),g</a:t>
            </a:r>
            <a:r>
              <a:rPr lang="en-US" altLang="zh-CN" baseline="-25000" dirty="0"/>
              <a:t>2</a:t>
            </a:r>
            <a:r>
              <a:rPr lang="en-US" altLang="zh-CN" dirty="0"/>
              <a:t>(n)))</a:t>
            </a:r>
            <a:r>
              <a:rPr lang="zh-CN" altLang="zh-CN" dirty="0"/>
              <a:t>。</a:t>
            </a:r>
          </a:p>
          <a:p>
            <a:r>
              <a:rPr lang="en-US" altLang="zh-CN" b="0" dirty="0"/>
              <a:t>	</a:t>
            </a:r>
            <a:r>
              <a:rPr lang="zh-CN" altLang="zh-CN" b="0" dirty="0"/>
              <a:t>如</a:t>
            </a:r>
            <a:r>
              <a:rPr lang="en-US" altLang="zh-CN" b="0" dirty="0"/>
              <a:t>10n= (n)</a:t>
            </a:r>
            <a:r>
              <a:rPr lang="zh-CN" altLang="zh-CN" b="0" dirty="0"/>
              <a:t>，</a:t>
            </a:r>
            <a:r>
              <a:rPr lang="en-US" altLang="zh-CN" b="0" dirty="0"/>
              <a:t>2n</a:t>
            </a:r>
            <a:r>
              <a:rPr lang="en-US" altLang="zh-CN" b="0" baseline="30000" dirty="0"/>
              <a:t>2</a:t>
            </a:r>
            <a:r>
              <a:rPr lang="en-US" altLang="zh-CN" b="0" dirty="0"/>
              <a:t>= (n</a:t>
            </a:r>
            <a:r>
              <a:rPr lang="en-US" altLang="zh-CN" b="0" baseline="30000" dirty="0"/>
              <a:t>2</a:t>
            </a:r>
            <a:r>
              <a:rPr lang="en-US" altLang="zh-CN" b="0" dirty="0"/>
              <a:t>)</a:t>
            </a:r>
            <a:r>
              <a:rPr lang="zh-CN" altLang="zh-CN" b="0" dirty="0"/>
              <a:t>，所以</a:t>
            </a:r>
            <a:r>
              <a:rPr lang="en-US" altLang="zh-CN" b="0" dirty="0"/>
              <a:t>10n+2n</a:t>
            </a:r>
            <a:r>
              <a:rPr lang="en-US" altLang="zh-CN" b="0" baseline="30000" dirty="0"/>
              <a:t>2</a:t>
            </a:r>
            <a:r>
              <a:rPr lang="en-US" altLang="zh-CN" b="0" dirty="0"/>
              <a:t>= (n</a:t>
            </a:r>
            <a:r>
              <a:rPr lang="en-US" altLang="zh-CN" b="0" baseline="30000" dirty="0"/>
              <a:t>2</a:t>
            </a:r>
            <a:r>
              <a:rPr lang="en-US" altLang="zh-CN" b="0" dirty="0"/>
              <a:t>)</a:t>
            </a:r>
            <a:r>
              <a:rPr lang="zh-CN" altLang="zh-CN" b="0" dirty="0"/>
              <a:t>。多项式在</a:t>
            </a:r>
            <a:r>
              <a:rPr lang="en-US" altLang="zh-CN" b="0" dirty="0"/>
              <a:t> (n</a:t>
            </a:r>
            <a:r>
              <a:rPr lang="zh-CN" altLang="zh-CN" b="0" dirty="0"/>
              <a:t>的最高次幂</a:t>
            </a:r>
            <a:r>
              <a:rPr lang="en-US" altLang="zh-CN" b="0" dirty="0"/>
              <a:t>)</a:t>
            </a:r>
            <a:r>
              <a:rPr lang="zh-CN" altLang="zh-CN" b="0" dirty="0"/>
              <a:t>中，如</a:t>
            </a:r>
            <a:r>
              <a:rPr lang="en-US" altLang="zh-CN" b="0" dirty="0"/>
              <a:t>7n</a:t>
            </a:r>
            <a:r>
              <a:rPr lang="en-US" altLang="zh-CN" b="0" baseline="30000" dirty="0"/>
              <a:t>6</a:t>
            </a:r>
            <a:r>
              <a:rPr lang="en-US" altLang="zh-CN" b="0" dirty="0"/>
              <a:t>-10n</a:t>
            </a:r>
            <a:r>
              <a:rPr lang="en-US" altLang="zh-CN" b="0" baseline="30000" dirty="0"/>
              <a:t>4</a:t>
            </a:r>
            <a:r>
              <a:rPr lang="en-US" altLang="zh-CN" b="0" dirty="0"/>
              <a:t>+n</a:t>
            </a:r>
            <a:r>
              <a:rPr lang="en-US" altLang="zh-CN" b="0" baseline="30000" dirty="0"/>
              <a:t>3</a:t>
            </a:r>
            <a:r>
              <a:rPr lang="en-US" altLang="zh-CN" b="0" dirty="0"/>
              <a:t>+12n+37= O(n</a:t>
            </a:r>
            <a:r>
              <a:rPr lang="en-US" altLang="zh-CN" b="0" baseline="30000" dirty="0"/>
              <a:t>6</a:t>
            </a:r>
            <a:r>
              <a:rPr lang="en-US" altLang="zh-CN" b="0" dirty="0"/>
              <a:t>)</a:t>
            </a:r>
            <a:r>
              <a:rPr lang="zh-CN" altLang="zh-CN" b="0" dirty="0"/>
              <a:t>。</a:t>
            </a:r>
            <a:endParaRPr lang="en-US" altLang="zh-CN" b="0" dirty="0"/>
          </a:p>
          <a:p>
            <a:r>
              <a:rPr lang="en-US" altLang="zh-CN" b="0" dirty="0">
                <a:solidFill>
                  <a:srgbClr val="7030A0"/>
                </a:solidFill>
              </a:rPr>
              <a:t>     </a:t>
            </a:r>
            <a:r>
              <a:rPr lang="zh-CN" altLang="zh-CN" b="0" dirty="0">
                <a:solidFill>
                  <a:srgbClr val="7030A0"/>
                </a:solidFill>
              </a:rPr>
              <a:t>该规则说明并列程序段中只需要考虑一段程序中资源开销较大的部分。</a:t>
            </a:r>
          </a:p>
          <a:p>
            <a:r>
              <a:rPr lang="zh-CN" altLang="zh-CN" b="0" dirty="0"/>
              <a:t>（</a:t>
            </a:r>
            <a:r>
              <a:rPr lang="en-US" altLang="zh-CN" b="0" dirty="0"/>
              <a:t>4</a:t>
            </a:r>
            <a:r>
              <a:rPr lang="zh-CN" altLang="zh-CN" b="0" dirty="0"/>
              <a:t>）</a:t>
            </a:r>
            <a:r>
              <a:rPr lang="zh-CN" altLang="zh-CN" dirty="0">
                <a:solidFill>
                  <a:srgbClr val="FF0000"/>
                </a:solidFill>
              </a:rPr>
              <a:t>乘法规则</a:t>
            </a:r>
            <a:r>
              <a:rPr lang="zh-CN" altLang="zh-CN" b="0" dirty="0"/>
              <a:t>：</a:t>
            </a:r>
            <a:r>
              <a:rPr lang="zh-CN" altLang="zh-CN" dirty="0"/>
              <a:t>如果</a:t>
            </a:r>
            <a:r>
              <a:rPr lang="en-US" altLang="zh-CN" i="1" dirty="0"/>
              <a:t>f</a:t>
            </a:r>
            <a:r>
              <a:rPr lang="en-US" altLang="zh-CN" baseline="-25000" dirty="0"/>
              <a:t>1</a:t>
            </a:r>
            <a:r>
              <a:rPr lang="en-US" altLang="zh-CN" dirty="0"/>
              <a:t>(n)= O(g1(n))</a:t>
            </a:r>
            <a:r>
              <a:rPr lang="zh-CN" altLang="zh-CN" dirty="0"/>
              <a:t>，且</a:t>
            </a:r>
            <a:r>
              <a:rPr lang="en-US" altLang="zh-CN" i="1" dirty="0"/>
              <a:t>f</a:t>
            </a:r>
            <a:r>
              <a:rPr lang="en-US" altLang="zh-CN" baseline="-25000" dirty="0"/>
              <a:t>2</a:t>
            </a:r>
            <a:r>
              <a:rPr lang="en-US" altLang="zh-CN" dirty="0"/>
              <a:t>(n)= O(g2(n))</a:t>
            </a:r>
            <a:r>
              <a:rPr lang="zh-CN" altLang="zh-CN" dirty="0"/>
              <a:t>，则</a:t>
            </a:r>
            <a:r>
              <a:rPr lang="en-US" altLang="zh-CN" i="1" dirty="0"/>
              <a:t>f</a:t>
            </a:r>
            <a:r>
              <a:rPr lang="en-US" altLang="zh-CN" baseline="-25000" dirty="0"/>
              <a:t>1</a:t>
            </a:r>
            <a:r>
              <a:rPr lang="en-US" altLang="zh-CN" dirty="0"/>
              <a:t>(n)*</a:t>
            </a:r>
            <a:r>
              <a:rPr lang="en-US" altLang="zh-CN" i="1" dirty="0"/>
              <a:t>f</a:t>
            </a:r>
            <a:r>
              <a:rPr lang="en-US" altLang="zh-CN" baseline="-25000" dirty="0"/>
              <a:t>2</a:t>
            </a:r>
            <a:r>
              <a:rPr lang="en-US" altLang="zh-CN" dirty="0"/>
              <a:t>(n)= O(g1(n)*g2(n))</a:t>
            </a:r>
            <a:r>
              <a:rPr lang="zh-CN" altLang="zh-CN" dirty="0"/>
              <a:t>。</a:t>
            </a:r>
            <a:endParaRPr lang="en-US" altLang="zh-CN" dirty="0"/>
          </a:p>
          <a:p>
            <a:r>
              <a:rPr lang="en-US" altLang="zh-CN" b="0" dirty="0">
                <a:solidFill>
                  <a:srgbClr val="7030A0"/>
                </a:solidFill>
              </a:rPr>
              <a:t>    </a:t>
            </a:r>
            <a:r>
              <a:rPr lang="zh-CN" altLang="zh-CN" b="0" dirty="0">
                <a:solidFill>
                  <a:srgbClr val="7030A0"/>
                </a:solidFill>
              </a:rPr>
              <a:t>该规则</a:t>
            </a:r>
            <a:r>
              <a:rPr lang="zh-CN" altLang="en-US" b="0" dirty="0">
                <a:solidFill>
                  <a:srgbClr val="7030A0"/>
                </a:solidFill>
              </a:rPr>
              <a:t>适用于分析程序中嵌套的简单循环</a:t>
            </a:r>
            <a:r>
              <a:rPr lang="zh-CN" altLang="zh-CN" b="0" dirty="0">
                <a:solidFill>
                  <a:srgbClr val="7030A0"/>
                </a:solidFill>
              </a:rPr>
              <a:t>。</a:t>
            </a:r>
          </a:p>
          <a:p>
            <a:endParaRPr lang="zh-CN" altLang="zh-CN" dirty="0"/>
          </a:p>
          <a:p>
            <a:endParaRPr lang="zh-CN" altLang="en-US" b="0" dirty="0"/>
          </a:p>
        </p:txBody>
      </p:sp>
    </p:spTree>
    <p:extLst>
      <p:ext uri="{BB962C8B-B14F-4D97-AF65-F5344CB8AC3E}">
        <p14:creationId xmlns:p14="http://schemas.microsoft.com/office/powerpoint/2010/main" val="3027484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611560" y="1052736"/>
            <a:ext cx="6624736" cy="482453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20000"/>
              </a:lnSpc>
              <a:spcBef>
                <a:spcPct val="0"/>
              </a:spcBef>
              <a:spcAft>
                <a:spcPct val="0"/>
              </a:spcAft>
              <a:buClrTx/>
              <a:buSzTx/>
              <a:buFontTx/>
              <a:buNone/>
              <a:tabLst/>
            </a:pPr>
            <a:r>
              <a:rPr kumimoji="0" lang="zh-CN" altLang="en-US" b="1" i="0" u="none" strike="noStrike" cap="none" normalizeH="0" baseline="0" dirty="0">
                <a:ln>
                  <a:noFill/>
                </a:ln>
                <a:solidFill>
                  <a:schemeClr val="tx1"/>
                </a:solidFill>
                <a:effectLst/>
                <a:latin typeface="Times New Roman" pitchFamily="18" charset="0"/>
                <a:ea typeface="宋体" pitchFamily="2" charset="-122"/>
                <a:cs typeface="宋体" pitchFamily="2" charset="-122"/>
              </a:rPr>
              <a:t>函数		</a:t>
            </a:r>
            <a:r>
              <a:rPr kumimoji="0" lang="en-US" altLang="zh-CN" b="1" i="0" u="none" strike="noStrike" cap="none" normalizeH="0" baseline="0" dirty="0">
                <a:ln>
                  <a:noFill/>
                </a:ln>
                <a:solidFill>
                  <a:schemeClr val="tx1"/>
                </a:solidFill>
                <a:effectLst/>
                <a:latin typeface="Times New Roman" pitchFamily="18" charset="0"/>
                <a:ea typeface="宋体" pitchFamily="2" charset="-122"/>
                <a:cs typeface="宋体" pitchFamily="2" charset="-122"/>
              </a:rPr>
              <a:t>	</a:t>
            </a:r>
            <a:r>
              <a:rPr kumimoji="0" lang="zh-CN" altLang="en-US" b="1" i="0" u="none" strike="noStrike" cap="none" normalizeH="0" baseline="0" dirty="0">
                <a:ln>
                  <a:noFill/>
                </a:ln>
                <a:solidFill>
                  <a:schemeClr val="tx1"/>
                </a:solidFill>
                <a:effectLst/>
                <a:latin typeface="Times New Roman" pitchFamily="18" charset="0"/>
                <a:ea typeface="宋体" pitchFamily="2" charset="-122"/>
                <a:cs typeface="宋体" pitchFamily="2" charset="-122"/>
              </a:rPr>
              <a:t>名称</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			</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1           			</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常数 </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err="1">
                <a:ln>
                  <a:noFill/>
                </a:ln>
                <a:solidFill>
                  <a:schemeClr val="tx1"/>
                </a:solidFill>
                <a:effectLst/>
                <a:latin typeface="Times New Roman" pitchFamily="18" charset="0"/>
                <a:ea typeface="宋体" pitchFamily="2" charset="-122"/>
                <a:cs typeface="宋体" pitchFamily="2" charset="-122"/>
              </a:rPr>
              <a:t>log</a:t>
            </a:r>
            <a:r>
              <a:rPr kumimoji="0" lang="en-US" altLang="zh-CN" b="0" i="0" u="none" strike="noStrike" cap="none" normalizeH="0" baseline="-25000" dirty="0" err="1">
                <a:ln>
                  <a:noFill/>
                </a:ln>
                <a:solidFill>
                  <a:schemeClr val="tx1"/>
                </a:solidFill>
                <a:effectLst/>
                <a:latin typeface="Times New Roman" pitchFamily="18" charset="0"/>
                <a:ea typeface="宋体" pitchFamily="2" charset="-122"/>
                <a:cs typeface="宋体" pitchFamily="2" charset="-122"/>
              </a:rPr>
              <a:t>b</a:t>
            </a: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(n)   			</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对数（如省略基数，默认以</a:t>
            </a: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2</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为底）</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n 			</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线性</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n </a:t>
            </a:r>
            <a:r>
              <a:rPr kumimoji="0" lang="en-US" altLang="zh-CN" b="0" i="0" u="none" strike="noStrike" cap="none" normalizeH="0" baseline="0" dirty="0" err="1">
                <a:ln>
                  <a:noFill/>
                </a:ln>
                <a:solidFill>
                  <a:schemeClr val="tx1"/>
                </a:solidFill>
                <a:effectLst/>
                <a:latin typeface="Times New Roman" pitchFamily="18" charset="0"/>
                <a:ea typeface="宋体" pitchFamily="2" charset="-122"/>
                <a:cs typeface="宋体" pitchFamily="2" charset="-122"/>
              </a:rPr>
              <a:t>log</a:t>
            </a:r>
            <a:r>
              <a:rPr kumimoji="0" lang="en-US" altLang="zh-CN" b="0" i="0" u="none" strike="noStrike" cap="none" normalizeH="0" baseline="-25000" dirty="0" err="1">
                <a:ln>
                  <a:noFill/>
                </a:ln>
                <a:solidFill>
                  <a:schemeClr val="tx1"/>
                </a:solidFill>
                <a:effectLst/>
                <a:latin typeface="Times New Roman" pitchFamily="18" charset="0"/>
                <a:ea typeface="宋体" pitchFamily="2" charset="-122"/>
                <a:cs typeface="宋体" pitchFamily="2" charset="-122"/>
              </a:rPr>
              <a:t>b</a:t>
            </a: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(n) 			n</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个</a:t>
            </a:r>
            <a:r>
              <a:rPr kumimoji="0" lang="en-US" altLang="zh-CN" b="0" i="0" u="none" strike="noStrike" cap="none" normalizeH="0" baseline="0" dirty="0" err="1">
                <a:ln>
                  <a:noFill/>
                </a:ln>
                <a:solidFill>
                  <a:schemeClr val="tx1"/>
                </a:solidFill>
                <a:effectLst/>
                <a:latin typeface="Times New Roman" pitchFamily="18" charset="0"/>
                <a:ea typeface="宋体" pitchFamily="2" charset="-122"/>
                <a:cs typeface="宋体" pitchFamily="2" charset="-122"/>
              </a:rPr>
              <a:t>logn</a:t>
            </a:r>
            <a:endPar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n</a:t>
            </a:r>
            <a:r>
              <a:rPr kumimoji="0" lang="en-US" altLang="zh-CN" b="0" i="0" u="none" strike="noStrike" cap="none" normalizeH="0" baseline="30000" dirty="0">
                <a:ln>
                  <a:noFill/>
                </a:ln>
                <a:solidFill>
                  <a:schemeClr val="tx1"/>
                </a:solidFill>
                <a:effectLst/>
                <a:latin typeface="Times New Roman" pitchFamily="18" charset="0"/>
                <a:ea typeface="宋体" pitchFamily="2" charset="-122"/>
                <a:cs typeface="宋体" pitchFamily="2" charset="-122"/>
              </a:rPr>
              <a:t>2			</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平方</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n</a:t>
            </a:r>
            <a:r>
              <a:rPr kumimoji="0" lang="en-US" altLang="zh-CN" b="0" i="0" u="none" strike="noStrike" cap="none" normalizeH="0" baseline="30000" dirty="0">
                <a:ln>
                  <a:noFill/>
                </a:ln>
                <a:solidFill>
                  <a:schemeClr val="tx1"/>
                </a:solidFill>
                <a:effectLst/>
                <a:latin typeface="Times New Roman" pitchFamily="18" charset="0"/>
                <a:ea typeface="宋体" pitchFamily="2" charset="-122"/>
                <a:cs typeface="宋体" pitchFamily="2" charset="-122"/>
              </a:rPr>
              <a:t>3</a:t>
            </a: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                      		</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立方</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err="1">
                <a:ln>
                  <a:noFill/>
                </a:ln>
                <a:solidFill>
                  <a:schemeClr val="tx1"/>
                </a:solidFill>
                <a:effectLst/>
                <a:latin typeface="Times New Roman" pitchFamily="18" charset="0"/>
                <a:ea typeface="宋体" pitchFamily="2" charset="-122"/>
                <a:cs typeface="宋体" pitchFamily="2" charset="-122"/>
              </a:rPr>
              <a:t>n</a:t>
            </a:r>
            <a:r>
              <a:rPr kumimoji="0" lang="en-US" altLang="zh-CN" b="0" i="0" u="none" strike="noStrike" cap="none" normalizeH="0" baseline="30000" dirty="0" err="1">
                <a:ln>
                  <a:noFill/>
                </a:ln>
                <a:solidFill>
                  <a:schemeClr val="tx1"/>
                </a:solidFill>
                <a:effectLst/>
                <a:latin typeface="Times New Roman" pitchFamily="18" charset="0"/>
                <a:ea typeface="宋体" pitchFamily="2" charset="-122"/>
                <a:cs typeface="宋体" pitchFamily="2" charset="-122"/>
              </a:rPr>
              <a:t>i</a:t>
            </a: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  n</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的更大常量次幂     </a:t>
            </a: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	</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大数次幂</a:t>
            </a:r>
            <a:endPar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 -----------------------------------------------------------------------------------                                                                                    </a:t>
            </a:r>
            <a:endPar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2</a:t>
            </a:r>
            <a:r>
              <a:rPr kumimoji="0" lang="en-US" altLang="zh-CN" b="0" i="0" u="none" strike="noStrike" cap="none" normalizeH="0" baseline="30000" dirty="0">
                <a:ln>
                  <a:noFill/>
                </a:ln>
                <a:solidFill>
                  <a:schemeClr val="tx1"/>
                </a:solidFill>
                <a:effectLst/>
                <a:latin typeface="Times New Roman" pitchFamily="18" charset="0"/>
                <a:ea typeface="宋体" pitchFamily="2" charset="-122"/>
                <a:cs typeface="宋体" pitchFamily="2" charset="-122"/>
              </a:rPr>
              <a:t>n</a:t>
            </a: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			2</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指数</a:t>
            </a:r>
            <a:endParaRPr kumimoji="0" lang="zh-CN" altLang="en-US" b="0" i="0" u="none" strike="noStrike" cap="none" normalizeH="0" baseline="30000" dirty="0">
              <a:ln>
                <a:noFill/>
              </a:ln>
              <a:solidFill>
                <a:schemeClr val="tx1"/>
              </a:solidFill>
              <a:effectLst/>
              <a:latin typeface="Times New Roman" pitchFamily="18" charset="0"/>
              <a:ea typeface="宋体" pitchFamily="2" charset="-122"/>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3</a:t>
            </a:r>
            <a:r>
              <a:rPr kumimoji="0" lang="en-US" altLang="zh-CN" b="0" i="0" u="none" strike="noStrike" cap="none" normalizeH="0" baseline="30000" dirty="0">
                <a:ln>
                  <a:noFill/>
                </a:ln>
                <a:solidFill>
                  <a:schemeClr val="tx1"/>
                </a:solidFill>
                <a:effectLst/>
                <a:latin typeface="Times New Roman" pitchFamily="18" charset="0"/>
                <a:ea typeface="宋体" pitchFamily="2" charset="-122"/>
                <a:cs typeface="宋体" pitchFamily="2" charset="-122"/>
              </a:rPr>
              <a:t>n</a:t>
            </a: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                      		3</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指数</a:t>
            </a:r>
            <a:endParaRPr kumimoji="0" lang="zh-CN" altLang="en-US" b="0" i="0" u="none" strike="noStrike" cap="none" normalizeH="0" baseline="30000" dirty="0">
              <a:ln>
                <a:noFill/>
              </a:ln>
              <a:solidFill>
                <a:schemeClr val="tx1"/>
              </a:solidFill>
              <a:effectLst/>
              <a:latin typeface="Times New Roman" pitchFamily="18" charset="0"/>
              <a:ea typeface="宋体" pitchFamily="2" charset="-122"/>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i</a:t>
            </a:r>
            <a:r>
              <a:rPr kumimoji="0" lang="en-US" altLang="zh-CN" b="0" i="0" u="none" strike="noStrike" cap="none" normalizeH="0" baseline="30000" dirty="0">
                <a:ln>
                  <a:noFill/>
                </a:ln>
                <a:solidFill>
                  <a:schemeClr val="tx1"/>
                </a:solidFill>
                <a:effectLst/>
                <a:latin typeface="Times New Roman" pitchFamily="18" charset="0"/>
                <a:ea typeface="宋体" pitchFamily="2" charset="-122"/>
                <a:cs typeface="宋体" pitchFamily="2" charset="-122"/>
              </a:rPr>
              <a:t>n </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更大常量的</a:t>
            </a: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n</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次方      </a:t>
            </a: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	</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大数指数</a:t>
            </a:r>
            <a:endParaRPr kumimoji="0" lang="zh-CN" altLang="en-US" b="0" i="0" u="none" strike="noStrike" cap="none" normalizeH="0" baseline="30000" dirty="0">
              <a:ln>
                <a:noFill/>
              </a:ln>
              <a:solidFill>
                <a:schemeClr val="tx1"/>
              </a:solidFill>
              <a:effectLst/>
              <a:latin typeface="Times New Roman" pitchFamily="18" charset="0"/>
              <a:ea typeface="宋体" pitchFamily="2" charset="-122"/>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itchFamily="18" charset="0"/>
                <a:ea typeface="宋体" pitchFamily="2" charset="-122"/>
                <a:cs typeface="宋体" pitchFamily="2" charset="-122"/>
              </a:rPr>
              <a:t>n!			</a:t>
            </a:r>
            <a:r>
              <a:rPr kumimoji="0" lang="zh-CN" altLang="en-US" b="0" i="0" u="none" strike="noStrike" cap="none" normalizeH="0" baseline="0" dirty="0">
                <a:ln>
                  <a:noFill/>
                </a:ln>
                <a:solidFill>
                  <a:schemeClr val="tx1"/>
                </a:solidFill>
                <a:effectLst/>
                <a:latin typeface="Times New Roman" pitchFamily="18" charset="0"/>
                <a:ea typeface="宋体" pitchFamily="2" charset="-122"/>
                <a:cs typeface="宋体" pitchFamily="2" charset="-122"/>
              </a:rPr>
              <a:t>阶乘</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err="1">
                <a:ln>
                  <a:noFill/>
                </a:ln>
                <a:solidFill>
                  <a:schemeClr val="tx1"/>
                </a:solidFill>
                <a:effectLst/>
                <a:latin typeface="Times New Roman" pitchFamily="18" charset="0"/>
                <a:ea typeface="宋体" pitchFamily="2" charset="-122"/>
                <a:cs typeface="宋体" pitchFamily="2" charset="-122"/>
              </a:rPr>
              <a:t>n</a:t>
            </a:r>
            <a:r>
              <a:rPr kumimoji="0" lang="en-US" altLang="zh-CN" b="0" i="0" u="none" strike="noStrike" cap="none" normalizeH="0" baseline="30000" dirty="0" err="1">
                <a:ln>
                  <a:noFill/>
                </a:ln>
                <a:solidFill>
                  <a:schemeClr val="tx1"/>
                </a:solidFill>
                <a:effectLst/>
                <a:latin typeface="Times New Roman" pitchFamily="18" charset="0"/>
                <a:ea typeface="宋体" pitchFamily="2" charset="-122"/>
                <a:cs typeface="宋体" pitchFamily="2" charset="-122"/>
              </a:rPr>
              <a:t>n</a:t>
            </a:r>
            <a:r>
              <a:rPr kumimoji="0" lang="en-US" altLang="zh-CN" b="0" i="0" u="none" strike="noStrike" cap="none" normalizeH="0" dirty="0">
                <a:ln>
                  <a:noFill/>
                </a:ln>
                <a:solidFill>
                  <a:schemeClr val="tx1"/>
                </a:solidFill>
                <a:effectLst/>
                <a:latin typeface="Times New Roman" pitchFamily="18" charset="0"/>
                <a:ea typeface="宋体" pitchFamily="2" charset="-122"/>
                <a:cs typeface="宋体" pitchFamily="2" charset="-122"/>
              </a:rPr>
              <a:t>			n</a:t>
            </a:r>
            <a:r>
              <a:rPr kumimoji="0" lang="zh-CN" altLang="en-US" b="0" i="0" u="none" strike="noStrike" cap="none" normalizeH="0" dirty="0">
                <a:ln>
                  <a:noFill/>
                </a:ln>
                <a:solidFill>
                  <a:schemeClr val="tx1"/>
                </a:solidFill>
                <a:effectLst/>
                <a:latin typeface="Times New Roman" pitchFamily="18" charset="0"/>
                <a:ea typeface="宋体" pitchFamily="2" charset="-122"/>
                <a:cs typeface="宋体" pitchFamily="2" charset="-122"/>
              </a:rPr>
              <a:t>的</a:t>
            </a:r>
            <a:r>
              <a:rPr kumimoji="0" lang="en-US" altLang="zh-CN" b="0" i="0" u="none" strike="noStrike" cap="none" normalizeH="0" dirty="0">
                <a:ln>
                  <a:noFill/>
                </a:ln>
                <a:solidFill>
                  <a:schemeClr val="tx1"/>
                </a:solidFill>
                <a:effectLst/>
                <a:latin typeface="Times New Roman" pitchFamily="18" charset="0"/>
                <a:ea typeface="宋体" pitchFamily="2" charset="-122"/>
                <a:cs typeface="宋体" pitchFamily="2" charset="-122"/>
              </a:rPr>
              <a:t>n</a:t>
            </a:r>
            <a:r>
              <a:rPr kumimoji="0" lang="zh-CN" altLang="en-US" b="0" i="0" u="none" strike="noStrike" cap="none" normalizeH="0" dirty="0">
                <a:ln>
                  <a:noFill/>
                </a:ln>
                <a:solidFill>
                  <a:schemeClr val="tx1"/>
                </a:solidFill>
                <a:effectLst/>
                <a:latin typeface="Times New Roman" pitchFamily="18" charset="0"/>
                <a:ea typeface="宋体" pitchFamily="2" charset="-122"/>
                <a:cs typeface="宋体" pitchFamily="2" charset="-122"/>
              </a:rPr>
              <a:t>次方</a:t>
            </a:r>
            <a:endParaRPr kumimoji="0" lang="en-US" altLang="zh-CN" b="0" i="0" u="none" strike="noStrike" cap="none" normalizeH="0" dirty="0">
              <a:ln>
                <a:noFill/>
              </a:ln>
              <a:solidFill>
                <a:schemeClr val="tx1"/>
              </a:solidFill>
              <a:effectLst/>
              <a:latin typeface="Times New Roman" pitchFamily="18" charset="0"/>
              <a:ea typeface="宋体" pitchFamily="2" charset="-122"/>
              <a:cs typeface="宋体" pitchFamily="2" charset="-122"/>
            </a:endParaRPr>
          </a:p>
        </p:txBody>
      </p:sp>
      <p:pic>
        <p:nvPicPr>
          <p:cNvPr id="307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143" y="1556792"/>
            <a:ext cx="959059" cy="360040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2339752" y="5949280"/>
            <a:ext cx="3744416" cy="369332"/>
          </a:xfrm>
          <a:prstGeom prst="rect">
            <a:avLst/>
          </a:prstGeom>
        </p:spPr>
        <p:txBody>
          <a:bodyPr wrap="square">
            <a:spAutoFit/>
          </a:bodyPr>
          <a:lstStyle/>
          <a:p>
            <a:r>
              <a:rPr lang="zh-CN" altLang="zh-CN" dirty="0">
                <a:latin typeface="Times New Roman"/>
                <a:ea typeface="宋体"/>
                <a:cs typeface="Times New Roman"/>
              </a:rPr>
              <a:t>图</a:t>
            </a:r>
            <a:r>
              <a:rPr lang="zh-CN" altLang="zh-CN" dirty="0">
                <a:ea typeface="Times New Roman"/>
              </a:rPr>
              <a:t>1-5 </a:t>
            </a:r>
            <a:r>
              <a:rPr lang="zh-CN" altLang="zh-CN" dirty="0">
                <a:latin typeface="Times New Roman"/>
                <a:ea typeface="宋体"/>
                <a:cs typeface="Times New Roman"/>
              </a:rPr>
              <a:t>常见函数的大</a:t>
            </a:r>
            <a:r>
              <a:rPr lang="zh-CN" altLang="zh-CN" dirty="0">
                <a:ea typeface="Times New Roman"/>
              </a:rPr>
              <a:t>O</a:t>
            </a:r>
            <a:r>
              <a:rPr lang="zh-CN" altLang="zh-CN" dirty="0">
                <a:latin typeface="Times New Roman"/>
                <a:ea typeface="宋体"/>
                <a:cs typeface="Times New Roman"/>
              </a:rPr>
              <a:t>复杂度级别</a:t>
            </a:r>
            <a:endParaRPr lang="zh-CN" altLang="en-US" dirty="0"/>
          </a:p>
        </p:txBody>
      </p:sp>
    </p:spTree>
    <p:extLst>
      <p:ext uri="{BB962C8B-B14F-4D97-AF65-F5344CB8AC3E}">
        <p14:creationId xmlns:p14="http://schemas.microsoft.com/office/powerpoint/2010/main" val="12949322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8064896" cy="548640"/>
          </a:xfrm>
        </p:spPr>
        <p:txBody>
          <a:bodyPr/>
          <a:lstStyle/>
          <a:p>
            <a:r>
              <a:rPr lang="zh-CN" altLang="zh-CN" dirty="0"/>
              <a:t>【例</a:t>
            </a:r>
            <a:r>
              <a:rPr lang="en-US" altLang="zh-CN" dirty="0"/>
              <a:t>1-11</a:t>
            </a:r>
            <a:r>
              <a:rPr lang="zh-CN" altLang="zh-CN" dirty="0"/>
              <a:t>】 分析下面三个程序</a:t>
            </a:r>
            <a:r>
              <a:rPr lang="zh-CN" altLang="en-US" dirty="0"/>
              <a:t>片段</a:t>
            </a:r>
            <a:r>
              <a:rPr lang="zh-CN" altLang="zh-CN" dirty="0"/>
              <a:t>的运行时间</a:t>
            </a:r>
            <a:endParaRPr lang="zh-CN" altLang="en-US" dirty="0"/>
          </a:p>
        </p:txBody>
      </p:sp>
      <p:sp>
        <p:nvSpPr>
          <p:cNvPr id="3" name="内容占位符 2"/>
          <p:cNvSpPr>
            <a:spLocks noGrp="1"/>
          </p:cNvSpPr>
          <p:nvPr>
            <p:ph idx="1"/>
          </p:nvPr>
        </p:nvSpPr>
        <p:spPr>
          <a:xfrm>
            <a:off x="1547664" y="1844824"/>
            <a:ext cx="6192688" cy="3579849"/>
          </a:xfrm>
        </p:spPr>
        <p:txBody>
          <a:bodyPr/>
          <a:lstStyle/>
          <a:p>
            <a:r>
              <a:rPr lang="zh-CN" altLang="zh-CN" b="0" dirty="0"/>
              <a:t>①</a:t>
            </a:r>
            <a:r>
              <a:rPr lang="en-US" altLang="zh-CN" b="0" dirty="0"/>
              <a:t> { </a:t>
            </a:r>
            <a:r>
              <a:rPr lang="en-US" altLang="zh-CN" b="0" u="sng" dirty="0"/>
              <a:t>x++</a:t>
            </a:r>
            <a:r>
              <a:rPr lang="zh-CN" altLang="zh-CN" b="0" dirty="0"/>
              <a:t>；</a:t>
            </a:r>
            <a:r>
              <a:rPr lang="en-US" altLang="zh-CN" b="0" dirty="0"/>
              <a:t>}</a:t>
            </a:r>
            <a:endParaRPr lang="zh-CN" altLang="zh-CN" b="0" dirty="0"/>
          </a:p>
          <a:p>
            <a:r>
              <a:rPr lang="zh-CN" altLang="zh-CN" b="0" dirty="0"/>
              <a:t>②</a:t>
            </a:r>
            <a:r>
              <a:rPr lang="en-US" altLang="zh-CN" b="0" dirty="0"/>
              <a:t> for</a:t>
            </a:r>
            <a:r>
              <a:rPr lang="zh-CN" altLang="zh-CN" b="0" dirty="0"/>
              <a:t>（</a:t>
            </a:r>
            <a:r>
              <a:rPr lang="en-US" altLang="zh-CN" b="0" dirty="0" err="1"/>
              <a:t>i</a:t>
            </a:r>
            <a:r>
              <a:rPr lang="en-US" altLang="zh-CN" b="0" dirty="0"/>
              <a:t>=1</a:t>
            </a:r>
            <a:r>
              <a:rPr lang="zh-CN" altLang="zh-CN" b="0" dirty="0"/>
              <a:t>；</a:t>
            </a:r>
            <a:r>
              <a:rPr lang="en-US" altLang="zh-CN" b="0" dirty="0" err="1"/>
              <a:t>i</a:t>
            </a:r>
            <a:r>
              <a:rPr lang="zh-CN" altLang="zh-CN" b="0" dirty="0"/>
              <a:t>＜＝</a:t>
            </a:r>
            <a:r>
              <a:rPr lang="en-US" altLang="zh-CN" b="0" dirty="0"/>
              <a:t>n</a:t>
            </a:r>
            <a:r>
              <a:rPr lang="zh-CN" altLang="zh-CN" b="0" dirty="0"/>
              <a:t>；</a:t>
            </a:r>
            <a:r>
              <a:rPr lang="en-US" altLang="zh-CN" b="0" dirty="0" err="1"/>
              <a:t>i</a:t>
            </a:r>
            <a:r>
              <a:rPr lang="en-US" altLang="zh-CN" b="0" dirty="0"/>
              <a:t>++</a:t>
            </a:r>
            <a:r>
              <a:rPr lang="zh-CN" altLang="zh-CN" b="0" dirty="0"/>
              <a:t>）</a:t>
            </a:r>
            <a:r>
              <a:rPr lang="en-US" altLang="zh-CN" b="0" dirty="0"/>
              <a:t>{</a:t>
            </a:r>
            <a:r>
              <a:rPr lang="en-US" altLang="zh-CN" b="0" u="sng" dirty="0"/>
              <a:t> x++</a:t>
            </a:r>
            <a:r>
              <a:rPr lang="zh-CN" altLang="zh-CN" b="0" u="sng" dirty="0"/>
              <a:t>；</a:t>
            </a:r>
            <a:r>
              <a:rPr lang="en-US" altLang="zh-CN" b="0" u="sng" dirty="0"/>
              <a:t> </a:t>
            </a:r>
            <a:r>
              <a:rPr lang="en-US" altLang="zh-CN" b="0" dirty="0"/>
              <a:t>}</a:t>
            </a:r>
            <a:endParaRPr lang="zh-CN" altLang="zh-CN" b="0" dirty="0"/>
          </a:p>
          <a:p>
            <a:r>
              <a:rPr lang="zh-CN" altLang="zh-CN" b="0" dirty="0"/>
              <a:t>③</a:t>
            </a:r>
            <a:r>
              <a:rPr lang="en-US" altLang="zh-CN" b="0" dirty="0"/>
              <a:t> for</a:t>
            </a:r>
            <a:r>
              <a:rPr lang="zh-CN" altLang="zh-CN" b="0" dirty="0"/>
              <a:t>（</a:t>
            </a:r>
            <a:r>
              <a:rPr lang="en-US" altLang="zh-CN" b="0" dirty="0"/>
              <a:t>j=1</a:t>
            </a:r>
            <a:r>
              <a:rPr lang="zh-CN" altLang="zh-CN" b="0" dirty="0"/>
              <a:t>；</a:t>
            </a:r>
            <a:r>
              <a:rPr lang="en-US" altLang="zh-CN" b="0" dirty="0"/>
              <a:t>j</a:t>
            </a:r>
            <a:r>
              <a:rPr lang="zh-CN" altLang="zh-CN" b="0" dirty="0"/>
              <a:t>＜＝</a:t>
            </a:r>
            <a:r>
              <a:rPr lang="en-US" altLang="zh-CN" b="0" dirty="0"/>
              <a:t>n</a:t>
            </a:r>
            <a:r>
              <a:rPr lang="zh-CN" altLang="zh-CN" b="0" dirty="0"/>
              <a:t>；</a:t>
            </a:r>
            <a:r>
              <a:rPr lang="en-US" altLang="zh-CN" b="0" dirty="0"/>
              <a:t>j++</a:t>
            </a:r>
            <a:r>
              <a:rPr lang="zh-CN" altLang="zh-CN" b="0" dirty="0"/>
              <a:t>）</a:t>
            </a:r>
          </a:p>
          <a:p>
            <a:r>
              <a:rPr lang="en-US" altLang="zh-CN" b="0" dirty="0"/>
              <a:t>       for</a:t>
            </a:r>
            <a:r>
              <a:rPr lang="zh-CN" altLang="zh-CN" b="0" dirty="0"/>
              <a:t>（</a:t>
            </a:r>
            <a:r>
              <a:rPr lang="en-US" altLang="zh-CN" b="0" dirty="0"/>
              <a:t>k=1</a:t>
            </a:r>
            <a:r>
              <a:rPr lang="zh-CN" altLang="zh-CN" b="0" dirty="0"/>
              <a:t>；</a:t>
            </a:r>
            <a:r>
              <a:rPr lang="en-US" altLang="zh-CN" b="0" dirty="0"/>
              <a:t>k</a:t>
            </a:r>
            <a:r>
              <a:rPr lang="zh-CN" altLang="zh-CN" b="0" dirty="0"/>
              <a:t>＜＝</a:t>
            </a:r>
            <a:r>
              <a:rPr lang="en-US" altLang="zh-CN" b="0" dirty="0"/>
              <a:t>n</a:t>
            </a:r>
            <a:r>
              <a:rPr lang="zh-CN" altLang="zh-CN" b="0" dirty="0"/>
              <a:t>；</a:t>
            </a:r>
            <a:r>
              <a:rPr lang="en-US" altLang="zh-CN" b="0" dirty="0"/>
              <a:t>k++</a:t>
            </a:r>
            <a:r>
              <a:rPr lang="zh-CN" altLang="zh-CN" b="0" dirty="0"/>
              <a:t>）</a:t>
            </a:r>
            <a:r>
              <a:rPr lang="en-US" altLang="zh-CN" b="0" dirty="0"/>
              <a:t>{ </a:t>
            </a:r>
            <a:r>
              <a:rPr lang="en-US" altLang="zh-CN" b="0" u="sng" dirty="0"/>
              <a:t>x++</a:t>
            </a:r>
            <a:r>
              <a:rPr lang="zh-CN" altLang="zh-CN" b="0" u="sng" dirty="0"/>
              <a:t>；</a:t>
            </a:r>
            <a:r>
              <a:rPr lang="en-US" altLang="zh-CN" b="0" dirty="0"/>
              <a:t>}</a:t>
            </a:r>
            <a:endParaRPr lang="zh-CN" altLang="zh-CN" b="0" dirty="0"/>
          </a:p>
          <a:p>
            <a:endParaRPr lang="zh-CN" altLang="en-US" b="0" dirty="0"/>
          </a:p>
        </p:txBody>
      </p:sp>
      <p:sp>
        <p:nvSpPr>
          <p:cNvPr id="4" name="矩形 3"/>
          <p:cNvSpPr/>
          <p:nvPr/>
        </p:nvSpPr>
        <p:spPr>
          <a:xfrm>
            <a:off x="1043608" y="4591446"/>
            <a:ext cx="7416824" cy="461665"/>
          </a:xfrm>
          <a:prstGeom prst="rect">
            <a:avLst/>
          </a:prstGeom>
        </p:spPr>
        <p:txBody>
          <a:bodyPr wrap="square">
            <a:spAutoFit/>
          </a:bodyPr>
          <a:lstStyle/>
          <a:p>
            <a:r>
              <a:rPr lang="zh-CN" altLang="zh-CN" sz="2400" dirty="0">
                <a:latin typeface="Times New Roman" pitchFamily="18" charset="0"/>
                <a:cs typeface="Times New Roman" pitchFamily="18" charset="0"/>
              </a:rPr>
              <a:t>这三段程序的时间复杂度分别为Θ</a:t>
            </a:r>
            <a:r>
              <a:rPr lang="en-US" altLang="zh-CN" sz="2400" dirty="0">
                <a:latin typeface="Times New Roman" pitchFamily="18" charset="0"/>
                <a:cs typeface="Times New Roman" pitchFamily="18" charset="0"/>
              </a:rPr>
              <a:t>(1)</a:t>
            </a:r>
            <a:r>
              <a:rPr lang="zh-CN" altLang="zh-CN" sz="2400" dirty="0">
                <a:latin typeface="Times New Roman" pitchFamily="18" charset="0"/>
                <a:cs typeface="Times New Roman" pitchFamily="18" charset="0"/>
              </a:rPr>
              <a:t>，Θ</a:t>
            </a:r>
            <a:r>
              <a:rPr lang="en-US" altLang="zh-CN" sz="2400" dirty="0">
                <a:latin typeface="Times New Roman" pitchFamily="18" charset="0"/>
                <a:cs typeface="Times New Roman" pitchFamily="18" charset="0"/>
              </a:rPr>
              <a:t>(n)</a:t>
            </a:r>
            <a:r>
              <a:rPr lang="zh-CN" altLang="zh-CN" sz="2400" dirty="0">
                <a:latin typeface="Times New Roman" pitchFamily="18" charset="0"/>
                <a:cs typeface="Times New Roman" pitchFamily="18" charset="0"/>
              </a:rPr>
              <a:t>和 Θ</a:t>
            </a:r>
            <a:r>
              <a:rPr lang="en-US" altLang="zh-CN" sz="2400" dirty="0">
                <a:latin typeface="Times New Roman" pitchFamily="18" charset="0"/>
                <a:cs typeface="Times New Roman" pitchFamily="18" charset="0"/>
              </a:rPr>
              <a:t>(n</a:t>
            </a:r>
            <a:r>
              <a:rPr lang="en-US" altLang="zh-CN" sz="2400" baseline="30000" dirty="0">
                <a:latin typeface="Times New Roman" pitchFamily="18" charset="0"/>
                <a:cs typeface="Times New Roman" pitchFamily="18" charset="0"/>
              </a:rPr>
              <a:t>2</a:t>
            </a:r>
            <a:r>
              <a:rPr lang="en-US" altLang="zh-CN" sz="2400" dirty="0">
                <a:latin typeface="Times New Roman" pitchFamily="18" charset="0"/>
                <a:cs typeface="Times New Roman" pitchFamily="18" charset="0"/>
              </a:rPr>
              <a:t>)</a:t>
            </a:r>
            <a:endParaRPr lang="zh-CN" alt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70695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7920880" cy="548640"/>
          </a:xfrm>
        </p:spPr>
        <p:txBody>
          <a:bodyPr/>
          <a:lstStyle/>
          <a:p>
            <a:r>
              <a:rPr lang="zh-CN" altLang="zh-CN" dirty="0"/>
              <a:t>【例</a:t>
            </a:r>
            <a:r>
              <a:rPr lang="en-US" altLang="zh-CN" dirty="0"/>
              <a:t>1-12</a:t>
            </a:r>
            <a:r>
              <a:rPr lang="zh-CN" altLang="zh-CN" dirty="0"/>
              <a:t>】 比较下面几段程序的算法复杂度分析</a:t>
            </a:r>
            <a:endParaRPr lang="zh-CN" altLang="en-US" dirty="0"/>
          </a:p>
        </p:txBody>
      </p:sp>
      <p:sp>
        <p:nvSpPr>
          <p:cNvPr id="3" name="内容占位符 2"/>
          <p:cNvSpPr>
            <a:spLocks noGrp="1"/>
          </p:cNvSpPr>
          <p:nvPr>
            <p:ph idx="1"/>
          </p:nvPr>
        </p:nvSpPr>
        <p:spPr>
          <a:xfrm>
            <a:off x="840051" y="1556792"/>
            <a:ext cx="6552728" cy="4608512"/>
          </a:xfrm>
        </p:spPr>
        <p:txBody>
          <a:bodyPr>
            <a:normAutofit lnSpcReduction="10000"/>
          </a:bodyPr>
          <a:lstStyle/>
          <a:p>
            <a:r>
              <a:rPr lang="zh-CN" altLang="zh-CN" b="0" dirty="0"/>
              <a:t>①</a:t>
            </a:r>
            <a:r>
              <a:rPr lang="en-US" altLang="zh-CN" b="0" dirty="0"/>
              <a:t> x=0;</a:t>
            </a:r>
            <a:endParaRPr lang="zh-CN" altLang="zh-CN" b="0" dirty="0"/>
          </a:p>
          <a:p>
            <a:r>
              <a:rPr lang="en-US" altLang="zh-CN" b="0" dirty="0"/>
              <a:t>	for</a:t>
            </a:r>
            <a:r>
              <a:rPr lang="zh-CN" altLang="zh-CN" b="0" dirty="0"/>
              <a:t>（</a:t>
            </a:r>
            <a:r>
              <a:rPr lang="en-US" altLang="zh-CN" b="0" dirty="0" err="1"/>
              <a:t>i</a:t>
            </a:r>
            <a:r>
              <a:rPr lang="en-US" altLang="zh-CN" b="0" dirty="0"/>
              <a:t>=0</a:t>
            </a:r>
            <a:r>
              <a:rPr lang="zh-CN" altLang="zh-CN" b="0" dirty="0"/>
              <a:t>；</a:t>
            </a:r>
            <a:r>
              <a:rPr lang="en-US" altLang="zh-CN" b="0" dirty="0" err="1"/>
              <a:t>i</a:t>
            </a:r>
            <a:r>
              <a:rPr lang="zh-CN" altLang="zh-CN" b="0" dirty="0"/>
              <a:t>＜</a:t>
            </a:r>
            <a:r>
              <a:rPr lang="en-US" altLang="zh-CN" b="0" dirty="0"/>
              <a:t>n</a:t>
            </a:r>
            <a:r>
              <a:rPr lang="zh-CN" altLang="zh-CN" b="0" dirty="0"/>
              <a:t>；</a:t>
            </a:r>
            <a:r>
              <a:rPr lang="en-US" altLang="zh-CN" b="0" dirty="0" err="1"/>
              <a:t>i</a:t>
            </a:r>
            <a:r>
              <a:rPr lang="en-US" altLang="zh-CN" b="0" dirty="0"/>
              <a:t>++</a:t>
            </a:r>
            <a:r>
              <a:rPr lang="zh-CN" altLang="zh-CN" b="0" dirty="0"/>
              <a:t>）</a:t>
            </a:r>
          </a:p>
          <a:p>
            <a:r>
              <a:rPr lang="en-US" altLang="zh-CN" b="0" dirty="0"/>
              <a:t>       for</a:t>
            </a:r>
            <a:r>
              <a:rPr lang="zh-CN" altLang="zh-CN" b="0" dirty="0"/>
              <a:t>（</a:t>
            </a:r>
            <a:r>
              <a:rPr lang="en-US" altLang="zh-CN" b="0" dirty="0"/>
              <a:t>j=0</a:t>
            </a:r>
            <a:r>
              <a:rPr lang="zh-CN" altLang="zh-CN" b="0" dirty="0"/>
              <a:t>；</a:t>
            </a:r>
            <a:r>
              <a:rPr lang="en-US" altLang="zh-CN" b="0" dirty="0"/>
              <a:t>j</a:t>
            </a:r>
            <a:r>
              <a:rPr lang="zh-CN" altLang="zh-CN" b="0" dirty="0"/>
              <a:t>＜</a:t>
            </a:r>
            <a:r>
              <a:rPr lang="en-US" altLang="zh-CN" b="0" dirty="0"/>
              <a:t>n</a:t>
            </a:r>
            <a:r>
              <a:rPr lang="zh-CN" altLang="zh-CN" b="0" dirty="0"/>
              <a:t>；</a:t>
            </a:r>
            <a:r>
              <a:rPr lang="en-US" altLang="zh-CN" b="0" dirty="0"/>
              <a:t>j++</a:t>
            </a:r>
            <a:r>
              <a:rPr lang="zh-CN" altLang="zh-CN" b="0" dirty="0"/>
              <a:t>）</a:t>
            </a:r>
            <a:r>
              <a:rPr lang="en-US" altLang="zh-CN" b="0" u="sng" dirty="0"/>
              <a:t>x++</a:t>
            </a:r>
            <a:r>
              <a:rPr lang="zh-CN" altLang="zh-CN" b="0" dirty="0"/>
              <a:t>；</a:t>
            </a:r>
          </a:p>
          <a:p>
            <a:r>
              <a:rPr lang="en-US" altLang="zh-CN" b="0" dirty="0"/>
              <a:t> </a:t>
            </a:r>
            <a:r>
              <a:rPr lang="zh-CN" altLang="zh-CN" b="0" dirty="0"/>
              <a:t>②</a:t>
            </a:r>
            <a:r>
              <a:rPr lang="en-US" altLang="zh-CN" b="0" dirty="0"/>
              <a:t> y=0;</a:t>
            </a:r>
            <a:endParaRPr lang="zh-CN" altLang="zh-CN" b="0" dirty="0"/>
          </a:p>
          <a:p>
            <a:r>
              <a:rPr lang="en-US" altLang="zh-CN" b="0" dirty="0"/>
              <a:t>	for</a:t>
            </a:r>
            <a:r>
              <a:rPr lang="zh-CN" altLang="zh-CN" b="0" dirty="0"/>
              <a:t>（</a:t>
            </a:r>
            <a:r>
              <a:rPr lang="en-US" altLang="zh-CN" b="0" dirty="0"/>
              <a:t>k=0</a:t>
            </a:r>
            <a:r>
              <a:rPr lang="zh-CN" altLang="zh-CN" b="0" dirty="0"/>
              <a:t>；</a:t>
            </a:r>
            <a:r>
              <a:rPr lang="en-US" altLang="zh-CN" b="0" dirty="0"/>
              <a:t>k&lt; n</a:t>
            </a:r>
            <a:r>
              <a:rPr lang="zh-CN" altLang="zh-CN" b="0" dirty="0"/>
              <a:t>；</a:t>
            </a:r>
            <a:r>
              <a:rPr lang="en-US" altLang="zh-CN" b="0" dirty="0"/>
              <a:t>k++</a:t>
            </a:r>
            <a:r>
              <a:rPr lang="zh-CN" altLang="zh-CN" b="0" dirty="0"/>
              <a:t>）</a:t>
            </a:r>
            <a:r>
              <a:rPr lang="en-US" altLang="zh-CN" b="0" dirty="0"/>
              <a:t>      </a:t>
            </a:r>
            <a:endParaRPr lang="zh-CN" altLang="zh-CN" b="0" dirty="0"/>
          </a:p>
          <a:p>
            <a:r>
              <a:rPr lang="en-US" altLang="zh-CN" b="0" dirty="0"/>
              <a:t>        for(</a:t>
            </a:r>
            <a:r>
              <a:rPr lang="en-US" altLang="zh-CN" b="0" dirty="0" err="1"/>
              <a:t>i</a:t>
            </a:r>
            <a:r>
              <a:rPr lang="en-US" altLang="zh-CN" b="0" dirty="0"/>
              <a:t>=0</a:t>
            </a:r>
            <a:r>
              <a:rPr lang="zh-CN" altLang="zh-CN" b="0" dirty="0"/>
              <a:t>；</a:t>
            </a:r>
            <a:r>
              <a:rPr lang="en-US" altLang="zh-CN" b="0" dirty="0" err="1"/>
              <a:t>i</a:t>
            </a:r>
            <a:r>
              <a:rPr lang="en-US" altLang="zh-CN" b="0" dirty="0"/>
              <a:t>&lt; k</a:t>
            </a:r>
            <a:r>
              <a:rPr lang="zh-CN" altLang="zh-CN" b="0" dirty="0"/>
              <a:t>；</a:t>
            </a:r>
            <a:r>
              <a:rPr lang="en-US" altLang="zh-CN" b="0" dirty="0" err="1"/>
              <a:t>i</a:t>
            </a:r>
            <a:r>
              <a:rPr lang="en-US" altLang="zh-CN" b="0" dirty="0"/>
              <a:t>++)  </a:t>
            </a:r>
            <a:r>
              <a:rPr lang="en-US" altLang="zh-CN" b="0" u="sng" dirty="0"/>
              <a:t>y ++</a:t>
            </a:r>
            <a:r>
              <a:rPr lang="zh-CN" altLang="zh-CN" b="0" dirty="0"/>
              <a:t>；</a:t>
            </a:r>
            <a:r>
              <a:rPr lang="en-US" altLang="zh-CN" b="0" dirty="0"/>
              <a:t>   </a:t>
            </a:r>
            <a:endParaRPr lang="zh-CN" altLang="zh-CN" b="0" dirty="0"/>
          </a:p>
          <a:p>
            <a:r>
              <a:rPr lang="zh-CN" altLang="zh-CN" b="0" dirty="0"/>
              <a:t>③</a:t>
            </a:r>
            <a:r>
              <a:rPr lang="en-US" altLang="zh-CN" b="0" dirty="0"/>
              <a:t> z=0</a:t>
            </a:r>
            <a:r>
              <a:rPr lang="zh-CN" altLang="zh-CN" b="0" dirty="0"/>
              <a:t>；</a:t>
            </a:r>
          </a:p>
          <a:p>
            <a:r>
              <a:rPr lang="en-US" altLang="zh-CN" b="0" dirty="0"/>
              <a:t> 	for</a:t>
            </a:r>
            <a:r>
              <a:rPr lang="zh-CN" altLang="zh-CN" b="0" dirty="0"/>
              <a:t>（</a:t>
            </a:r>
            <a:r>
              <a:rPr lang="en-US" altLang="zh-CN" b="0" dirty="0" err="1"/>
              <a:t>i</a:t>
            </a:r>
            <a:r>
              <a:rPr lang="en-US" altLang="zh-CN" b="0" dirty="0"/>
              <a:t>=1</a:t>
            </a:r>
            <a:r>
              <a:rPr lang="zh-CN" altLang="zh-CN" b="0" dirty="0"/>
              <a:t>；</a:t>
            </a:r>
            <a:r>
              <a:rPr lang="en-US" altLang="zh-CN" b="0" dirty="0" err="1"/>
              <a:t>i</a:t>
            </a:r>
            <a:r>
              <a:rPr lang="zh-CN" altLang="zh-CN" b="0" dirty="0"/>
              <a:t>＜</a:t>
            </a:r>
            <a:r>
              <a:rPr lang="en-US" altLang="zh-CN" b="0" dirty="0"/>
              <a:t>=n</a:t>
            </a:r>
            <a:r>
              <a:rPr lang="zh-CN" altLang="zh-CN" b="0" dirty="0"/>
              <a:t>；</a:t>
            </a:r>
            <a:r>
              <a:rPr lang="en-US" altLang="zh-CN" b="0" dirty="0" err="1"/>
              <a:t>i</a:t>
            </a:r>
            <a:r>
              <a:rPr lang="en-US" altLang="zh-CN" b="0" dirty="0"/>
              <a:t>* =2</a:t>
            </a:r>
            <a:r>
              <a:rPr lang="zh-CN" altLang="zh-CN" b="0" dirty="0"/>
              <a:t>）</a:t>
            </a:r>
            <a:r>
              <a:rPr lang="en-US" altLang="zh-CN" b="0" dirty="0"/>
              <a:t>            </a:t>
            </a:r>
            <a:endParaRPr lang="zh-CN" altLang="zh-CN" b="0" dirty="0"/>
          </a:p>
          <a:p>
            <a:r>
              <a:rPr lang="en-US" altLang="zh-CN" b="0" dirty="0"/>
              <a:t>        for(j=1</a:t>
            </a:r>
            <a:r>
              <a:rPr lang="zh-CN" altLang="zh-CN" b="0" dirty="0"/>
              <a:t>；</a:t>
            </a:r>
            <a:r>
              <a:rPr lang="en-US" altLang="zh-CN" b="0" dirty="0"/>
              <a:t>j</a:t>
            </a:r>
            <a:r>
              <a:rPr lang="zh-CN" altLang="zh-CN" b="0" dirty="0"/>
              <a:t>＜</a:t>
            </a:r>
            <a:r>
              <a:rPr lang="en-US" altLang="zh-CN" b="0" dirty="0"/>
              <a:t>=n</a:t>
            </a:r>
            <a:r>
              <a:rPr lang="zh-CN" altLang="zh-CN" b="0" dirty="0"/>
              <a:t>；</a:t>
            </a:r>
            <a:r>
              <a:rPr lang="en-US" altLang="zh-CN" b="0" dirty="0"/>
              <a:t>j+ +)   </a:t>
            </a:r>
            <a:r>
              <a:rPr lang="en-US" altLang="zh-CN" b="0" u="sng" dirty="0"/>
              <a:t>z + +</a:t>
            </a:r>
            <a:r>
              <a:rPr lang="zh-CN" altLang="zh-CN" b="0" dirty="0"/>
              <a:t>；</a:t>
            </a:r>
            <a:endParaRPr lang="zh-CN" altLang="en-US" b="0" dirty="0"/>
          </a:p>
        </p:txBody>
      </p:sp>
      <p:sp>
        <p:nvSpPr>
          <p:cNvPr id="4" name="矩形 3"/>
          <p:cNvSpPr/>
          <p:nvPr/>
        </p:nvSpPr>
        <p:spPr>
          <a:xfrm>
            <a:off x="7452320" y="2276872"/>
            <a:ext cx="737702" cy="400110"/>
          </a:xfrm>
          <a:prstGeom prst="rect">
            <a:avLst/>
          </a:prstGeom>
        </p:spPr>
        <p:txBody>
          <a:bodyPr wrap="none">
            <a:spAutoFit/>
          </a:bodyPr>
          <a:lstStyle/>
          <a:p>
            <a:r>
              <a:rPr lang="zh-CN" altLang="zh-CN" sz="2000" dirty="0"/>
              <a:t>Θ</a:t>
            </a:r>
            <a:r>
              <a:rPr lang="en-US" altLang="zh-CN" sz="2000" dirty="0"/>
              <a:t>(n</a:t>
            </a:r>
            <a:r>
              <a:rPr lang="en-US" altLang="zh-CN" sz="2000" baseline="30000" dirty="0"/>
              <a:t>2</a:t>
            </a:r>
            <a:r>
              <a:rPr lang="en-US" altLang="zh-CN" sz="2000" dirty="0"/>
              <a:t>)</a:t>
            </a:r>
            <a:endParaRPr lang="zh-CN" altLang="en-US" sz="2000" dirty="0"/>
          </a:p>
        </p:txBody>
      </p:sp>
      <p:sp>
        <p:nvSpPr>
          <p:cNvPr id="5" name="矩形 4"/>
          <p:cNvSpPr/>
          <p:nvPr/>
        </p:nvSpPr>
        <p:spPr>
          <a:xfrm>
            <a:off x="7483578" y="3312489"/>
            <a:ext cx="737702" cy="400110"/>
          </a:xfrm>
          <a:prstGeom prst="rect">
            <a:avLst/>
          </a:prstGeom>
        </p:spPr>
        <p:txBody>
          <a:bodyPr wrap="none">
            <a:spAutoFit/>
          </a:bodyPr>
          <a:lstStyle/>
          <a:p>
            <a:r>
              <a:rPr lang="zh-CN" altLang="zh-CN" sz="2000" dirty="0"/>
              <a:t>Θ</a:t>
            </a:r>
            <a:r>
              <a:rPr lang="en-US" altLang="zh-CN" sz="2000" dirty="0"/>
              <a:t>(n</a:t>
            </a:r>
            <a:r>
              <a:rPr lang="en-US" altLang="zh-CN" sz="2000" baseline="30000" dirty="0"/>
              <a:t>2</a:t>
            </a:r>
            <a:r>
              <a:rPr lang="en-US" altLang="zh-CN" sz="2000" dirty="0"/>
              <a:t>)</a:t>
            </a:r>
            <a:endParaRPr lang="zh-CN" altLang="en-US" sz="2000" dirty="0"/>
          </a:p>
        </p:txBody>
      </p:sp>
      <p:sp>
        <p:nvSpPr>
          <p:cNvPr id="6" name="矩形 5"/>
          <p:cNvSpPr/>
          <p:nvPr/>
        </p:nvSpPr>
        <p:spPr>
          <a:xfrm>
            <a:off x="7392779" y="4725144"/>
            <a:ext cx="1098378" cy="400110"/>
          </a:xfrm>
          <a:prstGeom prst="rect">
            <a:avLst/>
          </a:prstGeom>
        </p:spPr>
        <p:txBody>
          <a:bodyPr wrap="none">
            <a:spAutoFit/>
          </a:bodyPr>
          <a:lstStyle/>
          <a:p>
            <a:r>
              <a:rPr lang="zh-CN" altLang="zh-CN" sz="2000" dirty="0"/>
              <a:t>Θ</a:t>
            </a:r>
            <a:r>
              <a:rPr lang="en-US" altLang="zh-CN" sz="2000" dirty="0"/>
              <a:t>(</a:t>
            </a:r>
            <a:r>
              <a:rPr lang="en-US" altLang="zh-CN" sz="2000" i="1" dirty="0" err="1"/>
              <a:t>n</a:t>
            </a:r>
            <a:r>
              <a:rPr lang="en-US" altLang="zh-CN" sz="2000" dirty="0" err="1"/>
              <a:t>log</a:t>
            </a:r>
            <a:r>
              <a:rPr lang="en-US" altLang="zh-CN" sz="2000" i="1" dirty="0" err="1"/>
              <a:t>n</a:t>
            </a:r>
            <a:r>
              <a:rPr lang="en-US" altLang="zh-CN" sz="2000" dirty="0"/>
              <a:t>)</a:t>
            </a:r>
            <a:endParaRPr lang="zh-CN" altLang="en-US" sz="2000" dirty="0"/>
          </a:p>
        </p:txBody>
      </p:sp>
      <p:sp>
        <p:nvSpPr>
          <p:cNvPr id="7" name="矩形 6"/>
          <p:cNvSpPr/>
          <p:nvPr/>
        </p:nvSpPr>
        <p:spPr>
          <a:xfrm>
            <a:off x="7118895" y="1628800"/>
            <a:ext cx="1467068" cy="400110"/>
          </a:xfrm>
          <a:prstGeom prst="rect">
            <a:avLst/>
          </a:prstGeom>
        </p:spPr>
        <p:txBody>
          <a:bodyPr wrap="none">
            <a:spAutoFit/>
          </a:bodyPr>
          <a:lstStyle/>
          <a:p>
            <a:r>
              <a:rPr lang="zh-CN" altLang="zh-CN" sz="2000" dirty="0"/>
              <a:t>时间复杂度</a:t>
            </a:r>
            <a:endParaRPr lang="zh-CN" altLang="en-US" sz="2000" dirty="0"/>
          </a:p>
        </p:txBody>
      </p:sp>
    </p:spTree>
    <p:extLst>
      <p:ext uri="{BB962C8B-B14F-4D97-AF65-F5344CB8AC3E}">
        <p14:creationId xmlns:p14="http://schemas.microsoft.com/office/powerpoint/2010/main" val="55282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1052736"/>
            <a:ext cx="7520940" cy="548640"/>
          </a:xfrm>
        </p:spPr>
        <p:txBody>
          <a:bodyPr/>
          <a:lstStyle/>
          <a:p>
            <a:pPr>
              <a:lnSpc>
                <a:spcPct val="150000"/>
              </a:lnSpc>
            </a:pPr>
            <a:r>
              <a:rPr lang="zh-CN" altLang="zh-CN" dirty="0"/>
              <a:t>【例</a:t>
            </a:r>
            <a:r>
              <a:rPr lang="en-US" altLang="zh-CN" dirty="0"/>
              <a:t>1-13</a:t>
            </a:r>
            <a:r>
              <a:rPr lang="zh-CN" altLang="zh-CN" dirty="0"/>
              <a:t>】计算交换两个数据元素的算法的时间复杂度</a:t>
            </a:r>
            <a:endParaRPr lang="zh-CN" altLang="en-US" dirty="0"/>
          </a:p>
        </p:txBody>
      </p:sp>
      <p:sp>
        <p:nvSpPr>
          <p:cNvPr id="3" name="内容占位符 2"/>
          <p:cNvSpPr>
            <a:spLocks noGrp="1"/>
          </p:cNvSpPr>
          <p:nvPr>
            <p:ph idx="1"/>
          </p:nvPr>
        </p:nvSpPr>
        <p:spPr>
          <a:xfrm>
            <a:off x="1619672" y="2060848"/>
            <a:ext cx="5760640" cy="3579849"/>
          </a:xfrm>
        </p:spPr>
        <p:txBody>
          <a:bodyPr/>
          <a:lstStyle/>
          <a:p>
            <a:r>
              <a:rPr lang="en-US" altLang="zh-CN" b="0" dirty="0"/>
              <a:t>void swap</a:t>
            </a:r>
            <a:r>
              <a:rPr lang="zh-CN" altLang="zh-CN" b="0" dirty="0"/>
              <a:t>（</a:t>
            </a:r>
            <a:r>
              <a:rPr lang="en-US" altLang="zh-CN" b="0" dirty="0"/>
              <a:t>Elem &amp;x, Elem &amp;y</a:t>
            </a:r>
            <a:r>
              <a:rPr lang="zh-CN" altLang="zh-CN" b="0" dirty="0"/>
              <a:t>）</a:t>
            </a:r>
            <a:r>
              <a:rPr lang="en-US" altLang="zh-CN" b="0" dirty="0"/>
              <a:t>{</a:t>
            </a:r>
            <a:endParaRPr lang="zh-CN" altLang="zh-CN" b="0" dirty="0"/>
          </a:p>
          <a:p>
            <a:r>
              <a:rPr lang="en-US" altLang="zh-CN" b="0" dirty="0"/>
              <a:t>	Elem temp;</a:t>
            </a:r>
            <a:endParaRPr lang="zh-CN" altLang="zh-CN" b="0" dirty="0"/>
          </a:p>
          <a:p>
            <a:r>
              <a:rPr lang="en-US" altLang="zh-CN" b="0" dirty="0"/>
              <a:t>	temp=x;</a:t>
            </a:r>
            <a:endParaRPr lang="zh-CN" altLang="zh-CN" b="0" dirty="0"/>
          </a:p>
          <a:p>
            <a:r>
              <a:rPr lang="en-US" altLang="zh-CN" b="0" dirty="0"/>
              <a:t>	x=y;</a:t>
            </a:r>
            <a:endParaRPr lang="zh-CN" altLang="zh-CN" b="0" dirty="0"/>
          </a:p>
          <a:p>
            <a:r>
              <a:rPr lang="en-US" altLang="zh-CN" b="0" dirty="0"/>
              <a:t>	y=temp;</a:t>
            </a:r>
            <a:endParaRPr lang="zh-CN" altLang="zh-CN" b="0" dirty="0"/>
          </a:p>
          <a:p>
            <a:r>
              <a:rPr lang="en-US" altLang="zh-CN" b="0" dirty="0"/>
              <a:t>}</a:t>
            </a:r>
            <a:endParaRPr lang="zh-CN" altLang="zh-CN" b="0" dirty="0"/>
          </a:p>
          <a:p>
            <a:endParaRPr lang="zh-CN" altLang="en-US" b="0" dirty="0"/>
          </a:p>
        </p:txBody>
      </p:sp>
      <p:sp>
        <p:nvSpPr>
          <p:cNvPr id="4" name="矩形 3"/>
          <p:cNvSpPr/>
          <p:nvPr/>
        </p:nvSpPr>
        <p:spPr>
          <a:xfrm>
            <a:off x="1331640" y="5373216"/>
            <a:ext cx="5883566" cy="830997"/>
          </a:xfrm>
          <a:prstGeom prst="rect">
            <a:avLst/>
          </a:prstGeom>
        </p:spPr>
        <p:txBody>
          <a:bodyPr wrap="square">
            <a:spAutoFit/>
          </a:bodyPr>
          <a:lstStyle/>
          <a:p>
            <a:r>
              <a:rPr lang="zh-CN" altLang="zh-CN" sz="2400" dirty="0"/>
              <a:t>此程序段中共执行了</a:t>
            </a:r>
            <a:r>
              <a:rPr lang="en-US" altLang="zh-CN" sz="2400" dirty="0"/>
              <a:t>3</a:t>
            </a:r>
            <a:r>
              <a:rPr lang="zh-CN" altLang="zh-CN" sz="2400" dirty="0"/>
              <a:t>次赋值运算，</a:t>
            </a:r>
            <a:endParaRPr lang="en-US" altLang="zh-CN" sz="2400" dirty="0"/>
          </a:p>
          <a:p>
            <a:r>
              <a:rPr lang="zh-CN" altLang="zh-CN" sz="2400" dirty="0"/>
              <a:t>所以运行时间为</a:t>
            </a:r>
            <a:r>
              <a:rPr lang="en-US" altLang="zh-CN" sz="2400" i="1" dirty="0"/>
              <a:t>T</a:t>
            </a:r>
            <a:r>
              <a:rPr lang="en-US" altLang="zh-CN" sz="2400" dirty="0"/>
              <a:t>(n)=3</a:t>
            </a:r>
            <a:r>
              <a:rPr lang="zh-CN" altLang="zh-CN" sz="2400" dirty="0"/>
              <a:t>，</a:t>
            </a:r>
            <a:r>
              <a:rPr lang="en-US" altLang="zh-CN" sz="2400" i="1" dirty="0"/>
              <a:t>T</a:t>
            </a:r>
            <a:r>
              <a:rPr lang="en-US" altLang="zh-CN" sz="2400" dirty="0"/>
              <a:t>(n)=</a:t>
            </a:r>
            <a:r>
              <a:rPr lang="en-US" altLang="zh-CN" sz="2400" i="1" dirty="0"/>
              <a:t>O</a:t>
            </a:r>
            <a:r>
              <a:rPr lang="en-US" altLang="zh-CN" sz="2400" dirty="0"/>
              <a:t>(1)</a:t>
            </a:r>
            <a:endParaRPr lang="zh-CN" altLang="en-US" sz="2400" dirty="0"/>
          </a:p>
        </p:txBody>
      </p:sp>
    </p:spTree>
    <p:extLst>
      <p:ext uri="{BB962C8B-B14F-4D97-AF65-F5344CB8AC3E}">
        <p14:creationId xmlns:p14="http://schemas.microsoft.com/office/powerpoint/2010/main" val="1459965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8208912" cy="548640"/>
          </a:xfrm>
        </p:spPr>
        <p:txBody>
          <a:bodyPr/>
          <a:lstStyle/>
          <a:p>
            <a:r>
              <a:rPr lang="zh-CN" altLang="zh-CN" sz="2400" dirty="0"/>
              <a:t>【例</a:t>
            </a:r>
            <a:r>
              <a:rPr lang="en-US" altLang="zh-CN" sz="2400" dirty="0"/>
              <a:t>1-14</a:t>
            </a:r>
            <a:r>
              <a:rPr lang="zh-CN" altLang="zh-CN" sz="2400" dirty="0"/>
              <a:t>】两个</a:t>
            </a:r>
            <a:r>
              <a:rPr lang="en-US" altLang="zh-CN" sz="2400" dirty="0"/>
              <a:t>N*N</a:t>
            </a:r>
            <a:r>
              <a:rPr lang="zh-CN" altLang="zh-CN" sz="2400" dirty="0"/>
              <a:t>矩阵相乘的算法的时间复杂度</a:t>
            </a:r>
            <a:endParaRPr lang="zh-CN" altLang="en-US" sz="2400" dirty="0"/>
          </a:p>
        </p:txBody>
      </p:sp>
      <p:sp>
        <p:nvSpPr>
          <p:cNvPr id="3" name="内容占位符 2"/>
          <p:cNvSpPr>
            <a:spLocks noGrp="1"/>
          </p:cNvSpPr>
          <p:nvPr>
            <p:ph idx="1"/>
          </p:nvPr>
        </p:nvSpPr>
        <p:spPr>
          <a:xfrm>
            <a:off x="1259632" y="1772816"/>
            <a:ext cx="7520940" cy="3579849"/>
          </a:xfrm>
        </p:spPr>
        <p:txBody>
          <a:bodyPr/>
          <a:lstStyle/>
          <a:p>
            <a:r>
              <a:rPr lang="en-US" altLang="zh-CN" b="0" dirty="0"/>
              <a:t>for</a:t>
            </a:r>
            <a:r>
              <a:rPr lang="zh-CN" altLang="zh-CN" b="0" dirty="0"/>
              <a:t>（</a:t>
            </a:r>
            <a:r>
              <a:rPr lang="en-US" altLang="zh-CN" b="0" dirty="0" err="1"/>
              <a:t>i</a:t>
            </a:r>
            <a:r>
              <a:rPr lang="en-US" altLang="zh-CN" b="0" dirty="0"/>
              <a:t>=0</a:t>
            </a:r>
            <a:r>
              <a:rPr lang="zh-CN" altLang="zh-CN" b="0" dirty="0"/>
              <a:t>；</a:t>
            </a:r>
            <a:r>
              <a:rPr lang="en-US" altLang="zh-CN" b="0" dirty="0" err="1"/>
              <a:t>i</a:t>
            </a:r>
            <a:r>
              <a:rPr lang="en-US" altLang="zh-CN" b="0" dirty="0"/>
              <a:t>&lt; n</a:t>
            </a:r>
            <a:r>
              <a:rPr lang="zh-CN" altLang="zh-CN" b="0" dirty="0"/>
              <a:t>；</a:t>
            </a:r>
            <a:r>
              <a:rPr lang="en-US" altLang="zh-CN" b="0" dirty="0" err="1"/>
              <a:t>i</a:t>
            </a:r>
            <a:r>
              <a:rPr lang="en-US" altLang="zh-CN" b="0" dirty="0"/>
              <a:t>++</a:t>
            </a:r>
            <a:r>
              <a:rPr lang="zh-CN" altLang="zh-CN" b="0" dirty="0"/>
              <a:t>）</a:t>
            </a:r>
            <a:r>
              <a:rPr lang="en-US" altLang="zh-CN" b="0" dirty="0"/>
              <a:t>{     </a:t>
            </a:r>
            <a:endParaRPr lang="zh-CN" altLang="zh-CN" b="0" dirty="0"/>
          </a:p>
          <a:p>
            <a:r>
              <a:rPr lang="en-US" altLang="zh-CN" b="0" dirty="0"/>
              <a:t>     for(j=0</a:t>
            </a:r>
            <a:r>
              <a:rPr lang="zh-CN" altLang="zh-CN" b="0" dirty="0"/>
              <a:t>；</a:t>
            </a:r>
            <a:r>
              <a:rPr lang="en-US" altLang="zh-CN" b="0" dirty="0"/>
              <a:t>j&lt; n</a:t>
            </a:r>
            <a:r>
              <a:rPr lang="zh-CN" altLang="zh-CN" b="0" dirty="0"/>
              <a:t>；</a:t>
            </a:r>
            <a:r>
              <a:rPr lang="en-US" altLang="zh-CN" b="0" dirty="0"/>
              <a:t>j++) {    </a:t>
            </a:r>
            <a:endParaRPr lang="zh-CN" altLang="zh-CN" b="0" dirty="0"/>
          </a:p>
          <a:p>
            <a:r>
              <a:rPr lang="en-US" altLang="zh-CN" b="0" dirty="0"/>
              <a:t>         c[</a:t>
            </a:r>
            <a:r>
              <a:rPr lang="en-US" altLang="zh-CN" b="0" dirty="0" err="1"/>
              <a:t>i</a:t>
            </a:r>
            <a:r>
              <a:rPr lang="en-US" altLang="zh-CN" b="0" dirty="0"/>
              <a:t>][j]=0</a:t>
            </a:r>
            <a:r>
              <a:rPr lang="zh-CN" altLang="zh-CN" b="0" dirty="0"/>
              <a:t>；</a:t>
            </a:r>
          </a:p>
          <a:p>
            <a:r>
              <a:rPr lang="en-US" altLang="zh-CN" b="0" dirty="0"/>
              <a:t>         for(k=0</a:t>
            </a:r>
            <a:r>
              <a:rPr lang="zh-CN" altLang="zh-CN" b="0" dirty="0"/>
              <a:t>；</a:t>
            </a:r>
            <a:r>
              <a:rPr lang="en-US" altLang="zh-CN" b="0" dirty="0"/>
              <a:t>k&lt;n</a:t>
            </a:r>
            <a:r>
              <a:rPr lang="zh-CN" altLang="zh-CN" b="0" dirty="0"/>
              <a:t>；</a:t>
            </a:r>
            <a:r>
              <a:rPr lang="en-US" altLang="zh-CN" b="0" dirty="0"/>
              <a:t>k++)  </a:t>
            </a:r>
            <a:r>
              <a:rPr lang="en-US" altLang="zh-CN" b="0" u="sng" dirty="0"/>
              <a:t>c[</a:t>
            </a:r>
            <a:r>
              <a:rPr lang="en-US" altLang="zh-CN" b="0" u="sng" dirty="0" err="1"/>
              <a:t>i</a:t>
            </a:r>
            <a:r>
              <a:rPr lang="en-US" altLang="zh-CN" b="0" u="sng" dirty="0"/>
              <a:t>][j]+= a[</a:t>
            </a:r>
            <a:r>
              <a:rPr lang="en-US" altLang="zh-CN" b="0" u="sng" dirty="0" err="1"/>
              <a:t>i</a:t>
            </a:r>
            <a:r>
              <a:rPr lang="en-US" altLang="zh-CN" b="0" u="sng" dirty="0"/>
              <a:t>][k] * b[k][j]</a:t>
            </a:r>
            <a:r>
              <a:rPr lang="zh-CN" altLang="zh-CN" b="0" dirty="0"/>
              <a:t>；</a:t>
            </a:r>
            <a:r>
              <a:rPr lang="en-US" altLang="zh-CN" b="0" dirty="0"/>
              <a:t>   </a:t>
            </a:r>
            <a:endParaRPr lang="zh-CN" altLang="zh-CN" b="0" dirty="0"/>
          </a:p>
          <a:p>
            <a:r>
              <a:rPr lang="en-US" altLang="zh-CN" b="0" dirty="0"/>
              <a:t>     }</a:t>
            </a:r>
            <a:endParaRPr lang="zh-CN" altLang="zh-CN" b="0" dirty="0"/>
          </a:p>
          <a:p>
            <a:r>
              <a:rPr lang="en-US" altLang="zh-CN" b="0" dirty="0"/>
              <a:t>}</a:t>
            </a:r>
            <a:endParaRPr lang="zh-CN" altLang="zh-CN" b="0" dirty="0"/>
          </a:p>
          <a:p>
            <a:endParaRPr lang="zh-CN" altLang="en-US" b="0" dirty="0"/>
          </a:p>
        </p:txBody>
      </p:sp>
      <p:sp>
        <p:nvSpPr>
          <p:cNvPr id="4" name="矩形 3"/>
          <p:cNvSpPr/>
          <p:nvPr/>
        </p:nvSpPr>
        <p:spPr>
          <a:xfrm>
            <a:off x="1331640" y="5352665"/>
            <a:ext cx="6768752" cy="830997"/>
          </a:xfrm>
          <a:prstGeom prst="rect">
            <a:avLst/>
          </a:prstGeom>
        </p:spPr>
        <p:txBody>
          <a:bodyPr wrap="square">
            <a:spAutoFit/>
          </a:bodyPr>
          <a:lstStyle/>
          <a:p>
            <a:r>
              <a:rPr lang="zh-CN" altLang="zh-CN" sz="2400" dirty="0"/>
              <a:t>数组元素相乘的重复执行次数是</a:t>
            </a:r>
            <a:r>
              <a:rPr lang="en-US" altLang="zh-CN" sz="2400" dirty="0"/>
              <a:t>n</a:t>
            </a:r>
            <a:r>
              <a:rPr lang="en-US" altLang="zh-CN" sz="2400" baseline="30000" dirty="0"/>
              <a:t>3</a:t>
            </a:r>
            <a:r>
              <a:rPr lang="zh-CN" altLang="zh-CN" sz="2400" dirty="0"/>
              <a:t>，</a:t>
            </a:r>
            <a:endParaRPr lang="en-US" altLang="zh-CN" sz="2400" dirty="0"/>
          </a:p>
          <a:p>
            <a:r>
              <a:rPr lang="zh-CN" altLang="zh-CN" sz="2400" dirty="0"/>
              <a:t>所以这段程序的时间复杂度</a:t>
            </a:r>
            <a:r>
              <a:rPr lang="en-US" altLang="zh-CN" sz="2400" i="1" dirty="0"/>
              <a:t>T</a:t>
            </a:r>
            <a:r>
              <a:rPr lang="en-US" altLang="zh-CN" sz="2400" dirty="0"/>
              <a:t>(n)=</a:t>
            </a:r>
            <a:r>
              <a:rPr lang="en-US" altLang="zh-CN" sz="2400" i="1" dirty="0"/>
              <a:t>Θ</a:t>
            </a:r>
            <a:r>
              <a:rPr lang="en-US" altLang="zh-CN" sz="2400" dirty="0"/>
              <a:t>(n</a:t>
            </a:r>
            <a:r>
              <a:rPr lang="en-US" altLang="zh-CN" sz="2400" baseline="30000" dirty="0"/>
              <a:t>3</a:t>
            </a:r>
            <a:r>
              <a:rPr lang="en-US" altLang="zh-CN" sz="2400" dirty="0"/>
              <a:t>)</a:t>
            </a:r>
            <a:endParaRPr lang="zh-CN" altLang="en-US" sz="2400" dirty="0"/>
          </a:p>
        </p:txBody>
      </p:sp>
    </p:spTree>
    <p:extLst>
      <p:ext uri="{BB962C8B-B14F-4D97-AF65-F5344CB8AC3E}">
        <p14:creationId xmlns:p14="http://schemas.microsoft.com/office/powerpoint/2010/main" val="97997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C43F4FAE-930D-40BE-A871-1E36C9B6D910}"/>
              </a:ext>
            </a:extLst>
          </p:cNvPr>
          <p:cNvSpPr>
            <a:spLocks noGrp="1"/>
          </p:cNvSpPr>
          <p:nvPr>
            <p:ph type="title"/>
          </p:nvPr>
        </p:nvSpPr>
        <p:spPr>
          <a:xfrm>
            <a:off x="781402" y="836712"/>
            <a:ext cx="8208912" cy="877109"/>
          </a:xfrm>
        </p:spPr>
        <p:txBody>
          <a:bodyPr/>
          <a:lstStyle/>
          <a:p>
            <a:r>
              <a:rPr lang="zh-CN" altLang="zh-CN" sz="2400" cap="none" dirty="0">
                <a:latin typeface="+mn-lt"/>
              </a:rPr>
              <a:t>【例</a:t>
            </a:r>
            <a:r>
              <a:rPr lang="en-US" altLang="zh-CN" sz="2400" cap="none" dirty="0">
                <a:latin typeface="+mn-lt"/>
              </a:rPr>
              <a:t>1-15</a:t>
            </a:r>
            <a:r>
              <a:rPr lang="zh-CN" altLang="zh-CN" sz="2400" cap="none" dirty="0">
                <a:latin typeface="+mn-lt"/>
              </a:rPr>
              <a:t>】</a:t>
            </a:r>
            <a:r>
              <a:rPr lang="zh-CN" altLang="en-US" sz="2400" cap="none" dirty="0">
                <a:latin typeface="+mn-lt"/>
                <a:ea typeface="楷体" pitchFamily="49" charset="-122"/>
                <a:cs typeface="Consolas" pitchFamily="49" charset="0"/>
              </a:rPr>
              <a:t>有如下递归算法，分析调用</a:t>
            </a:r>
            <a:r>
              <a:rPr lang="en-US" altLang="zh-CN" sz="2400" cap="none" dirty="0">
                <a:solidFill>
                  <a:srgbClr val="FF0000"/>
                </a:solidFill>
                <a:latin typeface="楷体" panose="02010609060101010101" pitchFamily="49" charset="-122"/>
                <a:ea typeface="楷体" panose="02010609060101010101" pitchFamily="49" charset="-122"/>
                <a:cs typeface="Consolas" pitchFamily="49" charset="0"/>
              </a:rPr>
              <a:t>f</a:t>
            </a:r>
            <a:r>
              <a:rPr lang="en-US" altLang="zh-CN" sz="2400" cap="none" dirty="0">
                <a:solidFill>
                  <a:srgbClr val="FF0000"/>
                </a:solidFill>
                <a:latin typeface="+mn-lt"/>
                <a:ea typeface="楷体" pitchFamily="49" charset="-122"/>
                <a:cs typeface="Consolas" pitchFamily="49" charset="0"/>
              </a:rPr>
              <a:t>(</a:t>
            </a:r>
            <a:r>
              <a:rPr lang="en-US" altLang="zh-CN" sz="2400" i="1" cap="none" dirty="0">
                <a:solidFill>
                  <a:srgbClr val="FF0000"/>
                </a:solidFill>
                <a:latin typeface="+mn-lt"/>
                <a:ea typeface="楷体" pitchFamily="49" charset="-122"/>
                <a:cs typeface="Consolas" pitchFamily="49" charset="0"/>
              </a:rPr>
              <a:t>a</a:t>
            </a:r>
            <a:r>
              <a:rPr lang="zh-CN" altLang="en-US" sz="2400" cap="none" dirty="0">
                <a:solidFill>
                  <a:srgbClr val="FF0000"/>
                </a:solidFill>
                <a:latin typeface="+mn-lt"/>
                <a:ea typeface="楷体" pitchFamily="49" charset="-122"/>
                <a:cs typeface="Consolas" pitchFamily="49" charset="0"/>
              </a:rPr>
              <a:t>，</a:t>
            </a:r>
            <a:r>
              <a:rPr lang="en-US" altLang="zh-CN" sz="2400" i="1" cap="none" dirty="0">
                <a:solidFill>
                  <a:srgbClr val="FF0000"/>
                </a:solidFill>
                <a:latin typeface="+mn-lt"/>
                <a:ea typeface="楷体" pitchFamily="49" charset="-122"/>
                <a:cs typeface="Consolas" pitchFamily="49" charset="0"/>
              </a:rPr>
              <a:t>n</a:t>
            </a:r>
            <a:r>
              <a:rPr lang="zh-CN" altLang="en-US" sz="2400" cap="none" dirty="0">
                <a:solidFill>
                  <a:srgbClr val="FF0000"/>
                </a:solidFill>
                <a:latin typeface="+mn-lt"/>
                <a:ea typeface="楷体" pitchFamily="49" charset="-122"/>
                <a:cs typeface="Consolas" pitchFamily="49" charset="0"/>
              </a:rPr>
              <a:t>，</a:t>
            </a:r>
            <a:r>
              <a:rPr lang="en-US" altLang="zh-CN" sz="2400" cap="none" dirty="0">
                <a:solidFill>
                  <a:srgbClr val="FF0000"/>
                </a:solidFill>
                <a:latin typeface="+mn-lt"/>
                <a:ea typeface="楷体" pitchFamily="49" charset="-122"/>
                <a:cs typeface="Consolas" pitchFamily="49" charset="0"/>
              </a:rPr>
              <a:t>0)</a:t>
            </a:r>
            <a:r>
              <a:rPr lang="zh-CN" altLang="en-US" sz="2400" cap="none" dirty="0">
                <a:latin typeface="+mn-lt"/>
                <a:ea typeface="楷体" pitchFamily="49" charset="-122"/>
                <a:cs typeface="Consolas" pitchFamily="49" charset="0"/>
              </a:rPr>
              <a:t>的时间复杂度。 </a:t>
            </a:r>
            <a:endParaRPr lang="zh-CN" altLang="en-US" sz="2400" cap="none" dirty="0">
              <a:latin typeface="+mn-lt"/>
            </a:endParaRPr>
          </a:p>
        </p:txBody>
      </p:sp>
      <p:sp>
        <p:nvSpPr>
          <p:cNvPr id="7" name="TextBox 7">
            <a:extLst>
              <a:ext uri="{FF2B5EF4-FFF2-40B4-BE49-F238E27FC236}">
                <a16:creationId xmlns:a16="http://schemas.microsoft.com/office/drawing/2014/main" id="{A15FB519-C04C-4590-971E-D3EC97C7C7B4}"/>
              </a:ext>
            </a:extLst>
          </p:cNvPr>
          <p:cNvSpPr txBox="1"/>
          <p:nvPr/>
        </p:nvSpPr>
        <p:spPr>
          <a:xfrm>
            <a:off x="935088" y="1988840"/>
            <a:ext cx="8208912" cy="3263554"/>
          </a:xfrm>
          <a:prstGeom prst="rect">
            <a:avLst/>
          </a:prstGeom>
          <a:gradFill flip="none"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2700000" scaled="1"/>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44000" tIns="144000" bIns="108000" rtlCol="0">
            <a:spAutoFit/>
          </a:bodyPr>
          <a:lstStyle/>
          <a:p>
            <a:pPr algn="l">
              <a:lnSpc>
                <a:spcPts val="1800"/>
              </a:lnSpc>
            </a:pPr>
            <a:r>
              <a:rPr lang="en-US" altLang="zh-CN" sz="2000" dirty="0">
                <a:solidFill>
                  <a:srgbClr val="0000FF"/>
                </a:solidFill>
                <a:ea typeface="仿宋" pitchFamily="49" charset="-122"/>
                <a:cs typeface="Consolas" pitchFamily="49" charset="0"/>
              </a:rPr>
              <a:t>void </a:t>
            </a:r>
            <a:r>
              <a:rPr lang="en-US" altLang="zh-CN" sz="2000" dirty="0">
                <a:solidFill>
                  <a:srgbClr val="FF0000"/>
                </a:solidFill>
                <a:ea typeface="仿宋" pitchFamily="49" charset="-122"/>
                <a:cs typeface="Consolas" pitchFamily="49" charset="0"/>
              </a:rPr>
              <a:t>fun</a:t>
            </a:r>
            <a:r>
              <a:rPr lang="en-US" altLang="zh-CN" sz="2000" dirty="0">
                <a:solidFill>
                  <a:srgbClr val="0000FF"/>
                </a:solidFill>
                <a:ea typeface="仿宋" pitchFamily="49" charset="-122"/>
                <a:cs typeface="Consolas" pitchFamily="49" charset="0"/>
              </a:rPr>
              <a:t>(int a[]</a:t>
            </a:r>
            <a:r>
              <a:rPr lang="zh-CN" altLang="en-US" sz="2000" dirty="0">
                <a:solidFill>
                  <a:srgbClr val="0000FF"/>
                </a:solidFill>
                <a:ea typeface="仿宋" pitchFamily="49" charset="-122"/>
                <a:cs typeface="Consolas" pitchFamily="49" charset="0"/>
              </a:rPr>
              <a:t>，</a:t>
            </a:r>
            <a:r>
              <a:rPr lang="en-US" altLang="zh-CN" sz="2000" dirty="0">
                <a:solidFill>
                  <a:srgbClr val="0000FF"/>
                </a:solidFill>
                <a:ea typeface="仿宋" pitchFamily="49" charset="-122"/>
                <a:cs typeface="Consolas" pitchFamily="49" charset="0"/>
              </a:rPr>
              <a:t>int n</a:t>
            </a:r>
            <a:r>
              <a:rPr lang="zh-CN" altLang="en-US" sz="2000" dirty="0">
                <a:solidFill>
                  <a:srgbClr val="0000FF"/>
                </a:solidFill>
                <a:ea typeface="仿宋" pitchFamily="49" charset="-122"/>
                <a:cs typeface="Consolas" pitchFamily="49" charset="0"/>
              </a:rPr>
              <a:t>，</a:t>
            </a:r>
            <a:r>
              <a:rPr lang="en-US" altLang="zh-CN" sz="2000" dirty="0">
                <a:solidFill>
                  <a:srgbClr val="0000FF"/>
                </a:solidFill>
                <a:ea typeface="仿宋" pitchFamily="49" charset="-122"/>
                <a:cs typeface="Consolas" pitchFamily="49" charset="0"/>
              </a:rPr>
              <a:t>int k) </a:t>
            </a:r>
            <a:r>
              <a:rPr lang="en-US" altLang="zh-CN" sz="2000" dirty="0">
                <a:solidFill>
                  <a:srgbClr val="00B0F0"/>
                </a:solidFill>
                <a:ea typeface="仿宋" pitchFamily="49" charset="-122"/>
                <a:cs typeface="Consolas" pitchFamily="49" charset="0"/>
              </a:rPr>
              <a:t>//</a:t>
            </a:r>
            <a:r>
              <a:rPr lang="zh-CN" altLang="en-US" sz="2000" dirty="0">
                <a:solidFill>
                  <a:srgbClr val="00B0F0"/>
                </a:solidFill>
                <a:ea typeface="仿宋" pitchFamily="49" charset="-122"/>
                <a:cs typeface="Consolas" pitchFamily="49" charset="0"/>
              </a:rPr>
              <a:t>数组</a:t>
            </a:r>
            <a:r>
              <a:rPr lang="en-US" altLang="zh-CN" sz="2000" dirty="0">
                <a:solidFill>
                  <a:srgbClr val="00B0F0"/>
                </a:solidFill>
                <a:ea typeface="仿宋" pitchFamily="49" charset="-122"/>
                <a:cs typeface="Consolas" pitchFamily="49" charset="0"/>
              </a:rPr>
              <a:t>a</a:t>
            </a:r>
            <a:r>
              <a:rPr lang="zh-CN" altLang="en-US" sz="2000" dirty="0">
                <a:solidFill>
                  <a:srgbClr val="00B0F0"/>
                </a:solidFill>
                <a:ea typeface="仿宋" pitchFamily="49" charset="-122"/>
                <a:cs typeface="Consolas" pitchFamily="49" charset="0"/>
              </a:rPr>
              <a:t>共有</a:t>
            </a:r>
            <a:r>
              <a:rPr lang="en-US" altLang="zh-CN" sz="2000" dirty="0">
                <a:solidFill>
                  <a:srgbClr val="00B0F0"/>
                </a:solidFill>
                <a:ea typeface="仿宋" pitchFamily="49" charset="-122"/>
                <a:cs typeface="Consolas" pitchFamily="49" charset="0"/>
              </a:rPr>
              <a:t>n</a:t>
            </a:r>
            <a:r>
              <a:rPr lang="zh-CN" altLang="en-US" sz="2000" dirty="0">
                <a:solidFill>
                  <a:srgbClr val="00B0F0"/>
                </a:solidFill>
                <a:ea typeface="仿宋" pitchFamily="49" charset="-122"/>
                <a:cs typeface="Consolas" pitchFamily="49" charset="0"/>
              </a:rPr>
              <a:t>个元素</a:t>
            </a:r>
          </a:p>
          <a:p>
            <a:pPr algn="l">
              <a:lnSpc>
                <a:spcPts val="1800"/>
              </a:lnSpc>
            </a:pPr>
            <a:r>
              <a:rPr lang="en-US" altLang="zh-CN" sz="2000" dirty="0">
                <a:solidFill>
                  <a:srgbClr val="0000FF"/>
                </a:solidFill>
                <a:ea typeface="仿宋" pitchFamily="49" charset="-122"/>
                <a:cs typeface="Consolas" pitchFamily="49" charset="0"/>
              </a:rPr>
              <a:t>{</a:t>
            </a:r>
          </a:p>
          <a:p>
            <a:pPr algn="l">
              <a:lnSpc>
                <a:spcPts val="1800"/>
              </a:lnSpc>
            </a:pPr>
            <a:r>
              <a:rPr lang="en-US" altLang="zh-CN" sz="2000" dirty="0">
                <a:solidFill>
                  <a:srgbClr val="0000FF"/>
                </a:solidFill>
                <a:ea typeface="仿宋" pitchFamily="49" charset="-122"/>
                <a:cs typeface="Consolas" pitchFamily="49" charset="0"/>
              </a:rPr>
              <a:t>   int </a:t>
            </a:r>
            <a:r>
              <a:rPr lang="en-US" altLang="zh-CN" sz="2000" dirty="0" err="1">
                <a:solidFill>
                  <a:srgbClr val="0000FF"/>
                </a:solidFill>
                <a:ea typeface="仿宋" pitchFamily="49" charset="-122"/>
                <a:cs typeface="Consolas" pitchFamily="49" charset="0"/>
              </a:rPr>
              <a:t>i</a:t>
            </a:r>
            <a:r>
              <a:rPr lang="en-US" altLang="zh-CN" sz="2000" dirty="0">
                <a:solidFill>
                  <a:srgbClr val="0000FF"/>
                </a:solidFill>
                <a:ea typeface="仿宋" pitchFamily="49" charset="-122"/>
                <a:cs typeface="Consolas" pitchFamily="49" charset="0"/>
              </a:rPr>
              <a:t>;</a:t>
            </a:r>
          </a:p>
          <a:p>
            <a:pPr algn="l">
              <a:lnSpc>
                <a:spcPts val="1800"/>
              </a:lnSpc>
            </a:pPr>
            <a:r>
              <a:rPr lang="en-US" altLang="zh-CN" sz="2000" dirty="0">
                <a:solidFill>
                  <a:srgbClr val="0000FF"/>
                </a:solidFill>
                <a:ea typeface="仿宋" pitchFamily="49" charset="-122"/>
                <a:cs typeface="Consolas" pitchFamily="49" charset="0"/>
              </a:rPr>
              <a:t>   </a:t>
            </a:r>
            <a:r>
              <a:rPr lang="en-US" altLang="zh-CN" sz="2000" dirty="0">
                <a:solidFill>
                  <a:srgbClr val="6600CC"/>
                </a:solidFill>
                <a:ea typeface="仿宋" pitchFamily="49" charset="-122"/>
                <a:cs typeface="Consolas" pitchFamily="49" charset="0"/>
              </a:rPr>
              <a:t>if (k==n-1)</a:t>
            </a:r>
          </a:p>
          <a:p>
            <a:pPr algn="l">
              <a:lnSpc>
                <a:spcPts val="1800"/>
              </a:lnSpc>
            </a:pPr>
            <a:r>
              <a:rPr lang="en-US" altLang="zh-CN" sz="2000" dirty="0">
                <a:solidFill>
                  <a:srgbClr val="6600CC"/>
                </a:solidFill>
                <a:ea typeface="仿宋" pitchFamily="49" charset="-122"/>
                <a:cs typeface="Consolas" pitchFamily="49" charset="0"/>
              </a:rPr>
              <a:t>     for (</a:t>
            </a:r>
            <a:r>
              <a:rPr lang="en-US" altLang="zh-CN" sz="2000" dirty="0" err="1">
                <a:solidFill>
                  <a:srgbClr val="6600CC"/>
                </a:solidFill>
                <a:ea typeface="仿宋" pitchFamily="49" charset="-122"/>
                <a:cs typeface="Consolas" pitchFamily="49" charset="0"/>
              </a:rPr>
              <a:t>i</a:t>
            </a:r>
            <a:r>
              <a:rPr lang="en-US" altLang="zh-CN" sz="2000" dirty="0">
                <a:solidFill>
                  <a:srgbClr val="6600CC"/>
                </a:solidFill>
                <a:ea typeface="仿宋" pitchFamily="49" charset="-122"/>
                <a:cs typeface="Consolas" pitchFamily="49" charset="0"/>
              </a:rPr>
              <a:t>=0;i&lt;</a:t>
            </a:r>
            <a:r>
              <a:rPr lang="en-US" altLang="zh-CN" sz="2000" dirty="0" err="1">
                <a:solidFill>
                  <a:srgbClr val="6600CC"/>
                </a:solidFill>
                <a:ea typeface="仿宋" pitchFamily="49" charset="-122"/>
                <a:cs typeface="Consolas" pitchFamily="49" charset="0"/>
              </a:rPr>
              <a:t>n;i</a:t>
            </a:r>
            <a:r>
              <a:rPr lang="en-US" altLang="zh-CN" sz="2000" dirty="0">
                <a:solidFill>
                  <a:srgbClr val="6600CC"/>
                </a:solidFill>
                <a:ea typeface="仿宋" pitchFamily="49" charset="-122"/>
                <a:cs typeface="Consolas" pitchFamily="49" charset="0"/>
              </a:rPr>
              <a:t>++) </a:t>
            </a:r>
            <a:r>
              <a:rPr lang="zh-CN" altLang="en-US" sz="2000" dirty="0">
                <a:solidFill>
                  <a:srgbClr val="6600CC"/>
                </a:solidFill>
                <a:ea typeface="仿宋" pitchFamily="49" charset="-122"/>
                <a:cs typeface="Consolas" pitchFamily="49" charset="0"/>
              </a:rPr>
              <a:t>　　  </a:t>
            </a:r>
          </a:p>
          <a:p>
            <a:pPr algn="l">
              <a:lnSpc>
                <a:spcPts val="1800"/>
              </a:lnSpc>
            </a:pPr>
            <a:r>
              <a:rPr lang="zh-CN" altLang="en-US" sz="2000" dirty="0">
                <a:solidFill>
                  <a:srgbClr val="6600CC"/>
                </a:solidFill>
                <a:ea typeface="仿宋" pitchFamily="49" charset="-122"/>
                <a:cs typeface="Consolas" pitchFamily="49" charset="0"/>
              </a:rPr>
              <a:t>	 </a:t>
            </a:r>
            <a:r>
              <a:rPr lang="en-US" altLang="zh-CN" sz="2000" dirty="0" err="1">
                <a:solidFill>
                  <a:srgbClr val="6600CC"/>
                </a:solidFill>
                <a:ea typeface="仿宋" pitchFamily="49" charset="-122"/>
                <a:cs typeface="Consolas" pitchFamily="49" charset="0"/>
              </a:rPr>
              <a:t>printf</a:t>
            </a:r>
            <a:r>
              <a:rPr lang="en-US" altLang="zh-CN" sz="2000" dirty="0">
                <a:solidFill>
                  <a:srgbClr val="6600CC"/>
                </a:solidFill>
                <a:ea typeface="仿宋" pitchFamily="49" charset="-122"/>
                <a:cs typeface="Consolas" pitchFamily="49" charset="0"/>
              </a:rPr>
              <a:t>(“%d\n”</a:t>
            </a:r>
            <a:r>
              <a:rPr lang="zh-CN" altLang="en-US" sz="2000" dirty="0">
                <a:solidFill>
                  <a:srgbClr val="6600CC"/>
                </a:solidFill>
                <a:ea typeface="仿宋" pitchFamily="49" charset="-122"/>
                <a:cs typeface="Consolas" pitchFamily="49" charset="0"/>
              </a:rPr>
              <a:t>，</a:t>
            </a:r>
            <a:r>
              <a:rPr lang="en-US" altLang="zh-CN" sz="2000" dirty="0">
                <a:solidFill>
                  <a:srgbClr val="6600CC"/>
                </a:solidFill>
                <a:ea typeface="仿宋" pitchFamily="49" charset="-122"/>
                <a:cs typeface="Consolas" pitchFamily="49" charset="0"/>
              </a:rPr>
              <a:t>a[</a:t>
            </a:r>
            <a:r>
              <a:rPr lang="en-US" altLang="zh-CN" sz="2000" dirty="0" err="1">
                <a:solidFill>
                  <a:srgbClr val="6600CC"/>
                </a:solidFill>
                <a:ea typeface="仿宋" pitchFamily="49" charset="-122"/>
                <a:cs typeface="Consolas" pitchFamily="49" charset="0"/>
              </a:rPr>
              <a:t>i</a:t>
            </a:r>
            <a:r>
              <a:rPr lang="en-US" altLang="zh-CN" sz="2000" dirty="0">
                <a:solidFill>
                  <a:srgbClr val="6600CC"/>
                </a:solidFill>
                <a:ea typeface="仿宋" pitchFamily="49" charset="-122"/>
                <a:cs typeface="Consolas" pitchFamily="49" charset="0"/>
              </a:rPr>
              <a:t>]);	  </a:t>
            </a:r>
            <a:r>
              <a:rPr lang="en-US" altLang="zh-CN" sz="2000" dirty="0">
                <a:solidFill>
                  <a:srgbClr val="00B0F0"/>
                </a:solidFill>
                <a:ea typeface="仿宋" pitchFamily="49" charset="-122"/>
                <a:cs typeface="Consolas" pitchFamily="49" charset="0"/>
              </a:rPr>
              <a:t>//</a:t>
            </a:r>
            <a:r>
              <a:rPr lang="zh-CN" altLang="en-US" sz="2000" dirty="0">
                <a:solidFill>
                  <a:srgbClr val="00B0F0"/>
                </a:solidFill>
                <a:ea typeface="仿宋" pitchFamily="49" charset="-122"/>
                <a:cs typeface="Consolas" pitchFamily="49" charset="0"/>
              </a:rPr>
              <a:t>执行</a:t>
            </a:r>
            <a:r>
              <a:rPr lang="en-US" altLang="zh-CN" sz="2000" dirty="0">
                <a:solidFill>
                  <a:srgbClr val="00B0F0"/>
                </a:solidFill>
                <a:ea typeface="仿宋" pitchFamily="49" charset="-122"/>
                <a:cs typeface="Consolas" pitchFamily="49" charset="0"/>
              </a:rPr>
              <a:t>n</a:t>
            </a:r>
            <a:r>
              <a:rPr lang="zh-CN" altLang="en-US" sz="2000" dirty="0">
                <a:solidFill>
                  <a:srgbClr val="00B0F0"/>
                </a:solidFill>
                <a:ea typeface="仿宋" pitchFamily="49" charset="-122"/>
                <a:cs typeface="Consolas" pitchFamily="49" charset="0"/>
              </a:rPr>
              <a:t>次</a:t>
            </a:r>
            <a:endParaRPr lang="en-US" altLang="zh-CN" sz="2000" dirty="0">
              <a:solidFill>
                <a:srgbClr val="00B0F0"/>
              </a:solidFill>
              <a:ea typeface="仿宋" pitchFamily="49" charset="-122"/>
              <a:cs typeface="Consolas" pitchFamily="49" charset="0"/>
            </a:endParaRPr>
          </a:p>
          <a:p>
            <a:pPr algn="l">
              <a:lnSpc>
                <a:spcPts val="1800"/>
              </a:lnSpc>
            </a:pPr>
            <a:r>
              <a:rPr lang="en-US" altLang="zh-CN" sz="2000" dirty="0">
                <a:solidFill>
                  <a:srgbClr val="0000FF"/>
                </a:solidFill>
                <a:ea typeface="仿宋" pitchFamily="49" charset="-122"/>
                <a:cs typeface="Consolas" pitchFamily="49" charset="0"/>
              </a:rPr>
              <a:t>   else</a:t>
            </a:r>
          </a:p>
          <a:p>
            <a:pPr algn="l">
              <a:lnSpc>
                <a:spcPts val="1800"/>
              </a:lnSpc>
            </a:pPr>
            <a:r>
              <a:rPr lang="en-US" altLang="zh-CN" sz="2000" dirty="0">
                <a:solidFill>
                  <a:srgbClr val="0000FF"/>
                </a:solidFill>
                <a:ea typeface="仿宋" pitchFamily="49" charset="-122"/>
                <a:cs typeface="Consolas" pitchFamily="49" charset="0"/>
              </a:rPr>
              <a:t>   {</a:t>
            </a:r>
          </a:p>
          <a:p>
            <a:pPr algn="l">
              <a:lnSpc>
                <a:spcPts val="1800"/>
              </a:lnSpc>
            </a:pPr>
            <a:r>
              <a:rPr lang="en-US" altLang="zh-CN" sz="2000" dirty="0">
                <a:solidFill>
                  <a:srgbClr val="0000FF"/>
                </a:solidFill>
                <a:ea typeface="仿宋" pitchFamily="49" charset="-122"/>
                <a:cs typeface="Consolas" pitchFamily="49" charset="0"/>
              </a:rPr>
              <a:t>      for (</a:t>
            </a:r>
            <a:r>
              <a:rPr lang="en-US" altLang="zh-CN" sz="2000" dirty="0" err="1">
                <a:solidFill>
                  <a:srgbClr val="0000FF"/>
                </a:solidFill>
                <a:ea typeface="仿宋" pitchFamily="49" charset="-122"/>
                <a:cs typeface="Consolas" pitchFamily="49" charset="0"/>
              </a:rPr>
              <a:t>i</a:t>
            </a:r>
            <a:r>
              <a:rPr lang="en-US" altLang="zh-CN" sz="2000" dirty="0">
                <a:solidFill>
                  <a:srgbClr val="0000FF"/>
                </a:solidFill>
                <a:ea typeface="仿宋" pitchFamily="49" charset="-122"/>
                <a:cs typeface="Consolas" pitchFamily="49" charset="0"/>
              </a:rPr>
              <a:t>=</a:t>
            </a:r>
            <a:r>
              <a:rPr lang="en-US" altLang="zh-CN" sz="2000" dirty="0" err="1">
                <a:solidFill>
                  <a:srgbClr val="0000FF"/>
                </a:solidFill>
                <a:ea typeface="仿宋" pitchFamily="49" charset="-122"/>
                <a:cs typeface="Consolas" pitchFamily="49" charset="0"/>
              </a:rPr>
              <a:t>k;i</a:t>
            </a:r>
            <a:r>
              <a:rPr lang="en-US" altLang="zh-CN" sz="2000" dirty="0">
                <a:solidFill>
                  <a:srgbClr val="0000FF"/>
                </a:solidFill>
                <a:ea typeface="仿宋" pitchFamily="49" charset="-122"/>
                <a:cs typeface="Consolas" pitchFamily="49" charset="0"/>
              </a:rPr>
              <a:t>&lt;</a:t>
            </a:r>
            <a:r>
              <a:rPr lang="en-US" altLang="zh-CN" sz="2000" dirty="0" err="1">
                <a:solidFill>
                  <a:srgbClr val="0000FF"/>
                </a:solidFill>
                <a:ea typeface="仿宋" pitchFamily="49" charset="-122"/>
                <a:cs typeface="Consolas" pitchFamily="49" charset="0"/>
              </a:rPr>
              <a:t>n;i</a:t>
            </a:r>
            <a:r>
              <a:rPr lang="en-US" altLang="zh-CN" sz="2000" dirty="0">
                <a:solidFill>
                  <a:srgbClr val="0000FF"/>
                </a:solidFill>
                <a:ea typeface="仿宋" pitchFamily="49" charset="-122"/>
                <a:cs typeface="Consolas" pitchFamily="49" charset="0"/>
              </a:rPr>
              <a:t>++)</a:t>
            </a:r>
            <a:r>
              <a:rPr lang="zh-CN" altLang="en-US" sz="2000" dirty="0">
                <a:solidFill>
                  <a:srgbClr val="0000FF"/>
                </a:solidFill>
                <a:ea typeface="仿宋" pitchFamily="49" charset="-122"/>
                <a:cs typeface="Consolas" pitchFamily="49" charset="0"/>
              </a:rPr>
              <a:t>　   </a:t>
            </a:r>
          </a:p>
          <a:p>
            <a:pPr algn="l">
              <a:lnSpc>
                <a:spcPts val="1800"/>
              </a:lnSpc>
            </a:pPr>
            <a:r>
              <a:rPr lang="zh-CN" altLang="en-US" sz="2000" dirty="0">
                <a:solidFill>
                  <a:srgbClr val="0000FF"/>
                </a:solidFill>
                <a:ea typeface="仿宋" pitchFamily="49" charset="-122"/>
                <a:cs typeface="Consolas" pitchFamily="49" charset="0"/>
              </a:rPr>
              <a:t>	  </a:t>
            </a:r>
            <a:r>
              <a:rPr lang="en-US" altLang="zh-CN" sz="2000" dirty="0">
                <a:solidFill>
                  <a:srgbClr val="0000FF"/>
                </a:solidFill>
                <a:ea typeface="仿宋" pitchFamily="49" charset="-122"/>
                <a:cs typeface="Consolas" pitchFamily="49" charset="0"/>
              </a:rPr>
              <a:t>a[</a:t>
            </a:r>
            <a:r>
              <a:rPr lang="en-US" altLang="zh-CN" sz="2000" dirty="0" err="1">
                <a:solidFill>
                  <a:srgbClr val="0000FF"/>
                </a:solidFill>
                <a:ea typeface="仿宋" pitchFamily="49" charset="-122"/>
                <a:cs typeface="Consolas" pitchFamily="49" charset="0"/>
              </a:rPr>
              <a:t>i</a:t>
            </a:r>
            <a:r>
              <a:rPr lang="en-US" altLang="zh-CN" sz="2000" dirty="0">
                <a:solidFill>
                  <a:srgbClr val="0000FF"/>
                </a:solidFill>
                <a:ea typeface="仿宋" pitchFamily="49" charset="-122"/>
                <a:cs typeface="Consolas" pitchFamily="49" charset="0"/>
              </a:rPr>
              <a:t>]=a[</a:t>
            </a:r>
            <a:r>
              <a:rPr lang="en-US" altLang="zh-CN" sz="2000" dirty="0" err="1">
                <a:solidFill>
                  <a:srgbClr val="0000FF"/>
                </a:solidFill>
                <a:ea typeface="仿宋" pitchFamily="49" charset="-122"/>
                <a:cs typeface="Consolas" pitchFamily="49" charset="0"/>
              </a:rPr>
              <a:t>i</a:t>
            </a:r>
            <a:r>
              <a:rPr lang="en-US" altLang="zh-CN" sz="2000" dirty="0">
                <a:solidFill>
                  <a:srgbClr val="0000FF"/>
                </a:solidFill>
                <a:ea typeface="仿宋" pitchFamily="49" charset="-122"/>
                <a:cs typeface="Consolas" pitchFamily="49" charset="0"/>
              </a:rPr>
              <a:t>]+</a:t>
            </a:r>
            <a:r>
              <a:rPr lang="en-US" altLang="zh-CN" sz="2000" dirty="0" err="1">
                <a:solidFill>
                  <a:srgbClr val="0000FF"/>
                </a:solidFill>
                <a:ea typeface="仿宋" pitchFamily="49" charset="-122"/>
                <a:cs typeface="Consolas" pitchFamily="49" charset="0"/>
              </a:rPr>
              <a:t>i</a:t>
            </a:r>
            <a:r>
              <a:rPr lang="en-US" altLang="zh-CN" sz="2000" dirty="0">
                <a:solidFill>
                  <a:srgbClr val="0000FF"/>
                </a:solidFill>
                <a:ea typeface="仿宋" pitchFamily="49" charset="-122"/>
                <a:cs typeface="Consolas" pitchFamily="49" charset="0"/>
              </a:rPr>
              <a:t>*</a:t>
            </a:r>
            <a:r>
              <a:rPr lang="en-US" altLang="zh-CN" sz="2000" dirty="0" err="1">
                <a:solidFill>
                  <a:srgbClr val="0000FF"/>
                </a:solidFill>
                <a:ea typeface="仿宋" pitchFamily="49" charset="-122"/>
                <a:cs typeface="Consolas" pitchFamily="49" charset="0"/>
              </a:rPr>
              <a:t>i</a:t>
            </a:r>
            <a:r>
              <a:rPr lang="en-US" altLang="zh-CN" sz="2000" dirty="0">
                <a:solidFill>
                  <a:srgbClr val="0000FF"/>
                </a:solidFill>
                <a:ea typeface="仿宋" pitchFamily="49" charset="-122"/>
                <a:cs typeface="Consolas" pitchFamily="49" charset="0"/>
              </a:rPr>
              <a:t>;</a:t>
            </a:r>
            <a:r>
              <a:rPr lang="en-US" altLang="zh-CN" sz="2000" dirty="0">
                <a:solidFill>
                  <a:srgbClr val="C00000"/>
                </a:solidFill>
                <a:ea typeface="仿宋" pitchFamily="49" charset="-122"/>
                <a:cs typeface="Consolas" pitchFamily="49" charset="0"/>
              </a:rPr>
              <a:t>	  </a:t>
            </a:r>
            <a:r>
              <a:rPr lang="en-US" altLang="zh-CN" sz="2000" dirty="0">
                <a:solidFill>
                  <a:srgbClr val="00B0F0"/>
                </a:solidFill>
                <a:ea typeface="仿宋" pitchFamily="49" charset="-122"/>
                <a:cs typeface="Consolas" pitchFamily="49" charset="0"/>
              </a:rPr>
              <a:t>//</a:t>
            </a:r>
            <a:r>
              <a:rPr lang="zh-CN" altLang="en-US" sz="2000" dirty="0">
                <a:solidFill>
                  <a:srgbClr val="00B0F0"/>
                </a:solidFill>
                <a:ea typeface="仿宋" pitchFamily="49" charset="-122"/>
                <a:cs typeface="Consolas" pitchFamily="49" charset="0"/>
              </a:rPr>
              <a:t>执行</a:t>
            </a:r>
            <a:r>
              <a:rPr lang="en-US" altLang="zh-CN" sz="2000" dirty="0">
                <a:solidFill>
                  <a:srgbClr val="00B0F0"/>
                </a:solidFill>
                <a:ea typeface="仿宋" pitchFamily="49" charset="-122"/>
                <a:cs typeface="Consolas" pitchFamily="49" charset="0"/>
              </a:rPr>
              <a:t>n-k</a:t>
            </a:r>
            <a:r>
              <a:rPr lang="zh-CN" altLang="en-US" sz="2000" dirty="0">
                <a:solidFill>
                  <a:srgbClr val="00B0F0"/>
                </a:solidFill>
                <a:ea typeface="仿宋" pitchFamily="49" charset="-122"/>
                <a:cs typeface="Consolas" pitchFamily="49" charset="0"/>
              </a:rPr>
              <a:t>次</a:t>
            </a:r>
            <a:endParaRPr lang="en-US" altLang="zh-CN" sz="2000" dirty="0">
              <a:solidFill>
                <a:srgbClr val="00B0F0"/>
              </a:solidFill>
              <a:ea typeface="仿宋" pitchFamily="49" charset="-122"/>
              <a:cs typeface="Consolas" pitchFamily="49" charset="0"/>
            </a:endParaRPr>
          </a:p>
          <a:p>
            <a:pPr algn="l">
              <a:lnSpc>
                <a:spcPts val="1800"/>
              </a:lnSpc>
            </a:pPr>
            <a:r>
              <a:rPr lang="en-US" altLang="zh-CN" sz="2000" dirty="0">
                <a:solidFill>
                  <a:srgbClr val="C00000"/>
                </a:solidFill>
                <a:ea typeface="仿宋" pitchFamily="49" charset="-122"/>
                <a:cs typeface="Consolas" pitchFamily="49" charset="0"/>
              </a:rPr>
              <a:t>      </a:t>
            </a:r>
            <a:r>
              <a:rPr lang="en-US" altLang="zh-CN" sz="2000" dirty="0">
                <a:solidFill>
                  <a:srgbClr val="FF0000"/>
                </a:solidFill>
                <a:ea typeface="仿宋" pitchFamily="49" charset="-122"/>
                <a:cs typeface="Consolas" pitchFamily="49" charset="0"/>
              </a:rPr>
              <a:t>fun</a:t>
            </a:r>
            <a:r>
              <a:rPr lang="en-US" altLang="zh-CN" sz="2000" dirty="0">
                <a:solidFill>
                  <a:srgbClr val="C00000"/>
                </a:solidFill>
                <a:ea typeface="仿宋" pitchFamily="49" charset="-122"/>
                <a:cs typeface="Consolas" pitchFamily="49" charset="0"/>
              </a:rPr>
              <a:t>(a</a:t>
            </a:r>
            <a:r>
              <a:rPr lang="zh-CN" altLang="en-US" sz="2000" dirty="0">
                <a:solidFill>
                  <a:srgbClr val="C00000"/>
                </a:solidFill>
                <a:ea typeface="仿宋" pitchFamily="49" charset="-122"/>
                <a:cs typeface="Consolas" pitchFamily="49" charset="0"/>
              </a:rPr>
              <a:t>，</a:t>
            </a:r>
            <a:r>
              <a:rPr lang="en-US" altLang="zh-CN" sz="2000" dirty="0">
                <a:solidFill>
                  <a:srgbClr val="C00000"/>
                </a:solidFill>
                <a:ea typeface="仿宋" pitchFamily="49" charset="-122"/>
                <a:cs typeface="Consolas" pitchFamily="49" charset="0"/>
              </a:rPr>
              <a:t>n</a:t>
            </a:r>
            <a:r>
              <a:rPr lang="zh-CN" altLang="en-US" sz="2000" dirty="0">
                <a:solidFill>
                  <a:srgbClr val="C00000"/>
                </a:solidFill>
                <a:ea typeface="仿宋" pitchFamily="49" charset="-122"/>
                <a:cs typeface="Consolas" pitchFamily="49" charset="0"/>
              </a:rPr>
              <a:t>，</a:t>
            </a:r>
            <a:r>
              <a:rPr lang="en-US" altLang="zh-CN" sz="2000" dirty="0">
                <a:solidFill>
                  <a:srgbClr val="C00000"/>
                </a:solidFill>
                <a:ea typeface="仿宋" pitchFamily="49" charset="-122"/>
                <a:cs typeface="Consolas" pitchFamily="49" charset="0"/>
              </a:rPr>
              <a:t>k+1);</a:t>
            </a:r>
          </a:p>
          <a:p>
            <a:pPr algn="l">
              <a:lnSpc>
                <a:spcPts val="1800"/>
              </a:lnSpc>
            </a:pPr>
            <a:r>
              <a:rPr lang="en-US" altLang="zh-CN" sz="2000" dirty="0">
                <a:solidFill>
                  <a:srgbClr val="0000FF"/>
                </a:solidFill>
                <a:ea typeface="仿宋" pitchFamily="49" charset="-122"/>
                <a:cs typeface="Consolas" pitchFamily="49" charset="0"/>
              </a:rPr>
              <a:t>   }</a:t>
            </a:r>
          </a:p>
          <a:p>
            <a:pPr algn="l">
              <a:lnSpc>
                <a:spcPts val="1800"/>
              </a:lnSpc>
            </a:pPr>
            <a:r>
              <a:rPr lang="en-US" altLang="zh-CN" sz="2000" dirty="0">
                <a:solidFill>
                  <a:srgbClr val="0000FF"/>
                </a:solidFill>
                <a:ea typeface="仿宋" pitchFamily="49" charset="-122"/>
                <a:cs typeface="Consolas" pitchFamily="49" charset="0"/>
              </a:rPr>
              <a:t>}    </a:t>
            </a:r>
            <a:endParaRPr lang="zh-CN" altLang="en-US" sz="2000" dirty="0">
              <a:solidFill>
                <a:srgbClr val="0000FF"/>
              </a:solidFill>
              <a:ea typeface="仿宋" pitchFamily="49" charset="-122"/>
              <a:cs typeface="Consolas" pitchFamily="49" charset="0"/>
            </a:endParaRPr>
          </a:p>
        </p:txBody>
      </p:sp>
    </p:spTree>
    <p:extLst>
      <p:ext uri="{BB962C8B-B14F-4D97-AF65-F5344CB8AC3E}">
        <p14:creationId xmlns:p14="http://schemas.microsoft.com/office/powerpoint/2010/main" val="35243144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7CBEBE0-B695-4019-AF53-7D3597711C60}"/>
              </a:ext>
            </a:extLst>
          </p:cNvPr>
          <p:cNvSpPr txBox="1">
            <a:spLocks noChangeArrowheads="1"/>
          </p:cNvSpPr>
          <p:nvPr/>
        </p:nvSpPr>
        <p:spPr bwMode="auto">
          <a:xfrm>
            <a:off x="1196201" y="669830"/>
            <a:ext cx="5696043" cy="461665"/>
          </a:xfrm>
          <a:prstGeom prst="rect">
            <a:avLst/>
          </a:prstGeom>
          <a:noFill/>
          <a:ln w="9525">
            <a:noFill/>
            <a:miter lim="800000"/>
            <a:headEnd/>
            <a:tailEnd/>
          </a:ln>
          <a:effectLst/>
        </p:spPr>
        <p:txBody>
          <a:bodyPr wrap="square">
            <a:spAutoFit/>
          </a:bodyPr>
          <a:lstStyle/>
          <a:p>
            <a:pPr algn="just">
              <a:lnSpc>
                <a:spcPct val="100000"/>
              </a:lnSpc>
            </a:pPr>
            <a:r>
              <a:rPr lang="zh-CN" altLang="en-US" sz="2400" dirty="0">
                <a:solidFill>
                  <a:srgbClr val="0000FF"/>
                </a:solidFill>
                <a:ea typeface="楷体" pitchFamily="49" charset="-122"/>
                <a:cs typeface="Times New Roman" pitchFamily="18" charset="0"/>
              </a:rPr>
              <a:t>递归算法：</a:t>
            </a:r>
          </a:p>
        </p:txBody>
      </p:sp>
      <p:grpSp>
        <p:nvGrpSpPr>
          <p:cNvPr id="5" name="组合 11">
            <a:extLst>
              <a:ext uri="{FF2B5EF4-FFF2-40B4-BE49-F238E27FC236}">
                <a16:creationId xmlns:a16="http://schemas.microsoft.com/office/drawing/2014/main" id="{EEE40A16-3353-40F0-AE93-F2160197BAFD}"/>
              </a:ext>
            </a:extLst>
          </p:cNvPr>
          <p:cNvGrpSpPr/>
          <p:nvPr/>
        </p:nvGrpSpPr>
        <p:grpSpPr>
          <a:xfrm>
            <a:off x="6300192" y="5894726"/>
            <a:ext cx="1513597" cy="369332"/>
            <a:chOff x="5929322" y="5733395"/>
            <a:chExt cx="1347797" cy="369332"/>
          </a:xfrm>
        </p:grpSpPr>
        <p:sp>
          <p:nvSpPr>
            <p:cNvPr id="6" name="左箭头 8">
              <a:extLst>
                <a:ext uri="{FF2B5EF4-FFF2-40B4-BE49-F238E27FC236}">
                  <a16:creationId xmlns:a16="http://schemas.microsoft.com/office/drawing/2014/main" id="{014E1781-26C1-4636-AD5B-B2D5FAF43F3D}"/>
                </a:ext>
              </a:extLst>
            </p:cNvPr>
            <p:cNvSpPr/>
            <p:nvPr/>
          </p:nvSpPr>
          <p:spPr>
            <a:xfrm>
              <a:off x="5929322" y="5857892"/>
              <a:ext cx="500066" cy="142876"/>
            </a:xfrm>
            <a:prstGeom prst="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sz="2800"/>
            </a:p>
          </p:txBody>
        </p:sp>
        <p:sp>
          <p:nvSpPr>
            <p:cNvPr id="7" name="TextBox 9">
              <a:extLst>
                <a:ext uri="{FF2B5EF4-FFF2-40B4-BE49-F238E27FC236}">
                  <a16:creationId xmlns:a16="http://schemas.microsoft.com/office/drawing/2014/main" id="{F458F51B-8C86-4D05-ACA5-3162E968F03A}"/>
                </a:ext>
              </a:extLst>
            </p:cNvPr>
            <p:cNvSpPr txBox="1"/>
            <p:nvPr/>
          </p:nvSpPr>
          <p:spPr>
            <a:xfrm>
              <a:off x="6348425" y="5733395"/>
              <a:ext cx="928694" cy="369332"/>
            </a:xfrm>
            <a:prstGeom prst="rect">
              <a:avLst/>
            </a:prstGeom>
            <a:noFill/>
          </p:spPr>
          <p:txBody>
            <a:bodyPr wrap="square" rtlCol="0">
              <a:spAutoFit/>
            </a:bodyPr>
            <a:lstStyle/>
            <a:p>
              <a:r>
                <a:rPr lang="zh-CN" altLang="en-US" dirty="0">
                  <a:solidFill>
                    <a:srgbClr val="FF0000"/>
                  </a:solidFill>
                  <a:latin typeface="方正启体简体" pitchFamily="65" charset="-122"/>
                  <a:ea typeface="方正启体简体" pitchFamily="65" charset="-122"/>
                </a:rPr>
                <a:t>  错误</a:t>
              </a:r>
            </a:p>
          </p:txBody>
        </p:sp>
      </p:grpSp>
      <p:grpSp>
        <p:nvGrpSpPr>
          <p:cNvPr id="8" name="组合 13">
            <a:extLst>
              <a:ext uri="{FF2B5EF4-FFF2-40B4-BE49-F238E27FC236}">
                <a16:creationId xmlns:a16="http://schemas.microsoft.com/office/drawing/2014/main" id="{A4BCD2C9-7EDC-4137-99AD-2472B63484FD}"/>
              </a:ext>
            </a:extLst>
          </p:cNvPr>
          <p:cNvGrpSpPr/>
          <p:nvPr/>
        </p:nvGrpSpPr>
        <p:grpSpPr>
          <a:xfrm>
            <a:off x="1152501" y="5290699"/>
            <a:ext cx="5294914" cy="973359"/>
            <a:chOff x="1071538" y="5419895"/>
            <a:chExt cx="4714908" cy="973359"/>
          </a:xfrm>
        </p:grpSpPr>
        <p:sp>
          <p:nvSpPr>
            <p:cNvPr id="9" name="TextBox 4">
              <a:extLst>
                <a:ext uri="{FF2B5EF4-FFF2-40B4-BE49-F238E27FC236}">
                  <a16:creationId xmlns:a16="http://schemas.microsoft.com/office/drawing/2014/main" id="{B7B41774-E4D7-417E-8C40-8A602C5C69F3}"/>
                </a:ext>
              </a:extLst>
            </p:cNvPr>
            <p:cNvSpPr txBox="1"/>
            <p:nvPr/>
          </p:nvSpPr>
          <p:spPr>
            <a:xfrm>
              <a:off x="1071538" y="5931589"/>
              <a:ext cx="4714908" cy="461665"/>
            </a:xfrm>
            <a:prstGeom prst="rect">
              <a:avLst/>
            </a:prstGeom>
            <a:noFill/>
          </p:spPr>
          <p:txBody>
            <a:bodyPr wrap="square" rtlCol="0">
              <a:spAutoFit/>
            </a:bodyPr>
            <a:lstStyle/>
            <a:p>
              <a:pPr algn="l"/>
              <a:r>
                <a:rPr lang="en-US" altLang="zh-CN" sz="2400" dirty="0">
                  <a:solidFill>
                    <a:srgbClr val="FF00FF"/>
                  </a:solidFill>
                  <a:latin typeface="Consolas" pitchFamily="49" charset="0"/>
                  <a:ea typeface="楷体" pitchFamily="49" charset="-122"/>
                  <a:cs typeface="Consolas" pitchFamily="49" charset="0"/>
                </a:rPr>
                <a:t>fun(</a:t>
              </a:r>
              <a:r>
                <a:rPr lang="en-US" altLang="zh-CN" sz="2400" i="1" dirty="0">
                  <a:solidFill>
                    <a:srgbClr val="FF00FF"/>
                  </a:solidFill>
                  <a:latin typeface="Consolas" pitchFamily="49" charset="0"/>
                  <a:ea typeface="楷体" pitchFamily="49" charset="-122"/>
                  <a:cs typeface="Consolas" pitchFamily="49" charset="0"/>
                </a:rPr>
                <a:t>a</a:t>
              </a:r>
              <a:r>
                <a:rPr lang="zh-CN" altLang="en-US" sz="2400" dirty="0">
                  <a:solidFill>
                    <a:srgbClr val="FF00FF"/>
                  </a:solidFill>
                  <a:latin typeface="Consolas" pitchFamily="49" charset="0"/>
                  <a:ea typeface="楷体" pitchFamily="49" charset="-122"/>
                  <a:cs typeface="Consolas" pitchFamily="49" charset="0"/>
                </a:rPr>
                <a:t>，</a:t>
              </a:r>
              <a:r>
                <a:rPr lang="en-US" altLang="zh-CN" sz="2400" i="1" dirty="0">
                  <a:solidFill>
                    <a:srgbClr val="FF00FF"/>
                  </a:solidFill>
                  <a:latin typeface="Consolas" pitchFamily="49" charset="0"/>
                  <a:ea typeface="楷体" pitchFamily="49" charset="-122"/>
                  <a:cs typeface="Consolas" pitchFamily="49" charset="0"/>
                </a:rPr>
                <a:t>n</a:t>
              </a:r>
              <a:r>
                <a:rPr lang="zh-CN" altLang="en-US" sz="2400" dirty="0">
                  <a:solidFill>
                    <a:srgbClr val="FF00FF"/>
                  </a:solidFill>
                  <a:latin typeface="Consolas" pitchFamily="49" charset="0"/>
                  <a:ea typeface="楷体" pitchFamily="49" charset="-122"/>
                  <a:cs typeface="Consolas" pitchFamily="49" charset="0"/>
                </a:rPr>
                <a:t>，</a:t>
              </a:r>
              <a:r>
                <a:rPr lang="en-US" altLang="zh-CN" sz="2400" dirty="0">
                  <a:solidFill>
                    <a:srgbClr val="FF00FF"/>
                  </a:solidFill>
                  <a:latin typeface="Consolas" pitchFamily="49" charset="0"/>
                  <a:ea typeface="楷体" pitchFamily="49" charset="-122"/>
                  <a:cs typeface="Consolas" pitchFamily="49" charset="0"/>
                </a:rPr>
                <a:t>0)</a:t>
              </a:r>
              <a:r>
                <a:rPr lang="zh-CN" altLang="en-US" sz="2400" dirty="0">
                  <a:solidFill>
                    <a:srgbClr val="0000FF"/>
                  </a:solidFill>
                  <a:latin typeface="Consolas" pitchFamily="49" charset="0"/>
                  <a:ea typeface="楷体" pitchFamily="49" charset="-122"/>
                  <a:cs typeface="Consolas" pitchFamily="49" charset="0"/>
                </a:rPr>
                <a:t>的时间复杂度为</a:t>
              </a:r>
              <a:r>
                <a:rPr lang="en-US" altLang="zh-CN" sz="2400" dirty="0">
                  <a:solidFill>
                    <a:srgbClr val="0000FF"/>
                  </a:solidFill>
                  <a:latin typeface="Consolas" pitchFamily="49" charset="0"/>
                  <a:ea typeface="楷体" pitchFamily="49" charset="-122"/>
                  <a:cs typeface="Consolas" pitchFamily="49" charset="0"/>
                </a:rPr>
                <a:t>O(</a:t>
              </a:r>
              <a:r>
                <a:rPr lang="en-US" altLang="zh-CN" sz="2400" i="1" dirty="0">
                  <a:solidFill>
                    <a:srgbClr val="0000FF"/>
                  </a:solidFill>
                  <a:latin typeface="Consolas" pitchFamily="49" charset="0"/>
                  <a:ea typeface="楷体" pitchFamily="49" charset="-122"/>
                  <a:cs typeface="Consolas" pitchFamily="49" charset="0"/>
                </a:rPr>
                <a:t>n</a:t>
              </a:r>
              <a:r>
                <a:rPr lang="en-US" altLang="zh-CN" sz="2400" dirty="0">
                  <a:solidFill>
                    <a:srgbClr val="0000FF"/>
                  </a:solidFill>
                  <a:latin typeface="Consolas" pitchFamily="49" charset="0"/>
                  <a:ea typeface="楷体" pitchFamily="49" charset="-122"/>
                  <a:cs typeface="Consolas" pitchFamily="49" charset="0"/>
                </a:rPr>
                <a:t>)</a:t>
              </a:r>
              <a:r>
                <a:rPr lang="zh-CN" altLang="en-US" sz="2400" dirty="0">
                  <a:solidFill>
                    <a:srgbClr val="0000FF"/>
                  </a:solidFill>
                  <a:latin typeface="Consolas" pitchFamily="49" charset="0"/>
                  <a:ea typeface="楷体" pitchFamily="49" charset="-122"/>
                  <a:cs typeface="Consolas" pitchFamily="49" charset="0"/>
                </a:rPr>
                <a:t>。</a:t>
              </a:r>
            </a:p>
          </p:txBody>
        </p:sp>
        <p:sp>
          <p:nvSpPr>
            <p:cNvPr id="10" name="下箭头 7">
              <a:extLst>
                <a:ext uri="{FF2B5EF4-FFF2-40B4-BE49-F238E27FC236}">
                  <a16:creationId xmlns:a16="http://schemas.microsoft.com/office/drawing/2014/main" id="{B1CC30AA-F458-42D1-AEEF-3C7F5222BB05}"/>
                </a:ext>
              </a:extLst>
            </p:cNvPr>
            <p:cNvSpPr/>
            <p:nvPr/>
          </p:nvSpPr>
          <p:spPr>
            <a:xfrm>
              <a:off x="3286116" y="5449723"/>
              <a:ext cx="285752"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2800"/>
            </a:p>
          </p:txBody>
        </p:sp>
        <p:sp>
          <p:nvSpPr>
            <p:cNvPr id="11" name="TextBox 12">
              <a:extLst>
                <a:ext uri="{FF2B5EF4-FFF2-40B4-BE49-F238E27FC236}">
                  <a16:creationId xmlns:a16="http://schemas.microsoft.com/office/drawing/2014/main" id="{5F1C3AB0-4B5E-4E35-9DF2-544A21A340AC}"/>
                </a:ext>
              </a:extLst>
            </p:cNvPr>
            <p:cNvSpPr txBox="1"/>
            <p:nvPr/>
          </p:nvSpPr>
          <p:spPr>
            <a:xfrm>
              <a:off x="3646500" y="5419895"/>
              <a:ext cx="1571636" cy="400110"/>
            </a:xfrm>
            <a:prstGeom prst="rect">
              <a:avLst/>
            </a:prstGeom>
            <a:noFill/>
          </p:spPr>
          <p:txBody>
            <a:bodyPr wrap="square" rtlCol="0">
              <a:spAutoFit/>
            </a:bodyPr>
            <a:lstStyle/>
            <a:p>
              <a:r>
                <a:rPr lang="zh-CN" altLang="en-US" sz="2000" dirty="0">
                  <a:solidFill>
                    <a:srgbClr val="0000FF"/>
                  </a:solidFill>
                  <a:latin typeface="楷体" panose="02010609060101010101" pitchFamily="49" charset="-122"/>
                  <a:ea typeface="楷体" panose="02010609060101010101" pitchFamily="49" charset="-122"/>
                </a:rPr>
                <a:t>含一重循环</a:t>
              </a:r>
            </a:p>
          </p:txBody>
        </p:sp>
      </p:grpSp>
      <p:sp>
        <p:nvSpPr>
          <p:cNvPr id="12" name="TextBox 15">
            <a:extLst>
              <a:ext uri="{FF2B5EF4-FFF2-40B4-BE49-F238E27FC236}">
                <a16:creationId xmlns:a16="http://schemas.microsoft.com/office/drawing/2014/main" id="{73C248BF-A551-4DE7-8A1F-DC0F0F561ED2}"/>
              </a:ext>
            </a:extLst>
          </p:cNvPr>
          <p:cNvSpPr txBox="1"/>
          <p:nvPr/>
        </p:nvSpPr>
        <p:spPr>
          <a:xfrm>
            <a:off x="500034" y="1116585"/>
            <a:ext cx="7888390" cy="4152964"/>
          </a:xfrm>
          <a:prstGeom prst="rect">
            <a:avLst/>
          </a:prstGeom>
          <a:gradFill flip="none"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2700000" scaled="1"/>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44000" tIns="144000" bIns="108000" rtlCol="0">
            <a:spAutoFit/>
          </a:bodyPr>
          <a:lstStyle/>
          <a:p>
            <a:pPr algn="l">
              <a:lnSpc>
                <a:spcPts val="1800"/>
              </a:lnSpc>
              <a:spcBef>
                <a:spcPts val="780"/>
              </a:spcBef>
            </a:pPr>
            <a:r>
              <a:rPr lang="en-US" altLang="zh-CN" dirty="0">
                <a:solidFill>
                  <a:srgbClr val="0000FF"/>
                </a:solidFill>
                <a:latin typeface="Consolas" pitchFamily="49" charset="0"/>
                <a:ea typeface="仿宋" pitchFamily="49" charset="-122"/>
                <a:cs typeface="Consolas" pitchFamily="49" charset="0"/>
              </a:rPr>
              <a:t>void </a:t>
            </a:r>
            <a:r>
              <a:rPr lang="en-US" altLang="zh-CN" dirty="0">
                <a:solidFill>
                  <a:srgbClr val="FF0000"/>
                </a:solidFill>
                <a:latin typeface="Consolas" pitchFamily="49" charset="0"/>
                <a:ea typeface="仿宋" pitchFamily="49" charset="-122"/>
                <a:cs typeface="Consolas" pitchFamily="49" charset="0"/>
              </a:rPr>
              <a:t>fun</a:t>
            </a:r>
            <a:r>
              <a:rPr lang="en-US" altLang="zh-CN" dirty="0">
                <a:solidFill>
                  <a:srgbClr val="0000FF"/>
                </a:solidFill>
                <a:latin typeface="Consolas" pitchFamily="49" charset="0"/>
                <a:ea typeface="仿宋" pitchFamily="49" charset="-122"/>
                <a:cs typeface="Consolas" pitchFamily="49" charset="0"/>
              </a:rPr>
              <a:t>(int a[]</a:t>
            </a:r>
            <a:r>
              <a:rPr lang="zh-CN" altLang="en-US" dirty="0">
                <a:solidFill>
                  <a:srgbClr val="0000FF"/>
                </a:solidFill>
                <a:latin typeface="Consolas" pitchFamily="49" charset="0"/>
                <a:ea typeface="仿宋" pitchFamily="49" charset="-122"/>
                <a:cs typeface="Consolas" pitchFamily="49" charset="0"/>
              </a:rPr>
              <a:t>，</a:t>
            </a:r>
            <a:r>
              <a:rPr lang="en-US" altLang="zh-CN" dirty="0">
                <a:solidFill>
                  <a:srgbClr val="0000FF"/>
                </a:solidFill>
                <a:latin typeface="Consolas" pitchFamily="49" charset="0"/>
                <a:ea typeface="仿宋" pitchFamily="49" charset="-122"/>
                <a:cs typeface="Consolas" pitchFamily="49" charset="0"/>
              </a:rPr>
              <a:t>int n</a:t>
            </a:r>
            <a:r>
              <a:rPr lang="zh-CN" altLang="en-US" dirty="0">
                <a:solidFill>
                  <a:srgbClr val="0000FF"/>
                </a:solidFill>
                <a:latin typeface="Consolas" pitchFamily="49" charset="0"/>
                <a:ea typeface="仿宋" pitchFamily="49" charset="-122"/>
                <a:cs typeface="Consolas" pitchFamily="49" charset="0"/>
              </a:rPr>
              <a:t>，</a:t>
            </a:r>
            <a:r>
              <a:rPr lang="en-US" altLang="zh-CN" dirty="0">
                <a:solidFill>
                  <a:srgbClr val="0000FF"/>
                </a:solidFill>
                <a:latin typeface="Consolas" pitchFamily="49" charset="0"/>
                <a:ea typeface="仿宋" pitchFamily="49" charset="-122"/>
                <a:cs typeface="Consolas" pitchFamily="49" charset="0"/>
              </a:rPr>
              <a:t>int k) </a:t>
            </a:r>
            <a:r>
              <a:rPr lang="en-US" altLang="zh-CN" dirty="0">
                <a:solidFill>
                  <a:srgbClr val="00B0F0"/>
                </a:solidFill>
                <a:latin typeface="Consolas" pitchFamily="49" charset="0"/>
                <a:ea typeface="仿宋" pitchFamily="49" charset="-122"/>
                <a:cs typeface="Consolas" pitchFamily="49" charset="0"/>
              </a:rPr>
              <a:t>//</a:t>
            </a:r>
            <a:r>
              <a:rPr lang="zh-CN" altLang="en-US" dirty="0">
                <a:solidFill>
                  <a:srgbClr val="00B0F0"/>
                </a:solidFill>
                <a:latin typeface="Consolas" pitchFamily="49" charset="0"/>
                <a:ea typeface="仿宋" pitchFamily="49" charset="-122"/>
                <a:cs typeface="Consolas" pitchFamily="49" charset="0"/>
              </a:rPr>
              <a:t>数组</a:t>
            </a:r>
            <a:r>
              <a:rPr lang="en-US" altLang="zh-CN" dirty="0">
                <a:solidFill>
                  <a:srgbClr val="00B0F0"/>
                </a:solidFill>
                <a:latin typeface="Consolas" pitchFamily="49" charset="0"/>
                <a:ea typeface="仿宋" pitchFamily="49" charset="-122"/>
                <a:cs typeface="Consolas" pitchFamily="49" charset="0"/>
              </a:rPr>
              <a:t>a</a:t>
            </a:r>
            <a:r>
              <a:rPr lang="zh-CN" altLang="en-US" dirty="0">
                <a:solidFill>
                  <a:srgbClr val="00B0F0"/>
                </a:solidFill>
                <a:latin typeface="Consolas" pitchFamily="49" charset="0"/>
                <a:ea typeface="仿宋" pitchFamily="49" charset="-122"/>
                <a:cs typeface="Consolas" pitchFamily="49" charset="0"/>
              </a:rPr>
              <a:t>共有</a:t>
            </a:r>
            <a:r>
              <a:rPr lang="en-US" altLang="zh-CN" dirty="0">
                <a:solidFill>
                  <a:srgbClr val="00B0F0"/>
                </a:solidFill>
                <a:latin typeface="Consolas" pitchFamily="49" charset="0"/>
                <a:ea typeface="仿宋" pitchFamily="49" charset="-122"/>
                <a:cs typeface="Consolas" pitchFamily="49" charset="0"/>
              </a:rPr>
              <a:t>n</a:t>
            </a:r>
            <a:r>
              <a:rPr lang="zh-CN" altLang="en-US" dirty="0">
                <a:solidFill>
                  <a:srgbClr val="00B0F0"/>
                </a:solidFill>
                <a:latin typeface="Consolas" pitchFamily="49" charset="0"/>
                <a:ea typeface="仿宋" pitchFamily="49" charset="-122"/>
                <a:cs typeface="Consolas" pitchFamily="49" charset="0"/>
              </a:rPr>
              <a:t>个元素</a:t>
            </a:r>
          </a:p>
          <a:p>
            <a:pPr algn="l">
              <a:lnSpc>
                <a:spcPts val="1800"/>
              </a:lnSpc>
              <a:spcBef>
                <a:spcPts val="780"/>
              </a:spcBef>
            </a:pPr>
            <a:r>
              <a:rPr lang="en-US" altLang="zh-CN" dirty="0">
                <a:solidFill>
                  <a:srgbClr val="0000FF"/>
                </a:solidFill>
                <a:latin typeface="Consolas" pitchFamily="49" charset="0"/>
                <a:ea typeface="仿宋" pitchFamily="49" charset="-122"/>
                <a:cs typeface="Consolas" pitchFamily="49" charset="0"/>
              </a:rPr>
              <a:t>{</a:t>
            </a:r>
          </a:p>
          <a:p>
            <a:pPr algn="l">
              <a:lnSpc>
                <a:spcPts val="1800"/>
              </a:lnSpc>
              <a:spcBef>
                <a:spcPts val="780"/>
              </a:spcBef>
            </a:pPr>
            <a:r>
              <a:rPr lang="en-US" altLang="zh-CN" dirty="0">
                <a:solidFill>
                  <a:srgbClr val="0000FF"/>
                </a:solidFill>
                <a:latin typeface="Consolas" pitchFamily="49" charset="0"/>
                <a:ea typeface="仿宋" pitchFamily="49" charset="-122"/>
                <a:cs typeface="Consolas" pitchFamily="49" charset="0"/>
              </a:rPr>
              <a:t>   int </a:t>
            </a:r>
            <a:r>
              <a:rPr lang="en-US" altLang="zh-CN" dirty="0" err="1">
                <a:solidFill>
                  <a:srgbClr val="0000FF"/>
                </a:solidFill>
                <a:latin typeface="Consolas" pitchFamily="49" charset="0"/>
                <a:ea typeface="仿宋" pitchFamily="49" charset="-122"/>
                <a:cs typeface="Consolas" pitchFamily="49" charset="0"/>
              </a:rPr>
              <a:t>i</a:t>
            </a:r>
            <a:r>
              <a:rPr lang="en-US" altLang="zh-CN" dirty="0">
                <a:solidFill>
                  <a:srgbClr val="0000FF"/>
                </a:solidFill>
                <a:latin typeface="Consolas" pitchFamily="49" charset="0"/>
                <a:ea typeface="仿宋" pitchFamily="49" charset="-122"/>
                <a:cs typeface="Consolas" pitchFamily="49" charset="0"/>
              </a:rPr>
              <a:t>;</a:t>
            </a:r>
          </a:p>
          <a:p>
            <a:pPr algn="l">
              <a:lnSpc>
                <a:spcPts val="1800"/>
              </a:lnSpc>
              <a:spcBef>
                <a:spcPts val="780"/>
              </a:spcBef>
            </a:pPr>
            <a:r>
              <a:rPr lang="en-US" altLang="zh-CN" dirty="0">
                <a:solidFill>
                  <a:srgbClr val="0000FF"/>
                </a:solidFill>
                <a:latin typeface="Consolas" pitchFamily="49" charset="0"/>
                <a:ea typeface="仿宋" pitchFamily="49" charset="-122"/>
                <a:cs typeface="Consolas" pitchFamily="49" charset="0"/>
              </a:rPr>
              <a:t>   </a:t>
            </a:r>
            <a:r>
              <a:rPr lang="en-US" altLang="zh-CN" dirty="0">
                <a:solidFill>
                  <a:srgbClr val="6600CC"/>
                </a:solidFill>
                <a:latin typeface="Consolas" pitchFamily="49" charset="0"/>
                <a:ea typeface="仿宋" pitchFamily="49" charset="-122"/>
                <a:cs typeface="Consolas" pitchFamily="49" charset="0"/>
              </a:rPr>
              <a:t>if (k==n-1)</a:t>
            </a:r>
          </a:p>
          <a:p>
            <a:pPr algn="l">
              <a:lnSpc>
                <a:spcPts val="1800"/>
              </a:lnSpc>
              <a:spcBef>
                <a:spcPts val="780"/>
              </a:spcBef>
            </a:pPr>
            <a:r>
              <a:rPr lang="en-US" altLang="zh-CN" dirty="0">
                <a:solidFill>
                  <a:srgbClr val="6600CC"/>
                </a:solidFill>
                <a:latin typeface="Consolas" pitchFamily="49" charset="0"/>
                <a:ea typeface="仿宋" pitchFamily="49" charset="-122"/>
                <a:cs typeface="Consolas" pitchFamily="49" charset="0"/>
              </a:rPr>
              <a:t>     for (</a:t>
            </a:r>
            <a:r>
              <a:rPr lang="en-US" altLang="zh-CN" dirty="0" err="1">
                <a:solidFill>
                  <a:srgbClr val="6600CC"/>
                </a:solidFill>
                <a:latin typeface="Consolas" pitchFamily="49" charset="0"/>
                <a:ea typeface="仿宋" pitchFamily="49" charset="-122"/>
                <a:cs typeface="Consolas" pitchFamily="49" charset="0"/>
              </a:rPr>
              <a:t>i</a:t>
            </a:r>
            <a:r>
              <a:rPr lang="en-US" altLang="zh-CN" dirty="0">
                <a:solidFill>
                  <a:srgbClr val="6600CC"/>
                </a:solidFill>
                <a:latin typeface="Consolas" pitchFamily="49" charset="0"/>
                <a:ea typeface="仿宋" pitchFamily="49" charset="-122"/>
                <a:cs typeface="Consolas" pitchFamily="49" charset="0"/>
              </a:rPr>
              <a:t>=0;i&lt;</a:t>
            </a:r>
            <a:r>
              <a:rPr lang="en-US" altLang="zh-CN" dirty="0" err="1">
                <a:solidFill>
                  <a:srgbClr val="6600CC"/>
                </a:solidFill>
                <a:latin typeface="Consolas" pitchFamily="49" charset="0"/>
                <a:ea typeface="仿宋" pitchFamily="49" charset="-122"/>
                <a:cs typeface="Consolas" pitchFamily="49" charset="0"/>
              </a:rPr>
              <a:t>n;i</a:t>
            </a:r>
            <a:r>
              <a:rPr lang="en-US" altLang="zh-CN" dirty="0">
                <a:solidFill>
                  <a:srgbClr val="6600CC"/>
                </a:solidFill>
                <a:latin typeface="Consolas" pitchFamily="49" charset="0"/>
                <a:ea typeface="仿宋" pitchFamily="49" charset="-122"/>
                <a:cs typeface="Consolas" pitchFamily="49" charset="0"/>
              </a:rPr>
              <a:t>++) </a:t>
            </a:r>
            <a:r>
              <a:rPr lang="zh-CN" altLang="en-US" dirty="0">
                <a:solidFill>
                  <a:srgbClr val="6600CC"/>
                </a:solidFill>
                <a:latin typeface="Consolas" pitchFamily="49" charset="0"/>
                <a:ea typeface="仿宋" pitchFamily="49" charset="-122"/>
                <a:cs typeface="Consolas" pitchFamily="49" charset="0"/>
              </a:rPr>
              <a:t>　　  </a:t>
            </a:r>
          </a:p>
          <a:p>
            <a:pPr algn="l">
              <a:lnSpc>
                <a:spcPts val="1800"/>
              </a:lnSpc>
              <a:spcBef>
                <a:spcPts val="780"/>
              </a:spcBef>
            </a:pPr>
            <a:r>
              <a:rPr lang="zh-CN" altLang="en-US" dirty="0">
                <a:solidFill>
                  <a:srgbClr val="6600CC"/>
                </a:solidFill>
                <a:latin typeface="Consolas" pitchFamily="49" charset="0"/>
                <a:ea typeface="仿宋" pitchFamily="49" charset="-122"/>
                <a:cs typeface="Consolas" pitchFamily="49" charset="0"/>
              </a:rPr>
              <a:t>	 </a:t>
            </a:r>
            <a:r>
              <a:rPr lang="en-US" altLang="zh-CN" dirty="0" err="1">
                <a:solidFill>
                  <a:srgbClr val="6600CC"/>
                </a:solidFill>
                <a:latin typeface="Consolas" pitchFamily="49" charset="0"/>
                <a:ea typeface="仿宋" pitchFamily="49" charset="-122"/>
                <a:cs typeface="Consolas" pitchFamily="49" charset="0"/>
              </a:rPr>
              <a:t>printf</a:t>
            </a:r>
            <a:r>
              <a:rPr lang="en-US" altLang="zh-CN" dirty="0">
                <a:solidFill>
                  <a:srgbClr val="6600CC"/>
                </a:solidFill>
                <a:latin typeface="Consolas" pitchFamily="49" charset="0"/>
                <a:ea typeface="仿宋" pitchFamily="49" charset="-122"/>
                <a:cs typeface="Consolas" pitchFamily="49" charset="0"/>
              </a:rPr>
              <a:t>(“%d\n”</a:t>
            </a:r>
            <a:r>
              <a:rPr lang="zh-CN" altLang="en-US" dirty="0">
                <a:solidFill>
                  <a:srgbClr val="6600CC"/>
                </a:solidFill>
                <a:latin typeface="Consolas" pitchFamily="49" charset="0"/>
                <a:ea typeface="仿宋" pitchFamily="49" charset="-122"/>
                <a:cs typeface="Consolas" pitchFamily="49" charset="0"/>
              </a:rPr>
              <a:t>，</a:t>
            </a:r>
            <a:r>
              <a:rPr lang="en-US" altLang="zh-CN" dirty="0">
                <a:solidFill>
                  <a:srgbClr val="6600CC"/>
                </a:solidFill>
                <a:latin typeface="Consolas" pitchFamily="49" charset="0"/>
                <a:ea typeface="仿宋" pitchFamily="49" charset="-122"/>
                <a:cs typeface="Consolas" pitchFamily="49" charset="0"/>
              </a:rPr>
              <a:t>a[</a:t>
            </a:r>
            <a:r>
              <a:rPr lang="en-US" altLang="zh-CN" dirty="0" err="1">
                <a:solidFill>
                  <a:srgbClr val="6600CC"/>
                </a:solidFill>
                <a:latin typeface="Consolas" pitchFamily="49" charset="0"/>
                <a:ea typeface="仿宋" pitchFamily="49" charset="-122"/>
                <a:cs typeface="Consolas" pitchFamily="49" charset="0"/>
              </a:rPr>
              <a:t>i</a:t>
            </a:r>
            <a:r>
              <a:rPr lang="en-US" altLang="zh-CN" dirty="0">
                <a:solidFill>
                  <a:srgbClr val="6600CC"/>
                </a:solidFill>
                <a:latin typeface="Consolas" pitchFamily="49" charset="0"/>
                <a:ea typeface="仿宋" pitchFamily="49" charset="-122"/>
                <a:cs typeface="Consolas" pitchFamily="49" charset="0"/>
              </a:rPr>
              <a:t>]);	  </a:t>
            </a:r>
            <a:r>
              <a:rPr lang="en-US" altLang="zh-CN" dirty="0">
                <a:solidFill>
                  <a:srgbClr val="00B0F0"/>
                </a:solidFill>
                <a:latin typeface="Consolas" pitchFamily="49" charset="0"/>
                <a:ea typeface="仿宋" pitchFamily="49" charset="-122"/>
                <a:cs typeface="Consolas" pitchFamily="49" charset="0"/>
              </a:rPr>
              <a:t>//</a:t>
            </a:r>
            <a:r>
              <a:rPr lang="zh-CN" altLang="en-US" dirty="0">
                <a:solidFill>
                  <a:srgbClr val="00B0F0"/>
                </a:solidFill>
                <a:latin typeface="Consolas" pitchFamily="49" charset="0"/>
                <a:ea typeface="仿宋" pitchFamily="49" charset="-122"/>
                <a:cs typeface="Consolas" pitchFamily="49" charset="0"/>
              </a:rPr>
              <a:t>执行</a:t>
            </a:r>
            <a:r>
              <a:rPr lang="en-US" altLang="zh-CN" dirty="0">
                <a:solidFill>
                  <a:srgbClr val="00B0F0"/>
                </a:solidFill>
                <a:latin typeface="Consolas" pitchFamily="49" charset="0"/>
                <a:ea typeface="仿宋" pitchFamily="49" charset="-122"/>
                <a:cs typeface="Consolas" pitchFamily="49" charset="0"/>
              </a:rPr>
              <a:t>n</a:t>
            </a:r>
            <a:r>
              <a:rPr lang="zh-CN" altLang="en-US" dirty="0">
                <a:solidFill>
                  <a:srgbClr val="00B0F0"/>
                </a:solidFill>
                <a:latin typeface="Consolas" pitchFamily="49" charset="0"/>
                <a:ea typeface="仿宋" pitchFamily="49" charset="-122"/>
                <a:cs typeface="Consolas" pitchFamily="49" charset="0"/>
              </a:rPr>
              <a:t>次</a:t>
            </a:r>
            <a:endParaRPr lang="en-US" altLang="zh-CN" dirty="0">
              <a:solidFill>
                <a:srgbClr val="00B0F0"/>
              </a:solidFill>
              <a:latin typeface="Consolas" pitchFamily="49" charset="0"/>
              <a:ea typeface="仿宋" pitchFamily="49" charset="-122"/>
              <a:cs typeface="Consolas" pitchFamily="49" charset="0"/>
            </a:endParaRPr>
          </a:p>
          <a:p>
            <a:pPr algn="l">
              <a:lnSpc>
                <a:spcPts val="1800"/>
              </a:lnSpc>
              <a:spcBef>
                <a:spcPts val="780"/>
              </a:spcBef>
            </a:pPr>
            <a:r>
              <a:rPr lang="en-US" altLang="zh-CN" dirty="0">
                <a:solidFill>
                  <a:srgbClr val="0000FF"/>
                </a:solidFill>
                <a:latin typeface="Consolas" pitchFamily="49" charset="0"/>
                <a:ea typeface="仿宋" pitchFamily="49" charset="-122"/>
                <a:cs typeface="Consolas" pitchFamily="49" charset="0"/>
              </a:rPr>
              <a:t>   else {</a:t>
            </a:r>
          </a:p>
          <a:p>
            <a:pPr algn="l">
              <a:lnSpc>
                <a:spcPts val="1800"/>
              </a:lnSpc>
              <a:spcBef>
                <a:spcPts val="780"/>
              </a:spcBef>
            </a:pPr>
            <a:r>
              <a:rPr lang="en-US" altLang="zh-CN" dirty="0">
                <a:solidFill>
                  <a:srgbClr val="0000FF"/>
                </a:solidFill>
                <a:latin typeface="Consolas" pitchFamily="49" charset="0"/>
                <a:ea typeface="仿宋" pitchFamily="49" charset="-122"/>
                <a:cs typeface="Consolas" pitchFamily="49" charset="0"/>
              </a:rPr>
              <a:t>      for (</a:t>
            </a:r>
            <a:r>
              <a:rPr lang="en-US" altLang="zh-CN" dirty="0" err="1">
                <a:solidFill>
                  <a:srgbClr val="0000FF"/>
                </a:solidFill>
                <a:latin typeface="Consolas" pitchFamily="49" charset="0"/>
                <a:ea typeface="仿宋" pitchFamily="49" charset="-122"/>
                <a:cs typeface="Consolas" pitchFamily="49" charset="0"/>
              </a:rPr>
              <a:t>i</a:t>
            </a:r>
            <a:r>
              <a:rPr lang="en-US" altLang="zh-CN" dirty="0">
                <a:solidFill>
                  <a:srgbClr val="0000FF"/>
                </a:solidFill>
                <a:latin typeface="Consolas" pitchFamily="49" charset="0"/>
                <a:ea typeface="仿宋" pitchFamily="49" charset="-122"/>
                <a:cs typeface="Consolas" pitchFamily="49" charset="0"/>
              </a:rPr>
              <a:t>=</a:t>
            </a:r>
            <a:r>
              <a:rPr lang="en-US" altLang="zh-CN" dirty="0" err="1">
                <a:solidFill>
                  <a:srgbClr val="0000FF"/>
                </a:solidFill>
                <a:latin typeface="Consolas" pitchFamily="49" charset="0"/>
                <a:ea typeface="仿宋" pitchFamily="49" charset="-122"/>
                <a:cs typeface="Consolas" pitchFamily="49" charset="0"/>
              </a:rPr>
              <a:t>k;i</a:t>
            </a:r>
            <a:r>
              <a:rPr lang="en-US" altLang="zh-CN" dirty="0">
                <a:solidFill>
                  <a:srgbClr val="0000FF"/>
                </a:solidFill>
                <a:latin typeface="Consolas" pitchFamily="49" charset="0"/>
                <a:ea typeface="仿宋" pitchFamily="49" charset="-122"/>
                <a:cs typeface="Consolas" pitchFamily="49" charset="0"/>
              </a:rPr>
              <a:t>&lt;</a:t>
            </a:r>
            <a:r>
              <a:rPr lang="en-US" altLang="zh-CN" dirty="0" err="1">
                <a:solidFill>
                  <a:srgbClr val="0000FF"/>
                </a:solidFill>
                <a:latin typeface="Consolas" pitchFamily="49" charset="0"/>
                <a:ea typeface="仿宋" pitchFamily="49" charset="-122"/>
                <a:cs typeface="Consolas" pitchFamily="49" charset="0"/>
              </a:rPr>
              <a:t>n;i</a:t>
            </a:r>
            <a:r>
              <a:rPr lang="en-US" altLang="zh-CN" dirty="0">
                <a:solidFill>
                  <a:srgbClr val="0000FF"/>
                </a:solidFill>
                <a:latin typeface="Consolas" pitchFamily="49" charset="0"/>
                <a:ea typeface="仿宋" pitchFamily="49" charset="-122"/>
                <a:cs typeface="Consolas" pitchFamily="49" charset="0"/>
              </a:rPr>
              <a:t>++)</a:t>
            </a:r>
            <a:r>
              <a:rPr lang="zh-CN" altLang="en-US" dirty="0">
                <a:solidFill>
                  <a:srgbClr val="0000FF"/>
                </a:solidFill>
                <a:latin typeface="Consolas" pitchFamily="49" charset="0"/>
                <a:ea typeface="仿宋" pitchFamily="49" charset="-122"/>
                <a:cs typeface="Consolas" pitchFamily="49" charset="0"/>
              </a:rPr>
              <a:t>　   </a:t>
            </a:r>
          </a:p>
          <a:p>
            <a:pPr algn="l">
              <a:lnSpc>
                <a:spcPts val="1800"/>
              </a:lnSpc>
              <a:spcBef>
                <a:spcPts val="780"/>
              </a:spcBef>
            </a:pPr>
            <a:r>
              <a:rPr lang="zh-CN" altLang="en-US" dirty="0">
                <a:solidFill>
                  <a:srgbClr val="0000FF"/>
                </a:solidFill>
                <a:latin typeface="Consolas" pitchFamily="49" charset="0"/>
                <a:ea typeface="仿宋" pitchFamily="49" charset="-122"/>
                <a:cs typeface="Consolas" pitchFamily="49" charset="0"/>
              </a:rPr>
              <a:t>	  </a:t>
            </a:r>
            <a:r>
              <a:rPr lang="en-US" altLang="zh-CN" dirty="0">
                <a:solidFill>
                  <a:srgbClr val="0000FF"/>
                </a:solidFill>
                <a:latin typeface="Consolas" pitchFamily="49" charset="0"/>
                <a:ea typeface="仿宋" pitchFamily="49" charset="-122"/>
                <a:cs typeface="Consolas" pitchFamily="49" charset="0"/>
              </a:rPr>
              <a:t>a[</a:t>
            </a:r>
            <a:r>
              <a:rPr lang="en-US" altLang="zh-CN" dirty="0" err="1">
                <a:solidFill>
                  <a:srgbClr val="0000FF"/>
                </a:solidFill>
                <a:latin typeface="Consolas" pitchFamily="49" charset="0"/>
                <a:ea typeface="仿宋" pitchFamily="49" charset="-122"/>
                <a:cs typeface="Consolas" pitchFamily="49" charset="0"/>
              </a:rPr>
              <a:t>i</a:t>
            </a:r>
            <a:r>
              <a:rPr lang="en-US" altLang="zh-CN" dirty="0">
                <a:solidFill>
                  <a:srgbClr val="0000FF"/>
                </a:solidFill>
                <a:latin typeface="Consolas" pitchFamily="49" charset="0"/>
                <a:ea typeface="仿宋" pitchFamily="49" charset="-122"/>
                <a:cs typeface="Consolas" pitchFamily="49" charset="0"/>
              </a:rPr>
              <a:t>]=a[</a:t>
            </a:r>
            <a:r>
              <a:rPr lang="en-US" altLang="zh-CN" dirty="0" err="1">
                <a:solidFill>
                  <a:srgbClr val="0000FF"/>
                </a:solidFill>
                <a:latin typeface="Consolas" pitchFamily="49" charset="0"/>
                <a:ea typeface="仿宋" pitchFamily="49" charset="-122"/>
                <a:cs typeface="Consolas" pitchFamily="49" charset="0"/>
              </a:rPr>
              <a:t>i</a:t>
            </a:r>
            <a:r>
              <a:rPr lang="en-US" altLang="zh-CN" dirty="0">
                <a:solidFill>
                  <a:srgbClr val="0000FF"/>
                </a:solidFill>
                <a:latin typeface="Consolas" pitchFamily="49" charset="0"/>
                <a:ea typeface="仿宋" pitchFamily="49" charset="-122"/>
                <a:cs typeface="Consolas" pitchFamily="49" charset="0"/>
              </a:rPr>
              <a:t>]+</a:t>
            </a:r>
            <a:r>
              <a:rPr lang="en-US" altLang="zh-CN" dirty="0" err="1">
                <a:solidFill>
                  <a:srgbClr val="0000FF"/>
                </a:solidFill>
                <a:latin typeface="Consolas" pitchFamily="49" charset="0"/>
                <a:ea typeface="仿宋" pitchFamily="49" charset="-122"/>
                <a:cs typeface="Consolas" pitchFamily="49" charset="0"/>
              </a:rPr>
              <a:t>i</a:t>
            </a:r>
            <a:r>
              <a:rPr lang="en-US" altLang="zh-CN" dirty="0">
                <a:solidFill>
                  <a:srgbClr val="0000FF"/>
                </a:solidFill>
                <a:latin typeface="Consolas" pitchFamily="49" charset="0"/>
                <a:ea typeface="仿宋" pitchFamily="49" charset="-122"/>
                <a:cs typeface="Consolas" pitchFamily="49" charset="0"/>
              </a:rPr>
              <a:t>*</a:t>
            </a:r>
            <a:r>
              <a:rPr lang="en-US" altLang="zh-CN" dirty="0" err="1">
                <a:solidFill>
                  <a:srgbClr val="0000FF"/>
                </a:solidFill>
                <a:latin typeface="Consolas" pitchFamily="49" charset="0"/>
                <a:ea typeface="仿宋" pitchFamily="49" charset="-122"/>
                <a:cs typeface="Consolas" pitchFamily="49" charset="0"/>
              </a:rPr>
              <a:t>i</a:t>
            </a:r>
            <a:r>
              <a:rPr lang="en-US" altLang="zh-CN" dirty="0">
                <a:solidFill>
                  <a:srgbClr val="0000FF"/>
                </a:solidFill>
                <a:latin typeface="Consolas" pitchFamily="49" charset="0"/>
                <a:ea typeface="仿宋" pitchFamily="49" charset="-122"/>
                <a:cs typeface="Consolas" pitchFamily="49" charset="0"/>
              </a:rPr>
              <a:t>;</a:t>
            </a:r>
            <a:r>
              <a:rPr lang="en-US" altLang="zh-CN" dirty="0">
                <a:solidFill>
                  <a:srgbClr val="C00000"/>
                </a:solidFill>
                <a:latin typeface="Consolas" pitchFamily="49" charset="0"/>
                <a:ea typeface="仿宋" pitchFamily="49" charset="-122"/>
                <a:cs typeface="Consolas" pitchFamily="49" charset="0"/>
              </a:rPr>
              <a:t>	 </a:t>
            </a:r>
            <a:r>
              <a:rPr lang="en-US" altLang="zh-CN" dirty="0">
                <a:solidFill>
                  <a:srgbClr val="00B0F0"/>
                </a:solidFill>
                <a:latin typeface="Consolas" pitchFamily="49" charset="0"/>
                <a:ea typeface="仿宋" pitchFamily="49" charset="-122"/>
                <a:cs typeface="Consolas" pitchFamily="49" charset="0"/>
              </a:rPr>
              <a:t>//</a:t>
            </a:r>
            <a:r>
              <a:rPr lang="zh-CN" altLang="en-US" dirty="0">
                <a:solidFill>
                  <a:srgbClr val="00B0F0"/>
                </a:solidFill>
                <a:latin typeface="Consolas" pitchFamily="49" charset="0"/>
                <a:ea typeface="仿宋" pitchFamily="49" charset="-122"/>
                <a:cs typeface="Consolas" pitchFamily="49" charset="0"/>
              </a:rPr>
              <a:t>执行</a:t>
            </a:r>
            <a:r>
              <a:rPr lang="en-US" altLang="zh-CN" dirty="0">
                <a:solidFill>
                  <a:srgbClr val="00B0F0"/>
                </a:solidFill>
                <a:latin typeface="Consolas" pitchFamily="49" charset="0"/>
                <a:ea typeface="仿宋" pitchFamily="49" charset="-122"/>
                <a:cs typeface="Consolas" pitchFamily="49" charset="0"/>
              </a:rPr>
              <a:t>n-k</a:t>
            </a:r>
            <a:r>
              <a:rPr lang="zh-CN" altLang="en-US" dirty="0">
                <a:solidFill>
                  <a:srgbClr val="00B0F0"/>
                </a:solidFill>
                <a:latin typeface="Consolas" pitchFamily="49" charset="0"/>
                <a:ea typeface="仿宋" pitchFamily="49" charset="-122"/>
                <a:cs typeface="Consolas" pitchFamily="49" charset="0"/>
              </a:rPr>
              <a:t>次</a:t>
            </a:r>
            <a:endParaRPr lang="en-US" altLang="zh-CN" dirty="0">
              <a:solidFill>
                <a:srgbClr val="00B0F0"/>
              </a:solidFill>
              <a:latin typeface="Consolas" pitchFamily="49" charset="0"/>
              <a:ea typeface="仿宋" pitchFamily="49" charset="-122"/>
              <a:cs typeface="Consolas" pitchFamily="49" charset="0"/>
            </a:endParaRPr>
          </a:p>
          <a:p>
            <a:pPr algn="l">
              <a:lnSpc>
                <a:spcPts val="1800"/>
              </a:lnSpc>
              <a:spcBef>
                <a:spcPts val="780"/>
              </a:spcBef>
            </a:pPr>
            <a:r>
              <a:rPr lang="en-US" altLang="zh-CN" dirty="0">
                <a:solidFill>
                  <a:srgbClr val="C00000"/>
                </a:solidFill>
                <a:latin typeface="Consolas" pitchFamily="49" charset="0"/>
                <a:ea typeface="仿宋" pitchFamily="49" charset="-122"/>
                <a:cs typeface="Consolas" pitchFamily="49" charset="0"/>
              </a:rPr>
              <a:t>      </a:t>
            </a:r>
            <a:r>
              <a:rPr lang="en-US" altLang="zh-CN" dirty="0">
                <a:solidFill>
                  <a:srgbClr val="FF0000"/>
                </a:solidFill>
                <a:latin typeface="Consolas" pitchFamily="49" charset="0"/>
                <a:ea typeface="仿宋" pitchFamily="49" charset="-122"/>
                <a:cs typeface="Consolas" pitchFamily="49" charset="0"/>
              </a:rPr>
              <a:t>fun</a:t>
            </a:r>
            <a:r>
              <a:rPr lang="en-US" altLang="zh-CN" dirty="0">
                <a:solidFill>
                  <a:srgbClr val="C00000"/>
                </a:solidFill>
                <a:latin typeface="Consolas" pitchFamily="49" charset="0"/>
                <a:ea typeface="仿宋" pitchFamily="49" charset="-122"/>
                <a:cs typeface="Consolas" pitchFamily="49" charset="0"/>
              </a:rPr>
              <a:t>(a</a:t>
            </a:r>
            <a:r>
              <a:rPr lang="zh-CN" altLang="en-US" dirty="0">
                <a:solidFill>
                  <a:srgbClr val="C00000"/>
                </a:solidFill>
                <a:latin typeface="Consolas" pitchFamily="49" charset="0"/>
                <a:ea typeface="仿宋" pitchFamily="49" charset="-122"/>
                <a:cs typeface="Consolas" pitchFamily="49" charset="0"/>
              </a:rPr>
              <a:t>，</a:t>
            </a:r>
            <a:r>
              <a:rPr lang="en-US" altLang="zh-CN" dirty="0">
                <a:solidFill>
                  <a:srgbClr val="C00000"/>
                </a:solidFill>
                <a:latin typeface="Consolas" pitchFamily="49" charset="0"/>
                <a:ea typeface="仿宋" pitchFamily="49" charset="-122"/>
                <a:cs typeface="Consolas" pitchFamily="49" charset="0"/>
              </a:rPr>
              <a:t>n</a:t>
            </a:r>
            <a:r>
              <a:rPr lang="zh-CN" altLang="en-US" dirty="0">
                <a:solidFill>
                  <a:srgbClr val="C00000"/>
                </a:solidFill>
                <a:latin typeface="Consolas" pitchFamily="49" charset="0"/>
                <a:ea typeface="仿宋" pitchFamily="49" charset="-122"/>
                <a:cs typeface="Consolas" pitchFamily="49" charset="0"/>
              </a:rPr>
              <a:t>，</a:t>
            </a:r>
            <a:r>
              <a:rPr lang="en-US" altLang="zh-CN" dirty="0">
                <a:solidFill>
                  <a:srgbClr val="C00000"/>
                </a:solidFill>
                <a:latin typeface="Consolas" pitchFamily="49" charset="0"/>
                <a:ea typeface="仿宋" pitchFamily="49" charset="-122"/>
                <a:cs typeface="Consolas" pitchFamily="49" charset="0"/>
              </a:rPr>
              <a:t>k+1);</a:t>
            </a:r>
          </a:p>
          <a:p>
            <a:pPr algn="l">
              <a:lnSpc>
                <a:spcPts val="1800"/>
              </a:lnSpc>
              <a:spcBef>
                <a:spcPts val="780"/>
              </a:spcBef>
            </a:pPr>
            <a:r>
              <a:rPr lang="en-US" altLang="zh-CN" dirty="0">
                <a:solidFill>
                  <a:srgbClr val="0000FF"/>
                </a:solidFill>
                <a:latin typeface="Consolas" pitchFamily="49" charset="0"/>
                <a:ea typeface="仿宋" pitchFamily="49" charset="-122"/>
                <a:cs typeface="Consolas" pitchFamily="49" charset="0"/>
              </a:rPr>
              <a:t>   }</a:t>
            </a:r>
          </a:p>
          <a:p>
            <a:pPr algn="l">
              <a:lnSpc>
                <a:spcPts val="1800"/>
              </a:lnSpc>
              <a:spcBef>
                <a:spcPts val="780"/>
              </a:spcBef>
            </a:pPr>
            <a:r>
              <a:rPr lang="en-US" altLang="zh-CN" dirty="0">
                <a:solidFill>
                  <a:srgbClr val="0000FF"/>
                </a:solidFill>
                <a:latin typeface="Consolas" pitchFamily="49" charset="0"/>
                <a:ea typeface="仿宋" pitchFamily="49" charset="-122"/>
                <a:cs typeface="Consolas" pitchFamily="49" charset="0"/>
              </a:rPr>
              <a:t>}    </a:t>
            </a:r>
            <a:endParaRPr lang="zh-CN" altLang="en-US" dirty="0">
              <a:solidFill>
                <a:srgbClr val="0000FF"/>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810578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5">
            <a:extLst>
              <a:ext uri="{FF2B5EF4-FFF2-40B4-BE49-F238E27FC236}">
                <a16:creationId xmlns:a16="http://schemas.microsoft.com/office/drawing/2014/main" id="{094A6E84-3130-431F-94BF-85FBEEF28201}"/>
              </a:ext>
            </a:extLst>
          </p:cNvPr>
          <p:cNvSpPr txBox="1"/>
          <p:nvPr/>
        </p:nvSpPr>
        <p:spPr>
          <a:xfrm>
            <a:off x="285720" y="1724687"/>
            <a:ext cx="6445950" cy="2795285"/>
          </a:xfrm>
          <a:prstGeom prst="rect">
            <a:avLst/>
          </a:prstGeom>
          <a:gradFill flip="none"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2700000" scaled="1"/>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44000" tIns="144000" bIns="108000" rtlCol="0">
            <a:spAutoFit/>
          </a:bodyPr>
          <a:lstStyle/>
          <a:p>
            <a:pPr algn="l">
              <a:lnSpc>
                <a:spcPts val="1800"/>
              </a:lnSpc>
            </a:pPr>
            <a:r>
              <a:rPr lang="en-US" altLang="zh-CN" sz="1800" dirty="0">
                <a:solidFill>
                  <a:srgbClr val="0000FF"/>
                </a:solidFill>
                <a:latin typeface="Consolas" pitchFamily="49" charset="0"/>
                <a:ea typeface="仿宋" pitchFamily="49" charset="-122"/>
                <a:cs typeface="Consolas" pitchFamily="49" charset="0"/>
              </a:rPr>
              <a:t>void </a:t>
            </a:r>
            <a:r>
              <a:rPr lang="en-US" altLang="zh-CN" sz="1800" dirty="0">
                <a:solidFill>
                  <a:srgbClr val="FF0000"/>
                </a:solidFill>
                <a:latin typeface="Consolas" pitchFamily="49" charset="0"/>
                <a:ea typeface="仿宋" pitchFamily="49" charset="-122"/>
                <a:cs typeface="Consolas" pitchFamily="49" charset="0"/>
              </a:rPr>
              <a:t>fun</a:t>
            </a:r>
            <a:r>
              <a:rPr lang="en-US" altLang="zh-CN" sz="1800" dirty="0">
                <a:solidFill>
                  <a:srgbClr val="0000FF"/>
                </a:solidFill>
                <a:latin typeface="Consolas" pitchFamily="49" charset="0"/>
                <a:ea typeface="仿宋" pitchFamily="49" charset="-122"/>
                <a:cs typeface="Consolas" pitchFamily="49" charset="0"/>
              </a:rPr>
              <a:t>(int a[]</a:t>
            </a:r>
            <a:r>
              <a:rPr lang="zh-CN" altLang="en-US" sz="1800" dirty="0">
                <a:solidFill>
                  <a:srgbClr val="0000FF"/>
                </a:solidFill>
                <a:latin typeface="Consolas" pitchFamily="49" charset="0"/>
                <a:ea typeface="仿宋" pitchFamily="49" charset="-122"/>
                <a:cs typeface="Consolas" pitchFamily="49" charset="0"/>
              </a:rPr>
              <a:t>，</a:t>
            </a:r>
            <a:r>
              <a:rPr lang="en-US" altLang="zh-CN" sz="1800" dirty="0">
                <a:solidFill>
                  <a:srgbClr val="0000FF"/>
                </a:solidFill>
                <a:latin typeface="Consolas" pitchFamily="49" charset="0"/>
                <a:ea typeface="仿宋" pitchFamily="49" charset="-122"/>
                <a:cs typeface="Consolas" pitchFamily="49" charset="0"/>
              </a:rPr>
              <a:t>int n</a:t>
            </a:r>
            <a:r>
              <a:rPr lang="zh-CN" altLang="en-US" sz="1800" dirty="0">
                <a:solidFill>
                  <a:srgbClr val="0000FF"/>
                </a:solidFill>
                <a:latin typeface="Consolas" pitchFamily="49" charset="0"/>
                <a:ea typeface="仿宋" pitchFamily="49" charset="-122"/>
                <a:cs typeface="Consolas" pitchFamily="49" charset="0"/>
              </a:rPr>
              <a:t>，</a:t>
            </a:r>
            <a:r>
              <a:rPr lang="en-US" altLang="zh-CN" sz="1800" dirty="0">
                <a:solidFill>
                  <a:srgbClr val="0000FF"/>
                </a:solidFill>
                <a:latin typeface="Consolas" pitchFamily="49" charset="0"/>
                <a:ea typeface="仿宋" pitchFamily="49" charset="-122"/>
                <a:cs typeface="Consolas" pitchFamily="49" charset="0"/>
              </a:rPr>
              <a:t>int k) {  </a:t>
            </a:r>
            <a:endParaRPr lang="zh-CN" altLang="en-US" sz="1800" dirty="0">
              <a:solidFill>
                <a:srgbClr val="00B0F0"/>
              </a:solidFill>
              <a:latin typeface="Consolas" pitchFamily="49" charset="0"/>
              <a:ea typeface="仿宋" pitchFamily="49" charset="-122"/>
              <a:cs typeface="Consolas" pitchFamily="49" charset="0"/>
            </a:endParaRPr>
          </a:p>
          <a:p>
            <a:pPr algn="l">
              <a:lnSpc>
                <a:spcPts val="1800"/>
              </a:lnSpc>
            </a:pPr>
            <a:r>
              <a:rPr lang="en-US" altLang="zh-CN" sz="1800" dirty="0">
                <a:solidFill>
                  <a:srgbClr val="0000FF"/>
                </a:solidFill>
                <a:latin typeface="Consolas" pitchFamily="49" charset="0"/>
                <a:ea typeface="仿宋" pitchFamily="49" charset="-122"/>
                <a:cs typeface="Consolas" pitchFamily="49" charset="0"/>
              </a:rPr>
              <a:t>   int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p>
          <a:p>
            <a:pPr algn="l">
              <a:lnSpc>
                <a:spcPts val="1800"/>
              </a:lnSpc>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6600CC"/>
                </a:solidFill>
                <a:latin typeface="Consolas" pitchFamily="49" charset="0"/>
                <a:ea typeface="仿宋" pitchFamily="49" charset="-122"/>
                <a:cs typeface="Consolas" pitchFamily="49" charset="0"/>
              </a:rPr>
              <a:t>if (k==n-1)</a:t>
            </a:r>
          </a:p>
          <a:p>
            <a:pPr algn="l">
              <a:lnSpc>
                <a:spcPts val="1800"/>
              </a:lnSpc>
            </a:pPr>
            <a:r>
              <a:rPr lang="en-US" altLang="zh-CN" sz="1800" dirty="0">
                <a:solidFill>
                  <a:srgbClr val="6600CC"/>
                </a:solidFill>
                <a:latin typeface="Consolas" pitchFamily="49" charset="0"/>
                <a:ea typeface="仿宋" pitchFamily="49" charset="-122"/>
                <a:cs typeface="Consolas" pitchFamily="49" charset="0"/>
              </a:rPr>
              <a:t>     for (</a:t>
            </a:r>
            <a:r>
              <a:rPr lang="en-US" altLang="zh-CN" sz="1800" dirty="0" err="1">
                <a:solidFill>
                  <a:srgbClr val="6600CC"/>
                </a:solidFill>
                <a:latin typeface="Consolas" pitchFamily="49" charset="0"/>
                <a:ea typeface="仿宋" pitchFamily="49" charset="-122"/>
                <a:cs typeface="Consolas" pitchFamily="49" charset="0"/>
              </a:rPr>
              <a:t>i</a:t>
            </a:r>
            <a:r>
              <a:rPr lang="en-US" altLang="zh-CN" sz="1800" dirty="0">
                <a:solidFill>
                  <a:srgbClr val="6600CC"/>
                </a:solidFill>
                <a:latin typeface="Consolas" pitchFamily="49" charset="0"/>
                <a:ea typeface="仿宋" pitchFamily="49" charset="-122"/>
                <a:cs typeface="Consolas" pitchFamily="49" charset="0"/>
              </a:rPr>
              <a:t>=0;i&lt;</a:t>
            </a:r>
            <a:r>
              <a:rPr lang="en-US" altLang="zh-CN" sz="1800" dirty="0" err="1">
                <a:solidFill>
                  <a:srgbClr val="6600CC"/>
                </a:solidFill>
                <a:latin typeface="Consolas" pitchFamily="49" charset="0"/>
                <a:ea typeface="仿宋" pitchFamily="49" charset="-122"/>
                <a:cs typeface="Consolas" pitchFamily="49" charset="0"/>
              </a:rPr>
              <a:t>n;i</a:t>
            </a:r>
            <a:r>
              <a:rPr lang="en-US" altLang="zh-CN" sz="1800" dirty="0">
                <a:solidFill>
                  <a:srgbClr val="6600CC"/>
                </a:solidFill>
                <a:latin typeface="Consolas" pitchFamily="49" charset="0"/>
                <a:ea typeface="仿宋" pitchFamily="49" charset="-122"/>
                <a:cs typeface="Consolas" pitchFamily="49" charset="0"/>
              </a:rPr>
              <a:t>++) </a:t>
            </a:r>
            <a:r>
              <a:rPr lang="zh-CN" altLang="en-US" sz="1800" dirty="0">
                <a:solidFill>
                  <a:srgbClr val="6600CC"/>
                </a:solidFill>
                <a:latin typeface="Consolas" pitchFamily="49" charset="0"/>
                <a:ea typeface="仿宋" pitchFamily="49" charset="-122"/>
                <a:cs typeface="Consolas" pitchFamily="49" charset="0"/>
              </a:rPr>
              <a:t>　　  </a:t>
            </a:r>
          </a:p>
          <a:p>
            <a:pPr algn="l">
              <a:lnSpc>
                <a:spcPts val="1800"/>
              </a:lnSpc>
            </a:pPr>
            <a:r>
              <a:rPr lang="zh-CN" altLang="en-US" sz="1800" dirty="0">
                <a:solidFill>
                  <a:srgbClr val="6600CC"/>
                </a:solidFill>
                <a:latin typeface="Consolas" pitchFamily="49" charset="0"/>
                <a:ea typeface="仿宋" pitchFamily="49" charset="-122"/>
                <a:cs typeface="Consolas" pitchFamily="49" charset="0"/>
              </a:rPr>
              <a:t>	 </a:t>
            </a:r>
            <a:r>
              <a:rPr lang="en-US" altLang="zh-CN" sz="1800" dirty="0" err="1">
                <a:solidFill>
                  <a:srgbClr val="6600CC"/>
                </a:solidFill>
                <a:latin typeface="Consolas" pitchFamily="49" charset="0"/>
                <a:ea typeface="仿宋" pitchFamily="49" charset="-122"/>
                <a:cs typeface="Consolas" pitchFamily="49" charset="0"/>
              </a:rPr>
              <a:t>printf</a:t>
            </a:r>
            <a:r>
              <a:rPr lang="en-US" altLang="zh-CN" sz="1800" dirty="0">
                <a:solidFill>
                  <a:srgbClr val="6600CC"/>
                </a:solidFill>
                <a:latin typeface="Consolas" pitchFamily="49" charset="0"/>
                <a:ea typeface="仿宋" pitchFamily="49" charset="-122"/>
                <a:cs typeface="Consolas" pitchFamily="49" charset="0"/>
              </a:rPr>
              <a:t>(“%d\n”</a:t>
            </a:r>
            <a:r>
              <a:rPr lang="zh-CN" altLang="en-US" sz="1800" dirty="0">
                <a:solidFill>
                  <a:srgbClr val="6600CC"/>
                </a:solidFill>
                <a:latin typeface="Consolas" pitchFamily="49" charset="0"/>
                <a:ea typeface="仿宋" pitchFamily="49" charset="-122"/>
                <a:cs typeface="Consolas" pitchFamily="49" charset="0"/>
              </a:rPr>
              <a:t>，</a:t>
            </a:r>
            <a:r>
              <a:rPr lang="en-US" altLang="zh-CN" sz="1800" dirty="0">
                <a:solidFill>
                  <a:srgbClr val="6600CC"/>
                </a:solidFill>
                <a:latin typeface="Consolas" pitchFamily="49" charset="0"/>
                <a:ea typeface="仿宋" pitchFamily="49" charset="-122"/>
                <a:cs typeface="Consolas" pitchFamily="49" charset="0"/>
              </a:rPr>
              <a:t>a[</a:t>
            </a:r>
            <a:r>
              <a:rPr lang="en-US" altLang="zh-CN" sz="1800" dirty="0" err="1">
                <a:solidFill>
                  <a:srgbClr val="6600CC"/>
                </a:solidFill>
                <a:latin typeface="Consolas" pitchFamily="49" charset="0"/>
                <a:ea typeface="仿宋" pitchFamily="49" charset="-122"/>
                <a:cs typeface="Consolas" pitchFamily="49" charset="0"/>
              </a:rPr>
              <a:t>i</a:t>
            </a:r>
            <a:r>
              <a:rPr lang="en-US" altLang="zh-CN" sz="1800" dirty="0">
                <a:solidFill>
                  <a:srgbClr val="6600CC"/>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执行</a:t>
            </a:r>
            <a:r>
              <a:rPr lang="en-US" altLang="zh-CN" sz="1800" dirty="0">
                <a:solidFill>
                  <a:srgbClr val="00B0F0"/>
                </a:solidFill>
                <a:latin typeface="Consolas" pitchFamily="49" charset="0"/>
                <a:ea typeface="仿宋" pitchFamily="49" charset="-122"/>
                <a:cs typeface="Consolas" pitchFamily="49" charset="0"/>
              </a:rPr>
              <a:t>n</a:t>
            </a:r>
            <a:r>
              <a:rPr lang="zh-CN" altLang="en-US" sz="1800" dirty="0">
                <a:solidFill>
                  <a:srgbClr val="00B0F0"/>
                </a:solidFill>
                <a:latin typeface="Consolas" pitchFamily="49" charset="0"/>
                <a:ea typeface="仿宋" pitchFamily="49" charset="-122"/>
                <a:cs typeface="Consolas" pitchFamily="49" charset="0"/>
              </a:rPr>
              <a:t>次</a:t>
            </a:r>
            <a:endParaRPr lang="en-US" altLang="zh-CN" sz="1800" dirty="0">
              <a:solidFill>
                <a:srgbClr val="00B0F0"/>
              </a:solidFill>
              <a:latin typeface="Consolas" pitchFamily="49" charset="0"/>
              <a:ea typeface="仿宋" pitchFamily="49" charset="-122"/>
              <a:cs typeface="Consolas" pitchFamily="49" charset="0"/>
            </a:endParaRPr>
          </a:p>
          <a:p>
            <a:pPr algn="l">
              <a:lnSpc>
                <a:spcPts val="1800"/>
              </a:lnSpc>
            </a:pPr>
            <a:r>
              <a:rPr lang="en-US" altLang="zh-CN" sz="1800" dirty="0">
                <a:solidFill>
                  <a:srgbClr val="0000FF"/>
                </a:solidFill>
                <a:latin typeface="Consolas" pitchFamily="49" charset="0"/>
                <a:ea typeface="仿宋" pitchFamily="49" charset="-122"/>
                <a:cs typeface="Consolas" pitchFamily="49" charset="0"/>
              </a:rPr>
              <a:t>   else {</a:t>
            </a:r>
          </a:p>
          <a:p>
            <a:pPr algn="l">
              <a:lnSpc>
                <a:spcPts val="1800"/>
              </a:lnSpc>
            </a:pPr>
            <a:r>
              <a:rPr lang="en-US" altLang="zh-CN" sz="1800" dirty="0">
                <a:solidFill>
                  <a:srgbClr val="0000FF"/>
                </a:solidFill>
                <a:latin typeface="Consolas" pitchFamily="49" charset="0"/>
                <a:ea typeface="仿宋" pitchFamily="49" charset="-122"/>
                <a:cs typeface="Consolas" pitchFamily="49" charset="0"/>
              </a:rPr>
              <a:t>      for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r>
              <a:rPr lang="en-US" altLang="zh-CN" sz="1800" dirty="0" err="1">
                <a:solidFill>
                  <a:srgbClr val="0000FF"/>
                </a:solidFill>
                <a:latin typeface="Consolas" pitchFamily="49" charset="0"/>
                <a:ea typeface="仿宋" pitchFamily="49" charset="-122"/>
                <a:cs typeface="Consolas" pitchFamily="49" charset="0"/>
              </a:rPr>
              <a:t>k;i</a:t>
            </a:r>
            <a:r>
              <a:rPr lang="en-US" altLang="zh-CN" sz="1800" dirty="0">
                <a:solidFill>
                  <a:srgbClr val="0000FF"/>
                </a:solidFill>
                <a:latin typeface="Consolas" pitchFamily="49" charset="0"/>
                <a:ea typeface="仿宋" pitchFamily="49" charset="-122"/>
                <a:cs typeface="Consolas" pitchFamily="49" charset="0"/>
              </a:rPr>
              <a:t>&lt;</a:t>
            </a:r>
            <a:r>
              <a:rPr lang="en-US" altLang="zh-CN" sz="1800" dirty="0" err="1">
                <a:solidFill>
                  <a:srgbClr val="0000FF"/>
                </a:solidFill>
                <a:latin typeface="Consolas" pitchFamily="49" charset="0"/>
                <a:ea typeface="仿宋" pitchFamily="49" charset="-122"/>
                <a:cs typeface="Consolas" pitchFamily="49" charset="0"/>
              </a:rPr>
              <a:t>n;i</a:t>
            </a:r>
            <a:r>
              <a:rPr lang="en-US" altLang="zh-CN" sz="1800" dirty="0">
                <a:solidFill>
                  <a:srgbClr val="0000FF"/>
                </a:solidFill>
                <a:latin typeface="Consolas" pitchFamily="49" charset="0"/>
                <a:ea typeface="仿宋" pitchFamily="49" charset="-122"/>
                <a:cs typeface="Consolas" pitchFamily="49" charset="0"/>
              </a:rPr>
              <a:t>++)</a:t>
            </a:r>
            <a:r>
              <a:rPr lang="zh-CN" altLang="en-US" sz="1800" dirty="0">
                <a:solidFill>
                  <a:srgbClr val="0000FF"/>
                </a:solidFill>
                <a:latin typeface="Consolas" pitchFamily="49" charset="0"/>
                <a:ea typeface="仿宋" pitchFamily="49" charset="-122"/>
                <a:cs typeface="Consolas" pitchFamily="49" charset="0"/>
              </a:rPr>
              <a:t>　   </a:t>
            </a:r>
          </a:p>
          <a:p>
            <a:pPr algn="l">
              <a:lnSpc>
                <a:spcPts val="1800"/>
              </a:lnSpc>
            </a:pPr>
            <a:r>
              <a:rPr lang="zh-CN" altLang="en-US" sz="1800" dirty="0">
                <a:solidFill>
                  <a:srgbClr val="0000FF"/>
                </a:solidFill>
                <a:latin typeface="Consolas" pitchFamily="49" charset="0"/>
                <a:ea typeface="仿宋" pitchFamily="49" charset="-122"/>
                <a:cs typeface="Consolas" pitchFamily="49" charset="0"/>
              </a:rPr>
              <a:t>	 </a:t>
            </a:r>
            <a:r>
              <a:rPr lang="en-US" altLang="zh-CN" sz="1800" dirty="0">
                <a:solidFill>
                  <a:srgbClr val="0000FF"/>
                </a:solidFill>
                <a:latin typeface="Consolas" pitchFamily="49" charset="0"/>
                <a:ea typeface="仿宋" pitchFamily="49" charset="-122"/>
                <a:cs typeface="Consolas" pitchFamily="49" charset="0"/>
              </a:rPr>
              <a:t>a[</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 = a[</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r>
              <a:rPr lang="en-US" altLang="zh-CN" sz="1800" dirty="0">
                <a:solidFill>
                  <a:srgbClr val="C00000"/>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执行</a:t>
            </a:r>
            <a:r>
              <a:rPr lang="en-US" altLang="zh-CN" sz="1800" dirty="0">
                <a:solidFill>
                  <a:srgbClr val="00B0F0"/>
                </a:solidFill>
                <a:latin typeface="Consolas" pitchFamily="49" charset="0"/>
                <a:ea typeface="仿宋" pitchFamily="49" charset="-122"/>
                <a:cs typeface="Consolas" pitchFamily="49" charset="0"/>
              </a:rPr>
              <a:t>n-k</a:t>
            </a:r>
            <a:r>
              <a:rPr lang="zh-CN" altLang="en-US" sz="1800" dirty="0">
                <a:solidFill>
                  <a:srgbClr val="00B0F0"/>
                </a:solidFill>
                <a:latin typeface="Consolas" pitchFamily="49" charset="0"/>
                <a:ea typeface="仿宋" pitchFamily="49" charset="-122"/>
                <a:cs typeface="Consolas" pitchFamily="49" charset="0"/>
              </a:rPr>
              <a:t>次</a:t>
            </a:r>
            <a:endParaRPr lang="en-US" altLang="zh-CN" sz="1800" dirty="0">
              <a:solidFill>
                <a:srgbClr val="00B0F0"/>
              </a:solidFill>
              <a:latin typeface="Consolas" pitchFamily="49" charset="0"/>
              <a:ea typeface="仿宋" pitchFamily="49" charset="-122"/>
              <a:cs typeface="Consolas" pitchFamily="49" charset="0"/>
            </a:endParaRPr>
          </a:p>
          <a:p>
            <a:pPr algn="l">
              <a:lnSpc>
                <a:spcPts val="1800"/>
              </a:lnSpc>
            </a:pPr>
            <a:r>
              <a:rPr lang="en-US" altLang="zh-CN" sz="1800" dirty="0">
                <a:solidFill>
                  <a:srgbClr val="C00000"/>
                </a:solidFill>
                <a:latin typeface="Consolas" pitchFamily="49" charset="0"/>
                <a:ea typeface="仿宋" pitchFamily="49" charset="-122"/>
                <a:cs typeface="Consolas" pitchFamily="49" charset="0"/>
              </a:rPr>
              <a:t>      </a:t>
            </a:r>
            <a:r>
              <a:rPr lang="en-US" altLang="zh-CN" sz="1800" dirty="0">
                <a:solidFill>
                  <a:srgbClr val="FF0000"/>
                </a:solidFill>
                <a:latin typeface="Consolas" pitchFamily="49" charset="0"/>
                <a:ea typeface="仿宋" pitchFamily="49" charset="-122"/>
                <a:cs typeface="Consolas" pitchFamily="49" charset="0"/>
              </a:rPr>
              <a:t>fun</a:t>
            </a:r>
            <a:r>
              <a:rPr lang="en-US" altLang="zh-CN" sz="1800" dirty="0">
                <a:solidFill>
                  <a:srgbClr val="C00000"/>
                </a:solidFill>
                <a:latin typeface="Consolas" pitchFamily="49" charset="0"/>
                <a:ea typeface="仿宋" pitchFamily="49" charset="-122"/>
                <a:cs typeface="Consolas" pitchFamily="49" charset="0"/>
              </a:rPr>
              <a:t>(a</a:t>
            </a:r>
            <a:r>
              <a:rPr lang="zh-CN" altLang="en-US" sz="1800" dirty="0">
                <a:solidFill>
                  <a:srgbClr val="C00000"/>
                </a:solidFill>
                <a:latin typeface="Consolas" pitchFamily="49" charset="0"/>
                <a:ea typeface="仿宋" pitchFamily="49" charset="-122"/>
                <a:cs typeface="Consolas" pitchFamily="49" charset="0"/>
              </a:rPr>
              <a:t>，</a:t>
            </a:r>
            <a:r>
              <a:rPr lang="en-US" altLang="zh-CN" sz="1800" dirty="0">
                <a:solidFill>
                  <a:srgbClr val="C00000"/>
                </a:solidFill>
                <a:latin typeface="Consolas" pitchFamily="49" charset="0"/>
                <a:ea typeface="仿宋" pitchFamily="49" charset="-122"/>
                <a:cs typeface="Consolas" pitchFamily="49" charset="0"/>
              </a:rPr>
              <a:t>n</a:t>
            </a:r>
            <a:r>
              <a:rPr lang="zh-CN" altLang="en-US" sz="1800" dirty="0">
                <a:solidFill>
                  <a:srgbClr val="C00000"/>
                </a:solidFill>
                <a:latin typeface="Consolas" pitchFamily="49" charset="0"/>
                <a:ea typeface="仿宋" pitchFamily="49" charset="-122"/>
                <a:cs typeface="Consolas" pitchFamily="49" charset="0"/>
              </a:rPr>
              <a:t>，</a:t>
            </a:r>
            <a:r>
              <a:rPr lang="en-US" altLang="zh-CN" sz="1800" dirty="0">
                <a:solidFill>
                  <a:srgbClr val="C00000"/>
                </a:solidFill>
                <a:latin typeface="Consolas" pitchFamily="49" charset="0"/>
                <a:ea typeface="仿宋" pitchFamily="49" charset="-122"/>
                <a:cs typeface="Consolas" pitchFamily="49" charset="0"/>
              </a:rPr>
              <a:t>k+1);</a:t>
            </a:r>
          </a:p>
          <a:p>
            <a:pPr algn="l">
              <a:lnSpc>
                <a:spcPts val="1800"/>
              </a:lnSpc>
            </a:pPr>
            <a:r>
              <a:rPr lang="en-US" altLang="zh-CN" sz="1800" dirty="0">
                <a:solidFill>
                  <a:srgbClr val="0000FF"/>
                </a:solidFill>
                <a:latin typeface="Consolas" pitchFamily="49" charset="0"/>
                <a:ea typeface="仿宋" pitchFamily="49" charset="-122"/>
                <a:cs typeface="Consolas" pitchFamily="49" charset="0"/>
              </a:rPr>
              <a:t>   }</a:t>
            </a:r>
          </a:p>
          <a:p>
            <a:pPr algn="l">
              <a:lnSpc>
                <a:spcPts val="1800"/>
              </a:lnSpc>
            </a:pPr>
            <a:r>
              <a:rPr lang="en-US" altLang="zh-CN" sz="1800" dirty="0">
                <a:solidFill>
                  <a:srgbClr val="0000FF"/>
                </a:solidFill>
                <a:latin typeface="Consolas" pitchFamily="49" charset="0"/>
                <a:ea typeface="仿宋" pitchFamily="49" charset="-122"/>
                <a:cs typeface="Consolas" pitchFamily="49" charset="0"/>
              </a:rPr>
              <a:t>}    </a:t>
            </a:r>
            <a:endParaRPr lang="zh-CN" altLang="en-US" sz="1800" dirty="0">
              <a:solidFill>
                <a:srgbClr val="0000FF"/>
              </a:solidFill>
              <a:latin typeface="Consolas" pitchFamily="49" charset="0"/>
              <a:ea typeface="仿宋" pitchFamily="49" charset="-122"/>
              <a:cs typeface="Consolas" pitchFamily="49" charset="0"/>
            </a:endParaRPr>
          </a:p>
        </p:txBody>
      </p:sp>
      <p:sp>
        <p:nvSpPr>
          <p:cNvPr id="5" name="TextBox 11">
            <a:extLst>
              <a:ext uri="{FF2B5EF4-FFF2-40B4-BE49-F238E27FC236}">
                <a16:creationId xmlns:a16="http://schemas.microsoft.com/office/drawing/2014/main" id="{C0A4C10D-A672-4F81-96B7-576D15C0C4CB}"/>
              </a:ext>
            </a:extLst>
          </p:cNvPr>
          <p:cNvSpPr txBox="1"/>
          <p:nvPr/>
        </p:nvSpPr>
        <p:spPr>
          <a:xfrm>
            <a:off x="262054" y="1105986"/>
            <a:ext cx="5715040" cy="407676"/>
          </a:xfrm>
          <a:prstGeom prst="rect">
            <a:avLst/>
          </a:prstGeom>
          <a:noFill/>
        </p:spPr>
        <p:txBody>
          <a:bodyPr wrap="square" rtlCol="0">
            <a:spAutoFit/>
          </a:bodyPr>
          <a:lstStyle/>
          <a:p>
            <a:pPr algn="l"/>
            <a:r>
              <a:rPr lang="zh-CN" altLang="en-US" sz="2000" dirty="0">
                <a:solidFill>
                  <a:srgbClr val="FF3300"/>
                </a:solidFill>
                <a:latin typeface="Consolas" pitchFamily="49" charset="0"/>
                <a:ea typeface="楷体" pitchFamily="49" charset="-122"/>
                <a:cs typeface="Consolas" pitchFamily="49" charset="0"/>
              </a:rPr>
              <a:t>解：</a:t>
            </a:r>
            <a:r>
              <a:rPr lang="zh-CN" altLang="en-US" sz="2000" dirty="0">
                <a:solidFill>
                  <a:srgbClr val="0000FF"/>
                </a:solidFill>
                <a:latin typeface="Consolas" pitchFamily="49" charset="0"/>
                <a:ea typeface="楷体" pitchFamily="49" charset="-122"/>
                <a:cs typeface="Consolas" pitchFamily="49" charset="0"/>
              </a:rPr>
              <a:t>设</a:t>
            </a:r>
            <a:r>
              <a:rPr lang="en-US" altLang="zh-CN" sz="2000" dirty="0">
                <a:solidFill>
                  <a:srgbClr val="FF00FF"/>
                </a:solidFill>
                <a:latin typeface="Consolas" pitchFamily="49" charset="0"/>
                <a:ea typeface="楷体" pitchFamily="49" charset="-122"/>
                <a:cs typeface="Consolas" pitchFamily="49" charset="0"/>
              </a:rPr>
              <a:t>fun(</a:t>
            </a:r>
            <a:r>
              <a:rPr lang="en-US" altLang="zh-CN" sz="2000" i="1" dirty="0">
                <a:solidFill>
                  <a:srgbClr val="FF00FF"/>
                </a:solidFill>
                <a:latin typeface="Consolas" pitchFamily="49" charset="0"/>
                <a:ea typeface="楷体" pitchFamily="49" charset="-122"/>
                <a:cs typeface="Consolas" pitchFamily="49" charset="0"/>
              </a:rPr>
              <a:t>a</a:t>
            </a:r>
            <a:r>
              <a:rPr lang="zh-CN" altLang="en-US" sz="2000" dirty="0">
                <a:solidFill>
                  <a:srgbClr val="FF00FF"/>
                </a:solidFill>
                <a:latin typeface="Consolas" pitchFamily="49" charset="0"/>
                <a:ea typeface="楷体" pitchFamily="49" charset="-122"/>
                <a:cs typeface="Consolas" pitchFamily="49" charset="0"/>
              </a:rPr>
              <a:t>，</a:t>
            </a:r>
            <a:r>
              <a:rPr lang="en-US" altLang="zh-CN" sz="2000" i="1" dirty="0">
                <a:solidFill>
                  <a:srgbClr val="FF00FF"/>
                </a:solidFill>
                <a:latin typeface="Consolas" pitchFamily="49" charset="0"/>
                <a:ea typeface="楷体" pitchFamily="49" charset="-122"/>
                <a:cs typeface="Consolas" pitchFamily="49" charset="0"/>
              </a:rPr>
              <a:t>n</a:t>
            </a:r>
            <a:r>
              <a:rPr lang="zh-CN" altLang="en-US" sz="2000" dirty="0">
                <a:solidFill>
                  <a:srgbClr val="FF00FF"/>
                </a:solidFill>
                <a:latin typeface="Consolas" pitchFamily="49" charset="0"/>
                <a:ea typeface="楷体" pitchFamily="49" charset="-122"/>
                <a:cs typeface="Consolas" pitchFamily="49" charset="0"/>
              </a:rPr>
              <a:t>，</a:t>
            </a:r>
            <a:r>
              <a:rPr lang="en-US" altLang="zh-CN" sz="2000" i="1" dirty="0">
                <a:solidFill>
                  <a:srgbClr val="FF00FF"/>
                </a:solidFill>
                <a:latin typeface="Consolas" pitchFamily="49" charset="0"/>
                <a:ea typeface="楷体" pitchFamily="49" charset="-122"/>
                <a:cs typeface="Consolas" pitchFamily="49" charset="0"/>
              </a:rPr>
              <a:t>k</a:t>
            </a:r>
            <a:r>
              <a:rPr lang="en-US" altLang="zh-CN" sz="2000" dirty="0">
                <a:solidFill>
                  <a:srgbClr val="FF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的执行时间为</a:t>
            </a:r>
            <a:r>
              <a:rPr lang="en-US" altLang="zh-CN" sz="2000" dirty="0">
                <a:solidFill>
                  <a:srgbClr val="0000FF"/>
                </a:solidFill>
                <a:latin typeface="Consolas" pitchFamily="49" charset="0"/>
                <a:ea typeface="楷体" pitchFamily="49" charset="-122"/>
                <a:cs typeface="Consolas" pitchFamily="49" charset="0"/>
              </a:rPr>
              <a:t>T</a:t>
            </a:r>
            <a:r>
              <a:rPr lang="en-US" altLang="zh-CN" sz="2000" baseline="-25000" dirty="0">
                <a:solidFill>
                  <a:srgbClr val="0000FF"/>
                </a:solidFill>
                <a:latin typeface="Consolas" pitchFamily="49" charset="0"/>
                <a:ea typeface="楷体" pitchFamily="49" charset="-122"/>
                <a:cs typeface="Consolas" pitchFamily="49" charset="0"/>
              </a:rPr>
              <a:t>1</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zh-CN" altLang="en-US"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k</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sym typeface="Wingdings"/>
              </a:rPr>
              <a:t>。</a:t>
            </a:r>
            <a:endParaRPr lang="zh-CN" altLang="en-US" sz="2000" dirty="0">
              <a:solidFill>
                <a:srgbClr val="0000FF"/>
              </a:solidFill>
              <a:latin typeface="Consolas" pitchFamily="49" charset="0"/>
              <a:cs typeface="Consolas" pitchFamily="49" charset="0"/>
            </a:endParaRPr>
          </a:p>
        </p:txBody>
      </p:sp>
      <p:sp>
        <p:nvSpPr>
          <p:cNvPr id="6" name="Text Box 2">
            <a:extLst>
              <a:ext uri="{FF2B5EF4-FFF2-40B4-BE49-F238E27FC236}">
                <a16:creationId xmlns:a16="http://schemas.microsoft.com/office/drawing/2014/main" id="{8259A1D0-3ECF-4291-A080-2646E0420834}"/>
              </a:ext>
            </a:extLst>
          </p:cNvPr>
          <p:cNvSpPr txBox="1">
            <a:spLocks noChangeArrowheads="1"/>
          </p:cNvSpPr>
          <p:nvPr/>
        </p:nvSpPr>
        <p:spPr bwMode="auto">
          <a:xfrm>
            <a:off x="428596" y="5515542"/>
            <a:ext cx="6357982" cy="907914"/>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lIns="180000" tIns="108000" bIns="108000">
            <a:spAutoFit/>
          </a:bodyPr>
          <a:lstStyle/>
          <a:p>
            <a:pPr algn="l">
              <a:lnSpc>
                <a:spcPts val="2800"/>
              </a:lnSpc>
              <a:spcBef>
                <a:spcPts val="0"/>
              </a:spcBef>
            </a:pPr>
            <a:r>
              <a:rPr lang="en-US" altLang="zh-CN" sz="1800">
                <a:solidFill>
                  <a:srgbClr val="0000FF"/>
                </a:solidFill>
                <a:latin typeface="Consolas" pitchFamily="49" charset="0"/>
                <a:ea typeface="仿宋" pitchFamily="49" charset="-122"/>
                <a:cs typeface="Consolas" pitchFamily="49" charset="0"/>
              </a:rPr>
              <a:t>T</a:t>
            </a:r>
            <a:r>
              <a:rPr lang="en-US" altLang="zh-CN" sz="1800" baseline="-25000">
                <a:solidFill>
                  <a:srgbClr val="0000FF"/>
                </a:solidFill>
                <a:latin typeface="Consolas" pitchFamily="49" charset="0"/>
                <a:ea typeface="仿宋" pitchFamily="49" charset="-122"/>
                <a:cs typeface="Consolas" pitchFamily="49" charset="0"/>
              </a:rPr>
              <a:t>1</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n</a:t>
            </a:r>
            <a:r>
              <a:rPr lang="zh-CN" altLang="en-US"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k</a:t>
            </a:r>
            <a:r>
              <a:rPr lang="en-US" altLang="zh-CN" sz="1800">
                <a:solidFill>
                  <a:srgbClr val="0000FF"/>
                </a:solidFill>
                <a:latin typeface="Consolas" pitchFamily="49" charset="0"/>
                <a:ea typeface="仿宋" pitchFamily="49" charset="-122"/>
                <a:cs typeface="Consolas" pitchFamily="49" charset="0"/>
              </a:rPr>
              <a:t>) = </a:t>
            </a:r>
            <a:r>
              <a:rPr lang="en-US" altLang="zh-CN" sz="1800" i="1">
                <a:solidFill>
                  <a:srgbClr val="0000FF"/>
                </a:solidFill>
                <a:latin typeface="Consolas" pitchFamily="49" charset="0"/>
                <a:ea typeface="仿宋" pitchFamily="49" charset="-122"/>
                <a:cs typeface="Consolas" pitchFamily="49" charset="0"/>
              </a:rPr>
              <a:t>n</a:t>
            </a:r>
            <a:r>
              <a:rPr lang="en-US" altLang="zh-CN" sz="1800">
                <a:solidFill>
                  <a:srgbClr val="0000FF"/>
                </a:solidFill>
                <a:latin typeface="Consolas" pitchFamily="49" charset="0"/>
                <a:ea typeface="仿宋" pitchFamily="49" charset="-122"/>
                <a:cs typeface="Consolas" pitchFamily="49" charset="0"/>
              </a:rPr>
              <a:t>    </a:t>
            </a:r>
            <a:r>
              <a:rPr lang="en-US" altLang="zh-CN" sz="1800" dirty="0">
                <a:solidFill>
                  <a:srgbClr val="0000FF"/>
                </a:solidFill>
                <a:latin typeface="Consolas" pitchFamily="49" charset="0"/>
                <a:ea typeface="仿宋" pitchFamily="49" charset="-122"/>
                <a:cs typeface="Consolas" pitchFamily="49" charset="0"/>
              </a:rPr>
              <a:t>		      	</a:t>
            </a:r>
            <a:r>
              <a:rPr lang="zh-CN" altLang="en-US" sz="1800" dirty="0">
                <a:solidFill>
                  <a:srgbClr val="00B0F0"/>
                </a:solidFill>
                <a:latin typeface="Consolas" pitchFamily="49" charset="0"/>
                <a:ea typeface="仿宋" pitchFamily="49" charset="-122"/>
                <a:cs typeface="Consolas" pitchFamily="49" charset="0"/>
              </a:rPr>
              <a:t>当</a:t>
            </a:r>
            <a:r>
              <a:rPr lang="en-US" altLang="zh-CN" sz="1800" i="1" dirty="0">
                <a:solidFill>
                  <a:srgbClr val="00B0F0"/>
                </a:solidFill>
                <a:latin typeface="Consolas" pitchFamily="49" charset="0"/>
                <a:ea typeface="仿宋" pitchFamily="49" charset="-122"/>
                <a:cs typeface="Consolas" pitchFamily="49" charset="0"/>
              </a:rPr>
              <a:t>k</a:t>
            </a:r>
            <a:r>
              <a:rPr lang="en-US" altLang="zh-CN" sz="1800" dirty="0">
                <a:solidFill>
                  <a:srgbClr val="00B0F0"/>
                </a:solidFill>
                <a:latin typeface="Consolas" pitchFamily="49" charset="0"/>
                <a:ea typeface="仿宋" pitchFamily="49" charset="-122"/>
                <a:cs typeface="Consolas" pitchFamily="49" charset="0"/>
              </a:rPr>
              <a:t>=</a:t>
            </a:r>
            <a:r>
              <a:rPr lang="en-US" altLang="zh-CN" sz="1800" i="1" dirty="0">
                <a:solidFill>
                  <a:srgbClr val="00B0F0"/>
                </a:solidFill>
                <a:latin typeface="Consolas" pitchFamily="49" charset="0"/>
                <a:ea typeface="仿宋" pitchFamily="49" charset="-122"/>
                <a:cs typeface="Consolas" pitchFamily="49" charset="0"/>
              </a:rPr>
              <a:t>n</a:t>
            </a:r>
            <a:r>
              <a:rPr lang="en-US" altLang="zh-CN" sz="1800" dirty="0">
                <a:solidFill>
                  <a:srgbClr val="00B0F0"/>
                </a:solidFill>
                <a:latin typeface="Consolas" pitchFamily="49" charset="0"/>
                <a:ea typeface="仿宋" pitchFamily="49" charset="-122"/>
                <a:cs typeface="Consolas" pitchFamily="49" charset="0"/>
              </a:rPr>
              <a:t>-1</a:t>
            </a:r>
            <a:r>
              <a:rPr lang="zh-CN" altLang="en-US" sz="1800" dirty="0">
                <a:solidFill>
                  <a:srgbClr val="00B0F0"/>
                </a:solidFill>
                <a:latin typeface="Consolas" pitchFamily="49" charset="0"/>
                <a:ea typeface="仿宋" pitchFamily="49" charset="-122"/>
                <a:cs typeface="Consolas" pitchFamily="49" charset="0"/>
              </a:rPr>
              <a:t>时</a:t>
            </a:r>
          </a:p>
          <a:p>
            <a:pPr algn="l">
              <a:lnSpc>
                <a:spcPts val="2800"/>
              </a:lnSpc>
              <a:spcBef>
                <a:spcPts val="0"/>
              </a:spcBef>
            </a:pPr>
            <a:r>
              <a:rPr lang="en-US" altLang="zh-CN" sz="1800">
                <a:solidFill>
                  <a:srgbClr val="0000FF"/>
                </a:solidFill>
                <a:latin typeface="Consolas" pitchFamily="49" charset="0"/>
                <a:ea typeface="仿宋" pitchFamily="49" charset="-122"/>
                <a:cs typeface="Consolas" pitchFamily="49" charset="0"/>
              </a:rPr>
              <a:t>T</a:t>
            </a:r>
            <a:r>
              <a:rPr lang="en-US" altLang="zh-CN" sz="1800" baseline="-25000">
                <a:solidFill>
                  <a:srgbClr val="0000FF"/>
                </a:solidFill>
                <a:latin typeface="Consolas" pitchFamily="49" charset="0"/>
                <a:ea typeface="仿宋" pitchFamily="49" charset="-122"/>
                <a:cs typeface="Consolas" pitchFamily="49" charset="0"/>
              </a:rPr>
              <a:t>1</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n</a:t>
            </a:r>
            <a:r>
              <a:rPr lang="zh-CN" altLang="en-US"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k</a:t>
            </a:r>
            <a:r>
              <a:rPr lang="en-US" altLang="zh-CN" sz="1800">
                <a:solidFill>
                  <a:srgbClr val="0000FF"/>
                </a:solidFill>
                <a:latin typeface="Consolas" pitchFamily="49" charset="0"/>
                <a:ea typeface="仿宋" pitchFamily="49" charset="-122"/>
                <a:cs typeface="Consolas" pitchFamily="49" charset="0"/>
              </a:rPr>
              <a:t>) = </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n</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k</a:t>
            </a:r>
            <a:r>
              <a:rPr lang="en-US" altLang="zh-CN" sz="1800">
                <a:solidFill>
                  <a:srgbClr val="0000FF"/>
                </a:solidFill>
                <a:latin typeface="Consolas" pitchFamily="49" charset="0"/>
                <a:ea typeface="仿宋" pitchFamily="49" charset="-122"/>
                <a:cs typeface="Consolas" pitchFamily="49" charset="0"/>
              </a:rPr>
              <a:t>)+T</a:t>
            </a:r>
            <a:r>
              <a:rPr lang="en-US" altLang="zh-CN" sz="1800" baseline="-25000">
                <a:solidFill>
                  <a:srgbClr val="0000FF"/>
                </a:solidFill>
                <a:latin typeface="Consolas" pitchFamily="49" charset="0"/>
                <a:ea typeface="仿宋" pitchFamily="49" charset="-122"/>
                <a:cs typeface="Consolas" pitchFamily="49" charset="0"/>
              </a:rPr>
              <a:t>1</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n</a:t>
            </a:r>
            <a:r>
              <a:rPr lang="zh-CN" altLang="en-US"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k</a:t>
            </a:r>
            <a:r>
              <a:rPr lang="en-US" altLang="zh-CN" sz="1800">
                <a:solidFill>
                  <a:srgbClr val="0000FF"/>
                </a:solidFill>
                <a:latin typeface="Consolas" pitchFamily="49" charset="0"/>
                <a:ea typeface="仿宋" pitchFamily="49" charset="-122"/>
                <a:cs typeface="Consolas" pitchFamily="49" charset="0"/>
              </a:rPr>
              <a:t>+1</a:t>
            </a:r>
            <a:r>
              <a:rPr lang="en-US" altLang="zh-CN" sz="1800" dirty="0">
                <a:solidFill>
                  <a:srgbClr val="0000FF"/>
                </a:solidFill>
                <a:latin typeface="Consolas" pitchFamily="49" charset="0"/>
                <a:ea typeface="仿宋" pitchFamily="49" charset="-122"/>
                <a:cs typeface="Consolas" pitchFamily="49" charset="0"/>
              </a:rPr>
              <a:t>)      	</a:t>
            </a:r>
            <a:r>
              <a:rPr lang="zh-CN" altLang="en-US" sz="1800" dirty="0">
                <a:solidFill>
                  <a:srgbClr val="00B0F0"/>
                </a:solidFill>
                <a:latin typeface="Consolas" pitchFamily="49" charset="0"/>
                <a:ea typeface="仿宋" pitchFamily="49" charset="-122"/>
                <a:cs typeface="Consolas" pitchFamily="49" charset="0"/>
              </a:rPr>
              <a:t>其他情况</a:t>
            </a:r>
          </a:p>
        </p:txBody>
      </p:sp>
      <p:sp>
        <p:nvSpPr>
          <p:cNvPr id="7" name="TextBox 17">
            <a:extLst>
              <a:ext uri="{FF2B5EF4-FFF2-40B4-BE49-F238E27FC236}">
                <a16:creationId xmlns:a16="http://schemas.microsoft.com/office/drawing/2014/main" id="{6476ACEB-730B-40A1-B631-05388E7D9312}"/>
              </a:ext>
            </a:extLst>
          </p:cNvPr>
          <p:cNvSpPr txBox="1"/>
          <p:nvPr/>
        </p:nvSpPr>
        <p:spPr>
          <a:xfrm>
            <a:off x="428596" y="5034491"/>
            <a:ext cx="2428892" cy="397032"/>
          </a:xfrm>
          <a:prstGeom prst="rect">
            <a:avLst/>
          </a:prstGeom>
          <a:noFill/>
        </p:spPr>
        <p:txBody>
          <a:bodyPr wrap="square" rtlCol="0">
            <a:spAutoFit/>
          </a:bodyPr>
          <a:lstStyle/>
          <a:p>
            <a:pPr algn="l"/>
            <a:r>
              <a:rPr lang="en-US" altLang="zh-CN" sz="1800">
                <a:solidFill>
                  <a:srgbClr val="0000FF"/>
                </a:solidFill>
                <a:latin typeface="Consolas" pitchFamily="49" charset="0"/>
                <a:ea typeface="楷体" pitchFamily="49" charset="-122"/>
                <a:cs typeface="Consolas" pitchFamily="49" charset="0"/>
              </a:rPr>
              <a:t>T</a:t>
            </a:r>
            <a:r>
              <a:rPr lang="en-US" altLang="zh-CN" sz="1800" baseline="-25000">
                <a:solidFill>
                  <a:srgbClr val="0000FF"/>
                </a:solidFill>
                <a:latin typeface="Consolas" pitchFamily="49" charset="0"/>
                <a:ea typeface="楷体" pitchFamily="49" charset="-122"/>
                <a:cs typeface="Consolas" pitchFamily="49" charset="0"/>
              </a:rPr>
              <a:t>1</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n</a:t>
            </a:r>
            <a:r>
              <a:rPr lang="zh-CN" altLang="en-US"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k</a:t>
            </a:r>
            <a:r>
              <a:rPr lang="en-US" altLang="zh-CN" sz="1800">
                <a:solidFill>
                  <a:srgbClr val="0000FF"/>
                </a:solidFill>
                <a:latin typeface="Consolas" pitchFamily="49" charset="0"/>
                <a:ea typeface="楷体" pitchFamily="49" charset="-122"/>
                <a:cs typeface="Consolas" pitchFamily="49" charset="0"/>
              </a:rPr>
              <a:t>)</a:t>
            </a:r>
            <a:r>
              <a:rPr lang="zh-CN" altLang="en-US" sz="1800">
                <a:solidFill>
                  <a:srgbClr val="0000FF"/>
                </a:solidFill>
                <a:latin typeface="Consolas" pitchFamily="49" charset="0"/>
                <a:ea typeface="楷体" pitchFamily="49" charset="-122"/>
                <a:cs typeface="Consolas" pitchFamily="49" charset="0"/>
              </a:rPr>
              <a:t>的递推式：</a:t>
            </a:r>
            <a:endParaRPr lang="zh-CN" altLang="en-US" sz="1800">
              <a:latin typeface="Consolas" pitchFamily="49" charset="0"/>
              <a:cs typeface="Consolas" pitchFamily="49" charset="0"/>
            </a:endParaRPr>
          </a:p>
        </p:txBody>
      </p:sp>
      <p:grpSp>
        <p:nvGrpSpPr>
          <p:cNvPr id="8" name="组合 24">
            <a:extLst>
              <a:ext uri="{FF2B5EF4-FFF2-40B4-BE49-F238E27FC236}">
                <a16:creationId xmlns:a16="http://schemas.microsoft.com/office/drawing/2014/main" id="{F960D896-BC96-4244-8A18-0E4D1900F326}"/>
              </a:ext>
            </a:extLst>
          </p:cNvPr>
          <p:cNvGrpSpPr/>
          <p:nvPr/>
        </p:nvGrpSpPr>
        <p:grpSpPr>
          <a:xfrm>
            <a:off x="1009624" y="2340261"/>
            <a:ext cx="7643866" cy="759182"/>
            <a:chOff x="785786" y="2000240"/>
            <a:chExt cx="7643866" cy="731098"/>
          </a:xfrm>
        </p:grpSpPr>
        <p:sp>
          <p:nvSpPr>
            <p:cNvPr id="9" name="TextBox 18">
              <a:extLst>
                <a:ext uri="{FF2B5EF4-FFF2-40B4-BE49-F238E27FC236}">
                  <a16:creationId xmlns:a16="http://schemas.microsoft.com/office/drawing/2014/main" id="{6EB38BBD-1431-4828-8E03-899E435E65DF}"/>
                </a:ext>
              </a:extLst>
            </p:cNvPr>
            <p:cNvSpPr txBox="1"/>
            <p:nvPr/>
          </p:nvSpPr>
          <p:spPr>
            <a:xfrm>
              <a:off x="6072198" y="2000240"/>
              <a:ext cx="2357454" cy="731098"/>
            </a:xfrm>
            <a:prstGeom prst="rect">
              <a:avLst/>
            </a:prstGeom>
            <a:noFill/>
          </p:spPr>
          <p:txBody>
            <a:bodyPr wrap="square" rtlCol="0">
              <a:spAutoFit/>
            </a:bodyPr>
            <a:lstStyle/>
            <a:p>
              <a:pPr algn="l">
                <a:lnSpc>
                  <a:spcPts val="2600"/>
                </a:lnSpc>
                <a:spcBef>
                  <a:spcPts val="0"/>
                </a:spcBef>
              </a:pPr>
              <a:r>
                <a:rPr lang="zh-CN" altLang="en-US" sz="1800" dirty="0">
                  <a:solidFill>
                    <a:srgbClr val="0000FF"/>
                  </a:solidFill>
                  <a:latin typeface="Consolas" pitchFamily="49" charset="0"/>
                  <a:ea typeface="仿宋" pitchFamily="49" charset="-122"/>
                  <a:cs typeface="Consolas" pitchFamily="49" charset="0"/>
                </a:rPr>
                <a:t>当</a:t>
              </a:r>
              <a:r>
                <a:rPr lang="en-US" altLang="zh-CN" sz="1800" i="1" dirty="0">
                  <a:solidFill>
                    <a:srgbClr val="0000FF"/>
                  </a:solidFill>
                  <a:latin typeface="Consolas" pitchFamily="49" charset="0"/>
                  <a:ea typeface="仿宋" pitchFamily="49" charset="-122"/>
                  <a:cs typeface="Consolas" pitchFamily="49" charset="0"/>
                </a:rPr>
                <a:t>k</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n</a:t>
              </a:r>
              <a:r>
                <a:rPr lang="en-US" altLang="zh-CN" sz="1800" dirty="0">
                  <a:solidFill>
                    <a:srgbClr val="0000FF"/>
                  </a:solidFill>
                  <a:latin typeface="Consolas" pitchFamily="49" charset="0"/>
                  <a:ea typeface="仿宋" pitchFamily="49" charset="-122"/>
                  <a:cs typeface="Consolas" pitchFamily="49" charset="0"/>
                </a:rPr>
                <a:t>-1</a:t>
              </a:r>
              <a:r>
                <a:rPr lang="zh-CN" altLang="en-US" sz="1800" dirty="0">
                  <a:solidFill>
                    <a:srgbClr val="0000FF"/>
                  </a:solidFill>
                  <a:latin typeface="Consolas" pitchFamily="49" charset="0"/>
                  <a:ea typeface="仿宋" pitchFamily="49" charset="-122"/>
                  <a:cs typeface="Consolas" pitchFamily="49" charset="0"/>
                </a:rPr>
                <a:t>时</a:t>
              </a:r>
              <a:endParaRPr lang="en-US" altLang="zh-CN" sz="1800" dirty="0">
                <a:solidFill>
                  <a:srgbClr val="0000FF"/>
                </a:solidFill>
                <a:latin typeface="Consolas" pitchFamily="49" charset="0"/>
                <a:ea typeface="仿宋" pitchFamily="49" charset="-122"/>
                <a:cs typeface="Consolas" pitchFamily="49" charset="0"/>
              </a:endParaRPr>
            </a:p>
            <a:p>
              <a:pPr algn="l">
                <a:lnSpc>
                  <a:spcPts val="2600"/>
                </a:lnSpc>
                <a:spcBef>
                  <a:spcPts val="0"/>
                </a:spcBef>
              </a:pPr>
              <a:r>
                <a:rPr lang="en-US" altLang="zh-CN" sz="1800" dirty="0">
                  <a:solidFill>
                    <a:srgbClr val="0000FF"/>
                  </a:solidFill>
                  <a:latin typeface="Consolas" pitchFamily="49" charset="0"/>
                  <a:ea typeface="仿宋" pitchFamily="49" charset="-122"/>
                  <a:cs typeface="Consolas" pitchFamily="49" charset="0"/>
                </a:rPr>
                <a:t>T</a:t>
              </a:r>
              <a:r>
                <a:rPr lang="en-US" altLang="zh-CN" sz="1800" baseline="-25000" dirty="0">
                  <a:solidFill>
                    <a:srgbClr val="0000FF"/>
                  </a:solidFill>
                  <a:latin typeface="Consolas" pitchFamily="49" charset="0"/>
                  <a:ea typeface="仿宋" pitchFamily="49" charset="-122"/>
                  <a:cs typeface="Consolas" pitchFamily="49" charset="0"/>
                </a:rPr>
                <a:t>1</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n</a:t>
              </a:r>
              <a:r>
                <a:rPr lang="zh-CN" altLang="en-US"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k</a:t>
              </a:r>
              <a:r>
                <a:rPr lang="en-US" altLang="zh-CN" sz="1800" dirty="0">
                  <a:solidFill>
                    <a:srgbClr val="0000FF"/>
                  </a:solidFill>
                  <a:latin typeface="Consolas" pitchFamily="49" charset="0"/>
                  <a:ea typeface="仿宋" pitchFamily="49" charset="-122"/>
                  <a:cs typeface="Consolas" pitchFamily="49" charset="0"/>
                </a:rPr>
                <a:t>) = </a:t>
              </a:r>
              <a:r>
                <a:rPr lang="en-US" altLang="zh-CN" sz="1800" i="1" dirty="0">
                  <a:solidFill>
                    <a:srgbClr val="0000FF"/>
                  </a:solidFill>
                  <a:latin typeface="Consolas" pitchFamily="49" charset="0"/>
                  <a:ea typeface="仿宋" pitchFamily="49" charset="-122"/>
                  <a:cs typeface="Consolas" pitchFamily="49" charset="0"/>
                </a:rPr>
                <a:t>n</a:t>
              </a:r>
              <a:endParaRPr lang="zh-CN" altLang="en-US" sz="1800" dirty="0">
                <a:solidFill>
                  <a:srgbClr val="0000FF"/>
                </a:solidFill>
                <a:latin typeface="Consolas" pitchFamily="49" charset="0"/>
                <a:ea typeface="仿宋" pitchFamily="49" charset="-122"/>
                <a:cs typeface="Consolas" pitchFamily="49" charset="0"/>
              </a:endParaRPr>
            </a:p>
          </p:txBody>
        </p:sp>
        <p:sp>
          <p:nvSpPr>
            <p:cNvPr id="10" name="圆角矩形 19">
              <a:extLst>
                <a:ext uri="{FF2B5EF4-FFF2-40B4-BE49-F238E27FC236}">
                  <a16:creationId xmlns:a16="http://schemas.microsoft.com/office/drawing/2014/main" id="{48D4B4ED-1B4F-43EF-B6BE-96C9A1DCC487}"/>
                </a:ext>
              </a:extLst>
            </p:cNvPr>
            <p:cNvSpPr/>
            <p:nvPr/>
          </p:nvSpPr>
          <p:spPr>
            <a:xfrm>
              <a:off x="785786" y="2033578"/>
              <a:ext cx="4643470" cy="681042"/>
            </a:xfrm>
            <a:prstGeom prst="roundRect">
              <a:avLst/>
            </a:prstGeom>
            <a:solidFill>
              <a:schemeClr val="bg1">
                <a:lumMod val="95000"/>
                <a:alpha val="13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11" name="左箭头 22">
              <a:extLst>
                <a:ext uri="{FF2B5EF4-FFF2-40B4-BE49-F238E27FC236}">
                  <a16:creationId xmlns:a16="http://schemas.microsoft.com/office/drawing/2014/main" id="{723E323F-0B08-46DD-BEB5-7C614874438A}"/>
                </a:ext>
              </a:extLst>
            </p:cNvPr>
            <p:cNvSpPr/>
            <p:nvPr/>
          </p:nvSpPr>
          <p:spPr>
            <a:xfrm>
              <a:off x="5429256" y="2328855"/>
              <a:ext cx="648000" cy="214314"/>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grpSp>
      <p:grpSp>
        <p:nvGrpSpPr>
          <p:cNvPr id="12" name="组合 25">
            <a:extLst>
              <a:ext uri="{FF2B5EF4-FFF2-40B4-BE49-F238E27FC236}">
                <a16:creationId xmlns:a16="http://schemas.microsoft.com/office/drawing/2014/main" id="{442CB9DA-AC4E-48DA-963B-A2A65D363AB4}"/>
              </a:ext>
            </a:extLst>
          </p:cNvPr>
          <p:cNvGrpSpPr/>
          <p:nvPr/>
        </p:nvGrpSpPr>
        <p:grpSpPr>
          <a:xfrm>
            <a:off x="988633" y="3183462"/>
            <a:ext cx="8205846" cy="1071570"/>
            <a:chOff x="938186" y="3072912"/>
            <a:chExt cx="8205846" cy="1071570"/>
          </a:xfrm>
        </p:grpSpPr>
        <p:sp>
          <p:nvSpPr>
            <p:cNvPr id="13" name="圆角矩形 20">
              <a:extLst>
                <a:ext uri="{FF2B5EF4-FFF2-40B4-BE49-F238E27FC236}">
                  <a16:creationId xmlns:a16="http://schemas.microsoft.com/office/drawing/2014/main" id="{7B634CF5-8810-4CA0-8805-652A584C2A32}"/>
                </a:ext>
              </a:extLst>
            </p:cNvPr>
            <p:cNvSpPr/>
            <p:nvPr/>
          </p:nvSpPr>
          <p:spPr>
            <a:xfrm>
              <a:off x="938186" y="3072912"/>
              <a:ext cx="4643470" cy="1071570"/>
            </a:xfrm>
            <a:prstGeom prst="roundRect">
              <a:avLst/>
            </a:prstGeom>
            <a:solidFill>
              <a:schemeClr val="bg1">
                <a:lumMod val="95000"/>
                <a:alpha val="13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14" name="TextBox 21">
              <a:extLst>
                <a:ext uri="{FF2B5EF4-FFF2-40B4-BE49-F238E27FC236}">
                  <a16:creationId xmlns:a16="http://schemas.microsoft.com/office/drawing/2014/main" id="{3E1E1800-A778-484F-B39E-AF71790BC1C7}"/>
                </a:ext>
              </a:extLst>
            </p:cNvPr>
            <p:cNvSpPr txBox="1"/>
            <p:nvPr/>
          </p:nvSpPr>
          <p:spPr>
            <a:xfrm>
              <a:off x="6072198" y="3277178"/>
              <a:ext cx="3071834" cy="759182"/>
            </a:xfrm>
            <a:prstGeom prst="rect">
              <a:avLst/>
            </a:prstGeom>
            <a:noFill/>
          </p:spPr>
          <p:txBody>
            <a:bodyPr wrap="square" rtlCol="0">
              <a:spAutoFit/>
            </a:bodyPr>
            <a:lstStyle/>
            <a:p>
              <a:pPr algn="l">
                <a:lnSpc>
                  <a:spcPts val="2600"/>
                </a:lnSpc>
                <a:spcBef>
                  <a:spcPts val="0"/>
                </a:spcBef>
              </a:pPr>
              <a:r>
                <a:rPr lang="zh-CN" altLang="en-US" sz="1800" dirty="0">
                  <a:solidFill>
                    <a:srgbClr val="0000FF"/>
                  </a:solidFill>
                  <a:latin typeface="Consolas" pitchFamily="49" charset="0"/>
                  <a:ea typeface="仿宋" pitchFamily="49" charset="-122"/>
                  <a:cs typeface="Consolas" pitchFamily="49" charset="0"/>
                </a:rPr>
                <a:t>当</a:t>
              </a:r>
              <a:r>
                <a:rPr lang="en-US" altLang="zh-CN" sz="1800" i="1" dirty="0">
                  <a:solidFill>
                    <a:srgbClr val="0000FF"/>
                  </a:solidFill>
                  <a:latin typeface="Consolas" pitchFamily="49" charset="0"/>
                  <a:ea typeface="仿宋" pitchFamily="49" charset="-122"/>
                  <a:cs typeface="Consolas" pitchFamily="49" charset="0"/>
                </a:rPr>
                <a:t>k&lt;n</a:t>
              </a:r>
              <a:r>
                <a:rPr lang="en-US" altLang="zh-CN" sz="1800" dirty="0">
                  <a:solidFill>
                    <a:srgbClr val="0000FF"/>
                  </a:solidFill>
                  <a:latin typeface="Consolas" pitchFamily="49" charset="0"/>
                  <a:ea typeface="仿宋" pitchFamily="49" charset="-122"/>
                  <a:cs typeface="Consolas" pitchFamily="49" charset="0"/>
                </a:rPr>
                <a:t>-1</a:t>
              </a:r>
              <a:r>
                <a:rPr lang="zh-CN" altLang="en-US" sz="1800" dirty="0">
                  <a:solidFill>
                    <a:srgbClr val="0000FF"/>
                  </a:solidFill>
                  <a:latin typeface="Consolas" pitchFamily="49" charset="0"/>
                  <a:ea typeface="仿宋" pitchFamily="49" charset="-122"/>
                  <a:cs typeface="Consolas" pitchFamily="49" charset="0"/>
                </a:rPr>
                <a:t>时</a:t>
              </a:r>
              <a:endParaRPr lang="en-US" altLang="zh-CN" sz="1800" dirty="0">
                <a:solidFill>
                  <a:srgbClr val="0000FF"/>
                </a:solidFill>
                <a:latin typeface="Consolas" pitchFamily="49" charset="0"/>
                <a:ea typeface="仿宋" pitchFamily="49" charset="-122"/>
                <a:cs typeface="Consolas" pitchFamily="49" charset="0"/>
              </a:endParaRPr>
            </a:p>
            <a:p>
              <a:pPr algn="l">
                <a:lnSpc>
                  <a:spcPts val="2600"/>
                </a:lnSpc>
                <a:spcBef>
                  <a:spcPts val="0"/>
                </a:spcBef>
              </a:pPr>
              <a:r>
                <a:rPr lang="en-US" altLang="zh-CN" sz="1800" dirty="0">
                  <a:solidFill>
                    <a:srgbClr val="0000FF"/>
                  </a:solidFill>
                  <a:latin typeface="Consolas" pitchFamily="49" charset="0"/>
                  <a:ea typeface="仿宋" pitchFamily="49" charset="-122"/>
                  <a:cs typeface="Consolas" pitchFamily="49" charset="0"/>
                </a:rPr>
                <a:t>T</a:t>
              </a:r>
              <a:r>
                <a:rPr lang="en-US" altLang="zh-CN" sz="1800" baseline="-25000" dirty="0">
                  <a:solidFill>
                    <a:srgbClr val="0000FF"/>
                  </a:solidFill>
                  <a:latin typeface="Consolas" pitchFamily="49" charset="0"/>
                  <a:ea typeface="仿宋" pitchFamily="49" charset="-122"/>
                  <a:cs typeface="Consolas" pitchFamily="49" charset="0"/>
                </a:rPr>
                <a:t>1</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err="1">
                  <a:solidFill>
                    <a:srgbClr val="0000FF"/>
                  </a:solidFill>
                  <a:latin typeface="Consolas" pitchFamily="49" charset="0"/>
                  <a:ea typeface="仿宋" pitchFamily="49" charset="-122"/>
                  <a:cs typeface="Consolas" pitchFamily="49" charset="0"/>
                </a:rPr>
                <a:t>n,k</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n</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k</a:t>
              </a:r>
              <a:r>
                <a:rPr lang="en-US" altLang="zh-CN" sz="1800" dirty="0">
                  <a:solidFill>
                    <a:srgbClr val="0000FF"/>
                  </a:solidFill>
                  <a:latin typeface="Consolas" pitchFamily="49" charset="0"/>
                  <a:ea typeface="仿宋" pitchFamily="49" charset="-122"/>
                  <a:cs typeface="Consolas" pitchFamily="49" charset="0"/>
                </a:rPr>
                <a:t>)+T</a:t>
              </a:r>
              <a:r>
                <a:rPr lang="en-US" altLang="zh-CN" sz="1800" baseline="-25000" dirty="0">
                  <a:solidFill>
                    <a:srgbClr val="0000FF"/>
                  </a:solidFill>
                  <a:latin typeface="Consolas" pitchFamily="49" charset="0"/>
                  <a:ea typeface="仿宋" pitchFamily="49" charset="-122"/>
                  <a:cs typeface="Consolas" pitchFamily="49" charset="0"/>
                </a:rPr>
                <a:t>1</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n,k</a:t>
              </a:r>
              <a:r>
                <a:rPr lang="en-US" altLang="zh-CN" sz="1800" dirty="0">
                  <a:solidFill>
                    <a:srgbClr val="0000FF"/>
                  </a:solidFill>
                  <a:latin typeface="Consolas" pitchFamily="49" charset="0"/>
                  <a:ea typeface="仿宋" pitchFamily="49" charset="-122"/>
                  <a:cs typeface="Consolas" pitchFamily="49" charset="0"/>
                </a:rPr>
                <a:t>+1) </a:t>
              </a:r>
              <a:endParaRPr lang="zh-CN" altLang="en-US" sz="1800" dirty="0">
                <a:solidFill>
                  <a:srgbClr val="0000FF"/>
                </a:solidFill>
                <a:latin typeface="Consolas" pitchFamily="49" charset="0"/>
                <a:ea typeface="仿宋" pitchFamily="49" charset="-122"/>
                <a:cs typeface="Consolas" pitchFamily="49" charset="0"/>
              </a:endParaRPr>
            </a:p>
          </p:txBody>
        </p:sp>
        <p:sp>
          <p:nvSpPr>
            <p:cNvPr id="15" name="左箭头 23">
              <a:extLst>
                <a:ext uri="{FF2B5EF4-FFF2-40B4-BE49-F238E27FC236}">
                  <a16:creationId xmlns:a16="http://schemas.microsoft.com/office/drawing/2014/main" id="{DA16EB5F-8EEA-412B-959E-4CD7C7E418BA}"/>
                </a:ext>
              </a:extLst>
            </p:cNvPr>
            <p:cNvSpPr/>
            <p:nvPr/>
          </p:nvSpPr>
          <p:spPr>
            <a:xfrm>
              <a:off x="5576599" y="3515305"/>
              <a:ext cx="504000" cy="214314"/>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grpSp>
    </p:spTree>
    <p:extLst>
      <p:ext uri="{BB962C8B-B14F-4D97-AF65-F5344CB8AC3E}">
        <p14:creationId xmlns:p14="http://schemas.microsoft.com/office/powerpoint/2010/main" val="233451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a:extLst>
              <a:ext uri="{FF2B5EF4-FFF2-40B4-BE49-F238E27FC236}">
                <a16:creationId xmlns:a16="http://schemas.microsoft.com/office/drawing/2014/main" id="{13DF800F-AB8B-4C5B-8BA2-A18E92202A6E}"/>
              </a:ext>
            </a:extLst>
          </p:cNvPr>
          <p:cNvSpPr txBox="1"/>
          <p:nvPr/>
        </p:nvSpPr>
        <p:spPr>
          <a:xfrm>
            <a:off x="1086926" y="3592724"/>
            <a:ext cx="8001056" cy="2246769"/>
          </a:xfrm>
          <a:prstGeom prst="rect">
            <a:avLst/>
          </a:prstGeom>
          <a:noFill/>
          <a:ln>
            <a:noFill/>
          </a:ln>
          <a:effectLst/>
          <a:scene3d>
            <a:camera prst="orthographicFront">
              <a:rot lat="0" lon="0" rev="0"/>
            </a:camera>
            <a:lightRig rig="balanced" dir="t">
              <a:rot lat="0" lon="0" rev="8700000"/>
            </a:lightRig>
          </a:scene3d>
          <a:sp3d>
            <a:bevelT w="190500" h="38100"/>
          </a:sp3d>
        </p:spPr>
        <p:txBody>
          <a:bodyPr wrap="square" rtlCol="0">
            <a:spAutoFit/>
          </a:bodyPr>
          <a:lstStyle/>
          <a:p>
            <a:pPr algn="just">
              <a:lnSpc>
                <a:spcPct val="100000"/>
              </a:lnSpc>
            </a:pPr>
            <a:r>
              <a:rPr lang="zh-CN" altLang="en-US" sz="2000" dirty="0">
                <a:solidFill>
                  <a:srgbClr val="0000FF"/>
                </a:solidFill>
                <a:latin typeface="Consolas" pitchFamily="49" charset="0"/>
                <a:ea typeface="楷体" pitchFamily="49" charset="-122"/>
                <a:cs typeface="Consolas" pitchFamily="49" charset="0"/>
              </a:rPr>
              <a:t> 则</a:t>
            </a:r>
          </a:p>
          <a:p>
            <a:pPr algn="just">
              <a:lnSpc>
                <a:spcPct val="100000"/>
              </a:lnSpc>
            </a:pP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T(</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 = T</a:t>
            </a:r>
            <a:r>
              <a:rPr lang="en-US" altLang="zh-CN" sz="2000" baseline="-25000" dirty="0">
                <a:solidFill>
                  <a:srgbClr val="0000FF"/>
                </a:solidFill>
                <a:latin typeface="Consolas" pitchFamily="49" charset="0"/>
                <a:ea typeface="楷体" pitchFamily="49" charset="-122"/>
                <a:cs typeface="Consolas" pitchFamily="49" charset="0"/>
              </a:rPr>
              <a:t>1</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zh-CN" altLang="en-US" sz="2000" dirty="0">
                <a:solidFill>
                  <a:srgbClr val="0000FF"/>
                </a:solidFill>
                <a:latin typeface="Consolas" pitchFamily="49" charset="0"/>
                <a:ea typeface="楷体" pitchFamily="49" charset="-122"/>
                <a:cs typeface="Consolas" pitchFamily="49" charset="0"/>
              </a:rPr>
              <a:t>，</a:t>
            </a:r>
            <a:r>
              <a:rPr lang="en-US" altLang="zh-CN" sz="2000" dirty="0">
                <a:solidFill>
                  <a:srgbClr val="0000FF"/>
                </a:solidFill>
                <a:latin typeface="Consolas" pitchFamily="49" charset="0"/>
                <a:ea typeface="楷体" pitchFamily="49" charset="-122"/>
                <a:cs typeface="Consolas" pitchFamily="49" charset="0"/>
              </a:rPr>
              <a:t>0) = </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+T</a:t>
            </a:r>
            <a:r>
              <a:rPr lang="en-US" altLang="zh-CN" sz="2000" baseline="-25000" dirty="0">
                <a:solidFill>
                  <a:srgbClr val="0000FF"/>
                </a:solidFill>
                <a:latin typeface="Consolas" pitchFamily="49" charset="0"/>
                <a:ea typeface="楷体" pitchFamily="49" charset="-122"/>
                <a:cs typeface="Consolas" pitchFamily="49" charset="0"/>
              </a:rPr>
              <a:t>1</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zh-CN" altLang="en-US" sz="2000" dirty="0">
                <a:solidFill>
                  <a:srgbClr val="0000FF"/>
                </a:solidFill>
                <a:latin typeface="Consolas" pitchFamily="49" charset="0"/>
                <a:ea typeface="楷体" pitchFamily="49" charset="-122"/>
                <a:cs typeface="Consolas" pitchFamily="49" charset="0"/>
              </a:rPr>
              <a:t>，</a:t>
            </a:r>
            <a:r>
              <a:rPr lang="en-US" altLang="zh-CN" sz="2000" dirty="0">
                <a:solidFill>
                  <a:srgbClr val="0000FF"/>
                </a:solidFill>
                <a:latin typeface="Consolas" pitchFamily="49" charset="0"/>
                <a:ea typeface="楷体" pitchFamily="49" charset="-122"/>
                <a:cs typeface="Consolas" pitchFamily="49" charset="0"/>
              </a:rPr>
              <a:t>1) = </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mj-ea"/>
                <a:cs typeface="Consolas" pitchFamily="49" charset="0"/>
              </a:rPr>
              <a:t>-</a:t>
            </a:r>
            <a:r>
              <a:rPr lang="en-US" altLang="zh-CN" sz="2000" dirty="0">
                <a:solidFill>
                  <a:srgbClr val="0000FF"/>
                </a:solidFill>
                <a:latin typeface="Consolas" pitchFamily="49" charset="0"/>
                <a:ea typeface="楷体" pitchFamily="49" charset="-122"/>
                <a:cs typeface="Consolas" pitchFamily="49" charset="0"/>
              </a:rPr>
              <a:t>1)+T</a:t>
            </a:r>
            <a:r>
              <a:rPr lang="en-US" altLang="zh-CN" sz="2000" baseline="-25000" dirty="0">
                <a:solidFill>
                  <a:srgbClr val="0000FF"/>
                </a:solidFill>
                <a:latin typeface="Consolas" pitchFamily="49" charset="0"/>
                <a:ea typeface="楷体" pitchFamily="49" charset="-122"/>
                <a:cs typeface="Consolas" pitchFamily="49" charset="0"/>
              </a:rPr>
              <a:t>1</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zh-CN" altLang="en-US" sz="2000" dirty="0">
                <a:solidFill>
                  <a:srgbClr val="0000FF"/>
                </a:solidFill>
                <a:latin typeface="Consolas" pitchFamily="49" charset="0"/>
                <a:ea typeface="楷体" pitchFamily="49" charset="-122"/>
                <a:cs typeface="Consolas" pitchFamily="49" charset="0"/>
              </a:rPr>
              <a:t>，</a:t>
            </a:r>
            <a:r>
              <a:rPr lang="en-US" altLang="zh-CN" sz="2000" dirty="0">
                <a:solidFill>
                  <a:srgbClr val="0000FF"/>
                </a:solidFill>
                <a:latin typeface="Consolas" pitchFamily="49" charset="0"/>
                <a:ea typeface="楷体" pitchFamily="49" charset="-122"/>
                <a:cs typeface="Consolas" pitchFamily="49" charset="0"/>
              </a:rPr>
              <a:t>2)</a:t>
            </a:r>
          </a:p>
          <a:p>
            <a:pPr algn="just">
              <a:lnSpc>
                <a:spcPct val="100000"/>
              </a:lnSpc>
            </a:pP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宋体" pitchFamily="2" charset="-122"/>
                <a:ea typeface="宋体" pitchFamily="2" charset="-122"/>
                <a:cs typeface="Consolas" pitchFamily="49" charset="0"/>
              </a:rPr>
              <a:t>…</a:t>
            </a:r>
            <a:r>
              <a:rPr lang="en-US" altLang="zh-CN" sz="2000" dirty="0">
                <a:solidFill>
                  <a:srgbClr val="0000FF"/>
                </a:solidFill>
                <a:latin typeface="Consolas" pitchFamily="49" charset="0"/>
                <a:ea typeface="+mn-ea"/>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 </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mj-ea"/>
                <a:cs typeface="Consolas" pitchFamily="49" charset="0"/>
              </a:rPr>
              <a:t>-</a:t>
            </a:r>
            <a:r>
              <a:rPr lang="en-US" altLang="zh-CN" sz="2000" dirty="0">
                <a:solidFill>
                  <a:srgbClr val="0000FF"/>
                </a:solidFill>
                <a:latin typeface="Consolas" pitchFamily="49" charset="0"/>
                <a:ea typeface="楷体" pitchFamily="49" charset="-122"/>
                <a:cs typeface="Consolas" pitchFamily="49" charset="0"/>
              </a:rPr>
              <a:t>1)+</a:t>
            </a:r>
            <a:r>
              <a:rPr lang="en-US" altLang="zh-CN" sz="2000" dirty="0">
                <a:solidFill>
                  <a:srgbClr val="0000FF"/>
                </a:solidFill>
                <a:latin typeface="宋体" pitchFamily="2" charset="-122"/>
                <a:ea typeface="宋体" pitchFamily="2" charset="-122"/>
                <a:cs typeface="Consolas" pitchFamily="49" charset="0"/>
              </a:rPr>
              <a:t>…</a:t>
            </a:r>
            <a:r>
              <a:rPr lang="en-US" altLang="zh-CN" sz="2000" dirty="0">
                <a:solidFill>
                  <a:srgbClr val="0000FF"/>
                </a:solidFill>
                <a:latin typeface="Consolas" pitchFamily="49" charset="0"/>
                <a:ea typeface="楷体" pitchFamily="49" charset="-122"/>
                <a:cs typeface="Consolas" pitchFamily="49" charset="0"/>
              </a:rPr>
              <a:t>+2+T</a:t>
            </a:r>
            <a:r>
              <a:rPr lang="en-US" altLang="zh-CN" sz="2000" baseline="-25000" dirty="0">
                <a:solidFill>
                  <a:srgbClr val="0000FF"/>
                </a:solidFill>
                <a:latin typeface="Consolas" pitchFamily="49" charset="0"/>
                <a:ea typeface="楷体" pitchFamily="49" charset="-122"/>
                <a:cs typeface="Consolas" pitchFamily="49" charset="0"/>
              </a:rPr>
              <a:t>1</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zh-CN" altLang="en-US"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mn-ea"/>
                <a:cs typeface="Consolas" pitchFamily="49" charset="0"/>
              </a:rPr>
              <a:t>-</a:t>
            </a:r>
            <a:r>
              <a:rPr lang="en-US" altLang="zh-CN" sz="2000" dirty="0">
                <a:solidFill>
                  <a:srgbClr val="0000FF"/>
                </a:solidFill>
                <a:latin typeface="Consolas" pitchFamily="49" charset="0"/>
                <a:ea typeface="楷体" pitchFamily="49" charset="-122"/>
                <a:cs typeface="Consolas" pitchFamily="49" charset="0"/>
              </a:rPr>
              <a:t>1)</a:t>
            </a:r>
          </a:p>
          <a:p>
            <a:pPr algn="just">
              <a:lnSpc>
                <a:spcPct val="100000"/>
              </a:lnSpc>
            </a:pP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 </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mj-ea"/>
                <a:cs typeface="Consolas" pitchFamily="49" charset="0"/>
              </a:rPr>
              <a:t>-</a:t>
            </a:r>
            <a:r>
              <a:rPr lang="en-US" altLang="zh-CN" sz="2000" dirty="0">
                <a:solidFill>
                  <a:srgbClr val="0000FF"/>
                </a:solidFill>
                <a:latin typeface="Consolas" pitchFamily="49" charset="0"/>
                <a:ea typeface="楷体" pitchFamily="49" charset="-122"/>
                <a:cs typeface="Consolas" pitchFamily="49" charset="0"/>
              </a:rPr>
              <a:t>1)+</a:t>
            </a:r>
            <a:r>
              <a:rPr lang="en-US" altLang="zh-CN" sz="2000" dirty="0">
                <a:solidFill>
                  <a:srgbClr val="0000FF"/>
                </a:solidFill>
                <a:latin typeface="宋体" pitchFamily="2" charset="-122"/>
                <a:ea typeface="宋体" pitchFamily="2" charset="-122"/>
                <a:cs typeface="Consolas" pitchFamily="49" charset="0"/>
              </a:rPr>
              <a:t>…</a:t>
            </a:r>
            <a:r>
              <a:rPr lang="en-US" altLang="zh-CN" sz="2000" dirty="0">
                <a:solidFill>
                  <a:srgbClr val="0000FF"/>
                </a:solidFill>
                <a:latin typeface="Consolas" pitchFamily="49" charset="0"/>
                <a:ea typeface="楷体" pitchFamily="49" charset="-122"/>
                <a:cs typeface="Consolas" pitchFamily="49" charset="0"/>
              </a:rPr>
              <a:t>+2 + </a:t>
            </a:r>
            <a:r>
              <a:rPr lang="en-US" altLang="zh-CN" sz="2000" i="1" dirty="0">
                <a:solidFill>
                  <a:srgbClr val="0000FF"/>
                </a:solidFill>
                <a:latin typeface="Consolas" pitchFamily="49" charset="0"/>
                <a:ea typeface="楷体" pitchFamily="49" charset="-122"/>
                <a:cs typeface="Consolas" pitchFamily="49" charset="0"/>
              </a:rPr>
              <a:t>n</a:t>
            </a:r>
          </a:p>
          <a:p>
            <a:pPr algn="just">
              <a:lnSpc>
                <a:spcPct val="100000"/>
              </a:lnSpc>
            </a:pP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 O(</a:t>
            </a:r>
            <a:r>
              <a:rPr lang="en-US" altLang="zh-CN" sz="2000" i="1" dirty="0">
                <a:solidFill>
                  <a:srgbClr val="0000FF"/>
                </a:solidFill>
                <a:latin typeface="Consolas" pitchFamily="49" charset="0"/>
                <a:ea typeface="楷体" pitchFamily="49" charset="-122"/>
                <a:cs typeface="Consolas" pitchFamily="49" charset="0"/>
              </a:rPr>
              <a:t>n</a:t>
            </a:r>
            <a:r>
              <a:rPr lang="en-US" altLang="zh-CN" sz="2000" baseline="30000" dirty="0">
                <a:solidFill>
                  <a:srgbClr val="0000FF"/>
                </a:solidFill>
                <a:latin typeface="Consolas" pitchFamily="49" charset="0"/>
                <a:ea typeface="楷体" pitchFamily="49" charset="-122"/>
                <a:cs typeface="Consolas" pitchFamily="49" charset="0"/>
              </a:rPr>
              <a:t>2</a:t>
            </a:r>
            <a:r>
              <a:rPr lang="en-US" altLang="zh-CN" sz="2000" dirty="0">
                <a:solidFill>
                  <a:srgbClr val="0000FF"/>
                </a:solidFill>
                <a:latin typeface="Consolas" pitchFamily="49" charset="0"/>
                <a:ea typeface="楷体" pitchFamily="49" charset="-122"/>
                <a:cs typeface="Consolas" pitchFamily="49" charset="0"/>
              </a:rPr>
              <a:t>)</a:t>
            </a:r>
          </a:p>
        </p:txBody>
      </p:sp>
      <p:grpSp>
        <p:nvGrpSpPr>
          <p:cNvPr id="5" name="组合 6">
            <a:extLst>
              <a:ext uri="{FF2B5EF4-FFF2-40B4-BE49-F238E27FC236}">
                <a16:creationId xmlns:a16="http://schemas.microsoft.com/office/drawing/2014/main" id="{86B06A5C-252D-4CC4-83F8-D998AC37B4C8}"/>
              </a:ext>
            </a:extLst>
          </p:cNvPr>
          <p:cNvGrpSpPr/>
          <p:nvPr/>
        </p:nvGrpSpPr>
        <p:grpSpPr>
          <a:xfrm>
            <a:off x="4550308" y="4838067"/>
            <a:ext cx="393700" cy="333375"/>
            <a:chOff x="3856038" y="4098925"/>
            <a:chExt cx="393700" cy="333375"/>
          </a:xfrm>
        </p:grpSpPr>
        <p:sp>
          <p:nvSpPr>
            <p:cNvPr id="6" name="Line 3">
              <a:extLst>
                <a:ext uri="{FF2B5EF4-FFF2-40B4-BE49-F238E27FC236}">
                  <a16:creationId xmlns:a16="http://schemas.microsoft.com/office/drawing/2014/main" id="{E8C4819B-BF0C-43AF-A270-CAF59122E994}"/>
                </a:ext>
              </a:extLst>
            </p:cNvPr>
            <p:cNvSpPr>
              <a:spLocks noChangeShapeType="1"/>
            </p:cNvSpPr>
            <p:nvPr/>
          </p:nvSpPr>
          <p:spPr bwMode="auto">
            <a:xfrm flipH="1">
              <a:off x="3856038" y="4098925"/>
              <a:ext cx="360362" cy="287338"/>
            </a:xfrm>
            <a:prstGeom prst="line">
              <a:avLst/>
            </a:prstGeom>
            <a:noFill/>
            <a:ln w="9525">
              <a:solidFill>
                <a:srgbClr val="FF00FF"/>
              </a:solidFill>
              <a:round/>
              <a:headEnd/>
              <a:tailEnd/>
            </a:ln>
            <a:effectLst/>
          </p:spPr>
          <p:txBody>
            <a:bodyPr>
              <a:spAutoFit/>
            </a:bodyPr>
            <a:lstStyle/>
            <a:p>
              <a:endParaRPr lang="zh-CN" altLang="en-US" sz="2800"/>
            </a:p>
          </p:txBody>
        </p:sp>
        <p:sp>
          <p:nvSpPr>
            <p:cNvPr id="7" name="Line 4">
              <a:extLst>
                <a:ext uri="{FF2B5EF4-FFF2-40B4-BE49-F238E27FC236}">
                  <a16:creationId xmlns:a16="http://schemas.microsoft.com/office/drawing/2014/main" id="{3F5AD9FC-DF8F-473A-A1EC-7DB95BB99386}"/>
                </a:ext>
              </a:extLst>
            </p:cNvPr>
            <p:cNvSpPr>
              <a:spLocks noChangeShapeType="1"/>
            </p:cNvSpPr>
            <p:nvPr/>
          </p:nvSpPr>
          <p:spPr bwMode="auto">
            <a:xfrm flipH="1">
              <a:off x="3889375" y="4144963"/>
              <a:ext cx="360363" cy="287337"/>
            </a:xfrm>
            <a:prstGeom prst="line">
              <a:avLst/>
            </a:prstGeom>
            <a:noFill/>
            <a:ln w="9525">
              <a:solidFill>
                <a:srgbClr val="FF00FF"/>
              </a:solidFill>
              <a:round/>
              <a:headEnd/>
              <a:tailEnd/>
            </a:ln>
            <a:effectLst/>
          </p:spPr>
          <p:txBody>
            <a:bodyPr>
              <a:spAutoFit/>
            </a:bodyPr>
            <a:lstStyle/>
            <a:p>
              <a:endParaRPr lang="zh-CN" altLang="en-US" sz="2800"/>
            </a:p>
          </p:txBody>
        </p:sp>
      </p:grpSp>
      <p:sp>
        <p:nvSpPr>
          <p:cNvPr id="8" name="TextBox 5">
            <a:extLst>
              <a:ext uri="{FF2B5EF4-FFF2-40B4-BE49-F238E27FC236}">
                <a16:creationId xmlns:a16="http://schemas.microsoft.com/office/drawing/2014/main" id="{0CCD4626-63BD-4A6F-B2C0-54D4C7912FCE}"/>
              </a:ext>
            </a:extLst>
          </p:cNvPr>
          <p:cNvSpPr txBox="1"/>
          <p:nvPr/>
        </p:nvSpPr>
        <p:spPr>
          <a:xfrm>
            <a:off x="872612" y="832732"/>
            <a:ext cx="8286808" cy="820866"/>
          </a:xfrm>
          <a:prstGeom prst="rect">
            <a:avLst/>
          </a:prstGeom>
          <a:noFill/>
        </p:spPr>
        <p:txBody>
          <a:bodyPr wrap="square" rtlCol="0">
            <a:spAutoFit/>
          </a:bodyPr>
          <a:lstStyle/>
          <a:p>
            <a:pPr algn="l">
              <a:lnSpc>
                <a:spcPts val="3000"/>
              </a:lnSpc>
            </a:pPr>
            <a:r>
              <a:rPr lang="zh-CN" altLang="en-US" sz="2000" dirty="0">
                <a:solidFill>
                  <a:srgbClr val="FF3300"/>
                </a:solidFill>
                <a:latin typeface="Consolas" pitchFamily="49" charset="0"/>
                <a:ea typeface="楷体" pitchFamily="49" charset="-122"/>
                <a:cs typeface="Consolas" pitchFamily="49" charset="0"/>
              </a:rPr>
              <a:t>解：</a:t>
            </a:r>
            <a:r>
              <a:rPr lang="zh-CN" altLang="en-US" sz="2000" dirty="0">
                <a:solidFill>
                  <a:srgbClr val="0000FF"/>
                </a:solidFill>
                <a:latin typeface="Consolas" pitchFamily="49" charset="0"/>
                <a:ea typeface="楷体" pitchFamily="49" charset="-122"/>
                <a:cs typeface="Consolas" pitchFamily="49" charset="0"/>
              </a:rPr>
              <a:t>设</a:t>
            </a:r>
            <a:r>
              <a:rPr lang="en-US" altLang="zh-CN" sz="2000" dirty="0">
                <a:solidFill>
                  <a:srgbClr val="FF00FF"/>
                </a:solidFill>
                <a:latin typeface="Consolas" pitchFamily="49" charset="0"/>
                <a:ea typeface="楷体" pitchFamily="49" charset="-122"/>
                <a:cs typeface="Consolas" pitchFamily="49" charset="0"/>
              </a:rPr>
              <a:t>fun(</a:t>
            </a:r>
            <a:r>
              <a:rPr lang="en-US" altLang="zh-CN" sz="2000" i="1" dirty="0">
                <a:solidFill>
                  <a:srgbClr val="FF00FF"/>
                </a:solidFill>
                <a:latin typeface="Consolas" pitchFamily="49" charset="0"/>
                <a:ea typeface="楷体" pitchFamily="49" charset="-122"/>
                <a:cs typeface="Consolas" pitchFamily="49" charset="0"/>
              </a:rPr>
              <a:t>a</a:t>
            </a:r>
            <a:r>
              <a:rPr lang="zh-CN" altLang="en-US" sz="2000" dirty="0">
                <a:solidFill>
                  <a:srgbClr val="FF00FF"/>
                </a:solidFill>
                <a:latin typeface="Consolas" pitchFamily="49" charset="0"/>
                <a:ea typeface="楷体" pitchFamily="49" charset="-122"/>
                <a:cs typeface="Consolas" pitchFamily="49" charset="0"/>
              </a:rPr>
              <a:t>，</a:t>
            </a:r>
            <a:r>
              <a:rPr lang="en-US" altLang="zh-CN" sz="2000" i="1" dirty="0">
                <a:solidFill>
                  <a:srgbClr val="FF00FF"/>
                </a:solidFill>
                <a:latin typeface="Consolas" pitchFamily="49" charset="0"/>
                <a:ea typeface="楷体" pitchFamily="49" charset="-122"/>
                <a:cs typeface="Consolas" pitchFamily="49" charset="0"/>
              </a:rPr>
              <a:t>n</a:t>
            </a:r>
            <a:r>
              <a:rPr lang="zh-CN" altLang="en-US" sz="2000" dirty="0">
                <a:solidFill>
                  <a:srgbClr val="FF00FF"/>
                </a:solidFill>
                <a:latin typeface="Consolas" pitchFamily="49" charset="0"/>
                <a:ea typeface="楷体" pitchFamily="49" charset="-122"/>
                <a:cs typeface="Consolas" pitchFamily="49" charset="0"/>
              </a:rPr>
              <a:t>，</a:t>
            </a:r>
            <a:r>
              <a:rPr lang="en-US" altLang="zh-CN" sz="2000" dirty="0">
                <a:solidFill>
                  <a:srgbClr val="FF00FF"/>
                </a:solidFill>
                <a:latin typeface="Consolas" pitchFamily="49" charset="0"/>
                <a:ea typeface="楷体" pitchFamily="49" charset="-122"/>
                <a:cs typeface="Consolas" pitchFamily="49" charset="0"/>
              </a:rPr>
              <a:t>0)</a:t>
            </a:r>
            <a:r>
              <a:rPr lang="zh-CN" altLang="en-US" sz="2000" dirty="0">
                <a:solidFill>
                  <a:srgbClr val="0000FF"/>
                </a:solidFill>
                <a:latin typeface="Consolas" pitchFamily="49" charset="0"/>
                <a:ea typeface="楷体" pitchFamily="49" charset="-122"/>
                <a:cs typeface="Consolas" pitchFamily="49" charset="0"/>
              </a:rPr>
              <a:t>的执行时间为</a:t>
            </a:r>
            <a:r>
              <a:rPr lang="en-US" altLang="zh-CN" sz="2000" dirty="0">
                <a:solidFill>
                  <a:srgbClr val="0000FF"/>
                </a:solidFill>
                <a:latin typeface="Consolas" pitchFamily="49" charset="0"/>
                <a:ea typeface="楷体" pitchFamily="49" charset="-122"/>
                <a:cs typeface="Consolas" pitchFamily="49" charset="0"/>
              </a:rPr>
              <a:t>T(</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a:t>
            </a:r>
            <a:r>
              <a:rPr lang="en-US" altLang="zh-CN" sz="2000" dirty="0">
                <a:solidFill>
                  <a:srgbClr val="FF00FF"/>
                </a:solidFill>
                <a:latin typeface="Consolas" pitchFamily="49" charset="0"/>
                <a:ea typeface="楷体" pitchFamily="49" charset="-122"/>
                <a:cs typeface="Consolas" pitchFamily="49" charset="0"/>
              </a:rPr>
              <a:t>fun(</a:t>
            </a:r>
            <a:r>
              <a:rPr lang="en-US" altLang="zh-CN" sz="2000" i="1" dirty="0">
                <a:solidFill>
                  <a:srgbClr val="FF00FF"/>
                </a:solidFill>
                <a:latin typeface="Consolas" pitchFamily="49" charset="0"/>
                <a:ea typeface="楷体" pitchFamily="49" charset="-122"/>
                <a:cs typeface="Consolas" pitchFamily="49" charset="0"/>
              </a:rPr>
              <a:t>a</a:t>
            </a:r>
            <a:r>
              <a:rPr lang="zh-CN" altLang="en-US" sz="2000" dirty="0">
                <a:solidFill>
                  <a:srgbClr val="FF00FF"/>
                </a:solidFill>
                <a:latin typeface="Consolas" pitchFamily="49" charset="0"/>
                <a:ea typeface="楷体" pitchFamily="49" charset="-122"/>
                <a:cs typeface="Consolas" pitchFamily="49" charset="0"/>
              </a:rPr>
              <a:t>，</a:t>
            </a:r>
            <a:r>
              <a:rPr lang="en-US" altLang="zh-CN" sz="2000" i="1" dirty="0">
                <a:solidFill>
                  <a:srgbClr val="FF00FF"/>
                </a:solidFill>
                <a:latin typeface="Consolas" pitchFamily="49" charset="0"/>
                <a:ea typeface="楷体" pitchFamily="49" charset="-122"/>
                <a:cs typeface="Consolas" pitchFamily="49" charset="0"/>
              </a:rPr>
              <a:t>n</a:t>
            </a:r>
            <a:r>
              <a:rPr lang="zh-CN" altLang="en-US" sz="2000" dirty="0">
                <a:solidFill>
                  <a:srgbClr val="FF00FF"/>
                </a:solidFill>
                <a:latin typeface="Consolas" pitchFamily="49" charset="0"/>
                <a:ea typeface="楷体" pitchFamily="49" charset="-122"/>
                <a:cs typeface="Consolas" pitchFamily="49" charset="0"/>
              </a:rPr>
              <a:t>，</a:t>
            </a:r>
            <a:r>
              <a:rPr lang="en-US" altLang="zh-CN" sz="2000" i="1" dirty="0">
                <a:solidFill>
                  <a:srgbClr val="FF00FF"/>
                </a:solidFill>
                <a:latin typeface="Consolas" pitchFamily="49" charset="0"/>
                <a:ea typeface="楷体" pitchFamily="49" charset="-122"/>
                <a:cs typeface="Consolas" pitchFamily="49" charset="0"/>
              </a:rPr>
              <a:t>k</a:t>
            </a:r>
            <a:r>
              <a:rPr lang="en-US" altLang="zh-CN" sz="2000" dirty="0">
                <a:solidFill>
                  <a:srgbClr val="FF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的执行时间为</a:t>
            </a:r>
            <a:r>
              <a:rPr lang="en-US" altLang="zh-CN" sz="2000" dirty="0">
                <a:solidFill>
                  <a:srgbClr val="0000FF"/>
                </a:solidFill>
                <a:latin typeface="Consolas" pitchFamily="49" charset="0"/>
                <a:ea typeface="楷体" pitchFamily="49" charset="-122"/>
                <a:cs typeface="Consolas" pitchFamily="49" charset="0"/>
              </a:rPr>
              <a:t>T</a:t>
            </a:r>
            <a:r>
              <a:rPr lang="en-US" altLang="zh-CN" sz="2000" baseline="-25000" dirty="0">
                <a:solidFill>
                  <a:srgbClr val="0000FF"/>
                </a:solidFill>
                <a:latin typeface="Consolas" pitchFamily="49" charset="0"/>
                <a:ea typeface="楷体" pitchFamily="49" charset="-122"/>
                <a:cs typeface="Consolas" pitchFamily="49" charset="0"/>
              </a:rPr>
              <a:t>1</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zh-CN" altLang="en-US"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k</a:t>
            </a:r>
            <a:r>
              <a:rPr lang="en-US" altLang="zh-CN"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sym typeface="Wingdings"/>
              </a:rPr>
              <a:t> T(</a:t>
            </a:r>
            <a:r>
              <a:rPr lang="en-US" altLang="zh-CN" sz="2000" i="1" dirty="0">
                <a:solidFill>
                  <a:srgbClr val="0000FF"/>
                </a:solidFill>
                <a:latin typeface="Consolas" pitchFamily="49" charset="0"/>
                <a:ea typeface="楷体" pitchFamily="49" charset="-122"/>
                <a:cs typeface="Consolas" pitchFamily="49" charset="0"/>
                <a:sym typeface="Wingdings"/>
              </a:rPr>
              <a:t>n</a:t>
            </a:r>
            <a:r>
              <a:rPr lang="en-US" altLang="zh-CN" sz="2000" dirty="0">
                <a:solidFill>
                  <a:srgbClr val="0000FF"/>
                </a:solidFill>
                <a:latin typeface="Consolas" pitchFamily="49" charset="0"/>
                <a:ea typeface="楷体" pitchFamily="49" charset="-122"/>
                <a:cs typeface="Consolas" pitchFamily="49" charset="0"/>
                <a:sym typeface="Wingdings"/>
              </a:rPr>
              <a:t>)=T</a:t>
            </a:r>
            <a:r>
              <a:rPr lang="en-US" altLang="zh-CN" sz="2000" baseline="-25000" dirty="0">
                <a:solidFill>
                  <a:srgbClr val="0000FF"/>
                </a:solidFill>
                <a:latin typeface="Consolas" pitchFamily="49" charset="0"/>
                <a:ea typeface="楷体" pitchFamily="49" charset="-122"/>
                <a:cs typeface="Consolas" pitchFamily="49" charset="0"/>
                <a:sym typeface="Wingdings"/>
              </a:rPr>
              <a:t>1</a:t>
            </a:r>
            <a:r>
              <a:rPr lang="en-US" altLang="zh-CN" sz="2000" dirty="0">
                <a:solidFill>
                  <a:srgbClr val="0000FF"/>
                </a:solidFill>
                <a:latin typeface="Consolas" pitchFamily="49" charset="0"/>
                <a:ea typeface="楷体" pitchFamily="49" charset="-122"/>
                <a:cs typeface="Consolas" pitchFamily="49" charset="0"/>
                <a:sym typeface="Wingdings"/>
              </a:rPr>
              <a:t>(</a:t>
            </a:r>
            <a:r>
              <a:rPr lang="en-US" altLang="zh-CN" sz="2000" i="1" dirty="0">
                <a:solidFill>
                  <a:srgbClr val="0000FF"/>
                </a:solidFill>
                <a:latin typeface="Consolas" pitchFamily="49" charset="0"/>
                <a:ea typeface="楷体" pitchFamily="49" charset="-122"/>
                <a:cs typeface="Consolas" pitchFamily="49" charset="0"/>
                <a:sym typeface="Wingdings"/>
              </a:rPr>
              <a:t>n</a:t>
            </a:r>
            <a:r>
              <a:rPr lang="zh-CN" altLang="en-US" sz="2000" dirty="0">
                <a:solidFill>
                  <a:srgbClr val="0000FF"/>
                </a:solidFill>
                <a:latin typeface="Consolas" pitchFamily="49" charset="0"/>
                <a:ea typeface="楷体" pitchFamily="49" charset="-122"/>
                <a:cs typeface="Consolas" pitchFamily="49" charset="0"/>
                <a:sym typeface="Wingdings"/>
              </a:rPr>
              <a:t>，</a:t>
            </a:r>
            <a:r>
              <a:rPr lang="en-US" altLang="zh-CN" sz="2000" dirty="0">
                <a:solidFill>
                  <a:srgbClr val="0000FF"/>
                </a:solidFill>
                <a:latin typeface="Consolas" pitchFamily="49" charset="0"/>
                <a:ea typeface="楷体" pitchFamily="49" charset="-122"/>
                <a:cs typeface="Consolas" pitchFamily="49" charset="0"/>
                <a:sym typeface="Wingdings"/>
              </a:rPr>
              <a:t>0)</a:t>
            </a:r>
            <a:r>
              <a:rPr lang="zh-CN" altLang="en-US" sz="2000" dirty="0">
                <a:solidFill>
                  <a:srgbClr val="0000FF"/>
                </a:solidFill>
                <a:latin typeface="Consolas" pitchFamily="49" charset="0"/>
                <a:ea typeface="楷体" pitchFamily="49" charset="-122"/>
                <a:cs typeface="Consolas" pitchFamily="49" charset="0"/>
                <a:sym typeface="Wingdings"/>
              </a:rPr>
              <a:t>。</a:t>
            </a:r>
            <a:endParaRPr lang="zh-CN" altLang="en-US" sz="2000" dirty="0">
              <a:solidFill>
                <a:srgbClr val="0000FF"/>
              </a:solidFill>
              <a:latin typeface="Consolas" pitchFamily="49" charset="0"/>
              <a:cs typeface="Consolas" pitchFamily="49" charset="0"/>
            </a:endParaRPr>
          </a:p>
        </p:txBody>
      </p:sp>
      <p:sp>
        <p:nvSpPr>
          <p:cNvPr id="9" name="TextBox 7">
            <a:extLst>
              <a:ext uri="{FF2B5EF4-FFF2-40B4-BE49-F238E27FC236}">
                <a16:creationId xmlns:a16="http://schemas.microsoft.com/office/drawing/2014/main" id="{D375A0E3-5D0C-4BF3-9C30-508074AC6F27}"/>
              </a:ext>
            </a:extLst>
          </p:cNvPr>
          <p:cNvSpPr txBox="1"/>
          <p:nvPr/>
        </p:nvSpPr>
        <p:spPr>
          <a:xfrm>
            <a:off x="1444116" y="5877272"/>
            <a:ext cx="5929354" cy="430887"/>
          </a:xfrm>
          <a:prstGeom prst="rect">
            <a:avLst/>
          </a:prstGeom>
          <a:noFill/>
          <a:ln>
            <a:noFill/>
          </a:ln>
          <a:effectLst/>
          <a:scene3d>
            <a:camera prst="orthographicFront">
              <a:rot lat="0" lon="0" rev="0"/>
            </a:camera>
            <a:lightRig rig="balanced" dir="t">
              <a:rot lat="0" lon="0" rev="8700000"/>
            </a:lightRig>
          </a:scene3d>
          <a:sp3d>
            <a:bevelT w="190500" h="38100"/>
          </a:sp3d>
        </p:spPr>
        <p:txBody>
          <a:bodyPr wrap="square" rtlCol="0">
            <a:spAutoFit/>
          </a:bodyPr>
          <a:lstStyle/>
          <a:p>
            <a:pPr algn="l"/>
            <a:r>
              <a:rPr lang="zh-CN" altLang="en-US" sz="2000" dirty="0">
                <a:solidFill>
                  <a:srgbClr val="0000FF"/>
                </a:solidFill>
                <a:latin typeface="Consolas" pitchFamily="49" charset="0"/>
                <a:ea typeface="楷体" pitchFamily="49" charset="-122"/>
                <a:cs typeface="Consolas" pitchFamily="49" charset="0"/>
              </a:rPr>
              <a:t>所以</a:t>
            </a:r>
            <a:r>
              <a:rPr lang="zh-CN" altLang="en-US" sz="2000">
                <a:solidFill>
                  <a:srgbClr val="0000FF"/>
                </a:solidFill>
                <a:latin typeface="Consolas" pitchFamily="49" charset="0"/>
                <a:ea typeface="楷体" pitchFamily="49" charset="-122"/>
                <a:cs typeface="Consolas" pitchFamily="49" charset="0"/>
              </a:rPr>
              <a:t>调用</a:t>
            </a:r>
            <a:r>
              <a:rPr lang="en-US" altLang="zh-CN" sz="2000">
                <a:solidFill>
                  <a:srgbClr val="0000FF"/>
                </a:solidFill>
                <a:latin typeface="Consolas" pitchFamily="49" charset="0"/>
                <a:ea typeface="楷体" pitchFamily="49" charset="-122"/>
                <a:cs typeface="Consolas" pitchFamily="49" charset="0"/>
              </a:rPr>
              <a:t>fun(</a:t>
            </a:r>
            <a:r>
              <a:rPr lang="en-US" altLang="zh-CN" sz="2000" i="1">
                <a:solidFill>
                  <a:srgbClr val="0000FF"/>
                </a:solidFill>
                <a:latin typeface="Consolas" pitchFamily="49" charset="0"/>
                <a:ea typeface="楷体" pitchFamily="49" charset="-122"/>
                <a:cs typeface="Consolas" pitchFamily="49" charset="0"/>
              </a:rPr>
              <a:t>a</a:t>
            </a:r>
            <a:r>
              <a:rPr lang="zh-CN" altLang="en-US"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0</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的时间复杂度为</a:t>
            </a:r>
            <a:r>
              <a:rPr lang="en-US" altLang="zh-CN" sz="2000" dirty="0">
                <a:solidFill>
                  <a:srgbClr val="FF3300"/>
                </a:solidFill>
                <a:latin typeface="Consolas" pitchFamily="49" charset="0"/>
                <a:ea typeface="楷体" pitchFamily="49" charset="-122"/>
                <a:cs typeface="Consolas" pitchFamily="49" charset="0"/>
              </a:rPr>
              <a:t>O(</a:t>
            </a:r>
            <a:r>
              <a:rPr lang="en-US" altLang="zh-CN" sz="2000" i="1" dirty="0" err="1">
                <a:solidFill>
                  <a:srgbClr val="FF3300"/>
                </a:solidFill>
                <a:latin typeface="Consolas" pitchFamily="49" charset="0"/>
                <a:ea typeface="楷体" pitchFamily="49" charset="-122"/>
                <a:cs typeface="Consolas" pitchFamily="49" charset="0"/>
              </a:rPr>
              <a:t>n</a:t>
            </a:r>
            <a:r>
              <a:rPr lang="en-US" altLang="zh-CN" sz="2000" baseline="30000" dirty="0" err="1">
                <a:solidFill>
                  <a:srgbClr val="FF3300"/>
                </a:solidFill>
                <a:latin typeface="Consolas" pitchFamily="49" charset="0"/>
                <a:ea typeface="楷体" pitchFamily="49" charset="-122"/>
                <a:cs typeface="Consolas" pitchFamily="49" charset="0"/>
              </a:rPr>
              <a:t>2</a:t>
            </a:r>
            <a:r>
              <a:rPr lang="en-US" altLang="zh-CN" sz="2000" dirty="0">
                <a:solidFill>
                  <a:srgbClr val="FF3300"/>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a:t>
            </a:r>
            <a:endParaRPr lang="zh-CN" altLang="en-US" sz="2000" dirty="0">
              <a:latin typeface="Consolas" pitchFamily="49" charset="0"/>
              <a:cs typeface="Consolas" pitchFamily="49" charset="0"/>
            </a:endParaRPr>
          </a:p>
        </p:txBody>
      </p:sp>
      <p:grpSp>
        <p:nvGrpSpPr>
          <p:cNvPr id="10" name="组合 12">
            <a:extLst>
              <a:ext uri="{FF2B5EF4-FFF2-40B4-BE49-F238E27FC236}">
                <a16:creationId xmlns:a16="http://schemas.microsoft.com/office/drawing/2014/main" id="{E67950D8-D5B4-40D1-AE19-8DB78F4107DF}"/>
              </a:ext>
            </a:extLst>
          </p:cNvPr>
          <p:cNvGrpSpPr/>
          <p:nvPr/>
        </p:nvGrpSpPr>
        <p:grpSpPr>
          <a:xfrm>
            <a:off x="1444116" y="1876744"/>
            <a:ext cx="6429420" cy="1491999"/>
            <a:chOff x="1000100" y="1214422"/>
            <a:chExt cx="6429420" cy="1491999"/>
          </a:xfrm>
        </p:grpSpPr>
        <p:sp>
          <p:nvSpPr>
            <p:cNvPr id="11" name="Text Box 2">
              <a:extLst>
                <a:ext uri="{FF2B5EF4-FFF2-40B4-BE49-F238E27FC236}">
                  <a16:creationId xmlns:a16="http://schemas.microsoft.com/office/drawing/2014/main" id="{906F33F0-60A0-4A3F-9596-0F5343C512E7}"/>
                </a:ext>
              </a:extLst>
            </p:cNvPr>
            <p:cNvSpPr txBox="1">
              <a:spLocks noChangeArrowheads="1"/>
            </p:cNvSpPr>
            <p:nvPr/>
          </p:nvSpPr>
          <p:spPr bwMode="auto">
            <a:xfrm>
              <a:off x="1071538" y="1798507"/>
              <a:ext cx="6357982" cy="907914"/>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lIns="180000" tIns="108000" bIns="108000">
              <a:spAutoFit/>
            </a:bodyPr>
            <a:lstStyle/>
            <a:p>
              <a:pPr algn="l">
                <a:lnSpc>
                  <a:spcPts val="2800"/>
                </a:lnSpc>
                <a:spcBef>
                  <a:spcPts val="0"/>
                </a:spcBef>
              </a:pPr>
              <a:r>
                <a:rPr lang="en-US" altLang="zh-CN" sz="2000">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n</a:t>
              </a:r>
              <a:r>
                <a:rPr lang="zh-CN" altLang="en-US"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k</a:t>
              </a:r>
              <a:r>
                <a:rPr lang="en-US" altLang="zh-CN" sz="2000">
                  <a:solidFill>
                    <a:srgbClr val="0000FF"/>
                  </a:solidFill>
                  <a:latin typeface="Consolas" pitchFamily="49" charset="0"/>
                  <a:ea typeface="仿宋" pitchFamily="49" charset="-122"/>
                  <a:cs typeface="Consolas" pitchFamily="49" charset="0"/>
                </a:rPr>
                <a:t>) = </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    </a:t>
              </a:r>
              <a:r>
                <a:rPr lang="en-US" altLang="zh-CN" sz="2000" dirty="0">
                  <a:solidFill>
                    <a:srgbClr val="0000FF"/>
                  </a:solidFill>
                  <a:latin typeface="Consolas" pitchFamily="49" charset="0"/>
                  <a:ea typeface="仿宋" pitchFamily="49" charset="-122"/>
                  <a:cs typeface="Consolas" pitchFamily="49" charset="0"/>
                </a:rPr>
                <a:t>		      	</a:t>
              </a:r>
              <a:r>
                <a:rPr lang="zh-CN" altLang="en-US" sz="2000" dirty="0">
                  <a:solidFill>
                    <a:srgbClr val="00B0F0"/>
                  </a:solidFill>
                  <a:latin typeface="Consolas" pitchFamily="49" charset="0"/>
                  <a:ea typeface="仿宋" pitchFamily="49" charset="-122"/>
                  <a:cs typeface="Consolas" pitchFamily="49" charset="0"/>
                </a:rPr>
                <a:t>当</a:t>
              </a:r>
              <a:r>
                <a:rPr lang="en-US" altLang="zh-CN" sz="2000" i="1" dirty="0">
                  <a:solidFill>
                    <a:srgbClr val="00B0F0"/>
                  </a:solidFill>
                  <a:latin typeface="Consolas" pitchFamily="49" charset="0"/>
                  <a:ea typeface="仿宋" pitchFamily="49" charset="-122"/>
                  <a:cs typeface="Consolas" pitchFamily="49" charset="0"/>
                </a:rPr>
                <a:t>k</a:t>
              </a:r>
              <a:r>
                <a:rPr lang="en-US" altLang="zh-CN" sz="2000" dirty="0">
                  <a:solidFill>
                    <a:srgbClr val="00B0F0"/>
                  </a:solidFill>
                  <a:latin typeface="Consolas" pitchFamily="49" charset="0"/>
                  <a:ea typeface="仿宋" pitchFamily="49" charset="-122"/>
                  <a:cs typeface="Consolas" pitchFamily="49" charset="0"/>
                </a:rPr>
                <a:t>=</a:t>
              </a:r>
              <a:r>
                <a:rPr lang="en-US" altLang="zh-CN" sz="2000" i="1" dirty="0">
                  <a:solidFill>
                    <a:srgbClr val="00B0F0"/>
                  </a:solidFill>
                  <a:latin typeface="Consolas" pitchFamily="49" charset="0"/>
                  <a:ea typeface="仿宋" pitchFamily="49" charset="-122"/>
                  <a:cs typeface="Consolas" pitchFamily="49" charset="0"/>
                </a:rPr>
                <a:t>n</a:t>
              </a:r>
              <a:r>
                <a:rPr lang="en-US" altLang="zh-CN" sz="2000" dirty="0">
                  <a:solidFill>
                    <a:srgbClr val="00B0F0"/>
                  </a:solidFill>
                  <a:latin typeface="Consolas" pitchFamily="49" charset="0"/>
                  <a:ea typeface="仿宋" pitchFamily="49" charset="-122"/>
                  <a:cs typeface="Consolas" pitchFamily="49" charset="0"/>
                </a:rPr>
                <a:t>-1</a:t>
              </a:r>
              <a:r>
                <a:rPr lang="zh-CN" altLang="en-US" sz="2000" dirty="0">
                  <a:solidFill>
                    <a:srgbClr val="00B0F0"/>
                  </a:solidFill>
                  <a:latin typeface="Consolas" pitchFamily="49" charset="0"/>
                  <a:ea typeface="仿宋" pitchFamily="49" charset="-122"/>
                  <a:cs typeface="Consolas" pitchFamily="49" charset="0"/>
                </a:rPr>
                <a:t>时</a:t>
              </a:r>
            </a:p>
            <a:p>
              <a:pPr algn="l">
                <a:lnSpc>
                  <a:spcPts val="2800"/>
                </a:lnSpc>
                <a:spcBef>
                  <a:spcPts val="0"/>
                </a:spcBef>
              </a:pPr>
              <a:r>
                <a:rPr lang="en-US" altLang="zh-CN" sz="2000">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n</a:t>
              </a:r>
              <a:r>
                <a:rPr lang="zh-CN" altLang="en-US"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k</a:t>
              </a:r>
              <a:r>
                <a:rPr lang="en-US" altLang="zh-CN" sz="2000">
                  <a:solidFill>
                    <a:srgbClr val="0000FF"/>
                  </a:solidFill>
                  <a:latin typeface="Consolas" pitchFamily="49" charset="0"/>
                  <a:ea typeface="仿宋" pitchFamily="49" charset="-122"/>
                  <a:cs typeface="Consolas" pitchFamily="49" charset="0"/>
                </a:rPr>
                <a:t>) = </a:t>
              </a:r>
              <a:r>
                <a:rPr lang="en-US" altLang="zh-CN" sz="2000" dirty="0">
                  <a:solidFill>
                    <a:srgbClr val="0000FF"/>
                  </a:solidFill>
                  <a:latin typeface="Consolas" pitchFamily="49" charset="0"/>
                  <a:ea typeface="仿宋" pitchFamily="49" charset="-122"/>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n</a:t>
              </a:r>
              <a:r>
                <a:rPr lang="en-US" altLang="zh-CN" sz="2000" dirty="0">
                  <a:solidFill>
                    <a:srgbClr val="0000FF"/>
                  </a:solidFill>
                  <a:latin typeface="Consolas" pitchFamily="49" charset="0"/>
                  <a:ea typeface="仿宋" pitchFamily="49" charset="-122"/>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k</a:t>
              </a:r>
              <a:r>
                <a:rPr lang="en-US" altLang="zh-CN" sz="2000">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n</a:t>
              </a:r>
              <a:r>
                <a:rPr lang="zh-CN" altLang="en-US"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k</a:t>
              </a:r>
              <a:r>
                <a:rPr lang="en-US" altLang="zh-CN" sz="2000">
                  <a:solidFill>
                    <a:srgbClr val="0000FF"/>
                  </a:solidFill>
                  <a:latin typeface="Consolas" pitchFamily="49" charset="0"/>
                  <a:ea typeface="仿宋" pitchFamily="49" charset="-122"/>
                  <a:cs typeface="Consolas" pitchFamily="49" charset="0"/>
                </a:rPr>
                <a:t>+1</a:t>
              </a:r>
              <a:r>
                <a:rPr lang="en-US" altLang="zh-CN" sz="2000" dirty="0">
                  <a:solidFill>
                    <a:srgbClr val="0000FF"/>
                  </a:solidFill>
                  <a:latin typeface="Consolas" pitchFamily="49" charset="0"/>
                  <a:ea typeface="仿宋" pitchFamily="49" charset="-122"/>
                  <a:cs typeface="Consolas" pitchFamily="49" charset="0"/>
                </a:rPr>
                <a:t>)      	</a:t>
              </a:r>
              <a:r>
                <a:rPr lang="zh-CN" altLang="en-US" sz="2000" dirty="0">
                  <a:solidFill>
                    <a:srgbClr val="00B0F0"/>
                  </a:solidFill>
                  <a:latin typeface="Consolas" pitchFamily="49" charset="0"/>
                  <a:ea typeface="仿宋" pitchFamily="49" charset="-122"/>
                  <a:cs typeface="Consolas" pitchFamily="49" charset="0"/>
                </a:rPr>
                <a:t>其他情况</a:t>
              </a:r>
            </a:p>
          </p:txBody>
        </p:sp>
        <p:sp>
          <p:nvSpPr>
            <p:cNvPr id="12" name="TextBox 11">
              <a:extLst>
                <a:ext uri="{FF2B5EF4-FFF2-40B4-BE49-F238E27FC236}">
                  <a16:creationId xmlns:a16="http://schemas.microsoft.com/office/drawing/2014/main" id="{018568D3-AE05-466C-B488-1F397C4D9EAF}"/>
                </a:ext>
              </a:extLst>
            </p:cNvPr>
            <p:cNvSpPr txBox="1"/>
            <p:nvPr/>
          </p:nvSpPr>
          <p:spPr>
            <a:xfrm>
              <a:off x="1000100" y="1214422"/>
              <a:ext cx="3500462" cy="407676"/>
            </a:xfrm>
            <a:prstGeom prst="rect">
              <a:avLst/>
            </a:prstGeom>
            <a:noFill/>
          </p:spPr>
          <p:txBody>
            <a:bodyPr wrap="square" rtlCol="0">
              <a:spAutoFit/>
            </a:bodyPr>
            <a:lstStyle/>
            <a:p>
              <a:pPr algn="l"/>
              <a:r>
                <a:rPr lang="zh-CN" altLang="en-US" sz="2000">
                  <a:solidFill>
                    <a:srgbClr val="0000FF"/>
                  </a:solidFill>
                  <a:latin typeface="Consolas" pitchFamily="49" charset="0"/>
                  <a:ea typeface="楷体" pitchFamily="49" charset="-122"/>
                  <a:cs typeface="Consolas" pitchFamily="49" charset="0"/>
                </a:rPr>
                <a:t>由</a:t>
              </a:r>
              <a:r>
                <a:rPr lang="en-US" altLang="zh-CN" sz="2000">
                  <a:solidFill>
                    <a:srgbClr val="0000FF"/>
                  </a:solidFill>
                  <a:latin typeface="Consolas" pitchFamily="49" charset="0"/>
                  <a:ea typeface="楷体" pitchFamily="49" charset="-122"/>
                  <a:cs typeface="Consolas" pitchFamily="49" charset="0"/>
                </a:rPr>
                <a:t>fun()</a:t>
              </a:r>
              <a:r>
                <a:rPr lang="zh-CN" altLang="en-US" sz="2000">
                  <a:solidFill>
                    <a:srgbClr val="0000FF"/>
                  </a:solidFill>
                  <a:latin typeface="Consolas" pitchFamily="49" charset="0"/>
                  <a:ea typeface="楷体" pitchFamily="49" charset="-122"/>
                  <a:cs typeface="Consolas" pitchFamily="49" charset="0"/>
                </a:rPr>
                <a:t>递归算法可知：</a:t>
              </a:r>
              <a:endParaRPr lang="zh-CN" altLang="en-US" sz="2000">
                <a:latin typeface="Consolas" pitchFamily="49" charset="0"/>
                <a:cs typeface="Consolas" pitchFamily="49" charset="0"/>
              </a:endParaRPr>
            </a:p>
          </p:txBody>
        </p:sp>
      </p:grpSp>
    </p:spTree>
    <p:extLst>
      <p:ext uri="{BB962C8B-B14F-4D97-AF65-F5344CB8AC3E}">
        <p14:creationId xmlns:p14="http://schemas.microsoft.com/office/powerpoint/2010/main" val="42555939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1.7 </a:t>
            </a:r>
            <a:r>
              <a:rPr lang="zh-CN" altLang="zh-CN" b="1" dirty="0"/>
              <a:t>空间复杂度</a:t>
            </a:r>
            <a:endParaRPr lang="zh-CN" altLang="en-US" dirty="0"/>
          </a:p>
        </p:txBody>
      </p:sp>
      <p:sp>
        <p:nvSpPr>
          <p:cNvPr id="3" name="内容占位符 2"/>
          <p:cNvSpPr>
            <a:spLocks noGrp="1"/>
          </p:cNvSpPr>
          <p:nvPr>
            <p:ph idx="1"/>
          </p:nvPr>
        </p:nvSpPr>
        <p:spPr/>
        <p:txBody>
          <a:bodyPr/>
          <a:lstStyle/>
          <a:p>
            <a:pPr algn="just">
              <a:lnSpc>
                <a:spcPct val="150000"/>
              </a:lnSpc>
            </a:pPr>
            <a:r>
              <a:rPr lang="en-US" altLang="zh-CN" b="0" dirty="0"/>
              <a:t>	</a:t>
            </a:r>
            <a:r>
              <a:rPr lang="zh-CN" altLang="zh-CN" dirty="0">
                <a:solidFill>
                  <a:srgbClr val="FF0000"/>
                </a:solidFill>
              </a:rPr>
              <a:t>空间复杂度</a:t>
            </a:r>
            <a:r>
              <a:rPr lang="zh-CN" altLang="zh-CN" b="0" dirty="0"/>
              <a:t>指当问题的规模以某种单位从1增加到n时，解决这个问题的算法在执行时所占用的存储空间也以某种单位由1增加到f(n)，则称此算法的空间复杂度为f(n)。研究算法的空间复杂度，只需要分析除了算法程序和输入数据之外的额外空间。</a:t>
            </a:r>
          </a:p>
          <a:p>
            <a:pPr>
              <a:lnSpc>
                <a:spcPct val="150000"/>
              </a:lnSpc>
            </a:pPr>
            <a:endParaRPr lang="zh-CN" altLang="en-US" b="0" dirty="0"/>
          </a:p>
        </p:txBody>
      </p:sp>
    </p:spTree>
    <p:extLst>
      <p:ext uri="{BB962C8B-B14F-4D97-AF65-F5344CB8AC3E}">
        <p14:creationId xmlns:p14="http://schemas.microsoft.com/office/powerpoint/2010/main" val="69530585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052736"/>
            <a:ext cx="8208912" cy="5184576"/>
          </a:xfrm>
        </p:spPr>
        <p:txBody>
          <a:bodyPr>
            <a:normAutofit fontScale="77500" lnSpcReduction="20000"/>
          </a:bodyPr>
          <a:lstStyle/>
          <a:p>
            <a:pPr>
              <a:lnSpc>
                <a:spcPct val="170000"/>
              </a:lnSpc>
            </a:pPr>
            <a:r>
              <a:rPr lang="en-US" altLang="zh-CN" sz="2600" dirty="0"/>
              <a:t>	</a:t>
            </a:r>
            <a:r>
              <a:rPr lang="zh-CN" altLang="zh-CN" sz="2800" dirty="0">
                <a:solidFill>
                  <a:srgbClr val="FF0000"/>
                </a:solidFill>
              </a:rPr>
              <a:t>渐近空间复杂度</a:t>
            </a:r>
            <a:r>
              <a:rPr lang="zh-CN" altLang="zh-CN" sz="2800" b="0" dirty="0"/>
              <a:t>（</a:t>
            </a:r>
            <a:r>
              <a:rPr lang="en-US" altLang="zh-CN" sz="2800" b="0" dirty="0"/>
              <a:t>asymptotic space complexity</a:t>
            </a:r>
            <a:r>
              <a:rPr lang="zh-CN" altLang="zh-CN" sz="2800" b="0" dirty="0"/>
              <a:t>）是指算法编制成程序后，在计算机中运行时所占的</a:t>
            </a:r>
            <a:r>
              <a:rPr lang="zh-CN" altLang="zh-CN" sz="2800" dirty="0"/>
              <a:t>存储空间</a:t>
            </a:r>
            <a:r>
              <a:rPr lang="zh-CN" altLang="zh-CN" sz="2800" b="0" dirty="0"/>
              <a:t>函数。</a:t>
            </a:r>
            <a:endParaRPr lang="en-US" altLang="zh-CN" sz="2800" b="0" dirty="0"/>
          </a:p>
          <a:p>
            <a:pPr>
              <a:lnSpc>
                <a:spcPct val="170000"/>
              </a:lnSpc>
            </a:pPr>
            <a:r>
              <a:rPr lang="en-US" altLang="zh-CN" sz="2600" b="0" dirty="0"/>
              <a:t>	</a:t>
            </a:r>
            <a:r>
              <a:rPr lang="zh-CN" altLang="zh-CN" sz="2800" b="0" dirty="0"/>
              <a:t>存储空间包括：</a:t>
            </a:r>
            <a:endParaRPr lang="en-US" altLang="zh-CN" sz="2800" b="0" dirty="0"/>
          </a:p>
          <a:p>
            <a:pPr lvl="3">
              <a:lnSpc>
                <a:spcPct val="170000"/>
              </a:lnSpc>
              <a:buFont typeface="Wingdings" pitchFamily="2" charset="2"/>
              <a:buChar char="ü"/>
            </a:pPr>
            <a:r>
              <a:rPr lang="zh-CN" altLang="zh-CN" sz="2800" b="0" dirty="0"/>
              <a:t>指令、常数、变量；</a:t>
            </a:r>
            <a:endParaRPr lang="en-US" altLang="zh-CN" sz="2800" b="0" dirty="0"/>
          </a:p>
          <a:p>
            <a:pPr lvl="3">
              <a:lnSpc>
                <a:spcPct val="170000"/>
              </a:lnSpc>
              <a:buFont typeface="Wingdings" pitchFamily="2" charset="2"/>
              <a:buChar char="ü"/>
            </a:pPr>
            <a:r>
              <a:rPr lang="zh-CN" altLang="zh-CN" sz="2800" b="0" dirty="0"/>
              <a:t>输入数据；</a:t>
            </a:r>
            <a:endParaRPr lang="en-US" altLang="zh-CN" sz="2800" b="0" dirty="0"/>
          </a:p>
          <a:p>
            <a:pPr lvl="3">
              <a:lnSpc>
                <a:spcPct val="170000"/>
              </a:lnSpc>
              <a:buFont typeface="Wingdings" pitchFamily="2" charset="2"/>
              <a:buChar char="ü"/>
            </a:pPr>
            <a:r>
              <a:rPr lang="zh-CN" altLang="zh-CN" sz="2800" b="0" dirty="0"/>
              <a:t>辅助空间</a:t>
            </a:r>
            <a:endParaRPr lang="en-US" altLang="zh-CN" sz="2800" b="0" dirty="0"/>
          </a:p>
          <a:p>
            <a:pPr lvl="3">
              <a:lnSpc>
                <a:spcPct val="170000"/>
              </a:lnSpc>
              <a:buFont typeface="Wingdings" pitchFamily="2" charset="2"/>
              <a:buChar char="ü"/>
            </a:pPr>
            <a:r>
              <a:rPr lang="zh-CN" altLang="en-US" sz="2800" b="0" dirty="0"/>
              <a:t>运行栈区（静态、动态）等</a:t>
            </a:r>
            <a:endParaRPr lang="en-US" altLang="zh-CN" sz="2800" b="0" dirty="0"/>
          </a:p>
          <a:p>
            <a:pPr>
              <a:lnSpc>
                <a:spcPct val="170000"/>
              </a:lnSpc>
            </a:pPr>
            <a:r>
              <a:rPr lang="en-US" altLang="zh-CN" sz="2800" b="0" dirty="0"/>
              <a:t>	</a:t>
            </a:r>
            <a:r>
              <a:rPr lang="zh-CN" altLang="zh-CN" sz="2800" b="0" dirty="0"/>
              <a:t>空间复杂度作为算法所需存储空间的量度，记作</a:t>
            </a:r>
            <a:r>
              <a:rPr lang="zh-CN" altLang="en-US" sz="2800" b="0" dirty="0"/>
              <a:t>：</a:t>
            </a:r>
            <a:endParaRPr lang="en-US" altLang="zh-CN" sz="2800" b="0" dirty="0"/>
          </a:p>
          <a:p>
            <a:pPr>
              <a:lnSpc>
                <a:spcPct val="170000"/>
              </a:lnSpc>
            </a:pPr>
            <a:r>
              <a:rPr lang="en-US" altLang="zh-CN" sz="2800" b="0" i="1" dirty="0"/>
              <a:t>				</a:t>
            </a:r>
            <a:r>
              <a:rPr lang="en-US" altLang="zh-CN" sz="2600" i="1" dirty="0">
                <a:solidFill>
                  <a:srgbClr val="FF0000"/>
                </a:solidFill>
              </a:rPr>
              <a:t>S</a:t>
            </a:r>
            <a:r>
              <a:rPr lang="en-US" altLang="zh-CN" sz="2600" dirty="0">
                <a:solidFill>
                  <a:srgbClr val="FF0000"/>
                </a:solidFill>
              </a:rPr>
              <a:t>(n)= O(</a:t>
            </a:r>
            <a:r>
              <a:rPr lang="zh-CN" altLang="zh-CN" sz="2600" i="1" dirty="0">
                <a:solidFill>
                  <a:srgbClr val="FF0000"/>
                </a:solidFill>
              </a:rPr>
              <a:t>f</a:t>
            </a:r>
            <a:r>
              <a:rPr lang="zh-CN" altLang="zh-CN" sz="2600" dirty="0">
                <a:solidFill>
                  <a:srgbClr val="FF0000"/>
                </a:solidFill>
              </a:rPr>
              <a:t>(n)</a:t>
            </a:r>
            <a:r>
              <a:rPr lang="en-US" altLang="zh-CN" sz="2600" dirty="0">
                <a:solidFill>
                  <a:srgbClr val="FF0000"/>
                </a:solidFill>
              </a:rPr>
              <a:t>)</a:t>
            </a:r>
            <a:endParaRPr lang="zh-CN" altLang="zh-CN" sz="2600" dirty="0">
              <a:solidFill>
                <a:srgbClr val="FF0000"/>
              </a:solidFill>
            </a:endParaRPr>
          </a:p>
          <a:p>
            <a:endParaRPr lang="zh-CN" altLang="en-US" b="0" dirty="0"/>
          </a:p>
        </p:txBody>
      </p:sp>
    </p:spTree>
    <p:extLst>
      <p:ext uri="{BB962C8B-B14F-4D97-AF65-F5344CB8AC3E}">
        <p14:creationId xmlns:p14="http://schemas.microsoft.com/office/powerpoint/2010/main" val="265428594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457200" indent="-457200">
              <a:buFont typeface="Wingdings" panose="05000000000000000000" pitchFamily="2" charset="2"/>
              <a:buChar char="l"/>
            </a:pPr>
            <a:r>
              <a:rPr lang="zh-CN" altLang="zh-CN" sz="2400" dirty="0"/>
              <a:t>算法所需要的空间主要由两部分构成</a:t>
            </a:r>
            <a:endParaRPr lang="zh-CN" altLang="en-US" sz="2400" dirty="0"/>
          </a:p>
        </p:txBody>
      </p:sp>
      <p:sp>
        <p:nvSpPr>
          <p:cNvPr id="3" name="内容占位符 2"/>
          <p:cNvSpPr>
            <a:spLocks noGrp="1"/>
          </p:cNvSpPr>
          <p:nvPr>
            <p:ph idx="1"/>
          </p:nvPr>
        </p:nvSpPr>
        <p:spPr>
          <a:xfrm>
            <a:off x="1043608" y="1844824"/>
            <a:ext cx="7560840" cy="2518688"/>
          </a:xfrm>
        </p:spPr>
        <p:txBody>
          <a:bodyPr>
            <a:normAutofit/>
          </a:bodyPr>
          <a:lstStyle/>
          <a:p>
            <a:pPr>
              <a:buFont typeface="Wingdings" panose="05000000000000000000" pitchFamily="2" charset="2"/>
              <a:buChar char="ü"/>
            </a:pPr>
            <a:r>
              <a:rPr lang="zh-CN" altLang="zh-CN" b="0" dirty="0">
                <a:solidFill>
                  <a:srgbClr val="FF0000"/>
                </a:solidFill>
              </a:rPr>
              <a:t>一是指令空间</a:t>
            </a:r>
            <a:r>
              <a:rPr lang="zh-CN" altLang="en-US" b="0" dirty="0">
                <a:solidFill>
                  <a:srgbClr val="FF0000"/>
                </a:solidFill>
              </a:rPr>
              <a:t>。</a:t>
            </a:r>
            <a:r>
              <a:rPr lang="zh-CN" altLang="zh-CN" b="0" dirty="0"/>
              <a:t>就是指用来存储经过编译之后的程序指令所需的空间。</a:t>
            </a:r>
            <a:endParaRPr lang="en-US" altLang="zh-CN" b="0" dirty="0"/>
          </a:p>
          <a:p>
            <a:pPr>
              <a:buFont typeface="Wingdings" panose="05000000000000000000" pitchFamily="2" charset="2"/>
              <a:buChar char="ü"/>
            </a:pPr>
            <a:endParaRPr lang="en-US" altLang="zh-CN" b="0" dirty="0"/>
          </a:p>
          <a:p>
            <a:pPr>
              <a:buFont typeface="Wingdings" panose="05000000000000000000" pitchFamily="2" charset="2"/>
              <a:buChar char="ü"/>
            </a:pPr>
            <a:r>
              <a:rPr lang="zh-CN" altLang="zh-CN" b="0" dirty="0">
                <a:solidFill>
                  <a:srgbClr val="FF0000"/>
                </a:solidFill>
              </a:rPr>
              <a:t>二是数据空间</a:t>
            </a:r>
            <a:r>
              <a:rPr lang="zh-CN" altLang="zh-CN" b="0" dirty="0"/>
              <a:t>，就是指用来存储所有常量和所有变量值所需的空间。</a:t>
            </a:r>
            <a:endParaRPr lang="en-US" altLang="zh-CN" b="0" dirty="0"/>
          </a:p>
        </p:txBody>
      </p:sp>
    </p:spTree>
    <p:extLst>
      <p:ext uri="{BB962C8B-B14F-4D97-AF65-F5344CB8AC3E}">
        <p14:creationId xmlns:p14="http://schemas.microsoft.com/office/powerpoint/2010/main" val="18935556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a:xfrm>
            <a:off x="517720" y="2852936"/>
            <a:ext cx="7848872" cy="4680520"/>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800"/>
              </a:spcBef>
              <a:buFont typeface="Arial" pitchFamily="34" charset="0"/>
              <a:buNone/>
              <a:defRPr sz="2400" b="1"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1737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2pPr>
            <a:lvl3pPr marL="4023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6309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8595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algn="just">
              <a:buFont typeface="Wingdings" panose="05000000000000000000" pitchFamily="2" charset="2"/>
              <a:buChar char="ü"/>
            </a:pPr>
            <a:r>
              <a:rPr lang="en-US" altLang="zh-CN" b="0" dirty="0"/>
              <a:t>C</a:t>
            </a:r>
            <a:r>
              <a:rPr lang="zh-CN" altLang="en-US" b="0" dirty="0"/>
              <a:t>表示固定空间的需求：包括指令空间，简单变量、定长复合变量及常量。</a:t>
            </a:r>
            <a:endParaRPr lang="en-US" altLang="zh-CN" b="0" dirty="0"/>
          </a:p>
          <a:p>
            <a:pPr algn="just">
              <a:buFont typeface="Wingdings" panose="05000000000000000000" pitchFamily="2" charset="2"/>
              <a:buChar char="ü"/>
            </a:pPr>
            <a:r>
              <a:rPr lang="en-US" altLang="zh-CN" b="0" dirty="0"/>
              <a:t>SP(L)</a:t>
            </a:r>
            <a:r>
              <a:rPr lang="zh-CN" altLang="en-US" b="0" dirty="0"/>
              <a:t>表示</a:t>
            </a:r>
            <a:r>
              <a:rPr lang="zh-CN" altLang="zh-CN" b="0" dirty="0"/>
              <a:t>可变空间的需求</a:t>
            </a:r>
            <a:r>
              <a:rPr lang="zh-CN" altLang="en-US" b="0" dirty="0"/>
              <a:t>：</a:t>
            </a:r>
            <a:r>
              <a:rPr lang="zh-CN" altLang="zh-CN" b="0" dirty="0"/>
              <a:t>包括复合变量所需的空间（这些变量依赖于所解决的具体问题），动态分配的空间（依赖于某一实例的特征</a:t>
            </a:r>
            <a:r>
              <a:rPr lang="en-US" altLang="zh-CN" b="0" dirty="0"/>
              <a:t>L</a:t>
            </a:r>
            <a:r>
              <a:rPr lang="zh-CN" altLang="zh-CN" b="0" dirty="0"/>
              <a:t>）及递归栈空间的大小（对于每个递归函数而言，该空间主要依赖于局部变量及形式参数所需要的空间，还依赖于递归的深度）。</a:t>
            </a:r>
          </a:p>
        </p:txBody>
      </p:sp>
      <p:sp>
        <p:nvSpPr>
          <p:cNvPr id="6" name="标题 5"/>
          <p:cNvSpPr>
            <a:spLocks noGrp="1"/>
          </p:cNvSpPr>
          <p:nvPr>
            <p:ph type="title"/>
          </p:nvPr>
        </p:nvSpPr>
        <p:spPr>
          <a:xfrm>
            <a:off x="755576" y="1268760"/>
            <a:ext cx="7520940" cy="1368152"/>
          </a:xfrm>
        </p:spPr>
        <p:txBody>
          <a:bodyPr/>
          <a:lstStyle/>
          <a:p>
            <a:pPr>
              <a:spcAft>
                <a:spcPts val="1200"/>
              </a:spcAft>
            </a:pPr>
            <a:r>
              <a:rPr lang="zh-CN" altLang="zh-CN" sz="2400" dirty="0"/>
              <a:t>任意程序</a:t>
            </a:r>
            <a:r>
              <a:rPr lang="en-US" altLang="zh-CN" sz="2400" dirty="0"/>
              <a:t>P</a:t>
            </a:r>
            <a:r>
              <a:rPr lang="zh-CN" altLang="zh-CN" sz="2400" dirty="0"/>
              <a:t>所</a:t>
            </a:r>
            <a:r>
              <a:rPr lang="zh-CN" altLang="en-US" sz="2400" dirty="0"/>
              <a:t>用</a:t>
            </a:r>
            <a:r>
              <a:rPr lang="zh-CN" altLang="zh-CN" sz="2400" dirty="0"/>
              <a:t>的</a:t>
            </a:r>
            <a:r>
              <a:rPr lang="zh-CN" altLang="zh-CN" sz="2400" dirty="0">
                <a:solidFill>
                  <a:srgbClr val="FF0000"/>
                </a:solidFill>
              </a:rPr>
              <a:t>空间复杂度</a:t>
            </a:r>
            <a:r>
              <a:rPr lang="en-US" altLang="zh-CN" sz="2400" dirty="0">
                <a:solidFill>
                  <a:srgbClr val="FF0000"/>
                </a:solidFill>
              </a:rPr>
              <a:t>S(P)</a:t>
            </a:r>
            <a:r>
              <a:rPr lang="zh-CN" altLang="zh-CN" sz="2400" dirty="0"/>
              <a:t>可表示为：</a:t>
            </a:r>
            <a:br>
              <a:rPr lang="en-US" altLang="zh-CN" sz="2400" dirty="0"/>
            </a:br>
            <a:br>
              <a:rPr lang="zh-CN" altLang="zh-CN" sz="2400" dirty="0"/>
            </a:br>
            <a:r>
              <a:rPr lang="en-US" altLang="zh-CN" sz="2400" dirty="0"/>
              <a:t>        S(P)= C + </a:t>
            </a:r>
            <a:r>
              <a:rPr lang="en-US" altLang="zh-CN" sz="2400" dirty="0" err="1"/>
              <a:t>Sp</a:t>
            </a:r>
            <a:r>
              <a:rPr lang="en-US" altLang="zh-CN" sz="2400" dirty="0"/>
              <a:t>( L)</a:t>
            </a:r>
            <a:br>
              <a:rPr lang="zh-CN" altLang="en-US" dirty="0"/>
            </a:br>
            <a:endParaRPr lang="zh-CN" altLang="en-US" dirty="0"/>
          </a:p>
        </p:txBody>
      </p:sp>
    </p:spTree>
    <p:extLst>
      <p:ext uri="{BB962C8B-B14F-4D97-AF65-F5344CB8AC3E}">
        <p14:creationId xmlns:p14="http://schemas.microsoft.com/office/powerpoint/2010/main" val="199440163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93F98906-797A-4CB7-B5DA-C37AD6CF9444}"/>
              </a:ext>
            </a:extLst>
          </p:cNvPr>
          <p:cNvSpPr txBox="1"/>
          <p:nvPr/>
        </p:nvSpPr>
        <p:spPr>
          <a:xfrm>
            <a:off x="467544" y="1196752"/>
            <a:ext cx="7929618" cy="1175322"/>
          </a:xfrm>
          <a:prstGeom prst="rect">
            <a:avLst/>
          </a:prstGeom>
          <a:noFill/>
        </p:spPr>
        <p:txBody>
          <a:bodyPr wrap="square" rtlCol="0">
            <a:spAutoFit/>
          </a:bodyPr>
          <a:lstStyle/>
          <a:p>
            <a:pPr algn="l">
              <a:lnSpc>
                <a:spcPct val="120000"/>
              </a:lnSpc>
            </a:pPr>
            <a:r>
              <a:rPr lang="zh-CN" altLang="en-US" sz="2000" dirty="0">
                <a:solidFill>
                  <a:srgbClr val="FF0000"/>
                </a:solidFill>
                <a:latin typeface="方正启体简体" pitchFamily="65" charset="-122"/>
                <a:ea typeface="方正启体简体" pitchFamily="65" charset="-122"/>
                <a:cs typeface="Consolas" pitchFamily="49" charset="0"/>
              </a:rPr>
              <a:t>空间复杂度</a:t>
            </a:r>
            <a:r>
              <a:rPr lang="zh-CN" altLang="en-US" sz="2000" dirty="0">
                <a:solidFill>
                  <a:srgbClr val="0000FF"/>
                </a:solidFill>
                <a:latin typeface="Consolas" pitchFamily="49" charset="0"/>
                <a:ea typeface="微软雅黑" pitchFamily="34"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用于量度一个算法运行过程中</a:t>
            </a:r>
            <a:r>
              <a:rPr lang="zh-CN" altLang="en-US" sz="2000" dirty="0">
                <a:solidFill>
                  <a:srgbClr val="FF00FF"/>
                </a:solidFill>
                <a:latin typeface="Consolas" pitchFamily="49" charset="0"/>
                <a:ea typeface="楷体" pitchFamily="49" charset="-122"/>
                <a:cs typeface="Consolas" pitchFamily="49" charset="0"/>
              </a:rPr>
              <a:t>临时占用的存储空间</a:t>
            </a:r>
            <a:r>
              <a:rPr lang="zh-CN" altLang="en-US" sz="2000" dirty="0">
                <a:solidFill>
                  <a:srgbClr val="0000FF"/>
                </a:solidFill>
                <a:latin typeface="Consolas" pitchFamily="49" charset="0"/>
                <a:ea typeface="楷体" pitchFamily="49" charset="-122"/>
                <a:cs typeface="Consolas" pitchFamily="49" charset="0"/>
              </a:rPr>
              <a:t>大小。</a:t>
            </a:r>
            <a:endParaRPr lang="en-US" altLang="zh-CN" sz="2000" dirty="0">
              <a:solidFill>
                <a:srgbClr val="0000FF"/>
              </a:solidFill>
              <a:latin typeface="Consolas" pitchFamily="49" charset="0"/>
              <a:ea typeface="楷体" pitchFamily="49" charset="-122"/>
              <a:cs typeface="Consolas" pitchFamily="49" charset="0"/>
            </a:endParaRPr>
          </a:p>
          <a:p>
            <a:pPr algn="l">
              <a:lnSpc>
                <a:spcPct val="120000"/>
              </a:lnSpc>
            </a:pPr>
            <a:r>
              <a:rPr lang="zh-CN" altLang="en-US" sz="2000" dirty="0">
                <a:solidFill>
                  <a:srgbClr val="0000FF"/>
                </a:solidFill>
                <a:latin typeface="Consolas" pitchFamily="49" charset="0"/>
                <a:ea typeface="楷体" pitchFamily="49" charset="-122"/>
                <a:cs typeface="Consolas" pitchFamily="49" charset="0"/>
              </a:rPr>
              <a:t>一般也作为问题规模</a:t>
            </a:r>
            <a:r>
              <a:rPr lang="en-US" altLang="zh-CN" sz="2000" i="1" dirty="0">
                <a:solidFill>
                  <a:srgbClr val="0000FF"/>
                </a:solidFill>
                <a:latin typeface="Consolas" pitchFamily="49" charset="0"/>
                <a:ea typeface="楷体" pitchFamily="49" charset="-122"/>
                <a:cs typeface="Consolas" pitchFamily="49" charset="0"/>
              </a:rPr>
              <a:t>n</a:t>
            </a:r>
            <a:r>
              <a:rPr lang="zh-CN" altLang="en-US" sz="2000" dirty="0">
                <a:solidFill>
                  <a:srgbClr val="0000FF"/>
                </a:solidFill>
                <a:latin typeface="Consolas" pitchFamily="49" charset="0"/>
                <a:ea typeface="楷体" pitchFamily="49" charset="-122"/>
                <a:cs typeface="Consolas" pitchFamily="49" charset="0"/>
              </a:rPr>
              <a:t>的函数，采用数量级形式描述，记作：</a:t>
            </a:r>
          </a:p>
          <a:p>
            <a:pPr algn="just">
              <a:lnSpc>
                <a:spcPct val="120000"/>
              </a:lnSpc>
            </a:pPr>
            <a:r>
              <a:rPr lang="zh-CN" altLang="en-US" sz="2000" b="1" dirty="0">
                <a:solidFill>
                  <a:srgbClr val="FF0000"/>
                </a:solidFill>
                <a:latin typeface="Consolas" pitchFamily="49" charset="0"/>
                <a:ea typeface="楷体" pitchFamily="49" charset="-122"/>
                <a:cs typeface="Consolas" pitchFamily="49" charset="0"/>
              </a:rPr>
              <a:t>                   </a:t>
            </a:r>
            <a:r>
              <a:rPr lang="en-US" altLang="zh-CN" sz="2000" b="1" dirty="0">
                <a:solidFill>
                  <a:srgbClr val="FF0000"/>
                </a:solidFill>
                <a:latin typeface="Consolas" pitchFamily="49" charset="0"/>
                <a:ea typeface="楷体" pitchFamily="49" charset="-122"/>
                <a:cs typeface="Consolas" pitchFamily="49" charset="0"/>
              </a:rPr>
              <a:t>S(</a:t>
            </a:r>
            <a:r>
              <a:rPr lang="en-US" altLang="zh-CN" sz="2000" b="1" i="1" dirty="0">
                <a:solidFill>
                  <a:srgbClr val="FF0000"/>
                </a:solidFill>
                <a:latin typeface="Consolas" pitchFamily="49" charset="0"/>
                <a:ea typeface="楷体" pitchFamily="49" charset="-122"/>
                <a:cs typeface="Consolas" pitchFamily="49" charset="0"/>
              </a:rPr>
              <a:t>n</a:t>
            </a:r>
            <a:r>
              <a:rPr lang="en-US" altLang="zh-CN" sz="2000" b="1" dirty="0">
                <a:solidFill>
                  <a:srgbClr val="FF0000"/>
                </a:solidFill>
                <a:latin typeface="Consolas" pitchFamily="49" charset="0"/>
                <a:ea typeface="楷体" pitchFamily="49" charset="-122"/>
                <a:cs typeface="Consolas" pitchFamily="49" charset="0"/>
              </a:rPr>
              <a:t>) = O(g(</a:t>
            </a:r>
            <a:r>
              <a:rPr lang="en-US" altLang="zh-CN" sz="2000" b="1" i="1" dirty="0">
                <a:solidFill>
                  <a:srgbClr val="FF0000"/>
                </a:solidFill>
                <a:latin typeface="Consolas" pitchFamily="49" charset="0"/>
                <a:ea typeface="楷体" pitchFamily="49" charset="-122"/>
                <a:cs typeface="Consolas" pitchFamily="49" charset="0"/>
              </a:rPr>
              <a:t>n</a:t>
            </a:r>
            <a:r>
              <a:rPr lang="en-US" altLang="zh-CN" sz="2000" b="1" dirty="0">
                <a:solidFill>
                  <a:srgbClr val="FF0000"/>
                </a:solidFill>
                <a:latin typeface="Consolas" pitchFamily="49" charset="0"/>
                <a:ea typeface="楷体" pitchFamily="49" charset="-122"/>
                <a:cs typeface="Consolas" pitchFamily="49" charset="0"/>
              </a:rPr>
              <a:t>)) </a:t>
            </a:r>
            <a:endParaRPr lang="zh-CN" altLang="en-US" sz="2000" b="1" dirty="0">
              <a:solidFill>
                <a:srgbClr val="FF0000"/>
              </a:solidFill>
            </a:endParaRPr>
          </a:p>
        </p:txBody>
      </p:sp>
      <p:sp>
        <p:nvSpPr>
          <p:cNvPr id="6" name="Text Box 6">
            <a:extLst>
              <a:ext uri="{FF2B5EF4-FFF2-40B4-BE49-F238E27FC236}">
                <a16:creationId xmlns:a16="http://schemas.microsoft.com/office/drawing/2014/main" id="{BE661B94-04FE-42D4-936B-C7F44B6145E0}"/>
              </a:ext>
            </a:extLst>
          </p:cNvPr>
          <p:cNvSpPr txBox="1">
            <a:spLocks noChangeArrowheads="1"/>
          </p:cNvSpPr>
          <p:nvPr/>
        </p:nvSpPr>
        <p:spPr bwMode="auto">
          <a:xfrm>
            <a:off x="909654" y="2564904"/>
            <a:ext cx="3913189" cy="3522466"/>
          </a:xfrm>
          <a:prstGeom prst="rect">
            <a:avLst/>
          </a:prstGeom>
          <a:gradFill flip="none"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2700000" scaled="1"/>
            <a:tileRect/>
          </a:gradFill>
          <a:ln>
            <a:headEnd/>
            <a:tailEnd/>
          </a:ln>
        </p:spPr>
        <p:style>
          <a:lnRef idx="1">
            <a:schemeClr val="accent3"/>
          </a:lnRef>
          <a:fillRef idx="2">
            <a:schemeClr val="accent3"/>
          </a:fillRef>
          <a:effectRef idx="1">
            <a:schemeClr val="accent3"/>
          </a:effectRef>
          <a:fontRef idx="minor">
            <a:schemeClr val="dk1"/>
          </a:fontRef>
        </p:style>
        <p:txBody>
          <a:bodyPr wrap="square" lIns="180000" tIns="144000" bIns="144000">
            <a:spAutoFit/>
          </a:bodyPr>
          <a:lstStyle/>
          <a:p>
            <a:pPr algn="l">
              <a:lnSpc>
                <a:spcPts val="2800"/>
              </a:lnSpc>
              <a:spcBef>
                <a:spcPts val="0"/>
              </a:spcBef>
            </a:pPr>
            <a:r>
              <a:rPr lang="en-US" altLang="zh-CN" sz="2000" dirty="0">
                <a:solidFill>
                  <a:srgbClr val="0000FF"/>
                </a:solidFill>
                <a:latin typeface="Consolas" pitchFamily="49" charset="0"/>
                <a:ea typeface="宋体" pitchFamily="2" charset="-122"/>
                <a:cs typeface="Consolas" pitchFamily="49" charset="0"/>
              </a:rPr>
              <a:t>int fun(int n) {</a:t>
            </a:r>
          </a:p>
          <a:p>
            <a:pPr algn="l">
              <a:lnSpc>
                <a:spcPts val="2800"/>
              </a:lnSpc>
              <a:spcBef>
                <a:spcPts val="0"/>
              </a:spcBef>
            </a:pPr>
            <a:r>
              <a:rPr lang="en-US" altLang="zh-CN" sz="2000" dirty="0">
                <a:solidFill>
                  <a:srgbClr val="0000FF"/>
                </a:solidFill>
                <a:latin typeface="Consolas" pitchFamily="49" charset="0"/>
                <a:ea typeface="宋体" pitchFamily="2" charset="-122"/>
                <a:cs typeface="Consolas" pitchFamily="49" charset="0"/>
              </a:rPr>
              <a:t>   </a:t>
            </a:r>
            <a:r>
              <a:rPr lang="en-US" altLang="zh-CN" sz="2000" dirty="0">
                <a:solidFill>
                  <a:srgbClr val="FF00FF"/>
                </a:solidFill>
                <a:latin typeface="Consolas" pitchFamily="49" charset="0"/>
                <a:ea typeface="宋体" pitchFamily="2" charset="-122"/>
                <a:cs typeface="Consolas" pitchFamily="49" charset="0"/>
              </a:rPr>
              <a:t>int </a:t>
            </a:r>
            <a:r>
              <a:rPr lang="en-US" altLang="zh-CN" sz="2000" dirty="0" err="1">
                <a:solidFill>
                  <a:srgbClr val="FF00FF"/>
                </a:solidFill>
                <a:latin typeface="Consolas" pitchFamily="49" charset="0"/>
                <a:ea typeface="宋体" pitchFamily="2" charset="-122"/>
                <a:cs typeface="Consolas" pitchFamily="49" charset="0"/>
              </a:rPr>
              <a:t>i</a:t>
            </a:r>
            <a:r>
              <a:rPr lang="zh-CN" altLang="en-US" sz="2000" dirty="0">
                <a:solidFill>
                  <a:srgbClr val="FF00FF"/>
                </a:solidFill>
                <a:latin typeface="Consolas" pitchFamily="49" charset="0"/>
                <a:ea typeface="宋体" pitchFamily="2" charset="-122"/>
                <a:cs typeface="Consolas" pitchFamily="49" charset="0"/>
              </a:rPr>
              <a:t>，</a:t>
            </a:r>
            <a:r>
              <a:rPr lang="en-US" altLang="zh-CN" sz="2000" dirty="0">
                <a:solidFill>
                  <a:srgbClr val="FF00FF"/>
                </a:solidFill>
                <a:latin typeface="Consolas" pitchFamily="49" charset="0"/>
                <a:ea typeface="宋体" pitchFamily="2" charset="-122"/>
                <a:cs typeface="Consolas" pitchFamily="49" charset="0"/>
              </a:rPr>
              <a:t>j</a:t>
            </a:r>
            <a:r>
              <a:rPr lang="zh-CN" altLang="en-US" sz="2000" dirty="0">
                <a:solidFill>
                  <a:srgbClr val="FF00FF"/>
                </a:solidFill>
                <a:latin typeface="Consolas" pitchFamily="49" charset="0"/>
                <a:ea typeface="宋体" pitchFamily="2" charset="-122"/>
                <a:cs typeface="Consolas" pitchFamily="49" charset="0"/>
              </a:rPr>
              <a:t>，</a:t>
            </a:r>
            <a:r>
              <a:rPr lang="en-US" altLang="zh-CN" sz="2000" dirty="0">
                <a:solidFill>
                  <a:srgbClr val="FF00FF"/>
                </a:solidFill>
                <a:latin typeface="Consolas" pitchFamily="49" charset="0"/>
                <a:ea typeface="宋体" pitchFamily="2" charset="-122"/>
                <a:cs typeface="Consolas" pitchFamily="49" charset="0"/>
              </a:rPr>
              <a:t>k</a:t>
            </a:r>
            <a:r>
              <a:rPr lang="zh-CN" altLang="en-US" sz="2000" dirty="0">
                <a:solidFill>
                  <a:srgbClr val="FF00FF"/>
                </a:solidFill>
                <a:latin typeface="Consolas" pitchFamily="49" charset="0"/>
                <a:ea typeface="宋体" pitchFamily="2" charset="-122"/>
                <a:cs typeface="Consolas" pitchFamily="49" charset="0"/>
              </a:rPr>
              <a:t>，</a:t>
            </a:r>
            <a:r>
              <a:rPr lang="en-US" altLang="zh-CN" sz="2000" dirty="0">
                <a:solidFill>
                  <a:srgbClr val="FF00FF"/>
                </a:solidFill>
                <a:latin typeface="Consolas" pitchFamily="49" charset="0"/>
                <a:ea typeface="宋体" pitchFamily="2" charset="-122"/>
                <a:cs typeface="Consolas" pitchFamily="49" charset="0"/>
              </a:rPr>
              <a:t>s; </a:t>
            </a:r>
          </a:p>
          <a:p>
            <a:pPr algn="l">
              <a:lnSpc>
                <a:spcPts val="2800"/>
              </a:lnSpc>
              <a:spcBef>
                <a:spcPts val="0"/>
              </a:spcBef>
            </a:pPr>
            <a:r>
              <a:rPr lang="en-US" altLang="zh-CN" sz="2000" dirty="0">
                <a:solidFill>
                  <a:srgbClr val="0000FF"/>
                </a:solidFill>
                <a:latin typeface="Consolas" pitchFamily="49" charset="0"/>
                <a:ea typeface="宋体" pitchFamily="2" charset="-122"/>
                <a:cs typeface="Consolas" pitchFamily="49" charset="0"/>
              </a:rPr>
              <a:t>   s=0;</a:t>
            </a:r>
          </a:p>
          <a:p>
            <a:pPr algn="l">
              <a:lnSpc>
                <a:spcPts val="2800"/>
              </a:lnSpc>
              <a:spcBef>
                <a:spcPts val="0"/>
              </a:spcBef>
            </a:pPr>
            <a:r>
              <a:rPr lang="en-US" altLang="zh-CN" sz="2000" dirty="0">
                <a:solidFill>
                  <a:srgbClr val="0000FF"/>
                </a:solidFill>
                <a:latin typeface="Consolas" pitchFamily="49" charset="0"/>
                <a:ea typeface="宋体" pitchFamily="2" charset="-122"/>
                <a:cs typeface="Consolas" pitchFamily="49" charset="0"/>
              </a:rPr>
              <a:t>   for (</a:t>
            </a:r>
            <a:r>
              <a:rPr lang="en-US" altLang="zh-CN" sz="2000" dirty="0" err="1">
                <a:solidFill>
                  <a:srgbClr val="0000FF"/>
                </a:solidFill>
                <a:latin typeface="Consolas" pitchFamily="49" charset="0"/>
                <a:ea typeface="宋体" pitchFamily="2" charset="-122"/>
                <a:cs typeface="Consolas" pitchFamily="49" charset="0"/>
              </a:rPr>
              <a:t>i</a:t>
            </a:r>
            <a:r>
              <a:rPr lang="en-US" altLang="zh-CN" sz="2000" dirty="0">
                <a:solidFill>
                  <a:srgbClr val="0000FF"/>
                </a:solidFill>
                <a:latin typeface="Consolas" pitchFamily="49" charset="0"/>
                <a:ea typeface="宋体" pitchFamily="2" charset="-122"/>
                <a:cs typeface="Consolas" pitchFamily="49" charset="0"/>
              </a:rPr>
              <a:t>=0;i&lt;=</a:t>
            </a:r>
            <a:r>
              <a:rPr lang="en-US" altLang="zh-CN" sz="2000" dirty="0" err="1">
                <a:solidFill>
                  <a:srgbClr val="0000FF"/>
                </a:solidFill>
                <a:latin typeface="Consolas" pitchFamily="49" charset="0"/>
                <a:ea typeface="宋体" pitchFamily="2" charset="-122"/>
                <a:cs typeface="Consolas" pitchFamily="49" charset="0"/>
              </a:rPr>
              <a:t>n;i</a:t>
            </a:r>
            <a:r>
              <a:rPr lang="en-US" altLang="zh-CN" sz="2000" dirty="0">
                <a:solidFill>
                  <a:srgbClr val="0000FF"/>
                </a:solidFill>
                <a:latin typeface="Consolas" pitchFamily="49" charset="0"/>
                <a:ea typeface="宋体" pitchFamily="2" charset="-122"/>
                <a:cs typeface="Consolas" pitchFamily="49" charset="0"/>
              </a:rPr>
              <a:t>++)           </a:t>
            </a:r>
          </a:p>
          <a:p>
            <a:pPr algn="l">
              <a:lnSpc>
                <a:spcPts val="2800"/>
              </a:lnSpc>
              <a:spcBef>
                <a:spcPts val="0"/>
              </a:spcBef>
            </a:pPr>
            <a:r>
              <a:rPr lang="en-US" altLang="zh-CN" sz="2000" dirty="0">
                <a:solidFill>
                  <a:srgbClr val="0000FF"/>
                </a:solidFill>
                <a:latin typeface="Consolas" pitchFamily="49" charset="0"/>
                <a:ea typeface="宋体" pitchFamily="2" charset="-122"/>
                <a:cs typeface="Consolas" pitchFamily="49" charset="0"/>
              </a:rPr>
              <a:t>      for(j=0;j&lt;=</a:t>
            </a:r>
            <a:r>
              <a:rPr lang="en-US" altLang="zh-CN" sz="2000" dirty="0" err="1">
                <a:solidFill>
                  <a:srgbClr val="0000FF"/>
                </a:solidFill>
                <a:latin typeface="Consolas" pitchFamily="49" charset="0"/>
                <a:ea typeface="宋体" pitchFamily="2" charset="-122"/>
                <a:cs typeface="Consolas" pitchFamily="49" charset="0"/>
              </a:rPr>
              <a:t>i;j</a:t>
            </a:r>
            <a:r>
              <a:rPr lang="en-US" altLang="zh-CN" sz="2000" dirty="0">
                <a:solidFill>
                  <a:srgbClr val="0000FF"/>
                </a:solidFill>
                <a:latin typeface="Consolas" pitchFamily="49" charset="0"/>
                <a:ea typeface="宋体" pitchFamily="2" charset="-122"/>
                <a:cs typeface="Consolas" pitchFamily="49" charset="0"/>
              </a:rPr>
              <a:t>++)  </a:t>
            </a:r>
            <a:br>
              <a:rPr lang="en-US" altLang="zh-CN" sz="2000" dirty="0">
                <a:solidFill>
                  <a:srgbClr val="0000FF"/>
                </a:solidFill>
                <a:latin typeface="Consolas" pitchFamily="49" charset="0"/>
                <a:ea typeface="宋体" pitchFamily="2" charset="-122"/>
                <a:cs typeface="Consolas" pitchFamily="49" charset="0"/>
              </a:rPr>
            </a:br>
            <a:r>
              <a:rPr lang="en-US" altLang="zh-CN" sz="2000" dirty="0">
                <a:solidFill>
                  <a:srgbClr val="0000FF"/>
                </a:solidFill>
                <a:latin typeface="Consolas" pitchFamily="49" charset="0"/>
                <a:ea typeface="宋体" pitchFamily="2" charset="-122"/>
                <a:cs typeface="Consolas" pitchFamily="49" charset="0"/>
              </a:rPr>
              <a:t>	 for (k=0;k&lt;=</a:t>
            </a:r>
            <a:r>
              <a:rPr lang="en-US" altLang="zh-CN" sz="2000" dirty="0" err="1">
                <a:solidFill>
                  <a:srgbClr val="0000FF"/>
                </a:solidFill>
                <a:latin typeface="Consolas" pitchFamily="49" charset="0"/>
                <a:ea typeface="宋体" pitchFamily="2" charset="-122"/>
                <a:cs typeface="Consolas" pitchFamily="49" charset="0"/>
              </a:rPr>
              <a:t>j;k</a:t>
            </a:r>
            <a:r>
              <a:rPr lang="en-US" altLang="zh-CN" sz="2000" dirty="0">
                <a:solidFill>
                  <a:srgbClr val="0000FF"/>
                </a:solidFill>
                <a:latin typeface="Consolas" pitchFamily="49" charset="0"/>
                <a:ea typeface="宋体" pitchFamily="2" charset="-122"/>
                <a:cs typeface="Consolas" pitchFamily="49" charset="0"/>
              </a:rPr>
              <a:t>++)     </a:t>
            </a:r>
          </a:p>
          <a:p>
            <a:pPr algn="l">
              <a:lnSpc>
                <a:spcPts val="2800"/>
              </a:lnSpc>
              <a:spcBef>
                <a:spcPts val="0"/>
              </a:spcBef>
            </a:pPr>
            <a:r>
              <a:rPr lang="en-US" altLang="zh-CN" sz="2000" dirty="0">
                <a:solidFill>
                  <a:srgbClr val="0000FF"/>
                </a:solidFill>
                <a:latin typeface="Consolas" pitchFamily="49" charset="0"/>
                <a:ea typeface="宋体" pitchFamily="2" charset="-122"/>
                <a:cs typeface="Consolas" pitchFamily="49" charset="0"/>
              </a:rPr>
              <a:t>           </a:t>
            </a:r>
            <a:r>
              <a:rPr lang="en-US" altLang="zh-CN" sz="2000" dirty="0">
                <a:solidFill>
                  <a:srgbClr val="C00000"/>
                </a:solidFill>
                <a:latin typeface="Consolas" pitchFamily="49" charset="0"/>
                <a:ea typeface="宋体" pitchFamily="2" charset="-122"/>
                <a:cs typeface="Consolas" pitchFamily="49" charset="0"/>
              </a:rPr>
              <a:t>s++; </a:t>
            </a:r>
          </a:p>
          <a:p>
            <a:pPr algn="l">
              <a:lnSpc>
                <a:spcPts val="2800"/>
              </a:lnSpc>
              <a:spcBef>
                <a:spcPts val="0"/>
              </a:spcBef>
            </a:pPr>
            <a:r>
              <a:rPr lang="en-US" altLang="zh-CN" sz="2000" dirty="0">
                <a:solidFill>
                  <a:srgbClr val="0000FF"/>
                </a:solidFill>
                <a:latin typeface="Consolas" pitchFamily="49" charset="0"/>
                <a:ea typeface="宋体" pitchFamily="2" charset="-122"/>
                <a:cs typeface="Consolas" pitchFamily="49" charset="0"/>
              </a:rPr>
              <a:t>   return(s);</a:t>
            </a:r>
          </a:p>
          <a:p>
            <a:pPr algn="l">
              <a:lnSpc>
                <a:spcPts val="2800"/>
              </a:lnSpc>
              <a:spcBef>
                <a:spcPts val="0"/>
              </a:spcBef>
            </a:pPr>
            <a:r>
              <a:rPr lang="en-US" altLang="zh-CN" sz="2000" dirty="0">
                <a:solidFill>
                  <a:srgbClr val="0000FF"/>
                </a:solidFill>
                <a:latin typeface="Consolas" pitchFamily="49" charset="0"/>
                <a:ea typeface="宋体" pitchFamily="2" charset="-122"/>
                <a:cs typeface="Consolas" pitchFamily="49" charset="0"/>
              </a:rPr>
              <a:t>}</a:t>
            </a:r>
          </a:p>
        </p:txBody>
      </p:sp>
      <p:grpSp>
        <p:nvGrpSpPr>
          <p:cNvPr id="7" name="组合 7">
            <a:extLst>
              <a:ext uri="{FF2B5EF4-FFF2-40B4-BE49-F238E27FC236}">
                <a16:creationId xmlns:a16="http://schemas.microsoft.com/office/drawing/2014/main" id="{8E93B1AD-CE57-40C8-A499-BB14EC8D1274}"/>
              </a:ext>
            </a:extLst>
          </p:cNvPr>
          <p:cNvGrpSpPr/>
          <p:nvPr/>
        </p:nvGrpSpPr>
        <p:grpSpPr>
          <a:xfrm>
            <a:off x="4965718" y="3222120"/>
            <a:ext cx="1801851" cy="2357454"/>
            <a:chOff x="4984727" y="1728762"/>
            <a:chExt cx="1491488" cy="2357454"/>
          </a:xfrm>
        </p:grpSpPr>
        <p:sp>
          <p:nvSpPr>
            <p:cNvPr id="8" name="右大括号 7">
              <a:extLst>
                <a:ext uri="{FF2B5EF4-FFF2-40B4-BE49-F238E27FC236}">
                  <a16:creationId xmlns:a16="http://schemas.microsoft.com/office/drawing/2014/main" id="{21856F3B-5F3A-4C51-A450-602A44C80035}"/>
                </a:ext>
              </a:extLst>
            </p:cNvPr>
            <p:cNvSpPr/>
            <p:nvPr/>
          </p:nvSpPr>
          <p:spPr>
            <a:xfrm>
              <a:off x="4984727" y="1728762"/>
              <a:ext cx="142876" cy="2357454"/>
            </a:xfrm>
            <a:prstGeom prst="rightBrace">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p>
          </p:txBody>
        </p:sp>
        <p:sp>
          <p:nvSpPr>
            <p:cNvPr id="9" name="TextBox 6">
              <a:extLst>
                <a:ext uri="{FF2B5EF4-FFF2-40B4-BE49-F238E27FC236}">
                  <a16:creationId xmlns:a16="http://schemas.microsoft.com/office/drawing/2014/main" id="{6E15085A-A0F9-490F-A8DA-21BD88F54ECA}"/>
                </a:ext>
              </a:extLst>
            </p:cNvPr>
            <p:cNvSpPr txBox="1"/>
            <p:nvPr/>
          </p:nvSpPr>
          <p:spPr>
            <a:xfrm>
              <a:off x="5199039" y="2285626"/>
              <a:ext cx="1277176" cy="1405193"/>
            </a:xfrm>
            <a:prstGeom prst="rect">
              <a:avLst/>
            </a:prstGeom>
            <a:noFill/>
          </p:spPr>
          <p:txBody>
            <a:bodyPr wrap="square" rtlCol="0">
              <a:spAutoFit/>
            </a:bodyPr>
            <a:lstStyle/>
            <a:p>
              <a:r>
                <a:rPr lang="zh-CN" altLang="en-US" sz="2000" dirty="0">
                  <a:solidFill>
                    <a:srgbClr val="0000FF"/>
                  </a:solidFill>
                  <a:latin typeface="仿宋" pitchFamily="49" charset="-122"/>
                  <a:ea typeface="仿宋" pitchFamily="49" charset="-122"/>
                  <a:cs typeface="Times New Roman" pitchFamily="18" charset="0"/>
                </a:rPr>
                <a:t>临时占用的存储空间：</a:t>
              </a:r>
              <a:r>
                <a:rPr lang="zh-CN" altLang="en-US" sz="2000" dirty="0">
                  <a:solidFill>
                    <a:srgbClr val="FF00FF"/>
                  </a:solidFill>
                  <a:latin typeface="仿宋" pitchFamily="49" charset="-122"/>
                  <a:ea typeface="仿宋" pitchFamily="49" charset="-122"/>
                  <a:cs typeface="Times New Roman" pitchFamily="18" charset="0"/>
                </a:rPr>
                <a:t>函数体内分配的空间</a:t>
              </a:r>
              <a:endParaRPr lang="zh-CN" altLang="en-US" sz="2000" dirty="0">
                <a:latin typeface="仿宋" pitchFamily="49" charset="-122"/>
                <a:ea typeface="仿宋" pitchFamily="49" charset="-122"/>
              </a:endParaRPr>
            </a:p>
          </p:txBody>
        </p:sp>
      </p:grpSp>
    </p:spTree>
    <p:extLst>
      <p:ext uri="{BB962C8B-B14F-4D97-AF65-F5344CB8AC3E}">
        <p14:creationId xmlns:p14="http://schemas.microsoft.com/office/powerpoint/2010/main" val="3046457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a:extLst>
              <a:ext uri="{FF2B5EF4-FFF2-40B4-BE49-F238E27FC236}">
                <a16:creationId xmlns:a16="http://schemas.microsoft.com/office/drawing/2014/main" id="{D225B785-F6A4-4FF8-9AF8-5480F694CD69}"/>
              </a:ext>
            </a:extLst>
          </p:cNvPr>
          <p:cNvSpPr txBox="1">
            <a:spLocks noChangeArrowheads="1"/>
          </p:cNvSpPr>
          <p:nvPr/>
        </p:nvSpPr>
        <p:spPr bwMode="auto">
          <a:xfrm>
            <a:off x="323528" y="1052736"/>
            <a:ext cx="6500858" cy="430887"/>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marL="457200" indent="-457200"/>
            <a:r>
              <a:rPr lang="zh-CN" altLang="en-US" sz="2000" dirty="0">
                <a:solidFill>
                  <a:srgbClr val="0000FF"/>
                </a:solidFill>
                <a:latin typeface="微软雅黑" pitchFamily="34" charset="-122"/>
                <a:ea typeface="微软雅黑" pitchFamily="34" charset="-122"/>
                <a:cs typeface="Times New Roman" pitchFamily="18" charset="0"/>
              </a:rPr>
              <a:t>为什么空间复杂度分析只考虑</a:t>
            </a:r>
            <a:r>
              <a:rPr lang="zh-CN" altLang="en-US" sz="2000" dirty="0">
                <a:solidFill>
                  <a:srgbClr val="FF0000"/>
                </a:solidFill>
                <a:latin typeface="微软雅黑" pitchFamily="34" charset="-122"/>
                <a:ea typeface="微软雅黑" pitchFamily="34" charset="-122"/>
                <a:cs typeface="Times New Roman" pitchFamily="18" charset="0"/>
              </a:rPr>
              <a:t>临时占用</a:t>
            </a:r>
            <a:r>
              <a:rPr lang="zh-CN" altLang="en-US" sz="2000">
                <a:solidFill>
                  <a:srgbClr val="FF0000"/>
                </a:solidFill>
                <a:latin typeface="微软雅黑" pitchFamily="34" charset="-122"/>
                <a:ea typeface="微软雅黑" pitchFamily="34" charset="-122"/>
                <a:cs typeface="Times New Roman" pitchFamily="18" charset="0"/>
              </a:rPr>
              <a:t>的存储空间？</a:t>
            </a:r>
            <a:endParaRPr lang="en-US" altLang="zh-CN" sz="2000" dirty="0">
              <a:solidFill>
                <a:srgbClr val="FF0000"/>
              </a:solidFill>
              <a:latin typeface="微软雅黑" pitchFamily="34" charset="-122"/>
              <a:ea typeface="微软雅黑" pitchFamily="34" charset="-122"/>
              <a:cs typeface="Times New Roman" pitchFamily="18" charset="0"/>
            </a:endParaRPr>
          </a:p>
        </p:txBody>
      </p:sp>
      <p:grpSp>
        <p:nvGrpSpPr>
          <p:cNvPr id="5" name="组合 18">
            <a:extLst>
              <a:ext uri="{FF2B5EF4-FFF2-40B4-BE49-F238E27FC236}">
                <a16:creationId xmlns:a16="http://schemas.microsoft.com/office/drawing/2014/main" id="{1626F5DB-9543-4208-9A96-77612668CEDC}"/>
              </a:ext>
            </a:extLst>
          </p:cNvPr>
          <p:cNvGrpSpPr/>
          <p:nvPr/>
        </p:nvGrpSpPr>
        <p:grpSpPr>
          <a:xfrm>
            <a:off x="429860" y="1950491"/>
            <a:ext cx="7929618" cy="4310713"/>
            <a:chOff x="357158" y="908050"/>
            <a:chExt cx="7929618" cy="4310713"/>
          </a:xfrm>
        </p:grpSpPr>
        <p:sp>
          <p:nvSpPr>
            <p:cNvPr id="6" name="Rectangle 5">
              <a:extLst>
                <a:ext uri="{FF2B5EF4-FFF2-40B4-BE49-F238E27FC236}">
                  <a16:creationId xmlns:a16="http://schemas.microsoft.com/office/drawing/2014/main" id="{A1B2D778-10ED-4BD9-9E34-59B76B42FF8F}"/>
                </a:ext>
              </a:extLst>
            </p:cNvPr>
            <p:cNvSpPr>
              <a:spLocks noChangeArrowheads="1"/>
            </p:cNvSpPr>
            <p:nvPr/>
          </p:nvSpPr>
          <p:spPr bwMode="auto">
            <a:xfrm>
              <a:off x="5634432" y="3988226"/>
              <a:ext cx="2159566" cy="43088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spAutoFit/>
            </a:bodyPr>
            <a:lstStyle/>
            <a:p>
              <a:pPr marL="457200" indent="-457200"/>
              <a:r>
                <a:rPr lang="en-US" altLang="zh-CN" sz="2000" dirty="0">
                  <a:solidFill>
                    <a:srgbClr val="0000FF"/>
                  </a:solidFill>
                  <a:latin typeface="Consolas" pitchFamily="49" charset="0"/>
                  <a:cs typeface="Consolas" pitchFamily="49" charset="0"/>
                </a:rPr>
                <a:t>    </a:t>
              </a:r>
              <a:r>
                <a:rPr lang="en-US" altLang="zh-CN" sz="2000" dirty="0" err="1">
                  <a:solidFill>
                    <a:srgbClr val="0000FF"/>
                  </a:solidFill>
                  <a:latin typeface="Consolas" pitchFamily="49" charset="0"/>
                  <a:cs typeface="Consolas" pitchFamily="49" charset="0"/>
                </a:rPr>
                <a:t>maxfun</a:t>
              </a:r>
              <a:r>
                <a:rPr lang="en-US" altLang="zh-CN" sz="2000" dirty="0">
                  <a:solidFill>
                    <a:srgbClr val="0000FF"/>
                  </a:solidFill>
                  <a:latin typeface="Consolas" pitchFamily="49" charset="0"/>
                  <a:cs typeface="Consolas" pitchFamily="49" charset="0"/>
                </a:rPr>
                <a:t>()  </a:t>
              </a:r>
            </a:p>
          </p:txBody>
        </p:sp>
        <p:sp>
          <p:nvSpPr>
            <p:cNvPr id="7" name="Rectangle 6">
              <a:extLst>
                <a:ext uri="{FF2B5EF4-FFF2-40B4-BE49-F238E27FC236}">
                  <a16:creationId xmlns:a16="http://schemas.microsoft.com/office/drawing/2014/main" id="{6EEC31CC-1EC9-49A9-BAF3-7E6A956BB95A}"/>
                </a:ext>
              </a:extLst>
            </p:cNvPr>
            <p:cNvSpPr>
              <a:spLocks noChangeArrowheads="1"/>
            </p:cNvSpPr>
            <p:nvPr/>
          </p:nvSpPr>
          <p:spPr bwMode="auto">
            <a:xfrm>
              <a:off x="5906041" y="2165836"/>
              <a:ext cx="1736374" cy="43088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spAutoFit/>
            </a:bodyPr>
            <a:lstStyle/>
            <a:p>
              <a:pPr marL="457200" indent="-457200"/>
              <a:r>
                <a:rPr lang="en-US" altLang="zh-CN" sz="2000" dirty="0">
                  <a:solidFill>
                    <a:srgbClr val="0000FF"/>
                  </a:solidFill>
                  <a:latin typeface="Consolas" pitchFamily="49" charset="0"/>
                  <a:cs typeface="Consolas" pitchFamily="49" charset="0"/>
                </a:rPr>
                <a:t>    max()  </a:t>
              </a:r>
            </a:p>
          </p:txBody>
        </p:sp>
        <p:sp>
          <p:nvSpPr>
            <p:cNvPr id="8" name="Freeform 7">
              <a:extLst>
                <a:ext uri="{FF2B5EF4-FFF2-40B4-BE49-F238E27FC236}">
                  <a16:creationId xmlns:a16="http://schemas.microsoft.com/office/drawing/2014/main" id="{4F86A19C-E28B-4998-B217-7EEE7F8341FE}"/>
                </a:ext>
              </a:extLst>
            </p:cNvPr>
            <p:cNvSpPr>
              <a:spLocks/>
            </p:cNvSpPr>
            <p:nvPr/>
          </p:nvSpPr>
          <p:spPr bwMode="auto">
            <a:xfrm>
              <a:off x="6823122" y="2554306"/>
              <a:ext cx="71437" cy="1428760"/>
            </a:xfrm>
            <a:custGeom>
              <a:avLst/>
              <a:gdLst/>
              <a:ahLst/>
              <a:cxnLst>
                <a:cxn ang="0">
                  <a:pos x="0" y="0"/>
                </a:cxn>
                <a:cxn ang="0">
                  <a:pos x="0" y="700"/>
                </a:cxn>
              </a:cxnLst>
              <a:rect l="0" t="0" r="r" b="b"/>
              <a:pathLst>
                <a:path w="1" h="700">
                  <a:moveTo>
                    <a:pt x="0" y="0"/>
                  </a:moveTo>
                  <a:lnTo>
                    <a:pt x="0" y="700"/>
                  </a:lnTo>
                </a:path>
              </a:pathLst>
            </a:custGeom>
            <a:noFill/>
            <a:ln w="57150" cap="flat" cmpd="sng">
              <a:solidFill>
                <a:srgbClr val="6600CC"/>
              </a:solidFill>
              <a:prstDash val="solid"/>
              <a:round/>
              <a:headEnd type="arrow" w="med" len="med"/>
              <a:tailEnd type="none" w="med" len="med"/>
            </a:ln>
            <a:effectLst/>
          </p:spPr>
          <p:txBody>
            <a:bodyPr wrap="square">
              <a:noAutofit/>
            </a:bodyPr>
            <a:lstStyle/>
            <a:p>
              <a:endParaRPr lang="zh-CN" altLang="en-US">
                <a:latin typeface="Consolas" pitchFamily="49" charset="0"/>
                <a:cs typeface="Consolas" pitchFamily="49" charset="0"/>
              </a:endParaRPr>
            </a:p>
          </p:txBody>
        </p:sp>
        <p:sp>
          <p:nvSpPr>
            <p:cNvPr id="9" name="Text Box 8">
              <a:extLst>
                <a:ext uri="{FF2B5EF4-FFF2-40B4-BE49-F238E27FC236}">
                  <a16:creationId xmlns:a16="http://schemas.microsoft.com/office/drawing/2014/main" id="{67D12E17-B266-4F9D-B934-D60E51001FA2}"/>
                </a:ext>
              </a:extLst>
            </p:cNvPr>
            <p:cNvSpPr txBox="1">
              <a:spLocks noChangeArrowheads="1"/>
            </p:cNvSpPr>
            <p:nvPr/>
          </p:nvSpPr>
          <p:spPr bwMode="auto">
            <a:xfrm>
              <a:off x="6918351" y="3087763"/>
              <a:ext cx="1368425" cy="430887"/>
            </a:xfrm>
            <a:prstGeom prst="rect">
              <a:avLst/>
            </a:prstGeom>
            <a:noFill/>
            <a:ln w="9525" algn="ctr">
              <a:noFill/>
              <a:miter lim="800000"/>
              <a:headEnd/>
              <a:tailEnd/>
            </a:ln>
            <a:effectLst/>
          </p:spPr>
          <p:txBody>
            <a:bodyPr>
              <a:spAutoFit/>
            </a:bodyPr>
            <a:lstStyle/>
            <a:p>
              <a:pPr marL="457200" indent="-457200"/>
              <a:r>
                <a:rPr lang="en-US" altLang="zh-CN" sz="2000">
                  <a:solidFill>
                    <a:srgbClr val="0000FF"/>
                  </a:solidFill>
                  <a:latin typeface="Consolas" pitchFamily="49" charset="0"/>
                  <a:cs typeface="Consolas" pitchFamily="49" charset="0"/>
                </a:rPr>
                <a:t>max(b</a:t>
              </a:r>
              <a:r>
                <a:rPr lang="zh-CN" altLang="en-US" sz="2000">
                  <a:solidFill>
                    <a:srgbClr val="0000FF"/>
                  </a:solidFill>
                  <a:latin typeface="Consolas" pitchFamily="49" charset="0"/>
                  <a:cs typeface="Consolas" pitchFamily="49" charset="0"/>
                </a:rPr>
                <a:t>，</a:t>
              </a:r>
              <a:r>
                <a:rPr lang="en-US" altLang="zh-CN" sz="2000">
                  <a:solidFill>
                    <a:srgbClr val="0000FF"/>
                  </a:solidFill>
                  <a:latin typeface="Consolas" pitchFamily="49" charset="0"/>
                  <a:cs typeface="Consolas" pitchFamily="49" charset="0"/>
                </a:rPr>
                <a:t>n</a:t>
              </a:r>
              <a:r>
                <a:rPr lang="en-US" altLang="zh-CN" sz="2000" dirty="0">
                  <a:solidFill>
                    <a:srgbClr val="0000FF"/>
                  </a:solidFill>
                  <a:latin typeface="Consolas" pitchFamily="49" charset="0"/>
                  <a:cs typeface="Consolas" pitchFamily="49" charset="0"/>
                </a:rPr>
                <a:t>)</a:t>
              </a:r>
            </a:p>
          </p:txBody>
        </p:sp>
        <p:sp>
          <p:nvSpPr>
            <p:cNvPr id="10" name="Text Box 4">
              <a:extLst>
                <a:ext uri="{FF2B5EF4-FFF2-40B4-BE49-F238E27FC236}">
                  <a16:creationId xmlns:a16="http://schemas.microsoft.com/office/drawing/2014/main" id="{832ECF03-9E57-437B-B087-60ECFE6CA850}"/>
                </a:ext>
              </a:extLst>
            </p:cNvPr>
            <p:cNvSpPr txBox="1">
              <a:spLocks noChangeArrowheads="1"/>
            </p:cNvSpPr>
            <p:nvPr/>
          </p:nvSpPr>
          <p:spPr bwMode="auto">
            <a:xfrm>
              <a:off x="357158" y="908050"/>
              <a:ext cx="3532184" cy="26608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144000" tIns="144000" bIns="144000">
              <a:spAutoFit/>
            </a:bodyPr>
            <a:lstStyle/>
            <a:p>
              <a:pPr marL="457200" indent="-457200" algn="just">
                <a:lnSpc>
                  <a:spcPct val="70000"/>
                </a:lnSpc>
                <a:spcBef>
                  <a:spcPts val="880"/>
                </a:spcBef>
              </a:pPr>
              <a:r>
                <a:rPr lang="en-US" altLang="zh-CN" sz="1800" dirty="0">
                  <a:solidFill>
                    <a:srgbClr val="0000FF"/>
                  </a:solidFill>
                  <a:latin typeface="Consolas" pitchFamily="49" charset="0"/>
                  <a:cs typeface="Consolas" pitchFamily="49" charset="0"/>
                </a:rPr>
                <a:t>int </a:t>
              </a:r>
              <a:r>
                <a:rPr lang="en-US" altLang="zh-CN" sz="1800" dirty="0">
                  <a:solidFill>
                    <a:srgbClr val="FF0000"/>
                  </a:solidFill>
                  <a:latin typeface="Consolas" pitchFamily="49" charset="0"/>
                  <a:cs typeface="Consolas" pitchFamily="49" charset="0"/>
                </a:rPr>
                <a:t>max(int a[]</a:t>
              </a:r>
              <a:r>
                <a:rPr lang="zh-CN" altLang="en-US" sz="1800" dirty="0">
                  <a:solidFill>
                    <a:srgbClr val="FF0000"/>
                  </a:solidFill>
                  <a:latin typeface="Consolas" pitchFamily="49" charset="0"/>
                  <a:cs typeface="Consolas" pitchFamily="49" charset="0"/>
                </a:rPr>
                <a:t>，</a:t>
              </a:r>
              <a:r>
                <a:rPr lang="en-US" altLang="zh-CN" sz="1800" dirty="0">
                  <a:solidFill>
                    <a:srgbClr val="FF0000"/>
                  </a:solidFill>
                  <a:latin typeface="Consolas" pitchFamily="49" charset="0"/>
                  <a:cs typeface="Consolas" pitchFamily="49" charset="0"/>
                </a:rPr>
                <a:t>int n)</a:t>
              </a:r>
            </a:p>
            <a:p>
              <a:pPr marL="457200" indent="-457200" algn="just">
                <a:lnSpc>
                  <a:spcPct val="70000"/>
                </a:lnSpc>
                <a:spcBef>
                  <a:spcPts val="880"/>
                </a:spcBef>
              </a:pPr>
              <a:r>
                <a:rPr lang="en-US" altLang="zh-CN" sz="1800" dirty="0">
                  <a:solidFill>
                    <a:srgbClr val="0000FF"/>
                  </a:solidFill>
                  <a:latin typeface="Consolas" pitchFamily="49" charset="0"/>
                  <a:cs typeface="Consolas" pitchFamily="49" charset="0"/>
                </a:rPr>
                <a:t>{</a:t>
              </a:r>
            </a:p>
            <a:p>
              <a:pPr marL="457200" indent="-457200" algn="just">
                <a:lnSpc>
                  <a:spcPct val="70000"/>
                </a:lnSpc>
                <a:spcBef>
                  <a:spcPts val="880"/>
                </a:spcBef>
              </a:pPr>
              <a:r>
                <a:rPr lang="en-US" altLang="zh-CN" sz="1800" dirty="0">
                  <a:solidFill>
                    <a:srgbClr val="0000FF"/>
                  </a:solidFill>
                  <a:latin typeface="Consolas" pitchFamily="49" charset="0"/>
                  <a:cs typeface="Consolas" pitchFamily="49" charset="0"/>
                </a:rPr>
                <a:t>   int </a:t>
              </a:r>
              <a:r>
                <a:rPr lang="en-US" altLang="zh-CN" sz="1800" dirty="0" err="1">
                  <a:solidFill>
                    <a:srgbClr val="0000FF"/>
                  </a:solidFill>
                  <a:latin typeface="Consolas" pitchFamily="49" charset="0"/>
                  <a:cs typeface="Consolas" pitchFamily="49" charset="0"/>
                </a:rPr>
                <a:t>i</a:t>
              </a:r>
              <a:r>
                <a:rPr lang="zh-CN" altLang="en-US" sz="1800" dirty="0">
                  <a:solidFill>
                    <a:srgbClr val="0000FF"/>
                  </a:solidFill>
                  <a:latin typeface="Consolas" pitchFamily="49" charset="0"/>
                  <a:cs typeface="Consolas" pitchFamily="49" charset="0"/>
                </a:rPr>
                <a:t>，</a:t>
              </a:r>
              <a:r>
                <a:rPr lang="en-US" altLang="zh-CN" sz="1800" dirty="0">
                  <a:solidFill>
                    <a:srgbClr val="0000FF"/>
                  </a:solidFill>
                  <a:latin typeface="Consolas" pitchFamily="49" charset="0"/>
                  <a:cs typeface="Consolas" pitchFamily="49" charset="0"/>
                </a:rPr>
                <a:t>maxi=0;</a:t>
              </a:r>
            </a:p>
            <a:p>
              <a:pPr marL="457200" indent="-457200" algn="just">
                <a:lnSpc>
                  <a:spcPct val="70000"/>
                </a:lnSpc>
                <a:spcBef>
                  <a:spcPts val="880"/>
                </a:spcBef>
              </a:pPr>
              <a:r>
                <a:rPr lang="en-US" altLang="zh-CN" sz="1800" dirty="0">
                  <a:solidFill>
                    <a:srgbClr val="0000FF"/>
                  </a:solidFill>
                  <a:latin typeface="Consolas" pitchFamily="49" charset="0"/>
                  <a:cs typeface="Consolas" pitchFamily="49" charset="0"/>
                </a:rPr>
                <a:t>   </a:t>
              </a:r>
              <a:r>
                <a:rPr lang="nb-NO" altLang="zh-CN" sz="1800" dirty="0">
                  <a:solidFill>
                    <a:srgbClr val="0000FF"/>
                  </a:solidFill>
                  <a:latin typeface="Consolas" pitchFamily="49" charset="0"/>
                  <a:cs typeface="Consolas" pitchFamily="49" charset="0"/>
                </a:rPr>
                <a:t>for (i=1;i&lt;=n;i++)</a:t>
              </a:r>
            </a:p>
            <a:p>
              <a:pPr marL="457200" indent="-457200" algn="just">
                <a:lnSpc>
                  <a:spcPct val="70000"/>
                </a:lnSpc>
                <a:spcBef>
                  <a:spcPts val="880"/>
                </a:spcBef>
              </a:pPr>
              <a:r>
                <a:rPr lang="nb-NO" altLang="zh-CN" sz="1800" dirty="0">
                  <a:solidFill>
                    <a:srgbClr val="0000FF"/>
                  </a:solidFill>
                  <a:latin typeface="Consolas" pitchFamily="49" charset="0"/>
                  <a:cs typeface="Consolas" pitchFamily="49" charset="0"/>
                </a:rPr>
                <a:t>	  </a:t>
              </a:r>
              <a:r>
                <a:rPr lang="en-US" altLang="zh-CN" sz="1800" dirty="0">
                  <a:solidFill>
                    <a:srgbClr val="0000FF"/>
                  </a:solidFill>
                  <a:latin typeface="Consolas" pitchFamily="49" charset="0"/>
                  <a:cs typeface="Consolas" pitchFamily="49" charset="0"/>
                </a:rPr>
                <a:t>if (a[</a:t>
              </a:r>
              <a:r>
                <a:rPr lang="en-US" altLang="zh-CN" sz="1800" dirty="0" err="1">
                  <a:solidFill>
                    <a:srgbClr val="0000FF"/>
                  </a:solidFill>
                  <a:latin typeface="Consolas" pitchFamily="49" charset="0"/>
                  <a:cs typeface="Consolas" pitchFamily="49" charset="0"/>
                </a:rPr>
                <a:t>i</a:t>
              </a:r>
              <a:r>
                <a:rPr lang="en-US" altLang="zh-CN" sz="1800" dirty="0">
                  <a:solidFill>
                    <a:srgbClr val="0000FF"/>
                  </a:solidFill>
                  <a:latin typeface="Consolas" pitchFamily="49" charset="0"/>
                  <a:cs typeface="Consolas" pitchFamily="49" charset="0"/>
                </a:rPr>
                <a:t>]&gt;a[maxi])</a:t>
              </a:r>
            </a:p>
            <a:p>
              <a:pPr marL="457200" indent="-457200" algn="just">
                <a:lnSpc>
                  <a:spcPct val="70000"/>
                </a:lnSpc>
                <a:spcBef>
                  <a:spcPts val="880"/>
                </a:spcBef>
              </a:pPr>
              <a:r>
                <a:rPr lang="en-US" altLang="zh-CN" sz="1800" dirty="0">
                  <a:solidFill>
                    <a:srgbClr val="0000FF"/>
                  </a:solidFill>
                  <a:latin typeface="Consolas" pitchFamily="49" charset="0"/>
                  <a:cs typeface="Consolas" pitchFamily="49" charset="0"/>
                </a:rPr>
                <a:t>		 maxi=</a:t>
              </a:r>
              <a:r>
                <a:rPr lang="en-US" altLang="zh-CN" sz="1800" dirty="0" err="1">
                  <a:solidFill>
                    <a:srgbClr val="0000FF"/>
                  </a:solidFill>
                  <a:latin typeface="Consolas" pitchFamily="49" charset="0"/>
                  <a:cs typeface="Consolas" pitchFamily="49" charset="0"/>
                </a:rPr>
                <a:t>i</a:t>
              </a:r>
              <a:r>
                <a:rPr lang="en-US" altLang="zh-CN" sz="1800" dirty="0">
                  <a:solidFill>
                    <a:srgbClr val="0000FF"/>
                  </a:solidFill>
                  <a:latin typeface="Consolas" pitchFamily="49" charset="0"/>
                  <a:cs typeface="Consolas" pitchFamily="49" charset="0"/>
                </a:rPr>
                <a:t>;</a:t>
              </a:r>
            </a:p>
            <a:p>
              <a:pPr marL="457200" indent="-457200" algn="just">
                <a:lnSpc>
                  <a:spcPct val="70000"/>
                </a:lnSpc>
                <a:spcBef>
                  <a:spcPts val="880"/>
                </a:spcBef>
              </a:pPr>
              <a:r>
                <a:rPr lang="en-US" altLang="zh-CN" sz="1800" dirty="0">
                  <a:solidFill>
                    <a:srgbClr val="0000FF"/>
                  </a:solidFill>
                  <a:latin typeface="Consolas" pitchFamily="49" charset="0"/>
                  <a:cs typeface="Consolas" pitchFamily="49" charset="0"/>
                </a:rPr>
                <a:t>   return a[maxi];</a:t>
              </a:r>
            </a:p>
            <a:p>
              <a:pPr marL="457200" indent="-457200" algn="just">
                <a:lnSpc>
                  <a:spcPct val="70000"/>
                </a:lnSpc>
                <a:spcBef>
                  <a:spcPts val="880"/>
                </a:spcBef>
              </a:pPr>
              <a:r>
                <a:rPr lang="en-US" altLang="zh-CN" sz="1800" dirty="0">
                  <a:solidFill>
                    <a:srgbClr val="0000FF"/>
                  </a:solidFill>
                  <a:latin typeface="Consolas" pitchFamily="49" charset="0"/>
                  <a:cs typeface="Consolas" pitchFamily="49" charset="0"/>
                </a:rPr>
                <a:t>}</a:t>
              </a:r>
            </a:p>
          </p:txBody>
        </p:sp>
        <p:sp>
          <p:nvSpPr>
            <p:cNvPr id="11" name="Text Box 5">
              <a:extLst>
                <a:ext uri="{FF2B5EF4-FFF2-40B4-BE49-F238E27FC236}">
                  <a16:creationId xmlns:a16="http://schemas.microsoft.com/office/drawing/2014/main" id="{8AF90239-7119-4C93-AE1E-6E0C8FA9118E}"/>
                </a:ext>
              </a:extLst>
            </p:cNvPr>
            <p:cNvSpPr txBox="1">
              <a:spLocks noChangeArrowheads="1"/>
            </p:cNvSpPr>
            <p:nvPr/>
          </p:nvSpPr>
          <p:spPr bwMode="auto">
            <a:xfrm>
              <a:off x="357158" y="3819955"/>
              <a:ext cx="4564313" cy="139880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144000" tIns="144000" bIns="144000">
              <a:spAutoFit/>
            </a:bodyPr>
            <a:lstStyle/>
            <a:p>
              <a:pPr marL="457200" indent="-457200" algn="just"/>
              <a:r>
                <a:rPr lang="en-US" altLang="zh-CN" sz="1800" dirty="0">
                  <a:solidFill>
                    <a:srgbClr val="0000FF"/>
                  </a:solidFill>
                  <a:latin typeface="Consolas" pitchFamily="49" charset="0"/>
                  <a:cs typeface="Consolas" pitchFamily="49" charset="0"/>
                </a:rPr>
                <a:t>void </a:t>
              </a:r>
              <a:r>
                <a:rPr lang="en-US" altLang="zh-CN" sz="1800" dirty="0" err="1">
                  <a:solidFill>
                    <a:srgbClr val="FF0000"/>
                  </a:solidFill>
                  <a:latin typeface="Consolas" pitchFamily="49" charset="0"/>
                  <a:cs typeface="Consolas" pitchFamily="49" charset="0"/>
                </a:rPr>
                <a:t>maxfun</a:t>
              </a:r>
              <a:r>
                <a:rPr lang="en-US" altLang="zh-CN" sz="1800" dirty="0">
                  <a:solidFill>
                    <a:srgbClr val="FF0000"/>
                  </a:solidFill>
                  <a:latin typeface="Consolas" pitchFamily="49" charset="0"/>
                  <a:cs typeface="Consolas" pitchFamily="49" charset="0"/>
                </a:rPr>
                <a:t>() {</a:t>
              </a:r>
              <a:endParaRPr lang="pt-BR" altLang="zh-CN" sz="1800" dirty="0">
                <a:solidFill>
                  <a:srgbClr val="FF0000"/>
                </a:solidFill>
                <a:latin typeface="Consolas" pitchFamily="49" charset="0"/>
                <a:cs typeface="Consolas" pitchFamily="49" charset="0"/>
              </a:endParaRPr>
            </a:p>
            <a:p>
              <a:pPr marL="457200" indent="-457200" algn="just"/>
              <a:r>
                <a:rPr lang="pt-BR" altLang="zh-CN" sz="1800" dirty="0">
                  <a:solidFill>
                    <a:srgbClr val="0000FF"/>
                  </a:solidFill>
                  <a:latin typeface="Consolas" pitchFamily="49" charset="0"/>
                  <a:cs typeface="Consolas" pitchFamily="49" charset="0"/>
                </a:rPr>
                <a:t>   int b[]={1</a:t>
              </a:r>
              <a:r>
                <a:rPr lang="zh-CN" altLang="pt-BR" sz="1800" dirty="0">
                  <a:solidFill>
                    <a:srgbClr val="0000FF"/>
                  </a:solidFill>
                  <a:latin typeface="Consolas" pitchFamily="49" charset="0"/>
                  <a:cs typeface="Consolas" pitchFamily="49" charset="0"/>
                </a:rPr>
                <a:t>，</a:t>
              </a:r>
              <a:r>
                <a:rPr lang="pt-BR" altLang="zh-CN" sz="1800" dirty="0">
                  <a:solidFill>
                    <a:srgbClr val="0000FF"/>
                  </a:solidFill>
                  <a:latin typeface="Consolas" pitchFamily="49" charset="0"/>
                  <a:cs typeface="Consolas" pitchFamily="49" charset="0"/>
                </a:rPr>
                <a:t>2</a:t>
              </a:r>
              <a:r>
                <a:rPr lang="zh-CN" altLang="pt-BR" sz="1800" dirty="0">
                  <a:solidFill>
                    <a:srgbClr val="0000FF"/>
                  </a:solidFill>
                  <a:latin typeface="Consolas" pitchFamily="49" charset="0"/>
                  <a:cs typeface="Consolas" pitchFamily="49" charset="0"/>
                </a:rPr>
                <a:t>，</a:t>
              </a:r>
              <a:r>
                <a:rPr lang="pt-BR" altLang="zh-CN" sz="1800" dirty="0">
                  <a:solidFill>
                    <a:srgbClr val="0000FF"/>
                  </a:solidFill>
                  <a:latin typeface="Consolas" pitchFamily="49" charset="0"/>
                  <a:cs typeface="Consolas" pitchFamily="49" charset="0"/>
                </a:rPr>
                <a:t>3</a:t>
              </a:r>
              <a:r>
                <a:rPr lang="zh-CN" altLang="pt-BR" sz="1800" dirty="0">
                  <a:solidFill>
                    <a:srgbClr val="0000FF"/>
                  </a:solidFill>
                  <a:latin typeface="Consolas" pitchFamily="49" charset="0"/>
                  <a:cs typeface="Consolas" pitchFamily="49" charset="0"/>
                </a:rPr>
                <a:t>，</a:t>
              </a:r>
              <a:r>
                <a:rPr lang="pt-BR" altLang="zh-CN" sz="1800" dirty="0">
                  <a:solidFill>
                    <a:srgbClr val="0000FF"/>
                  </a:solidFill>
                  <a:latin typeface="Consolas" pitchFamily="49" charset="0"/>
                  <a:cs typeface="Consolas" pitchFamily="49" charset="0"/>
                </a:rPr>
                <a:t>4</a:t>
              </a:r>
              <a:r>
                <a:rPr lang="zh-CN" altLang="pt-BR" sz="1800" dirty="0">
                  <a:solidFill>
                    <a:srgbClr val="0000FF"/>
                  </a:solidFill>
                  <a:latin typeface="Consolas" pitchFamily="49" charset="0"/>
                  <a:cs typeface="Consolas" pitchFamily="49" charset="0"/>
                </a:rPr>
                <a:t>，</a:t>
              </a:r>
              <a:r>
                <a:rPr lang="pt-BR" altLang="zh-CN" sz="1800" dirty="0">
                  <a:solidFill>
                    <a:srgbClr val="0000FF"/>
                  </a:solidFill>
                  <a:latin typeface="Consolas" pitchFamily="49" charset="0"/>
                  <a:cs typeface="Consolas" pitchFamily="49" charset="0"/>
                </a:rPr>
                <a:t>5}</a:t>
              </a:r>
              <a:r>
                <a:rPr lang="zh-CN" altLang="pt-BR" sz="1800" dirty="0">
                  <a:solidFill>
                    <a:srgbClr val="0000FF"/>
                  </a:solidFill>
                  <a:latin typeface="Consolas" pitchFamily="49" charset="0"/>
                  <a:cs typeface="Consolas" pitchFamily="49" charset="0"/>
                </a:rPr>
                <a:t>，</a:t>
              </a:r>
              <a:r>
                <a:rPr lang="pt-BR" altLang="zh-CN" sz="1800" dirty="0">
                  <a:solidFill>
                    <a:srgbClr val="0000FF"/>
                  </a:solidFill>
                  <a:latin typeface="Consolas" pitchFamily="49" charset="0"/>
                  <a:cs typeface="Consolas" pitchFamily="49" charset="0"/>
                </a:rPr>
                <a:t>n=5;</a:t>
              </a:r>
            </a:p>
            <a:p>
              <a:pPr marL="457200" indent="-457200" algn="just"/>
              <a:r>
                <a:rPr lang="pt-BR" altLang="zh-CN" sz="1800" dirty="0">
                  <a:solidFill>
                    <a:srgbClr val="0000FF"/>
                  </a:solidFill>
                  <a:latin typeface="Consolas" pitchFamily="49" charset="0"/>
                  <a:cs typeface="Consolas" pitchFamily="49" charset="0"/>
                </a:rPr>
                <a:t>	 printf("Max=%d\n"</a:t>
              </a:r>
              <a:r>
                <a:rPr lang="zh-CN" altLang="pt-BR" sz="1800" dirty="0">
                  <a:solidFill>
                    <a:srgbClr val="0000FF"/>
                  </a:solidFill>
                  <a:latin typeface="Consolas" pitchFamily="49" charset="0"/>
                  <a:cs typeface="Consolas" pitchFamily="49" charset="0"/>
                </a:rPr>
                <a:t>，</a:t>
              </a:r>
              <a:r>
                <a:rPr lang="pt-BR" altLang="zh-CN" sz="1800" dirty="0">
                  <a:solidFill>
                    <a:srgbClr val="FF00FF"/>
                  </a:solidFill>
                  <a:latin typeface="Consolas" pitchFamily="49" charset="0"/>
                  <a:cs typeface="Consolas" pitchFamily="49" charset="0"/>
                </a:rPr>
                <a:t>max(b</a:t>
              </a:r>
              <a:r>
                <a:rPr lang="zh-CN" altLang="pt-BR" sz="1800" dirty="0">
                  <a:solidFill>
                    <a:srgbClr val="FF00FF"/>
                  </a:solidFill>
                  <a:latin typeface="Consolas" pitchFamily="49" charset="0"/>
                  <a:cs typeface="Consolas" pitchFamily="49" charset="0"/>
                </a:rPr>
                <a:t>，</a:t>
              </a:r>
              <a:r>
                <a:rPr lang="pt-BR" altLang="zh-CN" sz="1800" dirty="0">
                  <a:solidFill>
                    <a:srgbClr val="FF00FF"/>
                  </a:solidFill>
                  <a:latin typeface="Consolas" pitchFamily="49" charset="0"/>
                  <a:cs typeface="Consolas" pitchFamily="49" charset="0"/>
                </a:rPr>
                <a:t>n)</a:t>
              </a:r>
              <a:r>
                <a:rPr lang="pt-BR" altLang="zh-CN" sz="1800" dirty="0">
                  <a:solidFill>
                    <a:srgbClr val="0000FF"/>
                  </a:solidFill>
                  <a:latin typeface="Consolas" pitchFamily="49" charset="0"/>
                  <a:cs typeface="Consolas" pitchFamily="49" charset="0"/>
                </a:rPr>
                <a:t>);</a:t>
              </a:r>
            </a:p>
            <a:p>
              <a:pPr marL="457200" indent="-457200" algn="just"/>
              <a:r>
                <a:rPr lang="pt-BR" altLang="zh-CN" sz="1800" dirty="0">
                  <a:solidFill>
                    <a:srgbClr val="0000FF"/>
                  </a:solidFill>
                  <a:latin typeface="Consolas" pitchFamily="49" charset="0"/>
                  <a:cs typeface="Consolas" pitchFamily="49" charset="0"/>
                </a:rPr>
                <a:t>}</a:t>
              </a:r>
              <a:endParaRPr lang="en-US" altLang="zh-CN" sz="1800" dirty="0">
                <a:solidFill>
                  <a:srgbClr val="0000FF"/>
                </a:solidFill>
                <a:latin typeface="Consolas" pitchFamily="49" charset="0"/>
                <a:cs typeface="Consolas" pitchFamily="49" charset="0"/>
              </a:endParaRPr>
            </a:p>
          </p:txBody>
        </p:sp>
        <p:cxnSp>
          <p:nvCxnSpPr>
            <p:cNvPr id="12" name="直接箭头连接符 11">
              <a:extLst>
                <a:ext uri="{FF2B5EF4-FFF2-40B4-BE49-F238E27FC236}">
                  <a16:creationId xmlns:a16="http://schemas.microsoft.com/office/drawing/2014/main" id="{F8C2409A-4B18-4478-8B3B-7C39854E07E0}"/>
                </a:ext>
              </a:extLst>
            </p:cNvPr>
            <p:cNvCxnSpPr/>
            <p:nvPr/>
          </p:nvCxnSpPr>
          <p:spPr>
            <a:xfrm rot="5400000" flipH="1" flipV="1">
              <a:off x="1745078" y="3629088"/>
              <a:ext cx="288000" cy="1588"/>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sp>
        <p:nvSpPr>
          <p:cNvPr id="13" name="TextBox 13">
            <a:extLst>
              <a:ext uri="{FF2B5EF4-FFF2-40B4-BE49-F238E27FC236}">
                <a16:creationId xmlns:a16="http://schemas.microsoft.com/office/drawing/2014/main" id="{5B08C6B8-4E08-4130-8A42-54034F5DC9D6}"/>
              </a:ext>
            </a:extLst>
          </p:cNvPr>
          <p:cNvSpPr txBox="1"/>
          <p:nvPr/>
        </p:nvSpPr>
        <p:spPr>
          <a:xfrm>
            <a:off x="4177189" y="1719979"/>
            <a:ext cx="4786346" cy="746230"/>
          </a:xfrm>
          <a:prstGeom prst="rect">
            <a:avLst/>
          </a:prstGeom>
          <a:noFill/>
          <a:ln>
            <a:noFill/>
          </a:ln>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zh-CN" altLang="en-US" sz="2000" dirty="0">
                <a:solidFill>
                  <a:srgbClr val="FF00FF"/>
                </a:solidFill>
                <a:latin typeface="Consolas" pitchFamily="49" charset="0"/>
                <a:ea typeface="方正硬笔楷书简体" pitchFamily="65" charset="-122"/>
                <a:cs typeface="Consolas" pitchFamily="49" charset="0"/>
              </a:rPr>
              <a:t>如果</a:t>
            </a:r>
            <a:r>
              <a:rPr lang="en-US" altLang="zh-CN" sz="2000" dirty="0">
                <a:solidFill>
                  <a:srgbClr val="FF00FF"/>
                </a:solidFill>
                <a:latin typeface="Consolas" pitchFamily="49" charset="0"/>
                <a:ea typeface="方正硬笔楷书简体" pitchFamily="65" charset="-122"/>
                <a:cs typeface="Consolas" pitchFamily="49" charset="0"/>
              </a:rPr>
              <a:t>max</a:t>
            </a:r>
            <a:r>
              <a:rPr lang="zh-CN" altLang="en-US" sz="2000" dirty="0">
                <a:solidFill>
                  <a:srgbClr val="FF00FF"/>
                </a:solidFill>
                <a:latin typeface="Consolas" pitchFamily="49" charset="0"/>
                <a:ea typeface="方正硬笔楷书简体" pitchFamily="65" charset="-122"/>
                <a:cs typeface="Consolas" pitchFamily="49" charset="0"/>
              </a:rPr>
              <a:t>函数中再考虑形参</a:t>
            </a:r>
            <a:r>
              <a:rPr lang="en-US" altLang="zh-CN" sz="2000" i="1" dirty="0">
                <a:solidFill>
                  <a:srgbClr val="FF00FF"/>
                </a:solidFill>
                <a:latin typeface="Consolas" pitchFamily="49" charset="0"/>
                <a:ea typeface="方正硬笔楷书简体" pitchFamily="65" charset="-122"/>
                <a:cs typeface="Consolas" pitchFamily="49" charset="0"/>
              </a:rPr>
              <a:t>a</a:t>
            </a:r>
            <a:r>
              <a:rPr lang="zh-CN" altLang="en-US" sz="2000" dirty="0">
                <a:solidFill>
                  <a:srgbClr val="FF00FF"/>
                </a:solidFill>
                <a:latin typeface="Consolas" pitchFamily="49" charset="0"/>
                <a:ea typeface="方正硬笔楷书简体" pitchFamily="65" charset="-122"/>
                <a:cs typeface="Consolas" pitchFamily="49" charset="0"/>
              </a:rPr>
              <a:t>的空间，就重复累计了执行整个算法所需的空间。</a:t>
            </a:r>
          </a:p>
        </p:txBody>
      </p:sp>
      <p:grpSp>
        <p:nvGrpSpPr>
          <p:cNvPr id="14" name="组合 19">
            <a:extLst>
              <a:ext uri="{FF2B5EF4-FFF2-40B4-BE49-F238E27FC236}">
                <a16:creationId xmlns:a16="http://schemas.microsoft.com/office/drawing/2014/main" id="{E15C90D8-E467-48C8-A6E7-11F502F304BA}"/>
              </a:ext>
            </a:extLst>
          </p:cNvPr>
          <p:cNvGrpSpPr/>
          <p:nvPr/>
        </p:nvGrpSpPr>
        <p:grpSpPr>
          <a:xfrm>
            <a:off x="4085898" y="2710891"/>
            <a:ext cx="4916490" cy="397032"/>
            <a:chOff x="4013196" y="1668450"/>
            <a:chExt cx="4916490" cy="397032"/>
          </a:xfrm>
        </p:grpSpPr>
        <p:sp>
          <p:nvSpPr>
            <p:cNvPr id="15" name="TextBox 9">
              <a:extLst>
                <a:ext uri="{FF2B5EF4-FFF2-40B4-BE49-F238E27FC236}">
                  <a16:creationId xmlns:a16="http://schemas.microsoft.com/office/drawing/2014/main" id="{EDB088BA-B895-42C5-85AC-006A3E233CF3}"/>
                </a:ext>
              </a:extLst>
            </p:cNvPr>
            <p:cNvSpPr txBox="1"/>
            <p:nvPr/>
          </p:nvSpPr>
          <p:spPr>
            <a:xfrm>
              <a:off x="5214942" y="1668450"/>
              <a:ext cx="3714744" cy="397032"/>
            </a:xfrm>
            <a:prstGeom prst="rect">
              <a:avLst/>
            </a:prstGeom>
            <a:noFill/>
          </p:spPr>
          <p:txBody>
            <a:bodyPr wrap="square" rtlCol="0">
              <a:spAutoFit/>
            </a:bodyPr>
            <a:lstStyle/>
            <a:p>
              <a:pPr algn="l"/>
              <a:r>
                <a:rPr lang="pt-BR" altLang="zh-CN" sz="1800" dirty="0">
                  <a:solidFill>
                    <a:srgbClr val="0000FF"/>
                  </a:solidFill>
                  <a:latin typeface="Consolas" pitchFamily="49" charset="0"/>
                  <a:ea typeface="楷体" pitchFamily="49" charset="-122"/>
                  <a:cs typeface="Consolas" pitchFamily="49" charset="0"/>
                </a:rPr>
                <a:t>max</a:t>
              </a:r>
              <a:r>
                <a:rPr lang="zh-CN" altLang="pt-BR" sz="1800" dirty="0">
                  <a:solidFill>
                    <a:srgbClr val="0000FF"/>
                  </a:solidFill>
                  <a:latin typeface="Consolas" pitchFamily="49" charset="0"/>
                  <a:ea typeface="楷体" pitchFamily="49" charset="-122"/>
                  <a:cs typeface="Consolas" pitchFamily="49" charset="0"/>
                </a:rPr>
                <a:t>算法</a:t>
              </a:r>
              <a:r>
                <a:rPr lang="zh-CN" altLang="en-US" sz="1800" dirty="0">
                  <a:solidFill>
                    <a:srgbClr val="0000FF"/>
                  </a:solidFill>
                  <a:latin typeface="Consolas" pitchFamily="49" charset="0"/>
                  <a:ea typeface="楷体" pitchFamily="49" charset="-122"/>
                  <a:cs typeface="Consolas" pitchFamily="49" charset="0"/>
                </a:rPr>
                <a:t>的</a:t>
              </a:r>
              <a:r>
                <a:rPr lang="zh-CN" altLang="pt-BR" sz="1800" dirty="0">
                  <a:solidFill>
                    <a:srgbClr val="0000FF"/>
                  </a:solidFill>
                  <a:latin typeface="Consolas" pitchFamily="49" charset="0"/>
                  <a:ea typeface="楷体" pitchFamily="49" charset="-122"/>
                  <a:cs typeface="Consolas" pitchFamily="49" charset="0"/>
                </a:rPr>
                <a:t>空间复杂度为</a:t>
              </a:r>
              <a:r>
                <a:rPr lang="pt-BR" altLang="zh-CN" sz="1800" dirty="0">
                  <a:solidFill>
                    <a:srgbClr val="0000FF"/>
                  </a:solidFill>
                  <a:latin typeface="Consolas" pitchFamily="49" charset="0"/>
                  <a:ea typeface="楷体" pitchFamily="49" charset="-122"/>
                  <a:cs typeface="Consolas" pitchFamily="49" charset="0"/>
                </a:rPr>
                <a:t>O(1)</a:t>
              </a:r>
              <a:endParaRPr lang="zh-CN" altLang="en-US" sz="1800" dirty="0">
                <a:solidFill>
                  <a:srgbClr val="0000FF"/>
                </a:solidFill>
                <a:latin typeface="Consolas" pitchFamily="49" charset="0"/>
                <a:cs typeface="Consolas" pitchFamily="49" charset="0"/>
              </a:endParaRPr>
            </a:p>
          </p:txBody>
        </p:sp>
        <p:sp>
          <p:nvSpPr>
            <p:cNvPr id="16" name="右箭头 16">
              <a:extLst>
                <a:ext uri="{FF2B5EF4-FFF2-40B4-BE49-F238E27FC236}">
                  <a16:creationId xmlns:a16="http://schemas.microsoft.com/office/drawing/2014/main" id="{A28C5116-AC58-4132-940A-1B4108E12C41}"/>
                </a:ext>
              </a:extLst>
            </p:cNvPr>
            <p:cNvSpPr/>
            <p:nvPr/>
          </p:nvSpPr>
          <p:spPr>
            <a:xfrm>
              <a:off x="4013196" y="1819264"/>
              <a:ext cx="1071570" cy="142876"/>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sz="1800">
                <a:latin typeface="Consolas" pitchFamily="49" charset="0"/>
                <a:cs typeface="Consolas" pitchFamily="49" charset="0"/>
              </a:endParaRPr>
            </a:p>
          </p:txBody>
        </p:sp>
      </p:grpSp>
      <p:grpSp>
        <p:nvGrpSpPr>
          <p:cNvPr id="17" name="组合 20">
            <a:extLst>
              <a:ext uri="{FF2B5EF4-FFF2-40B4-BE49-F238E27FC236}">
                <a16:creationId xmlns:a16="http://schemas.microsoft.com/office/drawing/2014/main" id="{D554F4AE-3182-4A41-907D-10382CFC93C5}"/>
              </a:ext>
            </a:extLst>
          </p:cNvPr>
          <p:cNvGrpSpPr/>
          <p:nvPr/>
        </p:nvGrpSpPr>
        <p:grpSpPr>
          <a:xfrm>
            <a:off x="4787578" y="5644385"/>
            <a:ext cx="4429188" cy="701731"/>
            <a:chOff x="4714876" y="4516947"/>
            <a:chExt cx="4429188" cy="701731"/>
          </a:xfrm>
        </p:grpSpPr>
        <p:sp>
          <p:nvSpPr>
            <p:cNvPr id="18" name="TextBox 8">
              <a:extLst>
                <a:ext uri="{FF2B5EF4-FFF2-40B4-BE49-F238E27FC236}">
                  <a16:creationId xmlns:a16="http://schemas.microsoft.com/office/drawing/2014/main" id="{5532A7BF-6036-4EEE-BF61-A1C5E1E03572}"/>
                </a:ext>
              </a:extLst>
            </p:cNvPr>
            <p:cNvSpPr txBox="1"/>
            <p:nvPr/>
          </p:nvSpPr>
          <p:spPr>
            <a:xfrm>
              <a:off x="5072066" y="4516947"/>
              <a:ext cx="4071998" cy="701731"/>
            </a:xfrm>
            <a:prstGeom prst="rect">
              <a:avLst/>
            </a:prstGeom>
            <a:noFill/>
          </p:spPr>
          <p:txBody>
            <a:bodyPr wrap="square" rtlCol="0">
              <a:spAutoFit/>
            </a:bodyPr>
            <a:lstStyle/>
            <a:p>
              <a:r>
                <a:rPr lang="pt-BR" altLang="zh-CN" sz="1800" dirty="0">
                  <a:solidFill>
                    <a:srgbClr val="0000FF"/>
                  </a:solidFill>
                  <a:latin typeface="Consolas" pitchFamily="49" charset="0"/>
                  <a:ea typeface="楷体" pitchFamily="49" charset="-122"/>
                  <a:cs typeface="Consolas" pitchFamily="49" charset="0"/>
                </a:rPr>
                <a:t>maxfun</a:t>
              </a:r>
              <a:r>
                <a:rPr lang="zh-CN" altLang="pt-BR" sz="1800" dirty="0">
                  <a:solidFill>
                    <a:srgbClr val="0000FF"/>
                  </a:solidFill>
                  <a:latin typeface="Consolas" pitchFamily="49" charset="0"/>
                  <a:ea typeface="楷体" pitchFamily="49" charset="-122"/>
                  <a:cs typeface="Consolas" pitchFamily="49" charset="0"/>
                </a:rPr>
                <a:t>算法中为</a:t>
              </a:r>
              <a:r>
                <a:rPr lang="pt-BR" altLang="zh-CN" sz="1800" i="1" dirty="0">
                  <a:solidFill>
                    <a:srgbClr val="0000FF"/>
                  </a:solidFill>
                  <a:latin typeface="Consolas" pitchFamily="49" charset="0"/>
                  <a:ea typeface="楷体" pitchFamily="49" charset="-122"/>
                  <a:cs typeface="Consolas" pitchFamily="49" charset="0"/>
                </a:rPr>
                <a:t>b</a:t>
              </a:r>
              <a:r>
                <a:rPr lang="zh-CN" altLang="pt-BR" sz="1800" dirty="0">
                  <a:solidFill>
                    <a:srgbClr val="0000FF"/>
                  </a:solidFill>
                  <a:latin typeface="Consolas" pitchFamily="49" charset="0"/>
                  <a:ea typeface="楷体" pitchFamily="49" charset="-122"/>
                  <a:cs typeface="Consolas" pitchFamily="49" charset="0"/>
                </a:rPr>
                <a:t>数组分配了相应的</a:t>
              </a:r>
              <a:r>
                <a:rPr lang="zh-CN" altLang="pt-BR" sz="1800">
                  <a:solidFill>
                    <a:srgbClr val="0000FF"/>
                  </a:solidFill>
                  <a:latin typeface="Consolas" pitchFamily="49" charset="0"/>
                  <a:ea typeface="楷体" pitchFamily="49" charset="-122"/>
                  <a:cs typeface="Consolas" pitchFamily="49" charset="0"/>
                </a:rPr>
                <a:t>内存空间</a:t>
              </a:r>
              <a:r>
                <a:rPr lang="zh-CN" altLang="en-US" sz="1800">
                  <a:solidFill>
                    <a:srgbClr val="0000FF"/>
                  </a:solidFill>
                  <a:latin typeface="Consolas" pitchFamily="49" charset="0"/>
                  <a:ea typeface="楷体" pitchFamily="49" charset="-122"/>
                  <a:cs typeface="Consolas" pitchFamily="49" charset="0"/>
                </a:rPr>
                <a:t>，</a:t>
              </a:r>
              <a:r>
                <a:rPr lang="zh-CN" altLang="pt-BR" sz="1800">
                  <a:solidFill>
                    <a:srgbClr val="0000FF"/>
                  </a:solidFill>
                  <a:latin typeface="Consolas" pitchFamily="49" charset="0"/>
                  <a:ea typeface="楷体" pitchFamily="49" charset="-122"/>
                  <a:cs typeface="Consolas" pitchFamily="49" charset="0"/>
                </a:rPr>
                <a:t>其</a:t>
              </a:r>
              <a:r>
                <a:rPr lang="zh-CN" altLang="pt-BR" sz="1800" dirty="0">
                  <a:solidFill>
                    <a:srgbClr val="0000FF"/>
                  </a:solidFill>
                  <a:latin typeface="Consolas" pitchFamily="49" charset="0"/>
                  <a:ea typeface="楷体" pitchFamily="49" charset="-122"/>
                  <a:cs typeface="Consolas" pitchFamily="49" charset="0"/>
                </a:rPr>
                <a:t>空间复杂度为</a:t>
              </a:r>
              <a:r>
                <a:rPr lang="pt-BR" altLang="zh-CN" sz="1800">
                  <a:solidFill>
                    <a:srgbClr val="0000FF"/>
                  </a:solidFill>
                  <a:latin typeface="Consolas" pitchFamily="49" charset="0"/>
                  <a:ea typeface="楷体" pitchFamily="49" charset="-122"/>
                  <a:cs typeface="Consolas" pitchFamily="49" charset="0"/>
                </a:rPr>
                <a:t>O(</a:t>
              </a:r>
              <a:r>
                <a:rPr lang="pt-BR" altLang="zh-CN" sz="1800" i="1">
                  <a:solidFill>
                    <a:srgbClr val="0000FF"/>
                  </a:solidFill>
                  <a:latin typeface="Consolas" pitchFamily="49" charset="0"/>
                  <a:ea typeface="楷体" pitchFamily="49" charset="-122"/>
                  <a:cs typeface="Consolas" pitchFamily="49" charset="0"/>
                </a:rPr>
                <a:t>n</a:t>
              </a:r>
              <a:r>
                <a:rPr lang="pt-BR" altLang="zh-CN" sz="1800">
                  <a:solidFill>
                    <a:srgbClr val="0000FF"/>
                  </a:solidFill>
                  <a:latin typeface="Consolas" pitchFamily="49" charset="0"/>
                  <a:ea typeface="楷体" pitchFamily="49" charset="-122"/>
                  <a:cs typeface="Consolas" pitchFamily="49" charset="0"/>
                </a:rPr>
                <a:t>)</a:t>
              </a:r>
              <a:endParaRPr lang="zh-CN" altLang="en-US" sz="1800" dirty="0">
                <a:solidFill>
                  <a:srgbClr val="0000FF"/>
                </a:solidFill>
                <a:latin typeface="Consolas" pitchFamily="49" charset="0"/>
                <a:cs typeface="Consolas" pitchFamily="49" charset="0"/>
              </a:endParaRPr>
            </a:p>
          </p:txBody>
        </p:sp>
        <p:sp>
          <p:nvSpPr>
            <p:cNvPr id="19" name="右箭头 17">
              <a:extLst>
                <a:ext uri="{FF2B5EF4-FFF2-40B4-BE49-F238E27FC236}">
                  <a16:creationId xmlns:a16="http://schemas.microsoft.com/office/drawing/2014/main" id="{5DEE7742-19A9-4363-B402-00583DFEFC1B}"/>
                </a:ext>
              </a:extLst>
            </p:cNvPr>
            <p:cNvSpPr/>
            <p:nvPr/>
          </p:nvSpPr>
          <p:spPr>
            <a:xfrm>
              <a:off x="4714876" y="4799022"/>
              <a:ext cx="357190" cy="142876"/>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sz="1800">
                <a:latin typeface="Consolas" pitchFamily="49" charset="0"/>
                <a:cs typeface="Consolas" pitchFamily="49" charset="0"/>
              </a:endParaRPr>
            </a:p>
          </p:txBody>
        </p:sp>
      </p:grpSp>
    </p:spTree>
    <p:extLst>
      <p:ext uri="{BB962C8B-B14F-4D97-AF65-F5344CB8AC3E}">
        <p14:creationId xmlns:p14="http://schemas.microsoft.com/office/powerpoint/2010/main" val="1085011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nodeType="clickEffect">
                                  <p:stCondLst>
                                    <p:cond delay="0"/>
                                  </p:stCondLst>
                                  <p:iterate type="lt">
                                    <p:tmPct val="50000"/>
                                  </p:iterate>
                                  <p:childTnLst>
                                    <p:set>
                                      <p:cBhvr>
                                        <p:cTn id="18" dur="1" fill="hold">
                                          <p:stCondLst>
                                            <p:cond delay="0"/>
                                          </p:stCondLst>
                                        </p:cTn>
                                        <p:tgtEl>
                                          <p:spTgt spid="13">
                                            <p:txEl>
                                              <p:pRg st="0" end="0"/>
                                            </p:txEl>
                                          </p:spTgt>
                                        </p:tgtEl>
                                        <p:attrNameLst>
                                          <p:attrName>style.visibility</p:attrName>
                                        </p:attrNameLst>
                                      </p:cBhvr>
                                      <p:to>
                                        <p:strVal val="visible"/>
                                      </p:to>
                                    </p:set>
                                    <p:anim calcmode="discrete" valueType="clr">
                                      <p:cBhvr override="childStyle">
                                        <p:cTn id="19" dur="80"/>
                                        <p:tgtEl>
                                          <p:spTgt spid="1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13">
                                            <p:txEl>
                                              <p:pRg st="0" end="0"/>
                                            </p:txEl>
                                          </p:spTgt>
                                        </p:tgtEl>
                                        <p:attrNameLst>
                                          <p:attrName>fillcolor</p:attrName>
                                        </p:attrNameLst>
                                      </p:cBhvr>
                                      <p:tavLst>
                                        <p:tav tm="0">
                                          <p:val>
                                            <p:clrVal>
                                              <a:schemeClr val="accent2"/>
                                            </p:clrVal>
                                          </p:val>
                                        </p:tav>
                                        <p:tav tm="50000">
                                          <p:val>
                                            <p:clrVal>
                                              <a:schemeClr val="hlink"/>
                                            </p:clrVal>
                                          </p:val>
                                        </p:tav>
                                      </p:tavLst>
                                    </p:anim>
                                    <p:set>
                                      <p:cBhvr>
                                        <p:cTn id="21" dur="80"/>
                                        <p:tgtEl>
                                          <p:spTgt spid="13">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764704"/>
            <a:ext cx="7520940" cy="548640"/>
          </a:xfrm>
        </p:spPr>
        <p:txBody>
          <a:bodyPr/>
          <a:lstStyle/>
          <a:p>
            <a:r>
              <a:rPr lang="zh-CN" altLang="zh-CN" dirty="0"/>
              <a:t>【例</a:t>
            </a:r>
            <a:r>
              <a:rPr lang="en-US" altLang="zh-CN" dirty="0"/>
              <a:t>1-16</a:t>
            </a:r>
            <a:r>
              <a:rPr lang="zh-CN" altLang="zh-CN" dirty="0"/>
              <a:t>】</a:t>
            </a:r>
            <a:r>
              <a:rPr lang="en-US" altLang="zh-CN" dirty="0"/>
              <a:t>  </a:t>
            </a:r>
            <a:r>
              <a:rPr lang="zh-CN" altLang="zh-CN" dirty="0"/>
              <a:t>计算下列程序的空间复杂度</a:t>
            </a:r>
            <a:endParaRPr lang="zh-CN" altLang="en-US" dirty="0"/>
          </a:p>
        </p:txBody>
      </p:sp>
      <p:sp>
        <p:nvSpPr>
          <p:cNvPr id="3" name="内容占位符 2"/>
          <p:cNvSpPr>
            <a:spLocks noGrp="1"/>
          </p:cNvSpPr>
          <p:nvPr>
            <p:ph idx="1"/>
          </p:nvPr>
        </p:nvSpPr>
        <p:spPr>
          <a:xfrm>
            <a:off x="400890" y="1506536"/>
            <a:ext cx="6480720" cy="4824536"/>
          </a:xfrm>
        </p:spPr>
        <p:txBody>
          <a:bodyPr>
            <a:normAutofit fontScale="70000" lnSpcReduction="20000"/>
          </a:bodyPr>
          <a:lstStyle/>
          <a:p>
            <a:r>
              <a:rPr lang="zh-CN" altLang="zh-CN" b="0" dirty="0"/>
              <a:t>①</a:t>
            </a:r>
            <a:r>
              <a:rPr lang="en-US" altLang="zh-CN" b="0" dirty="0"/>
              <a:t> for</a:t>
            </a:r>
            <a:r>
              <a:rPr lang="zh-CN" altLang="zh-CN" b="0" dirty="0"/>
              <a:t>（</a:t>
            </a:r>
            <a:r>
              <a:rPr lang="en-US" altLang="zh-CN" b="0" dirty="0" err="1"/>
              <a:t>i</a:t>
            </a:r>
            <a:r>
              <a:rPr lang="en-US" altLang="zh-CN" b="0" dirty="0"/>
              <a:t>=1</a:t>
            </a:r>
            <a:r>
              <a:rPr lang="zh-CN" altLang="zh-CN" b="0" dirty="0"/>
              <a:t>；</a:t>
            </a:r>
            <a:r>
              <a:rPr lang="en-US" altLang="zh-CN" b="0" dirty="0" err="1"/>
              <a:t>i</a:t>
            </a:r>
            <a:r>
              <a:rPr lang="zh-CN" altLang="zh-CN" b="0" dirty="0"/>
              <a:t>＜＝</a:t>
            </a:r>
            <a:r>
              <a:rPr lang="en-US" altLang="zh-CN" b="0" dirty="0"/>
              <a:t>n</a:t>
            </a:r>
            <a:r>
              <a:rPr lang="zh-CN" altLang="zh-CN" b="0" dirty="0"/>
              <a:t>；</a:t>
            </a:r>
            <a:r>
              <a:rPr lang="en-US" altLang="zh-CN" b="0" dirty="0" err="1"/>
              <a:t>i</a:t>
            </a:r>
            <a:r>
              <a:rPr lang="en-US" altLang="zh-CN" b="0" dirty="0"/>
              <a:t>++</a:t>
            </a:r>
            <a:r>
              <a:rPr lang="zh-CN" altLang="zh-CN" b="0" dirty="0"/>
              <a:t>）</a:t>
            </a:r>
            <a:r>
              <a:rPr lang="en-US" altLang="zh-CN" b="0" dirty="0"/>
              <a:t>	{x++</a:t>
            </a:r>
            <a:r>
              <a:rPr lang="zh-CN" altLang="zh-CN" b="0" dirty="0"/>
              <a:t>；</a:t>
            </a:r>
            <a:r>
              <a:rPr lang="en-US" altLang="zh-CN" b="0" dirty="0"/>
              <a:t> }</a:t>
            </a:r>
            <a:endParaRPr lang="zh-CN" altLang="zh-CN" b="0" dirty="0"/>
          </a:p>
          <a:p>
            <a:r>
              <a:rPr lang="en-US" altLang="zh-CN" b="0" dirty="0"/>
              <a:t> </a:t>
            </a:r>
            <a:endParaRPr lang="zh-CN" altLang="zh-CN" b="0" dirty="0"/>
          </a:p>
          <a:p>
            <a:r>
              <a:rPr lang="zh-CN" altLang="zh-CN" b="0" dirty="0"/>
              <a:t>②</a:t>
            </a:r>
            <a:r>
              <a:rPr lang="en-US" altLang="zh-CN" b="0" dirty="0"/>
              <a:t> float sum(float list[ ] , </a:t>
            </a:r>
            <a:r>
              <a:rPr lang="en-US" altLang="zh-CN" b="0" dirty="0" err="1"/>
              <a:t>int</a:t>
            </a:r>
            <a:r>
              <a:rPr lang="en-US" altLang="zh-CN" b="0" dirty="0"/>
              <a:t> n) { </a:t>
            </a:r>
            <a:endParaRPr lang="zh-CN" altLang="zh-CN" b="0" dirty="0"/>
          </a:p>
          <a:p>
            <a:r>
              <a:rPr lang="en-US" altLang="zh-CN" b="0" dirty="0"/>
              <a:t>      		float </a:t>
            </a:r>
            <a:r>
              <a:rPr lang="en-US" altLang="zh-CN" b="0" dirty="0" err="1"/>
              <a:t>tempsum</a:t>
            </a:r>
            <a:r>
              <a:rPr lang="en-US" altLang="zh-CN" b="0" dirty="0"/>
              <a:t>=0;     </a:t>
            </a:r>
            <a:endParaRPr lang="zh-CN" altLang="zh-CN" b="0" dirty="0"/>
          </a:p>
          <a:p>
            <a:r>
              <a:rPr lang="en-US" altLang="zh-CN" b="0" dirty="0"/>
              <a:t>    		  </a:t>
            </a:r>
            <a:r>
              <a:rPr lang="en-US" altLang="zh-CN" b="0" dirty="0" err="1"/>
              <a:t>int</a:t>
            </a:r>
            <a:r>
              <a:rPr lang="en-US" altLang="zh-CN" b="0" dirty="0"/>
              <a:t>  </a:t>
            </a:r>
            <a:r>
              <a:rPr lang="en-US" altLang="zh-CN" b="0" dirty="0" err="1"/>
              <a:t>i</a:t>
            </a:r>
            <a:r>
              <a:rPr lang="en-US" altLang="zh-CN" b="0" dirty="0"/>
              <a:t>; </a:t>
            </a:r>
            <a:endParaRPr lang="zh-CN" altLang="zh-CN" b="0" dirty="0"/>
          </a:p>
          <a:p>
            <a:r>
              <a:rPr lang="en-US" altLang="zh-CN" b="0" dirty="0"/>
              <a:t>    		  for ( </a:t>
            </a:r>
            <a:r>
              <a:rPr lang="en-US" altLang="zh-CN" b="0" dirty="0" err="1"/>
              <a:t>i</a:t>
            </a:r>
            <a:r>
              <a:rPr lang="en-US" altLang="zh-CN" b="0" dirty="0"/>
              <a:t>=0; </a:t>
            </a:r>
            <a:r>
              <a:rPr lang="en-US" altLang="zh-CN" b="0" dirty="0" err="1"/>
              <a:t>i</a:t>
            </a:r>
            <a:r>
              <a:rPr lang="en-US" altLang="zh-CN" b="0" dirty="0"/>
              <a:t> &lt; n; </a:t>
            </a:r>
            <a:r>
              <a:rPr lang="en-US" altLang="zh-CN" b="0" dirty="0" err="1"/>
              <a:t>i</a:t>
            </a:r>
            <a:r>
              <a:rPr lang="en-US" altLang="zh-CN" b="0" dirty="0"/>
              <a:t>++) </a:t>
            </a:r>
            <a:r>
              <a:rPr lang="en-US" altLang="zh-CN" b="0" dirty="0" err="1"/>
              <a:t>tempsum</a:t>
            </a:r>
            <a:r>
              <a:rPr lang="en-US" altLang="zh-CN" b="0" dirty="0"/>
              <a:t> += list[ </a:t>
            </a:r>
            <a:r>
              <a:rPr lang="en-US" altLang="zh-CN" b="0" dirty="0" err="1"/>
              <a:t>i</a:t>
            </a:r>
            <a:r>
              <a:rPr lang="en-US" altLang="zh-CN" b="0" dirty="0"/>
              <a:t> ];</a:t>
            </a:r>
            <a:endParaRPr lang="zh-CN" altLang="zh-CN" b="0" dirty="0"/>
          </a:p>
          <a:p>
            <a:r>
              <a:rPr lang="en-US" altLang="zh-CN" b="0" dirty="0"/>
              <a:t>    		  return </a:t>
            </a:r>
            <a:r>
              <a:rPr lang="en-US" altLang="zh-CN" b="0" dirty="0" err="1"/>
              <a:t>tempsum</a:t>
            </a:r>
            <a:r>
              <a:rPr lang="en-US" altLang="zh-CN" b="0" dirty="0"/>
              <a:t>;         </a:t>
            </a:r>
            <a:endParaRPr lang="zh-CN" altLang="zh-CN" b="0" dirty="0"/>
          </a:p>
          <a:p>
            <a:r>
              <a:rPr lang="en-US" altLang="zh-CN" b="0" dirty="0"/>
              <a:t>	}</a:t>
            </a:r>
            <a:endParaRPr lang="zh-CN" altLang="zh-CN" b="0" dirty="0"/>
          </a:p>
          <a:p>
            <a:r>
              <a:rPr lang="en-US" altLang="zh-CN" b="0" dirty="0"/>
              <a:t> </a:t>
            </a:r>
            <a:endParaRPr lang="zh-CN" altLang="zh-CN" b="0" dirty="0"/>
          </a:p>
          <a:p>
            <a:r>
              <a:rPr lang="zh-CN" altLang="zh-CN" b="0" dirty="0"/>
              <a:t>③</a:t>
            </a:r>
            <a:r>
              <a:rPr lang="en-US" altLang="zh-CN" b="0" dirty="0"/>
              <a:t> float </a:t>
            </a:r>
            <a:r>
              <a:rPr lang="en-US" altLang="zh-CN" b="0" dirty="0" err="1"/>
              <a:t>rsum</a:t>
            </a:r>
            <a:r>
              <a:rPr lang="en-US" altLang="zh-CN" b="0" dirty="0"/>
              <a:t>(float list[ ], </a:t>
            </a:r>
            <a:r>
              <a:rPr lang="en-US" altLang="zh-CN" b="0" dirty="0" err="1"/>
              <a:t>int</a:t>
            </a:r>
            <a:r>
              <a:rPr lang="en-US" altLang="zh-CN" b="0" dirty="0"/>
              <a:t> n) { </a:t>
            </a:r>
            <a:endParaRPr lang="zh-CN" altLang="zh-CN" b="0" dirty="0"/>
          </a:p>
          <a:p>
            <a:r>
              <a:rPr lang="en-US" altLang="zh-CN" b="0" dirty="0"/>
              <a:t>     		 if (n) return </a:t>
            </a:r>
            <a:r>
              <a:rPr lang="en-US" altLang="zh-CN" b="0" dirty="0" err="1"/>
              <a:t>rsum</a:t>
            </a:r>
            <a:r>
              <a:rPr lang="en-US" altLang="zh-CN" b="0" dirty="0"/>
              <a:t>( list, n-1) + list[ n-1 ]; </a:t>
            </a:r>
            <a:endParaRPr lang="zh-CN" altLang="zh-CN" b="0" dirty="0"/>
          </a:p>
          <a:p>
            <a:r>
              <a:rPr lang="en-US" altLang="zh-CN" b="0" dirty="0"/>
              <a:t>    		  return 0; </a:t>
            </a:r>
            <a:endParaRPr lang="zh-CN" altLang="zh-CN" b="0" dirty="0"/>
          </a:p>
          <a:p>
            <a:r>
              <a:rPr lang="en-US" altLang="zh-CN" b="0" dirty="0"/>
              <a:t>	} </a:t>
            </a:r>
            <a:endParaRPr lang="zh-CN" altLang="zh-CN" b="0" dirty="0"/>
          </a:p>
          <a:p>
            <a:endParaRPr lang="zh-CN" altLang="en-US" b="0" dirty="0"/>
          </a:p>
        </p:txBody>
      </p:sp>
      <p:sp>
        <p:nvSpPr>
          <p:cNvPr id="4" name="矩形 3"/>
          <p:cNvSpPr/>
          <p:nvPr/>
        </p:nvSpPr>
        <p:spPr>
          <a:xfrm>
            <a:off x="6881610" y="5942376"/>
            <a:ext cx="1467068" cy="400110"/>
          </a:xfrm>
          <a:prstGeom prst="rect">
            <a:avLst/>
          </a:prstGeom>
        </p:spPr>
        <p:txBody>
          <a:bodyPr wrap="none">
            <a:spAutoFit/>
          </a:bodyPr>
          <a:lstStyle/>
          <a:p>
            <a:r>
              <a:rPr lang="zh-CN" altLang="zh-CN" sz="2000" dirty="0"/>
              <a:t>空间复杂度</a:t>
            </a:r>
            <a:endParaRPr lang="zh-CN" altLang="en-US" sz="2000" dirty="0"/>
          </a:p>
        </p:txBody>
      </p:sp>
      <p:sp>
        <p:nvSpPr>
          <p:cNvPr id="5" name="矩形 4"/>
          <p:cNvSpPr/>
          <p:nvPr/>
        </p:nvSpPr>
        <p:spPr>
          <a:xfrm>
            <a:off x="7155258" y="1400514"/>
            <a:ext cx="599844" cy="369332"/>
          </a:xfrm>
          <a:prstGeom prst="rect">
            <a:avLst/>
          </a:prstGeom>
        </p:spPr>
        <p:txBody>
          <a:bodyPr wrap="none">
            <a:spAutoFit/>
          </a:bodyPr>
          <a:lstStyle/>
          <a:p>
            <a:r>
              <a:rPr lang="en-US" altLang="zh-CN" dirty="0"/>
              <a:t>Θ(1)</a:t>
            </a:r>
            <a:endParaRPr lang="zh-CN" altLang="en-US" dirty="0"/>
          </a:p>
        </p:txBody>
      </p:sp>
      <p:sp>
        <p:nvSpPr>
          <p:cNvPr id="6" name="矩形 5"/>
          <p:cNvSpPr/>
          <p:nvPr/>
        </p:nvSpPr>
        <p:spPr>
          <a:xfrm>
            <a:off x="7155258" y="2802026"/>
            <a:ext cx="599844" cy="369332"/>
          </a:xfrm>
          <a:prstGeom prst="rect">
            <a:avLst/>
          </a:prstGeom>
        </p:spPr>
        <p:txBody>
          <a:bodyPr wrap="none">
            <a:spAutoFit/>
          </a:bodyPr>
          <a:lstStyle/>
          <a:p>
            <a:r>
              <a:rPr lang="en-US" altLang="zh-CN" dirty="0"/>
              <a:t>O(1)</a:t>
            </a:r>
            <a:endParaRPr lang="zh-CN" altLang="en-US" dirty="0"/>
          </a:p>
        </p:txBody>
      </p:sp>
      <p:sp>
        <p:nvSpPr>
          <p:cNvPr id="7" name="矩形 6"/>
          <p:cNvSpPr/>
          <p:nvPr/>
        </p:nvSpPr>
        <p:spPr>
          <a:xfrm>
            <a:off x="7164876" y="5116542"/>
            <a:ext cx="590226" cy="369332"/>
          </a:xfrm>
          <a:prstGeom prst="rect">
            <a:avLst/>
          </a:prstGeom>
        </p:spPr>
        <p:txBody>
          <a:bodyPr wrap="none">
            <a:spAutoFit/>
          </a:bodyPr>
          <a:lstStyle/>
          <a:p>
            <a:r>
              <a:rPr lang="en-US" altLang="zh-CN" dirty="0"/>
              <a:t>O(n)</a:t>
            </a:r>
            <a:endParaRPr lang="zh-CN" altLang="en-US" dirty="0"/>
          </a:p>
        </p:txBody>
      </p:sp>
    </p:spTree>
    <p:extLst>
      <p:ext uri="{BB962C8B-B14F-4D97-AF65-F5344CB8AC3E}">
        <p14:creationId xmlns:p14="http://schemas.microsoft.com/office/powerpoint/2010/main" val="57505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3">
                                            <p:txEl>
                                              <p:pRg st="11" end="11"/>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【例</a:t>
            </a:r>
            <a:r>
              <a:rPr lang="en-US" altLang="zh-CN" dirty="0"/>
              <a:t>1-</a:t>
            </a:r>
            <a:r>
              <a:rPr lang="zh-CN" altLang="zh-CN" dirty="0"/>
              <a:t>1</a:t>
            </a:r>
            <a:r>
              <a:rPr lang="en-US" altLang="zh-CN" dirty="0"/>
              <a:t>7</a:t>
            </a:r>
            <a:r>
              <a:rPr lang="zh-CN" altLang="zh-CN" dirty="0"/>
              <a:t>】分析阶乘的递归函数的空间复杂度</a:t>
            </a:r>
            <a:endParaRPr lang="zh-CN" altLang="en-US" dirty="0"/>
          </a:p>
        </p:txBody>
      </p:sp>
      <p:sp>
        <p:nvSpPr>
          <p:cNvPr id="3" name="内容占位符 2"/>
          <p:cNvSpPr>
            <a:spLocks noGrp="1"/>
          </p:cNvSpPr>
          <p:nvPr>
            <p:ph idx="1"/>
          </p:nvPr>
        </p:nvSpPr>
        <p:spPr>
          <a:xfrm>
            <a:off x="1907704" y="1628801"/>
            <a:ext cx="6192688" cy="2592288"/>
          </a:xfrm>
        </p:spPr>
        <p:txBody>
          <a:bodyPr/>
          <a:lstStyle/>
          <a:p>
            <a:r>
              <a:rPr lang="en-US" altLang="zh-CN" b="0" dirty="0" err="1"/>
              <a:t>int</a:t>
            </a:r>
            <a:r>
              <a:rPr lang="en-US" altLang="zh-CN" b="0" dirty="0"/>
              <a:t> fact (</a:t>
            </a:r>
            <a:r>
              <a:rPr lang="en-US" altLang="zh-CN" b="0" dirty="0" err="1"/>
              <a:t>int</a:t>
            </a:r>
            <a:r>
              <a:rPr lang="en-US" altLang="zh-CN" b="0" dirty="0"/>
              <a:t>  n){</a:t>
            </a:r>
            <a:endParaRPr lang="zh-CN" altLang="zh-CN" b="0" dirty="0"/>
          </a:p>
          <a:p>
            <a:r>
              <a:rPr lang="en-US" altLang="zh-CN" b="0" dirty="0"/>
              <a:t>	if  (n&lt;=1) return 1;</a:t>
            </a:r>
            <a:endParaRPr lang="zh-CN" altLang="zh-CN" b="0" dirty="0"/>
          </a:p>
          <a:p>
            <a:r>
              <a:rPr lang="en-US" altLang="zh-CN" b="0" dirty="0"/>
              <a:t>	return  n*fact(n-1);</a:t>
            </a:r>
            <a:endParaRPr lang="zh-CN" altLang="zh-CN" b="0" dirty="0"/>
          </a:p>
          <a:p>
            <a:r>
              <a:rPr lang="en-US" altLang="zh-CN" b="0" dirty="0"/>
              <a:t>}</a:t>
            </a:r>
            <a:endParaRPr lang="zh-CN" altLang="zh-CN" b="0" dirty="0"/>
          </a:p>
          <a:p>
            <a:endParaRPr lang="zh-CN" altLang="en-US" b="0" dirty="0"/>
          </a:p>
        </p:txBody>
      </p:sp>
      <p:sp>
        <p:nvSpPr>
          <p:cNvPr id="5" name="矩形 4"/>
          <p:cNvSpPr/>
          <p:nvPr/>
        </p:nvSpPr>
        <p:spPr>
          <a:xfrm>
            <a:off x="1571604" y="4357694"/>
            <a:ext cx="4357718" cy="461665"/>
          </a:xfrm>
          <a:prstGeom prst="rect">
            <a:avLst/>
          </a:prstGeom>
        </p:spPr>
        <p:txBody>
          <a:bodyPr wrap="square">
            <a:spAutoFit/>
          </a:bodyPr>
          <a:lstStyle/>
          <a:p>
            <a:r>
              <a:rPr lang="en-US" altLang="zh-CN" sz="2400" dirty="0">
                <a:latin typeface="Times New Roman" pitchFamily="18" charset="0"/>
                <a:cs typeface="Times New Roman" pitchFamily="18" charset="0"/>
              </a:rPr>
              <a:t>S(fact)=O(n)</a:t>
            </a:r>
            <a:endParaRPr lang="zh-CN" alt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24026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【例</a:t>
            </a:r>
            <a:r>
              <a:rPr lang="en-US" altLang="zh-CN" dirty="0"/>
              <a:t>1-</a:t>
            </a:r>
            <a:r>
              <a:rPr lang="zh-CN" altLang="zh-CN" dirty="0"/>
              <a:t>1</a:t>
            </a:r>
            <a:r>
              <a:rPr lang="en-US" altLang="zh-CN" dirty="0"/>
              <a:t>8</a:t>
            </a:r>
            <a:r>
              <a:rPr lang="zh-CN" altLang="zh-CN" dirty="0"/>
              <a:t>】分析顺序查找的空间复杂度</a:t>
            </a:r>
            <a:endParaRPr lang="zh-CN" altLang="en-US" dirty="0"/>
          </a:p>
        </p:txBody>
      </p:sp>
      <p:sp>
        <p:nvSpPr>
          <p:cNvPr id="3" name="内容占位符 2"/>
          <p:cNvSpPr>
            <a:spLocks noGrp="1"/>
          </p:cNvSpPr>
          <p:nvPr>
            <p:ph idx="1"/>
          </p:nvPr>
        </p:nvSpPr>
        <p:spPr>
          <a:xfrm>
            <a:off x="1475656" y="1628800"/>
            <a:ext cx="7520940" cy="3579849"/>
          </a:xfrm>
        </p:spPr>
        <p:txBody>
          <a:bodyPr>
            <a:normAutofit lnSpcReduction="10000"/>
          </a:bodyPr>
          <a:lstStyle/>
          <a:p>
            <a:r>
              <a:rPr lang="en-US" altLang="zh-CN" b="0" dirty="0"/>
              <a:t>template&lt;class T&gt;</a:t>
            </a:r>
            <a:endParaRPr lang="zh-CN" altLang="zh-CN" b="0" dirty="0"/>
          </a:p>
          <a:p>
            <a:r>
              <a:rPr lang="en-US" altLang="zh-CN" b="0" dirty="0" err="1"/>
              <a:t>int</a:t>
            </a:r>
            <a:r>
              <a:rPr lang="en-US" altLang="zh-CN" b="0" dirty="0"/>
              <a:t> </a:t>
            </a:r>
            <a:r>
              <a:rPr lang="en-US" altLang="zh-CN" b="0" dirty="0" err="1"/>
              <a:t>SequentialSearch</a:t>
            </a:r>
            <a:r>
              <a:rPr lang="en-US" altLang="zh-CN" b="0" dirty="0"/>
              <a:t>(T a[ ], </a:t>
            </a:r>
            <a:r>
              <a:rPr lang="en-US" altLang="zh-CN" b="0" dirty="0" err="1"/>
              <a:t>const</a:t>
            </a:r>
            <a:r>
              <a:rPr lang="en-US" altLang="zh-CN" b="0" dirty="0"/>
              <a:t> T &amp;x, </a:t>
            </a:r>
            <a:r>
              <a:rPr lang="en-US" altLang="zh-CN" b="0" dirty="0" err="1"/>
              <a:t>int</a:t>
            </a:r>
            <a:r>
              <a:rPr lang="en-US" altLang="zh-CN" b="0" dirty="0"/>
              <a:t> n) {</a:t>
            </a:r>
            <a:endParaRPr lang="zh-CN" altLang="zh-CN" b="0" dirty="0"/>
          </a:p>
          <a:p>
            <a:r>
              <a:rPr lang="en-US" altLang="zh-CN" b="0" dirty="0"/>
              <a:t>	</a:t>
            </a:r>
            <a:r>
              <a:rPr lang="en-US" altLang="zh-CN" b="0" dirty="0" err="1"/>
              <a:t>int</a:t>
            </a:r>
            <a:r>
              <a:rPr lang="en-US" altLang="zh-CN" b="0" dirty="0"/>
              <a:t> </a:t>
            </a:r>
            <a:r>
              <a:rPr lang="en-US" altLang="zh-CN" b="0" dirty="0" err="1"/>
              <a:t>i</a:t>
            </a:r>
            <a:r>
              <a:rPr lang="en-US" altLang="zh-CN" b="0" dirty="0"/>
              <a:t>;</a:t>
            </a:r>
            <a:endParaRPr lang="zh-CN" altLang="zh-CN" b="0" dirty="0"/>
          </a:p>
          <a:p>
            <a:r>
              <a:rPr lang="en-US" altLang="zh-CN" b="0" dirty="0"/>
              <a:t>	for (</a:t>
            </a:r>
            <a:r>
              <a:rPr lang="en-US" altLang="zh-CN" b="0" dirty="0" err="1"/>
              <a:t>i</a:t>
            </a:r>
            <a:r>
              <a:rPr lang="en-US" altLang="zh-CN" b="0" dirty="0"/>
              <a:t> = 0; </a:t>
            </a:r>
            <a:r>
              <a:rPr lang="en-US" altLang="zh-CN" b="0" dirty="0" err="1"/>
              <a:t>i</a:t>
            </a:r>
            <a:r>
              <a:rPr lang="en-US" altLang="zh-CN" b="0" dirty="0"/>
              <a:t> &lt; n &amp;&amp; a[</a:t>
            </a:r>
            <a:r>
              <a:rPr lang="en-US" altLang="zh-CN" b="0" dirty="0" err="1"/>
              <a:t>i</a:t>
            </a:r>
            <a:r>
              <a:rPr lang="en-US" altLang="zh-CN" b="0" dirty="0"/>
              <a:t>] != x; </a:t>
            </a:r>
            <a:r>
              <a:rPr lang="en-US" altLang="zh-CN" b="0" dirty="0" err="1"/>
              <a:t>i</a:t>
            </a:r>
            <a:r>
              <a:rPr lang="en-US" altLang="zh-CN" b="0" dirty="0"/>
              <a:t>++);</a:t>
            </a:r>
            <a:endParaRPr lang="zh-CN" altLang="zh-CN" b="0" dirty="0"/>
          </a:p>
          <a:p>
            <a:r>
              <a:rPr lang="en-US" altLang="zh-CN" b="0" dirty="0"/>
              <a:t>	if (</a:t>
            </a:r>
            <a:r>
              <a:rPr lang="en-US" altLang="zh-CN" b="0" dirty="0" err="1"/>
              <a:t>i</a:t>
            </a:r>
            <a:r>
              <a:rPr lang="en-US" altLang="zh-CN" b="0" dirty="0"/>
              <a:t> == n) return -1 ;</a:t>
            </a:r>
            <a:endParaRPr lang="zh-CN" altLang="zh-CN" b="0" dirty="0"/>
          </a:p>
          <a:p>
            <a:r>
              <a:rPr lang="en-US" altLang="zh-CN" b="0" dirty="0"/>
              <a:t>	return </a:t>
            </a:r>
            <a:r>
              <a:rPr lang="en-US" altLang="zh-CN" b="0" dirty="0" err="1"/>
              <a:t>i</a:t>
            </a:r>
            <a:r>
              <a:rPr lang="en-US" altLang="zh-CN" b="0" dirty="0"/>
              <a:t>;</a:t>
            </a:r>
            <a:endParaRPr lang="zh-CN" altLang="zh-CN" b="0" dirty="0"/>
          </a:p>
          <a:p>
            <a:r>
              <a:rPr lang="en-US" altLang="zh-CN" b="0" dirty="0"/>
              <a:t>}</a:t>
            </a:r>
            <a:endParaRPr lang="zh-CN" altLang="zh-CN" b="0" dirty="0"/>
          </a:p>
          <a:p>
            <a:endParaRPr lang="zh-CN" altLang="en-US" b="0" dirty="0"/>
          </a:p>
        </p:txBody>
      </p:sp>
      <p:sp>
        <p:nvSpPr>
          <p:cNvPr id="4" name="矩形 3"/>
          <p:cNvSpPr/>
          <p:nvPr/>
        </p:nvSpPr>
        <p:spPr>
          <a:xfrm>
            <a:off x="1403648" y="5517232"/>
            <a:ext cx="3526928" cy="461665"/>
          </a:xfrm>
          <a:prstGeom prst="rect">
            <a:avLst/>
          </a:prstGeom>
        </p:spPr>
        <p:txBody>
          <a:bodyPr wrap="none">
            <a:spAutoFit/>
          </a:bodyPr>
          <a:lstStyle/>
          <a:p>
            <a:r>
              <a:rPr lang="zh-CN" altLang="zh-CN" sz="2400" dirty="0">
                <a:latin typeface="Times New Roman" pitchFamily="18" charset="0"/>
                <a:cs typeface="Times New Roman" pitchFamily="18" charset="0"/>
              </a:rPr>
              <a:t>S (</a:t>
            </a:r>
            <a:r>
              <a:rPr lang="en-US" altLang="zh-CN" sz="2400" dirty="0" err="1">
                <a:latin typeface="Times New Roman" pitchFamily="18" charset="0"/>
                <a:cs typeface="Times New Roman" pitchFamily="18" charset="0"/>
              </a:rPr>
              <a:t>SequentialSearch</a:t>
            </a:r>
            <a:r>
              <a:rPr lang="zh-CN" altLang="zh-CN" sz="2400" dirty="0">
                <a:latin typeface="Times New Roman" pitchFamily="18" charset="0"/>
                <a:cs typeface="Times New Roman" pitchFamily="18" charset="0"/>
              </a:rPr>
              <a:t>)=O(1)</a:t>
            </a:r>
            <a:endParaRPr lang="zh-CN" alt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613267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3" name="Text Box 5"/>
          <p:cNvSpPr txBox="1">
            <a:spLocks noChangeArrowheads="1"/>
          </p:cNvSpPr>
          <p:nvPr/>
        </p:nvSpPr>
        <p:spPr bwMode="auto">
          <a:xfrm>
            <a:off x="-108520" y="764704"/>
            <a:ext cx="9252520" cy="461665"/>
          </a:xfrm>
          <a:prstGeom prst="rect">
            <a:avLst/>
          </a:prstGeom>
          <a:noFill/>
          <a:ln w="19050" algn="ctr">
            <a:noFill/>
            <a:miter lim="800000"/>
            <a:headEnd/>
            <a:tailEnd/>
          </a:ln>
          <a:effectLst/>
        </p:spPr>
        <p:txBody>
          <a:bodyPr wrap="square">
            <a:spAutoFit/>
          </a:bodyPr>
          <a:lstStyle/>
          <a:p>
            <a:pPr algn="just"/>
            <a:r>
              <a:rPr lang="en-US" altLang="zh-CN" sz="2400" dirty="0">
                <a:latin typeface="Consolas" pitchFamily="49" charset="0"/>
                <a:ea typeface="楷体" pitchFamily="49" charset="-122"/>
                <a:cs typeface="Consolas" pitchFamily="49" charset="0"/>
              </a:rPr>
              <a:t>【</a:t>
            </a:r>
            <a:r>
              <a:rPr lang="zh-CN" altLang="en-US" sz="2400" dirty="0">
                <a:latin typeface="Consolas" pitchFamily="49" charset="0"/>
                <a:ea typeface="楷体" pitchFamily="49" charset="-122"/>
                <a:cs typeface="Consolas" pitchFamily="49" charset="0"/>
              </a:rPr>
              <a:t>例</a:t>
            </a:r>
            <a:r>
              <a:rPr lang="en-US" altLang="zh-CN" sz="2400" dirty="0">
                <a:latin typeface="Consolas" pitchFamily="49" charset="0"/>
                <a:ea typeface="楷体" pitchFamily="49" charset="-122"/>
                <a:cs typeface="Consolas" pitchFamily="49" charset="0"/>
              </a:rPr>
              <a:t>1-19】</a:t>
            </a:r>
            <a:r>
              <a:rPr lang="zh-CN" altLang="en-US" sz="2400" dirty="0">
                <a:latin typeface="Consolas" pitchFamily="49" charset="0"/>
                <a:ea typeface="楷体" pitchFamily="49" charset="-122"/>
                <a:cs typeface="Consolas" pitchFamily="49" charset="0"/>
              </a:rPr>
              <a:t>有如下递归算法，分析调用</a:t>
            </a:r>
            <a:r>
              <a:rPr lang="en-US" altLang="zh-CN" sz="2400" dirty="0">
                <a:solidFill>
                  <a:srgbClr val="FF0000"/>
                </a:solidFill>
                <a:latin typeface="Consolas" pitchFamily="49" charset="0"/>
                <a:ea typeface="楷体" pitchFamily="49" charset="-122"/>
                <a:cs typeface="Consolas" pitchFamily="49" charset="0"/>
              </a:rPr>
              <a:t>fun(</a:t>
            </a:r>
            <a:r>
              <a:rPr lang="en-US" altLang="zh-CN" sz="2400" i="1" dirty="0">
                <a:solidFill>
                  <a:srgbClr val="FF0000"/>
                </a:solidFill>
                <a:latin typeface="Consolas" pitchFamily="49" charset="0"/>
                <a:ea typeface="楷体" pitchFamily="49" charset="-122"/>
                <a:cs typeface="Consolas" pitchFamily="49" charset="0"/>
              </a:rPr>
              <a:t>a</a:t>
            </a:r>
            <a:r>
              <a:rPr lang="zh-CN" altLang="en-US" sz="2400" dirty="0">
                <a:solidFill>
                  <a:srgbClr val="FF0000"/>
                </a:solidFill>
                <a:latin typeface="Consolas" pitchFamily="49" charset="0"/>
                <a:ea typeface="楷体" pitchFamily="49" charset="-122"/>
                <a:cs typeface="Consolas" pitchFamily="49" charset="0"/>
              </a:rPr>
              <a:t>，</a:t>
            </a:r>
            <a:r>
              <a:rPr lang="en-US" altLang="zh-CN" sz="2400" i="1" dirty="0">
                <a:solidFill>
                  <a:srgbClr val="FF0000"/>
                </a:solidFill>
                <a:latin typeface="Consolas" pitchFamily="49" charset="0"/>
                <a:ea typeface="楷体" pitchFamily="49" charset="-122"/>
                <a:cs typeface="Consolas" pitchFamily="49" charset="0"/>
              </a:rPr>
              <a:t>n</a:t>
            </a:r>
            <a:r>
              <a:rPr lang="zh-CN" altLang="en-US" sz="2400" dirty="0">
                <a:solidFill>
                  <a:srgbClr val="FF0000"/>
                </a:solidFill>
                <a:latin typeface="Consolas" pitchFamily="49" charset="0"/>
                <a:ea typeface="楷体" pitchFamily="49" charset="-122"/>
                <a:cs typeface="Consolas" pitchFamily="49" charset="0"/>
              </a:rPr>
              <a:t>，</a:t>
            </a:r>
            <a:r>
              <a:rPr lang="en-US" altLang="zh-CN" sz="2400" dirty="0">
                <a:solidFill>
                  <a:srgbClr val="FF0000"/>
                </a:solidFill>
                <a:latin typeface="Consolas" pitchFamily="49" charset="0"/>
                <a:ea typeface="楷体" pitchFamily="49" charset="-122"/>
                <a:cs typeface="Consolas" pitchFamily="49" charset="0"/>
              </a:rPr>
              <a:t>0)</a:t>
            </a:r>
            <a:r>
              <a:rPr lang="zh-CN" altLang="en-US" sz="2400" dirty="0">
                <a:latin typeface="Consolas" pitchFamily="49" charset="0"/>
                <a:ea typeface="楷体" pitchFamily="49" charset="-122"/>
                <a:cs typeface="Consolas" pitchFamily="49" charset="0"/>
              </a:rPr>
              <a:t>的空间复杂度 </a:t>
            </a:r>
          </a:p>
        </p:txBody>
      </p:sp>
      <p:sp>
        <p:nvSpPr>
          <p:cNvPr id="8" name="TextBox 7"/>
          <p:cNvSpPr txBox="1"/>
          <p:nvPr/>
        </p:nvSpPr>
        <p:spPr>
          <a:xfrm>
            <a:off x="531340" y="1556792"/>
            <a:ext cx="8009882" cy="3263554"/>
          </a:xfrm>
          <a:prstGeom prst="rect">
            <a:avLst/>
          </a:prstGeom>
          <a:gradFill flip="none"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2700000" scaled="1"/>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44000" tIns="144000" bIns="108000" rtlCol="0">
            <a:spAutoFit/>
          </a:bodyPr>
          <a:lstStyle/>
          <a:p>
            <a:pPr algn="l">
              <a:lnSpc>
                <a:spcPts val="1800"/>
              </a:lnSpc>
            </a:pPr>
            <a:r>
              <a:rPr lang="en-US" altLang="zh-CN" sz="2000" dirty="0">
                <a:solidFill>
                  <a:srgbClr val="0000FF"/>
                </a:solidFill>
                <a:ea typeface="仿宋" pitchFamily="49" charset="-122"/>
                <a:cs typeface="Consolas" pitchFamily="49" charset="0"/>
              </a:rPr>
              <a:t>void </a:t>
            </a:r>
            <a:r>
              <a:rPr lang="en-US" altLang="zh-CN" sz="2000" dirty="0">
                <a:solidFill>
                  <a:srgbClr val="FF0000"/>
                </a:solidFill>
                <a:ea typeface="仿宋" pitchFamily="49" charset="-122"/>
                <a:cs typeface="Consolas" pitchFamily="49" charset="0"/>
              </a:rPr>
              <a:t>fun</a:t>
            </a:r>
            <a:r>
              <a:rPr lang="en-US" altLang="zh-CN" sz="2000" dirty="0">
                <a:solidFill>
                  <a:srgbClr val="0000FF"/>
                </a:solidFill>
                <a:ea typeface="仿宋" pitchFamily="49" charset="-122"/>
                <a:cs typeface="Consolas" pitchFamily="49" charset="0"/>
              </a:rPr>
              <a:t>(int a[]</a:t>
            </a:r>
            <a:r>
              <a:rPr lang="zh-CN" altLang="en-US" sz="2000" dirty="0">
                <a:solidFill>
                  <a:srgbClr val="0000FF"/>
                </a:solidFill>
                <a:ea typeface="仿宋" pitchFamily="49" charset="-122"/>
                <a:cs typeface="Consolas" pitchFamily="49" charset="0"/>
              </a:rPr>
              <a:t>，</a:t>
            </a:r>
            <a:r>
              <a:rPr lang="en-US" altLang="zh-CN" sz="2000" dirty="0">
                <a:solidFill>
                  <a:srgbClr val="0000FF"/>
                </a:solidFill>
                <a:ea typeface="仿宋" pitchFamily="49" charset="-122"/>
                <a:cs typeface="Consolas" pitchFamily="49" charset="0"/>
              </a:rPr>
              <a:t>int n</a:t>
            </a:r>
            <a:r>
              <a:rPr lang="zh-CN" altLang="en-US" sz="2000" dirty="0">
                <a:solidFill>
                  <a:srgbClr val="0000FF"/>
                </a:solidFill>
                <a:ea typeface="仿宋" pitchFamily="49" charset="-122"/>
                <a:cs typeface="Consolas" pitchFamily="49" charset="0"/>
              </a:rPr>
              <a:t>，</a:t>
            </a:r>
            <a:r>
              <a:rPr lang="en-US" altLang="zh-CN" sz="2000" dirty="0">
                <a:solidFill>
                  <a:srgbClr val="0000FF"/>
                </a:solidFill>
                <a:ea typeface="仿宋" pitchFamily="49" charset="-122"/>
                <a:cs typeface="Consolas" pitchFamily="49" charset="0"/>
              </a:rPr>
              <a:t>int k) </a:t>
            </a:r>
            <a:r>
              <a:rPr lang="en-US" altLang="zh-CN" sz="2000" dirty="0">
                <a:solidFill>
                  <a:srgbClr val="00B0F0"/>
                </a:solidFill>
                <a:ea typeface="仿宋" pitchFamily="49" charset="-122"/>
                <a:cs typeface="Consolas" pitchFamily="49" charset="0"/>
              </a:rPr>
              <a:t>//</a:t>
            </a:r>
            <a:r>
              <a:rPr lang="zh-CN" altLang="en-US" sz="2000" dirty="0">
                <a:solidFill>
                  <a:srgbClr val="00B0F0"/>
                </a:solidFill>
                <a:ea typeface="仿宋" pitchFamily="49" charset="-122"/>
                <a:cs typeface="Consolas" pitchFamily="49" charset="0"/>
              </a:rPr>
              <a:t>数组</a:t>
            </a:r>
            <a:r>
              <a:rPr lang="en-US" altLang="zh-CN" sz="2000" dirty="0">
                <a:solidFill>
                  <a:srgbClr val="00B0F0"/>
                </a:solidFill>
                <a:ea typeface="仿宋" pitchFamily="49" charset="-122"/>
                <a:cs typeface="Consolas" pitchFamily="49" charset="0"/>
              </a:rPr>
              <a:t>a</a:t>
            </a:r>
            <a:r>
              <a:rPr lang="zh-CN" altLang="en-US" sz="2000" dirty="0">
                <a:solidFill>
                  <a:srgbClr val="00B0F0"/>
                </a:solidFill>
                <a:ea typeface="仿宋" pitchFamily="49" charset="-122"/>
                <a:cs typeface="Consolas" pitchFamily="49" charset="0"/>
              </a:rPr>
              <a:t>共有</a:t>
            </a:r>
            <a:r>
              <a:rPr lang="en-US" altLang="zh-CN" sz="2000" dirty="0">
                <a:solidFill>
                  <a:srgbClr val="00B0F0"/>
                </a:solidFill>
                <a:ea typeface="仿宋" pitchFamily="49" charset="-122"/>
                <a:cs typeface="Consolas" pitchFamily="49" charset="0"/>
              </a:rPr>
              <a:t>n</a:t>
            </a:r>
            <a:r>
              <a:rPr lang="zh-CN" altLang="en-US" sz="2000" dirty="0">
                <a:solidFill>
                  <a:srgbClr val="00B0F0"/>
                </a:solidFill>
                <a:ea typeface="仿宋" pitchFamily="49" charset="-122"/>
                <a:cs typeface="Consolas" pitchFamily="49" charset="0"/>
              </a:rPr>
              <a:t>个元素</a:t>
            </a:r>
          </a:p>
          <a:p>
            <a:pPr algn="l">
              <a:lnSpc>
                <a:spcPts val="1800"/>
              </a:lnSpc>
            </a:pPr>
            <a:r>
              <a:rPr lang="en-US" altLang="zh-CN" sz="2000" dirty="0">
                <a:solidFill>
                  <a:srgbClr val="0000FF"/>
                </a:solidFill>
                <a:ea typeface="仿宋" pitchFamily="49" charset="-122"/>
                <a:cs typeface="Consolas" pitchFamily="49" charset="0"/>
              </a:rPr>
              <a:t>{</a:t>
            </a:r>
          </a:p>
          <a:p>
            <a:pPr algn="l">
              <a:lnSpc>
                <a:spcPts val="1800"/>
              </a:lnSpc>
            </a:pPr>
            <a:r>
              <a:rPr lang="en-US" altLang="zh-CN" sz="2000" dirty="0">
                <a:solidFill>
                  <a:srgbClr val="0000FF"/>
                </a:solidFill>
                <a:ea typeface="仿宋" pitchFamily="49" charset="-122"/>
                <a:cs typeface="Consolas" pitchFamily="49" charset="0"/>
              </a:rPr>
              <a:t>   int </a:t>
            </a:r>
            <a:r>
              <a:rPr lang="en-US" altLang="zh-CN" sz="2000" dirty="0" err="1">
                <a:solidFill>
                  <a:srgbClr val="0000FF"/>
                </a:solidFill>
                <a:ea typeface="仿宋" pitchFamily="49" charset="-122"/>
                <a:cs typeface="Consolas" pitchFamily="49" charset="0"/>
              </a:rPr>
              <a:t>i</a:t>
            </a:r>
            <a:r>
              <a:rPr lang="en-US" altLang="zh-CN" sz="2000" dirty="0">
                <a:solidFill>
                  <a:srgbClr val="0000FF"/>
                </a:solidFill>
                <a:ea typeface="仿宋" pitchFamily="49" charset="-122"/>
                <a:cs typeface="Consolas" pitchFamily="49" charset="0"/>
              </a:rPr>
              <a:t>;</a:t>
            </a:r>
          </a:p>
          <a:p>
            <a:pPr algn="l">
              <a:lnSpc>
                <a:spcPts val="1800"/>
              </a:lnSpc>
            </a:pPr>
            <a:r>
              <a:rPr lang="en-US" altLang="zh-CN" sz="2000" dirty="0">
                <a:solidFill>
                  <a:srgbClr val="0000FF"/>
                </a:solidFill>
                <a:ea typeface="仿宋" pitchFamily="49" charset="-122"/>
                <a:cs typeface="Consolas" pitchFamily="49" charset="0"/>
              </a:rPr>
              <a:t>   </a:t>
            </a:r>
            <a:r>
              <a:rPr lang="en-US" altLang="zh-CN" sz="2000" dirty="0">
                <a:solidFill>
                  <a:srgbClr val="6600CC"/>
                </a:solidFill>
                <a:ea typeface="仿宋" pitchFamily="49" charset="-122"/>
                <a:cs typeface="Consolas" pitchFamily="49" charset="0"/>
              </a:rPr>
              <a:t>if (k==n-1)</a:t>
            </a:r>
          </a:p>
          <a:p>
            <a:pPr algn="l">
              <a:lnSpc>
                <a:spcPts val="1800"/>
              </a:lnSpc>
            </a:pPr>
            <a:r>
              <a:rPr lang="en-US" altLang="zh-CN" sz="2000" dirty="0">
                <a:solidFill>
                  <a:srgbClr val="6600CC"/>
                </a:solidFill>
                <a:ea typeface="仿宋" pitchFamily="49" charset="-122"/>
                <a:cs typeface="Consolas" pitchFamily="49" charset="0"/>
              </a:rPr>
              <a:t>     for (</a:t>
            </a:r>
            <a:r>
              <a:rPr lang="en-US" altLang="zh-CN" sz="2000" dirty="0" err="1">
                <a:solidFill>
                  <a:srgbClr val="6600CC"/>
                </a:solidFill>
                <a:ea typeface="仿宋" pitchFamily="49" charset="-122"/>
                <a:cs typeface="Consolas" pitchFamily="49" charset="0"/>
              </a:rPr>
              <a:t>i</a:t>
            </a:r>
            <a:r>
              <a:rPr lang="en-US" altLang="zh-CN" sz="2000" dirty="0">
                <a:solidFill>
                  <a:srgbClr val="6600CC"/>
                </a:solidFill>
                <a:ea typeface="仿宋" pitchFamily="49" charset="-122"/>
                <a:cs typeface="Consolas" pitchFamily="49" charset="0"/>
              </a:rPr>
              <a:t>=0;i&lt;</a:t>
            </a:r>
            <a:r>
              <a:rPr lang="en-US" altLang="zh-CN" sz="2000" dirty="0" err="1">
                <a:solidFill>
                  <a:srgbClr val="6600CC"/>
                </a:solidFill>
                <a:ea typeface="仿宋" pitchFamily="49" charset="-122"/>
                <a:cs typeface="Consolas" pitchFamily="49" charset="0"/>
              </a:rPr>
              <a:t>n;i</a:t>
            </a:r>
            <a:r>
              <a:rPr lang="en-US" altLang="zh-CN" sz="2000" dirty="0">
                <a:solidFill>
                  <a:srgbClr val="6600CC"/>
                </a:solidFill>
                <a:ea typeface="仿宋" pitchFamily="49" charset="-122"/>
                <a:cs typeface="Consolas" pitchFamily="49" charset="0"/>
              </a:rPr>
              <a:t>++) </a:t>
            </a:r>
            <a:r>
              <a:rPr lang="zh-CN" altLang="en-US" sz="2000" dirty="0">
                <a:solidFill>
                  <a:srgbClr val="6600CC"/>
                </a:solidFill>
                <a:ea typeface="仿宋" pitchFamily="49" charset="-122"/>
                <a:cs typeface="Consolas" pitchFamily="49" charset="0"/>
              </a:rPr>
              <a:t>　　  </a:t>
            </a:r>
          </a:p>
          <a:p>
            <a:pPr algn="l">
              <a:lnSpc>
                <a:spcPts val="1800"/>
              </a:lnSpc>
            </a:pPr>
            <a:r>
              <a:rPr lang="zh-CN" altLang="en-US" sz="2000" dirty="0">
                <a:solidFill>
                  <a:srgbClr val="6600CC"/>
                </a:solidFill>
                <a:ea typeface="仿宋" pitchFamily="49" charset="-122"/>
                <a:cs typeface="Consolas" pitchFamily="49" charset="0"/>
              </a:rPr>
              <a:t>	 </a:t>
            </a:r>
            <a:r>
              <a:rPr lang="en-US" altLang="zh-CN" sz="2000" dirty="0" err="1">
                <a:solidFill>
                  <a:srgbClr val="6600CC"/>
                </a:solidFill>
                <a:ea typeface="仿宋" pitchFamily="49" charset="-122"/>
                <a:cs typeface="Consolas" pitchFamily="49" charset="0"/>
              </a:rPr>
              <a:t>printf</a:t>
            </a:r>
            <a:r>
              <a:rPr lang="en-US" altLang="zh-CN" sz="2000" dirty="0">
                <a:solidFill>
                  <a:srgbClr val="6600CC"/>
                </a:solidFill>
                <a:ea typeface="仿宋" pitchFamily="49" charset="-122"/>
                <a:cs typeface="Consolas" pitchFamily="49" charset="0"/>
              </a:rPr>
              <a:t>(“%d\n”</a:t>
            </a:r>
            <a:r>
              <a:rPr lang="zh-CN" altLang="en-US" sz="2000" dirty="0">
                <a:solidFill>
                  <a:srgbClr val="6600CC"/>
                </a:solidFill>
                <a:ea typeface="仿宋" pitchFamily="49" charset="-122"/>
                <a:cs typeface="Consolas" pitchFamily="49" charset="0"/>
              </a:rPr>
              <a:t>，</a:t>
            </a:r>
            <a:r>
              <a:rPr lang="en-US" altLang="zh-CN" sz="2000" dirty="0">
                <a:solidFill>
                  <a:srgbClr val="6600CC"/>
                </a:solidFill>
                <a:ea typeface="仿宋" pitchFamily="49" charset="-122"/>
                <a:cs typeface="Consolas" pitchFamily="49" charset="0"/>
              </a:rPr>
              <a:t>a[</a:t>
            </a:r>
            <a:r>
              <a:rPr lang="en-US" altLang="zh-CN" sz="2000" dirty="0" err="1">
                <a:solidFill>
                  <a:srgbClr val="6600CC"/>
                </a:solidFill>
                <a:ea typeface="仿宋" pitchFamily="49" charset="-122"/>
                <a:cs typeface="Consolas" pitchFamily="49" charset="0"/>
              </a:rPr>
              <a:t>i</a:t>
            </a:r>
            <a:r>
              <a:rPr lang="en-US" altLang="zh-CN" sz="2000" dirty="0">
                <a:solidFill>
                  <a:srgbClr val="6600CC"/>
                </a:solidFill>
                <a:ea typeface="仿宋" pitchFamily="49" charset="-122"/>
                <a:cs typeface="Consolas" pitchFamily="49" charset="0"/>
              </a:rPr>
              <a:t>]);	  </a:t>
            </a:r>
            <a:r>
              <a:rPr lang="en-US" altLang="zh-CN" sz="2000" dirty="0">
                <a:solidFill>
                  <a:srgbClr val="00B0F0"/>
                </a:solidFill>
                <a:ea typeface="仿宋" pitchFamily="49" charset="-122"/>
                <a:cs typeface="Consolas" pitchFamily="49" charset="0"/>
              </a:rPr>
              <a:t>//</a:t>
            </a:r>
            <a:r>
              <a:rPr lang="zh-CN" altLang="en-US" sz="2000" dirty="0">
                <a:solidFill>
                  <a:srgbClr val="00B0F0"/>
                </a:solidFill>
                <a:ea typeface="仿宋" pitchFamily="49" charset="-122"/>
                <a:cs typeface="Consolas" pitchFamily="49" charset="0"/>
              </a:rPr>
              <a:t>执行</a:t>
            </a:r>
            <a:r>
              <a:rPr lang="en-US" altLang="zh-CN" sz="2000" dirty="0">
                <a:solidFill>
                  <a:srgbClr val="00B0F0"/>
                </a:solidFill>
                <a:ea typeface="仿宋" pitchFamily="49" charset="-122"/>
                <a:cs typeface="Consolas" pitchFamily="49" charset="0"/>
              </a:rPr>
              <a:t>n</a:t>
            </a:r>
            <a:r>
              <a:rPr lang="zh-CN" altLang="en-US" sz="2000" dirty="0">
                <a:solidFill>
                  <a:srgbClr val="00B0F0"/>
                </a:solidFill>
                <a:ea typeface="仿宋" pitchFamily="49" charset="-122"/>
                <a:cs typeface="Consolas" pitchFamily="49" charset="0"/>
              </a:rPr>
              <a:t>次</a:t>
            </a:r>
            <a:endParaRPr lang="en-US" altLang="zh-CN" sz="2000" dirty="0">
              <a:solidFill>
                <a:srgbClr val="00B0F0"/>
              </a:solidFill>
              <a:ea typeface="仿宋" pitchFamily="49" charset="-122"/>
              <a:cs typeface="Consolas" pitchFamily="49" charset="0"/>
            </a:endParaRPr>
          </a:p>
          <a:p>
            <a:pPr algn="l">
              <a:lnSpc>
                <a:spcPts val="1800"/>
              </a:lnSpc>
            </a:pPr>
            <a:r>
              <a:rPr lang="en-US" altLang="zh-CN" sz="2000" dirty="0">
                <a:solidFill>
                  <a:srgbClr val="0000FF"/>
                </a:solidFill>
                <a:ea typeface="仿宋" pitchFamily="49" charset="-122"/>
                <a:cs typeface="Consolas" pitchFamily="49" charset="0"/>
              </a:rPr>
              <a:t>   else</a:t>
            </a:r>
          </a:p>
          <a:p>
            <a:pPr algn="l">
              <a:lnSpc>
                <a:spcPts val="1800"/>
              </a:lnSpc>
            </a:pPr>
            <a:r>
              <a:rPr lang="en-US" altLang="zh-CN" sz="2000" dirty="0">
                <a:solidFill>
                  <a:srgbClr val="0000FF"/>
                </a:solidFill>
                <a:ea typeface="仿宋" pitchFamily="49" charset="-122"/>
                <a:cs typeface="Consolas" pitchFamily="49" charset="0"/>
              </a:rPr>
              <a:t>   {</a:t>
            </a:r>
          </a:p>
          <a:p>
            <a:pPr algn="l">
              <a:lnSpc>
                <a:spcPts val="1800"/>
              </a:lnSpc>
            </a:pPr>
            <a:r>
              <a:rPr lang="en-US" altLang="zh-CN" sz="2000" dirty="0">
                <a:solidFill>
                  <a:srgbClr val="0000FF"/>
                </a:solidFill>
                <a:ea typeface="仿宋" pitchFamily="49" charset="-122"/>
                <a:cs typeface="Consolas" pitchFamily="49" charset="0"/>
              </a:rPr>
              <a:t>      for (</a:t>
            </a:r>
            <a:r>
              <a:rPr lang="en-US" altLang="zh-CN" sz="2000" dirty="0" err="1">
                <a:solidFill>
                  <a:srgbClr val="0000FF"/>
                </a:solidFill>
                <a:ea typeface="仿宋" pitchFamily="49" charset="-122"/>
                <a:cs typeface="Consolas" pitchFamily="49" charset="0"/>
              </a:rPr>
              <a:t>i</a:t>
            </a:r>
            <a:r>
              <a:rPr lang="en-US" altLang="zh-CN" sz="2000" dirty="0">
                <a:solidFill>
                  <a:srgbClr val="0000FF"/>
                </a:solidFill>
                <a:ea typeface="仿宋" pitchFamily="49" charset="-122"/>
                <a:cs typeface="Consolas" pitchFamily="49" charset="0"/>
              </a:rPr>
              <a:t>=</a:t>
            </a:r>
            <a:r>
              <a:rPr lang="en-US" altLang="zh-CN" sz="2000" dirty="0" err="1">
                <a:solidFill>
                  <a:srgbClr val="0000FF"/>
                </a:solidFill>
                <a:ea typeface="仿宋" pitchFamily="49" charset="-122"/>
                <a:cs typeface="Consolas" pitchFamily="49" charset="0"/>
              </a:rPr>
              <a:t>k;i</a:t>
            </a:r>
            <a:r>
              <a:rPr lang="en-US" altLang="zh-CN" sz="2000" dirty="0">
                <a:solidFill>
                  <a:srgbClr val="0000FF"/>
                </a:solidFill>
                <a:ea typeface="仿宋" pitchFamily="49" charset="-122"/>
                <a:cs typeface="Consolas" pitchFamily="49" charset="0"/>
              </a:rPr>
              <a:t>&lt;</a:t>
            </a:r>
            <a:r>
              <a:rPr lang="en-US" altLang="zh-CN" sz="2000" dirty="0" err="1">
                <a:solidFill>
                  <a:srgbClr val="0000FF"/>
                </a:solidFill>
                <a:ea typeface="仿宋" pitchFamily="49" charset="-122"/>
                <a:cs typeface="Consolas" pitchFamily="49" charset="0"/>
              </a:rPr>
              <a:t>n;i</a:t>
            </a:r>
            <a:r>
              <a:rPr lang="en-US" altLang="zh-CN" sz="2000" dirty="0">
                <a:solidFill>
                  <a:srgbClr val="0000FF"/>
                </a:solidFill>
                <a:ea typeface="仿宋" pitchFamily="49" charset="-122"/>
                <a:cs typeface="Consolas" pitchFamily="49" charset="0"/>
              </a:rPr>
              <a:t>++)</a:t>
            </a:r>
            <a:r>
              <a:rPr lang="zh-CN" altLang="en-US" sz="2000" dirty="0">
                <a:solidFill>
                  <a:srgbClr val="0000FF"/>
                </a:solidFill>
                <a:ea typeface="仿宋" pitchFamily="49" charset="-122"/>
                <a:cs typeface="Consolas" pitchFamily="49" charset="0"/>
              </a:rPr>
              <a:t>　   </a:t>
            </a:r>
          </a:p>
          <a:p>
            <a:pPr algn="l">
              <a:lnSpc>
                <a:spcPts val="1800"/>
              </a:lnSpc>
            </a:pPr>
            <a:r>
              <a:rPr lang="zh-CN" altLang="en-US" sz="2000" dirty="0">
                <a:solidFill>
                  <a:srgbClr val="0000FF"/>
                </a:solidFill>
                <a:ea typeface="仿宋" pitchFamily="49" charset="-122"/>
                <a:cs typeface="Consolas" pitchFamily="49" charset="0"/>
              </a:rPr>
              <a:t>	  </a:t>
            </a:r>
            <a:r>
              <a:rPr lang="en-US" altLang="zh-CN" sz="2000" dirty="0">
                <a:solidFill>
                  <a:srgbClr val="0000FF"/>
                </a:solidFill>
                <a:ea typeface="仿宋" pitchFamily="49" charset="-122"/>
                <a:cs typeface="Consolas" pitchFamily="49" charset="0"/>
              </a:rPr>
              <a:t>a[</a:t>
            </a:r>
            <a:r>
              <a:rPr lang="en-US" altLang="zh-CN" sz="2000" dirty="0" err="1">
                <a:solidFill>
                  <a:srgbClr val="0000FF"/>
                </a:solidFill>
                <a:ea typeface="仿宋" pitchFamily="49" charset="-122"/>
                <a:cs typeface="Consolas" pitchFamily="49" charset="0"/>
              </a:rPr>
              <a:t>i</a:t>
            </a:r>
            <a:r>
              <a:rPr lang="en-US" altLang="zh-CN" sz="2000" dirty="0">
                <a:solidFill>
                  <a:srgbClr val="0000FF"/>
                </a:solidFill>
                <a:ea typeface="仿宋" pitchFamily="49" charset="-122"/>
                <a:cs typeface="Consolas" pitchFamily="49" charset="0"/>
              </a:rPr>
              <a:t>]=a[</a:t>
            </a:r>
            <a:r>
              <a:rPr lang="en-US" altLang="zh-CN" sz="2000" dirty="0" err="1">
                <a:solidFill>
                  <a:srgbClr val="0000FF"/>
                </a:solidFill>
                <a:ea typeface="仿宋" pitchFamily="49" charset="-122"/>
                <a:cs typeface="Consolas" pitchFamily="49" charset="0"/>
              </a:rPr>
              <a:t>i</a:t>
            </a:r>
            <a:r>
              <a:rPr lang="en-US" altLang="zh-CN" sz="2000" dirty="0">
                <a:solidFill>
                  <a:srgbClr val="0000FF"/>
                </a:solidFill>
                <a:ea typeface="仿宋" pitchFamily="49" charset="-122"/>
                <a:cs typeface="Consolas" pitchFamily="49" charset="0"/>
              </a:rPr>
              <a:t>]+</a:t>
            </a:r>
            <a:r>
              <a:rPr lang="en-US" altLang="zh-CN" sz="2000" dirty="0" err="1">
                <a:solidFill>
                  <a:srgbClr val="0000FF"/>
                </a:solidFill>
                <a:ea typeface="仿宋" pitchFamily="49" charset="-122"/>
                <a:cs typeface="Consolas" pitchFamily="49" charset="0"/>
              </a:rPr>
              <a:t>i</a:t>
            </a:r>
            <a:r>
              <a:rPr lang="en-US" altLang="zh-CN" sz="2000" dirty="0">
                <a:solidFill>
                  <a:srgbClr val="0000FF"/>
                </a:solidFill>
                <a:ea typeface="仿宋" pitchFamily="49" charset="-122"/>
                <a:cs typeface="Consolas" pitchFamily="49" charset="0"/>
              </a:rPr>
              <a:t>*</a:t>
            </a:r>
            <a:r>
              <a:rPr lang="en-US" altLang="zh-CN" sz="2000" dirty="0" err="1">
                <a:solidFill>
                  <a:srgbClr val="0000FF"/>
                </a:solidFill>
                <a:ea typeface="仿宋" pitchFamily="49" charset="-122"/>
                <a:cs typeface="Consolas" pitchFamily="49" charset="0"/>
              </a:rPr>
              <a:t>i</a:t>
            </a:r>
            <a:r>
              <a:rPr lang="en-US" altLang="zh-CN" sz="2000" dirty="0">
                <a:solidFill>
                  <a:srgbClr val="0000FF"/>
                </a:solidFill>
                <a:ea typeface="仿宋" pitchFamily="49" charset="-122"/>
                <a:cs typeface="Consolas" pitchFamily="49" charset="0"/>
              </a:rPr>
              <a:t>;</a:t>
            </a:r>
            <a:r>
              <a:rPr lang="en-US" altLang="zh-CN" sz="2000" dirty="0">
                <a:solidFill>
                  <a:srgbClr val="C00000"/>
                </a:solidFill>
                <a:ea typeface="仿宋" pitchFamily="49" charset="-122"/>
                <a:cs typeface="Consolas" pitchFamily="49" charset="0"/>
              </a:rPr>
              <a:t>	  </a:t>
            </a:r>
            <a:r>
              <a:rPr lang="en-US" altLang="zh-CN" sz="2000" dirty="0">
                <a:solidFill>
                  <a:srgbClr val="00B0F0"/>
                </a:solidFill>
                <a:ea typeface="仿宋" pitchFamily="49" charset="-122"/>
                <a:cs typeface="Consolas" pitchFamily="49" charset="0"/>
              </a:rPr>
              <a:t>//</a:t>
            </a:r>
            <a:r>
              <a:rPr lang="zh-CN" altLang="en-US" sz="2000" dirty="0">
                <a:solidFill>
                  <a:srgbClr val="00B0F0"/>
                </a:solidFill>
                <a:ea typeface="仿宋" pitchFamily="49" charset="-122"/>
                <a:cs typeface="Consolas" pitchFamily="49" charset="0"/>
              </a:rPr>
              <a:t>执行</a:t>
            </a:r>
            <a:r>
              <a:rPr lang="en-US" altLang="zh-CN" sz="2000" dirty="0">
                <a:solidFill>
                  <a:srgbClr val="00B0F0"/>
                </a:solidFill>
                <a:ea typeface="仿宋" pitchFamily="49" charset="-122"/>
                <a:cs typeface="Consolas" pitchFamily="49" charset="0"/>
              </a:rPr>
              <a:t>n-k</a:t>
            </a:r>
            <a:r>
              <a:rPr lang="zh-CN" altLang="en-US" sz="2000" dirty="0">
                <a:solidFill>
                  <a:srgbClr val="00B0F0"/>
                </a:solidFill>
                <a:ea typeface="仿宋" pitchFamily="49" charset="-122"/>
                <a:cs typeface="Consolas" pitchFamily="49" charset="0"/>
              </a:rPr>
              <a:t>次</a:t>
            </a:r>
            <a:endParaRPr lang="en-US" altLang="zh-CN" sz="2000" dirty="0">
              <a:solidFill>
                <a:srgbClr val="00B0F0"/>
              </a:solidFill>
              <a:ea typeface="仿宋" pitchFamily="49" charset="-122"/>
              <a:cs typeface="Consolas" pitchFamily="49" charset="0"/>
            </a:endParaRPr>
          </a:p>
          <a:p>
            <a:pPr algn="l">
              <a:lnSpc>
                <a:spcPts val="1800"/>
              </a:lnSpc>
            </a:pPr>
            <a:r>
              <a:rPr lang="en-US" altLang="zh-CN" sz="2000" dirty="0">
                <a:solidFill>
                  <a:srgbClr val="C00000"/>
                </a:solidFill>
                <a:ea typeface="仿宋" pitchFamily="49" charset="-122"/>
                <a:cs typeface="Consolas" pitchFamily="49" charset="0"/>
              </a:rPr>
              <a:t>      </a:t>
            </a:r>
            <a:r>
              <a:rPr lang="en-US" altLang="zh-CN" sz="2000" dirty="0">
                <a:solidFill>
                  <a:srgbClr val="FF0000"/>
                </a:solidFill>
                <a:ea typeface="仿宋" pitchFamily="49" charset="-122"/>
                <a:cs typeface="Consolas" pitchFamily="49" charset="0"/>
              </a:rPr>
              <a:t>fun</a:t>
            </a:r>
            <a:r>
              <a:rPr lang="en-US" altLang="zh-CN" sz="2000" dirty="0">
                <a:solidFill>
                  <a:srgbClr val="C00000"/>
                </a:solidFill>
                <a:ea typeface="仿宋" pitchFamily="49" charset="-122"/>
                <a:cs typeface="Consolas" pitchFamily="49" charset="0"/>
              </a:rPr>
              <a:t>(a</a:t>
            </a:r>
            <a:r>
              <a:rPr lang="zh-CN" altLang="en-US" sz="2000" dirty="0">
                <a:solidFill>
                  <a:srgbClr val="C00000"/>
                </a:solidFill>
                <a:ea typeface="仿宋" pitchFamily="49" charset="-122"/>
                <a:cs typeface="Consolas" pitchFamily="49" charset="0"/>
              </a:rPr>
              <a:t>，</a:t>
            </a:r>
            <a:r>
              <a:rPr lang="en-US" altLang="zh-CN" sz="2000" dirty="0">
                <a:solidFill>
                  <a:srgbClr val="C00000"/>
                </a:solidFill>
                <a:ea typeface="仿宋" pitchFamily="49" charset="-122"/>
                <a:cs typeface="Consolas" pitchFamily="49" charset="0"/>
              </a:rPr>
              <a:t>n</a:t>
            </a:r>
            <a:r>
              <a:rPr lang="zh-CN" altLang="en-US" sz="2000" dirty="0">
                <a:solidFill>
                  <a:srgbClr val="C00000"/>
                </a:solidFill>
                <a:ea typeface="仿宋" pitchFamily="49" charset="-122"/>
                <a:cs typeface="Consolas" pitchFamily="49" charset="0"/>
              </a:rPr>
              <a:t>，</a:t>
            </a:r>
            <a:r>
              <a:rPr lang="en-US" altLang="zh-CN" sz="2000" dirty="0">
                <a:solidFill>
                  <a:srgbClr val="C00000"/>
                </a:solidFill>
                <a:ea typeface="仿宋" pitchFamily="49" charset="-122"/>
                <a:cs typeface="Consolas" pitchFamily="49" charset="0"/>
              </a:rPr>
              <a:t>k+1);</a:t>
            </a:r>
          </a:p>
          <a:p>
            <a:pPr algn="l">
              <a:lnSpc>
                <a:spcPts val="1800"/>
              </a:lnSpc>
            </a:pPr>
            <a:r>
              <a:rPr lang="en-US" altLang="zh-CN" sz="2000" dirty="0">
                <a:solidFill>
                  <a:srgbClr val="0000FF"/>
                </a:solidFill>
                <a:ea typeface="仿宋" pitchFamily="49" charset="-122"/>
                <a:cs typeface="Consolas" pitchFamily="49" charset="0"/>
              </a:rPr>
              <a:t>   }</a:t>
            </a:r>
          </a:p>
          <a:p>
            <a:pPr algn="l">
              <a:lnSpc>
                <a:spcPts val="1800"/>
              </a:lnSpc>
            </a:pPr>
            <a:r>
              <a:rPr lang="en-US" altLang="zh-CN" sz="2000" dirty="0">
                <a:solidFill>
                  <a:srgbClr val="0000FF"/>
                </a:solidFill>
                <a:ea typeface="仿宋" pitchFamily="49" charset="-122"/>
                <a:cs typeface="Consolas" pitchFamily="49" charset="0"/>
              </a:rPr>
              <a:t>}    </a:t>
            </a:r>
            <a:endParaRPr lang="zh-CN" altLang="en-US" sz="2000" dirty="0">
              <a:solidFill>
                <a:srgbClr val="0000FF"/>
              </a:solidFill>
              <a:ea typeface="仿宋" pitchFamily="49" charset="-122"/>
              <a:cs typeface="Consolas" pitchFamily="49"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3" name="Text Box 5"/>
          <p:cNvSpPr txBox="1">
            <a:spLocks noChangeArrowheads="1"/>
          </p:cNvSpPr>
          <p:nvPr/>
        </p:nvSpPr>
        <p:spPr bwMode="auto">
          <a:xfrm>
            <a:off x="467544" y="534058"/>
            <a:ext cx="2138319" cy="461665"/>
          </a:xfrm>
          <a:prstGeom prst="rect">
            <a:avLst/>
          </a:prstGeom>
          <a:noFill/>
          <a:ln w="19050" algn="ctr">
            <a:noFill/>
            <a:miter lim="800000"/>
            <a:headEnd/>
            <a:tailEnd/>
          </a:ln>
          <a:effectLst/>
        </p:spPr>
        <p:txBody>
          <a:bodyPr wrap="square">
            <a:spAutoFit/>
          </a:bodyPr>
          <a:lstStyle/>
          <a:p>
            <a:pPr algn="just"/>
            <a:r>
              <a:rPr lang="zh-CN" altLang="en-US" sz="2400" dirty="0">
                <a:ea typeface="楷体" pitchFamily="49" charset="-122"/>
                <a:cs typeface="Times New Roman" pitchFamily="18" charset="0"/>
              </a:rPr>
              <a:t>递归算法： </a:t>
            </a:r>
          </a:p>
        </p:txBody>
      </p:sp>
      <p:grpSp>
        <p:nvGrpSpPr>
          <p:cNvPr id="2" name="组合 4"/>
          <p:cNvGrpSpPr/>
          <p:nvPr/>
        </p:nvGrpSpPr>
        <p:grpSpPr>
          <a:xfrm>
            <a:off x="6516216" y="5715016"/>
            <a:ext cx="1357322" cy="412805"/>
            <a:chOff x="5929322" y="5703784"/>
            <a:chExt cx="1357322" cy="412805"/>
          </a:xfrm>
        </p:grpSpPr>
        <p:sp>
          <p:nvSpPr>
            <p:cNvPr id="6" name="左箭头 5"/>
            <p:cNvSpPr/>
            <p:nvPr/>
          </p:nvSpPr>
          <p:spPr>
            <a:xfrm>
              <a:off x="5929322" y="5857892"/>
              <a:ext cx="500066" cy="142876"/>
            </a:xfrm>
            <a:prstGeom prst="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sp>
          <p:nvSpPr>
            <p:cNvPr id="7" name="TextBox 6"/>
            <p:cNvSpPr txBox="1"/>
            <p:nvPr/>
          </p:nvSpPr>
          <p:spPr>
            <a:xfrm>
              <a:off x="6357950" y="5703784"/>
              <a:ext cx="928694" cy="412805"/>
            </a:xfrm>
            <a:prstGeom prst="rect">
              <a:avLst/>
            </a:prstGeom>
            <a:noFill/>
          </p:spPr>
          <p:txBody>
            <a:bodyPr wrap="square" rtlCol="0">
              <a:spAutoFit/>
            </a:bodyPr>
            <a:lstStyle/>
            <a:p>
              <a:r>
                <a:rPr lang="zh-CN" altLang="en-US" sz="2000" dirty="0">
                  <a:solidFill>
                    <a:srgbClr val="FF0000"/>
                  </a:solidFill>
                  <a:latin typeface="方正硬笔楷书简体" pitchFamily="65" charset="-122"/>
                  <a:ea typeface="方正硬笔楷书简体" pitchFamily="65" charset="-122"/>
                </a:rPr>
                <a:t>错误</a:t>
              </a:r>
            </a:p>
          </p:txBody>
        </p:sp>
      </p:grpSp>
      <p:grpSp>
        <p:nvGrpSpPr>
          <p:cNvPr id="3" name="组合 11"/>
          <p:cNvGrpSpPr/>
          <p:nvPr/>
        </p:nvGrpSpPr>
        <p:grpSpPr>
          <a:xfrm>
            <a:off x="1071538" y="5214950"/>
            <a:ext cx="5857916" cy="961731"/>
            <a:chOff x="1071538" y="5214950"/>
            <a:chExt cx="5857916" cy="961731"/>
          </a:xfrm>
        </p:grpSpPr>
        <p:sp>
          <p:nvSpPr>
            <p:cNvPr id="9" name="TextBox 8"/>
            <p:cNvSpPr txBox="1"/>
            <p:nvPr/>
          </p:nvSpPr>
          <p:spPr>
            <a:xfrm>
              <a:off x="1071538" y="5715016"/>
              <a:ext cx="5300662" cy="461665"/>
            </a:xfrm>
            <a:prstGeom prst="rect">
              <a:avLst/>
            </a:prstGeom>
            <a:noFill/>
          </p:spPr>
          <p:txBody>
            <a:bodyPr wrap="square" rtlCol="0">
              <a:spAutoFit/>
            </a:bodyPr>
            <a:lstStyle/>
            <a:p>
              <a:pPr algn="l"/>
              <a:r>
                <a:rPr lang="en-US" altLang="zh-CN" sz="2400" dirty="0">
                  <a:latin typeface="Consolas" pitchFamily="49" charset="0"/>
                  <a:ea typeface="楷体" pitchFamily="49" charset="-122"/>
                  <a:cs typeface="Consolas" pitchFamily="49" charset="0"/>
                </a:rPr>
                <a:t>fun(</a:t>
              </a:r>
              <a:r>
                <a:rPr lang="en-US" altLang="zh-CN" sz="2400" i="1" dirty="0">
                  <a:latin typeface="Consolas" pitchFamily="49" charset="0"/>
                  <a:ea typeface="楷体" pitchFamily="49" charset="-122"/>
                  <a:cs typeface="Consolas" pitchFamily="49" charset="0"/>
                </a:rPr>
                <a:t>a</a:t>
              </a:r>
              <a:r>
                <a:rPr lang="zh-CN" altLang="en-US" sz="2400" dirty="0">
                  <a:latin typeface="Consolas" pitchFamily="49" charset="0"/>
                  <a:ea typeface="楷体" pitchFamily="49" charset="-122"/>
                  <a:cs typeface="Consolas" pitchFamily="49" charset="0"/>
                </a:rPr>
                <a:t>，</a:t>
              </a:r>
              <a:r>
                <a:rPr lang="en-US" altLang="zh-CN" sz="2400" i="1" dirty="0">
                  <a:latin typeface="Consolas" pitchFamily="49" charset="0"/>
                  <a:ea typeface="楷体" pitchFamily="49" charset="-122"/>
                  <a:cs typeface="Consolas" pitchFamily="49" charset="0"/>
                </a:rPr>
                <a:t>n</a:t>
              </a:r>
              <a:r>
                <a:rPr lang="zh-CN" altLang="en-US" sz="2400" dirty="0">
                  <a:latin typeface="Consolas" pitchFamily="49" charset="0"/>
                  <a:ea typeface="楷体" pitchFamily="49" charset="-122"/>
                  <a:cs typeface="Consolas" pitchFamily="49" charset="0"/>
                </a:rPr>
                <a:t>，</a:t>
              </a:r>
              <a:r>
                <a:rPr lang="en-US" altLang="zh-CN" sz="2400" dirty="0">
                  <a:latin typeface="Consolas" pitchFamily="49" charset="0"/>
                  <a:ea typeface="楷体" pitchFamily="49" charset="-122"/>
                  <a:cs typeface="Consolas" pitchFamily="49" charset="0"/>
                </a:rPr>
                <a:t>0)</a:t>
              </a:r>
              <a:r>
                <a:rPr lang="zh-CN" altLang="en-US" sz="2400" dirty="0">
                  <a:latin typeface="Consolas" pitchFamily="49" charset="0"/>
                  <a:ea typeface="楷体" pitchFamily="49" charset="-122"/>
                  <a:cs typeface="Consolas" pitchFamily="49" charset="0"/>
                </a:rPr>
                <a:t>的空间复杂度为</a:t>
              </a:r>
              <a:r>
                <a:rPr lang="en-US" altLang="zh-CN" sz="2400" dirty="0">
                  <a:latin typeface="Consolas" pitchFamily="49" charset="0"/>
                  <a:ea typeface="楷体" pitchFamily="49" charset="-122"/>
                  <a:cs typeface="Consolas" pitchFamily="49" charset="0"/>
                </a:rPr>
                <a:t>O(1)</a:t>
              </a:r>
              <a:r>
                <a:rPr lang="zh-CN" altLang="en-US" sz="2400" dirty="0">
                  <a:latin typeface="Consolas" pitchFamily="49" charset="0"/>
                  <a:ea typeface="楷体" pitchFamily="49" charset="-122"/>
                  <a:cs typeface="Consolas" pitchFamily="49" charset="0"/>
                </a:rPr>
                <a:t>。</a:t>
              </a:r>
            </a:p>
          </p:txBody>
        </p:sp>
        <p:sp>
          <p:nvSpPr>
            <p:cNvPr id="10" name="下箭头 9"/>
            <p:cNvSpPr/>
            <p:nvPr/>
          </p:nvSpPr>
          <p:spPr>
            <a:xfrm>
              <a:off x="3286116" y="5214950"/>
              <a:ext cx="214314"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1" name="TextBox 10"/>
            <p:cNvSpPr txBox="1"/>
            <p:nvPr/>
          </p:nvSpPr>
          <p:spPr>
            <a:xfrm>
              <a:off x="3571868" y="5214950"/>
              <a:ext cx="3357586" cy="376129"/>
            </a:xfrm>
            <a:prstGeom prst="rect">
              <a:avLst/>
            </a:prstGeom>
            <a:noFill/>
          </p:spPr>
          <p:txBody>
            <a:bodyPr wrap="square" rtlCol="0">
              <a:spAutoFit/>
            </a:bodyPr>
            <a:lstStyle/>
            <a:p>
              <a:pPr algn="l"/>
              <a:r>
                <a:rPr lang="zh-CN" altLang="en-US" sz="1800" dirty="0">
                  <a:solidFill>
                    <a:srgbClr val="0000FF"/>
                  </a:solidFill>
                  <a:latin typeface="楷体" panose="02010609060101010101" pitchFamily="49" charset="-122"/>
                  <a:ea typeface="楷体" panose="02010609060101010101" pitchFamily="49" charset="-122"/>
                  <a:cs typeface="Consolas" pitchFamily="49" charset="0"/>
                </a:rPr>
                <a:t>仅仅定义了一个临时变量</a:t>
              </a:r>
              <a:r>
                <a:rPr lang="en-US" altLang="zh-CN" sz="1800" i="1" dirty="0" err="1">
                  <a:solidFill>
                    <a:srgbClr val="0000FF"/>
                  </a:solidFill>
                  <a:latin typeface="楷体" panose="02010609060101010101" pitchFamily="49" charset="-122"/>
                  <a:ea typeface="楷体" panose="02010609060101010101" pitchFamily="49" charset="-122"/>
                  <a:cs typeface="Consolas" pitchFamily="49" charset="0"/>
                </a:rPr>
                <a:t>i</a:t>
              </a:r>
              <a:endParaRPr lang="zh-CN" altLang="en-US" sz="1800" i="1" dirty="0">
                <a:solidFill>
                  <a:srgbClr val="0000FF"/>
                </a:solidFill>
                <a:latin typeface="楷体" panose="02010609060101010101" pitchFamily="49" charset="-122"/>
                <a:ea typeface="楷体" panose="02010609060101010101" pitchFamily="49" charset="-122"/>
                <a:cs typeface="Consolas" pitchFamily="49" charset="0"/>
              </a:endParaRPr>
            </a:p>
          </p:txBody>
        </p:sp>
      </p:grpSp>
      <p:sp>
        <p:nvSpPr>
          <p:cNvPr id="14" name="TextBox 13"/>
          <p:cNvSpPr txBox="1"/>
          <p:nvPr/>
        </p:nvSpPr>
        <p:spPr>
          <a:xfrm>
            <a:off x="709977" y="1024600"/>
            <a:ext cx="7724045" cy="4154631"/>
          </a:xfrm>
          <a:prstGeom prst="rect">
            <a:avLst/>
          </a:prstGeom>
          <a:gradFill flip="none"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2700000" scaled="1"/>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44000" tIns="144000" bIns="108000" rtlCol="0">
            <a:spAutoFit/>
          </a:bodyPr>
          <a:lstStyle/>
          <a:p>
            <a:pPr algn="l">
              <a:lnSpc>
                <a:spcPts val="1800"/>
              </a:lnSpc>
              <a:spcBef>
                <a:spcPts val="800"/>
              </a:spcBef>
            </a:pPr>
            <a:r>
              <a:rPr lang="en-US" altLang="zh-CN" sz="1800" dirty="0">
                <a:solidFill>
                  <a:srgbClr val="0000FF"/>
                </a:solidFill>
                <a:ea typeface="仿宋" pitchFamily="49" charset="-122"/>
                <a:cs typeface="Consolas" pitchFamily="49" charset="0"/>
              </a:rPr>
              <a:t>void </a:t>
            </a:r>
            <a:r>
              <a:rPr lang="en-US" altLang="zh-CN" sz="1800" dirty="0">
                <a:solidFill>
                  <a:srgbClr val="FF0000"/>
                </a:solidFill>
                <a:ea typeface="仿宋" pitchFamily="49" charset="-122"/>
                <a:cs typeface="Consolas" pitchFamily="49" charset="0"/>
              </a:rPr>
              <a:t>fun</a:t>
            </a:r>
            <a:r>
              <a:rPr lang="en-US" altLang="zh-CN" sz="1800" dirty="0">
                <a:solidFill>
                  <a:srgbClr val="0000FF"/>
                </a:solidFill>
                <a:ea typeface="仿宋" pitchFamily="49" charset="-122"/>
                <a:cs typeface="Consolas" pitchFamily="49" charset="0"/>
              </a:rPr>
              <a:t>(int a[]</a:t>
            </a:r>
            <a:r>
              <a:rPr lang="zh-CN" altLang="en-US" sz="1800" dirty="0">
                <a:solidFill>
                  <a:srgbClr val="0000FF"/>
                </a:solidFill>
                <a:ea typeface="仿宋" pitchFamily="49" charset="-122"/>
                <a:cs typeface="Consolas" pitchFamily="49" charset="0"/>
              </a:rPr>
              <a:t>，</a:t>
            </a:r>
            <a:r>
              <a:rPr lang="en-US" altLang="zh-CN" sz="1800" dirty="0">
                <a:solidFill>
                  <a:srgbClr val="0000FF"/>
                </a:solidFill>
                <a:ea typeface="仿宋" pitchFamily="49" charset="-122"/>
                <a:cs typeface="Consolas" pitchFamily="49" charset="0"/>
              </a:rPr>
              <a:t>int n</a:t>
            </a:r>
            <a:r>
              <a:rPr lang="zh-CN" altLang="en-US" sz="1800" dirty="0">
                <a:solidFill>
                  <a:srgbClr val="0000FF"/>
                </a:solidFill>
                <a:ea typeface="仿宋" pitchFamily="49" charset="-122"/>
                <a:cs typeface="Consolas" pitchFamily="49" charset="0"/>
              </a:rPr>
              <a:t>，</a:t>
            </a:r>
            <a:r>
              <a:rPr lang="en-US" altLang="zh-CN" sz="1800" dirty="0">
                <a:solidFill>
                  <a:srgbClr val="0000FF"/>
                </a:solidFill>
                <a:ea typeface="仿宋" pitchFamily="49" charset="-122"/>
                <a:cs typeface="Consolas" pitchFamily="49" charset="0"/>
              </a:rPr>
              <a:t>int k) </a:t>
            </a:r>
            <a:r>
              <a:rPr lang="en-US" altLang="zh-CN" sz="1800" dirty="0">
                <a:solidFill>
                  <a:srgbClr val="00B0F0"/>
                </a:solidFill>
                <a:ea typeface="仿宋" pitchFamily="49" charset="-122"/>
                <a:cs typeface="Consolas" pitchFamily="49" charset="0"/>
              </a:rPr>
              <a:t>//</a:t>
            </a:r>
            <a:r>
              <a:rPr lang="zh-CN" altLang="en-US" sz="1800" dirty="0">
                <a:solidFill>
                  <a:srgbClr val="00B0F0"/>
                </a:solidFill>
                <a:ea typeface="仿宋" pitchFamily="49" charset="-122"/>
                <a:cs typeface="Consolas" pitchFamily="49" charset="0"/>
              </a:rPr>
              <a:t>数组</a:t>
            </a:r>
            <a:r>
              <a:rPr lang="en-US" altLang="zh-CN" sz="1800" dirty="0">
                <a:solidFill>
                  <a:srgbClr val="00B0F0"/>
                </a:solidFill>
                <a:ea typeface="仿宋" pitchFamily="49" charset="-122"/>
                <a:cs typeface="Consolas" pitchFamily="49" charset="0"/>
              </a:rPr>
              <a:t>a</a:t>
            </a:r>
            <a:r>
              <a:rPr lang="zh-CN" altLang="en-US" sz="1800" dirty="0">
                <a:solidFill>
                  <a:srgbClr val="00B0F0"/>
                </a:solidFill>
                <a:ea typeface="仿宋" pitchFamily="49" charset="-122"/>
                <a:cs typeface="Consolas" pitchFamily="49" charset="0"/>
              </a:rPr>
              <a:t>共有</a:t>
            </a:r>
            <a:r>
              <a:rPr lang="en-US" altLang="zh-CN" sz="1800" dirty="0">
                <a:solidFill>
                  <a:srgbClr val="00B0F0"/>
                </a:solidFill>
                <a:ea typeface="仿宋" pitchFamily="49" charset="-122"/>
                <a:cs typeface="Consolas" pitchFamily="49" charset="0"/>
              </a:rPr>
              <a:t>n</a:t>
            </a:r>
            <a:r>
              <a:rPr lang="zh-CN" altLang="en-US" sz="1800" dirty="0">
                <a:solidFill>
                  <a:srgbClr val="00B0F0"/>
                </a:solidFill>
                <a:ea typeface="仿宋" pitchFamily="49" charset="-122"/>
                <a:cs typeface="Consolas" pitchFamily="49" charset="0"/>
              </a:rPr>
              <a:t>个元素</a:t>
            </a:r>
          </a:p>
          <a:p>
            <a:pPr algn="l">
              <a:lnSpc>
                <a:spcPts val="1800"/>
              </a:lnSpc>
              <a:spcBef>
                <a:spcPts val="800"/>
              </a:spcBef>
            </a:pPr>
            <a:r>
              <a:rPr lang="en-US" altLang="zh-CN" sz="1800" dirty="0">
                <a:solidFill>
                  <a:srgbClr val="0000FF"/>
                </a:solidFill>
                <a:ea typeface="仿宋" pitchFamily="49" charset="-122"/>
                <a:cs typeface="Consolas" pitchFamily="49" charset="0"/>
              </a:rPr>
              <a:t>{</a:t>
            </a:r>
          </a:p>
          <a:p>
            <a:pPr algn="l">
              <a:lnSpc>
                <a:spcPts val="1800"/>
              </a:lnSpc>
              <a:spcBef>
                <a:spcPts val="800"/>
              </a:spcBef>
            </a:pPr>
            <a:r>
              <a:rPr lang="en-US" altLang="zh-CN" sz="1800" dirty="0">
                <a:solidFill>
                  <a:srgbClr val="0000FF"/>
                </a:solidFill>
                <a:ea typeface="仿宋" pitchFamily="49" charset="-122"/>
                <a:cs typeface="Consolas" pitchFamily="49" charset="0"/>
              </a:rPr>
              <a:t>   int </a:t>
            </a:r>
            <a:r>
              <a:rPr lang="en-US" altLang="zh-CN" sz="1800" dirty="0" err="1">
                <a:solidFill>
                  <a:srgbClr val="0000FF"/>
                </a:solidFill>
                <a:ea typeface="仿宋" pitchFamily="49" charset="-122"/>
                <a:cs typeface="Consolas" pitchFamily="49" charset="0"/>
              </a:rPr>
              <a:t>i</a:t>
            </a:r>
            <a:r>
              <a:rPr lang="en-US" altLang="zh-CN" sz="1800" dirty="0">
                <a:solidFill>
                  <a:srgbClr val="0000FF"/>
                </a:solidFill>
                <a:ea typeface="仿宋" pitchFamily="49" charset="-122"/>
                <a:cs typeface="Consolas" pitchFamily="49" charset="0"/>
              </a:rPr>
              <a:t>;</a:t>
            </a:r>
          </a:p>
          <a:p>
            <a:pPr algn="l">
              <a:lnSpc>
                <a:spcPts val="1800"/>
              </a:lnSpc>
              <a:spcBef>
                <a:spcPts val="800"/>
              </a:spcBef>
            </a:pPr>
            <a:r>
              <a:rPr lang="en-US" altLang="zh-CN" sz="1800" dirty="0">
                <a:solidFill>
                  <a:srgbClr val="0000FF"/>
                </a:solidFill>
                <a:ea typeface="仿宋" pitchFamily="49" charset="-122"/>
                <a:cs typeface="Consolas" pitchFamily="49" charset="0"/>
              </a:rPr>
              <a:t>   </a:t>
            </a:r>
            <a:r>
              <a:rPr lang="en-US" altLang="zh-CN" sz="1800" dirty="0">
                <a:solidFill>
                  <a:srgbClr val="6600CC"/>
                </a:solidFill>
                <a:ea typeface="仿宋" pitchFamily="49" charset="-122"/>
                <a:cs typeface="Consolas" pitchFamily="49" charset="0"/>
              </a:rPr>
              <a:t>if (k==n-1)</a:t>
            </a:r>
          </a:p>
          <a:p>
            <a:pPr algn="l">
              <a:lnSpc>
                <a:spcPts val="1800"/>
              </a:lnSpc>
              <a:spcBef>
                <a:spcPts val="800"/>
              </a:spcBef>
            </a:pPr>
            <a:r>
              <a:rPr lang="en-US" altLang="zh-CN" sz="1800" dirty="0">
                <a:solidFill>
                  <a:srgbClr val="6600CC"/>
                </a:solidFill>
                <a:ea typeface="仿宋" pitchFamily="49" charset="-122"/>
                <a:cs typeface="Consolas" pitchFamily="49" charset="0"/>
              </a:rPr>
              <a:t>     for (</a:t>
            </a:r>
            <a:r>
              <a:rPr lang="en-US" altLang="zh-CN" sz="1800" dirty="0" err="1">
                <a:solidFill>
                  <a:srgbClr val="6600CC"/>
                </a:solidFill>
                <a:ea typeface="仿宋" pitchFamily="49" charset="-122"/>
                <a:cs typeface="Consolas" pitchFamily="49" charset="0"/>
              </a:rPr>
              <a:t>i</a:t>
            </a:r>
            <a:r>
              <a:rPr lang="en-US" altLang="zh-CN" sz="1800" dirty="0">
                <a:solidFill>
                  <a:srgbClr val="6600CC"/>
                </a:solidFill>
                <a:ea typeface="仿宋" pitchFamily="49" charset="-122"/>
                <a:cs typeface="Consolas" pitchFamily="49" charset="0"/>
              </a:rPr>
              <a:t>=0;i&lt;</a:t>
            </a:r>
            <a:r>
              <a:rPr lang="en-US" altLang="zh-CN" sz="1800" dirty="0" err="1">
                <a:solidFill>
                  <a:srgbClr val="6600CC"/>
                </a:solidFill>
                <a:ea typeface="仿宋" pitchFamily="49" charset="-122"/>
                <a:cs typeface="Consolas" pitchFamily="49" charset="0"/>
              </a:rPr>
              <a:t>n;i</a:t>
            </a:r>
            <a:r>
              <a:rPr lang="en-US" altLang="zh-CN" sz="1800" dirty="0">
                <a:solidFill>
                  <a:srgbClr val="6600CC"/>
                </a:solidFill>
                <a:ea typeface="仿宋" pitchFamily="49" charset="-122"/>
                <a:cs typeface="Consolas" pitchFamily="49" charset="0"/>
              </a:rPr>
              <a:t>++) </a:t>
            </a:r>
            <a:r>
              <a:rPr lang="zh-CN" altLang="en-US" sz="1800" dirty="0">
                <a:solidFill>
                  <a:srgbClr val="6600CC"/>
                </a:solidFill>
                <a:ea typeface="仿宋" pitchFamily="49" charset="-122"/>
                <a:cs typeface="Consolas" pitchFamily="49" charset="0"/>
              </a:rPr>
              <a:t>　　  </a:t>
            </a:r>
          </a:p>
          <a:p>
            <a:pPr algn="l">
              <a:lnSpc>
                <a:spcPts val="1800"/>
              </a:lnSpc>
              <a:spcBef>
                <a:spcPts val="800"/>
              </a:spcBef>
            </a:pPr>
            <a:r>
              <a:rPr lang="zh-CN" altLang="en-US" sz="1800" dirty="0">
                <a:solidFill>
                  <a:srgbClr val="6600CC"/>
                </a:solidFill>
                <a:ea typeface="仿宋" pitchFamily="49" charset="-122"/>
                <a:cs typeface="Consolas" pitchFamily="49" charset="0"/>
              </a:rPr>
              <a:t>	 </a:t>
            </a:r>
            <a:r>
              <a:rPr lang="en-US" altLang="zh-CN" sz="1800" dirty="0" err="1">
                <a:solidFill>
                  <a:srgbClr val="6600CC"/>
                </a:solidFill>
                <a:ea typeface="仿宋" pitchFamily="49" charset="-122"/>
                <a:cs typeface="Consolas" pitchFamily="49" charset="0"/>
              </a:rPr>
              <a:t>printf</a:t>
            </a:r>
            <a:r>
              <a:rPr lang="en-US" altLang="zh-CN" sz="1800" dirty="0">
                <a:solidFill>
                  <a:srgbClr val="6600CC"/>
                </a:solidFill>
                <a:ea typeface="仿宋" pitchFamily="49" charset="-122"/>
                <a:cs typeface="Consolas" pitchFamily="49" charset="0"/>
              </a:rPr>
              <a:t>(“%d\n”</a:t>
            </a:r>
            <a:r>
              <a:rPr lang="zh-CN" altLang="en-US" sz="1800" dirty="0">
                <a:solidFill>
                  <a:srgbClr val="6600CC"/>
                </a:solidFill>
                <a:ea typeface="仿宋" pitchFamily="49" charset="-122"/>
                <a:cs typeface="Consolas" pitchFamily="49" charset="0"/>
              </a:rPr>
              <a:t>，</a:t>
            </a:r>
            <a:r>
              <a:rPr lang="en-US" altLang="zh-CN" sz="1800" dirty="0">
                <a:solidFill>
                  <a:srgbClr val="6600CC"/>
                </a:solidFill>
                <a:ea typeface="仿宋" pitchFamily="49" charset="-122"/>
                <a:cs typeface="Consolas" pitchFamily="49" charset="0"/>
              </a:rPr>
              <a:t>a[</a:t>
            </a:r>
            <a:r>
              <a:rPr lang="en-US" altLang="zh-CN" sz="1800" dirty="0" err="1">
                <a:solidFill>
                  <a:srgbClr val="6600CC"/>
                </a:solidFill>
                <a:ea typeface="仿宋" pitchFamily="49" charset="-122"/>
                <a:cs typeface="Consolas" pitchFamily="49" charset="0"/>
              </a:rPr>
              <a:t>i</a:t>
            </a:r>
            <a:r>
              <a:rPr lang="en-US" altLang="zh-CN" sz="1800" dirty="0">
                <a:solidFill>
                  <a:srgbClr val="6600CC"/>
                </a:solidFill>
                <a:ea typeface="仿宋" pitchFamily="49" charset="-122"/>
                <a:cs typeface="Consolas" pitchFamily="49" charset="0"/>
              </a:rPr>
              <a:t>]);	 </a:t>
            </a:r>
            <a:r>
              <a:rPr lang="en-US" altLang="zh-CN" sz="1800" dirty="0">
                <a:solidFill>
                  <a:srgbClr val="00B0F0"/>
                </a:solidFill>
                <a:ea typeface="仿宋" pitchFamily="49" charset="-122"/>
                <a:cs typeface="Consolas" pitchFamily="49" charset="0"/>
              </a:rPr>
              <a:t>//</a:t>
            </a:r>
            <a:r>
              <a:rPr lang="zh-CN" altLang="en-US" sz="1800" dirty="0">
                <a:solidFill>
                  <a:srgbClr val="00B0F0"/>
                </a:solidFill>
                <a:ea typeface="仿宋" pitchFamily="49" charset="-122"/>
                <a:cs typeface="Consolas" pitchFamily="49" charset="0"/>
              </a:rPr>
              <a:t>执行</a:t>
            </a:r>
            <a:r>
              <a:rPr lang="en-US" altLang="zh-CN" sz="1800" dirty="0">
                <a:solidFill>
                  <a:srgbClr val="00B0F0"/>
                </a:solidFill>
                <a:ea typeface="仿宋" pitchFamily="49" charset="-122"/>
                <a:cs typeface="Consolas" pitchFamily="49" charset="0"/>
              </a:rPr>
              <a:t>n</a:t>
            </a:r>
            <a:r>
              <a:rPr lang="zh-CN" altLang="en-US" sz="1800" dirty="0">
                <a:solidFill>
                  <a:srgbClr val="00B0F0"/>
                </a:solidFill>
                <a:ea typeface="仿宋" pitchFamily="49" charset="-122"/>
                <a:cs typeface="Consolas" pitchFamily="49" charset="0"/>
              </a:rPr>
              <a:t>次</a:t>
            </a:r>
            <a:endParaRPr lang="en-US" altLang="zh-CN" sz="1800" dirty="0">
              <a:solidFill>
                <a:srgbClr val="00B0F0"/>
              </a:solidFill>
              <a:ea typeface="仿宋" pitchFamily="49" charset="-122"/>
              <a:cs typeface="Consolas" pitchFamily="49" charset="0"/>
            </a:endParaRPr>
          </a:p>
          <a:p>
            <a:pPr algn="l">
              <a:lnSpc>
                <a:spcPts val="1800"/>
              </a:lnSpc>
              <a:spcBef>
                <a:spcPts val="800"/>
              </a:spcBef>
            </a:pPr>
            <a:r>
              <a:rPr lang="en-US" altLang="zh-CN" sz="1800" dirty="0">
                <a:solidFill>
                  <a:srgbClr val="0000FF"/>
                </a:solidFill>
                <a:ea typeface="仿宋" pitchFamily="49" charset="-122"/>
                <a:cs typeface="Consolas" pitchFamily="49" charset="0"/>
              </a:rPr>
              <a:t>   else {</a:t>
            </a:r>
          </a:p>
          <a:p>
            <a:pPr algn="l">
              <a:lnSpc>
                <a:spcPts val="1800"/>
              </a:lnSpc>
              <a:spcBef>
                <a:spcPts val="800"/>
              </a:spcBef>
            </a:pPr>
            <a:r>
              <a:rPr lang="en-US" altLang="zh-CN" sz="1800" dirty="0">
                <a:solidFill>
                  <a:srgbClr val="0000FF"/>
                </a:solidFill>
                <a:ea typeface="仿宋" pitchFamily="49" charset="-122"/>
                <a:cs typeface="Consolas" pitchFamily="49" charset="0"/>
              </a:rPr>
              <a:t>      for (</a:t>
            </a:r>
            <a:r>
              <a:rPr lang="en-US" altLang="zh-CN" sz="1800" dirty="0" err="1">
                <a:solidFill>
                  <a:srgbClr val="0000FF"/>
                </a:solidFill>
                <a:ea typeface="仿宋" pitchFamily="49" charset="-122"/>
                <a:cs typeface="Consolas" pitchFamily="49" charset="0"/>
              </a:rPr>
              <a:t>i</a:t>
            </a:r>
            <a:r>
              <a:rPr lang="en-US" altLang="zh-CN" sz="1800" dirty="0">
                <a:solidFill>
                  <a:srgbClr val="0000FF"/>
                </a:solidFill>
                <a:ea typeface="仿宋" pitchFamily="49" charset="-122"/>
                <a:cs typeface="Consolas" pitchFamily="49" charset="0"/>
              </a:rPr>
              <a:t>=</a:t>
            </a:r>
            <a:r>
              <a:rPr lang="en-US" altLang="zh-CN" sz="1800" dirty="0" err="1">
                <a:solidFill>
                  <a:srgbClr val="0000FF"/>
                </a:solidFill>
                <a:ea typeface="仿宋" pitchFamily="49" charset="-122"/>
                <a:cs typeface="Consolas" pitchFamily="49" charset="0"/>
              </a:rPr>
              <a:t>k;i</a:t>
            </a:r>
            <a:r>
              <a:rPr lang="en-US" altLang="zh-CN" sz="1800" dirty="0">
                <a:solidFill>
                  <a:srgbClr val="0000FF"/>
                </a:solidFill>
                <a:ea typeface="仿宋" pitchFamily="49" charset="-122"/>
                <a:cs typeface="Consolas" pitchFamily="49" charset="0"/>
              </a:rPr>
              <a:t>&lt;</a:t>
            </a:r>
            <a:r>
              <a:rPr lang="en-US" altLang="zh-CN" sz="1800" dirty="0" err="1">
                <a:solidFill>
                  <a:srgbClr val="0000FF"/>
                </a:solidFill>
                <a:ea typeface="仿宋" pitchFamily="49" charset="-122"/>
                <a:cs typeface="Consolas" pitchFamily="49" charset="0"/>
              </a:rPr>
              <a:t>n;i</a:t>
            </a:r>
            <a:r>
              <a:rPr lang="en-US" altLang="zh-CN" sz="1800" dirty="0">
                <a:solidFill>
                  <a:srgbClr val="0000FF"/>
                </a:solidFill>
                <a:ea typeface="仿宋" pitchFamily="49" charset="-122"/>
                <a:cs typeface="Consolas" pitchFamily="49" charset="0"/>
              </a:rPr>
              <a:t>++)</a:t>
            </a:r>
            <a:r>
              <a:rPr lang="zh-CN" altLang="en-US" sz="1800" dirty="0">
                <a:solidFill>
                  <a:srgbClr val="0000FF"/>
                </a:solidFill>
                <a:ea typeface="仿宋" pitchFamily="49" charset="-122"/>
                <a:cs typeface="Consolas" pitchFamily="49" charset="0"/>
              </a:rPr>
              <a:t>　   </a:t>
            </a:r>
          </a:p>
          <a:p>
            <a:pPr algn="l">
              <a:lnSpc>
                <a:spcPts val="1800"/>
              </a:lnSpc>
              <a:spcBef>
                <a:spcPts val="800"/>
              </a:spcBef>
            </a:pPr>
            <a:r>
              <a:rPr lang="zh-CN" altLang="en-US" sz="1800" dirty="0">
                <a:solidFill>
                  <a:srgbClr val="0000FF"/>
                </a:solidFill>
                <a:ea typeface="仿宋" pitchFamily="49" charset="-122"/>
                <a:cs typeface="Consolas" pitchFamily="49" charset="0"/>
              </a:rPr>
              <a:t>	  </a:t>
            </a:r>
            <a:r>
              <a:rPr lang="en-US" altLang="zh-CN" sz="1800" dirty="0">
                <a:solidFill>
                  <a:srgbClr val="0000FF"/>
                </a:solidFill>
                <a:ea typeface="仿宋" pitchFamily="49" charset="-122"/>
                <a:cs typeface="Consolas" pitchFamily="49" charset="0"/>
              </a:rPr>
              <a:t>a[</a:t>
            </a:r>
            <a:r>
              <a:rPr lang="en-US" altLang="zh-CN" sz="1800" dirty="0" err="1">
                <a:solidFill>
                  <a:srgbClr val="0000FF"/>
                </a:solidFill>
                <a:ea typeface="仿宋" pitchFamily="49" charset="-122"/>
                <a:cs typeface="Consolas" pitchFamily="49" charset="0"/>
              </a:rPr>
              <a:t>i</a:t>
            </a:r>
            <a:r>
              <a:rPr lang="en-US" altLang="zh-CN" sz="1800" dirty="0">
                <a:solidFill>
                  <a:srgbClr val="0000FF"/>
                </a:solidFill>
                <a:ea typeface="仿宋" pitchFamily="49" charset="-122"/>
                <a:cs typeface="Consolas" pitchFamily="49" charset="0"/>
              </a:rPr>
              <a:t>]=a[</a:t>
            </a:r>
            <a:r>
              <a:rPr lang="en-US" altLang="zh-CN" sz="1800" dirty="0" err="1">
                <a:solidFill>
                  <a:srgbClr val="0000FF"/>
                </a:solidFill>
                <a:ea typeface="仿宋" pitchFamily="49" charset="-122"/>
                <a:cs typeface="Consolas" pitchFamily="49" charset="0"/>
              </a:rPr>
              <a:t>i</a:t>
            </a:r>
            <a:r>
              <a:rPr lang="en-US" altLang="zh-CN" sz="1800" dirty="0">
                <a:solidFill>
                  <a:srgbClr val="0000FF"/>
                </a:solidFill>
                <a:ea typeface="仿宋" pitchFamily="49" charset="-122"/>
                <a:cs typeface="Consolas" pitchFamily="49" charset="0"/>
              </a:rPr>
              <a:t>]+</a:t>
            </a:r>
            <a:r>
              <a:rPr lang="en-US" altLang="zh-CN" sz="1800" dirty="0" err="1">
                <a:solidFill>
                  <a:srgbClr val="0000FF"/>
                </a:solidFill>
                <a:ea typeface="仿宋" pitchFamily="49" charset="-122"/>
                <a:cs typeface="Consolas" pitchFamily="49" charset="0"/>
              </a:rPr>
              <a:t>i</a:t>
            </a:r>
            <a:r>
              <a:rPr lang="en-US" altLang="zh-CN" sz="1800" dirty="0">
                <a:solidFill>
                  <a:srgbClr val="0000FF"/>
                </a:solidFill>
                <a:ea typeface="仿宋" pitchFamily="49" charset="-122"/>
                <a:cs typeface="Consolas" pitchFamily="49" charset="0"/>
              </a:rPr>
              <a:t>*</a:t>
            </a:r>
            <a:r>
              <a:rPr lang="en-US" altLang="zh-CN" sz="1800" dirty="0" err="1">
                <a:solidFill>
                  <a:srgbClr val="0000FF"/>
                </a:solidFill>
                <a:ea typeface="仿宋" pitchFamily="49" charset="-122"/>
                <a:cs typeface="Consolas" pitchFamily="49" charset="0"/>
              </a:rPr>
              <a:t>i</a:t>
            </a:r>
            <a:r>
              <a:rPr lang="en-US" altLang="zh-CN" sz="1800" dirty="0">
                <a:solidFill>
                  <a:srgbClr val="0000FF"/>
                </a:solidFill>
                <a:ea typeface="仿宋" pitchFamily="49" charset="-122"/>
                <a:cs typeface="Consolas" pitchFamily="49" charset="0"/>
              </a:rPr>
              <a:t>;</a:t>
            </a:r>
            <a:r>
              <a:rPr lang="en-US" altLang="zh-CN" sz="1800" dirty="0">
                <a:solidFill>
                  <a:srgbClr val="C00000"/>
                </a:solidFill>
                <a:ea typeface="仿宋" pitchFamily="49" charset="-122"/>
                <a:cs typeface="Consolas" pitchFamily="49" charset="0"/>
              </a:rPr>
              <a:t>	</a:t>
            </a:r>
            <a:r>
              <a:rPr lang="en-US" altLang="zh-CN" sz="1800" dirty="0">
                <a:solidFill>
                  <a:srgbClr val="00B0F0"/>
                </a:solidFill>
                <a:ea typeface="仿宋" pitchFamily="49" charset="-122"/>
                <a:cs typeface="Consolas" pitchFamily="49" charset="0"/>
              </a:rPr>
              <a:t>//</a:t>
            </a:r>
            <a:r>
              <a:rPr lang="zh-CN" altLang="en-US" sz="1800" dirty="0">
                <a:solidFill>
                  <a:srgbClr val="00B0F0"/>
                </a:solidFill>
                <a:ea typeface="仿宋" pitchFamily="49" charset="-122"/>
                <a:cs typeface="Consolas" pitchFamily="49" charset="0"/>
              </a:rPr>
              <a:t>执行</a:t>
            </a:r>
            <a:r>
              <a:rPr lang="en-US" altLang="zh-CN" sz="1800" dirty="0">
                <a:solidFill>
                  <a:srgbClr val="00B0F0"/>
                </a:solidFill>
                <a:ea typeface="仿宋" pitchFamily="49" charset="-122"/>
                <a:cs typeface="Consolas" pitchFamily="49" charset="0"/>
              </a:rPr>
              <a:t>n-k</a:t>
            </a:r>
            <a:r>
              <a:rPr lang="zh-CN" altLang="en-US" sz="1800" dirty="0">
                <a:solidFill>
                  <a:srgbClr val="00B0F0"/>
                </a:solidFill>
                <a:ea typeface="仿宋" pitchFamily="49" charset="-122"/>
                <a:cs typeface="Consolas" pitchFamily="49" charset="0"/>
              </a:rPr>
              <a:t>次</a:t>
            </a:r>
            <a:endParaRPr lang="en-US" altLang="zh-CN" sz="1800" dirty="0">
              <a:solidFill>
                <a:srgbClr val="00B0F0"/>
              </a:solidFill>
              <a:ea typeface="仿宋" pitchFamily="49" charset="-122"/>
              <a:cs typeface="Consolas" pitchFamily="49" charset="0"/>
            </a:endParaRPr>
          </a:p>
          <a:p>
            <a:pPr algn="l">
              <a:lnSpc>
                <a:spcPts val="1800"/>
              </a:lnSpc>
              <a:spcBef>
                <a:spcPts val="800"/>
              </a:spcBef>
            </a:pPr>
            <a:r>
              <a:rPr lang="en-US" altLang="zh-CN" sz="1800" dirty="0">
                <a:solidFill>
                  <a:srgbClr val="C00000"/>
                </a:solidFill>
                <a:ea typeface="仿宋" pitchFamily="49" charset="-122"/>
                <a:cs typeface="Consolas" pitchFamily="49" charset="0"/>
              </a:rPr>
              <a:t>      </a:t>
            </a:r>
            <a:r>
              <a:rPr lang="en-US" altLang="zh-CN" sz="1800" dirty="0">
                <a:solidFill>
                  <a:srgbClr val="FF0000"/>
                </a:solidFill>
                <a:ea typeface="仿宋" pitchFamily="49" charset="-122"/>
                <a:cs typeface="Consolas" pitchFamily="49" charset="0"/>
              </a:rPr>
              <a:t>fun</a:t>
            </a:r>
            <a:r>
              <a:rPr lang="en-US" altLang="zh-CN" sz="1800" dirty="0">
                <a:solidFill>
                  <a:srgbClr val="C00000"/>
                </a:solidFill>
                <a:ea typeface="仿宋" pitchFamily="49" charset="-122"/>
                <a:cs typeface="Consolas" pitchFamily="49" charset="0"/>
              </a:rPr>
              <a:t>(a</a:t>
            </a:r>
            <a:r>
              <a:rPr lang="zh-CN" altLang="en-US" sz="1800" dirty="0">
                <a:solidFill>
                  <a:srgbClr val="C00000"/>
                </a:solidFill>
                <a:ea typeface="仿宋" pitchFamily="49" charset="-122"/>
                <a:cs typeface="Consolas" pitchFamily="49" charset="0"/>
              </a:rPr>
              <a:t>，</a:t>
            </a:r>
            <a:r>
              <a:rPr lang="en-US" altLang="zh-CN" sz="1800" dirty="0">
                <a:solidFill>
                  <a:srgbClr val="C00000"/>
                </a:solidFill>
                <a:ea typeface="仿宋" pitchFamily="49" charset="-122"/>
                <a:cs typeface="Consolas" pitchFamily="49" charset="0"/>
              </a:rPr>
              <a:t>n</a:t>
            </a:r>
            <a:r>
              <a:rPr lang="zh-CN" altLang="en-US" sz="1800" dirty="0">
                <a:solidFill>
                  <a:srgbClr val="C00000"/>
                </a:solidFill>
                <a:ea typeface="仿宋" pitchFamily="49" charset="-122"/>
                <a:cs typeface="Consolas" pitchFamily="49" charset="0"/>
              </a:rPr>
              <a:t>，</a:t>
            </a:r>
            <a:r>
              <a:rPr lang="en-US" altLang="zh-CN" sz="1800" dirty="0">
                <a:solidFill>
                  <a:srgbClr val="C00000"/>
                </a:solidFill>
                <a:ea typeface="仿宋" pitchFamily="49" charset="-122"/>
                <a:cs typeface="Consolas" pitchFamily="49" charset="0"/>
              </a:rPr>
              <a:t>k+1);</a:t>
            </a:r>
          </a:p>
          <a:p>
            <a:pPr algn="l">
              <a:lnSpc>
                <a:spcPts val="1800"/>
              </a:lnSpc>
              <a:spcBef>
                <a:spcPts val="800"/>
              </a:spcBef>
            </a:pPr>
            <a:r>
              <a:rPr lang="en-US" altLang="zh-CN" sz="1800" dirty="0">
                <a:solidFill>
                  <a:srgbClr val="0000FF"/>
                </a:solidFill>
                <a:ea typeface="仿宋" pitchFamily="49" charset="-122"/>
                <a:cs typeface="Consolas" pitchFamily="49" charset="0"/>
              </a:rPr>
              <a:t>   }</a:t>
            </a:r>
          </a:p>
          <a:p>
            <a:pPr algn="l">
              <a:lnSpc>
                <a:spcPts val="1800"/>
              </a:lnSpc>
              <a:spcBef>
                <a:spcPts val="800"/>
              </a:spcBef>
            </a:pPr>
            <a:r>
              <a:rPr lang="en-US" altLang="zh-CN" sz="1800" dirty="0">
                <a:solidFill>
                  <a:srgbClr val="0000FF"/>
                </a:solidFill>
                <a:ea typeface="仿宋" pitchFamily="49" charset="-122"/>
                <a:cs typeface="Consolas" pitchFamily="49" charset="0"/>
              </a:rPr>
              <a:t> }    </a:t>
            </a:r>
            <a:endParaRPr lang="zh-CN" altLang="en-US" sz="1800" dirty="0">
              <a:solidFill>
                <a:srgbClr val="0000FF"/>
              </a:solidFill>
              <a:ea typeface="仿宋" pitchFamily="49" charset="-122"/>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457145" y="1445749"/>
            <a:ext cx="6519098" cy="2795285"/>
          </a:xfrm>
          <a:prstGeom prst="rect">
            <a:avLst/>
          </a:prstGeom>
          <a:gradFill flip="none"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2700000" scaled="1"/>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44000" tIns="144000" bIns="108000" rtlCol="0">
            <a:spAutoFit/>
          </a:bodyPr>
          <a:lstStyle/>
          <a:p>
            <a:pPr algn="l">
              <a:lnSpc>
                <a:spcPts val="1800"/>
              </a:lnSpc>
            </a:pPr>
            <a:r>
              <a:rPr lang="en-US" altLang="zh-CN" sz="1800" dirty="0">
                <a:solidFill>
                  <a:srgbClr val="0000FF"/>
                </a:solidFill>
                <a:latin typeface="Consolas" pitchFamily="49" charset="0"/>
                <a:ea typeface="仿宋" pitchFamily="49" charset="-122"/>
                <a:cs typeface="Consolas" pitchFamily="49" charset="0"/>
              </a:rPr>
              <a:t>void </a:t>
            </a:r>
            <a:r>
              <a:rPr lang="en-US" altLang="zh-CN" sz="1800" dirty="0">
                <a:solidFill>
                  <a:srgbClr val="FF0000"/>
                </a:solidFill>
                <a:latin typeface="Consolas" pitchFamily="49" charset="0"/>
                <a:ea typeface="仿宋" pitchFamily="49" charset="-122"/>
                <a:cs typeface="Consolas" pitchFamily="49" charset="0"/>
              </a:rPr>
              <a:t>fun</a:t>
            </a:r>
            <a:r>
              <a:rPr lang="en-US" altLang="zh-CN" sz="1800" dirty="0">
                <a:solidFill>
                  <a:srgbClr val="0000FF"/>
                </a:solidFill>
                <a:latin typeface="Consolas" pitchFamily="49" charset="0"/>
                <a:ea typeface="仿宋" pitchFamily="49" charset="-122"/>
                <a:cs typeface="Consolas" pitchFamily="49" charset="0"/>
              </a:rPr>
              <a:t>(int a[]</a:t>
            </a:r>
            <a:r>
              <a:rPr lang="zh-CN" altLang="en-US" sz="1800" dirty="0">
                <a:solidFill>
                  <a:srgbClr val="0000FF"/>
                </a:solidFill>
                <a:latin typeface="Consolas" pitchFamily="49" charset="0"/>
                <a:ea typeface="仿宋" pitchFamily="49" charset="-122"/>
                <a:cs typeface="Consolas" pitchFamily="49" charset="0"/>
              </a:rPr>
              <a:t>，</a:t>
            </a:r>
            <a:r>
              <a:rPr lang="en-US" altLang="zh-CN" sz="1800" dirty="0">
                <a:solidFill>
                  <a:srgbClr val="0000FF"/>
                </a:solidFill>
                <a:latin typeface="Consolas" pitchFamily="49" charset="0"/>
                <a:ea typeface="仿宋" pitchFamily="49" charset="-122"/>
                <a:cs typeface="Consolas" pitchFamily="49" charset="0"/>
              </a:rPr>
              <a:t>int n</a:t>
            </a:r>
            <a:r>
              <a:rPr lang="zh-CN" altLang="en-US" sz="1800" dirty="0">
                <a:solidFill>
                  <a:srgbClr val="0000FF"/>
                </a:solidFill>
                <a:latin typeface="Consolas" pitchFamily="49" charset="0"/>
                <a:ea typeface="仿宋" pitchFamily="49" charset="-122"/>
                <a:cs typeface="Consolas" pitchFamily="49" charset="0"/>
              </a:rPr>
              <a:t>，</a:t>
            </a:r>
            <a:r>
              <a:rPr lang="en-US" altLang="zh-CN" sz="1800" dirty="0">
                <a:solidFill>
                  <a:srgbClr val="0000FF"/>
                </a:solidFill>
                <a:latin typeface="Consolas" pitchFamily="49" charset="0"/>
                <a:ea typeface="仿宋" pitchFamily="49" charset="-122"/>
                <a:cs typeface="Consolas" pitchFamily="49" charset="0"/>
              </a:rPr>
              <a:t>int k) {</a:t>
            </a:r>
          </a:p>
          <a:p>
            <a:pPr algn="l">
              <a:lnSpc>
                <a:spcPts val="1800"/>
              </a:lnSpc>
            </a:pPr>
            <a:r>
              <a:rPr lang="en-US" altLang="zh-CN" sz="1800" dirty="0">
                <a:solidFill>
                  <a:srgbClr val="0000FF"/>
                </a:solidFill>
                <a:latin typeface="Consolas" pitchFamily="49" charset="0"/>
                <a:ea typeface="仿宋" pitchFamily="49" charset="-122"/>
                <a:cs typeface="Consolas" pitchFamily="49" charset="0"/>
              </a:rPr>
              <a:t>   int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p>
          <a:p>
            <a:pPr algn="l">
              <a:lnSpc>
                <a:spcPts val="1800"/>
              </a:lnSpc>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6600CC"/>
                </a:solidFill>
                <a:latin typeface="Consolas" pitchFamily="49" charset="0"/>
                <a:ea typeface="仿宋" pitchFamily="49" charset="-122"/>
                <a:cs typeface="Consolas" pitchFamily="49" charset="0"/>
              </a:rPr>
              <a:t>if (k==n-1)</a:t>
            </a:r>
          </a:p>
          <a:p>
            <a:pPr algn="l">
              <a:lnSpc>
                <a:spcPts val="1800"/>
              </a:lnSpc>
            </a:pPr>
            <a:r>
              <a:rPr lang="en-US" altLang="zh-CN" sz="1800" dirty="0">
                <a:solidFill>
                  <a:srgbClr val="6600CC"/>
                </a:solidFill>
                <a:latin typeface="Consolas" pitchFamily="49" charset="0"/>
                <a:ea typeface="仿宋" pitchFamily="49" charset="-122"/>
                <a:cs typeface="Consolas" pitchFamily="49" charset="0"/>
              </a:rPr>
              <a:t>     for (</a:t>
            </a:r>
            <a:r>
              <a:rPr lang="en-US" altLang="zh-CN" sz="1800" dirty="0" err="1">
                <a:solidFill>
                  <a:srgbClr val="6600CC"/>
                </a:solidFill>
                <a:latin typeface="Consolas" pitchFamily="49" charset="0"/>
                <a:ea typeface="仿宋" pitchFamily="49" charset="-122"/>
                <a:cs typeface="Consolas" pitchFamily="49" charset="0"/>
              </a:rPr>
              <a:t>i</a:t>
            </a:r>
            <a:r>
              <a:rPr lang="en-US" altLang="zh-CN" sz="1800" dirty="0">
                <a:solidFill>
                  <a:srgbClr val="6600CC"/>
                </a:solidFill>
                <a:latin typeface="Consolas" pitchFamily="49" charset="0"/>
                <a:ea typeface="仿宋" pitchFamily="49" charset="-122"/>
                <a:cs typeface="Consolas" pitchFamily="49" charset="0"/>
              </a:rPr>
              <a:t>=0;i&lt;</a:t>
            </a:r>
            <a:r>
              <a:rPr lang="en-US" altLang="zh-CN" sz="1800" dirty="0" err="1">
                <a:solidFill>
                  <a:srgbClr val="6600CC"/>
                </a:solidFill>
                <a:latin typeface="Consolas" pitchFamily="49" charset="0"/>
                <a:ea typeface="仿宋" pitchFamily="49" charset="-122"/>
                <a:cs typeface="Consolas" pitchFamily="49" charset="0"/>
              </a:rPr>
              <a:t>n;i</a:t>
            </a:r>
            <a:r>
              <a:rPr lang="en-US" altLang="zh-CN" sz="1800" dirty="0">
                <a:solidFill>
                  <a:srgbClr val="6600CC"/>
                </a:solidFill>
                <a:latin typeface="Consolas" pitchFamily="49" charset="0"/>
                <a:ea typeface="仿宋" pitchFamily="49" charset="-122"/>
                <a:cs typeface="Consolas" pitchFamily="49" charset="0"/>
              </a:rPr>
              <a:t>++) </a:t>
            </a:r>
            <a:r>
              <a:rPr lang="zh-CN" altLang="en-US" sz="1800" dirty="0">
                <a:solidFill>
                  <a:srgbClr val="6600CC"/>
                </a:solidFill>
                <a:latin typeface="Consolas" pitchFamily="49" charset="0"/>
                <a:ea typeface="仿宋" pitchFamily="49" charset="-122"/>
                <a:cs typeface="Consolas" pitchFamily="49" charset="0"/>
              </a:rPr>
              <a:t>　　  </a:t>
            </a:r>
          </a:p>
          <a:p>
            <a:pPr algn="l">
              <a:lnSpc>
                <a:spcPts val="1800"/>
              </a:lnSpc>
            </a:pPr>
            <a:r>
              <a:rPr lang="zh-CN" altLang="en-US" sz="1800" dirty="0">
                <a:solidFill>
                  <a:srgbClr val="6600CC"/>
                </a:solidFill>
                <a:latin typeface="Consolas" pitchFamily="49" charset="0"/>
                <a:ea typeface="仿宋" pitchFamily="49" charset="-122"/>
                <a:cs typeface="Consolas" pitchFamily="49" charset="0"/>
              </a:rPr>
              <a:t>	 </a:t>
            </a:r>
            <a:r>
              <a:rPr lang="en-US" altLang="zh-CN" sz="1800" dirty="0" err="1">
                <a:solidFill>
                  <a:srgbClr val="6600CC"/>
                </a:solidFill>
                <a:latin typeface="Consolas" pitchFamily="49" charset="0"/>
                <a:ea typeface="仿宋" pitchFamily="49" charset="-122"/>
                <a:cs typeface="Consolas" pitchFamily="49" charset="0"/>
              </a:rPr>
              <a:t>printf</a:t>
            </a:r>
            <a:r>
              <a:rPr lang="en-US" altLang="zh-CN" sz="1800" dirty="0">
                <a:solidFill>
                  <a:srgbClr val="6600CC"/>
                </a:solidFill>
                <a:latin typeface="Consolas" pitchFamily="49" charset="0"/>
                <a:ea typeface="仿宋" pitchFamily="49" charset="-122"/>
                <a:cs typeface="Consolas" pitchFamily="49" charset="0"/>
              </a:rPr>
              <a:t>(“%d\n”</a:t>
            </a:r>
            <a:r>
              <a:rPr lang="zh-CN" altLang="en-US" sz="1800" dirty="0">
                <a:solidFill>
                  <a:srgbClr val="6600CC"/>
                </a:solidFill>
                <a:latin typeface="Consolas" pitchFamily="49" charset="0"/>
                <a:ea typeface="仿宋" pitchFamily="49" charset="-122"/>
                <a:cs typeface="Consolas" pitchFamily="49" charset="0"/>
              </a:rPr>
              <a:t>，</a:t>
            </a:r>
            <a:r>
              <a:rPr lang="en-US" altLang="zh-CN" sz="1800" dirty="0">
                <a:solidFill>
                  <a:srgbClr val="6600CC"/>
                </a:solidFill>
                <a:latin typeface="Consolas" pitchFamily="49" charset="0"/>
                <a:ea typeface="仿宋" pitchFamily="49" charset="-122"/>
                <a:cs typeface="Consolas" pitchFamily="49" charset="0"/>
              </a:rPr>
              <a:t>a[</a:t>
            </a:r>
            <a:r>
              <a:rPr lang="en-US" altLang="zh-CN" sz="1800" dirty="0" err="1">
                <a:solidFill>
                  <a:srgbClr val="6600CC"/>
                </a:solidFill>
                <a:latin typeface="Consolas" pitchFamily="49" charset="0"/>
                <a:ea typeface="仿宋" pitchFamily="49" charset="-122"/>
                <a:cs typeface="Consolas" pitchFamily="49" charset="0"/>
              </a:rPr>
              <a:t>i</a:t>
            </a:r>
            <a:r>
              <a:rPr lang="en-US" altLang="zh-CN" sz="1800" dirty="0">
                <a:solidFill>
                  <a:srgbClr val="6600CC"/>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执行</a:t>
            </a:r>
            <a:r>
              <a:rPr lang="en-US" altLang="zh-CN" sz="1800" dirty="0">
                <a:solidFill>
                  <a:srgbClr val="00B0F0"/>
                </a:solidFill>
                <a:latin typeface="Consolas" pitchFamily="49" charset="0"/>
                <a:ea typeface="仿宋" pitchFamily="49" charset="-122"/>
                <a:cs typeface="Consolas" pitchFamily="49" charset="0"/>
              </a:rPr>
              <a:t>n</a:t>
            </a:r>
            <a:r>
              <a:rPr lang="zh-CN" altLang="en-US" sz="1800" dirty="0">
                <a:solidFill>
                  <a:srgbClr val="00B0F0"/>
                </a:solidFill>
                <a:latin typeface="Consolas" pitchFamily="49" charset="0"/>
                <a:ea typeface="仿宋" pitchFamily="49" charset="-122"/>
                <a:cs typeface="Consolas" pitchFamily="49" charset="0"/>
              </a:rPr>
              <a:t>次</a:t>
            </a:r>
            <a:endParaRPr lang="en-US" altLang="zh-CN" sz="1800" dirty="0">
              <a:solidFill>
                <a:srgbClr val="00B0F0"/>
              </a:solidFill>
              <a:latin typeface="Consolas" pitchFamily="49" charset="0"/>
              <a:ea typeface="仿宋" pitchFamily="49" charset="-122"/>
              <a:cs typeface="Consolas" pitchFamily="49" charset="0"/>
            </a:endParaRPr>
          </a:p>
          <a:p>
            <a:pPr algn="l">
              <a:lnSpc>
                <a:spcPts val="1800"/>
              </a:lnSpc>
            </a:pPr>
            <a:r>
              <a:rPr lang="en-US" altLang="zh-CN" sz="1800" dirty="0">
                <a:solidFill>
                  <a:srgbClr val="0000FF"/>
                </a:solidFill>
                <a:latin typeface="Consolas" pitchFamily="49" charset="0"/>
                <a:ea typeface="仿宋" pitchFamily="49" charset="-122"/>
                <a:cs typeface="Consolas" pitchFamily="49" charset="0"/>
              </a:rPr>
              <a:t>   else {</a:t>
            </a:r>
          </a:p>
          <a:p>
            <a:pPr algn="l">
              <a:lnSpc>
                <a:spcPts val="1800"/>
              </a:lnSpc>
            </a:pPr>
            <a:r>
              <a:rPr lang="en-US" altLang="zh-CN" sz="1800" dirty="0">
                <a:solidFill>
                  <a:srgbClr val="0000FF"/>
                </a:solidFill>
                <a:latin typeface="Consolas" pitchFamily="49" charset="0"/>
                <a:ea typeface="仿宋" pitchFamily="49" charset="-122"/>
                <a:cs typeface="Consolas" pitchFamily="49" charset="0"/>
              </a:rPr>
              <a:t>      for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r>
              <a:rPr lang="en-US" altLang="zh-CN" sz="1800" dirty="0" err="1">
                <a:solidFill>
                  <a:srgbClr val="0000FF"/>
                </a:solidFill>
                <a:latin typeface="Consolas" pitchFamily="49" charset="0"/>
                <a:ea typeface="仿宋" pitchFamily="49" charset="-122"/>
                <a:cs typeface="Consolas" pitchFamily="49" charset="0"/>
              </a:rPr>
              <a:t>k;i</a:t>
            </a:r>
            <a:r>
              <a:rPr lang="en-US" altLang="zh-CN" sz="1800" dirty="0">
                <a:solidFill>
                  <a:srgbClr val="0000FF"/>
                </a:solidFill>
                <a:latin typeface="Consolas" pitchFamily="49" charset="0"/>
                <a:ea typeface="仿宋" pitchFamily="49" charset="-122"/>
                <a:cs typeface="Consolas" pitchFamily="49" charset="0"/>
              </a:rPr>
              <a:t>&lt;</a:t>
            </a:r>
            <a:r>
              <a:rPr lang="en-US" altLang="zh-CN" sz="1800" dirty="0" err="1">
                <a:solidFill>
                  <a:srgbClr val="0000FF"/>
                </a:solidFill>
                <a:latin typeface="Consolas" pitchFamily="49" charset="0"/>
                <a:ea typeface="仿宋" pitchFamily="49" charset="-122"/>
                <a:cs typeface="Consolas" pitchFamily="49" charset="0"/>
              </a:rPr>
              <a:t>n;i</a:t>
            </a:r>
            <a:r>
              <a:rPr lang="en-US" altLang="zh-CN" sz="1800" dirty="0">
                <a:solidFill>
                  <a:srgbClr val="0000FF"/>
                </a:solidFill>
                <a:latin typeface="Consolas" pitchFamily="49" charset="0"/>
                <a:ea typeface="仿宋" pitchFamily="49" charset="-122"/>
                <a:cs typeface="Consolas" pitchFamily="49" charset="0"/>
              </a:rPr>
              <a:t>++)</a:t>
            </a:r>
            <a:r>
              <a:rPr lang="zh-CN" altLang="en-US" sz="1800" dirty="0">
                <a:solidFill>
                  <a:srgbClr val="0000FF"/>
                </a:solidFill>
                <a:latin typeface="Consolas" pitchFamily="49" charset="0"/>
                <a:ea typeface="仿宋" pitchFamily="49" charset="-122"/>
                <a:cs typeface="Consolas" pitchFamily="49" charset="0"/>
              </a:rPr>
              <a:t>　   </a:t>
            </a:r>
          </a:p>
          <a:p>
            <a:pPr algn="l">
              <a:lnSpc>
                <a:spcPts val="1800"/>
              </a:lnSpc>
            </a:pPr>
            <a:r>
              <a:rPr lang="zh-CN" altLang="en-US" sz="1800" dirty="0">
                <a:solidFill>
                  <a:srgbClr val="0000FF"/>
                </a:solidFill>
                <a:latin typeface="Consolas" pitchFamily="49" charset="0"/>
                <a:ea typeface="仿宋" pitchFamily="49" charset="-122"/>
                <a:cs typeface="Consolas" pitchFamily="49" charset="0"/>
              </a:rPr>
              <a:t>	  </a:t>
            </a:r>
            <a:r>
              <a:rPr lang="en-US" altLang="zh-CN" sz="1800" dirty="0">
                <a:solidFill>
                  <a:srgbClr val="0000FF"/>
                </a:solidFill>
                <a:latin typeface="Consolas" pitchFamily="49" charset="0"/>
                <a:ea typeface="仿宋" pitchFamily="49" charset="-122"/>
                <a:cs typeface="Consolas" pitchFamily="49" charset="0"/>
              </a:rPr>
              <a:t>a[</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r>
              <a:rPr lang="en-US" altLang="zh-CN" sz="1800" dirty="0">
                <a:solidFill>
                  <a:srgbClr val="C00000"/>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执行</a:t>
            </a:r>
            <a:r>
              <a:rPr lang="en-US" altLang="zh-CN" sz="1800" dirty="0">
                <a:solidFill>
                  <a:srgbClr val="00B0F0"/>
                </a:solidFill>
                <a:latin typeface="Consolas" pitchFamily="49" charset="0"/>
                <a:ea typeface="仿宋" pitchFamily="49" charset="-122"/>
                <a:cs typeface="Consolas" pitchFamily="49" charset="0"/>
              </a:rPr>
              <a:t>n-k</a:t>
            </a:r>
            <a:r>
              <a:rPr lang="zh-CN" altLang="en-US" sz="1800" dirty="0">
                <a:solidFill>
                  <a:srgbClr val="00B0F0"/>
                </a:solidFill>
                <a:latin typeface="Consolas" pitchFamily="49" charset="0"/>
                <a:ea typeface="仿宋" pitchFamily="49" charset="-122"/>
                <a:cs typeface="Consolas" pitchFamily="49" charset="0"/>
              </a:rPr>
              <a:t>次</a:t>
            </a:r>
            <a:endParaRPr lang="en-US" altLang="zh-CN" sz="1800" dirty="0">
              <a:solidFill>
                <a:srgbClr val="00B0F0"/>
              </a:solidFill>
              <a:latin typeface="Consolas" pitchFamily="49" charset="0"/>
              <a:ea typeface="仿宋" pitchFamily="49" charset="-122"/>
              <a:cs typeface="Consolas" pitchFamily="49" charset="0"/>
            </a:endParaRPr>
          </a:p>
          <a:p>
            <a:pPr algn="l">
              <a:lnSpc>
                <a:spcPts val="1800"/>
              </a:lnSpc>
            </a:pPr>
            <a:r>
              <a:rPr lang="en-US" altLang="zh-CN" sz="1800" dirty="0">
                <a:solidFill>
                  <a:srgbClr val="C00000"/>
                </a:solidFill>
                <a:latin typeface="Consolas" pitchFamily="49" charset="0"/>
                <a:ea typeface="仿宋" pitchFamily="49" charset="-122"/>
                <a:cs typeface="Consolas" pitchFamily="49" charset="0"/>
              </a:rPr>
              <a:t>      </a:t>
            </a:r>
            <a:r>
              <a:rPr lang="en-US" altLang="zh-CN" sz="1800" dirty="0">
                <a:solidFill>
                  <a:srgbClr val="FF0000"/>
                </a:solidFill>
                <a:latin typeface="Consolas" pitchFamily="49" charset="0"/>
                <a:ea typeface="仿宋" pitchFamily="49" charset="-122"/>
                <a:cs typeface="Consolas" pitchFamily="49" charset="0"/>
              </a:rPr>
              <a:t>fun</a:t>
            </a:r>
            <a:r>
              <a:rPr lang="en-US" altLang="zh-CN" sz="1800" dirty="0">
                <a:solidFill>
                  <a:srgbClr val="C00000"/>
                </a:solidFill>
                <a:latin typeface="Consolas" pitchFamily="49" charset="0"/>
                <a:ea typeface="仿宋" pitchFamily="49" charset="-122"/>
                <a:cs typeface="Consolas" pitchFamily="49" charset="0"/>
              </a:rPr>
              <a:t>(a</a:t>
            </a:r>
            <a:r>
              <a:rPr lang="zh-CN" altLang="en-US" sz="1800" dirty="0">
                <a:solidFill>
                  <a:srgbClr val="C00000"/>
                </a:solidFill>
                <a:latin typeface="Consolas" pitchFamily="49" charset="0"/>
                <a:ea typeface="仿宋" pitchFamily="49" charset="-122"/>
                <a:cs typeface="Consolas" pitchFamily="49" charset="0"/>
              </a:rPr>
              <a:t>，</a:t>
            </a:r>
            <a:r>
              <a:rPr lang="en-US" altLang="zh-CN" sz="1800" dirty="0">
                <a:solidFill>
                  <a:srgbClr val="C00000"/>
                </a:solidFill>
                <a:latin typeface="Consolas" pitchFamily="49" charset="0"/>
                <a:ea typeface="仿宋" pitchFamily="49" charset="-122"/>
                <a:cs typeface="Consolas" pitchFamily="49" charset="0"/>
              </a:rPr>
              <a:t>n</a:t>
            </a:r>
            <a:r>
              <a:rPr lang="zh-CN" altLang="en-US" sz="1800" dirty="0">
                <a:solidFill>
                  <a:srgbClr val="C00000"/>
                </a:solidFill>
                <a:latin typeface="Consolas" pitchFamily="49" charset="0"/>
                <a:ea typeface="仿宋" pitchFamily="49" charset="-122"/>
                <a:cs typeface="Consolas" pitchFamily="49" charset="0"/>
              </a:rPr>
              <a:t>，</a:t>
            </a:r>
            <a:r>
              <a:rPr lang="en-US" altLang="zh-CN" sz="1800" dirty="0">
                <a:solidFill>
                  <a:srgbClr val="C00000"/>
                </a:solidFill>
                <a:latin typeface="Consolas" pitchFamily="49" charset="0"/>
                <a:ea typeface="仿宋" pitchFamily="49" charset="-122"/>
                <a:cs typeface="Consolas" pitchFamily="49" charset="0"/>
              </a:rPr>
              <a:t>k+1);</a:t>
            </a:r>
          </a:p>
          <a:p>
            <a:pPr algn="l">
              <a:lnSpc>
                <a:spcPts val="1800"/>
              </a:lnSpc>
            </a:pPr>
            <a:r>
              <a:rPr lang="en-US" altLang="zh-CN" sz="1800" dirty="0">
                <a:solidFill>
                  <a:srgbClr val="0000FF"/>
                </a:solidFill>
                <a:latin typeface="Consolas" pitchFamily="49" charset="0"/>
                <a:ea typeface="仿宋" pitchFamily="49" charset="-122"/>
                <a:cs typeface="Consolas" pitchFamily="49" charset="0"/>
              </a:rPr>
              <a:t>   }</a:t>
            </a:r>
          </a:p>
          <a:p>
            <a:pPr algn="l">
              <a:lnSpc>
                <a:spcPts val="1800"/>
              </a:lnSpc>
            </a:pPr>
            <a:r>
              <a:rPr lang="en-US" altLang="zh-CN" sz="1800" dirty="0">
                <a:solidFill>
                  <a:srgbClr val="0000FF"/>
                </a:solidFill>
                <a:latin typeface="Consolas" pitchFamily="49" charset="0"/>
                <a:ea typeface="仿宋" pitchFamily="49" charset="-122"/>
                <a:cs typeface="Consolas" pitchFamily="49" charset="0"/>
              </a:rPr>
              <a:t> }    </a:t>
            </a:r>
            <a:endParaRPr lang="zh-CN" altLang="en-US" sz="1800" dirty="0">
              <a:solidFill>
                <a:srgbClr val="0000FF"/>
              </a:solidFill>
              <a:latin typeface="Consolas" pitchFamily="49" charset="0"/>
              <a:ea typeface="仿宋" pitchFamily="49" charset="-122"/>
              <a:cs typeface="Consolas" pitchFamily="49" charset="0"/>
            </a:endParaRPr>
          </a:p>
        </p:txBody>
      </p:sp>
      <p:sp>
        <p:nvSpPr>
          <p:cNvPr id="12" name="Text Box 5"/>
          <p:cNvSpPr txBox="1">
            <a:spLocks noChangeArrowheads="1"/>
          </p:cNvSpPr>
          <p:nvPr/>
        </p:nvSpPr>
        <p:spPr bwMode="auto">
          <a:xfrm>
            <a:off x="439537" y="709096"/>
            <a:ext cx="7499231" cy="461665"/>
          </a:xfrm>
          <a:prstGeom prst="rect">
            <a:avLst/>
          </a:prstGeom>
          <a:noFill/>
          <a:ln w="9525" algn="ctr">
            <a:noFill/>
            <a:miter lim="800000"/>
            <a:headEnd/>
            <a:tailEnd/>
          </a:ln>
          <a:effectLst/>
        </p:spPr>
        <p:txBody>
          <a:bodyPr wrap="square">
            <a:spAutoFit/>
          </a:bodyPr>
          <a:lstStyle/>
          <a:p>
            <a:pPr algn="l"/>
            <a:r>
              <a:rPr lang="zh-CN" altLang="en-US" sz="2400" dirty="0">
                <a:solidFill>
                  <a:srgbClr val="FF0000"/>
                </a:solidFill>
                <a:latin typeface="Consolas" pitchFamily="49" charset="0"/>
                <a:ea typeface="楷体" pitchFamily="49" charset="-122"/>
                <a:cs typeface="Consolas" pitchFamily="49" charset="0"/>
              </a:rPr>
              <a:t>解：</a:t>
            </a:r>
            <a:r>
              <a:rPr lang="zh-CN" altLang="en-US" sz="2400" dirty="0">
                <a:solidFill>
                  <a:srgbClr val="0000FF"/>
                </a:solidFill>
                <a:latin typeface="Consolas" pitchFamily="49" charset="0"/>
                <a:ea typeface="楷体" pitchFamily="49" charset="-122"/>
                <a:cs typeface="Consolas" pitchFamily="49" charset="0"/>
              </a:rPr>
              <a:t>设</a:t>
            </a:r>
            <a:r>
              <a:rPr lang="en-US" altLang="zh-CN" sz="2400" dirty="0">
                <a:solidFill>
                  <a:srgbClr val="FF00FF"/>
                </a:solidFill>
                <a:latin typeface="Consolas" pitchFamily="49" charset="0"/>
                <a:ea typeface="楷体" pitchFamily="49" charset="-122"/>
                <a:cs typeface="Consolas" pitchFamily="49" charset="0"/>
              </a:rPr>
              <a:t>fun(</a:t>
            </a:r>
            <a:r>
              <a:rPr lang="en-US" altLang="zh-CN" sz="2400" i="1" dirty="0">
                <a:solidFill>
                  <a:srgbClr val="FF00FF"/>
                </a:solidFill>
                <a:latin typeface="Consolas" pitchFamily="49" charset="0"/>
                <a:ea typeface="楷体" pitchFamily="49" charset="-122"/>
                <a:cs typeface="Consolas" pitchFamily="49" charset="0"/>
              </a:rPr>
              <a:t>a</a:t>
            </a:r>
            <a:r>
              <a:rPr lang="zh-CN" altLang="en-US" sz="2400" dirty="0">
                <a:solidFill>
                  <a:srgbClr val="FF00FF"/>
                </a:solidFill>
                <a:latin typeface="Consolas" pitchFamily="49" charset="0"/>
                <a:ea typeface="楷体" pitchFamily="49" charset="-122"/>
                <a:cs typeface="Consolas" pitchFamily="49" charset="0"/>
              </a:rPr>
              <a:t>，</a:t>
            </a:r>
            <a:r>
              <a:rPr lang="en-US" altLang="zh-CN" sz="2400" i="1" dirty="0">
                <a:solidFill>
                  <a:srgbClr val="FF00FF"/>
                </a:solidFill>
                <a:latin typeface="Consolas" pitchFamily="49" charset="0"/>
                <a:ea typeface="楷体" pitchFamily="49" charset="-122"/>
                <a:cs typeface="Consolas" pitchFamily="49" charset="0"/>
              </a:rPr>
              <a:t>n</a:t>
            </a:r>
            <a:r>
              <a:rPr lang="zh-CN" altLang="en-US" sz="2400" dirty="0">
                <a:solidFill>
                  <a:srgbClr val="FF00FF"/>
                </a:solidFill>
                <a:latin typeface="Consolas" pitchFamily="49" charset="0"/>
                <a:ea typeface="楷体" pitchFamily="49" charset="-122"/>
                <a:cs typeface="Consolas" pitchFamily="49" charset="0"/>
              </a:rPr>
              <a:t>，</a:t>
            </a:r>
            <a:r>
              <a:rPr lang="en-US" altLang="zh-CN" sz="2400" i="1" dirty="0">
                <a:solidFill>
                  <a:srgbClr val="FF00FF"/>
                </a:solidFill>
                <a:latin typeface="Consolas" pitchFamily="49" charset="0"/>
                <a:ea typeface="楷体" pitchFamily="49" charset="-122"/>
                <a:cs typeface="Consolas" pitchFamily="49" charset="0"/>
              </a:rPr>
              <a:t>k</a:t>
            </a:r>
            <a:r>
              <a:rPr lang="en-US" altLang="zh-CN" sz="2400" dirty="0">
                <a:solidFill>
                  <a:srgbClr val="FF00FF"/>
                </a:solidFill>
                <a:latin typeface="Consolas" pitchFamily="49" charset="0"/>
                <a:ea typeface="楷体" pitchFamily="49" charset="-122"/>
                <a:cs typeface="Consolas" pitchFamily="49" charset="0"/>
              </a:rPr>
              <a:t>)</a:t>
            </a:r>
            <a:r>
              <a:rPr lang="zh-CN" altLang="en-US" sz="2400" dirty="0">
                <a:solidFill>
                  <a:srgbClr val="0000FF"/>
                </a:solidFill>
                <a:latin typeface="Consolas" pitchFamily="49" charset="0"/>
                <a:ea typeface="楷体" pitchFamily="49" charset="-122"/>
                <a:cs typeface="Consolas" pitchFamily="49" charset="0"/>
              </a:rPr>
              <a:t>的空间为</a:t>
            </a:r>
            <a:r>
              <a:rPr lang="en-US" altLang="zh-CN" sz="2400" dirty="0">
                <a:solidFill>
                  <a:srgbClr val="0000FF"/>
                </a:solidFill>
                <a:latin typeface="Consolas" pitchFamily="49" charset="0"/>
                <a:ea typeface="楷体" pitchFamily="49" charset="-122"/>
                <a:cs typeface="Consolas" pitchFamily="49" charset="0"/>
              </a:rPr>
              <a:t>S</a:t>
            </a:r>
            <a:r>
              <a:rPr lang="en-US" altLang="zh-CN" sz="2400" baseline="-25000" dirty="0">
                <a:solidFill>
                  <a:srgbClr val="0000FF"/>
                </a:solidFill>
                <a:latin typeface="Consolas" pitchFamily="49" charset="0"/>
                <a:ea typeface="楷体" pitchFamily="49" charset="-122"/>
                <a:cs typeface="Consolas" pitchFamily="49" charset="0"/>
              </a:rPr>
              <a:t>1</a:t>
            </a:r>
            <a:r>
              <a:rPr lang="en-US" altLang="zh-CN" sz="2400" dirty="0">
                <a:solidFill>
                  <a:srgbClr val="0000FF"/>
                </a:solidFill>
                <a:latin typeface="Consolas" pitchFamily="49" charset="0"/>
                <a:ea typeface="楷体" pitchFamily="49" charset="-122"/>
                <a:cs typeface="Consolas" pitchFamily="49" charset="0"/>
              </a:rPr>
              <a:t>(</a:t>
            </a:r>
            <a:r>
              <a:rPr lang="en-US" altLang="zh-CN" sz="2400" i="1" dirty="0">
                <a:solidFill>
                  <a:srgbClr val="0000FF"/>
                </a:solidFill>
                <a:latin typeface="Consolas" pitchFamily="49" charset="0"/>
                <a:ea typeface="楷体" pitchFamily="49" charset="-122"/>
                <a:cs typeface="Consolas" pitchFamily="49" charset="0"/>
              </a:rPr>
              <a:t>n</a:t>
            </a:r>
            <a:r>
              <a:rPr lang="zh-CN" altLang="en-US" sz="2400" dirty="0">
                <a:solidFill>
                  <a:srgbClr val="0000FF"/>
                </a:solidFill>
                <a:latin typeface="Consolas" pitchFamily="49" charset="0"/>
                <a:ea typeface="楷体" pitchFamily="49" charset="-122"/>
                <a:cs typeface="Consolas" pitchFamily="49" charset="0"/>
              </a:rPr>
              <a:t>，</a:t>
            </a:r>
            <a:r>
              <a:rPr lang="en-US" altLang="zh-CN" sz="2400" i="1" dirty="0">
                <a:solidFill>
                  <a:srgbClr val="0000FF"/>
                </a:solidFill>
                <a:latin typeface="Consolas" pitchFamily="49" charset="0"/>
                <a:ea typeface="楷体" pitchFamily="49" charset="-122"/>
                <a:cs typeface="Consolas" pitchFamily="49" charset="0"/>
              </a:rPr>
              <a:t>k</a:t>
            </a:r>
            <a:r>
              <a:rPr lang="en-US" altLang="zh-CN" sz="2400" dirty="0">
                <a:solidFill>
                  <a:srgbClr val="0000FF"/>
                </a:solidFill>
                <a:latin typeface="Consolas" pitchFamily="49" charset="0"/>
                <a:ea typeface="楷体" pitchFamily="49" charset="-122"/>
                <a:cs typeface="Consolas" pitchFamily="49" charset="0"/>
              </a:rPr>
              <a:t>) </a:t>
            </a:r>
            <a:endParaRPr lang="zh-CN" altLang="en-US" sz="2400" dirty="0">
              <a:solidFill>
                <a:srgbClr val="0000FF"/>
              </a:solidFill>
              <a:latin typeface="Consolas" pitchFamily="49" charset="0"/>
              <a:ea typeface="楷体" pitchFamily="49" charset="-122"/>
              <a:cs typeface="Consolas" pitchFamily="49" charset="0"/>
            </a:endParaRPr>
          </a:p>
        </p:txBody>
      </p:sp>
      <p:grpSp>
        <p:nvGrpSpPr>
          <p:cNvPr id="2" name="组合 22"/>
          <p:cNvGrpSpPr/>
          <p:nvPr/>
        </p:nvGrpSpPr>
        <p:grpSpPr>
          <a:xfrm>
            <a:off x="989924" y="1824022"/>
            <a:ext cx="7867705" cy="1052951"/>
            <a:chOff x="642910" y="1214422"/>
            <a:chExt cx="7867705" cy="1428760"/>
          </a:xfrm>
        </p:grpSpPr>
        <p:sp>
          <p:nvSpPr>
            <p:cNvPr id="16" name="TextBox 15"/>
            <p:cNvSpPr txBox="1"/>
            <p:nvPr/>
          </p:nvSpPr>
          <p:spPr>
            <a:xfrm>
              <a:off x="6153161" y="1526810"/>
              <a:ext cx="2357454" cy="759182"/>
            </a:xfrm>
            <a:prstGeom prst="rect">
              <a:avLst/>
            </a:prstGeom>
            <a:noFill/>
          </p:spPr>
          <p:txBody>
            <a:bodyPr wrap="square" rtlCol="0">
              <a:spAutoFit/>
            </a:bodyPr>
            <a:lstStyle/>
            <a:p>
              <a:pPr algn="l">
                <a:lnSpc>
                  <a:spcPts val="2600"/>
                </a:lnSpc>
                <a:spcBef>
                  <a:spcPts val="0"/>
                </a:spcBef>
              </a:pPr>
              <a:r>
                <a:rPr lang="zh-CN" altLang="en-US" sz="1800">
                  <a:solidFill>
                    <a:srgbClr val="0000FF"/>
                  </a:solidFill>
                  <a:latin typeface="Consolas" pitchFamily="49" charset="0"/>
                  <a:ea typeface="仿宋" pitchFamily="49" charset="-122"/>
                  <a:cs typeface="Consolas" pitchFamily="49" charset="0"/>
                </a:rPr>
                <a:t>当</a:t>
              </a:r>
              <a:r>
                <a:rPr lang="en-US" altLang="zh-CN" sz="1800" i="1">
                  <a:solidFill>
                    <a:srgbClr val="0000FF"/>
                  </a:solidFill>
                  <a:latin typeface="Consolas" pitchFamily="49" charset="0"/>
                  <a:ea typeface="仿宋" pitchFamily="49" charset="-122"/>
                  <a:cs typeface="Consolas" pitchFamily="49" charset="0"/>
                </a:rPr>
                <a:t>k</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n</a:t>
              </a:r>
              <a:r>
                <a:rPr lang="en-US" altLang="zh-CN" sz="1800">
                  <a:solidFill>
                    <a:srgbClr val="0000FF"/>
                  </a:solidFill>
                  <a:latin typeface="Consolas" pitchFamily="49" charset="0"/>
                  <a:ea typeface="仿宋" pitchFamily="49" charset="-122"/>
                  <a:cs typeface="Consolas" pitchFamily="49" charset="0"/>
                </a:rPr>
                <a:t>-1</a:t>
              </a:r>
              <a:r>
                <a:rPr lang="zh-CN" altLang="en-US" sz="1800">
                  <a:solidFill>
                    <a:srgbClr val="0000FF"/>
                  </a:solidFill>
                  <a:latin typeface="Consolas" pitchFamily="49" charset="0"/>
                  <a:ea typeface="仿宋" pitchFamily="49" charset="-122"/>
                  <a:cs typeface="Consolas" pitchFamily="49" charset="0"/>
                </a:rPr>
                <a:t>时</a:t>
              </a:r>
              <a:endParaRPr lang="en-US" altLang="zh-CN" sz="1800">
                <a:solidFill>
                  <a:srgbClr val="0000FF"/>
                </a:solidFill>
                <a:latin typeface="Consolas" pitchFamily="49" charset="0"/>
                <a:ea typeface="仿宋" pitchFamily="49" charset="-122"/>
                <a:cs typeface="Consolas" pitchFamily="49" charset="0"/>
              </a:endParaRPr>
            </a:p>
            <a:p>
              <a:pPr algn="l">
                <a:lnSpc>
                  <a:spcPts val="2600"/>
                </a:lnSpc>
                <a:spcBef>
                  <a:spcPts val="0"/>
                </a:spcBef>
              </a:pPr>
              <a:r>
                <a:rPr lang="en-US" altLang="zh-CN" sz="1800" i="1">
                  <a:solidFill>
                    <a:srgbClr val="0000FF"/>
                  </a:solidFill>
                  <a:latin typeface="Consolas" pitchFamily="49" charset="0"/>
                  <a:ea typeface="仿宋" pitchFamily="49" charset="-122"/>
                  <a:cs typeface="Consolas" pitchFamily="49" charset="0"/>
                </a:rPr>
                <a:t>S</a:t>
              </a:r>
              <a:r>
                <a:rPr lang="en-US" altLang="zh-CN" sz="1800" baseline="-25000">
                  <a:solidFill>
                    <a:srgbClr val="0000FF"/>
                  </a:solidFill>
                  <a:latin typeface="Consolas" pitchFamily="49" charset="0"/>
                  <a:ea typeface="仿宋" pitchFamily="49" charset="-122"/>
                  <a:cs typeface="Consolas" pitchFamily="49" charset="0"/>
                </a:rPr>
                <a:t>1</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n</a:t>
              </a:r>
              <a:r>
                <a:rPr lang="zh-CN" altLang="en-US"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k</a:t>
              </a:r>
              <a:r>
                <a:rPr lang="en-US" altLang="zh-CN" sz="1800">
                  <a:solidFill>
                    <a:srgbClr val="0000FF"/>
                  </a:solidFill>
                  <a:latin typeface="Consolas" pitchFamily="49" charset="0"/>
                  <a:ea typeface="仿宋" pitchFamily="49" charset="-122"/>
                  <a:cs typeface="Consolas" pitchFamily="49" charset="0"/>
                </a:rPr>
                <a:t>) = 1</a:t>
              </a:r>
              <a:endParaRPr lang="zh-CN" altLang="en-US" sz="1800">
                <a:solidFill>
                  <a:srgbClr val="0000FF"/>
                </a:solidFill>
                <a:latin typeface="Consolas" pitchFamily="49" charset="0"/>
                <a:ea typeface="仿宋" pitchFamily="49" charset="-122"/>
                <a:cs typeface="Consolas" pitchFamily="49" charset="0"/>
              </a:endParaRPr>
            </a:p>
          </p:txBody>
        </p:sp>
        <p:sp>
          <p:nvSpPr>
            <p:cNvPr id="17" name="圆角矩形 16"/>
            <p:cNvSpPr/>
            <p:nvPr/>
          </p:nvSpPr>
          <p:spPr>
            <a:xfrm>
              <a:off x="642910" y="1214422"/>
              <a:ext cx="4857784" cy="1428760"/>
            </a:xfrm>
            <a:prstGeom prst="roundRect">
              <a:avLst/>
            </a:prstGeom>
            <a:solidFill>
              <a:schemeClr val="bg1">
                <a:lumMod val="95000"/>
                <a:alpha val="13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18" name="左箭头 17"/>
            <p:cNvSpPr/>
            <p:nvPr/>
          </p:nvSpPr>
          <p:spPr>
            <a:xfrm>
              <a:off x="5510219" y="1855425"/>
              <a:ext cx="648000" cy="214314"/>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grpSp>
      <p:grpSp>
        <p:nvGrpSpPr>
          <p:cNvPr id="3" name="组合 23"/>
          <p:cNvGrpSpPr/>
          <p:nvPr/>
        </p:nvGrpSpPr>
        <p:grpSpPr>
          <a:xfrm>
            <a:off x="947686" y="2935566"/>
            <a:ext cx="8296301" cy="779644"/>
            <a:chOff x="1062013" y="3000372"/>
            <a:chExt cx="8296301" cy="779644"/>
          </a:xfrm>
        </p:grpSpPr>
        <p:sp>
          <p:nvSpPr>
            <p:cNvPr id="20" name="TextBox 19"/>
            <p:cNvSpPr txBox="1"/>
            <p:nvPr/>
          </p:nvSpPr>
          <p:spPr>
            <a:xfrm>
              <a:off x="6643670" y="3020834"/>
              <a:ext cx="2714644" cy="759182"/>
            </a:xfrm>
            <a:prstGeom prst="rect">
              <a:avLst/>
            </a:prstGeom>
            <a:noFill/>
          </p:spPr>
          <p:txBody>
            <a:bodyPr wrap="square" rtlCol="0">
              <a:spAutoFit/>
            </a:bodyPr>
            <a:lstStyle/>
            <a:p>
              <a:pPr algn="l">
                <a:lnSpc>
                  <a:spcPts val="2600"/>
                </a:lnSpc>
                <a:spcBef>
                  <a:spcPts val="0"/>
                </a:spcBef>
              </a:pPr>
              <a:r>
                <a:rPr lang="zh-CN" altLang="en-US" sz="1800" dirty="0">
                  <a:solidFill>
                    <a:srgbClr val="0000FF"/>
                  </a:solidFill>
                  <a:latin typeface="Consolas" pitchFamily="49" charset="0"/>
                  <a:ea typeface="仿宋" pitchFamily="49" charset="-122"/>
                  <a:cs typeface="Consolas" pitchFamily="49" charset="0"/>
                </a:rPr>
                <a:t>当</a:t>
              </a:r>
              <a:r>
                <a:rPr lang="en-US" altLang="zh-CN" sz="1800" i="1" dirty="0">
                  <a:solidFill>
                    <a:srgbClr val="0000FF"/>
                  </a:solidFill>
                  <a:latin typeface="Consolas" pitchFamily="49" charset="0"/>
                  <a:ea typeface="仿宋" pitchFamily="49" charset="-122"/>
                  <a:cs typeface="Consolas" pitchFamily="49" charset="0"/>
                </a:rPr>
                <a:t>k</a:t>
              </a:r>
              <a:r>
                <a:rPr lang="en-US" altLang="zh-CN" sz="1800" dirty="0">
                  <a:solidFill>
                    <a:srgbClr val="0000FF"/>
                  </a:solidFill>
                  <a:latin typeface="Consolas" pitchFamily="49" charset="0"/>
                  <a:ea typeface="仿宋" pitchFamily="49" charset="-122"/>
                  <a:cs typeface="Consolas" pitchFamily="49" charset="0"/>
                </a:rPr>
                <a:t>&lt;</a:t>
              </a:r>
              <a:r>
                <a:rPr lang="en-US" altLang="zh-CN" sz="1800" i="1" dirty="0">
                  <a:solidFill>
                    <a:srgbClr val="0000FF"/>
                  </a:solidFill>
                  <a:latin typeface="Consolas" pitchFamily="49" charset="0"/>
                  <a:ea typeface="仿宋" pitchFamily="49" charset="-122"/>
                  <a:cs typeface="Consolas" pitchFamily="49" charset="0"/>
                </a:rPr>
                <a:t>n</a:t>
              </a:r>
              <a:r>
                <a:rPr lang="en-US" altLang="zh-CN" sz="1800" dirty="0">
                  <a:solidFill>
                    <a:srgbClr val="0000FF"/>
                  </a:solidFill>
                  <a:latin typeface="Consolas" pitchFamily="49" charset="0"/>
                  <a:ea typeface="仿宋" pitchFamily="49" charset="-122"/>
                  <a:cs typeface="Consolas" pitchFamily="49" charset="0"/>
                </a:rPr>
                <a:t>-1</a:t>
              </a:r>
              <a:r>
                <a:rPr lang="zh-CN" altLang="en-US" sz="1800" dirty="0">
                  <a:solidFill>
                    <a:srgbClr val="0000FF"/>
                  </a:solidFill>
                  <a:latin typeface="Consolas" pitchFamily="49" charset="0"/>
                  <a:ea typeface="仿宋" pitchFamily="49" charset="-122"/>
                  <a:cs typeface="Consolas" pitchFamily="49" charset="0"/>
                </a:rPr>
                <a:t>时</a:t>
              </a:r>
              <a:endParaRPr lang="en-US" altLang="zh-CN" sz="1800" dirty="0">
                <a:solidFill>
                  <a:srgbClr val="0000FF"/>
                </a:solidFill>
                <a:latin typeface="Consolas" pitchFamily="49" charset="0"/>
                <a:ea typeface="仿宋" pitchFamily="49" charset="-122"/>
                <a:cs typeface="Consolas" pitchFamily="49" charset="0"/>
              </a:endParaRPr>
            </a:p>
            <a:p>
              <a:pPr algn="l">
                <a:lnSpc>
                  <a:spcPts val="2600"/>
                </a:lnSpc>
                <a:spcBef>
                  <a:spcPts val="0"/>
                </a:spcBef>
              </a:pPr>
              <a:r>
                <a:rPr lang="en-US" altLang="zh-CN" sz="1800" i="1" dirty="0">
                  <a:solidFill>
                    <a:srgbClr val="0000FF"/>
                  </a:solidFill>
                  <a:latin typeface="Consolas" pitchFamily="49" charset="0"/>
                  <a:ea typeface="仿宋" pitchFamily="49" charset="-122"/>
                  <a:cs typeface="Consolas" pitchFamily="49" charset="0"/>
                </a:rPr>
                <a:t>S</a:t>
              </a:r>
              <a:r>
                <a:rPr lang="en-US" altLang="zh-CN" sz="1800" baseline="-25000" dirty="0">
                  <a:solidFill>
                    <a:srgbClr val="0000FF"/>
                  </a:solidFill>
                  <a:latin typeface="Consolas" pitchFamily="49" charset="0"/>
                  <a:ea typeface="仿宋" pitchFamily="49" charset="-122"/>
                  <a:cs typeface="Consolas" pitchFamily="49" charset="0"/>
                </a:rPr>
                <a:t>1</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err="1">
                  <a:solidFill>
                    <a:srgbClr val="0000FF"/>
                  </a:solidFill>
                  <a:latin typeface="Consolas" pitchFamily="49" charset="0"/>
                  <a:ea typeface="仿宋" pitchFamily="49" charset="-122"/>
                  <a:cs typeface="Consolas" pitchFamily="49" charset="0"/>
                </a:rPr>
                <a:t>n</a:t>
              </a:r>
              <a:r>
                <a:rPr lang="en-US" altLang="zh-CN" sz="1800" dirty="0" err="1">
                  <a:solidFill>
                    <a:srgbClr val="0000FF"/>
                  </a:solidFill>
                  <a:latin typeface="Consolas" pitchFamily="49" charset="0"/>
                  <a:ea typeface="仿宋" pitchFamily="49" charset="-122"/>
                  <a:cs typeface="Consolas" pitchFamily="49" charset="0"/>
                </a:rPr>
                <a:t>,</a:t>
              </a:r>
              <a:r>
                <a:rPr lang="en-US" altLang="zh-CN" sz="1800" i="1" dirty="0" err="1">
                  <a:solidFill>
                    <a:srgbClr val="0000FF"/>
                  </a:solidFill>
                  <a:latin typeface="Consolas" pitchFamily="49" charset="0"/>
                  <a:ea typeface="仿宋" pitchFamily="49" charset="-122"/>
                  <a:cs typeface="Consolas" pitchFamily="49" charset="0"/>
                </a:rPr>
                <a:t>k</a:t>
              </a:r>
              <a:r>
                <a:rPr lang="en-US" altLang="zh-CN" sz="1800" dirty="0">
                  <a:solidFill>
                    <a:srgbClr val="0000FF"/>
                  </a:solidFill>
                  <a:latin typeface="Consolas" pitchFamily="49" charset="0"/>
                  <a:ea typeface="仿宋" pitchFamily="49" charset="-122"/>
                  <a:cs typeface="Consolas" pitchFamily="49" charset="0"/>
                </a:rPr>
                <a:t>)=1+</a:t>
              </a:r>
              <a:r>
                <a:rPr lang="en-US" altLang="zh-CN" sz="1800" i="1" dirty="0">
                  <a:solidFill>
                    <a:srgbClr val="0000FF"/>
                  </a:solidFill>
                  <a:latin typeface="Consolas" pitchFamily="49" charset="0"/>
                  <a:ea typeface="仿宋" pitchFamily="49" charset="-122"/>
                  <a:cs typeface="Consolas" pitchFamily="49" charset="0"/>
                </a:rPr>
                <a:t>S</a:t>
              </a:r>
              <a:r>
                <a:rPr lang="en-US" altLang="zh-CN" sz="1800" baseline="-25000" dirty="0">
                  <a:solidFill>
                    <a:srgbClr val="0000FF"/>
                  </a:solidFill>
                  <a:latin typeface="Consolas" pitchFamily="49" charset="0"/>
                  <a:ea typeface="仿宋" pitchFamily="49" charset="-122"/>
                  <a:cs typeface="Consolas" pitchFamily="49" charset="0"/>
                </a:rPr>
                <a:t>1</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n</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k</a:t>
              </a:r>
              <a:r>
                <a:rPr lang="en-US" altLang="zh-CN" sz="1800" dirty="0">
                  <a:solidFill>
                    <a:srgbClr val="0000FF"/>
                  </a:solidFill>
                  <a:latin typeface="Consolas" pitchFamily="49" charset="0"/>
                  <a:ea typeface="仿宋" pitchFamily="49" charset="-122"/>
                  <a:cs typeface="Consolas" pitchFamily="49" charset="0"/>
                </a:rPr>
                <a:t>+1)</a:t>
              </a:r>
              <a:endParaRPr lang="zh-CN" altLang="en-US" sz="1800" dirty="0">
                <a:solidFill>
                  <a:srgbClr val="0000FF"/>
                </a:solidFill>
                <a:latin typeface="Consolas" pitchFamily="49" charset="0"/>
                <a:ea typeface="仿宋" pitchFamily="49" charset="-122"/>
                <a:cs typeface="Consolas" pitchFamily="49" charset="0"/>
              </a:endParaRPr>
            </a:p>
          </p:txBody>
        </p:sp>
        <p:sp>
          <p:nvSpPr>
            <p:cNvPr id="21" name="圆角矩形 20"/>
            <p:cNvSpPr/>
            <p:nvPr/>
          </p:nvSpPr>
          <p:spPr>
            <a:xfrm>
              <a:off x="1062013" y="3000372"/>
              <a:ext cx="4909547" cy="759182"/>
            </a:xfrm>
            <a:prstGeom prst="roundRect">
              <a:avLst/>
            </a:prstGeom>
            <a:solidFill>
              <a:schemeClr val="bg1">
                <a:lumMod val="95000"/>
                <a:alpha val="13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22" name="左箭头 21"/>
            <p:cNvSpPr/>
            <p:nvPr/>
          </p:nvSpPr>
          <p:spPr>
            <a:xfrm>
              <a:off x="5995670" y="3255823"/>
              <a:ext cx="648000" cy="214314"/>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grpSp>
      <p:sp>
        <p:nvSpPr>
          <p:cNvPr id="25" name="TextBox 24"/>
          <p:cNvSpPr txBox="1"/>
          <p:nvPr/>
        </p:nvSpPr>
        <p:spPr>
          <a:xfrm>
            <a:off x="457145" y="4707100"/>
            <a:ext cx="2428892" cy="397032"/>
          </a:xfrm>
          <a:prstGeom prst="rect">
            <a:avLst/>
          </a:prstGeom>
          <a:noFill/>
        </p:spPr>
        <p:txBody>
          <a:bodyPr wrap="square" rtlCol="0">
            <a:spAutoFit/>
          </a:bodyPr>
          <a:lstStyle/>
          <a:p>
            <a:pPr algn="l"/>
            <a:r>
              <a:rPr lang="en-US" altLang="zh-CN" sz="2000" i="1" dirty="0">
                <a:solidFill>
                  <a:srgbClr val="0000FF"/>
                </a:solidFill>
                <a:latin typeface="Consolas" pitchFamily="49" charset="0"/>
                <a:ea typeface="楷体" pitchFamily="49" charset="-122"/>
                <a:cs typeface="Consolas" pitchFamily="49" charset="0"/>
              </a:rPr>
              <a:t>S</a:t>
            </a:r>
            <a:r>
              <a:rPr lang="en-US" altLang="zh-CN" sz="2000" baseline="-25000" dirty="0">
                <a:solidFill>
                  <a:srgbClr val="0000FF"/>
                </a:solidFill>
                <a:latin typeface="Consolas" pitchFamily="49" charset="0"/>
                <a:ea typeface="楷体" pitchFamily="49" charset="-122"/>
                <a:cs typeface="Consolas" pitchFamily="49" charset="0"/>
              </a:rPr>
              <a:t>1</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zh-CN" altLang="en-US"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k</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的递推式：</a:t>
            </a:r>
            <a:endParaRPr lang="zh-CN" altLang="en-US" sz="2000" dirty="0">
              <a:latin typeface="Consolas" pitchFamily="49" charset="0"/>
              <a:cs typeface="Consolas" pitchFamily="49" charset="0"/>
            </a:endParaRPr>
          </a:p>
        </p:txBody>
      </p:sp>
      <p:sp>
        <p:nvSpPr>
          <p:cNvPr id="23" name="Text Box 6">
            <a:extLst>
              <a:ext uri="{FF2B5EF4-FFF2-40B4-BE49-F238E27FC236}">
                <a16:creationId xmlns:a16="http://schemas.microsoft.com/office/drawing/2014/main" id="{9D82E13A-DD9A-4899-852F-9E9D1702748C}"/>
              </a:ext>
            </a:extLst>
          </p:cNvPr>
          <p:cNvSpPr txBox="1">
            <a:spLocks noChangeArrowheads="1"/>
          </p:cNvSpPr>
          <p:nvPr/>
        </p:nvSpPr>
        <p:spPr bwMode="auto">
          <a:xfrm>
            <a:off x="876513" y="5310736"/>
            <a:ext cx="4957771" cy="84023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lIns="180000">
            <a:spAutoFit/>
          </a:bodyPr>
          <a:lstStyle/>
          <a:p>
            <a:pPr algn="l"/>
            <a:r>
              <a:rPr lang="en-US" altLang="zh-CN" sz="1800" i="1" dirty="0">
                <a:solidFill>
                  <a:srgbClr val="0000FF"/>
                </a:solidFill>
                <a:latin typeface="Consolas" pitchFamily="49" charset="0"/>
                <a:ea typeface="仿宋" pitchFamily="49" charset="-122"/>
                <a:cs typeface="Consolas" pitchFamily="49" charset="0"/>
              </a:rPr>
              <a:t>S</a:t>
            </a:r>
            <a:r>
              <a:rPr lang="en-US" altLang="zh-CN" sz="1800" baseline="-25000" dirty="0">
                <a:solidFill>
                  <a:srgbClr val="0000FF"/>
                </a:solidFill>
                <a:latin typeface="Consolas" pitchFamily="49" charset="0"/>
                <a:ea typeface="仿宋" pitchFamily="49" charset="-122"/>
                <a:cs typeface="Consolas" pitchFamily="49" charset="0"/>
              </a:rPr>
              <a:t>1</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err="1">
                <a:solidFill>
                  <a:srgbClr val="0000FF"/>
                </a:solidFill>
                <a:latin typeface="Consolas" pitchFamily="49" charset="0"/>
                <a:ea typeface="仿宋" pitchFamily="49" charset="-122"/>
                <a:cs typeface="Consolas" pitchFamily="49" charset="0"/>
              </a:rPr>
              <a:t>n</a:t>
            </a:r>
            <a:r>
              <a:rPr lang="en-US" altLang="zh-CN" sz="1800" dirty="0" err="1">
                <a:solidFill>
                  <a:srgbClr val="0000FF"/>
                </a:solidFill>
                <a:latin typeface="Consolas" pitchFamily="49" charset="0"/>
                <a:ea typeface="仿宋" pitchFamily="49" charset="-122"/>
                <a:cs typeface="Consolas" pitchFamily="49" charset="0"/>
              </a:rPr>
              <a:t>,</a:t>
            </a:r>
            <a:r>
              <a:rPr lang="en-US" altLang="zh-CN" sz="1800" i="1" dirty="0" err="1">
                <a:solidFill>
                  <a:srgbClr val="0000FF"/>
                </a:solidFill>
                <a:latin typeface="Consolas" pitchFamily="49" charset="0"/>
                <a:ea typeface="仿宋" pitchFamily="49" charset="-122"/>
                <a:cs typeface="Consolas" pitchFamily="49" charset="0"/>
              </a:rPr>
              <a:t>k</a:t>
            </a:r>
            <a:r>
              <a:rPr lang="en-US" altLang="zh-CN" sz="1800" dirty="0">
                <a:solidFill>
                  <a:srgbClr val="0000FF"/>
                </a:solidFill>
                <a:latin typeface="Consolas" pitchFamily="49" charset="0"/>
                <a:ea typeface="仿宋" pitchFamily="49" charset="-122"/>
                <a:cs typeface="Consolas" pitchFamily="49" charset="0"/>
              </a:rPr>
              <a:t>) = 1		  </a:t>
            </a:r>
            <a:r>
              <a:rPr lang="zh-CN" altLang="en-US" sz="1800" dirty="0">
                <a:solidFill>
                  <a:srgbClr val="00B0F0"/>
                </a:solidFill>
                <a:latin typeface="Consolas" pitchFamily="49" charset="0"/>
                <a:ea typeface="仿宋" pitchFamily="49" charset="-122"/>
                <a:cs typeface="Consolas" pitchFamily="49" charset="0"/>
              </a:rPr>
              <a:t>当</a:t>
            </a:r>
            <a:r>
              <a:rPr lang="en-US" altLang="zh-CN" sz="1800" i="1" dirty="0">
                <a:solidFill>
                  <a:srgbClr val="00B0F0"/>
                </a:solidFill>
                <a:latin typeface="Consolas" pitchFamily="49" charset="0"/>
                <a:ea typeface="仿宋" pitchFamily="49" charset="-122"/>
                <a:cs typeface="Consolas" pitchFamily="49" charset="0"/>
              </a:rPr>
              <a:t>k</a:t>
            </a:r>
            <a:r>
              <a:rPr lang="en-US" altLang="zh-CN" sz="1800" dirty="0">
                <a:solidFill>
                  <a:srgbClr val="00B0F0"/>
                </a:solidFill>
                <a:latin typeface="Consolas" pitchFamily="49" charset="0"/>
                <a:ea typeface="仿宋" pitchFamily="49" charset="-122"/>
                <a:cs typeface="Consolas" pitchFamily="49" charset="0"/>
              </a:rPr>
              <a:t>=</a:t>
            </a:r>
            <a:r>
              <a:rPr lang="en-US" altLang="zh-CN" sz="1800" i="1" dirty="0">
                <a:solidFill>
                  <a:srgbClr val="00B0F0"/>
                </a:solidFill>
                <a:latin typeface="Consolas" pitchFamily="49" charset="0"/>
                <a:ea typeface="仿宋" pitchFamily="49" charset="-122"/>
                <a:cs typeface="Consolas" pitchFamily="49" charset="0"/>
              </a:rPr>
              <a:t>n</a:t>
            </a:r>
            <a:r>
              <a:rPr lang="en-US" altLang="zh-CN" sz="1800" dirty="0">
                <a:solidFill>
                  <a:srgbClr val="00B0F0"/>
                </a:solidFill>
                <a:latin typeface="Consolas" pitchFamily="49" charset="0"/>
                <a:ea typeface="仿宋" pitchFamily="49" charset="-122"/>
                <a:cs typeface="Consolas" pitchFamily="49" charset="0"/>
              </a:rPr>
              <a:t>-1</a:t>
            </a:r>
            <a:r>
              <a:rPr lang="zh-CN" altLang="en-US" sz="1800" dirty="0">
                <a:solidFill>
                  <a:srgbClr val="00B0F0"/>
                </a:solidFill>
                <a:latin typeface="Consolas" pitchFamily="49" charset="0"/>
                <a:ea typeface="仿宋" pitchFamily="49" charset="-122"/>
                <a:cs typeface="Consolas" pitchFamily="49" charset="0"/>
              </a:rPr>
              <a:t>时</a:t>
            </a:r>
          </a:p>
          <a:p>
            <a:pPr algn="l"/>
            <a:r>
              <a:rPr lang="en-US" altLang="zh-CN" sz="1800" i="1" dirty="0">
                <a:solidFill>
                  <a:srgbClr val="0000FF"/>
                </a:solidFill>
                <a:latin typeface="Consolas" pitchFamily="49" charset="0"/>
                <a:ea typeface="仿宋" pitchFamily="49" charset="-122"/>
                <a:cs typeface="Consolas" pitchFamily="49" charset="0"/>
              </a:rPr>
              <a:t>S</a:t>
            </a:r>
            <a:r>
              <a:rPr lang="en-US" altLang="zh-CN" sz="1800" baseline="-25000" dirty="0">
                <a:solidFill>
                  <a:srgbClr val="0000FF"/>
                </a:solidFill>
                <a:latin typeface="Consolas" pitchFamily="49" charset="0"/>
                <a:ea typeface="仿宋" pitchFamily="49" charset="-122"/>
                <a:cs typeface="Consolas" pitchFamily="49" charset="0"/>
              </a:rPr>
              <a:t>1</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err="1">
                <a:solidFill>
                  <a:srgbClr val="0000FF"/>
                </a:solidFill>
                <a:latin typeface="Consolas" pitchFamily="49" charset="0"/>
                <a:ea typeface="仿宋" pitchFamily="49" charset="-122"/>
                <a:cs typeface="Consolas" pitchFamily="49" charset="0"/>
              </a:rPr>
              <a:t>n</a:t>
            </a:r>
            <a:r>
              <a:rPr lang="en-US" altLang="zh-CN" sz="1800" dirty="0" err="1">
                <a:solidFill>
                  <a:srgbClr val="0000FF"/>
                </a:solidFill>
                <a:latin typeface="Consolas" pitchFamily="49" charset="0"/>
                <a:ea typeface="仿宋" pitchFamily="49" charset="-122"/>
                <a:cs typeface="Consolas" pitchFamily="49" charset="0"/>
              </a:rPr>
              <a:t>,</a:t>
            </a:r>
            <a:r>
              <a:rPr lang="en-US" altLang="zh-CN" sz="1800" i="1" dirty="0" err="1">
                <a:solidFill>
                  <a:srgbClr val="0000FF"/>
                </a:solidFill>
                <a:latin typeface="Consolas" pitchFamily="49" charset="0"/>
                <a:ea typeface="仿宋" pitchFamily="49" charset="-122"/>
                <a:cs typeface="Consolas" pitchFamily="49" charset="0"/>
              </a:rPr>
              <a:t>k</a:t>
            </a:r>
            <a:r>
              <a:rPr lang="en-US" altLang="zh-CN" sz="1800" dirty="0">
                <a:solidFill>
                  <a:srgbClr val="0000FF"/>
                </a:solidFill>
                <a:latin typeface="Consolas" pitchFamily="49" charset="0"/>
                <a:ea typeface="仿宋" pitchFamily="49" charset="-122"/>
                <a:cs typeface="Consolas" pitchFamily="49" charset="0"/>
              </a:rPr>
              <a:t>) = 1+</a:t>
            </a:r>
            <a:r>
              <a:rPr lang="en-US" altLang="zh-CN" sz="1800" i="1" dirty="0">
                <a:solidFill>
                  <a:srgbClr val="0000FF"/>
                </a:solidFill>
                <a:latin typeface="Consolas" pitchFamily="49" charset="0"/>
                <a:ea typeface="仿宋" pitchFamily="49" charset="-122"/>
                <a:cs typeface="Consolas" pitchFamily="49" charset="0"/>
              </a:rPr>
              <a:t>S</a:t>
            </a:r>
            <a:r>
              <a:rPr lang="en-US" altLang="zh-CN" sz="1800" baseline="-25000" dirty="0">
                <a:solidFill>
                  <a:srgbClr val="0000FF"/>
                </a:solidFill>
                <a:latin typeface="Consolas" pitchFamily="49" charset="0"/>
                <a:ea typeface="仿宋" pitchFamily="49" charset="-122"/>
                <a:cs typeface="Consolas" pitchFamily="49" charset="0"/>
              </a:rPr>
              <a:t>1</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n</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k</a:t>
            </a:r>
            <a:r>
              <a:rPr lang="en-US" altLang="zh-CN" sz="1800" dirty="0">
                <a:solidFill>
                  <a:srgbClr val="0000FF"/>
                </a:solidFill>
                <a:latin typeface="Consolas" pitchFamily="49" charset="0"/>
                <a:ea typeface="仿宋" pitchFamily="49" charset="-122"/>
                <a:cs typeface="Consolas" pitchFamily="49" charset="0"/>
              </a:rPr>
              <a:t>+1)	  </a:t>
            </a:r>
            <a:r>
              <a:rPr lang="zh-CN" altLang="en-US" sz="1800" dirty="0">
                <a:solidFill>
                  <a:srgbClr val="00B0F0"/>
                </a:solidFill>
                <a:latin typeface="Consolas" pitchFamily="49" charset="0"/>
                <a:ea typeface="仿宋" pitchFamily="49" charset="-122"/>
                <a:cs typeface="Consolas" pitchFamily="49" charset="0"/>
              </a:rPr>
              <a:t>其他情况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3"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3" name="Text Box 5"/>
          <p:cNvSpPr txBox="1">
            <a:spLocks noChangeArrowheads="1"/>
          </p:cNvSpPr>
          <p:nvPr/>
        </p:nvSpPr>
        <p:spPr bwMode="auto">
          <a:xfrm>
            <a:off x="496831" y="548680"/>
            <a:ext cx="8143932" cy="839332"/>
          </a:xfrm>
          <a:prstGeom prst="rect">
            <a:avLst/>
          </a:prstGeom>
          <a:noFill/>
          <a:ln w="9525" algn="ctr">
            <a:noFill/>
            <a:miter lim="800000"/>
            <a:headEnd/>
            <a:tailEnd/>
          </a:ln>
          <a:effectLst/>
        </p:spPr>
        <p:txBody>
          <a:bodyPr wrap="square">
            <a:spAutoFit/>
          </a:bodyPr>
          <a:lstStyle/>
          <a:p>
            <a:pPr algn="l">
              <a:lnSpc>
                <a:spcPts val="3000"/>
              </a:lnSpc>
            </a:pPr>
            <a:r>
              <a:rPr lang="zh-CN" altLang="en-US" sz="2400" dirty="0">
                <a:latin typeface="楷体" panose="02010609060101010101" pitchFamily="49" charset="-122"/>
                <a:ea typeface="楷体" panose="02010609060101010101" pitchFamily="49" charset="-122"/>
                <a:cs typeface="Consolas" pitchFamily="49" charset="0"/>
              </a:rPr>
              <a:t>解：设</a:t>
            </a:r>
            <a:r>
              <a:rPr lang="en-US" altLang="zh-CN" sz="2400" dirty="0">
                <a:latin typeface="楷体" panose="02010609060101010101" pitchFamily="49" charset="-122"/>
                <a:ea typeface="楷体" panose="02010609060101010101" pitchFamily="49" charset="-122"/>
                <a:cs typeface="Consolas" pitchFamily="49" charset="0"/>
              </a:rPr>
              <a:t>fun(</a:t>
            </a:r>
            <a:r>
              <a:rPr lang="en-US" altLang="zh-CN" sz="2400" i="1" dirty="0">
                <a:latin typeface="楷体" panose="02010609060101010101" pitchFamily="49" charset="-122"/>
                <a:ea typeface="楷体" panose="02010609060101010101" pitchFamily="49" charset="-122"/>
                <a:cs typeface="Consolas" pitchFamily="49" charset="0"/>
              </a:rPr>
              <a:t>a</a:t>
            </a:r>
            <a:r>
              <a:rPr lang="zh-CN" altLang="en-US" sz="2400" dirty="0">
                <a:latin typeface="楷体" panose="02010609060101010101" pitchFamily="49" charset="-122"/>
                <a:ea typeface="楷体" panose="02010609060101010101" pitchFamily="49" charset="-122"/>
                <a:cs typeface="Consolas" pitchFamily="49" charset="0"/>
              </a:rPr>
              <a:t>，</a:t>
            </a:r>
            <a:r>
              <a:rPr lang="en-US" altLang="zh-CN" sz="2400" i="1" dirty="0">
                <a:latin typeface="楷体" panose="02010609060101010101" pitchFamily="49" charset="-122"/>
                <a:ea typeface="楷体" panose="02010609060101010101" pitchFamily="49" charset="-122"/>
                <a:cs typeface="Consolas" pitchFamily="49" charset="0"/>
              </a:rPr>
              <a:t>n</a:t>
            </a:r>
            <a:r>
              <a:rPr lang="zh-CN" altLang="en-US" sz="2400" dirty="0">
                <a:latin typeface="楷体" panose="02010609060101010101" pitchFamily="49" charset="-122"/>
                <a:ea typeface="楷体" panose="02010609060101010101" pitchFamily="49" charset="-122"/>
                <a:cs typeface="Consolas" pitchFamily="49" charset="0"/>
              </a:rPr>
              <a:t>，</a:t>
            </a:r>
            <a:r>
              <a:rPr lang="en-US" altLang="zh-CN" sz="2400" dirty="0">
                <a:latin typeface="楷体" panose="02010609060101010101" pitchFamily="49" charset="-122"/>
                <a:ea typeface="楷体" panose="02010609060101010101" pitchFamily="49" charset="-122"/>
                <a:cs typeface="Consolas" pitchFamily="49" charset="0"/>
              </a:rPr>
              <a:t>0)</a:t>
            </a:r>
            <a:r>
              <a:rPr lang="zh-CN" altLang="en-US" sz="2400" dirty="0">
                <a:latin typeface="楷体" panose="02010609060101010101" pitchFamily="49" charset="-122"/>
                <a:ea typeface="楷体" panose="02010609060101010101" pitchFamily="49" charset="-122"/>
                <a:cs typeface="Consolas" pitchFamily="49" charset="0"/>
              </a:rPr>
              <a:t>的空间为</a:t>
            </a:r>
            <a:r>
              <a:rPr lang="en-US" altLang="zh-CN" sz="2400" i="1" dirty="0">
                <a:latin typeface="楷体" panose="02010609060101010101" pitchFamily="49" charset="-122"/>
                <a:ea typeface="楷体" panose="02010609060101010101" pitchFamily="49" charset="-122"/>
                <a:cs typeface="Consolas" pitchFamily="49" charset="0"/>
              </a:rPr>
              <a:t>S</a:t>
            </a:r>
            <a:r>
              <a:rPr lang="en-US" altLang="zh-CN" sz="2400" dirty="0">
                <a:latin typeface="楷体" panose="02010609060101010101" pitchFamily="49" charset="-122"/>
                <a:ea typeface="楷体" panose="02010609060101010101" pitchFamily="49" charset="-122"/>
                <a:cs typeface="Consolas" pitchFamily="49" charset="0"/>
              </a:rPr>
              <a:t>(</a:t>
            </a:r>
            <a:r>
              <a:rPr lang="en-US" altLang="zh-CN" sz="2400" i="1" dirty="0">
                <a:latin typeface="楷体" panose="02010609060101010101" pitchFamily="49" charset="-122"/>
                <a:ea typeface="楷体" panose="02010609060101010101" pitchFamily="49" charset="-122"/>
                <a:cs typeface="Consolas" pitchFamily="49" charset="0"/>
              </a:rPr>
              <a:t>n</a:t>
            </a:r>
            <a:r>
              <a:rPr lang="en-US" altLang="zh-CN" sz="2400" dirty="0">
                <a:latin typeface="楷体" panose="02010609060101010101" pitchFamily="49" charset="-122"/>
                <a:ea typeface="楷体" panose="02010609060101010101" pitchFamily="49" charset="-122"/>
                <a:cs typeface="Consolas" pitchFamily="49" charset="0"/>
              </a:rPr>
              <a:t>)</a:t>
            </a:r>
            <a:r>
              <a:rPr lang="zh-CN" altLang="en-US" sz="2400" dirty="0">
                <a:latin typeface="楷体" panose="02010609060101010101" pitchFamily="49" charset="-122"/>
                <a:ea typeface="楷体" panose="02010609060101010101" pitchFamily="49" charset="-122"/>
                <a:cs typeface="Consolas" pitchFamily="49" charset="0"/>
              </a:rPr>
              <a:t>，</a:t>
            </a:r>
            <a:r>
              <a:rPr lang="en-US" altLang="zh-CN" sz="2400" dirty="0">
                <a:latin typeface="楷体" panose="02010609060101010101" pitchFamily="49" charset="-122"/>
                <a:ea typeface="楷体" panose="02010609060101010101" pitchFamily="49" charset="-122"/>
                <a:cs typeface="Consolas" pitchFamily="49" charset="0"/>
              </a:rPr>
              <a:t>fun(</a:t>
            </a:r>
            <a:r>
              <a:rPr lang="en-US" altLang="zh-CN" sz="2400" i="1" dirty="0">
                <a:latin typeface="楷体" panose="02010609060101010101" pitchFamily="49" charset="-122"/>
                <a:ea typeface="楷体" panose="02010609060101010101" pitchFamily="49" charset="-122"/>
                <a:cs typeface="Consolas" pitchFamily="49" charset="0"/>
              </a:rPr>
              <a:t>a</a:t>
            </a:r>
            <a:r>
              <a:rPr lang="zh-CN" altLang="en-US" sz="2400" dirty="0">
                <a:latin typeface="楷体" panose="02010609060101010101" pitchFamily="49" charset="-122"/>
                <a:ea typeface="楷体" panose="02010609060101010101" pitchFamily="49" charset="-122"/>
                <a:cs typeface="Consolas" pitchFamily="49" charset="0"/>
              </a:rPr>
              <a:t>，</a:t>
            </a:r>
            <a:r>
              <a:rPr lang="en-US" altLang="zh-CN" sz="2400" i="1" dirty="0">
                <a:latin typeface="楷体" panose="02010609060101010101" pitchFamily="49" charset="-122"/>
                <a:ea typeface="楷体" panose="02010609060101010101" pitchFamily="49" charset="-122"/>
                <a:cs typeface="Consolas" pitchFamily="49" charset="0"/>
              </a:rPr>
              <a:t>n</a:t>
            </a:r>
            <a:r>
              <a:rPr lang="zh-CN" altLang="en-US" sz="2400" dirty="0">
                <a:latin typeface="楷体" panose="02010609060101010101" pitchFamily="49" charset="-122"/>
                <a:ea typeface="楷体" panose="02010609060101010101" pitchFamily="49" charset="-122"/>
                <a:cs typeface="Consolas" pitchFamily="49" charset="0"/>
              </a:rPr>
              <a:t>，</a:t>
            </a:r>
            <a:r>
              <a:rPr lang="en-US" altLang="zh-CN" sz="2400" i="1" dirty="0">
                <a:latin typeface="楷体" panose="02010609060101010101" pitchFamily="49" charset="-122"/>
                <a:ea typeface="楷体" panose="02010609060101010101" pitchFamily="49" charset="-122"/>
                <a:cs typeface="Consolas" pitchFamily="49" charset="0"/>
              </a:rPr>
              <a:t>k</a:t>
            </a:r>
            <a:r>
              <a:rPr lang="en-US" altLang="zh-CN" sz="2400" dirty="0">
                <a:latin typeface="楷体" panose="02010609060101010101" pitchFamily="49" charset="-122"/>
                <a:ea typeface="楷体" panose="02010609060101010101" pitchFamily="49" charset="-122"/>
                <a:cs typeface="Consolas" pitchFamily="49" charset="0"/>
              </a:rPr>
              <a:t>)</a:t>
            </a:r>
            <a:r>
              <a:rPr lang="zh-CN" altLang="en-US" sz="2400" dirty="0">
                <a:latin typeface="楷体" panose="02010609060101010101" pitchFamily="49" charset="-122"/>
                <a:ea typeface="楷体" panose="02010609060101010101" pitchFamily="49" charset="-122"/>
                <a:cs typeface="Consolas" pitchFamily="49" charset="0"/>
              </a:rPr>
              <a:t>的空间为</a:t>
            </a:r>
            <a:r>
              <a:rPr lang="en-US" altLang="zh-CN" sz="2400" dirty="0">
                <a:latin typeface="楷体" panose="02010609060101010101" pitchFamily="49" charset="-122"/>
                <a:ea typeface="楷体" panose="02010609060101010101" pitchFamily="49" charset="-122"/>
                <a:cs typeface="Consolas" pitchFamily="49" charset="0"/>
              </a:rPr>
              <a:t>S</a:t>
            </a:r>
            <a:r>
              <a:rPr lang="en-US" altLang="zh-CN" sz="2400" baseline="-25000" dirty="0">
                <a:latin typeface="楷体" panose="02010609060101010101" pitchFamily="49" charset="-122"/>
                <a:ea typeface="楷体" panose="02010609060101010101" pitchFamily="49" charset="-122"/>
                <a:cs typeface="Consolas" pitchFamily="49" charset="0"/>
              </a:rPr>
              <a:t>1</a:t>
            </a:r>
            <a:r>
              <a:rPr lang="en-US" altLang="zh-CN" sz="2400" dirty="0">
                <a:latin typeface="楷体" panose="02010609060101010101" pitchFamily="49" charset="-122"/>
                <a:ea typeface="楷体" panose="02010609060101010101" pitchFamily="49" charset="-122"/>
                <a:cs typeface="Consolas" pitchFamily="49" charset="0"/>
              </a:rPr>
              <a:t>(</a:t>
            </a:r>
            <a:r>
              <a:rPr lang="en-US" altLang="zh-CN" sz="2400" i="1" dirty="0">
                <a:latin typeface="楷体" panose="02010609060101010101" pitchFamily="49" charset="-122"/>
                <a:ea typeface="楷体" panose="02010609060101010101" pitchFamily="49" charset="-122"/>
                <a:cs typeface="Consolas" pitchFamily="49" charset="0"/>
              </a:rPr>
              <a:t>n</a:t>
            </a:r>
            <a:r>
              <a:rPr lang="zh-CN" altLang="en-US" sz="2400" dirty="0">
                <a:latin typeface="楷体" panose="02010609060101010101" pitchFamily="49" charset="-122"/>
                <a:ea typeface="楷体" panose="02010609060101010101" pitchFamily="49" charset="-122"/>
                <a:cs typeface="Consolas" pitchFamily="49" charset="0"/>
              </a:rPr>
              <a:t>，</a:t>
            </a:r>
            <a:r>
              <a:rPr lang="en-US" altLang="zh-CN" sz="2400" i="1" dirty="0">
                <a:latin typeface="楷体" panose="02010609060101010101" pitchFamily="49" charset="-122"/>
                <a:ea typeface="楷体" panose="02010609060101010101" pitchFamily="49" charset="-122"/>
                <a:cs typeface="Consolas" pitchFamily="49" charset="0"/>
              </a:rPr>
              <a:t>k</a:t>
            </a:r>
            <a:r>
              <a:rPr lang="en-US" altLang="zh-CN" sz="2400" dirty="0">
                <a:latin typeface="楷体" panose="02010609060101010101" pitchFamily="49" charset="-122"/>
                <a:ea typeface="楷体" panose="02010609060101010101" pitchFamily="49" charset="-122"/>
                <a:cs typeface="Consolas" pitchFamily="49" charset="0"/>
              </a:rPr>
              <a:t>)</a:t>
            </a:r>
            <a:r>
              <a:rPr lang="zh-CN" altLang="en-US" sz="2400" dirty="0">
                <a:latin typeface="楷体" panose="02010609060101010101" pitchFamily="49" charset="-122"/>
                <a:ea typeface="楷体" panose="02010609060101010101" pitchFamily="49" charset="-122"/>
                <a:cs typeface="Consolas" pitchFamily="49" charset="0"/>
              </a:rPr>
              <a:t>，有</a:t>
            </a:r>
            <a:r>
              <a:rPr lang="en-US" altLang="zh-CN" sz="2400" dirty="0">
                <a:latin typeface="楷体" panose="02010609060101010101" pitchFamily="49" charset="-122"/>
                <a:ea typeface="楷体" panose="02010609060101010101" pitchFamily="49" charset="-122"/>
                <a:cs typeface="Consolas" pitchFamily="49" charset="0"/>
                <a:sym typeface="Wingdings"/>
              </a:rPr>
              <a:t>  </a:t>
            </a:r>
            <a:r>
              <a:rPr lang="en-US" altLang="zh-CN" sz="2400" i="1" dirty="0">
                <a:latin typeface="楷体" panose="02010609060101010101" pitchFamily="49" charset="-122"/>
                <a:ea typeface="楷体" panose="02010609060101010101" pitchFamily="49" charset="-122"/>
                <a:cs typeface="Consolas" pitchFamily="49" charset="0"/>
                <a:sym typeface="Wingdings"/>
              </a:rPr>
              <a:t>S</a:t>
            </a:r>
            <a:r>
              <a:rPr lang="en-US" altLang="zh-CN" sz="2400" dirty="0">
                <a:latin typeface="楷体" panose="02010609060101010101" pitchFamily="49" charset="-122"/>
                <a:ea typeface="楷体" panose="02010609060101010101" pitchFamily="49" charset="-122"/>
                <a:cs typeface="Consolas" pitchFamily="49" charset="0"/>
                <a:sym typeface="Wingdings"/>
              </a:rPr>
              <a:t>(</a:t>
            </a:r>
            <a:r>
              <a:rPr lang="en-US" altLang="zh-CN" sz="2400" i="1" dirty="0">
                <a:latin typeface="楷体" panose="02010609060101010101" pitchFamily="49" charset="-122"/>
                <a:ea typeface="楷体" panose="02010609060101010101" pitchFamily="49" charset="-122"/>
                <a:cs typeface="Consolas" pitchFamily="49" charset="0"/>
                <a:sym typeface="Wingdings"/>
              </a:rPr>
              <a:t>n</a:t>
            </a:r>
            <a:r>
              <a:rPr lang="en-US" altLang="zh-CN" sz="2400" dirty="0">
                <a:latin typeface="楷体" panose="02010609060101010101" pitchFamily="49" charset="-122"/>
                <a:ea typeface="楷体" panose="02010609060101010101" pitchFamily="49" charset="-122"/>
                <a:cs typeface="Consolas" pitchFamily="49" charset="0"/>
                <a:sym typeface="Wingdings"/>
              </a:rPr>
              <a:t>) = </a:t>
            </a:r>
            <a:r>
              <a:rPr lang="en-US" altLang="zh-CN" sz="2400" i="1" dirty="0">
                <a:latin typeface="楷体" panose="02010609060101010101" pitchFamily="49" charset="-122"/>
                <a:ea typeface="楷体" panose="02010609060101010101" pitchFamily="49" charset="-122"/>
                <a:cs typeface="Consolas" pitchFamily="49" charset="0"/>
                <a:sym typeface="Wingdings"/>
              </a:rPr>
              <a:t>S</a:t>
            </a:r>
            <a:r>
              <a:rPr lang="en-US" altLang="zh-CN" sz="2400" baseline="-25000" dirty="0">
                <a:latin typeface="楷体" panose="02010609060101010101" pitchFamily="49" charset="-122"/>
                <a:ea typeface="楷体" panose="02010609060101010101" pitchFamily="49" charset="-122"/>
                <a:cs typeface="Consolas" pitchFamily="49" charset="0"/>
                <a:sym typeface="Wingdings"/>
              </a:rPr>
              <a:t>1</a:t>
            </a:r>
            <a:r>
              <a:rPr lang="en-US" altLang="zh-CN" sz="2400" dirty="0">
                <a:latin typeface="楷体" panose="02010609060101010101" pitchFamily="49" charset="-122"/>
                <a:ea typeface="楷体" panose="02010609060101010101" pitchFamily="49" charset="-122"/>
                <a:cs typeface="Consolas" pitchFamily="49" charset="0"/>
                <a:sym typeface="Wingdings"/>
              </a:rPr>
              <a:t>(</a:t>
            </a:r>
            <a:r>
              <a:rPr lang="en-US" altLang="zh-CN" sz="2400" i="1" dirty="0">
                <a:latin typeface="楷体" panose="02010609060101010101" pitchFamily="49" charset="-122"/>
                <a:ea typeface="楷体" panose="02010609060101010101" pitchFamily="49" charset="-122"/>
                <a:cs typeface="Consolas" pitchFamily="49" charset="0"/>
                <a:sym typeface="Wingdings"/>
              </a:rPr>
              <a:t>n</a:t>
            </a:r>
            <a:r>
              <a:rPr lang="zh-CN" altLang="en-US" sz="2400" dirty="0">
                <a:latin typeface="楷体" panose="02010609060101010101" pitchFamily="49" charset="-122"/>
                <a:ea typeface="楷体" panose="02010609060101010101" pitchFamily="49" charset="-122"/>
                <a:cs typeface="Consolas" pitchFamily="49" charset="0"/>
                <a:sym typeface="Wingdings"/>
              </a:rPr>
              <a:t>，</a:t>
            </a:r>
            <a:r>
              <a:rPr lang="en-US" altLang="zh-CN" sz="2400" dirty="0">
                <a:latin typeface="楷体" panose="02010609060101010101" pitchFamily="49" charset="-122"/>
                <a:ea typeface="楷体" panose="02010609060101010101" pitchFamily="49" charset="-122"/>
                <a:cs typeface="Consolas" pitchFamily="49" charset="0"/>
                <a:sym typeface="Wingdings"/>
              </a:rPr>
              <a:t>0)</a:t>
            </a:r>
            <a:r>
              <a:rPr lang="zh-CN" altLang="en-US" sz="2400" dirty="0">
                <a:latin typeface="楷体" panose="02010609060101010101" pitchFamily="49" charset="-122"/>
                <a:ea typeface="楷体" panose="02010609060101010101" pitchFamily="49" charset="-122"/>
                <a:cs typeface="Consolas" pitchFamily="49" charset="0"/>
                <a:sym typeface="Wingdings"/>
              </a:rPr>
              <a:t>。</a:t>
            </a:r>
            <a:endParaRPr lang="zh-CN" altLang="en-US" sz="2400" dirty="0">
              <a:latin typeface="楷体" panose="02010609060101010101" pitchFamily="49" charset="-122"/>
              <a:ea typeface="楷体" panose="02010609060101010101" pitchFamily="49" charset="-122"/>
              <a:cs typeface="Consolas" pitchFamily="49" charset="0"/>
            </a:endParaRPr>
          </a:p>
        </p:txBody>
      </p:sp>
      <p:sp>
        <p:nvSpPr>
          <p:cNvPr id="206856" name="Text Box 8"/>
          <p:cNvSpPr txBox="1">
            <a:spLocks noChangeArrowheads="1"/>
          </p:cNvSpPr>
          <p:nvPr/>
        </p:nvSpPr>
        <p:spPr bwMode="auto">
          <a:xfrm>
            <a:off x="895323" y="3406200"/>
            <a:ext cx="6840538" cy="1238672"/>
          </a:xfrm>
          <a:prstGeom prst="rect">
            <a:avLst/>
          </a:prstGeom>
          <a:noFill/>
          <a:ln w="9525" algn="ctr">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p>
            <a:pPr algn="l">
              <a:spcBef>
                <a:spcPts val="600"/>
              </a:spcBef>
            </a:pPr>
            <a:r>
              <a:rPr lang="zh-CN" altLang="en-US" sz="2000" dirty="0">
                <a:solidFill>
                  <a:srgbClr val="0000FF"/>
                </a:solidFill>
                <a:latin typeface="Consolas" pitchFamily="49" charset="0"/>
                <a:ea typeface="楷体" pitchFamily="49" charset="-122"/>
                <a:cs typeface="Consolas" pitchFamily="49" charset="0"/>
              </a:rPr>
              <a:t>则： </a:t>
            </a:r>
            <a:endParaRPr lang="en-US" altLang="zh-CN" sz="2000" dirty="0">
              <a:solidFill>
                <a:srgbClr val="0000FF"/>
              </a:solidFill>
              <a:latin typeface="Consolas" pitchFamily="49" charset="0"/>
              <a:ea typeface="楷体" pitchFamily="49" charset="-122"/>
              <a:cs typeface="Consolas" pitchFamily="49" charset="0"/>
            </a:endParaRPr>
          </a:p>
          <a:p>
            <a:pPr algn="l">
              <a:spcBef>
                <a:spcPts val="600"/>
              </a:spcBef>
            </a:pPr>
            <a:r>
              <a:rPr lang="en-US" altLang="zh-CN" sz="2000" dirty="0">
                <a:solidFill>
                  <a:srgbClr val="0000FF"/>
                </a:solidFill>
                <a:latin typeface="Consolas" pitchFamily="49" charset="0"/>
                <a:cs typeface="Consolas" pitchFamily="49" charset="0"/>
              </a:rPr>
              <a:t>   S(</a:t>
            </a:r>
            <a:r>
              <a:rPr lang="en-US" altLang="zh-CN" sz="2000" i="1" dirty="0">
                <a:solidFill>
                  <a:srgbClr val="0000FF"/>
                </a:solidFill>
                <a:latin typeface="Consolas" pitchFamily="49" charset="0"/>
                <a:cs typeface="Consolas" pitchFamily="49" charset="0"/>
              </a:rPr>
              <a:t>n</a:t>
            </a:r>
            <a:r>
              <a:rPr lang="en-US" altLang="zh-CN" sz="2000" dirty="0">
                <a:solidFill>
                  <a:srgbClr val="0000FF"/>
                </a:solidFill>
                <a:latin typeface="Consolas" pitchFamily="49" charset="0"/>
                <a:cs typeface="Consolas" pitchFamily="49" charset="0"/>
              </a:rPr>
              <a:t>) = S</a:t>
            </a:r>
            <a:r>
              <a:rPr lang="en-US" altLang="zh-CN" sz="2000" baseline="-25000" dirty="0">
                <a:solidFill>
                  <a:srgbClr val="0000FF"/>
                </a:solidFill>
                <a:latin typeface="Consolas" pitchFamily="49" charset="0"/>
                <a:cs typeface="Consolas" pitchFamily="49" charset="0"/>
              </a:rPr>
              <a:t>1</a:t>
            </a:r>
            <a:r>
              <a:rPr lang="en-US" altLang="zh-CN" sz="2000" dirty="0">
                <a:solidFill>
                  <a:srgbClr val="0000FF"/>
                </a:solidFill>
                <a:latin typeface="Consolas" pitchFamily="49" charset="0"/>
                <a:cs typeface="Consolas" pitchFamily="49" charset="0"/>
              </a:rPr>
              <a:t>(</a:t>
            </a:r>
            <a:r>
              <a:rPr lang="en-US" altLang="zh-CN" sz="2000" i="1" dirty="0">
                <a:solidFill>
                  <a:srgbClr val="0000FF"/>
                </a:solidFill>
                <a:latin typeface="Consolas" pitchFamily="49" charset="0"/>
                <a:cs typeface="Consolas" pitchFamily="49" charset="0"/>
              </a:rPr>
              <a:t>n</a:t>
            </a:r>
            <a:r>
              <a:rPr lang="zh-CN" altLang="en-US" sz="2000" dirty="0">
                <a:solidFill>
                  <a:srgbClr val="0000FF"/>
                </a:solidFill>
                <a:latin typeface="Consolas" pitchFamily="49" charset="0"/>
                <a:cs typeface="Consolas" pitchFamily="49" charset="0"/>
              </a:rPr>
              <a:t>，</a:t>
            </a:r>
            <a:r>
              <a:rPr lang="en-US" altLang="zh-CN" sz="2000" dirty="0">
                <a:solidFill>
                  <a:srgbClr val="0000FF"/>
                </a:solidFill>
                <a:latin typeface="Consolas" pitchFamily="49" charset="0"/>
                <a:cs typeface="Consolas" pitchFamily="49" charset="0"/>
              </a:rPr>
              <a:t>0) = 1+S</a:t>
            </a:r>
            <a:r>
              <a:rPr lang="en-US" altLang="zh-CN" sz="2000" baseline="-25000" dirty="0">
                <a:solidFill>
                  <a:srgbClr val="0000FF"/>
                </a:solidFill>
                <a:latin typeface="Consolas" pitchFamily="49" charset="0"/>
                <a:cs typeface="Consolas" pitchFamily="49" charset="0"/>
              </a:rPr>
              <a:t>1</a:t>
            </a:r>
            <a:r>
              <a:rPr lang="en-US" altLang="zh-CN" sz="2000" dirty="0">
                <a:solidFill>
                  <a:srgbClr val="0000FF"/>
                </a:solidFill>
                <a:latin typeface="Consolas" pitchFamily="49" charset="0"/>
                <a:cs typeface="Consolas" pitchFamily="49" charset="0"/>
              </a:rPr>
              <a:t>(</a:t>
            </a:r>
            <a:r>
              <a:rPr lang="en-US" altLang="zh-CN" sz="2000" i="1" dirty="0">
                <a:solidFill>
                  <a:srgbClr val="0000FF"/>
                </a:solidFill>
                <a:latin typeface="Consolas" pitchFamily="49" charset="0"/>
                <a:cs typeface="Consolas" pitchFamily="49" charset="0"/>
              </a:rPr>
              <a:t>n</a:t>
            </a:r>
            <a:r>
              <a:rPr lang="zh-CN" altLang="en-US" sz="2000" dirty="0">
                <a:solidFill>
                  <a:srgbClr val="0000FF"/>
                </a:solidFill>
                <a:latin typeface="Consolas" pitchFamily="49" charset="0"/>
                <a:cs typeface="Consolas" pitchFamily="49" charset="0"/>
              </a:rPr>
              <a:t>，</a:t>
            </a:r>
            <a:r>
              <a:rPr lang="en-US" altLang="zh-CN" sz="2000" dirty="0">
                <a:solidFill>
                  <a:srgbClr val="0000FF"/>
                </a:solidFill>
                <a:latin typeface="Consolas" pitchFamily="49" charset="0"/>
                <a:cs typeface="Consolas" pitchFamily="49" charset="0"/>
              </a:rPr>
              <a:t>1) = 1+1+S</a:t>
            </a:r>
            <a:r>
              <a:rPr lang="en-US" altLang="zh-CN" sz="2000" baseline="-25000" dirty="0">
                <a:solidFill>
                  <a:srgbClr val="0000FF"/>
                </a:solidFill>
                <a:latin typeface="Consolas" pitchFamily="49" charset="0"/>
                <a:cs typeface="Consolas" pitchFamily="49" charset="0"/>
              </a:rPr>
              <a:t>1</a:t>
            </a:r>
            <a:r>
              <a:rPr lang="en-US" altLang="zh-CN" sz="2000" dirty="0">
                <a:solidFill>
                  <a:srgbClr val="0000FF"/>
                </a:solidFill>
                <a:latin typeface="Consolas" pitchFamily="49" charset="0"/>
                <a:cs typeface="Consolas" pitchFamily="49" charset="0"/>
              </a:rPr>
              <a:t>(</a:t>
            </a:r>
            <a:r>
              <a:rPr lang="en-US" altLang="zh-CN" sz="2000" i="1" dirty="0">
                <a:solidFill>
                  <a:srgbClr val="0000FF"/>
                </a:solidFill>
                <a:latin typeface="Consolas" pitchFamily="49" charset="0"/>
                <a:cs typeface="Consolas" pitchFamily="49" charset="0"/>
              </a:rPr>
              <a:t>n</a:t>
            </a:r>
            <a:r>
              <a:rPr lang="zh-CN" altLang="en-US" sz="2000" dirty="0">
                <a:solidFill>
                  <a:srgbClr val="0000FF"/>
                </a:solidFill>
                <a:latin typeface="Consolas" pitchFamily="49" charset="0"/>
                <a:cs typeface="Consolas" pitchFamily="49" charset="0"/>
              </a:rPr>
              <a:t>，</a:t>
            </a:r>
            <a:r>
              <a:rPr lang="en-US" altLang="zh-CN" sz="2000" dirty="0">
                <a:solidFill>
                  <a:srgbClr val="0000FF"/>
                </a:solidFill>
                <a:latin typeface="Consolas" pitchFamily="49" charset="0"/>
                <a:cs typeface="Consolas" pitchFamily="49" charset="0"/>
              </a:rPr>
              <a:t>2)</a:t>
            </a:r>
          </a:p>
          <a:p>
            <a:pPr algn="l">
              <a:spcBef>
                <a:spcPts val="600"/>
              </a:spcBef>
            </a:pPr>
            <a:r>
              <a:rPr lang="en-US" altLang="zh-CN" sz="2000" dirty="0">
                <a:solidFill>
                  <a:srgbClr val="0000FF"/>
                </a:solidFill>
                <a:latin typeface="Consolas" pitchFamily="49" charset="0"/>
                <a:cs typeface="Consolas" pitchFamily="49" charset="0"/>
              </a:rPr>
              <a:t>        = </a:t>
            </a:r>
            <a:r>
              <a:rPr lang="en-US" altLang="zh-CN" sz="2000" dirty="0">
                <a:solidFill>
                  <a:srgbClr val="0000FF"/>
                </a:solidFill>
                <a:latin typeface="+mn-ea"/>
                <a:ea typeface="+mn-ea"/>
                <a:cs typeface="Consolas" pitchFamily="49" charset="0"/>
              </a:rPr>
              <a:t>…</a:t>
            </a:r>
            <a:r>
              <a:rPr lang="en-US" altLang="zh-CN" sz="2000" dirty="0">
                <a:solidFill>
                  <a:srgbClr val="0000FF"/>
                </a:solidFill>
                <a:latin typeface="Consolas" pitchFamily="49" charset="0"/>
                <a:ea typeface="宋体" pitchFamily="2" charset="-122"/>
                <a:cs typeface="Consolas" pitchFamily="49" charset="0"/>
              </a:rPr>
              <a:t> </a:t>
            </a:r>
            <a:r>
              <a:rPr lang="en-US" altLang="zh-CN" sz="2000" dirty="0">
                <a:solidFill>
                  <a:srgbClr val="0000FF"/>
                </a:solidFill>
                <a:latin typeface="Consolas" pitchFamily="49" charset="0"/>
                <a:cs typeface="Consolas" pitchFamily="49" charset="0"/>
              </a:rPr>
              <a:t>= 1 + 1 + </a:t>
            </a:r>
            <a:r>
              <a:rPr lang="en-US" altLang="zh-CN" sz="2000" dirty="0">
                <a:solidFill>
                  <a:srgbClr val="0000FF"/>
                </a:solidFill>
                <a:latin typeface="+mn-ea"/>
                <a:ea typeface="+mn-ea"/>
                <a:cs typeface="Consolas" pitchFamily="49" charset="0"/>
              </a:rPr>
              <a:t>…</a:t>
            </a:r>
            <a:r>
              <a:rPr lang="en-US" altLang="zh-CN" sz="2000" dirty="0">
                <a:solidFill>
                  <a:srgbClr val="0000FF"/>
                </a:solidFill>
                <a:latin typeface="Consolas" pitchFamily="49" charset="0"/>
                <a:ea typeface="宋体" pitchFamily="2" charset="-122"/>
                <a:cs typeface="Consolas" pitchFamily="49" charset="0"/>
              </a:rPr>
              <a:t> </a:t>
            </a:r>
            <a:r>
              <a:rPr lang="en-US" altLang="zh-CN" sz="2000" dirty="0">
                <a:solidFill>
                  <a:srgbClr val="0000FF"/>
                </a:solidFill>
                <a:latin typeface="Consolas" pitchFamily="49" charset="0"/>
                <a:cs typeface="Consolas" pitchFamily="49" charset="0"/>
              </a:rPr>
              <a:t>+ 1 = O(</a:t>
            </a:r>
            <a:r>
              <a:rPr lang="en-US" altLang="zh-CN" sz="2000" i="1" dirty="0">
                <a:solidFill>
                  <a:srgbClr val="0000FF"/>
                </a:solidFill>
                <a:latin typeface="Consolas" pitchFamily="49" charset="0"/>
                <a:cs typeface="Consolas" pitchFamily="49" charset="0"/>
              </a:rPr>
              <a:t>n</a:t>
            </a:r>
            <a:r>
              <a:rPr lang="en-US" altLang="zh-CN" sz="2000" dirty="0">
                <a:solidFill>
                  <a:srgbClr val="0000FF"/>
                </a:solidFill>
                <a:latin typeface="Consolas" pitchFamily="49" charset="0"/>
                <a:cs typeface="Consolas" pitchFamily="49" charset="0"/>
              </a:rPr>
              <a:t>)</a:t>
            </a:r>
          </a:p>
        </p:txBody>
      </p:sp>
      <p:grpSp>
        <p:nvGrpSpPr>
          <p:cNvPr id="2" name="组合 13"/>
          <p:cNvGrpSpPr/>
          <p:nvPr/>
        </p:nvGrpSpPr>
        <p:grpSpPr>
          <a:xfrm>
            <a:off x="3048698" y="4627486"/>
            <a:ext cx="1918120" cy="597531"/>
            <a:chOff x="2551605" y="4719681"/>
            <a:chExt cx="659416" cy="597531"/>
          </a:xfrm>
        </p:grpSpPr>
        <p:sp>
          <p:nvSpPr>
            <p:cNvPr id="206857" name="AutoShape 9"/>
            <p:cNvSpPr>
              <a:spLocks/>
            </p:cNvSpPr>
            <p:nvPr/>
          </p:nvSpPr>
          <p:spPr bwMode="auto">
            <a:xfrm rot="5400000">
              <a:off x="2737343" y="4533943"/>
              <a:ext cx="287940" cy="659416"/>
            </a:xfrm>
            <a:prstGeom prst="rightBrace">
              <a:avLst>
                <a:gd name="adj1" fmla="val 61152"/>
                <a:gd name="adj2" fmla="val 50944"/>
              </a:avLst>
            </a:prstGeom>
            <a:ln>
              <a:headEnd/>
              <a:tailEnd/>
            </a:ln>
          </p:spPr>
          <p:style>
            <a:lnRef idx="2">
              <a:schemeClr val="accent5"/>
            </a:lnRef>
            <a:fillRef idx="0">
              <a:schemeClr val="accent5"/>
            </a:fillRef>
            <a:effectRef idx="1">
              <a:schemeClr val="accent5"/>
            </a:effectRef>
            <a:fontRef idx="minor">
              <a:schemeClr val="tx1"/>
            </a:fontRef>
          </p:style>
          <p:txBody>
            <a:bodyPr wrap="square" anchor="ctr">
              <a:spAutoFit/>
            </a:bodyPr>
            <a:lstStyle/>
            <a:p>
              <a:endParaRPr lang="zh-CN" altLang="en-US" sz="2800"/>
            </a:p>
          </p:txBody>
        </p:sp>
        <p:sp>
          <p:nvSpPr>
            <p:cNvPr id="206858" name="Text Box 10"/>
            <p:cNvSpPr txBox="1">
              <a:spLocks noChangeArrowheads="1"/>
            </p:cNvSpPr>
            <p:nvPr/>
          </p:nvSpPr>
          <p:spPr bwMode="auto">
            <a:xfrm>
              <a:off x="2751981" y="4886325"/>
              <a:ext cx="346571" cy="430887"/>
            </a:xfrm>
            <a:prstGeom prst="rect">
              <a:avLst/>
            </a:prstGeom>
            <a:noFill/>
            <a:ln w="38100" algn="ctr">
              <a:noFill/>
              <a:miter lim="800000"/>
              <a:headEnd/>
              <a:tailEnd/>
            </a:ln>
            <a:effectLst/>
          </p:spPr>
          <p:txBody>
            <a:bodyPr wrap="square">
              <a:spAutoFit/>
            </a:bodyPr>
            <a:lstStyle/>
            <a:p>
              <a:pPr algn="l"/>
              <a:r>
                <a:rPr lang="en-US" altLang="zh-CN" sz="2000" i="1" dirty="0">
                  <a:solidFill>
                    <a:srgbClr val="660066"/>
                  </a:solidFill>
                  <a:latin typeface="Consolas" pitchFamily="49" charset="0"/>
                  <a:cs typeface="Consolas" pitchFamily="49" charset="0"/>
                </a:rPr>
                <a:t>n</a:t>
              </a:r>
              <a:r>
                <a:rPr lang="zh-CN" altLang="en-US" sz="2000" dirty="0">
                  <a:solidFill>
                    <a:srgbClr val="660066"/>
                  </a:solidFill>
                  <a:latin typeface="Consolas" pitchFamily="49" charset="0"/>
                  <a:ea typeface="楷体" pitchFamily="49" charset="-122"/>
                  <a:cs typeface="Consolas" pitchFamily="49" charset="0"/>
                </a:rPr>
                <a:t>个</a:t>
              </a:r>
              <a:r>
                <a:rPr lang="en-US" altLang="zh-CN" sz="2000" dirty="0">
                  <a:solidFill>
                    <a:srgbClr val="660066"/>
                  </a:solidFill>
                  <a:latin typeface="Consolas" pitchFamily="49" charset="0"/>
                  <a:cs typeface="Consolas" pitchFamily="49" charset="0"/>
                </a:rPr>
                <a:t>1</a:t>
              </a:r>
            </a:p>
          </p:txBody>
        </p:sp>
      </p:grpSp>
      <p:sp>
        <p:nvSpPr>
          <p:cNvPr id="10" name="TextBox 9"/>
          <p:cNvSpPr txBox="1"/>
          <p:nvPr/>
        </p:nvSpPr>
        <p:spPr>
          <a:xfrm>
            <a:off x="925459" y="5549340"/>
            <a:ext cx="6286544" cy="461665"/>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l"/>
            <a:r>
              <a:rPr lang="zh-CN" altLang="en-US" sz="2400" dirty="0">
                <a:solidFill>
                  <a:srgbClr val="0000FF"/>
                </a:solidFill>
                <a:latin typeface="楷体" panose="02010609060101010101" pitchFamily="49" charset="-122"/>
                <a:ea typeface="楷体" panose="02010609060101010101" pitchFamily="49" charset="-122"/>
                <a:cs typeface="Consolas" pitchFamily="49" charset="0"/>
              </a:rPr>
              <a:t>所以调用</a:t>
            </a:r>
            <a:r>
              <a:rPr lang="en-US" altLang="zh-CN" sz="2400" dirty="0">
                <a:solidFill>
                  <a:srgbClr val="0000FF"/>
                </a:solidFill>
                <a:latin typeface="楷体" panose="02010609060101010101" pitchFamily="49" charset="-122"/>
                <a:ea typeface="楷体" panose="02010609060101010101" pitchFamily="49" charset="-122"/>
                <a:cs typeface="Consolas" pitchFamily="49" charset="0"/>
              </a:rPr>
              <a:t>fun(</a:t>
            </a:r>
            <a:r>
              <a:rPr lang="en-US" altLang="zh-CN" sz="2400" i="1" dirty="0">
                <a:solidFill>
                  <a:srgbClr val="0000FF"/>
                </a:solidFill>
                <a:latin typeface="楷体" panose="02010609060101010101" pitchFamily="49" charset="-122"/>
                <a:ea typeface="楷体" panose="02010609060101010101" pitchFamily="49" charset="-122"/>
                <a:cs typeface="Consolas" pitchFamily="49" charset="0"/>
              </a:rPr>
              <a:t>a</a:t>
            </a:r>
            <a:r>
              <a:rPr lang="zh-CN" altLang="en-US" sz="2400" dirty="0">
                <a:solidFill>
                  <a:srgbClr val="0000FF"/>
                </a:solidFill>
                <a:latin typeface="楷体" panose="02010609060101010101" pitchFamily="49" charset="-122"/>
                <a:ea typeface="楷体" panose="02010609060101010101" pitchFamily="49" charset="-122"/>
                <a:cs typeface="Consolas" pitchFamily="49" charset="0"/>
              </a:rPr>
              <a:t>，</a:t>
            </a:r>
            <a:r>
              <a:rPr lang="en-US" altLang="zh-CN" sz="2400" i="1" dirty="0">
                <a:solidFill>
                  <a:srgbClr val="0000FF"/>
                </a:solidFill>
                <a:latin typeface="楷体" panose="02010609060101010101" pitchFamily="49" charset="-122"/>
                <a:ea typeface="楷体" panose="02010609060101010101" pitchFamily="49" charset="-122"/>
                <a:cs typeface="Consolas" pitchFamily="49" charset="0"/>
              </a:rPr>
              <a:t>n</a:t>
            </a:r>
            <a:r>
              <a:rPr lang="zh-CN" altLang="en-US" sz="2400" dirty="0">
                <a:solidFill>
                  <a:srgbClr val="0000FF"/>
                </a:solidFill>
                <a:latin typeface="楷体" panose="02010609060101010101" pitchFamily="49" charset="-122"/>
                <a:ea typeface="楷体" panose="02010609060101010101" pitchFamily="49" charset="-122"/>
                <a:cs typeface="Consolas" pitchFamily="49" charset="0"/>
              </a:rPr>
              <a:t>，</a:t>
            </a:r>
            <a:r>
              <a:rPr lang="en-US" altLang="zh-CN" sz="2400" dirty="0">
                <a:solidFill>
                  <a:srgbClr val="0000FF"/>
                </a:solidFill>
                <a:latin typeface="楷体" panose="02010609060101010101" pitchFamily="49" charset="-122"/>
                <a:ea typeface="楷体" panose="02010609060101010101" pitchFamily="49" charset="-122"/>
                <a:cs typeface="Consolas" pitchFamily="49" charset="0"/>
              </a:rPr>
              <a:t>0)</a:t>
            </a:r>
            <a:r>
              <a:rPr lang="zh-CN" altLang="en-US" sz="2400" dirty="0">
                <a:solidFill>
                  <a:srgbClr val="0000FF"/>
                </a:solidFill>
                <a:latin typeface="楷体" panose="02010609060101010101" pitchFamily="49" charset="-122"/>
                <a:ea typeface="楷体" panose="02010609060101010101" pitchFamily="49" charset="-122"/>
                <a:cs typeface="Consolas" pitchFamily="49" charset="0"/>
              </a:rPr>
              <a:t>的空间复杂度为</a:t>
            </a:r>
            <a:r>
              <a:rPr lang="en-US" altLang="zh-CN" sz="2400" b="1" dirty="0">
                <a:solidFill>
                  <a:srgbClr val="FF3300"/>
                </a:solidFill>
                <a:latin typeface="楷体" panose="02010609060101010101" pitchFamily="49" charset="-122"/>
                <a:ea typeface="楷体" panose="02010609060101010101" pitchFamily="49" charset="-122"/>
                <a:cs typeface="Consolas" pitchFamily="49" charset="0"/>
              </a:rPr>
              <a:t>O(</a:t>
            </a:r>
            <a:r>
              <a:rPr lang="en-US" altLang="zh-CN" sz="2400" b="1" i="1" dirty="0">
                <a:solidFill>
                  <a:srgbClr val="FF3300"/>
                </a:solidFill>
                <a:latin typeface="楷体" panose="02010609060101010101" pitchFamily="49" charset="-122"/>
                <a:ea typeface="楷体" panose="02010609060101010101" pitchFamily="49" charset="-122"/>
                <a:cs typeface="Consolas" pitchFamily="49" charset="0"/>
              </a:rPr>
              <a:t>n</a:t>
            </a:r>
            <a:r>
              <a:rPr lang="en-US" altLang="zh-CN" sz="2400" b="1" dirty="0">
                <a:solidFill>
                  <a:srgbClr val="FF3300"/>
                </a:solidFill>
                <a:latin typeface="楷体" panose="02010609060101010101" pitchFamily="49" charset="-122"/>
                <a:ea typeface="楷体" panose="02010609060101010101" pitchFamily="49" charset="-122"/>
                <a:cs typeface="Consolas" pitchFamily="49" charset="0"/>
              </a:rPr>
              <a:t>)</a:t>
            </a:r>
            <a:r>
              <a:rPr lang="zh-CN" altLang="en-US" sz="2400" dirty="0">
                <a:solidFill>
                  <a:srgbClr val="0000FF"/>
                </a:solidFill>
                <a:latin typeface="楷体" panose="02010609060101010101" pitchFamily="49" charset="-122"/>
                <a:ea typeface="楷体" panose="02010609060101010101" pitchFamily="49" charset="-122"/>
                <a:cs typeface="Consolas" pitchFamily="49" charset="0"/>
              </a:rPr>
              <a:t>。</a:t>
            </a:r>
            <a:endParaRPr lang="zh-CN" altLang="en-US" sz="2400" dirty="0">
              <a:latin typeface="楷体" panose="02010609060101010101" pitchFamily="49" charset="-122"/>
              <a:ea typeface="楷体" panose="02010609060101010101" pitchFamily="49" charset="-122"/>
              <a:cs typeface="Consolas" pitchFamily="49" charset="0"/>
            </a:endParaRPr>
          </a:p>
        </p:txBody>
      </p:sp>
      <p:grpSp>
        <p:nvGrpSpPr>
          <p:cNvPr id="3" name="组合 12"/>
          <p:cNvGrpSpPr/>
          <p:nvPr/>
        </p:nvGrpSpPr>
        <p:grpSpPr>
          <a:xfrm>
            <a:off x="947022" y="1657855"/>
            <a:ext cx="5695976" cy="1508442"/>
            <a:chOff x="857224" y="1177602"/>
            <a:chExt cx="5172085" cy="1508442"/>
          </a:xfrm>
        </p:grpSpPr>
        <p:sp>
          <p:nvSpPr>
            <p:cNvPr id="206854" name="Text Box 6"/>
            <p:cNvSpPr txBox="1">
              <a:spLocks noChangeArrowheads="1"/>
            </p:cNvSpPr>
            <p:nvPr/>
          </p:nvSpPr>
          <p:spPr bwMode="auto">
            <a:xfrm>
              <a:off x="1071538" y="1785926"/>
              <a:ext cx="4957771" cy="900118"/>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lIns="180000">
              <a:spAutoFit/>
            </a:bodyPr>
            <a:lstStyle/>
            <a:p>
              <a:pPr algn="l"/>
              <a:r>
                <a:rPr lang="en-US" altLang="zh-CN" sz="2000" i="1" dirty="0">
                  <a:solidFill>
                    <a:srgbClr val="0000FF"/>
                  </a:solidFill>
                  <a:latin typeface="Consolas" pitchFamily="49" charset="0"/>
                  <a:ea typeface="仿宋" pitchFamily="49" charset="-122"/>
                  <a:cs typeface="Consolas" pitchFamily="49" charset="0"/>
                </a:rPr>
                <a:t>S</a:t>
              </a:r>
              <a:r>
                <a:rPr lang="en-US" altLang="zh-CN" sz="2000" baseline="-25000" dirty="0">
                  <a:solidFill>
                    <a:srgbClr val="0000FF"/>
                  </a:solidFill>
                  <a:latin typeface="Consolas" pitchFamily="49" charset="0"/>
                  <a:ea typeface="仿宋" pitchFamily="49" charset="-122"/>
                  <a:cs typeface="Consolas" pitchFamily="49" charset="0"/>
                </a:rPr>
                <a:t>1</a:t>
              </a:r>
              <a:r>
                <a:rPr lang="en-US" altLang="zh-CN" sz="2000" dirty="0">
                  <a:solidFill>
                    <a:srgbClr val="0000FF"/>
                  </a:solidFill>
                  <a:latin typeface="Consolas" pitchFamily="49" charset="0"/>
                  <a:ea typeface="仿宋" pitchFamily="49" charset="-122"/>
                  <a:cs typeface="Consolas" pitchFamily="49" charset="0"/>
                </a:rPr>
                <a:t>(</a:t>
              </a:r>
              <a:r>
                <a:rPr lang="en-US" altLang="zh-CN" sz="2000" i="1" dirty="0" err="1">
                  <a:solidFill>
                    <a:srgbClr val="0000FF"/>
                  </a:solidFill>
                  <a:latin typeface="Consolas" pitchFamily="49" charset="0"/>
                  <a:ea typeface="仿宋" pitchFamily="49" charset="-122"/>
                  <a:cs typeface="Consolas" pitchFamily="49" charset="0"/>
                </a:rPr>
                <a:t>n</a:t>
              </a:r>
              <a:r>
                <a:rPr lang="en-US" altLang="zh-CN" sz="2000" dirty="0" err="1">
                  <a:solidFill>
                    <a:srgbClr val="0000FF"/>
                  </a:solidFill>
                  <a:latin typeface="Consolas" pitchFamily="49" charset="0"/>
                  <a:ea typeface="仿宋" pitchFamily="49" charset="-122"/>
                  <a:cs typeface="Consolas" pitchFamily="49" charset="0"/>
                </a:rPr>
                <a:t>,</a:t>
              </a:r>
              <a:r>
                <a:rPr lang="en-US" altLang="zh-CN" sz="2000" i="1" dirty="0" err="1">
                  <a:solidFill>
                    <a:srgbClr val="0000FF"/>
                  </a:solidFill>
                  <a:latin typeface="Consolas" pitchFamily="49" charset="0"/>
                  <a:ea typeface="仿宋" pitchFamily="49" charset="-122"/>
                  <a:cs typeface="Consolas" pitchFamily="49" charset="0"/>
                </a:rPr>
                <a:t>k</a:t>
              </a:r>
              <a:r>
                <a:rPr lang="en-US" altLang="zh-CN" sz="2000" dirty="0">
                  <a:solidFill>
                    <a:srgbClr val="0000FF"/>
                  </a:solidFill>
                  <a:latin typeface="Consolas" pitchFamily="49" charset="0"/>
                  <a:ea typeface="仿宋" pitchFamily="49" charset="-122"/>
                  <a:cs typeface="Consolas" pitchFamily="49" charset="0"/>
                </a:rPr>
                <a:t>) = 1		  </a:t>
              </a:r>
              <a:r>
                <a:rPr lang="zh-CN" altLang="en-US" sz="2000" dirty="0">
                  <a:solidFill>
                    <a:srgbClr val="00B0F0"/>
                  </a:solidFill>
                  <a:latin typeface="Consolas" pitchFamily="49" charset="0"/>
                  <a:ea typeface="仿宋" pitchFamily="49" charset="-122"/>
                  <a:cs typeface="Consolas" pitchFamily="49" charset="0"/>
                </a:rPr>
                <a:t>当</a:t>
              </a:r>
              <a:r>
                <a:rPr lang="en-US" altLang="zh-CN" sz="2000" i="1" dirty="0">
                  <a:solidFill>
                    <a:srgbClr val="00B0F0"/>
                  </a:solidFill>
                  <a:latin typeface="Consolas" pitchFamily="49" charset="0"/>
                  <a:ea typeface="仿宋" pitchFamily="49" charset="-122"/>
                  <a:cs typeface="Consolas" pitchFamily="49" charset="0"/>
                </a:rPr>
                <a:t>k</a:t>
              </a:r>
              <a:r>
                <a:rPr lang="en-US" altLang="zh-CN" sz="2000" dirty="0">
                  <a:solidFill>
                    <a:srgbClr val="00B0F0"/>
                  </a:solidFill>
                  <a:latin typeface="Consolas" pitchFamily="49" charset="0"/>
                  <a:ea typeface="仿宋" pitchFamily="49" charset="-122"/>
                  <a:cs typeface="Consolas" pitchFamily="49" charset="0"/>
                </a:rPr>
                <a:t>=</a:t>
              </a:r>
              <a:r>
                <a:rPr lang="en-US" altLang="zh-CN" sz="2000" i="1" dirty="0">
                  <a:solidFill>
                    <a:srgbClr val="00B0F0"/>
                  </a:solidFill>
                  <a:latin typeface="Consolas" pitchFamily="49" charset="0"/>
                  <a:ea typeface="仿宋" pitchFamily="49" charset="-122"/>
                  <a:cs typeface="Consolas" pitchFamily="49" charset="0"/>
                </a:rPr>
                <a:t>n</a:t>
              </a:r>
              <a:r>
                <a:rPr lang="en-US" altLang="zh-CN" sz="2000" dirty="0">
                  <a:solidFill>
                    <a:srgbClr val="00B0F0"/>
                  </a:solidFill>
                  <a:latin typeface="Consolas" pitchFamily="49" charset="0"/>
                  <a:ea typeface="仿宋" pitchFamily="49" charset="-122"/>
                  <a:cs typeface="Consolas" pitchFamily="49" charset="0"/>
                </a:rPr>
                <a:t>-1</a:t>
              </a:r>
              <a:r>
                <a:rPr lang="zh-CN" altLang="en-US" sz="2000" dirty="0">
                  <a:solidFill>
                    <a:srgbClr val="00B0F0"/>
                  </a:solidFill>
                  <a:latin typeface="Consolas" pitchFamily="49" charset="0"/>
                  <a:ea typeface="仿宋" pitchFamily="49" charset="-122"/>
                  <a:cs typeface="Consolas" pitchFamily="49" charset="0"/>
                </a:rPr>
                <a:t>时</a:t>
              </a:r>
            </a:p>
            <a:p>
              <a:pPr algn="l"/>
              <a:r>
                <a:rPr lang="en-US" altLang="zh-CN" sz="2000" i="1" dirty="0">
                  <a:solidFill>
                    <a:srgbClr val="0000FF"/>
                  </a:solidFill>
                  <a:latin typeface="Consolas" pitchFamily="49" charset="0"/>
                  <a:ea typeface="仿宋" pitchFamily="49" charset="-122"/>
                  <a:cs typeface="Consolas" pitchFamily="49" charset="0"/>
                </a:rPr>
                <a:t>S</a:t>
              </a:r>
              <a:r>
                <a:rPr lang="en-US" altLang="zh-CN" sz="2000" baseline="-25000" dirty="0">
                  <a:solidFill>
                    <a:srgbClr val="0000FF"/>
                  </a:solidFill>
                  <a:latin typeface="Consolas" pitchFamily="49" charset="0"/>
                  <a:ea typeface="仿宋" pitchFamily="49" charset="-122"/>
                  <a:cs typeface="Consolas" pitchFamily="49" charset="0"/>
                </a:rPr>
                <a:t>1</a:t>
              </a:r>
              <a:r>
                <a:rPr lang="en-US" altLang="zh-CN" sz="2000" dirty="0">
                  <a:solidFill>
                    <a:srgbClr val="0000FF"/>
                  </a:solidFill>
                  <a:latin typeface="Consolas" pitchFamily="49" charset="0"/>
                  <a:ea typeface="仿宋" pitchFamily="49" charset="-122"/>
                  <a:cs typeface="Consolas" pitchFamily="49" charset="0"/>
                </a:rPr>
                <a:t>(</a:t>
              </a:r>
              <a:r>
                <a:rPr lang="en-US" altLang="zh-CN" sz="2000" i="1" dirty="0" err="1">
                  <a:solidFill>
                    <a:srgbClr val="0000FF"/>
                  </a:solidFill>
                  <a:latin typeface="Consolas" pitchFamily="49" charset="0"/>
                  <a:ea typeface="仿宋" pitchFamily="49" charset="-122"/>
                  <a:cs typeface="Consolas" pitchFamily="49" charset="0"/>
                </a:rPr>
                <a:t>n</a:t>
              </a:r>
              <a:r>
                <a:rPr lang="en-US" altLang="zh-CN" sz="2000" dirty="0" err="1">
                  <a:solidFill>
                    <a:srgbClr val="0000FF"/>
                  </a:solidFill>
                  <a:latin typeface="Consolas" pitchFamily="49" charset="0"/>
                  <a:ea typeface="仿宋" pitchFamily="49" charset="-122"/>
                  <a:cs typeface="Consolas" pitchFamily="49" charset="0"/>
                </a:rPr>
                <a:t>,</a:t>
              </a:r>
              <a:r>
                <a:rPr lang="en-US" altLang="zh-CN" sz="2000" i="1" dirty="0" err="1">
                  <a:solidFill>
                    <a:srgbClr val="0000FF"/>
                  </a:solidFill>
                  <a:latin typeface="Consolas" pitchFamily="49" charset="0"/>
                  <a:ea typeface="仿宋" pitchFamily="49" charset="-122"/>
                  <a:cs typeface="Consolas" pitchFamily="49" charset="0"/>
                </a:rPr>
                <a:t>k</a:t>
              </a:r>
              <a:r>
                <a:rPr lang="en-US" altLang="zh-CN" sz="2000" dirty="0">
                  <a:solidFill>
                    <a:srgbClr val="0000FF"/>
                  </a:solidFill>
                  <a:latin typeface="Consolas" pitchFamily="49" charset="0"/>
                  <a:ea typeface="仿宋" pitchFamily="49" charset="-122"/>
                  <a:cs typeface="Consolas" pitchFamily="49" charset="0"/>
                </a:rPr>
                <a:t>) = 1+</a:t>
              </a:r>
              <a:r>
                <a:rPr lang="en-US" altLang="zh-CN" sz="2000" i="1" dirty="0">
                  <a:solidFill>
                    <a:srgbClr val="0000FF"/>
                  </a:solidFill>
                  <a:latin typeface="Consolas" pitchFamily="49" charset="0"/>
                  <a:ea typeface="仿宋" pitchFamily="49" charset="-122"/>
                  <a:cs typeface="Consolas" pitchFamily="49" charset="0"/>
                </a:rPr>
                <a:t>S</a:t>
              </a:r>
              <a:r>
                <a:rPr lang="en-US" altLang="zh-CN" sz="2000" baseline="-25000" dirty="0">
                  <a:solidFill>
                    <a:srgbClr val="0000FF"/>
                  </a:solidFill>
                  <a:latin typeface="Consolas" pitchFamily="49" charset="0"/>
                  <a:ea typeface="仿宋" pitchFamily="49" charset="-122"/>
                  <a:cs typeface="Consolas" pitchFamily="49" charset="0"/>
                </a:rPr>
                <a:t>1</a:t>
              </a:r>
              <a:r>
                <a:rPr lang="en-US" altLang="zh-CN" sz="2000" dirty="0">
                  <a:solidFill>
                    <a:srgbClr val="0000FF"/>
                  </a:solidFill>
                  <a:latin typeface="Consolas" pitchFamily="49" charset="0"/>
                  <a:ea typeface="仿宋" pitchFamily="49" charset="-122"/>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n</a:t>
              </a:r>
              <a:r>
                <a:rPr lang="en-US" altLang="zh-CN" sz="2000" dirty="0">
                  <a:solidFill>
                    <a:srgbClr val="0000FF"/>
                  </a:solidFill>
                  <a:latin typeface="Consolas" pitchFamily="49" charset="0"/>
                  <a:ea typeface="仿宋" pitchFamily="49" charset="-122"/>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k</a:t>
              </a:r>
              <a:r>
                <a:rPr lang="en-US" altLang="zh-CN" sz="2000" dirty="0">
                  <a:solidFill>
                    <a:srgbClr val="0000FF"/>
                  </a:solidFill>
                  <a:latin typeface="Consolas" pitchFamily="49" charset="0"/>
                  <a:ea typeface="仿宋" pitchFamily="49" charset="-122"/>
                  <a:cs typeface="Consolas" pitchFamily="49" charset="0"/>
                </a:rPr>
                <a:t>+1)  </a:t>
              </a:r>
              <a:r>
                <a:rPr lang="zh-CN" altLang="en-US" sz="2000" dirty="0">
                  <a:solidFill>
                    <a:srgbClr val="00B0F0"/>
                  </a:solidFill>
                  <a:latin typeface="Consolas" pitchFamily="49" charset="0"/>
                  <a:ea typeface="仿宋" pitchFamily="49" charset="-122"/>
                  <a:cs typeface="Consolas" pitchFamily="49" charset="0"/>
                </a:rPr>
                <a:t>其他情况</a:t>
              </a:r>
            </a:p>
          </p:txBody>
        </p:sp>
        <p:sp>
          <p:nvSpPr>
            <p:cNvPr id="12" name="TextBox 11"/>
            <p:cNvSpPr txBox="1"/>
            <p:nvPr/>
          </p:nvSpPr>
          <p:spPr>
            <a:xfrm>
              <a:off x="857224" y="1177602"/>
              <a:ext cx="3500462" cy="407676"/>
            </a:xfrm>
            <a:prstGeom prst="rect">
              <a:avLst/>
            </a:prstGeom>
            <a:noFill/>
          </p:spPr>
          <p:txBody>
            <a:bodyPr wrap="square" rtlCol="0">
              <a:spAutoFit/>
            </a:bodyPr>
            <a:lstStyle/>
            <a:p>
              <a:pPr algn="l"/>
              <a:r>
                <a:rPr lang="zh-CN" altLang="en-US" sz="2000" dirty="0">
                  <a:solidFill>
                    <a:srgbClr val="0000FF"/>
                  </a:solidFill>
                  <a:latin typeface="Consolas" pitchFamily="49" charset="0"/>
                  <a:ea typeface="楷体" pitchFamily="49" charset="-122"/>
                  <a:cs typeface="Consolas" pitchFamily="49" charset="0"/>
                </a:rPr>
                <a:t>由</a:t>
              </a:r>
              <a:r>
                <a:rPr lang="en-US" altLang="zh-CN" sz="2000" dirty="0">
                  <a:solidFill>
                    <a:srgbClr val="0000FF"/>
                  </a:solidFill>
                  <a:latin typeface="Consolas" pitchFamily="49" charset="0"/>
                  <a:ea typeface="楷体" pitchFamily="49" charset="-122"/>
                  <a:cs typeface="Consolas" pitchFamily="49" charset="0"/>
                </a:rPr>
                <a:t>fun()</a:t>
              </a:r>
              <a:r>
                <a:rPr lang="zh-CN" altLang="en-US" sz="2000" dirty="0">
                  <a:solidFill>
                    <a:srgbClr val="0000FF"/>
                  </a:solidFill>
                  <a:latin typeface="Consolas" pitchFamily="49" charset="0"/>
                  <a:ea typeface="楷体" pitchFamily="49" charset="-122"/>
                  <a:cs typeface="Consolas" pitchFamily="49" charset="0"/>
                </a:rPr>
                <a:t>递归算法可知：</a:t>
              </a:r>
              <a:endParaRPr lang="zh-CN" altLang="en-US" sz="2000" dirty="0">
                <a:latin typeface="Consolas" pitchFamily="49" charset="0"/>
                <a:cs typeface="Consolas"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68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6" grpId="0"/>
      <p:bldP spid="10"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1.8 C++</a:t>
            </a:r>
            <a:r>
              <a:rPr lang="zh-CN" altLang="zh-CN" b="1" dirty="0"/>
              <a:t>语言基础</a:t>
            </a:r>
            <a:endParaRPr lang="zh-CN" altLang="en-US" dirty="0"/>
          </a:p>
        </p:txBody>
      </p:sp>
      <p:sp>
        <p:nvSpPr>
          <p:cNvPr id="3" name="内容占位符 2"/>
          <p:cNvSpPr>
            <a:spLocks noGrp="1"/>
          </p:cNvSpPr>
          <p:nvPr>
            <p:ph idx="1"/>
          </p:nvPr>
        </p:nvSpPr>
        <p:spPr>
          <a:xfrm>
            <a:off x="827584" y="1628800"/>
            <a:ext cx="7520940" cy="4392488"/>
          </a:xfrm>
        </p:spPr>
        <p:txBody>
          <a:bodyPr/>
          <a:lstStyle/>
          <a:p>
            <a:r>
              <a:rPr lang="en-US" altLang="zh-CN" dirty="0"/>
              <a:t>1.8.1 </a:t>
            </a:r>
            <a:r>
              <a:rPr lang="zh-CN" altLang="zh-CN" dirty="0"/>
              <a:t>面向对象的概念</a:t>
            </a:r>
          </a:p>
          <a:p>
            <a:r>
              <a:rPr lang="en-US" altLang="zh-CN" dirty="0"/>
              <a:t>1.8.2  </a:t>
            </a:r>
            <a:r>
              <a:rPr lang="zh-CN" altLang="zh-CN" dirty="0"/>
              <a:t>数据声明和作用域</a:t>
            </a:r>
          </a:p>
          <a:p>
            <a:r>
              <a:rPr lang="en-US" altLang="zh-CN" dirty="0"/>
              <a:t>1.8.3 </a:t>
            </a:r>
            <a:r>
              <a:rPr lang="zh-CN" altLang="zh-CN" dirty="0"/>
              <a:t>输入／输出</a:t>
            </a:r>
          </a:p>
          <a:p>
            <a:r>
              <a:rPr lang="en-US" altLang="zh-CN" dirty="0"/>
              <a:t>1.8.4 </a:t>
            </a:r>
            <a:r>
              <a:rPr lang="zh-CN" altLang="zh-CN" dirty="0"/>
              <a:t>函数</a:t>
            </a:r>
          </a:p>
          <a:p>
            <a:r>
              <a:rPr lang="en-US" altLang="zh-CN" dirty="0"/>
              <a:t>1.8.5 </a:t>
            </a:r>
            <a:r>
              <a:rPr lang="zh-CN" altLang="zh-CN" dirty="0"/>
              <a:t>参数传递</a:t>
            </a:r>
          </a:p>
          <a:p>
            <a:r>
              <a:rPr lang="en-US" altLang="zh-CN" dirty="0"/>
              <a:t>1.8.6 </a:t>
            </a:r>
            <a:r>
              <a:rPr lang="zh-CN" altLang="zh-CN" dirty="0"/>
              <a:t>函数重载</a:t>
            </a:r>
          </a:p>
          <a:p>
            <a:r>
              <a:rPr lang="en-US" altLang="zh-CN" dirty="0"/>
              <a:t>1.8.7 </a:t>
            </a:r>
            <a:r>
              <a:rPr lang="zh-CN" altLang="zh-CN" dirty="0"/>
              <a:t>动态内存分配</a:t>
            </a:r>
          </a:p>
          <a:p>
            <a:r>
              <a:rPr lang="en-US" altLang="zh-CN" dirty="0"/>
              <a:t>1.8.8  C++</a:t>
            </a:r>
            <a:r>
              <a:rPr lang="zh-CN" altLang="zh-CN" dirty="0"/>
              <a:t>的模板</a:t>
            </a:r>
            <a:r>
              <a:rPr lang="en-US" altLang="zh-CN" dirty="0"/>
              <a:t>(template)</a:t>
            </a:r>
            <a:endParaRPr lang="zh-CN" altLang="zh-CN" dirty="0"/>
          </a:p>
          <a:p>
            <a:endParaRPr lang="zh-CN" altLang="en-US" dirty="0"/>
          </a:p>
        </p:txBody>
      </p:sp>
    </p:spTree>
    <p:extLst>
      <p:ext uri="{BB962C8B-B14F-4D97-AF65-F5344CB8AC3E}">
        <p14:creationId xmlns:p14="http://schemas.microsoft.com/office/powerpoint/2010/main" val="320657610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2884</TotalTime>
  <Words>10672</Words>
  <Application>Microsoft Office PowerPoint</Application>
  <PresentationFormat>全屏显示(4:3)</PresentationFormat>
  <Paragraphs>1378</Paragraphs>
  <Slides>117</Slides>
  <Notes>4</Notes>
  <HiddenSlides>0</HiddenSlides>
  <MMClips>0</MMClips>
  <ScaleCrop>false</ScaleCrop>
  <HeadingPairs>
    <vt:vector size="8" baseType="variant">
      <vt:variant>
        <vt:lpstr>已用的字体</vt:lpstr>
      </vt:variant>
      <vt:variant>
        <vt:i4>22</vt:i4>
      </vt:variant>
      <vt:variant>
        <vt:lpstr>主题</vt:lpstr>
      </vt:variant>
      <vt:variant>
        <vt:i4>3</vt:i4>
      </vt:variant>
      <vt:variant>
        <vt:lpstr>嵌入 OLE 服务器</vt:lpstr>
      </vt:variant>
      <vt:variant>
        <vt:i4>1</vt:i4>
      </vt:variant>
      <vt:variant>
        <vt:lpstr>幻灯片标题</vt:lpstr>
      </vt:variant>
      <vt:variant>
        <vt:i4>117</vt:i4>
      </vt:variant>
    </vt:vector>
  </HeadingPairs>
  <TitlesOfParts>
    <vt:vector size="143" baseType="lpstr">
      <vt:lpstr>TimesNewRoman</vt:lpstr>
      <vt:lpstr>方正兰亭超细黑简体</vt:lpstr>
      <vt:lpstr>方正启体简体</vt:lpstr>
      <vt:lpstr>方正舒体</vt:lpstr>
      <vt:lpstr>方正硬笔楷书简体</vt:lpstr>
      <vt:lpstr>仿宋</vt:lpstr>
      <vt:lpstr>黑体</vt:lpstr>
      <vt:lpstr>华文行楷</vt:lpstr>
      <vt:lpstr>华文中宋</vt:lpstr>
      <vt:lpstr>楷体</vt:lpstr>
      <vt:lpstr>宋体</vt:lpstr>
      <vt:lpstr>微软雅黑</vt:lpstr>
      <vt:lpstr>Arial</vt:lpstr>
      <vt:lpstr>Calibri</vt:lpstr>
      <vt:lpstr>Calibri Light</vt:lpstr>
      <vt:lpstr>Cambria Math</vt:lpstr>
      <vt:lpstr>Consolas</vt:lpstr>
      <vt:lpstr>Ebrima</vt:lpstr>
      <vt:lpstr>Franklin Gothic Book</vt:lpstr>
      <vt:lpstr>Franklin Gothic Medium</vt:lpstr>
      <vt:lpstr>Times New Roman</vt:lpstr>
      <vt:lpstr>Wingdings</vt:lpstr>
      <vt:lpstr>角度</vt:lpstr>
      <vt:lpstr>自定义设计方案</vt:lpstr>
      <vt:lpstr>1_角度</vt:lpstr>
      <vt:lpstr>Microsoft Visio 2003-2010 绘图</vt:lpstr>
      <vt:lpstr>第1章 基础知识</vt:lpstr>
      <vt:lpstr>什么是数据结构？</vt:lpstr>
      <vt:lpstr>PowerPoint 演示文稿</vt:lpstr>
      <vt:lpstr>PowerPoint 演示文稿</vt:lpstr>
      <vt:lpstr>PowerPoint 演示文稿</vt:lpstr>
      <vt:lpstr>PowerPoint 演示文稿</vt:lpstr>
      <vt:lpstr>PowerPoint 演示文稿</vt:lpstr>
      <vt:lpstr>PowerPoint 演示文稿</vt:lpstr>
      <vt:lpstr>1.1 数据结构的相关基本概念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数据逻辑结构</vt:lpstr>
      <vt:lpstr>逻辑结构类型</vt:lpstr>
      <vt:lpstr>PowerPoint 演示文稿</vt:lpstr>
      <vt:lpstr>PowerPoint 演示文稿</vt:lpstr>
      <vt:lpstr>PowerPoint 演示文稿</vt:lpstr>
      <vt:lpstr>PowerPoint 演示文稿</vt:lpstr>
      <vt:lpstr>PowerPoint 演示文稿</vt:lpstr>
      <vt:lpstr>数据的逻辑结构强调的是数据元素之间的逻辑关系，反映了数据的特性。</vt:lpstr>
      <vt:lpstr>PowerPoint 演示文稿</vt:lpstr>
      <vt:lpstr>PowerPoint 演示文稿</vt:lpstr>
      <vt:lpstr>数据存储结构</vt:lpstr>
      <vt:lpstr>数据在计算机中的存放有四种基本的存储方法: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数据操作（或运算）</vt:lpstr>
      <vt:lpstr>PowerPoint 演示文稿</vt:lpstr>
      <vt:lpstr>PowerPoint 演示文稿</vt:lpstr>
      <vt:lpstr>PowerPoint 演示文稿</vt:lpstr>
      <vt:lpstr>PowerPoint 演示文稿</vt:lpstr>
      <vt:lpstr>1.2 抽象数据类型</vt:lpstr>
      <vt:lpstr>PowerPoint 演示文稿</vt:lpstr>
      <vt:lpstr>PowerPoint 演示文稿</vt:lpstr>
      <vt:lpstr>C/C++语言中常用的数据类型</vt:lpstr>
      <vt:lpstr>C/C++语言中常用的数据类型</vt:lpstr>
      <vt:lpstr>1.2 抽象数据类型</vt:lpstr>
      <vt:lpstr>1.2 抽象数据类型</vt:lpstr>
      <vt:lpstr>PowerPoint 演示文稿</vt:lpstr>
      <vt:lpstr>PowerPoint 演示文稿</vt:lpstr>
      <vt:lpstr>PowerPoint 演示文稿</vt:lpstr>
      <vt:lpstr>PowerPoint 演示文稿</vt:lpstr>
      <vt:lpstr>1.3 问题、算法和程序</vt:lpstr>
      <vt:lpstr>1.3 问题、算法和程序</vt:lpstr>
      <vt:lpstr>算法的特性：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最大问题规模?</vt:lpstr>
      <vt:lpstr>1.4 算法分析概述</vt:lpstr>
      <vt:lpstr>PowerPoint 演示文稿</vt:lpstr>
      <vt:lpstr>PowerPoint 演示文稿</vt:lpstr>
      <vt:lpstr>PowerPoint 演示文稿</vt:lpstr>
      <vt:lpstr>PowerPoint 演示文稿</vt:lpstr>
      <vt:lpstr>1.5 时间复杂度</vt:lpstr>
      <vt:lpstr>PowerPoint 演示文稿</vt:lpstr>
      <vt:lpstr>PowerPoint 演示文稿</vt:lpstr>
      <vt:lpstr>PowerPoint 演示文稿</vt:lpstr>
      <vt:lpstr>PowerPoint 演示文稿</vt:lpstr>
      <vt:lpstr>【例1-3】统计a[0..n-1]的元素和，该算法用简单分析方法描述如下所示。</vt:lpstr>
      <vt:lpstr>【例1-4】递归算法统计a[0..n-1]的元素和，该算法用简单分析方法描述如下所示。</vt:lpstr>
      <vt:lpstr>1.6 渐近分析</vt:lpstr>
      <vt:lpstr>PowerPoint 演示文稿</vt:lpstr>
      <vt:lpstr>PowerPoint 演示文稿</vt:lpstr>
      <vt:lpstr>【例1-5】（线性函数）考察T(n) = 3n+ 2，T(n)是一个线性变化的函数。</vt:lpstr>
      <vt:lpstr>PowerPoint 演示文稿</vt:lpstr>
      <vt:lpstr>PowerPoint 演示文稿</vt:lpstr>
      <vt:lpstr>PowerPoint 演示文稿</vt:lpstr>
      <vt:lpstr>1.6.2 下限表示法（大Ω表示法）</vt:lpstr>
      <vt:lpstr>PowerPoint 演示文稿</vt:lpstr>
      <vt:lpstr>PowerPoint 演示文稿</vt:lpstr>
      <vt:lpstr>1.6.3 Θ表示法</vt:lpstr>
      <vt:lpstr>1.6.4 化简法则</vt:lpstr>
      <vt:lpstr>PowerPoint 演示文稿</vt:lpstr>
      <vt:lpstr>PowerPoint 演示文稿</vt:lpstr>
      <vt:lpstr>【例1-11】 分析下面三个程序片段的运行时间</vt:lpstr>
      <vt:lpstr>【例1-12】 比较下面几段程序的算法复杂度分析</vt:lpstr>
      <vt:lpstr>【例1-13】计算交换两个数据元素的算法的时间复杂度</vt:lpstr>
      <vt:lpstr>【例1-14】两个N*N矩阵相乘的算法的时间复杂度</vt:lpstr>
      <vt:lpstr>【例1-15】有如下递归算法，分析调用f(a，n，0)的时间复杂度。 </vt:lpstr>
      <vt:lpstr>PowerPoint 演示文稿</vt:lpstr>
      <vt:lpstr>PowerPoint 演示文稿</vt:lpstr>
      <vt:lpstr>PowerPoint 演示文稿</vt:lpstr>
      <vt:lpstr>1.7 空间复杂度</vt:lpstr>
      <vt:lpstr>PowerPoint 演示文稿</vt:lpstr>
      <vt:lpstr>算法所需要的空间主要由两部分构成</vt:lpstr>
      <vt:lpstr>任意程序P所用的空间复杂度S(P)可表示为：          S(P)= C + Sp( L) </vt:lpstr>
      <vt:lpstr>PowerPoint 演示文稿</vt:lpstr>
      <vt:lpstr>PowerPoint 演示文稿</vt:lpstr>
      <vt:lpstr>【例1-16】  计算下列程序的空间复杂度</vt:lpstr>
      <vt:lpstr>【例1-17】分析阶乘的递归函数的空间复杂度</vt:lpstr>
      <vt:lpstr>【例1-18】分析顺序查找的空间复杂度</vt:lpstr>
      <vt:lpstr>PowerPoint 演示文稿</vt:lpstr>
      <vt:lpstr>PowerPoint 演示文稿</vt:lpstr>
      <vt:lpstr>PowerPoint 演示文稿</vt:lpstr>
      <vt:lpstr>PowerPoint 演示文稿</vt:lpstr>
      <vt:lpstr>1.8 C++语言基础</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数据结构与  算法设计</dc:title>
  <dc:creator>Admin</dc:creator>
  <cp:lastModifiedBy>xy yang</cp:lastModifiedBy>
  <cp:revision>345</cp:revision>
  <dcterms:created xsi:type="dcterms:W3CDTF">2016-02-05T04:04:20Z</dcterms:created>
  <dcterms:modified xsi:type="dcterms:W3CDTF">2025-09-11T01:56:59Z</dcterms:modified>
</cp:coreProperties>
</file>