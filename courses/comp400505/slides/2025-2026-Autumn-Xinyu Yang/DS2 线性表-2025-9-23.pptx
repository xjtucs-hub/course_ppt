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notesMasterIdLst>
    <p:notesMasterId r:id="rId99"/>
  </p:notesMasterIdLst>
  <p:sldIdLst>
    <p:sldId id="256" r:id="rId2"/>
    <p:sldId id="335" r:id="rId3"/>
    <p:sldId id="257" r:id="rId4"/>
    <p:sldId id="258" r:id="rId5"/>
    <p:sldId id="259" r:id="rId6"/>
    <p:sldId id="333" r:id="rId7"/>
    <p:sldId id="334" r:id="rId8"/>
    <p:sldId id="260" r:id="rId9"/>
    <p:sldId id="261" r:id="rId10"/>
    <p:sldId id="262" r:id="rId11"/>
    <p:sldId id="263" r:id="rId12"/>
    <p:sldId id="264" r:id="rId13"/>
    <p:sldId id="337" r:id="rId14"/>
    <p:sldId id="350" r:id="rId15"/>
    <p:sldId id="265" r:id="rId16"/>
    <p:sldId id="266" r:id="rId17"/>
    <p:sldId id="267" r:id="rId18"/>
    <p:sldId id="351" r:id="rId19"/>
    <p:sldId id="268" r:id="rId20"/>
    <p:sldId id="353" r:id="rId21"/>
    <p:sldId id="269" r:id="rId22"/>
    <p:sldId id="270" r:id="rId23"/>
    <p:sldId id="271" r:id="rId24"/>
    <p:sldId id="354" r:id="rId25"/>
    <p:sldId id="272" r:id="rId26"/>
    <p:sldId id="273" r:id="rId27"/>
    <p:sldId id="274" r:id="rId28"/>
    <p:sldId id="332" r:id="rId29"/>
    <p:sldId id="341" r:id="rId30"/>
    <p:sldId id="342" r:id="rId31"/>
    <p:sldId id="343" r:id="rId32"/>
    <p:sldId id="345" r:id="rId33"/>
    <p:sldId id="344" r:id="rId34"/>
    <p:sldId id="346" r:id="rId35"/>
    <p:sldId id="347" r:id="rId36"/>
    <p:sldId id="275" r:id="rId37"/>
    <p:sldId id="276" r:id="rId38"/>
    <p:sldId id="277" r:id="rId39"/>
    <p:sldId id="278" r:id="rId40"/>
    <p:sldId id="339" r:id="rId41"/>
    <p:sldId id="279" r:id="rId42"/>
    <p:sldId id="338" r:id="rId43"/>
    <p:sldId id="280" r:id="rId44"/>
    <p:sldId id="281" r:id="rId45"/>
    <p:sldId id="355" r:id="rId46"/>
    <p:sldId id="356" r:id="rId47"/>
    <p:sldId id="282" r:id="rId48"/>
    <p:sldId id="283" r:id="rId49"/>
    <p:sldId id="357" r:id="rId50"/>
    <p:sldId id="284" r:id="rId51"/>
    <p:sldId id="285" r:id="rId52"/>
    <p:sldId id="286" r:id="rId53"/>
    <p:sldId id="358" r:id="rId54"/>
    <p:sldId id="322" r:id="rId55"/>
    <p:sldId id="288" r:id="rId56"/>
    <p:sldId id="359" r:id="rId57"/>
    <p:sldId id="289" r:id="rId58"/>
    <p:sldId id="290" r:id="rId59"/>
    <p:sldId id="291" r:id="rId60"/>
    <p:sldId id="348" r:id="rId61"/>
    <p:sldId id="349" r:id="rId62"/>
    <p:sldId id="292" r:id="rId63"/>
    <p:sldId id="293" r:id="rId64"/>
    <p:sldId id="294" r:id="rId65"/>
    <p:sldId id="329" r:id="rId66"/>
    <p:sldId id="330" r:id="rId67"/>
    <p:sldId id="331" r:id="rId68"/>
    <p:sldId id="295" r:id="rId69"/>
    <p:sldId id="296" r:id="rId70"/>
    <p:sldId id="297" r:id="rId71"/>
    <p:sldId id="298" r:id="rId72"/>
    <p:sldId id="340" r:id="rId73"/>
    <p:sldId id="326" r:id="rId74"/>
    <p:sldId id="299" r:id="rId75"/>
    <p:sldId id="323" r:id="rId76"/>
    <p:sldId id="301" r:id="rId77"/>
    <p:sldId id="324" r:id="rId78"/>
    <p:sldId id="325" r:id="rId79"/>
    <p:sldId id="304" r:id="rId80"/>
    <p:sldId id="305" r:id="rId81"/>
    <p:sldId id="306" r:id="rId82"/>
    <p:sldId id="307" r:id="rId83"/>
    <p:sldId id="308" r:id="rId84"/>
    <p:sldId id="309" r:id="rId85"/>
    <p:sldId id="328" r:id="rId86"/>
    <p:sldId id="310" r:id="rId87"/>
    <p:sldId id="311" r:id="rId88"/>
    <p:sldId id="312" r:id="rId89"/>
    <p:sldId id="313" r:id="rId90"/>
    <p:sldId id="314" r:id="rId91"/>
    <p:sldId id="315" r:id="rId92"/>
    <p:sldId id="316" r:id="rId93"/>
    <p:sldId id="317" r:id="rId94"/>
    <p:sldId id="318" r:id="rId95"/>
    <p:sldId id="319" r:id="rId96"/>
    <p:sldId id="320" r:id="rId97"/>
    <p:sldId id="321" r:id="rId98"/>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35" d="100"/>
          <a:sy n="135" d="100"/>
        </p:scale>
        <p:origin x="918" y="48"/>
      </p:cViewPr>
      <p:guideLst>
        <p:guide orient="horz" pos="216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notesMaster" Target="notesMasters/notesMaster1.xml"/><Relationship Id="rId10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image" Target="../media/image18.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9.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image" Target="../media/image3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4.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5.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785A02B-D9D6-4BC7-BD1A-0C439226DE41}" type="datetimeFigureOut">
              <a:rPr lang="zh-CN" altLang="en-US" smtClean="0"/>
              <a:pPr/>
              <a:t>2025/9/23 Tuesday</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58D460B-FCBF-4F68-A559-8E415D1DDEDB}" type="slidenum">
              <a:rPr lang="zh-CN" altLang="en-US" smtClean="0"/>
              <a:pPr/>
              <a:t>‹#›</a:t>
            </a:fld>
            <a:endParaRPr lang="zh-CN" altLang="en-US"/>
          </a:p>
        </p:txBody>
      </p:sp>
    </p:spTree>
    <p:extLst>
      <p:ext uri="{BB962C8B-B14F-4D97-AF65-F5344CB8AC3E}">
        <p14:creationId xmlns:p14="http://schemas.microsoft.com/office/powerpoint/2010/main" val="13890210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58D460B-FCBF-4F68-A559-8E415D1DDEDB}" type="slidenum">
              <a:rPr lang="zh-CN" altLang="en-US" smtClean="0"/>
              <a:pPr/>
              <a:t>4</a:t>
            </a:fld>
            <a:endParaRPr lang="zh-CN" altLang="en-US"/>
          </a:p>
        </p:txBody>
      </p:sp>
    </p:spTree>
    <p:extLst>
      <p:ext uri="{BB962C8B-B14F-4D97-AF65-F5344CB8AC3E}">
        <p14:creationId xmlns:p14="http://schemas.microsoft.com/office/powerpoint/2010/main" val="27265872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ight Triangle 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817112" y="1730403"/>
            <a:ext cx="5648623" cy="1204306"/>
          </a:xfrm>
        </p:spPr>
        <p:txBody>
          <a:bodyPr bIns="9144" anchor="b"/>
          <a:lstStyle>
            <a:lvl1pPr>
              <a:defRPr sz="3200"/>
            </a:lvl1pPr>
          </a:lstStyle>
          <a:p>
            <a:r>
              <a:rPr lang="zh-CN" altLang="en-US" dirty="0"/>
              <a:t>单击此处编辑母版标题样式</a:t>
            </a:r>
            <a:endParaRPr lang="en-US" dirty="0"/>
          </a:p>
        </p:txBody>
      </p:sp>
      <p:sp>
        <p:nvSpPr>
          <p:cNvPr id="3" name="Subtitle 2"/>
          <p:cNvSpPr>
            <a:spLocks noGrp="1"/>
          </p:cNvSpPr>
          <p:nvPr>
            <p:ph type="subTitle" idx="1"/>
          </p:nvPr>
        </p:nvSpPr>
        <p:spPr>
          <a:xfrm>
            <a:off x="2632869" y="5517232"/>
            <a:ext cx="6511131" cy="329259"/>
          </a:xfrm>
        </p:spPr>
        <p:txBody>
          <a:bodyPr tIns="9144">
            <a:normAutofit/>
          </a:bodyPr>
          <a:lstStyle>
            <a:lvl1pPr marL="0" indent="0" algn="l">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p>
            <a:fld id="{533A1457-98D7-4272-8DD2-70F43D82E7CE}" type="datetime1">
              <a:rPr lang="zh-CN" altLang="en-US" smtClean="0"/>
              <a:pPr/>
              <a:t>2025/9/23 Tuesday</a:t>
            </a:fld>
            <a:endParaRPr lang="zh-CN" altLang="en-US" dirty="0"/>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normAutofit/>
          </a:bodyPr>
          <a:lstStyle>
            <a:lvl1pPr>
              <a:defRPr sz="1000"/>
            </a:lvl1pPr>
          </a:lstStyle>
          <a:p>
            <a:fld id="{0C913308-F349-4B6D-A68A-DD1791B4A57B}" type="slidenum">
              <a:rPr lang="zh-CN" altLang="en-US" smtClean="0"/>
              <a:pPr/>
              <a:t>‹#›</a:t>
            </a:fld>
            <a:r>
              <a:rPr lang="en-US" altLang="zh-CN" dirty="0"/>
              <a:t>/71</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27584" y="895707"/>
            <a:ext cx="7520940" cy="548640"/>
          </a:xfrm>
        </p:spPr>
        <p:txBody>
          <a:bodyPr/>
          <a:lstStyle>
            <a:lvl1pPr>
              <a:defRPr>
                <a:latin typeface="黑体" panose="02010609060101010101" pitchFamily="49" charset="-122"/>
                <a:ea typeface="黑体" panose="02010609060101010101" pitchFamily="49"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827584" y="1628800"/>
            <a:ext cx="7520940" cy="3579849"/>
          </a:xfrm>
        </p:spPr>
        <p:txBody>
          <a:bodyPr>
            <a:normAutofit/>
          </a:bodyPr>
          <a:lstStyle>
            <a:lvl1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1pPr>
            <a:lvl2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2pPr>
            <a:lvl3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3pPr>
            <a:lvl4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4pPr>
            <a:lvl5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7504" y="116632"/>
            <a:ext cx="798104" cy="7991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矩形 7"/>
          <p:cNvSpPr/>
          <p:nvPr userDrawn="1"/>
        </p:nvSpPr>
        <p:spPr>
          <a:xfrm>
            <a:off x="933802" y="146299"/>
            <a:ext cx="4267944" cy="461665"/>
          </a:xfrm>
          <a:prstGeom prst="rect">
            <a:avLst/>
          </a:prstGeom>
        </p:spPr>
        <p:txBody>
          <a:bodyPr wrap="square">
            <a:spAutoFit/>
          </a:bodyPr>
          <a:lstStyle/>
          <a:p>
            <a:r>
              <a:rPr lang="zh-CN" altLang="en-US" sz="2400" cap="all" dirty="0">
                <a:solidFill>
                  <a:srgbClr val="000000"/>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cs typeface="+mj-cs"/>
              </a:rPr>
              <a:t>数据结构与算法</a:t>
            </a:r>
            <a:endParaRPr lang="zh-CN" altLang="en-US" sz="2400" dirty="0">
              <a:latin typeface="方正舒体" panose="02010601030101010101" pitchFamily="2" charset="-122"/>
              <a:ea typeface="方正舒体" panose="02010601030101010101" pitchFamily="2" charset="-122"/>
            </a:endParaRPr>
          </a:p>
        </p:txBody>
      </p:sp>
      <p:sp>
        <p:nvSpPr>
          <p:cNvPr id="10" name="TextBox 9"/>
          <p:cNvSpPr txBox="1"/>
          <p:nvPr userDrawn="1"/>
        </p:nvSpPr>
        <p:spPr>
          <a:xfrm>
            <a:off x="3779912" y="6453336"/>
            <a:ext cx="4104456" cy="369332"/>
          </a:xfrm>
          <a:prstGeom prst="rect">
            <a:avLst/>
          </a:prstGeom>
          <a:noFill/>
        </p:spPr>
        <p:txBody>
          <a:bodyPr wrap="square" rtlCol="0">
            <a:spAutoFit/>
          </a:bodyPr>
          <a:lstStyle/>
          <a:p>
            <a:r>
              <a:rPr lang="zh-CN" altLang="en-US" dirty="0">
                <a:solidFill>
                  <a:schemeClr val="bg1"/>
                </a:solidFill>
              </a:rPr>
              <a:t>西安交通大学计算机科学与技术学院</a:t>
            </a:r>
          </a:p>
        </p:txBody>
      </p:sp>
      <p:sp>
        <p:nvSpPr>
          <p:cNvPr id="11" name="TextBox 10"/>
          <p:cNvSpPr txBox="1"/>
          <p:nvPr userDrawn="1"/>
        </p:nvSpPr>
        <p:spPr>
          <a:xfrm>
            <a:off x="8244408" y="6441217"/>
            <a:ext cx="792088" cy="307777"/>
          </a:xfrm>
          <a:prstGeom prst="rect">
            <a:avLst/>
          </a:prstGeom>
          <a:noFill/>
        </p:spPr>
        <p:txBody>
          <a:bodyPr wrap="square" rtlCol="0">
            <a:spAutoFit/>
          </a:bodyPr>
          <a:lstStyle/>
          <a:p>
            <a:fld id="{D6FB1EF2-4E04-428D-9A98-735957314976}" type="slidenum">
              <a:rPr lang="zh-CN" altLang="en-US" sz="1400" smtClean="0">
                <a:solidFill>
                  <a:schemeClr val="bg1"/>
                </a:solidFill>
              </a:rPr>
              <a:pPr/>
              <a:t>‹#›</a:t>
            </a:fld>
            <a:r>
              <a:rPr lang="en-US" altLang="zh-CN" sz="1400" dirty="0">
                <a:solidFill>
                  <a:schemeClr val="bg1"/>
                </a:solidFill>
              </a:rPr>
              <a:t>/97</a:t>
            </a:r>
            <a:endParaRPr lang="zh-CN" altLang="en-US" sz="1400" dirty="0">
              <a:solidFill>
                <a:schemeClr val="bg1"/>
              </a:solidFill>
            </a:endParaRPr>
          </a:p>
        </p:txBody>
      </p:sp>
      <p:sp>
        <p:nvSpPr>
          <p:cNvPr id="12" name="TextBox 11"/>
          <p:cNvSpPr txBox="1"/>
          <p:nvPr userDrawn="1"/>
        </p:nvSpPr>
        <p:spPr>
          <a:xfrm>
            <a:off x="177718" y="6271939"/>
            <a:ext cx="1512168" cy="646331"/>
          </a:xfrm>
          <a:prstGeom prst="rect">
            <a:avLst/>
          </a:prstGeom>
          <a:noFill/>
        </p:spPr>
        <p:txBody>
          <a:bodyPr wrap="square" rtlCol="0">
            <a:spAutoFit/>
          </a:bodyPr>
          <a:lstStyle/>
          <a:p>
            <a:fld id="{3E219E9F-DD67-4FCF-8C74-D4422C82FC57}" type="datetime1">
              <a:rPr lang="zh-CN" altLang="en-US" smtClean="0">
                <a:solidFill>
                  <a:schemeClr val="bg1"/>
                </a:solidFill>
                <a:latin typeface="黑体" panose="02010609060101010101" pitchFamily="49" charset="-122"/>
                <a:ea typeface="黑体" panose="02010609060101010101" pitchFamily="49" charset="-122"/>
              </a:rPr>
              <a:pPr/>
              <a:t>2025/9/23 Tuesday</a:t>
            </a:fld>
            <a:endParaRPr lang="zh-CN" altLang="en-US" dirty="0">
              <a:solidFill>
                <a:schemeClr val="bg1"/>
              </a:solidFill>
              <a:latin typeface="黑体" panose="02010609060101010101" pitchFamily="49" charset="-122"/>
              <a:ea typeface="黑体" panose="02010609060101010101" pitchFamily="49"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Triangle 6"/>
          <p:cNvSpPr/>
          <p:nvPr/>
        </p:nvSpPr>
        <p:spPr>
          <a:xfrm>
            <a:off x="0" y="2647950"/>
            <a:ext cx="3571875" cy="4210050"/>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819399" y="1726737"/>
            <a:ext cx="5650992" cy="1207509"/>
          </a:xfrm>
        </p:spPr>
        <p:txBody>
          <a:bodyPr bIns="9144" anchor="b"/>
          <a:lstStyle>
            <a:lvl1pPr algn="l">
              <a:defRPr kumimoji="0" lang="en-US" sz="3200" b="0" i="0" u="none" strike="noStrike" kern="1200" cap="all" spc="0" normalizeH="0" baseline="0" noProof="0" dirty="0" smtClean="0">
                <a:ln>
                  <a:noFill/>
                </a:ln>
                <a:solidFill>
                  <a:schemeClr val="tx1"/>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a:t>单击此处编辑母版标题样式</a:t>
            </a:r>
            <a:endParaRPr lang="en-US" dirty="0"/>
          </a:p>
        </p:txBody>
      </p:sp>
      <p:sp>
        <p:nvSpPr>
          <p:cNvPr id="3" name="Text Placeholder 2"/>
          <p:cNvSpPr>
            <a:spLocks noGrp="1"/>
          </p:cNvSpPr>
          <p:nvPr>
            <p:ph type="body" idx="1"/>
          </p:nvPr>
        </p:nvSpPr>
        <p:spPr>
          <a:xfrm rot="19140000">
            <a:off x="1216152" y="2468304"/>
            <a:ext cx="6510528" cy="329184"/>
          </a:xfrm>
        </p:spPr>
        <p:txBody>
          <a:bodyPr anchor="t">
            <a:normAutofit/>
          </a:bodyPr>
          <a:lstStyle>
            <a:lvl1pPr marL="0" inden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zh-CN" altLang="en-US"/>
              <a:t>单击此处编辑母版文本样式</a:t>
            </a:r>
          </a:p>
        </p:txBody>
      </p:sp>
      <p:sp>
        <p:nvSpPr>
          <p:cNvPr id="4" name="Date Placeholder 3"/>
          <p:cNvSpPr>
            <a:spLocks noGrp="1"/>
          </p:cNvSpPr>
          <p:nvPr>
            <p:ph type="dt" sz="half" idx="10"/>
          </p:nvPr>
        </p:nvSpPr>
        <p:spPr/>
        <p:txBody>
          <a:bodyPr/>
          <a:lstStyle/>
          <a:p>
            <a:fld id="{96FF9C47-783F-4BA3-8F44-C651CC1C7843}" type="datetime1">
              <a:rPr lang="zh-CN" altLang="en-US" smtClean="0"/>
              <a:pPr/>
              <a:t>2025/9/23 Tuesday</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normAutofit/>
          </a:bodyPr>
          <a:lstStyle>
            <a:lvl1pPr>
              <a:defRPr sz="1000"/>
            </a:lvl1pPr>
          </a:lstStyle>
          <a:p>
            <a:fld id="{0C913308-F349-4B6D-A68A-DD1791B4A57B}" type="slidenum">
              <a:rPr lang="zh-CN" altLang="en-US" smtClean="0"/>
              <a:pPr/>
              <a:t>‹#›</a:t>
            </a:fld>
            <a:r>
              <a:rPr lang="en-US" altLang="zh-CN" dirty="0"/>
              <a:t>/71</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22960"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700016"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0A34DB96-0AE5-4520-9185-F689CCFB8160}" type="datetime1">
              <a:rPr lang="zh-CN" altLang="en-US" smtClean="0"/>
              <a:pPr/>
              <a:t>2025/9/23 Tuesday</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normAutofit/>
          </a:bodyPr>
          <a:lstStyle>
            <a:lvl1pPr>
              <a:defRPr sz="1000"/>
            </a:lvl1pPr>
          </a:lstStyle>
          <a:p>
            <a:fld id="{0C913308-F349-4B6D-A68A-DD1791B4A57B}" type="slidenum">
              <a:rPr lang="zh-CN" altLang="en-US" smtClean="0"/>
              <a:pPr/>
              <a:t>‹#›</a:t>
            </a:fld>
            <a:r>
              <a:rPr lang="en-US" altLang="zh-CN" dirty="0"/>
              <a:t>/71</a:t>
            </a:r>
            <a:endParaRPr lang="zh-CN" altLang="en-US" dirty="0"/>
          </a:p>
        </p:txBody>
      </p:sp>
      <p:sp>
        <p:nvSpPr>
          <p:cNvPr id="8" name="Title 7"/>
          <p:cNvSpPr>
            <a:spLocks noGrp="1"/>
          </p:cNvSpPr>
          <p:nvPr>
            <p:ph type="title"/>
          </p:nvPr>
        </p:nvSpPr>
        <p:spPr/>
        <p:txBody>
          <a:bodyPr/>
          <a:lstStyle/>
          <a:p>
            <a:r>
              <a:rPr lang="zh-CN" altLang="en-US"/>
              <a:t>单击此处编辑母版标题样式</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a:p>
        </p:txBody>
      </p:sp>
      <p:sp>
        <p:nvSpPr>
          <p:cNvPr id="3" name="Text Placeholder 2"/>
          <p:cNvSpPr>
            <a:spLocks noGrp="1"/>
          </p:cNvSpPr>
          <p:nvPr>
            <p:ph type="body" idx="1"/>
          </p:nvPr>
        </p:nvSpPr>
        <p:spPr>
          <a:xfrm>
            <a:off x="822960"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zh-CN" altLang="en-US"/>
              <a:t>单击此处编辑母版文本样式</a:t>
            </a:r>
          </a:p>
        </p:txBody>
      </p:sp>
      <p:sp>
        <p:nvSpPr>
          <p:cNvPr id="4" name="Content Placeholder 3"/>
          <p:cNvSpPr>
            <a:spLocks noGrp="1"/>
          </p:cNvSpPr>
          <p:nvPr>
            <p:ph sz="half" idx="2"/>
          </p:nvPr>
        </p:nvSpPr>
        <p:spPr>
          <a:xfrm>
            <a:off x="819150"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700016"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zh-CN" altLang="en-US"/>
              <a:t>单击此处编辑母版文本样式</a:t>
            </a:r>
          </a:p>
        </p:txBody>
      </p:sp>
      <p:sp>
        <p:nvSpPr>
          <p:cNvPr id="6" name="Content Placeholder 5"/>
          <p:cNvSpPr>
            <a:spLocks noGrp="1"/>
          </p:cNvSpPr>
          <p:nvPr>
            <p:ph sz="quarter" idx="4"/>
          </p:nvPr>
        </p:nvSpPr>
        <p:spPr>
          <a:xfrm>
            <a:off x="4700016"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B5BD1D45-E3BC-449A-A2CA-DC7EEC7FF1AB}" type="datetime1">
              <a:rPr lang="zh-CN" altLang="en-US" smtClean="0"/>
              <a:pPr/>
              <a:t>2025/9/23 Tuesday</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normAutofit/>
          </a:bodyPr>
          <a:lstStyle>
            <a:lvl1pPr>
              <a:defRPr sz="1000"/>
            </a:lvl1pPr>
          </a:lstStyle>
          <a:p>
            <a:fld id="{0C913308-F349-4B6D-A68A-DD1791B4A57B}" type="slidenum">
              <a:rPr lang="zh-CN" altLang="en-US" smtClean="0"/>
              <a:pPr/>
              <a:t>‹#›</a:t>
            </a:fld>
            <a:r>
              <a:rPr lang="en-US" altLang="zh-CN" dirty="0"/>
              <a:t>/71</a:t>
            </a:r>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fld id="{B7996B2F-325E-4DB5-B672-90AD506B448C}" type="datetime1">
              <a:rPr lang="zh-CN" altLang="en-US" smtClean="0"/>
              <a:pPr/>
              <a:t>2025/9/23 Tuesday</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normAutofit/>
          </a:bodyPr>
          <a:lstStyle>
            <a:lvl1pPr>
              <a:defRPr sz="1000"/>
            </a:lvl1pPr>
          </a:lstStyle>
          <a:p>
            <a:fld id="{0C913308-F349-4B6D-A68A-DD1791B4A57B}" type="slidenum">
              <a:rPr lang="zh-CN" altLang="en-US" smtClean="0"/>
              <a:pPr/>
              <a:t>‹#›</a:t>
            </a:fld>
            <a:r>
              <a:rPr lang="en-US" altLang="zh-CN" dirty="0"/>
              <a:t>/71</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6B2991-BBE5-4E69-A281-1A8B0AE9CDD7}" type="datetime1">
              <a:rPr lang="zh-CN" altLang="en-US" smtClean="0"/>
              <a:pPr/>
              <a:t>2025/9/23 Tuesday</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normAutofit/>
          </a:bodyPr>
          <a:lstStyle>
            <a:lvl1pPr>
              <a:defRPr sz="1000"/>
            </a:lvl1pPr>
          </a:lstStyle>
          <a:p>
            <a:fld id="{0C913308-F349-4B6D-A68A-DD1791B4A57B}" type="slidenum">
              <a:rPr lang="zh-CN" altLang="en-US" smtClean="0"/>
              <a:pPr/>
              <a:t>‹#›</a:t>
            </a:fld>
            <a:r>
              <a:rPr lang="en-US" altLang="zh-CN" dirty="0"/>
              <a:t>/71</a:t>
            </a:r>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17" name="Right Triangle 1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Triangle 17"/>
          <p:cNvSpPr/>
          <p:nvPr/>
        </p:nvSpPr>
        <p:spPr>
          <a:xfrm rot="5400000">
            <a:off x="433389" y="-433387"/>
            <a:ext cx="6858000" cy="7724778"/>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a:xfrm rot="19140000">
            <a:off x="784930" y="1576103"/>
            <a:ext cx="5212080" cy="1089427"/>
          </a:xfrm>
        </p:spPr>
        <p:txBody>
          <a:bodyPr bIns="0" anchor="b"/>
          <a:lstStyle>
            <a:lvl1pPr algn="l">
              <a:defRPr kumimoji="0" lang="en-US" sz="2800" b="0" i="0" u="none" strike="noStrike" kern="1200" cap="all" spc="0" normalizeH="0" baseline="0" noProof="0" dirty="0" smtClean="0">
                <a:ln>
                  <a:noFill/>
                </a:ln>
                <a:solidFill>
                  <a:srgbClr val="FFFFFF"/>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a:t>单击此处编辑母版标题样式</a:t>
            </a:r>
            <a:endParaRPr lang="en-US" dirty="0"/>
          </a:p>
        </p:txBody>
      </p:sp>
      <p:sp>
        <p:nvSpPr>
          <p:cNvPr id="3" name="Content Placeholder 2"/>
          <p:cNvSpPr>
            <a:spLocks noGrp="1"/>
          </p:cNvSpPr>
          <p:nvPr>
            <p:ph idx="1"/>
          </p:nvPr>
        </p:nvSpPr>
        <p:spPr>
          <a:xfrm>
            <a:off x="4749552" y="2618912"/>
            <a:ext cx="3807779" cy="33246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rot="19140000">
            <a:off x="1297954" y="2253385"/>
            <a:ext cx="5794760" cy="623314"/>
          </a:xfrm>
        </p:spPr>
        <p:txBody>
          <a:bodyPr>
            <a:normAutofit/>
          </a:bodyPr>
          <a:lstStyle>
            <a:lvl1pPr marL="0" indent="0">
              <a:buNone/>
              <a:defRPr lang="en-US" sz="1400" b="1" kern="1200" dirty="0" smtClean="0">
                <a:solidFill>
                  <a:srgbClr val="FFFFFF"/>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300"/>
              </a:spcBef>
              <a:spcAft>
                <a:spcPts val="0"/>
              </a:spcAft>
              <a:buClr>
                <a:schemeClr val="accent1"/>
              </a:buClr>
              <a:buSzPct val="100000"/>
              <a:buFont typeface="Arial" pitchFamily="34" charset="0"/>
              <a:buNone/>
              <a:tabLst/>
              <a:defRPr/>
            </a:pPr>
            <a:r>
              <a:rPr lang="zh-CN" altLang="en-US"/>
              <a:t>单击此处编辑母版文本样式</a:t>
            </a:r>
          </a:p>
        </p:txBody>
      </p:sp>
      <p:sp>
        <p:nvSpPr>
          <p:cNvPr id="5" name="Date Placeholder 4"/>
          <p:cNvSpPr>
            <a:spLocks noGrp="1"/>
          </p:cNvSpPr>
          <p:nvPr>
            <p:ph type="dt" sz="half" idx="10"/>
          </p:nvPr>
        </p:nvSpPr>
        <p:spPr/>
        <p:txBody>
          <a:bodyPr/>
          <a:lstStyle/>
          <a:p>
            <a:fld id="{998D44D8-17C8-4EF3-AEA6-26CE6DA18EE0}" type="datetime1">
              <a:rPr lang="zh-CN" altLang="en-US" smtClean="0"/>
              <a:pPr/>
              <a:t>2025/9/23 Tuesday</a:t>
            </a:fld>
            <a:endParaRPr lang="zh-CN" altLang="en-US"/>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zh-CN" altLang="en-US"/>
          </a:p>
        </p:txBody>
      </p:sp>
      <p:sp>
        <p:nvSpPr>
          <p:cNvPr id="7" name="Slide Number Placeholder 6"/>
          <p:cNvSpPr>
            <a:spLocks noGrp="1"/>
          </p:cNvSpPr>
          <p:nvPr>
            <p:ph type="sldNum" sz="quarter" idx="12"/>
          </p:nvPr>
        </p:nvSpPr>
        <p:spPr>
          <a:ln>
            <a:solidFill>
              <a:schemeClr val="tx2"/>
            </a:solidFill>
          </a:ln>
        </p:spPr>
        <p:txBody>
          <a:bodyPr>
            <a:normAutofit/>
          </a:bodyPr>
          <a:lstStyle>
            <a:lvl1pPr>
              <a:defRPr sz="1000">
                <a:solidFill>
                  <a:schemeClr val="tx2"/>
                </a:solidFill>
              </a:defRPr>
            </a:lvl1pPr>
          </a:lstStyle>
          <a:p>
            <a:fld id="{0C913308-F349-4B6D-A68A-DD1791B4A57B}" type="slidenum">
              <a:rPr lang="zh-CN" altLang="en-US" smtClean="0"/>
              <a:pPr/>
              <a:t>‹#›</a:t>
            </a:fld>
            <a:r>
              <a:rPr lang="en-US" altLang="zh-CN" dirty="0"/>
              <a:t>/71</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2028825" y="0"/>
            <a:ext cx="7115175" cy="6858000"/>
          </a:xfrm>
          <a:custGeom>
            <a:avLst/>
            <a:gdLst>
              <a:gd name="connsiteX0" fmla="*/ 0 w 7104888"/>
              <a:gd name="connsiteY0" fmla="*/ 0 h 6858000"/>
              <a:gd name="connsiteX1" fmla="*/ 7104888 w 7104888"/>
              <a:gd name="connsiteY1" fmla="*/ 0 h 6858000"/>
              <a:gd name="connsiteX2" fmla="*/ 7104888 w 7104888"/>
              <a:gd name="connsiteY2" fmla="*/ 6858000 h 6858000"/>
              <a:gd name="connsiteX3" fmla="*/ 0 w 7104888"/>
              <a:gd name="connsiteY3" fmla="*/ 6858000 h 6858000"/>
              <a:gd name="connsiteX4" fmla="*/ 0 w 7104888"/>
              <a:gd name="connsiteY4" fmla="*/ 0 h 6858000"/>
              <a:gd name="connsiteX0" fmla="*/ 0 w 7104888"/>
              <a:gd name="connsiteY0" fmla="*/ 0 h 6858000"/>
              <a:gd name="connsiteX1" fmla="*/ 5695188 w 7104888"/>
              <a:gd name="connsiteY1" fmla="*/ 0 h 6858000"/>
              <a:gd name="connsiteX2" fmla="*/ 7104888 w 7104888"/>
              <a:gd name="connsiteY2" fmla="*/ 0 h 6858000"/>
              <a:gd name="connsiteX3" fmla="*/ 7104888 w 7104888"/>
              <a:gd name="connsiteY3" fmla="*/ 6858000 h 6858000"/>
              <a:gd name="connsiteX4" fmla="*/ 0 w 7104888"/>
              <a:gd name="connsiteY4" fmla="*/ 6858000 h 6858000"/>
              <a:gd name="connsiteX5" fmla="*/ 0 w 7104888"/>
              <a:gd name="connsiteY5"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0287 w 7115175"/>
              <a:gd name="connsiteY4" fmla="*/ 6858000 h 6858000"/>
              <a:gd name="connsiteX5" fmla="*/ 0 w 7115175"/>
              <a:gd name="connsiteY5" fmla="*/ 5048250 h 6858000"/>
              <a:gd name="connsiteX6" fmla="*/ 10287 w 7115175"/>
              <a:gd name="connsiteY6"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10287 w 7115175"/>
              <a:gd name="connsiteY5" fmla="*/ 6858000 h 6858000"/>
              <a:gd name="connsiteX6" fmla="*/ 0 w 7115175"/>
              <a:gd name="connsiteY6" fmla="*/ 5048250 h 6858000"/>
              <a:gd name="connsiteX7" fmla="*/ 10287 w 7115175"/>
              <a:gd name="connsiteY7"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 name="connsiteX6" fmla="*/ 10287 w 7115175"/>
              <a:gd name="connsiteY6" fmla="*/ 0 h 6858000"/>
              <a:gd name="connsiteX0" fmla="*/ 0 w 7115175"/>
              <a:gd name="connsiteY0" fmla="*/ 504825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5175" h="6858000">
                <a:moveTo>
                  <a:pt x="0" y="5048250"/>
                </a:moveTo>
                <a:lnTo>
                  <a:pt x="5705475" y="0"/>
                </a:lnTo>
                <a:lnTo>
                  <a:pt x="7115175" y="0"/>
                </a:lnTo>
                <a:lnTo>
                  <a:pt x="7115175" y="6858000"/>
                </a:lnTo>
                <a:lnTo>
                  <a:pt x="1533526" y="6848475"/>
                </a:lnTo>
                <a:lnTo>
                  <a:pt x="0" y="5048250"/>
                </a:lnTo>
                <a:close/>
              </a:path>
            </a:pathLst>
          </a:custGeom>
          <a:solidFill>
            <a:schemeClr val="accent3">
              <a:alpha val="80000"/>
            </a:schemeClr>
          </a:solidFill>
        </p:spPr>
        <p:txBody>
          <a:bodyPr rIns="182880" anchor="ctr"/>
          <a:lstStyle>
            <a:lvl1pPr algn="r">
              <a:defRPr/>
            </a:lvl1pPr>
          </a:lstStyle>
          <a:p>
            <a:r>
              <a:rPr lang="zh-CN" altLang="en-US"/>
              <a:t>单击图标添加图片</a:t>
            </a:r>
            <a:endParaRPr lang="en-US" dirty="0"/>
          </a:p>
        </p:txBody>
      </p:sp>
      <p:sp>
        <p:nvSpPr>
          <p:cNvPr id="9" name="Right Triangle 8"/>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0" y="5048250"/>
            <a:ext cx="3571875" cy="1809750"/>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1809750 h 1809750"/>
              <a:gd name="connsiteX1" fmla="*/ 1895475 w 3571875"/>
              <a:gd name="connsiteY1" fmla="*/ 0 h 1809750"/>
              <a:gd name="connsiteX2" fmla="*/ 3571875 w 3571875"/>
              <a:gd name="connsiteY2" fmla="*/ 1809750 h 1809750"/>
              <a:gd name="connsiteX3" fmla="*/ 0 w 3571875"/>
              <a:gd name="connsiteY3" fmla="*/ 1809750 h 1809750"/>
              <a:gd name="connsiteX0" fmla="*/ 0 w 3571875"/>
              <a:gd name="connsiteY0" fmla="*/ 1809750 h 1809750"/>
              <a:gd name="connsiteX1" fmla="*/ 2038350 w 3571875"/>
              <a:gd name="connsiteY1" fmla="*/ 0 h 1809750"/>
              <a:gd name="connsiteX2" fmla="*/ 3571875 w 3571875"/>
              <a:gd name="connsiteY2" fmla="*/ 1809750 h 1809750"/>
              <a:gd name="connsiteX3" fmla="*/ 0 w 3571875"/>
              <a:gd name="connsiteY3" fmla="*/ 1809750 h 1809750"/>
            </a:gdLst>
            <a:ahLst/>
            <a:cxnLst>
              <a:cxn ang="0">
                <a:pos x="connsiteX0" y="connsiteY0"/>
              </a:cxn>
              <a:cxn ang="0">
                <a:pos x="connsiteX1" y="connsiteY1"/>
              </a:cxn>
              <a:cxn ang="0">
                <a:pos x="connsiteX2" y="connsiteY2"/>
              </a:cxn>
              <a:cxn ang="0">
                <a:pos x="connsiteX3" y="connsiteY3"/>
              </a:cxn>
            </a:cxnLst>
            <a:rect l="l" t="t" r="r" b="b"/>
            <a:pathLst>
              <a:path w="3571875" h="1809750">
                <a:moveTo>
                  <a:pt x="0" y="1809750"/>
                </a:moveTo>
                <a:lnTo>
                  <a:pt x="2038350" y="0"/>
                </a:lnTo>
                <a:lnTo>
                  <a:pt x="3571875" y="1809750"/>
                </a:lnTo>
                <a:lnTo>
                  <a:pt x="0" y="1809750"/>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671197" y="1717501"/>
            <a:ext cx="5486400" cy="867444"/>
          </a:xfrm>
        </p:spPr>
        <p:txBody>
          <a:bodyPr anchor="b"/>
          <a:lstStyle>
            <a:lvl1pPr algn="l">
              <a:defRPr sz="2800" b="0">
                <a:latin typeface="+mj-lt"/>
              </a:defRPr>
            </a:lvl1pPr>
          </a:lstStyle>
          <a:p>
            <a:r>
              <a:rPr lang="zh-CN" altLang="en-US"/>
              <a:t>单击此处编辑母版标题样式</a:t>
            </a:r>
            <a:endParaRPr lang="en-US" dirty="0"/>
          </a:p>
        </p:txBody>
      </p:sp>
      <p:sp>
        <p:nvSpPr>
          <p:cNvPr id="4" name="Text Placeholder 3"/>
          <p:cNvSpPr>
            <a:spLocks noGrp="1"/>
          </p:cNvSpPr>
          <p:nvPr>
            <p:ph type="body" sz="half" idx="2"/>
          </p:nvPr>
        </p:nvSpPr>
        <p:spPr>
          <a:xfrm rot="19140000">
            <a:off x="1143479" y="2180529"/>
            <a:ext cx="6096545" cy="740664"/>
          </a:xfrm>
        </p:spPr>
        <p:txBody>
          <a:bodyPr/>
          <a:lstStyle>
            <a:lvl1pPr marL="0" indent="0">
              <a:buNone/>
              <a:defRPr sz="14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FB116A5A-BD99-4717-BAC1-7A32521A6EAD}" type="datetime1">
              <a:rPr lang="zh-CN" altLang="en-US" smtClean="0"/>
              <a:pPr/>
              <a:t>2025/9/23 Tuesday</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normAutofit/>
          </a:bodyPr>
          <a:lstStyle>
            <a:lvl1pPr>
              <a:defRPr sz="1000"/>
            </a:lvl1pPr>
          </a:lstStyle>
          <a:p>
            <a:fld id="{0C913308-F349-4B6D-A68A-DD1791B4A57B}" type="slidenum">
              <a:rPr lang="zh-CN" altLang="en-US" smtClean="0"/>
              <a:pPr/>
              <a:t>‹#›</a:t>
            </a:fld>
            <a:r>
              <a:rPr lang="en-US" altLang="zh-CN" dirty="0"/>
              <a:t>/71</a:t>
            </a:r>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5D1CC93F-9B3C-4EE7-9870-3D016680E837}" type="datetime1">
              <a:rPr lang="zh-CN" altLang="en-US" smtClean="0"/>
              <a:pPr/>
              <a:t>2025/9/23 Tuesday</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normAutofit/>
          </a:bodyPr>
          <a:lstStyle>
            <a:lvl1pPr>
              <a:defRPr sz="1000"/>
            </a:lvl1pPr>
          </a:lstStyle>
          <a:p>
            <a:fld id="{0C913308-F349-4B6D-A68A-DD1791B4A57B}" type="slidenum">
              <a:rPr lang="zh-CN" altLang="en-US" smtClean="0"/>
              <a:pPr/>
              <a:t>‹#›</a:t>
            </a:fld>
            <a:r>
              <a:rPr lang="en-US" altLang="zh-CN" dirty="0"/>
              <a:t>/71</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467836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457200" y="274639"/>
            <a:ext cx="6019800" cy="467836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9D16CA2C-5ACD-411C-BC33-FE293CBE3AB9}" type="datetime1">
              <a:rPr lang="zh-CN" altLang="en-US" smtClean="0"/>
              <a:pPr/>
              <a:t>2025/9/23 Tuesday</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normAutofit/>
          </a:bodyPr>
          <a:lstStyle>
            <a:lvl1pPr>
              <a:defRPr sz="1000"/>
            </a:lvl1pPr>
          </a:lstStyle>
          <a:p>
            <a:fld id="{0C913308-F349-4B6D-A68A-DD1791B4A57B}" type="slidenum">
              <a:rPr lang="zh-CN" altLang="en-US" smtClean="0"/>
              <a:pPr/>
              <a:t>‹#›</a:t>
            </a:fld>
            <a:r>
              <a:rPr lang="en-US" altLang="zh-CN" dirty="0"/>
              <a:t>/71</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6"/>
          <p:cNvSpPr/>
          <p:nvPr/>
        </p:nvSpPr>
        <p:spPr>
          <a:xfrm>
            <a:off x="-2382" y="6309319"/>
            <a:ext cx="3574257" cy="548681"/>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4210050 h 4210050"/>
              <a:gd name="connsiteX1" fmla="*/ 0 w 3571875"/>
              <a:gd name="connsiteY1" fmla="*/ 0 h 4210050"/>
              <a:gd name="connsiteX2" fmla="*/ 2028825 w 3571875"/>
              <a:gd name="connsiteY2" fmla="*/ 23883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050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812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76450 w 3571875"/>
              <a:gd name="connsiteY2" fmla="*/ 22740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245519 w 3571875"/>
              <a:gd name="connsiteY2" fmla="*/ 2405063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38350 w 3571875"/>
              <a:gd name="connsiteY2" fmla="*/ 2405063 h 4210050"/>
              <a:gd name="connsiteX3" fmla="*/ 3571875 w 3571875"/>
              <a:gd name="connsiteY3" fmla="*/ 4210050 h 4210050"/>
              <a:gd name="connsiteX4" fmla="*/ 0 w 3571875"/>
              <a:gd name="connsiteY4" fmla="*/ 4210050 h 4210050"/>
              <a:gd name="connsiteX0" fmla="*/ 0 w 3571875"/>
              <a:gd name="connsiteY0" fmla="*/ 2433637 h 2433637"/>
              <a:gd name="connsiteX1" fmla="*/ 257175 w 3571875"/>
              <a:gd name="connsiteY1" fmla="*/ 0 h 2433637"/>
              <a:gd name="connsiteX2" fmla="*/ 2038350 w 3571875"/>
              <a:gd name="connsiteY2" fmla="*/ 628650 h 2433637"/>
              <a:gd name="connsiteX3" fmla="*/ 3571875 w 3571875"/>
              <a:gd name="connsiteY3" fmla="*/ 2433637 h 2433637"/>
              <a:gd name="connsiteX4" fmla="*/ 0 w 3571875"/>
              <a:gd name="connsiteY4" fmla="*/ 2433637 h 2433637"/>
              <a:gd name="connsiteX0" fmla="*/ 2382 w 3574257"/>
              <a:gd name="connsiteY0" fmla="*/ 1807368 h 1807368"/>
              <a:gd name="connsiteX1" fmla="*/ 0 w 3574257"/>
              <a:gd name="connsiteY1" fmla="*/ 0 h 1807368"/>
              <a:gd name="connsiteX2" fmla="*/ 2040732 w 3574257"/>
              <a:gd name="connsiteY2" fmla="*/ 2381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24051 w 3574257"/>
              <a:gd name="connsiteY2" fmla="*/ 307181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40682 w 3574257"/>
              <a:gd name="connsiteY2" fmla="*/ 450057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57351 w 3574257"/>
              <a:gd name="connsiteY2" fmla="*/ 2309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0732 w 3574257"/>
              <a:gd name="connsiteY2" fmla="*/ 23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774032 w 3574257"/>
              <a:gd name="connsiteY2" fmla="*/ 161925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69294 w 3574257"/>
              <a:gd name="connsiteY2" fmla="*/ 2143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819275 w 3574257"/>
              <a:gd name="connsiteY2" fmla="*/ 200026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5494 w 3574257"/>
              <a:gd name="connsiteY2" fmla="*/ 1 h 1807368"/>
              <a:gd name="connsiteX3" fmla="*/ 3574257 w 3574257"/>
              <a:gd name="connsiteY3" fmla="*/ 1807368 h 1807368"/>
              <a:gd name="connsiteX4" fmla="*/ 2382 w 3574257"/>
              <a:gd name="connsiteY4" fmla="*/ 1807368 h 1807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4257" h="1807368">
                <a:moveTo>
                  <a:pt x="2382" y="1807368"/>
                </a:moveTo>
                <a:lnTo>
                  <a:pt x="0" y="0"/>
                </a:lnTo>
                <a:lnTo>
                  <a:pt x="2045494" y="1"/>
                </a:lnTo>
                <a:lnTo>
                  <a:pt x="3574257" y="1807368"/>
                </a:lnTo>
                <a:lnTo>
                  <a:pt x="2382" y="180736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6309319"/>
            <a:ext cx="9146380" cy="548682"/>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 name="connsiteX0" fmla="*/ 0 w 3352800"/>
              <a:gd name="connsiteY0" fmla="*/ 2002631 h 2002631"/>
              <a:gd name="connsiteX1" fmla="*/ 754045 w 3352800"/>
              <a:gd name="connsiteY1" fmla="*/ 146832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26618 h 526618"/>
              <a:gd name="connsiteX1" fmla="*/ 980611 w 3352800"/>
              <a:gd name="connsiteY1" fmla="*/ 9368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6888 h 526888"/>
              <a:gd name="connsiteX1" fmla="*/ 744735 w 3352800"/>
              <a:gd name="connsiteY1" fmla="*/ 0 h 526888"/>
              <a:gd name="connsiteX2" fmla="*/ 3352800 w 3352800"/>
              <a:gd name="connsiteY2" fmla="*/ 270 h 526888"/>
              <a:gd name="connsiteX3" fmla="*/ 3352800 w 3352800"/>
              <a:gd name="connsiteY3" fmla="*/ 526888 h 526888"/>
              <a:gd name="connsiteX4" fmla="*/ 0 w 3352800"/>
              <a:gd name="connsiteY4" fmla="*/ 526888 h 526888"/>
              <a:gd name="connsiteX0" fmla="*/ 0 w 3352800"/>
              <a:gd name="connsiteY0" fmla="*/ 526618 h 526618"/>
              <a:gd name="connsiteX1" fmla="*/ 811948 w 3352800"/>
              <a:gd name="connsiteY1" fmla="*/ 6092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7584 h 527584"/>
              <a:gd name="connsiteX1" fmla="*/ 751718 w 3352800"/>
              <a:gd name="connsiteY1" fmla="*/ 0 h 527584"/>
              <a:gd name="connsiteX2" fmla="*/ 3352800 w 3352800"/>
              <a:gd name="connsiteY2" fmla="*/ 966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241069 w 3352800"/>
              <a:gd name="connsiteY2" fmla="*/ 94144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 name="connsiteX0" fmla="*/ 0 w 3352800"/>
              <a:gd name="connsiteY0" fmla="*/ 527313 h 527313"/>
              <a:gd name="connsiteX1" fmla="*/ 900984 w 3352800"/>
              <a:gd name="connsiteY1" fmla="*/ 97774 h 527313"/>
              <a:gd name="connsiteX2" fmla="*/ 3352800 w 3352800"/>
              <a:gd name="connsiteY2" fmla="*/ 0 h 527313"/>
              <a:gd name="connsiteX3" fmla="*/ 3352800 w 3352800"/>
              <a:gd name="connsiteY3" fmla="*/ 527313 h 527313"/>
              <a:gd name="connsiteX4" fmla="*/ 0 w 3352800"/>
              <a:gd name="connsiteY4" fmla="*/ 527313 h 527313"/>
              <a:gd name="connsiteX0" fmla="*/ 0 w 3352800"/>
              <a:gd name="connsiteY0" fmla="*/ 527584 h 527584"/>
              <a:gd name="connsiteX1" fmla="*/ 748227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527584">
                <a:moveTo>
                  <a:pt x="0" y="527584"/>
                </a:moveTo>
                <a:lnTo>
                  <a:pt x="748227" y="0"/>
                </a:lnTo>
                <a:lnTo>
                  <a:pt x="3352800" y="271"/>
                </a:lnTo>
                <a:lnTo>
                  <a:pt x="3352800" y="527584"/>
                </a:lnTo>
                <a:lnTo>
                  <a:pt x="0" y="527584"/>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22960" y="365760"/>
            <a:ext cx="7520940" cy="548640"/>
          </a:xfrm>
          <a:prstGeom prst="rect">
            <a:avLst/>
          </a:prstGeom>
        </p:spPr>
        <p:txBody>
          <a:bodyPr vert="horz" lIns="91440" tIns="45720" rIns="91440" bIns="45720" rtlCol="0" anchor="ctr">
            <a:no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22960" y="1100628"/>
            <a:ext cx="7520940" cy="3579849"/>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251520" y="6451667"/>
            <a:ext cx="1533226" cy="263984"/>
          </a:xfrm>
          <a:prstGeom prst="rect">
            <a:avLst/>
          </a:prstGeom>
        </p:spPr>
        <p:txBody>
          <a:bodyPr vert="horz" lIns="91440" tIns="45720" rIns="91440" bIns="45720" rtlCol="0" anchor="ctr"/>
          <a:lstStyle>
            <a:lvl1pPr algn="l">
              <a:defRPr sz="1200">
                <a:solidFill>
                  <a:srgbClr val="FFFFFF"/>
                </a:solidFill>
              </a:defRPr>
            </a:lvl1pPr>
          </a:lstStyle>
          <a:p>
            <a:fld id="{FBF0784E-C4F9-4840-8FC5-3C9B5B3DB5D4}" type="datetime1">
              <a:rPr lang="zh-CN" altLang="en-US" smtClean="0"/>
              <a:pPr/>
              <a:t>2025/9/23 Tuesday</a:t>
            </a:fld>
            <a:endParaRPr lang="zh-CN" altLang="en-US" dirty="0"/>
          </a:p>
        </p:txBody>
      </p:sp>
      <p:sp>
        <p:nvSpPr>
          <p:cNvPr id="5" name="Footer Placeholder 4"/>
          <p:cNvSpPr>
            <a:spLocks noGrp="1"/>
          </p:cNvSpPr>
          <p:nvPr>
            <p:ph type="ftr" sz="quarter" idx="3"/>
          </p:nvPr>
        </p:nvSpPr>
        <p:spPr>
          <a:xfrm>
            <a:off x="3561570" y="6446499"/>
            <a:ext cx="4724400" cy="274320"/>
          </a:xfrm>
          <a:prstGeom prst="rect">
            <a:avLst/>
          </a:prstGeom>
        </p:spPr>
        <p:txBody>
          <a:bodyPr vert="horz" lIns="91440" tIns="45720" rIns="91440" bIns="45720" rtlCol="0" anchor="ctr"/>
          <a:lstStyle>
            <a:lvl1pPr algn="r">
              <a:defRPr sz="1000" cap="all" spc="200" baseline="0">
                <a:solidFill>
                  <a:srgbClr val="FFFFFF"/>
                </a:solidFill>
              </a:defRPr>
            </a:lvl1pPr>
          </a:lstStyle>
          <a:p>
            <a:endParaRPr lang="zh-CN" altLang="en-US"/>
          </a:p>
        </p:txBody>
      </p:sp>
      <p:sp>
        <p:nvSpPr>
          <p:cNvPr id="6" name="Slide Number Placeholder 5"/>
          <p:cNvSpPr>
            <a:spLocks noGrp="1"/>
          </p:cNvSpPr>
          <p:nvPr>
            <p:ph type="sldNum" sz="quarter" idx="4"/>
          </p:nvPr>
        </p:nvSpPr>
        <p:spPr>
          <a:xfrm>
            <a:off x="8460432" y="6332199"/>
            <a:ext cx="502920" cy="502920"/>
          </a:xfrm>
          <a:prstGeom prst="ellipse">
            <a:avLst/>
          </a:prstGeom>
          <a:ln w="19050">
            <a:solidFill>
              <a:srgbClr val="FFFFFF"/>
            </a:solidFill>
          </a:ln>
        </p:spPr>
        <p:txBody>
          <a:bodyPr vert="horz" lIns="9144" tIns="9144" rIns="9144" bIns="9144" rtlCol="0" anchor="ctr">
            <a:normAutofit/>
          </a:bodyPr>
          <a:lstStyle>
            <a:lvl1pPr algn="ctr">
              <a:defRPr sz="1000">
                <a:solidFill>
                  <a:srgbClr val="FFFFFF"/>
                </a:solidFill>
              </a:defRPr>
            </a:lvl1pPr>
          </a:lstStyle>
          <a:p>
            <a:fld id="{0C913308-F349-4B6D-A68A-DD1791B4A57B}" type="slidenum">
              <a:rPr lang="zh-CN" altLang="en-US" smtClean="0"/>
              <a:pPr/>
              <a:t>‹#›</a:t>
            </a:fld>
            <a:r>
              <a:rPr lang="en-US" altLang="zh-CN" dirty="0"/>
              <a:t>/71</a:t>
            </a:r>
            <a:endParaRPr lang="zh-CN" altLang="en-US" dirty="0"/>
          </a:p>
        </p:txBody>
      </p:sp>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hf sldNum="0" hdr="0" ftr="0"/>
  <p:txStyles>
    <p:titleStyle>
      <a:lvl1pPr algn="l" defTabSz="914400" rtl="0" eaLnBrk="1" latinLnBrk="0" hangingPunct="1">
        <a:spcBef>
          <a:spcPct val="0"/>
        </a:spcBef>
        <a:buNone/>
        <a:defRPr sz="2800" kern="1200" cap="all" baseline="0">
          <a:solidFill>
            <a:schemeClr val="tx1"/>
          </a:solidFill>
          <a:latin typeface="+mj-lt"/>
          <a:ea typeface="+mj-ea"/>
          <a:cs typeface="+mj-cs"/>
        </a:defRPr>
      </a:lvl1pPr>
    </p:titleStyle>
    <p:body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3.emf"/></Relationships>
</file>

<file path=ppt/slides/_rels/slide3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9.emf"/><Relationship Id="rId5" Type="http://schemas.openxmlformats.org/officeDocument/2006/relationships/oleObject" Target="../embeddings/oleObject3.bin"/><Relationship Id="rId4" Type="http://schemas.openxmlformats.org/officeDocument/2006/relationships/image" Target="../media/image18.em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26.emf"/></Relationships>
</file>

<file path=ppt/slides/_rels/slide7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28.emf"/></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29.emf"/></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30.emf"/></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32.emf"/><Relationship Id="rId5" Type="http://schemas.openxmlformats.org/officeDocument/2006/relationships/oleObject" Target="../embeddings/oleObject9.bin"/><Relationship Id="rId4" Type="http://schemas.openxmlformats.org/officeDocument/2006/relationships/image" Target="../media/image31.emf"/></Relationships>
</file>

<file path=ppt/slides/_rels/slide8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34.emf"/></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35.emf"/><Relationship Id="rId4" Type="http://schemas.openxmlformats.org/officeDocument/2006/relationships/oleObject" Target="../embeddings/oleObject11.bin"/></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37.emf"/></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739577" y="907764"/>
            <a:ext cx="5648623" cy="1204306"/>
          </a:xfrm>
        </p:spPr>
        <p:txBody>
          <a:bodyPr/>
          <a:lstStyle/>
          <a:p>
            <a:r>
              <a:rPr lang="zh-CN" altLang="zh-CN" sz="4400" b="1" dirty="0"/>
              <a:t>第</a:t>
            </a:r>
            <a:r>
              <a:rPr lang="en-US" altLang="zh-CN" sz="4400" b="1" dirty="0"/>
              <a:t>2</a:t>
            </a:r>
            <a:r>
              <a:rPr lang="zh-CN" altLang="zh-CN" sz="4400" b="1" dirty="0"/>
              <a:t>章 </a:t>
            </a:r>
            <a:r>
              <a:rPr lang="en-US" altLang="zh-CN" sz="4400" b="1" dirty="0"/>
              <a:t> </a:t>
            </a:r>
            <a:r>
              <a:rPr lang="zh-CN" altLang="zh-CN" sz="4400" b="1" dirty="0"/>
              <a:t>线性表</a:t>
            </a:r>
            <a:endParaRPr lang="zh-CN" altLang="en-US" sz="4400" dirty="0"/>
          </a:p>
        </p:txBody>
      </p:sp>
      <p:pic>
        <p:nvPicPr>
          <p:cNvPr id="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504" y="116632"/>
            <a:ext cx="798104" cy="7991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矩形 4"/>
          <p:cNvSpPr/>
          <p:nvPr/>
        </p:nvSpPr>
        <p:spPr>
          <a:xfrm>
            <a:off x="933802" y="146299"/>
            <a:ext cx="4267944" cy="461665"/>
          </a:xfrm>
          <a:prstGeom prst="rect">
            <a:avLst/>
          </a:prstGeom>
        </p:spPr>
        <p:txBody>
          <a:bodyPr wrap="square">
            <a:spAutoFit/>
          </a:bodyPr>
          <a:lstStyle/>
          <a:p>
            <a:r>
              <a:rPr lang="zh-CN" altLang="en-US" sz="2400" cap="all" dirty="0">
                <a:solidFill>
                  <a:srgbClr val="000000"/>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cs typeface="+mj-cs"/>
              </a:rPr>
              <a:t>数据结构与算法</a:t>
            </a:r>
            <a:endParaRPr lang="zh-CN" altLang="en-US" sz="2400" dirty="0">
              <a:latin typeface="方正舒体" panose="02010601030101010101" pitchFamily="2" charset="-122"/>
              <a:ea typeface="方正舒体" panose="02010601030101010101" pitchFamily="2" charset="-122"/>
            </a:endParaRPr>
          </a:p>
        </p:txBody>
      </p:sp>
      <p:sp>
        <p:nvSpPr>
          <p:cNvPr id="6" name="圆角矩形 5"/>
          <p:cNvSpPr/>
          <p:nvPr/>
        </p:nvSpPr>
        <p:spPr>
          <a:xfrm>
            <a:off x="3131840" y="2564904"/>
            <a:ext cx="6012161" cy="3240360"/>
          </a:xfrm>
          <a:prstGeom prst="round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nSpc>
                <a:spcPct val="120000"/>
              </a:lnSpc>
            </a:pPr>
            <a:r>
              <a:rPr lang="zh-CN" altLang="zh-CN" sz="3200" b="1" dirty="0">
                <a:effectLst>
                  <a:outerShdw blurRad="38100" dist="38100" dir="2700000" algn="tl">
                    <a:srgbClr val="000000">
                      <a:alpha val="43137"/>
                    </a:srgbClr>
                  </a:outerShdw>
                </a:effectLst>
              </a:rPr>
              <a:t>知识要点</a:t>
            </a:r>
            <a:endParaRPr lang="en-US" altLang="zh-CN" sz="2400" dirty="0"/>
          </a:p>
          <a:p>
            <a:r>
              <a:rPr lang="en-US" altLang="zh-CN" sz="2000" dirty="0"/>
              <a:t>(1) </a:t>
            </a:r>
            <a:r>
              <a:rPr lang="zh-CN" altLang="zh-CN" sz="2000" dirty="0"/>
              <a:t>熟悉线性表的定义；</a:t>
            </a:r>
          </a:p>
          <a:p>
            <a:r>
              <a:rPr lang="en-US" altLang="zh-CN" sz="2000" dirty="0"/>
              <a:t>(2) </a:t>
            </a:r>
            <a:r>
              <a:rPr lang="zh-CN" altLang="zh-CN" sz="2000" dirty="0"/>
              <a:t>掌握线性表在顺序存储结构上实现的基本操作：插入和删除算法；</a:t>
            </a:r>
          </a:p>
          <a:p>
            <a:r>
              <a:rPr lang="en-US" altLang="zh-CN" sz="2000" dirty="0"/>
              <a:t>(3) </a:t>
            </a:r>
            <a:r>
              <a:rPr lang="zh-CN" altLang="zh-CN" sz="2000" dirty="0"/>
              <a:t>熟练掌握线性表在链式存储结构中的基本操作，并能在实际中选用适当的链表结构；</a:t>
            </a:r>
          </a:p>
          <a:p>
            <a:r>
              <a:rPr lang="en-US" altLang="zh-CN" sz="2000" dirty="0"/>
              <a:t>(4) </a:t>
            </a:r>
            <a:r>
              <a:rPr lang="zh-CN" altLang="zh-CN" sz="2000" dirty="0"/>
              <a:t>了解两种存储结构的特点及其适用场合；</a:t>
            </a:r>
          </a:p>
        </p:txBody>
      </p:sp>
      <p:sp>
        <p:nvSpPr>
          <p:cNvPr id="7" name="副标题 2"/>
          <p:cNvSpPr txBox="1">
            <a:spLocks/>
          </p:cNvSpPr>
          <p:nvPr/>
        </p:nvSpPr>
        <p:spPr>
          <a:xfrm>
            <a:off x="3131840" y="6287414"/>
            <a:ext cx="5976664" cy="525962"/>
          </a:xfrm>
          <a:prstGeom prst="rect">
            <a:avLst/>
          </a:prstGeom>
        </p:spPr>
        <p:txBody>
          <a:bodyPr vert="horz" lIns="91440" tIns="9144" rIns="91440" bIns="45720" rtlCol="0">
            <a:normAutofit/>
          </a:bodyPr>
          <a:lstStyle>
            <a:lvl1pPr marL="0" indent="0" algn="l" defTabSz="914400" rtl="0" eaLnBrk="1" latinLnBrk="0" hangingPunct="1">
              <a:spcBef>
                <a:spcPts val="800"/>
              </a:spcBef>
              <a:buFont typeface="Arial" pitchFamily="34" charse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defTabSz="914400" rtl="0" eaLnBrk="1" latinLnBrk="0" hangingPunct="1">
              <a:spcBef>
                <a:spcPts val="300"/>
              </a:spcBef>
              <a:buClr>
                <a:schemeClr val="accent2"/>
              </a:buClr>
              <a:buFont typeface="Wingdings" pitchFamily="2" charset="2"/>
              <a:buNone/>
              <a:defRPr sz="1600" kern="1200">
                <a:solidFill>
                  <a:schemeClr val="tx1">
                    <a:tint val="75000"/>
                  </a:schemeClr>
                </a:solidFill>
                <a:latin typeface="+mn-lt"/>
                <a:ea typeface="+mn-ea"/>
                <a:cs typeface="+mn-cs"/>
              </a:defRPr>
            </a:lvl2pPr>
            <a:lvl3pPr marL="914400" indent="0" algn="ctr" defTabSz="914400" rtl="0" eaLnBrk="1" latinLnBrk="0" hangingPunct="1">
              <a:spcBef>
                <a:spcPts val="300"/>
              </a:spcBef>
              <a:buClr>
                <a:schemeClr val="accent2"/>
              </a:buClr>
              <a:buFont typeface="Wingdings" pitchFamily="2" charset="2"/>
              <a:buNone/>
              <a:defRPr sz="1600" kern="1200">
                <a:solidFill>
                  <a:schemeClr val="tx1">
                    <a:tint val="75000"/>
                  </a:schemeClr>
                </a:solidFill>
                <a:latin typeface="+mn-lt"/>
                <a:ea typeface="+mn-ea"/>
                <a:cs typeface="+mn-cs"/>
              </a:defRPr>
            </a:lvl3pPr>
            <a:lvl4pPr marL="1371600" indent="0" algn="ctr" defTabSz="914400" rtl="0" eaLnBrk="1" latinLnBrk="0" hangingPunct="1">
              <a:spcBef>
                <a:spcPts val="300"/>
              </a:spcBef>
              <a:buClr>
                <a:schemeClr val="accent2"/>
              </a:buClr>
              <a:buFont typeface="Wingdings" pitchFamily="2" charset="2"/>
              <a:buNone/>
              <a:defRPr sz="1600" kern="1200">
                <a:solidFill>
                  <a:schemeClr val="tx1">
                    <a:tint val="75000"/>
                  </a:schemeClr>
                </a:solidFill>
                <a:latin typeface="+mn-lt"/>
                <a:ea typeface="+mn-ea"/>
                <a:cs typeface="+mn-cs"/>
              </a:defRPr>
            </a:lvl4pPr>
            <a:lvl5pPr marL="1828800" indent="0" algn="ctr" defTabSz="914400" rtl="0" eaLnBrk="1" latinLnBrk="0" hangingPunct="1">
              <a:spcBef>
                <a:spcPts val="300"/>
              </a:spcBef>
              <a:buClr>
                <a:schemeClr val="accent2"/>
              </a:buClr>
              <a:buFont typeface="Wingdings" pitchFamily="2" charset="2"/>
              <a:buNone/>
              <a:defRPr sz="1600" kern="1200">
                <a:solidFill>
                  <a:schemeClr val="tx1">
                    <a:tint val="75000"/>
                  </a:schemeClr>
                </a:solidFill>
                <a:latin typeface="+mn-lt"/>
                <a:ea typeface="+mn-ea"/>
                <a:cs typeface="+mn-cs"/>
              </a:defRPr>
            </a:lvl5pPr>
            <a:lvl6pPr marL="2286000" indent="0" algn="ctr" defTabSz="914400" rtl="0" eaLnBrk="1" latinLnBrk="0" hangingPunct="1">
              <a:spcBef>
                <a:spcPts val="300"/>
              </a:spcBef>
              <a:buClr>
                <a:schemeClr val="accent2"/>
              </a:buClr>
              <a:buFont typeface="Wingdings" pitchFamily="2" charset="2"/>
              <a:buNone/>
              <a:defRPr sz="1400" kern="1200">
                <a:solidFill>
                  <a:schemeClr val="tx1">
                    <a:tint val="75000"/>
                  </a:schemeClr>
                </a:solidFill>
                <a:latin typeface="+mn-lt"/>
                <a:ea typeface="+mn-ea"/>
                <a:cs typeface="+mn-cs"/>
              </a:defRPr>
            </a:lvl6pPr>
            <a:lvl7pPr marL="2743200" indent="0" algn="ctr" defTabSz="914400" rtl="0" eaLnBrk="1" latinLnBrk="0" hangingPunct="1">
              <a:spcBef>
                <a:spcPts val="300"/>
              </a:spcBef>
              <a:buClr>
                <a:schemeClr val="accent2"/>
              </a:buClr>
              <a:buFont typeface="Wingdings" pitchFamily="2" charset="2"/>
              <a:buNone/>
              <a:defRPr sz="1400" kern="1200">
                <a:solidFill>
                  <a:schemeClr val="tx1">
                    <a:tint val="75000"/>
                  </a:schemeClr>
                </a:solidFill>
                <a:latin typeface="+mn-lt"/>
                <a:ea typeface="+mn-ea"/>
                <a:cs typeface="+mn-cs"/>
              </a:defRPr>
            </a:lvl7pPr>
            <a:lvl8pPr marL="3200400" indent="0" algn="ctr" defTabSz="914400" rtl="0" eaLnBrk="1" latinLnBrk="0" hangingPunct="1">
              <a:spcBef>
                <a:spcPts val="300"/>
              </a:spcBef>
              <a:buClr>
                <a:schemeClr val="accent2"/>
              </a:buClr>
              <a:buFont typeface="Wingdings" pitchFamily="2" charset="2"/>
              <a:buNone/>
              <a:defRPr sz="1400" kern="1200">
                <a:solidFill>
                  <a:schemeClr val="tx1">
                    <a:tint val="75000"/>
                  </a:schemeClr>
                </a:solidFill>
                <a:latin typeface="+mn-lt"/>
                <a:ea typeface="+mn-ea"/>
                <a:cs typeface="+mn-cs"/>
              </a:defRPr>
            </a:lvl8pPr>
            <a:lvl9pPr marL="3657600" indent="0" algn="ctr" defTabSz="914400" rtl="0" eaLnBrk="1" latinLnBrk="0" hangingPunct="1">
              <a:spcBef>
                <a:spcPts val="300"/>
              </a:spcBef>
              <a:buClr>
                <a:schemeClr val="accent2"/>
              </a:buClr>
              <a:buFont typeface="Wingdings" pitchFamily="2" charset="2"/>
              <a:buNone/>
              <a:defRPr sz="1400" kern="1200">
                <a:solidFill>
                  <a:schemeClr val="tx1">
                    <a:tint val="75000"/>
                  </a:schemeClr>
                </a:solidFill>
                <a:latin typeface="+mn-lt"/>
                <a:ea typeface="+mn-ea"/>
                <a:cs typeface="+mn-cs"/>
              </a:defRPr>
            </a:lvl9pPr>
          </a:lstStyle>
          <a:p>
            <a:pPr algn="ctr"/>
            <a:r>
              <a:rPr lang="zh-CN" altLang="en-US" sz="1800" i="1" dirty="0">
                <a:latin typeface="华文行楷" panose="02010800040101010101" pitchFamily="2" charset="-122"/>
                <a:ea typeface="华文行楷" panose="02010800040101010101" pitchFamily="2" charset="-122"/>
              </a:rPr>
              <a:t>西安交通大学计算机科学与技术系</a:t>
            </a:r>
          </a:p>
        </p:txBody>
      </p:sp>
      <p:sp>
        <p:nvSpPr>
          <p:cNvPr id="8" name="日期占位符 5"/>
          <p:cNvSpPr>
            <a:spLocks noGrp="1"/>
          </p:cNvSpPr>
          <p:nvPr>
            <p:ph type="dt" sz="half" idx="10"/>
          </p:nvPr>
        </p:nvSpPr>
        <p:spPr>
          <a:xfrm>
            <a:off x="-36512" y="6485577"/>
            <a:ext cx="1123132" cy="227149"/>
          </a:xfrm>
        </p:spPr>
        <p:txBody>
          <a:bodyPr/>
          <a:lstStyle/>
          <a:p>
            <a:fld id="{FE3E9456-702B-478D-AFB3-A22B853B09FE}" type="datetime1">
              <a:rPr lang="zh-CN" altLang="en-US" smtClean="0"/>
              <a:pPr/>
              <a:t>2025/9/23 Tuesday</a:t>
            </a:fld>
            <a:endParaRPr lang="zh-CN" altLang="en-US" dirty="0"/>
          </a:p>
        </p:txBody>
      </p:sp>
    </p:spTree>
    <p:extLst>
      <p:ext uri="{BB962C8B-B14F-4D97-AF65-F5344CB8AC3E}">
        <p14:creationId xmlns:p14="http://schemas.microsoft.com/office/powerpoint/2010/main" val="2627410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1DADC1-84BC-48AC-9FD9-13285009286A}"/>
              </a:ext>
            </a:extLst>
          </p:cNvPr>
          <p:cNvSpPr>
            <a:spLocks noGrp="1"/>
          </p:cNvSpPr>
          <p:nvPr>
            <p:ph type="title"/>
          </p:nvPr>
        </p:nvSpPr>
        <p:spPr/>
        <p:txBody>
          <a:bodyPr/>
          <a:lstStyle/>
          <a:p>
            <a:r>
              <a:rPr lang="zh-CN" altLang="en-US" dirty="0"/>
              <a:t>线性表定义</a:t>
            </a:r>
          </a:p>
        </p:txBody>
      </p:sp>
      <p:sp>
        <p:nvSpPr>
          <p:cNvPr id="8" name="Text Box 2">
            <a:extLst>
              <a:ext uri="{FF2B5EF4-FFF2-40B4-BE49-F238E27FC236}">
                <a16:creationId xmlns:a16="http://schemas.microsoft.com/office/drawing/2014/main" id="{F1067ADA-B658-4EBD-A4DE-B0CD2450BD50}"/>
              </a:ext>
            </a:extLst>
          </p:cNvPr>
          <p:cNvSpPr txBox="1">
            <a:spLocks noChangeArrowheads="1"/>
          </p:cNvSpPr>
          <p:nvPr/>
        </p:nvSpPr>
        <p:spPr bwMode="auto">
          <a:xfrm>
            <a:off x="982833" y="1727568"/>
            <a:ext cx="7365691" cy="461665"/>
          </a:xfrm>
          <a:prstGeom prst="rect">
            <a:avLst/>
          </a:prstGeom>
          <a:noFill/>
          <a:ln w="9525">
            <a:noFill/>
            <a:miter lim="800000"/>
          </a:ln>
          <a:effectLst/>
        </p:spPr>
        <p:txBody>
          <a:bodyPr wrap="square">
            <a:spAutoFit/>
          </a:bodyPr>
          <a:lstStyle/>
          <a:p>
            <a:pPr algn="l"/>
            <a:r>
              <a:rPr kumimoji="1" lang="zh-CN" altLang="en-US" sz="2400" dirty="0">
                <a:solidFill>
                  <a:srgbClr val="FF0000"/>
                </a:solidFill>
                <a:latin typeface="楷体" panose="02010609060101010101" pitchFamily="49" charset="-122"/>
                <a:ea typeface="楷体" panose="02010609060101010101" pitchFamily="49" charset="-122"/>
                <a:cs typeface="Times New Roman" panose="02020603050405020304" pitchFamily="18" charset="0"/>
              </a:rPr>
              <a:t>线性表</a:t>
            </a:r>
            <a:r>
              <a:rPr kumimoji="1" lang="zh-CN" altLang="en-US" sz="2400" dirty="0">
                <a:latin typeface="楷体" panose="02010609060101010101" pitchFamily="49" charset="-122"/>
                <a:ea typeface="楷体" panose="02010609060101010101" pitchFamily="49" charset="-122"/>
                <a:cs typeface="Times New Roman" panose="02020603050405020304" pitchFamily="18" charset="0"/>
              </a:rPr>
              <a:t>是一个具有相同特性的数据元素的</a:t>
            </a:r>
            <a:r>
              <a:rPr kumimoji="1" lang="zh-CN" altLang="en-US" sz="2400" dirty="0">
                <a:solidFill>
                  <a:srgbClr val="FF3300"/>
                </a:solidFill>
                <a:latin typeface="楷体" panose="02010609060101010101" pitchFamily="49" charset="-122"/>
                <a:ea typeface="楷体" panose="02010609060101010101" pitchFamily="49" charset="-122"/>
                <a:cs typeface="Times New Roman" panose="02020603050405020304" pitchFamily="18" charset="0"/>
              </a:rPr>
              <a:t>有限序列</a:t>
            </a:r>
            <a:r>
              <a:rPr kumimoji="1" lang="zh-CN" altLang="en-US" sz="2400" dirty="0">
                <a:latin typeface="楷体" panose="02010609060101010101" pitchFamily="49" charset="-122"/>
                <a:ea typeface="楷体" panose="02010609060101010101" pitchFamily="49" charset="-122"/>
                <a:cs typeface="Times New Roman" panose="02020603050405020304" pitchFamily="18" charset="0"/>
              </a:rPr>
              <a:t>。</a:t>
            </a:r>
          </a:p>
        </p:txBody>
      </p:sp>
      <p:grpSp>
        <p:nvGrpSpPr>
          <p:cNvPr id="9" name="组合 8">
            <a:extLst>
              <a:ext uri="{FF2B5EF4-FFF2-40B4-BE49-F238E27FC236}">
                <a16:creationId xmlns:a16="http://schemas.microsoft.com/office/drawing/2014/main" id="{C1123EC5-3C99-4BB8-A113-4334283B83C7}"/>
              </a:ext>
            </a:extLst>
          </p:cNvPr>
          <p:cNvGrpSpPr/>
          <p:nvPr/>
        </p:nvGrpSpPr>
        <p:grpSpPr>
          <a:xfrm>
            <a:off x="982833" y="2537346"/>
            <a:ext cx="7365691" cy="2556661"/>
            <a:chOff x="785753" y="1994204"/>
            <a:chExt cx="8830485" cy="3065096"/>
          </a:xfrm>
        </p:grpSpPr>
        <p:sp>
          <p:nvSpPr>
            <p:cNvPr id="10" name="TextBox 7">
              <a:extLst>
                <a:ext uri="{FF2B5EF4-FFF2-40B4-BE49-F238E27FC236}">
                  <a16:creationId xmlns:a16="http://schemas.microsoft.com/office/drawing/2014/main" id="{F0404651-ED2D-4FCC-BB4E-66E3AA4E4D4D}"/>
                </a:ext>
              </a:extLst>
            </p:cNvPr>
            <p:cNvSpPr txBox="1"/>
            <p:nvPr/>
          </p:nvSpPr>
          <p:spPr>
            <a:xfrm>
              <a:off x="785753" y="2839611"/>
              <a:ext cx="8830485" cy="2219689"/>
            </a:xfrm>
            <a:prstGeom prst="rect">
              <a:avLst/>
            </a:prstGeom>
            <a:solidFill>
              <a:schemeClr val="bg1">
                <a:lumMod val="95000"/>
              </a:schemeClr>
            </a:solidFill>
          </p:spPr>
          <p:style>
            <a:lnRef idx="1">
              <a:schemeClr val="accent6"/>
            </a:lnRef>
            <a:fillRef idx="2">
              <a:schemeClr val="accent6"/>
            </a:fillRef>
            <a:effectRef idx="1">
              <a:schemeClr val="accent6"/>
            </a:effectRef>
            <a:fontRef idx="minor">
              <a:schemeClr val="dk1"/>
            </a:fontRef>
          </p:style>
          <p:txBody>
            <a:bodyPr wrap="square" tIns="90085" bIns="90085" rtlCol="0">
              <a:spAutoFit/>
            </a:bodyPr>
            <a:lstStyle/>
            <a:p>
              <a:pPr marL="457200" indent="-457200" algn="l">
                <a:lnSpc>
                  <a:spcPct val="110000"/>
                </a:lnSpc>
                <a:buBlip>
                  <a:blip r:embed="rId2"/>
                </a:buBlip>
              </a:pPr>
              <a:r>
                <a:rPr kumimoji="1" lang="zh-CN" altLang="en-US" sz="2000">
                  <a:solidFill>
                    <a:srgbClr val="C00000"/>
                  </a:solidFill>
                  <a:latin typeface="方正启体简体" pitchFamily="65" charset="-122"/>
                  <a:ea typeface="方正启体简体" pitchFamily="65" charset="-122"/>
                  <a:cs typeface="Consolas" panose="020B0609020204030204" pitchFamily="49" charset="0"/>
                </a:rPr>
                <a:t>有穷性</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：数据元素个数是有限的。</a:t>
              </a:r>
              <a:endPar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ct val="110000"/>
                </a:lnSpc>
                <a:buBlip>
                  <a:blip r:embed="rId2"/>
                </a:buBlip>
              </a:pPr>
              <a:r>
                <a:rPr kumimoji="1" lang="zh-CN" altLang="en-US" sz="2000">
                  <a:solidFill>
                    <a:srgbClr val="C00000"/>
                  </a:solidFill>
                  <a:latin typeface="方正启体简体" pitchFamily="65" charset="-122"/>
                  <a:ea typeface="方正启体简体" pitchFamily="65" charset="-122"/>
                  <a:cs typeface="Consolas" panose="020B0609020204030204" pitchFamily="49" charset="0"/>
                </a:rPr>
                <a:t>一致性</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：所有元素性质相同，即属于同一数据类型。</a:t>
              </a:r>
              <a:endPar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ct val="110000"/>
                </a:lnSpc>
                <a:buBlip>
                  <a:blip r:embed="rId2"/>
                </a:buBlip>
              </a:pPr>
              <a:r>
                <a:rPr kumimoji="1" lang="zh-CN" altLang="en-US" sz="2000">
                  <a:solidFill>
                    <a:srgbClr val="C00000"/>
                  </a:solidFill>
                  <a:latin typeface="方正启体简体" pitchFamily="65" charset="-122"/>
                  <a:ea typeface="方正启体简体" pitchFamily="65" charset="-122"/>
                  <a:cs typeface="Consolas" panose="020B0609020204030204" pitchFamily="49" charset="0"/>
                </a:rPr>
                <a:t>序列性</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：数据元素由逻辑序号唯一确定。一个线性表中可以有相同值的元素。</a:t>
              </a:r>
              <a:endPar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ct val="110000"/>
                </a:lnSpc>
                <a:buBlip>
                  <a:blip r:embed="rId2"/>
                </a:buBlip>
              </a:pPr>
              <a:r>
                <a:rPr kumimoji="1" lang="zh-CN" altLang="en-US" sz="2000">
                  <a:solidFill>
                    <a:srgbClr val="C00000"/>
                  </a:solidFill>
                  <a:latin typeface="方正启体简体" pitchFamily="65" charset="-122"/>
                  <a:ea typeface="方正启体简体" pitchFamily="65" charset="-122"/>
                  <a:cs typeface="Consolas" panose="020B0609020204030204" pitchFamily="49" charset="0"/>
                </a:rPr>
                <a:t>逻辑关系：</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元素之间为</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对</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的关系。</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 name="下箭头 9">
              <a:extLst>
                <a:ext uri="{FF2B5EF4-FFF2-40B4-BE49-F238E27FC236}">
                  <a16:creationId xmlns:a16="http://schemas.microsoft.com/office/drawing/2014/main" id="{5475FC5A-F511-4BA8-B0E0-0D47787B5128}"/>
                </a:ext>
              </a:extLst>
            </p:cNvPr>
            <p:cNvSpPr/>
            <p:nvPr/>
          </p:nvSpPr>
          <p:spPr>
            <a:xfrm>
              <a:off x="4743375" y="1994204"/>
              <a:ext cx="214314" cy="285752"/>
            </a:xfrm>
            <a:prstGeom prst="down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grpSp>
      <p:sp>
        <p:nvSpPr>
          <p:cNvPr id="12" name="标题 1">
            <a:extLst>
              <a:ext uri="{FF2B5EF4-FFF2-40B4-BE49-F238E27FC236}">
                <a16:creationId xmlns:a16="http://schemas.microsoft.com/office/drawing/2014/main" id="{8C8B446E-444B-4F00-ADB7-ACAA84F4AAAE}"/>
              </a:ext>
            </a:extLst>
          </p:cNvPr>
          <p:cNvSpPr txBox="1">
            <a:spLocks/>
          </p:cNvSpPr>
          <p:nvPr/>
        </p:nvSpPr>
        <p:spPr>
          <a:xfrm>
            <a:off x="2843808" y="5413653"/>
            <a:ext cx="3528392" cy="548640"/>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kern="1200" cap="all" baseline="0">
                <a:solidFill>
                  <a:schemeClr val="tx1"/>
                </a:solidFill>
                <a:latin typeface="黑体" panose="02010609060101010101" pitchFamily="49" charset="-122"/>
                <a:ea typeface="黑体" panose="02010609060101010101" pitchFamily="49" charset="-122"/>
                <a:cs typeface="+mj-cs"/>
              </a:defRPr>
            </a:lvl1pPr>
          </a:lstStyle>
          <a:p>
            <a:r>
              <a:rPr lang="zh-CN" altLang="zh-CN" dirty="0"/>
              <a:t>线性结构的</a:t>
            </a:r>
            <a:r>
              <a:rPr lang="zh-CN" altLang="zh-CN" b="1" dirty="0">
                <a:solidFill>
                  <a:srgbClr val="FF0000"/>
                </a:solidFill>
              </a:rPr>
              <a:t>基本特点</a:t>
            </a:r>
            <a:endParaRPr lang="zh-CN" altLang="en-US" b="1" dirty="0"/>
          </a:p>
        </p:txBody>
      </p:sp>
    </p:spTree>
    <p:extLst>
      <p:ext uri="{BB962C8B-B14F-4D97-AF65-F5344CB8AC3E}">
        <p14:creationId xmlns:p14="http://schemas.microsoft.com/office/powerpoint/2010/main" val="27328372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60" y="1376772"/>
            <a:ext cx="8215370" cy="4104456"/>
          </a:xfrm>
        </p:spPr>
        <p:txBody>
          <a:bodyPr/>
          <a:lstStyle/>
          <a:p>
            <a:r>
              <a:rPr lang="zh-CN" altLang="zh-CN" dirty="0"/>
              <a:t>在数据元素的非空有限集中，</a:t>
            </a:r>
            <a:endParaRPr lang="en-US" altLang="zh-CN" dirty="0"/>
          </a:p>
          <a:p>
            <a:pPr indent="-432000"/>
            <a:r>
              <a:rPr lang="zh-CN" altLang="zh-CN" b="0" dirty="0"/>
              <a:t>（1）存在唯一的一个被称做“</a:t>
            </a:r>
            <a:r>
              <a:rPr lang="zh-CN" altLang="zh-CN" dirty="0"/>
              <a:t>第一个</a:t>
            </a:r>
            <a:r>
              <a:rPr lang="zh-CN" altLang="zh-CN" b="0" dirty="0"/>
              <a:t>”的数据元素；</a:t>
            </a:r>
            <a:endParaRPr lang="en-US" altLang="zh-CN" b="0" dirty="0"/>
          </a:p>
          <a:p>
            <a:pPr indent="-432000"/>
            <a:r>
              <a:rPr lang="zh-CN" altLang="zh-CN" b="0" dirty="0"/>
              <a:t>（2）存在唯一的一个被称做“</a:t>
            </a:r>
            <a:r>
              <a:rPr lang="zh-CN" altLang="zh-CN" dirty="0"/>
              <a:t>最后一个</a:t>
            </a:r>
            <a:r>
              <a:rPr lang="zh-CN" altLang="zh-CN" b="0" dirty="0"/>
              <a:t>”的数据元素；</a:t>
            </a:r>
            <a:endParaRPr lang="en-US" altLang="zh-CN" b="0" dirty="0"/>
          </a:p>
          <a:p>
            <a:pPr indent="-432000"/>
            <a:r>
              <a:rPr lang="zh-CN" altLang="zh-CN" b="0" dirty="0"/>
              <a:t>（3）除第一个元素外，集合中的每个数据元素</a:t>
            </a:r>
            <a:r>
              <a:rPr lang="zh-CN" altLang="zh-CN" dirty="0"/>
              <a:t>均只有一个前驱</a:t>
            </a:r>
            <a:r>
              <a:rPr lang="zh-CN" altLang="zh-CN" b="0" dirty="0"/>
              <a:t>；</a:t>
            </a:r>
            <a:endParaRPr lang="en-US" altLang="zh-CN" b="0" dirty="0"/>
          </a:p>
          <a:p>
            <a:pPr indent="-432000"/>
            <a:r>
              <a:rPr lang="zh-CN" altLang="zh-CN" b="0" dirty="0"/>
              <a:t>（4）除最后一个元素外，集合中的每个数据元素</a:t>
            </a:r>
            <a:r>
              <a:rPr lang="zh-CN" altLang="zh-CN" dirty="0"/>
              <a:t>均只有一个后继</a:t>
            </a:r>
            <a:r>
              <a:rPr lang="zh-CN" altLang="en-US" b="0" dirty="0"/>
              <a:t>。</a:t>
            </a:r>
          </a:p>
        </p:txBody>
      </p:sp>
    </p:spTree>
    <p:extLst>
      <p:ext uri="{BB962C8B-B14F-4D97-AF65-F5344CB8AC3E}">
        <p14:creationId xmlns:p14="http://schemas.microsoft.com/office/powerpoint/2010/main" val="34833029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2.1  </a:t>
            </a:r>
            <a:r>
              <a:rPr lang="zh-CN" altLang="zh-CN" b="1" dirty="0"/>
              <a:t>线性表的定义</a:t>
            </a:r>
            <a:endParaRPr lang="zh-CN" altLang="en-US" dirty="0"/>
          </a:p>
        </p:txBody>
      </p:sp>
      <p:sp>
        <p:nvSpPr>
          <p:cNvPr id="3" name="内容占位符 2"/>
          <p:cNvSpPr>
            <a:spLocks noGrp="1"/>
          </p:cNvSpPr>
          <p:nvPr>
            <p:ph idx="1"/>
          </p:nvPr>
        </p:nvSpPr>
        <p:spPr>
          <a:xfrm>
            <a:off x="827584" y="1500174"/>
            <a:ext cx="7959258" cy="4857784"/>
          </a:xfrm>
        </p:spPr>
        <p:txBody>
          <a:bodyPr>
            <a:normAutofit lnSpcReduction="10000"/>
          </a:bodyPr>
          <a:lstStyle/>
          <a:p>
            <a:pPr>
              <a:spcBef>
                <a:spcPts val="600"/>
              </a:spcBef>
            </a:pPr>
            <a:r>
              <a:rPr lang="en-US" altLang="zh-CN" b="0" dirty="0"/>
              <a:t>	</a:t>
            </a:r>
            <a:r>
              <a:rPr lang="zh-CN" altLang="zh-CN" dirty="0">
                <a:solidFill>
                  <a:srgbClr val="FF0000"/>
                </a:solidFill>
              </a:rPr>
              <a:t>线性表</a:t>
            </a:r>
            <a:r>
              <a:rPr lang="zh-CN" altLang="zh-CN" dirty="0"/>
              <a:t>是由长度为n（n≥0)的一组结点</a:t>
            </a:r>
            <a:r>
              <a:rPr lang="en-US" altLang="zh-CN" dirty="0"/>
              <a:t>a</a:t>
            </a:r>
            <a:r>
              <a:rPr lang="en-US" altLang="zh-CN" baseline="-25000" dirty="0"/>
              <a:t>0</a:t>
            </a:r>
            <a:r>
              <a:rPr lang="en-US" altLang="zh-CN" dirty="0"/>
              <a:t>, a</a:t>
            </a:r>
            <a:r>
              <a:rPr lang="en-US" altLang="zh-CN" baseline="-25000" dirty="0"/>
              <a:t>1</a:t>
            </a:r>
            <a:r>
              <a:rPr lang="en-US" altLang="zh-CN" dirty="0"/>
              <a:t>, …, a</a:t>
            </a:r>
            <a:r>
              <a:rPr lang="en-US" altLang="zh-CN" baseline="-25000" dirty="0"/>
              <a:t>n-2</a:t>
            </a:r>
            <a:r>
              <a:rPr lang="en-US" altLang="zh-CN" dirty="0"/>
              <a:t>, a</a:t>
            </a:r>
            <a:r>
              <a:rPr lang="en-US" altLang="zh-CN" baseline="-25000" dirty="0"/>
              <a:t>n-1</a:t>
            </a:r>
            <a:r>
              <a:rPr lang="zh-CN" altLang="en-US" dirty="0"/>
              <a:t>组成的</a:t>
            </a:r>
            <a:r>
              <a:rPr lang="zh-CN" altLang="zh-CN" dirty="0"/>
              <a:t>有限序列。 </a:t>
            </a:r>
          </a:p>
          <a:p>
            <a:pPr>
              <a:spcBef>
                <a:spcPts val="600"/>
              </a:spcBef>
            </a:pPr>
            <a:r>
              <a:rPr lang="en-US" altLang="zh-CN" dirty="0"/>
              <a:t>    			L= (a</a:t>
            </a:r>
            <a:r>
              <a:rPr lang="en-US" altLang="zh-CN" baseline="-25000" dirty="0"/>
              <a:t>0</a:t>
            </a:r>
            <a:r>
              <a:rPr lang="en-US" altLang="zh-CN" dirty="0"/>
              <a:t>, a</a:t>
            </a:r>
            <a:r>
              <a:rPr lang="en-US" altLang="zh-CN" baseline="-25000" dirty="0"/>
              <a:t>1</a:t>
            </a:r>
            <a:r>
              <a:rPr lang="en-US" altLang="zh-CN" dirty="0"/>
              <a:t>, …, a</a:t>
            </a:r>
            <a:r>
              <a:rPr lang="en-US" altLang="zh-CN" baseline="-25000" dirty="0"/>
              <a:t>n-2</a:t>
            </a:r>
            <a:r>
              <a:rPr lang="en-US" altLang="zh-CN" dirty="0"/>
              <a:t>, a</a:t>
            </a:r>
            <a:r>
              <a:rPr lang="en-US" altLang="zh-CN" baseline="-25000" dirty="0"/>
              <a:t>n-1</a:t>
            </a:r>
            <a:r>
              <a:rPr lang="en-US" altLang="zh-CN" dirty="0"/>
              <a:t>), </a:t>
            </a:r>
            <a:r>
              <a:rPr lang="en-US" altLang="zh-CN" b="0" dirty="0"/>
              <a:t> L</a:t>
            </a:r>
            <a:r>
              <a:rPr lang="zh-CN" altLang="en-US" b="0" dirty="0"/>
              <a:t>为</a:t>
            </a:r>
            <a:r>
              <a:rPr lang="zh-CN" altLang="en-US" dirty="0"/>
              <a:t>线性表名称</a:t>
            </a:r>
            <a:endParaRPr lang="zh-CN" altLang="zh-CN" dirty="0"/>
          </a:p>
          <a:p>
            <a:pPr>
              <a:spcBef>
                <a:spcPts val="1200"/>
              </a:spcBef>
            </a:pPr>
            <a:r>
              <a:rPr lang="en-US" altLang="zh-CN" b="0" dirty="0"/>
              <a:t>	</a:t>
            </a:r>
            <a:r>
              <a:rPr lang="zh-CN" altLang="zh-CN" b="0" dirty="0"/>
              <a:t>当n=0时，线性表为空，称为</a:t>
            </a:r>
            <a:r>
              <a:rPr lang="zh-CN" altLang="zh-CN" dirty="0">
                <a:solidFill>
                  <a:srgbClr val="FF0000"/>
                </a:solidFill>
              </a:rPr>
              <a:t>空表</a:t>
            </a:r>
            <a:r>
              <a:rPr lang="zh-CN" altLang="zh-CN" b="0" dirty="0"/>
              <a:t>。</a:t>
            </a:r>
          </a:p>
          <a:p>
            <a:r>
              <a:rPr lang="en-US" altLang="zh-CN" b="0" dirty="0"/>
              <a:t>	</a:t>
            </a:r>
            <a:r>
              <a:rPr lang="zh-CN" altLang="zh-CN" b="0" dirty="0"/>
              <a:t>如果n＞0，线性表为非空表，在非空表中的每个数据元素都有一个确定的位置，</a:t>
            </a:r>
            <a:r>
              <a:rPr lang="zh-CN" altLang="zh-CN" b="0" dirty="0">
                <a:solidFill>
                  <a:srgbClr val="FF0000"/>
                </a:solidFill>
              </a:rPr>
              <a:t>a</a:t>
            </a:r>
            <a:r>
              <a:rPr lang="en-US" altLang="zh-CN" b="0" baseline="-25000" dirty="0">
                <a:solidFill>
                  <a:srgbClr val="FF0000"/>
                </a:solidFill>
              </a:rPr>
              <a:t>0</a:t>
            </a:r>
            <a:r>
              <a:rPr lang="zh-CN" altLang="zh-CN" b="0" dirty="0"/>
              <a:t>是线性表的</a:t>
            </a:r>
            <a:r>
              <a:rPr lang="zh-CN" altLang="zh-CN" dirty="0">
                <a:solidFill>
                  <a:srgbClr val="FF0000"/>
                </a:solidFill>
              </a:rPr>
              <a:t>第一个数据元素</a:t>
            </a:r>
            <a:r>
              <a:rPr lang="zh-CN" altLang="zh-CN" b="0" dirty="0"/>
              <a:t>，表中的每一个结点a</a:t>
            </a:r>
            <a:r>
              <a:rPr lang="zh-CN" altLang="zh-CN" b="0" baseline="-25000" dirty="0"/>
              <a:t>i</a:t>
            </a:r>
            <a:r>
              <a:rPr lang="zh-CN" altLang="zh-CN" b="0" dirty="0"/>
              <a:t> (i=</a:t>
            </a:r>
            <a:r>
              <a:rPr lang="en-US" altLang="zh-CN" b="0" dirty="0"/>
              <a:t>0</a:t>
            </a:r>
            <a:r>
              <a:rPr lang="zh-CN" altLang="zh-CN" b="0" dirty="0"/>
              <a:t>,…,n</a:t>
            </a:r>
            <a:r>
              <a:rPr lang="en-US" altLang="zh-CN" b="0" dirty="0"/>
              <a:t>-1</a:t>
            </a:r>
            <a:r>
              <a:rPr lang="zh-CN" altLang="zh-CN" b="0" dirty="0"/>
              <a:t>)都有一个</a:t>
            </a:r>
            <a:r>
              <a:rPr lang="zh-CN" altLang="zh-CN" dirty="0"/>
              <a:t>直接前驱结点</a:t>
            </a:r>
            <a:r>
              <a:rPr lang="zh-CN" altLang="zh-CN" b="0" dirty="0"/>
              <a:t>a</a:t>
            </a:r>
            <a:r>
              <a:rPr lang="zh-CN" altLang="zh-CN" b="0" baseline="-25000" dirty="0"/>
              <a:t>i-1</a:t>
            </a:r>
            <a:r>
              <a:rPr lang="zh-CN" altLang="zh-CN" b="0" dirty="0"/>
              <a:t>和一个</a:t>
            </a:r>
            <a:r>
              <a:rPr lang="zh-CN" altLang="zh-CN" dirty="0"/>
              <a:t>直接后继结点</a:t>
            </a:r>
            <a:r>
              <a:rPr lang="zh-CN" altLang="zh-CN" b="0" dirty="0"/>
              <a:t>a</a:t>
            </a:r>
            <a:r>
              <a:rPr lang="zh-CN" altLang="zh-CN" b="0" baseline="-25000" dirty="0"/>
              <a:t>i+1</a:t>
            </a:r>
            <a:r>
              <a:rPr lang="zh-CN" altLang="zh-CN" b="0" dirty="0"/>
              <a:t>，</a:t>
            </a:r>
            <a:r>
              <a:rPr lang="zh-CN" altLang="zh-CN" b="0" dirty="0">
                <a:solidFill>
                  <a:srgbClr val="FF0000"/>
                </a:solidFill>
              </a:rPr>
              <a:t>a</a:t>
            </a:r>
            <a:r>
              <a:rPr lang="zh-CN" altLang="zh-CN" b="0" baseline="-25000" dirty="0">
                <a:solidFill>
                  <a:srgbClr val="FF0000"/>
                </a:solidFill>
              </a:rPr>
              <a:t>n</a:t>
            </a:r>
            <a:r>
              <a:rPr lang="en-US" altLang="zh-CN" b="0" baseline="-25000" dirty="0">
                <a:solidFill>
                  <a:srgbClr val="FF0000"/>
                </a:solidFill>
              </a:rPr>
              <a:t>-1</a:t>
            </a:r>
            <a:r>
              <a:rPr lang="zh-CN" altLang="zh-CN" b="0" dirty="0"/>
              <a:t>是线性表的</a:t>
            </a:r>
            <a:r>
              <a:rPr lang="zh-CN" altLang="zh-CN" dirty="0">
                <a:solidFill>
                  <a:srgbClr val="FF0000"/>
                </a:solidFill>
              </a:rPr>
              <a:t>最后一个数据元素</a:t>
            </a:r>
            <a:r>
              <a:rPr lang="zh-CN" altLang="zh-CN" b="0" dirty="0"/>
              <a:t>。</a:t>
            </a:r>
            <a:endParaRPr lang="en-US" altLang="zh-CN" b="0" dirty="0"/>
          </a:p>
          <a:p>
            <a:r>
              <a:rPr lang="en-US" altLang="zh-CN" b="0" dirty="0"/>
              <a:t>     </a:t>
            </a:r>
            <a:r>
              <a:rPr lang="zh-CN" altLang="zh-CN" dirty="0">
                <a:solidFill>
                  <a:srgbClr val="FF0000"/>
                </a:solidFill>
              </a:rPr>
              <a:t>线性表的长度</a:t>
            </a:r>
            <a:r>
              <a:rPr lang="zh-CN" altLang="zh-CN" b="0" dirty="0"/>
              <a:t>为数据元素的数目</a:t>
            </a:r>
            <a:r>
              <a:rPr lang="en-US" altLang="zh-CN" b="0" dirty="0">
                <a:solidFill>
                  <a:srgbClr val="FF0000"/>
                </a:solidFill>
              </a:rPr>
              <a:t>n</a:t>
            </a:r>
            <a:r>
              <a:rPr lang="zh-CN" altLang="zh-CN" b="0" dirty="0"/>
              <a:t>。</a:t>
            </a:r>
            <a:endParaRPr lang="zh-CN" altLang="en-US" b="0" dirty="0"/>
          </a:p>
        </p:txBody>
      </p:sp>
    </p:spTree>
    <p:extLst>
      <p:ext uri="{BB962C8B-B14F-4D97-AF65-F5344CB8AC3E}">
        <p14:creationId xmlns:p14="http://schemas.microsoft.com/office/powerpoint/2010/main" val="3106819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251520" y="1428736"/>
            <a:ext cx="8784976" cy="4500594"/>
          </a:xfrm>
        </p:spPr>
        <p:txBody>
          <a:bodyPr/>
          <a:lstStyle/>
          <a:p>
            <a:r>
              <a:rPr lang="zh-CN" altLang="en-US" dirty="0"/>
              <a:t>根据线性表的定义，其形式化描述为： </a:t>
            </a:r>
          </a:p>
          <a:p>
            <a:r>
              <a:rPr lang="en-US" altLang="zh-CN" dirty="0"/>
              <a:t>	</a:t>
            </a:r>
            <a:r>
              <a:rPr lang="zh-CN" altLang="en-US" dirty="0">
                <a:solidFill>
                  <a:srgbClr val="FF0000"/>
                </a:solidFill>
              </a:rPr>
              <a:t>长度为</a:t>
            </a:r>
            <a:r>
              <a:rPr lang="en-US" altLang="zh-CN" dirty="0">
                <a:solidFill>
                  <a:srgbClr val="FF0000"/>
                </a:solidFill>
              </a:rPr>
              <a:t>n</a:t>
            </a:r>
            <a:r>
              <a:rPr lang="zh-CN" altLang="en-US" dirty="0">
                <a:solidFill>
                  <a:srgbClr val="FF0000"/>
                </a:solidFill>
              </a:rPr>
              <a:t>的线性表是一种数据结构 </a:t>
            </a:r>
            <a:r>
              <a:rPr lang="en-US" altLang="zh-CN" dirty="0">
                <a:solidFill>
                  <a:srgbClr val="FF0000"/>
                </a:solidFill>
              </a:rPr>
              <a:t>L = ( D, R )</a:t>
            </a:r>
          </a:p>
          <a:p>
            <a:r>
              <a:rPr lang="zh-CN" altLang="en-US" dirty="0"/>
              <a:t>其中</a:t>
            </a:r>
            <a:r>
              <a:rPr lang="en-US" altLang="zh-CN" dirty="0"/>
              <a:t>:</a:t>
            </a:r>
          </a:p>
          <a:p>
            <a:r>
              <a:rPr lang="en-US" altLang="zh-CN" b="0" dirty="0"/>
              <a:t>	</a:t>
            </a:r>
            <a:r>
              <a:rPr lang="en-US" altLang="zh-CN" dirty="0">
                <a:solidFill>
                  <a:srgbClr val="FF0000"/>
                </a:solidFill>
              </a:rPr>
              <a:t>D</a:t>
            </a:r>
            <a:r>
              <a:rPr lang="zh-CN" altLang="en-US" dirty="0">
                <a:solidFill>
                  <a:srgbClr val="FF0000"/>
                </a:solidFill>
              </a:rPr>
              <a:t>是数据集</a:t>
            </a:r>
            <a:r>
              <a:rPr lang="zh-CN" altLang="en-US" b="0" dirty="0"/>
              <a:t>，即由</a:t>
            </a:r>
            <a:r>
              <a:rPr lang="en-US" altLang="zh-CN" b="0" dirty="0"/>
              <a:t>n</a:t>
            </a:r>
            <a:r>
              <a:rPr lang="zh-CN" altLang="en-US" b="0" dirty="0"/>
              <a:t>个数据元素组成的集合，</a:t>
            </a:r>
            <a:r>
              <a:rPr lang="en-US" altLang="zh-CN" b="0" dirty="0"/>
              <a:t>D={</a:t>
            </a:r>
            <a:r>
              <a:rPr lang="en-US" altLang="zh-CN" b="0" dirty="0" err="1"/>
              <a:t>a</a:t>
            </a:r>
            <a:r>
              <a:rPr lang="en-US" altLang="zh-CN" b="0" baseline="-25000" dirty="0" err="1"/>
              <a:t>i</a:t>
            </a:r>
            <a:r>
              <a:rPr lang="en-US" altLang="zh-CN" b="0" baseline="-25000" dirty="0"/>
              <a:t> </a:t>
            </a:r>
            <a:r>
              <a:rPr lang="en-US" altLang="zh-CN" b="0" dirty="0"/>
              <a:t>| </a:t>
            </a:r>
            <a:r>
              <a:rPr lang="en-US" altLang="zh-CN" b="0" dirty="0" err="1"/>
              <a:t>i</a:t>
            </a:r>
            <a:r>
              <a:rPr lang="en-US" altLang="zh-CN" b="0" dirty="0"/>
              <a:t>=0,…,n-1}</a:t>
            </a:r>
            <a:r>
              <a:rPr lang="zh-CN" altLang="en-US" b="0" dirty="0"/>
              <a:t>；</a:t>
            </a:r>
            <a:endParaRPr lang="en-US" altLang="zh-CN" b="0" dirty="0"/>
          </a:p>
          <a:p>
            <a:r>
              <a:rPr lang="en-US" altLang="zh-CN" b="0" dirty="0"/>
              <a:t>	</a:t>
            </a:r>
            <a:r>
              <a:rPr lang="en-US" altLang="zh-CN" dirty="0">
                <a:solidFill>
                  <a:srgbClr val="FF0000"/>
                </a:solidFill>
              </a:rPr>
              <a:t>R</a:t>
            </a:r>
            <a:r>
              <a:rPr lang="zh-CN" altLang="en-US" dirty="0">
                <a:solidFill>
                  <a:srgbClr val="FF0000"/>
                </a:solidFill>
              </a:rPr>
              <a:t>是关系集</a:t>
            </a:r>
            <a:r>
              <a:rPr lang="zh-CN" altLang="en-US" b="0" dirty="0"/>
              <a:t>，即确定了</a:t>
            </a:r>
            <a:r>
              <a:rPr lang="en-US" altLang="zh-CN" b="0" dirty="0"/>
              <a:t>D</a:t>
            </a:r>
            <a:r>
              <a:rPr lang="zh-CN" altLang="en-US" b="0" dirty="0"/>
              <a:t>中数据元素的关系，</a:t>
            </a:r>
            <a:r>
              <a:rPr lang="en-US" b="0" dirty="0"/>
              <a:t>R={</a:t>
            </a:r>
            <a:r>
              <a:rPr lang="en-US" altLang="zh-CN" b="0" dirty="0"/>
              <a:t>&lt;a</a:t>
            </a:r>
            <a:r>
              <a:rPr lang="en-US" altLang="zh-CN" b="0" baseline="-25000" dirty="0"/>
              <a:t>i-1</a:t>
            </a:r>
            <a:r>
              <a:rPr lang="zh-CN" altLang="en-US" b="0" dirty="0"/>
              <a:t> </a:t>
            </a:r>
            <a:r>
              <a:rPr lang="en-US" altLang="zh-CN" b="0" dirty="0"/>
              <a:t>, </a:t>
            </a:r>
            <a:r>
              <a:rPr lang="en-US" altLang="zh-CN" b="0" dirty="0" err="1"/>
              <a:t>a</a:t>
            </a:r>
            <a:r>
              <a:rPr lang="en-US" altLang="zh-CN" b="0" baseline="-25000" dirty="0" err="1"/>
              <a:t>i</a:t>
            </a:r>
            <a:r>
              <a:rPr lang="zh-CN" altLang="en-US" b="0" dirty="0"/>
              <a:t> </a:t>
            </a:r>
            <a:r>
              <a:rPr lang="en-US" altLang="zh-CN" b="0" dirty="0"/>
              <a:t>&gt;| a</a:t>
            </a:r>
            <a:r>
              <a:rPr lang="en-US" altLang="zh-CN" b="0" baseline="-25000" dirty="0"/>
              <a:t>i-1</a:t>
            </a:r>
            <a:r>
              <a:rPr lang="zh-CN" altLang="en-US" b="0" dirty="0"/>
              <a:t>，</a:t>
            </a:r>
            <a:r>
              <a:rPr lang="en-US" altLang="zh-CN" b="0" dirty="0" err="1"/>
              <a:t>a</a:t>
            </a:r>
            <a:r>
              <a:rPr lang="en-US" altLang="zh-CN" b="0" baseline="-25000" dirty="0" err="1"/>
              <a:t>i</a:t>
            </a:r>
            <a:r>
              <a:rPr lang="zh-CN" altLang="en-US" b="0" dirty="0"/>
              <a:t> ∈</a:t>
            </a:r>
            <a:r>
              <a:rPr lang="en-US" altLang="zh-CN" b="0" dirty="0"/>
              <a:t>D</a:t>
            </a:r>
            <a:r>
              <a:rPr lang="zh-CN" altLang="en-US" b="0" dirty="0"/>
              <a:t>，</a:t>
            </a:r>
            <a:r>
              <a:rPr lang="en-US" altLang="zh-CN" b="0" dirty="0"/>
              <a:t>i=1,…,n-1</a:t>
            </a:r>
            <a:r>
              <a:rPr lang="en-US" b="0" dirty="0"/>
              <a:t>}</a:t>
            </a:r>
            <a:r>
              <a:rPr lang="zh-CN" altLang="en-US" b="0" dirty="0"/>
              <a:t>。</a:t>
            </a:r>
          </a:p>
        </p:txBody>
      </p:sp>
      <p:sp>
        <p:nvSpPr>
          <p:cNvPr id="22533"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3794635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a:xfrm>
            <a:off x="899592" y="1009023"/>
            <a:ext cx="7786742" cy="500066"/>
          </a:xfrm>
          <a:prstGeom prst="rect">
            <a:avLst/>
          </a:prstGeom>
        </p:spPr>
        <p:txBody>
          <a:bodyPr vert="horz" lIns="91440" tIns="45720" rIns="91440" bIns="45720" rtlCol="0" anchor="ctr">
            <a:noAutofit/>
          </a:bodyPr>
          <a:lstStyle/>
          <a:p>
            <a:pPr lvl="0">
              <a:lnSpc>
                <a:spcPct val="150000"/>
              </a:lnSpc>
              <a:spcBef>
                <a:spcPct val="0"/>
              </a:spcBef>
            </a:pPr>
            <a:r>
              <a:rPr lang="zh-CN" altLang="zh-CN" sz="2000" dirty="0">
                <a:latin typeface="楷体" panose="02010609060101010101" pitchFamily="49" charset="-122"/>
                <a:ea typeface="楷体" panose="02010609060101010101" pitchFamily="49" charset="-122"/>
                <a:cs typeface="Times New Roman" panose="02020603050405020304" pitchFamily="18" charset="0"/>
              </a:rPr>
              <a:t>线性表用一个</a:t>
            </a:r>
            <a:r>
              <a:rPr lang="zh-CN" altLang="zh-CN" sz="2000" b="1" dirty="0">
                <a:solidFill>
                  <a:srgbClr val="FF0000"/>
                </a:solidFill>
                <a:latin typeface="楷体" panose="02010609060101010101" pitchFamily="49" charset="-122"/>
                <a:ea typeface="楷体" panose="02010609060101010101" pitchFamily="49" charset="-122"/>
                <a:cs typeface="Times New Roman" panose="02020603050405020304" pitchFamily="18" charset="0"/>
              </a:rPr>
              <a:t>抽象数据类型</a:t>
            </a:r>
            <a:r>
              <a:rPr lang="en-US" altLang="zh-CN" sz="2000" dirty="0">
                <a:latin typeface="楷体" panose="02010609060101010101" pitchFamily="49" charset="-122"/>
                <a:ea typeface="楷体" panose="02010609060101010101" pitchFamily="49" charset="-122"/>
                <a:cs typeface="Times New Roman" panose="02020603050405020304" pitchFamily="18" charset="0"/>
              </a:rPr>
              <a:t>(</a:t>
            </a:r>
            <a:r>
              <a:rPr lang="en-US" altLang="zh-CN" sz="2000" dirty="0">
                <a:latin typeface="楷体" panose="02010609060101010101" pitchFamily="49" charset="-122"/>
                <a:ea typeface="楷体" panose="02010609060101010101" pitchFamily="49" charset="-122"/>
              </a:rPr>
              <a:t>Abstract Data Type</a:t>
            </a:r>
            <a:r>
              <a:rPr lang="en-US" altLang="zh-CN" sz="2000" dirty="0">
                <a:latin typeface="楷体" panose="02010609060101010101" pitchFamily="49" charset="-122"/>
                <a:ea typeface="楷体" panose="02010609060101010101" pitchFamily="49" charset="-122"/>
                <a:cs typeface="Times New Roman" panose="02020603050405020304" pitchFamily="18" charset="0"/>
              </a:rPr>
              <a:t>, </a:t>
            </a:r>
            <a:r>
              <a:rPr lang="en-US" altLang="zh-CN" sz="2000" b="1" dirty="0">
                <a:solidFill>
                  <a:srgbClr val="FF0000"/>
                </a:solidFill>
                <a:latin typeface="楷体" panose="02010609060101010101" pitchFamily="49" charset="-122"/>
                <a:ea typeface="楷体" panose="02010609060101010101" pitchFamily="49" charset="-122"/>
                <a:cs typeface="Times New Roman" panose="02020603050405020304" pitchFamily="18" charset="0"/>
              </a:rPr>
              <a:t>ADT</a:t>
            </a:r>
            <a:r>
              <a:rPr lang="en-US" altLang="zh-CN" sz="2000" dirty="0">
                <a:latin typeface="楷体" panose="02010609060101010101" pitchFamily="49" charset="-122"/>
                <a:ea typeface="楷体" panose="02010609060101010101" pitchFamily="49" charset="-122"/>
                <a:cs typeface="Times New Roman" panose="02020603050405020304" pitchFamily="18" charset="0"/>
              </a:rPr>
              <a:t>)</a:t>
            </a:r>
            <a:r>
              <a:rPr lang="zh-CN" altLang="zh-CN" sz="2000" dirty="0">
                <a:latin typeface="楷体" panose="02010609060101010101" pitchFamily="49" charset="-122"/>
                <a:ea typeface="楷体" panose="02010609060101010101" pitchFamily="49" charset="-122"/>
                <a:cs typeface="Times New Roman" panose="02020603050405020304" pitchFamily="18" charset="0"/>
              </a:rPr>
              <a:t>定义如下</a:t>
            </a:r>
            <a:r>
              <a:rPr kumimoji="0" lang="zh-CN" altLang="zh-CN" sz="2000" b="1" i="0" u="none" strike="noStrike" kern="1200" cap="all"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j-cs"/>
              </a:rPr>
              <a:t>：</a:t>
            </a:r>
            <a:endParaRPr kumimoji="0" lang="zh-CN" altLang="en-US" sz="2000" b="1" i="0" u="none" strike="noStrike" kern="1200" cap="all"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j-cs"/>
            </a:endParaRPr>
          </a:p>
        </p:txBody>
      </p:sp>
      <p:sp>
        <p:nvSpPr>
          <p:cNvPr id="6" name="TextBox 3">
            <a:extLst>
              <a:ext uri="{FF2B5EF4-FFF2-40B4-BE49-F238E27FC236}">
                <a16:creationId xmlns:a16="http://schemas.microsoft.com/office/drawing/2014/main" id="{5544E830-F1B0-4B30-BB48-79AB356C92AF}"/>
              </a:ext>
            </a:extLst>
          </p:cNvPr>
          <p:cNvSpPr txBox="1"/>
          <p:nvPr/>
        </p:nvSpPr>
        <p:spPr>
          <a:xfrm>
            <a:off x="1835696" y="1844824"/>
            <a:ext cx="5775890" cy="3754120"/>
          </a:xfrm>
          <a:prstGeom prst="rect">
            <a:avLst/>
          </a:prstGeom>
          <a:solidFill>
            <a:schemeClr val="bg1">
              <a:lumMod val="9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1"/>
          </a:lnRef>
          <a:fillRef idx="2">
            <a:schemeClr val="accent1"/>
          </a:fillRef>
          <a:effectRef idx="1">
            <a:schemeClr val="accent1"/>
          </a:effectRef>
          <a:fontRef idx="minor">
            <a:schemeClr val="dk1"/>
          </a:fontRef>
        </p:style>
        <p:txBody>
          <a:bodyPr wrap="square" lIns="180170" tIns="120113" bIns="120113" rtlCol="0">
            <a:spAutoFit/>
          </a:bodyPr>
          <a:lstStyle/>
          <a:p>
            <a:pPr algn="l">
              <a:lnSpc>
                <a:spcPts val="2600"/>
              </a:lnSpc>
              <a:spcBef>
                <a:spcPts val="0"/>
              </a:spcBef>
            </a:pPr>
            <a:r>
              <a:rPr lang="en-US" altLang="zh-CN" sz="1670" dirty="0">
                <a:solidFill>
                  <a:srgbClr val="0000FF"/>
                </a:solidFill>
                <a:latin typeface="Consolas" panose="020B0609020204030204" pitchFamily="49" charset="0"/>
                <a:ea typeface="仿宋" panose="02010609060101010101" pitchFamily="49" charset="-122"/>
                <a:cs typeface="Consolas" panose="020B0609020204030204" pitchFamily="49" charset="0"/>
              </a:rPr>
              <a:t>ADT </a:t>
            </a:r>
            <a:r>
              <a:rPr lang="en-US" altLang="zh-CN" sz="1670" dirty="0">
                <a:solidFill>
                  <a:srgbClr val="FF0000"/>
                </a:solidFill>
                <a:latin typeface="Consolas" panose="020B0609020204030204" pitchFamily="49" charset="0"/>
                <a:ea typeface="仿宋" panose="02010609060101010101" pitchFamily="49" charset="-122"/>
                <a:cs typeface="Consolas" panose="020B0609020204030204" pitchFamily="49" charset="0"/>
              </a:rPr>
              <a:t>List</a:t>
            </a:r>
            <a:endParaRPr lang="zh-CN" altLang="zh-CN" sz="1670" dirty="0">
              <a:solidFill>
                <a:srgbClr val="FF0000"/>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67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a:p>
            <a:pPr algn="l">
              <a:lnSpc>
                <a:spcPts val="2600"/>
              </a:lnSpc>
              <a:spcBef>
                <a:spcPts val="0"/>
              </a:spcBef>
            </a:pPr>
            <a:r>
              <a:rPr lang="en-US" altLang="zh-CN" sz="167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670" dirty="0">
                <a:solidFill>
                  <a:srgbClr val="C00000"/>
                </a:solidFill>
                <a:latin typeface="Consolas" panose="020B0609020204030204" pitchFamily="49" charset="0"/>
                <a:ea typeface="仿宋" panose="02010609060101010101" pitchFamily="49" charset="-122"/>
                <a:cs typeface="Consolas" panose="020B0609020204030204" pitchFamily="49" charset="0"/>
              </a:rPr>
              <a:t>数据对象：</a:t>
            </a:r>
          </a:p>
          <a:p>
            <a:pPr algn="l">
              <a:lnSpc>
                <a:spcPts val="2600"/>
              </a:lnSpc>
              <a:spcBef>
                <a:spcPts val="0"/>
              </a:spcBef>
            </a:pPr>
            <a:r>
              <a:rPr lang="en-US" altLang="zh-CN" sz="1670" i="1" dirty="0">
                <a:solidFill>
                  <a:srgbClr val="0000FF"/>
                </a:solidFill>
                <a:latin typeface="Consolas" panose="020B0609020204030204" pitchFamily="49" charset="0"/>
                <a:ea typeface="仿宋" panose="02010609060101010101" pitchFamily="49" charset="-122"/>
                <a:cs typeface="Consolas" panose="020B0609020204030204" pitchFamily="49" charset="0"/>
              </a:rPr>
              <a:t>     D</a:t>
            </a:r>
            <a:r>
              <a:rPr lang="en-US" altLang="zh-CN" sz="167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70" i="1" dirty="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1670" i="1" baseline="-25000" dirty="0">
                <a:solidFill>
                  <a:srgbClr val="0000FF"/>
                </a:solidFill>
                <a:latin typeface="Consolas" panose="020B0609020204030204" pitchFamily="49" charset="0"/>
                <a:ea typeface="仿宋" panose="02010609060101010101" pitchFamily="49" charset="-122"/>
                <a:cs typeface="Consolas" panose="020B0609020204030204" pitchFamily="49" charset="0"/>
              </a:rPr>
              <a:t>i </a:t>
            </a:r>
            <a:r>
              <a:rPr lang="en-US" altLang="zh-CN" sz="1670" dirty="0">
                <a:solidFill>
                  <a:srgbClr val="0000FF"/>
                </a:solidFill>
                <a:latin typeface="Consolas" panose="020B0609020204030204" pitchFamily="49" charset="0"/>
                <a:ea typeface="仿宋" panose="02010609060101010101" pitchFamily="49" charset="-122"/>
                <a:cs typeface="Consolas" panose="020B0609020204030204" pitchFamily="49" charset="0"/>
              </a:rPr>
              <a:t>| 1</a:t>
            </a:r>
            <a:r>
              <a:rPr lang="en-US" altLang="zh-CN" sz="1670" dirty="0">
                <a:solidFill>
                  <a:srgbClr val="0000FF"/>
                </a:solidFill>
                <a:latin typeface="宋体" panose="02010600030101010101" pitchFamily="2" charset="-122"/>
                <a:ea typeface="宋体" panose="02010600030101010101" pitchFamily="2" charset="-122"/>
                <a:cs typeface="Consolas" panose="020B0609020204030204" pitchFamily="49" charset="0"/>
              </a:rPr>
              <a:t>≤</a:t>
            </a:r>
            <a:r>
              <a:rPr lang="en-US" altLang="zh-CN" sz="1670" i="1" dirty="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670" dirty="0">
                <a:solidFill>
                  <a:srgbClr val="0000FF"/>
                </a:solidFill>
                <a:latin typeface="宋体" panose="02010600030101010101" pitchFamily="2" charset="-122"/>
                <a:ea typeface="宋体" panose="02010600030101010101" pitchFamily="2" charset="-122"/>
                <a:cs typeface="Consolas" panose="020B0609020204030204" pitchFamily="49" charset="0"/>
              </a:rPr>
              <a:t>≤</a:t>
            </a:r>
            <a:r>
              <a:rPr lang="en-US" altLang="zh-CN" sz="1670"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167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70"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670" dirty="0">
                <a:solidFill>
                  <a:srgbClr val="0000FF"/>
                </a:solidFill>
                <a:latin typeface="宋体" panose="02010600030101010101" pitchFamily="2" charset="-122"/>
                <a:ea typeface="宋体" panose="02010600030101010101" pitchFamily="2" charset="-122"/>
                <a:cs typeface="Consolas" panose="020B0609020204030204" pitchFamily="49" charset="0"/>
              </a:rPr>
              <a:t>≥</a:t>
            </a:r>
            <a:r>
              <a:rPr lang="en-US" altLang="zh-CN" sz="1670" dirty="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167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70" i="1" dirty="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1670" i="1" baseline="-25000" dirty="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1670" dirty="0">
                <a:solidFill>
                  <a:srgbClr val="0000FF"/>
                </a:solidFill>
                <a:latin typeface="Consolas" panose="020B0609020204030204" pitchFamily="49" charset="0"/>
                <a:ea typeface="仿宋" panose="02010609060101010101" pitchFamily="49" charset="-122"/>
                <a:cs typeface="Consolas" panose="020B0609020204030204" pitchFamily="49" charset="0"/>
              </a:rPr>
              <a:t>为</a:t>
            </a:r>
            <a:r>
              <a:rPr lang="en-US" altLang="zh-CN" sz="1670" dirty="0" err="1">
                <a:solidFill>
                  <a:srgbClr val="0000FF"/>
                </a:solidFill>
                <a:latin typeface="Consolas" panose="020B0609020204030204" pitchFamily="49" charset="0"/>
                <a:ea typeface="仿宋" panose="02010609060101010101" pitchFamily="49" charset="-122"/>
                <a:cs typeface="Consolas" panose="020B0609020204030204" pitchFamily="49" charset="0"/>
              </a:rPr>
              <a:t>ElemType</a:t>
            </a:r>
            <a:r>
              <a:rPr lang="zh-CN" altLang="zh-CN" sz="1670" dirty="0">
                <a:solidFill>
                  <a:srgbClr val="0000FF"/>
                </a:solidFill>
                <a:latin typeface="Consolas" panose="020B0609020204030204" pitchFamily="49" charset="0"/>
                <a:ea typeface="仿宋" panose="02010609060101010101" pitchFamily="49" charset="-122"/>
                <a:cs typeface="Consolas" panose="020B0609020204030204" pitchFamily="49" charset="0"/>
              </a:rPr>
              <a:t>类型</a:t>
            </a:r>
            <a:r>
              <a:rPr lang="en-US" altLang="zh-CN" sz="167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p>
          <a:p>
            <a:pPr algn="l">
              <a:lnSpc>
                <a:spcPts val="2600"/>
              </a:lnSpc>
              <a:spcBef>
                <a:spcPts val="0"/>
              </a:spcBef>
            </a:pPr>
            <a:r>
              <a:rPr lang="en-US" altLang="zh-CN" sz="167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70" dirty="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en-US" altLang="zh-CN" sz="1670" dirty="0" err="1">
                <a:solidFill>
                  <a:srgbClr val="00B0F0"/>
                </a:solidFill>
                <a:latin typeface="Consolas" panose="020B0609020204030204" pitchFamily="49" charset="0"/>
                <a:ea typeface="仿宋" panose="02010609060101010101" pitchFamily="49" charset="-122"/>
                <a:cs typeface="Consolas" panose="020B0609020204030204" pitchFamily="49" charset="0"/>
              </a:rPr>
              <a:t>ElemType</a:t>
            </a:r>
            <a:r>
              <a:rPr lang="zh-CN" altLang="zh-CN" sz="1670" dirty="0">
                <a:solidFill>
                  <a:srgbClr val="00B0F0"/>
                </a:solidFill>
                <a:latin typeface="Consolas" panose="020B0609020204030204" pitchFamily="49" charset="0"/>
                <a:ea typeface="仿宋" panose="02010609060101010101" pitchFamily="49" charset="-122"/>
                <a:cs typeface="Consolas" panose="020B0609020204030204" pitchFamily="49" charset="0"/>
              </a:rPr>
              <a:t>是自定义类型标识符</a:t>
            </a:r>
          </a:p>
          <a:p>
            <a:pPr algn="l">
              <a:lnSpc>
                <a:spcPts val="2600"/>
              </a:lnSpc>
              <a:spcBef>
                <a:spcPts val="0"/>
              </a:spcBef>
            </a:pPr>
            <a:r>
              <a:rPr lang="en-US" altLang="zh-CN" sz="1670" dirty="0">
                <a:solidFill>
                  <a:srgbClr val="C00000"/>
                </a:solidFill>
                <a:latin typeface="Consolas" panose="020B0609020204030204" pitchFamily="49" charset="0"/>
                <a:ea typeface="仿宋" panose="02010609060101010101" pitchFamily="49" charset="-122"/>
                <a:cs typeface="Consolas" panose="020B0609020204030204" pitchFamily="49" charset="0"/>
              </a:rPr>
              <a:t>  </a:t>
            </a:r>
            <a:r>
              <a:rPr lang="zh-CN" altLang="zh-CN" sz="1670" dirty="0">
                <a:solidFill>
                  <a:srgbClr val="C00000"/>
                </a:solidFill>
                <a:latin typeface="Consolas" panose="020B0609020204030204" pitchFamily="49" charset="0"/>
                <a:ea typeface="仿宋" panose="02010609060101010101" pitchFamily="49" charset="-122"/>
                <a:cs typeface="Consolas" panose="020B0609020204030204" pitchFamily="49" charset="0"/>
              </a:rPr>
              <a:t>数据关系：</a:t>
            </a:r>
          </a:p>
          <a:p>
            <a:pPr algn="l">
              <a:lnSpc>
                <a:spcPts val="2600"/>
              </a:lnSpc>
              <a:spcBef>
                <a:spcPts val="0"/>
              </a:spcBef>
            </a:pPr>
            <a:r>
              <a:rPr lang="en-US" altLang="zh-CN" sz="1670" i="1" dirty="0">
                <a:solidFill>
                  <a:srgbClr val="0000FF"/>
                </a:solidFill>
                <a:latin typeface="Consolas" panose="020B0609020204030204" pitchFamily="49" charset="0"/>
                <a:ea typeface="仿宋" panose="02010609060101010101" pitchFamily="49" charset="-122"/>
                <a:cs typeface="Consolas" panose="020B0609020204030204" pitchFamily="49" charset="0"/>
              </a:rPr>
              <a:t>     R</a:t>
            </a:r>
            <a:r>
              <a:rPr lang="en-US" altLang="zh-CN" sz="1670" dirty="0">
                <a:solidFill>
                  <a:srgbClr val="0000FF"/>
                </a:solidFill>
                <a:latin typeface="Consolas" panose="020B0609020204030204" pitchFamily="49" charset="0"/>
                <a:ea typeface="仿宋" panose="02010609060101010101" pitchFamily="49" charset="-122"/>
                <a:cs typeface="Consolas" panose="020B0609020204030204" pitchFamily="49" charset="0"/>
              </a:rPr>
              <a:t>={&lt;</a:t>
            </a:r>
            <a:r>
              <a:rPr lang="en-US" altLang="zh-CN" sz="1670" i="1" dirty="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1670" i="1" baseline="-25000" dirty="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167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70" i="1" dirty="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1670" i="1" baseline="-25000" dirty="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670" baseline="-250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1670" dirty="0">
                <a:solidFill>
                  <a:srgbClr val="0000FF"/>
                </a:solidFill>
                <a:latin typeface="Consolas" panose="020B0609020204030204" pitchFamily="49" charset="0"/>
                <a:ea typeface="仿宋" panose="02010609060101010101" pitchFamily="49" charset="-122"/>
                <a:cs typeface="Consolas" panose="020B0609020204030204" pitchFamily="49" charset="0"/>
              </a:rPr>
              <a:t>&gt;| </a:t>
            </a:r>
            <a:r>
              <a:rPr lang="en-US" altLang="zh-CN" sz="1670" i="1" dirty="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1670" i="1" baseline="-25000" dirty="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167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70" i="1" dirty="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1670" i="1" baseline="-25000" dirty="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670" baseline="-250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167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70" i="1" dirty="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zh-CN" altLang="zh-CN" sz="167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7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67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167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1670" dirty="0">
                <a:solidFill>
                  <a:srgbClr val="0000FF"/>
                </a:solidFill>
                <a:latin typeface="宋体" panose="02010600030101010101" pitchFamily="2" charset="-122"/>
                <a:ea typeface="宋体" panose="02010600030101010101" pitchFamily="2" charset="-122"/>
                <a:cs typeface="Consolas" panose="020B0609020204030204" pitchFamily="49" charset="0"/>
              </a:rPr>
              <a:t>…</a:t>
            </a:r>
            <a:r>
              <a:rPr lang="zh-CN" altLang="zh-CN" sz="167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70"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67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altLang="zh-CN" sz="167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200000"/>
              </a:lnSpc>
              <a:spcBef>
                <a:spcPts val="0"/>
              </a:spcBef>
            </a:pPr>
            <a:r>
              <a:rPr lang="en-US" altLang="zh-CN" sz="167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670" dirty="0">
                <a:solidFill>
                  <a:srgbClr val="C00000"/>
                </a:solidFill>
                <a:latin typeface="Consolas" panose="020B0609020204030204" pitchFamily="49" charset="0"/>
                <a:ea typeface="仿宋" panose="02010609060101010101" pitchFamily="49" charset="-122"/>
                <a:cs typeface="Consolas" panose="020B0609020204030204" pitchFamily="49" charset="0"/>
              </a:rPr>
              <a:t>基本运算：</a:t>
            </a:r>
            <a:endParaRPr lang="en-US" altLang="zh-CN" sz="1670" dirty="0">
              <a:solidFill>
                <a:srgbClr val="C00000"/>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67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en-US" sz="1670" dirty="0">
                <a:solidFill>
                  <a:srgbClr val="0000FF"/>
                </a:solidFill>
                <a:latin typeface="Consolas" panose="020B0609020204030204" pitchFamily="49" charset="0"/>
                <a:ea typeface="仿宋" panose="02010609060101010101" pitchFamily="49" charset="-122"/>
                <a:cs typeface="Consolas" panose="020B0609020204030204" pitchFamily="49" charset="0"/>
              </a:rPr>
              <a:t>常用运算</a:t>
            </a:r>
            <a:endParaRPr lang="en-US" altLang="zh-CN" sz="167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67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167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Tree>
    <p:extLst>
      <p:ext uri="{BB962C8B-B14F-4D97-AF65-F5344CB8AC3E}">
        <p14:creationId xmlns:p14="http://schemas.microsoft.com/office/powerpoint/2010/main" val="1644074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949D81C1-CC21-49EA-9059-FC3E209F0061}"/>
              </a:ext>
            </a:extLst>
          </p:cNvPr>
          <p:cNvSpPr/>
          <p:nvPr/>
        </p:nvSpPr>
        <p:spPr>
          <a:xfrm>
            <a:off x="467544" y="980728"/>
            <a:ext cx="8280920" cy="5587812"/>
          </a:xfrm>
          <a:prstGeom prst="rect">
            <a:avLst/>
          </a:prstGeom>
        </p:spPr>
        <p:txBody>
          <a:bodyPr wrap="square">
            <a:spAutoFit/>
          </a:bodyPr>
          <a:lstStyle/>
          <a:p>
            <a:pPr marL="457200" indent="-457200">
              <a:lnSpc>
                <a:spcPct val="150000"/>
              </a:lnSpc>
            </a:pPr>
            <a:r>
              <a:rPr kumimoji="1" lang="zh-CN" altLang="en-US" dirty="0">
                <a:solidFill>
                  <a:srgbClr val="FF0000"/>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a:t>
            </a:r>
            <a:r>
              <a:rPr kumimoji="1" lang="zh-CN" altLang="en-US" dirty="0">
                <a:solidFill>
                  <a:srgbClr val="FF0000"/>
                </a:solidFill>
                <a:latin typeface="Consolas" panose="020B0609020204030204" pitchFamily="49" charset="0"/>
                <a:ea typeface="仿宋" panose="02010609060101010101" pitchFamily="49" charset="-122"/>
                <a:cs typeface="Consolas" panose="020B0609020204030204" pitchFamily="49" charset="0"/>
              </a:rPr>
              <a:t>初始化线性表</a:t>
            </a:r>
            <a:r>
              <a:rPr kumimoji="1" lang="en-US" altLang="zh-CN" dirty="0" err="1">
                <a:solidFill>
                  <a:srgbClr val="FF0000"/>
                </a:solidFill>
                <a:latin typeface="Consolas" panose="020B0609020204030204" pitchFamily="49" charset="0"/>
                <a:ea typeface="仿宋" panose="02010609060101010101" pitchFamily="49" charset="-122"/>
                <a:cs typeface="Consolas" panose="020B0609020204030204" pitchFamily="49" charset="0"/>
              </a:rPr>
              <a:t>InitList</a:t>
            </a:r>
            <a:r>
              <a:rPr kumimoji="1" lang="en-US" altLang="zh-CN" dirty="0">
                <a:solidFill>
                  <a:srgbClr val="FF0000"/>
                </a:solidFill>
                <a:latin typeface="Consolas" panose="020B0609020204030204" pitchFamily="49" charset="0"/>
                <a:ea typeface="仿宋" panose="02010609060101010101" pitchFamily="49" charset="-122"/>
                <a:cs typeface="Consolas" panose="020B0609020204030204" pitchFamily="49" charset="0"/>
              </a:rPr>
              <a:t>(&amp;L)</a:t>
            </a:r>
            <a:r>
              <a:rPr kumimoji="1" lang="zh-CN" altLang="en-US" dirty="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dirty="0">
                <a:solidFill>
                  <a:srgbClr val="0000FF"/>
                </a:solidFill>
                <a:latin typeface="Consolas" panose="020B0609020204030204" pitchFamily="49" charset="0"/>
                <a:ea typeface="仿宋" panose="02010609060101010101" pitchFamily="49" charset="-122"/>
                <a:cs typeface="Consolas" panose="020B0609020204030204" pitchFamily="49" charset="0"/>
              </a:rPr>
              <a:t>构造一个空的线性表</a:t>
            </a: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L</a:t>
            </a:r>
            <a:r>
              <a:rPr kumimoji="1" lang="zh-CN" altLang="en-US"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a:p>
            <a:pPr marL="457200" indent="-457200" algn="just">
              <a:lnSpc>
                <a:spcPct val="150000"/>
              </a:lnSpc>
            </a:pPr>
            <a:r>
              <a:rPr kumimoji="1" lang="zh-CN" altLang="en-US" dirty="0">
                <a:solidFill>
                  <a:srgbClr val="FF0000"/>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a:t>
            </a:r>
            <a:r>
              <a:rPr kumimoji="1" lang="zh-CN" altLang="en-US" dirty="0">
                <a:solidFill>
                  <a:srgbClr val="FF0000"/>
                </a:solidFill>
                <a:latin typeface="Consolas" panose="020B0609020204030204" pitchFamily="49" charset="0"/>
                <a:ea typeface="仿宋" panose="02010609060101010101" pitchFamily="49" charset="-122"/>
                <a:cs typeface="Consolas" panose="020B0609020204030204" pitchFamily="49" charset="0"/>
              </a:rPr>
              <a:t>销毁线性表</a:t>
            </a:r>
            <a:r>
              <a:rPr kumimoji="1" lang="en-US" altLang="zh-CN" dirty="0" err="1">
                <a:solidFill>
                  <a:srgbClr val="FF0000"/>
                </a:solidFill>
                <a:latin typeface="Consolas" panose="020B0609020204030204" pitchFamily="49" charset="0"/>
                <a:ea typeface="仿宋" panose="02010609060101010101" pitchFamily="49" charset="-122"/>
                <a:cs typeface="Consolas" panose="020B0609020204030204" pitchFamily="49" charset="0"/>
              </a:rPr>
              <a:t>DestroyList</a:t>
            </a:r>
            <a:r>
              <a:rPr kumimoji="1" lang="en-US" altLang="zh-CN" dirty="0">
                <a:solidFill>
                  <a:srgbClr val="FF0000"/>
                </a:solidFill>
                <a:latin typeface="Consolas" panose="020B0609020204030204" pitchFamily="49" charset="0"/>
                <a:ea typeface="仿宋" panose="02010609060101010101" pitchFamily="49" charset="-122"/>
                <a:cs typeface="Consolas" panose="020B0609020204030204" pitchFamily="49" charset="0"/>
              </a:rPr>
              <a:t>(&amp;L)</a:t>
            </a:r>
            <a:r>
              <a:rPr kumimoji="1" lang="zh-CN" altLang="en-US" dirty="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dirty="0">
                <a:solidFill>
                  <a:srgbClr val="0000FF"/>
                </a:solidFill>
                <a:latin typeface="Consolas" panose="020B0609020204030204" pitchFamily="49" charset="0"/>
                <a:ea typeface="仿宋" panose="02010609060101010101" pitchFamily="49" charset="-122"/>
                <a:cs typeface="Consolas" panose="020B0609020204030204" pitchFamily="49" charset="0"/>
              </a:rPr>
              <a:t>释放线性表</a:t>
            </a: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L</a:t>
            </a:r>
            <a:r>
              <a:rPr kumimoji="1" lang="zh-CN" altLang="en-US" dirty="0">
                <a:solidFill>
                  <a:srgbClr val="0000FF"/>
                </a:solidFill>
                <a:latin typeface="Consolas" panose="020B0609020204030204" pitchFamily="49" charset="0"/>
                <a:ea typeface="仿宋" panose="02010609060101010101" pitchFamily="49" charset="-122"/>
                <a:cs typeface="Consolas" panose="020B0609020204030204" pitchFamily="49" charset="0"/>
              </a:rPr>
              <a:t>占用的内存空间。</a:t>
            </a:r>
            <a:endPar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just">
              <a:lnSpc>
                <a:spcPct val="150000"/>
              </a:lnSpc>
            </a:pPr>
            <a:r>
              <a:rPr kumimoji="1" lang="zh-CN" altLang="en-US" dirty="0">
                <a:solidFill>
                  <a:srgbClr val="FF0000"/>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a:t>
            </a:r>
            <a:r>
              <a:rPr kumimoji="1" lang="zh-CN" altLang="en-US" dirty="0">
                <a:solidFill>
                  <a:srgbClr val="FF0000"/>
                </a:solidFill>
                <a:latin typeface="Consolas" panose="020B0609020204030204" pitchFamily="49" charset="0"/>
                <a:ea typeface="仿宋" panose="02010609060101010101" pitchFamily="49" charset="-122"/>
                <a:cs typeface="Consolas" panose="020B0609020204030204" pitchFamily="49" charset="0"/>
              </a:rPr>
              <a:t>判表是否为空</a:t>
            </a:r>
            <a:r>
              <a:rPr kumimoji="1" lang="en-US" altLang="zh-CN" dirty="0" err="1">
                <a:solidFill>
                  <a:srgbClr val="FF0000"/>
                </a:solidFill>
                <a:latin typeface="Consolas" panose="020B0609020204030204" pitchFamily="49" charset="0"/>
                <a:ea typeface="仿宋" panose="02010609060101010101" pitchFamily="49" charset="-122"/>
                <a:cs typeface="Consolas" panose="020B0609020204030204" pitchFamily="49" charset="0"/>
              </a:rPr>
              <a:t>ListEmpty</a:t>
            </a:r>
            <a:r>
              <a:rPr kumimoji="1" lang="en-US" altLang="zh-CN" dirty="0">
                <a:solidFill>
                  <a:srgbClr val="FF0000"/>
                </a:solidFill>
                <a:latin typeface="Consolas" panose="020B0609020204030204" pitchFamily="49" charset="0"/>
                <a:ea typeface="仿宋" panose="02010609060101010101" pitchFamily="49" charset="-122"/>
                <a:cs typeface="Consolas" panose="020B0609020204030204" pitchFamily="49" charset="0"/>
              </a:rPr>
              <a:t>(L)</a:t>
            </a:r>
            <a:r>
              <a:rPr kumimoji="1" lang="zh-CN" altLang="en-US" dirty="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dirty="0">
                <a:solidFill>
                  <a:srgbClr val="0000FF"/>
                </a:solidFill>
                <a:latin typeface="Consolas" panose="020B0609020204030204" pitchFamily="49" charset="0"/>
                <a:ea typeface="仿宋" panose="02010609060101010101" pitchFamily="49" charset="-122"/>
                <a:cs typeface="Consolas" panose="020B0609020204030204" pitchFamily="49" charset="0"/>
              </a:rPr>
              <a:t>若</a:t>
            </a: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L</a:t>
            </a:r>
            <a:r>
              <a:rPr kumimoji="1" lang="zh-CN" altLang="en-US" dirty="0">
                <a:solidFill>
                  <a:srgbClr val="0000FF"/>
                </a:solidFill>
                <a:latin typeface="Consolas" panose="020B0609020204030204" pitchFamily="49" charset="0"/>
                <a:ea typeface="仿宋" panose="02010609060101010101" pitchFamily="49" charset="-122"/>
                <a:cs typeface="Consolas" panose="020B0609020204030204" pitchFamily="49" charset="0"/>
              </a:rPr>
              <a:t>为空表，则返回真，否则返回假。</a:t>
            </a:r>
          </a:p>
          <a:p>
            <a:pPr marL="269875" indent="-269875" algn="just">
              <a:lnSpc>
                <a:spcPct val="150000"/>
              </a:lnSpc>
              <a:buFont typeface="Wingdings" panose="05000000000000000000" pitchFamily="2" charset="2"/>
              <a:buChar char=""/>
            </a:pPr>
            <a:r>
              <a:rPr kumimoji="1" lang="zh-CN" altLang="en-US" dirty="0">
                <a:solidFill>
                  <a:srgbClr val="FF0000"/>
                </a:solidFill>
                <a:latin typeface="Consolas" panose="020B0609020204030204" pitchFamily="49" charset="0"/>
                <a:ea typeface="仿宋" panose="02010609060101010101" pitchFamily="49" charset="-122"/>
                <a:cs typeface="Consolas" panose="020B0609020204030204" pitchFamily="49" charset="0"/>
              </a:rPr>
              <a:t>求线性表的长度</a:t>
            </a:r>
            <a:r>
              <a:rPr kumimoji="1" lang="en-US" altLang="zh-CN" dirty="0" err="1">
                <a:solidFill>
                  <a:srgbClr val="FF0000"/>
                </a:solidFill>
                <a:latin typeface="Consolas" panose="020B0609020204030204" pitchFamily="49" charset="0"/>
                <a:ea typeface="仿宋" panose="02010609060101010101" pitchFamily="49" charset="-122"/>
                <a:cs typeface="Consolas" panose="020B0609020204030204" pitchFamily="49" charset="0"/>
              </a:rPr>
              <a:t>ListLength</a:t>
            </a:r>
            <a:r>
              <a:rPr kumimoji="1" lang="en-US" altLang="zh-CN" dirty="0">
                <a:solidFill>
                  <a:srgbClr val="FF0000"/>
                </a:solidFill>
                <a:latin typeface="Consolas" panose="020B0609020204030204" pitchFamily="49" charset="0"/>
                <a:ea typeface="仿宋" panose="02010609060101010101" pitchFamily="49" charset="-122"/>
                <a:cs typeface="Consolas" panose="020B0609020204030204" pitchFamily="49" charset="0"/>
              </a:rPr>
              <a:t>(L)</a:t>
            </a:r>
            <a:r>
              <a:rPr kumimoji="1" lang="zh-CN" altLang="en-US" dirty="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dirty="0">
                <a:solidFill>
                  <a:srgbClr val="0000FF"/>
                </a:solidFill>
                <a:latin typeface="Consolas" panose="020B0609020204030204" pitchFamily="49" charset="0"/>
                <a:ea typeface="仿宋" panose="02010609060101010101" pitchFamily="49" charset="-122"/>
                <a:cs typeface="Consolas" panose="020B0609020204030204" pitchFamily="49" charset="0"/>
              </a:rPr>
              <a:t>返回</a:t>
            </a: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L</a:t>
            </a:r>
            <a:r>
              <a:rPr kumimoji="1" lang="zh-CN" altLang="en-US" dirty="0">
                <a:solidFill>
                  <a:srgbClr val="0000FF"/>
                </a:solidFill>
                <a:latin typeface="Consolas" panose="020B0609020204030204" pitchFamily="49" charset="0"/>
                <a:ea typeface="仿宋" panose="02010609060101010101" pitchFamily="49" charset="-122"/>
                <a:cs typeface="Consolas" panose="020B0609020204030204" pitchFamily="49" charset="0"/>
              </a:rPr>
              <a:t>中元素个数</a:t>
            </a:r>
            <a:r>
              <a:rPr kumimoji="1" lang="en-US" altLang="zh-CN"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kumimoji="1" lang="zh-CN" altLang="en-US"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just">
              <a:lnSpc>
                <a:spcPts val="3000"/>
              </a:lnSpc>
            </a:pPr>
            <a:r>
              <a:rPr kumimoji="1" lang="zh-CN" altLang="en-US" dirty="0">
                <a:solidFill>
                  <a:srgbClr val="FF0000"/>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a:t>
            </a:r>
            <a:r>
              <a:rPr kumimoji="1" lang="zh-CN" altLang="en-US" dirty="0">
                <a:solidFill>
                  <a:srgbClr val="FF0000"/>
                </a:solidFill>
                <a:latin typeface="Consolas" panose="020B0609020204030204" pitchFamily="49" charset="0"/>
                <a:ea typeface="仿宋" panose="02010609060101010101" pitchFamily="49" charset="-122"/>
                <a:cs typeface="Consolas" panose="020B0609020204030204" pitchFamily="49" charset="0"/>
              </a:rPr>
              <a:t>输出线性表</a:t>
            </a:r>
            <a:r>
              <a:rPr kumimoji="1" lang="en-US" altLang="zh-CN" dirty="0" err="1">
                <a:solidFill>
                  <a:srgbClr val="FF0000"/>
                </a:solidFill>
                <a:latin typeface="Consolas" panose="020B0609020204030204" pitchFamily="49" charset="0"/>
                <a:ea typeface="仿宋" panose="02010609060101010101" pitchFamily="49" charset="-122"/>
                <a:cs typeface="Consolas" panose="020B0609020204030204" pitchFamily="49" charset="0"/>
              </a:rPr>
              <a:t>DispList</a:t>
            </a:r>
            <a:r>
              <a:rPr kumimoji="1" lang="en-US" altLang="zh-CN" dirty="0">
                <a:solidFill>
                  <a:srgbClr val="FF0000"/>
                </a:solidFill>
                <a:latin typeface="Consolas" panose="020B0609020204030204" pitchFamily="49" charset="0"/>
                <a:ea typeface="仿宋" panose="02010609060101010101" pitchFamily="49" charset="-122"/>
                <a:cs typeface="Consolas" panose="020B0609020204030204" pitchFamily="49" charset="0"/>
              </a:rPr>
              <a:t>(L)</a:t>
            </a:r>
            <a:r>
              <a:rPr kumimoji="1" lang="zh-CN" altLang="en-US" dirty="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dirty="0">
                <a:solidFill>
                  <a:srgbClr val="0000FF"/>
                </a:solidFill>
                <a:latin typeface="Consolas" panose="020B0609020204030204" pitchFamily="49" charset="0"/>
                <a:ea typeface="仿宋" panose="02010609060101010101" pitchFamily="49" charset="-122"/>
                <a:cs typeface="Consolas" panose="020B0609020204030204" pitchFamily="49" charset="0"/>
              </a:rPr>
              <a:t>顺序显示</a:t>
            </a: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L</a:t>
            </a:r>
            <a:r>
              <a:rPr kumimoji="1" lang="zh-CN" altLang="en-US" dirty="0">
                <a:solidFill>
                  <a:srgbClr val="0000FF"/>
                </a:solidFill>
                <a:latin typeface="Consolas" panose="020B0609020204030204" pitchFamily="49" charset="0"/>
                <a:ea typeface="仿宋" panose="02010609060101010101" pitchFamily="49" charset="-122"/>
                <a:cs typeface="Consolas" panose="020B0609020204030204" pitchFamily="49" charset="0"/>
              </a:rPr>
              <a:t>中各结点的值域。</a:t>
            </a:r>
          </a:p>
          <a:p>
            <a:pPr marL="457200" indent="-457200" algn="just">
              <a:lnSpc>
                <a:spcPts val="3000"/>
              </a:lnSpc>
            </a:pPr>
            <a:r>
              <a:rPr kumimoji="1" lang="zh-CN" altLang="en-US" dirty="0">
                <a:solidFill>
                  <a:srgbClr val="FF0000"/>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a:t>
            </a:r>
            <a:r>
              <a:rPr kumimoji="1" lang="zh-CN" altLang="en-US" dirty="0">
                <a:solidFill>
                  <a:srgbClr val="FF0000"/>
                </a:solidFill>
                <a:latin typeface="Consolas" panose="020B0609020204030204" pitchFamily="49" charset="0"/>
                <a:ea typeface="仿宋" panose="02010609060101010101" pitchFamily="49" charset="-122"/>
                <a:cs typeface="Consolas" panose="020B0609020204030204" pitchFamily="49" charset="0"/>
              </a:rPr>
              <a:t>求表中指定位置的元素</a:t>
            </a:r>
            <a:r>
              <a:rPr kumimoji="1" lang="en-US" altLang="zh-CN" dirty="0" err="1">
                <a:solidFill>
                  <a:srgbClr val="FF0000"/>
                </a:solidFill>
                <a:latin typeface="Consolas" panose="020B0609020204030204" pitchFamily="49" charset="0"/>
                <a:ea typeface="仿宋" panose="02010609060101010101" pitchFamily="49" charset="-122"/>
                <a:cs typeface="Consolas" panose="020B0609020204030204" pitchFamily="49" charset="0"/>
              </a:rPr>
              <a:t>GetElem</a:t>
            </a:r>
            <a:r>
              <a:rPr kumimoji="1" lang="en-US" altLang="zh-CN" dirty="0">
                <a:solidFill>
                  <a:srgbClr val="FF0000"/>
                </a:solidFill>
                <a:latin typeface="Consolas" panose="020B0609020204030204" pitchFamily="49" charset="0"/>
                <a:ea typeface="仿宋" panose="02010609060101010101" pitchFamily="49" charset="-122"/>
                <a:cs typeface="Consolas" panose="020B0609020204030204" pitchFamily="49" charset="0"/>
              </a:rPr>
              <a:t>(L</a:t>
            </a:r>
            <a:r>
              <a:rPr kumimoji="1" lang="zh-CN" altLang="en-US" dirty="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i="1" dirty="0" err="1">
                <a:solidFill>
                  <a:srgbClr val="FF0000"/>
                </a:solidFill>
                <a:latin typeface="Consolas" panose="020B0609020204030204" pitchFamily="49" charset="0"/>
                <a:ea typeface="仿宋" panose="02010609060101010101" pitchFamily="49" charset="-122"/>
                <a:cs typeface="Consolas" panose="020B0609020204030204" pitchFamily="49" charset="0"/>
              </a:rPr>
              <a:t>i</a:t>
            </a:r>
            <a:r>
              <a:rPr kumimoji="1" lang="zh-CN" altLang="en-US" dirty="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dirty="0">
                <a:solidFill>
                  <a:srgbClr val="FF0000"/>
                </a:solidFill>
                <a:latin typeface="Consolas" panose="020B0609020204030204" pitchFamily="49" charset="0"/>
                <a:ea typeface="仿宋" panose="02010609060101010101" pitchFamily="49" charset="-122"/>
                <a:cs typeface="Consolas" panose="020B0609020204030204" pitchFamily="49" charset="0"/>
              </a:rPr>
              <a:t>&amp;</a:t>
            </a:r>
            <a:r>
              <a:rPr kumimoji="1" lang="en-US" altLang="zh-CN" i="1" dirty="0">
                <a:solidFill>
                  <a:srgbClr val="FF0000"/>
                </a:solidFill>
                <a:latin typeface="Consolas" panose="020B0609020204030204" pitchFamily="49" charset="0"/>
                <a:ea typeface="仿宋" panose="02010609060101010101" pitchFamily="49" charset="-122"/>
                <a:cs typeface="Consolas" panose="020B0609020204030204" pitchFamily="49" charset="0"/>
              </a:rPr>
              <a:t>e</a:t>
            </a:r>
            <a:r>
              <a:rPr kumimoji="1" lang="en-US" altLang="zh-CN" dirty="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dirty="0">
                <a:solidFill>
                  <a:srgbClr val="0000FF"/>
                </a:solidFill>
                <a:latin typeface="Consolas" panose="020B0609020204030204" pitchFamily="49" charset="0"/>
                <a:ea typeface="仿宋" panose="02010609060101010101" pitchFamily="49" charset="-122"/>
                <a:cs typeface="Consolas" panose="020B0609020204030204" pitchFamily="49" charset="0"/>
              </a:rPr>
              <a:t>：用</a:t>
            </a:r>
            <a:r>
              <a:rPr kumimoji="1" lang="en-US" altLang="zh-CN" i="1" dirty="0">
                <a:solidFill>
                  <a:srgbClr val="0000FF"/>
                </a:solidFill>
                <a:latin typeface="Consolas" panose="020B0609020204030204" pitchFamily="49" charset="0"/>
                <a:ea typeface="仿宋" panose="02010609060101010101" pitchFamily="49" charset="-122"/>
                <a:cs typeface="Consolas" panose="020B0609020204030204" pitchFamily="49" charset="0"/>
              </a:rPr>
              <a:t>e</a:t>
            </a:r>
            <a:r>
              <a:rPr kumimoji="1" lang="zh-CN" altLang="en-US" dirty="0">
                <a:solidFill>
                  <a:srgbClr val="0000FF"/>
                </a:solidFill>
                <a:latin typeface="Consolas" panose="020B0609020204030204" pitchFamily="49" charset="0"/>
                <a:ea typeface="仿宋" panose="02010609060101010101" pitchFamily="49" charset="-122"/>
                <a:cs typeface="Consolas" panose="020B0609020204030204" pitchFamily="49" charset="0"/>
              </a:rPr>
              <a:t>返回</a:t>
            </a: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L</a:t>
            </a:r>
            <a:r>
              <a:rPr kumimoji="1" lang="zh-CN" altLang="en-US" dirty="0">
                <a:solidFill>
                  <a:srgbClr val="0000FF"/>
                </a:solidFill>
                <a:latin typeface="Consolas" panose="020B0609020204030204" pitchFamily="49" charset="0"/>
                <a:ea typeface="仿宋" panose="02010609060101010101" pitchFamily="49" charset="-122"/>
                <a:cs typeface="Consolas" panose="020B0609020204030204" pitchFamily="49" charset="0"/>
              </a:rPr>
              <a:t>中第</a:t>
            </a:r>
            <a:r>
              <a:rPr kumimoji="1" lang="en-US" altLang="zh-CN"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kumimoji="1" lang="zh-CN" altLang="en-US"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kumimoji="1" lang="en-US" altLang="zh-CN" i="1" dirty="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kumimoji="1" lang="zh-CN" altLang="en-US" dirty="0">
                <a:solidFill>
                  <a:srgbClr val="0000FF"/>
                </a:solidFill>
                <a:latin typeface="Consolas" panose="020B0609020204030204" pitchFamily="49" charset="0"/>
                <a:ea typeface="仿宋" panose="02010609060101010101" pitchFamily="49" charset="-122"/>
                <a:cs typeface="Consolas" panose="020B0609020204030204" pitchFamily="49" charset="0"/>
              </a:rPr>
              <a:t>）个元素的值。</a:t>
            </a:r>
            <a:endPar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just">
              <a:lnSpc>
                <a:spcPts val="3000"/>
              </a:lnSpc>
            </a:pPr>
            <a:r>
              <a:rPr kumimoji="1" lang="en-US" altLang="zh-CN" dirty="0">
                <a:solidFill>
                  <a:srgbClr val="FF0000"/>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a:t>
            </a:r>
            <a:r>
              <a:rPr kumimoji="1" lang="zh-CN" altLang="en-US" dirty="0">
                <a:solidFill>
                  <a:srgbClr val="FF0000"/>
                </a:solidFill>
                <a:latin typeface="Consolas" panose="020B0609020204030204" pitchFamily="49" charset="0"/>
                <a:ea typeface="仿宋" panose="02010609060101010101" pitchFamily="49" charset="-122"/>
                <a:cs typeface="Consolas" panose="020B0609020204030204" pitchFamily="49" charset="0"/>
              </a:rPr>
              <a:t>定位查找</a:t>
            </a:r>
            <a:r>
              <a:rPr kumimoji="1" lang="en-US" altLang="zh-CN" dirty="0" err="1">
                <a:solidFill>
                  <a:srgbClr val="FF0000"/>
                </a:solidFill>
                <a:latin typeface="Consolas" panose="020B0609020204030204" pitchFamily="49" charset="0"/>
                <a:ea typeface="仿宋" panose="02010609060101010101" pitchFamily="49" charset="-122"/>
                <a:cs typeface="Consolas" panose="020B0609020204030204" pitchFamily="49" charset="0"/>
              </a:rPr>
              <a:t>LocateElem</a:t>
            </a:r>
            <a:r>
              <a:rPr kumimoji="1" lang="en-US" altLang="zh-CN" dirty="0">
                <a:solidFill>
                  <a:srgbClr val="FF0000"/>
                </a:solidFill>
                <a:latin typeface="Consolas" panose="020B0609020204030204" pitchFamily="49" charset="0"/>
                <a:ea typeface="仿宋" panose="02010609060101010101" pitchFamily="49" charset="-122"/>
                <a:cs typeface="Consolas" panose="020B0609020204030204" pitchFamily="49" charset="0"/>
              </a:rPr>
              <a:t>(L</a:t>
            </a:r>
            <a:r>
              <a:rPr kumimoji="1" lang="zh-CN" altLang="en-US" dirty="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i="1" dirty="0">
                <a:solidFill>
                  <a:srgbClr val="FF0000"/>
                </a:solidFill>
                <a:latin typeface="Consolas" panose="020B0609020204030204" pitchFamily="49" charset="0"/>
                <a:ea typeface="仿宋" panose="02010609060101010101" pitchFamily="49" charset="-122"/>
                <a:cs typeface="Consolas" panose="020B0609020204030204" pitchFamily="49" charset="0"/>
              </a:rPr>
              <a:t>e</a:t>
            </a:r>
            <a:r>
              <a:rPr kumimoji="1" lang="en-US" altLang="zh-CN" dirty="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dirty="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dirty="0">
                <a:solidFill>
                  <a:srgbClr val="0000FF"/>
                </a:solidFill>
                <a:latin typeface="Consolas" panose="020B0609020204030204" pitchFamily="49" charset="0"/>
                <a:ea typeface="仿宋" panose="02010609060101010101" pitchFamily="49" charset="-122"/>
                <a:cs typeface="Consolas" panose="020B0609020204030204" pitchFamily="49" charset="0"/>
              </a:rPr>
              <a:t>返回</a:t>
            </a: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L</a:t>
            </a:r>
            <a:r>
              <a:rPr kumimoji="1" lang="zh-CN" altLang="en-US" dirty="0">
                <a:solidFill>
                  <a:srgbClr val="0000FF"/>
                </a:solidFill>
                <a:latin typeface="Consolas" panose="020B0609020204030204" pitchFamily="49" charset="0"/>
                <a:ea typeface="仿宋" panose="02010609060101010101" pitchFamily="49" charset="-122"/>
                <a:cs typeface="Consolas" panose="020B0609020204030204" pitchFamily="49" charset="0"/>
              </a:rPr>
              <a:t>中第一个值与</a:t>
            </a: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e</a:t>
            </a:r>
            <a:r>
              <a:rPr kumimoji="1" lang="zh-CN" altLang="en-US" dirty="0">
                <a:solidFill>
                  <a:srgbClr val="0000FF"/>
                </a:solidFill>
                <a:latin typeface="Consolas" panose="020B0609020204030204" pitchFamily="49" charset="0"/>
                <a:ea typeface="仿宋" panose="02010609060101010101" pitchFamily="49" charset="-122"/>
                <a:cs typeface="Consolas" panose="020B0609020204030204" pitchFamily="49" charset="0"/>
              </a:rPr>
              <a:t>相等的逻辑位序。若这样的元素不存在，则返回值为</a:t>
            </a: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kumimoji="1" lang="zh-CN" altLang="en-US"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a:p>
            <a:pPr marL="457200" indent="-457200" algn="just">
              <a:lnSpc>
                <a:spcPts val="3000"/>
              </a:lnSpc>
            </a:pPr>
            <a:r>
              <a:rPr kumimoji="1" lang="zh-CN" altLang="en-US" dirty="0">
                <a:solidFill>
                  <a:srgbClr val="FF0000"/>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a:t>
            </a:r>
            <a:r>
              <a:rPr kumimoji="1" lang="zh-CN" altLang="en-US" dirty="0">
                <a:solidFill>
                  <a:srgbClr val="FF0000"/>
                </a:solidFill>
                <a:latin typeface="Consolas" panose="020B0609020204030204" pitchFamily="49" charset="0"/>
                <a:ea typeface="仿宋" panose="02010609060101010101" pitchFamily="49" charset="-122"/>
                <a:cs typeface="Consolas" panose="020B0609020204030204" pitchFamily="49" charset="0"/>
              </a:rPr>
              <a:t>插入一个元素</a:t>
            </a:r>
            <a:r>
              <a:rPr kumimoji="1" lang="en-US" altLang="zh-CN" dirty="0" err="1">
                <a:solidFill>
                  <a:srgbClr val="FF0000"/>
                </a:solidFill>
                <a:latin typeface="Consolas" panose="020B0609020204030204" pitchFamily="49" charset="0"/>
                <a:ea typeface="仿宋" panose="02010609060101010101" pitchFamily="49" charset="-122"/>
                <a:cs typeface="Consolas" panose="020B0609020204030204" pitchFamily="49" charset="0"/>
              </a:rPr>
              <a:t>ListInsert</a:t>
            </a:r>
            <a:r>
              <a:rPr kumimoji="1" lang="en-US" altLang="zh-CN" dirty="0">
                <a:solidFill>
                  <a:srgbClr val="FF0000"/>
                </a:solidFill>
                <a:latin typeface="Consolas" panose="020B0609020204030204" pitchFamily="49" charset="0"/>
                <a:ea typeface="仿宋" panose="02010609060101010101" pitchFamily="49" charset="-122"/>
                <a:cs typeface="Consolas" panose="020B0609020204030204" pitchFamily="49" charset="0"/>
              </a:rPr>
              <a:t>(&amp;L</a:t>
            </a:r>
            <a:r>
              <a:rPr kumimoji="1" lang="zh-CN" altLang="en-US" dirty="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i="1" dirty="0" err="1">
                <a:solidFill>
                  <a:srgbClr val="FF0000"/>
                </a:solidFill>
                <a:latin typeface="Consolas" panose="020B0609020204030204" pitchFamily="49" charset="0"/>
                <a:ea typeface="仿宋" panose="02010609060101010101" pitchFamily="49" charset="-122"/>
                <a:cs typeface="Consolas" panose="020B0609020204030204" pitchFamily="49" charset="0"/>
              </a:rPr>
              <a:t>i</a:t>
            </a:r>
            <a:r>
              <a:rPr kumimoji="1" lang="zh-CN" altLang="en-US" dirty="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i="1" dirty="0">
                <a:solidFill>
                  <a:srgbClr val="FF0000"/>
                </a:solidFill>
                <a:latin typeface="Consolas" panose="020B0609020204030204" pitchFamily="49" charset="0"/>
                <a:ea typeface="仿宋" panose="02010609060101010101" pitchFamily="49" charset="-122"/>
                <a:cs typeface="Consolas" panose="020B0609020204030204" pitchFamily="49" charset="0"/>
              </a:rPr>
              <a:t>e</a:t>
            </a:r>
            <a:r>
              <a:rPr kumimoji="1" lang="en-US" altLang="zh-CN" dirty="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dirty="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dirty="0">
                <a:solidFill>
                  <a:srgbClr val="0000FF"/>
                </a:solidFill>
                <a:latin typeface="Consolas" panose="020B0609020204030204" pitchFamily="49" charset="0"/>
                <a:ea typeface="仿宋" panose="02010609060101010101" pitchFamily="49" charset="-122"/>
                <a:cs typeface="Consolas" panose="020B0609020204030204" pitchFamily="49" charset="0"/>
              </a:rPr>
              <a:t>在</a:t>
            </a: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L</a:t>
            </a:r>
            <a:r>
              <a:rPr kumimoji="1" lang="zh-CN" altLang="en-US" dirty="0">
                <a:solidFill>
                  <a:srgbClr val="0000FF"/>
                </a:solidFill>
                <a:latin typeface="Consolas" panose="020B0609020204030204" pitchFamily="49" charset="0"/>
                <a:ea typeface="仿宋" panose="02010609060101010101" pitchFamily="49" charset="-122"/>
                <a:cs typeface="Consolas" panose="020B0609020204030204" pitchFamily="49" charset="0"/>
              </a:rPr>
              <a:t>的第</a:t>
            </a:r>
            <a:r>
              <a:rPr kumimoji="1" lang="en-US" altLang="zh-CN"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kumimoji="1" lang="zh-CN" altLang="en-US"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kumimoji="1" lang="en-US" altLang="zh-CN" i="1" dirty="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kumimoji="1" lang="zh-CN" altLang="en-US" dirty="0">
                <a:solidFill>
                  <a:srgbClr val="0000FF"/>
                </a:solidFill>
                <a:latin typeface="Consolas" panose="020B0609020204030204" pitchFamily="49" charset="0"/>
                <a:ea typeface="仿宋" panose="02010609060101010101" pitchFamily="49" charset="-122"/>
                <a:cs typeface="Consolas" panose="020B0609020204030204" pitchFamily="49" charset="0"/>
              </a:rPr>
              <a:t>）个元素之前插入新的元素</a:t>
            </a:r>
            <a:r>
              <a:rPr kumimoji="1" lang="en-US" altLang="zh-CN" i="1" dirty="0">
                <a:solidFill>
                  <a:srgbClr val="0000FF"/>
                </a:solidFill>
                <a:latin typeface="Consolas" panose="020B0609020204030204" pitchFamily="49" charset="0"/>
                <a:ea typeface="仿宋" panose="02010609060101010101" pitchFamily="49" charset="-122"/>
                <a:cs typeface="Consolas" panose="020B0609020204030204" pitchFamily="49" charset="0"/>
              </a:rPr>
              <a:t>e</a:t>
            </a:r>
            <a:r>
              <a:rPr kumimoji="1" lang="zh-CN" altLang="en-US"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L</a:t>
            </a:r>
            <a:r>
              <a:rPr kumimoji="1" lang="zh-CN" altLang="en-US" dirty="0">
                <a:solidFill>
                  <a:srgbClr val="0000FF"/>
                </a:solidFill>
                <a:latin typeface="Consolas" panose="020B0609020204030204" pitchFamily="49" charset="0"/>
                <a:ea typeface="仿宋" panose="02010609060101010101" pitchFamily="49" charset="-122"/>
                <a:cs typeface="Consolas" panose="020B0609020204030204" pitchFamily="49" charset="0"/>
              </a:rPr>
              <a:t>的长度增</a:t>
            </a: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kumimoji="1" lang="zh-CN" altLang="en-US"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a:p>
            <a:pPr marL="457200" indent="-457200">
              <a:lnSpc>
                <a:spcPts val="3000"/>
              </a:lnSpc>
            </a:pPr>
            <a:r>
              <a:rPr kumimoji="1" lang="zh-CN" altLang="en-US" dirty="0">
                <a:solidFill>
                  <a:srgbClr val="FF0000"/>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a:t>
            </a:r>
            <a:r>
              <a:rPr kumimoji="1" lang="zh-CN" altLang="en-US" dirty="0">
                <a:solidFill>
                  <a:srgbClr val="FF0000"/>
                </a:solidFill>
                <a:latin typeface="Consolas" panose="020B0609020204030204" pitchFamily="49" charset="0"/>
                <a:ea typeface="仿宋" panose="02010609060101010101" pitchFamily="49" charset="-122"/>
                <a:cs typeface="Consolas" panose="020B0609020204030204" pitchFamily="49" charset="0"/>
              </a:rPr>
              <a:t>删除元素</a:t>
            </a:r>
            <a:r>
              <a:rPr kumimoji="1" lang="en-US" altLang="zh-CN" dirty="0" err="1">
                <a:solidFill>
                  <a:srgbClr val="FF0000"/>
                </a:solidFill>
                <a:latin typeface="Consolas" panose="020B0609020204030204" pitchFamily="49" charset="0"/>
                <a:ea typeface="仿宋" panose="02010609060101010101" pitchFamily="49" charset="-122"/>
                <a:cs typeface="Consolas" panose="020B0609020204030204" pitchFamily="49" charset="0"/>
              </a:rPr>
              <a:t>ListDelete</a:t>
            </a:r>
            <a:r>
              <a:rPr kumimoji="1" lang="en-US" altLang="zh-CN" dirty="0">
                <a:solidFill>
                  <a:srgbClr val="FF0000"/>
                </a:solidFill>
                <a:latin typeface="Consolas" panose="020B0609020204030204" pitchFamily="49" charset="0"/>
                <a:ea typeface="仿宋" panose="02010609060101010101" pitchFamily="49" charset="-122"/>
                <a:cs typeface="Consolas" panose="020B0609020204030204" pitchFamily="49" charset="0"/>
              </a:rPr>
              <a:t>(&amp;L</a:t>
            </a:r>
            <a:r>
              <a:rPr kumimoji="1" lang="zh-CN" altLang="en-US" dirty="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i="1" dirty="0" err="1">
                <a:solidFill>
                  <a:srgbClr val="FF0000"/>
                </a:solidFill>
                <a:latin typeface="Consolas" panose="020B0609020204030204" pitchFamily="49" charset="0"/>
                <a:ea typeface="仿宋" panose="02010609060101010101" pitchFamily="49" charset="-122"/>
                <a:cs typeface="Consolas" panose="020B0609020204030204" pitchFamily="49" charset="0"/>
              </a:rPr>
              <a:t>i</a:t>
            </a:r>
            <a:r>
              <a:rPr kumimoji="1" lang="zh-CN" altLang="en-US" dirty="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dirty="0">
                <a:solidFill>
                  <a:srgbClr val="FF0000"/>
                </a:solidFill>
                <a:latin typeface="Consolas" panose="020B0609020204030204" pitchFamily="49" charset="0"/>
                <a:ea typeface="仿宋" panose="02010609060101010101" pitchFamily="49" charset="-122"/>
                <a:cs typeface="Consolas" panose="020B0609020204030204" pitchFamily="49" charset="0"/>
              </a:rPr>
              <a:t>&amp;</a:t>
            </a:r>
            <a:r>
              <a:rPr kumimoji="1" lang="en-US" altLang="zh-CN" i="1" dirty="0">
                <a:solidFill>
                  <a:srgbClr val="FF0000"/>
                </a:solidFill>
                <a:latin typeface="Consolas" panose="020B0609020204030204" pitchFamily="49" charset="0"/>
                <a:ea typeface="仿宋" panose="02010609060101010101" pitchFamily="49" charset="-122"/>
                <a:cs typeface="Consolas" panose="020B0609020204030204" pitchFamily="49" charset="0"/>
              </a:rPr>
              <a:t>e</a:t>
            </a:r>
            <a:r>
              <a:rPr kumimoji="1" lang="en-US" altLang="zh-CN" dirty="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dirty="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dirty="0">
                <a:solidFill>
                  <a:srgbClr val="0000FF"/>
                </a:solidFill>
                <a:latin typeface="Consolas" panose="020B0609020204030204" pitchFamily="49" charset="0"/>
                <a:ea typeface="仿宋" panose="02010609060101010101" pitchFamily="49" charset="-122"/>
                <a:cs typeface="Consolas" panose="020B0609020204030204" pitchFamily="49" charset="0"/>
              </a:rPr>
              <a:t>删除</a:t>
            </a: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L</a:t>
            </a:r>
            <a:r>
              <a:rPr kumimoji="1" lang="zh-CN" altLang="en-US" dirty="0">
                <a:solidFill>
                  <a:srgbClr val="0000FF"/>
                </a:solidFill>
                <a:latin typeface="Consolas" panose="020B0609020204030204" pitchFamily="49" charset="0"/>
                <a:ea typeface="仿宋" panose="02010609060101010101" pitchFamily="49" charset="-122"/>
                <a:cs typeface="Consolas" panose="020B0609020204030204" pitchFamily="49" charset="0"/>
              </a:rPr>
              <a:t>的第</a:t>
            </a:r>
            <a:r>
              <a:rPr kumimoji="1" lang="en-US" altLang="zh-CN"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kumimoji="1" lang="zh-CN" altLang="en-US"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kumimoji="1" lang="en-US" altLang="zh-CN" i="1" dirty="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kumimoji="1" lang="zh-CN" altLang="en-US" dirty="0">
                <a:solidFill>
                  <a:srgbClr val="0000FF"/>
                </a:solidFill>
                <a:latin typeface="Consolas" panose="020B0609020204030204" pitchFamily="49" charset="0"/>
                <a:ea typeface="仿宋" panose="02010609060101010101" pitchFamily="49" charset="-122"/>
                <a:cs typeface="Consolas" panose="020B0609020204030204" pitchFamily="49" charset="0"/>
              </a:rPr>
              <a:t>）个元素，并用</a:t>
            </a:r>
            <a:r>
              <a:rPr kumimoji="1" lang="en-US" altLang="zh-CN" i="1" dirty="0">
                <a:solidFill>
                  <a:srgbClr val="0000FF"/>
                </a:solidFill>
                <a:latin typeface="Consolas" panose="020B0609020204030204" pitchFamily="49" charset="0"/>
                <a:ea typeface="仿宋" panose="02010609060101010101" pitchFamily="49" charset="-122"/>
                <a:cs typeface="Consolas" panose="020B0609020204030204" pitchFamily="49" charset="0"/>
              </a:rPr>
              <a:t>e</a:t>
            </a:r>
            <a:r>
              <a:rPr kumimoji="1" lang="zh-CN" altLang="en-US" dirty="0">
                <a:solidFill>
                  <a:srgbClr val="0000FF"/>
                </a:solidFill>
                <a:latin typeface="Consolas" panose="020B0609020204030204" pitchFamily="49" charset="0"/>
                <a:ea typeface="仿宋" panose="02010609060101010101" pitchFamily="49" charset="-122"/>
                <a:cs typeface="Consolas" panose="020B0609020204030204" pitchFamily="49" charset="0"/>
              </a:rPr>
              <a:t>返回其值，</a:t>
            </a: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L</a:t>
            </a:r>
            <a:r>
              <a:rPr kumimoji="1" lang="zh-CN" altLang="en-US" dirty="0">
                <a:solidFill>
                  <a:srgbClr val="0000FF"/>
                </a:solidFill>
                <a:latin typeface="Consolas" panose="020B0609020204030204" pitchFamily="49" charset="0"/>
                <a:ea typeface="仿宋" panose="02010609060101010101" pitchFamily="49" charset="-122"/>
                <a:cs typeface="Consolas" panose="020B0609020204030204" pitchFamily="49" charset="0"/>
              </a:rPr>
              <a:t>的长度减</a:t>
            </a: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kumimoji="1" lang="zh-CN" altLang="en-US"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a:p>
            <a:pPr marL="457200" indent="-457200" algn="just">
              <a:lnSpc>
                <a:spcPct val="150000"/>
              </a:lnSpc>
              <a:buFont typeface="Wingdings" panose="05000000000000000000" pitchFamily="2" charset="2"/>
              <a:buChar char=""/>
            </a:pPr>
            <a:endParaRPr kumimoji="1" lang="zh-CN" altLang="en-US"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Tree>
    <p:extLst>
      <p:ext uri="{BB962C8B-B14F-4D97-AF65-F5344CB8AC3E}">
        <p14:creationId xmlns:p14="http://schemas.microsoft.com/office/powerpoint/2010/main" val="39584505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1600" y="980728"/>
            <a:ext cx="7843742" cy="5325742"/>
          </a:xfrm>
        </p:spPr>
        <p:txBody>
          <a:bodyPr>
            <a:noAutofit/>
          </a:bodyPr>
          <a:lstStyle/>
          <a:p>
            <a:pPr>
              <a:lnSpc>
                <a:spcPct val="110000"/>
              </a:lnSpc>
              <a:spcBef>
                <a:spcPts val="0"/>
              </a:spcBef>
            </a:pPr>
            <a:r>
              <a:rPr lang="zh-CN" altLang="zh-CN" sz="1800" dirty="0"/>
              <a:t>算法</a:t>
            </a:r>
            <a:r>
              <a:rPr lang="en-US" altLang="zh-CN" sz="1800" dirty="0"/>
              <a:t>3.1</a:t>
            </a:r>
            <a:r>
              <a:rPr lang="zh-CN" altLang="zh-CN" sz="1800" dirty="0"/>
              <a:t>：线性表定义</a:t>
            </a:r>
          </a:p>
          <a:p>
            <a:pPr>
              <a:lnSpc>
                <a:spcPct val="110000"/>
              </a:lnSpc>
              <a:spcBef>
                <a:spcPts val="0"/>
              </a:spcBef>
            </a:pPr>
            <a:r>
              <a:rPr lang="en-US" altLang="zh-CN" sz="1800" b="0" dirty="0"/>
              <a:t>template &lt;class Elem&gt; class List {</a:t>
            </a:r>
            <a:endParaRPr lang="zh-CN" altLang="zh-CN" sz="1800" b="0" dirty="0"/>
          </a:p>
          <a:p>
            <a:pPr>
              <a:lnSpc>
                <a:spcPct val="110000"/>
              </a:lnSpc>
              <a:spcBef>
                <a:spcPts val="0"/>
              </a:spcBef>
            </a:pPr>
            <a:r>
              <a:rPr lang="en-US" altLang="zh-CN" sz="1800" b="0" dirty="0"/>
              <a:t>public:	</a:t>
            </a:r>
            <a:endParaRPr lang="zh-CN" altLang="zh-CN" sz="1800" b="0" dirty="0"/>
          </a:p>
          <a:p>
            <a:pPr>
              <a:lnSpc>
                <a:spcPct val="110000"/>
              </a:lnSpc>
              <a:spcBef>
                <a:spcPts val="0"/>
              </a:spcBef>
            </a:pPr>
            <a:r>
              <a:rPr lang="en-US" altLang="zh-CN" sz="1800" b="0" dirty="0"/>
              <a:t>	virtual void clear()=0; 		// </a:t>
            </a:r>
            <a:r>
              <a:rPr lang="zh-CN" altLang="zh-CN" sz="1800" b="0" dirty="0"/>
              <a:t>删除所有的数据元素</a:t>
            </a:r>
          </a:p>
          <a:p>
            <a:pPr>
              <a:lnSpc>
                <a:spcPct val="110000"/>
              </a:lnSpc>
              <a:spcBef>
                <a:spcPts val="0"/>
              </a:spcBef>
            </a:pPr>
            <a:r>
              <a:rPr lang="en-US" altLang="zh-CN" sz="1800" b="0" dirty="0"/>
              <a:t>	virtual </a:t>
            </a:r>
            <a:r>
              <a:rPr lang="en-US" altLang="zh-CN" sz="1800" b="0" dirty="0" err="1"/>
              <a:t>bool</a:t>
            </a:r>
            <a:r>
              <a:rPr lang="en-US" altLang="zh-CN" sz="1800" b="0" dirty="0"/>
              <a:t> insert(const Elem&amp;)=0;  // </a:t>
            </a:r>
            <a:r>
              <a:rPr lang="zh-CN" altLang="zh-CN" sz="1800" b="0" dirty="0"/>
              <a:t>在当前的位置之后插入数据元素</a:t>
            </a:r>
          </a:p>
          <a:p>
            <a:pPr>
              <a:lnSpc>
                <a:spcPct val="110000"/>
              </a:lnSpc>
              <a:spcBef>
                <a:spcPts val="0"/>
              </a:spcBef>
            </a:pPr>
            <a:r>
              <a:rPr lang="en-US" altLang="zh-CN" sz="1800" b="0" dirty="0"/>
              <a:t>	virtual </a:t>
            </a:r>
            <a:r>
              <a:rPr lang="en-US" altLang="zh-CN" sz="1800" b="0" dirty="0" err="1"/>
              <a:t>bool</a:t>
            </a:r>
            <a:r>
              <a:rPr lang="en-US" altLang="zh-CN" sz="1800" b="0" dirty="0"/>
              <a:t> append(const Elem&amp;)=0; // </a:t>
            </a:r>
            <a:r>
              <a:rPr lang="zh-CN" altLang="zh-CN" sz="1800" b="0" dirty="0"/>
              <a:t>在末尾插入数据元素</a:t>
            </a:r>
          </a:p>
          <a:p>
            <a:pPr>
              <a:lnSpc>
                <a:spcPct val="110000"/>
              </a:lnSpc>
              <a:spcBef>
                <a:spcPts val="0"/>
              </a:spcBef>
            </a:pPr>
            <a:r>
              <a:rPr lang="en-US" altLang="zh-CN" sz="1800" b="0" dirty="0"/>
              <a:t>	virtual </a:t>
            </a:r>
            <a:r>
              <a:rPr lang="en-US" altLang="zh-CN" sz="1800" b="0" dirty="0" err="1"/>
              <a:t>bool</a:t>
            </a:r>
            <a:r>
              <a:rPr lang="en-US" altLang="zh-CN" sz="1800" b="0" dirty="0"/>
              <a:t> remove(Elem&amp;)=0; 	// </a:t>
            </a:r>
            <a:r>
              <a:rPr lang="zh-CN" altLang="zh-CN" sz="1800" b="0" dirty="0"/>
              <a:t>在当前的位置之后删除数据元素</a:t>
            </a:r>
          </a:p>
          <a:p>
            <a:pPr>
              <a:lnSpc>
                <a:spcPct val="110000"/>
              </a:lnSpc>
              <a:spcBef>
                <a:spcPts val="0"/>
              </a:spcBef>
            </a:pPr>
            <a:r>
              <a:rPr lang="en-US" altLang="zh-CN" sz="1800" b="0" dirty="0"/>
              <a:t>	virtual void </a:t>
            </a:r>
            <a:r>
              <a:rPr lang="en-US" altLang="zh-CN" sz="1800" b="0" dirty="0" err="1"/>
              <a:t>setStart</a:t>
            </a:r>
            <a:r>
              <a:rPr lang="en-US" altLang="zh-CN" sz="1800" b="0" dirty="0"/>
              <a:t>()=0;		//</a:t>
            </a:r>
            <a:r>
              <a:rPr lang="zh-CN" altLang="en-US" sz="1800" b="0" dirty="0"/>
              <a:t>设置当前位置到表头</a:t>
            </a:r>
            <a:endParaRPr lang="zh-CN" altLang="zh-CN" sz="1800" b="0" dirty="0"/>
          </a:p>
          <a:p>
            <a:pPr>
              <a:lnSpc>
                <a:spcPct val="110000"/>
              </a:lnSpc>
              <a:spcBef>
                <a:spcPts val="0"/>
              </a:spcBef>
            </a:pPr>
            <a:r>
              <a:rPr lang="en-US" altLang="zh-CN" sz="1800" b="0" dirty="0"/>
              <a:t>	virtual void </a:t>
            </a:r>
            <a:r>
              <a:rPr lang="en-US" altLang="zh-CN" sz="1800" b="0" dirty="0" err="1"/>
              <a:t>setEnd</a:t>
            </a:r>
            <a:r>
              <a:rPr lang="en-US" altLang="zh-CN" sz="1800" b="0" dirty="0"/>
              <a:t>()=0;		//</a:t>
            </a:r>
            <a:r>
              <a:rPr lang="zh-CN" altLang="en-US" sz="1800" b="0" dirty="0"/>
              <a:t>设置当前位置到</a:t>
            </a:r>
            <a:r>
              <a:rPr lang="zh-CN" altLang="zh-CN" sz="1800" b="0" dirty="0"/>
              <a:t>表尾</a:t>
            </a:r>
          </a:p>
          <a:p>
            <a:pPr>
              <a:lnSpc>
                <a:spcPct val="110000"/>
              </a:lnSpc>
              <a:spcBef>
                <a:spcPts val="0"/>
              </a:spcBef>
            </a:pPr>
            <a:r>
              <a:rPr lang="en-US" altLang="zh-CN" sz="1800" b="0" dirty="0"/>
              <a:t>	virtual void next ()=0;  		//</a:t>
            </a:r>
            <a:r>
              <a:rPr lang="zh-CN" altLang="en-US" sz="1800" b="0" dirty="0"/>
              <a:t>移动当前位置到其</a:t>
            </a:r>
            <a:r>
              <a:rPr lang="zh-CN" altLang="zh-CN" sz="1800" b="0" dirty="0"/>
              <a:t>后继 </a:t>
            </a:r>
          </a:p>
          <a:p>
            <a:pPr>
              <a:lnSpc>
                <a:spcPct val="110000"/>
              </a:lnSpc>
              <a:spcBef>
                <a:spcPts val="0"/>
              </a:spcBef>
            </a:pPr>
            <a:r>
              <a:rPr lang="en-US" altLang="zh-CN" sz="1800" b="0" dirty="0"/>
              <a:t>	virtual void </a:t>
            </a:r>
            <a:r>
              <a:rPr lang="en-US" altLang="zh-CN" sz="1800" b="0" dirty="0" err="1"/>
              <a:t>prev</a:t>
            </a:r>
            <a:r>
              <a:rPr lang="en-US" altLang="zh-CN" sz="1800" b="0" dirty="0"/>
              <a:t> ()=0;		//</a:t>
            </a:r>
            <a:r>
              <a:rPr lang="zh-CN" altLang="en-US" sz="1800" b="0" dirty="0"/>
              <a:t>移动当前位置到其</a:t>
            </a:r>
            <a:r>
              <a:rPr lang="zh-CN" altLang="zh-CN" sz="1800" b="0" dirty="0"/>
              <a:t>前驱</a:t>
            </a:r>
          </a:p>
          <a:p>
            <a:pPr>
              <a:lnSpc>
                <a:spcPct val="110000"/>
              </a:lnSpc>
              <a:spcBef>
                <a:spcPts val="0"/>
              </a:spcBef>
            </a:pPr>
            <a:r>
              <a:rPr lang="en-US" altLang="zh-CN" sz="1800" b="0" dirty="0"/>
              <a:t>	virtual </a:t>
            </a:r>
            <a:r>
              <a:rPr lang="en-US" altLang="zh-CN" sz="1800" b="0" dirty="0" err="1"/>
              <a:t>bool</a:t>
            </a:r>
            <a:r>
              <a:rPr lang="en-US" altLang="zh-CN" sz="1800" b="0" dirty="0"/>
              <a:t> </a:t>
            </a:r>
            <a:r>
              <a:rPr lang="en-US" altLang="zh-CN" sz="1800" b="0" dirty="0" err="1"/>
              <a:t>setPos</a:t>
            </a:r>
            <a:r>
              <a:rPr lang="en-US" altLang="zh-CN" sz="1800" b="0" dirty="0"/>
              <a:t>(</a:t>
            </a:r>
            <a:r>
              <a:rPr lang="en-US" altLang="zh-CN" sz="1800" b="0" dirty="0" err="1"/>
              <a:t>int</a:t>
            </a:r>
            <a:r>
              <a:rPr lang="en-US" altLang="zh-CN" sz="1800" b="0" dirty="0"/>
              <a:t> pos)=0;	//</a:t>
            </a:r>
            <a:r>
              <a:rPr lang="zh-CN" altLang="zh-CN" sz="1800" b="0" dirty="0"/>
              <a:t>指定当前数据元素的位置</a:t>
            </a:r>
          </a:p>
          <a:p>
            <a:pPr>
              <a:lnSpc>
                <a:spcPct val="110000"/>
              </a:lnSpc>
              <a:spcBef>
                <a:spcPts val="0"/>
              </a:spcBef>
            </a:pPr>
            <a:r>
              <a:rPr lang="en-US" altLang="zh-CN" sz="1800" b="0" dirty="0"/>
              <a:t>	virtual </a:t>
            </a:r>
            <a:r>
              <a:rPr lang="en-US" altLang="zh-CN" sz="1800" b="0" dirty="0" err="1"/>
              <a:t>bool</a:t>
            </a:r>
            <a:r>
              <a:rPr lang="en-US" altLang="zh-CN" sz="1800" b="0" dirty="0"/>
              <a:t> </a:t>
            </a:r>
            <a:r>
              <a:rPr lang="en-US" altLang="zh-CN" sz="1800" b="0" dirty="0" err="1"/>
              <a:t>getValue</a:t>
            </a:r>
            <a:r>
              <a:rPr lang="en-US" altLang="zh-CN" sz="1800" b="0" dirty="0"/>
              <a:t>(Elem&amp;) const=0;//</a:t>
            </a:r>
            <a:r>
              <a:rPr lang="zh-CN" altLang="zh-CN" sz="1800" b="0" dirty="0"/>
              <a:t>返回当前数据元素的取值</a:t>
            </a:r>
          </a:p>
          <a:p>
            <a:pPr>
              <a:lnSpc>
                <a:spcPct val="110000"/>
              </a:lnSpc>
              <a:spcBef>
                <a:spcPts val="0"/>
              </a:spcBef>
            </a:pPr>
            <a:r>
              <a:rPr lang="en-US" altLang="zh-CN" sz="1800" b="0" dirty="0"/>
              <a:t>	virtual </a:t>
            </a:r>
            <a:r>
              <a:rPr lang="en-US" altLang="zh-CN" sz="1800" b="0" dirty="0" err="1"/>
              <a:t>bool</a:t>
            </a:r>
            <a:r>
              <a:rPr lang="en-US" altLang="zh-CN" sz="1800" b="0" dirty="0"/>
              <a:t> </a:t>
            </a:r>
            <a:r>
              <a:rPr lang="en-US" altLang="zh-CN" sz="1800" b="0" dirty="0" err="1"/>
              <a:t>IsEmpty</a:t>
            </a:r>
            <a:r>
              <a:rPr lang="en-US" altLang="zh-CN" sz="1800" b="0" dirty="0"/>
              <a:t>()=0;		//</a:t>
            </a:r>
            <a:r>
              <a:rPr lang="zh-CN" altLang="zh-CN" sz="1800" b="0" dirty="0"/>
              <a:t>判断线性表是否为空</a:t>
            </a:r>
            <a:r>
              <a:rPr lang="en-US" altLang="zh-CN" sz="1800" b="0" dirty="0"/>
              <a:t> </a:t>
            </a:r>
            <a:endParaRPr lang="zh-CN" altLang="zh-CN" sz="1800" b="0" dirty="0"/>
          </a:p>
          <a:p>
            <a:pPr>
              <a:lnSpc>
                <a:spcPct val="110000"/>
              </a:lnSpc>
              <a:spcBef>
                <a:spcPts val="0"/>
              </a:spcBef>
            </a:pPr>
            <a:r>
              <a:rPr lang="en-US" altLang="zh-CN" sz="1800" b="0" dirty="0"/>
              <a:t>	virtual </a:t>
            </a:r>
            <a:r>
              <a:rPr lang="en-US" altLang="zh-CN" sz="1800" b="0" dirty="0" err="1"/>
              <a:t>bool</a:t>
            </a:r>
            <a:r>
              <a:rPr lang="en-US" altLang="zh-CN" sz="1800" b="0" dirty="0"/>
              <a:t> </a:t>
            </a:r>
            <a:r>
              <a:rPr lang="en-US" altLang="zh-CN" sz="1800" b="0" dirty="0" err="1"/>
              <a:t>IsFull</a:t>
            </a:r>
            <a:r>
              <a:rPr lang="en-US" altLang="zh-CN" sz="1800" b="0" dirty="0"/>
              <a:t>()= 0</a:t>
            </a:r>
            <a:r>
              <a:rPr lang="zh-CN" altLang="zh-CN" sz="1800" b="0" dirty="0"/>
              <a:t>；</a:t>
            </a:r>
            <a:r>
              <a:rPr lang="en-US" altLang="zh-CN" sz="1800" b="0" dirty="0"/>
              <a:t>		//</a:t>
            </a:r>
            <a:r>
              <a:rPr lang="zh-CN" altLang="zh-CN" sz="1800" b="0" dirty="0"/>
              <a:t>判断线性表是否为满</a:t>
            </a:r>
          </a:p>
          <a:p>
            <a:pPr>
              <a:lnSpc>
                <a:spcPct val="110000"/>
              </a:lnSpc>
              <a:spcBef>
                <a:spcPts val="0"/>
              </a:spcBef>
            </a:pPr>
            <a:r>
              <a:rPr lang="en-US" altLang="zh-CN" sz="1800" b="0" dirty="0"/>
              <a:t>	virtual void print() const=0; 	//</a:t>
            </a:r>
            <a:r>
              <a:rPr lang="zh-CN" altLang="zh-CN" sz="1800" b="0" dirty="0"/>
              <a:t>输出表内容</a:t>
            </a:r>
            <a:r>
              <a:rPr lang="en-US" altLang="zh-CN" sz="1800" b="0" dirty="0"/>
              <a:t> </a:t>
            </a:r>
            <a:endParaRPr lang="zh-CN" altLang="zh-CN" sz="1800" b="0" dirty="0"/>
          </a:p>
          <a:p>
            <a:pPr>
              <a:lnSpc>
                <a:spcPct val="110000"/>
              </a:lnSpc>
              <a:spcBef>
                <a:spcPts val="0"/>
              </a:spcBef>
            </a:pPr>
            <a:r>
              <a:rPr lang="en-US" altLang="zh-CN" sz="1800" b="0" dirty="0"/>
              <a:t>} ;</a:t>
            </a:r>
            <a:endParaRPr lang="zh-CN" altLang="zh-CN" sz="1800" b="0" dirty="0"/>
          </a:p>
          <a:p>
            <a:pPr>
              <a:lnSpc>
                <a:spcPct val="110000"/>
              </a:lnSpc>
            </a:pPr>
            <a:endParaRPr lang="zh-CN" altLang="en-US" sz="1800" dirty="0"/>
          </a:p>
        </p:txBody>
      </p:sp>
    </p:spTree>
    <p:extLst>
      <p:ext uri="{BB962C8B-B14F-4D97-AF65-F5344CB8AC3E}">
        <p14:creationId xmlns:p14="http://schemas.microsoft.com/office/powerpoint/2010/main" val="25198296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2.2  </a:t>
            </a:r>
            <a:r>
              <a:rPr lang="zh-CN" altLang="zh-CN" b="1" dirty="0"/>
              <a:t>线性表的顺序存储结构</a:t>
            </a:r>
            <a:endParaRPr lang="zh-CN" altLang="en-US" dirty="0"/>
          </a:p>
        </p:txBody>
      </p:sp>
      <p:sp>
        <p:nvSpPr>
          <p:cNvPr id="3" name="内容占位符 2"/>
          <p:cNvSpPr>
            <a:spLocks noGrp="1"/>
          </p:cNvSpPr>
          <p:nvPr>
            <p:ph idx="1"/>
          </p:nvPr>
        </p:nvSpPr>
        <p:spPr>
          <a:xfrm>
            <a:off x="827584" y="1628801"/>
            <a:ext cx="7704856" cy="2736304"/>
          </a:xfrm>
        </p:spPr>
        <p:txBody>
          <a:bodyPr>
            <a:normAutofit lnSpcReduction="10000"/>
          </a:bodyPr>
          <a:lstStyle/>
          <a:p>
            <a:r>
              <a:rPr lang="en-US" altLang="zh-CN" dirty="0"/>
              <a:t>2.2.1  </a:t>
            </a:r>
            <a:r>
              <a:rPr lang="zh-CN" altLang="zh-CN" dirty="0"/>
              <a:t>顺序存储结构</a:t>
            </a:r>
          </a:p>
          <a:p>
            <a:r>
              <a:rPr lang="en-US" altLang="zh-CN" dirty="0"/>
              <a:t>		</a:t>
            </a:r>
            <a:r>
              <a:rPr lang="zh-CN" altLang="zh-CN" dirty="0">
                <a:solidFill>
                  <a:srgbClr val="FF0000"/>
                </a:solidFill>
              </a:rPr>
              <a:t>顺序存储结构</a:t>
            </a:r>
            <a:r>
              <a:rPr lang="zh-CN" altLang="zh-CN" dirty="0"/>
              <a:t>是用一组连续的存储单元来存储线性表，即利用数据元素之间的相对位置表示它们之间的次序关系。</a:t>
            </a:r>
            <a:endParaRPr lang="en-US" altLang="zh-CN" dirty="0"/>
          </a:p>
          <a:p>
            <a:r>
              <a:rPr lang="en-US" altLang="zh-CN" b="0" dirty="0"/>
              <a:t>    </a:t>
            </a:r>
            <a:r>
              <a:rPr lang="zh-CN" altLang="zh-CN" b="0" dirty="0"/>
              <a:t>相邻元素的物理位置必定相邻，线性表</a:t>
            </a:r>
            <a:r>
              <a:rPr lang="en-US" altLang="zh-CN" b="0" dirty="0"/>
              <a:t>L= (a</a:t>
            </a:r>
            <a:r>
              <a:rPr lang="en-US" altLang="zh-CN" b="0" baseline="-25000" dirty="0"/>
              <a:t>0</a:t>
            </a:r>
            <a:r>
              <a:rPr lang="en-US" altLang="zh-CN" b="0" dirty="0"/>
              <a:t>, a</a:t>
            </a:r>
            <a:r>
              <a:rPr lang="en-US" altLang="zh-CN" b="0" baseline="-25000" dirty="0"/>
              <a:t>1</a:t>
            </a:r>
            <a:r>
              <a:rPr lang="en-US" altLang="zh-CN" b="0" dirty="0"/>
              <a:t>, …, a</a:t>
            </a:r>
            <a:r>
              <a:rPr lang="en-US" altLang="zh-CN" b="0" baseline="-25000" dirty="0"/>
              <a:t>n-2</a:t>
            </a:r>
            <a:r>
              <a:rPr lang="en-US" altLang="zh-CN" b="0" dirty="0"/>
              <a:t>, a</a:t>
            </a:r>
            <a:r>
              <a:rPr lang="en-US" altLang="zh-CN" b="0" baseline="-25000" dirty="0"/>
              <a:t>n-1</a:t>
            </a:r>
            <a:r>
              <a:rPr lang="en-US" altLang="zh-CN" b="0" dirty="0"/>
              <a:t>)</a:t>
            </a:r>
            <a:r>
              <a:rPr lang="zh-CN" altLang="zh-CN" b="0" dirty="0"/>
              <a:t>的顺序存储结构如图</a:t>
            </a:r>
            <a:r>
              <a:rPr lang="en-US" altLang="zh-CN" b="0" dirty="0"/>
              <a:t>2</a:t>
            </a:r>
            <a:r>
              <a:rPr lang="zh-CN" altLang="zh-CN" b="0" dirty="0"/>
              <a:t>-1所示。</a:t>
            </a:r>
            <a:endParaRPr lang="zh-CN" altLang="en-US" b="0" dirty="0"/>
          </a:p>
        </p:txBody>
      </p:sp>
      <p:sp>
        <p:nvSpPr>
          <p:cNvPr id="4" name="矩形 1612"/>
          <p:cNvSpPr>
            <a:spLocks noChangeArrowheads="1"/>
          </p:cNvSpPr>
          <p:nvPr/>
        </p:nvSpPr>
        <p:spPr bwMode="auto">
          <a:xfrm>
            <a:off x="2123728" y="5517232"/>
            <a:ext cx="4771330" cy="147517"/>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b="1" i="0" u="none" strike="noStrike" cap="none" normalizeH="0" baseline="0" dirty="0">
                <a:ln>
                  <a:noFill/>
                </a:ln>
                <a:solidFill>
                  <a:schemeClr val="tx1"/>
                </a:solidFill>
                <a:effectLst/>
                <a:latin typeface="Times New Roman" pitchFamily="18" charset="0"/>
                <a:ea typeface="宋体" pitchFamily="2" charset="-122"/>
                <a:cs typeface="宋体" pitchFamily="2" charset="-122"/>
              </a:rPr>
              <a:t>         </a:t>
            </a:r>
            <a:r>
              <a:rPr kumimoji="0" lang="en-US" altLang="zh-CN" b="0" i="0" u="none" strike="noStrike" cap="none" normalizeH="0" baseline="0" dirty="0">
                <a:ln>
                  <a:noFill/>
                </a:ln>
                <a:solidFill>
                  <a:schemeClr val="tx1"/>
                </a:solidFill>
                <a:effectLst/>
                <a:latin typeface="Times New Roman" pitchFamily="18" charset="0"/>
                <a:ea typeface="宋体" pitchFamily="2" charset="-122"/>
                <a:cs typeface="宋体" pitchFamily="2" charset="-122"/>
              </a:rPr>
              <a:t>0  1  ...  n-2   n-1  ...         MaxLen-1</a:t>
            </a:r>
            <a:endParaRPr kumimoji="0" lang="zh-CN" altLang="zh-CN"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5" name="矩形 1611"/>
          <p:cNvSpPr>
            <a:spLocks noChangeArrowheads="1"/>
          </p:cNvSpPr>
          <p:nvPr/>
        </p:nvSpPr>
        <p:spPr bwMode="auto">
          <a:xfrm>
            <a:off x="2627784" y="4509120"/>
            <a:ext cx="3317140" cy="807321"/>
          </a:xfrm>
          <a:prstGeom prst="rect">
            <a:avLst/>
          </a:prstGeom>
          <a:solidFill>
            <a:srgbClr val="FFFFFF"/>
          </a:solidFill>
          <a:ln w="12700">
            <a:solidFill>
              <a:srgbClr val="002060"/>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b="1" i="0" u="none" strike="noStrike" cap="none" normalizeH="0" baseline="0" dirty="0">
                <a:ln>
                  <a:noFill/>
                </a:ln>
                <a:solidFill>
                  <a:schemeClr val="tx1"/>
                </a:solidFill>
                <a:effectLst/>
                <a:latin typeface="Calibri" pitchFamily="34" charset="0"/>
                <a:ea typeface="宋体" pitchFamily="2" charset="-122"/>
                <a:cs typeface="宋体" pitchFamily="2" charset="-122"/>
              </a:rPr>
              <a:t>a</a:t>
            </a:r>
            <a:r>
              <a:rPr kumimoji="0" lang="en-US" altLang="zh-CN" b="1" i="0" u="none" strike="noStrike" cap="none" normalizeH="0" baseline="-25000" dirty="0">
                <a:ln>
                  <a:noFill/>
                </a:ln>
                <a:solidFill>
                  <a:schemeClr val="tx1"/>
                </a:solidFill>
                <a:effectLst/>
                <a:latin typeface="Times New Roman" pitchFamily="18" charset="0"/>
                <a:ea typeface="宋体" pitchFamily="2" charset="-122"/>
                <a:cs typeface="宋体" pitchFamily="2" charset="-122"/>
              </a:rPr>
              <a:t>0</a:t>
            </a:r>
            <a:r>
              <a:rPr kumimoji="0" lang="en-US" altLang="zh-CN" b="1" i="0" u="none" strike="noStrike" cap="none" normalizeH="0" baseline="0" dirty="0">
                <a:ln>
                  <a:noFill/>
                </a:ln>
                <a:solidFill>
                  <a:schemeClr val="tx1"/>
                </a:solidFill>
                <a:effectLst/>
                <a:latin typeface="Calibri" pitchFamily="34" charset="0"/>
                <a:ea typeface="宋体" pitchFamily="2" charset="-122"/>
                <a:cs typeface="宋体" pitchFamily="2" charset="-122"/>
              </a:rPr>
              <a:t>  a</a:t>
            </a:r>
            <a:r>
              <a:rPr kumimoji="0" lang="en-US" altLang="zh-CN" b="1" i="0" u="none" strike="noStrike" cap="none" normalizeH="0" baseline="-25000" dirty="0">
                <a:ln>
                  <a:noFill/>
                </a:ln>
                <a:solidFill>
                  <a:schemeClr val="tx1"/>
                </a:solidFill>
                <a:effectLst/>
                <a:latin typeface="Calibri" pitchFamily="34" charset="0"/>
                <a:ea typeface="宋体" pitchFamily="2" charset="-122"/>
                <a:cs typeface="宋体" pitchFamily="2" charset="-122"/>
              </a:rPr>
              <a:t>1</a:t>
            </a:r>
            <a:r>
              <a:rPr kumimoji="0" lang="en-US" altLang="zh-CN" b="1" i="0" u="none" strike="noStrike" cap="none" normalizeH="0" baseline="0" dirty="0">
                <a:ln>
                  <a:noFill/>
                </a:ln>
                <a:solidFill>
                  <a:schemeClr val="tx1"/>
                </a:solidFill>
                <a:effectLst/>
                <a:latin typeface="Calibri" pitchFamily="34" charset="0"/>
                <a:ea typeface="宋体" pitchFamily="2" charset="-122"/>
                <a:cs typeface="宋体" pitchFamily="2" charset="-122"/>
              </a:rPr>
              <a:t>  …  </a:t>
            </a:r>
            <a:r>
              <a:rPr kumimoji="0" lang="en-US" altLang="zh-CN" b="1" i="0" u="none" strike="noStrike" cap="none" normalizeH="0" baseline="0" dirty="0">
                <a:ln>
                  <a:noFill/>
                </a:ln>
                <a:solidFill>
                  <a:schemeClr val="tx1"/>
                </a:solidFill>
                <a:effectLst/>
                <a:latin typeface="Times New Roman" pitchFamily="18" charset="0"/>
                <a:ea typeface="宋体" pitchFamily="2" charset="-122"/>
                <a:cs typeface="宋体" pitchFamily="2" charset="-122"/>
              </a:rPr>
              <a:t>a</a:t>
            </a:r>
            <a:r>
              <a:rPr kumimoji="0" lang="en-US" altLang="zh-CN" b="1" i="0" u="none" strike="noStrike" cap="none" normalizeH="0" baseline="-25000" dirty="0">
                <a:ln>
                  <a:noFill/>
                </a:ln>
                <a:solidFill>
                  <a:schemeClr val="tx1"/>
                </a:solidFill>
                <a:effectLst/>
                <a:latin typeface="Times New Roman" pitchFamily="18" charset="0"/>
                <a:ea typeface="宋体" pitchFamily="2" charset="-122"/>
                <a:cs typeface="宋体" pitchFamily="2" charset="-122"/>
              </a:rPr>
              <a:t>n-2   </a:t>
            </a:r>
            <a:r>
              <a:rPr kumimoji="0" lang="en-US" altLang="zh-CN" b="1" i="0" u="none" strike="noStrike" cap="none" normalizeH="0" baseline="0" dirty="0">
                <a:ln>
                  <a:noFill/>
                </a:ln>
                <a:solidFill>
                  <a:schemeClr val="tx1"/>
                </a:solidFill>
                <a:effectLst/>
                <a:latin typeface="Times New Roman" pitchFamily="18" charset="0"/>
                <a:ea typeface="宋体" pitchFamily="2" charset="-122"/>
                <a:cs typeface="宋体" pitchFamily="2" charset="-122"/>
              </a:rPr>
              <a:t>a</a:t>
            </a:r>
            <a:r>
              <a:rPr kumimoji="0" lang="en-US" altLang="zh-CN" b="1" i="0" u="none" strike="noStrike" cap="none" normalizeH="0" baseline="-25000" dirty="0">
                <a:ln>
                  <a:noFill/>
                </a:ln>
                <a:solidFill>
                  <a:schemeClr val="tx1"/>
                </a:solidFill>
                <a:effectLst/>
                <a:latin typeface="Times New Roman" pitchFamily="18" charset="0"/>
                <a:ea typeface="宋体" pitchFamily="2" charset="-122"/>
                <a:cs typeface="宋体" pitchFamily="2" charset="-122"/>
              </a:rPr>
              <a:t>n-1  </a:t>
            </a:r>
            <a:r>
              <a:rPr kumimoji="0" lang="en-US" altLang="zh-CN" b="1" i="0" u="none" strike="noStrike" cap="none" normalizeH="0" baseline="0" dirty="0">
                <a:ln>
                  <a:noFill/>
                </a:ln>
                <a:solidFill>
                  <a:schemeClr val="tx1"/>
                </a:solidFill>
                <a:effectLst/>
                <a:latin typeface="Calibri" pitchFamily="34" charset="0"/>
                <a:ea typeface="宋体" pitchFamily="2" charset="-122"/>
                <a:cs typeface="宋体" pitchFamily="2" charset="-122"/>
              </a:rPr>
              <a:t> …  </a:t>
            </a:r>
            <a:endParaRPr kumimoji="0" lang="zh-CN" altLang="zh-CN"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6" name="矩形 5"/>
          <p:cNvSpPr/>
          <p:nvPr/>
        </p:nvSpPr>
        <p:spPr>
          <a:xfrm>
            <a:off x="2704029" y="5867980"/>
            <a:ext cx="3164649" cy="369332"/>
          </a:xfrm>
          <a:prstGeom prst="rect">
            <a:avLst/>
          </a:prstGeom>
        </p:spPr>
        <p:txBody>
          <a:bodyPr wrap="none">
            <a:spAutoFit/>
          </a:bodyPr>
          <a:lstStyle/>
          <a:p>
            <a:r>
              <a:rPr lang="zh-CN" altLang="en-US" dirty="0">
                <a:latin typeface="楷体" pitchFamily="49" charset="-122"/>
                <a:ea typeface="楷体" pitchFamily="49" charset="-122"/>
              </a:rPr>
              <a:t>图</a:t>
            </a:r>
            <a:r>
              <a:rPr lang="en-US" altLang="zh-CN" dirty="0">
                <a:latin typeface="楷体" pitchFamily="49" charset="-122"/>
                <a:ea typeface="楷体" pitchFamily="49" charset="-122"/>
              </a:rPr>
              <a:t>2-1</a:t>
            </a:r>
            <a:r>
              <a:rPr lang="zh-CN" altLang="en-US" dirty="0">
                <a:latin typeface="楷体" pitchFamily="49" charset="-122"/>
                <a:ea typeface="楷体" pitchFamily="49" charset="-122"/>
              </a:rPr>
              <a:t>线性表</a:t>
            </a:r>
            <a:r>
              <a:rPr lang="en-US" altLang="zh-CN" dirty="0">
                <a:latin typeface="楷体" pitchFamily="49" charset="-122"/>
                <a:ea typeface="楷体" pitchFamily="49" charset="-122"/>
              </a:rPr>
              <a:t>L</a:t>
            </a:r>
            <a:r>
              <a:rPr lang="zh-CN" altLang="en-US" dirty="0">
                <a:latin typeface="楷体" pitchFamily="49" charset="-122"/>
                <a:ea typeface="楷体" pitchFamily="49" charset="-122"/>
              </a:rPr>
              <a:t>的顺序存储表示</a:t>
            </a:r>
          </a:p>
        </p:txBody>
      </p:sp>
    </p:spTree>
    <p:extLst>
      <p:ext uri="{BB962C8B-B14F-4D97-AF65-F5344CB8AC3E}">
        <p14:creationId xmlns:p14="http://schemas.microsoft.com/office/powerpoint/2010/main" val="24214058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500034" y="836712"/>
            <a:ext cx="8286808" cy="5306932"/>
          </a:xfrm>
        </p:spPr>
        <p:txBody>
          <a:bodyPr>
            <a:normAutofit lnSpcReduction="10000"/>
          </a:bodyPr>
          <a:lstStyle/>
          <a:p>
            <a:r>
              <a:rPr lang="zh-CN" altLang="en-US" dirty="0"/>
              <a:t>采用顺序存储方式存储的线性表称为</a:t>
            </a:r>
            <a:r>
              <a:rPr lang="zh-CN" altLang="en-US" dirty="0">
                <a:solidFill>
                  <a:srgbClr val="FF0000"/>
                </a:solidFill>
              </a:rPr>
              <a:t>顺序表</a:t>
            </a:r>
            <a:r>
              <a:rPr lang="zh-CN" altLang="en-US" dirty="0"/>
              <a:t>。其特点是：</a:t>
            </a:r>
          </a:p>
          <a:p>
            <a:r>
              <a:rPr lang="en-US" altLang="zh-CN" dirty="0">
                <a:solidFill>
                  <a:srgbClr val="FF0000"/>
                </a:solidFill>
              </a:rPr>
              <a:t>(1) </a:t>
            </a:r>
            <a:r>
              <a:rPr lang="zh-CN" altLang="en-US" dirty="0">
                <a:solidFill>
                  <a:srgbClr val="FF0000"/>
                </a:solidFill>
              </a:rPr>
              <a:t>线性表的逻辑顺序与物理顺序一致。</a:t>
            </a:r>
          </a:p>
          <a:p>
            <a:pPr>
              <a:spcAft>
                <a:spcPts val="600"/>
              </a:spcAft>
            </a:pPr>
            <a:r>
              <a:rPr lang="en-US" altLang="zh-CN" dirty="0">
                <a:solidFill>
                  <a:srgbClr val="FF0000"/>
                </a:solidFill>
              </a:rPr>
              <a:t>(2) </a:t>
            </a:r>
            <a:r>
              <a:rPr lang="zh-CN" altLang="en-US" dirty="0">
                <a:solidFill>
                  <a:srgbClr val="FF0000"/>
                </a:solidFill>
              </a:rPr>
              <a:t>数据元素之间的关系采用物理位置的相邻关系来体现。</a:t>
            </a:r>
          </a:p>
          <a:p>
            <a:pPr marL="0" indent="0" algn="just" defTabSz="622300">
              <a:tabLst>
                <a:tab pos="447675" algn="l"/>
              </a:tabLst>
            </a:pPr>
            <a:r>
              <a:rPr lang="zh-CN" altLang="en-US" b="0" dirty="0"/>
              <a:t>假设线性表的每个元素需占用</a:t>
            </a:r>
            <a:r>
              <a:rPr lang="en-US" altLang="zh-CN" b="0" dirty="0"/>
              <a:t>c</a:t>
            </a:r>
            <a:r>
              <a:rPr lang="zh-CN" altLang="en-US" b="0" dirty="0"/>
              <a:t>个存储单元，并以所占的第一个单元的存储地址作为数据元素的存储位置。那么线性表中第</a:t>
            </a:r>
            <a:r>
              <a:rPr lang="en-US" altLang="zh-CN" b="0" dirty="0" err="1"/>
              <a:t>i</a:t>
            </a:r>
            <a:r>
              <a:rPr lang="zh-CN" altLang="en-US" b="0" dirty="0"/>
              <a:t>个数据元素的存储位置</a:t>
            </a:r>
            <a:r>
              <a:rPr lang="en-US" altLang="zh-CN" b="0" dirty="0"/>
              <a:t>LOC(</a:t>
            </a:r>
            <a:r>
              <a:rPr lang="en-US" altLang="zh-CN" b="0" dirty="0" err="1"/>
              <a:t>a</a:t>
            </a:r>
            <a:r>
              <a:rPr lang="en-US" altLang="zh-CN" b="0" baseline="-25000" dirty="0" err="1"/>
              <a:t>i</a:t>
            </a:r>
            <a:r>
              <a:rPr lang="en-US" altLang="zh-CN" b="0" dirty="0"/>
              <a:t>)</a:t>
            </a:r>
            <a:r>
              <a:rPr lang="zh-CN" altLang="en-US" b="0" dirty="0"/>
              <a:t>和第</a:t>
            </a:r>
            <a:r>
              <a:rPr lang="en-US" altLang="zh-CN" b="0" dirty="0"/>
              <a:t>i-1</a:t>
            </a:r>
            <a:r>
              <a:rPr lang="zh-CN" altLang="en-US" b="0" dirty="0"/>
              <a:t>个数据元素的存储位置</a:t>
            </a:r>
            <a:r>
              <a:rPr lang="en-US" altLang="zh-CN" b="0" dirty="0"/>
              <a:t>LOC(a</a:t>
            </a:r>
            <a:r>
              <a:rPr lang="en-US" altLang="zh-CN" b="0" baseline="-25000" dirty="0"/>
              <a:t>i-1</a:t>
            </a:r>
            <a:r>
              <a:rPr lang="en-US" altLang="zh-CN" b="0" dirty="0"/>
              <a:t>)</a:t>
            </a:r>
            <a:r>
              <a:rPr lang="zh-CN" altLang="en-US" b="0" dirty="0"/>
              <a:t>之间满足下列关系： </a:t>
            </a:r>
          </a:p>
          <a:p>
            <a:pPr algn="just">
              <a:spcAft>
                <a:spcPts val="600"/>
              </a:spcAft>
            </a:pPr>
            <a:r>
              <a:rPr lang="zh-CN" altLang="en-US" b="0" dirty="0"/>
              <a:t>		</a:t>
            </a:r>
            <a:r>
              <a:rPr lang="en-US" b="0" dirty="0"/>
              <a:t>LOC(</a:t>
            </a:r>
            <a:r>
              <a:rPr lang="en-US" b="0" dirty="0" err="1"/>
              <a:t>a</a:t>
            </a:r>
            <a:r>
              <a:rPr lang="en-US" b="0" baseline="-25000" dirty="0" err="1"/>
              <a:t>i</a:t>
            </a:r>
            <a:r>
              <a:rPr lang="en-US" b="0" dirty="0"/>
              <a:t>)= LOC(a</a:t>
            </a:r>
            <a:r>
              <a:rPr lang="en-US" b="0" baseline="-25000" dirty="0"/>
              <a:t>i-1</a:t>
            </a:r>
            <a:r>
              <a:rPr lang="en-US" b="0" dirty="0"/>
              <a:t>)+c                           (2-1)</a:t>
            </a:r>
            <a:endParaRPr lang="zh-CN" altLang="en-US" b="0" dirty="0"/>
          </a:p>
          <a:p>
            <a:pPr marL="0" indent="0" algn="just" defTabSz="180975"/>
            <a:r>
              <a:rPr lang="zh-CN" altLang="en-US" b="0" dirty="0"/>
              <a:t>假设线性表中第一个数据元素</a:t>
            </a:r>
            <a:r>
              <a:rPr lang="en-US" b="0" dirty="0"/>
              <a:t>a</a:t>
            </a:r>
            <a:r>
              <a:rPr lang="en-US" b="0" baseline="-25000" dirty="0"/>
              <a:t>0</a:t>
            </a:r>
            <a:r>
              <a:rPr lang="zh-CN" altLang="en-US" b="0" dirty="0"/>
              <a:t>所在的存储地址为</a:t>
            </a:r>
            <a:r>
              <a:rPr lang="en-US" altLang="zh-CN" b="0" dirty="0"/>
              <a:t>LOC(</a:t>
            </a:r>
            <a:r>
              <a:rPr lang="en-US" b="0" dirty="0"/>
              <a:t>a</a:t>
            </a:r>
            <a:r>
              <a:rPr lang="en-US" b="0" baseline="-25000" dirty="0"/>
              <a:t>0</a:t>
            </a:r>
            <a:r>
              <a:rPr lang="en-US" altLang="zh-CN" b="0" dirty="0"/>
              <a:t>)</a:t>
            </a:r>
            <a:r>
              <a:rPr lang="zh-CN" altLang="en-US" b="0" dirty="0"/>
              <a:t>，则线性表中数据元素</a:t>
            </a:r>
            <a:r>
              <a:rPr lang="en-US" altLang="zh-CN" b="0" dirty="0"/>
              <a:t>a</a:t>
            </a:r>
            <a:r>
              <a:rPr lang="en-US" altLang="zh-CN" b="0" baseline="-25000" dirty="0"/>
              <a:t>i</a:t>
            </a:r>
            <a:r>
              <a:rPr lang="zh-CN" altLang="en-US" b="0" dirty="0"/>
              <a:t>的存储地址为：</a:t>
            </a:r>
          </a:p>
          <a:p>
            <a:pPr algn="just"/>
            <a:r>
              <a:rPr lang="en-US" b="0" dirty="0"/>
              <a:t>		LOC(a</a:t>
            </a:r>
            <a:r>
              <a:rPr lang="en-US" b="0" baseline="-25000" dirty="0"/>
              <a:t>i</a:t>
            </a:r>
            <a:r>
              <a:rPr lang="en-US" b="0" dirty="0"/>
              <a:t>)= LOC(a</a:t>
            </a:r>
            <a:r>
              <a:rPr lang="en-US" b="0" baseline="-25000" dirty="0"/>
              <a:t>0</a:t>
            </a:r>
            <a:r>
              <a:rPr lang="en-US" b="0" dirty="0"/>
              <a:t>)+</a:t>
            </a:r>
            <a:r>
              <a:rPr lang="en-US" b="0" dirty="0" err="1"/>
              <a:t>i×c</a:t>
            </a:r>
            <a:r>
              <a:rPr lang="en-US" b="0" dirty="0"/>
              <a:t>                        (2-2)</a:t>
            </a:r>
            <a:endParaRPr lang="zh-CN" altLang="en-US" b="0" dirty="0"/>
          </a:p>
          <a:p>
            <a:endParaRPr lang="zh-CN" altLang="en-US" dirty="0"/>
          </a:p>
        </p:txBody>
      </p:sp>
    </p:spTree>
    <p:extLst>
      <p:ext uri="{BB962C8B-B14F-4D97-AF65-F5344CB8AC3E}">
        <p14:creationId xmlns:p14="http://schemas.microsoft.com/office/powerpoint/2010/main" val="33730418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004048" y="1916832"/>
            <a:ext cx="4104456" cy="4320480"/>
          </a:xfrm>
        </p:spPr>
        <p:txBody>
          <a:bodyPr>
            <a:normAutofit/>
          </a:bodyPr>
          <a:lstStyle/>
          <a:p>
            <a:pPr algn="just"/>
            <a:r>
              <a:rPr lang="zh-CN" altLang="zh-CN" sz="2000" b="0" dirty="0"/>
              <a:t>例：设有一维数组M，下标的范围是0到9，每个数组元素用相邻的5个字节存储。存储器按字节编址，设存储数组元素M[0]的第一个字节的地址是98，则M[3]的第一个字节的地址是：LOC(M[3])=98+3×5=113。</a:t>
            </a:r>
          </a:p>
          <a:p>
            <a:endParaRPr lang="zh-CN" altLang="en-US" sz="2000" b="0" dirty="0"/>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04" y="1124744"/>
            <a:ext cx="4982798" cy="4896544"/>
          </a:xfrm>
          <a:prstGeom prst="rect">
            <a:avLst/>
          </a:prstGeom>
        </p:spPr>
      </p:pic>
    </p:spTree>
    <p:extLst>
      <p:ext uri="{BB962C8B-B14F-4D97-AF65-F5344CB8AC3E}">
        <p14:creationId xmlns:p14="http://schemas.microsoft.com/office/powerpoint/2010/main" val="1794219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14678" y="71414"/>
            <a:ext cx="5786478" cy="500066"/>
          </a:xfrm>
        </p:spPr>
        <p:txBody>
          <a:bodyPr/>
          <a:lstStyle/>
          <a:p>
            <a:pPr>
              <a:lnSpc>
                <a:spcPct val="150000"/>
              </a:lnSpc>
            </a:pPr>
            <a:r>
              <a:rPr lang="zh-CN" altLang="zh-CN" sz="2400" b="1" dirty="0"/>
              <a:t>线性表顺序存储结构的形式定义</a:t>
            </a:r>
            <a:r>
              <a:rPr lang="zh-CN" altLang="en-US" sz="2400" b="1" dirty="0"/>
              <a:t>如下</a:t>
            </a:r>
            <a:r>
              <a:rPr lang="zh-CN" altLang="zh-CN" sz="2400" b="1" dirty="0"/>
              <a:t>：</a:t>
            </a:r>
            <a:endParaRPr lang="zh-CN" altLang="en-US" sz="2400" b="1" dirty="0"/>
          </a:p>
        </p:txBody>
      </p:sp>
      <p:sp>
        <p:nvSpPr>
          <p:cNvPr id="3" name="内容占位符 2"/>
          <p:cNvSpPr>
            <a:spLocks noGrp="1"/>
          </p:cNvSpPr>
          <p:nvPr>
            <p:ph idx="1"/>
          </p:nvPr>
        </p:nvSpPr>
        <p:spPr>
          <a:xfrm>
            <a:off x="785786" y="642918"/>
            <a:ext cx="8286808" cy="5715040"/>
          </a:xfrm>
        </p:spPr>
        <p:txBody>
          <a:bodyPr>
            <a:noAutofit/>
          </a:bodyPr>
          <a:lstStyle/>
          <a:p>
            <a:pPr marL="324000">
              <a:lnSpc>
                <a:spcPct val="110000"/>
              </a:lnSpc>
              <a:spcBef>
                <a:spcPts val="0"/>
              </a:spcBef>
            </a:pPr>
            <a:r>
              <a:rPr lang="zh-CN" altLang="zh-CN" sz="1600" b="0" dirty="0"/>
              <a:t>算法</a:t>
            </a:r>
            <a:r>
              <a:rPr lang="en-US" altLang="zh-CN" sz="1600" b="0" dirty="0"/>
              <a:t>2.2</a:t>
            </a:r>
            <a:r>
              <a:rPr lang="zh-CN" altLang="zh-CN" sz="1600" b="0" dirty="0"/>
              <a:t>：</a:t>
            </a:r>
            <a:r>
              <a:rPr lang="zh-CN" altLang="zh-CN" sz="1800" dirty="0">
                <a:solidFill>
                  <a:srgbClr val="FF0000"/>
                </a:solidFill>
              </a:rPr>
              <a:t>线性表顺序存储结构的定义</a:t>
            </a:r>
          </a:p>
          <a:p>
            <a:pPr marL="324000">
              <a:lnSpc>
                <a:spcPct val="110000"/>
              </a:lnSpc>
              <a:spcBef>
                <a:spcPts val="0"/>
              </a:spcBef>
            </a:pPr>
            <a:r>
              <a:rPr lang="en-US" altLang="zh-CN" sz="1600" b="0" dirty="0"/>
              <a:t>template &lt;class Elem&gt; </a:t>
            </a:r>
            <a:endParaRPr lang="zh-CN" altLang="zh-CN" sz="1600" b="0" dirty="0"/>
          </a:p>
          <a:p>
            <a:pPr marL="324000">
              <a:lnSpc>
                <a:spcPct val="110000"/>
              </a:lnSpc>
              <a:spcBef>
                <a:spcPts val="0"/>
              </a:spcBef>
            </a:pPr>
            <a:r>
              <a:rPr lang="en-US" altLang="zh-CN" sz="1600" b="0" dirty="0"/>
              <a:t>class  </a:t>
            </a:r>
            <a:r>
              <a:rPr lang="en-US" altLang="zh-CN" sz="1600" b="0" dirty="0" err="1"/>
              <a:t>Alist</a:t>
            </a:r>
            <a:r>
              <a:rPr lang="en-US" altLang="zh-CN" sz="1600" b="0" dirty="0"/>
              <a:t>: public List&lt;Elem&gt; {</a:t>
            </a:r>
            <a:endParaRPr lang="zh-CN" altLang="zh-CN" sz="1600" b="0" dirty="0"/>
          </a:p>
          <a:p>
            <a:pPr marL="324000">
              <a:lnSpc>
                <a:spcPct val="110000"/>
              </a:lnSpc>
              <a:spcBef>
                <a:spcPts val="0"/>
              </a:spcBef>
            </a:pPr>
            <a:r>
              <a:rPr lang="en-US" altLang="zh-CN" sz="1600" b="0" dirty="0"/>
              <a:t>	private:  </a:t>
            </a:r>
            <a:endParaRPr lang="zh-CN" altLang="zh-CN" sz="1600" b="0" dirty="0"/>
          </a:p>
          <a:p>
            <a:pPr marL="324000">
              <a:lnSpc>
                <a:spcPct val="110000"/>
              </a:lnSpc>
              <a:spcBef>
                <a:spcPts val="0"/>
              </a:spcBef>
            </a:pPr>
            <a:r>
              <a:rPr lang="en-US" altLang="zh-CN" sz="1600" b="0" dirty="0"/>
              <a:t>		</a:t>
            </a:r>
            <a:r>
              <a:rPr lang="en-US" altLang="zh-CN" sz="1600" b="0" dirty="0" err="1"/>
              <a:t>int</a:t>
            </a:r>
            <a:r>
              <a:rPr lang="en-US" altLang="zh-CN" sz="1600" b="0" dirty="0"/>
              <a:t> </a:t>
            </a:r>
            <a:r>
              <a:rPr lang="en-US" altLang="zh-CN" sz="1600" b="0" dirty="0" err="1"/>
              <a:t>maxSize</a:t>
            </a:r>
            <a:r>
              <a:rPr lang="en-US" altLang="zh-CN" sz="1600" b="0" dirty="0"/>
              <a:t>, </a:t>
            </a:r>
            <a:r>
              <a:rPr lang="en-US" altLang="zh-CN" sz="1600" b="0" dirty="0" err="1"/>
              <a:t>listSize</a:t>
            </a:r>
            <a:r>
              <a:rPr lang="en-US" altLang="zh-CN" sz="1600" b="0" dirty="0"/>
              <a:t>, </a:t>
            </a:r>
            <a:r>
              <a:rPr lang="en-US" altLang="zh-CN" sz="1600" b="0" dirty="0" err="1"/>
              <a:t>curr</a:t>
            </a:r>
            <a:r>
              <a:rPr lang="en-US" altLang="zh-CN" sz="1600" b="0" dirty="0"/>
              <a:t>; // </a:t>
            </a:r>
            <a:r>
              <a:rPr lang="zh-CN" altLang="zh-CN" sz="1600" b="0" dirty="0"/>
              <a:t>线性表最大长度</a:t>
            </a:r>
            <a:r>
              <a:rPr lang="zh-CN" altLang="en-US" sz="1600" b="0" dirty="0"/>
              <a:t>、</a:t>
            </a:r>
            <a:r>
              <a:rPr lang="zh-CN" altLang="zh-CN" sz="1600" b="0" dirty="0"/>
              <a:t>表长</a:t>
            </a:r>
            <a:r>
              <a:rPr lang="zh-CN" altLang="en-US" sz="1600" b="0" dirty="0"/>
              <a:t>、</a:t>
            </a:r>
            <a:r>
              <a:rPr lang="zh-CN" altLang="zh-CN" sz="1600" b="0" dirty="0"/>
              <a:t>当前元素位置</a:t>
            </a:r>
          </a:p>
          <a:p>
            <a:pPr marL="324000">
              <a:lnSpc>
                <a:spcPct val="110000"/>
              </a:lnSpc>
              <a:spcBef>
                <a:spcPts val="0"/>
              </a:spcBef>
            </a:pPr>
            <a:r>
              <a:rPr lang="en-US" altLang="zh-CN" sz="1600" b="0" dirty="0"/>
              <a:t>		Elem * </a:t>
            </a:r>
            <a:r>
              <a:rPr lang="en-US" altLang="zh-CN" sz="1600" b="0" dirty="0" err="1"/>
              <a:t>listArray</a:t>
            </a:r>
            <a:r>
              <a:rPr lang="en-US" altLang="zh-CN" sz="1600" b="0" dirty="0"/>
              <a:t>;	</a:t>
            </a:r>
            <a:endParaRPr lang="zh-CN" altLang="zh-CN" sz="1600" b="0" dirty="0"/>
          </a:p>
          <a:p>
            <a:pPr marL="324000">
              <a:lnSpc>
                <a:spcPct val="110000"/>
              </a:lnSpc>
              <a:spcBef>
                <a:spcPts val="0"/>
              </a:spcBef>
            </a:pPr>
            <a:r>
              <a:rPr lang="en-US" altLang="zh-CN" sz="1600" b="0" dirty="0"/>
              <a:t>	public:</a:t>
            </a:r>
            <a:endParaRPr lang="zh-CN" altLang="zh-CN" sz="1600" b="0" dirty="0"/>
          </a:p>
          <a:p>
            <a:pPr marL="324000">
              <a:lnSpc>
                <a:spcPct val="110000"/>
              </a:lnSpc>
              <a:spcBef>
                <a:spcPts val="0"/>
              </a:spcBef>
            </a:pPr>
            <a:r>
              <a:rPr lang="en-US" altLang="zh-CN" sz="1600" b="0" dirty="0"/>
              <a:t>  	 	</a:t>
            </a:r>
            <a:r>
              <a:rPr lang="en-US" altLang="zh-CN" sz="1600" b="0" dirty="0" err="1"/>
              <a:t>Alist</a:t>
            </a:r>
            <a:r>
              <a:rPr lang="en-US" altLang="zh-CN" sz="1600" b="0" dirty="0"/>
              <a:t>(</a:t>
            </a:r>
            <a:r>
              <a:rPr lang="en-US" altLang="zh-CN" sz="1600" b="0" dirty="0" err="1"/>
              <a:t>int</a:t>
            </a:r>
            <a:r>
              <a:rPr lang="en-US" altLang="zh-CN" sz="1600" b="0" dirty="0"/>
              <a:t> size=</a:t>
            </a:r>
            <a:r>
              <a:rPr lang="en-US" altLang="zh-CN" sz="1600" b="0" dirty="0" err="1"/>
              <a:t>DefaultListSize</a:t>
            </a:r>
            <a:r>
              <a:rPr lang="en-US" altLang="zh-CN" sz="1600" b="0" dirty="0"/>
              <a:t>) { 	//</a:t>
            </a:r>
            <a:r>
              <a:rPr lang="zh-CN" altLang="zh-CN" sz="1600" b="0" dirty="0"/>
              <a:t>构造函数</a:t>
            </a:r>
          </a:p>
          <a:p>
            <a:pPr marL="324000">
              <a:lnSpc>
                <a:spcPct val="110000"/>
              </a:lnSpc>
              <a:spcBef>
                <a:spcPts val="0"/>
              </a:spcBef>
            </a:pPr>
            <a:r>
              <a:rPr lang="en-US" altLang="zh-CN" sz="1600" b="0" dirty="0"/>
              <a:t>  			</a:t>
            </a:r>
            <a:r>
              <a:rPr lang="en-US" altLang="zh-CN" sz="1600" b="0" dirty="0" err="1"/>
              <a:t>maxsize</a:t>
            </a:r>
            <a:r>
              <a:rPr lang="en-US" altLang="zh-CN" sz="1600" b="0" dirty="0"/>
              <a:t>=size; </a:t>
            </a:r>
            <a:r>
              <a:rPr lang="en-US" altLang="zh-CN" sz="1600" b="0" dirty="0" err="1"/>
              <a:t>listSize</a:t>
            </a:r>
            <a:r>
              <a:rPr lang="en-US" altLang="zh-CN" sz="1600" b="0" dirty="0"/>
              <a:t> = </a:t>
            </a:r>
            <a:r>
              <a:rPr lang="en-US" altLang="zh-CN" sz="1600" b="0" dirty="0" err="1"/>
              <a:t>curr</a:t>
            </a:r>
            <a:r>
              <a:rPr lang="en-US" altLang="zh-CN" sz="1600" b="0" dirty="0"/>
              <a:t> =0;</a:t>
            </a:r>
            <a:endParaRPr lang="zh-CN" altLang="zh-CN" sz="1600" b="0" dirty="0"/>
          </a:p>
          <a:p>
            <a:pPr marL="324000">
              <a:lnSpc>
                <a:spcPct val="110000"/>
              </a:lnSpc>
              <a:spcBef>
                <a:spcPts val="0"/>
              </a:spcBef>
            </a:pPr>
            <a:r>
              <a:rPr lang="en-US" altLang="zh-CN" sz="1600" b="0" dirty="0"/>
              <a:t>    			</a:t>
            </a:r>
            <a:r>
              <a:rPr lang="en-US" altLang="zh-CN" sz="1600" b="0" dirty="0" err="1"/>
              <a:t>listArray</a:t>
            </a:r>
            <a:r>
              <a:rPr lang="en-US" altLang="zh-CN" sz="1600" b="0" dirty="0"/>
              <a:t> = </a:t>
            </a:r>
            <a:r>
              <a:rPr lang="en-US" altLang="zh-CN" sz="1600" b="0" dirty="0">
                <a:solidFill>
                  <a:srgbClr val="FF0000"/>
                </a:solidFill>
              </a:rPr>
              <a:t>new</a:t>
            </a:r>
            <a:r>
              <a:rPr lang="en-US" altLang="zh-CN" sz="1600" b="0" dirty="0"/>
              <a:t> Elem[ </a:t>
            </a:r>
            <a:r>
              <a:rPr lang="en-US" altLang="zh-CN" sz="1600" b="0" dirty="0" err="1"/>
              <a:t>maxSize</a:t>
            </a:r>
            <a:r>
              <a:rPr lang="en-US" altLang="zh-CN" sz="1600" b="0" dirty="0"/>
              <a:t> ]; </a:t>
            </a:r>
            <a:endParaRPr lang="zh-CN" altLang="zh-CN" sz="1600" b="0" dirty="0"/>
          </a:p>
          <a:p>
            <a:pPr marL="324000">
              <a:lnSpc>
                <a:spcPct val="110000"/>
              </a:lnSpc>
              <a:spcBef>
                <a:spcPts val="0"/>
              </a:spcBef>
            </a:pPr>
            <a:r>
              <a:rPr lang="en-US" altLang="zh-CN" sz="1600" b="0" dirty="0"/>
              <a:t>		}</a:t>
            </a:r>
            <a:endParaRPr lang="zh-CN" altLang="zh-CN" sz="1600" b="0" dirty="0"/>
          </a:p>
          <a:p>
            <a:pPr marL="324000">
              <a:lnSpc>
                <a:spcPct val="110000"/>
              </a:lnSpc>
              <a:spcBef>
                <a:spcPts val="0"/>
              </a:spcBef>
            </a:pPr>
            <a:r>
              <a:rPr lang="en-US" altLang="zh-CN" sz="1600" b="0" dirty="0"/>
              <a:t>  		~</a:t>
            </a:r>
            <a:r>
              <a:rPr lang="en-US" altLang="zh-CN" sz="1600" b="0" dirty="0" err="1"/>
              <a:t>Alist</a:t>
            </a:r>
            <a:r>
              <a:rPr lang="en-US" altLang="zh-CN" sz="1600" b="0" dirty="0"/>
              <a:t>() {  </a:t>
            </a:r>
            <a:r>
              <a:rPr lang="en-US" altLang="zh-CN" sz="1600" b="0" dirty="0">
                <a:solidFill>
                  <a:srgbClr val="FF0000"/>
                </a:solidFill>
              </a:rPr>
              <a:t>delete</a:t>
            </a:r>
            <a:r>
              <a:rPr lang="en-US" altLang="zh-CN" sz="1600" b="0" dirty="0"/>
              <a:t> [ ] </a:t>
            </a:r>
            <a:r>
              <a:rPr lang="en-US" altLang="zh-CN" sz="1600" b="0" dirty="0" err="1"/>
              <a:t>listArray</a:t>
            </a:r>
            <a:r>
              <a:rPr lang="en-US" altLang="zh-CN" sz="1600" b="0" dirty="0"/>
              <a:t>; }		// </a:t>
            </a:r>
            <a:r>
              <a:rPr lang="zh-CN" altLang="zh-CN" sz="1600" b="0" dirty="0"/>
              <a:t>析构函数</a:t>
            </a:r>
          </a:p>
          <a:p>
            <a:pPr marL="324000">
              <a:lnSpc>
                <a:spcPct val="110000"/>
              </a:lnSpc>
              <a:spcBef>
                <a:spcPts val="0"/>
              </a:spcBef>
            </a:pPr>
            <a:r>
              <a:rPr lang="en-US" altLang="zh-CN" sz="1600" b="0" dirty="0"/>
              <a:t>		void clear(){ </a:t>
            </a:r>
            <a:r>
              <a:rPr lang="en-US" altLang="zh-CN" sz="1600" b="0" dirty="0" err="1"/>
              <a:t>listSize</a:t>
            </a:r>
            <a:r>
              <a:rPr lang="en-US" altLang="zh-CN" sz="1600" b="0" dirty="0"/>
              <a:t> = </a:t>
            </a:r>
            <a:r>
              <a:rPr lang="en-US" altLang="zh-CN" sz="1600" b="0" dirty="0" err="1"/>
              <a:t>curr</a:t>
            </a:r>
            <a:r>
              <a:rPr lang="en-US" altLang="zh-CN" sz="1600" b="0" dirty="0"/>
              <a:t> =0; }		//</a:t>
            </a:r>
            <a:r>
              <a:rPr lang="zh-CN" altLang="en-US" sz="1600" b="0" dirty="0"/>
              <a:t>清空线性表</a:t>
            </a:r>
          </a:p>
          <a:p>
            <a:pPr marL="324000">
              <a:lnSpc>
                <a:spcPct val="110000"/>
              </a:lnSpc>
              <a:spcBef>
                <a:spcPts val="0"/>
              </a:spcBef>
            </a:pPr>
            <a:r>
              <a:rPr lang="en-US" altLang="zh-CN" sz="1600" b="0" dirty="0"/>
              <a:t>		void </a:t>
            </a:r>
            <a:r>
              <a:rPr lang="en-US" altLang="zh-CN" sz="1600" b="0" dirty="0" err="1"/>
              <a:t>Prev</a:t>
            </a:r>
            <a:r>
              <a:rPr lang="en-US" altLang="zh-CN" sz="1600" b="0" dirty="0"/>
              <a:t>( ){ if (</a:t>
            </a:r>
            <a:r>
              <a:rPr lang="en-US" altLang="zh-CN" sz="1600" b="0" dirty="0" err="1"/>
              <a:t>curr</a:t>
            </a:r>
            <a:r>
              <a:rPr lang="en-US" altLang="zh-CN" sz="1600" b="0" dirty="0"/>
              <a:t>&gt;0) </a:t>
            </a:r>
            <a:r>
              <a:rPr lang="en-US" altLang="zh-CN" sz="1600" b="0" dirty="0" err="1"/>
              <a:t>curr</a:t>
            </a:r>
            <a:r>
              <a:rPr lang="en-US" altLang="zh-CN" sz="1600" b="0" dirty="0"/>
              <a:t>--; }		//</a:t>
            </a:r>
            <a:r>
              <a:rPr lang="zh-CN" altLang="en-US" sz="1600" b="0" dirty="0"/>
              <a:t>当前位置</a:t>
            </a:r>
            <a:r>
              <a:rPr lang="en-US" altLang="zh-CN" sz="1600" b="0" dirty="0" err="1"/>
              <a:t>curr</a:t>
            </a:r>
            <a:r>
              <a:rPr lang="zh-CN" altLang="en-US" sz="1600" b="0" dirty="0"/>
              <a:t>前移到前驱</a:t>
            </a:r>
          </a:p>
          <a:p>
            <a:pPr marL="324000">
              <a:lnSpc>
                <a:spcPct val="110000"/>
              </a:lnSpc>
              <a:spcBef>
                <a:spcPts val="0"/>
              </a:spcBef>
            </a:pPr>
            <a:r>
              <a:rPr lang="en-US" altLang="zh-CN" sz="1600" b="0" dirty="0"/>
              <a:t>		void Next( ){ if (</a:t>
            </a:r>
            <a:r>
              <a:rPr lang="en-US" altLang="zh-CN" sz="1600" b="0" dirty="0" err="1"/>
              <a:t>curr</a:t>
            </a:r>
            <a:r>
              <a:rPr lang="en-US" altLang="zh-CN" sz="1600" b="0" dirty="0"/>
              <a:t>&lt;listSize-1) </a:t>
            </a:r>
            <a:r>
              <a:rPr lang="en-US" altLang="zh-CN" sz="1600" b="0" dirty="0" err="1"/>
              <a:t>curr</a:t>
            </a:r>
            <a:r>
              <a:rPr lang="en-US" altLang="zh-CN" sz="1600" b="0" dirty="0"/>
              <a:t>++;}	//</a:t>
            </a:r>
            <a:r>
              <a:rPr lang="zh-CN" altLang="en-US" sz="1600" b="0" dirty="0"/>
              <a:t>当前位置</a:t>
            </a:r>
            <a:r>
              <a:rPr lang="en-US" altLang="zh-CN" sz="1600" b="0" dirty="0" err="1"/>
              <a:t>curr</a:t>
            </a:r>
            <a:r>
              <a:rPr lang="zh-CN" altLang="en-US" sz="1600" b="0" dirty="0"/>
              <a:t>后移到后继</a:t>
            </a:r>
          </a:p>
          <a:p>
            <a:pPr marL="324000">
              <a:lnSpc>
                <a:spcPct val="110000"/>
              </a:lnSpc>
              <a:spcBef>
                <a:spcPts val="0"/>
              </a:spcBef>
            </a:pPr>
            <a:r>
              <a:rPr lang="en-US" altLang="zh-CN" sz="1600" b="0" dirty="0"/>
              <a:t>		</a:t>
            </a:r>
            <a:r>
              <a:rPr lang="en-US" altLang="zh-CN" sz="1600" b="0" dirty="0" err="1"/>
              <a:t>bool</a:t>
            </a:r>
            <a:r>
              <a:rPr lang="en-US" altLang="zh-CN" sz="1600" b="0" dirty="0"/>
              <a:t> </a:t>
            </a:r>
            <a:r>
              <a:rPr lang="en-US" altLang="zh-CN" sz="1600" b="0" dirty="0" err="1"/>
              <a:t>setPos</a:t>
            </a:r>
            <a:r>
              <a:rPr lang="en-US" altLang="zh-CN" sz="1600" b="0" dirty="0"/>
              <a:t>(</a:t>
            </a:r>
            <a:r>
              <a:rPr lang="en-US" altLang="zh-CN" sz="1600" b="0" dirty="0" err="1"/>
              <a:t>int</a:t>
            </a:r>
            <a:r>
              <a:rPr lang="en-US" altLang="zh-CN" sz="1600" b="0" dirty="0"/>
              <a:t> pos);	  		//</a:t>
            </a:r>
            <a:r>
              <a:rPr lang="zh-CN" altLang="en-US" sz="1600" b="0" dirty="0"/>
              <a:t>任意指定当前数据元素的位置</a:t>
            </a:r>
          </a:p>
          <a:p>
            <a:pPr marL="324000">
              <a:lnSpc>
                <a:spcPct val="110000"/>
              </a:lnSpc>
              <a:spcBef>
                <a:spcPts val="0"/>
              </a:spcBef>
            </a:pPr>
            <a:r>
              <a:rPr lang="en-US" altLang="zh-CN" sz="1600" b="0" dirty="0"/>
              <a:t>		</a:t>
            </a:r>
            <a:r>
              <a:rPr lang="en-US" altLang="zh-CN" sz="1600" b="0" dirty="0" err="1">
                <a:solidFill>
                  <a:srgbClr val="0070C0"/>
                </a:solidFill>
              </a:rPr>
              <a:t>bool</a:t>
            </a:r>
            <a:r>
              <a:rPr lang="en-US" altLang="zh-CN" sz="1600" b="0" dirty="0">
                <a:solidFill>
                  <a:srgbClr val="0070C0"/>
                </a:solidFill>
              </a:rPr>
              <a:t> insert(const Elem it); 		//</a:t>
            </a:r>
            <a:r>
              <a:rPr lang="zh-CN" altLang="en-US" sz="1600" b="0" dirty="0">
                <a:solidFill>
                  <a:srgbClr val="0070C0"/>
                </a:solidFill>
              </a:rPr>
              <a:t>在当前位置插入元素</a:t>
            </a:r>
          </a:p>
          <a:p>
            <a:pPr marL="324000">
              <a:lnSpc>
                <a:spcPct val="110000"/>
              </a:lnSpc>
              <a:spcBef>
                <a:spcPts val="0"/>
              </a:spcBef>
            </a:pPr>
            <a:r>
              <a:rPr lang="en-US" altLang="zh-CN" sz="1600" b="0" dirty="0">
                <a:solidFill>
                  <a:srgbClr val="0070C0"/>
                </a:solidFill>
              </a:rPr>
              <a:t>		</a:t>
            </a:r>
            <a:r>
              <a:rPr lang="en-US" altLang="zh-CN" sz="1600" b="0" dirty="0" err="1">
                <a:solidFill>
                  <a:srgbClr val="0070C0"/>
                </a:solidFill>
              </a:rPr>
              <a:t>bool</a:t>
            </a:r>
            <a:r>
              <a:rPr lang="en-US" altLang="zh-CN" sz="1600" b="0" dirty="0">
                <a:solidFill>
                  <a:srgbClr val="0070C0"/>
                </a:solidFill>
              </a:rPr>
              <a:t> append(const Elem it);		//</a:t>
            </a:r>
            <a:r>
              <a:rPr lang="zh-CN" altLang="en-US" sz="1600" b="0" dirty="0">
                <a:solidFill>
                  <a:srgbClr val="0070C0"/>
                </a:solidFill>
              </a:rPr>
              <a:t>在表尾插入元素</a:t>
            </a:r>
          </a:p>
          <a:p>
            <a:pPr marL="324000">
              <a:lnSpc>
                <a:spcPct val="110000"/>
              </a:lnSpc>
              <a:spcBef>
                <a:spcPts val="0"/>
              </a:spcBef>
            </a:pPr>
            <a:r>
              <a:rPr lang="en-US" altLang="zh-CN" sz="1600" b="0" dirty="0">
                <a:solidFill>
                  <a:srgbClr val="0070C0"/>
                </a:solidFill>
              </a:rPr>
              <a:t>		</a:t>
            </a:r>
            <a:r>
              <a:rPr lang="en-US" altLang="zh-CN" sz="1600" b="0" dirty="0" err="1">
                <a:solidFill>
                  <a:srgbClr val="0070C0"/>
                </a:solidFill>
              </a:rPr>
              <a:t>bool</a:t>
            </a:r>
            <a:r>
              <a:rPr lang="en-US" altLang="zh-CN" sz="1600" b="0" dirty="0">
                <a:solidFill>
                  <a:srgbClr val="0070C0"/>
                </a:solidFill>
              </a:rPr>
              <a:t> remove( Elem &amp;it);		//</a:t>
            </a:r>
            <a:r>
              <a:rPr lang="zh-CN" altLang="en-US" sz="1600" b="0" dirty="0">
                <a:solidFill>
                  <a:srgbClr val="0070C0"/>
                </a:solidFill>
              </a:rPr>
              <a:t>删除当前位置元素</a:t>
            </a:r>
            <a:endParaRPr lang="en-US" altLang="zh-CN" sz="1600" b="0" dirty="0">
              <a:solidFill>
                <a:srgbClr val="0070C0"/>
              </a:solidFill>
            </a:endParaRPr>
          </a:p>
          <a:p>
            <a:pPr marL="324000">
              <a:lnSpc>
                <a:spcPct val="110000"/>
              </a:lnSpc>
              <a:spcBef>
                <a:spcPts val="0"/>
              </a:spcBef>
            </a:pPr>
            <a:r>
              <a:rPr lang="en-US" altLang="zh-CN" sz="1600" b="0" dirty="0"/>
              <a:t>		….       //</a:t>
            </a:r>
            <a:r>
              <a:rPr lang="zh-CN" altLang="zh-CN" sz="1600" b="0" dirty="0"/>
              <a:t>其它操作的实现</a:t>
            </a:r>
          </a:p>
          <a:p>
            <a:pPr marL="324000">
              <a:lnSpc>
                <a:spcPct val="110000"/>
              </a:lnSpc>
              <a:spcBef>
                <a:spcPts val="0"/>
              </a:spcBef>
            </a:pPr>
            <a:r>
              <a:rPr lang="en-US" altLang="zh-CN" sz="1600" b="0" dirty="0"/>
              <a:t>};</a:t>
            </a:r>
            <a:endParaRPr lang="zh-CN" altLang="zh-CN" sz="1600" b="0" dirty="0"/>
          </a:p>
          <a:p>
            <a:pPr marL="324000">
              <a:lnSpc>
                <a:spcPct val="110000"/>
              </a:lnSpc>
              <a:spcBef>
                <a:spcPts val="0"/>
              </a:spcBef>
            </a:pPr>
            <a:endParaRPr lang="zh-CN" altLang="en-US" sz="1600" b="0" dirty="0"/>
          </a:p>
        </p:txBody>
      </p:sp>
    </p:spTree>
    <p:extLst>
      <p:ext uri="{BB962C8B-B14F-4D97-AF65-F5344CB8AC3E}">
        <p14:creationId xmlns:p14="http://schemas.microsoft.com/office/powerpoint/2010/main" val="18159417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78B47B0-42AF-4C56-906C-AEA99277A76B}"/>
              </a:ext>
            </a:extLst>
          </p:cNvPr>
          <p:cNvSpPr txBox="1"/>
          <p:nvPr/>
        </p:nvSpPr>
        <p:spPr>
          <a:xfrm>
            <a:off x="1043608" y="1124744"/>
            <a:ext cx="6336704" cy="4020466"/>
          </a:xfrm>
          <a:prstGeom prst="rect">
            <a:avLst/>
          </a:prstGeom>
          <a:solidFill>
            <a:schemeClr val="bg1">
              <a:lumMod val="95000"/>
            </a:schemeClr>
          </a:solidFill>
        </p:spPr>
        <p:style>
          <a:lnRef idx="1">
            <a:schemeClr val="accent1"/>
          </a:lnRef>
          <a:fillRef idx="2">
            <a:schemeClr val="accent1"/>
          </a:fillRef>
          <a:effectRef idx="1">
            <a:schemeClr val="accent1"/>
          </a:effectRef>
          <a:fontRef idx="minor">
            <a:schemeClr val="dk1"/>
          </a:fontRef>
        </p:style>
        <p:txBody>
          <a:bodyPr wrap="square" lIns="180170" tIns="120113" bIns="120113" rtlCol="0">
            <a:spAutoFit/>
          </a:bodyPr>
          <a:lstStyle/>
          <a:p>
            <a:pPr algn="l">
              <a:spcBef>
                <a:spcPts val="600"/>
              </a:spcBef>
            </a:pPr>
            <a:r>
              <a:rPr lang="en-US" altLang="zh-CN" sz="1500" dirty="0">
                <a:solidFill>
                  <a:srgbClr val="0000FF"/>
                </a:solidFill>
                <a:latin typeface="Consolas" panose="020B0609020204030204" pitchFamily="49" charset="0"/>
                <a:ea typeface="仿宋" panose="02010609060101010101" pitchFamily="49" charset="-122"/>
                <a:cs typeface="Consolas" panose="020B0609020204030204" pitchFamily="49" charset="0"/>
              </a:rPr>
              <a:t>#include &lt;</a:t>
            </a:r>
            <a:r>
              <a:rPr lang="en-US" altLang="zh-CN" sz="1500" dirty="0" err="1">
                <a:solidFill>
                  <a:srgbClr val="0000FF"/>
                </a:solidFill>
                <a:latin typeface="Consolas" panose="020B0609020204030204" pitchFamily="49" charset="0"/>
                <a:ea typeface="仿宋" panose="02010609060101010101" pitchFamily="49" charset="-122"/>
                <a:cs typeface="Consolas" panose="020B0609020204030204" pitchFamily="49" charset="0"/>
              </a:rPr>
              <a:t>stdio.h</a:t>
            </a:r>
            <a:r>
              <a:rPr lang="en-US" altLang="zh-CN" sz="1500" dirty="0">
                <a:solidFill>
                  <a:srgbClr val="0000FF"/>
                </a:solidFill>
                <a:latin typeface="Consolas" panose="020B0609020204030204" pitchFamily="49" charset="0"/>
                <a:ea typeface="仿宋" panose="02010609060101010101" pitchFamily="49" charset="-122"/>
                <a:cs typeface="Consolas" panose="020B0609020204030204" pitchFamily="49" charset="0"/>
              </a:rPr>
              <a:t>&gt;</a:t>
            </a:r>
          </a:p>
          <a:p>
            <a:pPr algn="l">
              <a:spcBef>
                <a:spcPts val="600"/>
              </a:spcBef>
            </a:pPr>
            <a:r>
              <a:rPr lang="en-US" altLang="zh-CN" sz="1500" dirty="0">
                <a:solidFill>
                  <a:srgbClr val="0000FF"/>
                </a:solidFill>
                <a:latin typeface="Consolas" panose="020B0609020204030204" pitchFamily="49" charset="0"/>
                <a:ea typeface="仿宋" panose="02010609060101010101" pitchFamily="49" charset="-122"/>
                <a:cs typeface="Consolas" panose="020B0609020204030204" pitchFamily="49" charset="0"/>
              </a:rPr>
              <a:t>#include &lt;</a:t>
            </a:r>
            <a:r>
              <a:rPr lang="en-US" altLang="zh-CN" sz="1500" dirty="0" err="1">
                <a:solidFill>
                  <a:srgbClr val="0000FF"/>
                </a:solidFill>
                <a:latin typeface="Consolas" panose="020B0609020204030204" pitchFamily="49" charset="0"/>
                <a:ea typeface="仿宋" panose="02010609060101010101" pitchFamily="49" charset="-122"/>
                <a:cs typeface="Consolas" panose="020B0609020204030204" pitchFamily="49" charset="0"/>
              </a:rPr>
              <a:t>malloc.h</a:t>
            </a:r>
            <a:r>
              <a:rPr lang="en-US" altLang="zh-CN" sz="1500" dirty="0">
                <a:solidFill>
                  <a:srgbClr val="0000FF"/>
                </a:solidFill>
                <a:latin typeface="Consolas" panose="020B0609020204030204" pitchFamily="49" charset="0"/>
                <a:ea typeface="仿宋" panose="02010609060101010101" pitchFamily="49" charset="-122"/>
                <a:cs typeface="Consolas" panose="020B0609020204030204" pitchFamily="49" charset="0"/>
              </a:rPr>
              <a:t>&gt;</a:t>
            </a:r>
          </a:p>
          <a:p>
            <a:pPr algn="l">
              <a:spcBef>
                <a:spcPts val="600"/>
              </a:spcBef>
            </a:pPr>
            <a:endParaRPr lang="en-US" altLang="zh-CN" sz="15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spcBef>
                <a:spcPts val="600"/>
              </a:spcBef>
            </a:pPr>
            <a:r>
              <a:rPr lang="en-US" altLang="zh-CN" sz="1500" dirty="0">
                <a:solidFill>
                  <a:srgbClr val="0000FF"/>
                </a:solidFill>
                <a:latin typeface="Consolas" panose="020B0609020204030204" pitchFamily="49" charset="0"/>
                <a:ea typeface="仿宋" panose="02010609060101010101" pitchFamily="49" charset="-122"/>
                <a:cs typeface="Consolas" panose="020B0609020204030204" pitchFamily="49" charset="0"/>
              </a:rPr>
              <a:t>#define </a:t>
            </a:r>
            <a:r>
              <a:rPr lang="en-US" altLang="zh-CN" sz="1500" dirty="0" err="1">
                <a:solidFill>
                  <a:srgbClr val="0000FF"/>
                </a:solidFill>
                <a:latin typeface="Consolas" panose="020B0609020204030204" pitchFamily="49" charset="0"/>
                <a:ea typeface="仿宋" panose="02010609060101010101" pitchFamily="49" charset="-122"/>
                <a:cs typeface="Consolas" panose="020B0609020204030204" pitchFamily="49" charset="0"/>
              </a:rPr>
              <a:t>MaxSize</a:t>
            </a:r>
            <a:r>
              <a:rPr lang="en-US" altLang="zh-CN" sz="1500" dirty="0">
                <a:solidFill>
                  <a:srgbClr val="0000FF"/>
                </a:solidFill>
                <a:latin typeface="Consolas" panose="020B0609020204030204" pitchFamily="49" charset="0"/>
                <a:ea typeface="仿宋" panose="02010609060101010101" pitchFamily="49" charset="-122"/>
                <a:cs typeface="Consolas" panose="020B0609020204030204" pitchFamily="49" charset="0"/>
              </a:rPr>
              <a:t> 50</a:t>
            </a:r>
          </a:p>
          <a:p>
            <a:pPr algn="l">
              <a:spcBef>
                <a:spcPts val="600"/>
              </a:spcBef>
            </a:pPr>
            <a:r>
              <a:rPr lang="en-US" altLang="zh-CN" sz="1500" dirty="0">
                <a:solidFill>
                  <a:srgbClr val="0000FF"/>
                </a:solidFill>
                <a:latin typeface="Consolas" panose="020B0609020204030204" pitchFamily="49" charset="0"/>
                <a:ea typeface="仿宋" panose="02010609060101010101" pitchFamily="49" charset="-122"/>
                <a:cs typeface="Consolas" panose="020B0609020204030204" pitchFamily="49" charset="0"/>
              </a:rPr>
              <a:t>typedef int </a:t>
            </a:r>
            <a:r>
              <a:rPr lang="en-US" altLang="zh-CN" sz="1500" dirty="0" err="1">
                <a:solidFill>
                  <a:srgbClr val="0000FF"/>
                </a:solidFill>
                <a:latin typeface="Consolas" panose="020B0609020204030204" pitchFamily="49" charset="0"/>
                <a:ea typeface="仿宋" panose="02010609060101010101" pitchFamily="49" charset="-122"/>
                <a:cs typeface="Consolas" panose="020B0609020204030204" pitchFamily="49" charset="0"/>
              </a:rPr>
              <a:t>ElemType</a:t>
            </a:r>
            <a:r>
              <a:rPr lang="en-US" altLang="zh-CN" sz="15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a:p>
            <a:pPr algn="l">
              <a:spcBef>
                <a:spcPts val="600"/>
              </a:spcBef>
            </a:pPr>
            <a:endParaRPr lang="en-US" altLang="zh-CN" sz="15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spcBef>
                <a:spcPts val="600"/>
              </a:spcBef>
            </a:pPr>
            <a:r>
              <a:rPr lang="en-US" altLang="zh-CN" sz="1500" dirty="0">
                <a:solidFill>
                  <a:srgbClr val="0000FF"/>
                </a:solidFill>
                <a:latin typeface="Consolas" panose="020B0609020204030204" pitchFamily="49" charset="0"/>
                <a:ea typeface="仿宋" panose="02010609060101010101" pitchFamily="49" charset="-122"/>
                <a:cs typeface="Consolas" panose="020B0609020204030204" pitchFamily="49" charset="0"/>
              </a:rPr>
              <a:t>typedef struct </a:t>
            </a:r>
          </a:p>
          <a:p>
            <a:pPr algn="l">
              <a:spcBef>
                <a:spcPts val="600"/>
              </a:spcBef>
            </a:pPr>
            <a:r>
              <a:rPr lang="en-US" altLang="zh-CN" sz="15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a:p>
            <a:pPr algn="l">
              <a:spcBef>
                <a:spcPts val="600"/>
              </a:spcBef>
            </a:pPr>
            <a:r>
              <a:rPr lang="en-US" altLang="zh-CN" sz="15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500" dirty="0" err="1">
                <a:solidFill>
                  <a:srgbClr val="0000FF"/>
                </a:solidFill>
                <a:latin typeface="Consolas" panose="020B0609020204030204" pitchFamily="49" charset="0"/>
                <a:ea typeface="仿宋" panose="02010609060101010101" pitchFamily="49" charset="-122"/>
                <a:cs typeface="Consolas" panose="020B0609020204030204" pitchFamily="49" charset="0"/>
              </a:rPr>
              <a:t>ElemType</a:t>
            </a:r>
            <a:r>
              <a:rPr lang="en-US" altLang="zh-CN" sz="1500" dirty="0">
                <a:solidFill>
                  <a:srgbClr val="0000FF"/>
                </a:solidFill>
                <a:latin typeface="Consolas" panose="020B0609020204030204" pitchFamily="49" charset="0"/>
                <a:ea typeface="仿宋" panose="02010609060101010101" pitchFamily="49" charset="-122"/>
                <a:cs typeface="Consolas" panose="020B0609020204030204" pitchFamily="49" charset="0"/>
              </a:rPr>
              <a:t> data[</a:t>
            </a:r>
            <a:r>
              <a:rPr lang="en-US" altLang="zh-CN" sz="1500" dirty="0" err="1">
                <a:solidFill>
                  <a:srgbClr val="0000FF"/>
                </a:solidFill>
                <a:latin typeface="Consolas" panose="020B0609020204030204" pitchFamily="49" charset="0"/>
                <a:ea typeface="仿宋" panose="02010609060101010101" pitchFamily="49" charset="-122"/>
                <a:cs typeface="Consolas" panose="020B0609020204030204" pitchFamily="49" charset="0"/>
              </a:rPr>
              <a:t>MaxSize</a:t>
            </a:r>
            <a:r>
              <a:rPr lang="en-US" altLang="zh-CN" sz="15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500" dirty="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en-US" sz="1500" dirty="0">
                <a:solidFill>
                  <a:srgbClr val="00B0F0"/>
                </a:solidFill>
                <a:latin typeface="Consolas" panose="020B0609020204030204" pitchFamily="49" charset="0"/>
                <a:ea typeface="仿宋" panose="02010609060101010101" pitchFamily="49" charset="-122"/>
                <a:cs typeface="Consolas" panose="020B0609020204030204" pitchFamily="49" charset="0"/>
              </a:rPr>
              <a:t>存放顺序表元素</a:t>
            </a:r>
          </a:p>
          <a:p>
            <a:pPr algn="l">
              <a:spcBef>
                <a:spcPts val="600"/>
              </a:spcBef>
            </a:pPr>
            <a:r>
              <a:rPr lang="zh-CN" altLang="en-US" sz="15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500" dirty="0">
                <a:solidFill>
                  <a:srgbClr val="0000FF"/>
                </a:solidFill>
                <a:latin typeface="Consolas" panose="020B0609020204030204" pitchFamily="49" charset="0"/>
                <a:ea typeface="仿宋" panose="02010609060101010101" pitchFamily="49" charset="-122"/>
                <a:cs typeface="Consolas" panose="020B0609020204030204" pitchFamily="49" charset="0"/>
              </a:rPr>
              <a:t>int length;			</a:t>
            </a:r>
            <a:r>
              <a:rPr lang="en-US" altLang="zh-CN" sz="1500" dirty="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en-US" sz="1500" dirty="0">
                <a:solidFill>
                  <a:srgbClr val="00B0F0"/>
                </a:solidFill>
                <a:latin typeface="Consolas" panose="020B0609020204030204" pitchFamily="49" charset="0"/>
                <a:ea typeface="仿宋" panose="02010609060101010101" pitchFamily="49" charset="-122"/>
                <a:cs typeface="Consolas" panose="020B0609020204030204" pitchFamily="49" charset="0"/>
              </a:rPr>
              <a:t>存放顺序表的长度</a:t>
            </a:r>
          </a:p>
          <a:p>
            <a:pPr algn="l">
              <a:spcBef>
                <a:spcPts val="600"/>
              </a:spcBef>
            </a:pPr>
            <a:r>
              <a:rPr lang="en-US" altLang="zh-CN" sz="15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500" dirty="0" err="1">
                <a:solidFill>
                  <a:srgbClr val="FF0000"/>
                </a:solidFill>
                <a:latin typeface="Consolas" panose="020B0609020204030204" pitchFamily="49" charset="0"/>
                <a:ea typeface="仿宋" panose="02010609060101010101" pitchFamily="49" charset="-122"/>
                <a:cs typeface="Consolas" panose="020B0609020204030204" pitchFamily="49" charset="0"/>
              </a:rPr>
              <a:t>SqList</a:t>
            </a:r>
            <a:r>
              <a:rPr lang="en-US" altLang="zh-CN" sz="15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500" dirty="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en-US" sz="1500" dirty="0">
                <a:solidFill>
                  <a:srgbClr val="00B0F0"/>
                </a:solidFill>
                <a:latin typeface="Consolas" panose="020B0609020204030204" pitchFamily="49" charset="0"/>
                <a:ea typeface="仿宋" panose="02010609060101010101" pitchFamily="49" charset="-122"/>
                <a:cs typeface="Consolas" panose="020B0609020204030204" pitchFamily="49" charset="0"/>
              </a:rPr>
              <a:t>顺序表的类型</a:t>
            </a:r>
          </a:p>
          <a:p>
            <a:pPr algn="l">
              <a:lnSpc>
                <a:spcPct val="200000"/>
              </a:lnSpc>
              <a:spcBef>
                <a:spcPts val="600"/>
              </a:spcBef>
            </a:pPr>
            <a:r>
              <a:rPr lang="en-US" altLang="zh-CN" sz="1500" dirty="0">
                <a:solidFill>
                  <a:srgbClr val="C00000"/>
                </a:solidFill>
                <a:latin typeface="Consolas" panose="020B0609020204030204" pitchFamily="49" charset="0"/>
                <a:ea typeface="仿宋" panose="02010609060101010101" pitchFamily="49" charset="-122"/>
                <a:cs typeface="Consolas" panose="020B0609020204030204" pitchFamily="49" charset="0"/>
              </a:rPr>
              <a:t>//</a:t>
            </a:r>
            <a:r>
              <a:rPr lang="zh-CN" altLang="en-US" sz="1500" dirty="0">
                <a:solidFill>
                  <a:srgbClr val="C00000"/>
                </a:solidFill>
                <a:latin typeface="Consolas" panose="020B0609020204030204" pitchFamily="49" charset="0"/>
                <a:ea typeface="仿宋" panose="02010609060101010101" pitchFamily="49" charset="-122"/>
                <a:cs typeface="Consolas" panose="020B0609020204030204" pitchFamily="49" charset="0"/>
              </a:rPr>
              <a:t>基本运算函数</a:t>
            </a:r>
          </a:p>
        </p:txBody>
      </p:sp>
    </p:spTree>
    <p:extLst>
      <p:ext uri="{BB962C8B-B14F-4D97-AF65-F5344CB8AC3E}">
        <p14:creationId xmlns:p14="http://schemas.microsoft.com/office/powerpoint/2010/main" val="34919453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1EE4BD65-E922-4E16-8976-853FB5AD4CA3}"/>
              </a:ext>
            </a:extLst>
          </p:cNvPr>
          <p:cNvSpPr/>
          <p:nvPr/>
        </p:nvSpPr>
        <p:spPr>
          <a:xfrm>
            <a:off x="1043608" y="1772816"/>
            <a:ext cx="5598368" cy="1754326"/>
          </a:xfrm>
          <a:prstGeom prst="rect">
            <a:avLst/>
          </a:prstGeom>
        </p:spPr>
        <p:txBody>
          <a:bodyPr wrap="square">
            <a:spAutoFit/>
          </a:bodyPr>
          <a:lstStyle/>
          <a:p>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kumimoji="1" lang="en-US" altLang="zh-CN" dirty="0" err="1">
                <a:solidFill>
                  <a:srgbClr val="FF0000"/>
                </a:solidFill>
                <a:latin typeface="Consolas" panose="020B0609020204030204" pitchFamily="49" charset="0"/>
                <a:ea typeface="仿宋" panose="02010609060101010101" pitchFamily="49" charset="-122"/>
                <a:cs typeface="Consolas" panose="020B0609020204030204" pitchFamily="49" charset="0"/>
              </a:rPr>
              <a:t>InitList</a:t>
            </a: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dirty="0" err="1">
                <a:solidFill>
                  <a:srgbClr val="0000FF"/>
                </a:solidFill>
                <a:latin typeface="Consolas" panose="020B0609020204030204" pitchFamily="49" charset="0"/>
                <a:ea typeface="仿宋" panose="02010609060101010101" pitchFamily="49" charset="-122"/>
                <a:cs typeface="Consolas" panose="020B0609020204030204" pitchFamily="49" charset="0"/>
              </a:rPr>
              <a:t>SqList</a:t>
            </a: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 *&amp;L)</a:t>
            </a:r>
            <a:endParaRPr kumimoji="1" lang="zh-CN" altLang="en-US"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a:p>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   L=(</a:t>
            </a:r>
            <a:r>
              <a:rPr kumimoji="1" lang="en-US" altLang="zh-CN" dirty="0" err="1">
                <a:solidFill>
                  <a:srgbClr val="0000FF"/>
                </a:solidFill>
                <a:latin typeface="Consolas" panose="020B0609020204030204" pitchFamily="49" charset="0"/>
                <a:ea typeface="仿宋" panose="02010609060101010101" pitchFamily="49" charset="-122"/>
                <a:cs typeface="Consolas" panose="020B0609020204030204" pitchFamily="49" charset="0"/>
              </a:rPr>
              <a:t>SqList</a:t>
            </a: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 *)malloc(</a:t>
            </a:r>
            <a:r>
              <a:rPr kumimoji="1" lang="en-US" altLang="zh-CN" dirty="0" err="1">
                <a:solidFill>
                  <a:srgbClr val="0000FF"/>
                </a:solidFill>
                <a:latin typeface="Consolas" panose="020B0609020204030204" pitchFamily="49" charset="0"/>
                <a:ea typeface="仿宋" panose="02010609060101010101" pitchFamily="49" charset="-122"/>
                <a:cs typeface="Consolas" panose="020B0609020204030204" pitchFamily="49" charset="0"/>
              </a:rPr>
              <a:t>sizeof</a:t>
            </a: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dirty="0" err="1">
                <a:solidFill>
                  <a:srgbClr val="0000FF"/>
                </a:solidFill>
                <a:latin typeface="Consolas" panose="020B0609020204030204" pitchFamily="49" charset="0"/>
                <a:ea typeface="仿宋" panose="02010609060101010101" pitchFamily="49" charset="-122"/>
                <a:cs typeface="Consolas" panose="020B0609020204030204" pitchFamily="49" charset="0"/>
              </a:rPr>
              <a:t>SqList</a:t>
            </a: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a:p>
            <a:r>
              <a:rPr kumimoji="1" lang="zh-CN" altLang="en-US"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dirty="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dirty="0">
                <a:solidFill>
                  <a:srgbClr val="00B0F0"/>
                </a:solidFill>
                <a:latin typeface="Consolas" panose="020B0609020204030204" pitchFamily="49" charset="0"/>
                <a:ea typeface="仿宋" panose="02010609060101010101" pitchFamily="49" charset="-122"/>
                <a:cs typeface="Consolas" panose="020B0609020204030204" pitchFamily="49" charset="0"/>
              </a:rPr>
              <a:t>分配存放线性表的顺序表空间</a:t>
            </a:r>
          </a:p>
          <a:p>
            <a:r>
              <a:rPr kumimoji="1" lang="zh-CN" altLang="en-US"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L-&gt;length=0;</a:t>
            </a:r>
          </a:p>
          <a:p>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矩形 7">
            <a:extLst>
              <a:ext uri="{FF2B5EF4-FFF2-40B4-BE49-F238E27FC236}">
                <a16:creationId xmlns:a16="http://schemas.microsoft.com/office/drawing/2014/main" id="{4528F1EF-EA73-48E6-AA49-8F0046B80B52}"/>
              </a:ext>
            </a:extLst>
          </p:cNvPr>
          <p:cNvSpPr/>
          <p:nvPr/>
        </p:nvSpPr>
        <p:spPr>
          <a:xfrm>
            <a:off x="899592" y="908720"/>
            <a:ext cx="7128792" cy="707886"/>
          </a:xfrm>
          <a:prstGeom prst="rect">
            <a:avLst/>
          </a:prstGeom>
        </p:spPr>
        <p:txBody>
          <a:bodyPr wrap="square">
            <a:spAutoFit/>
          </a:bodyPr>
          <a:lstStyle/>
          <a:p>
            <a:r>
              <a:rPr kumimoji="1" lang="en-US" altLang="zh-CN" sz="2000" dirty="0">
                <a:solidFill>
                  <a:srgbClr val="FF3300"/>
                </a:solidFill>
                <a:latin typeface="楷体" panose="02010609060101010101" pitchFamily="49" charset="-122"/>
                <a:ea typeface="楷体" panose="02010609060101010101" pitchFamily="49" charset="-122"/>
                <a:cs typeface="Consolas" panose="020B0609020204030204" pitchFamily="49" charset="0"/>
              </a:rPr>
              <a:t> 1</a:t>
            </a:r>
            <a:r>
              <a:rPr kumimoji="1" lang="zh-CN" altLang="en-US" sz="2000" dirty="0">
                <a:solidFill>
                  <a:srgbClr val="FF3300"/>
                </a:solidFill>
                <a:latin typeface="楷体" panose="02010609060101010101" pitchFamily="49" charset="-122"/>
                <a:ea typeface="楷体" panose="02010609060101010101" pitchFamily="49" charset="-122"/>
                <a:cs typeface="Consolas" panose="020B0609020204030204" pitchFamily="49" charset="0"/>
              </a:rPr>
              <a:t>）</a:t>
            </a:r>
            <a:r>
              <a:rPr kumimoji="1" lang="zh-CN" altLang="en-US" sz="2000" dirty="0">
                <a:solidFill>
                  <a:srgbClr val="FF0000"/>
                </a:solidFill>
                <a:latin typeface="楷体" panose="02010609060101010101" pitchFamily="49" charset="-122"/>
                <a:ea typeface="楷体" panose="02010609060101010101" pitchFamily="49" charset="-122"/>
                <a:cs typeface="Consolas" panose="020B0609020204030204" pitchFamily="49" charset="0"/>
              </a:rPr>
              <a:t>构造</a:t>
            </a:r>
            <a:r>
              <a:rPr kumimoji="1" lang="zh-CN" altLang="en-US" sz="2000" dirty="0">
                <a:latin typeface="楷体" panose="02010609060101010101" pitchFamily="49" charset="-122"/>
                <a:ea typeface="楷体" panose="02010609060101010101" pitchFamily="49" charset="-122"/>
                <a:cs typeface="Consolas" panose="020B0609020204030204" pitchFamily="49" charset="0"/>
              </a:rPr>
              <a:t>一个空的线性表</a:t>
            </a:r>
            <a:r>
              <a:rPr kumimoji="1" lang="en-US" altLang="zh-CN" sz="2000" dirty="0">
                <a:latin typeface="楷体" panose="02010609060101010101" pitchFamily="49" charset="-122"/>
                <a:ea typeface="楷体" panose="02010609060101010101" pitchFamily="49" charset="-122"/>
                <a:cs typeface="Consolas" panose="020B0609020204030204" pitchFamily="49" charset="0"/>
              </a:rPr>
              <a:t>L</a:t>
            </a:r>
            <a:r>
              <a:rPr kumimoji="1" lang="zh-CN" altLang="en-US" sz="2000" dirty="0">
                <a:latin typeface="楷体" panose="02010609060101010101" pitchFamily="49" charset="-122"/>
                <a:ea typeface="楷体" panose="02010609060101010101" pitchFamily="49" charset="-122"/>
                <a:cs typeface="Consolas" panose="020B0609020204030204" pitchFamily="49" charset="0"/>
              </a:rPr>
              <a:t>。分配存放线性表的顺序表空间，将</a:t>
            </a:r>
            <a:r>
              <a:rPr kumimoji="1" lang="en-US" altLang="zh-CN" sz="2000" dirty="0">
                <a:latin typeface="楷体" panose="02010609060101010101" pitchFamily="49" charset="-122"/>
                <a:ea typeface="楷体" panose="02010609060101010101" pitchFamily="49" charset="-122"/>
                <a:cs typeface="Consolas" panose="020B0609020204030204" pitchFamily="49" charset="0"/>
              </a:rPr>
              <a:t>length</a:t>
            </a:r>
            <a:r>
              <a:rPr kumimoji="1" lang="zh-CN" altLang="en-US" sz="2000" dirty="0">
                <a:latin typeface="楷体" panose="02010609060101010101" pitchFamily="49" charset="-122"/>
                <a:ea typeface="楷体" panose="02010609060101010101" pitchFamily="49" charset="-122"/>
                <a:cs typeface="Consolas" panose="020B0609020204030204" pitchFamily="49" charset="0"/>
              </a:rPr>
              <a:t>成员设置为</a:t>
            </a:r>
            <a:r>
              <a:rPr kumimoji="1" lang="en-US" altLang="zh-CN" sz="2000" dirty="0">
                <a:latin typeface="楷体" panose="02010609060101010101" pitchFamily="49" charset="-122"/>
                <a:ea typeface="楷体" panose="02010609060101010101" pitchFamily="49" charset="-122"/>
                <a:cs typeface="Consolas" panose="020B0609020204030204" pitchFamily="49" charset="0"/>
              </a:rPr>
              <a:t>0</a:t>
            </a:r>
            <a:r>
              <a:rPr kumimoji="1" lang="zh-CN" altLang="en-US" sz="2000" dirty="0">
                <a:latin typeface="楷体" panose="02010609060101010101" pitchFamily="49" charset="-122"/>
                <a:ea typeface="楷体" panose="02010609060101010101" pitchFamily="49" charset="-122"/>
                <a:cs typeface="Consolas" panose="020B0609020204030204" pitchFamily="49" charset="0"/>
              </a:rPr>
              <a:t>即可。</a:t>
            </a:r>
            <a:r>
              <a:rPr kumimoji="1" lang="zh-CN" altLang="en-US" dirty="0">
                <a:solidFill>
                  <a:srgbClr val="FF3300"/>
                </a:solidFill>
                <a:latin typeface="楷体" panose="02010609060101010101" pitchFamily="49" charset="-122"/>
                <a:ea typeface="楷体" panose="02010609060101010101" pitchFamily="49" charset="-122"/>
                <a:cs typeface="Consolas" panose="020B0609020204030204" pitchFamily="49" charset="0"/>
              </a:rPr>
              <a:t>       </a:t>
            </a:r>
            <a:endParaRPr lang="zh-CN" altLang="en-US" sz="2000" dirty="0">
              <a:latin typeface="楷体" panose="02010609060101010101" pitchFamily="49" charset="-122"/>
              <a:ea typeface="楷体" panose="02010609060101010101" pitchFamily="49" charset="-122"/>
            </a:endParaRPr>
          </a:p>
        </p:txBody>
      </p:sp>
      <p:sp>
        <p:nvSpPr>
          <p:cNvPr id="9" name="矩形 8">
            <a:extLst>
              <a:ext uri="{FF2B5EF4-FFF2-40B4-BE49-F238E27FC236}">
                <a16:creationId xmlns:a16="http://schemas.microsoft.com/office/drawing/2014/main" id="{7A64B0D9-3C06-42B3-BFE9-8FD5CF6F4439}"/>
              </a:ext>
            </a:extLst>
          </p:cNvPr>
          <p:cNvSpPr/>
          <p:nvPr/>
        </p:nvSpPr>
        <p:spPr>
          <a:xfrm>
            <a:off x="1187624" y="3683352"/>
            <a:ext cx="7200800" cy="400110"/>
          </a:xfrm>
          <a:prstGeom prst="rect">
            <a:avLst/>
          </a:prstGeom>
        </p:spPr>
        <p:txBody>
          <a:bodyPr wrap="square">
            <a:spAutoFit/>
          </a:bodyPr>
          <a:lstStyle/>
          <a:p>
            <a:r>
              <a:rPr kumimoji="1" lang="en-US" altLang="zh-CN" sz="2000" dirty="0">
                <a:solidFill>
                  <a:srgbClr val="FF3300"/>
                </a:solidFill>
                <a:latin typeface="Consolas" panose="020B0609020204030204" pitchFamily="49" charset="0"/>
                <a:ea typeface="楷体" panose="02010609060101010101" pitchFamily="49" charset="-122"/>
                <a:cs typeface="Consolas" panose="020B0609020204030204" pitchFamily="49" charset="0"/>
              </a:rPr>
              <a:t>2) </a:t>
            </a:r>
            <a:r>
              <a:rPr kumimoji="1" lang="zh-CN" altLang="en-US" sz="2000" dirty="0">
                <a:solidFill>
                  <a:srgbClr val="FF3300"/>
                </a:solidFill>
                <a:latin typeface="Consolas" panose="020B0609020204030204" pitchFamily="49" charset="0"/>
                <a:ea typeface="楷体" panose="02010609060101010101" pitchFamily="49" charset="-122"/>
                <a:cs typeface="Consolas" panose="020B0609020204030204" pitchFamily="49" charset="0"/>
              </a:rPr>
              <a:t>销毁</a:t>
            </a:r>
            <a:r>
              <a:rPr kumimoji="1" lang="zh-CN" altLang="en-US" sz="2000" dirty="0">
                <a:latin typeface="Consolas" panose="020B0609020204030204" pitchFamily="49" charset="0"/>
                <a:ea typeface="楷体" panose="02010609060101010101" pitchFamily="49" charset="-122"/>
                <a:cs typeface="Consolas" panose="020B0609020204030204" pitchFamily="49" charset="0"/>
              </a:rPr>
              <a:t>线性表</a:t>
            </a:r>
            <a:r>
              <a:rPr kumimoji="1" lang="en-US" altLang="zh-CN" sz="2000" dirty="0">
                <a:latin typeface="Consolas" panose="020B0609020204030204" pitchFamily="49" charset="0"/>
                <a:ea typeface="楷体" panose="02010609060101010101" pitchFamily="49" charset="-122"/>
                <a:cs typeface="Consolas" panose="020B0609020204030204" pitchFamily="49" charset="0"/>
              </a:rPr>
              <a:t>L</a:t>
            </a:r>
            <a:r>
              <a:rPr kumimoji="1" lang="zh-CN" altLang="en-US" sz="2000" dirty="0">
                <a:latin typeface="Consolas" panose="020B0609020204030204" pitchFamily="49" charset="0"/>
                <a:ea typeface="楷体" panose="02010609060101010101" pitchFamily="49" charset="-122"/>
                <a:cs typeface="Consolas" panose="020B0609020204030204" pitchFamily="49" charset="0"/>
              </a:rPr>
              <a:t>。释放线性表</a:t>
            </a:r>
            <a:r>
              <a:rPr kumimoji="1" lang="en-US" altLang="zh-CN" sz="2000" dirty="0">
                <a:latin typeface="Consolas" panose="020B0609020204030204" pitchFamily="49" charset="0"/>
                <a:ea typeface="楷体" panose="02010609060101010101" pitchFamily="49" charset="-122"/>
                <a:cs typeface="Consolas" panose="020B0609020204030204" pitchFamily="49" charset="0"/>
              </a:rPr>
              <a:t>L</a:t>
            </a:r>
            <a:r>
              <a:rPr kumimoji="1" lang="zh-CN" altLang="en-US" sz="2000" dirty="0">
                <a:latin typeface="Consolas" panose="020B0609020204030204" pitchFamily="49" charset="0"/>
                <a:ea typeface="楷体" panose="02010609060101010101" pitchFamily="49" charset="-122"/>
                <a:cs typeface="Consolas" panose="020B0609020204030204" pitchFamily="49" charset="0"/>
              </a:rPr>
              <a:t>占用的内存空间</a:t>
            </a:r>
            <a:endParaRPr lang="zh-CN" altLang="en-US" sz="2000" dirty="0"/>
          </a:p>
        </p:txBody>
      </p:sp>
      <p:sp>
        <p:nvSpPr>
          <p:cNvPr id="10" name="矩形 9">
            <a:extLst>
              <a:ext uri="{FF2B5EF4-FFF2-40B4-BE49-F238E27FC236}">
                <a16:creationId xmlns:a16="http://schemas.microsoft.com/office/drawing/2014/main" id="{236A6EEA-4F0E-4041-94DC-333678CD0F74}"/>
              </a:ext>
            </a:extLst>
          </p:cNvPr>
          <p:cNvSpPr/>
          <p:nvPr/>
        </p:nvSpPr>
        <p:spPr>
          <a:xfrm>
            <a:off x="1199170" y="4208894"/>
            <a:ext cx="6048672" cy="1453603"/>
          </a:xfrm>
          <a:prstGeom prst="rect">
            <a:avLst/>
          </a:prstGeom>
        </p:spPr>
        <p:txBody>
          <a:bodyPr wrap="square">
            <a:spAutoFit/>
          </a:bodyPr>
          <a:lstStyle/>
          <a:p>
            <a:pPr algn="just">
              <a:spcBef>
                <a:spcPct val="50000"/>
              </a:spcBef>
            </a:pPr>
            <a:r>
              <a:rPr kumimoji="1" lang="en-US" altLang="zh-CN" dirty="0">
                <a:solidFill>
                  <a:srgbClr val="0000FF"/>
                </a:solidFill>
                <a:latin typeface="Consolas" panose="020B0609020204030204" pitchFamily="49" charset="0"/>
                <a:ea typeface="宋体" panose="02010600030101010101" pitchFamily="2" charset="-122"/>
                <a:cs typeface="Consolas" panose="020B0609020204030204" pitchFamily="49" charset="0"/>
              </a:rPr>
              <a:t>void </a:t>
            </a:r>
            <a:r>
              <a:rPr kumimoji="1" lang="en-US" altLang="zh-CN" dirty="0" err="1">
                <a:solidFill>
                  <a:srgbClr val="FF0000"/>
                </a:solidFill>
                <a:latin typeface="Consolas" panose="020B0609020204030204" pitchFamily="49" charset="0"/>
                <a:ea typeface="宋体" panose="02010600030101010101" pitchFamily="2" charset="-122"/>
                <a:cs typeface="Consolas" panose="020B0609020204030204" pitchFamily="49" charset="0"/>
              </a:rPr>
              <a:t>DestroyList</a:t>
            </a:r>
            <a:r>
              <a:rPr kumimoji="1" lang="en-US" altLang="zh-CN" dirty="0">
                <a:solidFill>
                  <a:srgbClr val="0000FF"/>
                </a:solidFill>
                <a:latin typeface="Consolas" panose="020B0609020204030204" pitchFamily="49" charset="0"/>
                <a:ea typeface="宋体" panose="02010600030101010101" pitchFamily="2" charset="-122"/>
                <a:cs typeface="Consolas" panose="020B0609020204030204" pitchFamily="49" charset="0"/>
              </a:rPr>
              <a:t>(</a:t>
            </a:r>
            <a:r>
              <a:rPr kumimoji="1" lang="en-US" altLang="zh-CN" dirty="0" err="1">
                <a:solidFill>
                  <a:srgbClr val="0000FF"/>
                </a:solidFill>
                <a:latin typeface="Consolas" panose="020B0609020204030204" pitchFamily="49" charset="0"/>
                <a:ea typeface="宋体" panose="02010600030101010101" pitchFamily="2" charset="-122"/>
                <a:cs typeface="Consolas" panose="020B0609020204030204" pitchFamily="49" charset="0"/>
              </a:rPr>
              <a:t>SqList</a:t>
            </a:r>
            <a:r>
              <a:rPr kumimoji="1" lang="en-US" altLang="zh-CN" dirty="0">
                <a:solidFill>
                  <a:srgbClr val="0000FF"/>
                </a:solidFill>
                <a:latin typeface="Consolas" panose="020B0609020204030204" pitchFamily="49" charset="0"/>
                <a:ea typeface="宋体" panose="02010600030101010101" pitchFamily="2" charset="-122"/>
                <a:cs typeface="Consolas" panose="020B0609020204030204" pitchFamily="49" charset="0"/>
              </a:rPr>
              <a:t> *&amp;L)</a:t>
            </a:r>
          </a:p>
          <a:p>
            <a:pPr algn="just">
              <a:lnSpc>
                <a:spcPct val="80000"/>
              </a:lnSpc>
              <a:spcBef>
                <a:spcPct val="50000"/>
              </a:spcBef>
            </a:pPr>
            <a:r>
              <a:rPr kumimoji="1" lang="en-US" altLang="zh-CN" dirty="0">
                <a:solidFill>
                  <a:srgbClr val="0000FF"/>
                </a:solidFill>
                <a:latin typeface="Consolas" panose="020B0609020204030204" pitchFamily="49" charset="0"/>
                <a:ea typeface="宋体" panose="02010600030101010101" pitchFamily="2" charset="-122"/>
                <a:cs typeface="Consolas" panose="020B0609020204030204" pitchFamily="49" charset="0"/>
              </a:rPr>
              <a:t>{</a:t>
            </a:r>
          </a:p>
          <a:p>
            <a:pPr algn="just">
              <a:lnSpc>
                <a:spcPct val="80000"/>
              </a:lnSpc>
              <a:spcBef>
                <a:spcPct val="50000"/>
              </a:spcBef>
            </a:pPr>
            <a:r>
              <a:rPr kumimoji="1" lang="en-US" altLang="zh-CN" dirty="0">
                <a:solidFill>
                  <a:srgbClr val="0000FF"/>
                </a:solidFill>
                <a:latin typeface="Consolas" panose="020B0609020204030204" pitchFamily="49" charset="0"/>
                <a:ea typeface="宋体" panose="02010600030101010101" pitchFamily="2" charset="-122"/>
                <a:cs typeface="Consolas" panose="020B0609020204030204" pitchFamily="49" charset="0"/>
              </a:rPr>
              <a:t>    free(L);</a:t>
            </a:r>
          </a:p>
          <a:p>
            <a:pPr algn="just">
              <a:lnSpc>
                <a:spcPct val="80000"/>
              </a:lnSpc>
              <a:spcBef>
                <a:spcPct val="50000"/>
              </a:spcBef>
            </a:pPr>
            <a:r>
              <a:rPr kumimoji="1" lang="en-US" altLang="zh-CN" dirty="0">
                <a:solidFill>
                  <a:srgbClr val="0000FF"/>
                </a:solidFill>
                <a:latin typeface="Consolas" panose="020B0609020204030204" pitchFamily="49" charset="0"/>
                <a:ea typeface="宋体" panose="02010600030101010101" pitchFamily="2" charset="-122"/>
                <a:cs typeface="Consolas" panose="020B0609020204030204" pitchFamily="49" charset="0"/>
              </a:rPr>
              <a:t>}</a:t>
            </a:r>
            <a:r>
              <a:rPr kumimoji="1" lang="en-US" altLang="zh-CN" dirty="0">
                <a:solidFill>
                  <a:srgbClr val="0000FF"/>
                </a:solidFill>
                <a:latin typeface="Consolas" panose="020B0609020204030204" pitchFamily="49" charset="0"/>
                <a:cs typeface="Consolas" panose="020B0609020204030204" pitchFamily="49" charset="0"/>
              </a:rPr>
              <a:t>   </a:t>
            </a:r>
          </a:p>
        </p:txBody>
      </p:sp>
    </p:spTree>
    <p:extLst>
      <p:ext uri="{BB962C8B-B14F-4D97-AF65-F5344CB8AC3E}">
        <p14:creationId xmlns:p14="http://schemas.microsoft.com/office/powerpoint/2010/main" val="28962919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2.2.2  </a:t>
            </a:r>
            <a:r>
              <a:rPr lang="zh-CN" altLang="zh-CN" b="1" dirty="0"/>
              <a:t>顺序存储结构的实现</a:t>
            </a:r>
            <a:endParaRPr lang="zh-CN" altLang="en-US" dirty="0"/>
          </a:p>
        </p:txBody>
      </p:sp>
      <p:sp>
        <p:nvSpPr>
          <p:cNvPr id="4" name="内容占位符 3"/>
          <p:cNvSpPr>
            <a:spLocks noGrp="1"/>
          </p:cNvSpPr>
          <p:nvPr>
            <p:ph idx="1"/>
          </p:nvPr>
        </p:nvSpPr>
        <p:spPr>
          <a:xfrm>
            <a:off x="179512" y="1628800"/>
            <a:ext cx="8678768" cy="4443406"/>
          </a:xfrm>
        </p:spPr>
        <p:txBody>
          <a:bodyPr/>
          <a:lstStyle/>
          <a:p>
            <a:pPr>
              <a:spcBef>
                <a:spcPts val="600"/>
              </a:spcBef>
            </a:pPr>
            <a:r>
              <a:rPr lang="en-US" altLang="zh-CN" dirty="0"/>
              <a:t>1. </a:t>
            </a:r>
            <a:r>
              <a:rPr lang="zh-CN" altLang="en-US" dirty="0"/>
              <a:t>插入操作</a:t>
            </a:r>
          </a:p>
          <a:p>
            <a:pPr algn="just">
              <a:spcBef>
                <a:spcPts val="600"/>
              </a:spcBef>
            </a:pPr>
            <a:r>
              <a:rPr lang="en-US" altLang="zh-CN" dirty="0"/>
              <a:t>		</a:t>
            </a:r>
            <a:r>
              <a:rPr lang="zh-CN" altLang="en-US" dirty="0">
                <a:solidFill>
                  <a:srgbClr val="FF0000"/>
                </a:solidFill>
              </a:rPr>
              <a:t>顺序表的插入操作</a:t>
            </a:r>
            <a:r>
              <a:rPr lang="zh-CN" altLang="en-US" dirty="0"/>
              <a:t>是指在顺序表</a:t>
            </a:r>
            <a:r>
              <a:rPr lang="en-US" altLang="zh-CN" dirty="0"/>
              <a:t>L=(</a:t>
            </a:r>
            <a:r>
              <a:rPr lang="en-US" altLang="zh-CN" b="0" dirty="0"/>
              <a:t> a</a:t>
            </a:r>
            <a:r>
              <a:rPr lang="en-US" altLang="zh-CN" b="0" baseline="-25000" dirty="0"/>
              <a:t>0</a:t>
            </a:r>
            <a:r>
              <a:rPr lang="en-US" altLang="zh-CN" b="0" dirty="0"/>
              <a:t>, a</a:t>
            </a:r>
            <a:r>
              <a:rPr lang="en-US" altLang="zh-CN" b="0" baseline="-25000" dirty="0"/>
              <a:t>1</a:t>
            </a:r>
            <a:r>
              <a:rPr lang="en-US" altLang="zh-CN" b="0" dirty="0"/>
              <a:t>, …, a</a:t>
            </a:r>
            <a:r>
              <a:rPr lang="en-US" altLang="zh-CN" b="0" baseline="-25000" dirty="0"/>
              <a:t>i-1</a:t>
            </a:r>
            <a:r>
              <a:rPr lang="en-US" altLang="zh-CN" b="0" dirty="0"/>
              <a:t>, </a:t>
            </a:r>
            <a:r>
              <a:rPr lang="en-US" altLang="zh-CN" b="0" dirty="0" err="1"/>
              <a:t>a</a:t>
            </a:r>
            <a:r>
              <a:rPr lang="en-US" altLang="zh-CN" b="0" baseline="-25000" dirty="0" err="1"/>
              <a:t>i</a:t>
            </a:r>
            <a:r>
              <a:rPr lang="en-US" altLang="zh-CN" b="0" dirty="0"/>
              <a:t>, a</a:t>
            </a:r>
            <a:r>
              <a:rPr lang="en-US" altLang="zh-CN" b="0" baseline="-25000" dirty="0"/>
              <a:t>i+1</a:t>
            </a:r>
            <a:r>
              <a:rPr lang="en-US" altLang="zh-CN" b="0" dirty="0"/>
              <a:t>, a</a:t>
            </a:r>
            <a:r>
              <a:rPr lang="en-US" altLang="zh-CN" b="0" baseline="-25000" dirty="0"/>
              <a:t>n-1</a:t>
            </a:r>
            <a:r>
              <a:rPr lang="en-US" altLang="zh-CN" dirty="0"/>
              <a:t>)</a:t>
            </a:r>
            <a:r>
              <a:rPr lang="zh-CN" altLang="en-US" dirty="0"/>
              <a:t>中的第</a:t>
            </a:r>
            <a:r>
              <a:rPr lang="en-US" altLang="zh-CN" dirty="0" err="1"/>
              <a:t>i</a:t>
            </a:r>
            <a:r>
              <a:rPr lang="zh-CN" altLang="en-US" dirty="0"/>
              <a:t>个数据元素和第</a:t>
            </a:r>
            <a:r>
              <a:rPr lang="en-US" altLang="zh-CN" dirty="0"/>
              <a:t>i+1</a:t>
            </a:r>
            <a:r>
              <a:rPr lang="zh-CN" altLang="en-US" dirty="0"/>
              <a:t>个数据元素之间插入一个新的数据元素</a:t>
            </a:r>
            <a:r>
              <a:rPr lang="en-US" altLang="zh-CN" dirty="0"/>
              <a:t>b</a:t>
            </a:r>
            <a:r>
              <a:rPr lang="zh-CN" altLang="en-US" dirty="0"/>
              <a:t>，使长度为</a:t>
            </a:r>
            <a:r>
              <a:rPr lang="en-US" altLang="zh-CN" dirty="0"/>
              <a:t>n</a:t>
            </a:r>
            <a:r>
              <a:rPr lang="zh-CN" altLang="en-US" dirty="0"/>
              <a:t>的线性表变成长度为</a:t>
            </a:r>
            <a:r>
              <a:rPr lang="en-US" altLang="zh-CN" dirty="0"/>
              <a:t>n+1</a:t>
            </a:r>
            <a:r>
              <a:rPr lang="zh-CN" altLang="en-US" dirty="0"/>
              <a:t>的顺序表</a:t>
            </a:r>
            <a:r>
              <a:rPr lang="en-US" altLang="zh-CN" dirty="0"/>
              <a:t>L’=(</a:t>
            </a:r>
            <a:r>
              <a:rPr lang="en-US" altLang="zh-CN" b="0" dirty="0"/>
              <a:t> a</a:t>
            </a:r>
            <a:r>
              <a:rPr lang="en-US" altLang="zh-CN" b="0" baseline="-25000" dirty="0"/>
              <a:t>0</a:t>
            </a:r>
            <a:r>
              <a:rPr lang="en-US" altLang="zh-CN" b="0" dirty="0"/>
              <a:t>, a</a:t>
            </a:r>
            <a:r>
              <a:rPr lang="en-US" altLang="zh-CN" b="0" baseline="-25000" dirty="0"/>
              <a:t>1</a:t>
            </a:r>
            <a:r>
              <a:rPr lang="en-US" altLang="zh-CN" b="0" dirty="0"/>
              <a:t>, …, a</a:t>
            </a:r>
            <a:r>
              <a:rPr lang="en-US" altLang="zh-CN" b="0" baseline="-25000" dirty="0"/>
              <a:t>i-1</a:t>
            </a:r>
            <a:r>
              <a:rPr lang="en-US" altLang="zh-CN" b="0" dirty="0"/>
              <a:t>, b, </a:t>
            </a:r>
            <a:r>
              <a:rPr lang="en-US" altLang="zh-CN" b="0" dirty="0" err="1"/>
              <a:t>a</a:t>
            </a:r>
            <a:r>
              <a:rPr lang="en-US" altLang="zh-CN" b="0" baseline="-25000" dirty="0" err="1"/>
              <a:t>i</a:t>
            </a:r>
            <a:r>
              <a:rPr lang="en-US" altLang="zh-CN" b="0" dirty="0"/>
              <a:t>, a</a:t>
            </a:r>
            <a:r>
              <a:rPr lang="en-US" altLang="zh-CN" b="0" baseline="-25000" dirty="0"/>
              <a:t>i+1</a:t>
            </a:r>
            <a:r>
              <a:rPr lang="en-US" altLang="zh-CN" b="0" dirty="0"/>
              <a:t>, a</a:t>
            </a:r>
            <a:r>
              <a:rPr lang="en-US" altLang="zh-CN" b="0" baseline="-25000" dirty="0"/>
              <a:t>n-1</a:t>
            </a:r>
            <a:r>
              <a:rPr lang="en-US" altLang="zh-CN" dirty="0"/>
              <a:t>)</a:t>
            </a:r>
            <a:r>
              <a:rPr lang="zh-CN" altLang="en-US" dirty="0"/>
              <a:t>。</a:t>
            </a:r>
            <a:endParaRPr lang="en-US" altLang="zh-CN" dirty="0"/>
          </a:p>
          <a:p>
            <a:pPr algn="just">
              <a:spcBef>
                <a:spcPts val="600"/>
              </a:spcBef>
            </a:pPr>
            <a:r>
              <a:rPr lang="en-US" altLang="zh-CN" dirty="0"/>
              <a:t>      </a:t>
            </a:r>
            <a:r>
              <a:rPr lang="zh-CN" altLang="en-US" dirty="0"/>
              <a:t>一个顺序表在进行插入操作前后其数据元素在存储空间中的位置变化如图</a:t>
            </a:r>
            <a:r>
              <a:rPr lang="en-US" altLang="zh-CN" dirty="0"/>
              <a:t>2-3</a:t>
            </a:r>
            <a:r>
              <a:rPr lang="zh-CN" altLang="en-US" dirty="0"/>
              <a:t>所示。</a:t>
            </a:r>
          </a:p>
        </p:txBody>
      </p:sp>
    </p:spTree>
    <p:extLst>
      <p:ext uri="{BB962C8B-B14F-4D97-AF65-F5344CB8AC3E}">
        <p14:creationId xmlns:p14="http://schemas.microsoft.com/office/powerpoint/2010/main" val="1985052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矩形 3"/>
              <p:cNvSpPr/>
              <p:nvPr/>
            </p:nvSpPr>
            <p:spPr>
              <a:xfrm>
                <a:off x="539552" y="4725144"/>
                <a:ext cx="8496944" cy="1569660"/>
              </a:xfrm>
              <a:prstGeom prst="rect">
                <a:avLst/>
              </a:prstGeom>
            </p:spPr>
            <p:txBody>
              <a:bodyPr wrap="square">
                <a:spAutoFit/>
              </a:bodyPr>
              <a:lstStyle/>
              <a:p>
                <a:pPr>
                  <a:lnSpc>
                    <a:spcPct val="120000"/>
                  </a:lnSpc>
                </a:pPr>
                <a:r>
                  <a:rPr lang="zh-CN" altLang="zh-CN" sz="2000" dirty="0">
                    <a:latin typeface="楷体" panose="02010609060101010101" pitchFamily="49" charset="-122"/>
                    <a:ea typeface="楷体" panose="02010609060101010101" pitchFamily="49" charset="-122"/>
                  </a:rPr>
                  <a:t>插入操作的实现步骤：</a:t>
                </a:r>
              </a:p>
              <a:p>
                <a:pPr>
                  <a:lnSpc>
                    <a:spcPct val="120000"/>
                  </a:lnSpc>
                </a:pPr>
                <a:r>
                  <a:rPr lang="zh-CN" altLang="zh-CN" sz="2000" dirty="0">
                    <a:latin typeface="楷体" panose="02010609060101010101" pitchFamily="49" charset="-122"/>
                    <a:ea typeface="楷体" panose="02010609060101010101" pitchFamily="49" charset="-122"/>
                  </a:rPr>
                  <a:t>（1） 将</a:t>
                </a:r>
                <a:r>
                  <a:rPr lang="zh-CN" altLang="en-US" sz="2000" dirty="0">
                    <a:latin typeface="楷体" panose="02010609060101010101" pitchFamily="49" charset="-122"/>
                    <a:ea typeface="楷体" panose="02010609060101010101" pitchFamily="49" charset="-122"/>
                  </a:rPr>
                  <a:t>顺序表</a:t>
                </a:r>
                <a:r>
                  <a:rPr lang="zh-CN" altLang="zh-CN" sz="2000" dirty="0">
                    <a:latin typeface="楷体" panose="02010609060101010101" pitchFamily="49" charset="-122"/>
                    <a:ea typeface="楷体" panose="02010609060101010101" pitchFamily="49" charset="-122"/>
                  </a:rPr>
                  <a:t>中的第i</a:t>
                </a:r>
                <a:r>
                  <a:rPr lang="en-US" altLang="zh-CN" sz="2000" dirty="0">
                    <a:latin typeface="楷体" panose="02010609060101010101" pitchFamily="49" charset="-122"/>
                    <a:ea typeface="楷体" panose="02010609060101010101" pitchFamily="49" charset="-122"/>
                  </a:rPr>
                  <a:t>+1</a:t>
                </a:r>
                <a:r>
                  <a:rPr lang="zh-CN" altLang="zh-CN" sz="2000" dirty="0">
                    <a:latin typeface="楷体" panose="02010609060101010101" pitchFamily="49" charset="-122"/>
                    <a:ea typeface="楷体" panose="02010609060101010101" pitchFamily="49" charset="-122"/>
                  </a:rPr>
                  <a:t>个至第n个数据元素向后移动一个位置。</a:t>
                </a:r>
              </a:p>
              <a:p>
                <a:pPr>
                  <a:lnSpc>
                    <a:spcPct val="120000"/>
                  </a:lnSpc>
                </a:pPr>
                <a:r>
                  <a:rPr lang="zh-CN" altLang="zh-CN" sz="2000" dirty="0">
                    <a:latin typeface="楷体" panose="02010609060101010101" pitchFamily="49" charset="-122"/>
                    <a:ea typeface="楷体" panose="02010609060101010101" pitchFamily="49" charset="-122"/>
                  </a:rPr>
                  <a:t>（2） 将数据元素b插入到数据元素</a:t>
                </a:r>
                <a14:m>
                  <m:oMath xmlns:m="http://schemas.openxmlformats.org/officeDocument/2006/math">
                    <m:sSub>
                      <m:sSubPr>
                        <m:ctrlPr>
                          <a:rPr lang="zh-CN" altLang="zh-CN" sz="2000" i="1">
                            <a:latin typeface="Cambria Math" panose="02040503050406030204" pitchFamily="18" charset="0"/>
                          </a:rPr>
                        </m:ctrlPr>
                      </m:sSubPr>
                      <m:e>
                        <m:r>
                          <m:rPr>
                            <m:sty m:val="p"/>
                          </m:rPr>
                          <a:rPr lang="zh-CN" altLang="zh-CN" sz="2000">
                            <a:latin typeface="Cambria Math"/>
                          </a:rPr>
                          <m:t>a</m:t>
                        </m:r>
                      </m:e>
                      <m:sub>
                        <m:r>
                          <m:rPr>
                            <m:sty m:val="p"/>
                          </m:rPr>
                          <a:rPr lang="zh-CN" altLang="zh-CN" sz="2000">
                            <a:latin typeface="Cambria Math"/>
                          </a:rPr>
                          <m:t>i</m:t>
                        </m:r>
                        <m:r>
                          <a:rPr lang="zh-CN" altLang="en-US" sz="2000" i="1">
                            <a:latin typeface="Cambria Math"/>
                          </a:rPr>
                          <m:t>−</m:t>
                        </m:r>
                        <m:r>
                          <a:rPr lang="zh-CN" altLang="zh-CN" sz="2000">
                            <a:latin typeface="Cambria Math"/>
                          </a:rPr>
                          <m:t>1</m:t>
                        </m:r>
                      </m:sub>
                    </m:sSub>
                  </m:oMath>
                </a14:m>
                <a:r>
                  <a:rPr lang="zh-CN" altLang="zh-CN" sz="2000" dirty="0">
                    <a:latin typeface="楷体" panose="02010609060101010101" pitchFamily="49" charset="-122"/>
                    <a:ea typeface="楷体" panose="02010609060101010101" pitchFamily="49" charset="-122"/>
                  </a:rPr>
                  <a:t>之后，即第i</a:t>
                </a:r>
                <a:r>
                  <a:rPr lang="en-US" altLang="zh-CN" sz="2000" dirty="0">
                    <a:latin typeface="楷体" panose="02010609060101010101" pitchFamily="49" charset="-122"/>
                    <a:ea typeface="楷体" panose="02010609060101010101" pitchFamily="49" charset="-122"/>
                  </a:rPr>
                  <a:t>+1</a:t>
                </a:r>
                <a:r>
                  <a:rPr lang="zh-CN" altLang="zh-CN" sz="2000" dirty="0">
                    <a:latin typeface="楷体" panose="02010609060101010101" pitchFamily="49" charset="-122"/>
                    <a:ea typeface="楷体" panose="02010609060101010101" pitchFamily="49" charset="-122"/>
                  </a:rPr>
                  <a:t>个位置上。 </a:t>
                </a:r>
              </a:p>
              <a:p>
                <a:pPr>
                  <a:lnSpc>
                    <a:spcPct val="120000"/>
                  </a:lnSpc>
                </a:pPr>
                <a:r>
                  <a:rPr lang="zh-CN" altLang="zh-CN" sz="2000" dirty="0">
                    <a:latin typeface="楷体" panose="02010609060101010101" pitchFamily="49" charset="-122"/>
                    <a:ea typeface="楷体" panose="02010609060101010101" pitchFamily="49" charset="-122"/>
                  </a:rPr>
                  <a:t>（3） 将</a:t>
                </a:r>
                <a:r>
                  <a:rPr lang="zh-CN" altLang="en-US" sz="2000" dirty="0">
                    <a:latin typeface="楷体" panose="02010609060101010101" pitchFamily="49" charset="-122"/>
                    <a:ea typeface="楷体" panose="02010609060101010101" pitchFamily="49" charset="-122"/>
                  </a:rPr>
                  <a:t>顺序表</a:t>
                </a:r>
                <a:r>
                  <a:rPr lang="zh-CN" altLang="zh-CN" sz="2000" dirty="0">
                    <a:latin typeface="楷体" panose="02010609060101010101" pitchFamily="49" charset="-122"/>
                    <a:ea typeface="楷体" panose="02010609060101010101" pitchFamily="49" charset="-122"/>
                  </a:rPr>
                  <a:t>长度加1。 </a:t>
                </a:r>
              </a:p>
            </p:txBody>
          </p:sp>
        </mc:Choice>
        <mc:Fallback xmlns="">
          <p:sp>
            <p:nvSpPr>
              <p:cNvPr id="4" name="矩形 3"/>
              <p:cNvSpPr>
                <a:spLocks noRot="1" noChangeAspect="1" noMove="1" noResize="1" noEditPoints="1" noAdjustHandles="1" noChangeArrowheads="1" noChangeShapeType="1" noTextEdit="1"/>
              </p:cNvSpPr>
              <p:nvPr/>
            </p:nvSpPr>
            <p:spPr>
              <a:xfrm>
                <a:off x="539552" y="4725144"/>
                <a:ext cx="8496944" cy="1569660"/>
              </a:xfrm>
              <a:prstGeom prst="rect">
                <a:avLst/>
              </a:prstGeom>
              <a:blipFill>
                <a:blip r:embed="rId2"/>
                <a:stretch>
                  <a:fillRect l="-790" t="-1163" b="-2713"/>
                </a:stretch>
              </a:blipFill>
            </p:spPr>
            <p:txBody>
              <a:bodyPr/>
              <a:lstStyle/>
              <a:p>
                <a:r>
                  <a:rPr lang="zh-CN" altLang="en-US">
                    <a:noFill/>
                  </a:rPr>
                  <a:t> </a:t>
                </a:r>
              </a:p>
            </p:txBody>
          </p:sp>
        </mc:Fallback>
      </mc:AlternateContent>
      <p:pic>
        <p:nvPicPr>
          <p:cNvPr id="3" name="内容占位符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403648" y="755903"/>
            <a:ext cx="5904656" cy="3969241"/>
          </a:xfrm>
        </p:spPr>
      </p:pic>
    </p:spTree>
    <p:extLst>
      <p:ext uri="{BB962C8B-B14F-4D97-AF65-F5344CB8AC3E}">
        <p14:creationId xmlns:p14="http://schemas.microsoft.com/office/powerpoint/2010/main" val="1294222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764704"/>
            <a:ext cx="7520940" cy="548640"/>
          </a:xfrm>
        </p:spPr>
        <p:txBody>
          <a:bodyPr/>
          <a:lstStyle/>
          <a:p>
            <a:r>
              <a:rPr lang="zh-CN" altLang="en-US" sz="2400" dirty="0"/>
              <a:t>顺序</a:t>
            </a:r>
            <a:r>
              <a:rPr lang="zh-CN" altLang="zh-CN" sz="2400" dirty="0"/>
              <a:t>表的插入操作算法实现：</a:t>
            </a:r>
            <a:endParaRPr lang="zh-CN" altLang="en-US" sz="2400" dirty="0"/>
          </a:p>
        </p:txBody>
      </p:sp>
      <p:sp>
        <p:nvSpPr>
          <p:cNvPr id="3" name="内容占位符 2"/>
          <p:cNvSpPr>
            <a:spLocks noGrp="1"/>
          </p:cNvSpPr>
          <p:nvPr>
            <p:ph idx="1"/>
          </p:nvPr>
        </p:nvSpPr>
        <p:spPr>
          <a:xfrm>
            <a:off x="642910" y="1484784"/>
            <a:ext cx="8249570" cy="4824536"/>
          </a:xfrm>
        </p:spPr>
        <p:txBody>
          <a:bodyPr>
            <a:normAutofit fontScale="92500" lnSpcReduction="20000"/>
          </a:bodyPr>
          <a:lstStyle/>
          <a:p>
            <a:pPr fontAlgn="base"/>
            <a:r>
              <a:rPr lang="zh-CN" altLang="zh-CN" b="0" dirty="0"/>
              <a:t>算法</a:t>
            </a:r>
            <a:r>
              <a:rPr lang="en-US" altLang="zh-CN" b="0" dirty="0"/>
              <a:t>2.3</a:t>
            </a:r>
            <a:r>
              <a:rPr lang="zh-CN" altLang="zh-CN" b="0" dirty="0"/>
              <a:t>：</a:t>
            </a:r>
            <a:r>
              <a:rPr lang="zh-CN" altLang="en-US" dirty="0">
                <a:solidFill>
                  <a:srgbClr val="FF0000"/>
                </a:solidFill>
              </a:rPr>
              <a:t>顺序</a:t>
            </a:r>
            <a:r>
              <a:rPr lang="zh-CN" altLang="zh-CN" dirty="0">
                <a:solidFill>
                  <a:srgbClr val="FF0000"/>
                </a:solidFill>
              </a:rPr>
              <a:t>表的</a:t>
            </a:r>
            <a:r>
              <a:rPr lang="zh-CN" altLang="en-US" dirty="0">
                <a:solidFill>
                  <a:srgbClr val="FF0000"/>
                </a:solidFill>
              </a:rPr>
              <a:t>指定位置</a:t>
            </a:r>
            <a:r>
              <a:rPr lang="zh-CN" altLang="zh-CN" dirty="0">
                <a:solidFill>
                  <a:srgbClr val="FF0000"/>
                </a:solidFill>
              </a:rPr>
              <a:t>插入</a:t>
            </a:r>
          </a:p>
          <a:p>
            <a:r>
              <a:rPr lang="en-US" altLang="zh-CN" b="0" dirty="0"/>
              <a:t>template &lt;class Elem&gt;    //</a:t>
            </a:r>
            <a:r>
              <a:rPr lang="zh-CN" altLang="en-US" b="0" dirty="0"/>
              <a:t>在</a:t>
            </a:r>
            <a:r>
              <a:rPr lang="en-US" altLang="zh-CN" b="0" dirty="0" err="1"/>
              <a:t>curr</a:t>
            </a:r>
            <a:r>
              <a:rPr lang="zh-CN" altLang="en-US" b="0" dirty="0"/>
              <a:t>当前位置插入数据元素</a:t>
            </a:r>
          </a:p>
          <a:p>
            <a:r>
              <a:rPr lang="en-US" altLang="zh-CN" b="0" dirty="0" err="1"/>
              <a:t>bool</a:t>
            </a:r>
            <a:r>
              <a:rPr lang="en-US" altLang="zh-CN" b="0" dirty="0"/>
              <a:t> </a:t>
            </a:r>
            <a:r>
              <a:rPr lang="en-US" altLang="zh-CN" b="0" dirty="0" err="1"/>
              <a:t>Alist</a:t>
            </a:r>
            <a:r>
              <a:rPr lang="en-US" altLang="zh-CN" b="0" dirty="0"/>
              <a:t> &lt;Elem&gt;:: insert(const Elem it) {</a:t>
            </a:r>
            <a:endParaRPr lang="zh-CN" altLang="en-US" b="0" dirty="0"/>
          </a:p>
          <a:p>
            <a:pPr fontAlgn="base"/>
            <a:r>
              <a:rPr lang="en-US" altLang="zh-CN" b="0" dirty="0"/>
              <a:t>	if (</a:t>
            </a:r>
            <a:r>
              <a:rPr lang="en-US" altLang="zh-CN" b="0" dirty="0" err="1"/>
              <a:t>listSize</a:t>
            </a:r>
            <a:r>
              <a:rPr lang="en-US" altLang="zh-CN" b="0" dirty="0"/>
              <a:t> == </a:t>
            </a:r>
            <a:r>
              <a:rPr lang="en-US" altLang="zh-CN" b="0" dirty="0" err="1"/>
              <a:t>maxSize</a:t>
            </a:r>
            <a:r>
              <a:rPr lang="en-US" altLang="zh-CN" b="0" dirty="0"/>
              <a:t>) return false; 	//</a:t>
            </a:r>
            <a:r>
              <a:rPr lang="zh-CN" altLang="zh-CN" b="0" dirty="0"/>
              <a:t>判断</a:t>
            </a:r>
            <a:r>
              <a:rPr lang="zh-CN" altLang="en-US" b="0" dirty="0"/>
              <a:t>顺序</a:t>
            </a:r>
            <a:r>
              <a:rPr lang="zh-CN" altLang="zh-CN" b="0" dirty="0"/>
              <a:t>表是否已满</a:t>
            </a:r>
          </a:p>
          <a:p>
            <a:pPr fontAlgn="base"/>
            <a:r>
              <a:rPr lang="en-US" altLang="zh-CN" b="0" dirty="0"/>
              <a:t>    	if ((</a:t>
            </a:r>
            <a:r>
              <a:rPr lang="en-US" altLang="zh-CN" b="0" dirty="0" err="1"/>
              <a:t>curr</a:t>
            </a:r>
            <a:r>
              <a:rPr lang="en-US" altLang="zh-CN" b="0" dirty="0"/>
              <a:t> &lt;0) || ( </a:t>
            </a:r>
            <a:r>
              <a:rPr lang="en-US" altLang="zh-CN" b="0" dirty="0" err="1"/>
              <a:t>curr</a:t>
            </a:r>
            <a:r>
              <a:rPr lang="en-US" altLang="zh-CN" b="0" dirty="0"/>
              <a:t> &gt; listSize-1) return false; //</a:t>
            </a:r>
            <a:r>
              <a:rPr lang="zh-CN" altLang="zh-CN" b="0" dirty="0"/>
              <a:t>判断位置是否正确</a:t>
            </a:r>
          </a:p>
          <a:p>
            <a:pPr fontAlgn="base"/>
            <a:r>
              <a:rPr lang="en-US" altLang="zh-CN" b="0" dirty="0"/>
              <a:t>	for (</a:t>
            </a:r>
            <a:r>
              <a:rPr lang="en-US" altLang="zh-CN" b="0" dirty="0" err="1"/>
              <a:t>int</a:t>
            </a:r>
            <a:r>
              <a:rPr lang="en-US" altLang="zh-CN" b="0" dirty="0"/>
              <a:t> </a:t>
            </a:r>
            <a:r>
              <a:rPr lang="en-US" altLang="zh-CN" b="0" dirty="0" err="1"/>
              <a:t>i</a:t>
            </a:r>
            <a:r>
              <a:rPr lang="en-US" altLang="zh-CN" b="0" dirty="0"/>
              <a:t>=</a:t>
            </a:r>
            <a:r>
              <a:rPr lang="en-US" altLang="zh-CN" b="0" dirty="0" err="1"/>
              <a:t>listSize</a:t>
            </a:r>
            <a:r>
              <a:rPr lang="en-US" altLang="zh-CN" b="0" dirty="0"/>
              <a:t>; </a:t>
            </a:r>
            <a:r>
              <a:rPr lang="en-US" altLang="zh-CN" b="0" dirty="0" err="1"/>
              <a:t>i</a:t>
            </a:r>
            <a:r>
              <a:rPr lang="en-US" altLang="zh-CN" b="0" dirty="0"/>
              <a:t>&gt;</a:t>
            </a:r>
            <a:r>
              <a:rPr lang="en-US" altLang="zh-CN" b="0" dirty="0" err="1"/>
              <a:t>curr</a:t>
            </a:r>
            <a:r>
              <a:rPr lang="en-US" altLang="zh-CN" b="0" dirty="0"/>
              <a:t>; </a:t>
            </a:r>
            <a:r>
              <a:rPr lang="en-US" altLang="zh-CN" b="0" dirty="0" err="1"/>
              <a:t>i</a:t>
            </a:r>
            <a:r>
              <a:rPr lang="en-US" altLang="zh-CN" b="0" dirty="0"/>
              <a:t>--) 	//</a:t>
            </a:r>
            <a:r>
              <a:rPr lang="zh-CN" altLang="zh-CN" b="0" dirty="0"/>
              <a:t>将第</a:t>
            </a:r>
            <a:r>
              <a:rPr lang="en-US" altLang="zh-CN" b="0" dirty="0" err="1"/>
              <a:t>i</a:t>
            </a:r>
            <a:r>
              <a:rPr lang="zh-CN" altLang="zh-CN" b="0" dirty="0"/>
              <a:t>到</a:t>
            </a:r>
            <a:r>
              <a:rPr lang="en-US" altLang="zh-CN" b="0" dirty="0"/>
              <a:t>n-1</a:t>
            </a:r>
            <a:r>
              <a:rPr lang="zh-CN" altLang="zh-CN" b="0" dirty="0"/>
              <a:t>个元素后移</a:t>
            </a:r>
            <a:endParaRPr lang="en-US" altLang="zh-CN" b="0" dirty="0"/>
          </a:p>
          <a:p>
            <a:pPr fontAlgn="base"/>
            <a:r>
              <a:rPr lang="en-US" altLang="zh-CN" b="0" dirty="0"/>
              <a:t>		</a:t>
            </a:r>
            <a:r>
              <a:rPr lang="en-US" altLang="zh-CN" b="0" dirty="0" err="1"/>
              <a:t>listArray</a:t>
            </a:r>
            <a:r>
              <a:rPr lang="en-US" altLang="zh-CN" b="0" dirty="0"/>
              <a:t>[</a:t>
            </a:r>
            <a:r>
              <a:rPr lang="en-US" altLang="zh-CN" b="0" dirty="0" err="1"/>
              <a:t>i</a:t>
            </a:r>
            <a:r>
              <a:rPr lang="en-US" altLang="zh-CN" b="0" dirty="0"/>
              <a:t>] = </a:t>
            </a:r>
            <a:r>
              <a:rPr lang="en-US" altLang="zh-CN" b="0" dirty="0" err="1"/>
              <a:t>listArray</a:t>
            </a:r>
            <a:r>
              <a:rPr lang="en-US" altLang="zh-CN" b="0" dirty="0"/>
              <a:t>[i-1]; </a:t>
            </a:r>
            <a:endParaRPr lang="zh-CN" altLang="zh-CN" b="0" dirty="0"/>
          </a:p>
          <a:p>
            <a:pPr fontAlgn="base"/>
            <a:r>
              <a:rPr lang="en-US" altLang="zh-CN" b="0" dirty="0"/>
              <a:t>	</a:t>
            </a:r>
            <a:r>
              <a:rPr lang="en-US" altLang="zh-CN" b="0" dirty="0" err="1"/>
              <a:t>listArray</a:t>
            </a:r>
            <a:r>
              <a:rPr lang="en-US" altLang="zh-CN" b="0" dirty="0"/>
              <a:t>[</a:t>
            </a:r>
            <a:r>
              <a:rPr lang="en-US" altLang="zh-CN" b="0" dirty="0" err="1"/>
              <a:t>curr</a:t>
            </a:r>
            <a:r>
              <a:rPr lang="en-US" altLang="zh-CN" b="0" dirty="0"/>
              <a:t>] = it; 	//</a:t>
            </a:r>
            <a:r>
              <a:rPr lang="zh-CN" altLang="zh-CN" b="0" dirty="0"/>
              <a:t>插入数据元素</a:t>
            </a:r>
          </a:p>
          <a:p>
            <a:pPr fontAlgn="base"/>
            <a:r>
              <a:rPr lang="en-US" altLang="zh-CN" b="0" dirty="0"/>
              <a:t>	</a:t>
            </a:r>
            <a:r>
              <a:rPr lang="en-US" altLang="zh-CN" b="0" dirty="0" err="1"/>
              <a:t>listSize</a:t>
            </a:r>
            <a:r>
              <a:rPr lang="en-US" altLang="zh-CN" b="0" dirty="0"/>
              <a:t>++; 		//</a:t>
            </a:r>
            <a:r>
              <a:rPr lang="zh-CN" altLang="zh-CN" b="0" dirty="0"/>
              <a:t>增加</a:t>
            </a:r>
            <a:r>
              <a:rPr lang="zh-CN" altLang="en-US" b="0" dirty="0"/>
              <a:t>顺序表</a:t>
            </a:r>
            <a:r>
              <a:rPr lang="zh-CN" altLang="zh-CN" b="0" dirty="0"/>
              <a:t>长度</a:t>
            </a:r>
          </a:p>
          <a:p>
            <a:pPr fontAlgn="base"/>
            <a:r>
              <a:rPr lang="en-US" altLang="zh-CN" b="0" dirty="0"/>
              <a:t>    	return true</a:t>
            </a:r>
            <a:r>
              <a:rPr lang="zh-CN" altLang="en-US" b="0" dirty="0"/>
              <a:t>；</a:t>
            </a:r>
            <a:endParaRPr lang="zh-CN" altLang="zh-CN" b="0" dirty="0"/>
          </a:p>
          <a:p>
            <a:pPr fontAlgn="base"/>
            <a:r>
              <a:rPr lang="zh-CN" altLang="zh-CN" b="0" dirty="0"/>
              <a:t>｝</a:t>
            </a:r>
            <a:r>
              <a:rPr lang="zh-CN" altLang="en-US" dirty="0">
                <a:solidFill>
                  <a:srgbClr val="FF0000"/>
                </a:solidFill>
              </a:rPr>
              <a:t> 时间复杂度为</a:t>
            </a:r>
            <a:r>
              <a:rPr lang="en-US" altLang="zh-CN" dirty="0">
                <a:solidFill>
                  <a:srgbClr val="FF0000"/>
                </a:solidFill>
              </a:rPr>
              <a:t>O(n) </a:t>
            </a:r>
            <a:endParaRPr lang="zh-CN" altLang="en-US" b="0" dirty="0"/>
          </a:p>
        </p:txBody>
      </p:sp>
    </p:spTree>
    <p:extLst>
      <p:ext uri="{BB962C8B-B14F-4D97-AF65-F5344CB8AC3E}">
        <p14:creationId xmlns:p14="http://schemas.microsoft.com/office/powerpoint/2010/main" val="37101577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27">
            <a:extLst>
              <a:ext uri="{FF2B5EF4-FFF2-40B4-BE49-F238E27FC236}">
                <a16:creationId xmlns:a16="http://schemas.microsoft.com/office/drawing/2014/main" id="{A0BCE08C-A5D6-4D6D-B6B6-1997D68ECE64}"/>
              </a:ext>
            </a:extLst>
          </p:cNvPr>
          <p:cNvSpPr txBox="1">
            <a:spLocks noChangeArrowheads="1"/>
          </p:cNvSpPr>
          <p:nvPr/>
        </p:nvSpPr>
        <p:spPr bwMode="auto">
          <a:xfrm>
            <a:off x="971600" y="836712"/>
            <a:ext cx="6665855" cy="435697"/>
          </a:xfrm>
          <a:prstGeom prst="rect">
            <a:avLst/>
          </a:prstGeom>
          <a:noFill/>
          <a:ln w="9525">
            <a:noFill/>
            <a:miter lim="800000"/>
          </a:ln>
          <a:effectLst/>
        </p:spPr>
        <p:txBody>
          <a:bodyPr>
            <a:spAutoFit/>
          </a:bodyPr>
          <a:lstStyle/>
          <a:p>
            <a:pPr algn="l">
              <a:lnSpc>
                <a:spcPct val="130000"/>
              </a:lnSpc>
              <a:spcBef>
                <a:spcPct val="50000"/>
              </a:spcBef>
            </a:pPr>
            <a:r>
              <a:rPr lang="zh-CN" altLang="en-US" sz="2000" dirty="0">
                <a:latin typeface="楷体" panose="02010609060101010101" pitchFamily="49" charset="-122"/>
                <a:ea typeface="楷体" panose="02010609060101010101" pitchFamily="49" charset="-122"/>
                <a:cs typeface="Consolas" panose="020B0609020204030204" pitchFamily="49" charset="0"/>
              </a:rPr>
              <a:t>在顺序表</a:t>
            </a:r>
            <a:r>
              <a:rPr lang="en-US" altLang="zh-CN" sz="2000" dirty="0">
                <a:latin typeface="楷体" panose="02010609060101010101" pitchFamily="49" charset="-122"/>
                <a:ea typeface="楷体" panose="02010609060101010101" pitchFamily="49" charset="-122"/>
                <a:cs typeface="Consolas" panose="020B0609020204030204" pitchFamily="49" charset="0"/>
              </a:rPr>
              <a:t>L</a:t>
            </a:r>
            <a:r>
              <a:rPr lang="zh-CN" altLang="en-US" sz="2000" dirty="0">
                <a:latin typeface="楷体" panose="02010609060101010101" pitchFamily="49" charset="-122"/>
                <a:ea typeface="楷体" panose="02010609060101010101" pitchFamily="49" charset="-122"/>
                <a:cs typeface="Consolas" panose="020B0609020204030204" pitchFamily="49" charset="0"/>
              </a:rPr>
              <a:t>的位置</a:t>
            </a:r>
            <a:r>
              <a:rPr lang="en-US" altLang="zh-CN" sz="2000" dirty="0" err="1">
                <a:latin typeface="楷体" panose="02010609060101010101" pitchFamily="49" charset="-122"/>
                <a:ea typeface="楷体" panose="02010609060101010101" pitchFamily="49" charset="-122"/>
                <a:cs typeface="Consolas" panose="020B0609020204030204" pitchFamily="49" charset="0"/>
              </a:rPr>
              <a:t>i</a:t>
            </a:r>
            <a:r>
              <a:rPr lang="zh-CN" altLang="en-US" sz="2000" dirty="0">
                <a:latin typeface="楷体" panose="02010609060101010101" pitchFamily="49" charset="-122"/>
                <a:ea typeface="楷体" panose="02010609060101010101" pitchFamily="49" charset="-122"/>
                <a:cs typeface="Consolas" panose="020B0609020204030204" pitchFamily="49" charset="0"/>
              </a:rPr>
              <a:t>上插入新的元素</a:t>
            </a:r>
            <a:r>
              <a:rPr lang="en-US" altLang="zh-CN" sz="2000" i="1" dirty="0">
                <a:latin typeface="楷体" panose="02010609060101010101" pitchFamily="49" charset="-122"/>
                <a:ea typeface="楷体" panose="02010609060101010101" pitchFamily="49" charset="-122"/>
                <a:cs typeface="Consolas" panose="020B0609020204030204" pitchFamily="49" charset="0"/>
              </a:rPr>
              <a:t>e</a:t>
            </a:r>
            <a:r>
              <a:rPr lang="zh-CN" altLang="en-US" sz="2000" dirty="0">
                <a:latin typeface="楷体" panose="02010609060101010101" pitchFamily="49" charset="-122"/>
                <a:ea typeface="楷体" panose="02010609060101010101" pitchFamily="49" charset="-122"/>
                <a:cs typeface="Consolas" panose="020B0609020204030204" pitchFamily="49" charset="0"/>
              </a:rPr>
              <a:t>。</a:t>
            </a:r>
            <a:r>
              <a:rPr lang="en-US" altLang="zh-CN" sz="2000" dirty="0">
                <a:latin typeface="楷体" panose="02010609060101010101" pitchFamily="49" charset="-122"/>
                <a:ea typeface="楷体" panose="02010609060101010101" pitchFamily="49" charset="-122"/>
                <a:cs typeface="Consolas" panose="020B0609020204030204" pitchFamily="49" charset="0"/>
              </a:rPr>
              <a:t>    </a:t>
            </a:r>
            <a:endParaRPr lang="zh-CN" altLang="en-US" sz="2000" dirty="0">
              <a:latin typeface="楷体" panose="02010609060101010101" pitchFamily="49" charset="-122"/>
              <a:ea typeface="楷体" panose="02010609060101010101" pitchFamily="49" charset="-122"/>
              <a:cs typeface="Consolas" panose="020B0609020204030204" pitchFamily="49" charset="0"/>
            </a:endParaRPr>
          </a:p>
        </p:txBody>
      </p:sp>
      <p:sp>
        <p:nvSpPr>
          <p:cNvPr id="5" name="矩形 4">
            <a:extLst>
              <a:ext uri="{FF2B5EF4-FFF2-40B4-BE49-F238E27FC236}">
                <a16:creationId xmlns:a16="http://schemas.microsoft.com/office/drawing/2014/main" id="{7857BA7F-337B-4868-9109-E2BC4F4C220B}"/>
              </a:ext>
            </a:extLst>
          </p:cNvPr>
          <p:cNvSpPr/>
          <p:nvPr/>
        </p:nvSpPr>
        <p:spPr>
          <a:xfrm>
            <a:off x="827584" y="1556792"/>
            <a:ext cx="8064896" cy="4069447"/>
          </a:xfrm>
          <a:prstGeom prst="rect">
            <a:avLst/>
          </a:prstGeom>
        </p:spPr>
        <p:txBody>
          <a:bodyPr wrap="square">
            <a:spAutoFit/>
          </a:bodyPr>
          <a:lstStyle/>
          <a:p>
            <a:pPr>
              <a:lnSpc>
                <a:spcPts val="2600"/>
              </a:lnSpc>
            </a:pP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bool </a:t>
            </a:r>
            <a:r>
              <a:rPr kumimoji="1" lang="en-US" altLang="zh-CN" dirty="0" err="1">
                <a:solidFill>
                  <a:srgbClr val="FF0000"/>
                </a:solidFill>
                <a:latin typeface="Consolas" panose="020B0609020204030204" pitchFamily="49" charset="0"/>
                <a:ea typeface="仿宋" panose="02010609060101010101" pitchFamily="49" charset="-122"/>
                <a:cs typeface="Consolas" panose="020B0609020204030204" pitchFamily="49" charset="0"/>
              </a:rPr>
              <a:t>ListInsert</a:t>
            </a: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dirty="0" err="1">
                <a:solidFill>
                  <a:srgbClr val="0000FF"/>
                </a:solidFill>
                <a:latin typeface="Consolas" panose="020B0609020204030204" pitchFamily="49" charset="0"/>
                <a:ea typeface="仿宋" panose="02010609060101010101" pitchFamily="49" charset="-122"/>
                <a:cs typeface="Consolas" panose="020B0609020204030204" pitchFamily="49" charset="0"/>
              </a:rPr>
              <a:t>SqList</a:t>
            </a: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 *&amp;L</a:t>
            </a:r>
            <a:r>
              <a:rPr kumimoji="1" lang="zh-CN" altLang="en-US"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int </a:t>
            </a:r>
            <a:r>
              <a:rPr kumimoji="1" lang="en-US" altLang="zh-CN"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kumimoji="1" lang="zh-CN" altLang="en-US"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dirty="0" err="1">
                <a:solidFill>
                  <a:srgbClr val="0000FF"/>
                </a:solidFill>
                <a:latin typeface="Consolas" panose="020B0609020204030204" pitchFamily="49" charset="0"/>
                <a:ea typeface="仿宋" panose="02010609060101010101" pitchFamily="49" charset="-122"/>
                <a:cs typeface="Consolas" panose="020B0609020204030204" pitchFamily="49" charset="0"/>
              </a:rPr>
              <a:t>ElemType</a:t>
            </a: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 e)</a:t>
            </a:r>
          </a:p>
          <a:p>
            <a:pPr>
              <a:lnSpc>
                <a:spcPts val="2600"/>
              </a:lnSpc>
            </a:pP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a:p>
            <a:pPr>
              <a:lnSpc>
                <a:spcPts val="2600"/>
              </a:lnSpc>
            </a:pP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   int j;</a:t>
            </a:r>
          </a:p>
          <a:p>
            <a:pPr>
              <a:lnSpc>
                <a:spcPts val="2600"/>
              </a:lnSpc>
            </a:pP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   if (</a:t>
            </a:r>
            <a:r>
              <a:rPr kumimoji="1" lang="en-US" altLang="zh-CN"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&lt;0 || </a:t>
            </a:r>
            <a:r>
              <a:rPr kumimoji="1" lang="en-US" altLang="zh-CN"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&gt;L-&gt;length || L-&gt;length==</a:t>
            </a:r>
            <a:r>
              <a:rPr kumimoji="1" lang="en-US" altLang="zh-CN" dirty="0" err="1">
                <a:solidFill>
                  <a:srgbClr val="0000FF"/>
                </a:solidFill>
                <a:latin typeface="Consolas" panose="020B0609020204030204" pitchFamily="49" charset="0"/>
                <a:ea typeface="仿宋" panose="02010609060101010101" pitchFamily="49" charset="-122"/>
                <a:cs typeface="Consolas" panose="020B0609020204030204" pitchFamily="49" charset="0"/>
              </a:rPr>
              <a:t>MaxSize</a:t>
            </a: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a:p>
            <a:pPr>
              <a:lnSpc>
                <a:spcPts val="2600"/>
              </a:lnSpc>
            </a:pP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      return false;		</a:t>
            </a:r>
            <a:r>
              <a:rPr kumimoji="1" lang="en-US" altLang="zh-CN" dirty="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dirty="0">
                <a:solidFill>
                  <a:srgbClr val="00B0F0"/>
                </a:solidFill>
                <a:latin typeface="Consolas" panose="020B0609020204030204" pitchFamily="49" charset="0"/>
                <a:ea typeface="仿宋" panose="02010609060101010101" pitchFamily="49" charset="-122"/>
                <a:cs typeface="Consolas" panose="020B0609020204030204" pitchFamily="49" charset="0"/>
              </a:rPr>
              <a:t>位置非法时返回</a:t>
            </a:r>
            <a:r>
              <a:rPr kumimoji="1" lang="en-US" altLang="zh-CN" dirty="0">
                <a:solidFill>
                  <a:srgbClr val="00B0F0"/>
                </a:solidFill>
                <a:latin typeface="Consolas" panose="020B0609020204030204" pitchFamily="49" charset="0"/>
                <a:ea typeface="仿宋" panose="02010609060101010101" pitchFamily="49" charset="-122"/>
                <a:cs typeface="Consolas" panose="020B0609020204030204" pitchFamily="49" charset="0"/>
              </a:rPr>
              <a:t>false</a:t>
            </a:r>
          </a:p>
          <a:p>
            <a:pPr>
              <a:lnSpc>
                <a:spcPts val="2600"/>
              </a:lnSpc>
            </a:pP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zh-CN" altLang="en-US"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dirty="0">
                <a:solidFill>
                  <a:srgbClr val="C00000"/>
                </a:solidFill>
                <a:latin typeface="Consolas" panose="020B0609020204030204" pitchFamily="49" charset="0"/>
                <a:ea typeface="仿宋" panose="02010609060101010101" pitchFamily="49" charset="-122"/>
                <a:cs typeface="Consolas" panose="020B0609020204030204" pitchFamily="49" charset="0"/>
              </a:rPr>
              <a:t>for (j=L-&gt;</a:t>
            </a:r>
            <a:r>
              <a:rPr kumimoji="1" lang="en-US" altLang="zh-CN" dirty="0" err="1">
                <a:solidFill>
                  <a:srgbClr val="C00000"/>
                </a:solidFill>
                <a:latin typeface="Consolas" panose="020B0609020204030204" pitchFamily="49" charset="0"/>
                <a:ea typeface="仿宋" panose="02010609060101010101" pitchFamily="49" charset="-122"/>
                <a:cs typeface="Consolas" panose="020B0609020204030204" pitchFamily="49" charset="0"/>
              </a:rPr>
              <a:t>length;j</a:t>
            </a:r>
            <a:r>
              <a:rPr kumimoji="1" lang="en-US" altLang="zh-CN" dirty="0">
                <a:solidFill>
                  <a:srgbClr val="C00000"/>
                </a:solidFill>
                <a:latin typeface="Consolas" panose="020B0609020204030204" pitchFamily="49" charset="0"/>
                <a:ea typeface="仿宋" panose="02010609060101010101" pitchFamily="49" charset="-122"/>
                <a:cs typeface="Consolas" panose="020B0609020204030204" pitchFamily="49" charset="0"/>
              </a:rPr>
              <a:t>&gt;</a:t>
            </a:r>
            <a:r>
              <a:rPr kumimoji="1" lang="en-US" altLang="zh-CN" dirty="0" err="1">
                <a:solidFill>
                  <a:srgbClr val="C00000"/>
                </a:solidFill>
                <a:latin typeface="Consolas" panose="020B0609020204030204" pitchFamily="49" charset="0"/>
                <a:ea typeface="仿宋" panose="02010609060101010101" pitchFamily="49" charset="-122"/>
                <a:cs typeface="Consolas" panose="020B0609020204030204" pitchFamily="49" charset="0"/>
              </a:rPr>
              <a:t>i;j</a:t>
            </a:r>
            <a:r>
              <a:rPr kumimoji="1" lang="en-US" altLang="zh-CN" dirty="0">
                <a:solidFill>
                  <a:srgbClr val="C00000"/>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dirty="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dirty="0">
                <a:solidFill>
                  <a:srgbClr val="00B0F0"/>
                </a:solidFill>
                <a:latin typeface="Consolas" panose="020B0609020204030204" pitchFamily="49" charset="0"/>
                <a:ea typeface="仿宋" panose="02010609060101010101" pitchFamily="49" charset="-122"/>
                <a:cs typeface="Consolas" panose="020B0609020204030204" pitchFamily="49" charset="0"/>
              </a:rPr>
              <a:t>将</a:t>
            </a:r>
            <a:r>
              <a:rPr kumimoji="1" lang="en-US" altLang="zh-CN" dirty="0">
                <a:solidFill>
                  <a:srgbClr val="00B0F0"/>
                </a:solidFill>
                <a:latin typeface="Consolas" panose="020B0609020204030204" pitchFamily="49" charset="0"/>
                <a:ea typeface="仿宋" panose="02010609060101010101" pitchFamily="49" charset="-122"/>
                <a:cs typeface="Consolas" panose="020B0609020204030204" pitchFamily="49" charset="0"/>
              </a:rPr>
              <a:t>data[</a:t>
            </a:r>
            <a:r>
              <a:rPr kumimoji="1" lang="en-US" altLang="zh-CN" dirty="0">
                <a:solidFill>
                  <a:srgbClr val="00B0F0"/>
                </a:solidFill>
                <a:latin typeface="Consolas" panose="020B0609020204030204" pitchFamily="49" charset="0"/>
                <a:ea typeface="仿宋" panose="02010609060101010101" pitchFamily="49" charset="-122"/>
              </a:rPr>
              <a:t>i-1.. L-&gt;length-1]</a:t>
            </a:r>
            <a:r>
              <a:rPr kumimoji="1" lang="zh-CN" altLang="en-US" dirty="0">
                <a:solidFill>
                  <a:srgbClr val="00B0F0"/>
                </a:solidFill>
                <a:latin typeface="Consolas" panose="020B0609020204030204" pitchFamily="49" charset="0"/>
                <a:ea typeface="仿宋" panose="02010609060101010101" pitchFamily="49" charset="-122"/>
              </a:rPr>
              <a:t>元素</a:t>
            </a:r>
            <a:endParaRPr kumimoji="1" lang="en-US" altLang="zh-CN" dirty="0">
              <a:solidFill>
                <a:srgbClr val="00B0F0"/>
              </a:solidFill>
              <a:latin typeface="Consolas" panose="020B0609020204030204" pitchFamily="49" charset="0"/>
              <a:ea typeface="仿宋" panose="02010609060101010101" pitchFamily="49" charset="-122"/>
            </a:endParaRPr>
          </a:p>
          <a:p>
            <a:pPr>
              <a:lnSpc>
                <a:spcPts val="2600"/>
              </a:lnSpc>
            </a:pPr>
            <a:r>
              <a:rPr kumimoji="1" lang="en-US" altLang="zh-CN" dirty="0">
                <a:solidFill>
                  <a:srgbClr val="00B0F0"/>
                </a:solidFill>
                <a:latin typeface="Consolas" panose="020B0609020204030204" pitchFamily="49" charset="0"/>
                <a:ea typeface="仿宋" panose="02010609060101010101" pitchFamily="49" charset="-122"/>
              </a:rPr>
              <a:t>                             //</a:t>
            </a:r>
            <a:r>
              <a:rPr kumimoji="1" lang="zh-CN" altLang="en-US" dirty="0">
                <a:solidFill>
                  <a:srgbClr val="00B0F0"/>
                </a:solidFill>
                <a:latin typeface="Consolas" panose="020B0609020204030204" pitchFamily="49" charset="0"/>
                <a:ea typeface="仿宋" panose="02010609060101010101" pitchFamily="49" charset="-122"/>
              </a:rPr>
              <a:t>后移一个位置</a:t>
            </a:r>
          </a:p>
          <a:p>
            <a:pPr>
              <a:lnSpc>
                <a:spcPts val="2600"/>
              </a:lnSpc>
            </a:pPr>
            <a:r>
              <a:rPr kumimoji="1" lang="zh-CN" altLang="en-US"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dirty="0">
                <a:solidFill>
                  <a:srgbClr val="C00000"/>
                </a:solidFill>
                <a:latin typeface="Consolas" panose="020B0609020204030204" pitchFamily="49" charset="0"/>
                <a:ea typeface="仿宋" panose="02010609060101010101" pitchFamily="49" charset="-122"/>
                <a:cs typeface="Consolas" panose="020B0609020204030204" pitchFamily="49" charset="0"/>
              </a:rPr>
              <a:t>L-&gt;data[j]=L-&gt;data[j-1]</a:t>
            </a: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a:p>
            <a:pPr>
              <a:lnSpc>
                <a:spcPts val="2600"/>
              </a:lnSpc>
            </a:pP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   L-&gt;data[</a:t>
            </a:r>
            <a:r>
              <a:rPr kumimoji="1" lang="en-US" altLang="zh-CN"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]=e;			</a:t>
            </a:r>
            <a:r>
              <a:rPr kumimoji="1" lang="en-US" altLang="zh-CN" dirty="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dirty="0">
                <a:solidFill>
                  <a:srgbClr val="00B0F0"/>
                </a:solidFill>
                <a:latin typeface="Consolas" panose="020B0609020204030204" pitchFamily="49" charset="0"/>
                <a:ea typeface="仿宋" panose="02010609060101010101" pitchFamily="49" charset="-122"/>
                <a:cs typeface="Consolas" panose="020B0609020204030204" pitchFamily="49" charset="0"/>
              </a:rPr>
              <a:t>插入元素</a:t>
            </a:r>
            <a:r>
              <a:rPr kumimoji="1" lang="en-US" altLang="zh-CN" i="1" dirty="0">
                <a:solidFill>
                  <a:srgbClr val="00B0F0"/>
                </a:solidFill>
                <a:latin typeface="Consolas" panose="020B0609020204030204" pitchFamily="49" charset="0"/>
                <a:ea typeface="仿宋" panose="02010609060101010101" pitchFamily="49" charset="-122"/>
                <a:cs typeface="Consolas" panose="020B0609020204030204" pitchFamily="49" charset="0"/>
              </a:rPr>
              <a:t>e</a:t>
            </a:r>
          </a:p>
          <a:p>
            <a:pPr>
              <a:lnSpc>
                <a:spcPts val="2600"/>
              </a:lnSpc>
            </a:pP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   L-&gt;length++;			</a:t>
            </a:r>
            <a:r>
              <a:rPr kumimoji="1" lang="en-US" altLang="zh-CN" dirty="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dirty="0">
                <a:solidFill>
                  <a:srgbClr val="00B0F0"/>
                </a:solidFill>
                <a:latin typeface="Consolas" panose="020B0609020204030204" pitchFamily="49" charset="0"/>
                <a:ea typeface="仿宋" panose="02010609060101010101" pitchFamily="49" charset="-122"/>
                <a:cs typeface="Consolas" panose="020B0609020204030204" pitchFamily="49" charset="0"/>
              </a:rPr>
              <a:t>顺序表长度增</a:t>
            </a:r>
            <a:r>
              <a:rPr kumimoji="1" lang="en-US" altLang="zh-CN" dirty="0">
                <a:solidFill>
                  <a:srgbClr val="00B0F0"/>
                </a:solidFill>
                <a:latin typeface="Consolas" panose="020B0609020204030204" pitchFamily="49" charset="0"/>
                <a:ea typeface="仿宋" panose="02010609060101010101" pitchFamily="49" charset="-122"/>
                <a:cs typeface="Consolas" panose="020B0609020204030204" pitchFamily="49" charset="0"/>
              </a:rPr>
              <a:t>1</a:t>
            </a:r>
          </a:p>
          <a:p>
            <a:pPr>
              <a:lnSpc>
                <a:spcPts val="2600"/>
              </a:lnSpc>
            </a:pP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   return true;			</a:t>
            </a:r>
            <a:r>
              <a:rPr kumimoji="1" lang="en-US" altLang="zh-CN" dirty="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dirty="0">
                <a:solidFill>
                  <a:srgbClr val="00B0F0"/>
                </a:solidFill>
                <a:latin typeface="Consolas" panose="020B0609020204030204" pitchFamily="49" charset="0"/>
                <a:ea typeface="仿宋" panose="02010609060101010101" pitchFamily="49" charset="-122"/>
                <a:cs typeface="Consolas" panose="020B0609020204030204" pitchFamily="49" charset="0"/>
              </a:rPr>
              <a:t>成功插入返回</a:t>
            </a:r>
            <a:r>
              <a:rPr kumimoji="1" lang="en-US" altLang="zh-CN" dirty="0">
                <a:solidFill>
                  <a:srgbClr val="00B0F0"/>
                </a:solidFill>
                <a:latin typeface="Consolas" panose="020B0609020204030204" pitchFamily="49" charset="0"/>
                <a:ea typeface="仿宋" panose="02010609060101010101" pitchFamily="49" charset="-122"/>
                <a:cs typeface="Consolas" panose="020B0609020204030204" pitchFamily="49" charset="0"/>
              </a:rPr>
              <a:t>true</a:t>
            </a:r>
          </a:p>
          <a:p>
            <a:pPr>
              <a:lnSpc>
                <a:spcPts val="2600"/>
              </a:lnSpc>
            </a:pP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spTree>
    <p:extLst>
      <p:ext uri="{BB962C8B-B14F-4D97-AF65-F5344CB8AC3E}">
        <p14:creationId xmlns:p14="http://schemas.microsoft.com/office/powerpoint/2010/main" val="36922809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052736"/>
            <a:ext cx="7920880" cy="4968552"/>
          </a:xfrm>
        </p:spPr>
        <p:txBody>
          <a:bodyPr>
            <a:normAutofit fontScale="55000" lnSpcReduction="20000"/>
          </a:bodyPr>
          <a:lstStyle/>
          <a:p>
            <a:r>
              <a:rPr lang="en-US" altLang="zh-CN" sz="3800" dirty="0"/>
              <a:t>2. </a:t>
            </a:r>
            <a:r>
              <a:rPr lang="zh-CN" altLang="zh-CN" sz="3800" dirty="0"/>
              <a:t>追加操作</a:t>
            </a:r>
          </a:p>
          <a:p>
            <a:r>
              <a:rPr lang="en-US" altLang="zh-CN" sz="3800" b="0" dirty="0"/>
              <a:t>	</a:t>
            </a:r>
            <a:r>
              <a:rPr lang="zh-CN" altLang="zh-CN" sz="3800" dirty="0">
                <a:solidFill>
                  <a:srgbClr val="FF0000"/>
                </a:solidFill>
              </a:rPr>
              <a:t>追加操作</a:t>
            </a:r>
            <a:r>
              <a:rPr lang="zh-CN" altLang="zh-CN" sz="3800" b="0" dirty="0"/>
              <a:t>是指在</a:t>
            </a:r>
            <a:r>
              <a:rPr lang="zh-CN" altLang="en-US" sz="3800" b="0" dirty="0"/>
              <a:t>顺序</a:t>
            </a:r>
            <a:r>
              <a:rPr lang="zh-CN" altLang="zh-CN" sz="3800" b="0" dirty="0"/>
              <a:t>表的表尾插入一个数据元素。而</a:t>
            </a:r>
            <a:r>
              <a:rPr lang="zh-CN" altLang="en-US" sz="3800" b="0" dirty="0"/>
              <a:t>前面的</a:t>
            </a:r>
            <a:r>
              <a:rPr lang="zh-CN" altLang="zh-CN" sz="3800" b="0" dirty="0"/>
              <a:t>插入操作是指在</a:t>
            </a:r>
            <a:r>
              <a:rPr lang="zh-CN" altLang="en-US" sz="3800" b="0" dirty="0"/>
              <a:t>顺序</a:t>
            </a:r>
            <a:r>
              <a:rPr lang="zh-CN" altLang="zh-CN" sz="3800" b="0" dirty="0"/>
              <a:t>表中的任一位置插入数据元素。由于追加操作不需移动数据元素，所以</a:t>
            </a:r>
            <a:r>
              <a:rPr lang="zh-CN" altLang="zh-CN" sz="3800" b="0" dirty="0">
                <a:solidFill>
                  <a:srgbClr val="FF0000"/>
                </a:solidFill>
              </a:rPr>
              <a:t>时间复杂度为O(1)</a:t>
            </a:r>
            <a:r>
              <a:rPr lang="zh-CN" altLang="zh-CN" sz="3800" b="0" dirty="0"/>
              <a:t>。</a:t>
            </a:r>
          </a:p>
          <a:p>
            <a:r>
              <a:rPr lang="zh-CN" altLang="en-US" sz="3800" dirty="0"/>
              <a:t>顺序</a:t>
            </a:r>
            <a:r>
              <a:rPr lang="zh-CN" altLang="zh-CN" sz="3800" dirty="0"/>
              <a:t>表的</a:t>
            </a:r>
            <a:r>
              <a:rPr lang="zh-CN" altLang="en-US" sz="3800" dirty="0"/>
              <a:t>追加</a:t>
            </a:r>
            <a:r>
              <a:rPr lang="zh-CN" altLang="zh-CN" sz="3800" dirty="0"/>
              <a:t>操作算法实现：</a:t>
            </a:r>
            <a:endParaRPr lang="en-US" altLang="zh-CN" sz="3800" dirty="0"/>
          </a:p>
          <a:p>
            <a:pPr lvl="3" fontAlgn="base">
              <a:buNone/>
            </a:pPr>
            <a:r>
              <a:rPr lang="zh-CN" altLang="zh-CN" sz="4400" b="1" dirty="0"/>
              <a:t>算法</a:t>
            </a:r>
            <a:r>
              <a:rPr lang="en-US" altLang="zh-CN" sz="4400" b="1" dirty="0"/>
              <a:t>2.4</a:t>
            </a:r>
            <a:r>
              <a:rPr lang="zh-CN" altLang="zh-CN" sz="4400" b="1" dirty="0"/>
              <a:t>：</a:t>
            </a:r>
            <a:r>
              <a:rPr lang="zh-CN" altLang="en-US" sz="4400" b="1" dirty="0">
                <a:solidFill>
                  <a:srgbClr val="FF0000"/>
                </a:solidFill>
              </a:rPr>
              <a:t>顺序</a:t>
            </a:r>
            <a:r>
              <a:rPr lang="zh-CN" altLang="zh-CN" sz="4400" b="1" dirty="0">
                <a:solidFill>
                  <a:srgbClr val="FF0000"/>
                </a:solidFill>
              </a:rPr>
              <a:t>表的追加插入</a:t>
            </a:r>
          </a:p>
          <a:p>
            <a:pPr lvl="3" fontAlgn="base">
              <a:buNone/>
            </a:pPr>
            <a:r>
              <a:rPr lang="en-US" altLang="zh-CN" sz="4400" b="0" dirty="0"/>
              <a:t>template &lt;class Elem&gt; </a:t>
            </a:r>
          </a:p>
          <a:p>
            <a:pPr lvl="3" fontAlgn="base">
              <a:buNone/>
            </a:pPr>
            <a:r>
              <a:rPr lang="en-US" altLang="zh-CN" sz="4400" b="0" dirty="0" err="1"/>
              <a:t>bool</a:t>
            </a:r>
            <a:r>
              <a:rPr lang="en-US" altLang="zh-CN" sz="4400" b="0" dirty="0"/>
              <a:t> </a:t>
            </a:r>
            <a:r>
              <a:rPr lang="en-US" altLang="zh-CN" sz="4400" b="0" dirty="0" err="1"/>
              <a:t>Alist</a:t>
            </a:r>
            <a:r>
              <a:rPr lang="en-US" altLang="zh-CN" sz="4400" b="0" dirty="0"/>
              <a:t>&lt;Elem&gt;:: append(const Elem it) {</a:t>
            </a:r>
            <a:endParaRPr lang="zh-CN" altLang="zh-CN" sz="4400" b="0" dirty="0"/>
          </a:p>
          <a:p>
            <a:pPr lvl="3" fontAlgn="base">
              <a:buNone/>
            </a:pPr>
            <a:r>
              <a:rPr lang="en-US" altLang="zh-CN" sz="4400" b="0" dirty="0"/>
              <a:t>		if (</a:t>
            </a:r>
            <a:r>
              <a:rPr lang="en-US" altLang="zh-CN" sz="4400" b="0" dirty="0" err="1"/>
              <a:t>listSize</a:t>
            </a:r>
            <a:r>
              <a:rPr lang="en-US" altLang="zh-CN" sz="4400" b="0" dirty="0"/>
              <a:t> == </a:t>
            </a:r>
            <a:r>
              <a:rPr lang="en-US" altLang="zh-CN" sz="4400" b="0" dirty="0" err="1"/>
              <a:t>maxSize</a:t>
            </a:r>
            <a:r>
              <a:rPr lang="en-US" altLang="zh-CN" sz="4400" b="0" dirty="0"/>
              <a:t>) return false;</a:t>
            </a:r>
            <a:endParaRPr lang="zh-CN" altLang="zh-CN" sz="4400" b="0" dirty="0"/>
          </a:p>
          <a:p>
            <a:pPr lvl="3" fontAlgn="base">
              <a:buNone/>
            </a:pPr>
            <a:r>
              <a:rPr lang="en-US" altLang="zh-CN" sz="4400" b="0" dirty="0"/>
              <a:t>		</a:t>
            </a:r>
            <a:r>
              <a:rPr lang="en-US" altLang="zh-CN" sz="4400" b="0" dirty="0" err="1"/>
              <a:t>listArray</a:t>
            </a:r>
            <a:r>
              <a:rPr lang="en-US" altLang="zh-CN" sz="4400" b="0" dirty="0"/>
              <a:t>[</a:t>
            </a:r>
            <a:r>
              <a:rPr lang="en-US" altLang="zh-CN" sz="4400" b="0" dirty="0" err="1"/>
              <a:t>listSize</a:t>
            </a:r>
            <a:r>
              <a:rPr lang="en-US" altLang="zh-CN" sz="4400" b="0" dirty="0"/>
              <a:t>++] = it;</a:t>
            </a:r>
            <a:endParaRPr lang="zh-CN" altLang="zh-CN" sz="4400" b="0" dirty="0"/>
          </a:p>
          <a:p>
            <a:pPr lvl="3" fontAlgn="base">
              <a:buNone/>
            </a:pPr>
            <a:r>
              <a:rPr lang="en-US" altLang="zh-CN" sz="4400" b="0" dirty="0"/>
              <a:t>		return true</a:t>
            </a:r>
            <a:r>
              <a:rPr lang="zh-CN" altLang="en-US" sz="4400" b="0" dirty="0"/>
              <a:t>；</a:t>
            </a:r>
            <a:endParaRPr lang="zh-CN" altLang="zh-CN" sz="4400" b="0" dirty="0"/>
          </a:p>
          <a:p>
            <a:pPr lvl="3" fontAlgn="base">
              <a:buNone/>
            </a:pPr>
            <a:r>
              <a:rPr lang="en-US" altLang="zh-CN" sz="4400" b="0" dirty="0"/>
              <a:t>}</a:t>
            </a:r>
            <a:endParaRPr lang="zh-CN" altLang="zh-CN" sz="4400" b="0" dirty="0"/>
          </a:p>
          <a:p>
            <a:endParaRPr lang="zh-CN" altLang="en-US" dirty="0"/>
          </a:p>
        </p:txBody>
      </p:sp>
    </p:spTree>
    <p:extLst>
      <p:ext uri="{BB962C8B-B14F-4D97-AF65-F5344CB8AC3E}">
        <p14:creationId xmlns:p14="http://schemas.microsoft.com/office/powerpoint/2010/main" val="80181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fade">
                                      <p:cBhvr>
                                        <p:cTn id="16" dur="500"/>
                                        <p:tgtEl>
                                          <p:spTgt spid="3">
                                            <p:txEl>
                                              <p:pRg st="5" end="5"/>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fade">
                                      <p:cBhvr>
                                        <p:cTn id="19" dur="500"/>
                                        <p:tgtEl>
                                          <p:spTgt spid="3">
                                            <p:txEl>
                                              <p:pRg st="6" end="6"/>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fade">
                                      <p:cBhvr>
                                        <p:cTn id="22" dur="500"/>
                                        <p:tgtEl>
                                          <p:spTgt spid="3">
                                            <p:txEl>
                                              <p:pRg st="7" end="7"/>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animEffect transition="in" filter="fade">
                                      <p:cBhvr>
                                        <p:cTn id="25" dur="500"/>
                                        <p:tgtEl>
                                          <p:spTgt spid="3">
                                            <p:txEl>
                                              <p:pRg st="8" end="8"/>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9" end="9"/>
                                            </p:txEl>
                                          </p:spTgt>
                                        </p:tgtEl>
                                        <p:attrNameLst>
                                          <p:attrName>style.visibility</p:attrName>
                                        </p:attrNameLst>
                                      </p:cBhvr>
                                      <p:to>
                                        <p:strVal val="visible"/>
                                      </p:to>
                                    </p:set>
                                    <p:animEffect transition="in" filter="fade">
                                      <p:cBhvr>
                                        <p:cTn id="28"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27">
            <a:extLst>
              <a:ext uri="{FF2B5EF4-FFF2-40B4-BE49-F238E27FC236}">
                <a16:creationId xmlns:a16="http://schemas.microsoft.com/office/drawing/2014/main" id="{A0BCE08C-A5D6-4D6D-B6B6-1997D68ECE64}"/>
              </a:ext>
            </a:extLst>
          </p:cNvPr>
          <p:cNvSpPr txBox="1">
            <a:spLocks noChangeArrowheads="1"/>
          </p:cNvSpPr>
          <p:nvPr/>
        </p:nvSpPr>
        <p:spPr bwMode="auto">
          <a:xfrm>
            <a:off x="971600" y="836712"/>
            <a:ext cx="6665855" cy="435697"/>
          </a:xfrm>
          <a:prstGeom prst="rect">
            <a:avLst/>
          </a:prstGeom>
          <a:noFill/>
          <a:ln w="9525">
            <a:noFill/>
            <a:miter lim="800000"/>
          </a:ln>
          <a:effectLst/>
        </p:spPr>
        <p:txBody>
          <a:bodyPr>
            <a:spAutoFit/>
          </a:bodyPr>
          <a:lstStyle/>
          <a:p>
            <a:pPr algn="l">
              <a:lnSpc>
                <a:spcPct val="130000"/>
              </a:lnSpc>
              <a:spcBef>
                <a:spcPct val="50000"/>
              </a:spcBef>
            </a:pPr>
            <a:r>
              <a:rPr lang="zh-CN" altLang="en-US" sz="2000" dirty="0">
                <a:latin typeface="楷体" panose="02010609060101010101" pitchFamily="49" charset="-122"/>
                <a:ea typeface="楷体" panose="02010609060101010101" pitchFamily="49" charset="-122"/>
                <a:cs typeface="Consolas" panose="020B0609020204030204" pitchFamily="49" charset="0"/>
              </a:rPr>
              <a:t>在顺序表</a:t>
            </a:r>
            <a:r>
              <a:rPr lang="en-US" altLang="zh-CN" sz="2000" dirty="0">
                <a:latin typeface="楷体" panose="02010609060101010101" pitchFamily="49" charset="-122"/>
                <a:ea typeface="楷体" panose="02010609060101010101" pitchFamily="49" charset="-122"/>
                <a:cs typeface="Consolas" panose="020B0609020204030204" pitchFamily="49" charset="0"/>
              </a:rPr>
              <a:t>L</a:t>
            </a:r>
            <a:r>
              <a:rPr lang="zh-CN" altLang="en-US" sz="2000" dirty="0">
                <a:latin typeface="楷体" panose="02010609060101010101" pitchFamily="49" charset="-122"/>
                <a:ea typeface="楷体" panose="02010609060101010101" pitchFamily="49" charset="-122"/>
                <a:cs typeface="Consolas" panose="020B0609020204030204" pitchFamily="49" charset="0"/>
              </a:rPr>
              <a:t>上追加新的元素</a:t>
            </a:r>
            <a:r>
              <a:rPr lang="en-US" altLang="zh-CN" sz="2000" i="1" dirty="0">
                <a:latin typeface="楷体" panose="02010609060101010101" pitchFamily="49" charset="-122"/>
                <a:ea typeface="楷体" panose="02010609060101010101" pitchFamily="49" charset="-122"/>
                <a:cs typeface="Consolas" panose="020B0609020204030204" pitchFamily="49" charset="0"/>
              </a:rPr>
              <a:t>e</a:t>
            </a:r>
            <a:r>
              <a:rPr lang="zh-CN" altLang="en-US" sz="2000" dirty="0">
                <a:latin typeface="楷体" panose="02010609060101010101" pitchFamily="49" charset="-122"/>
                <a:ea typeface="楷体" panose="02010609060101010101" pitchFamily="49" charset="-122"/>
                <a:cs typeface="Consolas" panose="020B0609020204030204" pitchFamily="49" charset="0"/>
              </a:rPr>
              <a:t>。</a:t>
            </a:r>
            <a:r>
              <a:rPr lang="en-US" altLang="zh-CN" sz="2000" dirty="0">
                <a:latin typeface="楷体" panose="02010609060101010101" pitchFamily="49" charset="-122"/>
                <a:ea typeface="楷体" panose="02010609060101010101" pitchFamily="49" charset="-122"/>
                <a:cs typeface="Consolas" panose="020B0609020204030204" pitchFamily="49" charset="0"/>
              </a:rPr>
              <a:t>    </a:t>
            </a:r>
            <a:endParaRPr lang="zh-CN" altLang="en-US" sz="2000" dirty="0">
              <a:latin typeface="楷体" panose="02010609060101010101" pitchFamily="49" charset="-122"/>
              <a:ea typeface="楷体" panose="02010609060101010101" pitchFamily="49" charset="-122"/>
              <a:cs typeface="Consolas" panose="020B0609020204030204" pitchFamily="49" charset="0"/>
            </a:endParaRPr>
          </a:p>
        </p:txBody>
      </p:sp>
      <p:sp>
        <p:nvSpPr>
          <p:cNvPr id="5" name="矩形 4">
            <a:extLst>
              <a:ext uri="{FF2B5EF4-FFF2-40B4-BE49-F238E27FC236}">
                <a16:creationId xmlns:a16="http://schemas.microsoft.com/office/drawing/2014/main" id="{7857BA7F-337B-4868-9109-E2BC4F4C220B}"/>
              </a:ext>
            </a:extLst>
          </p:cNvPr>
          <p:cNvSpPr/>
          <p:nvPr/>
        </p:nvSpPr>
        <p:spPr>
          <a:xfrm>
            <a:off x="827584" y="1556792"/>
            <a:ext cx="7848872" cy="2402324"/>
          </a:xfrm>
          <a:prstGeom prst="rect">
            <a:avLst/>
          </a:prstGeom>
        </p:spPr>
        <p:txBody>
          <a:bodyPr wrap="square">
            <a:spAutoFit/>
          </a:bodyPr>
          <a:lstStyle/>
          <a:p>
            <a:pPr>
              <a:lnSpc>
                <a:spcPts val="2600"/>
              </a:lnSpc>
            </a:pP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bool </a:t>
            </a:r>
            <a:r>
              <a:rPr kumimoji="1" lang="en-US" altLang="zh-CN" dirty="0" err="1">
                <a:solidFill>
                  <a:srgbClr val="FF0000"/>
                </a:solidFill>
                <a:latin typeface="Consolas" panose="020B0609020204030204" pitchFamily="49" charset="0"/>
                <a:ea typeface="仿宋" panose="02010609060101010101" pitchFamily="49" charset="-122"/>
                <a:cs typeface="Consolas" panose="020B0609020204030204" pitchFamily="49" charset="0"/>
              </a:rPr>
              <a:t>ListAppend</a:t>
            </a: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dirty="0" err="1">
                <a:solidFill>
                  <a:srgbClr val="0000FF"/>
                </a:solidFill>
                <a:latin typeface="Consolas" panose="020B0609020204030204" pitchFamily="49" charset="0"/>
                <a:ea typeface="仿宋" panose="02010609060101010101" pitchFamily="49" charset="-122"/>
                <a:cs typeface="Consolas" panose="020B0609020204030204" pitchFamily="49" charset="0"/>
              </a:rPr>
              <a:t>SqList</a:t>
            </a: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 *&amp;L</a:t>
            </a:r>
            <a:r>
              <a:rPr kumimoji="1" lang="zh-CN" altLang="en-US"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dirty="0" err="1">
                <a:solidFill>
                  <a:srgbClr val="0000FF"/>
                </a:solidFill>
                <a:latin typeface="Consolas" panose="020B0609020204030204" pitchFamily="49" charset="0"/>
                <a:ea typeface="仿宋" panose="02010609060101010101" pitchFamily="49" charset="-122"/>
                <a:cs typeface="Consolas" panose="020B0609020204030204" pitchFamily="49" charset="0"/>
              </a:rPr>
              <a:t>ElemType</a:t>
            </a: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 e)</a:t>
            </a:r>
          </a:p>
          <a:p>
            <a:pPr>
              <a:lnSpc>
                <a:spcPts val="2600"/>
              </a:lnSpc>
            </a:pP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a:p>
            <a:pPr>
              <a:lnSpc>
                <a:spcPts val="2600"/>
              </a:lnSpc>
            </a:pP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    if (L-&gt;length==</a:t>
            </a:r>
            <a:r>
              <a:rPr kumimoji="1" lang="en-US" altLang="zh-CN" dirty="0" err="1">
                <a:solidFill>
                  <a:srgbClr val="0000FF"/>
                </a:solidFill>
                <a:latin typeface="Consolas" panose="020B0609020204030204" pitchFamily="49" charset="0"/>
                <a:ea typeface="仿宋" panose="02010609060101010101" pitchFamily="49" charset="-122"/>
                <a:cs typeface="Consolas" panose="020B0609020204030204" pitchFamily="49" charset="0"/>
              </a:rPr>
              <a:t>MaxSize</a:t>
            </a: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a:p>
            <a:pPr>
              <a:lnSpc>
                <a:spcPts val="2600"/>
              </a:lnSpc>
            </a:pP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      return false;		       </a:t>
            </a:r>
            <a:r>
              <a:rPr kumimoji="1" lang="en-US" altLang="zh-CN" dirty="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dirty="0">
                <a:solidFill>
                  <a:srgbClr val="00B0F0"/>
                </a:solidFill>
                <a:latin typeface="Consolas" panose="020B0609020204030204" pitchFamily="49" charset="0"/>
                <a:ea typeface="仿宋" panose="02010609060101010101" pitchFamily="49" charset="-122"/>
                <a:cs typeface="Consolas" panose="020B0609020204030204" pitchFamily="49" charset="0"/>
              </a:rPr>
              <a:t>溢出时返回</a:t>
            </a:r>
            <a:r>
              <a:rPr kumimoji="1" lang="en-US" altLang="zh-CN" dirty="0">
                <a:solidFill>
                  <a:srgbClr val="00B0F0"/>
                </a:solidFill>
                <a:latin typeface="Consolas" panose="020B0609020204030204" pitchFamily="49" charset="0"/>
                <a:ea typeface="仿宋" panose="02010609060101010101" pitchFamily="49" charset="-122"/>
                <a:cs typeface="Consolas" panose="020B0609020204030204" pitchFamily="49" charset="0"/>
              </a:rPr>
              <a:t>false</a:t>
            </a:r>
          </a:p>
          <a:p>
            <a:pPr>
              <a:lnSpc>
                <a:spcPts val="2600"/>
              </a:lnSpc>
            </a:pPr>
            <a:r>
              <a:rPr kumimoji="1" lang="en-US" altLang="zh-CN" dirty="0">
                <a:solidFill>
                  <a:srgbClr val="C00000"/>
                </a:solidFill>
                <a:latin typeface="Consolas" panose="020B0609020204030204" pitchFamily="49" charset="0"/>
                <a:ea typeface="仿宋" panose="02010609060101010101" pitchFamily="49" charset="-122"/>
                <a:cs typeface="Consolas" panose="020B0609020204030204" pitchFamily="49" charset="0"/>
              </a:rPr>
              <a:t>    L-&gt;data[</a:t>
            </a:r>
            <a:r>
              <a:rPr kumimoji="1" lang="en-US" altLang="zh-CN" dirty="0">
                <a:solidFill>
                  <a:srgbClr val="FF0000"/>
                </a:solidFill>
                <a:latin typeface="Consolas" panose="020B0609020204030204" pitchFamily="49" charset="0"/>
                <a:ea typeface="仿宋" panose="02010609060101010101" pitchFamily="49" charset="-122"/>
                <a:cs typeface="Consolas" panose="020B0609020204030204" pitchFamily="49" charset="0"/>
              </a:rPr>
              <a:t>L-&gt;length++</a:t>
            </a:r>
            <a:r>
              <a:rPr kumimoji="1" lang="en-US" altLang="zh-CN" dirty="0">
                <a:solidFill>
                  <a:srgbClr val="C00000"/>
                </a:solidFill>
                <a:latin typeface="Consolas" panose="020B0609020204030204" pitchFamily="49" charset="0"/>
                <a:ea typeface="仿宋" panose="02010609060101010101" pitchFamily="49" charset="-122"/>
                <a:cs typeface="Consolas" panose="020B0609020204030204" pitchFamily="49" charset="0"/>
              </a:rPr>
              <a:t>]=e</a:t>
            </a: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a:p>
            <a:pPr>
              <a:lnSpc>
                <a:spcPts val="2600"/>
              </a:lnSpc>
            </a:pP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    return true;			</a:t>
            </a:r>
            <a:r>
              <a:rPr kumimoji="1" lang="en-US" altLang="zh-CN" dirty="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dirty="0">
                <a:solidFill>
                  <a:srgbClr val="00B0F0"/>
                </a:solidFill>
                <a:latin typeface="Consolas" panose="020B0609020204030204" pitchFamily="49" charset="0"/>
                <a:ea typeface="仿宋" panose="02010609060101010101" pitchFamily="49" charset="-122"/>
                <a:cs typeface="Consolas" panose="020B0609020204030204" pitchFamily="49" charset="0"/>
              </a:rPr>
              <a:t>成功插入返回</a:t>
            </a:r>
            <a:r>
              <a:rPr kumimoji="1" lang="en-US" altLang="zh-CN" dirty="0">
                <a:solidFill>
                  <a:srgbClr val="00B0F0"/>
                </a:solidFill>
                <a:latin typeface="Consolas" panose="020B0609020204030204" pitchFamily="49" charset="0"/>
                <a:ea typeface="仿宋" panose="02010609060101010101" pitchFamily="49" charset="-122"/>
                <a:cs typeface="Consolas" panose="020B0609020204030204" pitchFamily="49" charset="0"/>
              </a:rPr>
              <a:t>true</a:t>
            </a:r>
          </a:p>
          <a:p>
            <a:pPr>
              <a:lnSpc>
                <a:spcPts val="2600"/>
              </a:lnSpc>
            </a:pP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spTree>
    <p:extLst>
      <p:ext uri="{BB962C8B-B14F-4D97-AF65-F5344CB8AC3E}">
        <p14:creationId xmlns:p14="http://schemas.microsoft.com/office/powerpoint/2010/main" val="30524966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827584" y="1268760"/>
            <a:ext cx="7848872" cy="4680520"/>
          </a:xfrm>
        </p:spPr>
        <p:txBody>
          <a:bodyPr/>
          <a:lstStyle/>
          <a:p>
            <a:r>
              <a:rPr lang="zh-CN" altLang="zh-CN" dirty="0"/>
              <a:t>3. 删除操作</a:t>
            </a:r>
          </a:p>
          <a:p>
            <a:r>
              <a:rPr lang="en-US" altLang="zh-CN" b="0" dirty="0">
                <a:latin typeface="楷体" pitchFamily="49" charset="-122"/>
              </a:rPr>
              <a:t>		</a:t>
            </a:r>
            <a:r>
              <a:rPr lang="zh-CN" altLang="en-US" dirty="0">
                <a:solidFill>
                  <a:srgbClr val="FF0000"/>
                </a:solidFill>
                <a:latin typeface="楷体" pitchFamily="49" charset="-122"/>
              </a:rPr>
              <a:t>顺序</a:t>
            </a:r>
            <a:r>
              <a:rPr lang="zh-CN" altLang="zh-CN" dirty="0">
                <a:solidFill>
                  <a:srgbClr val="FF0000"/>
                </a:solidFill>
                <a:latin typeface="楷体" pitchFamily="49" charset="-122"/>
              </a:rPr>
              <a:t>表的删除操作</a:t>
            </a:r>
            <a:r>
              <a:rPr lang="zh-CN" altLang="zh-CN" b="0" dirty="0">
                <a:latin typeface="楷体" pitchFamily="49" charset="-122"/>
              </a:rPr>
              <a:t>是指将长度为n的</a:t>
            </a:r>
            <a:r>
              <a:rPr lang="zh-CN" altLang="en-US" b="0" dirty="0">
                <a:latin typeface="楷体" pitchFamily="49" charset="-122"/>
              </a:rPr>
              <a:t>顺序</a:t>
            </a:r>
            <a:r>
              <a:rPr lang="zh-CN" altLang="zh-CN" b="0" dirty="0">
                <a:latin typeface="楷体" pitchFamily="49" charset="-122"/>
              </a:rPr>
              <a:t>表</a:t>
            </a:r>
            <a:r>
              <a:rPr lang="en-US" altLang="zh-CN" b="0" dirty="0">
                <a:latin typeface="楷体" pitchFamily="49" charset="-122"/>
              </a:rPr>
              <a:t>L</a:t>
            </a:r>
            <a:r>
              <a:rPr lang="zh-CN" altLang="zh-CN" b="0" dirty="0">
                <a:latin typeface="楷体" pitchFamily="49" charset="-122"/>
              </a:rPr>
              <a:t>中删除第i</a:t>
            </a:r>
            <a:r>
              <a:rPr lang="en-US" altLang="zh-CN" b="0" dirty="0">
                <a:latin typeface="楷体" pitchFamily="49" charset="-122"/>
              </a:rPr>
              <a:t>+1</a:t>
            </a:r>
            <a:r>
              <a:rPr lang="zh-CN" altLang="zh-CN" b="0" dirty="0">
                <a:latin typeface="楷体" pitchFamily="49" charset="-122"/>
              </a:rPr>
              <a:t>个数据元素，使其变成长度为n-1的</a:t>
            </a:r>
            <a:r>
              <a:rPr lang="zh-CN" altLang="en-US" b="0" dirty="0">
                <a:latin typeface="楷体" pitchFamily="49" charset="-122"/>
              </a:rPr>
              <a:t>顺序</a:t>
            </a:r>
            <a:r>
              <a:rPr lang="zh-CN" altLang="zh-CN" b="0" dirty="0">
                <a:latin typeface="楷体" pitchFamily="49" charset="-122"/>
              </a:rPr>
              <a:t>表L</a:t>
            </a:r>
            <a:r>
              <a:rPr lang="en-US" altLang="zh-CN" b="0" dirty="0">
                <a:latin typeface="楷体" pitchFamily="49" charset="-122"/>
              </a:rPr>
              <a:t>'</a:t>
            </a:r>
            <a:r>
              <a:rPr lang="zh-CN" altLang="en-US" b="0" dirty="0">
                <a:latin typeface="楷体" pitchFamily="49" charset="-122"/>
              </a:rPr>
              <a:t>。</a:t>
            </a:r>
            <a:endParaRPr lang="en-US" altLang="zh-CN" b="0" dirty="0">
              <a:latin typeface="楷体" pitchFamily="49" charset="-122"/>
            </a:endParaRPr>
          </a:p>
          <a:p>
            <a:r>
              <a:rPr lang="en-US" altLang="zh-CN" b="0" dirty="0">
                <a:latin typeface="楷体" pitchFamily="49" charset="-122"/>
              </a:rPr>
              <a:t>		</a:t>
            </a:r>
            <a:r>
              <a:rPr lang="zh-CN" altLang="zh-CN" b="0" dirty="0">
                <a:latin typeface="楷体" pitchFamily="49" charset="-122"/>
              </a:rPr>
              <a:t>L</a:t>
            </a:r>
            <a:r>
              <a:rPr lang="en-US" altLang="zh-CN" b="0" dirty="0">
                <a:latin typeface="楷体" pitchFamily="49" charset="-122"/>
              </a:rPr>
              <a:t> </a:t>
            </a:r>
            <a:r>
              <a:rPr lang="zh-CN" altLang="zh-CN" b="0" dirty="0">
                <a:latin typeface="楷体" pitchFamily="49" charset="-122"/>
              </a:rPr>
              <a:t>=</a:t>
            </a:r>
            <a:r>
              <a:rPr lang="en-US" altLang="zh-CN" b="0" dirty="0">
                <a:latin typeface="楷体" pitchFamily="49" charset="-122"/>
              </a:rPr>
              <a:t> (a</a:t>
            </a:r>
            <a:r>
              <a:rPr lang="en-US" altLang="zh-CN" b="0" baseline="-25000" dirty="0">
                <a:latin typeface="楷体" pitchFamily="49" charset="-122"/>
              </a:rPr>
              <a:t>0</a:t>
            </a:r>
            <a:r>
              <a:rPr lang="zh-CN" altLang="zh-CN" b="0" dirty="0">
                <a:latin typeface="楷体" pitchFamily="49" charset="-122"/>
              </a:rPr>
              <a:t>,</a:t>
            </a:r>
            <a:r>
              <a:rPr lang="en-US" altLang="zh-CN" b="0" dirty="0">
                <a:latin typeface="楷体" pitchFamily="49" charset="-122"/>
              </a:rPr>
              <a:t>a</a:t>
            </a:r>
            <a:r>
              <a:rPr lang="en-US" altLang="zh-CN" b="0" baseline="-25000" dirty="0">
                <a:latin typeface="楷体" pitchFamily="49" charset="-122"/>
              </a:rPr>
              <a:t>1</a:t>
            </a:r>
            <a:r>
              <a:rPr lang="en-US" altLang="zh-CN" b="0" dirty="0">
                <a:latin typeface="楷体" pitchFamily="49" charset="-122"/>
              </a:rPr>
              <a:t>,…,a</a:t>
            </a:r>
            <a:r>
              <a:rPr lang="en-US" altLang="zh-CN" b="0" baseline="-25000" dirty="0">
                <a:latin typeface="楷体" pitchFamily="49" charset="-122"/>
              </a:rPr>
              <a:t>i-1</a:t>
            </a:r>
            <a:r>
              <a:rPr lang="en-US" altLang="zh-CN" b="0" dirty="0">
                <a:latin typeface="楷体" pitchFamily="49" charset="-122"/>
              </a:rPr>
              <a:t>,</a:t>
            </a:r>
            <a:r>
              <a:rPr lang="en-US" altLang="zh-CN" b="0" dirty="0">
                <a:solidFill>
                  <a:srgbClr val="FF0000"/>
                </a:solidFill>
                <a:latin typeface="楷体" pitchFamily="49" charset="-122"/>
              </a:rPr>
              <a:t>a</a:t>
            </a:r>
            <a:r>
              <a:rPr lang="en-US" altLang="zh-CN" b="0" baseline="-25000" dirty="0">
                <a:solidFill>
                  <a:srgbClr val="FF0000"/>
                </a:solidFill>
                <a:latin typeface="楷体" pitchFamily="49" charset="-122"/>
              </a:rPr>
              <a:t>i</a:t>
            </a:r>
            <a:r>
              <a:rPr lang="en-US" altLang="zh-CN" b="0" dirty="0">
                <a:latin typeface="楷体" pitchFamily="49" charset="-122"/>
              </a:rPr>
              <a:t>,a</a:t>
            </a:r>
            <a:r>
              <a:rPr lang="en-US" altLang="zh-CN" b="0" baseline="-25000" dirty="0">
                <a:latin typeface="楷体" pitchFamily="49" charset="-122"/>
              </a:rPr>
              <a:t>i+1</a:t>
            </a:r>
            <a:r>
              <a:rPr lang="en-US" altLang="zh-CN" b="0" dirty="0">
                <a:latin typeface="楷体" pitchFamily="49" charset="-122"/>
              </a:rPr>
              <a:t>,…,a</a:t>
            </a:r>
            <a:r>
              <a:rPr lang="en-US" altLang="zh-CN" b="0" baseline="-25000" dirty="0">
                <a:latin typeface="楷体" pitchFamily="49" charset="-122"/>
              </a:rPr>
              <a:t>n-1</a:t>
            </a:r>
            <a:r>
              <a:rPr lang="en-US" altLang="zh-CN" b="0" dirty="0">
                <a:latin typeface="楷体" pitchFamily="49" charset="-122"/>
              </a:rPr>
              <a:t>)</a:t>
            </a:r>
          </a:p>
          <a:p>
            <a:r>
              <a:rPr lang="en-US" altLang="zh-CN" b="0" dirty="0">
                <a:latin typeface="楷体" pitchFamily="49" charset="-122"/>
              </a:rPr>
              <a:t>		</a:t>
            </a:r>
            <a:r>
              <a:rPr lang="zh-CN" altLang="zh-CN" b="0" dirty="0">
                <a:latin typeface="楷体" pitchFamily="49" charset="-122"/>
              </a:rPr>
              <a:t>L</a:t>
            </a:r>
            <a:r>
              <a:rPr lang="en-US" altLang="zh-CN" b="0" dirty="0">
                <a:latin typeface="楷体" pitchFamily="49" charset="-122"/>
              </a:rPr>
              <a:t>'</a:t>
            </a:r>
            <a:r>
              <a:rPr lang="zh-CN" altLang="zh-CN" b="0" dirty="0">
                <a:latin typeface="楷体" pitchFamily="49" charset="-122"/>
              </a:rPr>
              <a:t>=</a:t>
            </a:r>
            <a:r>
              <a:rPr lang="en-US" altLang="zh-CN" b="0" dirty="0">
                <a:latin typeface="楷体" pitchFamily="49" charset="-122"/>
              </a:rPr>
              <a:t>(a</a:t>
            </a:r>
            <a:r>
              <a:rPr lang="en-US" altLang="zh-CN" b="0" baseline="-25000" dirty="0">
                <a:latin typeface="楷体" pitchFamily="49" charset="-122"/>
              </a:rPr>
              <a:t>0</a:t>
            </a:r>
            <a:r>
              <a:rPr lang="zh-CN" altLang="zh-CN" b="0" dirty="0">
                <a:latin typeface="楷体" pitchFamily="49" charset="-122"/>
              </a:rPr>
              <a:t>,</a:t>
            </a:r>
            <a:r>
              <a:rPr lang="en-US" altLang="zh-CN" b="0" dirty="0">
                <a:latin typeface="楷体" pitchFamily="49" charset="-122"/>
              </a:rPr>
              <a:t>a</a:t>
            </a:r>
            <a:r>
              <a:rPr lang="en-US" altLang="zh-CN" b="0" baseline="-25000" dirty="0">
                <a:latin typeface="楷体" pitchFamily="49" charset="-122"/>
              </a:rPr>
              <a:t>1</a:t>
            </a:r>
            <a:r>
              <a:rPr lang="en-US" altLang="zh-CN" b="0" dirty="0">
                <a:latin typeface="楷体" pitchFamily="49" charset="-122"/>
              </a:rPr>
              <a:t>,…,a</a:t>
            </a:r>
            <a:r>
              <a:rPr lang="en-US" altLang="zh-CN" b="0" baseline="-25000" dirty="0">
                <a:latin typeface="楷体" pitchFamily="49" charset="-122"/>
              </a:rPr>
              <a:t>i-1</a:t>
            </a:r>
            <a:r>
              <a:rPr lang="en-US" altLang="zh-CN" b="0" dirty="0">
                <a:latin typeface="楷体" pitchFamily="49" charset="-122"/>
              </a:rPr>
              <a:t>,a</a:t>
            </a:r>
            <a:r>
              <a:rPr lang="en-US" altLang="zh-CN" b="0" baseline="-25000" dirty="0">
                <a:latin typeface="楷体" pitchFamily="49" charset="-122"/>
              </a:rPr>
              <a:t>i+1</a:t>
            </a:r>
            <a:r>
              <a:rPr lang="en-US" altLang="zh-CN" b="0" dirty="0">
                <a:latin typeface="楷体" pitchFamily="49" charset="-122"/>
              </a:rPr>
              <a:t>,…,a</a:t>
            </a:r>
            <a:r>
              <a:rPr lang="en-US" altLang="zh-CN" b="0" baseline="-25000" dirty="0">
                <a:latin typeface="楷体" pitchFamily="49" charset="-122"/>
              </a:rPr>
              <a:t>n-1</a:t>
            </a:r>
            <a:r>
              <a:rPr lang="en-US" altLang="zh-CN" b="0" dirty="0">
                <a:latin typeface="楷体" pitchFamily="49" charset="-122"/>
              </a:rPr>
              <a:t>)</a:t>
            </a:r>
          </a:p>
          <a:p>
            <a:endParaRPr lang="zh-CN" altLang="en-US" dirty="0"/>
          </a:p>
        </p:txBody>
      </p:sp>
      <p:sp>
        <p:nvSpPr>
          <p:cNvPr id="10035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3726385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fade">
                                      <p:cBhvr>
                                        <p:cTn id="7"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2891C3D8-CFCB-4C26-B596-8188B4CC713F}"/>
              </a:ext>
            </a:extLst>
          </p:cNvPr>
          <p:cNvGrpSpPr/>
          <p:nvPr/>
        </p:nvGrpSpPr>
        <p:grpSpPr>
          <a:xfrm>
            <a:off x="1619671" y="1425551"/>
            <a:ext cx="5400601" cy="3515617"/>
            <a:chOff x="683568" y="1196752"/>
            <a:chExt cx="7072313" cy="4722168"/>
          </a:xfrm>
        </p:grpSpPr>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3568" y="1196752"/>
              <a:ext cx="7072313" cy="402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2115934" y="5445224"/>
              <a:ext cx="3840738" cy="473696"/>
            </a:xfrm>
            <a:prstGeom prst="rect">
              <a:avLst/>
            </a:prstGeom>
          </p:spPr>
          <p:txBody>
            <a:bodyPr wrap="none">
              <a:spAutoFit/>
            </a:bodyPr>
            <a:lstStyle/>
            <a:p>
              <a:r>
                <a:rPr lang="zh-CN" altLang="en-US" dirty="0">
                  <a:latin typeface="Times New Roman" panose="02020603050405020304" pitchFamily="18" charset="0"/>
                  <a:ea typeface="楷体" panose="02010609060101010101" pitchFamily="49" charset="-122"/>
                  <a:cs typeface="Times New Roman" panose="02020603050405020304" pitchFamily="18" charset="0"/>
                </a:rPr>
                <a:t>图</a:t>
              </a:r>
              <a:r>
                <a:rPr lang="en-US" altLang="zh-CN" dirty="0">
                  <a:latin typeface="Times New Roman" panose="02020603050405020304" pitchFamily="18" charset="0"/>
                  <a:ea typeface="楷体" panose="02010609060101010101" pitchFamily="49" charset="-122"/>
                  <a:cs typeface="Times New Roman" panose="02020603050405020304" pitchFamily="18" charset="0"/>
                </a:rPr>
                <a:t>2-4 </a:t>
              </a:r>
              <a:r>
                <a:rPr lang="zh-CN" altLang="en-US" dirty="0">
                  <a:latin typeface="Times New Roman" panose="02020603050405020304" pitchFamily="18" charset="0"/>
                  <a:ea typeface="楷体" panose="02010609060101010101" pitchFamily="49" charset="-122"/>
                  <a:cs typeface="Times New Roman" panose="02020603050405020304" pitchFamily="18" charset="0"/>
                </a:rPr>
                <a:t>顺序表删除前后的状况</a:t>
              </a:r>
            </a:p>
          </p:txBody>
        </p:sp>
      </p:grpSp>
      <p:sp>
        <p:nvSpPr>
          <p:cNvPr id="6" name="文本框 5">
            <a:extLst>
              <a:ext uri="{FF2B5EF4-FFF2-40B4-BE49-F238E27FC236}">
                <a16:creationId xmlns:a16="http://schemas.microsoft.com/office/drawing/2014/main" id="{9C5E93A7-6616-43EC-BB4E-33A34291BA9A}"/>
              </a:ext>
            </a:extLst>
          </p:cNvPr>
          <p:cNvSpPr txBox="1"/>
          <p:nvPr/>
        </p:nvSpPr>
        <p:spPr>
          <a:xfrm>
            <a:off x="1115616" y="5016658"/>
            <a:ext cx="7272808" cy="1273875"/>
          </a:xfrm>
          <a:prstGeom prst="rect">
            <a:avLst/>
          </a:prstGeom>
          <a:noFill/>
        </p:spPr>
        <p:txBody>
          <a:bodyPr wrap="square">
            <a:spAutoFit/>
          </a:bodyPr>
          <a:lstStyle/>
          <a:p>
            <a:pPr>
              <a:lnSpc>
                <a:spcPct val="150000"/>
              </a:lnSpc>
            </a:pPr>
            <a:r>
              <a:rPr lang="zh-CN" altLang="zh-CN" dirty="0">
                <a:latin typeface="楷体" panose="02010609060101010101" pitchFamily="49" charset="-122"/>
                <a:ea typeface="楷体" panose="02010609060101010101" pitchFamily="49" charset="-122"/>
              </a:rPr>
              <a:t>删除操作的实现步骤：</a:t>
            </a:r>
          </a:p>
          <a:p>
            <a:pPr>
              <a:lnSpc>
                <a:spcPct val="150000"/>
              </a:lnSpc>
            </a:pPr>
            <a:r>
              <a:rPr lang="zh-CN" altLang="zh-CN" b="0" dirty="0">
                <a:latin typeface="楷体" panose="02010609060101010101" pitchFamily="49" charset="-122"/>
                <a:ea typeface="楷体" panose="02010609060101010101" pitchFamily="49" charset="-122"/>
              </a:rPr>
              <a:t>（1）在</a:t>
            </a:r>
            <a:r>
              <a:rPr lang="zh-CN" altLang="en-US" b="0" dirty="0">
                <a:latin typeface="楷体" panose="02010609060101010101" pitchFamily="49" charset="-122"/>
                <a:ea typeface="楷体" panose="02010609060101010101" pitchFamily="49" charset="-122"/>
              </a:rPr>
              <a:t>顺序</a:t>
            </a:r>
            <a:r>
              <a:rPr lang="zh-CN" altLang="zh-CN" b="0" dirty="0">
                <a:latin typeface="楷体" panose="02010609060101010101" pitchFamily="49" charset="-122"/>
                <a:ea typeface="楷体" panose="02010609060101010101" pitchFamily="49" charset="-122"/>
              </a:rPr>
              <a:t>表L中，将第i+1个至第n个数据元素依次向前移动一个位置。</a:t>
            </a:r>
          </a:p>
          <a:p>
            <a:pPr>
              <a:lnSpc>
                <a:spcPct val="150000"/>
              </a:lnSpc>
            </a:pPr>
            <a:r>
              <a:rPr lang="zh-CN" altLang="zh-CN" b="0" dirty="0">
                <a:latin typeface="楷体" panose="02010609060101010101" pitchFamily="49" charset="-122"/>
                <a:ea typeface="楷体" panose="02010609060101010101" pitchFamily="49" charset="-122"/>
              </a:rPr>
              <a:t>（2）</a:t>
            </a:r>
            <a:r>
              <a:rPr lang="zh-CN" altLang="en-US" b="0" dirty="0">
                <a:latin typeface="楷体" panose="02010609060101010101" pitchFamily="49" charset="-122"/>
                <a:ea typeface="楷体" panose="02010609060101010101" pitchFamily="49" charset="-122"/>
              </a:rPr>
              <a:t>将顺序</a:t>
            </a:r>
            <a:r>
              <a:rPr lang="zh-CN" altLang="zh-CN" b="0" dirty="0">
                <a:latin typeface="楷体" panose="02010609060101010101" pitchFamily="49" charset="-122"/>
                <a:ea typeface="楷体" panose="02010609060101010101" pitchFamily="49" charset="-122"/>
              </a:rPr>
              <a:t>表长度减1。 </a:t>
            </a:r>
          </a:p>
        </p:txBody>
      </p:sp>
      <p:sp>
        <p:nvSpPr>
          <p:cNvPr id="7" name="文本框 6">
            <a:extLst>
              <a:ext uri="{FF2B5EF4-FFF2-40B4-BE49-F238E27FC236}">
                <a16:creationId xmlns:a16="http://schemas.microsoft.com/office/drawing/2014/main" id="{5CF743F7-4A97-4B12-A171-C1BFEE430132}"/>
              </a:ext>
            </a:extLst>
          </p:cNvPr>
          <p:cNvSpPr txBox="1"/>
          <p:nvPr/>
        </p:nvSpPr>
        <p:spPr>
          <a:xfrm>
            <a:off x="1115616" y="632882"/>
            <a:ext cx="7056784" cy="707886"/>
          </a:xfrm>
          <a:prstGeom prst="rect">
            <a:avLst/>
          </a:prstGeom>
          <a:noFill/>
        </p:spPr>
        <p:txBody>
          <a:bodyPr wrap="square">
            <a:spAutoFit/>
          </a:bodyPr>
          <a:lstStyle/>
          <a:p>
            <a:r>
              <a:rPr lang="zh-CN" altLang="zh-CN" sz="2000" b="0" dirty="0">
                <a:latin typeface="楷体" panose="02010609060101010101" pitchFamily="49" charset="-122"/>
                <a:ea typeface="楷体" panose="02010609060101010101" pitchFamily="49" charset="-122"/>
              </a:rPr>
              <a:t>一个</a:t>
            </a:r>
            <a:r>
              <a:rPr lang="zh-CN" altLang="en-US" sz="2000" b="0" dirty="0">
                <a:latin typeface="楷体" panose="02010609060101010101" pitchFamily="49" charset="-122"/>
                <a:ea typeface="楷体" panose="02010609060101010101" pitchFamily="49" charset="-122"/>
              </a:rPr>
              <a:t>顺序</a:t>
            </a:r>
            <a:r>
              <a:rPr lang="zh-CN" altLang="zh-CN" sz="2000" b="0" dirty="0">
                <a:latin typeface="楷体" panose="02010609060101010101" pitchFamily="49" charset="-122"/>
                <a:ea typeface="楷体" panose="02010609060101010101" pitchFamily="49" charset="-122"/>
              </a:rPr>
              <a:t>表在进行删除操作前后其数据元素在存储空间中的位置变化如图2-4所示。</a:t>
            </a:r>
          </a:p>
        </p:txBody>
      </p:sp>
    </p:spTree>
    <p:extLst>
      <p:ext uri="{BB962C8B-B14F-4D97-AF65-F5344CB8AC3E}">
        <p14:creationId xmlns:p14="http://schemas.microsoft.com/office/powerpoint/2010/main" val="6313781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43608" y="692696"/>
            <a:ext cx="8100392" cy="5544616"/>
          </a:xfrm>
        </p:spPr>
        <p:txBody>
          <a:bodyPr>
            <a:normAutofit fontScale="92500"/>
          </a:bodyPr>
          <a:lstStyle/>
          <a:p>
            <a:pPr fontAlgn="base"/>
            <a:r>
              <a:rPr lang="zh-CN" altLang="en-US" b="0" dirty="0"/>
              <a:t>顺序</a:t>
            </a:r>
            <a:r>
              <a:rPr lang="zh-CN" altLang="zh-CN" b="0" dirty="0"/>
              <a:t>表的删除操作算法实现：</a:t>
            </a:r>
          </a:p>
          <a:p>
            <a:pPr fontAlgn="base"/>
            <a:r>
              <a:rPr lang="zh-CN" altLang="zh-CN" dirty="0"/>
              <a:t>算法</a:t>
            </a:r>
            <a:r>
              <a:rPr lang="en-US" altLang="zh-CN" dirty="0"/>
              <a:t>2.5</a:t>
            </a:r>
            <a:r>
              <a:rPr lang="zh-CN" altLang="zh-CN" dirty="0"/>
              <a:t>：</a:t>
            </a:r>
            <a:r>
              <a:rPr lang="zh-CN" altLang="zh-CN" dirty="0">
                <a:solidFill>
                  <a:srgbClr val="FF0000"/>
                </a:solidFill>
              </a:rPr>
              <a:t>线性表的删除</a:t>
            </a:r>
          </a:p>
          <a:p>
            <a:r>
              <a:rPr lang="en-US" altLang="zh-CN" b="0" dirty="0"/>
              <a:t>template &lt;class Elem&gt;	// </a:t>
            </a:r>
            <a:r>
              <a:rPr lang="zh-CN" altLang="en-US" b="0" dirty="0"/>
              <a:t>删除</a:t>
            </a:r>
            <a:r>
              <a:rPr lang="en-US" altLang="zh-CN" b="0" dirty="0" err="1"/>
              <a:t>curr</a:t>
            </a:r>
            <a:r>
              <a:rPr lang="zh-CN" altLang="en-US" b="0" dirty="0"/>
              <a:t>位置元素</a:t>
            </a:r>
            <a:r>
              <a:rPr lang="en-US" altLang="zh-CN" b="0" dirty="0"/>
              <a:t>  </a:t>
            </a:r>
            <a:endParaRPr lang="zh-CN" altLang="zh-CN" b="0" dirty="0"/>
          </a:p>
          <a:p>
            <a:r>
              <a:rPr lang="en-US" altLang="zh-CN" b="0" dirty="0" err="1"/>
              <a:t>bool</a:t>
            </a:r>
            <a:r>
              <a:rPr lang="en-US" altLang="zh-CN" b="0" dirty="0"/>
              <a:t> </a:t>
            </a:r>
            <a:r>
              <a:rPr lang="en-US" altLang="zh-CN" b="0" dirty="0" err="1"/>
              <a:t>Alist</a:t>
            </a:r>
            <a:r>
              <a:rPr lang="en-US" altLang="zh-CN" b="0" dirty="0"/>
              <a:t>&lt;Elem&gt;:: remove(Elem &amp;it) {</a:t>
            </a:r>
            <a:endParaRPr lang="zh-CN" altLang="zh-CN" b="0" dirty="0"/>
          </a:p>
          <a:p>
            <a:r>
              <a:rPr lang="en-US" altLang="zh-CN" b="0" dirty="0"/>
              <a:t>	if (</a:t>
            </a:r>
            <a:r>
              <a:rPr lang="en-US" altLang="zh-CN" b="0" dirty="0" err="1"/>
              <a:t>listSize</a:t>
            </a:r>
            <a:r>
              <a:rPr lang="en-US" altLang="zh-CN" b="0" dirty="0"/>
              <a:t> == 0) return false;</a:t>
            </a:r>
            <a:endParaRPr lang="zh-CN" altLang="zh-CN" b="0" dirty="0"/>
          </a:p>
          <a:p>
            <a:r>
              <a:rPr lang="en-US" altLang="zh-CN" b="0" dirty="0"/>
              <a:t>	if ((</a:t>
            </a:r>
            <a:r>
              <a:rPr lang="en-US" altLang="zh-CN" b="0" dirty="0" err="1"/>
              <a:t>curr</a:t>
            </a:r>
            <a:r>
              <a:rPr lang="en-US" altLang="zh-CN" b="0" dirty="0"/>
              <a:t> &lt;0) || ( </a:t>
            </a:r>
            <a:r>
              <a:rPr lang="en-US" altLang="zh-CN" b="0" dirty="0" err="1"/>
              <a:t>curr</a:t>
            </a:r>
            <a:r>
              <a:rPr lang="en-US" altLang="zh-CN" b="0" dirty="0"/>
              <a:t> &gt;= </a:t>
            </a:r>
            <a:r>
              <a:rPr lang="en-US" altLang="zh-CN" b="0" dirty="0" err="1"/>
              <a:t>listSize</a:t>
            </a:r>
            <a:r>
              <a:rPr lang="en-US" altLang="zh-CN" b="0" dirty="0"/>
              <a:t>)  return false;</a:t>
            </a:r>
            <a:endParaRPr lang="zh-CN" altLang="zh-CN" b="0" dirty="0"/>
          </a:p>
          <a:p>
            <a:r>
              <a:rPr lang="en-US" altLang="zh-CN" b="0" dirty="0"/>
              <a:t>	it = </a:t>
            </a:r>
            <a:r>
              <a:rPr lang="en-US" altLang="zh-CN" b="0" dirty="0" err="1"/>
              <a:t>listArray</a:t>
            </a:r>
            <a:r>
              <a:rPr lang="en-US" altLang="zh-CN" b="0" dirty="0"/>
              <a:t>[</a:t>
            </a:r>
            <a:r>
              <a:rPr lang="en-US" altLang="zh-CN" b="0" dirty="0" err="1"/>
              <a:t>curr</a:t>
            </a:r>
            <a:r>
              <a:rPr lang="en-US" altLang="zh-CN" b="0" dirty="0"/>
              <a:t>];</a:t>
            </a:r>
            <a:endParaRPr lang="zh-CN" altLang="zh-CN" b="0" dirty="0"/>
          </a:p>
          <a:p>
            <a:r>
              <a:rPr lang="en-US" altLang="zh-CN" b="0" dirty="0"/>
              <a:t>	for (</a:t>
            </a:r>
            <a:r>
              <a:rPr lang="en-US" altLang="zh-CN" b="0" dirty="0" err="1"/>
              <a:t>int</a:t>
            </a:r>
            <a:r>
              <a:rPr lang="en-US" altLang="zh-CN" b="0" dirty="0"/>
              <a:t> </a:t>
            </a:r>
            <a:r>
              <a:rPr lang="en-US" altLang="zh-CN" b="0" dirty="0" err="1"/>
              <a:t>i</a:t>
            </a:r>
            <a:r>
              <a:rPr lang="en-US" altLang="zh-CN" b="0" dirty="0"/>
              <a:t>=</a:t>
            </a:r>
            <a:r>
              <a:rPr lang="en-US" altLang="zh-CN" b="0" dirty="0" err="1"/>
              <a:t>curr</a:t>
            </a:r>
            <a:r>
              <a:rPr lang="en-US" altLang="zh-CN" b="0" dirty="0"/>
              <a:t>; </a:t>
            </a:r>
            <a:r>
              <a:rPr lang="en-US" altLang="zh-CN" b="0" dirty="0" err="1"/>
              <a:t>i</a:t>
            </a:r>
            <a:r>
              <a:rPr lang="en-US" altLang="zh-CN" b="0" dirty="0"/>
              <a:t>&lt;listSize-1; </a:t>
            </a:r>
            <a:r>
              <a:rPr lang="en-US" altLang="zh-CN" b="0" dirty="0" err="1"/>
              <a:t>i</a:t>
            </a:r>
            <a:r>
              <a:rPr lang="en-US" altLang="zh-CN" b="0" dirty="0"/>
              <a:t>++)    </a:t>
            </a:r>
            <a:r>
              <a:rPr lang="en-US" altLang="zh-CN" b="0" dirty="0" err="1"/>
              <a:t>listArray</a:t>
            </a:r>
            <a:r>
              <a:rPr lang="en-US" altLang="zh-CN" b="0" dirty="0"/>
              <a:t>[</a:t>
            </a:r>
            <a:r>
              <a:rPr lang="en-US" altLang="zh-CN" b="0" dirty="0" err="1"/>
              <a:t>i</a:t>
            </a:r>
            <a:r>
              <a:rPr lang="en-US" altLang="zh-CN" b="0" dirty="0"/>
              <a:t>] = </a:t>
            </a:r>
            <a:r>
              <a:rPr lang="en-US" altLang="zh-CN" b="0" dirty="0" err="1"/>
              <a:t>listArray</a:t>
            </a:r>
            <a:r>
              <a:rPr lang="en-US" altLang="zh-CN" b="0" dirty="0"/>
              <a:t>[i+1];</a:t>
            </a:r>
            <a:endParaRPr lang="zh-CN" altLang="zh-CN" b="0" dirty="0"/>
          </a:p>
          <a:p>
            <a:r>
              <a:rPr lang="en-US" altLang="zh-CN" b="0" dirty="0"/>
              <a:t>	</a:t>
            </a:r>
            <a:r>
              <a:rPr lang="en-US" altLang="zh-CN" b="0" dirty="0" err="1"/>
              <a:t>listSize</a:t>
            </a:r>
            <a:r>
              <a:rPr lang="en-US" altLang="zh-CN" b="0" dirty="0"/>
              <a:t>--;</a:t>
            </a:r>
            <a:endParaRPr lang="zh-CN" altLang="zh-CN" b="0" dirty="0"/>
          </a:p>
          <a:p>
            <a:r>
              <a:rPr lang="en-US" altLang="zh-CN" b="0" dirty="0"/>
              <a:t>	return true;</a:t>
            </a:r>
            <a:endParaRPr lang="zh-CN" altLang="zh-CN" b="0" dirty="0"/>
          </a:p>
          <a:p>
            <a:r>
              <a:rPr lang="en-US" altLang="zh-CN" b="0" dirty="0"/>
              <a:t>}</a:t>
            </a:r>
            <a:endParaRPr lang="zh-CN" altLang="zh-CN" b="0" dirty="0"/>
          </a:p>
        </p:txBody>
      </p:sp>
    </p:spTree>
    <p:extLst>
      <p:ext uri="{BB962C8B-B14F-4D97-AF65-F5344CB8AC3E}">
        <p14:creationId xmlns:p14="http://schemas.microsoft.com/office/powerpoint/2010/main" val="4084931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5BEABD-C3C0-4FAA-9E79-916B15E5A123}"/>
              </a:ext>
            </a:extLst>
          </p:cNvPr>
          <p:cNvSpPr>
            <a:spLocks noGrp="1"/>
          </p:cNvSpPr>
          <p:nvPr>
            <p:ph type="title"/>
          </p:nvPr>
        </p:nvSpPr>
        <p:spPr/>
        <p:txBody>
          <a:bodyPr/>
          <a:lstStyle/>
          <a:p>
            <a:r>
              <a:rPr lang="zh-CN" altLang="en-US" sz="2400" dirty="0">
                <a:latin typeface="Consolas" panose="020B0609020204030204" pitchFamily="49" charset="0"/>
                <a:ea typeface="楷体" panose="02010609060101010101" pitchFamily="49" charset="-122"/>
                <a:cs typeface="Consolas" panose="020B0609020204030204" pitchFamily="49" charset="0"/>
              </a:rPr>
              <a:t>删除顺序表</a:t>
            </a:r>
            <a:r>
              <a:rPr lang="en-US" altLang="zh-CN" sz="2400" cap="none" dirty="0">
                <a:latin typeface="Consolas" panose="020B0609020204030204" pitchFamily="49" charset="0"/>
                <a:ea typeface="楷体" panose="02010609060101010101" pitchFamily="49" charset="-122"/>
                <a:cs typeface="Consolas" panose="020B0609020204030204" pitchFamily="49" charset="0"/>
              </a:rPr>
              <a:t>L</a:t>
            </a:r>
            <a:r>
              <a:rPr lang="zh-CN" altLang="en-US" sz="2400" cap="none" dirty="0">
                <a:latin typeface="楷体" panose="02010609060101010101" pitchFamily="49" charset="-122"/>
                <a:ea typeface="楷体" panose="02010609060101010101" pitchFamily="49" charset="-122"/>
                <a:cs typeface="Consolas" panose="020B0609020204030204" pitchFamily="49" charset="0"/>
              </a:rPr>
              <a:t>位置</a:t>
            </a:r>
            <a:r>
              <a:rPr lang="en-US" altLang="zh-CN" sz="2400" cap="none" dirty="0" err="1">
                <a:latin typeface="楷体" panose="02010609060101010101" pitchFamily="49" charset="-122"/>
                <a:ea typeface="楷体" panose="02010609060101010101" pitchFamily="49" charset="-122"/>
                <a:cs typeface="Consolas" panose="020B0609020204030204" pitchFamily="49" charset="0"/>
              </a:rPr>
              <a:t>i</a:t>
            </a:r>
            <a:r>
              <a:rPr lang="zh-CN" altLang="en-US" sz="2400" cap="none" dirty="0">
                <a:latin typeface="楷体" panose="02010609060101010101" pitchFamily="49" charset="-122"/>
                <a:ea typeface="楷体" panose="02010609060101010101" pitchFamily="49" charset="-122"/>
                <a:cs typeface="Consolas" panose="020B0609020204030204" pitchFamily="49" charset="0"/>
              </a:rPr>
              <a:t>上的元素</a:t>
            </a:r>
            <a:endParaRPr lang="zh-CN" altLang="en-US" sz="2400" cap="none" dirty="0"/>
          </a:p>
        </p:txBody>
      </p:sp>
      <p:sp>
        <p:nvSpPr>
          <p:cNvPr id="5" name="矩形 4">
            <a:extLst>
              <a:ext uri="{FF2B5EF4-FFF2-40B4-BE49-F238E27FC236}">
                <a16:creationId xmlns:a16="http://schemas.microsoft.com/office/drawing/2014/main" id="{D2D29817-7D32-428C-8735-912068CC08CD}"/>
              </a:ext>
            </a:extLst>
          </p:cNvPr>
          <p:cNvSpPr/>
          <p:nvPr/>
        </p:nvSpPr>
        <p:spPr>
          <a:xfrm>
            <a:off x="771486" y="1556792"/>
            <a:ext cx="8048986" cy="4069447"/>
          </a:xfrm>
          <a:prstGeom prst="rect">
            <a:avLst/>
          </a:prstGeom>
        </p:spPr>
        <p:txBody>
          <a:bodyPr wrap="square">
            <a:spAutoFit/>
          </a:bodyPr>
          <a:lstStyle/>
          <a:p>
            <a:pPr>
              <a:lnSpc>
                <a:spcPts val="2600"/>
              </a:lnSpc>
            </a:pP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bool </a:t>
            </a:r>
            <a:r>
              <a:rPr kumimoji="1" lang="en-US" altLang="zh-CN" dirty="0" err="1">
                <a:solidFill>
                  <a:srgbClr val="FF0000"/>
                </a:solidFill>
                <a:latin typeface="Consolas" panose="020B0609020204030204" pitchFamily="49" charset="0"/>
                <a:ea typeface="仿宋" panose="02010609060101010101" pitchFamily="49" charset="-122"/>
                <a:cs typeface="Consolas" panose="020B0609020204030204" pitchFamily="49" charset="0"/>
              </a:rPr>
              <a:t>ListDelete</a:t>
            </a: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dirty="0" err="1">
                <a:solidFill>
                  <a:srgbClr val="0000FF"/>
                </a:solidFill>
                <a:latin typeface="Consolas" panose="020B0609020204030204" pitchFamily="49" charset="0"/>
                <a:ea typeface="仿宋" panose="02010609060101010101" pitchFamily="49" charset="-122"/>
                <a:cs typeface="Consolas" panose="020B0609020204030204" pitchFamily="49" charset="0"/>
              </a:rPr>
              <a:t>SqList</a:t>
            </a: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 *&amp;L</a:t>
            </a:r>
            <a:r>
              <a:rPr kumimoji="1" lang="zh-CN" altLang="en-US"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int </a:t>
            </a:r>
            <a:r>
              <a:rPr kumimoji="1" lang="en-US" altLang="zh-CN"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kumimoji="1" lang="zh-CN" altLang="en-US"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dirty="0" err="1">
                <a:solidFill>
                  <a:srgbClr val="0000FF"/>
                </a:solidFill>
                <a:latin typeface="Consolas" panose="020B0609020204030204" pitchFamily="49" charset="0"/>
                <a:ea typeface="仿宋" panose="02010609060101010101" pitchFamily="49" charset="-122"/>
                <a:cs typeface="Consolas" panose="020B0609020204030204" pitchFamily="49" charset="0"/>
              </a:rPr>
              <a:t>ElemType</a:t>
            </a: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 &amp;e)</a:t>
            </a:r>
          </a:p>
          <a:p>
            <a:pPr>
              <a:lnSpc>
                <a:spcPts val="2600"/>
              </a:lnSpc>
            </a:pP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a:p>
            <a:pPr>
              <a:lnSpc>
                <a:spcPts val="2600"/>
              </a:lnSpc>
            </a:pP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   int j;</a:t>
            </a:r>
          </a:p>
          <a:p>
            <a:pPr>
              <a:lnSpc>
                <a:spcPts val="2600"/>
              </a:lnSpc>
            </a:pP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   if (</a:t>
            </a:r>
            <a:r>
              <a:rPr kumimoji="1" lang="en-US" altLang="zh-CN"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&lt;0 || </a:t>
            </a:r>
            <a:r>
              <a:rPr kumimoji="1" lang="en-US" altLang="zh-CN"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&gt;L-&gt;length-1)	       </a:t>
            </a:r>
            <a:r>
              <a:rPr kumimoji="1" lang="en-US" altLang="zh-CN" dirty="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dirty="0">
                <a:solidFill>
                  <a:srgbClr val="00B0F0"/>
                </a:solidFill>
                <a:latin typeface="Consolas" panose="020B0609020204030204" pitchFamily="49" charset="0"/>
                <a:ea typeface="仿宋" panose="02010609060101010101" pitchFamily="49" charset="-122"/>
                <a:cs typeface="Consolas" panose="020B0609020204030204" pitchFamily="49" charset="0"/>
              </a:rPr>
              <a:t>位置错误时返回</a:t>
            </a:r>
            <a:r>
              <a:rPr kumimoji="1" lang="en-US" altLang="zh-CN" dirty="0">
                <a:solidFill>
                  <a:srgbClr val="00B0F0"/>
                </a:solidFill>
                <a:latin typeface="Consolas" panose="020B0609020204030204" pitchFamily="49" charset="0"/>
                <a:ea typeface="仿宋" panose="02010609060101010101" pitchFamily="49" charset="-122"/>
                <a:cs typeface="Consolas" panose="020B0609020204030204" pitchFamily="49" charset="0"/>
              </a:rPr>
              <a:t>false</a:t>
            </a:r>
          </a:p>
          <a:p>
            <a:pPr>
              <a:lnSpc>
                <a:spcPts val="2600"/>
              </a:lnSpc>
            </a:pP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      return false;</a:t>
            </a:r>
          </a:p>
          <a:p>
            <a:pPr>
              <a:lnSpc>
                <a:spcPts val="2600"/>
              </a:lnSpc>
            </a:pP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   e=L-&gt;data[</a:t>
            </a:r>
            <a:r>
              <a:rPr kumimoji="1" lang="en-US" altLang="zh-CN"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a:p>
            <a:pPr>
              <a:lnSpc>
                <a:spcPts val="2600"/>
              </a:lnSpc>
            </a:pP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dirty="0">
                <a:solidFill>
                  <a:srgbClr val="C00000"/>
                </a:solidFill>
                <a:latin typeface="Consolas" panose="020B0609020204030204" pitchFamily="49" charset="0"/>
                <a:ea typeface="仿宋" panose="02010609060101010101" pitchFamily="49" charset="-122"/>
                <a:cs typeface="Consolas" panose="020B0609020204030204" pitchFamily="49" charset="0"/>
              </a:rPr>
              <a:t>for (j=</a:t>
            </a:r>
            <a:r>
              <a:rPr kumimoji="1" lang="en-US" altLang="zh-CN" dirty="0" err="1">
                <a:solidFill>
                  <a:srgbClr val="C00000"/>
                </a:solidFill>
                <a:latin typeface="Consolas" panose="020B0609020204030204" pitchFamily="49" charset="0"/>
                <a:ea typeface="仿宋" panose="02010609060101010101" pitchFamily="49" charset="-122"/>
                <a:cs typeface="Consolas" panose="020B0609020204030204" pitchFamily="49" charset="0"/>
              </a:rPr>
              <a:t>i;j</a:t>
            </a:r>
            <a:r>
              <a:rPr kumimoji="1" lang="en-US" altLang="zh-CN" dirty="0">
                <a:solidFill>
                  <a:srgbClr val="C00000"/>
                </a:solidFill>
                <a:latin typeface="Consolas" panose="020B0609020204030204" pitchFamily="49" charset="0"/>
                <a:ea typeface="仿宋" panose="02010609060101010101" pitchFamily="49" charset="-122"/>
                <a:cs typeface="Consolas" panose="020B0609020204030204" pitchFamily="49" charset="0"/>
              </a:rPr>
              <a:t>&lt;L-&gt;length-1;j++)   </a:t>
            </a:r>
            <a:r>
              <a:rPr kumimoji="1" lang="en-US" altLang="zh-CN" dirty="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dirty="0">
                <a:solidFill>
                  <a:srgbClr val="00B0F0"/>
                </a:solidFill>
                <a:latin typeface="Consolas" panose="020B0609020204030204" pitchFamily="49" charset="0"/>
                <a:ea typeface="仿宋" panose="02010609060101010101" pitchFamily="49" charset="-122"/>
                <a:cs typeface="Consolas" panose="020B0609020204030204" pitchFamily="49" charset="0"/>
              </a:rPr>
              <a:t>将</a:t>
            </a:r>
            <a:r>
              <a:rPr kumimoji="1" lang="en-US" altLang="zh-CN" dirty="0">
                <a:solidFill>
                  <a:srgbClr val="00B0F0"/>
                </a:solidFill>
                <a:latin typeface="Consolas" panose="020B0609020204030204" pitchFamily="49" charset="0"/>
                <a:ea typeface="仿宋" panose="02010609060101010101" pitchFamily="49" charset="-122"/>
                <a:cs typeface="Consolas" panose="020B0609020204030204" pitchFamily="49" charset="0"/>
              </a:rPr>
              <a:t>data[i+1</a:t>
            </a:r>
            <a:r>
              <a:rPr kumimoji="1" lang="en-US" altLang="zh-CN" dirty="0">
                <a:solidFill>
                  <a:srgbClr val="00B0F0"/>
                </a:solidFill>
                <a:latin typeface="Consolas" panose="020B0609020204030204" pitchFamily="49" charset="0"/>
                <a:ea typeface="仿宋" panose="02010609060101010101" pitchFamily="49" charset="-122"/>
              </a:rPr>
              <a:t>.. L-&gt;length-1]</a:t>
            </a:r>
          </a:p>
          <a:p>
            <a:pPr>
              <a:lnSpc>
                <a:spcPts val="2600"/>
              </a:lnSpc>
            </a:pPr>
            <a:r>
              <a:rPr kumimoji="1" lang="en-US" altLang="zh-CN" dirty="0">
                <a:solidFill>
                  <a:srgbClr val="00B0F0"/>
                </a:solidFill>
                <a:latin typeface="Consolas" panose="020B0609020204030204" pitchFamily="49" charset="0"/>
                <a:ea typeface="仿宋" panose="02010609060101010101" pitchFamily="49" charset="-122"/>
              </a:rPr>
              <a:t>                                 //</a:t>
            </a:r>
            <a:r>
              <a:rPr kumimoji="1" lang="zh-CN" altLang="en-US" dirty="0">
                <a:solidFill>
                  <a:srgbClr val="00B0F0"/>
                </a:solidFill>
                <a:latin typeface="Consolas" panose="020B0609020204030204" pitchFamily="49" charset="0"/>
                <a:ea typeface="仿宋" panose="02010609060101010101" pitchFamily="49" charset="-122"/>
              </a:rPr>
              <a:t>元素前移</a:t>
            </a:r>
          </a:p>
          <a:p>
            <a:pPr>
              <a:lnSpc>
                <a:spcPts val="2600"/>
              </a:lnSpc>
            </a:pPr>
            <a:r>
              <a:rPr kumimoji="1" lang="zh-CN" altLang="en-US"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dirty="0">
                <a:solidFill>
                  <a:srgbClr val="C00000"/>
                </a:solidFill>
                <a:latin typeface="Consolas" panose="020B0609020204030204" pitchFamily="49" charset="0"/>
                <a:ea typeface="仿宋" panose="02010609060101010101" pitchFamily="49" charset="-122"/>
                <a:cs typeface="Consolas" panose="020B0609020204030204" pitchFamily="49" charset="0"/>
              </a:rPr>
              <a:t>L-&gt;data[j] = L-&gt;data[j+1];</a:t>
            </a:r>
          </a:p>
          <a:p>
            <a:pPr>
              <a:lnSpc>
                <a:spcPts val="2600"/>
              </a:lnSpc>
            </a:pP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   L-&gt;length--;			</a:t>
            </a:r>
            <a:r>
              <a:rPr kumimoji="1" lang="en-US" altLang="zh-CN" dirty="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dirty="0">
                <a:solidFill>
                  <a:srgbClr val="00B0F0"/>
                </a:solidFill>
                <a:latin typeface="Consolas" panose="020B0609020204030204" pitchFamily="49" charset="0"/>
                <a:ea typeface="仿宋" panose="02010609060101010101" pitchFamily="49" charset="-122"/>
                <a:cs typeface="Consolas" panose="020B0609020204030204" pitchFamily="49" charset="0"/>
              </a:rPr>
              <a:t>顺序表长度减</a:t>
            </a:r>
            <a:r>
              <a:rPr kumimoji="1" lang="en-US" altLang="zh-CN" dirty="0">
                <a:solidFill>
                  <a:srgbClr val="00B0F0"/>
                </a:solidFill>
                <a:latin typeface="Consolas" panose="020B0609020204030204" pitchFamily="49" charset="0"/>
                <a:ea typeface="仿宋" panose="02010609060101010101" pitchFamily="49" charset="-122"/>
                <a:cs typeface="Consolas" panose="020B0609020204030204" pitchFamily="49" charset="0"/>
              </a:rPr>
              <a:t>1</a:t>
            </a:r>
          </a:p>
          <a:p>
            <a:pPr>
              <a:lnSpc>
                <a:spcPts val="2600"/>
              </a:lnSpc>
            </a:pP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   return true;			</a:t>
            </a:r>
            <a:r>
              <a:rPr kumimoji="1" lang="en-US" altLang="zh-CN" dirty="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dirty="0">
                <a:solidFill>
                  <a:srgbClr val="00B0F0"/>
                </a:solidFill>
                <a:latin typeface="Consolas" panose="020B0609020204030204" pitchFamily="49" charset="0"/>
                <a:ea typeface="仿宋" panose="02010609060101010101" pitchFamily="49" charset="-122"/>
                <a:cs typeface="Consolas" panose="020B0609020204030204" pitchFamily="49" charset="0"/>
              </a:rPr>
              <a:t>成功删除返回</a:t>
            </a:r>
            <a:r>
              <a:rPr kumimoji="1" lang="en-US" altLang="zh-CN" dirty="0">
                <a:solidFill>
                  <a:srgbClr val="00B0F0"/>
                </a:solidFill>
                <a:latin typeface="Consolas" panose="020B0609020204030204" pitchFamily="49" charset="0"/>
                <a:ea typeface="仿宋" panose="02010609060101010101" pitchFamily="49" charset="-122"/>
                <a:cs typeface="Consolas" panose="020B0609020204030204" pitchFamily="49" charset="0"/>
              </a:rPr>
              <a:t>true</a:t>
            </a:r>
          </a:p>
          <a:p>
            <a:pPr>
              <a:lnSpc>
                <a:spcPts val="2600"/>
              </a:lnSpc>
            </a:pPr>
            <a:r>
              <a:rPr kumimoji="1" lang="en-US" altLang="zh-CN"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spTree>
    <p:extLst>
      <p:ext uri="{BB962C8B-B14F-4D97-AF65-F5344CB8AC3E}">
        <p14:creationId xmlns:p14="http://schemas.microsoft.com/office/powerpoint/2010/main" val="39101034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39752" y="4581128"/>
            <a:ext cx="4083091" cy="14401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内容占位符 3"/>
          <p:cNvSpPr>
            <a:spLocks noGrp="1"/>
          </p:cNvSpPr>
          <p:nvPr>
            <p:ph idx="1"/>
          </p:nvPr>
        </p:nvSpPr>
        <p:spPr>
          <a:xfrm>
            <a:off x="395536" y="908720"/>
            <a:ext cx="8391306" cy="4299929"/>
          </a:xfrm>
        </p:spPr>
        <p:txBody>
          <a:bodyPr>
            <a:normAutofit/>
          </a:bodyPr>
          <a:lstStyle/>
          <a:p>
            <a:pPr algn="just"/>
            <a:r>
              <a:rPr lang="en-US" altLang="zh-CN" b="0" dirty="0"/>
              <a:t>4.</a:t>
            </a:r>
            <a:r>
              <a:rPr lang="zh-CN" altLang="en-US" b="0" dirty="0"/>
              <a:t>时间复杂度分析</a:t>
            </a:r>
            <a:endParaRPr lang="en-US" altLang="zh-CN" b="0" dirty="0"/>
          </a:p>
          <a:p>
            <a:pPr algn="just"/>
            <a:r>
              <a:rPr lang="en-US" altLang="zh-CN" b="0" dirty="0"/>
              <a:t>	</a:t>
            </a:r>
            <a:r>
              <a:rPr lang="zh-CN" altLang="en-US" b="0" dirty="0"/>
              <a:t>假设</a:t>
            </a:r>
            <a:r>
              <a:rPr lang="en-US" altLang="zh-CN" b="0" dirty="0">
                <a:solidFill>
                  <a:srgbClr val="FF0000"/>
                </a:solidFill>
              </a:rPr>
              <a:t>p</a:t>
            </a:r>
            <a:r>
              <a:rPr lang="en-US" altLang="zh-CN" b="0" baseline="-25000" dirty="0">
                <a:solidFill>
                  <a:srgbClr val="FF0000"/>
                </a:solidFill>
              </a:rPr>
              <a:t>i</a:t>
            </a:r>
            <a:r>
              <a:rPr lang="zh-CN" altLang="en-US" b="0" dirty="0"/>
              <a:t>是在线性表</a:t>
            </a:r>
            <a:r>
              <a:rPr lang="en-US" altLang="zh-CN" b="0" dirty="0"/>
              <a:t>L</a:t>
            </a:r>
            <a:r>
              <a:rPr lang="zh-CN" altLang="en-US" b="0" dirty="0"/>
              <a:t>中的第</a:t>
            </a:r>
            <a:r>
              <a:rPr lang="en-US" altLang="zh-CN" b="0" dirty="0" err="1"/>
              <a:t>i</a:t>
            </a:r>
            <a:r>
              <a:rPr lang="zh-CN" altLang="en-US" b="0" dirty="0"/>
              <a:t>个数据元素之前插入一个数据元素的概率。</a:t>
            </a:r>
            <a:endParaRPr lang="en-US" altLang="zh-CN" b="0" dirty="0"/>
          </a:p>
          <a:p>
            <a:pPr algn="just"/>
            <a:r>
              <a:rPr lang="zh-CN" altLang="en-US" b="0" dirty="0"/>
              <a:t>    在长度为</a:t>
            </a:r>
            <a:r>
              <a:rPr lang="en-US" altLang="zh-CN" b="0" dirty="0"/>
              <a:t>n</a:t>
            </a:r>
            <a:r>
              <a:rPr lang="zh-CN" altLang="en-US" b="0" dirty="0"/>
              <a:t>的线性表</a:t>
            </a:r>
            <a:r>
              <a:rPr lang="en-US" altLang="zh-CN" b="0" dirty="0"/>
              <a:t>L</a:t>
            </a:r>
            <a:r>
              <a:rPr lang="zh-CN" altLang="en-US" b="0" dirty="0"/>
              <a:t>中，在第</a:t>
            </a:r>
            <a:r>
              <a:rPr lang="en-US" altLang="zh-CN" b="0" dirty="0" err="1"/>
              <a:t>i</a:t>
            </a:r>
            <a:r>
              <a:rPr lang="zh-CN" altLang="en-US" b="0" dirty="0"/>
              <a:t>个数据元素之前插入一个数据元素的移动次数为：</a:t>
            </a:r>
            <a:r>
              <a:rPr lang="en-US" altLang="zh-CN" b="0" dirty="0"/>
              <a:t>n-i+1</a:t>
            </a:r>
            <a:r>
              <a:rPr lang="zh-CN" altLang="en-US" b="0" dirty="0"/>
              <a:t>。</a:t>
            </a:r>
            <a:endParaRPr lang="en-US" altLang="zh-CN" b="0" dirty="0"/>
          </a:p>
          <a:p>
            <a:pPr algn="just"/>
            <a:r>
              <a:rPr lang="en-US" altLang="zh-CN" b="0" dirty="0"/>
              <a:t>    </a:t>
            </a:r>
            <a:r>
              <a:rPr lang="zh-CN" altLang="en-US" b="0" dirty="0"/>
              <a:t>这样，在线性表</a:t>
            </a:r>
            <a:r>
              <a:rPr lang="en-US" altLang="zh-CN" b="0" dirty="0"/>
              <a:t>L</a:t>
            </a:r>
            <a:r>
              <a:rPr lang="zh-CN" altLang="en-US" b="0" dirty="0"/>
              <a:t>中插入数据元素时所需移动数据元素的期望值</a:t>
            </a:r>
            <a:r>
              <a:rPr lang="en-US" altLang="zh-CN" b="0" dirty="0"/>
              <a:t>(</a:t>
            </a:r>
            <a:r>
              <a:rPr lang="zh-CN" altLang="en-US" b="0" dirty="0"/>
              <a:t>平均次数</a:t>
            </a:r>
            <a:r>
              <a:rPr lang="en-US" altLang="zh-CN" b="0" dirty="0"/>
              <a:t>)</a:t>
            </a:r>
            <a:r>
              <a:rPr lang="zh-CN" altLang="en-US" b="0" dirty="0"/>
              <a:t>为：</a:t>
            </a:r>
          </a:p>
        </p:txBody>
      </p:sp>
    </p:spTree>
    <p:extLst>
      <p:ext uri="{BB962C8B-B14F-4D97-AF65-F5344CB8AC3E}">
        <p14:creationId xmlns:p14="http://schemas.microsoft.com/office/powerpoint/2010/main" val="16253626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67544" y="4365104"/>
            <a:ext cx="8064896" cy="830997"/>
          </a:xfrm>
          <a:prstGeom prst="rect">
            <a:avLst/>
          </a:prstGeom>
        </p:spPr>
        <p:txBody>
          <a:bodyPr wrap="square">
            <a:spAutoFit/>
          </a:bodyPr>
          <a:lstStyle/>
          <a:p>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在通常情况下，假定在线性表L中任何位置插入或删除数据元素是等概率的，则</a:t>
            </a:r>
          </a:p>
        </p:txBody>
      </p:sp>
      <p:pic>
        <p:nvPicPr>
          <p:cNvPr id="13315"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02946" y="5196101"/>
            <a:ext cx="3148322" cy="11132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内容占位符 5"/>
          <p:cNvSpPr>
            <a:spLocks noGrp="1"/>
          </p:cNvSpPr>
          <p:nvPr>
            <p:ph idx="1"/>
          </p:nvPr>
        </p:nvSpPr>
        <p:spPr>
          <a:xfrm>
            <a:off x="251520" y="980728"/>
            <a:ext cx="8424936" cy="2448273"/>
          </a:xfrm>
        </p:spPr>
        <p:txBody>
          <a:bodyPr>
            <a:normAutofit/>
          </a:bodyPr>
          <a:lstStyle/>
          <a:p>
            <a:pPr algn="just"/>
            <a:r>
              <a:rPr lang="zh-CN" altLang="en-US" b="0" dirty="0"/>
              <a:t>  假设</a:t>
            </a:r>
            <a:r>
              <a:rPr lang="en-US" altLang="zh-CN" b="0" dirty="0" err="1"/>
              <a:t>q</a:t>
            </a:r>
            <a:r>
              <a:rPr lang="en-US" altLang="zh-CN" b="0" baseline="-25000" dirty="0" err="1"/>
              <a:t>i</a:t>
            </a:r>
            <a:r>
              <a:rPr lang="zh-CN" altLang="en-US" b="0" dirty="0"/>
              <a:t>是删除线性表</a:t>
            </a:r>
            <a:r>
              <a:rPr lang="en-US" altLang="zh-CN" b="0" dirty="0"/>
              <a:t>L</a:t>
            </a:r>
            <a:r>
              <a:rPr lang="zh-CN" altLang="en-US" b="0" dirty="0"/>
              <a:t>中的第</a:t>
            </a:r>
            <a:r>
              <a:rPr lang="en-US" altLang="zh-CN" b="0" dirty="0" err="1"/>
              <a:t>i</a:t>
            </a:r>
            <a:r>
              <a:rPr lang="zh-CN" altLang="en-US" b="0" dirty="0"/>
              <a:t>个数据元素的概率。</a:t>
            </a:r>
            <a:endParaRPr lang="en-US" altLang="zh-CN" b="0" dirty="0"/>
          </a:p>
          <a:p>
            <a:pPr algn="just"/>
            <a:r>
              <a:rPr lang="zh-CN" altLang="en-US" b="0" dirty="0"/>
              <a:t>  在长度为</a:t>
            </a:r>
            <a:r>
              <a:rPr lang="en-US" altLang="zh-CN" b="0" dirty="0"/>
              <a:t>n</a:t>
            </a:r>
            <a:r>
              <a:rPr lang="zh-CN" altLang="en-US" b="0" dirty="0"/>
              <a:t>的线性表</a:t>
            </a:r>
            <a:r>
              <a:rPr lang="en-US" altLang="zh-CN" b="0" dirty="0"/>
              <a:t>L</a:t>
            </a:r>
            <a:r>
              <a:rPr lang="zh-CN" altLang="en-US" b="0" dirty="0"/>
              <a:t>中，删除第</a:t>
            </a:r>
            <a:r>
              <a:rPr lang="en-US" altLang="zh-CN" b="0" dirty="0" err="1"/>
              <a:t>i</a:t>
            </a:r>
            <a:r>
              <a:rPr lang="zh-CN" altLang="en-US" b="0" dirty="0"/>
              <a:t>个数据元素的移动次数为</a:t>
            </a:r>
            <a:r>
              <a:rPr lang="en-US" altLang="zh-CN" b="0" dirty="0"/>
              <a:t>n-</a:t>
            </a:r>
            <a:r>
              <a:rPr lang="en-US" altLang="zh-CN" b="0" dirty="0" err="1"/>
              <a:t>i</a:t>
            </a:r>
            <a:r>
              <a:rPr lang="zh-CN" altLang="en-US" b="0" dirty="0"/>
              <a:t>。</a:t>
            </a:r>
            <a:endParaRPr lang="en-US" altLang="zh-CN" b="0" dirty="0"/>
          </a:p>
          <a:p>
            <a:pPr marL="179388" indent="-179388" algn="just"/>
            <a:r>
              <a:rPr lang="en-US" altLang="zh-CN" b="0" dirty="0"/>
              <a:t>  </a:t>
            </a:r>
            <a:r>
              <a:rPr lang="zh-CN" altLang="en-US" b="0" dirty="0"/>
              <a:t>因此，在线性表</a:t>
            </a:r>
            <a:r>
              <a:rPr lang="en-US" altLang="zh-CN" b="0" dirty="0"/>
              <a:t>L</a:t>
            </a:r>
            <a:r>
              <a:rPr lang="zh-CN" altLang="en-US" b="0" dirty="0"/>
              <a:t>中删除一个数据元素时所需移动数据元素的期望值</a:t>
            </a:r>
            <a:r>
              <a:rPr lang="en-US" altLang="zh-CN" b="0" dirty="0"/>
              <a:t>(</a:t>
            </a:r>
            <a:r>
              <a:rPr lang="zh-CN" altLang="en-US" b="0" dirty="0"/>
              <a:t>平均次数</a:t>
            </a:r>
            <a:r>
              <a:rPr lang="en-US" altLang="zh-CN" b="0" dirty="0"/>
              <a:t>)</a:t>
            </a:r>
            <a:r>
              <a:rPr lang="zh-CN" altLang="en-US" b="0" dirty="0"/>
              <a:t>为：</a:t>
            </a:r>
          </a:p>
          <a:p>
            <a:endParaRPr lang="zh-CN" altLang="en-US" b="0" dirty="0"/>
          </a:p>
        </p:txBody>
      </p:sp>
      <p:sp>
        <p:nvSpPr>
          <p:cNvPr id="819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8193" name="Picture 1"/>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2428860" y="3220518"/>
            <a:ext cx="3071834" cy="1065738"/>
          </a:xfrm>
          <a:prstGeom prst="rect">
            <a:avLst/>
          </a:prstGeom>
          <a:noFill/>
        </p:spPr>
      </p:pic>
    </p:spTree>
    <p:extLst>
      <p:ext uri="{BB962C8B-B14F-4D97-AF65-F5344CB8AC3E}">
        <p14:creationId xmlns:p14="http://schemas.microsoft.com/office/powerpoint/2010/main" val="20066695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43608" y="1196752"/>
            <a:ext cx="7520940" cy="3579849"/>
          </a:xfrm>
        </p:spPr>
        <p:txBody>
          <a:bodyPr/>
          <a:lstStyle/>
          <a:p>
            <a:r>
              <a:rPr lang="zh-CN" altLang="zh-CN" dirty="0"/>
              <a:t>所以，</a:t>
            </a:r>
          </a:p>
          <a:p>
            <a:endParaRPr lang="zh-CN" altLang="en-US" dirty="0"/>
          </a:p>
        </p:txBody>
      </p:sp>
      <p:pic>
        <p:nvPicPr>
          <p:cNvPr id="1433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28662" y="2143116"/>
            <a:ext cx="7491029" cy="26342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665981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251520" y="980728"/>
            <a:ext cx="8424936" cy="5040560"/>
          </a:xfrm>
        </p:spPr>
        <p:txBody>
          <a:bodyPr>
            <a:noAutofit/>
          </a:bodyPr>
          <a:lstStyle/>
          <a:p>
            <a:pPr>
              <a:lnSpc>
                <a:spcPct val="200000"/>
              </a:lnSpc>
            </a:pPr>
            <a:r>
              <a:rPr lang="zh-CN" altLang="en-US" sz="2800" dirty="0"/>
              <a:t>线性表的顺序存储结构特点：</a:t>
            </a:r>
            <a:endParaRPr lang="en-US" altLang="zh-CN" sz="2800" dirty="0"/>
          </a:p>
          <a:p>
            <a:pPr>
              <a:lnSpc>
                <a:spcPct val="150000"/>
              </a:lnSpc>
            </a:pPr>
            <a:r>
              <a:rPr lang="zh-CN" altLang="en-US" sz="2800" dirty="0"/>
              <a:t>优点</a:t>
            </a:r>
            <a:r>
              <a:rPr lang="zh-CN" altLang="en-US" sz="2800" b="0" dirty="0"/>
              <a:t>：数据读取方便，可实现随机存取，操作简单；</a:t>
            </a:r>
            <a:endParaRPr lang="en-US" altLang="zh-CN" sz="2800" b="0" dirty="0"/>
          </a:p>
          <a:p>
            <a:pPr>
              <a:lnSpc>
                <a:spcPct val="200000"/>
              </a:lnSpc>
            </a:pPr>
            <a:r>
              <a:rPr lang="zh-CN" altLang="en-US" sz="2800" dirty="0"/>
              <a:t>缺点</a:t>
            </a:r>
            <a:r>
              <a:rPr lang="zh-CN" altLang="en-US" sz="2800" b="0" dirty="0"/>
              <a:t>：</a:t>
            </a:r>
            <a:endParaRPr lang="en-US" altLang="zh-CN" sz="2800" b="0" dirty="0"/>
          </a:p>
          <a:p>
            <a:pPr marL="457200" indent="-457200" algn="just">
              <a:buFont typeface="Wingdings" panose="05000000000000000000" pitchFamily="2" charset="2"/>
              <a:buChar char="Ø"/>
            </a:pPr>
            <a:r>
              <a:rPr lang="zh-CN" altLang="en-US" sz="2800" b="0" dirty="0"/>
              <a:t>插入、删除操作不方便，为保持连续存放，需要移动大量元素，平均约需要移动一半数据元素；</a:t>
            </a:r>
            <a:endParaRPr lang="en-US" altLang="zh-CN" sz="2800" b="0" dirty="0"/>
          </a:p>
          <a:p>
            <a:pPr marL="457200" indent="-457200" algn="just">
              <a:buFont typeface="Wingdings" panose="05000000000000000000" pitchFamily="2" charset="2"/>
              <a:buChar char="Ø"/>
            </a:pPr>
            <a:r>
              <a:rPr lang="zh-CN" altLang="en-US" sz="2800" b="0" dirty="0"/>
              <a:t>空间扩展代价高。</a:t>
            </a:r>
            <a:endParaRPr lang="en-US" altLang="zh-CN" sz="2800" b="0" dirty="0"/>
          </a:p>
        </p:txBody>
      </p:sp>
      <p:sp>
        <p:nvSpPr>
          <p:cNvPr id="819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138551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8AACED62-67B7-4543-8BA1-8009B0A61219}"/>
              </a:ext>
            </a:extLst>
          </p:cNvPr>
          <p:cNvSpPr txBox="1">
            <a:spLocks noChangeArrowheads="1"/>
          </p:cNvSpPr>
          <p:nvPr/>
        </p:nvSpPr>
        <p:spPr bwMode="auto">
          <a:xfrm>
            <a:off x="986486" y="1048334"/>
            <a:ext cx="7848872" cy="1689565"/>
          </a:xfrm>
          <a:prstGeom prst="rect">
            <a:avLst/>
          </a:prstGeom>
          <a:noFill/>
          <a:ln w="9525">
            <a:noFill/>
            <a:miter lim="800000"/>
          </a:ln>
          <a:effectLst/>
        </p:spPr>
        <p:txBody>
          <a:bodyPr wrap="square">
            <a:spAutoFit/>
          </a:bodyPr>
          <a:lstStyle/>
          <a:p>
            <a:pPr algn="just">
              <a:lnSpc>
                <a:spcPct val="150000"/>
              </a:lnSpc>
              <a:spcBef>
                <a:spcPct val="50000"/>
              </a:spcBef>
            </a:pPr>
            <a:r>
              <a:rPr kumimoji="1" lang="en-US" altLang="zh-CN" sz="2400" dirty="0">
                <a:solidFill>
                  <a:srgbClr val="FF3300"/>
                </a:solidFill>
                <a:latin typeface="Consolas" panose="020B0609020204030204" pitchFamily="49" charset="0"/>
                <a:ea typeface="楷体" panose="02010609060101010101" pitchFamily="49" charset="-122"/>
                <a:cs typeface="Consolas" panose="020B0609020204030204" pitchFamily="49" charset="0"/>
              </a:rPr>
              <a:t>【</a:t>
            </a:r>
            <a:r>
              <a:rPr kumimoji="1" lang="zh-CN" altLang="en-US" sz="2400" dirty="0">
                <a:solidFill>
                  <a:srgbClr val="FF3300"/>
                </a:solidFill>
                <a:latin typeface="Consolas" panose="020B0609020204030204" pitchFamily="49" charset="0"/>
                <a:ea typeface="楷体" panose="02010609060101010101" pitchFamily="49" charset="-122"/>
                <a:cs typeface="Consolas" panose="020B0609020204030204" pitchFamily="49" charset="0"/>
              </a:rPr>
              <a:t>例</a:t>
            </a:r>
            <a:r>
              <a:rPr kumimoji="1" lang="en-US" altLang="zh-CN" sz="2400" dirty="0">
                <a:solidFill>
                  <a:srgbClr val="FF3300"/>
                </a:solidFill>
                <a:latin typeface="Consolas" panose="020B0609020204030204" pitchFamily="49" charset="0"/>
                <a:ea typeface="楷体" panose="02010609060101010101" pitchFamily="49" charset="-122"/>
                <a:cs typeface="Consolas" panose="020B0609020204030204" pitchFamily="49" charset="0"/>
              </a:rPr>
              <a:t>】</a:t>
            </a:r>
            <a:r>
              <a:rPr kumimoji="1" lang="zh-CN" altLang="en-US" sz="2400" dirty="0">
                <a:latin typeface="Consolas" panose="020B0609020204030204" pitchFamily="49" charset="0"/>
                <a:ea typeface="楷体" panose="02010609060101010101" pitchFamily="49" charset="-122"/>
                <a:cs typeface="Consolas" panose="020B0609020204030204" pitchFamily="49" charset="0"/>
              </a:rPr>
              <a:t>已知长度为</a:t>
            </a:r>
            <a:r>
              <a:rPr kumimoji="1" lang="en-US" altLang="zh-CN" sz="2400" i="1" dirty="0">
                <a:latin typeface="Consolas" panose="020B0609020204030204" pitchFamily="49" charset="0"/>
                <a:ea typeface="楷体" panose="02010609060101010101" pitchFamily="49" charset="-122"/>
                <a:cs typeface="Consolas" panose="020B0609020204030204" pitchFamily="49" charset="0"/>
              </a:rPr>
              <a:t>n</a:t>
            </a:r>
            <a:r>
              <a:rPr kumimoji="1" lang="zh-CN" altLang="en-US" sz="2400" dirty="0">
                <a:latin typeface="Consolas" panose="020B0609020204030204" pitchFamily="49" charset="0"/>
                <a:ea typeface="楷体" panose="02010609060101010101" pitchFamily="49" charset="-122"/>
                <a:cs typeface="Consolas" panose="020B0609020204030204" pitchFamily="49" charset="0"/>
              </a:rPr>
              <a:t>的线性表</a:t>
            </a:r>
            <a:r>
              <a:rPr kumimoji="1" lang="en-US" altLang="zh-CN" sz="2400" dirty="0">
                <a:latin typeface="Consolas" panose="020B0609020204030204" pitchFamily="49" charset="0"/>
                <a:ea typeface="楷体" panose="02010609060101010101" pitchFamily="49" charset="-122"/>
                <a:cs typeface="Consolas" panose="020B0609020204030204" pitchFamily="49" charset="0"/>
              </a:rPr>
              <a:t>L</a:t>
            </a:r>
            <a:r>
              <a:rPr kumimoji="1" lang="zh-CN" altLang="en-US" sz="2400" dirty="0">
                <a:latin typeface="Consolas" panose="020B0609020204030204" pitchFamily="49" charset="0"/>
                <a:ea typeface="楷体" panose="02010609060101010101" pitchFamily="49" charset="-122"/>
                <a:cs typeface="Consolas" panose="020B0609020204030204" pitchFamily="49" charset="0"/>
              </a:rPr>
              <a:t>采用顺序存储结构。设计一个</a:t>
            </a:r>
            <a:r>
              <a:rPr kumimoji="1" lang="zh-CN" altLang="en-US" sz="2400" dirty="0">
                <a:solidFill>
                  <a:srgbClr val="FF0000"/>
                </a:solidFill>
                <a:latin typeface="Consolas" panose="020B0609020204030204" pitchFamily="49" charset="0"/>
                <a:ea typeface="楷体" panose="02010609060101010101" pitchFamily="49" charset="-122"/>
                <a:cs typeface="Consolas" panose="020B0609020204030204" pitchFamily="49" charset="0"/>
              </a:rPr>
              <a:t>时间复杂度为</a:t>
            </a:r>
            <a:r>
              <a:rPr kumimoji="1" lang="en-US" altLang="zh-CN" sz="2400" dirty="0">
                <a:solidFill>
                  <a:srgbClr val="FF0000"/>
                </a:solidFill>
                <a:latin typeface="Consolas" panose="020B0609020204030204" pitchFamily="49" charset="0"/>
                <a:ea typeface="楷体" panose="02010609060101010101" pitchFamily="49" charset="-122"/>
                <a:cs typeface="Consolas" panose="020B0609020204030204" pitchFamily="49" charset="0"/>
              </a:rPr>
              <a:t>O(</a:t>
            </a:r>
            <a:r>
              <a:rPr kumimoji="1" lang="en-US" altLang="zh-CN" sz="2400" i="1" dirty="0">
                <a:solidFill>
                  <a:srgbClr val="FF0000"/>
                </a:solidFill>
                <a:latin typeface="Consolas" panose="020B0609020204030204" pitchFamily="49" charset="0"/>
                <a:ea typeface="楷体" panose="02010609060101010101" pitchFamily="49" charset="-122"/>
                <a:cs typeface="Consolas" panose="020B0609020204030204" pitchFamily="49" charset="0"/>
              </a:rPr>
              <a:t>n</a:t>
            </a:r>
            <a:r>
              <a:rPr kumimoji="1" lang="en-US" altLang="zh-CN" sz="2400" dirty="0">
                <a:solidFill>
                  <a:srgbClr val="FF0000"/>
                </a:solidFill>
                <a:latin typeface="Consolas" panose="020B0609020204030204" pitchFamily="49" charset="0"/>
                <a:ea typeface="楷体" panose="02010609060101010101" pitchFamily="49" charset="-122"/>
                <a:cs typeface="Consolas" panose="020B0609020204030204" pitchFamily="49" charset="0"/>
              </a:rPr>
              <a:t>)</a:t>
            </a:r>
            <a:r>
              <a:rPr kumimoji="1" lang="zh-CN" altLang="en-US" sz="2400" dirty="0">
                <a:solidFill>
                  <a:srgbClr val="FF0000"/>
                </a:solidFill>
                <a:latin typeface="Consolas" panose="020B0609020204030204" pitchFamily="49" charset="0"/>
                <a:ea typeface="楷体" panose="02010609060101010101" pitchFamily="49" charset="-122"/>
                <a:cs typeface="Consolas" panose="020B0609020204030204" pitchFamily="49" charset="0"/>
              </a:rPr>
              <a:t>、空间复杂度为</a:t>
            </a:r>
            <a:r>
              <a:rPr kumimoji="1" lang="en-US" altLang="zh-CN" sz="2400" dirty="0">
                <a:solidFill>
                  <a:srgbClr val="FF0000"/>
                </a:solidFill>
                <a:latin typeface="Consolas" panose="020B0609020204030204" pitchFamily="49" charset="0"/>
                <a:ea typeface="楷体" panose="02010609060101010101" pitchFamily="49" charset="-122"/>
                <a:cs typeface="Consolas" panose="020B0609020204030204" pitchFamily="49" charset="0"/>
              </a:rPr>
              <a:t>O(1)</a:t>
            </a:r>
            <a:r>
              <a:rPr kumimoji="1" lang="zh-CN" altLang="en-US" sz="2400" dirty="0">
                <a:latin typeface="Consolas" panose="020B0609020204030204" pitchFamily="49" charset="0"/>
                <a:ea typeface="楷体" panose="02010609060101010101" pitchFamily="49" charset="-122"/>
                <a:cs typeface="Consolas" panose="020B0609020204030204" pitchFamily="49" charset="0"/>
              </a:rPr>
              <a:t>的算法，该算法删除线性表中所有值为</a:t>
            </a:r>
            <a:r>
              <a:rPr kumimoji="1" lang="en-US" altLang="zh-CN" sz="2400" i="1" dirty="0">
                <a:latin typeface="Consolas" panose="020B0609020204030204" pitchFamily="49" charset="0"/>
                <a:ea typeface="楷体" panose="02010609060101010101" pitchFamily="49" charset="-122"/>
                <a:cs typeface="Consolas" panose="020B0609020204030204" pitchFamily="49" charset="0"/>
              </a:rPr>
              <a:t>x</a:t>
            </a:r>
            <a:r>
              <a:rPr kumimoji="1" lang="zh-CN" altLang="en-US" sz="2400" dirty="0">
                <a:latin typeface="Consolas" panose="020B0609020204030204" pitchFamily="49" charset="0"/>
                <a:ea typeface="楷体" panose="02010609060101010101" pitchFamily="49" charset="-122"/>
                <a:cs typeface="Consolas" panose="020B0609020204030204" pitchFamily="49" charset="0"/>
              </a:rPr>
              <a:t>的数据元素。</a:t>
            </a:r>
            <a:r>
              <a:rPr kumimoji="1" lang="zh-CN" altLang="en-US" sz="2400" dirty="0">
                <a:solidFill>
                  <a:srgbClr val="FF3300"/>
                </a:solidFill>
                <a:latin typeface="Consolas" panose="020B0609020204030204" pitchFamily="49" charset="0"/>
                <a:ea typeface="楷体" panose="02010609060101010101" pitchFamily="49" charset="-122"/>
                <a:cs typeface="Consolas" panose="020B0609020204030204" pitchFamily="49" charset="0"/>
              </a:rPr>
              <a:t>       </a:t>
            </a:r>
          </a:p>
        </p:txBody>
      </p:sp>
      <p:sp>
        <p:nvSpPr>
          <p:cNvPr id="5" name="TextBox 7">
            <a:extLst>
              <a:ext uri="{FF2B5EF4-FFF2-40B4-BE49-F238E27FC236}">
                <a16:creationId xmlns:a16="http://schemas.microsoft.com/office/drawing/2014/main" id="{E01C7C17-24B0-442E-AD5A-B024F6373A6F}"/>
              </a:ext>
            </a:extLst>
          </p:cNvPr>
          <p:cNvSpPr txBox="1"/>
          <p:nvPr/>
        </p:nvSpPr>
        <p:spPr>
          <a:xfrm>
            <a:off x="3303210" y="3226283"/>
            <a:ext cx="3348334" cy="398780"/>
          </a:xfrm>
          <a:prstGeom prst="rect">
            <a:avLst/>
          </a:prstGeom>
          <a:noFill/>
        </p:spPr>
        <p:txBody>
          <a:bodyPr wrap="square" rtlCol="0">
            <a:spAutoFit/>
          </a:bodyPr>
          <a:lstStyle/>
          <a:p>
            <a:pPr algn="l"/>
            <a:r>
              <a:rPr lang="en-US" altLang="zh-CN" sz="2000">
                <a:latin typeface="Consolas" panose="020B0609020204030204" pitchFamily="49" charset="0"/>
                <a:cs typeface="Consolas" panose="020B0609020204030204" pitchFamily="49" charset="0"/>
              </a:rPr>
              <a:t>L=</a:t>
            </a:r>
            <a:r>
              <a:rPr lang="zh-CN" altLang="en-US" sz="2000">
                <a:latin typeface="Consolas" panose="020B0609020204030204" pitchFamily="49" charset="0"/>
                <a:cs typeface="Consolas" panose="020B0609020204030204" pitchFamily="49" charset="0"/>
              </a:rPr>
              <a:t>（</a:t>
            </a:r>
            <a:r>
              <a:rPr lang="en-US" altLang="zh-CN" sz="2000">
                <a:latin typeface="Consolas" panose="020B0609020204030204" pitchFamily="49" charset="0"/>
                <a:cs typeface="Consolas" panose="020B0609020204030204" pitchFamily="49" charset="0"/>
              </a:rPr>
              <a:t>1,2,1,2,3,2</a:t>
            </a:r>
            <a:r>
              <a:rPr lang="zh-CN" altLang="en-US" sz="2000">
                <a:latin typeface="Consolas" panose="020B0609020204030204" pitchFamily="49" charset="0"/>
                <a:cs typeface="Consolas" panose="020B0609020204030204" pitchFamily="49" charset="0"/>
              </a:rPr>
              <a:t>），</a:t>
            </a:r>
            <a:r>
              <a:rPr lang="en-US" altLang="zh-CN" sz="2000" i="1">
                <a:latin typeface="Consolas" panose="020B0609020204030204" pitchFamily="49" charset="0"/>
                <a:cs typeface="Consolas" panose="020B0609020204030204" pitchFamily="49" charset="0"/>
              </a:rPr>
              <a:t>x</a:t>
            </a:r>
            <a:r>
              <a:rPr lang="en-US" altLang="zh-CN" sz="2000">
                <a:latin typeface="Consolas" panose="020B0609020204030204" pitchFamily="49" charset="0"/>
                <a:cs typeface="Consolas" panose="020B0609020204030204" pitchFamily="49" charset="0"/>
              </a:rPr>
              <a:t>=2</a:t>
            </a:r>
            <a:endParaRPr lang="zh-CN" altLang="en-US" sz="2000">
              <a:latin typeface="Consolas" panose="020B0609020204030204" pitchFamily="49" charset="0"/>
              <a:cs typeface="Consolas" panose="020B0609020204030204" pitchFamily="49" charset="0"/>
            </a:endParaRPr>
          </a:p>
        </p:txBody>
      </p:sp>
      <p:sp>
        <p:nvSpPr>
          <p:cNvPr id="6" name="TextBox 8">
            <a:extLst>
              <a:ext uri="{FF2B5EF4-FFF2-40B4-BE49-F238E27FC236}">
                <a16:creationId xmlns:a16="http://schemas.microsoft.com/office/drawing/2014/main" id="{5D0AA38C-9502-4B1D-9603-21DBE6EB8A82}"/>
              </a:ext>
            </a:extLst>
          </p:cNvPr>
          <p:cNvSpPr txBox="1"/>
          <p:nvPr/>
        </p:nvSpPr>
        <p:spPr>
          <a:xfrm>
            <a:off x="3779912" y="4120102"/>
            <a:ext cx="1913334" cy="398780"/>
          </a:xfrm>
          <a:prstGeom prst="rect">
            <a:avLst/>
          </a:prstGeom>
          <a:noFill/>
        </p:spPr>
        <p:txBody>
          <a:bodyPr wrap="square" rtlCol="0">
            <a:spAutoFit/>
          </a:bodyPr>
          <a:lstStyle/>
          <a:p>
            <a:pPr algn="l"/>
            <a:r>
              <a:rPr lang="en-US" altLang="zh-CN" sz="2000">
                <a:latin typeface="Consolas" panose="020B0609020204030204" pitchFamily="49" charset="0"/>
                <a:cs typeface="Consolas" panose="020B0609020204030204" pitchFamily="49" charset="0"/>
              </a:rPr>
              <a:t>L=</a:t>
            </a:r>
            <a:r>
              <a:rPr lang="zh-CN" altLang="en-US" sz="2000">
                <a:latin typeface="Consolas" panose="020B0609020204030204" pitchFamily="49" charset="0"/>
                <a:cs typeface="Consolas" panose="020B0609020204030204" pitchFamily="49" charset="0"/>
              </a:rPr>
              <a:t>（</a:t>
            </a:r>
            <a:r>
              <a:rPr lang="en-US" altLang="zh-CN" sz="2000">
                <a:latin typeface="Consolas" panose="020B0609020204030204" pitchFamily="49" charset="0"/>
                <a:cs typeface="Consolas" panose="020B0609020204030204" pitchFamily="49" charset="0"/>
              </a:rPr>
              <a:t>1,1,3</a:t>
            </a:r>
            <a:r>
              <a:rPr lang="zh-CN" altLang="en-US" sz="2000">
                <a:latin typeface="Consolas" panose="020B0609020204030204" pitchFamily="49" charset="0"/>
                <a:cs typeface="Consolas" panose="020B0609020204030204" pitchFamily="49" charset="0"/>
              </a:rPr>
              <a:t>）</a:t>
            </a:r>
          </a:p>
        </p:txBody>
      </p:sp>
      <p:sp>
        <p:nvSpPr>
          <p:cNvPr id="7" name="下箭头 9">
            <a:extLst>
              <a:ext uri="{FF2B5EF4-FFF2-40B4-BE49-F238E27FC236}">
                <a16:creationId xmlns:a16="http://schemas.microsoft.com/office/drawing/2014/main" id="{62F9B446-5F94-4236-94C4-B9B04820146F}"/>
              </a:ext>
            </a:extLst>
          </p:cNvPr>
          <p:cNvSpPr/>
          <p:nvPr/>
        </p:nvSpPr>
        <p:spPr>
          <a:xfrm>
            <a:off x="4572000" y="3693818"/>
            <a:ext cx="205000" cy="357528"/>
          </a:xfrm>
          <a:prstGeom prst="down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sz="2000"/>
          </a:p>
        </p:txBody>
      </p:sp>
    </p:spTree>
    <p:extLst>
      <p:ext uri="{BB962C8B-B14F-4D97-AF65-F5344CB8AC3E}">
        <p14:creationId xmlns:p14="http://schemas.microsoft.com/office/powerpoint/2010/main" val="7829456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a:extLst>
              <a:ext uri="{FF2B5EF4-FFF2-40B4-BE49-F238E27FC236}">
                <a16:creationId xmlns:a16="http://schemas.microsoft.com/office/drawing/2014/main" id="{55CB74DF-5E92-4387-A414-74290E04795F}"/>
              </a:ext>
            </a:extLst>
          </p:cNvPr>
          <p:cNvSpPr txBox="1">
            <a:spLocks noChangeArrowheads="1"/>
          </p:cNvSpPr>
          <p:nvPr/>
        </p:nvSpPr>
        <p:spPr bwMode="auto">
          <a:xfrm>
            <a:off x="611560" y="1340768"/>
            <a:ext cx="5274776" cy="461665"/>
          </a:xfrm>
          <a:prstGeom prst="rect">
            <a:avLst/>
          </a:prstGeom>
          <a:noFill/>
          <a:ln w="38100" algn="ctr">
            <a:noFill/>
            <a:miter lim="800000"/>
            <a:tailEnd type="none" w="med" len="lg"/>
          </a:ln>
          <a:effectLst/>
        </p:spPr>
        <p:txBody>
          <a:bodyPr wrap="square">
            <a:spAutoFit/>
          </a:bodyPr>
          <a:lstStyle/>
          <a:p>
            <a:pPr algn="l">
              <a:spcBef>
                <a:spcPct val="50000"/>
              </a:spcBef>
            </a:pPr>
            <a:r>
              <a:rPr lang="zh-CN" altLang="en-US" sz="2400" dirty="0">
                <a:latin typeface="Consolas" panose="020B0609020204030204" pitchFamily="49" charset="0"/>
                <a:ea typeface="楷体" panose="02010609060101010101" pitchFamily="49" charset="-122"/>
                <a:cs typeface="Consolas" panose="020B0609020204030204" pitchFamily="49" charset="0"/>
              </a:rPr>
              <a:t>以下两种方法都</a:t>
            </a:r>
            <a:r>
              <a:rPr lang="zh-CN" altLang="en-US" sz="2400" dirty="0">
                <a:solidFill>
                  <a:srgbClr val="C00000"/>
                </a:solidFill>
                <a:latin typeface="Consolas" panose="020B0609020204030204" pitchFamily="49" charset="0"/>
                <a:ea typeface="楷体" panose="02010609060101010101" pitchFamily="49" charset="-122"/>
                <a:cs typeface="Consolas" panose="020B0609020204030204" pitchFamily="49" charset="0"/>
              </a:rPr>
              <a:t>不满足要求</a:t>
            </a:r>
            <a:r>
              <a:rPr lang="zh-CN" altLang="en-US" sz="2400" dirty="0">
                <a:latin typeface="Consolas" panose="020B0609020204030204" pitchFamily="49" charset="0"/>
                <a:ea typeface="楷体" panose="02010609060101010101" pitchFamily="49" charset="-122"/>
                <a:cs typeface="Consolas" panose="020B0609020204030204" pitchFamily="49" charset="0"/>
              </a:rPr>
              <a:t>：</a:t>
            </a:r>
          </a:p>
        </p:txBody>
      </p:sp>
      <p:sp>
        <p:nvSpPr>
          <p:cNvPr id="6" name="矩形 5">
            <a:extLst>
              <a:ext uri="{FF2B5EF4-FFF2-40B4-BE49-F238E27FC236}">
                <a16:creationId xmlns:a16="http://schemas.microsoft.com/office/drawing/2014/main" id="{7AD5DDD2-A1D7-4A2B-87C1-C073FEFE75B8}"/>
              </a:ext>
            </a:extLst>
          </p:cNvPr>
          <p:cNvSpPr/>
          <p:nvPr/>
        </p:nvSpPr>
        <p:spPr>
          <a:xfrm>
            <a:off x="755576" y="2225786"/>
            <a:ext cx="7632848" cy="2406428"/>
          </a:xfrm>
          <a:prstGeom prst="rect">
            <a:avLst/>
          </a:prstGeom>
        </p:spPr>
        <p:txBody>
          <a:bodyPr wrap="square">
            <a:spAutoFit/>
          </a:bodyPr>
          <a:lstStyle/>
          <a:p>
            <a:pPr marL="457200" indent="-457200">
              <a:lnSpc>
                <a:spcPct val="150000"/>
              </a:lnSpc>
              <a:spcBef>
                <a:spcPct val="50000"/>
              </a:spcBef>
              <a:buFont typeface="Wingdings" panose="05000000000000000000" pitchFamily="2" charset="2"/>
              <a:buChar char="Ø"/>
            </a:pPr>
            <a:r>
              <a:rPr lang="zh-CN" altLang="en-US" sz="2400" dirty="0">
                <a:latin typeface="楷体" panose="02010609060101010101" pitchFamily="49" charset="-122"/>
                <a:ea typeface="楷体" panose="02010609060101010101" pitchFamily="49" charset="-122"/>
                <a:cs typeface="Consolas" panose="020B0609020204030204" pitchFamily="49" charset="0"/>
              </a:rPr>
              <a:t>如果每删除一个值为</a:t>
            </a:r>
            <a:r>
              <a:rPr lang="en-US" altLang="zh-CN" sz="2400" dirty="0">
                <a:latin typeface="楷体" panose="02010609060101010101" pitchFamily="49" charset="-122"/>
                <a:ea typeface="楷体" panose="02010609060101010101" pitchFamily="49" charset="-122"/>
                <a:cs typeface="Consolas" panose="020B0609020204030204" pitchFamily="49" charset="0"/>
              </a:rPr>
              <a:t>x</a:t>
            </a:r>
            <a:r>
              <a:rPr lang="zh-CN" altLang="en-US" sz="2400" dirty="0">
                <a:latin typeface="楷体" panose="02010609060101010101" pitchFamily="49" charset="-122"/>
                <a:ea typeface="楷体" panose="02010609060101010101" pitchFamily="49" charset="-122"/>
                <a:cs typeface="Consolas" panose="020B0609020204030204" pitchFamily="49" charset="0"/>
              </a:rPr>
              <a:t>的元素都进行移动，其时间复杂度为</a:t>
            </a:r>
            <a:r>
              <a:rPr lang="en-US" altLang="zh-CN" sz="2400" dirty="0">
                <a:latin typeface="楷体" panose="02010609060101010101" pitchFamily="49" charset="-122"/>
                <a:ea typeface="楷体" panose="02010609060101010101" pitchFamily="49" charset="-122"/>
                <a:cs typeface="Consolas" panose="020B0609020204030204" pitchFamily="49" charset="0"/>
              </a:rPr>
              <a:t>O(n</a:t>
            </a:r>
            <a:r>
              <a:rPr lang="en-US" altLang="zh-CN" sz="2400" baseline="30000" dirty="0">
                <a:latin typeface="楷体" panose="02010609060101010101" pitchFamily="49" charset="-122"/>
                <a:ea typeface="楷体" panose="02010609060101010101" pitchFamily="49" charset="-122"/>
                <a:cs typeface="Consolas" panose="020B0609020204030204" pitchFamily="49" charset="0"/>
              </a:rPr>
              <a:t>2</a:t>
            </a:r>
            <a:r>
              <a:rPr lang="en-US" altLang="zh-CN" sz="2400" dirty="0">
                <a:latin typeface="楷体" panose="02010609060101010101" pitchFamily="49" charset="-122"/>
                <a:ea typeface="楷体" panose="02010609060101010101" pitchFamily="49" charset="-122"/>
                <a:cs typeface="Consolas" panose="020B0609020204030204" pitchFamily="49" charset="0"/>
              </a:rPr>
              <a:t>)</a:t>
            </a:r>
            <a:r>
              <a:rPr lang="zh-CN" altLang="en-US" sz="2400" dirty="0">
                <a:latin typeface="楷体" panose="02010609060101010101" pitchFamily="49" charset="-122"/>
                <a:ea typeface="楷体" panose="02010609060101010101" pitchFamily="49" charset="-122"/>
                <a:cs typeface="Consolas" panose="020B0609020204030204" pitchFamily="49" charset="0"/>
              </a:rPr>
              <a:t>，空间复杂度为</a:t>
            </a:r>
            <a:r>
              <a:rPr lang="en-US" altLang="zh-CN" sz="2400" dirty="0">
                <a:latin typeface="楷体" panose="02010609060101010101" pitchFamily="49" charset="-122"/>
                <a:ea typeface="楷体" panose="02010609060101010101" pitchFamily="49" charset="-122"/>
                <a:cs typeface="Consolas" panose="020B0609020204030204" pitchFamily="49" charset="0"/>
              </a:rPr>
              <a:t>O(1)</a:t>
            </a:r>
            <a:r>
              <a:rPr lang="zh-CN" altLang="en-US" sz="2400" dirty="0">
                <a:latin typeface="楷体" panose="02010609060101010101" pitchFamily="49" charset="-122"/>
                <a:ea typeface="楷体" panose="02010609060101010101" pitchFamily="49" charset="-122"/>
                <a:cs typeface="Consolas" panose="020B0609020204030204" pitchFamily="49" charset="0"/>
              </a:rPr>
              <a:t>。</a:t>
            </a:r>
          </a:p>
          <a:p>
            <a:pPr marL="457200" indent="-457200">
              <a:lnSpc>
                <a:spcPct val="150000"/>
              </a:lnSpc>
              <a:spcBef>
                <a:spcPct val="50000"/>
              </a:spcBef>
              <a:buFont typeface="Wingdings" panose="05000000000000000000" pitchFamily="2" charset="2"/>
              <a:buChar char="Ø"/>
            </a:pPr>
            <a:r>
              <a:rPr lang="zh-CN" altLang="en-US" sz="2400" dirty="0">
                <a:latin typeface="楷体" panose="02010609060101010101" pitchFamily="49" charset="-122"/>
                <a:ea typeface="楷体" panose="02010609060101010101" pitchFamily="49" charset="-122"/>
                <a:cs typeface="Consolas" panose="020B0609020204030204" pitchFamily="49" charset="0"/>
              </a:rPr>
              <a:t>如果借助一个新的顺序表，存放将</a:t>
            </a:r>
            <a:r>
              <a:rPr lang="en-US" altLang="zh-CN" sz="2400" dirty="0">
                <a:latin typeface="楷体" panose="02010609060101010101" pitchFamily="49" charset="-122"/>
                <a:ea typeface="楷体" panose="02010609060101010101" pitchFamily="49" charset="-122"/>
                <a:cs typeface="Consolas" panose="020B0609020204030204" pitchFamily="49" charset="0"/>
              </a:rPr>
              <a:t>A</a:t>
            </a:r>
            <a:r>
              <a:rPr lang="zh-CN" altLang="en-US" sz="2400" dirty="0">
                <a:latin typeface="楷体" panose="02010609060101010101" pitchFamily="49" charset="-122"/>
                <a:ea typeface="楷体" panose="02010609060101010101" pitchFamily="49" charset="-122"/>
                <a:cs typeface="Consolas" panose="020B0609020204030204" pitchFamily="49" charset="0"/>
              </a:rPr>
              <a:t>中所有不为</a:t>
            </a:r>
            <a:r>
              <a:rPr lang="en-US" altLang="zh-CN" sz="2400" dirty="0">
                <a:latin typeface="楷体" panose="02010609060101010101" pitchFamily="49" charset="-122"/>
                <a:ea typeface="楷体" panose="02010609060101010101" pitchFamily="49" charset="-122"/>
                <a:cs typeface="Consolas" panose="020B0609020204030204" pitchFamily="49" charset="0"/>
              </a:rPr>
              <a:t>x</a:t>
            </a:r>
            <a:r>
              <a:rPr lang="zh-CN" altLang="en-US" sz="2400" dirty="0">
                <a:latin typeface="楷体" panose="02010609060101010101" pitchFamily="49" charset="-122"/>
                <a:ea typeface="楷体" panose="02010609060101010101" pitchFamily="49" charset="-122"/>
                <a:cs typeface="Consolas" panose="020B0609020204030204" pitchFamily="49" charset="0"/>
              </a:rPr>
              <a:t>的元素，其时间复杂度为</a:t>
            </a:r>
            <a:r>
              <a:rPr lang="en-US" altLang="zh-CN" sz="2400" dirty="0">
                <a:latin typeface="楷体" panose="02010609060101010101" pitchFamily="49" charset="-122"/>
                <a:ea typeface="楷体" panose="02010609060101010101" pitchFamily="49" charset="-122"/>
                <a:cs typeface="Consolas" panose="020B0609020204030204" pitchFamily="49" charset="0"/>
              </a:rPr>
              <a:t>O(n)</a:t>
            </a:r>
            <a:r>
              <a:rPr lang="zh-CN" altLang="en-US" sz="2400" dirty="0">
                <a:latin typeface="楷体" panose="02010609060101010101" pitchFamily="49" charset="-122"/>
                <a:ea typeface="楷体" panose="02010609060101010101" pitchFamily="49" charset="-122"/>
                <a:cs typeface="Consolas" panose="020B0609020204030204" pitchFamily="49" charset="0"/>
              </a:rPr>
              <a:t>，空间复杂度为</a:t>
            </a:r>
            <a:r>
              <a:rPr lang="en-US" altLang="zh-CN" sz="2400" dirty="0">
                <a:latin typeface="楷体" panose="02010609060101010101" pitchFamily="49" charset="-122"/>
                <a:ea typeface="楷体" panose="02010609060101010101" pitchFamily="49" charset="-122"/>
                <a:cs typeface="Consolas" panose="020B0609020204030204" pitchFamily="49" charset="0"/>
              </a:rPr>
              <a:t>O(n)</a:t>
            </a:r>
            <a:r>
              <a:rPr lang="zh-CN" altLang="en-US" sz="2400" dirty="0">
                <a:latin typeface="楷体" panose="02010609060101010101" pitchFamily="49" charset="-122"/>
                <a:ea typeface="楷体" panose="02010609060101010101" pitchFamily="49" charset="-122"/>
                <a:cs typeface="Consolas" panose="020B0609020204030204" pitchFamily="49" charset="0"/>
              </a:rPr>
              <a:t>。</a:t>
            </a:r>
          </a:p>
        </p:txBody>
      </p:sp>
    </p:spTree>
    <p:extLst>
      <p:ext uri="{BB962C8B-B14F-4D97-AF65-F5344CB8AC3E}">
        <p14:creationId xmlns:p14="http://schemas.microsoft.com/office/powerpoint/2010/main" val="1693257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
            <a:extLst>
              <a:ext uri="{FF2B5EF4-FFF2-40B4-BE49-F238E27FC236}">
                <a16:creationId xmlns:a16="http://schemas.microsoft.com/office/drawing/2014/main" id="{68055FB2-88F2-4751-897A-4FBB3722034D}"/>
              </a:ext>
            </a:extLst>
          </p:cNvPr>
          <p:cNvSpPr txBox="1">
            <a:spLocks noChangeArrowheads="1"/>
          </p:cNvSpPr>
          <p:nvPr/>
        </p:nvSpPr>
        <p:spPr bwMode="auto">
          <a:xfrm>
            <a:off x="683568" y="980728"/>
            <a:ext cx="7992888" cy="2083263"/>
          </a:xfrm>
          <a:prstGeom prst="rect">
            <a:avLst/>
          </a:prstGeom>
          <a:noFill/>
          <a:ln w="9525">
            <a:noFill/>
            <a:miter lim="800000"/>
          </a:ln>
          <a:effectLst/>
        </p:spPr>
        <p:txBody>
          <a:bodyPr wrap="square">
            <a:spAutoFit/>
          </a:bodyPr>
          <a:lstStyle/>
          <a:p>
            <a:pPr algn="l">
              <a:lnSpc>
                <a:spcPct val="140000"/>
              </a:lnSpc>
            </a:pPr>
            <a:r>
              <a:rPr lang="zh-CN" altLang="en-US" sz="2400" dirty="0">
                <a:solidFill>
                  <a:srgbClr val="FF3300"/>
                </a:solidFill>
                <a:latin typeface="楷体" panose="02010609060101010101" pitchFamily="49" charset="-122"/>
                <a:ea typeface="楷体" panose="02010609060101010101" pitchFamily="49" charset="-122"/>
                <a:cs typeface="Consolas" panose="020B0609020204030204" pitchFamily="49" charset="0"/>
              </a:rPr>
              <a:t>解法一（重建法）：</a:t>
            </a:r>
            <a:r>
              <a:rPr lang="zh-CN" altLang="en-US" sz="2400" dirty="0">
                <a:latin typeface="楷体" panose="02010609060101010101" pitchFamily="49" charset="-122"/>
                <a:ea typeface="楷体" panose="02010609060101010101" pitchFamily="49" charset="-122"/>
                <a:cs typeface="Consolas" panose="020B0609020204030204" pitchFamily="49" charset="0"/>
              </a:rPr>
              <a:t>设删除</a:t>
            </a:r>
            <a:r>
              <a:rPr lang="en-US" altLang="zh-CN" sz="2400" dirty="0">
                <a:latin typeface="楷体" panose="02010609060101010101" pitchFamily="49" charset="-122"/>
                <a:ea typeface="楷体" panose="02010609060101010101" pitchFamily="49" charset="-122"/>
                <a:cs typeface="Consolas" panose="020B0609020204030204" pitchFamily="49" charset="0"/>
              </a:rPr>
              <a:t>L</a:t>
            </a:r>
            <a:r>
              <a:rPr lang="zh-CN" altLang="en-US" sz="2400" dirty="0">
                <a:latin typeface="楷体" panose="02010609060101010101" pitchFamily="49" charset="-122"/>
                <a:ea typeface="楷体" panose="02010609060101010101" pitchFamily="49" charset="-122"/>
                <a:cs typeface="Consolas" panose="020B0609020204030204" pitchFamily="49" charset="0"/>
              </a:rPr>
              <a:t>中所有值等于</a:t>
            </a:r>
            <a:r>
              <a:rPr lang="en-US" altLang="zh-CN" sz="2400" i="1" dirty="0">
                <a:latin typeface="楷体" panose="02010609060101010101" pitchFamily="49" charset="-122"/>
                <a:ea typeface="楷体" panose="02010609060101010101" pitchFamily="49" charset="-122"/>
                <a:cs typeface="Consolas" panose="020B0609020204030204" pitchFamily="49" charset="0"/>
              </a:rPr>
              <a:t>x</a:t>
            </a:r>
            <a:r>
              <a:rPr lang="zh-CN" altLang="en-US" sz="2400" dirty="0">
                <a:latin typeface="楷体" panose="02010609060101010101" pitchFamily="49" charset="-122"/>
                <a:ea typeface="楷体" panose="02010609060101010101" pitchFamily="49" charset="-122"/>
                <a:cs typeface="Consolas" panose="020B0609020204030204" pitchFamily="49" charset="0"/>
              </a:rPr>
              <a:t>元素后的顺序表为</a:t>
            </a:r>
            <a:r>
              <a:rPr lang="en-US" altLang="zh-CN" sz="2400" dirty="0">
                <a:latin typeface="楷体" panose="02010609060101010101" pitchFamily="49" charset="-122"/>
                <a:ea typeface="楷体" panose="02010609060101010101" pitchFamily="49" charset="-122"/>
                <a:cs typeface="Consolas" panose="020B0609020204030204" pitchFamily="49" charset="0"/>
              </a:rPr>
              <a:t>L1</a:t>
            </a:r>
            <a:r>
              <a:rPr lang="zh-CN" altLang="en-US" sz="2400" dirty="0">
                <a:latin typeface="楷体" panose="02010609060101010101" pitchFamily="49" charset="-122"/>
                <a:ea typeface="楷体" panose="02010609060101010101" pitchFamily="49" charset="-122"/>
                <a:cs typeface="Consolas" panose="020B0609020204030204" pitchFamily="49" charset="0"/>
              </a:rPr>
              <a:t>，显然</a:t>
            </a:r>
            <a:r>
              <a:rPr lang="en-US" altLang="zh-CN" sz="2400" dirty="0">
                <a:latin typeface="楷体" panose="02010609060101010101" pitchFamily="49" charset="-122"/>
                <a:ea typeface="楷体" panose="02010609060101010101" pitchFamily="49" charset="-122"/>
                <a:cs typeface="Consolas" panose="020B0609020204030204" pitchFamily="49" charset="0"/>
              </a:rPr>
              <a:t>L1</a:t>
            </a:r>
            <a:r>
              <a:rPr lang="zh-CN" altLang="en-US" sz="2400" dirty="0">
                <a:latin typeface="楷体" panose="02010609060101010101" pitchFamily="49" charset="-122"/>
                <a:ea typeface="楷体" panose="02010609060101010101" pitchFamily="49" charset="-122"/>
                <a:cs typeface="Consolas" panose="020B0609020204030204" pitchFamily="49" charset="0"/>
              </a:rPr>
              <a:t>包含在</a:t>
            </a:r>
            <a:r>
              <a:rPr lang="en-US" altLang="zh-CN" sz="2400" dirty="0">
                <a:latin typeface="楷体" panose="02010609060101010101" pitchFamily="49" charset="-122"/>
                <a:ea typeface="楷体" panose="02010609060101010101" pitchFamily="49" charset="-122"/>
                <a:cs typeface="Consolas" panose="020B0609020204030204" pitchFamily="49" charset="0"/>
              </a:rPr>
              <a:t>L</a:t>
            </a:r>
            <a:r>
              <a:rPr lang="zh-CN" altLang="en-US" sz="2400" dirty="0">
                <a:latin typeface="楷体" panose="02010609060101010101" pitchFamily="49" charset="-122"/>
                <a:ea typeface="楷体" panose="02010609060101010101" pitchFamily="49" charset="-122"/>
                <a:cs typeface="Consolas" panose="020B0609020204030204" pitchFamily="49" charset="0"/>
              </a:rPr>
              <a:t>中，为此</a:t>
            </a:r>
            <a:r>
              <a:rPr lang="en-US" altLang="zh-CN" sz="2400" dirty="0">
                <a:latin typeface="楷体" panose="02010609060101010101" pitchFamily="49" charset="-122"/>
                <a:ea typeface="楷体" panose="02010609060101010101" pitchFamily="49" charset="-122"/>
                <a:cs typeface="Consolas" panose="020B0609020204030204" pitchFamily="49" charset="0"/>
              </a:rPr>
              <a:t>L1</a:t>
            </a:r>
            <a:r>
              <a:rPr lang="zh-CN" altLang="en-US" sz="2400" dirty="0">
                <a:latin typeface="楷体" panose="02010609060101010101" pitchFamily="49" charset="-122"/>
                <a:ea typeface="楷体" panose="02010609060101010101" pitchFamily="49" charset="-122"/>
                <a:cs typeface="Consolas" panose="020B0609020204030204" pitchFamily="49" charset="0"/>
              </a:rPr>
              <a:t>重用</a:t>
            </a:r>
            <a:r>
              <a:rPr lang="en-US" altLang="zh-CN" sz="2400" dirty="0">
                <a:latin typeface="楷体" panose="02010609060101010101" pitchFamily="49" charset="-122"/>
                <a:ea typeface="楷体" panose="02010609060101010101" pitchFamily="49" charset="-122"/>
                <a:cs typeface="Consolas" panose="020B0609020204030204" pitchFamily="49" charset="0"/>
              </a:rPr>
              <a:t>L</a:t>
            </a:r>
            <a:r>
              <a:rPr lang="zh-CN" altLang="en-US" sz="2400" dirty="0">
                <a:latin typeface="楷体" panose="02010609060101010101" pitchFamily="49" charset="-122"/>
                <a:ea typeface="楷体" panose="02010609060101010101" pitchFamily="49" charset="-122"/>
                <a:cs typeface="Consolas" panose="020B0609020204030204" pitchFamily="49" charset="0"/>
              </a:rPr>
              <a:t>的空间。</a:t>
            </a:r>
          </a:p>
          <a:p>
            <a:pPr algn="l">
              <a:lnSpc>
                <a:spcPct val="140000"/>
              </a:lnSpc>
            </a:pPr>
            <a:r>
              <a:rPr lang="zh-CN" altLang="en-US" sz="2400" dirty="0">
                <a:solidFill>
                  <a:srgbClr val="FF0000"/>
                </a:solidFill>
                <a:latin typeface="楷体" panose="02010609060101010101" pitchFamily="49" charset="-122"/>
                <a:ea typeface="楷体" panose="02010609060101010101" pitchFamily="49" charset="-122"/>
                <a:cs typeface="Consolas" panose="020B0609020204030204" pitchFamily="49" charset="0"/>
              </a:rPr>
              <a:t>思路：</a:t>
            </a:r>
            <a:r>
              <a:rPr lang="zh-CN" altLang="en-US" sz="2400" dirty="0">
                <a:latin typeface="楷体" panose="02010609060101010101" pitchFamily="49" charset="-122"/>
                <a:ea typeface="楷体" panose="02010609060101010101" pitchFamily="49" charset="-122"/>
                <a:cs typeface="Consolas" panose="020B0609020204030204" pitchFamily="49" charset="0"/>
              </a:rPr>
              <a:t>采用创建顺序表的算法思路，扫描顺序表</a:t>
            </a:r>
            <a:r>
              <a:rPr lang="en-US" altLang="zh-CN" sz="2400" dirty="0">
                <a:latin typeface="楷体" panose="02010609060101010101" pitchFamily="49" charset="-122"/>
                <a:ea typeface="楷体" panose="02010609060101010101" pitchFamily="49" charset="-122"/>
                <a:cs typeface="Consolas" panose="020B0609020204030204" pitchFamily="49" charset="0"/>
              </a:rPr>
              <a:t>L</a:t>
            </a:r>
            <a:r>
              <a:rPr lang="zh-CN" altLang="en-US" sz="2400" dirty="0">
                <a:latin typeface="楷体" panose="02010609060101010101" pitchFamily="49" charset="-122"/>
                <a:ea typeface="楷体" panose="02010609060101010101" pitchFamily="49" charset="-122"/>
                <a:cs typeface="Consolas" panose="020B0609020204030204" pitchFamily="49" charset="0"/>
              </a:rPr>
              <a:t>，重建</a:t>
            </a:r>
            <a:r>
              <a:rPr lang="en-US" altLang="zh-CN" sz="2400" dirty="0">
                <a:latin typeface="楷体" panose="02010609060101010101" pitchFamily="49" charset="-122"/>
                <a:ea typeface="楷体" panose="02010609060101010101" pitchFamily="49" charset="-122"/>
                <a:cs typeface="Consolas" panose="020B0609020204030204" pitchFamily="49" charset="0"/>
              </a:rPr>
              <a:t>L</a:t>
            </a:r>
            <a:r>
              <a:rPr lang="zh-CN" altLang="en-US" sz="2400" dirty="0">
                <a:latin typeface="楷体" panose="02010609060101010101" pitchFamily="49" charset="-122"/>
                <a:ea typeface="楷体" panose="02010609060101010101" pitchFamily="49" charset="-122"/>
                <a:cs typeface="Consolas" panose="020B0609020204030204" pitchFamily="49" charset="0"/>
              </a:rPr>
              <a:t>只包含不等于</a:t>
            </a:r>
            <a:r>
              <a:rPr lang="en-US" altLang="zh-CN" sz="2400" i="1" dirty="0">
                <a:latin typeface="楷体" panose="02010609060101010101" pitchFamily="49" charset="-122"/>
                <a:ea typeface="楷体" panose="02010609060101010101" pitchFamily="49" charset="-122"/>
                <a:cs typeface="Consolas" panose="020B0609020204030204" pitchFamily="49" charset="0"/>
              </a:rPr>
              <a:t>x</a:t>
            </a:r>
            <a:r>
              <a:rPr lang="zh-CN" altLang="en-US" sz="2400" dirty="0">
                <a:latin typeface="楷体" panose="02010609060101010101" pitchFamily="49" charset="-122"/>
                <a:ea typeface="楷体" panose="02010609060101010101" pitchFamily="49" charset="-122"/>
                <a:cs typeface="Consolas" panose="020B0609020204030204" pitchFamily="49" charset="0"/>
              </a:rPr>
              <a:t>的元素。</a:t>
            </a:r>
          </a:p>
        </p:txBody>
      </p:sp>
    </p:spTree>
    <p:extLst>
      <p:ext uri="{BB962C8B-B14F-4D97-AF65-F5344CB8AC3E}">
        <p14:creationId xmlns:p14="http://schemas.microsoft.com/office/powerpoint/2010/main" val="16811890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0DD9D65-181D-48C6-8268-A2166BCA141A}"/>
              </a:ext>
            </a:extLst>
          </p:cNvPr>
          <p:cNvSpPr>
            <a:spLocks noChangeArrowheads="1"/>
          </p:cNvSpPr>
          <p:nvPr/>
        </p:nvSpPr>
        <p:spPr bwMode="auto">
          <a:xfrm>
            <a:off x="1509203" y="2199441"/>
            <a:ext cx="3903643" cy="689890"/>
          </a:xfrm>
          <a:prstGeom prst="rect">
            <a:avLst/>
          </a:prstGeom>
          <a:solidFill>
            <a:schemeClr val="accent3">
              <a:lumMod val="20000"/>
              <a:lumOff val="80000"/>
            </a:schemeClr>
          </a:solidFill>
        </p:spPr>
        <p:style>
          <a:lnRef idx="1">
            <a:schemeClr val="accent3"/>
          </a:lnRef>
          <a:fillRef idx="2">
            <a:schemeClr val="accent3"/>
          </a:fillRef>
          <a:effectRef idx="1">
            <a:schemeClr val="accent3"/>
          </a:effectRef>
          <a:fontRef idx="minor">
            <a:schemeClr val="dk1"/>
          </a:fontRef>
        </p:style>
        <p:txBody>
          <a:bodyPr wrap="none" anchor="ctr"/>
          <a:lstStyle/>
          <a:p>
            <a:endParaRPr lang="zh-CN" altLang="en-US" sz="2000">
              <a:latin typeface="Consolas" panose="020B0609020204030204" pitchFamily="49" charset="0"/>
              <a:cs typeface="Consolas" panose="020B0609020204030204" pitchFamily="49" charset="0"/>
            </a:endParaRPr>
          </a:p>
        </p:txBody>
      </p:sp>
      <p:sp>
        <p:nvSpPr>
          <p:cNvPr id="5" name="Text Box 4">
            <a:extLst>
              <a:ext uri="{FF2B5EF4-FFF2-40B4-BE49-F238E27FC236}">
                <a16:creationId xmlns:a16="http://schemas.microsoft.com/office/drawing/2014/main" id="{F449E68C-639F-4E22-B303-EE1D6F9988DB}"/>
              </a:ext>
            </a:extLst>
          </p:cNvPr>
          <p:cNvSpPr txBox="1">
            <a:spLocks noChangeArrowheads="1"/>
          </p:cNvSpPr>
          <p:nvPr/>
        </p:nvSpPr>
        <p:spPr bwMode="auto">
          <a:xfrm>
            <a:off x="1574631" y="1803162"/>
            <a:ext cx="419760" cy="338554"/>
          </a:xfrm>
          <a:prstGeom prst="rect">
            <a:avLst/>
          </a:prstGeom>
          <a:noFill/>
          <a:ln w="38100" algn="ctr">
            <a:noFill/>
            <a:miter lim="800000"/>
          </a:ln>
          <a:effectLst/>
        </p:spPr>
        <p:txBody>
          <a:bodyPr>
            <a:spAutoFit/>
          </a:bodyPr>
          <a:lstStyle/>
          <a:p>
            <a:pPr>
              <a:spcBef>
                <a:spcPct val="50000"/>
              </a:spcBef>
            </a:pPr>
            <a:r>
              <a:rPr lang="en-US" altLang="zh-CN" sz="1600">
                <a:solidFill>
                  <a:srgbClr val="00B0F0"/>
                </a:solidFill>
                <a:latin typeface="Consolas" panose="020B0609020204030204" pitchFamily="49" charset="0"/>
                <a:cs typeface="Consolas" panose="020B0609020204030204" pitchFamily="49" charset="0"/>
              </a:rPr>
              <a:t>0</a:t>
            </a:r>
          </a:p>
        </p:txBody>
      </p:sp>
      <p:sp>
        <p:nvSpPr>
          <p:cNvPr id="6" name="Text Box 5">
            <a:extLst>
              <a:ext uri="{FF2B5EF4-FFF2-40B4-BE49-F238E27FC236}">
                <a16:creationId xmlns:a16="http://schemas.microsoft.com/office/drawing/2014/main" id="{901BC14F-D062-440C-A2BD-D0B15EB6F633}"/>
              </a:ext>
            </a:extLst>
          </p:cNvPr>
          <p:cNvSpPr txBox="1">
            <a:spLocks noChangeArrowheads="1"/>
          </p:cNvSpPr>
          <p:nvPr/>
        </p:nvSpPr>
        <p:spPr bwMode="auto">
          <a:xfrm>
            <a:off x="2128895" y="1803162"/>
            <a:ext cx="419760" cy="338554"/>
          </a:xfrm>
          <a:prstGeom prst="rect">
            <a:avLst/>
          </a:prstGeom>
          <a:noFill/>
          <a:ln w="38100" algn="ctr">
            <a:noFill/>
            <a:miter lim="800000"/>
          </a:ln>
          <a:effectLst/>
        </p:spPr>
        <p:txBody>
          <a:bodyPr>
            <a:spAutoFit/>
          </a:bodyPr>
          <a:lstStyle/>
          <a:p>
            <a:pPr>
              <a:spcBef>
                <a:spcPct val="50000"/>
              </a:spcBef>
            </a:pPr>
            <a:r>
              <a:rPr lang="en-US" altLang="zh-CN" sz="1600">
                <a:solidFill>
                  <a:srgbClr val="00B0F0"/>
                </a:solidFill>
                <a:latin typeface="Consolas" panose="020B0609020204030204" pitchFamily="49" charset="0"/>
                <a:cs typeface="Consolas" panose="020B0609020204030204" pitchFamily="49" charset="0"/>
              </a:rPr>
              <a:t>1</a:t>
            </a:r>
          </a:p>
        </p:txBody>
      </p:sp>
      <p:sp>
        <p:nvSpPr>
          <p:cNvPr id="7" name="Text Box 6">
            <a:extLst>
              <a:ext uri="{FF2B5EF4-FFF2-40B4-BE49-F238E27FC236}">
                <a16:creationId xmlns:a16="http://schemas.microsoft.com/office/drawing/2014/main" id="{151E7908-EBDB-4515-81BA-8544345BC2AF}"/>
              </a:ext>
            </a:extLst>
          </p:cNvPr>
          <p:cNvSpPr txBox="1">
            <a:spLocks noChangeArrowheads="1"/>
          </p:cNvSpPr>
          <p:nvPr/>
        </p:nvSpPr>
        <p:spPr bwMode="auto">
          <a:xfrm>
            <a:off x="1628378" y="2326561"/>
            <a:ext cx="421085" cy="523220"/>
          </a:xfrm>
          <a:prstGeom prst="rect">
            <a:avLst/>
          </a:prstGeom>
          <a:noFill/>
          <a:ln w="9525">
            <a:noFill/>
            <a:miter lim="800000"/>
          </a:ln>
          <a:effectLst/>
        </p:spPr>
        <p:txBody>
          <a:bodyPr>
            <a:spAutoFit/>
          </a:bodyPr>
          <a:lstStyle/>
          <a:p>
            <a:pPr algn="l"/>
            <a:r>
              <a:rPr lang="en-US" altLang="zh-CN" sz="280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Consolas" panose="020B0609020204030204" pitchFamily="49" charset="0"/>
                <a:cs typeface="Consolas" panose="020B0609020204030204" pitchFamily="49" charset="0"/>
              </a:rPr>
              <a:t>1</a:t>
            </a:r>
            <a:endParaRPr lang="en-US" altLang="zh-CN" sz="2800" baseline="-2500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Consolas" panose="020B0609020204030204" pitchFamily="49" charset="0"/>
              <a:cs typeface="Consolas" panose="020B0609020204030204" pitchFamily="49" charset="0"/>
            </a:endParaRPr>
          </a:p>
        </p:txBody>
      </p:sp>
      <p:sp>
        <p:nvSpPr>
          <p:cNvPr id="8" name="Text Box 7">
            <a:extLst>
              <a:ext uri="{FF2B5EF4-FFF2-40B4-BE49-F238E27FC236}">
                <a16:creationId xmlns:a16="http://schemas.microsoft.com/office/drawing/2014/main" id="{11F834F8-81F9-402C-83A4-78B17A7330E8}"/>
              </a:ext>
            </a:extLst>
          </p:cNvPr>
          <p:cNvSpPr txBox="1">
            <a:spLocks noChangeArrowheads="1"/>
          </p:cNvSpPr>
          <p:nvPr/>
        </p:nvSpPr>
        <p:spPr bwMode="auto">
          <a:xfrm>
            <a:off x="2188483" y="2358341"/>
            <a:ext cx="421085" cy="400110"/>
          </a:xfrm>
          <a:prstGeom prst="rect">
            <a:avLst/>
          </a:prstGeom>
          <a:noFill/>
          <a:ln w="9525">
            <a:noFill/>
            <a:miter lim="800000"/>
          </a:ln>
          <a:effectLst/>
        </p:spPr>
        <p:txBody>
          <a:bodyPr>
            <a:spAutoFit/>
          </a:bodyPr>
          <a:lstStyle/>
          <a:p>
            <a:pPr algn="l">
              <a:spcBef>
                <a:spcPct val="50000"/>
              </a:spcBef>
            </a:pPr>
            <a:r>
              <a:rPr lang="en-US" altLang="zh-CN" sz="2000" dirty="0">
                <a:solidFill>
                  <a:srgbClr val="FF00FF"/>
                </a:solidFill>
                <a:latin typeface="Consolas" panose="020B0609020204030204" pitchFamily="49" charset="0"/>
                <a:cs typeface="Consolas" panose="020B0609020204030204" pitchFamily="49" charset="0"/>
              </a:rPr>
              <a:t>2</a:t>
            </a:r>
            <a:endParaRPr lang="en-US" altLang="zh-CN" sz="2000" baseline="-25000" dirty="0">
              <a:solidFill>
                <a:srgbClr val="FF00FF"/>
              </a:solidFill>
              <a:latin typeface="Consolas" panose="020B0609020204030204" pitchFamily="49" charset="0"/>
              <a:cs typeface="Consolas" panose="020B0609020204030204" pitchFamily="49" charset="0"/>
            </a:endParaRPr>
          </a:p>
        </p:txBody>
      </p:sp>
      <p:sp>
        <p:nvSpPr>
          <p:cNvPr id="9" name="Text Box 8">
            <a:extLst>
              <a:ext uri="{FF2B5EF4-FFF2-40B4-BE49-F238E27FC236}">
                <a16:creationId xmlns:a16="http://schemas.microsoft.com/office/drawing/2014/main" id="{A3EB7FF4-B831-4D4B-B2E0-63E17649DAE2}"/>
              </a:ext>
            </a:extLst>
          </p:cNvPr>
          <p:cNvSpPr txBox="1">
            <a:spLocks noChangeArrowheads="1"/>
          </p:cNvSpPr>
          <p:nvPr/>
        </p:nvSpPr>
        <p:spPr bwMode="auto">
          <a:xfrm>
            <a:off x="3310070" y="2358341"/>
            <a:ext cx="421085" cy="400110"/>
          </a:xfrm>
          <a:prstGeom prst="rect">
            <a:avLst/>
          </a:prstGeom>
          <a:noFill/>
          <a:ln w="9525">
            <a:noFill/>
            <a:miter lim="800000"/>
          </a:ln>
          <a:effectLst/>
        </p:spPr>
        <p:txBody>
          <a:bodyPr>
            <a:spAutoFit/>
          </a:bodyPr>
          <a:lstStyle/>
          <a:p>
            <a:pPr algn="l">
              <a:spcBef>
                <a:spcPct val="50000"/>
              </a:spcBef>
            </a:pPr>
            <a:r>
              <a:rPr lang="en-US" altLang="zh-CN" sz="2000" dirty="0">
                <a:solidFill>
                  <a:srgbClr val="FF00FF"/>
                </a:solidFill>
                <a:latin typeface="Consolas" panose="020B0609020204030204" pitchFamily="49" charset="0"/>
                <a:cs typeface="Consolas" panose="020B0609020204030204" pitchFamily="49" charset="0"/>
              </a:rPr>
              <a:t>2</a:t>
            </a:r>
            <a:endParaRPr lang="en-US" altLang="zh-CN" sz="2000" baseline="-25000" dirty="0">
              <a:solidFill>
                <a:srgbClr val="FF00FF"/>
              </a:solidFill>
              <a:latin typeface="Consolas" panose="020B0609020204030204" pitchFamily="49" charset="0"/>
              <a:cs typeface="Consolas" panose="020B0609020204030204" pitchFamily="49" charset="0"/>
            </a:endParaRPr>
          </a:p>
        </p:txBody>
      </p:sp>
      <p:sp>
        <p:nvSpPr>
          <p:cNvPr id="10" name="Text Box 10">
            <a:extLst>
              <a:ext uri="{FF2B5EF4-FFF2-40B4-BE49-F238E27FC236}">
                <a16:creationId xmlns:a16="http://schemas.microsoft.com/office/drawing/2014/main" id="{0193A93B-A0A9-45FD-AF0A-E5672A60B38E}"/>
              </a:ext>
            </a:extLst>
          </p:cNvPr>
          <p:cNvSpPr txBox="1">
            <a:spLocks noChangeArrowheads="1"/>
          </p:cNvSpPr>
          <p:nvPr/>
        </p:nvSpPr>
        <p:spPr bwMode="auto">
          <a:xfrm>
            <a:off x="4483281" y="2358341"/>
            <a:ext cx="421085" cy="400110"/>
          </a:xfrm>
          <a:prstGeom prst="rect">
            <a:avLst/>
          </a:prstGeom>
          <a:noFill/>
          <a:ln w="9525">
            <a:noFill/>
            <a:miter lim="800000"/>
          </a:ln>
          <a:effectLst/>
        </p:spPr>
        <p:txBody>
          <a:bodyPr>
            <a:spAutoFit/>
          </a:bodyPr>
          <a:lstStyle/>
          <a:p>
            <a:pPr algn="l">
              <a:spcBef>
                <a:spcPct val="50000"/>
              </a:spcBef>
            </a:pPr>
            <a:r>
              <a:rPr lang="en-US" altLang="zh-CN" sz="2000" dirty="0">
                <a:solidFill>
                  <a:srgbClr val="FF00FF"/>
                </a:solidFill>
                <a:latin typeface="Consolas" panose="020B0609020204030204" pitchFamily="49" charset="0"/>
                <a:cs typeface="Consolas" panose="020B0609020204030204" pitchFamily="49" charset="0"/>
              </a:rPr>
              <a:t>2</a:t>
            </a:r>
            <a:endParaRPr lang="en-US" altLang="zh-CN" sz="2000" baseline="-25000" dirty="0">
              <a:solidFill>
                <a:srgbClr val="FF00FF"/>
              </a:solidFill>
              <a:latin typeface="Consolas" panose="020B0609020204030204" pitchFamily="49" charset="0"/>
              <a:cs typeface="Consolas" panose="020B0609020204030204" pitchFamily="49" charset="0"/>
            </a:endParaRPr>
          </a:p>
        </p:txBody>
      </p:sp>
      <p:sp>
        <p:nvSpPr>
          <p:cNvPr id="11" name="Text Box 11">
            <a:extLst>
              <a:ext uri="{FF2B5EF4-FFF2-40B4-BE49-F238E27FC236}">
                <a16:creationId xmlns:a16="http://schemas.microsoft.com/office/drawing/2014/main" id="{D821AFCA-67FF-4127-A28F-587362F9D4D1}"/>
              </a:ext>
            </a:extLst>
          </p:cNvPr>
          <p:cNvSpPr txBox="1">
            <a:spLocks noChangeArrowheads="1"/>
          </p:cNvSpPr>
          <p:nvPr/>
        </p:nvSpPr>
        <p:spPr bwMode="auto">
          <a:xfrm>
            <a:off x="1048026" y="952944"/>
            <a:ext cx="7844453" cy="461665"/>
          </a:xfrm>
          <a:prstGeom prst="rect">
            <a:avLst/>
          </a:prstGeom>
          <a:noFill/>
          <a:ln w="9525">
            <a:noFill/>
            <a:miter lim="800000"/>
          </a:ln>
          <a:effectLst/>
        </p:spPr>
        <p:txBody>
          <a:bodyPr wrap="square">
            <a:spAutoFit/>
          </a:bodyPr>
          <a:lstStyle/>
          <a:p>
            <a:pPr algn="l">
              <a:spcBef>
                <a:spcPct val="50000"/>
              </a:spcBef>
            </a:pPr>
            <a:r>
              <a:rPr lang="zh-CN" altLang="en-US" sz="2400" dirty="0">
                <a:latin typeface="Consolas" panose="020B0609020204030204" pitchFamily="49" charset="0"/>
                <a:ea typeface="楷体" panose="02010609060101010101" pitchFamily="49" charset="-122"/>
                <a:cs typeface="Consolas" panose="020B0609020204030204" pitchFamily="49" charset="0"/>
              </a:rPr>
              <a:t>删除所有</a:t>
            </a:r>
            <a:r>
              <a:rPr lang="en-US" altLang="zh-CN" sz="2400" i="1" dirty="0">
                <a:latin typeface="Consolas" panose="020B0609020204030204" pitchFamily="49" charset="0"/>
                <a:ea typeface="楷体" panose="02010609060101010101" pitchFamily="49" charset="-122"/>
                <a:cs typeface="Consolas" panose="020B0609020204030204" pitchFamily="49" charset="0"/>
              </a:rPr>
              <a:t>x</a:t>
            </a:r>
            <a:r>
              <a:rPr lang="en-US" altLang="zh-CN" sz="2400" dirty="0">
                <a:latin typeface="Consolas" panose="020B0609020204030204" pitchFamily="49" charset="0"/>
                <a:ea typeface="楷体" panose="02010609060101010101" pitchFamily="49" charset="-122"/>
                <a:cs typeface="Consolas" panose="020B0609020204030204" pitchFamily="49" charset="0"/>
              </a:rPr>
              <a:t>=2</a:t>
            </a:r>
            <a:r>
              <a:rPr lang="zh-CN" altLang="en-US" sz="2400" dirty="0">
                <a:latin typeface="Consolas" panose="020B0609020204030204" pitchFamily="49" charset="0"/>
                <a:ea typeface="楷体" panose="02010609060101010101" pitchFamily="49" charset="-122"/>
                <a:cs typeface="Consolas" panose="020B0609020204030204" pitchFamily="49" charset="0"/>
              </a:rPr>
              <a:t>的元素（</a:t>
            </a:r>
            <a:r>
              <a:rPr lang="en-US" altLang="zh-CN" sz="2400" i="1" dirty="0">
                <a:latin typeface="Consolas" panose="020B0609020204030204" pitchFamily="49" charset="0"/>
                <a:ea typeface="楷体" panose="02010609060101010101" pitchFamily="49" charset="-122"/>
                <a:cs typeface="Consolas" panose="020B0609020204030204" pitchFamily="49" charset="0"/>
              </a:rPr>
              <a:t>k</a:t>
            </a:r>
            <a:r>
              <a:rPr lang="zh-CN" altLang="en-US" sz="2400" dirty="0">
                <a:latin typeface="Consolas" panose="020B0609020204030204" pitchFamily="49" charset="0"/>
                <a:ea typeface="楷体" panose="02010609060101010101" pitchFamily="49" charset="-122"/>
                <a:cs typeface="Consolas" panose="020B0609020204030204" pitchFamily="49" charset="0"/>
              </a:rPr>
              <a:t>记录保留的元素个数，初值</a:t>
            </a:r>
            <a:r>
              <a:rPr lang="en-US" altLang="zh-CN" sz="2400" dirty="0">
                <a:latin typeface="Consolas" panose="020B0609020204030204" pitchFamily="49" charset="0"/>
                <a:ea typeface="楷体" panose="02010609060101010101" pitchFamily="49" charset="-122"/>
                <a:cs typeface="Consolas" panose="020B0609020204030204" pitchFamily="49" charset="0"/>
              </a:rPr>
              <a:t>=0</a:t>
            </a:r>
            <a:r>
              <a:rPr lang="zh-CN" altLang="en-US" sz="2400" dirty="0">
                <a:latin typeface="Consolas" panose="020B0609020204030204" pitchFamily="49" charset="0"/>
                <a:ea typeface="楷体" panose="02010609060101010101" pitchFamily="49" charset="-122"/>
                <a:cs typeface="Consolas" panose="020B0609020204030204" pitchFamily="49" charset="0"/>
              </a:rPr>
              <a:t>）：</a:t>
            </a:r>
          </a:p>
        </p:txBody>
      </p:sp>
      <p:sp>
        <p:nvSpPr>
          <p:cNvPr id="12" name="Text Box 12">
            <a:extLst>
              <a:ext uri="{FF2B5EF4-FFF2-40B4-BE49-F238E27FC236}">
                <a16:creationId xmlns:a16="http://schemas.microsoft.com/office/drawing/2014/main" id="{D921AE94-0714-429C-80A3-E2F4201AC30F}"/>
              </a:ext>
            </a:extLst>
          </p:cNvPr>
          <p:cNvSpPr txBox="1">
            <a:spLocks noChangeArrowheads="1"/>
          </p:cNvSpPr>
          <p:nvPr/>
        </p:nvSpPr>
        <p:spPr bwMode="auto">
          <a:xfrm>
            <a:off x="2710222" y="1803162"/>
            <a:ext cx="419761" cy="338554"/>
          </a:xfrm>
          <a:prstGeom prst="rect">
            <a:avLst/>
          </a:prstGeom>
          <a:noFill/>
          <a:ln w="38100" algn="ctr">
            <a:noFill/>
            <a:miter lim="800000"/>
          </a:ln>
          <a:effectLst/>
        </p:spPr>
        <p:txBody>
          <a:bodyPr>
            <a:spAutoFit/>
          </a:bodyPr>
          <a:lstStyle/>
          <a:p>
            <a:pPr>
              <a:spcBef>
                <a:spcPct val="50000"/>
              </a:spcBef>
            </a:pPr>
            <a:r>
              <a:rPr lang="en-US" altLang="zh-CN" sz="1600">
                <a:solidFill>
                  <a:srgbClr val="00B0F0"/>
                </a:solidFill>
                <a:latin typeface="Consolas" panose="020B0609020204030204" pitchFamily="49" charset="0"/>
                <a:cs typeface="Consolas" panose="020B0609020204030204" pitchFamily="49" charset="0"/>
              </a:rPr>
              <a:t>2</a:t>
            </a:r>
          </a:p>
        </p:txBody>
      </p:sp>
      <p:sp>
        <p:nvSpPr>
          <p:cNvPr id="13" name="Text Box 13">
            <a:extLst>
              <a:ext uri="{FF2B5EF4-FFF2-40B4-BE49-F238E27FC236}">
                <a16:creationId xmlns:a16="http://schemas.microsoft.com/office/drawing/2014/main" id="{846895AE-10E8-4E99-ADFF-79A6C7F28F15}"/>
              </a:ext>
            </a:extLst>
          </p:cNvPr>
          <p:cNvSpPr txBox="1">
            <a:spLocks noChangeArrowheads="1"/>
          </p:cNvSpPr>
          <p:nvPr/>
        </p:nvSpPr>
        <p:spPr bwMode="auto">
          <a:xfrm>
            <a:off x="3216053" y="1803162"/>
            <a:ext cx="419761" cy="338554"/>
          </a:xfrm>
          <a:prstGeom prst="rect">
            <a:avLst/>
          </a:prstGeom>
          <a:noFill/>
          <a:ln w="38100" algn="ctr">
            <a:noFill/>
            <a:miter lim="800000"/>
          </a:ln>
          <a:effectLst/>
        </p:spPr>
        <p:txBody>
          <a:bodyPr>
            <a:spAutoFit/>
          </a:bodyPr>
          <a:lstStyle/>
          <a:p>
            <a:pPr>
              <a:spcBef>
                <a:spcPct val="50000"/>
              </a:spcBef>
            </a:pPr>
            <a:r>
              <a:rPr lang="en-US" altLang="zh-CN" sz="1600">
                <a:solidFill>
                  <a:srgbClr val="00B0F0"/>
                </a:solidFill>
                <a:latin typeface="Consolas" panose="020B0609020204030204" pitchFamily="49" charset="0"/>
                <a:cs typeface="Consolas" panose="020B0609020204030204" pitchFamily="49" charset="0"/>
              </a:rPr>
              <a:t>3</a:t>
            </a:r>
          </a:p>
        </p:txBody>
      </p:sp>
      <p:sp>
        <p:nvSpPr>
          <p:cNvPr id="14" name="Text Box 14">
            <a:extLst>
              <a:ext uri="{FF2B5EF4-FFF2-40B4-BE49-F238E27FC236}">
                <a16:creationId xmlns:a16="http://schemas.microsoft.com/office/drawing/2014/main" id="{0789DB4A-E1FB-4705-BF40-FF1F6FB6E717}"/>
              </a:ext>
            </a:extLst>
          </p:cNvPr>
          <p:cNvSpPr txBox="1">
            <a:spLocks noChangeArrowheads="1"/>
          </p:cNvSpPr>
          <p:nvPr/>
        </p:nvSpPr>
        <p:spPr bwMode="auto">
          <a:xfrm>
            <a:off x="3833113" y="1803162"/>
            <a:ext cx="419761" cy="338554"/>
          </a:xfrm>
          <a:prstGeom prst="rect">
            <a:avLst/>
          </a:prstGeom>
          <a:noFill/>
          <a:ln w="38100" algn="ctr">
            <a:noFill/>
            <a:miter lim="800000"/>
          </a:ln>
          <a:effectLst/>
        </p:spPr>
        <p:txBody>
          <a:bodyPr>
            <a:spAutoFit/>
          </a:bodyPr>
          <a:lstStyle/>
          <a:p>
            <a:pPr>
              <a:spcBef>
                <a:spcPct val="50000"/>
              </a:spcBef>
            </a:pPr>
            <a:r>
              <a:rPr lang="en-US" altLang="zh-CN" sz="1600">
                <a:solidFill>
                  <a:srgbClr val="00B0F0"/>
                </a:solidFill>
                <a:latin typeface="Consolas" panose="020B0609020204030204" pitchFamily="49" charset="0"/>
                <a:cs typeface="Consolas" panose="020B0609020204030204" pitchFamily="49" charset="0"/>
              </a:rPr>
              <a:t>4</a:t>
            </a:r>
          </a:p>
        </p:txBody>
      </p:sp>
      <p:sp>
        <p:nvSpPr>
          <p:cNvPr id="15" name="Text Box 15">
            <a:extLst>
              <a:ext uri="{FF2B5EF4-FFF2-40B4-BE49-F238E27FC236}">
                <a16:creationId xmlns:a16="http://schemas.microsoft.com/office/drawing/2014/main" id="{1D15AAA5-8069-40CB-898F-542F1FE56AE6}"/>
              </a:ext>
            </a:extLst>
          </p:cNvPr>
          <p:cNvSpPr txBox="1">
            <a:spLocks noChangeArrowheads="1"/>
          </p:cNvSpPr>
          <p:nvPr/>
        </p:nvSpPr>
        <p:spPr bwMode="auto">
          <a:xfrm>
            <a:off x="4391913" y="1803162"/>
            <a:ext cx="419761" cy="338554"/>
          </a:xfrm>
          <a:prstGeom prst="rect">
            <a:avLst/>
          </a:prstGeom>
          <a:noFill/>
          <a:ln w="38100" algn="ctr">
            <a:noFill/>
            <a:miter lim="800000"/>
          </a:ln>
          <a:effectLst/>
        </p:spPr>
        <p:txBody>
          <a:bodyPr>
            <a:spAutoFit/>
          </a:bodyPr>
          <a:lstStyle/>
          <a:p>
            <a:pPr>
              <a:spcBef>
                <a:spcPct val="50000"/>
              </a:spcBef>
            </a:pPr>
            <a:r>
              <a:rPr lang="en-US" altLang="zh-CN" sz="1600">
                <a:solidFill>
                  <a:srgbClr val="00B0F0"/>
                </a:solidFill>
                <a:latin typeface="Consolas" panose="020B0609020204030204" pitchFamily="49" charset="0"/>
                <a:cs typeface="Consolas" panose="020B0609020204030204" pitchFamily="49" charset="0"/>
              </a:rPr>
              <a:t>5</a:t>
            </a:r>
          </a:p>
        </p:txBody>
      </p:sp>
      <p:sp>
        <p:nvSpPr>
          <p:cNvPr id="16" name="Text Box 16">
            <a:extLst>
              <a:ext uri="{FF2B5EF4-FFF2-40B4-BE49-F238E27FC236}">
                <a16:creationId xmlns:a16="http://schemas.microsoft.com/office/drawing/2014/main" id="{62492A9B-E024-4646-82B9-BFC8356AED63}"/>
              </a:ext>
            </a:extLst>
          </p:cNvPr>
          <p:cNvSpPr txBox="1">
            <a:spLocks noChangeArrowheads="1"/>
          </p:cNvSpPr>
          <p:nvPr/>
        </p:nvSpPr>
        <p:spPr bwMode="auto">
          <a:xfrm>
            <a:off x="1771368" y="3587008"/>
            <a:ext cx="2702624" cy="400110"/>
          </a:xfrm>
          <a:prstGeom prst="rect">
            <a:avLst/>
          </a:prstGeom>
          <a:noFill/>
          <a:ln w="9525">
            <a:noFill/>
            <a:miter lim="800000"/>
          </a:ln>
          <a:effectLst/>
        </p:spPr>
        <p:txBody>
          <a:bodyPr>
            <a:spAutoFit/>
          </a:bodyPr>
          <a:lstStyle/>
          <a:p>
            <a:pPr algn="l">
              <a:spcBef>
                <a:spcPct val="50000"/>
              </a:spcBef>
            </a:pPr>
            <a:r>
              <a:rPr lang="en-US" altLang="zh-CN" sz="2000" i="1" dirty="0">
                <a:latin typeface="Consolas" panose="020B0609020204030204" pitchFamily="49" charset="0"/>
                <a:cs typeface="Consolas" panose="020B0609020204030204" pitchFamily="49" charset="0"/>
              </a:rPr>
              <a:t>k</a:t>
            </a:r>
            <a:r>
              <a:rPr lang="en-US" altLang="zh-CN" sz="2000" dirty="0">
                <a:latin typeface="Consolas" panose="020B0609020204030204" pitchFamily="49" charset="0"/>
                <a:cs typeface="Consolas" panose="020B0609020204030204" pitchFamily="49" charset="0"/>
              </a:rPr>
              <a:t>=3</a:t>
            </a:r>
            <a:r>
              <a:rPr lang="zh-CN" altLang="en-US" sz="2000" dirty="0">
                <a:latin typeface="Consolas" panose="020B0609020204030204" pitchFamily="49" charset="0"/>
                <a:cs typeface="Consolas" panose="020B0609020204030204" pitchFamily="49" charset="0"/>
              </a:rPr>
              <a:t>，</a:t>
            </a:r>
            <a:r>
              <a:rPr lang="en-US" altLang="zh-CN" sz="2000" dirty="0">
                <a:latin typeface="Consolas" panose="020B0609020204030204" pitchFamily="49" charset="0"/>
                <a:cs typeface="Consolas" panose="020B0609020204030204" pitchFamily="49" charset="0"/>
              </a:rPr>
              <a:t>L</a:t>
            </a:r>
            <a:r>
              <a:rPr lang="en-US" altLang="zh-CN" sz="2000" dirty="0">
                <a:latin typeface="Consolas" panose="020B0609020204030204" pitchFamily="49" charset="0"/>
                <a:ea typeface="宋体" panose="02010600030101010101" pitchFamily="2" charset="-122"/>
                <a:cs typeface="Consolas" panose="020B0609020204030204" pitchFamily="49" charset="0"/>
              </a:rPr>
              <a:t>-</a:t>
            </a:r>
            <a:r>
              <a:rPr lang="en-US" altLang="zh-CN" sz="2000" dirty="0">
                <a:latin typeface="Consolas" panose="020B0609020204030204" pitchFamily="49" charset="0"/>
                <a:cs typeface="Consolas" panose="020B0609020204030204" pitchFamily="49" charset="0"/>
              </a:rPr>
              <a:t>&gt;length=</a:t>
            </a:r>
            <a:r>
              <a:rPr lang="en-US" altLang="zh-CN" sz="2000" i="1" dirty="0">
                <a:latin typeface="Consolas" panose="020B0609020204030204" pitchFamily="49" charset="0"/>
                <a:cs typeface="Consolas" panose="020B0609020204030204" pitchFamily="49" charset="0"/>
              </a:rPr>
              <a:t>k</a:t>
            </a:r>
            <a:r>
              <a:rPr lang="en-US" altLang="zh-CN" sz="2000" dirty="0">
                <a:latin typeface="Consolas" panose="020B0609020204030204" pitchFamily="49" charset="0"/>
                <a:cs typeface="Consolas" panose="020B0609020204030204" pitchFamily="49" charset="0"/>
              </a:rPr>
              <a:t>=3</a:t>
            </a:r>
            <a:endParaRPr lang="en-US" altLang="zh-CN" sz="2000" baseline="-25000" dirty="0">
              <a:latin typeface="Consolas" panose="020B0609020204030204" pitchFamily="49" charset="0"/>
              <a:cs typeface="Consolas" panose="020B0609020204030204" pitchFamily="49" charset="0"/>
            </a:endParaRPr>
          </a:p>
        </p:txBody>
      </p:sp>
      <p:sp>
        <p:nvSpPr>
          <p:cNvPr id="17" name="Text Box 17">
            <a:extLst>
              <a:ext uri="{FF2B5EF4-FFF2-40B4-BE49-F238E27FC236}">
                <a16:creationId xmlns:a16="http://schemas.microsoft.com/office/drawing/2014/main" id="{8AC3E0EB-166D-4168-8217-C0CAA45EB9E3}"/>
              </a:ext>
            </a:extLst>
          </p:cNvPr>
          <p:cNvSpPr txBox="1">
            <a:spLocks noChangeArrowheads="1"/>
          </p:cNvSpPr>
          <p:nvPr/>
        </p:nvSpPr>
        <p:spPr bwMode="auto">
          <a:xfrm>
            <a:off x="2772458" y="2326561"/>
            <a:ext cx="421085" cy="523220"/>
          </a:xfrm>
          <a:prstGeom prst="rect">
            <a:avLst/>
          </a:prstGeom>
          <a:solidFill>
            <a:schemeClr val="accent3">
              <a:lumMod val="20000"/>
              <a:lumOff val="80000"/>
            </a:schemeClr>
          </a:solidFill>
          <a:ln w="9525">
            <a:noFill/>
            <a:miter lim="800000"/>
          </a:ln>
          <a:effectLst/>
        </p:spPr>
        <p:txBody>
          <a:bodyPr>
            <a:spAutoFit/>
          </a:bodyPr>
          <a:lstStyle/>
          <a:p>
            <a:pPr algn="l">
              <a:spcBef>
                <a:spcPct val="50000"/>
              </a:spcBef>
            </a:pPr>
            <a:r>
              <a:rPr lang="en-US" altLang="zh-CN" sz="280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Consolas" panose="020B0609020204030204" pitchFamily="49" charset="0"/>
                <a:ea typeface="+mj-ea"/>
                <a:cs typeface="Consolas" panose="020B0609020204030204" pitchFamily="49" charset="0"/>
              </a:rPr>
              <a:t>1</a:t>
            </a:r>
            <a:endParaRPr lang="en-US" altLang="zh-CN" sz="2800" baseline="-2500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Consolas" panose="020B0609020204030204" pitchFamily="49" charset="0"/>
              <a:ea typeface="+mj-ea"/>
              <a:cs typeface="Consolas" panose="020B0609020204030204" pitchFamily="49" charset="0"/>
            </a:endParaRPr>
          </a:p>
        </p:txBody>
      </p:sp>
      <p:sp>
        <p:nvSpPr>
          <p:cNvPr id="18" name="Rectangle 19">
            <a:extLst>
              <a:ext uri="{FF2B5EF4-FFF2-40B4-BE49-F238E27FC236}">
                <a16:creationId xmlns:a16="http://schemas.microsoft.com/office/drawing/2014/main" id="{B579582E-CC1E-4FBE-9021-4280B0AA7F85}"/>
              </a:ext>
            </a:extLst>
          </p:cNvPr>
          <p:cNvSpPr>
            <a:spLocks noChangeArrowheads="1"/>
          </p:cNvSpPr>
          <p:nvPr/>
        </p:nvSpPr>
        <p:spPr bwMode="auto">
          <a:xfrm>
            <a:off x="5953106" y="2199441"/>
            <a:ext cx="1202343" cy="660759"/>
          </a:xfrm>
          <a:prstGeom prst="rect">
            <a:avLst/>
          </a:prstGeom>
          <a:solidFill>
            <a:schemeClr val="accent3">
              <a:lumMod val="20000"/>
              <a:lumOff val="80000"/>
            </a:schemeClr>
          </a:solidFill>
        </p:spPr>
        <p:style>
          <a:lnRef idx="1">
            <a:schemeClr val="accent3"/>
          </a:lnRef>
          <a:fillRef idx="2">
            <a:schemeClr val="accent3"/>
          </a:fillRef>
          <a:effectRef idx="1">
            <a:schemeClr val="accent3"/>
          </a:effectRef>
          <a:fontRef idx="minor">
            <a:schemeClr val="dk1"/>
          </a:fontRef>
        </p:style>
        <p:txBody>
          <a:bodyPr wrap="none" anchor="ctr"/>
          <a:lstStyle/>
          <a:p>
            <a:endParaRPr lang="zh-CN" altLang="en-US" sz="2000">
              <a:latin typeface="Consolas" panose="020B0609020204030204" pitchFamily="49" charset="0"/>
              <a:cs typeface="Consolas" panose="020B0609020204030204" pitchFamily="49" charset="0"/>
            </a:endParaRPr>
          </a:p>
        </p:txBody>
      </p:sp>
      <p:sp>
        <p:nvSpPr>
          <p:cNvPr id="19" name="Text Box 20">
            <a:extLst>
              <a:ext uri="{FF2B5EF4-FFF2-40B4-BE49-F238E27FC236}">
                <a16:creationId xmlns:a16="http://schemas.microsoft.com/office/drawing/2014/main" id="{CBFBA918-668C-450F-AD48-8471C8820FC3}"/>
              </a:ext>
            </a:extLst>
          </p:cNvPr>
          <p:cNvSpPr txBox="1">
            <a:spLocks noChangeArrowheads="1"/>
          </p:cNvSpPr>
          <p:nvPr/>
        </p:nvSpPr>
        <p:spPr bwMode="auto">
          <a:xfrm>
            <a:off x="6194105" y="1877481"/>
            <a:ext cx="880588" cy="246221"/>
          </a:xfrm>
          <a:prstGeom prst="rect">
            <a:avLst/>
          </a:prstGeom>
          <a:noFill/>
          <a:ln w="9525">
            <a:noFill/>
            <a:miter lim="800000"/>
          </a:ln>
          <a:effectLst/>
        </p:spPr>
        <p:txBody>
          <a:bodyPr wrap="square" lIns="0" tIns="0" rIns="0" bIns="0">
            <a:spAutoFit/>
          </a:bodyPr>
          <a:lstStyle/>
          <a:p>
            <a:pPr algn="l">
              <a:spcBef>
                <a:spcPct val="50000"/>
              </a:spcBef>
            </a:pPr>
            <a:r>
              <a:rPr lang="en-US" altLang="zh-CN" sz="1600">
                <a:solidFill>
                  <a:srgbClr val="00B0F0"/>
                </a:solidFill>
                <a:latin typeface="Consolas" panose="020B0609020204030204" pitchFamily="49" charset="0"/>
                <a:cs typeface="Consolas" panose="020B0609020204030204" pitchFamily="49" charset="0"/>
              </a:rPr>
              <a:t>length</a:t>
            </a:r>
          </a:p>
        </p:txBody>
      </p:sp>
      <p:sp>
        <p:nvSpPr>
          <p:cNvPr id="20" name="Text Box 21">
            <a:extLst>
              <a:ext uri="{FF2B5EF4-FFF2-40B4-BE49-F238E27FC236}">
                <a16:creationId xmlns:a16="http://schemas.microsoft.com/office/drawing/2014/main" id="{E108AAA9-04FC-4E7C-8762-89D253DA4C2B}"/>
              </a:ext>
            </a:extLst>
          </p:cNvPr>
          <p:cNvSpPr txBox="1">
            <a:spLocks noChangeArrowheads="1"/>
          </p:cNvSpPr>
          <p:nvPr/>
        </p:nvSpPr>
        <p:spPr bwMode="auto">
          <a:xfrm>
            <a:off x="6253692" y="2383500"/>
            <a:ext cx="599848" cy="307777"/>
          </a:xfrm>
          <a:prstGeom prst="rect">
            <a:avLst/>
          </a:prstGeom>
          <a:noFill/>
          <a:ln w="9525">
            <a:noFill/>
            <a:miter lim="800000"/>
          </a:ln>
          <a:effectLst/>
        </p:spPr>
        <p:txBody>
          <a:bodyPr lIns="0" tIns="0" rIns="0" bIns="0">
            <a:spAutoFit/>
          </a:bodyPr>
          <a:lstStyle/>
          <a:p>
            <a:pPr>
              <a:spcBef>
                <a:spcPct val="50000"/>
              </a:spcBef>
            </a:pPr>
            <a:r>
              <a:rPr lang="en-US" altLang="zh-CN" sz="2000">
                <a:latin typeface="Consolas" panose="020B0609020204030204" pitchFamily="49" charset="0"/>
                <a:cs typeface="Consolas" panose="020B0609020204030204" pitchFamily="49" charset="0"/>
              </a:rPr>
              <a:t>6</a:t>
            </a:r>
          </a:p>
        </p:txBody>
      </p:sp>
      <p:sp>
        <p:nvSpPr>
          <p:cNvPr id="21" name="Text Box 22">
            <a:extLst>
              <a:ext uri="{FF2B5EF4-FFF2-40B4-BE49-F238E27FC236}">
                <a16:creationId xmlns:a16="http://schemas.microsoft.com/office/drawing/2014/main" id="{A2AC7632-B4AD-49D1-9A81-F72E040E2034}"/>
              </a:ext>
            </a:extLst>
          </p:cNvPr>
          <p:cNvSpPr txBox="1">
            <a:spLocks noChangeArrowheads="1"/>
          </p:cNvSpPr>
          <p:nvPr/>
        </p:nvSpPr>
        <p:spPr bwMode="auto">
          <a:xfrm>
            <a:off x="6253692" y="2383497"/>
            <a:ext cx="599848" cy="307777"/>
          </a:xfrm>
          <a:prstGeom prst="rect">
            <a:avLst/>
          </a:prstGeom>
          <a:solidFill>
            <a:schemeClr val="accent3">
              <a:lumMod val="20000"/>
              <a:lumOff val="80000"/>
            </a:schemeClr>
          </a:solidFill>
          <a:ln w="9525">
            <a:noFill/>
            <a:miter lim="800000"/>
          </a:ln>
          <a:effectLst/>
        </p:spPr>
        <p:txBody>
          <a:bodyPr lIns="0" tIns="0" rIns="0" bIns="0">
            <a:spAutoFit/>
          </a:bodyPr>
          <a:lstStyle/>
          <a:p>
            <a:pPr>
              <a:spcBef>
                <a:spcPct val="50000"/>
              </a:spcBef>
            </a:pPr>
            <a:r>
              <a:rPr lang="en-US" altLang="zh-CN" sz="2000" dirty="0">
                <a:latin typeface="Consolas" panose="020B0609020204030204" pitchFamily="49" charset="0"/>
                <a:cs typeface="Consolas" panose="020B0609020204030204" pitchFamily="49" charset="0"/>
              </a:rPr>
              <a:t>3</a:t>
            </a:r>
          </a:p>
        </p:txBody>
      </p:sp>
      <p:sp>
        <p:nvSpPr>
          <p:cNvPr id="22" name="Text Box 23">
            <a:extLst>
              <a:ext uri="{FF2B5EF4-FFF2-40B4-BE49-F238E27FC236}">
                <a16:creationId xmlns:a16="http://schemas.microsoft.com/office/drawing/2014/main" id="{76B74E98-8DA2-4136-8024-9D75947364C5}"/>
              </a:ext>
            </a:extLst>
          </p:cNvPr>
          <p:cNvSpPr txBox="1">
            <a:spLocks noChangeArrowheads="1"/>
          </p:cNvSpPr>
          <p:nvPr/>
        </p:nvSpPr>
        <p:spPr bwMode="auto">
          <a:xfrm>
            <a:off x="3606889" y="4284685"/>
            <a:ext cx="1622104" cy="400110"/>
          </a:xfrm>
          <a:prstGeom prst="rect">
            <a:avLst/>
          </a:prstGeom>
          <a:noFill/>
          <a:ln w="9525">
            <a:noFill/>
            <a:miter lim="800000"/>
          </a:ln>
          <a:effectLst/>
        </p:spPr>
        <p:txBody>
          <a:bodyPr>
            <a:spAutoFit/>
          </a:bodyPr>
          <a:lstStyle/>
          <a:p>
            <a:pPr algn="l">
              <a:spcBef>
                <a:spcPct val="50000"/>
              </a:spcBef>
            </a:pPr>
            <a:r>
              <a:rPr lang="zh-CN" altLang="en-US" sz="2000" dirty="0">
                <a:solidFill>
                  <a:srgbClr val="FF00FF"/>
                </a:solidFill>
                <a:latin typeface="Consolas" panose="020B0609020204030204" pitchFamily="49" charset="0"/>
                <a:ea typeface="黑体" panose="02010609060101010101" pitchFamily="49" charset="-122"/>
                <a:cs typeface="Consolas" panose="020B0609020204030204" pitchFamily="49" charset="0"/>
              </a:rPr>
              <a:t>删除完成</a:t>
            </a:r>
          </a:p>
        </p:txBody>
      </p:sp>
      <p:sp>
        <p:nvSpPr>
          <p:cNvPr id="23" name="Text Box 9">
            <a:extLst>
              <a:ext uri="{FF2B5EF4-FFF2-40B4-BE49-F238E27FC236}">
                <a16:creationId xmlns:a16="http://schemas.microsoft.com/office/drawing/2014/main" id="{94867685-7036-403C-AAF9-1C0E50B86F71}"/>
              </a:ext>
            </a:extLst>
          </p:cNvPr>
          <p:cNvSpPr txBox="1">
            <a:spLocks noChangeArrowheads="1"/>
          </p:cNvSpPr>
          <p:nvPr/>
        </p:nvSpPr>
        <p:spPr bwMode="auto">
          <a:xfrm>
            <a:off x="3882110" y="2337155"/>
            <a:ext cx="421085" cy="523220"/>
          </a:xfrm>
          <a:prstGeom prst="rect">
            <a:avLst/>
          </a:prstGeom>
          <a:solidFill>
            <a:schemeClr val="accent3">
              <a:lumMod val="20000"/>
              <a:lumOff val="80000"/>
            </a:schemeClr>
          </a:solidFill>
          <a:ln w="9525">
            <a:noFill/>
            <a:miter lim="800000"/>
          </a:ln>
          <a:effectLst/>
        </p:spPr>
        <p:txBody>
          <a:bodyPr>
            <a:spAutoFit/>
          </a:bodyPr>
          <a:lstStyle/>
          <a:p>
            <a:pPr algn="l">
              <a:spcBef>
                <a:spcPct val="50000"/>
              </a:spcBef>
            </a:pPr>
            <a:r>
              <a:rPr lang="en-US" altLang="zh-CN" sz="280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Consolas" panose="020B0609020204030204" pitchFamily="49" charset="0"/>
                <a:cs typeface="Consolas" panose="020B0609020204030204" pitchFamily="49" charset="0"/>
              </a:rPr>
              <a:t>3</a:t>
            </a:r>
            <a:endParaRPr lang="en-US" altLang="zh-CN" sz="2800" baseline="-25000" dirty="0">
              <a:solidFill>
                <a:srgbClr val="FF00FF"/>
              </a:solidFill>
              <a:latin typeface="Consolas" panose="020B0609020204030204" pitchFamily="49" charset="0"/>
              <a:cs typeface="Consolas" panose="020B0609020204030204" pitchFamily="49" charset="0"/>
            </a:endParaRPr>
          </a:p>
        </p:txBody>
      </p:sp>
      <p:sp>
        <p:nvSpPr>
          <p:cNvPr id="24" name="TextBox 27">
            <a:extLst>
              <a:ext uri="{FF2B5EF4-FFF2-40B4-BE49-F238E27FC236}">
                <a16:creationId xmlns:a16="http://schemas.microsoft.com/office/drawing/2014/main" id="{6A3EAC4B-8B93-4CEF-AB8E-702A1A214F6B}"/>
              </a:ext>
            </a:extLst>
          </p:cNvPr>
          <p:cNvSpPr txBox="1"/>
          <p:nvPr/>
        </p:nvSpPr>
        <p:spPr>
          <a:xfrm>
            <a:off x="1771368" y="3098552"/>
            <a:ext cx="834231" cy="461665"/>
          </a:xfrm>
          <a:prstGeom prst="rect">
            <a:avLst/>
          </a:prstGeom>
          <a:solidFill>
            <a:schemeClr val="bg1"/>
          </a:solidFill>
        </p:spPr>
        <p:txBody>
          <a:bodyPr wrap="square" rtlCol="0">
            <a:spAutoFit/>
          </a:bodyPr>
          <a:lstStyle/>
          <a:p>
            <a:r>
              <a:rPr lang="en-US" altLang="zh-CN" sz="2400" i="1">
                <a:latin typeface="Consolas" panose="020B0609020204030204" pitchFamily="49" charset="0"/>
                <a:cs typeface="Consolas" panose="020B0609020204030204" pitchFamily="49" charset="0"/>
              </a:rPr>
              <a:t>k</a:t>
            </a:r>
            <a:r>
              <a:rPr lang="en-US" altLang="zh-CN" sz="2400">
                <a:latin typeface="Consolas" panose="020B0609020204030204" pitchFamily="49" charset="0"/>
                <a:cs typeface="Consolas" panose="020B0609020204030204" pitchFamily="49" charset="0"/>
              </a:rPr>
              <a:t>=0</a:t>
            </a:r>
            <a:endParaRPr lang="zh-CN" altLang="en-US" sz="2400" dirty="0">
              <a:latin typeface="Consolas" panose="020B0609020204030204" pitchFamily="49" charset="0"/>
              <a:cs typeface="Consolas" panose="020B0609020204030204" pitchFamily="49" charset="0"/>
            </a:endParaRPr>
          </a:p>
        </p:txBody>
      </p:sp>
      <p:sp>
        <p:nvSpPr>
          <p:cNvPr id="25" name="TextBox 22">
            <a:extLst>
              <a:ext uri="{FF2B5EF4-FFF2-40B4-BE49-F238E27FC236}">
                <a16:creationId xmlns:a16="http://schemas.microsoft.com/office/drawing/2014/main" id="{F896C4DC-3348-4BF8-AD91-E8EDC84FDD1E}"/>
              </a:ext>
            </a:extLst>
          </p:cNvPr>
          <p:cNvSpPr txBox="1"/>
          <p:nvPr/>
        </p:nvSpPr>
        <p:spPr>
          <a:xfrm>
            <a:off x="1771368" y="3098552"/>
            <a:ext cx="834231" cy="461665"/>
          </a:xfrm>
          <a:prstGeom prst="rect">
            <a:avLst/>
          </a:prstGeom>
          <a:solidFill>
            <a:schemeClr val="bg1"/>
          </a:solidFill>
        </p:spPr>
        <p:txBody>
          <a:bodyPr wrap="square" rtlCol="0">
            <a:spAutoFit/>
          </a:bodyPr>
          <a:lstStyle/>
          <a:p>
            <a:r>
              <a:rPr lang="en-US" altLang="zh-CN" sz="2400" i="1" dirty="0">
                <a:latin typeface="Consolas" panose="020B0609020204030204" pitchFamily="49" charset="0"/>
                <a:cs typeface="Consolas" panose="020B0609020204030204" pitchFamily="49" charset="0"/>
              </a:rPr>
              <a:t>k</a:t>
            </a:r>
            <a:r>
              <a:rPr lang="en-US" altLang="zh-CN" sz="2400" dirty="0">
                <a:latin typeface="Consolas" panose="020B0609020204030204" pitchFamily="49" charset="0"/>
                <a:cs typeface="Consolas" panose="020B0609020204030204" pitchFamily="49" charset="0"/>
              </a:rPr>
              <a:t>=1</a:t>
            </a:r>
            <a:endParaRPr lang="zh-CN" altLang="en-US" sz="2400" dirty="0">
              <a:latin typeface="Consolas" panose="020B0609020204030204" pitchFamily="49" charset="0"/>
              <a:cs typeface="Consolas" panose="020B0609020204030204" pitchFamily="49" charset="0"/>
            </a:endParaRPr>
          </a:p>
        </p:txBody>
      </p:sp>
      <p:sp>
        <p:nvSpPr>
          <p:cNvPr id="26" name="TextBox 23">
            <a:extLst>
              <a:ext uri="{FF2B5EF4-FFF2-40B4-BE49-F238E27FC236}">
                <a16:creationId xmlns:a16="http://schemas.microsoft.com/office/drawing/2014/main" id="{AD961504-63B9-4677-9947-421B25BF79FD}"/>
              </a:ext>
            </a:extLst>
          </p:cNvPr>
          <p:cNvSpPr txBox="1"/>
          <p:nvPr/>
        </p:nvSpPr>
        <p:spPr>
          <a:xfrm>
            <a:off x="1771368" y="3098552"/>
            <a:ext cx="834231" cy="461665"/>
          </a:xfrm>
          <a:prstGeom prst="rect">
            <a:avLst/>
          </a:prstGeom>
          <a:solidFill>
            <a:schemeClr val="bg1"/>
          </a:solidFill>
        </p:spPr>
        <p:txBody>
          <a:bodyPr wrap="square" rtlCol="0">
            <a:spAutoFit/>
          </a:bodyPr>
          <a:lstStyle/>
          <a:p>
            <a:r>
              <a:rPr lang="en-US" altLang="zh-CN" sz="2400" i="1" dirty="0">
                <a:latin typeface="Consolas" panose="020B0609020204030204" pitchFamily="49" charset="0"/>
                <a:cs typeface="Consolas" panose="020B0609020204030204" pitchFamily="49" charset="0"/>
              </a:rPr>
              <a:t>k</a:t>
            </a:r>
            <a:r>
              <a:rPr lang="en-US" altLang="zh-CN" sz="2400" dirty="0">
                <a:latin typeface="Consolas" panose="020B0609020204030204" pitchFamily="49" charset="0"/>
                <a:cs typeface="Consolas" panose="020B0609020204030204" pitchFamily="49" charset="0"/>
              </a:rPr>
              <a:t>=2</a:t>
            </a:r>
            <a:endParaRPr lang="zh-CN" altLang="en-US" sz="2400" dirty="0">
              <a:latin typeface="Consolas" panose="020B0609020204030204" pitchFamily="49" charset="0"/>
              <a:cs typeface="Consolas" panose="020B0609020204030204" pitchFamily="49" charset="0"/>
            </a:endParaRPr>
          </a:p>
        </p:txBody>
      </p:sp>
      <p:sp>
        <p:nvSpPr>
          <p:cNvPr id="27" name="TextBox 24">
            <a:extLst>
              <a:ext uri="{FF2B5EF4-FFF2-40B4-BE49-F238E27FC236}">
                <a16:creationId xmlns:a16="http://schemas.microsoft.com/office/drawing/2014/main" id="{20133521-B68D-41A0-88B7-FB8E74113929}"/>
              </a:ext>
            </a:extLst>
          </p:cNvPr>
          <p:cNvSpPr txBox="1"/>
          <p:nvPr/>
        </p:nvSpPr>
        <p:spPr>
          <a:xfrm>
            <a:off x="1771368" y="3098552"/>
            <a:ext cx="834231" cy="400110"/>
          </a:xfrm>
          <a:prstGeom prst="rect">
            <a:avLst/>
          </a:prstGeom>
          <a:solidFill>
            <a:schemeClr val="bg1"/>
          </a:solidFill>
        </p:spPr>
        <p:txBody>
          <a:bodyPr wrap="square" rtlCol="0">
            <a:spAutoFit/>
          </a:bodyPr>
          <a:lstStyle/>
          <a:p>
            <a:r>
              <a:rPr lang="en-US" altLang="zh-CN" sz="2000" i="1" dirty="0">
                <a:latin typeface="Consolas" panose="020B0609020204030204" pitchFamily="49" charset="0"/>
                <a:cs typeface="Consolas" panose="020B0609020204030204" pitchFamily="49" charset="0"/>
              </a:rPr>
              <a:t>k</a:t>
            </a:r>
            <a:r>
              <a:rPr lang="en-US" altLang="zh-CN" sz="2000" dirty="0">
                <a:latin typeface="Consolas" panose="020B0609020204030204" pitchFamily="49" charset="0"/>
                <a:cs typeface="Consolas" panose="020B0609020204030204" pitchFamily="49" charset="0"/>
              </a:rPr>
              <a:t>=3</a:t>
            </a:r>
            <a:endParaRPr lang="zh-CN" altLang="en-US" sz="20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788803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7"/>
                                        </p:tgtEl>
                                      </p:cBhvr>
                                    </p:animEffect>
                                    <p:animScale>
                                      <p:cBhvr>
                                        <p:cTn id="7" dur="250" autoRev="1" fill="hold"/>
                                        <p:tgtEl>
                                          <p:spTgt spid="7"/>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0" presetClass="path" presetSubtype="0" accel="50000" decel="50000" fill="hold" grpId="1" nodeType="clickEffect">
                                  <p:stCondLst>
                                    <p:cond delay="0"/>
                                  </p:stCondLst>
                                  <p:childTnLst>
                                    <p:animMotion origin="layout" path="M 0.00139 0.00879 C 0.00364 0.00555 0.0118 0.00231 0.01527 -0.01297 C 0.01875 -0.02824 0.02691 -0.0706 0.02222 -0.08334 C 0.01753 -0.09607 -0.00886 -0.10324 -0.0125 -0.08889 C -0.01615 -0.07454 -0.00261 -0.01597 3.33333E-6 0.00324 " pathEditMode="relative" rAng="0" ptsTypes="aaaaa">
                                      <p:cBhvr>
                                        <p:cTn id="11" dur="2000" fill="hold"/>
                                        <p:tgtEl>
                                          <p:spTgt spid="7"/>
                                        </p:tgtEl>
                                        <p:attrNameLst>
                                          <p:attrName>ppt_x</p:attrName>
                                          <p:attrName>ppt_y</p:attrName>
                                        </p:attrNameLst>
                                      </p:cBhvr>
                                      <p:rCtr x="400" y="-5600"/>
                                    </p:animMotion>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6" presetClass="emph" presetSubtype="0" fill="hold" grpId="0" nodeType="clickEffect">
                                  <p:stCondLst>
                                    <p:cond delay="0"/>
                                  </p:stCondLst>
                                  <p:childTnLst>
                                    <p:animEffect transition="out" filter="fade">
                                      <p:cBhvr>
                                        <p:cTn id="19" dur="500" tmFilter="0, 0; .2, .5; .8, .5; 1, 0"/>
                                        <p:tgtEl>
                                          <p:spTgt spid="8"/>
                                        </p:tgtEl>
                                      </p:cBhvr>
                                    </p:animEffect>
                                    <p:animScale>
                                      <p:cBhvr>
                                        <p:cTn id="20" dur="250" autoRev="1" fill="hold"/>
                                        <p:tgtEl>
                                          <p:spTgt spid="8"/>
                                        </p:tgtEl>
                                      </p:cBhvr>
                                      <p:by x="105000" y="105000"/>
                                    </p:animScale>
                                  </p:childTnLst>
                                </p:cTn>
                              </p:par>
                            </p:childTnLst>
                          </p:cTn>
                        </p:par>
                      </p:childTnLst>
                    </p:cTn>
                  </p:par>
                  <p:par>
                    <p:cTn id="21" fill="hold">
                      <p:stCondLst>
                        <p:cond delay="indefinite"/>
                      </p:stCondLst>
                      <p:childTnLst>
                        <p:par>
                          <p:cTn id="22" fill="hold">
                            <p:stCondLst>
                              <p:cond delay="0"/>
                            </p:stCondLst>
                            <p:childTnLst>
                              <p:par>
                                <p:cTn id="23" presetID="26" presetClass="emph" presetSubtype="0" fill="hold" grpId="0" nodeType="clickEffect">
                                  <p:stCondLst>
                                    <p:cond delay="0"/>
                                  </p:stCondLst>
                                  <p:childTnLst>
                                    <p:animEffect transition="out" filter="fade">
                                      <p:cBhvr>
                                        <p:cTn id="24" dur="500" tmFilter="0, 0; .2, .5; .8, .5; 1, 0"/>
                                        <p:tgtEl>
                                          <p:spTgt spid="17"/>
                                        </p:tgtEl>
                                      </p:cBhvr>
                                    </p:animEffect>
                                    <p:animScale>
                                      <p:cBhvr>
                                        <p:cTn id="25" dur="250" autoRev="1" fill="hold"/>
                                        <p:tgtEl>
                                          <p:spTgt spid="17"/>
                                        </p:tgtEl>
                                      </p:cBhvr>
                                      <p:by x="105000" y="105000"/>
                                    </p:animScale>
                                  </p:childTnLst>
                                </p:cTn>
                              </p:par>
                            </p:childTnLst>
                          </p:cTn>
                        </p:par>
                      </p:childTnLst>
                    </p:cTn>
                  </p:par>
                  <p:par>
                    <p:cTn id="26" fill="hold">
                      <p:stCondLst>
                        <p:cond delay="indefinite"/>
                      </p:stCondLst>
                      <p:childTnLst>
                        <p:par>
                          <p:cTn id="27" fill="hold">
                            <p:stCondLst>
                              <p:cond delay="0"/>
                            </p:stCondLst>
                            <p:childTnLst>
                              <p:par>
                                <p:cTn id="28" presetID="0" presetClass="path" presetSubtype="0" accel="50000" decel="50000" fill="hold" grpId="1" nodeType="clickEffect">
                                  <p:stCondLst>
                                    <p:cond delay="0"/>
                                  </p:stCondLst>
                                  <p:childTnLst>
                                    <p:animMotion origin="layout" path="M 3.33333E-6 -4.44444E-6 C 0.00833 -0.03333 0.01684 -0.06643 0.00694 -0.08148 C -0.00295 -0.09652 -0.04462 -0.10463 -0.05973 -0.09074 C -0.07483 -0.07685 -0.07848 -0.01736 -0.08334 0.00186 " pathEditMode="relative" rAng="0" ptsTypes="aaaa">
                                      <p:cBhvr>
                                        <p:cTn id="29" dur="2000" fill="hold"/>
                                        <p:tgtEl>
                                          <p:spTgt spid="17"/>
                                        </p:tgtEl>
                                        <p:attrNameLst>
                                          <p:attrName>ppt_x</p:attrName>
                                          <p:attrName>ppt_y</p:attrName>
                                        </p:attrNameLst>
                                      </p:cBhvr>
                                      <p:rCtr x="-3300" y="-5100"/>
                                    </p:animMotion>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26"/>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26" presetClass="emph" presetSubtype="0" fill="hold" grpId="0" nodeType="clickEffect">
                                  <p:stCondLst>
                                    <p:cond delay="0"/>
                                  </p:stCondLst>
                                  <p:childTnLst>
                                    <p:animEffect transition="out" filter="fade">
                                      <p:cBhvr>
                                        <p:cTn id="37" dur="500" tmFilter="0, 0; .2, .5; .8, .5; 1, 0"/>
                                        <p:tgtEl>
                                          <p:spTgt spid="9"/>
                                        </p:tgtEl>
                                      </p:cBhvr>
                                    </p:animEffect>
                                    <p:animScale>
                                      <p:cBhvr>
                                        <p:cTn id="38" dur="250" autoRev="1" fill="hold"/>
                                        <p:tgtEl>
                                          <p:spTgt spid="9"/>
                                        </p:tgtEl>
                                      </p:cBhvr>
                                      <p:by x="105000" y="105000"/>
                                    </p:animScale>
                                  </p:childTnLst>
                                </p:cTn>
                              </p:par>
                            </p:childTnLst>
                          </p:cTn>
                        </p:par>
                      </p:childTnLst>
                    </p:cTn>
                  </p:par>
                  <p:par>
                    <p:cTn id="39" fill="hold">
                      <p:stCondLst>
                        <p:cond delay="indefinite"/>
                      </p:stCondLst>
                      <p:childTnLst>
                        <p:par>
                          <p:cTn id="40" fill="hold">
                            <p:stCondLst>
                              <p:cond delay="0"/>
                            </p:stCondLst>
                            <p:childTnLst>
                              <p:par>
                                <p:cTn id="41" presetID="26" presetClass="emph" presetSubtype="0" fill="hold" grpId="0" nodeType="clickEffect">
                                  <p:stCondLst>
                                    <p:cond delay="0"/>
                                  </p:stCondLst>
                                  <p:childTnLst>
                                    <p:animEffect transition="out" filter="fade">
                                      <p:cBhvr>
                                        <p:cTn id="42" dur="500" tmFilter="0, 0; .2, .5; .8, .5; 1, 0"/>
                                        <p:tgtEl>
                                          <p:spTgt spid="23"/>
                                        </p:tgtEl>
                                      </p:cBhvr>
                                    </p:animEffect>
                                    <p:animScale>
                                      <p:cBhvr>
                                        <p:cTn id="43" dur="250" autoRev="1" fill="hold"/>
                                        <p:tgtEl>
                                          <p:spTgt spid="23"/>
                                        </p:tgtEl>
                                      </p:cBhvr>
                                      <p:by x="105000" y="105000"/>
                                    </p:animScale>
                                  </p:childTnLst>
                                </p:cTn>
                              </p:par>
                            </p:childTnLst>
                          </p:cTn>
                        </p:par>
                      </p:childTnLst>
                    </p:cTn>
                  </p:par>
                  <p:par>
                    <p:cTn id="44" fill="hold">
                      <p:stCondLst>
                        <p:cond delay="indefinite"/>
                      </p:stCondLst>
                      <p:childTnLst>
                        <p:par>
                          <p:cTn id="45" fill="hold">
                            <p:stCondLst>
                              <p:cond delay="0"/>
                            </p:stCondLst>
                            <p:childTnLst>
                              <p:par>
                                <p:cTn id="46" presetID="0" presetClass="path" presetSubtype="0" accel="50000" decel="50000" fill="hold" grpId="1" nodeType="clickEffect">
                                  <p:stCondLst>
                                    <p:cond delay="0"/>
                                  </p:stCondLst>
                                  <p:childTnLst>
                                    <p:animMotion origin="layout" path="M 0 0 C 0.00556 -0.02454 0.01111 -0.04907 0.00417 -0.06667 C -0.00278 -0.08426 -0.02135 -0.10301 -0.04167 -0.10555 C -0.06198 -0.1081 -0.10017 -0.09907 -0.11806 -0.08148 C -0.13594 -0.06389 -0.14236 -0.03194 -0.14861 0 " pathEditMode="relative" ptsTypes="aaaaA">
                                      <p:cBhvr>
                                        <p:cTn id="47" dur="2000" fill="hold"/>
                                        <p:tgtEl>
                                          <p:spTgt spid="23"/>
                                        </p:tgtEl>
                                        <p:attrNameLst>
                                          <p:attrName>ppt_x</p:attrName>
                                          <p:attrName>ppt_y</p:attrName>
                                        </p:attrNameLst>
                                      </p:cBhvr>
                                    </p:animMotion>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27"/>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26" presetClass="emph" presetSubtype="0" fill="hold" grpId="0" nodeType="clickEffect">
                                  <p:stCondLst>
                                    <p:cond delay="0"/>
                                  </p:stCondLst>
                                  <p:childTnLst>
                                    <p:animEffect transition="out" filter="fade">
                                      <p:cBhvr>
                                        <p:cTn id="55" dur="500" tmFilter="0, 0; .2, .5; .8, .5; 1, 0"/>
                                        <p:tgtEl>
                                          <p:spTgt spid="10"/>
                                        </p:tgtEl>
                                      </p:cBhvr>
                                    </p:animEffect>
                                    <p:animScale>
                                      <p:cBhvr>
                                        <p:cTn id="56" dur="250" autoRev="1" fill="hold"/>
                                        <p:tgtEl>
                                          <p:spTgt spid="10"/>
                                        </p:tgtEl>
                                      </p:cBhvr>
                                      <p:by x="105000" y="105000"/>
                                    </p:animScale>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6"/>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21"/>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7" grpId="1" bldLvl="0" animBg="1"/>
      <p:bldP spid="8" grpId="0" bldLvl="0" animBg="1"/>
      <p:bldP spid="9" grpId="0" bldLvl="0" animBg="1"/>
      <p:bldP spid="10" grpId="0" bldLvl="0" animBg="1"/>
      <p:bldP spid="16" grpId="0" bldLvl="0" animBg="1"/>
      <p:bldP spid="17" grpId="0" bldLvl="0" animBg="1"/>
      <p:bldP spid="17" grpId="1" bldLvl="0" animBg="1"/>
      <p:bldP spid="21" grpId="0" bldLvl="0" animBg="1"/>
      <p:bldP spid="22" grpId="0" bldLvl="0" animBg="1"/>
      <p:bldP spid="23" grpId="0" bldLvl="0" animBg="1"/>
      <p:bldP spid="23" grpId="1" bldLvl="0" animBg="1"/>
      <p:bldP spid="25" grpId="0" bldLvl="0" animBg="1"/>
      <p:bldP spid="26" grpId="0" bldLvl="0" animBg="1"/>
      <p:bldP spid="27" grpId="0" bldLvl="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503EC411-A869-4FC3-A0B3-282B5D06A089}"/>
              </a:ext>
            </a:extLst>
          </p:cNvPr>
          <p:cNvSpPr txBox="1">
            <a:spLocks noChangeArrowheads="1"/>
          </p:cNvSpPr>
          <p:nvPr/>
        </p:nvSpPr>
        <p:spPr bwMode="auto">
          <a:xfrm>
            <a:off x="2627784" y="980728"/>
            <a:ext cx="3096344" cy="461665"/>
          </a:xfrm>
          <a:prstGeom prst="rect">
            <a:avLst/>
          </a:prstGeom>
          <a:noFill/>
          <a:ln w="9525">
            <a:noFill/>
            <a:miter lim="800000"/>
          </a:ln>
          <a:effectLst/>
        </p:spPr>
        <p:txBody>
          <a:bodyPr wrap="square">
            <a:spAutoFit/>
          </a:bodyPr>
          <a:lstStyle/>
          <a:p>
            <a:pPr algn="l"/>
            <a:r>
              <a:rPr lang="zh-CN" altLang="en-US" sz="2400" dirty="0">
                <a:latin typeface="楷体" panose="02010609060101010101" pitchFamily="49" charset="-122"/>
                <a:ea typeface="楷体" panose="02010609060101010101" pitchFamily="49" charset="-122"/>
              </a:rPr>
              <a:t>对应的算法如下：</a:t>
            </a:r>
          </a:p>
        </p:txBody>
      </p:sp>
      <p:sp>
        <p:nvSpPr>
          <p:cNvPr id="5" name="Text Box 3">
            <a:extLst>
              <a:ext uri="{FF2B5EF4-FFF2-40B4-BE49-F238E27FC236}">
                <a16:creationId xmlns:a16="http://schemas.microsoft.com/office/drawing/2014/main" id="{E27572F4-0163-42BE-89E3-43F345D93E48}"/>
              </a:ext>
            </a:extLst>
          </p:cNvPr>
          <p:cNvSpPr txBox="1">
            <a:spLocks noChangeArrowheads="1"/>
          </p:cNvSpPr>
          <p:nvPr/>
        </p:nvSpPr>
        <p:spPr bwMode="auto">
          <a:xfrm>
            <a:off x="755576" y="1844824"/>
            <a:ext cx="8064896" cy="3628114"/>
          </a:xfrm>
          <a:prstGeom prst="rect">
            <a:avLst/>
          </a:prstGeom>
          <a:solidFill>
            <a:schemeClr val="bg1">
              <a:lumMod val="9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3"/>
          </a:lnRef>
          <a:fillRef idx="2">
            <a:schemeClr val="accent3"/>
          </a:fillRef>
          <a:effectRef idx="1">
            <a:schemeClr val="accent3"/>
          </a:effectRef>
          <a:fontRef idx="minor">
            <a:schemeClr val="dk1"/>
          </a:fontRef>
        </p:style>
        <p:txBody>
          <a:bodyPr wrap="square" lIns="120113" tIns="120113" bIns="120113">
            <a:spAutoFit/>
          </a:bodyPr>
          <a:lstStyle/>
          <a:p>
            <a:pPr algn="l"/>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2000" dirty="0">
                <a:solidFill>
                  <a:srgbClr val="FF3300"/>
                </a:solidFill>
                <a:latin typeface="Consolas" panose="020B0609020204030204" pitchFamily="49" charset="0"/>
                <a:ea typeface="仿宋" panose="02010609060101010101" pitchFamily="49" charset="-122"/>
                <a:cs typeface="Consolas" panose="020B0609020204030204" pitchFamily="49" charset="0"/>
              </a:rPr>
              <a:t>delnode1</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SqList</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 *&amp;L</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2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ElemType</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 x)</a:t>
            </a:r>
          </a:p>
          <a:p>
            <a:pPr algn="l"/>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a:p>
            <a:pPr algn="l"/>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   int k=0</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2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2000" dirty="0">
                <a:solidFill>
                  <a:srgbClr val="00B0F0"/>
                </a:solidFill>
                <a:latin typeface="Consolas" panose="020B0609020204030204" pitchFamily="49" charset="0"/>
                <a:ea typeface="仿宋" panose="02010609060101010101" pitchFamily="49" charset="-122"/>
                <a:cs typeface="Consolas" panose="020B0609020204030204" pitchFamily="49" charset="0"/>
              </a:rPr>
              <a:t>//k</a:t>
            </a:r>
            <a:r>
              <a:rPr lang="zh-CN" altLang="en-US" sz="2000" dirty="0">
                <a:solidFill>
                  <a:srgbClr val="00B0F0"/>
                </a:solidFill>
                <a:latin typeface="Consolas" panose="020B0609020204030204" pitchFamily="49" charset="0"/>
                <a:ea typeface="仿宋" panose="02010609060101010101" pitchFamily="49" charset="-122"/>
                <a:cs typeface="Consolas" panose="020B0609020204030204" pitchFamily="49" charset="0"/>
              </a:rPr>
              <a:t>记录值不等于</a:t>
            </a:r>
            <a:r>
              <a:rPr lang="en-US" altLang="zh-CN" sz="2000" dirty="0">
                <a:solidFill>
                  <a:srgbClr val="00B0F0"/>
                </a:solidFill>
                <a:latin typeface="Consolas" panose="020B0609020204030204" pitchFamily="49" charset="0"/>
                <a:ea typeface="仿宋" panose="02010609060101010101" pitchFamily="49" charset="-122"/>
                <a:cs typeface="Consolas" panose="020B0609020204030204" pitchFamily="49" charset="0"/>
              </a:rPr>
              <a:t>x</a:t>
            </a:r>
            <a:r>
              <a:rPr lang="zh-CN" altLang="en-US" sz="2000" dirty="0">
                <a:solidFill>
                  <a:srgbClr val="00B0F0"/>
                </a:solidFill>
                <a:latin typeface="Consolas" panose="020B0609020204030204" pitchFamily="49" charset="0"/>
                <a:ea typeface="仿宋" panose="02010609060101010101" pitchFamily="49" charset="-122"/>
                <a:cs typeface="Consolas" panose="020B0609020204030204" pitchFamily="49" charset="0"/>
              </a:rPr>
              <a:t>的元素个数</a:t>
            </a:r>
          </a:p>
          <a:p>
            <a:pPr algn="l"/>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for (</a:t>
            </a:r>
            <a:r>
              <a:rPr lang="en-US" altLang="zh-CN" sz="2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=0;i&lt;L-&gt;</a:t>
            </a:r>
            <a:r>
              <a:rPr lang="en-US" altLang="zh-CN" sz="2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length;i</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a:p>
            <a:pPr algn="l"/>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      if (</a:t>
            </a:r>
            <a:r>
              <a:rPr lang="en-US" altLang="zh-CN" sz="2000" dirty="0">
                <a:solidFill>
                  <a:srgbClr val="FF00FF"/>
                </a:solidFill>
                <a:latin typeface="Consolas" panose="020B0609020204030204" pitchFamily="49" charset="0"/>
                <a:ea typeface="仿宋" panose="02010609060101010101" pitchFamily="49" charset="-122"/>
                <a:cs typeface="Consolas" panose="020B0609020204030204" pitchFamily="49" charset="0"/>
              </a:rPr>
              <a:t>L-&gt;data[</a:t>
            </a:r>
            <a:r>
              <a:rPr lang="en-US" altLang="zh-CN" sz="2000" dirty="0" err="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dirty="0">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dirty="0">
                <a:solidFill>
                  <a:srgbClr val="FF00FF"/>
                </a:solidFill>
                <a:latin typeface="Consolas" panose="020B0609020204030204" pitchFamily="49" charset="0"/>
                <a:ea typeface="仿宋" panose="02010609060101010101" pitchFamily="49" charset="-122"/>
                <a:cs typeface="Consolas" panose="020B0609020204030204" pitchFamily="49" charset="0"/>
              </a:rPr>
              <a:t>x</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2000" dirty="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en-US" sz="2000" dirty="0">
                <a:solidFill>
                  <a:srgbClr val="00B0F0"/>
                </a:solidFill>
                <a:latin typeface="Consolas" panose="020B0609020204030204" pitchFamily="49" charset="0"/>
                <a:ea typeface="仿宋" panose="02010609060101010101" pitchFamily="49" charset="-122"/>
                <a:cs typeface="Consolas" panose="020B0609020204030204" pitchFamily="49" charset="0"/>
              </a:rPr>
              <a:t>若当前元素不为</a:t>
            </a:r>
            <a:r>
              <a:rPr lang="en-US" altLang="zh-CN" sz="2000" dirty="0">
                <a:solidFill>
                  <a:srgbClr val="00B0F0"/>
                </a:solidFill>
                <a:latin typeface="Consolas" panose="020B0609020204030204" pitchFamily="49" charset="0"/>
                <a:ea typeface="仿宋" panose="02010609060101010101" pitchFamily="49" charset="-122"/>
                <a:cs typeface="Consolas" panose="020B0609020204030204" pitchFamily="49" charset="0"/>
              </a:rPr>
              <a:t>x</a:t>
            </a:r>
            <a:r>
              <a:rPr lang="zh-CN" altLang="en-US" sz="2000" dirty="0">
                <a:solidFill>
                  <a:srgbClr val="00B0F0"/>
                </a:solidFill>
                <a:latin typeface="Consolas" panose="020B0609020204030204" pitchFamily="49" charset="0"/>
                <a:ea typeface="仿宋" panose="02010609060101010101" pitchFamily="49" charset="-122"/>
                <a:cs typeface="Consolas" panose="020B0609020204030204" pitchFamily="49" charset="0"/>
              </a:rPr>
              <a:t>，将其插入</a:t>
            </a:r>
            <a:r>
              <a:rPr lang="en-US" altLang="zh-CN" sz="2000" i="1" dirty="0">
                <a:solidFill>
                  <a:srgbClr val="00B0F0"/>
                </a:solidFill>
                <a:latin typeface="Consolas" panose="020B0609020204030204" pitchFamily="49" charset="0"/>
                <a:ea typeface="仿宋" panose="02010609060101010101" pitchFamily="49" charset="-122"/>
                <a:cs typeface="Consolas" panose="020B0609020204030204" pitchFamily="49" charset="0"/>
              </a:rPr>
              <a:t>L</a:t>
            </a:r>
            <a:r>
              <a:rPr lang="zh-CN" altLang="en-US" sz="2000" dirty="0">
                <a:solidFill>
                  <a:srgbClr val="00B0F0"/>
                </a:solidFill>
                <a:latin typeface="Consolas" panose="020B0609020204030204" pitchFamily="49" charset="0"/>
                <a:ea typeface="仿宋" panose="02010609060101010101" pitchFamily="49" charset="-122"/>
                <a:cs typeface="Consolas" panose="020B0609020204030204" pitchFamily="49" charset="0"/>
              </a:rPr>
              <a:t>中</a:t>
            </a:r>
          </a:p>
          <a:p>
            <a:pPr algn="l"/>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a:p>
            <a:pPr algn="l"/>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          L-&gt;data[k]=L-&gt;data[</a:t>
            </a:r>
            <a:r>
              <a:rPr lang="en-US" altLang="zh-CN" sz="2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a:p>
            <a:pPr algn="l"/>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          k++;		</a:t>
            </a:r>
            <a:r>
              <a:rPr lang="en-US" altLang="zh-CN" sz="2000" dirty="0">
                <a:solidFill>
                  <a:srgbClr val="6600CC"/>
                </a:solidFill>
                <a:latin typeface="Consolas" panose="020B0609020204030204" pitchFamily="49" charset="0"/>
                <a:ea typeface="仿宋" panose="02010609060101010101" pitchFamily="49" charset="-122"/>
                <a:cs typeface="Consolas" panose="020B0609020204030204" pitchFamily="49" charset="0"/>
              </a:rPr>
              <a:t>  </a:t>
            </a:r>
            <a:r>
              <a:rPr lang="en-US" altLang="zh-CN" sz="2000" dirty="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en-US" sz="2000" dirty="0">
                <a:solidFill>
                  <a:srgbClr val="00B0F0"/>
                </a:solidFill>
                <a:latin typeface="Consolas" panose="020B0609020204030204" pitchFamily="49" charset="0"/>
                <a:ea typeface="仿宋" panose="02010609060101010101" pitchFamily="49" charset="-122"/>
                <a:cs typeface="Consolas" panose="020B0609020204030204" pitchFamily="49" charset="0"/>
              </a:rPr>
              <a:t>不等于</a:t>
            </a:r>
            <a:r>
              <a:rPr lang="en-US" altLang="zh-CN" sz="2000" dirty="0">
                <a:solidFill>
                  <a:srgbClr val="00B0F0"/>
                </a:solidFill>
                <a:latin typeface="Consolas" panose="020B0609020204030204" pitchFamily="49" charset="0"/>
                <a:ea typeface="仿宋" panose="02010609060101010101" pitchFamily="49" charset="-122"/>
                <a:cs typeface="Consolas" panose="020B0609020204030204" pitchFamily="49" charset="0"/>
              </a:rPr>
              <a:t>x</a:t>
            </a:r>
            <a:r>
              <a:rPr lang="zh-CN" altLang="en-US" sz="2000" dirty="0">
                <a:solidFill>
                  <a:srgbClr val="00B0F0"/>
                </a:solidFill>
                <a:latin typeface="Consolas" panose="020B0609020204030204" pitchFamily="49" charset="0"/>
                <a:ea typeface="仿宋" panose="02010609060101010101" pitchFamily="49" charset="-122"/>
                <a:cs typeface="Consolas" panose="020B0609020204030204" pitchFamily="49" charset="0"/>
              </a:rPr>
              <a:t>的元素增</a:t>
            </a:r>
            <a:r>
              <a:rPr lang="en-US" altLang="zh-CN" sz="2000" dirty="0">
                <a:solidFill>
                  <a:srgbClr val="00B0F0"/>
                </a:solidFill>
                <a:latin typeface="Consolas" panose="020B0609020204030204" pitchFamily="49" charset="0"/>
                <a:ea typeface="仿宋" panose="02010609060101010101" pitchFamily="49" charset="-122"/>
                <a:cs typeface="Consolas" panose="020B0609020204030204" pitchFamily="49" charset="0"/>
              </a:rPr>
              <a:t>1</a:t>
            </a:r>
          </a:p>
          <a:p>
            <a:pPr algn="l"/>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p>
          <a:p>
            <a:pPr algn="l"/>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   L-&gt;length=k;		  </a:t>
            </a:r>
            <a:r>
              <a:rPr lang="en-US" altLang="zh-CN" sz="2000" dirty="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en-US" sz="2000" dirty="0">
                <a:solidFill>
                  <a:srgbClr val="00B0F0"/>
                </a:solidFill>
                <a:latin typeface="Consolas" panose="020B0609020204030204" pitchFamily="49" charset="0"/>
                <a:ea typeface="仿宋" panose="02010609060101010101" pitchFamily="49" charset="-122"/>
                <a:cs typeface="Consolas" panose="020B0609020204030204" pitchFamily="49" charset="0"/>
              </a:rPr>
              <a:t>顺序表</a:t>
            </a:r>
            <a:r>
              <a:rPr lang="en-US" altLang="zh-CN" sz="2000" dirty="0">
                <a:solidFill>
                  <a:srgbClr val="00B0F0"/>
                </a:solidFill>
                <a:latin typeface="Consolas" panose="020B0609020204030204" pitchFamily="49" charset="0"/>
                <a:ea typeface="仿宋" panose="02010609060101010101" pitchFamily="49" charset="-122"/>
                <a:cs typeface="Consolas" panose="020B0609020204030204" pitchFamily="49" charset="0"/>
              </a:rPr>
              <a:t>L</a:t>
            </a:r>
            <a:r>
              <a:rPr lang="zh-CN" altLang="en-US" sz="2000" dirty="0">
                <a:solidFill>
                  <a:srgbClr val="00B0F0"/>
                </a:solidFill>
                <a:latin typeface="Consolas" panose="020B0609020204030204" pitchFamily="49" charset="0"/>
                <a:ea typeface="仿宋" panose="02010609060101010101" pitchFamily="49" charset="-122"/>
                <a:cs typeface="Consolas" panose="020B0609020204030204" pitchFamily="49" charset="0"/>
              </a:rPr>
              <a:t>的长度等于</a:t>
            </a:r>
            <a:r>
              <a:rPr lang="en-US" altLang="zh-CN" sz="2000" dirty="0">
                <a:solidFill>
                  <a:srgbClr val="00B0F0"/>
                </a:solidFill>
                <a:latin typeface="Consolas" panose="020B0609020204030204" pitchFamily="49" charset="0"/>
                <a:ea typeface="仿宋" panose="02010609060101010101" pitchFamily="49" charset="-122"/>
                <a:cs typeface="Consolas" panose="020B0609020204030204" pitchFamily="49" charset="0"/>
              </a:rPr>
              <a:t>k</a:t>
            </a:r>
          </a:p>
          <a:p>
            <a:pPr algn="l"/>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spTree>
    <p:extLst>
      <p:ext uri="{BB962C8B-B14F-4D97-AF65-F5344CB8AC3E}">
        <p14:creationId xmlns:p14="http://schemas.microsoft.com/office/powerpoint/2010/main" val="30755464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450FE3E8-2972-4D41-84A2-432891DD7667}"/>
              </a:ext>
            </a:extLst>
          </p:cNvPr>
          <p:cNvSpPr txBox="1">
            <a:spLocks noChangeArrowheads="1"/>
          </p:cNvSpPr>
          <p:nvPr/>
        </p:nvSpPr>
        <p:spPr bwMode="auto">
          <a:xfrm>
            <a:off x="611560" y="1124744"/>
            <a:ext cx="8208912" cy="1486433"/>
          </a:xfrm>
          <a:prstGeom prst="rect">
            <a:avLst/>
          </a:prstGeom>
          <a:noFill/>
          <a:ln w="9525">
            <a:noFill/>
            <a:miter lim="800000"/>
          </a:ln>
          <a:effectLst/>
        </p:spPr>
        <p:txBody>
          <a:bodyPr wrap="square">
            <a:spAutoFit/>
          </a:bodyPr>
          <a:lstStyle/>
          <a:p>
            <a:pPr algn="l">
              <a:lnSpc>
                <a:spcPct val="130000"/>
              </a:lnSpc>
            </a:pPr>
            <a:r>
              <a:rPr kumimoji="1" lang="zh-CN" altLang="en-US" sz="2000" dirty="0">
                <a:solidFill>
                  <a:srgbClr val="FF3300"/>
                </a:solidFill>
                <a:latin typeface="Consolas" panose="020B0609020204030204" pitchFamily="49" charset="0"/>
                <a:ea typeface="微软雅黑" panose="020B0503020204020204" pitchFamily="34" charset="-122"/>
                <a:cs typeface="Consolas" panose="020B0609020204030204" pitchFamily="49" charset="0"/>
              </a:rPr>
              <a:t>解法二（前移法）：</a:t>
            </a:r>
            <a:r>
              <a:rPr kumimoji="1" lang="zh-CN" altLang="en-US" sz="2400" dirty="0">
                <a:latin typeface="Consolas" panose="020B0609020204030204" pitchFamily="49" charset="0"/>
                <a:ea typeface="楷体" panose="02010609060101010101" pitchFamily="49" charset="-122"/>
                <a:cs typeface="Consolas" panose="020B0609020204030204" pitchFamily="49" charset="0"/>
              </a:rPr>
              <a:t>用</a:t>
            </a:r>
            <a:r>
              <a:rPr kumimoji="1" lang="en-US" altLang="zh-CN" sz="2400" i="1" dirty="0">
                <a:latin typeface="Consolas" panose="020B0609020204030204" pitchFamily="49" charset="0"/>
                <a:ea typeface="楷体" panose="02010609060101010101" pitchFamily="49" charset="-122"/>
                <a:cs typeface="Consolas" panose="020B0609020204030204" pitchFamily="49" charset="0"/>
              </a:rPr>
              <a:t>k</a:t>
            </a:r>
            <a:r>
              <a:rPr kumimoji="1" lang="zh-CN" altLang="en-US" sz="2400" dirty="0">
                <a:latin typeface="Consolas" panose="020B0609020204030204" pitchFamily="49" charset="0"/>
                <a:ea typeface="楷体" panose="02010609060101010101" pitchFamily="49" charset="-122"/>
                <a:cs typeface="Consolas" panose="020B0609020204030204" pitchFamily="49" charset="0"/>
              </a:rPr>
              <a:t>记录顺序表</a:t>
            </a:r>
            <a:r>
              <a:rPr kumimoji="1" lang="en-US" altLang="zh-CN" sz="2400" dirty="0">
                <a:latin typeface="Consolas" panose="020B0609020204030204" pitchFamily="49" charset="0"/>
                <a:ea typeface="楷体" panose="02010609060101010101" pitchFamily="49" charset="-122"/>
                <a:cs typeface="Consolas" panose="020B0609020204030204" pitchFamily="49" charset="0"/>
              </a:rPr>
              <a:t>L</a:t>
            </a:r>
            <a:r>
              <a:rPr kumimoji="1" lang="zh-CN" altLang="en-US" sz="2400" dirty="0">
                <a:latin typeface="Consolas" panose="020B0609020204030204" pitchFamily="49" charset="0"/>
                <a:ea typeface="楷体" panose="02010609060101010101" pitchFamily="49" charset="-122"/>
                <a:cs typeface="Consolas" panose="020B0609020204030204" pitchFamily="49" charset="0"/>
              </a:rPr>
              <a:t>中等于</a:t>
            </a:r>
            <a:r>
              <a:rPr kumimoji="1" lang="en-US" altLang="zh-CN" sz="2400" i="1" dirty="0">
                <a:latin typeface="Consolas" panose="020B0609020204030204" pitchFamily="49" charset="0"/>
                <a:ea typeface="楷体" panose="02010609060101010101" pitchFamily="49" charset="-122"/>
                <a:cs typeface="Consolas" panose="020B0609020204030204" pitchFamily="49" charset="0"/>
              </a:rPr>
              <a:t>x</a:t>
            </a:r>
            <a:r>
              <a:rPr kumimoji="1" lang="zh-CN" altLang="en-US" sz="2400" dirty="0">
                <a:latin typeface="Consolas" panose="020B0609020204030204" pitchFamily="49" charset="0"/>
                <a:ea typeface="楷体" panose="02010609060101010101" pitchFamily="49" charset="-122"/>
                <a:cs typeface="Consolas" panose="020B0609020204030204" pitchFamily="49" charset="0"/>
              </a:rPr>
              <a:t>的元素个数，一边扫描</a:t>
            </a:r>
            <a:r>
              <a:rPr kumimoji="1" lang="en-US" altLang="zh-CN" sz="2400" dirty="0">
                <a:latin typeface="Consolas" panose="020B0609020204030204" pitchFamily="49" charset="0"/>
                <a:ea typeface="楷体" panose="02010609060101010101" pitchFamily="49" charset="-122"/>
                <a:cs typeface="Consolas" panose="020B0609020204030204" pitchFamily="49" charset="0"/>
              </a:rPr>
              <a:t>L</a:t>
            </a:r>
            <a:r>
              <a:rPr kumimoji="1" lang="zh-CN" altLang="en-US" sz="2400" dirty="0">
                <a:latin typeface="Consolas" panose="020B0609020204030204" pitchFamily="49" charset="0"/>
                <a:ea typeface="楷体" panose="02010609060101010101" pitchFamily="49" charset="-122"/>
                <a:cs typeface="Consolas" panose="020B0609020204030204" pitchFamily="49" charset="0"/>
              </a:rPr>
              <a:t>一边统计</a:t>
            </a:r>
            <a:r>
              <a:rPr kumimoji="1" lang="en-US" altLang="zh-CN" sz="2400" i="1" dirty="0">
                <a:latin typeface="Consolas" panose="020B0609020204030204" pitchFamily="49" charset="0"/>
                <a:ea typeface="楷体" panose="02010609060101010101" pitchFamily="49" charset="-122"/>
                <a:cs typeface="Consolas" panose="020B0609020204030204" pitchFamily="49" charset="0"/>
              </a:rPr>
              <a:t>k</a:t>
            </a:r>
            <a:r>
              <a:rPr kumimoji="1" lang="zh-CN" altLang="en-US" sz="2400" dirty="0">
                <a:latin typeface="Consolas" panose="020B0609020204030204" pitchFamily="49" charset="0"/>
                <a:ea typeface="楷体" panose="02010609060101010101" pitchFamily="49" charset="-122"/>
                <a:cs typeface="Consolas" panose="020B0609020204030204" pitchFamily="49" charset="0"/>
              </a:rPr>
              <a:t>值。</a:t>
            </a:r>
          </a:p>
          <a:p>
            <a:pPr algn="l">
              <a:lnSpc>
                <a:spcPct val="130000"/>
              </a:lnSpc>
            </a:pPr>
            <a:r>
              <a:rPr lang="zh-CN" altLang="en-US" sz="2400" dirty="0">
                <a:solidFill>
                  <a:srgbClr val="FF0000"/>
                </a:solidFill>
                <a:latin typeface="Consolas" panose="020B0609020204030204" pitchFamily="49" charset="0"/>
                <a:ea typeface="黑体" panose="02010609060101010101" pitchFamily="49" charset="-122"/>
                <a:cs typeface="Consolas" panose="020B0609020204030204" pitchFamily="49" charset="0"/>
              </a:rPr>
              <a:t>思路：</a:t>
            </a:r>
            <a:r>
              <a:rPr kumimoji="1" lang="zh-CN" altLang="en-US" sz="2400" dirty="0">
                <a:latin typeface="Consolas" panose="020B0609020204030204" pitchFamily="49" charset="0"/>
                <a:ea typeface="仿宋" panose="02010609060101010101" pitchFamily="49" charset="-122"/>
                <a:cs typeface="Consolas" panose="020B0609020204030204" pitchFamily="49" charset="0"/>
              </a:rPr>
              <a:t>将不为</a:t>
            </a:r>
            <a:r>
              <a:rPr kumimoji="1" lang="en-US" altLang="zh-CN" sz="2400" i="1" dirty="0">
                <a:latin typeface="Consolas" panose="020B0609020204030204" pitchFamily="49" charset="0"/>
                <a:ea typeface="仿宋" panose="02010609060101010101" pitchFamily="49" charset="-122"/>
                <a:cs typeface="Consolas" panose="020B0609020204030204" pitchFamily="49" charset="0"/>
              </a:rPr>
              <a:t>x</a:t>
            </a:r>
            <a:r>
              <a:rPr kumimoji="1" lang="zh-CN" altLang="en-US" sz="2400" dirty="0">
                <a:latin typeface="Consolas" panose="020B0609020204030204" pitchFamily="49" charset="0"/>
                <a:ea typeface="仿宋" panose="02010609060101010101" pitchFamily="49" charset="-122"/>
                <a:cs typeface="Consolas" panose="020B0609020204030204" pitchFamily="49" charset="0"/>
              </a:rPr>
              <a:t>的元素前移</a:t>
            </a:r>
            <a:r>
              <a:rPr kumimoji="1" lang="en-US" altLang="zh-CN" sz="2400" i="1" dirty="0">
                <a:latin typeface="Consolas" panose="020B0609020204030204" pitchFamily="49" charset="0"/>
                <a:ea typeface="仿宋" panose="02010609060101010101" pitchFamily="49" charset="-122"/>
                <a:cs typeface="Consolas" panose="020B0609020204030204" pitchFamily="49" charset="0"/>
              </a:rPr>
              <a:t>k</a:t>
            </a:r>
            <a:r>
              <a:rPr kumimoji="1" lang="zh-CN" altLang="en-US" sz="2400" dirty="0">
                <a:latin typeface="Consolas" panose="020B0609020204030204" pitchFamily="49" charset="0"/>
                <a:ea typeface="仿宋" panose="02010609060101010101" pitchFamily="49" charset="-122"/>
                <a:cs typeface="Consolas" panose="020B0609020204030204" pitchFamily="49" charset="0"/>
              </a:rPr>
              <a:t>个位置，最后修改</a:t>
            </a:r>
            <a:r>
              <a:rPr kumimoji="1" lang="en-US" altLang="zh-CN" sz="2400" i="1" dirty="0">
                <a:latin typeface="Consolas" panose="020B0609020204030204" pitchFamily="49" charset="0"/>
                <a:ea typeface="仿宋" panose="02010609060101010101" pitchFamily="49" charset="-122"/>
                <a:cs typeface="Consolas" panose="020B0609020204030204" pitchFamily="49" charset="0"/>
              </a:rPr>
              <a:t>L</a:t>
            </a:r>
            <a:r>
              <a:rPr kumimoji="1" lang="zh-CN" altLang="en-US" sz="2400" dirty="0">
                <a:latin typeface="Consolas" panose="020B0609020204030204" pitchFamily="49" charset="0"/>
                <a:ea typeface="仿宋" panose="02010609060101010101" pitchFamily="49" charset="-122"/>
                <a:cs typeface="Consolas" panose="020B0609020204030204" pitchFamily="49" charset="0"/>
              </a:rPr>
              <a:t>的长度。</a:t>
            </a:r>
          </a:p>
        </p:txBody>
      </p:sp>
      <p:sp>
        <p:nvSpPr>
          <p:cNvPr id="5" name="Rectangle 2">
            <a:extLst>
              <a:ext uri="{FF2B5EF4-FFF2-40B4-BE49-F238E27FC236}">
                <a16:creationId xmlns:a16="http://schemas.microsoft.com/office/drawing/2014/main" id="{A49AC773-3DE1-4771-9D53-86F9F6E18699}"/>
              </a:ext>
            </a:extLst>
          </p:cNvPr>
          <p:cNvSpPr>
            <a:spLocks noChangeArrowheads="1"/>
          </p:cNvSpPr>
          <p:nvPr/>
        </p:nvSpPr>
        <p:spPr bwMode="auto">
          <a:xfrm>
            <a:off x="1547664" y="3967882"/>
            <a:ext cx="5103338" cy="689891"/>
          </a:xfrm>
          <a:prstGeom prst="rect">
            <a:avLst/>
          </a:prstGeom>
          <a:solidFill>
            <a:schemeClr val="accent3">
              <a:lumMod val="20000"/>
              <a:lumOff val="80000"/>
            </a:schemeClr>
          </a:solidFill>
        </p:spPr>
        <p:style>
          <a:lnRef idx="1">
            <a:schemeClr val="accent3"/>
          </a:lnRef>
          <a:fillRef idx="2">
            <a:schemeClr val="accent3"/>
          </a:fillRef>
          <a:effectRef idx="1">
            <a:schemeClr val="accent3"/>
          </a:effectRef>
          <a:fontRef idx="minor">
            <a:schemeClr val="dk1"/>
          </a:fontRef>
        </p:style>
        <p:txBody>
          <a:bodyPr wrap="none" anchor="ctr"/>
          <a:lstStyle/>
          <a:p>
            <a:endParaRPr lang="zh-CN" altLang="en-US" sz="1670">
              <a:latin typeface="Consolas" panose="020B0609020204030204" pitchFamily="49" charset="0"/>
              <a:cs typeface="Consolas" panose="020B0609020204030204" pitchFamily="49" charset="0"/>
            </a:endParaRPr>
          </a:p>
        </p:txBody>
      </p:sp>
      <p:sp>
        <p:nvSpPr>
          <p:cNvPr id="6" name="Text Box 3">
            <a:extLst>
              <a:ext uri="{FF2B5EF4-FFF2-40B4-BE49-F238E27FC236}">
                <a16:creationId xmlns:a16="http://schemas.microsoft.com/office/drawing/2014/main" id="{9E20EBB7-9024-4164-B598-D919FA5AA711}"/>
              </a:ext>
            </a:extLst>
          </p:cNvPr>
          <p:cNvSpPr txBox="1">
            <a:spLocks noChangeArrowheads="1"/>
          </p:cNvSpPr>
          <p:nvPr/>
        </p:nvSpPr>
        <p:spPr bwMode="auto">
          <a:xfrm>
            <a:off x="1571477" y="3669611"/>
            <a:ext cx="419760" cy="297180"/>
          </a:xfrm>
          <a:prstGeom prst="rect">
            <a:avLst/>
          </a:prstGeom>
          <a:noFill/>
          <a:ln w="38100" algn="ctr">
            <a:noFill/>
            <a:miter lim="800000"/>
          </a:ln>
          <a:effectLst/>
        </p:spPr>
        <p:txBody>
          <a:bodyPr>
            <a:spAutoFit/>
          </a:bodyPr>
          <a:lstStyle/>
          <a:p>
            <a:pPr>
              <a:spcBef>
                <a:spcPct val="50000"/>
              </a:spcBef>
            </a:pPr>
            <a:r>
              <a:rPr lang="en-US" altLang="zh-CN" sz="1335">
                <a:solidFill>
                  <a:srgbClr val="00B0F0"/>
                </a:solidFill>
                <a:latin typeface="Consolas" panose="020B0609020204030204" pitchFamily="49" charset="0"/>
                <a:cs typeface="Consolas" panose="020B0609020204030204" pitchFamily="49" charset="0"/>
              </a:rPr>
              <a:t>0</a:t>
            </a:r>
          </a:p>
        </p:txBody>
      </p:sp>
      <p:sp>
        <p:nvSpPr>
          <p:cNvPr id="7" name="Text Box 4">
            <a:extLst>
              <a:ext uri="{FF2B5EF4-FFF2-40B4-BE49-F238E27FC236}">
                <a16:creationId xmlns:a16="http://schemas.microsoft.com/office/drawing/2014/main" id="{E28C3B26-249C-4691-8EA5-485142B543F6}"/>
              </a:ext>
            </a:extLst>
          </p:cNvPr>
          <p:cNvSpPr txBox="1">
            <a:spLocks noChangeArrowheads="1"/>
          </p:cNvSpPr>
          <p:nvPr/>
        </p:nvSpPr>
        <p:spPr bwMode="auto">
          <a:xfrm>
            <a:off x="2148836" y="3669611"/>
            <a:ext cx="419760" cy="297180"/>
          </a:xfrm>
          <a:prstGeom prst="rect">
            <a:avLst/>
          </a:prstGeom>
          <a:noFill/>
          <a:ln w="38100" algn="ctr">
            <a:noFill/>
            <a:miter lim="800000"/>
          </a:ln>
          <a:effectLst/>
        </p:spPr>
        <p:txBody>
          <a:bodyPr>
            <a:spAutoFit/>
          </a:bodyPr>
          <a:lstStyle/>
          <a:p>
            <a:pPr>
              <a:spcBef>
                <a:spcPct val="50000"/>
              </a:spcBef>
            </a:pPr>
            <a:r>
              <a:rPr lang="en-US" altLang="zh-CN" sz="1335">
                <a:solidFill>
                  <a:srgbClr val="00B0F0"/>
                </a:solidFill>
                <a:latin typeface="Consolas" panose="020B0609020204030204" pitchFamily="49" charset="0"/>
                <a:cs typeface="Consolas" panose="020B0609020204030204" pitchFamily="49" charset="0"/>
              </a:rPr>
              <a:t>1</a:t>
            </a:r>
          </a:p>
        </p:txBody>
      </p:sp>
      <p:sp>
        <p:nvSpPr>
          <p:cNvPr id="8" name="Text Box 5">
            <a:extLst>
              <a:ext uri="{FF2B5EF4-FFF2-40B4-BE49-F238E27FC236}">
                <a16:creationId xmlns:a16="http://schemas.microsoft.com/office/drawing/2014/main" id="{AB47FF47-B671-4ECD-9AF9-144838A9E082}"/>
              </a:ext>
            </a:extLst>
          </p:cNvPr>
          <p:cNvSpPr txBox="1">
            <a:spLocks noChangeArrowheads="1"/>
          </p:cNvSpPr>
          <p:nvPr/>
        </p:nvSpPr>
        <p:spPr bwMode="auto">
          <a:xfrm>
            <a:off x="1571477" y="4095002"/>
            <a:ext cx="421085" cy="450850"/>
          </a:xfrm>
          <a:prstGeom prst="rect">
            <a:avLst/>
          </a:prstGeom>
          <a:noFill/>
          <a:ln w="9525">
            <a:noFill/>
            <a:miter lim="800000"/>
          </a:ln>
          <a:effectLst/>
        </p:spPr>
        <p:txBody>
          <a:bodyPr>
            <a:spAutoFit/>
          </a:bodyPr>
          <a:lstStyle/>
          <a:p>
            <a:pPr algn="l"/>
            <a:r>
              <a:rPr lang="en-US" altLang="zh-CN" sz="2335">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Consolas" panose="020B0609020204030204" pitchFamily="49" charset="0"/>
                <a:cs typeface="Consolas" panose="020B0609020204030204" pitchFamily="49" charset="0"/>
              </a:rPr>
              <a:t>1</a:t>
            </a:r>
            <a:endParaRPr lang="en-US" altLang="zh-CN" sz="2335" baseline="-2500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Consolas" panose="020B0609020204030204" pitchFamily="49" charset="0"/>
              <a:cs typeface="Consolas" panose="020B0609020204030204" pitchFamily="49" charset="0"/>
            </a:endParaRPr>
          </a:p>
        </p:txBody>
      </p:sp>
      <p:sp>
        <p:nvSpPr>
          <p:cNvPr id="9" name="Text Box 6">
            <a:extLst>
              <a:ext uri="{FF2B5EF4-FFF2-40B4-BE49-F238E27FC236}">
                <a16:creationId xmlns:a16="http://schemas.microsoft.com/office/drawing/2014/main" id="{C1DE2963-18B9-4776-81D2-5BBE8477B8CB}"/>
              </a:ext>
            </a:extLst>
          </p:cNvPr>
          <p:cNvSpPr txBox="1">
            <a:spLocks noChangeArrowheads="1"/>
          </p:cNvSpPr>
          <p:nvPr/>
        </p:nvSpPr>
        <p:spPr bwMode="auto">
          <a:xfrm>
            <a:off x="2215044" y="4126782"/>
            <a:ext cx="421085" cy="347345"/>
          </a:xfrm>
          <a:prstGeom prst="rect">
            <a:avLst/>
          </a:prstGeom>
          <a:noFill/>
          <a:ln w="9525">
            <a:noFill/>
            <a:miter lim="800000"/>
          </a:ln>
          <a:effectLst/>
        </p:spPr>
        <p:txBody>
          <a:bodyPr>
            <a:spAutoFit/>
          </a:bodyPr>
          <a:lstStyle/>
          <a:p>
            <a:pPr algn="l">
              <a:spcBef>
                <a:spcPct val="50000"/>
              </a:spcBef>
            </a:pPr>
            <a:r>
              <a:rPr lang="en-US" altLang="zh-CN" sz="1670">
                <a:solidFill>
                  <a:srgbClr val="FF00FF"/>
                </a:solidFill>
                <a:latin typeface="Consolas" panose="020B0609020204030204" pitchFamily="49" charset="0"/>
                <a:cs typeface="Consolas" panose="020B0609020204030204" pitchFamily="49" charset="0"/>
              </a:rPr>
              <a:t>2</a:t>
            </a:r>
            <a:endParaRPr lang="en-US" altLang="zh-CN" sz="1670" baseline="-25000">
              <a:solidFill>
                <a:srgbClr val="FF00FF"/>
              </a:solidFill>
              <a:latin typeface="Consolas" panose="020B0609020204030204" pitchFamily="49" charset="0"/>
              <a:cs typeface="Consolas" panose="020B0609020204030204" pitchFamily="49" charset="0"/>
            </a:endParaRPr>
          </a:p>
        </p:txBody>
      </p:sp>
      <p:sp>
        <p:nvSpPr>
          <p:cNvPr id="10" name="Text Box 7">
            <a:extLst>
              <a:ext uri="{FF2B5EF4-FFF2-40B4-BE49-F238E27FC236}">
                <a16:creationId xmlns:a16="http://schemas.microsoft.com/office/drawing/2014/main" id="{12C8D65D-CE7F-4714-B908-B354B66250B8}"/>
              </a:ext>
            </a:extLst>
          </p:cNvPr>
          <p:cNvSpPr txBox="1">
            <a:spLocks noChangeArrowheads="1"/>
          </p:cNvSpPr>
          <p:nvPr/>
        </p:nvSpPr>
        <p:spPr bwMode="auto">
          <a:xfrm>
            <a:off x="3414733" y="4126782"/>
            <a:ext cx="421085" cy="347345"/>
          </a:xfrm>
          <a:prstGeom prst="rect">
            <a:avLst/>
          </a:prstGeom>
          <a:noFill/>
          <a:ln w="9525">
            <a:noFill/>
            <a:miter lim="800000"/>
          </a:ln>
          <a:effectLst/>
        </p:spPr>
        <p:txBody>
          <a:bodyPr>
            <a:spAutoFit/>
          </a:bodyPr>
          <a:lstStyle/>
          <a:p>
            <a:pPr algn="l">
              <a:spcBef>
                <a:spcPct val="50000"/>
              </a:spcBef>
            </a:pPr>
            <a:r>
              <a:rPr lang="en-US" altLang="zh-CN" sz="1670">
                <a:solidFill>
                  <a:srgbClr val="FF00FF"/>
                </a:solidFill>
                <a:latin typeface="Consolas" panose="020B0609020204030204" pitchFamily="49" charset="0"/>
                <a:cs typeface="Consolas" panose="020B0609020204030204" pitchFamily="49" charset="0"/>
              </a:rPr>
              <a:t>2</a:t>
            </a:r>
            <a:endParaRPr lang="en-US" altLang="zh-CN" sz="1670" baseline="-25000">
              <a:solidFill>
                <a:srgbClr val="FF00FF"/>
              </a:solidFill>
              <a:latin typeface="Consolas" panose="020B0609020204030204" pitchFamily="49" charset="0"/>
              <a:cs typeface="Consolas" panose="020B0609020204030204" pitchFamily="49" charset="0"/>
            </a:endParaRPr>
          </a:p>
        </p:txBody>
      </p:sp>
      <p:sp>
        <p:nvSpPr>
          <p:cNvPr id="11" name="Text Box 8">
            <a:extLst>
              <a:ext uri="{FF2B5EF4-FFF2-40B4-BE49-F238E27FC236}">
                <a16:creationId xmlns:a16="http://schemas.microsoft.com/office/drawing/2014/main" id="{0A289211-5523-4BC0-973C-5FFB1745F8EE}"/>
              </a:ext>
            </a:extLst>
          </p:cNvPr>
          <p:cNvSpPr txBox="1">
            <a:spLocks noChangeArrowheads="1"/>
          </p:cNvSpPr>
          <p:nvPr/>
        </p:nvSpPr>
        <p:spPr bwMode="auto">
          <a:xfrm>
            <a:off x="3920571" y="4105595"/>
            <a:ext cx="421085" cy="450850"/>
          </a:xfrm>
          <a:prstGeom prst="rect">
            <a:avLst/>
          </a:prstGeom>
          <a:solidFill>
            <a:schemeClr val="accent3">
              <a:lumMod val="20000"/>
              <a:lumOff val="80000"/>
            </a:schemeClr>
          </a:solidFill>
          <a:ln w="9525">
            <a:noFill/>
            <a:miter lim="800000"/>
          </a:ln>
          <a:effectLst/>
        </p:spPr>
        <p:txBody>
          <a:bodyPr>
            <a:spAutoFit/>
          </a:bodyPr>
          <a:lstStyle/>
          <a:p>
            <a:pPr algn="l">
              <a:spcBef>
                <a:spcPct val="50000"/>
              </a:spcBef>
            </a:pPr>
            <a:r>
              <a:rPr lang="en-US" altLang="zh-CN" sz="2335"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Consolas" panose="020B0609020204030204" pitchFamily="49" charset="0"/>
                <a:cs typeface="Consolas" panose="020B0609020204030204" pitchFamily="49" charset="0"/>
              </a:rPr>
              <a:t>3</a:t>
            </a:r>
            <a:endParaRPr lang="en-US" altLang="zh-CN" sz="2335" baseline="-25000" dirty="0">
              <a:solidFill>
                <a:srgbClr val="FF00FF"/>
              </a:solidFill>
              <a:latin typeface="Consolas" panose="020B0609020204030204" pitchFamily="49" charset="0"/>
              <a:cs typeface="Consolas" panose="020B0609020204030204" pitchFamily="49" charset="0"/>
            </a:endParaRPr>
          </a:p>
        </p:txBody>
      </p:sp>
      <p:sp>
        <p:nvSpPr>
          <p:cNvPr id="12" name="Text Box 9">
            <a:extLst>
              <a:ext uri="{FF2B5EF4-FFF2-40B4-BE49-F238E27FC236}">
                <a16:creationId xmlns:a16="http://schemas.microsoft.com/office/drawing/2014/main" id="{2C9132EB-CC7A-4B56-996E-C462E7A1FCB7}"/>
              </a:ext>
            </a:extLst>
          </p:cNvPr>
          <p:cNvSpPr txBox="1">
            <a:spLocks noChangeArrowheads="1"/>
          </p:cNvSpPr>
          <p:nvPr/>
        </p:nvSpPr>
        <p:spPr bwMode="auto">
          <a:xfrm>
            <a:off x="4521742" y="4126782"/>
            <a:ext cx="421085" cy="347345"/>
          </a:xfrm>
          <a:prstGeom prst="rect">
            <a:avLst/>
          </a:prstGeom>
          <a:noFill/>
          <a:ln w="9525">
            <a:noFill/>
            <a:miter lim="800000"/>
          </a:ln>
          <a:effectLst/>
        </p:spPr>
        <p:txBody>
          <a:bodyPr>
            <a:spAutoFit/>
          </a:bodyPr>
          <a:lstStyle/>
          <a:p>
            <a:pPr algn="l">
              <a:spcBef>
                <a:spcPct val="50000"/>
              </a:spcBef>
            </a:pPr>
            <a:r>
              <a:rPr lang="en-US" altLang="zh-CN" sz="1670">
                <a:solidFill>
                  <a:srgbClr val="FF00FF"/>
                </a:solidFill>
                <a:latin typeface="Consolas" panose="020B0609020204030204" pitchFamily="49" charset="0"/>
                <a:cs typeface="Consolas" panose="020B0609020204030204" pitchFamily="49" charset="0"/>
              </a:rPr>
              <a:t>2</a:t>
            </a:r>
            <a:endParaRPr lang="en-US" altLang="zh-CN" sz="1670" baseline="-25000">
              <a:solidFill>
                <a:srgbClr val="FF00FF"/>
              </a:solidFill>
              <a:latin typeface="Consolas" panose="020B0609020204030204" pitchFamily="49" charset="0"/>
              <a:cs typeface="Consolas" panose="020B0609020204030204" pitchFamily="49" charset="0"/>
            </a:endParaRPr>
          </a:p>
        </p:txBody>
      </p:sp>
      <p:sp>
        <p:nvSpPr>
          <p:cNvPr id="13" name="Text Box 10">
            <a:extLst>
              <a:ext uri="{FF2B5EF4-FFF2-40B4-BE49-F238E27FC236}">
                <a16:creationId xmlns:a16="http://schemas.microsoft.com/office/drawing/2014/main" id="{7DE11C1F-5CE1-4FA4-BE5F-3279D0B0C9C0}"/>
              </a:ext>
            </a:extLst>
          </p:cNvPr>
          <p:cNvSpPr txBox="1">
            <a:spLocks noChangeArrowheads="1"/>
          </p:cNvSpPr>
          <p:nvPr/>
        </p:nvSpPr>
        <p:spPr bwMode="auto">
          <a:xfrm>
            <a:off x="1547663" y="3006537"/>
            <a:ext cx="6220957" cy="398780"/>
          </a:xfrm>
          <a:prstGeom prst="rect">
            <a:avLst/>
          </a:prstGeom>
          <a:noFill/>
          <a:ln w="9525">
            <a:noFill/>
            <a:miter lim="800000"/>
          </a:ln>
          <a:effectLst/>
        </p:spPr>
        <p:txBody>
          <a:bodyPr wrap="square">
            <a:spAutoFit/>
          </a:bodyPr>
          <a:lstStyle/>
          <a:p>
            <a:pPr algn="l"/>
            <a:r>
              <a:rPr lang="zh-CN" altLang="en-US" dirty="0">
                <a:latin typeface="Consolas" panose="020B0609020204030204" pitchFamily="49" charset="0"/>
                <a:ea typeface="楷体" panose="02010609060101010101" pitchFamily="49" charset="-122"/>
                <a:cs typeface="Consolas" panose="020B0609020204030204" pitchFamily="49" charset="0"/>
              </a:rPr>
              <a:t>删除所有</a:t>
            </a:r>
            <a:r>
              <a:rPr lang="en-US" altLang="zh-CN" i="1" dirty="0">
                <a:latin typeface="Consolas" panose="020B0609020204030204" pitchFamily="49" charset="0"/>
                <a:ea typeface="楷体" panose="02010609060101010101" pitchFamily="49" charset="-122"/>
                <a:cs typeface="Consolas" panose="020B0609020204030204" pitchFamily="49" charset="0"/>
              </a:rPr>
              <a:t>x</a:t>
            </a:r>
            <a:r>
              <a:rPr lang="en-US" altLang="zh-CN" dirty="0">
                <a:latin typeface="Consolas" panose="020B0609020204030204" pitchFamily="49" charset="0"/>
                <a:ea typeface="楷体" panose="02010609060101010101" pitchFamily="49" charset="-122"/>
                <a:cs typeface="Consolas" panose="020B0609020204030204" pitchFamily="49" charset="0"/>
              </a:rPr>
              <a:t>=2</a:t>
            </a:r>
            <a:r>
              <a:rPr lang="zh-CN" altLang="en-US" dirty="0">
                <a:latin typeface="Consolas" panose="020B0609020204030204" pitchFamily="49" charset="0"/>
                <a:ea typeface="楷体" panose="02010609060101010101" pitchFamily="49" charset="-122"/>
                <a:cs typeface="Consolas" panose="020B0609020204030204" pitchFamily="49" charset="0"/>
              </a:rPr>
              <a:t>的元素（</a:t>
            </a:r>
            <a:r>
              <a:rPr lang="en-US" altLang="zh-CN" i="1" dirty="0">
                <a:latin typeface="Consolas" panose="020B0609020204030204" pitchFamily="49" charset="0"/>
                <a:ea typeface="楷体" panose="02010609060101010101" pitchFamily="49" charset="-122"/>
                <a:cs typeface="Consolas" panose="020B0609020204030204" pitchFamily="49" charset="0"/>
              </a:rPr>
              <a:t>k</a:t>
            </a:r>
            <a:r>
              <a:rPr lang="zh-CN" altLang="en-US" dirty="0">
                <a:latin typeface="Consolas" panose="020B0609020204030204" pitchFamily="49" charset="0"/>
                <a:ea typeface="楷体" panose="02010609060101010101" pitchFamily="49" charset="-122"/>
                <a:cs typeface="Consolas" panose="020B0609020204030204" pitchFamily="49" charset="0"/>
              </a:rPr>
              <a:t>记录删除的元素个数，初值</a:t>
            </a:r>
            <a:r>
              <a:rPr lang="en-US" altLang="zh-CN" dirty="0">
                <a:latin typeface="Consolas" panose="020B0609020204030204" pitchFamily="49" charset="0"/>
                <a:ea typeface="楷体" panose="02010609060101010101" pitchFamily="49" charset="-122"/>
                <a:cs typeface="Consolas" panose="020B0609020204030204" pitchFamily="49" charset="0"/>
              </a:rPr>
              <a:t>=0</a:t>
            </a:r>
            <a:r>
              <a:rPr lang="zh-CN" altLang="en-US" dirty="0">
                <a:latin typeface="Consolas" panose="020B0609020204030204" pitchFamily="49" charset="0"/>
                <a:ea typeface="楷体" panose="02010609060101010101" pitchFamily="49" charset="-122"/>
                <a:cs typeface="Consolas" panose="020B0609020204030204" pitchFamily="49" charset="0"/>
              </a:rPr>
              <a:t>）</a:t>
            </a:r>
          </a:p>
        </p:txBody>
      </p:sp>
      <p:sp>
        <p:nvSpPr>
          <p:cNvPr id="14" name="Text Box 11">
            <a:extLst>
              <a:ext uri="{FF2B5EF4-FFF2-40B4-BE49-F238E27FC236}">
                <a16:creationId xmlns:a16="http://schemas.microsoft.com/office/drawing/2014/main" id="{FEDC3EB4-FA01-4AD8-BC8C-3EE0646FBD7C}"/>
              </a:ext>
            </a:extLst>
          </p:cNvPr>
          <p:cNvSpPr txBox="1">
            <a:spLocks noChangeArrowheads="1"/>
          </p:cNvSpPr>
          <p:nvPr/>
        </p:nvSpPr>
        <p:spPr bwMode="auto">
          <a:xfrm>
            <a:off x="2748683" y="3669611"/>
            <a:ext cx="419761" cy="297180"/>
          </a:xfrm>
          <a:prstGeom prst="rect">
            <a:avLst/>
          </a:prstGeom>
          <a:noFill/>
          <a:ln w="38100" algn="ctr">
            <a:noFill/>
            <a:miter lim="800000"/>
          </a:ln>
          <a:effectLst/>
        </p:spPr>
        <p:txBody>
          <a:bodyPr>
            <a:spAutoFit/>
          </a:bodyPr>
          <a:lstStyle/>
          <a:p>
            <a:pPr>
              <a:spcBef>
                <a:spcPct val="50000"/>
              </a:spcBef>
            </a:pPr>
            <a:r>
              <a:rPr lang="en-US" altLang="zh-CN" sz="1335">
                <a:solidFill>
                  <a:srgbClr val="00B0F0"/>
                </a:solidFill>
                <a:latin typeface="Consolas" panose="020B0609020204030204" pitchFamily="49" charset="0"/>
                <a:cs typeface="Consolas" panose="020B0609020204030204" pitchFamily="49" charset="0"/>
              </a:rPr>
              <a:t>2</a:t>
            </a:r>
          </a:p>
        </p:txBody>
      </p:sp>
      <p:sp>
        <p:nvSpPr>
          <p:cNvPr id="15" name="Text Box 12">
            <a:extLst>
              <a:ext uri="{FF2B5EF4-FFF2-40B4-BE49-F238E27FC236}">
                <a16:creationId xmlns:a16="http://schemas.microsoft.com/office/drawing/2014/main" id="{5F75A79C-E754-4F92-B8DE-4B46BE140AB9}"/>
              </a:ext>
            </a:extLst>
          </p:cNvPr>
          <p:cNvSpPr txBox="1">
            <a:spLocks noChangeArrowheads="1"/>
          </p:cNvSpPr>
          <p:nvPr/>
        </p:nvSpPr>
        <p:spPr bwMode="auto">
          <a:xfrm>
            <a:off x="3349854" y="3669611"/>
            <a:ext cx="419761" cy="297180"/>
          </a:xfrm>
          <a:prstGeom prst="rect">
            <a:avLst/>
          </a:prstGeom>
          <a:noFill/>
          <a:ln w="38100" algn="ctr">
            <a:noFill/>
            <a:miter lim="800000"/>
          </a:ln>
          <a:effectLst/>
        </p:spPr>
        <p:txBody>
          <a:bodyPr>
            <a:spAutoFit/>
          </a:bodyPr>
          <a:lstStyle/>
          <a:p>
            <a:pPr>
              <a:spcBef>
                <a:spcPct val="50000"/>
              </a:spcBef>
            </a:pPr>
            <a:r>
              <a:rPr lang="en-US" altLang="zh-CN" sz="1335">
                <a:solidFill>
                  <a:srgbClr val="00B0F0"/>
                </a:solidFill>
                <a:latin typeface="Consolas" panose="020B0609020204030204" pitchFamily="49" charset="0"/>
                <a:cs typeface="Consolas" panose="020B0609020204030204" pitchFamily="49" charset="0"/>
              </a:rPr>
              <a:t>3</a:t>
            </a:r>
          </a:p>
        </p:txBody>
      </p:sp>
      <p:sp>
        <p:nvSpPr>
          <p:cNvPr id="16" name="Text Box 13">
            <a:extLst>
              <a:ext uri="{FF2B5EF4-FFF2-40B4-BE49-F238E27FC236}">
                <a16:creationId xmlns:a16="http://schemas.microsoft.com/office/drawing/2014/main" id="{A823A7C5-83FB-41D2-AB13-B0622888C58E}"/>
              </a:ext>
            </a:extLst>
          </p:cNvPr>
          <p:cNvSpPr txBox="1">
            <a:spLocks noChangeArrowheads="1"/>
          </p:cNvSpPr>
          <p:nvPr/>
        </p:nvSpPr>
        <p:spPr bwMode="auto">
          <a:xfrm>
            <a:off x="3892760" y="3669611"/>
            <a:ext cx="419761" cy="297180"/>
          </a:xfrm>
          <a:prstGeom prst="rect">
            <a:avLst/>
          </a:prstGeom>
          <a:noFill/>
          <a:ln w="38100" algn="ctr">
            <a:noFill/>
            <a:miter lim="800000"/>
          </a:ln>
          <a:effectLst/>
        </p:spPr>
        <p:txBody>
          <a:bodyPr>
            <a:spAutoFit/>
          </a:bodyPr>
          <a:lstStyle/>
          <a:p>
            <a:pPr>
              <a:spcBef>
                <a:spcPct val="50000"/>
              </a:spcBef>
            </a:pPr>
            <a:r>
              <a:rPr lang="en-US" altLang="zh-CN" sz="1335">
                <a:solidFill>
                  <a:srgbClr val="00B0F0"/>
                </a:solidFill>
                <a:latin typeface="Consolas" panose="020B0609020204030204" pitchFamily="49" charset="0"/>
                <a:cs typeface="Consolas" panose="020B0609020204030204" pitchFamily="49" charset="0"/>
              </a:rPr>
              <a:t>4</a:t>
            </a:r>
          </a:p>
        </p:txBody>
      </p:sp>
      <p:sp>
        <p:nvSpPr>
          <p:cNvPr id="17" name="Text Box 14">
            <a:extLst>
              <a:ext uri="{FF2B5EF4-FFF2-40B4-BE49-F238E27FC236}">
                <a16:creationId xmlns:a16="http://schemas.microsoft.com/office/drawing/2014/main" id="{68CA3942-F942-49E1-9E29-D716E8B39E77}"/>
              </a:ext>
            </a:extLst>
          </p:cNvPr>
          <p:cNvSpPr txBox="1">
            <a:spLocks noChangeArrowheads="1"/>
          </p:cNvSpPr>
          <p:nvPr/>
        </p:nvSpPr>
        <p:spPr bwMode="auto">
          <a:xfrm>
            <a:off x="4430374" y="3669611"/>
            <a:ext cx="419761" cy="297180"/>
          </a:xfrm>
          <a:prstGeom prst="rect">
            <a:avLst/>
          </a:prstGeom>
          <a:noFill/>
          <a:ln w="38100" algn="ctr">
            <a:noFill/>
            <a:miter lim="800000"/>
          </a:ln>
          <a:effectLst/>
        </p:spPr>
        <p:txBody>
          <a:bodyPr>
            <a:spAutoFit/>
          </a:bodyPr>
          <a:lstStyle/>
          <a:p>
            <a:pPr>
              <a:spcBef>
                <a:spcPct val="50000"/>
              </a:spcBef>
            </a:pPr>
            <a:r>
              <a:rPr lang="en-US" altLang="zh-CN" sz="1335">
                <a:solidFill>
                  <a:srgbClr val="00B0F0"/>
                </a:solidFill>
                <a:latin typeface="Consolas" panose="020B0609020204030204" pitchFamily="49" charset="0"/>
                <a:cs typeface="Consolas" panose="020B0609020204030204" pitchFamily="49" charset="0"/>
              </a:rPr>
              <a:t>5</a:t>
            </a:r>
          </a:p>
        </p:txBody>
      </p:sp>
      <p:sp>
        <p:nvSpPr>
          <p:cNvPr id="18" name="Text Box 15">
            <a:extLst>
              <a:ext uri="{FF2B5EF4-FFF2-40B4-BE49-F238E27FC236}">
                <a16:creationId xmlns:a16="http://schemas.microsoft.com/office/drawing/2014/main" id="{5D749FD1-ACBD-4A76-83A4-4BDAD6687A4A}"/>
              </a:ext>
            </a:extLst>
          </p:cNvPr>
          <p:cNvSpPr txBox="1">
            <a:spLocks noChangeArrowheads="1"/>
          </p:cNvSpPr>
          <p:nvPr/>
        </p:nvSpPr>
        <p:spPr bwMode="auto">
          <a:xfrm>
            <a:off x="1547664" y="4941168"/>
            <a:ext cx="2702624" cy="398780"/>
          </a:xfrm>
          <a:prstGeom prst="rect">
            <a:avLst/>
          </a:prstGeom>
          <a:solidFill>
            <a:schemeClr val="bg1"/>
          </a:solidFill>
          <a:ln w="9525">
            <a:noFill/>
            <a:miter lim="800000"/>
          </a:ln>
          <a:effectLst/>
        </p:spPr>
        <p:txBody>
          <a:bodyPr>
            <a:spAutoFit/>
          </a:bodyPr>
          <a:lstStyle/>
          <a:p>
            <a:pPr algn="l">
              <a:spcBef>
                <a:spcPct val="50000"/>
              </a:spcBef>
            </a:pPr>
            <a:r>
              <a:rPr lang="en-US" altLang="zh-CN" i="1">
                <a:latin typeface="Consolas" panose="020B0609020204030204" pitchFamily="49" charset="0"/>
                <a:ea typeface="楷体" panose="02010609060101010101" pitchFamily="49" charset="-122"/>
                <a:cs typeface="Consolas" panose="020B0609020204030204" pitchFamily="49" charset="0"/>
              </a:rPr>
              <a:t>k</a:t>
            </a:r>
            <a:r>
              <a:rPr lang="en-US" altLang="zh-CN">
                <a:latin typeface="Consolas" panose="020B0609020204030204" pitchFamily="49" charset="0"/>
                <a:ea typeface="楷体" panose="02010609060101010101" pitchFamily="49" charset="-122"/>
                <a:cs typeface="Consolas" panose="020B0609020204030204" pitchFamily="49" charset="0"/>
              </a:rPr>
              <a:t>=0</a:t>
            </a:r>
            <a:r>
              <a:rPr lang="zh-CN" altLang="en-US">
                <a:latin typeface="Consolas" panose="020B0609020204030204" pitchFamily="49" charset="0"/>
                <a:ea typeface="楷体" panose="02010609060101010101" pitchFamily="49" charset="-122"/>
                <a:cs typeface="Consolas" panose="020B0609020204030204" pitchFamily="49" charset="0"/>
              </a:rPr>
              <a:t>，前</a:t>
            </a:r>
            <a:r>
              <a:rPr lang="zh-CN" altLang="en-US" dirty="0">
                <a:latin typeface="Consolas" panose="020B0609020204030204" pitchFamily="49" charset="0"/>
                <a:ea typeface="楷体" panose="02010609060101010101" pitchFamily="49" charset="-122"/>
                <a:cs typeface="Consolas" panose="020B0609020204030204" pitchFamily="49" charset="0"/>
              </a:rPr>
              <a:t>移</a:t>
            </a:r>
            <a:r>
              <a:rPr lang="en-US" altLang="zh-CN" dirty="0">
                <a:latin typeface="Consolas" panose="020B0609020204030204" pitchFamily="49" charset="0"/>
                <a:ea typeface="楷体" panose="02010609060101010101" pitchFamily="49" charset="-122"/>
                <a:cs typeface="Consolas" panose="020B0609020204030204" pitchFamily="49" charset="0"/>
              </a:rPr>
              <a:t>0</a:t>
            </a:r>
            <a:r>
              <a:rPr lang="zh-CN" altLang="en-US" dirty="0">
                <a:latin typeface="Consolas" panose="020B0609020204030204" pitchFamily="49" charset="0"/>
                <a:ea typeface="楷体" panose="02010609060101010101" pitchFamily="49" charset="-122"/>
                <a:cs typeface="Consolas" panose="020B0609020204030204" pitchFamily="49" charset="0"/>
              </a:rPr>
              <a:t>个位置</a:t>
            </a:r>
            <a:endParaRPr lang="zh-CN" altLang="en-US" baseline="-25000" dirty="0">
              <a:latin typeface="Consolas" panose="020B0609020204030204" pitchFamily="49" charset="0"/>
              <a:ea typeface="楷体" panose="02010609060101010101" pitchFamily="49" charset="-122"/>
              <a:cs typeface="Consolas" panose="020B0609020204030204" pitchFamily="49" charset="0"/>
            </a:endParaRPr>
          </a:p>
        </p:txBody>
      </p:sp>
      <p:sp>
        <p:nvSpPr>
          <p:cNvPr id="19" name="Text Box 16">
            <a:extLst>
              <a:ext uri="{FF2B5EF4-FFF2-40B4-BE49-F238E27FC236}">
                <a16:creationId xmlns:a16="http://schemas.microsoft.com/office/drawing/2014/main" id="{7401A74F-46D9-452E-806D-1C311752D41B}"/>
              </a:ext>
            </a:extLst>
          </p:cNvPr>
          <p:cNvSpPr txBox="1">
            <a:spLocks noChangeArrowheads="1"/>
          </p:cNvSpPr>
          <p:nvPr/>
        </p:nvSpPr>
        <p:spPr bwMode="auto">
          <a:xfrm>
            <a:off x="2810919" y="4105595"/>
            <a:ext cx="421085" cy="450850"/>
          </a:xfrm>
          <a:prstGeom prst="rect">
            <a:avLst/>
          </a:prstGeom>
          <a:solidFill>
            <a:schemeClr val="accent3">
              <a:lumMod val="20000"/>
              <a:lumOff val="80000"/>
            </a:schemeClr>
          </a:solidFill>
          <a:ln w="9525">
            <a:noFill/>
            <a:miter lim="800000"/>
          </a:ln>
          <a:effectLst/>
        </p:spPr>
        <p:txBody>
          <a:bodyPr>
            <a:spAutoFit/>
          </a:bodyPr>
          <a:lstStyle/>
          <a:p>
            <a:pPr algn="l"/>
            <a:r>
              <a:rPr lang="en-US" altLang="zh-CN" sz="2335">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Consolas" panose="020B0609020204030204" pitchFamily="49" charset="0"/>
                <a:cs typeface="Consolas" panose="020B0609020204030204" pitchFamily="49" charset="0"/>
              </a:rPr>
              <a:t>1</a:t>
            </a:r>
            <a:endParaRPr lang="en-US" altLang="zh-CN" sz="2335" baseline="-2500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Consolas" panose="020B0609020204030204" pitchFamily="49" charset="0"/>
              <a:cs typeface="Consolas" panose="020B0609020204030204" pitchFamily="49" charset="0"/>
            </a:endParaRPr>
          </a:p>
        </p:txBody>
      </p:sp>
      <p:sp>
        <p:nvSpPr>
          <p:cNvPr id="20" name="Text Box 17">
            <a:extLst>
              <a:ext uri="{FF2B5EF4-FFF2-40B4-BE49-F238E27FC236}">
                <a16:creationId xmlns:a16="http://schemas.microsoft.com/office/drawing/2014/main" id="{C2B4AD40-9AAC-43E4-9742-EB2F027C1BC5}"/>
              </a:ext>
            </a:extLst>
          </p:cNvPr>
          <p:cNvSpPr txBox="1">
            <a:spLocks noChangeArrowheads="1"/>
          </p:cNvSpPr>
          <p:nvPr/>
        </p:nvSpPr>
        <p:spPr bwMode="auto">
          <a:xfrm>
            <a:off x="1547664" y="4941168"/>
            <a:ext cx="2702624" cy="398780"/>
          </a:xfrm>
          <a:prstGeom prst="rect">
            <a:avLst/>
          </a:prstGeom>
          <a:solidFill>
            <a:schemeClr val="bg1"/>
          </a:solidFill>
          <a:ln w="9525">
            <a:noFill/>
            <a:miter lim="800000"/>
          </a:ln>
          <a:effectLst/>
        </p:spPr>
        <p:txBody>
          <a:bodyPr>
            <a:spAutoFit/>
          </a:bodyPr>
          <a:lstStyle/>
          <a:p>
            <a:pPr algn="l">
              <a:spcBef>
                <a:spcPct val="50000"/>
              </a:spcBef>
            </a:pPr>
            <a:r>
              <a:rPr lang="en-US" altLang="zh-CN" i="1" dirty="0">
                <a:latin typeface="Consolas" panose="020B0609020204030204" pitchFamily="49" charset="0"/>
                <a:cs typeface="Consolas" panose="020B0609020204030204" pitchFamily="49" charset="0"/>
              </a:rPr>
              <a:t>k</a:t>
            </a:r>
            <a:r>
              <a:rPr lang="en-US" altLang="zh-CN" dirty="0">
                <a:latin typeface="Consolas" panose="020B0609020204030204" pitchFamily="49" charset="0"/>
                <a:cs typeface="Consolas" panose="020B0609020204030204" pitchFamily="49" charset="0"/>
              </a:rPr>
              <a:t>=1</a:t>
            </a:r>
            <a:endParaRPr lang="en-US" altLang="zh-CN" baseline="-25000" dirty="0">
              <a:latin typeface="Consolas" panose="020B0609020204030204" pitchFamily="49" charset="0"/>
              <a:cs typeface="Consolas" panose="020B0609020204030204" pitchFamily="49" charset="0"/>
            </a:endParaRPr>
          </a:p>
        </p:txBody>
      </p:sp>
      <p:sp>
        <p:nvSpPr>
          <p:cNvPr id="21" name="Text Box 18">
            <a:extLst>
              <a:ext uri="{FF2B5EF4-FFF2-40B4-BE49-F238E27FC236}">
                <a16:creationId xmlns:a16="http://schemas.microsoft.com/office/drawing/2014/main" id="{E2D66634-AE1D-4F51-87FB-F4B881521099}"/>
              </a:ext>
            </a:extLst>
          </p:cNvPr>
          <p:cNvSpPr txBox="1">
            <a:spLocks noChangeArrowheads="1"/>
          </p:cNvSpPr>
          <p:nvPr/>
        </p:nvSpPr>
        <p:spPr bwMode="auto">
          <a:xfrm>
            <a:off x="1547664" y="4941168"/>
            <a:ext cx="2702624" cy="398780"/>
          </a:xfrm>
          <a:prstGeom prst="rect">
            <a:avLst/>
          </a:prstGeom>
          <a:solidFill>
            <a:schemeClr val="bg1"/>
          </a:solidFill>
          <a:ln w="9525">
            <a:noFill/>
            <a:miter lim="800000"/>
          </a:ln>
          <a:effectLst/>
        </p:spPr>
        <p:txBody>
          <a:bodyPr>
            <a:spAutoFit/>
          </a:bodyPr>
          <a:lstStyle/>
          <a:p>
            <a:pPr algn="l">
              <a:spcBef>
                <a:spcPct val="50000"/>
              </a:spcBef>
            </a:pPr>
            <a:r>
              <a:rPr lang="en-US" altLang="zh-CN" i="1">
                <a:latin typeface="Consolas" panose="020B0609020204030204" pitchFamily="49" charset="0"/>
                <a:ea typeface="楷体" panose="02010609060101010101" pitchFamily="49" charset="-122"/>
                <a:cs typeface="Consolas" panose="020B0609020204030204" pitchFamily="49" charset="0"/>
              </a:rPr>
              <a:t>k</a:t>
            </a:r>
            <a:r>
              <a:rPr lang="en-US" altLang="zh-CN">
                <a:latin typeface="Consolas" panose="020B0609020204030204" pitchFamily="49" charset="0"/>
                <a:ea typeface="楷体" panose="02010609060101010101" pitchFamily="49" charset="-122"/>
                <a:cs typeface="Consolas" panose="020B0609020204030204" pitchFamily="49" charset="0"/>
              </a:rPr>
              <a:t>=1</a:t>
            </a:r>
            <a:r>
              <a:rPr lang="zh-CN" altLang="en-US">
                <a:latin typeface="Consolas" panose="020B0609020204030204" pitchFamily="49" charset="0"/>
                <a:ea typeface="楷体" panose="02010609060101010101" pitchFamily="49" charset="-122"/>
                <a:cs typeface="Consolas" panose="020B0609020204030204" pitchFamily="49" charset="0"/>
              </a:rPr>
              <a:t>，前</a:t>
            </a:r>
            <a:r>
              <a:rPr lang="zh-CN" altLang="en-US" dirty="0">
                <a:latin typeface="Consolas" panose="020B0609020204030204" pitchFamily="49" charset="0"/>
                <a:ea typeface="楷体" panose="02010609060101010101" pitchFamily="49" charset="-122"/>
                <a:cs typeface="Consolas" panose="020B0609020204030204" pitchFamily="49" charset="0"/>
              </a:rPr>
              <a:t>移</a:t>
            </a:r>
            <a:r>
              <a:rPr lang="en-US" altLang="zh-CN" dirty="0">
                <a:latin typeface="Consolas" panose="020B0609020204030204" pitchFamily="49" charset="0"/>
                <a:ea typeface="楷体" panose="02010609060101010101" pitchFamily="49" charset="-122"/>
                <a:cs typeface="Consolas" panose="020B0609020204030204" pitchFamily="49" charset="0"/>
              </a:rPr>
              <a:t>1</a:t>
            </a:r>
            <a:r>
              <a:rPr lang="zh-CN" altLang="en-US" dirty="0">
                <a:latin typeface="Consolas" panose="020B0609020204030204" pitchFamily="49" charset="0"/>
                <a:ea typeface="楷体" panose="02010609060101010101" pitchFamily="49" charset="-122"/>
                <a:cs typeface="Consolas" panose="020B0609020204030204" pitchFamily="49" charset="0"/>
              </a:rPr>
              <a:t>个位置</a:t>
            </a:r>
            <a:endParaRPr lang="zh-CN" altLang="en-US" baseline="-25000" dirty="0">
              <a:latin typeface="Consolas" panose="020B0609020204030204" pitchFamily="49" charset="0"/>
              <a:ea typeface="楷体" panose="02010609060101010101" pitchFamily="49" charset="-122"/>
              <a:cs typeface="Consolas" panose="020B0609020204030204" pitchFamily="49" charset="0"/>
            </a:endParaRPr>
          </a:p>
        </p:txBody>
      </p:sp>
      <p:sp>
        <p:nvSpPr>
          <p:cNvPr id="22" name="Text Box 19">
            <a:extLst>
              <a:ext uri="{FF2B5EF4-FFF2-40B4-BE49-F238E27FC236}">
                <a16:creationId xmlns:a16="http://schemas.microsoft.com/office/drawing/2014/main" id="{788237AD-BEFA-48AC-9853-EBC49A8A88D0}"/>
              </a:ext>
            </a:extLst>
          </p:cNvPr>
          <p:cNvSpPr txBox="1">
            <a:spLocks noChangeArrowheads="1"/>
          </p:cNvSpPr>
          <p:nvPr/>
        </p:nvSpPr>
        <p:spPr bwMode="auto">
          <a:xfrm>
            <a:off x="1547664" y="4941168"/>
            <a:ext cx="2702624" cy="398780"/>
          </a:xfrm>
          <a:prstGeom prst="rect">
            <a:avLst/>
          </a:prstGeom>
          <a:solidFill>
            <a:schemeClr val="bg1"/>
          </a:solidFill>
          <a:ln w="9525">
            <a:noFill/>
            <a:miter lim="800000"/>
          </a:ln>
          <a:effectLst/>
        </p:spPr>
        <p:txBody>
          <a:bodyPr>
            <a:spAutoFit/>
          </a:bodyPr>
          <a:lstStyle/>
          <a:p>
            <a:pPr algn="l">
              <a:spcBef>
                <a:spcPct val="50000"/>
              </a:spcBef>
            </a:pPr>
            <a:r>
              <a:rPr lang="en-US" altLang="zh-CN" i="1" dirty="0">
                <a:latin typeface="Consolas" panose="020B0609020204030204" pitchFamily="49" charset="0"/>
                <a:cs typeface="Consolas" panose="020B0609020204030204" pitchFamily="49" charset="0"/>
              </a:rPr>
              <a:t>k</a:t>
            </a:r>
            <a:r>
              <a:rPr lang="en-US" altLang="zh-CN" dirty="0">
                <a:latin typeface="Consolas" panose="020B0609020204030204" pitchFamily="49" charset="0"/>
                <a:cs typeface="Consolas" panose="020B0609020204030204" pitchFamily="49" charset="0"/>
              </a:rPr>
              <a:t>=2</a:t>
            </a:r>
            <a:endParaRPr lang="en-US" altLang="zh-CN" baseline="-25000" dirty="0">
              <a:latin typeface="Consolas" panose="020B0609020204030204" pitchFamily="49" charset="0"/>
              <a:cs typeface="Consolas" panose="020B0609020204030204" pitchFamily="49" charset="0"/>
            </a:endParaRPr>
          </a:p>
        </p:txBody>
      </p:sp>
      <p:sp>
        <p:nvSpPr>
          <p:cNvPr id="23" name="Text Box 20">
            <a:extLst>
              <a:ext uri="{FF2B5EF4-FFF2-40B4-BE49-F238E27FC236}">
                <a16:creationId xmlns:a16="http://schemas.microsoft.com/office/drawing/2014/main" id="{F50FA013-B6C9-45C7-BE57-D8F5A9C3889B}"/>
              </a:ext>
            </a:extLst>
          </p:cNvPr>
          <p:cNvSpPr txBox="1">
            <a:spLocks noChangeArrowheads="1"/>
          </p:cNvSpPr>
          <p:nvPr/>
        </p:nvSpPr>
        <p:spPr bwMode="auto">
          <a:xfrm>
            <a:off x="1547664" y="4941168"/>
            <a:ext cx="2702624" cy="398780"/>
          </a:xfrm>
          <a:prstGeom prst="rect">
            <a:avLst/>
          </a:prstGeom>
          <a:solidFill>
            <a:schemeClr val="bg1"/>
          </a:solidFill>
          <a:ln w="9525">
            <a:noFill/>
            <a:miter lim="800000"/>
          </a:ln>
          <a:effectLst/>
        </p:spPr>
        <p:txBody>
          <a:bodyPr>
            <a:spAutoFit/>
          </a:bodyPr>
          <a:lstStyle/>
          <a:p>
            <a:pPr algn="l">
              <a:spcBef>
                <a:spcPct val="50000"/>
              </a:spcBef>
            </a:pPr>
            <a:r>
              <a:rPr lang="en-US" altLang="zh-CN" i="1">
                <a:latin typeface="Consolas" panose="020B0609020204030204" pitchFamily="49" charset="0"/>
                <a:ea typeface="楷体" panose="02010609060101010101" pitchFamily="49" charset="-122"/>
                <a:cs typeface="Consolas" panose="020B0609020204030204" pitchFamily="49" charset="0"/>
              </a:rPr>
              <a:t>k</a:t>
            </a:r>
            <a:r>
              <a:rPr lang="en-US" altLang="zh-CN">
                <a:latin typeface="Consolas" panose="020B0609020204030204" pitchFamily="49" charset="0"/>
                <a:ea typeface="楷体" panose="02010609060101010101" pitchFamily="49" charset="-122"/>
                <a:cs typeface="Consolas" panose="020B0609020204030204" pitchFamily="49" charset="0"/>
              </a:rPr>
              <a:t>=2</a:t>
            </a:r>
            <a:r>
              <a:rPr lang="zh-CN" altLang="en-US">
                <a:latin typeface="Consolas" panose="020B0609020204030204" pitchFamily="49" charset="0"/>
                <a:ea typeface="楷体" panose="02010609060101010101" pitchFamily="49" charset="-122"/>
                <a:cs typeface="Consolas" panose="020B0609020204030204" pitchFamily="49" charset="0"/>
              </a:rPr>
              <a:t>，前</a:t>
            </a:r>
            <a:r>
              <a:rPr lang="zh-CN" altLang="en-US" dirty="0">
                <a:latin typeface="Consolas" panose="020B0609020204030204" pitchFamily="49" charset="0"/>
                <a:ea typeface="楷体" panose="02010609060101010101" pitchFamily="49" charset="-122"/>
                <a:cs typeface="Consolas" panose="020B0609020204030204" pitchFamily="49" charset="0"/>
              </a:rPr>
              <a:t>移</a:t>
            </a:r>
            <a:r>
              <a:rPr lang="en-US" altLang="zh-CN" dirty="0">
                <a:latin typeface="Consolas" panose="020B0609020204030204" pitchFamily="49" charset="0"/>
                <a:ea typeface="楷体" panose="02010609060101010101" pitchFamily="49" charset="-122"/>
                <a:cs typeface="Consolas" panose="020B0609020204030204" pitchFamily="49" charset="0"/>
              </a:rPr>
              <a:t>2</a:t>
            </a:r>
            <a:r>
              <a:rPr lang="zh-CN" altLang="en-US" dirty="0">
                <a:latin typeface="Consolas" panose="020B0609020204030204" pitchFamily="49" charset="0"/>
                <a:ea typeface="楷体" panose="02010609060101010101" pitchFamily="49" charset="-122"/>
                <a:cs typeface="Consolas" panose="020B0609020204030204" pitchFamily="49" charset="0"/>
              </a:rPr>
              <a:t>个位置</a:t>
            </a:r>
            <a:endParaRPr lang="zh-CN" altLang="en-US" baseline="-25000" dirty="0">
              <a:latin typeface="Consolas" panose="020B0609020204030204" pitchFamily="49" charset="0"/>
              <a:ea typeface="楷体" panose="02010609060101010101" pitchFamily="49" charset="-122"/>
              <a:cs typeface="Consolas" panose="020B0609020204030204" pitchFamily="49" charset="0"/>
            </a:endParaRPr>
          </a:p>
        </p:txBody>
      </p:sp>
      <p:sp>
        <p:nvSpPr>
          <p:cNvPr id="24" name="Text Box 21">
            <a:extLst>
              <a:ext uri="{FF2B5EF4-FFF2-40B4-BE49-F238E27FC236}">
                <a16:creationId xmlns:a16="http://schemas.microsoft.com/office/drawing/2014/main" id="{27CE1015-0482-4B4F-88AB-4C6C9805A4AB}"/>
              </a:ext>
            </a:extLst>
          </p:cNvPr>
          <p:cNvSpPr txBox="1">
            <a:spLocks noChangeArrowheads="1"/>
          </p:cNvSpPr>
          <p:nvPr/>
        </p:nvSpPr>
        <p:spPr bwMode="auto">
          <a:xfrm>
            <a:off x="1547664" y="4941168"/>
            <a:ext cx="2702624" cy="347345"/>
          </a:xfrm>
          <a:prstGeom prst="rect">
            <a:avLst/>
          </a:prstGeom>
          <a:solidFill>
            <a:schemeClr val="bg1"/>
          </a:solidFill>
          <a:ln w="9525">
            <a:noFill/>
            <a:miter lim="800000"/>
          </a:ln>
          <a:effectLst/>
        </p:spPr>
        <p:txBody>
          <a:bodyPr>
            <a:spAutoFit/>
          </a:bodyPr>
          <a:lstStyle/>
          <a:p>
            <a:pPr algn="l">
              <a:spcBef>
                <a:spcPct val="50000"/>
              </a:spcBef>
            </a:pPr>
            <a:r>
              <a:rPr lang="en-US" altLang="zh-CN" sz="1670" i="1" dirty="0">
                <a:latin typeface="Consolas" panose="020B0609020204030204" pitchFamily="49" charset="0"/>
                <a:cs typeface="Consolas" panose="020B0609020204030204" pitchFamily="49" charset="0"/>
              </a:rPr>
              <a:t>k</a:t>
            </a:r>
            <a:r>
              <a:rPr lang="en-US" altLang="zh-CN" sz="1670" dirty="0">
                <a:latin typeface="Consolas" panose="020B0609020204030204" pitchFamily="49" charset="0"/>
                <a:cs typeface="Consolas" panose="020B0609020204030204" pitchFamily="49" charset="0"/>
              </a:rPr>
              <a:t>=3</a:t>
            </a:r>
            <a:endParaRPr lang="en-US" altLang="zh-CN" sz="1670" baseline="-25000" dirty="0">
              <a:latin typeface="Consolas" panose="020B0609020204030204" pitchFamily="49" charset="0"/>
              <a:cs typeface="Consolas" panose="020B0609020204030204" pitchFamily="49" charset="0"/>
            </a:endParaRPr>
          </a:p>
        </p:txBody>
      </p:sp>
      <p:sp>
        <p:nvSpPr>
          <p:cNvPr id="25" name="Text Box 22">
            <a:extLst>
              <a:ext uri="{FF2B5EF4-FFF2-40B4-BE49-F238E27FC236}">
                <a16:creationId xmlns:a16="http://schemas.microsoft.com/office/drawing/2014/main" id="{7556A1DA-2B4C-4035-8C24-DB7B9C54E310}"/>
              </a:ext>
            </a:extLst>
          </p:cNvPr>
          <p:cNvSpPr txBox="1">
            <a:spLocks noChangeArrowheads="1"/>
          </p:cNvSpPr>
          <p:nvPr/>
        </p:nvSpPr>
        <p:spPr bwMode="auto">
          <a:xfrm>
            <a:off x="4491285" y="5048376"/>
            <a:ext cx="2702624" cy="347345"/>
          </a:xfrm>
          <a:prstGeom prst="rect">
            <a:avLst/>
          </a:prstGeom>
          <a:noFill/>
          <a:ln w="9525">
            <a:noFill/>
            <a:miter lim="800000"/>
          </a:ln>
          <a:effectLst/>
        </p:spPr>
        <p:txBody>
          <a:bodyPr>
            <a:spAutoFit/>
          </a:bodyPr>
          <a:lstStyle/>
          <a:p>
            <a:pPr algn="l">
              <a:spcBef>
                <a:spcPct val="50000"/>
              </a:spcBef>
            </a:pPr>
            <a:r>
              <a:rPr lang="zh-CN" altLang="en-US" sz="1670" dirty="0">
                <a:latin typeface="Consolas" panose="020B0609020204030204" pitchFamily="49" charset="0"/>
                <a:ea typeface="仿宋" panose="02010609060101010101" pitchFamily="49" charset="-122"/>
                <a:cs typeface="Consolas" panose="020B0609020204030204" pitchFamily="49" charset="0"/>
              </a:rPr>
              <a:t>顺序表长度</a:t>
            </a:r>
            <a:r>
              <a:rPr lang="en-US" altLang="zh-CN" sz="1670" dirty="0">
                <a:latin typeface="Consolas" panose="020B0609020204030204" pitchFamily="49" charset="0"/>
                <a:ea typeface="仿宋" panose="02010609060101010101" pitchFamily="49" charset="-122"/>
                <a:cs typeface="Consolas" panose="020B0609020204030204" pitchFamily="49" charset="0"/>
              </a:rPr>
              <a:t>=6-</a:t>
            </a:r>
            <a:r>
              <a:rPr lang="en-US" altLang="zh-CN" sz="1670" i="1" dirty="0">
                <a:latin typeface="Consolas" panose="020B0609020204030204" pitchFamily="49" charset="0"/>
                <a:ea typeface="仿宋" panose="02010609060101010101" pitchFamily="49" charset="-122"/>
                <a:cs typeface="Consolas" panose="020B0609020204030204" pitchFamily="49" charset="0"/>
              </a:rPr>
              <a:t>k</a:t>
            </a:r>
            <a:r>
              <a:rPr lang="en-US" altLang="zh-CN" sz="1670" dirty="0">
                <a:latin typeface="Consolas" panose="020B0609020204030204" pitchFamily="49" charset="0"/>
                <a:ea typeface="仿宋" panose="02010609060101010101" pitchFamily="49" charset="-122"/>
                <a:cs typeface="Consolas" panose="020B0609020204030204" pitchFamily="49" charset="0"/>
              </a:rPr>
              <a:t>=3</a:t>
            </a:r>
            <a:endParaRPr lang="en-US" altLang="zh-CN" sz="1670" baseline="-25000" dirty="0">
              <a:latin typeface="Consolas" panose="020B0609020204030204" pitchFamily="49" charset="0"/>
              <a:ea typeface="仿宋" panose="02010609060101010101" pitchFamily="49" charset="-122"/>
              <a:cs typeface="Consolas" panose="020B0609020204030204" pitchFamily="49" charset="0"/>
            </a:endParaRPr>
          </a:p>
        </p:txBody>
      </p:sp>
      <p:sp>
        <p:nvSpPr>
          <p:cNvPr id="26" name="Rectangle 24">
            <a:extLst>
              <a:ext uri="{FF2B5EF4-FFF2-40B4-BE49-F238E27FC236}">
                <a16:creationId xmlns:a16="http://schemas.microsoft.com/office/drawing/2014/main" id="{F205C39B-B13A-4395-A42A-09053587370C}"/>
              </a:ext>
            </a:extLst>
          </p:cNvPr>
          <p:cNvSpPr>
            <a:spLocks noChangeArrowheads="1"/>
          </p:cNvSpPr>
          <p:nvPr/>
        </p:nvSpPr>
        <p:spPr bwMode="auto">
          <a:xfrm>
            <a:off x="6831089" y="3967882"/>
            <a:ext cx="1202343" cy="660760"/>
          </a:xfrm>
          <a:prstGeom prst="rect">
            <a:avLst/>
          </a:prstGeom>
          <a:solidFill>
            <a:schemeClr val="accent3">
              <a:lumMod val="20000"/>
              <a:lumOff val="80000"/>
            </a:schemeClr>
          </a:solidFill>
        </p:spPr>
        <p:style>
          <a:lnRef idx="1">
            <a:schemeClr val="accent3"/>
          </a:lnRef>
          <a:fillRef idx="2">
            <a:schemeClr val="accent3"/>
          </a:fillRef>
          <a:effectRef idx="1">
            <a:schemeClr val="accent3"/>
          </a:effectRef>
          <a:fontRef idx="minor">
            <a:schemeClr val="dk1"/>
          </a:fontRef>
        </p:style>
        <p:txBody>
          <a:bodyPr wrap="none" anchor="ctr"/>
          <a:lstStyle/>
          <a:p>
            <a:endParaRPr lang="zh-CN" altLang="en-US" sz="1670">
              <a:latin typeface="Consolas" panose="020B0609020204030204" pitchFamily="49" charset="0"/>
              <a:cs typeface="Consolas" panose="020B0609020204030204" pitchFamily="49" charset="0"/>
            </a:endParaRPr>
          </a:p>
        </p:txBody>
      </p:sp>
      <p:sp>
        <p:nvSpPr>
          <p:cNvPr id="27" name="Text Box 25">
            <a:extLst>
              <a:ext uri="{FF2B5EF4-FFF2-40B4-BE49-F238E27FC236}">
                <a16:creationId xmlns:a16="http://schemas.microsoft.com/office/drawing/2014/main" id="{6E1ADCE3-B93E-455C-BCA6-75BCBA3444CE}"/>
              </a:ext>
            </a:extLst>
          </p:cNvPr>
          <p:cNvSpPr txBox="1">
            <a:spLocks noChangeArrowheads="1"/>
          </p:cNvSpPr>
          <p:nvPr/>
        </p:nvSpPr>
        <p:spPr bwMode="auto">
          <a:xfrm>
            <a:off x="7072087" y="3743930"/>
            <a:ext cx="815709" cy="205740"/>
          </a:xfrm>
          <a:prstGeom prst="rect">
            <a:avLst/>
          </a:prstGeom>
          <a:noFill/>
          <a:ln w="9525">
            <a:noFill/>
            <a:miter lim="800000"/>
          </a:ln>
          <a:effectLst/>
        </p:spPr>
        <p:txBody>
          <a:bodyPr wrap="square" lIns="0" tIns="0" rIns="0" bIns="0">
            <a:spAutoFit/>
          </a:bodyPr>
          <a:lstStyle/>
          <a:p>
            <a:pPr algn="l">
              <a:spcBef>
                <a:spcPct val="50000"/>
              </a:spcBef>
            </a:pPr>
            <a:r>
              <a:rPr lang="en-US" altLang="zh-CN" sz="1335">
                <a:solidFill>
                  <a:srgbClr val="00B0F0"/>
                </a:solidFill>
                <a:latin typeface="Consolas" panose="020B0609020204030204" pitchFamily="49" charset="0"/>
                <a:cs typeface="Consolas" panose="020B0609020204030204" pitchFamily="49" charset="0"/>
              </a:rPr>
              <a:t>length</a:t>
            </a:r>
          </a:p>
        </p:txBody>
      </p:sp>
      <p:sp>
        <p:nvSpPr>
          <p:cNvPr id="28" name="Text Box 26">
            <a:extLst>
              <a:ext uri="{FF2B5EF4-FFF2-40B4-BE49-F238E27FC236}">
                <a16:creationId xmlns:a16="http://schemas.microsoft.com/office/drawing/2014/main" id="{093F85AD-21F3-4DFF-AFFE-476E9DF9ACBC}"/>
              </a:ext>
            </a:extLst>
          </p:cNvPr>
          <p:cNvSpPr txBox="1">
            <a:spLocks noChangeArrowheads="1"/>
          </p:cNvSpPr>
          <p:nvPr/>
        </p:nvSpPr>
        <p:spPr bwMode="auto">
          <a:xfrm>
            <a:off x="7131674" y="4151942"/>
            <a:ext cx="599848" cy="255905"/>
          </a:xfrm>
          <a:prstGeom prst="rect">
            <a:avLst/>
          </a:prstGeom>
          <a:noFill/>
          <a:ln w="9525">
            <a:noFill/>
            <a:miter lim="800000"/>
          </a:ln>
          <a:effectLst/>
        </p:spPr>
        <p:txBody>
          <a:bodyPr lIns="0" tIns="0" rIns="0" bIns="0">
            <a:spAutoFit/>
          </a:bodyPr>
          <a:lstStyle/>
          <a:p>
            <a:pPr>
              <a:spcBef>
                <a:spcPct val="50000"/>
              </a:spcBef>
            </a:pPr>
            <a:r>
              <a:rPr lang="en-US" altLang="zh-CN" sz="1670">
                <a:latin typeface="Consolas" panose="020B0609020204030204" pitchFamily="49" charset="0"/>
                <a:cs typeface="Consolas" panose="020B0609020204030204" pitchFamily="49" charset="0"/>
              </a:rPr>
              <a:t>6</a:t>
            </a:r>
          </a:p>
        </p:txBody>
      </p:sp>
      <p:sp>
        <p:nvSpPr>
          <p:cNvPr id="29" name="Text Box 27">
            <a:extLst>
              <a:ext uri="{FF2B5EF4-FFF2-40B4-BE49-F238E27FC236}">
                <a16:creationId xmlns:a16="http://schemas.microsoft.com/office/drawing/2014/main" id="{77017220-A45A-4B63-B353-9FD3B48B3D14}"/>
              </a:ext>
            </a:extLst>
          </p:cNvPr>
          <p:cNvSpPr txBox="1">
            <a:spLocks noChangeArrowheads="1"/>
          </p:cNvSpPr>
          <p:nvPr/>
        </p:nvSpPr>
        <p:spPr bwMode="auto">
          <a:xfrm>
            <a:off x="7131674" y="4147969"/>
            <a:ext cx="599848" cy="255905"/>
          </a:xfrm>
          <a:prstGeom prst="rect">
            <a:avLst/>
          </a:prstGeom>
          <a:solidFill>
            <a:schemeClr val="accent3">
              <a:lumMod val="20000"/>
              <a:lumOff val="80000"/>
            </a:schemeClr>
          </a:solidFill>
          <a:ln w="9525">
            <a:noFill/>
            <a:miter lim="800000"/>
          </a:ln>
          <a:effectLst/>
        </p:spPr>
        <p:txBody>
          <a:bodyPr lIns="0" tIns="0" rIns="0" bIns="0">
            <a:spAutoFit/>
          </a:bodyPr>
          <a:lstStyle/>
          <a:p>
            <a:pPr>
              <a:spcBef>
                <a:spcPct val="50000"/>
              </a:spcBef>
            </a:pPr>
            <a:r>
              <a:rPr lang="en-US" altLang="zh-CN" sz="1670">
                <a:latin typeface="Consolas" panose="020B0609020204030204" pitchFamily="49" charset="0"/>
                <a:cs typeface="Consolas" panose="020B0609020204030204" pitchFamily="49" charset="0"/>
              </a:rPr>
              <a:t>3</a:t>
            </a:r>
          </a:p>
        </p:txBody>
      </p:sp>
      <p:sp>
        <p:nvSpPr>
          <p:cNvPr id="30" name="Text Box 28">
            <a:extLst>
              <a:ext uri="{FF2B5EF4-FFF2-40B4-BE49-F238E27FC236}">
                <a16:creationId xmlns:a16="http://schemas.microsoft.com/office/drawing/2014/main" id="{CD485DBF-FCF5-47F6-8313-93B69E40235E}"/>
              </a:ext>
            </a:extLst>
          </p:cNvPr>
          <p:cNvSpPr txBox="1">
            <a:spLocks noChangeArrowheads="1"/>
          </p:cNvSpPr>
          <p:nvPr/>
        </p:nvSpPr>
        <p:spPr bwMode="auto">
          <a:xfrm>
            <a:off x="4133758" y="5739644"/>
            <a:ext cx="1622104" cy="347345"/>
          </a:xfrm>
          <a:prstGeom prst="rect">
            <a:avLst/>
          </a:prstGeom>
          <a:noFill/>
          <a:ln w="9525">
            <a:noFill/>
            <a:miter lim="800000"/>
          </a:ln>
          <a:effectLst/>
        </p:spPr>
        <p:txBody>
          <a:bodyPr>
            <a:spAutoFit/>
          </a:bodyPr>
          <a:lstStyle/>
          <a:p>
            <a:pPr algn="l">
              <a:spcBef>
                <a:spcPct val="50000"/>
              </a:spcBef>
            </a:pPr>
            <a:r>
              <a:rPr lang="zh-CN" altLang="en-US" sz="1670" dirty="0">
                <a:solidFill>
                  <a:srgbClr val="FF00FF"/>
                </a:solidFill>
                <a:latin typeface="Consolas" panose="020B0609020204030204" pitchFamily="49" charset="0"/>
                <a:ea typeface="黑体" panose="02010609060101010101" pitchFamily="49" charset="-122"/>
                <a:cs typeface="Consolas" panose="020B0609020204030204" pitchFamily="49" charset="0"/>
              </a:rPr>
              <a:t>删除完成</a:t>
            </a:r>
          </a:p>
        </p:txBody>
      </p:sp>
    </p:spTree>
    <p:extLst>
      <p:ext uri="{BB962C8B-B14F-4D97-AF65-F5344CB8AC3E}">
        <p14:creationId xmlns:p14="http://schemas.microsoft.com/office/powerpoint/2010/main" val="2071367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fill="hold" grpId="0" nodeType="clickEffect">
                                  <p:stCondLst>
                                    <p:cond delay="0"/>
                                  </p:stCondLst>
                                  <p:childTnLst>
                                    <p:anim calcmode="discrete" valueType="str">
                                      <p:cBhvr>
                                        <p:cTn id="6" dur="1000" fill="hold"/>
                                        <p:tgtEl>
                                          <p:spTgt spid="8"/>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blinds(horizontal)">
                                      <p:cBhvr>
                                        <p:cTn id="11" dur="500"/>
                                        <p:tgtEl>
                                          <p:spTgt spid="18"/>
                                        </p:tgtEl>
                                      </p:cBhvr>
                                    </p:animEffect>
                                  </p:childTnLst>
                                </p:cTn>
                              </p:par>
                            </p:childTnLst>
                          </p:cTn>
                        </p:par>
                      </p:childTnLst>
                    </p:cTn>
                  </p:par>
                  <p:par>
                    <p:cTn id="12" fill="hold">
                      <p:stCondLst>
                        <p:cond delay="indefinite"/>
                      </p:stCondLst>
                      <p:childTnLst>
                        <p:par>
                          <p:cTn id="13" fill="hold">
                            <p:stCondLst>
                              <p:cond delay="0"/>
                            </p:stCondLst>
                            <p:childTnLst>
                              <p:par>
                                <p:cTn id="14" presetID="26" presetClass="emph" presetSubtype="0" fill="hold" grpId="0" nodeType="clickEffect">
                                  <p:stCondLst>
                                    <p:cond delay="0"/>
                                  </p:stCondLst>
                                  <p:childTnLst>
                                    <p:animEffect transition="out" filter="fade">
                                      <p:cBhvr>
                                        <p:cTn id="15" dur="500" tmFilter="0, 0; .2, .5; .8, .5; 1, 0"/>
                                        <p:tgtEl>
                                          <p:spTgt spid="9"/>
                                        </p:tgtEl>
                                      </p:cBhvr>
                                    </p:animEffect>
                                    <p:animScale>
                                      <p:cBhvr>
                                        <p:cTn id="16" dur="250" autoRev="1" fill="hold"/>
                                        <p:tgtEl>
                                          <p:spTgt spid="9"/>
                                        </p:tgtEl>
                                      </p:cBhvr>
                                      <p:by x="105000" y="105000"/>
                                    </p:animScale>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blinds(horizontal)">
                                      <p:cBhvr>
                                        <p:cTn id="21" dur="5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4" presetID="35" presetClass="emph" presetSubtype="0" fill="hold" grpId="1" nodeType="clickEffect">
                                  <p:stCondLst>
                                    <p:cond delay="0"/>
                                  </p:stCondLst>
                                  <p:childTnLst>
                                    <p:anim calcmode="discrete" valueType="str">
                                      <p:cBhvr>
                                        <p:cTn id="25" dur="1000" fill="hold"/>
                                        <p:tgtEl>
                                          <p:spTgt spid="19"/>
                                        </p:tgtEl>
                                        <p:attrNameLst>
                                          <p:attrName>style.visibility</p:attrName>
                                        </p:attrNameLst>
                                      </p:cBhvr>
                                      <p:tavLst>
                                        <p:tav tm="0">
                                          <p:val>
                                            <p:strVal val="hidden"/>
                                          </p:val>
                                        </p:tav>
                                        <p:tav tm="50000">
                                          <p:val>
                                            <p:strVal val="visible"/>
                                          </p:val>
                                        </p:tav>
                                      </p:tavLst>
                                    </p:anim>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blinds(horizontal)">
                                      <p:cBhvr>
                                        <p:cTn id="30" dur="500"/>
                                        <p:tgtEl>
                                          <p:spTgt spid="21"/>
                                        </p:tgtEl>
                                      </p:cBhvr>
                                    </p:animEffect>
                                  </p:childTnLst>
                                </p:cTn>
                              </p:par>
                            </p:childTnLst>
                          </p:cTn>
                        </p:par>
                      </p:childTnLst>
                    </p:cTn>
                  </p:par>
                  <p:par>
                    <p:cTn id="31" fill="hold">
                      <p:stCondLst>
                        <p:cond delay="indefinite"/>
                      </p:stCondLst>
                      <p:childTnLst>
                        <p:par>
                          <p:cTn id="32" fill="hold">
                            <p:stCondLst>
                              <p:cond delay="0"/>
                            </p:stCondLst>
                            <p:childTnLst>
                              <p:par>
                                <p:cTn id="33" presetID="0" presetClass="path" presetSubtype="0" accel="50000" decel="50000" fill="hold" grpId="0" nodeType="clickEffect">
                                  <p:stCondLst>
                                    <p:cond delay="0"/>
                                  </p:stCondLst>
                                  <p:childTnLst>
                                    <p:animMotion origin="layout" path="M -0.00278 -0.00185 L -0.07795 -0.00069 " pathEditMode="relative" rAng="0" ptsTypes="AA">
                                      <p:cBhvr>
                                        <p:cTn id="34" dur="2000" fill="hold"/>
                                        <p:tgtEl>
                                          <p:spTgt spid="19"/>
                                        </p:tgtEl>
                                        <p:attrNameLst>
                                          <p:attrName>ppt_x</p:attrName>
                                          <p:attrName>ppt_y</p:attrName>
                                        </p:attrNameLst>
                                      </p:cBhvr>
                                      <p:rCtr x="-38" y="0"/>
                                    </p:animMotion>
                                  </p:childTnLst>
                                </p:cTn>
                              </p:par>
                            </p:childTnLst>
                          </p:cTn>
                        </p:par>
                      </p:childTnLst>
                    </p:cTn>
                  </p:par>
                  <p:par>
                    <p:cTn id="35" fill="hold">
                      <p:stCondLst>
                        <p:cond delay="indefinite"/>
                      </p:stCondLst>
                      <p:childTnLst>
                        <p:par>
                          <p:cTn id="36" fill="hold">
                            <p:stCondLst>
                              <p:cond delay="0"/>
                            </p:stCondLst>
                            <p:childTnLst>
                              <p:par>
                                <p:cTn id="37" presetID="35" presetClass="emph" presetSubtype="0" fill="hold" grpId="0" nodeType="clickEffect">
                                  <p:stCondLst>
                                    <p:cond delay="0"/>
                                  </p:stCondLst>
                                  <p:childTnLst>
                                    <p:anim calcmode="discrete" valueType="str">
                                      <p:cBhvr>
                                        <p:cTn id="38" dur="1000" fill="hold"/>
                                        <p:tgtEl>
                                          <p:spTgt spid="10"/>
                                        </p:tgtEl>
                                        <p:attrNameLst>
                                          <p:attrName>style.visibility</p:attrName>
                                        </p:attrNameLst>
                                      </p:cBhvr>
                                      <p:tavLst>
                                        <p:tav tm="0">
                                          <p:val>
                                            <p:strVal val="hidden"/>
                                          </p:val>
                                        </p:tav>
                                        <p:tav tm="50000">
                                          <p:val>
                                            <p:strVal val="visible"/>
                                          </p:val>
                                        </p:tav>
                                      </p:tavLst>
                                    </p:anim>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blinds(horizontal)">
                                      <p:cBhvr>
                                        <p:cTn id="43" dur="500"/>
                                        <p:tgtEl>
                                          <p:spTgt spid="22"/>
                                        </p:tgtEl>
                                      </p:cBhvr>
                                    </p:animEffect>
                                  </p:childTnLst>
                                </p:cTn>
                              </p:par>
                            </p:childTnLst>
                          </p:cTn>
                        </p:par>
                      </p:childTnLst>
                    </p:cTn>
                  </p:par>
                  <p:par>
                    <p:cTn id="44" fill="hold">
                      <p:stCondLst>
                        <p:cond delay="indefinite"/>
                      </p:stCondLst>
                      <p:childTnLst>
                        <p:par>
                          <p:cTn id="45" fill="hold">
                            <p:stCondLst>
                              <p:cond delay="0"/>
                            </p:stCondLst>
                            <p:childTnLst>
                              <p:par>
                                <p:cTn id="46" presetID="35" presetClass="emph" presetSubtype="0" fill="hold" grpId="1" nodeType="clickEffect">
                                  <p:stCondLst>
                                    <p:cond delay="0"/>
                                  </p:stCondLst>
                                  <p:childTnLst>
                                    <p:anim calcmode="discrete" valueType="str">
                                      <p:cBhvr>
                                        <p:cTn id="47" dur="1000" fill="hold"/>
                                        <p:tgtEl>
                                          <p:spTgt spid="11"/>
                                        </p:tgtEl>
                                        <p:attrNameLst>
                                          <p:attrName>style.visibility</p:attrName>
                                        </p:attrNameLst>
                                      </p:cBhvr>
                                      <p:tavLst>
                                        <p:tav tm="0">
                                          <p:val>
                                            <p:strVal val="hidden"/>
                                          </p:val>
                                        </p:tav>
                                        <p:tav tm="50000">
                                          <p:val>
                                            <p:strVal val="visible"/>
                                          </p:val>
                                        </p:tav>
                                      </p:tavLst>
                                    </p:anim>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blinds(horizontal)">
                                      <p:cBhvr>
                                        <p:cTn id="52" dur="500"/>
                                        <p:tgtEl>
                                          <p:spTgt spid="23"/>
                                        </p:tgtEl>
                                      </p:cBhvr>
                                    </p:animEffect>
                                  </p:childTnLst>
                                </p:cTn>
                              </p:par>
                            </p:childTnLst>
                          </p:cTn>
                        </p:par>
                      </p:childTnLst>
                    </p:cTn>
                  </p:par>
                  <p:par>
                    <p:cTn id="53" fill="hold">
                      <p:stCondLst>
                        <p:cond delay="indefinite"/>
                      </p:stCondLst>
                      <p:childTnLst>
                        <p:par>
                          <p:cTn id="54" fill="hold">
                            <p:stCondLst>
                              <p:cond delay="0"/>
                            </p:stCondLst>
                            <p:childTnLst>
                              <p:par>
                                <p:cTn id="55" presetID="0" presetClass="path" presetSubtype="0" accel="50000" decel="50000" fill="hold" grpId="0" nodeType="clickEffect">
                                  <p:stCondLst>
                                    <p:cond delay="0"/>
                                  </p:stCondLst>
                                  <p:childTnLst>
                                    <p:animMotion origin="layout" path="M 0.01215 -0.00301 L -0.14549 -0.00185 " pathEditMode="relative" rAng="0" ptsTypes="AA">
                                      <p:cBhvr>
                                        <p:cTn id="56" dur="2000" fill="hold"/>
                                        <p:tgtEl>
                                          <p:spTgt spid="11"/>
                                        </p:tgtEl>
                                        <p:attrNameLst>
                                          <p:attrName>ppt_x</p:attrName>
                                          <p:attrName>ppt_y</p:attrName>
                                        </p:attrNameLst>
                                      </p:cBhvr>
                                      <p:rCtr x="-79" y="0"/>
                                    </p:animMotion>
                                  </p:childTnLst>
                                </p:cTn>
                              </p:par>
                            </p:childTnLst>
                          </p:cTn>
                        </p:par>
                      </p:childTnLst>
                    </p:cTn>
                  </p:par>
                  <p:par>
                    <p:cTn id="57" fill="hold">
                      <p:stCondLst>
                        <p:cond delay="indefinite"/>
                      </p:stCondLst>
                      <p:childTnLst>
                        <p:par>
                          <p:cTn id="58" fill="hold">
                            <p:stCondLst>
                              <p:cond delay="0"/>
                            </p:stCondLst>
                            <p:childTnLst>
                              <p:par>
                                <p:cTn id="59" presetID="35" presetClass="emph" presetSubtype="0" fill="hold" grpId="0" nodeType="clickEffect">
                                  <p:stCondLst>
                                    <p:cond delay="0"/>
                                  </p:stCondLst>
                                  <p:childTnLst>
                                    <p:anim calcmode="discrete" valueType="str">
                                      <p:cBhvr>
                                        <p:cTn id="60" dur="1000" fill="hold"/>
                                        <p:tgtEl>
                                          <p:spTgt spid="12"/>
                                        </p:tgtEl>
                                        <p:attrNameLst>
                                          <p:attrName>style.visibility</p:attrName>
                                        </p:attrNameLst>
                                      </p:cBhvr>
                                      <p:tavLst>
                                        <p:tav tm="0">
                                          <p:val>
                                            <p:strVal val="hidden"/>
                                          </p:val>
                                        </p:tav>
                                        <p:tav tm="50000">
                                          <p:val>
                                            <p:strVal val="visible"/>
                                          </p:val>
                                        </p:tav>
                                      </p:tavLst>
                                    </p:anim>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grpId="0" nodeType="click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blinds(horizontal)">
                                      <p:cBhvr>
                                        <p:cTn id="65" dur="500"/>
                                        <p:tgtEl>
                                          <p:spTgt spid="24"/>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grpId="0" nodeType="click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blinds(horizontal)">
                                      <p:cBhvr>
                                        <p:cTn id="70" dur="500"/>
                                        <p:tgtEl>
                                          <p:spTgt spid="25"/>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4" fill="hold" grpId="0" nodeType="clickEffect">
                                  <p:stCondLst>
                                    <p:cond delay="0"/>
                                  </p:stCondLst>
                                  <p:childTnLst>
                                    <p:set>
                                      <p:cBhvr>
                                        <p:cTn id="74" dur="1" fill="hold">
                                          <p:stCondLst>
                                            <p:cond delay="0"/>
                                          </p:stCondLst>
                                        </p:cTn>
                                        <p:tgtEl>
                                          <p:spTgt spid="29"/>
                                        </p:tgtEl>
                                        <p:attrNameLst>
                                          <p:attrName>style.visibility</p:attrName>
                                        </p:attrNameLst>
                                      </p:cBhvr>
                                      <p:to>
                                        <p:strVal val="visible"/>
                                      </p:to>
                                    </p:set>
                                    <p:animEffect transition="in" filter="wipe(down)">
                                      <p:cBhvr>
                                        <p:cTn id="75" dur="500"/>
                                        <p:tgtEl>
                                          <p:spTgt spid="29"/>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30"/>
                                        </p:tgtEl>
                                        <p:attrNameLst>
                                          <p:attrName>style.visibility</p:attrName>
                                        </p:attrNameLst>
                                      </p:cBhvr>
                                      <p:to>
                                        <p:strVal val="visible"/>
                                      </p:to>
                                    </p:set>
                                    <p:animEffect transition="in" filter="wipe(left)">
                                      <p:cBhvr>
                                        <p:cTn id="80"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9" grpId="0" bldLvl="0" animBg="1"/>
      <p:bldP spid="10" grpId="0" bldLvl="0" animBg="1"/>
      <p:bldP spid="11" grpId="0" bldLvl="0" animBg="1"/>
      <p:bldP spid="11" grpId="1" bldLvl="0" animBg="1"/>
      <p:bldP spid="12" grpId="0" bldLvl="0" animBg="1"/>
      <p:bldP spid="18" grpId="0" bldLvl="0" animBg="1"/>
      <p:bldP spid="19" grpId="0" bldLvl="0" animBg="1"/>
      <p:bldP spid="19" grpId="1" bldLvl="0" animBg="1"/>
      <p:bldP spid="20" grpId="0" bldLvl="0" animBg="1"/>
      <p:bldP spid="21" grpId="0" bldLvl="0" animBg="1"/>
      <p:bldP spid="22" grpId="0" bldLvl="0" animBg="1"/>
      <p:bldP spid="23" grpId="0" bldLvl="0" animBg="1"/>
      <p:bldP spid="24" grpId="0" bldLvl="0" animBg="1"/>
      <p:bldP spid="25" grpId="0" bldLvl="0" animBg="1"/>
      <p:bldP spid="29" grpId="0" bldLvl="0" animBg="1"/>
      <p:bldP spid="30" grpId="0" bldLvl="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3DE7275B-BB8F-463A-AC31-F4F49D9047F1}"/>
              </a:ext>
            </a:extLst>
          </p:cNvPr>
          <p:cNvSpPr txBox="1">
            <a:spLocks noChangeArrowheads="1"/>
          </p:cNvSpPr>
          <p:nvPr/>
        </p:nvSpPr>
        <p:spPr bwMode="auto">
          <a:xfrm>
            <a:off x="1031188" y="937081"/>
            <a:ext cx="3483883" cy="461665"/>
          </a:xfrm>
          <a:prstGeom prst="rect">
            <a:avLst/>
          </a:prstGeom>
          <a:noFill/>
          <a:ln w="9525">
            <a:noFill/>
            <a:miter lim="800000"/>
          </a:ln>
          <a:effectLst/>
        </p:spPr>
        <p:txBody>
          <a:bodyPr>
            <a:spAutoFit/>
          </a:bodyPr>
          <a:lstStyle/>
          <a:p>
            <a:pPr algn="l"/>
            <a:r>
              <a:rPr kumimoji="1" lang="zh-CN" altLang="en-US" sz="2400" dirty="0">
                <a:ea typeface="楷体" panose="02010609060101010101" pitchFamily="49" charset="-122"/>
                <a:cs typeface="Times New Roman" panose="02020603050405020304" pitchFamily="18" charset="0"/>
              </a:rPr>
              <a:t>对应的算法如下：</a:t>
            </a:r>
          </a:p>
        </p:txBody>
      </p:sp>
      <p:sp>
        <p:nvSpPr>
          <p:cNvPr id="5" name="Text Box 3">
            <a:extLst>
              <a:ext uri="{FF2B5EF4-FFF2-40B4-BE49-F238E27FC236}">
                <a16:creationId xmlns:a16="http://schemas.microsoft.com/office/drawing/2014/main" id="{37419AED-6AAE-428D-8553-E81C623A2C7E}"/>
              </a:ext>
            </a:extLst>
          </p:cNvPr>
          <p:cNvSpPr txBox="1">
            <a:spLocks noChangeArrowheads="1"/>
          </p:cNvSpPr>
          <p:nvPr/>
        </p:nvSpPr>
        <p:spPr bwMode="auto">
          <a:xfrm>
            <a:off x="755576" y="1556792"/>
            <a:ext cx="7920880" cy="4567459"/>
          </a:xfrm>
          <a:prstGeom prst="rect">
            <a:avLst/>
          </a:prstGeom>
          <a:solidFill>
            <a:schemeClr val="bg1">
              <a:lumMod val="9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3"/>
          </a:lnRef>
          <a:fillRef idx="2">
            <a:schemeClr val="accent3"/>
          </a:fillRef>
          <a:effectRef idx="1">
            <a:schemeClr val="accent3"/>
          </a:effectRef>
          <a:fontRef idx="minor">
            <a:schemeClr val="dk1"/>
          </a:fontRef>
        </p:style>
        <p:txBody>
          <a:bodyPr wrap="square" lIns="150141" tIns="150141" bIns="150141">
            <a:spAutoFit/>
          </a:bodyPr>
          <a:lstStyle/>
          <a:p>
            <a:pPr algn="l">
              <a:spcBef>
                <a:spcPts val="600"/>
              </a:spcBef>
            </a:pPr>
            <a:r>
              <a:rPr kumimoji="1" lang="en-US" altLang="zh-CN" sz="1670" dirty="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kumimoji="1" lang="en-US" altLang="zh-CN" sz="1670" dirty="0">
                <a:solidFill>
                  <a:srgbClr val="FF0000"/>
                </a:solidFill>
                <a:latin typeface="Consolas" panose="020B0609020204030204" pitchFamily="49" charset="0"/>
                <a:ea typeface="仿宋" panose="02010609060101010101" pitchFamily="49" charset="-122"/>
                <a:cs typeface="Consolas" panose="020B0609020204030204" pitchFamily="49" charset="0"/>
              </a:rPr>
              <a:t>delnode2</a:t>
            </a:r>
            <a:r>
              <a:rPr kumimoji="1" lang="en-US" altLang="zh-CN" sz="167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1670" dirty="0" err="1">
                <a:solidFill>
                  <a:srgbClr val="0000FF"/>
                </a:solidFill>
                <a:latin typeface="Consolas" panose="020B0609020204030204" pitchFamily="49" charset="0"/>
                <a:ea typeface="仿宋" panose="02010609060101010101" pitchFamily="49" charset="-122"/>
                <a:cs typeface="Consolas" panose="020B0609020204030204" pitchFamily="49" charset="0"/>
              </a:rPr>
              <a:t>SqList</a:t>
            </a:r>
            <a:r>
              <a:rPr kumimoji="1" lang="en-US" altLang="zh-CN" sz="1670" dirty="0">
                <a:solidFill>
                  <a:srgbClr val="0000FF"/>
                </a:solidFill>
                <a:latin typeface="Consolas" panose="020B0609020204030204" pitchFamily="49" charset="0"/>
                <a:ea typeface="仿宋" panose="02010609060101010101" pitchFamily="49" charset="-122"/>
                <a:cs typeface="Consolas" panose="020B0609020204030204" pitchFamily="49" charset="0"/>
              </a:rPr>
              <a:t> *&amp;L</a:t>
            </a:r>
            <a:r>
              <a:rPr kumimoji="1" lang="zh-CN" altLang="en-US" sz="167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1670" dirty="0" err="1">
                <a:solidFill>
                  <a:srgbClr val="0000FF"/>
                </a:solidFill>
                <a:latin typeface="Consolas" panose="020B0609020204030204" pitchFamily="49" charset="0"/>
                <a:ea typeface="仿宋" panose="02010609060101010101" pitchFamily="49" charset="-122"/>
                <a:cs typeface="Consolas" panose="020B0609020204030204" pitchFamily="49" charset="0"/>
              </a:rPr>
              <a:t>ElemType</a:t>
            </a:r>
            <a:r>
              <a:rPr kumimoji="1" lang="en-US" altLang="zh-CN" sz="1670" dirty="0">
                <a:solidFill>
                  <a:srgbClr val="0000FF"/>
                </a:solidFill>
                <a:latin typeface="Consolas" panose="020B0609020204030204" pitchFamily="49" charset="0"/>
                <a:ea typeface="仿宋" panose="02010609060101010101" pitchFamily="49" charset="-122"/>
                <a:cs typeface="Consolas" panose="020B0609020204030204" pitchFamily="49" charset="0"/>
              </a:rPr>
              <a:t> x)</a:t>
            </a:r>
          </a:p>
          <a:p>
            <a:pPr algn="l">
              <a:spcBef>
                <a:spcPts val="600"/>
              </a:spcBef>
            </a:pPr>
            <a:r>
              <a:rPr kumimoji="1" lang="en-US" altLang="zh-CN" sz="167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a:p>
            <a:pPr algn="l">
              <a:spcBef>
                <a:spcPts val="600"/>
              </a:spcBef>
            </a:pPr>
            <a:r>
              <a:rPr kumimoji="1" lang="en-US" altLang="zh-CN" sz="1670" dirty="0">
                <a:solidFill>
                  <a:srgbClr val="0000FF"/>
                </a:solidFill>
                <a:latin typeface="Consolas" panose="020B0609020204030204" pitchFamily="49" charset="0"/>
                <a:ea typeface="仿宋" panose="02010609060101010101" pitchFamily="49" charset="-122"/>
                <a:cs typeface="Consolas" panose="020B0609020204030204" pitchFamily="49" charset="0"/>
              </a:rPr>
              <a:t>   int k=0</a:t>
            </a:r>
            <a:r>
              <a:rPr kumimoji="1" lang="zh-CN" altLang="en-US" sz="167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1670"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kumimoji="1" lang="en-US" altLang="zh-CN" sz="1670" dirty="0">
                <a:solidFill>
                  <a:srgbClr val="0000FF"/>
                </a:solidFill>
                <a:latin typeface="Consolas" panose="020B0609020204030204" pitchFamily="49" charset="0"/>
                <a:ea typeface="仿宋" panose="02010609060101010101" pitchFamily="49" charset="-122"/>
                <a:cs typeface="Consolas" panose="020B0609020204030204" pitchFamily="49" charset="0"/>
              </a:rPr>
              <a:t>=0;	     	</a:t>
            </a:r>
            <a:r>
              <a:rPr kumimoji="1" lang="en-US" altLang="zh-CN" sz="1670" dirty="0">
                <a:solidFill>
                  <a:srgbClr val="00B0F0"/>
                </a:solidFill>
                <a:latin typeface="Consolas" panose="020B0609020204030204" pitchFamily="49" charset="0"/>
                <a:ea typeface="仿宋" panose="02010609060101010101" pitchFamily="49" charset="-122"/>
                <a:cs typeface="Consolas" panose="020B0609020204030204" pitchFamily="49" charset="0"/>
              </a:rPr>
              <a:t>//k</a:t>
            </a:r>
            <a:r>
              <a:rPr kumimoji="1" lang="zh-CN" altLang="en-US" sz="1670" dirty="0">
                <a:solidFill>
                  <a:srgbClr val="00B0F0"/>
                </a:solidFill>
                <a:latin typeface="Consolas" panose="020B0609020204030204" pitchFamily="49" charset="0"/>
                <a:ea typeface="仿宋" panose="02010609060101010101" pitchFamily="49" charset="-122"/>
                <a:cs typeface="Consolas" panose="020B0609020204030204" pitchFamily="49" charset="0"/>
              </a:rPr>
              <a:t>记录值等于</a:t>
            </a:r>
            <a:r>
              <a:rPr kumimoji="1" lang="en-US" altLang="zh-CN" sz="1670" dirty="0">
                <a:solidFill>
                  <a:srgbClr val="00B0F0"/>
                </a:solidFill>
                <a:latin typeface="Consolas" panose="020B0609020204030204" pitchFamily="49" charset="0"/>
                <a:ea typeface="仿宋" panose="02010609060101010101" pitchFamily="49" charset="-122"/>
                <a:cs typeface="Consolas" panose="020B0609020204030204" pitchFamily="49" charset="0"/>
              </a:rPr>
              <a:t>x</a:t>
            </a:r>
            <a:r>
              <a:rPr kumimoji="1" lang="zh-CN" altLang="en-US" sz="1670" dirty="0">
                <a:solidFill>
                  <a:srgbClr val="00B0F0"/>
                </a:solidFill>
                <a:latin typeface="Consolas" panose="020B0609020204030204" pitchFamily="49" charset="0"/>
                <a:ea typeface="仿宋" panose="02010609060101010101" pitchFamily="49" charset="-122"/>
                <a:cs typeface="Consolas" panose="020B0609020204030204" pitchFamily="49" charset="0"/>
              </a:rPr>
              <a:t>的元素个数</a:t>
            </a:r>
          </a:p>
          <a:p>
            <a:pPr algn="l">
              <a:spcBef>
                <a:spcPts val="600"/>
              </a:spcBef>
            </a:pPr>
            <a:r>
              <a:rPr kumimoji="1" lang="zh-CN" altLang="en-US" sz="167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1670" dirty="0">
                <a:solidFill>
                  <a:srgbClr val="0000FF"/>
                </a:solidFill>
                <a:latin typeface="Consolas" panose="020B0609020204030204" pitchFamily="49" charset="0"/>
                <a:ea typeface="仿宋" panose="02010609060101010101" pitchFamily="49" charset="-122"/>
                <a:cs typeface="Consolas" panose="020B0609020204030204" pitchFamily="49" charset="0"/>
              </a:rPr>
              <a:t>while (</a:t>
            </a:r>
            <a:r>
              <a:rPr kumimoji="1" lang="en-US" altLang="zh-CN" sz="1670"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kumimoji="1" lang="en-US" altLang="zh-CN" sz="1670" dirty="0">
                <a:solidFill>
                  <a:srgbClr val="0000FF"/>
                </a:solidFill>
                <a:latin typeface="Consolas" panose="020B0609020204030204" pitchFamily="49" charset="0"/>
                <a:ea typeface="仿宋" panose="02010609060101010101" pitchFamily="49" charset="-122"/>
                <a:cs typeface="Consolas" panose="020B0609020204030204" pitchFamily="49" charset="0"/>
              </a:rPr>
              <a:t>&lt;L-&gt;length)</a:t>
            </a:r>
          </a:p>
          <a:p>
            <a:pPr algn="l">
              <a:spcBef>
                <a:spcPts val="600"/>
              </a:spcBef>
            </a:pPr>
            <a:r>
              <a:rPr kumimoji="1" lang="en-US" altLang="zh-CN" sz="167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p>
          <a:p>
            <a:pPr algn="l">
              <a:spcBef>
                <a:spcPts val="600"/>
              </a:spcBef>
            </a:pPr>
            <a:r>
              <a:rPr kumimoji="1" lang="en-US" altLang="zh-CN" sz="1670" dirty="0">
                <a:solidFill>
                  <a:srgbClr val="0000FF"/>
                </a:solidFill>
                <a:latin typeface="Consolas" panose="020B0609020204030204" pitchFamily="49" charset="0"/>
                <a:ea typeface="仿宋" panose="02010609060101010101" pitchFamily="49" charset="-122"/>
                <a:cs typeface="Consolas" panose="020B0609020204030204" pitchFamily="49" charset="0"/>
              </a:rPr>
              <a:t>      if (</a:t>
            </a:r>
            <a:r>
              <a:rPr kumimoji="1" lang="en-US" altLang="zh-CN" sz="1670" dirty="0">
                <a:solidFill>
                  <a:srgbClr val="FF00FF"/>
                </a:solidFill>
                <a:latin typeface="Consolas" panose="020B0609020204030204" pitchFamily="49" charset="0"/>
                <a:ea typeface="仿宋" panose="02010609060101010101" pitchFamily="49" charset="-122"/>
                <a:cs typeface="Consolas" panose="020B0609020204030204" pitchFamily="49" charset="0"/>
              </a:rPr>
              <a:t>L-&gt;data[</a:t>
            </a:r>
            <a:r>
              <a:rPr kumimoji="1" lang="en-US" altLang="zh-CN" sz="1670" dirty="0" err="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kumimoji="1" lang="en-US" altLang="zh-CN" sz="1670" dirty="0">
                <a:solidFill>
                  <a:srgbClr val="FF00FF"/>
                </a:solidFill>
                <a:latin typeface="Consolas" panose="020B0609020204030204" pitchFamily="49" charset="0"/>
                <a:ea typeface="仿宋" panose="02010609060101010101" pitchFamily="49" charset="-122"/>
                <a:cs typeface="Consolas" panose="020B0609020204030204" pitchFamily="49" charset="0"/>
              </a:rPr>
              <a:t>]==x</a:t>
            </a:r>
            <a:r>
              <a:rPr kumimoji="1" lang="en-US" altLang="zh-CN" sz="167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1670" dirty="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sz="1670" dirty="0">
                <a:solidFill>
                  <a:srgbClr val="00B0F0"/>
                </a:solidFill>
                <a:latin typeface="Consolas" panose="020B0609020204030204" pitchFamily="49" charset="0"/>
                <a:ea typeface="仿宋" panose="02010609060101010101" pitchFamily="49" charset="-122"/>
                <a:cs typeface="Consolas" panose="020B0609020204030204" pitchFamily="49" charset="0"/>
              </a:rPr>
              <a:t>当前元素值为</a:t>
            </a:r>
            <a:r>
              <a:rPr kumimoji="1" lang="en-US" altLang="zh-CN" sz="1670" dirty="0">
                <a:solidFill>
                  <a:srgbClr val="00B0F0"/>
                </a:solidFill>
                <a:latin typeface="Consolas" panose="020B0609020204030204" pitchFamily="49" charset="0"/>
                <a:ea typeface="仿宋" panose="02010609060101010101" pitchFamily="49" charset="-122"/>
                <a:cs typeface="Consolas" panose="020B0609020204030204" pitchFamily="49" charset="0"/>
              </a:rPr>
              <a:t>x</a:t>
            </a:r>
            <a:r>
              <a:rPr kumimoji="1" lang="zh-CN" altLang="en-US" sz="1670" dirty="0">
                <a:solidFill>
                  <a:srgbClr val="00B0F0"/>
                </a:solidFill>
                <a:latin typeface="Consolas" panose="020B0609020204030204" pitchFamily="49" charset="0"/>
                <a:ea typeface="仿宋" panose="02010609060101010101" pitchFamily="49" charset="-122"/>
                <a:cs typeface="Consolas" panose="020B0609020204030204" pitchFamily="49" charset="0"/>
              </a:rPr>
              <a:t>时</a:t>
            </a:r>
            <a:r>
              <a:rPr kumimoji="1" lang="en-US" altLang="zh-CN" sz="1670" dirty="0">
                <a:solidFill>
                  <a:srgbClr val="00B0F0"/>
                </a:solidFill>
                <a:latin typeface="Consolas" panose="020B0609020204030204" pitchFamily="49" charset="0"/>
                <a:ea typeface="仿宋" panose="02010609060101010101" pitchFamily="49" charset="-122"/>
                <a:cs typeface="Consolas" panose="020B0609020204030204" pitchFamily="49" charset="0"/>
              </a:rPr>
              <a:t>k</a:t>
            </a:r>
            <a:r>
              <a:rPr kumimoji="1" lang="zh-CN" altLang="en-US" sz="1670" dirty="0">
                <a:solidFill>
                  <a:srgbClr val="00B0F0"/>
                </a:solidFill>
                <a:latin typeface="Consolas" panose="020B0609020204030204" pitchFamily="49" charset="0"/>
                <a:ea typeface="仿宋" panose="02010609060101010101" pitchFamily="49" charset="-122"/>
                <a:cs typeface="Consolas" panose="020B0609020204030204" pitchFamily="49" charset="0"/>
              </a:rPr>
              <a:t>增</a:t>
            </a:r>
            <a:r>
              <a:rPr kumimoji="1" lang="en-US" altLang="zh-CN" sz="1670" dirty="0">
                <a:solidFill>
                  <a:srgbClr val="00B0F0"/>
                </a:solidFill>
                <a:latin typeface="Consolas" panose="020B0609020204030204" pitchFamily="49" charset="0"/>
                <a:ea typeface="仿宋" panose="02010609060101010101" pitchFamily="49" charset="-122"/>
                <a:cs typeface="Consolas" panose="020B0609020204030204" pitchFamily="49" charset="0"/>
              </a:rPr>
              <a:t>1</a:t>
            </a:r>
          </a:p>
          <a:p>
            <a:pPr algn="l">
              <a:spcBef>
                <a:spcPts val="600"/>
              </a:spcBef>
            </a:pPr>
            <a:r>
              <a:rPr kumimoji="1" lang="en-US" altLang="zh-CN" sz="1670" dirty="0">
                <a:solidFill>
                  <a:srgbClr val="0000FF"/>
                </a:solidFill>
                <a:latin typeface="Consolas" panose="020B0609020204030204" pitchFamily="49" charset="0"/>
                <a:ea typeface="仿宋" panose="02010609060101010101" pitchFamily="49" charset="-122"/>
                <a:cs typeface="Consolas" panose="020B0609020204030204" pitchFamily="49" charset="0"/>
              </a:rPr>
              <a:t>	   k++;</a:t>
            </a:r>
          </a:p>
          <a:p>
            <a:pPr algn="l">
              <a:spcBef>
                <a:spcPts val="600"/>
              </a:spcBef>
            </a:pPr>
            <a:r>
              <a:rPr kumimoji="1" lang="en-US" altLang="zh-CN" sz="1670" dirty="0">
                <a:solidFill>
                  <a:srgbClr val="0000FF"/>
                </a:solidFill>
                <a:latin typeface="Consolas" panose="020B0609020204030204" pitchFamily="49" charset="0"/>
                <a:ea typeface="仿宋" panose="02010609060101010101" pitchFamily="49" charset="-122"/>
                <a:cs typeface="Consolas" panose="020B0609020204030204" pitchFamily="49" charset="0"/>
              </a:rPr>
              <a:t>      else			</a:t>
            </a:r>
            <a:r>
              <a:rPr kumimoji="1" lang="en-US" altLang="zh-CN" sz="1670" dirty="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sz="1670" dirty="0">
                <a:solidFill>
                  <a:srgbClr val="00B0F0"/>
                </a:solidFill>
                <a:latin typeface="Consolas" panose="020B0609020204030204" pitchFamily="49" charset="0"/>
                <a:ea typeface="仿宋" panose="02010609060101010101" pitchFamily="49" charset="-122"/>
                <a:cs typeface="Consolas" panose="020B0609020204030204" pitchFamily="49" charset="0"/>
              </a:rPr>
              <a:t>当前元素非</a:t>
            </a:r>
            <a:r>
              <a:rPr kumimoji="1" lang="en-US" altLang="zh-CN" sz="1670" dirty="0">
                <a:solidFill>
                  <a:srgbClr val="00B0F0"/>
                </a:solidFill>
                <a:latin typeface="Consolas" panose="020B0609020204030204" pitchFamily="49" charset="0"/>
                <a:ea typeface="仿宋" panose="02010609060101010101" pitchFamily="49" charset="-122"/>
                <a:cs typeface="Consolas" panose="020B0609020204030204" pitchFamily="49" charset="0"/>
              </a:rPr>
              <a:t>x</a:t>
            </a:r>
            <a:r>
              <a:rPr kumimoji="1" lang="zh-CN" altLang="en-US" sz="1670" dirty="0">
                <a:solidFill>
                  <a:srgbClr val="00B0F0"/>
                </a:solidFill>
                <a:latin typeface="Consolas" panose="020B0609020204030204" pitchFamily="49" charset="0"/>
                <a:ea typeface="仿宋" panose="02010609060101010101" pitchFamily="49" charset="-122"/>
                <a:cs typeface="Consolas" panose="020B0609020204030204" pitchFamily="49" charset="0"/>
              </a:rPr>
              <a:t>时将其前移</a:t>
            </a:r>
            <a:r>
              <a:rPr kumimoji="1" lang="en-US" altLang="zh-CN" sz="1670" dirty="0">
                <a:solidFill>
                  <a:srgbClr val="00B0F0"/>
                </a:solidFill>
                <a:latin typeface="Consolas" panose="020B0609020204030204" pitchFamily="49" charset="0"/>
                <a:ea typeface="仿宋" panose="02010609060101010101" pitchFamily="49" charset="-122"/>
                <a:cs typeface="Consolas" panose="020B0609020204030204" pitchFamily="49" charset="0"/>
              </a:rPr>
              <a:t>k</a:t>
            </a:r>
            <a:r>
              <a:rPr kumimoji="1" lang="zh-CN" altLang="en-US" sz="1670" dirty="0">
                <a:solidFill>
                  <a:srgbClr val="00B0F0"/>
                </a:solidFill>
                <a:latin typeface="Consolas" panose="020B0609020204030204" pitchFamily="49" charset="0"/>
                <a:ea typeface="仿宋" panose="02010609060101010101" pitchFamily="49" charset="-122"/>
                <a:cs typeface="Consolas" panose="020B0609020204030204" pitchFamily="49" charset="0"/>
              </a:rPr>
              <a:t>个位置</a:t>
            </a:r>
          </a:p>
          <a:p>
            <a:pPr algn="l">
              <a:spcBef>
                <a:spcPts val="600"/>
              </a:spcBef>
            </a:pPr>
            <a:r>
              <a:rPr kumimoji="1" lang="zh-CN" altLang="en-US" sz="167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1670" dirty="0">
                <a:solidFill>
                  <a:srgbClr val="0000FF"/>
                </a:solidFill>
                <a:latin typeface="Consolas" panose="020B0609020204030204" pitchFamily="49" charset="0"/>
                <a:ea typeface="仿宋" panose="02010609060101010101" pitchFamily="49" charset="-122"/>
                <a:cs typeface="Consolas" panose="020B0609020204030204" pitchFamily="49" charset="0"/>
              </a:rPr>
              <a:t>L-&gt;data[</a:t>
            </a:r>
            <a:r>
              <a:rPr kumimoji="1" lang="en-US" altLang="zh-CN" sz="1670"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kumimoji="1" lang="en-US" altLang="zh-CN" sz="1670" dirty="0">
                <a:solidFill>
                  <a:srgbClr val="0000FF"/>
                </a:solidFill>
                <a:latin typeface="Consolas" panose="020B0609020204030204" pitchFamily="49" charset="0"/>
                <a:ea typeface="仿宋" panose="02010609060101010101" pitchFamily="49" charset="-122"/>
                <a:cs typeface="Consolas" panose="020B0609020204030204" pitchFamily="49" charset="0"/>
              </a:rPr>
              <a:t>-k] = L-&gt;data[</a:t>
            </a:r>
            <a:r>
              <a:rPr kumimoji="1" lang="en-US" altLang="zh-CN" sz="1670"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kumimoji="1" lang="en-US" altLang="zh-CN" sz="167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a:p>
            <a:pPr algn="l">
              <a:spcBef>
                <a:spcPts val="600"/>
              </a:spcBef>
            </a:pPr>
            <a:r>
              <a:rPr kumimoji="1" lang="en-US" altLang="zh-CN" sz="167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1670"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kumimoji="1" lang="en-US" altLang="zh-CN" sz="167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a:p>
            <a:pPr algn="l">
              <a:spcBef>
                <a:spcPts val="600"/>
              </a:spcBef>
            </a:pPr>
            <a:r>
              <a:rPr kumimoji="1" lang="en-US" altLang="zh-CN" sz="167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p>
          <a:p>
            <a:pPr algn="l">
              <a:spcBef>
                <a:spcPts val="600"/>
              </a:spcBef>
            </a:pPr>
            <a:r>
              <a:rPr kumimoji="1" lang="en-US" altLang="zh-CN" sz="1670" dirty="0">
                <a:solidFill>
                  <a:srgbClr val="0000FF"/>
                </a:solidFill>
                <a:latin typeface="Consolas" panose="020B0609020204030204" pitchFamily="49" charset="0"/>
                <a:ea typeface="仿宋" panose="02010609060101010101" pitchFamily="49" charset="-122"/>
                <a:cs typeface="Consolas" panose="020B0609020204030204" pitchFamily="49" charset="0"/>
              </a:rPr>
              <a:t>   L-&gt;length-=k;		/</a:t>
            </a:r>
            <a:r>
              <a:rPr kumimoji="1" lang="en-US" altLang="zh-CN" sz="1670" dirty="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sz="1670" dirty="0">
                <a:solidFill>
                  <a:srgbClr val="00B0F0"/>
                </a:solidFill>
                <a:latin typeface="Consolas" panose="020B0609020204030204" pitchFamily="49" charset="0"/>
                <a:ea typeface="仿宋" panose="02010609060101010101" pitchFamily="49" charset="-122"/>
                <a:cs typeface="Consolas" panose="020B0609020204030204" pitchFamily="49" charset="0"/>
              </a:rPr>
              <a:t>顺序表</a:t>
            </a:r>
            <a:r>
              <a:rPr kumimoji="1" lang="en-US" altLang="zh-CN" sz="1670" dirty="0">
                <a:solidFill>
                  <a:srgbClr val="00B0F0"/>
                </a:solidFill>
                <a:latin typeface="Consolas" panose="020B0609020204030204" pitchFamily="49" charset="0"/>
                <a:ea typeface="仿宋" panose="02010609060101010101" pitchFamily="49" charset="-122"/>
                <a:cs typeface="Consolas" panose="020B0609020204030204" pitchFamily="49" charset="0"/>
              </a:rPr>
              <a:t>L</a:t>
            </a:r>
            <a:r>
              <a:rPr kumimoji="1" lang="zh-CN" altLang="en-US" sz="1670" dirty="0">
                <a:solidFill>
                  <a:srgbClr val="00B0F0"/>
                </a:solidFill>
                <a:latin typeface="Consolas" panose="020B0609020204030204" pitchFamily="49" charset="0"/>
                <a:ea typeface="仿宋" panose="02010609060101010101" pitchFamily="49" charset="-122"/>
                <a:cs typeface="Consolas" panose="020B0609020204030204" pitchFamily="49" charset="0"/>
              </a:rPr>
              <a:t>的长度递减</a:t>
            </a:r>
            <a:r>
              <a:rPr kumimoji="1" lang="en-US" altLang="zh-CN" sz="1670" dirty="0">
                <a:solidFill>
                  <a:srgbClr val="00B0F0"/>
                </a:solidFill>
                <a:latin typeface="Consolas" panose="020B0609020204030204" pitchFamily="49" charset="0"/>
                <a:ea typeface="仿宋" panose="02010609060101010101" pitchFamily="49" charset="-122"/>
                <a:cs typeface="Consolas" panose="020B0609020204030204" pitchFamily="49" charset="0"/>
              </a:rPr>
              <a:t>k</a:t>
            </a:r>
          </a:p>
          <a:p>
            <a:pPr algn="l">
              <a:spcBef>
                <a:spcPts val="600"/>
              </a:spcBef>
            </a:pPr>
            <a:r>
              <a:rPr kumimoji="1" lang="en-US" altLang="zh-CN" sz="167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167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Tree>
    <p:extLst>
      <p:ext uri="{BB962C8B-B14F-4D97-AF65-F5344CB8AC3E}">
        <p14:creationId xmlns:p14="http://schemas.microsoft.com/office/powerpoint/2010/main" val="41487814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2.3  </a:t>
            </a:r>
            <a:r>
              <a:rPr lang="zh-CN" altLang="zh-CN" b="1" dirty="0"/>
              <a:t>线性表的链式存储结构</a:t>
            </a:r>
            <a:endParaRPr lang="zh-CN" altLang="en-US" dirty="0"/>
          </a:p>
        </p:txBody>
      </p:sp>
      <p:sp>
        <p:nvSpPr>
          <p:cNvPr id="3" name="内容占位符 2"/>
          <p:cNvSpPr>
            <a:spLocks noGrp="1"/>
          </p:cNvSpPr>
          <p:nvPr>
            <p:ph idx="1"/>
          </p:nvPr>
        </p:nvSpPr>
        <p:spPr>
          <a:xfrm>
            <a:off x="539552" y="1484784"/>
            <a:ext cx="6192688" cy="4608512"/>
          </a:xfrm>
        </p:spPr>
        <p:txBody>
          <a:bodyPr>
            <a:normAutofit/>
          </a:bodyPr>
          <a:lstStyle/>
          <a:p>
            <a:pPr>
              <a:buFont typeface="Arial" pitchFamily="34" charset="0"/>
              <a:buChar char="•"/>
            </a:pPr>
            <a:r>
              <a:rPr lang="zh-CN" altLang="zh-CN" b="0" dirty="0"/>
              <a:t>链式存储结构</a:t>
            </a:r>
            <a:r>
              <a:rPr lang="zh-CN" altLang="zh-CN" dirty="0">
                <a:solidFill>
                  <a:srgbClr val="FF0000"/>
                </a:solidFill>
              </a:rPr>
              <a:t>不要求</a:t>
            </a:r>
            <a:r>
              <a:rPr lang="zh-CN" altLang="zh-CN" b="0" dirty="0"/>
              <a:t>逻辑上相邻的数据元素在物理位置上也必须相邻，即不要求后继结点存放在固定间隔距离的位置上，在存储单元中的顺序可以是任意的，既可以是连续的，也可以是零散分布的。</a:t>
            </a:r>
            <a:endParaRPr lang="en-US" altLang="zh-CN" b="0" dirty="0"/>
          </a:p>
          <a:p>
            <a:pPr>
              <a:buFont typeface="Arial" pitchFamily="34" charset="0"/>
              <a:buChar char="•"/>
            </a:pPr>
            <a:r>
              <a:rPr lang="zh-CN" altLang="zh-CN" dirty="0"/>
              <a:t>插入或删除操作时不需要移动元素。</a:t>
            </a:r>
            <a:r>
              <a:rPr lang="zh-CN" altLang="zh-CN" b="0" dirty="0">
                <a:solidFill>
                  <a:srgbClr val="FF0000"/>
                </a:solidFill>
              </a:rPr>
              <a:t>但它失去了顺序表可以随机存取的特点。</a:t>
            </a:r>
            <a:endParaRPr lang="en-US" altLang="zh-CN" b="0" dirty="0">
              <a:solidFill>
                <a:srgbClr val="FF0000"/>
              </a:solidFill>
            </a:endParaRPr>
          </a:p>
          <a:p>
            <a:pPr>
              <a:buFont typeface="Arial" pitchFamily="34" charset="0"/>
              <a:buChar char="•"/>
            </a:pPr>
            <a:r>
              <a:rPr lang="zh-CN" altLang="zh-CN" b="0" dirty="0"/>
              <a:t>如线性表L(A,B,C,D)，存储分布如图所示。</a:t>
            </a:r>
            <a:endParaRPr lang="zh-CN" altLang="en-US" b="0" dirty="0"/>
          </a:p>
        </p:txBody>
      </p:sp>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28184" y="1844824"/>
            <a:ext cx="3360373" cy="28803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0071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4098"/>
                                        </p:tgtEl>
                                        <p:attrNameLst>
                                          <p:attrName>style.visibility</p:attrName>
                                        </p:attrNameLst>
                                      </p:cBhvr>
                                      <p:to>
                                        <p:strVal val="visible"/>
                                      </p:to>
                                    </p:set>
                                    <p:animEffect transition="in" filter="fade">
                                      <p:cBhvr>
                                        <p:cTn id="15" dur="5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2.3.1  </a:t>
            </a:r>
            <a:r>
              <a:rPr lang="zh-CN" altLang="zh-CN" b="1" dirty="0"/>
              <a:t>单链表</a:t>
            </a:r>
            <a:endParaRPr lang="zh-CN" altLang="en-US" dirty="0"/>
          </a:p>
        </p:txBody>
      </p:sp>
      <p:sp>
        <p:nvSpPr>
          <p:cNvPr id="3" name="内容占位符 2"/>
          <p:cNvSpPr>
            <a:spLocks noGrp="1"/>
          </p:cNvSpPr>
          <p:nvPr>
            <p:ph idx="1"/>
          </p:nvPr>
        </p:nvSpPr>
        <p:spPr>
          <a:xfrm>
            <a:off x="323528" y="1628800"/>
            <a:ext cx="8024996" cy="3579849"/>
          </a:xfrm>
        </p:spPr>
        <p:txBody>
          <a:bodyPr>
            <a:normAutofit fontScale="92500" lnSpcReduction="20000"/>
          </a:bodyPr>
          <a:lstStyle/>
          <a:p>
            <a:r>
              <a:rPr lang="en-US" altLang="zh-CN" b="0" dirty="0"/>
              <a:t>	</a:t>
            </a:r>
            <a:r>
              <a:rPr lang="zh-CN" altLang="zh-CN" dirty="0">
                <a:solidFill>
                  <a:srgbClr val="FF0000"/>
                </a:solidFill>
              </a:rPr>
              <a:t>单链表</a:t>
            </a:r>
            <a:r>
              <a:rPr lang="zh-CN" altLang="zh-CN" b="0" dirty="0"/>
              <a:t>，也称为</a:t>
            </a:r>
            <a:r>
              <a:rPr lang="zh-CN" altLang="zh-CN" b="0" dirty="0">
                <a:solidFill>
                  <a:srgbClr val="FF0000"/>
                </a:solidFill>
              </a:rPr>
              <a:t>线性链表</a:t>
            </a:r>
            <a:r>
              <a:rPr lang="zh-CN" altLang="zh-CN" b="0" dirty="0"/>
              <a:t>，是一种最简单的线性表的链式存储结构。</a:t>
            </a:r>
            <a:endParaRPr lang="en-US" altLang="zh-CN" b="0" dirty="0"/>
          </a:p>
          <a:p>
            <a:r>
              <a:rPr lang="en-US" altLang="zh-CN" b="0" dirty="0"/>
              <a:t>     </a:t>
            </a:r>
            <a:r>
              <a:rPr lang="zh-CN" altLang="zh-CN" b="0" dirty="0"/>
              <a:t>用它来存储线性表时，每个数据元素用一个结点（</a:t>
            </a:r>
            <a:r>
              <a:rPr lang="en-US" altLang="zh-CN" b="0" dirty="0"/>
              <a:t>Node</a:t>
            </a:r>
            <a:r>
              <a:rPr lang="zh-CN" altLang="zh-CN" b="0" dirty="0"/>
              <a:t>）来存储，</a:t>
            </a:r>
            <a:r>
              <a:rPr lang="zh-CN" altLang="zh-CN" dirty="0">
                <a:solidFill>
                  <a:srgbClr val="FF0000"/>
                </a:solidFill>
              </a:rPr>
              <a:t>每一个结点包含两个域</a:t>
            </a:r>
            <a:r>
              <a:rPr lang="zh-CN" altLang="zh-CN" dirty="0"/>
              <a:t>，存储数据元素信息data的域称为</a:t>
            </a:r>
            <a:r>
              <a:rPr lang="zh-CN" altLang="zh-CN" dirty="0">
                <a:solidFill>
                  <a:srgbClr val="FF0000"/>
                </a:solidFill>
              </a:rPr>
              <a:t>数据域</a:t>
            </a:r>
            <a:r>
              <a:rPr lang="zh-CN" altLang="zh-CN" dirty="0"/>
              <a:t>，存储后继结点存放地址next的域称为</a:t>
            </a:r>
            <a:r>
              <a:rPr lang="zh-CN" altLang="zh-CN" dirty="0">
                <a:solidFill>
                  <a:srgbClr val="FF0000"/>
                </a:solidFill>
              </a:rPr>
              <a:t>指针域</a:t>
            </a:r>
            <a:r>
              <a:rPr lang="zh-CN" altLang="zh-CN" dirty="0"/>
              <a:t>，指针域中存储的信息称为指针或链</a:t>
            </a:r>
            <a:r>
              <a:rPr lang="zh-CN" altLang="zh-CN" b="0" dirty="0"/>
              <a:t>。</a:t>
            </a:r>
            <a:endParaRPr lang="en-US" altLang="zh-CN" b="0" dirty="0"/>
          </a:p>
          <a:p>
            <a:r>
              <a:rPr lang="en-US" altLang="zh-CN" b="0" dirty="0"/>
              <a:t>     </a:t>
            </a:r>
            <a:r>
              <a:rPr lang="zh-CN" altLang="zh-CN" b="0" dirty="0"/>
              <a:t>一般情况下，链表中每个结点可以包含若干个数据域和指针域。如果每个结点中只包含一个指针域，则称其为单链表。单链表的结点结构如图所示。</a:t>
            </a:r>
            <a:endParaRPr lang="zh-CN" altLang="en-US" b="0" dirty="0"/>
          </a:p>
        </p:txBody>
      </p:sp>
      <p:sp>
        <p:nvSpPr>
          <p:cNvPr id="4"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1952463331"/>
              </p:ext>
            </p:extLst>
          </p:nvPr>
        </p:nvGraphicFramePr>
        <p:xfrm>
          <a:off x="2993649" y="4909481"/>
          <a:ext cx="2684753" cy="967242"/>
        </p:xfrm>
        <a:graphic>
          <a:graphicData uri="http://schemas.openxmlformats.org/presentationml/2006/ole">
            <mc:AlternateContent xmlns:mc="http://schemas.openxmlformats.org/markup-compatibility/2006">
              <mc:Choice xmlns:v="urn:schemas-microsoft-com:vml" Requires="v">
                <p:oleObj spid="_x0000_s1141" r:id="rId3" imgW="2386789" imgH="870190" progId="">
                  <p:embed/>
                </p:oleObj>
              </mc:Choice>
              <mc:Fallback>
                <p:oleObj r:id="rId3" imgW="2386789" imgH="870190" progId="">
                  <p:embed/>
                  <p:pic>
                    <p:nvPicPr>
                      <p:cNvPr id="0" name="Picture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93649" y="4909481"/>
                        <a:ext cx="2684753" cy="967242"/>
                      </a:xfrm>
                      <a:prstGeom prst="rect">
                        <a:avLst/>
                      </a:prstGeom>
                      <a:noFill/>
                    </p:spPr>
                  </p:pic>
                </p:oleObj>
              </mc:Fallback>
            </mc:AlternateContent>
          </a:graphicData>
        </a:graphic>
      </p:graphicFrame>
    </p:spTree>
    <p:extLst>
      <p:ext uri="{BB962C8B-B14F-4D97-AF65-F5344CB8AC3E}">
        <p14:creationId xmlns:p14="http://schemas.microsoft.com/office/powerpoint/2010/main" val="20045878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274460"/>
            <a:ext cx="7520940" cy="1440160"/>
          </a:xfrm>
        </p:spPr>
        <p:txBody>
          <a:bodyPr>
            <a:normAutofit/>
          </a:bodyPr>
          <a:lstStyle/>
          <a:p>
            <a:r>
              <a:rPr lang="zh-CN" altLang="zh-CN" b="0" dirty="0"/>
              <a:t>将n个结点链接起来就构成了链表(Linked list)。</a:t>
            </a:r>
            <a:endParaRPr lang="en-US" altLang="zh-CN" b="0" dirty="0"/>
          </a:p>
          <a:p>
            <a:r>
              <a:rPr lang="zh-CN" altLang="zh-CN" b="0" dirty="0"/>
              <a:t>一个线性表L(A,B,C,D)的单链表结构如图</a:t>
            </a:r>
            <a:r>
              <a:rPr lang="en-US" altLang="zh-CN" b="0" dirty="0"/>
              <a:t>2</a:t>
            </a:r>
            <a:r>
              <a:rPr lang="zh-CN" altLang="zh-CN" b="0" dirty="0"/>
              <a:t>-7所示。</a:t>
            </a:r>
            <a:endParaRPr lang="zh-CN" altLang="en-US" b="0" dirty="0"/>
          </a:p>
        </p:txBody>
      </p:sp>
      <p:pic>
        <p:nvPicPr>
          <p:cNvPr id="6147"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75656" y="2820318"/>
            <a:ext cx="5754837" cy="6211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2263255" y="3916688"/>
            <a:ext cx="4180953" cy="400110"/>
          </a:xfrm>
          <a:prstGeom prst="rect">
            <a:avLst/>
          </a:prstGeom>
        </p:spPr>
        <p:txBody>
          <a:bodyPr wrap="none">
            <a:spAutoFit/>
          </a:bodyPr>
          <a:lstStyle/>
          <a:p>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图</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2-7 </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带头结点的单链表结构示例图</a:t>
            </a:r>
          </a:p>
        </p:txBody>
      </p:sp>
    </p:spTree>
    <p:extLst>
      <p:ext uri="{BB962C8B-B14F-4D97-AF65-F5344CB8AC3E}">
        <p14:creationId xmlns:p14="http://schemas.microsoft.com/office/powerpoint/2010/main" val="13148065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980728"/>
            <a:ext cx="8136904" cy="4032448"/>
          </a:xfrm>
        </p:spPr>
        <p:txBody>
          <a:bodyPr>
            <a:normAutofit lnSpcReduction="10000"/>
          </a:bodyPr>
          <a:lstStyle/>
          <a:p>
            <a:pPr algn="just"/>
            <a:r>
              <a:rPr lang="en-US" altLang="zh-CN" b="0" dirty="0"/>
              <a:t>	</a:t>
            </a:r>
            <a:r>
              <a:rPr lang="zh-CN" altLang="zh-CN" b="0" dirty="0"/>
              <a:t>访问链表中的任何结点都必须从链表的头指针开始，因此在图中的最前端增加了一个结点，这个结点没有存储任何数据元素，称为</a:t>
            </a:r>
            <a:r>
              <a:rPr lang="zh-CN" altLang="zh-CN" dirty="0">
                <a:solidFill>
                  <a:srgbClr val="FF0000"/>
                </a:solidFill>
              </a:rPr>
              <a:t>头结点</a:t>
            </a:r>
            <a:r>
              <a:rPr lang="zh-CN" altLang="zh-CN" b="0" dirty="0"/>
              <a:t>。</a:t>
            </a:r>
            <a:endParaRPr lang="en-US" altLang="zh-CN" b="0" dirty="0"/>
          </a:p>
          <a:p>
            <a:pPr algn="just"/>
            <a:r>
              <a:rPr lang="en-US" altLang="zh-CN" b="0" dirty="0"/>
              <a:t>	</a:t>
            </a:r>
            <a:r>
              <a:rPr lang="zh-CN" altLang="zh-CN" b="0" dirty="0"/>
              <a:t>单链表的头结点</a:t>
            </a:r>
            <a:r>
              <a:rPr lang="zh-CN" altLang="en-US" b="0" dirty="0"/>
              <a:t>存储</a:t>
            </a:r>
            <a:r>
              <a:rPr lang="zh-CN" altLang="zh-CN" b="0" dirty="0"/>
              <a:t>地址可从指针head找到，称指针head为</a:t>
            </a:r>
            <a:r>
              <a:rPr lang="zh-CN" altLang="zh-CN" dirty="0">
                <a:solidFill>
                  <a:srgbClr val="FF0000"/>
                </a:solidFill>
              </a:rPr>
              <a:t>头指针</a:t>
            </a:r>
            <a:r>
              <a:rPr lang="zh-CN" altLang="zh-CN" b="0" dirty="0"/>
              <a:t>，其它结点的地址由前驱结点的指针next得到。</a:t>
            </a:r>
            <a:endParaRPr lang="en-US" altLang="zh-CN" b="0" dirty="0"/>
          </a:p>
          <a:p>
            <a:pPr algn="just"/>
            <a:r>
              <a:rPr lang="en-US" altLang="zh-CN" b="0" dirty="0"/>
              <a:t>	</a:t>
            </a:r>
            <a:r>
              <a:rPr lang="zh-CN" altLang="zh-CN" b="0" dirty="0"/>
              <a:t>表中最后一个数据元素没有后继结点，所以它的指针域为“空”，用“∧”或“NULL”表示。</a:t>
            </a:r>
            <a:endParaRPr lang="en-US" altLang="zh-CN" b="0" dirty="0"/>
          </a:p>
          <a:p>
            <a:pPr algn="just"/>
            <a:r>
              <a:rPr lang="en-US" altLang="zh-CN" b="0" dirty="0"/>
              <a:t>	</a:t>
            </a:r>
            <a:r>
              <a:rPr lang="zh-CN" altLang="zh-CN" b="0" dirty="0"/>
              <a:t>若单链表中只有一个头结点，而没有数据元素时，则此线性表为</a:t>
            </a:r>
            <a:r>
              <a:rPr lang="zh-CN" altLang="zh-CN" dirty="0">
                <a:solidFill>
                  <a:srgbClr val="FF0000"/>
                </a:solidFill>
              </a:rPr>
              <a:t>空表</a:t>
            </a:r>
            <a:r>
              <a:rPr lang="zh-CN" altLang="zh-CN" b="0" dirty="0"/>
              <a:t>，头结点的指针域为“空”，如图</a:t>
            </a:r>
            <a:r>
              <a:rPr lang="en-US" altLang="zh-CN" b="0" dirty="0"/>
              <a:t>2</a:t>
            </a:r>
            <a:r>
              <a:rPr lang="zh-CN" altLang="zh-CN" b="0" dirty="0"/>
              <a:t>-8所示。</a:t>
            </a:r>
            <a:endParaRPr lang="zh-CN" altLang="en-US" b="0" dirty="0"/>
          </a:p>
        </p:txBody>
      </p:sp>
      <p:pic>
        <p:nvPicPr>
          <p:cNvPr id="717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840" y="5085184"/>
            <a:ext cx="2400300" cy="7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2483768" y="5883102"/>
            <a:ext cx="4437433" cy="400110"/>
          </a:xfrm>
          <a:prstGeom prst="rect">
            <a:avLst/>
          </a:prstGeom>
        </p:spPr>
        <p:txBody>
          <a:bodyPr wrap="none">
            <a:spAutoFit/>
          </a:bodyPr>
          <a:lstStyle/>
          <a:p>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图</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2-8 </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带头结点的空单链表结构示例图</a:t>
            </a:r>
          </a:p>
        </p:txBody>
      </p:sp>
      <p:pic>
        <p:nvPicPr>
          <p:cNvPr id="5"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95936" y="260648"/>
            <a:ext cx="4669839" cy="504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331045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915C54FD-86FD-495E-A246-4EBDE03AEAE9}"/>
              </a:ext>
            </a:extLst>
          </p:cNvPr>
          <p:cNvSpPr>
            <a:spLocks noChangeArrowheads="1"/>
          </p:cNvSpPr>
          <p:nvPr/>
        </p:nvSpPr>
        <p:spPr bwMode="auto">
          <a:xfrm>
            <a:off x="975725" y="1965825"/>
            <a:ext cx="539750" cy="431800"/>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endParaRPr lang="zh-CN" altLang="zh-CN" sz="3200" baseline="-25000">
              <a:solidFill>
                <a:srgbClr val="3333FF"/>
              </a:solidFill>
              <a:latin typeface="楷体" panose="02010609060101010101" pitchFamily="49" charset="-122"/>
              <a:ea typeface="楷体" panose="02010609060101010101" pitchFamily="49" charset="-122"/>
              <a:cs typeface="Consolas" pitchFamily="49" charset="0"/>
            </a:endParaRPr>
          </a:p>
        </p:txBody>
      </p:sp>
      <p:sp>
        <p:nvSpPr>
          <p:cNvPr id="5" name="Rectangle 7">
            <a:extLst>
              <a:ext uri="{FF2B5EF4-FFF2-40B4-BE49-F238E27FC236}">
                <a16:creationId xmlns:a16="http://schemas.microsoft.com/office/drawing/2014/main" id="{7131AAE9-16EB-488C-B1B5-9E40CB7AD665}"/>
              </a:ext>
            </a:extLst>
          </p:cNvPr>
          <p:cNvSpPr>
            <a:spLocks noChangeArrowheads="1"/>
          </p:cNvSpPr>
          <p:nvPr/>
        </p:nvSpPr>
        <p:spPr bwMode="auto">
          <a:xfrm>
            <a:off x="1517062" y="1965825"/>
            <a:ext cx="539750" cy="431800"/>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endParaRPr lang="zh-CN" altLang="zh-CN" sz="3200" baseline="-25000">
              <a:solidFill>
                <a:srgbClr val="3333FF"/>
              </a:solidFill>
              <a:latin typeface="楷体" panose="02010609060101010101" pitchFamily="49" charset="-122"/>
              <a:ea typeface="楷体" panose="02010609060101010101" pitchFamily="49" charset="-122"/>
              <a:cs typeface="Consolas" pitchFamily="49" charset="0"/>
            </a:endParaRPr>
          </a:p>
        </p:txBody>
      </p:sp>
      <p:sp>
        <p:nvSpPr>
          <p:cNvPr id="6" name="Rectangle 28">
            <a:extLst>
              <a:ext uri="{FF2B5EF4-FFF2-40B4-BE49-F238E27FC236}">
                <a16:creationId xmlns:a16="http://schemas.microsoft.com/office/drawing/2014/main" id="{007C873B-FCF3-439A-B027-9B1C82DDC202}"/>
              </a:ext>
            </a:extLst>
          </p:cNvPr>
          <p:cNvSpPr>
            <a:spLocks noChangeArrowheads="1"/>
          </p:cNvSpPr>
          <p:nvPr/>
        </p:nvSpPr>
        <p:spPr bwMode="auto">
          <a:xfrm>
            <a:off x="2344150" y="1965825"/>
            <a:ext cx="539750" cy="431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i="1" dirty="0" err="1">
                <a:solidFill>
                  <a:srgbClr val="3333FF"/>
                </a:solidFill>
                <a:latin typeface="楷体" panose="02010609060101010101" pitchFamily="49" charset="-122"/>
                <a:ea typeface="楷体" panose="02010609060101010101" pitchFamily="49" charset="-122"/>
                <a:cs typeface="Consolas" pitchFamily="49" charset="0"/>
              </a:rPr>
              <a:t>a</a:t>
            </a:r>
            <a:r>
              <a:rPr lang="en-US" altLang="zh-CN" baseline="-25000" dirty="0" err="1">
                <a:solidFill>
                  <a:srgbClr val="3333FF"/>
                </a:solidFill>
                <a:latin typeface="楷体" panose="02010609060101010101" pitchFamily="49" charset="-122"/>
                <a:ea typeface="楷体" panose="02010609060101010101" pitchFamily="49" charset="-122"/>
                <a:cs typeface="Consolas" pitchFamily="49" charset="0"/>
              </a:rPr>
              <a:t>1</a:t>
            </a:r>
            <a:endParaRPr lang="en-US" altLang="zh-CN" baseline="-25000" dirty="0">
              <a:solidFill>
                <a:srgbClr val="3333FF"/>
              </a:solidFill>
              <a:latin typeface="楷体" panose="02010609060101010101" pitchFamily="49" charset="-122"/>
              <a:ea typeface="楷体" panose="02010609060101010101" pitchFamily="49" charset="-122"/>
              <a:cs typeface="Consolas" pitchFamily="49" charset="0"/>
            </a:endParaRPr>
          </a:p>
        </p:txBody>
      </p:sp>
      <p:sp>
        <p:nvSpPr>
          <p:cNvPr id="7" name="Rectangle 29">
            <a:extLst>
              <a:ext uri="{FF2B5EF4-FFF2-40B4-BE49-F238E27FC236}">
                <a16:creationId xmlns:a16="http://schemas.microsoft.com/office/drawing/2014/main" id="{465461D0-00E7-40E6-902F-582FB9195659}"/>
              </a:ext>
            </a:extLst>
          </p:cNvPr>
          <p:cNvSpPr>
            <a:spLocks noChangeArrowheads="1"/>
          </p:cNvSpPr>
          <p:nvPr/>
        </p:nvSpPr>
        <p:spPr bwMode="auto">
          <a:xfrm>
            <a:off x="2885487" y="1965825"/>
            <a:ext cx="539750" cy="431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zh-CN" altLang="zh-CN" sz="3200" baseline="-25000">
              <a:solidFill>
                <a:srgbClr val="3333FF"/>
              </a:solidFill>
              <a:latin typeface="楷体" panose="02010609060101010101" pitchFamily="49" charset="-122"/>
              <a:ea typeface="楷体" panose="02010609060101010101" pitchFamily="49" charset="-122"/>
              <a:cs typeface="Consolas" pitchFamily="49" charset="0"/>
            </a:endParaRPr>
          </a:p>
        </p:txBody>
      </p:sp>
      <p:sp>
        <p:nvSpPr>
          <p:cNvPr id="8" name="Rectangle 30">
            <a:extLst>
              <a:ext uri="{FF2B5EF4-FFF2-40B4-BE49-F238E27FC236}">
                <a16:creationId xmlns:a16="http://schemas.microsoft.com/office/drawing/2014/main" id="{28130CA8-BBA9-4FB7-BD15-8DA92A328583}"/>
              </a:ext>
            </a:extLst>
          </p:cNvPr>
          <p:cNvSpPr>
            <a:spLocks noChangeArrowheads="1"/>
          </p:cNvSpPr>
          <p:nvPr/>
        </p:nvSpPr>
        <p:spPr bwMode="auto">
          <a:xfrm>
            <a:off x="3782425" y="1965825"/>
            <a:ext cx="539750" cy="431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i="1" dirty="0" err="1">
                <a:solidFill>
                  <a:srgbClr val="3333FF"/>
                </a:solidFill>
                <a:latin typeface="楷体" panose="02010609060101010101" pitchFamily="49" charset="-122"/>
                <a:ea typeface="楷体" panose="02010609060101010101" pitchFamily="49" charset="-122"/>
                <a:cs typeface="Consolas" pitchFamily="49" charset="0"/>
              </a:rPr>
              <a:t>a</a:t>
            </a:r>
            <a:r>
              <a:rPr lang="en-US" altLang="zh-CN" baseline="-25000" dirty="0" err="1">
                <a:solidFill>
                  <a:srgbClr val="3333FF"/>
                </a:solidFill>
                <a:latin typeface="楷体" panose="02010609060101010101" pitchFamily="49" charset="-122"/>
                <a:ea typeface="楷体" panose="02010609060101010101" pitchFamily="49" charset="-122"/>
                <a:cs typeface="Consolas" pitchFamily="49" charset="0"/>
              </a:rPr>
              <a:t>2</a:t>
            </a:r>
            <a:endParaRPr lang="en-US" altLang="zh-CN" baseline="-25000" dirty="0">
              <a:solidFill>
                <a:srgbClr val="3333FF"/>
              </a:solidFill>
              <a:latin typeface="楷体" panose="02010609060101010101" pitchFamily="49" charset="-122"/>
              <a:ea typeface="楷体" panose="02010609060101010101" pitchFamily="49" charset="-122"/>
              <a:cs typeface="Consolas" pitchFamily="49" charset="0"/>
            </a:endParaRPr>
          </a:p>
        </p:txBody>
      </p:sp>
      <p:sp>
        <p:nvSpPr>
          <p:cNvPr id="9" name="Rectangle 31">
            <a:extLst>
              <a:ext uri="{FF2B5EF4-FFF2-40B4-BE49-F238E27FC236}">
                <a16:creationId xmlns:a16="http://schemas.microsoft.com/office/drawing/2014/main" id="{F5D0E445-8903-4C32-8865-5217847391F4}"/>
              </a:ext>
            </a:extLst>
          </p:cNvPr>
          <p:cNvSpPr>
            <a:spLocks noChangeArrowheads="1"/>
          </p:cNvSpPr>
          <p:nvPr/>
        </p:nvSpPr>
        <p:spPr bwMode="auto">
          <a:xfrm>
            <a:off x="4323762" y="1965825"/>
            <a:ext cx="539750" cy="431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zh-CN" altLang="zh-CN" sz="3200" baseline="-25000">
              <a:solidFill>
                <a:srgbClr val="3333FF"/>
              </a:solidFill>
              <a:latin typeface="楷体" panose="02010609060101010101" pitchFamily="49" charset="-122"/>
              <a:ea typeface="楷体" panose="02010609060101010101" pitchFamily="49" charset="-122"/>
              <a:cs typeface="Consolas" pitchFamily="49" charset="0"/>
            </a:endParaRPr>
          </a:p>
        </p:txBody>
      </p:sp>
      <p:sp>
        <p:nvSpPr>
          <p:cNvPr id="10" name="Rectangle 32">
            <a:extLst>
              <a:ext uri="{FF2B5EF4-FFF2-40B4-BE49-F238E27FC236}">
                <a16:creationId xmlns:a16="http://schemas.microsoft.com/office/drawing/2014/main" id="{8AC5B888-E9E7-4E8F-A4D9-495B391E6A91}"/>
              </a:ext>
            </a:extLst>
          </p:cNvPr>
          <p:cNvSpPr>
            <a:spLocks noChangeArrowheads="1"/>
          </p:cNvSpPr>
          <p:nvPr/>
        </p:nvSpPr>
        <p:spPr bwMode="auto">
          <a:xfrm>
            <a:off x="6663737" y="1965825"/>
            <a:ext cx="539750" cy="431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i="1" dirty="0">
                <a:solidFill>
                  <a:srgbClr val="3333FF"/>
                </a:solidFill>
                <a:latin typeface="楷体" panose="02010609060101010101" pitchFamily="49" charset="-122"/>
                <a:ea typeface="楷体" panose="02010609060101010101" pitchFamily="49" charset="-122"/>
                <a:cs typeface="Consolas" pitchFamily="49" charset="0"/>
              </a:rPr>
              <a:t>a</a:t>
            </a:r>
            <a:r>
              <a:rPr lang="en-US" altLang="zh-CN" i="1" baseline="-25000" dirty="0">
                <a:solidFill>
                  <a:srgbClr val="3333FF"/>
                </a:solidFill>
                <a:latin typeface="楷体" panose="02010609060101010101" pitchFamily="49" charset="-122"/>
                <a:ea typeface="楷体" panose="02010609060101010101" pitchFamily="49" charset="-122"/>
                <a:cs typeface="Consolas" pitchFamily="49" charset="0"/>
              </a:rPr>
              <a:t>n</a:t>
            </a:r>
          </a:p>
        </p:txBody>
      </p:sp>
      <p:sp>
        <p:nvSpPr>
          <p:cNvPr id="11" name="Rectangle 33">
            <a:extLst>
              <a:ext uri="{FF2B5EF4-FFF2-40B4-BE49-F238E27FC236}">
                <a16:creationId xmlns:a16="http://schemas.microsoft.com/office/drawing/2014/main" id="{17D9138B-8CCC-4417-A1E5-39D5F787DB78}"/>
              </a:ext>
            </a:extLst>
          </p:cNvPr>
          <p:cNvSpPr>
            <a:spLocks noChangeArrowheads="1"/>
          </p:cNvSpPr>
          <p:nvPr/>
        </p:nvSpPr>
        <p:spPr bwMode="auto">
          <a:xfrm>
            <a:off x="7205075" y="1965825"/>
            <a:ext cx="539750" cy="431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a:latin typeface="楷体" panose="02010609060101010101" pitchFamily="49" charset="-122"/>
                <a:ea typeface="楷体" panose="02010609060101010101" pitchFamily="49" charset="-122"/>
                <a:cs typeface="Consolas" pitchFamily="49" charset="0"/>
              </a:rPr>
              <a:t>∧</a:t>
            </a:r>
          </a:p>
        </p:txBody>
      </p:sp>
      <p:sp>
        <p:nvSpPr>
          <p:cNvPr id="12" name="Text Box 34">
            <a:extLst>
              <a:ext uri="{FF2B5EF4-FFF2-40B4-BE49-F238E27FC236}">
                <a16:creationId xmlns:a16="http://schemas.microsoft.com/office/drawing/2014/main" id="{4609F510-CF0D-428A-9889-8FD4A84A0B2B}"/>
              </a:ext>
            </a:extLst>
          </p:cNvPr>
          <p:cNvSpPr txBox="1">
            <a:spLocks noChangeArrowheads="1"/>
          </p:cNvSpPr>
          <p:nvPr/>
        </p:nvSpPr>
        <p:spPr bwMode="auto">
          <a:xfrm>
            <a:off x="5368337" y="1843905"/>
            <a:ext cx="576263" cy="584775"/>
          </a:xfrm>
          <a:prstGeom prst="rect">
            <a:avLst/>
          </a:prstGeom>
          <a:noFill/>
          <a:ln w="38100" algn="ctr">
            <a:noFill/>
            <a:miter lim="800000"/>
            <a:headEnd/>
            <a:tailEnd/>
          </a:ln>
          <a:effectLst/>
        </p:spPr>
        <p:txBody>
          <a:bodyPr>
            <a:spAutoFit/>
          </a:bodyPr>
          <a:lstStyle/>
          <a:p>
            <a:pPr>
              <a:spcBef>
                <a:spcPct val="50000"/>
              </a:spcBef>
            </a:pPr>
            <a:r>
              <a:rPr kumimoji="1" lang="en-US" altLang="zh-CN" sz="3200">
                <a:solidFill>
                  <a:srgbClr val="3333FF"/>
                </a:solidFill>
                <a:latin typeface="楷体" panose="02010609060101010101" pitchFamily="49" charset="-122"/>
                <a:ea typeface="楷体" panose="02010609060101010101" pitchFamily="49" charset="-122"/>
                <a:cs typeface="Consolas" pitchFamily="49" charset="0"/>
              </a:rPr>
              <a:t>…</a:t>
            </a:r>
          </a:p>
        </p:txBody>
      </p:sp>
      <p:sp>
        <p:nvSpPr>
          <p:cNvPr id="13" name="Line 37">
            <a:extLst>
              <a:ext uri="{FF2B5EF4-FFF2-40B4-BE49-F238E27FC236}">
                <a16:creationId xmlns:a16="http://schemas.microsoft.com/office/drawing/2014/main" id="{7EC7A2F7-44D9-4C79-9942-D538804E102D}"/>
              </a:ext>
            </a:extLst>
          </p:cNvPr>
          <p:cNvSpPr>
            <a:spLocks noChangeShapeType="1"/>
          </p:cNvSpPr>
          <p:nvPr/>
        </p:nvSpPr>
        <p:spPr bwMode="auto">
          <a:xfrm>
            <a:off x="1767887" y="2181725"/>
            <a:ext cx="576263" cy="0"/>
          </a:xfrm>
          <a:prstGeom prst="line">
            <a:avLst/>
          </a:prstGeom>
          <a:ln>
            <a:headEnd/>
            <a:tailEnd type="triangle" w="med" len="med"/>
          </a:ln>
        </p:spPr>
        <p:style>
          <a:lnRef idx="2">
            <a:schemeClr val="accent5"/>
          </a:lnRef>
          <a:fillRef idx="0">
            <a:schemeClr val="accent5"/>
          </a:fillRef>
          <a:effectRef idx="1">
            <a:schemeClr val="accent5"/>
          </a:effectRef>
          <a:fontRef idx="minor">
            <a:schemeClr val="tx1"/>
          </a:fontRef>
        </p:style>
        <p:txBody>
          <a:bodyPr wrap="none"/>
          <a:lstStyle/>
          <a:p>
            <a:endParaRPr lang="zh-CN" altLang="en-US" sz="3200">
              <a:latin typeface="楷体" panose="02010609060101010101" pitchFamily="49" charset="-122"/>
              <a:ea typeface="楷体" panose="02010609060101010101" pitchFamily="49" charset="-122"/>
              <a:cs typeface="Consolas" pitchFamily="49" charset="0"/>
            </a:endParaRPr>
          </a:p>
        </p:txBody>
      </p:sp>
      <p:sp>
        <p:nvSpPr>
          <p:cNvPr id="14" name="Line 38">
            <a:extLst>
              <a:ext uri="{FF2B5EF4-FFF2-40B4-BE49-F238E27FC236}">
                <a16:creationId xmlns:a16="http://schemas.microsoft.com/office/drawing/2014/main" id="{31A2C156-8AAF-4375-875E-51BF63A2BE81}"/>
              </a:ext>
            </a:extLst>
          </p:cNvPr>
          <p:cNvSpPr>
            <a:spLocks noChangeShapeType="1"/>
          </p:cNvSpPr>
          <p:nvPr/>
        </p:nvSpPr>
        <p:spPr bwMode="auto">
          <a:xfrm>
            <a:off x="3207750" y="2181725"/>
            <a:ext cx="576262" cy="0"/>
          </a:xfrm>
          <a:prstGeom prst="line">
            <a:avLst/>
          </a:prstGeom>
          <a:ln>
            <a:headEnd/>
            <a:tailEnd type="triangle" w="med" len="med"/>
          </a:ln>
        </p:spPr>
        <p:style>
          <a:lnRef idx="2">
            <a:schemeClr val="accent5"/>
          </a:lnRef>
          <a:fillRef idx="0">
            <a:schemeClr val="accent5"/>
          </a:fillRef>
          <a:effectRef idx="1">
            <a:schemeClr val="accent5"/>
          </a:effectRef>
          <a:fontRef idx="minor">
            <a:schemeClr val="tx1"/>
          </a:fontRef>
        </p:style>
        <p:txBody>
          <a:bodyPr wrap="none"/>
          <a:lstStyle/>
          <a:p>
            <a:endParaRPr lang="zh-CN" altLang="en-US" sz="3200">
              <a:latin typeface="楷体" panose="02010609060101010101" pitchFamily="49" charset="-122"/>
              <a:ea typeface="楷体" panose="02010609060101010101" pitchFamily="49" charset="-122"/>
              <a:cs typeface="Consolas" pitchFamily="49" charset="0"/>
            </a:endParaRPr>
          </a:p>
        </p:txBody>
      </p:sp>
      <p:sp>
        <p:nvSpPr>
          <p:cNvPr id="15" name="Line 39">
            <a:extLst>
              <a:ext uri="{FF2B5EF4-FFF2-40B4-BE49-F238E27FC236}">
                <a16:creationId xmlns:a16="http://schemas.microsoft.com/office/drawing/2014/main" id="{93F9BC33-87F4-4115-9B70-4B6C1732E50A}"/>
              </a:ext>
            </a:extLst>
          </p:cNvPr>
          <p:cNvSpPr>
            <a:spLocks noChangeShapeType="1"/>
          </p:cNvSpPr>
          <p:nvPr/>
        </p:nvSpPr>
        <p:spPr bwMode="auto">
          <a:xfrm>
            <a:off x="4649200" y="2181725"/>
            <a:ext cx="576262" cy="0"/>
          </a:xfrm>
          <a:prstGeom prst="line">
            <a:avLst/>
          </a:prstGeom>
          <a:ln>
            <a:headEnd/>
            <a:tailEnd type="triangle" w="med" len="med"/>
          </a:ln>
        </p:spPr>
        <p:style>
          <a:lnRef idx="2">
            <a:schemeClr val="accent5"/>
          </a:lnRef>
          <a:fillRef idx="0">
            <a:schemeClr val="accent5"/>
          </a:fillRef>
          <a:effectRef idx="1">
            <a:schemeClr val="accent5"/>
          </a:effectRef>
          <a:fontRef idx="minor">
            <a:schemeClr val="tx1"/>
          </a:fontRef>
        </p:style>
        <p:txBody>
          <a:bodyPr wrap="none"/>
          <a:lstStyle/>
          <a:p>
            <a:endParaRPr lang="zh-CN" altLang="en-US" sz="3200">
              <a:latin typeface="楷体" panose="02010609060101010101" pitchFamily="49" charset="-122"/>
              <a:ea typeface="楷体" panose="02010609060101010101" pitchFamily="49" charset="-122"/>
              <a:cs typeface="Consolas" pitchFamily="49" charset="0"/>
            </a:endParaRPr>
          </a:p>
        </p:txBody>
      </p:sp>
      <p:sp>
        <p:nvSpPr>
          <p:cNvPr id="16" name="Line 40">
            <a:extLst>
              <a:ext uri="{FF2B5EF4-FFF2-40B4-BE49-F238E27FC236}">
                <a16:creationId xmlns:a16="http://schemas.microsoft.com/office/drawing/2014/main" id="{221FEC36-9BB6-40D4-8E40-0ABF490C1EBB}"/>
              </a:ext>
            </a:extLst>
          </p:cNvPr>
          <p:cNvSpPr>
            <a:spLocks noChangeShapeType="1"/>
          </p:cNvSpPr>
          <p:nvPr/>
        </p:nvSpPr>
        <p:spPr bwMode="auto">
          <a:xfrm>
            <a:off x="6089062" y="2181725"/>
            <a:ext cx="576263" cy="0"/>
          </a:xfrm>
          <a:prstGeom prst="line">
            <a:avLst/>
          </a:prstGeom>
          <a:ln>
            <a:headEnd/>
            <a:tailEnd type="triangle" w="med" len="med"/>
          </a:ln>
        </p:spPr>
        <p:style>
          <a:lnRef idx="2">
            <a:schemeClr val="accent5"/>
          </a:lnRef>
          <a:fillRef idx="0">
            <a:schemeClr val="accent5"/>
          </a:fillRef>
          <a:effectRef idx="1">
            <a:schemeClr val="accent5"/>
          </a:effectRef>
          <a:fontRef idx="minor">
            <a:schemeClr val="tx1"/>
          </a:fontRef>
        </p:style>
        <p:txBody>
          <a:bodyPr wrap="none"/>
          <a:lstStyle/>
          <a:p>
            <a:endParaRPr lang="zh-CN" altLang="en-US" sz="3200">
              <a:latin typeface="楷体" panose="02010609060101010101" pitchFamily="49" charset="-122"/>
              <a:ea typeface="楷体" panose="02010609060101010101" pitchFamily="49" charset="-122"/>
              <a:cs typeface="Consolas" pitchFamily="49" charset="0"/>
            </a:endParaRPr>
          </a:p>
        </p:txBody>
      </p:sp>
      <p:sp>
        <p:nvSpPr>
          <p:cNvPr id="17" name="Text Box 7">
            <a:extLst>
              <a:ext uri="{FF2B5EF4-FFF2-40B4-BE49-F238E27FC236}">
                <a16:creationId xmlns:a16="http://schemas.microsoft.com/office/drawing/2014/main" id="{C8A60B33-2F40-4051-B1C5-44806A8B61BA}"/>
              </a:ext>
            </a:extLst>
          </p:cNvPr>
          <p:cNvSpPr txBox="1">
            <a:spLocks noChangeArrowheads="1"/>
          </p:cNvSpPr>
          <p:nvPr/>
        </p:nvSpPr>
        <p:spPr bwMode="auto">
          <a:xfrm>
            <a:off x="899592" y="3965067"/>
            <a:ext cx="7055644" cy="2012887"/>
          </a:xfrm>
          <a:prstGeom prst="rect">
            <a:avLst/>
          </a:prstGeom>
          <a:solidFill>
            <a:schemeClr val="bg1">
              <a:lumMod val="95000"/>
            </a:schemeClr>
          </a:solidFill>
          <a:ln>
            <a:headEnd/>
            <a:tailEnd/>
          </a:ln>
        </p:spPr>
        <p:style>
          <a:lnRef idx="1">
            <a:schemeClr val="accent1"/>
          </a:lnRef>
          <a:fillRef idx="2">
            <a:schemeClr val="accent1"/>
          </a:fillRef>
          <a:effectRef idx="1">
            <a:schemeClr val="accent1"/>
          </a:effectRef>
          <a:fontRef idx="minor">
            <a:schemeClr val="dk1"/>
          </a:fontRef>
        </p:style>
        <p:txBody>
          <a:bodyPr wrap="square" lIns="144000" tIns="144000" bIns="144000">
            <a:spAutoFit/>
          </a:bodyPr>
          <a:lstStyle/>
          <a:p>
            <a:pPr marL="457200" indent="-457200" algn="l">
              <a:lnSpc>
                <a:spcPts val="3500"/>
              </a:lnSpc>
              <a:buFontTx/>
              <a:buBlip>
                <a:blip r:embed="rId2"/>
              </a:buBlip>
            </a:pPr>
            <a:r>
              <a:rPr kumimoji="1" lang="zh-CN" altLang="en-US" sz="2400" b="1" dirty="0">
                <a:solidFill>
                  <a:schemeClr val="tx1"/>
                </a:solidFill>
                <a:latin typeface="楷体" panose="02010609060101010101" pitchFamily="49" charset="-122"/>
                <a:ea typeface="楷体" panose="02010609060101010101" pitchFamily="49" charset="-122"/>
                <a:cs typeface="Consolas" pitchFamily="49" charset="0"/>
              </a:rPr>
              <a:t>第一个结点的操作和表中其他结点的操作相一致，</a:t>
            </a:r>
            <a:r>
              <a:rPr kumimoji="1" lang="zh-CN" altLang="en-US" sz="2400" b="1" dirty="0">
                <a:solidFill>
                  <a:srgbClr val="FF0000"/>
                </a:solidFill>
                <a:latin typeface="楷体" panose="02010609060101010101" pitchFamily="49" charset="-122"/>
                <a:ea typeface="楷体" panose="02010609060101010101" pitchFamily="49" charset="-122"/>
                <a:cs typeface="Consolas" pitchFamily="49" charset="0"/>
              </a:rPr>
              <a:t>无需进行特殊处理</a:t>
            </a:r>
            <a:r>
              <a:rPr kumimoji="1" lang="zh-CN" altLang="en-US" sz="2400" b="1" dirty="0">
                <a:solidFill>
                  <a:schemeClr val="tx1"/>
                </a:solidFill>
                <a:latin typeface="楷体" panose="02010609060101010101" pitchFamily="49" charset="-122"/>
                <a:ea typeface="楷体" panose="02010609060101010101" pitchFamily="49" charset="-122"/>
                <a:cs typeface="Consolas" pitchFamily="49" charset="0"/>
              </a:rPr>
              <a:t>。</a:t>
            </a:r>
          </a:p>
          <a:p>
            <a:pPr marL="457200" indent="-457200" algn="l">
              <a:lnSpc>
                <a:spcPts val="3500"/>
              </a:lnSpc>
              <a:buFontTx/>
              <a:buBlip>
                <a:blip r:embed="rId2"/>
              </a:buBlip>
            </a:pPr>
            <a:r>
              <a:rPr kumimoji="1" lang="zh-CN" altLang="en-US" sz="2400" b="1" dirty="0">
                <a:solidFill>
                  <a:schemeClr val="tx1"/>
                </a:solidFill>
                <a:latin typeface="楷体" panose="02010609060101010101" pitchFamily="49" charset="-122"/>
                <a:ea typeface="楷体" panose="02010609060101010101" pitchFamily="49" charset="-122"/>
                <a:cs typeface="Consolas" pitchFamily="49" charset="0"/>
              </a:rPr>
              <a:t>无论链表是否为空，都有一个头结点，因此</a:t>
            </a:r>
            <a:r>
              <a:rPr kumimoji="1" lang="zh-CN" altLang="en-US" sz="2400" b="1" dirty="0">
                <a:solidFill>
                  <a:srgbClr val="FF0000"/>
                </a:solidFill>
                <a:latin typeface="楷体" panose="02010609060101010101" pitchFamily="49" charset="-122"/>
                <a:ea typeface="楷体" panose="02010609060101010101" pitchFamily="49" charset="-122"/>
                <a:cs typeface="Consolas" pitchFamily="49" charset="0"/>
              </a:rPr>
              <a:t>空表和非空表的处理也就统一了</a:t>
            </a:r>
            <a:r>
              <a:rPr kumimoji="1" lang="zh-CN" altLang="en-US" sz="2400" b="1" dirty="0">
                <a:solidFill>
                  <a:schemeClr val="tx1"/>
                </a:solidFill>
                <a:latin typeface="楷体" panose="02010609060101010101" pitchFamily="49" charset="-122"/>
                <a:ea typeface="楷体" panose="02010609060101010101" pitchFamily="49" charset="-122"/>
                <a:cs typeface="Consolas" pitchFamily="49" charset="0"/>
              </a:rPr>
              <a:t>。</a:t>
            </a:r>
          </a:p>
        </p:txBody>
      </p:sp>
      <p:sp>
        <p:nvSpPr>
          <p:cNvPr id="18" name="Text Box 8">
            <a:extLst>
              <a:ext uri="{FF2B5EF4-FFF2-40B4-BE49-F238E27FC236}">
                <a16:creationId xmlns:a16="http://schemas.microsoft.com/office/drawing/2014/main" id="{FA57B0D6-EE01-43C5-A0C7-3CA4B52440A9}"/>
              </a:ext>
            </a:extLst>
          </p:cNvPr>
          <p:cNvSpPr txBox="1">
            <a:spLocks noChangeArrowheads="1"/>
          </p:cNvSpPr>
          <p:nvPr/>
        </p:nvSpPr>
        <p:spPr bwMode="auto">
          <a:xfrm>
            <a:off x="899592" y="3300492"/>
            <a:ext cx="4968875" cy="461665"/>
          </a:xfrm>
          <a:prstGeom prst="rect">
            <a:avLst/>
          </a:prstGeom>
          <a:noFill/>
          <a:ln w="38100" algn="ctr">
            <a:noFill/>
            <a:miter lim="800000"/>
            <a:headEnd/>
            <a:tailEnd/>
          </a:ln>
          <a:effectLst/>
        </p:spPr>
        <p:txBody>
          <a:bodyPr>
            <a:spAutoFit/>
          </a:bodyPr>
          <a:lstStyle/>
          <a:p>
            <a:pPr algn="l"/>
            <a:r>
              <a:rPr kumimoji="1" lang="zh-CN" altLang="en-US" sz="2400" dirty="0">
                <a:latin typeface="楷体" panose="02010609060101010101" pitchFamily="49" charset="-122"/>
                <a:ea typeface="楷体" panose="02010609060101010101" pitchFamily="49" charset="-122"/>
                <a:cs typeface="Consolas" pitchFamily="49" charset="0"/>
              </a:rPr>
              <a:t>单链表增加一个头结点的优点：</a:t>
            </a:r>
            <a:endParaRPr lang="zh-CN" altLang="en-US" sz="2400" dirty="0">
              <a:latin typeface="楷体" panose="02010609060101010101" pitchFamily="49" charset="-122"/>
              <a:ea typeface="楷体" panose="02010609060101010101" pitchFamily="49" charset="-122"/>
              <a:cs typeface="Consolas" pitchFamily="49" charset="0"/>
            </a:endParaRPr>
          </a:p>
        </p:txBody>
      </p:sp>
      <p:sp>
        <p:nvSpPr>
          <p:cNvPr id="19" name="Text Box 41">
            <a:extLst>
              <a:ext uri="{FF2B5EF4-FFF2-40B4-BE49-F238E27FC236}">
                <a16:creationId xmlns:a16="http://schemas.microsoft.com/office/drawing/2014/main" id="{40651676-90BB-40D6-9386-C4FB436E4208}"/>
              </a:ext>
            </a:extLst>
          </p:cNvPr>
          <p:cNvSpPr txBox="1">
            <a:spLocks noChangeArrowheads="1"/>
          </p:cNvSpPr>
          <p:nvPr/>
        </p:nvSpPr>
        <p:spPr bwMode="auto">
          <a:xfrm>
            <a:off x="955137" y="1058330"/>
            <a:ext cx="2428892" cy="461665"/>
          </a:xfrm>
          <a:prstGeom prst="rect">
            <a:avLst/>
          </a:prstGeom>
          <a:noFill/>
          <a:ln w="9525">
            <a:noFill/>
            <a:miter lim="800000"/>
            <a:headEnd/>
            <a:tailEnd/>
          </a:ln>
          <a:effectLst/>
        </p:spPr>
        <p:txBody>
          <a:bodyPr wrap="square">
            <a:spAutoFit/>
          </a:bodyPr>
          <a:lstStyle/>
          <a:p>
            <a:pPr algn="l">
              <a:spcBef>
                <a:spcPct val="50000"/>
              </a:spcBef>
            </a:pPr>
            <a:r>
              <a:rPr kumimoji="1" lang="zh-CN" altLang="en-US" sz="2400" dirty="0">
                <a:latin typeface="楷体" panose="02010609060101010101" pitchFamily="49" charset="-122"/>
                <a:ea typeface="楷体" panose="02010609060101010101" pitchFamily="49" charset="-122"/>
                <a:cs typeface="Consolas" pitchFamily="49" charset="0"/>
              </a:rPr>
              <a:t>带头结点单链表</a:t>
            </a:r>
          </a:p>
        </p:txBody>
      </p:sp>
      <p:sp>
        <p:nvSpPr>
          <p:cNvPr id="20" name="弧形 19">
            <a:extLst>
              <a:ext uri="{FF2B5EF4-FFF2-40B4-BE49-F238E27FC236}">
                <a16:creationId xmlns:a16="http://schemas.microsoft.com/office/drawing/2014/main" id="{4C41435C-29DF-498E-8A7E-B6154BAA9247}"/>
              </a:ext>
            </a:extLst>
          </p:cNvPr>
          <p:cNvSpPr/>
          <p:nvPr/>
        </p:nvSpPr>
        <p:spPr>
          <a:xfrm>
            <a:off x="604259" y="1535612"/>
            <a:ext cx="714380" cy="857256"/>
          </a:xfrm>
          <a:prstGeom prst="arc">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3200">
              <a:latin typeface="楷体" panose="02010609060101010101" pitchFamily="49" charset="-122"/>
              <a:ea typeface="楷体" panose="02010609060101010101" pitchFamily="49" charset="-122"/>
            </a:endParaRPr>
          </a:p>
        </p:txBody>
      </p:sp>
      <p:sp>
        <p:nvSpPr>
          <p:cNvPr id="21" name="TextBox 22">
            <a:extLst>
              <a:ext uri="{FF2B5EF4-FFF2-40B4-BE49-F238E27FC236}">
                <a16:creationId xmlns:a16="http://schemas.microsoft.com/office/drawing/2014/main" id="{F78E7D2E-0CCE-449E-987E-32A10BDBE8FC}"/>
              </a:ext>
            </a:extLst>
          </p:cNvPr>
          <p:cNvSpPr txBox="1"/>
          <p:nvPr/>
        </p:nvSpPr>
        <p:spPr>
          <a:xfrm>
            <a:off x="899592" y="2535744"/>
            <a:ext cx="1061989" cy="369332"/>
          </a:xfrm>
          <a:prstGeom prst="rect">
            <a:avLst/>
          </a:prstGeom>
          <a:noFill/>
        </p:spPr>
        <p:txBody>
          <a:bodyPr wrap="square" lIns="0" rIns="0" rtlCol="0">
            <a:spAutoFit/>
          </a:bodyPr>
          <a:lstStyle/>
          <a:p>
            <a:r>
              <a:rPr lang="zh-CN" altLang="en-US" dirty="0">
                <a:latin typeface="楷体" panose="02010609060101010101" pitchFamily="49" charset="-122"/>
                <a:ea typeface="楷体" panose="02010609060101010101" pitchFamily="49" charset="-122"/>
              </a:rPr>
              <a:t>头结点</a:t>
            </a:r>
          </a:p>
        </p:txBody>
      </p:sp>
      <p:sp>
        <p:nvSpPr>
          <p:cNvPr id="22" name="TextBox 23">
            <a:extLst>
              <a:ext uri="{FF2B5EF4-FFF2-40B4-BE49-F238E27FC236}">
                <a16:creationId xmlns:a16="http://schemas.microsoft.com/office/drawing/2014/main" id="{3ABD10C3-05CD-475A-87D8-192CECD2CF85}"/>
              </a:ext>
            </a:extLst>
          </p:cNvPr>
          <p:cNvSpPr txBox="1"/>
          <p:nvPr/>
        </p:nvSpPr>
        <p:spPr>
          <a:xfrm>
            <a:off x="2390210" y="2523602"/>
            <a:ext cx="928693" cy="369332"/>
          </a:xfrm>
          <a:prstGeom prst="rect">
            <a:avLst/>
          </a:prstGeom>
          <a:noFill/>
        </p:spPr>
        <p:txBody>
          <a:bodyPr wrap="square" lIns="0" rIns="0" rtlCol="0">
            <a:spAutoFit/>
          </a:bodyPr>
          <a:lstStyle/>
          <a:p>
            <a:r>
              <a:rPr lang="zh-CN" altLang="en-US" dirty="0">
                <a:latin typeface="楷体" panose="02010609060101010101" pitchFamily="49" charset="-122"/>
                <a:ea typeface="楷体" panose="02010609060101010101" pitchFamily="49" charset="-122"/>
              </a:rPr>
              <a:t>首结点</a:t>
            </a:r>
          </a:p>
        </p:txBody>
      </p:sp>
      <p:sp>
        <p:nvSpPr>
          <p:cNvPr id="23" name="TextBox 26">
            <a:extLst>
              <a:ext uri="{FF2B5EF4-FFF2-40B4-BE49-F238E27FC236}">
                <a16:creationId xmlns:a16="http://schemas.microsoft.com/office/drawing/2014/main" id="{59154CCC-54AF-4B00-88FB-FF64352EA6D6}"/>
              </a:ext>
            </a:extLst>
          </p:cNvPr>
          <p:cNvSpPr txBox="1"/>
          <p:nvPr/>
        </p:nvSpPr>
        <p:spPr>
          <a:xfrm>
            <a:off x="6819365" y="2523602"/>
            <a:ext cx="925460" cy="369332"/>
          </a:xfrm>
          <a:prstGeom prst="rect">
            <a:avLst/>
          </a:prstGeom>
          <a:noFill/>
        </p:spPr>
        <p:txBody>
          <a:bodyPr wrap="square" lIns="0" rIns="0" rtlCol="0">
            <a:spAutoFit/>
          </a:bodyPr>
          <a:lstStyle/>
          <a:p>
            <a:r>
              <a:rPr lang="zh-CN" altLang="en-US" dirty="0">
                <a:latin typeface="楷体" panose="02010609060101010101" pitchFamily="49" charset="-122"/>
                <a:ea typeface="楷体" panose="02010609060101010101" pitchFamily="49" charset="-122"/>
              </a:rPr>
              <a:t>尾结点</a:t>
            </a:r>
          </a:p>
        </p:txBody>
      </p:sp>
    </p:spTree>
    <p:extLst>
      <p:ext uri="{BB962C8B-B14F-4D97-AF65-F5344CB8AC3E}">
        <p14:creationId xmlns:p14="http://schemas.microsoft.com/office/powerpoint/2010/main" val="8726035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1052736"/>
            <a:ext cx="7520940" cy="5256584"/>
          </a:xfrm>
        </p:spPr>
        <p:txBody>
          <a:bodyPr>
            <a:noAutofit/>
          </a:bodyPr>
          <a:lstStyle/>
          <a:p>
            <a:r>
              <a:rPr lang="zh-CN" altLang="zh-CN" dirty="0"/>
              <a:t>算法</a:t>
            </a:r>
            <a:r>
              <a:rPr lang="en-US" altLang="zh-CN" dirty="0"/>
              <a:t>2.6</a:t>
            </a:r>
            <a:r>
              <a:rPr lang="zh-CN" altLang="zh-CN" dirty="0"/>
              <a:t>：</a:t>
            </a:r>
            <a:r>
              <a:rPr lang="zh-CN" altLang="zh-CN" b="0" dirty="0">
                <a:solidFill>
                  <a:srgbClr val="FF0000"/>
                </a:solidFill>
              </a:rPr>
              <a:t>单链表的</a:t>
            </a:r>
            <a:r>
              <a:rPr lang="zh-CN" altLang="zh-CN" dirty="0">
                <a:solidFill>
                  <a:srgbClr val="FF0000"/>
                </a:solidFill>
              </a:rPr>
              <a:t>结点类</a:t>
            </a:r>
            <a:r>
              <a:rPr lang="zh-CN" altLang="zh-CN" b="0" dirty="0">
                <a:solidFill>
                  <a:srgbClr val="FF0000"/>
                </a:solidFill>
              </a:rPr>
              <a:t>定义</a:t>
            </a:r>
          </a:p>
          <a:p>
            <a:pPr>
              <a:spcBef>
                <a:spcPts val="0"/>
              </a:spcBef>
            </a:pPr>
            <a:r>
              <a:rPr lang="en-US" altLang="zh-CN" b="0" dirty="0"/>
              <a:t>template &lt;class Elem&gt;</a:t>
            </a:r>
            <a:endParaRPr lang="zh-CN" altLang="zh-CN" b="0" dirty="0"/>
          </a:p>
          <a:p>
            <a:pPr>
              <a:spcBef>
                <a:spcPts val="0"/>
              </a:spcBef>
            </a:pPr>
            <a:r>
              <a:rPr lang="en-US" altLang="zh-CN" b="0" dirty="0"/>
              <a:t>class Link {</a:t>
            </a:r>
            <a:endParaRPr lang="zh-CN" altLang="zh-CN" b="0" dirty="0"/>
          </a:p>
          <a:p>
            <a:pPr>
              <a:spcBef>
                <a:spcPts val="0"/>
              </a:spcBef>
            </a:pPr>
            <a:r>
              <a:rPr lang="en-US" altLang="zh-CN" b="0" dirty="0"/>
              <a:t>Public:     </a:t>
            </a:r>
            <a:endParaRPr lang="zh-CN" altLang="zh-CN" b="0" dirty="0"/>
          </a:p>
          <a:p>
            <a:pPr>
              <a:spcBef>
                <a:spcPts val="0"/>
              </a:spcBef>
            </a:pPr>
            <a:r>
              <a:rPr lang="en-US" altLang="zh-CN" b="0" dirty="0"/>
              <a:t>		Elem element;   	// </a:t>
            </a:r>
            <a:r>
              <a:rPr lang="zh-CN" altLang="zh-CN" b="0" dirty="0"/>
              <a:t>当前结点的数据元素</a:t>
            </a:r>
          </a:p>
          <a:p>
            <a:pPr>
              <a:spcBef>
                <a:spcPts val="0"/>
              </a:spcBef>
            </a:pPr>
            <a:r>
              <a:rPr lang="en-US" altLang="zh-CN" b="0" dirty="0"/>
              <a:t>		Link *next; 		// </a:t>
            </a:r>
            <a:r>
              <a:rPr lang="zh-CN" altLang="zh-CN" b="0" dirty="0"/>
              <a:t>指向下一结点的指针</a:t>
            </a:r>
            <a:endParaRPr lang="en-US" altLang="zh-CN" b="0" dirty="0"/>
          </a:p>
          <a:p>
            <a:pPr>
              <a:spcBef>
                <a:spcPts val="0"/>
              </a:spcBef>
            </a:pPr>
            <a:endParaRPr lang="zh-CN" altLang="zh-CN" b="0" dirty="0"/>
          </a:p>
          <a:p>
            <a:pPr>
              <a:spcBef>
                <a:spcPts val="0"/>
              </a:spcBef>
            </a:pPr>
            <a:r>
              <a:rPr lang="en-US" altLang="zh-CN" b="0" dirty="0"/>
              <a:t>		Link(const Elem&amp; item, Link * </a:t>
            </a:r>
            <a:r>
              <a:rPr lang="en-US" altLang="zh-CN" b="0" dirty="0" err="1"/>
              <a:t>nextval</a:t>
            </a:r>
            <a:r>
              <a:rPr lang="en-US" altLang="zh-CN" b="0" dirty="0"/>
              <a:t>=NULL) 			{ element = item; next = </a:t>
            </a:r>
            <a:r>
              <a:rPr lang="en-US" altLang="zh-CN" b="0" dirty="0" err="1"/>
              <a:t>nextval</a:t>
            </a:r>
            <a:r>
              <a:rPr lang="en-US" altLang="zh-CN" b="0" dirty="0"/>
              <a:t>; }</a:t>
            </a:r>
            <a:endParaRPr lang="zh-CN" altLang="zh-CN" b="0" dirty="0"/>
          </a:p>
          <a:p>
            <a:pPr>
              <a:spcBef>
                <a:spcPts val="0"/>
              </a:spcBef>
            </a:pPr>
            <a:r>
              <a:rPr lang="en-US" altLang="zh-CN" b="0" dirty="0"/>
              <a:t>      	Link(Link* </a:t>
            </a:r>
            <a:r>
              <a:rPr lang="en-US" altLang="zh-CN" b="0" dirty="0" err="1"/>
              <a:t>nextval</a:t>
            </a:r>
            <a:r>
              <a:rPr lang="en-US" altLang="zh-CN" b="0" dirty="0"/>
              <a:t>=NULL)  { next = </a:t>
            </a:r>
            <a:r>
              <a:rPr lang="en-US" altLang="zh-CN" b="0" dirty="0" err="1"/>
              <a:t>nextval</a:t>
            </a:r>
            <a:r>
              <a:rPr lang="en-US" altLang="zh-CN" b="0" dirty="0"/>
              <a:t>; }</a:t>
            </a:r>
            <a:endParaRPr lang="zh-CN" altLang="zh-CN" b="0" dirty="0"/>
          </a:p>
          <a:p>
            <a:pPr>
              <a:spcBef>
                <a:spcPts val="0"/>
              </a:spcBef>
            </a:pPr>
            <a:r>
              <a:rPr lang="en-US" altLang="zh-CN" b="0" dirty="0"/>
              <a:t>};</a:t>
            </a:r>
            <a:endParaRPr lang="zh-CN" altLang="zh-CN" b="0" dirty="0"/>
          </a:p>
          <a:p>
            <a:endParaRPr lang="zh-CN" altLang="en-US" dirty="0"/>
          </a:p>
        </p:txBody>
      </p:sp>
    </p:spTree>
    <p:extLst>
      <p:ext uri="{BB962C8B-B14F-4D97-AF65-F5344CB8AC3E}">
        <p14:creationId xmlns:p14="http://schemas.microsoft.com/office/powerpoint/2010/main" val="5716176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
            <a:extLst>
              <a:ext uri="{FF2B5EF4-FFF2-40B4-BE49-F238E27FC236}">
                <a16:creationId xmlns:a16="http://schemas.microsoft.com/office/drawing/2014/main" id="{340611C9-4F5C-44B4-85E1-3BDFE7B58544}"/>
              </a:ext>
            </a:extLst>
          </p:cNvPr>
          <p:cNvSpPr txBox="1">
            <a:spLocks noChangeArrowheads="1"/>
          </p:cNvSpPr>
          <p:nvPr/>
        </p:nvSpPr>
        <p:spPr bwMode="auto">
          <a:xfrm>
            <a:off x="714348" y="1718306"/>
            <a:ext cx="7572428" cy="2892436"/>
          </a:xfrm>
          <a:prstGeom prst="rect">
            <a:avLst/>
          </a:prstGeom>
          <a:solidFill>
            <a:schemeClr val="bg1">
              <a:lumMod val="95000"/>
            </a:schemeClr>
          </a:solidFill>
          <a:ln>
            <a:noFill/>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3"/>
          </a:lnRef>
          <a:fillRef idx="2">
            <a:schemeClr val="accent3"/>
          </a:fillRef>
          <a:effectRef idx="1">
            <a:schemeClr val="accent3"/>
          </a:effectRef>
          <a:fontRef idx="minor">
            <a:schemeClr val="dk1"/>
          </a:fontRef>
        </p:style>
        <p:txBody>
          <a:bodyPr wrap="square" lIns="180000" tIns="72000" bIns="108000">
            <a:spAutoFit/>
          </a:bodyPr>
          <a:lstStyle/>
          <a:p>
            <a:pPr algn="l">
              <a:lnSpc>
                <a:spcPct val="150000"/>
              </a:lnSpc>
            </a:pPr>
            <a:r>
              <a:rPr kumimoji="1" lang="en-US" altLang="zh-CN" dirty="0">
                <a:solidFill>
                  <a:srgbClr val="0000FF"/>
                </a:solidFill>
                <a:latin typeface="Consolas" pitchFamily="49" charset="0"/>
                <a:ea typeface="仿宋" pitchFamily="49" charset="-122"/>
                <a:cs typeface="Consolas" pitchFamily="49" charset="0"/>
              </a:rPr>
              <a:t>typedef struct </a:t>
            </a:r>
            <a:r>
              <a:rPr kumimoji="1" lang="en-US" altLang="zh-CN" dirty="0" err="1">
                <a:solidFill>
                  <a:srgbClr val="0000FF"/>
                </a:solidFill>
                <a:latin typeface="Consolas" pitchFamily="49" charset="0"/>
                <a:ea typeface="仿宋" pitchFamily="49" charset="-122"/>
                <a:cs typeface="Consolas" pitchFamily="49" charset="0"/>
              </a:rPr>
              <a:t>LNode</a:t>
            </a:r>
            <a:r>
              <a:rPr kumimoji="1" lang="en-US" altLang="zh-CN" dirty="0">
                <a:solidFill>
                  <a:srgbClr val="0000FF"/>
                </a:solidFill>
                <a:latin typeface="Consolas" pitchFamily="49" charset="0"/>
                <a:ea typeface="仿宋" pitchFamily="49" charset="-122"/>
                <a:cs typeface="Consolas" pitchFamily="49" charset="0"/>
              </a:rPr>
              <a:t>       </a:t>
            </a:r>
            <a:r>
              <a:rPr kumimoji="1" lang="en-US" altLang="zh-CN" dirty="0">
                <a:solidFill>
                  <a:srgbClr val="00B0F0"/>
                </a:solidFill>
                <a:latin typeface="Consolas" pitchFamily="49" charset="0"/>
                <a:ea typeface="仿宋" pitchFamily="49" charset="-122"/>
                <a:cs typeface="Consolas" pitchFamily="49" charset="0"/>
              </a:rPr>
              <a:t>//</a:t>
            </a:r>
            <a:r>
              <a:rPr kumimoji="1" lang="zh-CN" altLang="en-US" sz="2000" dirty="0">
                <a:solidFill>
                  <a:srgbClr val="00B0F0"/>
                </a:solidFill>
                <a:latin typeface="Consolas" pitchFamily="49" charset="0"/>
                <a:ea typeface="仿宋" pitchFamily="49" charset="-122"/>
                <a:cs typeface="Consolas" pitchFamily="49" charset="0"/>
              </a:rPr>
              <a:t>声明单链表结点类型</a:t>
            </a:r>
            <a:endParaRPr kumimoji="1" lang="zh-CN" altLang="en-US" dirty="0">
              <a:solidFill>
                <a:srgbClr val="00B0F0"/>
              </a:solidFill>
              <a:latin typeface="Consolas" pitchFamily="49" charset="0"/>
              <a:ea typeface="仿宋" pitchFamily="49" charset="-122"/>
              <a:cs typeface="Consolas" pitchFamily="49" charset="0"/>
            </a:endParaRPr>
          </a:p>
          <a:p>
            <a:pPr algn="l">
              <a:lnSpc>
                <a:spcPct val="150000"/>
              </a:lnSpc>
            </a:pPr>
            <a:r>
              <a:rPr kumimoji="1" lang="en-US" altLang="zh-CN" dirty="0">
                <a:solidFill>
                  <a:srgbClr val="0000FF"/>
                </a:solidFill>
                <a:latin typeface="Consolas" pitchFamily="49" charset="0"/>
                <a:ea typeface="仿宋" pitchFamily="49" charset="-122"/>
                <a:cs typeface="Consolas" pitchFamily="49" charset="0"/>
              </a:rPr>
              <a:t>{</a:t>
            </a:r>
          </a:p>
          <a:p>
            <a:pPr algn="l">
              <a:lnSpc>
                <a:spcPct val="150000"/>
              </a:lnSpc>
            </a:pPr>
            <a:r>
              <a:rPr kumimoji="1" lang="en-US" altLang="zh-CN" dirty="0">
                <a:solidFill>
                  <a:srgbClr val="0000FF"/>
                </a:solidFill>
                <a:latin typeface="Consolas" pitchFamily="49" charset="0"/>
                <a:ea typeface="仿宋" pitchFamily="49" charset="-122"/>
                <a:cs typeface="Consolas" pitchFamily="49" charset="0"/>
              </a:rPr>
              <a:t>   </a:t>
            </a:r>
            <a:r>
              <a:rPr kumimoji="1" lang="en-US" altLang="zh-CN" dirty="0" err="1">
                <a:solidFill>
                  <a:srgbClr val="0000FF"/>
                </a:solidFill>
                <a:latin typeface="Consolas" pitchFamily="49" charset="0"/>
                <a:ea typeface="仿宋" pitchFamily="49" charset="-122"/>
                <a:cs typeface="Consolas" pitchFamily="49" charset="0"/>
              </a:rPr>
              <a:t>ElemType</a:t>
            </a:r>
            <a:r>
              <a:rPr kumimoji="1" lang="en-US" altLang="zh-CN" dirty="0">
                <a:solidFill>
                  <a:srgbClr val="0000FF"/>
                </a:solidFill>
                <a:latin typeface="Consolas" pitchFamily="49" charset="0"/>
                <a:ea typeface="仿宋" pitchFamily="49" charset="-122"/>
                <a:cs typeface="Consolas" pitchFamily="49" charset="0"/>
              </a:rPr>
              <a:t> data;</a:t>
            </a:r>
          </a:p>
          <a:p>
            <a:pPr algn="l">
              <a:lnSpc>
                <a:spcPct val="150000"/>
              </a:lnSpc>
            </a:pPr>
            <a:r>
              <a:rPr kumimoji="1" lang="en-US" altLang="zh-CN" dirty="0">
                <a:solidFill>
                  <a:srgbClr val="0000FF"/>
                </a:solidFill>
                <a:latin typeface="Consolas" pitchFamily="49" charset="0"/>
                <a:ea typeface="仿宋" pitchFamily="49" charset="-122"/>
                <a:cs typeface="Consolas" pitchFamily="49" charset="0"/>
              </a:rPr>
              <a:t>   struct </a:t>
            </a:r>
            <a:r>
              <a:rPr kumimoji="1" lang="en-US" altLang="zh-CN" dirty="0" err="1">
                <a:solidFill>
                  <a:srgbClr val="0000FF"/>
                </a:solidFill>
                <a:latin typeface="Consolas" pitchFamily="49" charset="0"/>
                <a:ea typeface="仿宋" pitchFamily="49" charset="-122"/>
                <a:cs typeface="Consolas" pitchFamily="49" charset="0"/>
              </a:rPr>
              <a:t>LNode</a:t>
            </a:r>
            <a:r>
              <a:rPr kumimoji="1" lang="en-US" altLang="zh-CN" dirty="0">
                <a:solidFill>
                  <a:srgbClr val="0000FF"/>
                </a:solidFill>
                <a:latin typeface="Consolas" pitchFamily="49" charset="0"/>
                <a:ea typeface="仿宋" pitchFamily="49" charset="-122"/>
                <a:cs typeface="Consolas" pitchFamily="49" charset="0"/>
              </a:rPr>
              <a:t> *next;     </a:t>
            </a:r>
            <a:r>
              <a:rPr kumimoji="1" lang="en-US" altLang="zh-CN" dirty="0">
                <a:solidFill>
                  <a:srgbClr val="00B0F0"/>
                </a:solidFill>
                <a:latin typeface="Consolas" pitchFamily="49" charset="0"/>
                <a:ea typeface="仿宋" pitchFamily="49" charset="-122"/>
                <a:cs typeface="Consolas" pitchFamily="49" charset="0"/>
              </a:rPr>
              <a:t>//</a:t>
            </a:r>
            <a:r>
              <a:rPr kumimoji="1" lang="zh-CN" altLang="en-US" dirty="0">
                <a:solidFill>
                  <a:srgbClr val="00B0F0"/>
                </a:solidFill>
                <a:latin typeface="Consolas" pitchFamily="49" charset="0"/>
                <a:ea typeface="仿宋" pitchFamily="49" charset="-122"/>
                <a:cs typeface="Consolas" pitchFamily="49" charset="0"/>
              </a:rPr>
              <a:t>指向后继结点</a:t>
            </a:r>
          </a:p>
          <a:p>
            <a:pPr algn="l">
              <a:lnSpc>
                <a:spcPct val="150000"/>
              </a:lnSpc>
            </a:pPr>
            <a:r>
              <a:rPr kumimoji="1" lang="en-US" altLang="zh-CN" dirty="0">
                <a:solidFill>
                  <a:srgbClr val="0000FF"/>
                </a:solidFill>
                <a:latin typeface="Consolas" pitchFamily="49" charset="0"/>
                <a:ea typeface="仿宋" pitchFamily="49" charset="-122"/>
                <a:cs typeface="Consolas" pitchFamily="49" charset="0"/>
              </a:rPr>
              <a:t>}  </a:t>
            </a:r>
            <a:r>
              <a:rPr kumimoji="1" lang="en-US" altLang="zh-CN" dirty="0" err="1">
                <a:solidFill>
                  <a:srgbClr val="FF0000"/>
                </a:solidFill>
                <a:latin typeface="Consolas" pitchFamily="49" charset="0"/>
                <a:ea typeface="仿宋" pitchFamily="49" charset="-122"/>
                <a:cs typeface="Consolas" pitchFamily="49" charset="0"/>
              </a:rPr>
              <a:t>LinkNode</a:t>
            </a:r>
            <a:r>
              <a:rPr kumimoji="1" lang="en-US" altLang="zh-CN" dirty="0">
                <a:solidFill>
                  <a:srgbClr val="0000FF"/>
                </a:solidFill>
                <a:latin typeface="Consolas" pitchFamily="49" charset="0"/>
                <a:ea typeface="仿宋" pitchFamily="49" charset="-122"/>
                <a:cs typeface="Consolas" pitchFamily="49" charset="0"/>
              </a:rPr>
              <a:t>;</a:t>
            </a:r>
            <a:endParaRPr lang="en-US" altLang="zh-CN" dirty="0">
              <a:solidFill>
                <a:srgbClr val="0000FF"/>
              </a:solidFill>
              <a:latin typeface="Consolas" pitchFamily="49" charset="0"/>
              <a:ea typeface="仿宋" pitchFamily="49" charset="-122"/>
              <a:cs typeface="Consolas" pitchFamily="49" charset="0"/>
            </a:endParaRPr>
          </a:p>
        </p:txBody>
      </p:sp>
      <p:sp>
        <p:nvSpPr>
          <p:cNvPr id="5" name="Rectangle 7">
            <a:extLst>
              <a:ext uri="{FF2B5EF4-FFF2-40B4-BE49-F238E27FC236}">
                <a16:creationId xmlns:a16="http://schemas.microsoft.com/office/drawing/2014/main" id="{3AB3D616-348D-4FA9-8025-D9611B40A542}"/>
              </a:ext>
            </a:extLst>
          </p:cNvPr>
          <p:cNvSpPr>
            <a:spLocks noChangeArrowheads="1"/>
          </p:cNvSpPr>
          <p:nvPr/>
        </p:nvSpPr>
        <p:spPr bwMode="auto">
          <a:xfrm>
            <a:off x="3346896" y="4869408"/>
            <a:ext cx="539750" cy="431800"/>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sz="2800" i="1" dirty="0">
                <a:solidFill>
                  <a:srgbClr val="3333FF"/>
                </a:solidFill>
                <a:latin typeface="Consolas" pitchFamily="49" charset="0"/>
                <a:cs typeface="Consolas" pitchFamily="49" charset="0"/>
              </a:rPr>
              <a:t>a</a:t>
            </a:r>
            <a:endParaRPr lang="en-US" altLang="zh-CN" sz="2800" baseline="-25000" dirty="0">
              <a:solidFill>
                <a:srgbClr val="3333FF"/>
              </a:solidFill>
              <a:latin typeface="Consolas" pitchFamily="49" charset="0"/>
              <a:cs typeface="Consolas" pitchFamily="49" charset="0"/>
            </a:endParaRPr>
          </a:p>
        </p:txBody>
      </p:sp>
      <p:sp>
        <p:nvSpPr>
          <p:cNvPr id="6" name="Rectangle 8">
            <a:extLst>
              <a:ext uri="{FF2B5EF4-FFF2-40B4-BE49-F238E27FC236}">
                <a16:creationId xmlns:a16="http://schemas.microsoft.com/office/drawing/2014/main" id="{B065B9D3-F709-46FD-86CE-026FC25B2F08}"/>
              </a:ext>
            </a:extLst>
          </p:cNvPr>
          <p:cNvSpPr>
            <a:spLocks noChangeArrowheads="1"/>
          </p:cNvSpPr>
          <p:nvPr/>
        </p:nvSpPr>
        <p:spPr bwMode="auto">
          <a:xfrm>
            <a:off x="3888234" y="4869408"/>
            <a:ext cx="539750" cy="431800"/>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p>
            <a:endParaRPr lang="zh-CN" altLang="zh-CN" sz="3200" baseline="-25000">
              <a:solidFill>
                <a:srgbClr val="3333FF"/>
              </a:solidFill>
              <a:latin typeface="Consolas" pitchFamily="49" charset="0"/>
              <a:cs typeface="Consolas" pitchFamily="49" charset="0"/>
            </a:endParaRPr>
          </a:p>
        </p:txBody>
      </p:sp>
      <p:cxnSp>
        <p:nvCxnSpPr>
          <p:cNvPr id="7" name="直接连接符 6">
            <a:extLst>
              <a:ext uri="{FF2B5EF4-FFF2-40B4-BE49-F238E27FC236}">
                <a16:creationId xmlns:a16="http://schemas.microsoft.com/office/drawing/2014/main" id="{8AF6425E-2C9C-428C-8A92-B69DDF88B92C}"/>
              </a:ext>
            </a:extLst>
          </p:cNvPr>
          <p:cNvCxnSpPr>
            <a:cxnSpLocks/>
          </p:cNvCxnSpPr>
          <p:nvPr/>
        </p:nvCxnSpPr>
        <p:spPr>
          <a:xfrm>
            <a:off x="2771800" y="3068960"/>
            <a:ext cx="946571" cy="1800447"/>
          </a:xfrm>
          <a:prstGeom prst="line">
            <a:avLst/>
          </a:prstGeom>
          <a:ln>
            <a:tailEnd type="arrow"/>
          </a:ln>
        </p:spPr>
        <p:style>
          <a:lnRef idx="2">
            <a:schemeClr val="accent5"/>
          </a:lnRef>
          <a:fillRef idx="0">
            <a:schemeClr val="accent5"/>
          </a:fillRef>
          <a:effectRef idx="1">
            <a:schemeClr val="accent5"/>
          </a:effectRef>
          <a:fontRef idx="minor">
            <a:schemeClr val="tx1"/>
          </a:fontRef>
        </p:style>
      </p:cxnSp>
      <p:cxnSp>
        <p:nvCxnSpPr>
          <p:cNvPr id="8" name="直接箭头连接符 7">
            <a:extLst>
              <a:ext uri="{FF2B5EF4-FFF2-40B4-BE49-F238E27FC236}">
                <a16:creationId xmlns:a16="http://schemas.microsoft.com/office/drawing/2014/main" id="{8A242BB0-8298-450A-8C3E-6B63668AECA4}"/>
              </a:ext>
            </a:extLst>
          </p:cNvPr>
          <p:cNvCxnSpPr>
            <a:cxnSpLocks/>
            <a:endCxn id="6" idx="0"/>
          </p:cNvCxnSpPr>
          <p:nvPr/>
        </p:nvCxnSpPr>
        <p:spPr>
          <a:xfrm>
            <a:off x="3491880" y="3501008"/>
            <a:ext cx="666229" cy="1368400"/>
          </a:xfrm>
          <a:prstGeom prst="straightConnector1">
            <a:avLst/>
          </a:prstGeom>
          <a:ln>
            <a:tailEnd type="arrow"/>
          </a:ln>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32861201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642918"/>
            <a:ext cx="7920880" cy="5786478"/>
          </a:xfrm>
        </p:spPr>
        <p:txBody>
          <a:bodyPr>
            <a:noAutofit/>
          </a:bodyPr>
          <a:lstStyle/>
          <a:p>
            <a:pPr>
              <a:lnSpc>
                <a:spcPct val="110000"/>
              </a:lnSpc>
              <a:spcBef>
                <a:spcPts val="0"/>
              </a:spcBef>
            </a:pPr>
            <a:r>
              <a:rPr lang="zh-CN" altLang="zh-CN" sz="2000" dirty="0"/>
              <a:t>算法</a:t>
            </a:r>
            <a:r>
              <a:rPr lang="en-US" altLang="zh-CN" sz="2000" dirty="0"/>
              <a:t>2.7</a:t>
            </a:r>
            <a:r>
              <a:rPr lang="zh-CN" altLang="zh-CN" sz="2000" dirty="0"/>
              <a:t>：带头结点的</a:t>
            </a:r>
            <a:r>
              <a:rPr lang="zh-CN" altLang="zh-CN" sz="2000" dirty="0">
                <a:solidFill>
                  <a:srgbClr val="FF0000"/>
                </a:solidFill>
              </a:rPr>
              <a:t>单链表</a:t>
            </a:r>
            <a:r>
              <a:rPr lang="zh-CN" altLang="en-US" sz="2000" dirty="0">
                <a:solidFill>
                  <a:srgbClr val="FF0000"/>
                </a:solidFill>
              </a:rPr>
              <a:t>类定义</a:t>
            </a:r>
            <a:endParaRPr lang="zh-CN" altLang="zh-CN" sz="2000" dirty="0">
              <a:solidFill>
                <a:srgbClr val="FF0000"/>
              </a:solidFill>
            </a:endParaRPr>
          </a:p>
          <a:p>
            <a:pPr>
              <a:lnSpc>
                <a:spcPct val="110000"/>
              </a:lnSpc>
              <a:spcBef>
                <a:spcPts val="0"/>
              </a:spcBef>
            </a:pPr>
            <a:r>
              <a:rPr lang="en-US" altLang="zh-CN" sz="2000" b="0" dirty="0"/>
              <a:t>template &lt;class Elem&gt;</a:t>
            </a:r>
            <a:endParaRPr lang="zh-CN" altLang="zh-CN" sz="2000" b="0" dirty="0"/>
          </a:p>
          <a:p>
            <a:pPr>
              <a:lnSpc>
                <a:spcPct val="110000"/>
              </a:lnSpc>
              <a:spcBef>
                <a:spcPts val="0"/>
              </a:spcBef>
            </a:pPr>
            <a:r>
              <a:rPr lang="en-US" altLang="zh-CN" sz="2000" b="0" dirty="0"/>
              <a:t>class  </a:t>
            </a:r>
            <a:r>
              <a:rPr lang="en-US" altLang="zh-CN" sz="2000" b="0" dirty="0" err="1"/>
              <a:t>LList</a:t>
            </a:r>
            <a:r>
              <a:rPr lang="en-US" altLang="zh-CN" sz="2000" b="0" dirty="0"/>
              <a:t> : public List&lt;Elem&gt; {</a:t>
            </a:r>
            <a:endParaRPr lang="zh-CN" altLang="zh-CN" sz="2000" b="0" dirty="0"/>
          </a:p>
          <a:p>
            <a:pPr>
              <a:lnSpc>
                <a:spcPct val="110000"/>
              </a:lnSpc>
              <a:spcBef>
                <a:spcPts val="0"/>
              </a:spcBef>
            </a:pPr>
            <a:r>
              <a:rPr lang="en-US" altLang="zh-CN" sz="2000" b="0" dirty="0"/>
              <a:t>private:  Link&lt;Elem&gt;* head;	// </a:t>
            </a:r>
            <a:r>
              <a:rPr lang="zh-CN" altLang="zh-CN" sz="2000" b="0" dirty="0"/>
              <a:t>头指针</a:t>
            </a:r>
          </a:p>
          <a:p>
            <a:pPr>
              <a:lnSpc>
                <a:spcPct val="110000"/>
              </a:lnSpc>
              <a:spcBef>
                <a:spcPts val="0"/>
              </a:spcBef>
            </a:pPr>
            <a:r>
              <a:rPr lang="en-US" altLang="zh-CN" sz="2000" b="0" dirty="0"/>
              <a:t>		Link&lt;Elem&gt;* tail;	// </a:t>
            </a:r>
            <a:r>
              <a:rPr lang="zh-CN" altLang="zh-CN" sz="2000" b="0" dirty="0"/>
              <a:t>指向表尾的指针 </a:t>
            </a:r>
          </a:p>
          <a:p>
            <a:pPr>
              <a:lnSpc>
                <a:spcPct val="110000"/>
              </a:lnSpc>
              <a:spcBef>
                <a:spcPts val="0"/>
              </a:spcBef>
            </a:pPr>
            <a:r>
              <a:rPr lang="en-US" altLang="zh-CN" sz="2000" b="0" dirty="0"/>
              <a:t>		Link&lt;Elem&gt;* </a:t>
            </a:r>
            <a:r>
              <a:rPr lang="en-US" altLang="zh-CN" sz="2000" b="0" dirty="0" err="1"/>
              <a:t>curr</a:t>
            </a:r>
            <a:r>
              <a:rPr lang="en-US" altLang="zh-CN" sz="2000" b="0" dirty="0"/>
              <a:t>;	// </a:t>
            </a:r>
            <a:r>
              <a:rPr lang="zh-CN" altLang="zh-CN" sz="2000" b="0" dirty="0"/>
              <a:t>指向当前数据元素的指针</a:t>
            </a:r>
          </a:p>
          <a:p>
            <a:pPr>
              <a:lnSpc>
                <a:spcPct val="110000"/>
              </a:lnSpc>
              <a:spcBef>
                <a:spcPts val="0"/>
              </a:spcBef>
            </a:pPr>
            <a:r>
              <a:rPr lang="en-US" altLang="zh-CN" sz="2000" b="0" dirty="0"/>
              <a:t>		void init(){ </a:t>
            </a:r>
            <a:endParaRPr lang="zh-CN" altLang="zh-CN" sz="2000" b="0" dirty="0"/>
          </a:p>
          <a:p>
            <a:pPr>
              <a:lnSpc>
                <a:spcPct val="110000"/>
              </a:lnSpc>
              <a:spcBef>
                <a:spcPts val="0"/>
              </a:spcBef>
            </a:pPr>
            <a:r>
              <a:rPr lang="en-US" altLang="zh-CN" sz="2000" b="0" dirty="0"/>
              <a:t>			</a:t>
            </a:r>
            <a:r>
              <a:rPr lang="en-US" altLang="zh-CN" sz="2000" b="0" dirty="0" err="1"/>
              <a:t>curr</a:t>
            </a:r>
            <a:r>
              <a:rPr lang="en-US" altLang="zh-CN" sz="2000" b="0" dirty="0"/>
              <a:t>= tail = head = new Link&lt;Elem&gt;; //</a:t>
            </a:r>
            <a:r>
              <a:rPr lang="zh-CN" altLang="zh-CN" sz="2000" b="0" dirty="0"/>
              <a:t>创建一个结点</a:t>
            </a:r>
          </a:p>
          <a:p>
            <a:pPr>
              <a:lnSpc>
                <a:spcPct val="110000"/>
              </a:lnSpc>
              <a:spcBef>
                <a:spcPts val="0"/>
              </a:spcBef>
            </a:pPr>
            <a:r>
              <a:rPr lang="en-US" altLang="zh-CN" sz="2000" b="0" dirty="0"/>
              <a:t>		}  //</a:t>
            </a:r>
            <a:r>
              <a:rPr lang="zh-CN" altLang="zh-CN" sz="2000" b="0" dirty="0"/>
              <a:t>初始化一个空表</a:t>
            </a:r>
          </a:p>
          <a:p>
            <a:pPr>
              <a:lnSpc>
                <a:spcPct val="110000"/>
              </a:lnSpc>
              <a:spcBef>
                <a:spcPts val="0"/>
              </a:spcBef>
            </a:pPr>
            <a:r>
              <a:rPr lang="en-US" altLang="zh-CN" sz="2000" b="0" dirty="0"/>
              <a:t>		void </a:t>
            </a:r>
            <a:r>
              <a:rPr lang="en-US" altLang="zh-CN" sz="2000" b="0" dirty="0" err="1"/>
              <a:t>removeall</a:t>
            </a:r>
            <a:r>
              <a:rPr lang="en-US" altLang="zh-CN" sz="2000" b="0" dirty="0"/>
              <a:t>(){</a:t>
            </a:r>
            <a:endParaRPr lang="zh-CN" altLang="zh-CN" sz="2000" b="0" dirty="0"/>
          </a:p>
          <a:p>
            <a:pPr>
              <a:lnSpc>
                <a:spcPct val="110000"/>
              </a:lnSpc>
              <a:spcBef>
                <a:spcPts val="0"/>
              </a:spcBef>
            </a:pPr>
            <a:r>
              <a:rPr lang="en-US" altLang="zh-CN" sz="2000" b="0" dirty="0"/>
              <a:t>			while(head != NULL){ </a:t>
            </a:r>
            <a:endParaRPr lang="zh-CN" altLang="zh-CN" sz="2000" b="0" dirty="0"/>
          </a:p>
          <a:p>
            <a:pPr>
              <a:lnSpc>
                <a:spcPct val="110000"/>
              </a:lnSpc>
              <a:spcBef>
                <a:spcPts val="0"/>
              </a:spcBef>
            </a:pPr>
            <a:r>
              <a:rPr lang="en-US" altLang="zh-CN" sz="2000" b="0" dirty="0"/>
              <a:t>				</a:t>
            </a:r>
            <a:r>
              <a:rPr lang="en-US" altLang="zh-CN" sz="2000" b="0" dirty="0" err="1"/>
              <a:t>curr</a:t>
            </a:r>
            <a:r>
              <a:rPr lang="en-US" altLang="zh-CN" sz="2000" b="0" dirty="0"/>
              <a:t>=head; </a:t>
            </a:r>
            <a:endParaRPr lang="zh-CN" altLang="zh-CN" sz="2000" b="0" dirty="0"/>
          </a:p>
          <a:p>
            <a:pPr>
              <a:lnSpc>
                <a:spcPct val="110000"/>
              </a:lnSpc>
              <a:spcBef>
                <a:spcPts val="0"/>
              </a:spcBef>
            </a:pPr>
            <a:r>
              <a:rPr lang="en-US" altLang="zh-CN" sz="2000" b="0" dirty="0"/>
              <a:t>              			head=head-&gt;next;</a:t>
            </a:r>
            <a:endParaRPr lang="zh-CN" altLang="zh-CN" sz="2000" b="0" dirty="0"/>
          </a:p>
          <a:p>
            <a:pPr>
              <a:lnSpc>
                <a:spcPct val="110000"/>
              </a:lnSpc>
              <a:spcBef>
                <a:spcPts val="0"/>
              </a:spcBef>
            </a:pPr>
            <a:r>
              <a:rPr lang="en-US" altLang="zh-CN" sz="2000" b="0" dirty="0"/>
              <a:t>				delete </a:t>
            </a:r>
            <a:r>
              <a:rPr lang="en-US" altLang="zh-CN" sz="2000" b="0" dirty="0" err="1"/>
              <a:t>curr</a:t>
            </a:r>
            <a:r>
              <a:rPr lang="en-US" altLang="zh-CN" sz="2000" b="0" dirty="0"/>
              <a:t>;</a:t>
            </a:r>
            <a:endParaRPr lang="zh-CN" altLang="zh-CN" sz="2000" b="0" dirty="0"/>
          </a:p>
          <a:p>
            <a:pPr>
              <a:lnSpc>
                <a:spcPct val="110000"/>
              </a:lnSpc>
              <a:spcBef>
                <a:spcPts val="0"/>
              </a:spcBef>
            </a:pPr>
            <a:r>
              <a:rPr lang="en-US" altLang="zh-CN" sz="2000" b="0" dirty="0"/>
              <a:t>			}</a:t>
            </a:r>
            <a:endParaRPr lang="zh-CN" altLang="zh-CN" sz="2000" b="0" dirty="0"/>
          </a:p>
          <a:p>
            <a:pPr>
              <a:lnSpc>
                <a:spcPct val="110000"/>
              </a:lnSpc>
              <a:spcBef>
                <a:spcPts val="0"/>
              </a:spcBef>
            </a:pPr>
            <a:r>
              <a:rPr lang="en-US" altLang="zh-CN" sz="2000" b="0" dirty="0"/>
              <a:t>		} // </a:t>
            </a:r>
            <a:r>
              <a:rPr lang="zh-CN" altLang="zh-CN" sz="2000" b="0" dirty="0"/>
              <a:t>释放所有的结点</a:t>
            </a:r>
          </a:p>
          <a:p>
            <a:pPr>
              <a:lnSpc>
                <a:spcPct val="110000"/>
              </a:lnSpc>
              <a:spcBef>
                <a:spcPts val="0"/>
              </a:spcBef>
            </a:pPr>
            <a:r>
              <a:rPr lang="en-US" altLang="zh-CN" sz="2000" dirty="0"/>
              <a:t>//</a:t>
            </a:r>
            <a:r>
              <a:rPr lang="zh-CN" altLang="en-US" sz="2000" dirty="0"/>
              <a:t>接下页</a:t>
            </a:r>
          </a:p>
        </p:txBody>
      </p:sp>
    </p:spTree>
    <p:extLst>
      <p:ext uri="{BB962C8B-B14F-4D97-AF65-F5344CB8AC3E}">
        <p14:creationId xmlns:p14="http://schemas.microsoft.com/office/powerpoint/2010/main" val="38184418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71472" y="908720"/>
            <a:ext cx="8429684" cy="5328592"/>
          </a:xfrm>
        </p:spPr>
        <p:txBody>
          <a:bodyPr>
            <a:noAutofit/>
          </a:bodyPr>
          <a:lstStyle/>
          <a:p>
            <a:pPr>
              <a:lnSpc>
                <a:spcPct val="110000"/>
              </a:lnSpc>
              <a:spcBef>
                <a:spcPts val="0"/>
              </a:spcBef>
            </a:pPr>
            <a:r>
              <a:rPr lang="en-US" altLang="zh-CN" sz="2000" b="0" dirty="0"/>
              <a:t>public: 	</a:t>
            </a:r>
          </a:p>
          <a:p>
            <a:pPr>
              <a:lnSpc>
                <a:spcPct val="110000"/>
              </a:lnSpc>
              <a:spcBef>
                <a:spcPts val="0"/>
              </a:spcBef>
            </a:pPr>
            <a:r>
              <a:rPr lang="en-US" altLang="zh-CN" sz="2000" b="0" dirty="0"/>
              <a:t>	</a:t>
            </a:r>
            <a:r>
              <a:rPr lang="en-US" altLang="zh-CN" sz="2000" b="0" dirty="0" err="1"/>
              <a:t>LList</a:t>
            </a:r>
            <a:r>
              <a:rPr lang="en-US" altLang="zh-CN" sz="2000" b="0" dirty="0"/>
              <a:t>( ) { init(); }</a:t>
            </a:r>
            <a:endParaRPr lang="zh-CN" altLang="en-US" sz="2000" b="0" dirty="0"/>
          </a:p>
          <a:p>
            <a:pPr>
              <a:lnSpc>
                <a:spcPct val="110000"/>
              </a:lnSpc>
              <a:spcBef>
                <a:spcPts val="0"/>
              </a:spcBef>
            </a:pPr>
            <a:r>
              <a:rPr lang="en-US" altLang="zh-CN" sz="2000" b="0" dirty="0"/>
              <a:t>	~</a:t>
            </a:r>
            <a:r>
              <a:rPr lang="en-US" altLang="zh-CN" sz="2000" b="0" dirty="0" err="1"/>
              <a:t>LLink</a:t>
            </a:r>
            <a:r>
              <a:rPr lang="en-US" altLang="zh-CN" sz="2000" b="0" dirty="0"/>
              <a:t>( ) { </a:t>
            </a:r>
            <a:r>
              <a:rPr lang="en-US" altLang="zh-CN" sz="2000" b="0" dirty="0" err="1"/>
              <a:t>removeall</a:t>
            </a:r>
            <a:r>
              <a:rPr lang="en-US" altLang="zh-CN" sz="2000" b="0" dirty="0"/>
              <a:t>(); }</a:t>
            </a:r>
            <a:endParaRPr lang="zh-CN" altLang="en-US" sz="2000" b="0" dirty="0"/>
          </a:p>
          <a:p>
            <a:pPr>
              <a:lnSpc>
                <a:spcPct val="110000"/>
              </a:lnSpc>
              <a:spcBef>
                <a:spcPts val="0"/>
              </a:spcBef>
            </a:pPr>
            <a:r>
              <a:rPr lang="en-US" altLang="zh-CN" sz="2000" b="0" dirty="0"/>
              <a:t>	void Create (</a:t>
            </a:r>
            <a:r>
              <a:rPr lang="en-US" altLang="zh-CN" sz="2000" b="0" dirty="0" err="1"/>
              <a:t>int</a:t>
            </a:r>
            <a:r>
              <a:rPr lang="en-US" altLang="zh-CN" sz="2000" b="0" dirty="0"/>
              <a:t> n);		//</a:t>
            </a:r>
            <a:r>
              <a:rPr lang="zh-CN" altLang="en-US" sz="2000" b="0" dirty="0"/>
              <a:t>创建长度为</a:t>
            </a:r>
            <a:r>
              <a:rPr lang="en-US" altLang="zh-CN" sz="2000" b="0" dirty="0"/>
              <a:t>n</a:t>
            </a:r>
            <a:r>
              <a:rPr lang="zh-CN" altLang="en-US" sz="2000" b="0" dirty="0"/>
              <a:t>的单链表</a:t>
            </a:r>
          </a:p>
          <a:p>
            <a:pPr>
              <a:lnSpc>
                <a:spcPct val="110000"/>
              </a:lnSpc>
              <a:spcBef>
                <a:spcPts val="0"/>
              </a:spcBef>
            </a:pPr>
            <a:r>
              <a:rPr lang="en-US" altLang="zh-CN" sz="2000" b="0" dirty="0"/>
              <a:t>	</a:t>
            </a:r>
            <a:r>
              <a:rPr lang="en-US" altLang="zh-CN" sz="2000" b="0" dirty="0" err="1"/>
              <a:t>bool</a:t>
            </a:r>
            <a:r>
              <a:rPr lang="en-US" altLang="zh-CN" sz="2000" b="0" dirty="0"/>
              <a:t> </a:t>
            </a:r>
            <a:r>
              <a:rPr lang="en-US" altLang="zh-CN" sz="2000" b="0" dirty="0" err="1"/>
              <a:t>getValue</a:t>
            </a:r>
            <a:r>
              <a:rPr lang="en-US" altLang="zh-CN" sz="2000" b="0" dirty="0"/>
              <a:t> (Elem &amp;e);	//</a:t>
            </a:r>
            <a:r>
              <a:rPr lang="zh-CN" altLang="en-US" sz="2000" b="0" dirty="0"/>
              <a:t>读取当前位置</a:t>
            </a:r>
            <a:r>
              <a:rPr lang="en-US" altLang="zh-CN" sz="2000" b="0" dirty="0" err="1"/>
              <a:t>curr</a:t>
            </a:r>
            <a:r>
              <a:rPr lang="zh-CN" altLang="en-US" sz="2000" b="0" dirty="0"/>
              <a:t>元素的值</a:t>
            </a:r>
          </a:p>
          <a:p>
            <a:pPr>
              <a:lnSpc>
                <a:spcPct val="110000"/>
              </a:lnSpc>
              <a:spcBef>
                <a:spcPts val="0"/>
              </a:spcBef>
            </a:pPr>
            <a:r>
              <a:rPr lang="en-US" altLang="zh-CN" sz="2000" b="0" dirty="0"/>
              <a:t>	Link * Locate(Elem e); 	//</a:t>
            </a:r>
            <a:r>
              <a:rPr lang="zh-CN" altLang="en-US" sz="2000" b="0" dirty="0"/>
              <a:t>返回第一个与</a:t>
            </a:r>
            <a:r>
              <a:rPr lang="en-US" altLang="zh-CN" sz="2000" b="0" dirty="0"/>
              <a:t>e</a:t>
            </a:r>
            <a:r>
              <a:rPr lang="zh-CN" altLang="en-US" sz="2000" b="0" dirty="0"/>
              <a:t>匹配的元素位置</a:t>
            </a:r>
          </a:p>
          <a:p>
            <a:pPr>
              <a:lnSpc>
                <a:spcPct val="110000"/>
              </a:lnSpc>
              <a:spcBef>
                <a:spcPts val="0"/>
              </a:spcBef>
            </a:pPr>
            <a:r>
              <a:rPr lang="en-US" altLang="zh-CN" sz="2000" b="0" dirty="0"/>
              <a:t>	</a:t>
            </a:r>
            <a:r>
              <a:rPr lang="en-US" altLang="zh-CN" sz="2000" b="0" dirty="0" err="1"/>
              <a:t>bool</a:t>
            </a:r>
            <a:r>
              <a:rPr lang="en-US" altLang="zh-CN" sz="2000" b="0" dirty="0"/>
              <a:t> </a:t>
            </a:r>
            <a:r>
              <a:rPr lang="en-US" altLang="zh-CN" sz="2000" b="0" dirty="0" err="1"/>
              <a:t>IsEmpty</a:t>
            </a:r>
            <a:r>
              <a:rPr lang="en-US" altLang="zh-CN" sz="2000" b="0" dirty="0"/>
              <a:t>(){return (head-&gt;next = =NULL);} //</a:t>
            </a:r>
            <a:r>
              <a:rPr lang="zh-CN" altLang="en-US" sz="2000" b="0" dirty="0"/>
              <a:t>判断是否为空表</a:t>
            </a:r>
          </a:p>
          <a:p>
            <a:pPr>
              <a:lnSpc>
                <a:spcPct val="110000"/>
              </a:lnSpc>
              <a:spcBef>
                <a:spcPts val="0"/>
              </a:spcBef>
            </a:pPr>
            <a:r>
              <a:rPr lang="en-US" altLang="zh-CN" sz="2000" b="0" dirty="0"/>
              <a:t>	void </a:t>
            </a:r>
            <a:r>
              <a:rPr lang="en-US" altLang="zh-CN" sz="2000" b="0" dirty="0" err="1"/>
              <a:t>Prev</a:t>
            </a:r>
            <a:r>
              <a:rPr lang="en-US" altLang="zh-CN" sz="2000" b="0" dirty="0"/>
              <a:t>( );	 		//</a:t>
            </a:r>
            <a:r>
              <a:rPr lang="zh-CN" altLang="en-US" sz="2000" b="0" dirty="0"/>
              <a:t>当前位置指针</a:t>
            </a:r>
            <a:r>
              <a:rPr lang="en-US" altLang="zh-CN" sz="2000" b="0" dirty="0" err="1"/>
              <a:t>curr</a:t>
            </a:r>
            <a:r>
              <a:rPr lang="zh-CN" altLang="en-US" sz="2000" b="0" dirty="0"/>
              <a:t>前移到前驱</a:t>
            </a:r>
          </a:p>
          <a:p>
            <a:pPr>
              <a:lnSpc>
                <a:spcPct val="110000"/>
              </a:lnSpc>
              <a:spcBef>
                <a:spcPts val="0"/>
              </a:spcBef>
            </a:pPr>
            <a:r>
              <a:rPr lang="en-US" altLang="zh-CN" sz="2000" b="0" dirty="0"/>
              <a:t>	void Next( );			//</a:t>
            </a:r>
            <a:r>
              <a:rPr lang="zh-CN" altLang="en-US" sz="2000" b="0" dirty="0"/>
              <a:t>当前位置指针</a:t>
            </a:r>
            <a:r>
              <a:rPr lang="en-US" altLang="zh-CN" sz="2000" b="0" dirty="0" err="1"/>
              <a:t>curr</a:t>
            </a:r>
            <a:r>
              <a:rPr lang="zh-CN" altLang="en-US" sz="2000" b="0" dirty="0"/>
              <a:t>后移到后继</a:t>
            </a:r>
          </a:p>
          <a:p>
            <a:pPr>
              <a:lnSpc>
                <a:spcPct val="110000"/>
              </a:lnSpc>
              <a:spcBef>
                <a:spcPts val="0"/>
              </a:spcBef>
            </a:pPr>
            <a:r>
              <a:rPr lang="en-US" altLang="zh-CN" sz="2000" b="0" dirty="0"/>
              <a:t>	</a:t>
            </a:r>
            <a:r>
              <a:rPr lang="en-US" altLang="zh-CN" sz="2000" b="0" dirty="0" err="1"/>
              <a:t>bool</a:t>
            </a:r>
            <a:r>
              <a:rPr lang="en-US" altLang="zh-CN" sz="2000" b="0" dirty="0"/>
              <a:t> </a:t>
            </a:r>
            <a:r>
              <a:rPr lang="en-US" altLang="zh-CN" sz="2000" b="0" dirty="0" err="1"/>
              <a:t>setPos</a:t>
            </a:r>
            <a:r>
              <a:rPr lang="en-US" altLang="zh-CN" sz="2000" b="0" dirty="0"/>
              <a:t>(</a:t>
            </a:r>
            <a:r>
              <a:rPr lang="en-US" altLang="zh-CN" sz="2000" b="0" dirty="0" err="1"/>
              <a:t>int</a:t>
            </a:r>
            <a:r>
              <a:rPr lang="en-US" altLang="zh-CN" sz="2000" b="0" dirty="0"/>
              <a:t> pos);	  	//</a:t>
            </a:r>
            <a:r>
              <a:rPr lang="zh-CN" altLang="en-US" sz="2000" b="0" dirty="0"/>
              <a:t>任意指定当前数据元素的位置</a:t>
            </a:r>
          </a:p>
          <a:p>
            <a:pPr>
              <a:lnSpc>
                <a:spcPct val="110000"/>
              </a:lnSpc>
              <a:spcBef>
                <a:spcPts val="0"/>
              </a:spcBef>
            </a:pPr>
            <a:r>
              <a:rPr lang="en-US" altLang="zh-CN" sz="2000" b="0" dirty="0"/>
              <a:t>	</a:t>
            </a:r>
            <a:r>
              <a:rPr lang="en-US" altLang="zh-CN" sz="2000" b="0" dirty="0" err="1"/>
              <a:t>bool</a:t>
            </a:r>
            <a:r>
              <a:rPr lang="en-US" altLang="zh-CN" sz="2000" b="0" dirty="0"/>
              <a:t> </a:t>
            </a:r>
            <a:r>
              <a:rPr lang="en-US" altLang="zh-CN" sz="2000" b="0" dirty="0">
                <a:solidFill>
                  <a:srgbClr val="FF0000"/>
                </a:solidFill>
              </a:rPr>
              <a:t>Insert</a:t>
            </a:r>
            <a:r>
              <a:rPr lang="en-US" altLang="zh-CN" sz="2000" b="0" dirty="0"/>
              <a:t>(Elem x); 		//</a:t>
            </a:r>
            <a:r>
              <a:rPr lang="zh-CN" altLang="en-US" sz="2000" b="0" dirty="0"/>
              <a:t>在当前位置</a:t>
            </a:r>
            <a:r>
              <a:rPr lang="en-US" altLang="zh-CN" sz="2000" b="0" dirty="0" err="1"/>
              <a:t>curr</a:t>
            </a:r>
            <a:r>
              <a:rPr lang="zh-CN" altLang="en-US" sz="2000" b="0" dirty="0"/>
              <a:t>之后插入元素</a:t>
            </a:r>
          </a:p>
          <a:p>
            <a:pPr>
              <a:lnSpc>
                <a:spcPct val="110000"/>
              </a:lnSpc>
              <a:spcBef>
                <a:spcPts val="0"/>
              </a:spcBef>
            </a:pPr>
            <a:r>
              <a:rPr lang="en-US" altLang="zh-CN" sz="2000" b="0" dirty="0"/>
              <a:t>	</a:t>
            </a:r>
            <a:r>
              <a:rPr lang="en-US" altLang="zh-CN" sz="2000" b="0" dirty="0" err="1"/>
              <a:t>bool</a:t>
            </a:r>
            <a:r>
              <a:rPr lang="en-US" altLang="zh-CN" sz="2000" b="0" dirty="0"/>
              <a:t> </a:t>
            </a:r>
            <a:r>
              <a:rPr lang="en-US" altLang="zh-CN" sz="2000" b="0" dirty="0">
                <a:solidFill>
                  <a:srgbClr val="FF0000"/>
                </a:solidFill>
              </a:rPr>
              <a:t>remove</a:t>
            </a:r>
            <a:r>
              <a:rPr lang="en-US" altLang="zh-CN" sz="2000" b="0" dirty="0"/>
              <a:t>(Elem &amp;e); 	//</a:t>
            </a:r>
            <a:r>
              <a:rPr lang="zh-CN" altLang="en-US" sz="2000" b="0" dirty="0"/>
              <a:t>删除当前位置</a:t>
            </a:r>
            <a:r>
              <a:rPr lang="en-US" altLang="zh-CN" sz="2000" b="0" dirty="0" err="1"/>
              <a:t>curr</a:t>
            </a:r>
            <a:r>
              <a:rPr lang="zh-CN" altLang="en-US" sz="2000" b="0" dirty="0"/>
              <a:t>之后的元素</a:t>
            </a:r>
          </a:p>
          <a:p>
            <a:pPr>
              <a:lnSpc>
                <a:spcPct val="110000"/>
              </a:lnSpc>
              <a:spcBef>
                <a:spcPts val="0"/>
              </a:spcBef>
            </a:pPr>
            <a:r>
              <a:rPr lang="en-US" altLang="zh-CN" sz="2000" b="0" dirty="0"/>
              <a:t>	void clear() { </a:t>
            </a:r>
            <a:r>
              <a:rPr lang="en-US" altLang="zh-CN" sz="2000" b="0" dirty="0" err="1"/>
              <a:t>removeall</a:t>
            </a:r>
            <a:r>
              <a:rPr lang="en-US" altLang="zh-CN" sz="2000" b="0" dirty="0"/>
              <a:t>(); init(); } //</a:t>
            </a:r>
            <a:r>
              <a:rPr lang="zh-CN" altLang="zh-CN" sz="2000" b="0" dirty="0"/>
              <a:t>清空</a:t>
            </a:r>
          </a:p>
          <a:p>
            <a:pPr>
              <a:lnSpc>
                <a:spcPct val="110000"/>
              </a:lnSpc>
              <a:spcBef>
                <a:spcPts val="0"/>
              </a:spcBef>
            </a:pPr>
            <a:r>
              <a:rPr lang="en-US" altLang="zh-CN" sz="2000" b="0" dirty="0"/>
              <a:t>	void Print();			//</a:t>
            </a:r>
            <a:r>
              <a:rPr lang="zh-CN" altLang="zh-CN" sz="2000" b="0" dirty="0"/>
              <a:t>输出</a:t>
            </a:r>
          </a:p>
          <a:p>
            <a:pPr>
              <a:lnSpc>
                <a:spcPct val="110000"/>
              </a:lnSpc>
              <a:spcBef>
                <a:spcPts val="0"/>
              </a:spcBef>
            </a:pPr>
            <a:r>
              <a:rPr lang="en-US" altLang="zh-CN" sz="2000" b="0" dirty="0"/>
              <a:t>}</a:t>
            </a:r>
            <a:endParaRPr lang="zh-CN" altLang="zh-CN" sz="2000" b="0" dirty="0"/>
          </a:p>
          <a:p>
            <a:pPr>
              <a:lnSpc>
                <a:spcPct val="110000"/>
              </a:lnSpc>
              <a:spcBef>
                <a:spcPts val="0"/>
              </a:spcBef>
            </a:pPr>
            <a:endParaRPr lang="zh-CN" altLang="en-US" sz="2000" b="0" dirty="0"/>
          </a:p>
        </p:txBody>
      </p:sp>
    </p:spTree>
    <p:extLst>
      <p:ext uri="{BB962C8B-B14F-4D97-AF65-F5344CB8AC3E}">
        <p14:creationId xmlns:p14="http://schemas.microsoft.com/office/powerpoint/2010/main" val="7451571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3425C839-9312-4A7D-A4EA-59CA29896925}"/>
              </a:ext>
            </a:extLst>
          </p:cNvPr>
          <p:cNvSpPr/>
          <p:nvPr/>
        </p:nvSpPr>
        <p:spPr>
          <a:xfrm>
            <a:off x="611560" y="1698398"/>
            <a:ext cx="8064896" cy="1730602"/>
          </a:xfrm>
          <a:prstGeom prst="rect">
            <a:avLst/>
          </a:prstGeom>
        </p:spPr>
        <p:txBody>
          <a:bodyPr wrap="square">
            <a:spAutoFit/>
          </a:bodyPr>
          <a:lstStyle/>
          <a:p>
            <a:pPr>
              <a:lnSpc>
                <a:spcPct val="120000"/>
              </a:lnSpc>
            </a:pPr>
            <a:r>
              <a:rPr kumimoji="1" lang="en-US" altLang="zh-CN" dirty="0">
                <a:solidFill>
                  <a:srgbClr val="0000FF"/>
                </a:solidFill>
                <a:latin typeface="Consolas" pitchFamily="49" charset="0"/>
                <a:ea typeface="仿宋" pitchFamily="49" charset="-122"/>
                <a:cs typeface="Consolas" pitchFamily="49" charset="0"/>
              </a:rPr>
              <a:t> void </a:t>
            </a:r>
            <a:r>
              <a:rPr kumimoji="1" lang="en-US" altLang="zh-CN" dirty="0" err="1">
                <a:solidFill>
                  <a:srgbClr val="FF0000"/>
                </a:solidFill>
                <a:latin typeface="Consolas" pitchFamily="49" charset="0"/>
                <a:ea typeface="仿宋" pitchFamily="49" charset="-122"/>
                <a:cs typeface="Consolas" pitchFamily="49" charset="0"/>
              </a:rPr>
              <a:t>InitList</a:t>
            </a:r>
            <a:r>
              <a:rPr kumimoji="1" lang="en-US" altLang="zh-CN" dirty="0">
                <a:solidFill>
                  <a:srgbClr val="0000FF"/>
                </a:solidFill>
                <a:latin typeface="Consolas" pitchFamily="49" charset="0"/>
                <a:ea typeface="仿宋" pitchFamily="49" charset="-122"/>
                <a:cs typeface="Consolas" pitchFamily="49" charset="0"/>
              </a:rPr>
              <a:t>(</a:t>
            </a:r>
            <a:r>
              <a:rPr kumimoji="1" lang="en-US" altLang="zh-CN" dirty="0" err="1">
                <a:solidFill>
                  <a:srgbClr val="0000FF"/>
                </a:solidFill>
                <a:latin typeface="Consolas" pitchFamily="49" charset="0"/>
                <a:ea typeface="仿宋" pitchFamily="49" charset="-122"/>
                <a:cs typeface="Consolas" pitchFamily="49" charset="0"/>
              </a:rPr>
              <a:t>LinkNode</a:t>
            </a:r>
            <a:r>
              <a:rPr kumimoji="1" lang="en-US" altLang="zh-CN" dirty="0">
                <a:solidFill>
                  <a:srgbClr val="0000FF"/>
                </a:solidFill>
                <a:latin typeface="Consolas" pitchFamily="49" charset="0"/>
                <a:ea typeface="仿宋" pitchFamily="49" charset="-122"/>
                <a:cs typeface="Consolas" pitchFamily="49" charset="0"/>
              </a:rPr>
              <a:t> *&amp;L)</a:t>
            </a:r>
          </a:p>
          <a:p>
            <a:pPr>
              <a:lnSpc>
                <a:spcPct val="120000"/>
              </a:lnSpc>
            </a:pPr>
            <a:r>
              <a:rPr kumimoji="1" lang="en-US" altLang="zh-CN" dirty="0">
                <a:solidFill>
                  <a:srgbClr val="0000FF"/>
                </a:solidFill>
                <a:latin typeface="Consolas" pitchFamily="49" charset="0"/>
                <a:ea typeface="仿宋" pitchFamily="49" charset="-122"/>
                <a:cs typeface="Consolas" pitchFamily="49" charset="0"/>
              </a:rPr>
              <a:t> {</a:t>
            </a:r>
          </a:p>
          <a:p>
            <a:pPr>
              <a:lnSpc>
                <a:spcPct val="120000"/>
              </a:lnSpc>
            </a:pPr>
            <a:r>
              <a:rPr kumimoji="1" lang="en-US" altLang="zh-CN" dirty="0">
                <a:solidFill>
                  <a:srgbClr val="0000FF"/>
                </a:solidFill>
                <a:latin typeface="Consolas" pitchFamily="49" charset="0"/>
                <a:ea typeface="仿宋" pitchFamily="49" charset="-122"/>
                <a:cs typeface="Consolas" pitchFamily="49" charset="0"/>
              </a:rPr>
              <a:t>    L=(</a:t>
            </a:r>
            <a:r>
              <a:rPr kumimoji="1" lang="en-US" altLang="zh-CN" dirty="0" err="1">
                <a:solidFill>
                  <a:srgbClr val="0000FF"/>
                </a:solidFill>
                <a:latin typeface="Consolas" pitchFamily="49" charset="0"/>
                <a:ea typeface="仿宋" pitchFamily="49" charset="-122"/>
                <a:cs typeface="Consolas" pitchFamily="49" charset="0"/>
              </a:rPr>
              <a:t>LinkNode</a:t>
            </a:r>
            <a:r>
              <a:rPr kumimoji="1" lang="en-US" altLang="zh-CN" dirty="0">
                <a:solidFill>
                  <a:srgbClr val="0000FF"/>
                </a:solidFill>
                <a:latin typeface="Consolas" pitchFamily="49" charset="0"/>
                <a:ea typeface="仿宋" pitchFamily="49" charset="-122"/>
                <a:cs typeface="Consolas" pitchFamily="49" charset="0"/>
              </a:rPr>
              <a:t> *)malloc(</a:t>
            </a:r>
            <a:r>
              <a:rPr kumimoji="1" lang="en-US" altLang="zh-CN" dirty="0" err="1">
                <a:solidFill>
                  <a:srgbClr val="0000FF"/>
                </a:solidFill>
                <a:latin typeface="Consolas" pitchFamily="49" charset="0"/>
                <a:ea typeface="仿宋" pitchFamily="49" charset="-122"/>
                <a:cs typeface="Consolas" pitchFamily="49" charset="0"/>
              </a:rPr>
              <a:t>sizeof</a:t>
            </a:r>
            <a:r>
              <a:rPr kumimoji="1" lang="en-US" altLang="zh-CN" dirty="0">
                <a:solidFill>
                  <a:srgbClr val="0000FF"/>
                </a:solidFill>
                <a:latin typeface="Consolas" pitchFamily="49" charset="0"/>
                <a:ea typeface="仿宋" pitchFamily="49" charset="-122"/>
                <a:cs typeface="Consolas" pitchFamily="49" charset="0"/>
              </a:rPr>
              <a:t>(</a:t>
            </a:r>
            <a:r>
              <a:rPr kumimoji="1" lang="en-US" altLang="zh-CN" dirty="0" err="1">
                <a:solidFill>
                  <a:srgbClr val="0000FF"/>
                </a:solidFill>
                <a:latin typeface="Consolas" pitchFamily="49" charset="0"/>
                <a:ea typeface="仿宋" pitchFamily="49" charset="-122"/>
                <a:cs typeface="Consolas" pitchFamily="49" charset="0"/>
              </a:rPr>
              <a:t>LinkNode</a:t>
            </a:r>
            <a:r>
              <a:rPr kumimoji="1" lang="en-US" altLang="zh-CN" dirty="0">
                <a:solidFill>
                  <a:srgbClr val="0000FF"/>
                </a:solidFill>
                <a:latin typeface="Consolas" pitchFamily="49" charset="0"/>
                <a:ea typeface="仿宋" pitchFamily="49" charset="-122"/>
                <a:cs typeface="Consolas" pitchFamily="49" charset="0"/>
              </a:rPr>
              <a:t>)); </a:t>
            </a:r>
            <a:r>
              <a:rPr kumimoji="1" lang="en-US" altLang="zh-CN" dirty="0">
                <a:solidFill>
                  <a:srgbClr val="00B0F0"/>
                </a:solidFill>
                <a:latin typeface="Consolas" pitchFamily="49" charset="0"/>
                <a:ea typeface="仿宋" pitchFamily="49" charset="-122"/>
                <a:cs typeface="Consolas" pitchFamily="49" charset="0"/>
              </a:rPr>
              <a:t>//</a:t>
            </a:r>
            <a:r>
              <a:rPr kumimoji="1" lang="zh-CN" altLang="en-US" dirty="0">
                <a:solidFill>
                  <a:srgbClr val="00B0F0"/>
                </a:solidFill>
                <a:latin typeface="Consolas" pitchFamily="49" charset="0"/>
                <a:ea typeface="仿宋" pitchFamily="49" charset="-122"/>
                <a:cs typeface="Consolas" pitchFamily="49" charset="0"/>
              </a:rPr>
              <a:t>建头结点</a:t>
            </a:r>
          </a:p>
          <a:p>
            <a:pPr>
              <a:lnSpc>
                <a:spcPct val="120000"/>
              </a:lnSpc>
            </a:pPr>
            <a:r>
              <a:rPr kumimoji="1" lang="zh-CN" altLang="en-US" dirty="0">
                <a:solidFill>
                  <a:srgbClr val="0000FF"/>
                </a:solidFill>
                <a:latin typeface="Consolas" pitchFamily="49" charset="0"/>
                <a:ea typeface="仿宋" pitchFamily="49" charset="-122"/>
                <a:cs typeface="Consolas" pitchFamily="49" charset="0"/>
              </a:rPr>
              <a:t>    </a:t>
            </a:r>
            <a:r>
              <a:rPr kumimoji="1" lang="en-US" altLang="zh-CN" dirty="0">
                <a:solidFill>
                  <a:srgbClr val="0000FF"/>
                </a:solidFill>
                <a:latin typeface="Consolas" pitchFamily="49" charset="0"/>
                <a:ea typeface="仿宋" pitchFamily="49" charset="-122"/>
                <a:cs typeface="Consolas" pitchFamily="49" charset="0"/>
              </a:rPr>
              <a:t>L-&gt;next=NULL;</a:t>
            </a:r>
          </a:p>
          <a:p>
            <a:pPr>
              <a:lnSpc>
                <a:spcPct val="120000"/>
              </a:lnSpc>
            </a:pPr>
            <a:r>
              <a:rPr kumimoji="1" lang="en-US" altLang="zh-CN" dirty="0">
                <a:solidFill>
                  <a:srgbClr val="0000FF"/>
                </a:solidFill>
                <a:latin typeface="Consolas" pitchFamily="49" charset="0"/>
                <a:ea typeface="仿宋" pitchFamily="49" charset="-122"/>
                <a:cs typeface="Consolas" pitchFamily="49" charset="0"/>
              </a:rPr>
              <a:t> }</a:t>
            </a:r>
            <a:endParaRPr lang="en-US" altLang="zh-CN" dirty="0">
              <a:solidFill>
                <a:srgbClr val="0000FF"/>
              </a:solidFill>
              <a:latin typeface="Consolas" pitchFamily="49" charset="0"/>
              <a:ea typeface="仿宋" pitchFamily="49" charset="-122"/>
              <a:cs typeface="Consolas" pitchFamily="49" charset="0"/>
            </a:endParaRPr>
          </a:p>
        </p:txBody>
      </p:sp>
      <p:sp>
        <p:nvSpPr>
          <p:cNvPr id="5" name="矩形 4">
            <a:extLst>
              <a:ext uri="{FF2B5EF4-FFF2-40B4-BE49-F238E27FC236}">
                <a16:creationId xmlns:a16="http://schemas.microsoft.com/office/drawing/2014/main" id="{724ADA7F-3697-4AFD-BB1D-2FE7914DCF99}"/>
              </a:ext>
            </a:extLst>
          </p:cNvPr>
          <p:cNvSpPr/>
          <p:nvPr/>
        </p:nvSpPr>
        <p:spPr>
          <a:xfrm>
            <a:off x="395536" y="1052736"/>
            <a:ext cx="6494085" cy="461665"/>
          </a:xfrm>
          <a:prstGeom prst="rect">
            <a:avLst/>
          </a:prstGeom>
        </p:spPr>
        <p:txBody>
          <a:bodyPr wrap="none">
            <a:spAutoFit/>
          </a:bodyPr>
          <a:lstStyle/>
          <a:p>
            <a:r>
              <a:rPr kumimoji="1" lang="en-US" altLang="zh-CN" sz="2400" dirty="0">
                <a:latin typeface="楷体" panose="02010609060101010101" pitchFamily="49" charset="-122"/>
                <a:ea typeface="楷体" panose="02010609060101010101" pitchFamily="49" charset="-122"/>
                <a:cs typeface="Consolas" pitchFamily="49" charset="0"/>
              </a:rPr>
              <a:t>1</a:t>
            </a:r>
            <a:r>
              <a:rPr kumimoji="1" lang="zh-CN" altLang="en-US" sz="2400" dirty="0">
                <a:latin typeface="楷体" panose="02010609060101010101" pitchFamily="49" charset="-122"/>
                <a:ea typeface="楷体" panose="02010609060101010101" pitchFamily="49" charset="-122"/>
                <a:cs typeface="Consolas" pitchFamily="49" charset="0"/>
              </a:rPr>
              <a:t>）建立一个空的单链表，即创建一个头结点。</a:t>
            </a:r>
            <a:endParaRPr lang="zh-CN" altLang="en-US" sz="2400" dirty="0">
              <a:latin typeface="楷体" panose="02010609060101010101" pitchFamily="49" charset="-122"/>
              <a:ea typeface="楷体" panose="02010609060101010101" pitchFamily="49" charset="-122"/>
            </a:endParaRPr>
          </a:p>
        </p:txBody>
      </p:sp>
      <p:grpSp>
        <p:nvGrpSpPr>
          <p:cNvPr id="8" name="组合 14">
            <a:extLst>
              <a:ext uri="{FF2B5EF4-FFF2-40B4-BE49-F238E27FC236}">
                <a16:creationId xmlns:a16="http://schemas.microsoft.com/office/drawing/2014/main" id="{1C2C3D78-5CDE-49C6-A87B-13141F7AF6E0}"/>
              </a:ext>
            </a:extLst>
          </p:cNvPr>
          <p:cNvGrpSpPr/>
          <p:nvPr/>
        </p:nvGrpSpPr>
        <p:grpSpPr>
          <a:xfrm>
            <a:off x="3334692" y="4365104"/>
            <a:ext cx="1957388" cy="515938"/>
            <a:chOff x="2614612" y="5056202"/>
            <a:chExt cx="1957388" cy="515938"/>
          </a:xfrm>
        </p:grpSpPr>
        <p:sp>
          <p:nvSpPr>
            <p:cNvPr id="9" name="Rectangle 16">
              <a:extLst>
                <a:ext uri="{FF2B5EF4-FFF2-40B4-BE49-F238E27FC236}">
                  <a16:creationId xmlns:a16="http://schemas.microsoft.com/office/drawing/2014/main" id="{0DD2C697-3D61-479B-82E8-19A3CD9C16B4}"/>
                </a:ext>
              </a:extLst>
            </p:cNvPr>
            <p:cNvSpPr>
              <a:spLocks noChangeArrowheads="1"/>
            </p:cNvSpPr>
            <p:nvPr/>
          </p:nvSpPr>
          <p:spPr bwMode="auto">
            <a:xfrm>
              <a:off x="4032250" y="5140340"/>
              <a:ext cx="539750" cy="431800"/>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p>
              <a:r>
                <a:rPr lang="zh-CN" altLang="en-US" dirty="0">
                  <a:solidFill>
                    <a:srgbClr val="0000FF"/>
                  </a:solidFill>
                  <a:latin typeface="Consolas" pitchFamily="49" charset="0"/>
                  <a:cs typeface="Consolas" pitchFamily="49" charset="0"/>
                </a:rPr>
                <a:t>∧</a:t>
              </a:r>
              <a:endParaRPr lang="zh-CN" altLang="zh-CN" dirty="0">
                <a:solidFill>
                  <a:srgbClr val="0000FF"/>
                </a:solidFill>
                <a:latin typeface="Consolas" pitchFamily="49" charset="0"/>
                <a:cs typeface="Consolas" pitchFamily="49" charset="0"/>
              </a:endParaRPr>
            </a:p>
          </p:txBody>
        </p:sp>
        <p:sp>
          <p:nvSpPr>
            <p:cNvPr id="10" name="Rectangle 17">
              <a:extLst>
                <a:ext uri="{FF2B5EF4-FFF2-40B4-BE49-F238E27FC236}">
                  <a16:creationId xmlns:a16="http://schemas.microsoft.com/office/drawing/2014/main" id="{900CC87A-6AA1-4A57-8680-EEC9F251EEEE}"/>
                </a:ext>
              </a:extLst>
            </p:cNvPr>
            <p:cNvSpPr>
              <a:spLocks noChangeArrowheads="1"/>
            </p:cNvSpPr>
            <p:nvPr/>
          </p:nvSpPr>
          <p:spPr bwMode="auto">
            <a:xfrm>
              <a:off x="3490912" y="5140340"/>
              <a:ext cx="539750" cy="431800"/>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p>
              <a:endParaRPr lang="zh-CN" altLang="zh-CN" sz="2800" baseline="-25000">
                <a:solidFill>
                  <a:srgbClr val="3333FF"/>
                </a:solidFill>
                <a:latin typeface="Consolas" pitchFamily="49" charset="0"/>
                <a:cs typeface="Consolas" pitchFamily="49" charset="0"/>
              </a:endParaRPr>
            </a:p>
          </p:txBody>
        </p:sp>
        <p:sp>
          <p:nvSpPr>
            <p:cNvPr id="11" name="Line 18">
              <a:extLst>
                <a:ext uri="{FF2B5EF4-FFF2-40B4-BE49-F238E27FC236}">
                  <a16:creationId xmlns:a16="http://schemas.microsoft.com/office/drawing/2014/main" id="{EF00461C-BE54-49C6-90CF-8FA3745A3D36}"/>
                </a:ext>
              </a:extLst>
            </p:cNvPr>
            <p:cNvSpPr>
              <a:spLocks noChangeShapeType="1"/>
            </p:cNvSpPr>
            <p:nvPr/>
          </p:nvSpPr>
          <p:spPr bwMode="auto">
            <a:xfrm>
              <a:off x="2901950" y="5345127"/>
              <a:ext cx="576263" cy="0"/>
            </a:xfrm>
            <a:prstGeom prst="line">
              <a:avLst/>
            </a:prstGeom>
            <a:ln>
              <a:headEnd/>
              <a:tailEnd type="triangle" w="med" len="med"/>
            </a:ln>
          </p:spPr>
          <p:style>
            <a:lnRef idx="2">
              <a:schemeClr val="accent5"/>
            </a:lnRef>
            <a:fillRef idx="0">
              <a:schemeClr val="accent5"/>
            </a:fillRef>
            <a:effectRef idx="1">
              <a:schemeClr val="accent5"/>
            </a:effectRef>
            <a:fontRef idx="minor">
              <a:schemeClr val="tx1"/>
            </a:fontRef>
          </p:style>
          <p:txBody>
            <a:bodyPr wrap="none"/>
            <a:lstStyle/>
            <a:p>
              <a:endParaRPr lang="zh-CN" altLang="en-US" sz="2800">
                <a:latin typeface="Consolas" pitchFamily="49" charset="0"/>
                <a:cs typeface="Consolas" pitchFamily="49" charset="0"/>
              </a:endParaRPr>
            </a:p>
          </p:txBody>
        </p:sp>
        <p:sp>
          <p:nvSpPr>
            <p:cNvPr id="12" name="Text Box 19">
              <a:extLst>
                <a:ext uri="{FF2B5EF4-FFF2-40B4-BE49-F238E27FC236}">
                  <a16:creationId xmlns:a16="http://schemas.microsoft.com/office/drawing/2014/main" id="{BE375B84-6CDB-4832-A33A-3A6ABD0691C1}"/>
                </a:ext>
              </a:extLst>
            </p:cNvPr>
            <p:cNvSpPr txBox="1">
              <a:spLocks noChangeArrowheads="1"/>
            </p:cNvSpPr>
            <p:nvPr/>
          </p:nvSpPr>
          <p:spPr bwMode="auto">
            <a:xfrm>
              <a:off x="2614612" y="5056202"/>
              <a:ext cx="431800" cy="369332"/>
            </a:xfrm>
            <a:prstGeom prst="rect">
              <a:avLst/>
            </a:prstGeom>
            <a:noFill/>
            <a:ln w="9525">
              <a:noFill/>
              <a:miter lim="800000"/>
              <a:headEnd/>
              <a:tailEnd/>
            </a:ln>
            <a:effectLst/>
          </p:spPr>
          <p:txBody>
            <a:bodyPr lIns="0" tIns="0" rIns="0" bIns="0">
              <a:spAutoFit/>
            </a:bodyPr>
            <a:lstStyle/>
            <a:p>
              <a:pPr algn="l">
                <a:spcBef>
                  <a:spcPct val="50000"/>
                </a:spcBef>
              </a:pPr>
              <a:r>
                <a:rPr lang="en-US" altLang="zh-CN">
                  <a:latin typeface="Consolas" pitchFamily="49" charset="0"/>
                  <a:cs typeface="Consolas" pitchFamily="49" charset="0"/>
                </a:rPr>
                <a:t>L</a:t>
              </a:r>
            </a:p>
          </p:txBody>
        </p:sp>
      </p:grpSp>
    </p:spTree>
    <p:extLst>
      <p:ext uri="{BB962C8B-B14F-4D97-AF65-F5344CB8AC3E}">
        <p14:creationId xmlns:p14="http://schemas.microsoft.com/office/powerpoint/2010/main" val="31647687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14EF900A-FD0B-48F5-89E0-A8F62A70A6D0}"/>
              </a:ext>
            </a:extLst>
          </p:cNvPr>
          <p:cNvSpPr/>
          <p:nvPr/>
        </p:nvSpPr>
        <p:spPr>
          <a:xfrm>
            <a:off x="539552" y="1196752"/>
            <a:ext cx="8280920" cy="830997"/>
          </a:xfrm>
          <a:prstGeom prst="rect">
            <a:avLst/>
          </a:prstGeom>
        </p:spPr>
        <p:txBody>
          <a:bodyPr wrap="square">
            <a:spAutoFit/>
          </a:bodyPr>
          <a:lstStyle/>
          <a:p>
            <a:r>
              <a:rPr kumimoji="1" lang="en-US" altLang="zh-CN" sz="2400" dirty="0">
                <a:latin typeface="楷体" panose="02010609060101010101" pitchFamily="49" charset="-122"/>
                <a:ea typeface="楷体" panose="02010609060101010101" pitchFamily="49" charset="-122"/>
              </a:rPr>
              <a:t>2</a:t>
            </a:r>
            <a:r>
              <a:rPr kumimoji="1" lang="zh-CN" altLang="en-US" sz="2400" dirty="0">
                <a:latin typeface="楷体" panose="02010609060101010101" pitchFamily="49" charset="-122"/>
                <a:ea typeface="楷体" panose="02010609060101010101" pitchFamily="49" charset="-122"/>
              </a:rPr>
              <a:t>）销毁一个单链表，释放单链表</a:t>
            </a:r>
            <a:r>
              <a:rPr kumimoji="1" lang="en-US" altLang="zh-CN" sz="2400" dirty="0">
                <a:latin typeface="楷体" panose="02010609060101010101" pitchFamily="49" charset="-122"/>
                <a:ea typeface="楷体" panose="02010609060101010101" pitchFamily="49" charset="-122"/>
              </a:rPr>
              <a:t>L</a:t>
            </a:r>
            <a:r>
              <a:rPr kumimoji="1" lang="zh-CN" altLang="en-US" sz="2400" dirty="0">
                <a:latin typeface="楷体" panose="02010609060101010101" pitchFamily="49" charset="-122"/>
                <a:ea typeface="楷体" panose="02010609060101010101" pitchFamily="49" charset="-122"/>
              </a:rPr>
              <a:t>占用的内存空间。即逐一释放全部结点的空间。 </a:t>
            </a:r>
          </a:p>
        </p:txBody>
      </p:sp>
      <p:sp>
        <p:nvSpPr>
          <p:cNvPr id="7" name="矩形 6">
            <a:extLst>
              <a:ext uri="{FF2B5EF4-FFF2-40B4-BE49-F238E27FC236}">
                <a16:creationId xmlns:a16="http://schemas.microsoft.com/office/drawing/2014/main" id="{84CF505E-7EE4-4524-B655-7E3CF79D3F32}"/>
              </a:ext>
            </a:extLst>
          </p:cNvPr>
          <p:cNvSpPr/>
          <p:nvPr/>
        </p:nvSpPr>
        <p:spPr>
          <a:xfrm>
            <a:off x="827584" y="2228671"/>
            <a:ext cx="7416824" cy="3367973"/>
          </a:xfrm>
          <a:prstGeom prst="rect">
            <a:avLst/>
          </a:prstGeom>
        </p:spPr>
        <p:txBody>
          <a:bodyPr wrap="square">
            <a:spAutoFit/>
          </a:bodyPr>
          <a:lstStyle/>
          <a:p>
            <a:r>
              <a:rPr kumimoji="1" lang="en-US" altLang="zh-CN" dirty="0">
                <a:solidFill>
                  <a:srgbClr val="0000FF"/>
                </a:solidFill>
                <a:latin typeface="Consolas" pitchFamily="49" charset="0"/>
                <a:ea typeface="仿宋" pitchFamily="49" charset="-122"/>
                <a:cs typeface="Consolas" pitchFamily="49" charset="0"/>
              </a:rPr>
              <a:t>void </a:t>
            </a:r>
            <a:r>
              <a:rPr kumimoji="1" lang="en-US" altLang="zh-CN" dirty="0" err="1">
                <a:solidFill>
                  <a:srgbClr val="FF0000"/>
                </a:solidFill>
                <a:latin typeface="Consolas" pitchFamily="49" charset="0"/>
                <a:ea typeface="仿宋" pitchFamily="49" charset="-122"/>
                <a:cs typeface="Consolas" pitchFamily="49" charset="0"/>
              </a:rPr>
              <a:t>DestroyList</a:t>
            </a:r>
            <a:r>
              <a:rPr kumimoji="1" lang="en-US" altLang="zh-CN" dirty="0">
                <a:solidFill>
                  <a:srgbClr val="0000FF"/>
                </a:solidFill>
                <a:latin typeface="Consolas" pitchFamily="49" charset="0"/>
                <a:ea typeface="仿宋" pitchFamily="49" charset="-122"/>
                <a:cs typeface="Consolas" pitchFamily="49" charset="0"/>
              </a:rPr>
              <a:t>(</a:t>
            </a:r>
            <a:r>
              <a:rPr kumimoji="1" lang="en-US" altLang="zh-CN" dirty="0" err="1">
                <a:solidFill>
                  <a:srgbClr val="0000FF"/>
                </a:solidFill>
                <a:latin typeface="Consolas" pitchFamily="49" charset="0"/>
                <a:ea typeface="仿宋" pitchFamily="49" charset="-122"/>
                <a:cs typeface="Consolas" pitchFamily="49" charset="0"/>
              </a:rPr>
              <a:t>LinkNode</a:t>
            </a:r>
            <a:r>
              <a:rPr kumimoji="1" lang="en-US" altLang="zh-CN" dirty="0">
                <a:solidFill>
                  <a:srgbClr val="0000FF"/>
                </a:solidFill>
                <a:latin typeface="Consolas" pitchFamily="49" charset="0"/>
                <a:ea typeface="仿宋" pitchFamily="49" charset="-122"/>
                <a:cs typeface="Consolas" pitchFamily="49" charset="0"/>
              </a:rPr>
              <a:t> *&amp;L)</a:t>
            </a:r>
          </a:p>
          <a:p>
            <a:r>
              <a:rPr kumimoji="1" lang="en-US" altLang="zh-CN" dirty="0">
                <a:solidFill>
                  <a:srgbClr val="0000FF"/>
                </a:solidFill>
                <a:latin typeface="Consolas" pitchFamily="49" charset="0"/>
                <a:ea typeface="仿宋" pitchFamily="49" charset="-122"/>
                <a:cs typeface="Consolas" pitchFamily="49" charset="0"/>
              </a:rPr>
              <a:t>{   </a:t>
            </a:r>
          </a:p>
          <a:p>
            <a:r>
              <a:rPr kumimoji="1" lang="en-US" altLang="zh-CN" dirty="0">
                <a:solidFill>
                  <a:srgbClr val="0000FF"/>
                </a:solidFill>
                <a:latin typeface="Consolas" pitchFamily="49" charset="0"/>
                <a:ea typeface="仿宋" pitchFamily="49" charset="-122"/>
                <a:cs typeface="Consolas" pitchFamily="49" charset="0"/>
              </a:rPr>
              <a:t>   </a:t>
            </a:r>
            <a:r>
              <a:rPr kumimoji="1" lang="en-US" altLang="zh-CN" dirty="0" err="1">
                <a:solidFill>
                  <a:srgbClr val="0000FF"/>
                </a:solidFill>
                <a:latin typeface="Consolas" pitchFamily="49" charset="0"/>
                <a:ea typeface="仿宋" pitchFamily="49" charset="-122"/>
                <a:cs typeface="Consolas" pitchFamily="49" charset="0"/>
              </a:rPr>
              <a:t>LinkNode</a:t>
            </a:r>
            <a:r>
              <a:rPr kumimoji="1" lang="en-US" altLang="zh-CN" dirty="0">
                <a:solidFill>
                  <a:srgbClr val="0000FF"/>
                </a:solidFill>
                <a:latin typeface="Consolas" pitchFamily="49" charset="0"/>
                <a:ea typeface="仿宋" pitchFamily="49" charset="-122"/>
                <a:cs typeface="Consolas" pitchFamily="49" charset="0"/>
              </a:rPr>
              <a:t> *pre=L, *p=L-&gt;next; </a:t>
            </a:r>
            <a:r>
              <a:rPr kumimoji="1" lang="en-US" altLang="zh-CN" dirty="0">
                <a:solidFill>
                  <a:srgbClr val="00B0F0"/>
                </a:solidFill>
                <a:latin typeface="Consolas" pitchFamily="49" charset="0"/>
                <a:ea typeface="仿宋" pitchFamily="49" charset="-122"/>
                <a:cs typeface="Consolas" pitchFamily="49" charset="0"/>
              </a:rPr>
              <a:t>//pre</a:t>
            </a:r>
            <a:r>
              <a:rPr kumimoji="1" lang="zh-CN" altLang="en-US" dirty="0">
                <a:solidFill>
                  <a:srgbClr val="00B0F0"/>
                </a:solidFill>
                <a:latin typeface="Consolas" pitchFamily="49" charset="0"/>
                <a:ea typeface="仿宋" pitchFamily="49" charset="-122"/>
                <a:cs typeface="Consolas" pitchFamily="49" charset="0"/>
              </a:rPr>
              <a:t>指向</a:t>
            </a:r>
            <a:r>
              <a:rPr kumimoji="1" lang="en-US" altLang="zh-CN" dirty="0">
                <a:solidFill>
                  <a:srgbClr val="00B0F0"/>
                </a:solidFill>
                <a:latin typeface="Consolas" pitchFamily="49" charset="0"/>
                <a:ea typeface="仿宋" pitchFamily="49" charset="-122"/>
                <a:cs typeface="Consolas" pitchFamily="49" charset="0"/>
              </a:rPr>
              <a:t>p</a:t>
            </a:r>
            <a:r>
              <a:rPr kumimoji="1" lang="zh-CN" altLang="en-US" dirty="0">
                <a:solidFill>
                  <a:srgbClr val="00B0F0"/>
                </a:solidFill>
                <a:latin typeface="Consolas" pitchFamily="49" charset="0"/>
                <a:ea typeface="仿宋" pitchFamily="49" charset="-122"/>
                <a:cs typeface="Consolas" pitchFamily="49" charset="0"/>
              </a:rPr>
              <a:t>的前驱结点</a:t>
            </a:r>
            <a:endParaRPr kumimoji="1" lang="en-US" altLang="zh-CN" dirty="0">
              <a:solidFill>
                <a:srgbClr val="00B0F0"/>
              </a:solidFill>
              <a:latin typeface="Consolas" pitchFamily="49" charset="0"/>
              <a:ea typeface="仿宋" pitchFamily="49" charset="-122"/>
              <a:cs typeface="Consolas" pitchFamily="49" charset="0"/>
            </a:endParaRPr>
          </a:p>
          <a:p>
            <a:pPr>
              <a:lnSpc>
                <a:spcPts val="2400"/>
              </a:lnSpc>
            </a:pPr>
            <a:r>
              <a:rPr kumimoji="1" lang="en-US" altLang="zh-CN" dirty="0">
                <a:solidFill>
                  <a:srgbClr val="0000FF"/>
                </a:solidFill>
                <a:latin typeface="Consolas" pitchFamily="49" charset="0"/>
                <a:ea typeface="仿宋" pitchFamily="49" charset="-122"/>
                <a:cs typeface="Consolas" pitchFamily="49" charset="0"/>
              </a:rPr>
              <a:t>   while (p!=NULL)	          </a:t>
            </a:r>
            <a:r>
              <a:rPr kumimoji="1" lang="en-US" altLang="zh-CN" dirty="0">
                <a:solidFill>
                  <a:srgbClr val="00B0F0"/>
                </a:solidFill>
                <a:latin typeface="Consolas" pitchFamily="49" charset="0"/>
                <a:ea typeface="仿宋" pitchFamily="49" charset="-122"/>
                <a:cs typeface="Consolas" pitchFamily="49" charset="0"/>
              </a:rPr>
              <a:t>//</a:t>
            </a:r>
            <a:r>
              <a:rPr kumimoji="1" lang="zh-CN" altLang="en-US" dirty="0">
                <a:solidFill>
                  <a:srgbClr val="00B0F0"/>
                </a:solidFill>
                <a:latin typeface="Consolas" pitchFamily="49" charset="0"/>
                <a:ea typeface="仿宋" pitchFamily="49" charset="-122"/>
                <a:cs typeface="Consolas" pitchFamily="49" charset="0"/>
              </a:rPr>
              <a:t>扫描单链表</a:t>
            </a:r>
            <a:r>
              <a:rPr kumimoji="1" lang="en-US" altLang="zh-CN" dirty="0">
                <a:solidFill>
                  <a:srgbClr val="00B0F0"/>
                </a:solidFill>
                <a:latin typeface="Consolas" pitchFamily="49" charset="0"/>
                <a:ea typeface="仿宋" pitchFamily="49" charset="-122"/>
                <a:cs typeface="Consolas" pitchFamily="49" charset="0"/>
              </a:rPr>
              <a:t>L</a:t>
            </a:r>
          </a:p>
          <a:p>
            <a:pPr>
              <a:lnSpc>
                <a:spcPts val="2400"/>
              </a:lnSpc>
            </a:pPr>
            <a:r>
              <a:rPr kumimoji="1" lang="en-US" altLang="zh-CN" dirty="0">
                <a:solidFill>
                  <a:srgbClr val="0000FF"/>
                </a:solidFill>
                <a:latin typeface="Consolas" pitchFamily="49" charset="0"/>
                <a:ea typeface="仿宋" pitchFamily="49" charset="-122"/>
                <a:cs typeface="Consolas" pitchFamily="49" charset="0"/>
              </a:rPr>
              <a:t>    {</a:t>
            </a:r>
          </a:p>
          <a:p>
            <a:pPr>
              <a:lnSpc>
                <a:spcPts val="2400"/>
              </a:lnSpc>
            </a:pPr>
            <a:r>
              <a:rPr kumimoji="1" lang="en-US" altLang="zh-CN" dirty="0">
                <a:solidFill>
                  <a:srgbClr val="0000FF"/>
                </a:solidFill>
                <a:latin typeface="Consolas" pitchFamily="49" charset="0"/>
                <a:ea typeface="仿宋" pitchFamily="49" charset="-122"/>
                <a:cs typeface="Consolas" pitchFamily="49" charset="0"/>
              </a:rPr>
              <a:t>      </a:t>
            </a:r>
            <a:r>
              <a:rPr kumimoji="1" lang="en-US" altLang="zh-CN" dirty="0">
                <a:solidFill>
                  <a:srgbClr val="C00000"/>
                </a:solidFill>
                <a:latin typeface="Consolas" pitchFamily="49" charset="0"/>
                <a:ea typeface="仿宋" pitchFamily="49" charset="-122"/>
                <a:cs typeface="Consolas" pitchFamily="49" charset="0"/>
              </a:rPr>
              <a:t>free(pre);	          </a:t>
            </a:r>
            <a:r>
              <a:rPr kumimoji="1" lang="en-US" altLang="zh-CN" dirty="0">
                <a:solidFill>
                  <a:srgbClr val="00B0F0"/>
                </a:solidFill>
                <a:latin typeface="Consolas" pitchFamily="49" charset="0"/>
                <a:ea typeface="仿宋" pitchFamily="49" charset="-122"/>
                <a:cs typeface="Consolas" pitchFamily="49" charset="0"/>
              </a:rPr>
              <a:t>//</a:t>
            </a:r>
            <a:r>
              <a:rPr kumimoji="1" lang="zh-CN" altLang="en-US" dirty="0">
                <a:solidFill>
                  <a:srgbClr val="00B0F0"/>
                </a:solidFill>
                <a:latin typeface="Consolas" pitchFamily="49" charset="0"/>
                <a:ea typeface="仿宋" pitchFamily="49" charset="-122"/>
                <a:cs typeface="Consolas" pitchFamily="49" charset="0"/>
              </a:rPr>
              <a:t>释放</a:t>
            </a:r>
            <a:r>
              <a:rPr kumimoji="1" lang="en-US" altLang="zh-CN" dirty="0">
                <a:solidFill>
                  <a:srgbClr val="00B0F0"/>
                </a:solidFill>
                <a:latin typeface="Consolas" pitchFamily="49" charset="0"/>
                <a:ea typeface="仿宋" pitchFamily="49" charset="-122"/>
                <a:cs typeface="Consolas" pitchFamily="49" charset="0"/>
              </a:rPr>
              <a:t>pre</a:t>
            </a:r>
            <a:r>
              <a:rPr kumimoji="1" lang="zh-CN" altLang="en-US" dirty="0">
                <a:solidFill>
                  <a:srgbClr val="00B0F0"/>
                </a:solidFill>
                <a:latin typeface="Consolas" pitchFamily="49" charset="0"/>
                <a:ea typeface="仿宋" pitchFamily="49" charset="-122"/>
                <a:cs typeface="Consolas" pitchFamily="49" charset="0"/>
              </a:rPr>
              <a:t>结点</a:t>
            </a:r>
          </a:p>
          <a:p>
            <a:pPr>
              <a:lnSpc>
                <a:spcPts val="2400"/>
              </a:lnSpc>
            </a:pPr>
            <a:r>
              <a:rPr kumimoji="1" lang="zh-CN" altLang="en-US" dirty="0">
                <a:solidFill>
                  <a:srgbClr val="0000FF"/>
                </a:solidFill>
                <a:latin typeface="Consolas" pitchFamily="49" charset="0"/>
                <a:ea typeface="仿宋" pitchFamily="49" charset="-122"/>
                <a:cs typeface="Consolas" pitchFamily="49" charset="0"/>
              </a:rPr>
              <a:t>      </a:t>
            </a:r>
            <a:r>
              <a:rPr kumimoji="1" lang="en-US" altLang="zh-CN" dirty="0">
                <a:solidFill>
                  <a:srgbClr val="0000FF"/>
                </a:solidFill>
                <a:latin typeface="Consolas" pitchFamily="49" charset="0"/>
                <a:ea typeface="仿宋" pitchFamily="49" charset="-122"/>
                <a:cs typeface="Consolas" pitchFamily="49" charset="0"/>
              </a:rPr>
              <a:t>pre = p;	                 </a:t>
            </a:r>
            <a:r>
              <a:rPr kumimoji="1" lang="en-US" altLang="zh-CN" dirty="0">
                <a:solidFill>
                  <a:srgbClr val="00B0F0"/>
                </a:solidFill>
                <a:latin typeface="Consolas" pitchFamily="49" charset="0"/>
                <a:ea typeface="仿宋" pitchFamily="49" charset="-122"/>
                <a:cs typeface="Consolas" pitchFamily="49" charset="0"/>
              </a:rPr>
              <a:t>//pre</a:t>
            </a:r>
            <a:r>
              <a:rPr kumimoji="1" lang="zh-CN" altLang="en-US" dirty="0">
                <a:solidFill>
                  <a:srgbClr val="00B0F0"/>
                </a:solidFill>
                <a:latin typeface="Consolas" pitchFamily="49" charset="0"/>
                <a:ea typeface="仿宋" pitchFamily="49" charset="-122"/>
                <a:cs typeface="Consolas" pitchFamily="49" charset="0"/>
              </a:rPr>
              <a:t>、</a:t>
            </a:r>
            <a:r>
              <a:rPr kumimoji="1" lang="en-US" altLang="zh-CN" dirty="0">
                <a:solidFill>
                  <a:srgbClr val="00B0F0"/>
                </a:solidFill>
                <a:latin typeface="Consolas" pitchFamily="49" charset="0"/>
                <a:ea typeface="仿宋" pitchFamily="49" charset="-122"/>
                <a:cs typeface="Consolas" pitchFamily="49" charset="0"/>
              </a:rPr>
              <a:t>p</a:t>
            </a:r>
            <a:r>
              <a:rPr kumimoji="1" lang="zh-CN" altLang="en-US" dirty="0">
                <a:solidFill>
                  <a:srgbClr val="00B0F0"/>
                </a:solidFill>
                <a:latin typeface="Consolas" pitchFamily="49" charset="0"/>
                <a:ea typeface="仿宋" pitchFamily="49" charset="-122"/>
                <a:cs typeface="Consolas" pitchFamily="49" charset="0"/>
              </a:rPr>
              <a:t>同步后移一个结点</a:t>
            </a:r>
          </a:p>
          <a:p>
            <a:pPr>
              <a:lnSpc>
                <a:spcPts val="2400"/>
              </a:lnSpc>
            </a:pPr>
            <a:r>
              <a:rPr kumimoji="1" lang="zh-CN" altLang="en-US" dirty="0">
                <a:solidFill>
                  <a:srgbClr val="0000FF"/>
                </a:solidFill>
                <a:latin typeface="Consolas" pitchFamily="49" charset="0"/>
                <a:ea typeface="仿宋" pitchFamily="49" charset="-122"/>
                <a:cs typeface="Consolas" pitchFamily="49" charset="0"/>
              </a:rPr>
              <a:t>      </a:t>
            </a:r>
            <a:r>
              <a:rPr kumimoji="1" lang="en-US" altLang="zh-CN" dirty="0">
                <a:solidFill>
                  <a:srgbClr val="0000FF"/>
                </a:solidFill>
                <a:latin typeface="Consolas" pitchFamily="49" charset="0"/>
                <a:ea typeface="仿宋" pitchFamily="49" charset="-122"/>
                <a:cs typeface="Consolas" pitchFamily="49" charset="0"/>
              </a:rPr>
              <a:t>p = pre-&gt;next;</a:t>
            </a:r>
          </a:p>
          <a:p>
            <a:pPr>
              <a:lnSpc>
                <a:spcPts val="2400"/>
              </a:lnSpc>
            </a:pPr>
            <a:r>
              <a:rPr kumimoji="1" lang="en-US" altLang="zh-CN" dirty="0">
                <a:solidFill>
                  <a:srgbClr val="0000FF"/>
                </a:solidFill>
                <a:latin typeface="Consolas" pitchFamily="49" charset="0"/>
                <a:ea typeface="仿宋" pitchFamily="49" charset="-122"/>
                <a:cs typeface="Consolas" pitchFamily="49" charset="0"/>
              </a:rPr>
              <a:t>    }</a:t>
            </a:r>
          </a:p>
          <a:p>
            <a:pPr>
              <a:lnSpc>
                <a:spcPts val="2400"/>
              </a:lnSpc>
            </a:pPr>
            <a:r>
              <a:rPr kumimoji="1" lang="en-US" altLang="zh-CN" dirty="0">
                <a:solidFill>
                  <a:srgbClr val="0000FF"/>
                </a:solidFill>
                <a:latin typeface="Consolas" pitchFamily="49" charset="0"/>
                <a:ea typeface="仿宋" pitchFamily="49" charset="-122"/>
                <a:cs typeface="Consolas" pitchFamily="49" charset="0"/>
              </a:rPr>
              <a:t>   </a:t>
            </a:r>
            <a:r>
              <a:rPr kumimoji="1" lang="en-US" altLang="zh-CN" dirty="0">
                <a:solidFill>
                  <a:srgbClr val="C00000"/>
                </a:solidFill>
                <a:latin typeface="Consolas" pitchFamily="49" charset="0"/>
                <a:ea typeface="仿宋" pitchFamily="49" charset="-122"/>
                <a:cs typeface="Consolas" pitchFamily="49" charset="0"/>
              </a:rPr>
              <a:t>free(pre);          </a:t>
            </a:r>
            <a:r>
              <a:rPr kumimoji="1" lang="en-US" altLang="zh-CN" dirty="0">
                <a:solidFill>
                  <a:srgbClr val="00B0F0"/>
                </a:solidFill>
                <a:latin typeface="Consolas" pitchFamily="49" charset="0"/>
                <a:ea typeface="仿宋" pitchFamily="49" charset="-122"/>
                <a:cs typeface="Consolas" pitchFamily="49" charset="0"/>
              </a:rPr>
              <a:t>//</a:t>
            </a:r>
            <a:r>
              <a:rPr kumimoji="1" lang="zh-CN" altLang="en-US" dirty="0">
                <a:solidFill>
                  <a:srgbClr val="00B0F0"/>
                </a:solidFill>
                <a:latin typeface="Consolas" pitchFamily="49" charset="0"/>
                <a:ea typeface="仿宋" pitchFamily="49" charset="-122"/>
                <a:cs typeface="Consolas" pitchFamily="49" charset="0"/>
              </a:rPr>
              <a:t>循环结束时，</a:t>
            </a:r>
            <a:r>
              <a:rPr kumimoji="1" lang="en-US" altLang="zh-CN" dirty="0">
                <a:solidFill>
                  <a:srgbClr val="00B0F0"/>
                </a:solidFill>
                <a:latin typeface="Consolas" pitchFamily="49" charset="0"/>
                <a:ea typeface="仿宋" pitchFamily="49" charset="-122"/>
                <a:cs typeface="Consolas" pitchFamily="49" charset="0"/>
              </a:rPr>
              <a:t>p</a:t>
            </a:r>
            <a:r>
              <a:rPr kumimoji="1" lang="zh-CN" altLang="en-US" dirty="0">
                <a:solidFill>
                  <a:srgbClr val="00B0F0"/>
                </a:solidFill>
                <a:latin typeface="Consolas" pitchFamily="49" charset="0"/>
                <a:ea typeface="仿宋" pitchFamily="49" charset="-122"/>
                <a:cs typeface="Consolas" pitchFamily="49" charset="0"/>
              </a:rPr>
              <a:t>为</a:t>
            </a:r>
            <a:r>
              <a:rPr kumimoji="1" lang="en-US" altLang="zh-CN" dirty="0">
                <a:solidFill>
                  <a:srgbClr val="00B0F0"/>
                </a:solidFill>
                <a:latin typeface="Consolas" pitchFamily="49" charset="0"/>
                <a:ea typeface="仿宋" pitchFamily="49" charset="-122"/>
                <a:cs typeface="Consolas" pitchFamily="49" charset="0"/>
              </a:rPr>
              <a:t>NULL</a:t>
            </a:r>
            <a:r>
              <a:rPr kumimoji="1" lang="zh-CN" altLang="en-US" dirty="0">
                <a:solidFill>
                  <a:srgbClr val="00B0F0"/>
                </a:solidFill>
                <a:latin typeface="Consolas" pitchFamily="49" charset="0"/>
                <a:ea typeface="仿宋" pitchFamily="49" charset="-122"/>
                <a:cs typeface="Consolas" pitchFamily="49" charset="0"/>
              </a:rPr>
              <a:t>，</a:t>
            </a:r>
            <a:r>
              <a:rPr kumimoji="1" lang="en-US" altLang="zh-CN" dirty="0">
                <a:solidFill>
                  <a:srgbClr val="00B0F0"/>
                </a:solidFill>
                <a:latin typeface="Consolas" pitchFamily="49" charset="0"/>
                <a:ea typeface="仿宋" pitchFamily="49" charset="-122"/>
                <a:cs typeface="Consolas" pitchFamily="49" charset="0"/>
              </a:rPr>
              <a:t>pre</a:t>
            </a:r>
            <a:r>
              <a:rPr kumimoji="1" lang="zh-CN" altLang="en-US" dirty="0">
                <a:solidFill>
                  <a:srgbClr val="00B0F0"/>
                </a:solidFill>
                <a:latin typeface="Consolas" pitchFamily="49" charset="0"/>
                <a:ea typeface="仿宋" pitchFamily="49" charset="-122"/>
                <a:cs typeface="Consolas" pitchFamily="49" charset="0"/>
              </a:rPr>
              <a:t>指向尾结点</a:t>
            </a:r>
          </a:p>
          <a:p>
            <a:pPr>
              <a:lnSpc>
                <a:spcPts val="2400"/>
              </a:lnSpc>
            </a:pPr>
            <a:r>
              <a:rPr kumimoji="1" lang="en-US" altLang="zh-CN" dirty="0">
                <a:solidFill>
                  <a:srgbClr val="0000FF"/>
                </a:solidFill>
                <a:latin typeface="Consolas" pitchFamily="49" charset="0"/>
                <a:ea typeface="仿宋" pitchFamily="49" charset="-122"/>
                <a:cs typeface="Consolas" pitchFamily="49" charset="0"/>
              </a:rPr>
              <a:t>}</a:t>
            </a:r>
            <a:endParaRPr kumimoji="1" lang="zh-CN" altLang="en-US" dirty="0">
              <a:solidFill>
                <a:srgbClr val="00B0F0"/>
              </a:solidFill>
              <a:latin typeface="Consolas" pitchFamily="49" charset="0"/>
              <a:ea typeface="仿宋" pitchFamily="49" charset="-122"/>
              <a:cs typeface="Consolas" pitchFamily="49" charset="0"/>
            </a:endParaRPr>
          </a:p>
        </p:txBody>
      </p:sp>
    </p:spTree>
    <p:extLst>
      <p:ext uri="{BB962C8B-B14F-4D97-AF65-F5344CB8AC3E}">
        <p14:creationId xmlns:p14="http://schemas.microsoft.com/office/powerpoint/2010/main" val="174964070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单链表上所实现的基本操作</a:t>
            </a:r>
            <a:r>
              <a:rPr lang="zh-CN" altLang="en-US" dirty="0"/>
              <a:t>：</a:t>
            </a:r>
          </a:p>
        </p:txBody>
      </p:sp>
      <p:sp>
        <p:nvSpPr>
          <p:cNvPr id="3" name="内容占位符 2"/>
          <p:cNvSpPr>
            <a:spLocks noGrp="1"/>
          </p:cNvSpPr>
          <p:nvPr>
            <p:ph idx="1"/>
          </p:nvPr>
        </p:nvSpPr>
        <p:spPr>
          <a:xfrm>
            <a:off x="827584" y="1628800"/>
            <a:ext cx="7488832" cy="4608512"/>
          </a:xfrm>
        </p:spPr>
        <p:txBody>
          <a:bodyPr/>
          <a:lstStyle/>
          <a:p>
            <a:r>
              <a:rPr lang="en-US" altLang="zh-CN" dirty="0"/>
              <a:t>1</a:t>
            </a:r>
            <a:r>
              <a:rPr lang="zh-CN" altLang="zh-CN" dirty="0"/>
              <a:t>．</a:t>
            </a:r>
            <a:r>
              <a:rPr lang="zh-CN" altLang="zh-CN" dirty="0">
                <a:solidFill>
                  <a:srgbClr val="FF0000"/>
                </a:solidFill>
              </a:rPr>
              <a:t>读取数据元素</a:t>
            </a:r>
          </a:p>
          <a:p>
            <a:r>
              <a:rPr lang="en-US" altLang="zh-CN" dirty="0"/>
              <a:t>             </a:t>
            </a:r>
            <a:r>
              <a:rPr lang="zh-CN" altLang="zh-CN" b="0" dirty="0"/>
              <a:t>在单链表中，任何两个数据元素的存储位置之间没有固定的联系。但是，每个元素的存储位置都包含在其直接前驱结点的信息之中。</a:t>
            </a:r>
            <a:endParaRPr lang="en-US" altLang="zh-CN" b="0" dirty="0"/>
          </a:p>
          <a:p>
            <a:r>
              <a:rPr lang="en-US" altLang="zh-CN" b="0" dirty="0"/>
              <a:t>		</a:t>
            </a:r>
            <a:r>
              <a:rPr lang="zh-CN" altLang="zh-CN" b="0" dirty="0"/>
              <a:t>假设</a:t>
            </a:r>
            <a:r>
              <a:rPr lang="en-US" altLang="zh-CN" b="0" dirty="0"/>
              <a:t>p</a:t>
            </a:r>
            <a:r>
              <a:rPr lang="zh-CN" altLang="zh-CN" b="0" dirty="0"/>
              <a:t>是指向线性表中第</a:t>
            </a:r>
            <a:r>
              <a:rPr lang="en-US" altLang="zh-CN" b="0" dirty="0" err="1"/>
              <a:t>i</a:t>
            </a:r>
            <a:r>
              <a:rPr lang="zh-CN" altLang="zh-CN" b="0" dirty="0"/>
              <a:t>个数据元素（结点</a:t>
            </a:r>
            <a:r>
              <a:rPr lang="en-US" altLang="zh-CN" b="0" dirty="0"/>
              <a:t>a</a:t>
            </a:r>
            <a:r>
              <a:rPr lang="en-US" altLang="zh-CN" b="0" baseline="-25000" dirty="0"/>
              <a:t>i-1</a:t>
            </a:r>
            <a:r>
              <a:rPr lang="zh-CN" altLang="zh-CN" b="0" dirty="0"/>
              <a:t>）的指针，则</a:t>
            </a:r>
            <a:r>
              <a:rPr lang="en-US" altLang="zh-CN" b="0" dirty="0"/>
              <a:t>p-&gt;next</a:t>
            </a:r>
            <a:r>
              <a:rPr lang="zh-CN" altLang="zh-CN" b="0" dirty="0"/>
              <a:t>是指向第</a:t>
            </a:r>
            <a:r>
              <a:rPr lang="en-US" altLang="zh-CN" b="0" dirty="0"/>
              <a:t>i+1</a:t>
            </a:r>
            <a:r>
              <a:rPr lang="zh-CN" altLang="zh-CN" b="0" dirty="0"/>
              <a:t>个数据元素（结点</a:t>
            </a:r>
            <a:r>
              <a:rPr lang="en-US" altLang="zh-CN" b="0" dirty="0" err="1"/>
              <a:t>a</a:t>
            </a:r>
            <a:r>
              <a:rPr lang="en-US" altLang="zh-CN" b="0" baseline="-25000" dirty="0" err="1"/>
              <a:t>i</a:t>
            </a:r>
            <a:r>
              <a:rPr lang="zh-CN" altLang="zh-CN" b="0" dirty="0"/>
              <a:t>）的指针，即</a:t>
            </a:r>
            <a:r>
              <a:rPr lang="en-US" altLang="zh-CN" b="0" dirty="0"/>
              <a:t>p-&gt;data=a</a:t>
            </a:r>
            <a:r>
              <a:rPr lang="en-US" altLang="zh-CN" b="0" baseline="-25000" dirty="0"/>
              <a:t>i-1</a:t>
            </a:r>
            <a:r>
              <a:rPr lang="zh-CN" altLang="zh-CN" b="0" dirty="0"/>
              <a:t>，</a:t>
            </a:r>
            <a:r>
              <a:rPr lang="en-US" altLang="zh-CN" b="0" dirty="0"/>
              <a:t>p-&gt;next-&gt;data= </a:t>
            </a:r>
            <a:r>
              <a:rPr lang="en-US" altLang="zh-CN" b="0" dirty="0" err="1"/>
              <a:t>a</a:t>
            </a:r>
            <a:r>
              <a:rPr lang="en-US" altLang="zh-CN" b="0" baseline="-25000" dirty="0" err="1"/>
              <a:t>i</a:t>
            </a:r>
            <a:r>
              <a:rPr lang="zh-CN" altLang="zh-CN" b="0" dirty="0"/>
              <a:t>。</a:t>
            </a:r>
          </a:p>
          <a:p>
            <a:endParaRPr lang="zh-CN" altLang="en-US" dirty="0"/>
          </a:p>
        </p:txBody>
      </p:sp>
    </p:spTree>
    <p:extLst>
      <p:ext uri="{BB962C8B-B14F-4D97-AF65-F5344CB8AC3E}">
        <p14:creationId xmlns:p14="http://schemas.microsoft.com/office/powerpoint/2010/main" val="17011006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42910" y="836712"/>
            <a:ext cx="8321578" cy="5328592"/>
          </a:xfrm>
        </p:spPr>
        <p:txBody>
          <a:bodyPr>
            <a:noAutofit/>
          </a:bodyPr>
          <a:lstStyle/>
          <a:p>
            <a:pPr>
              <a:spcBef>
                <a:spcPts val="0"/>
              </a:spcBef>
            </a:pPr>
            <a:r>
              <a:rPr lang="zh-CN" altLang="zh-CN" dirty="0"/>
              <a:t>算法</a:t>
            </a:r>
            <a:r>
              <a:rPr lang="en-US" altLang="zh-CN" dirty="0"/>
              <a:t>2.8</a:t>
            </a:r>
            <a:r>
              <a:rPr lang="zh-CN" altLang="zh-CN" dirty="0"/>
              <a:t>：</a:t>
            </a:r>
            <a:r>
              <a:rPr lang="zh-CN" altLang="zh-CN" dirty="0">
                <a:solidFill>
                  <a:srgbClr val="FF0000"/>
                </a:solidFill>
              </a:rPr>
              <a:t>读取数据元素</a:t>
            </a:r>
          </a:p>
          <a:p>
            <a:r>
              <a:rPr lang="en-US" b="0" dirty="0" err="1"/>
              <a:t>bool</a:t>
            </a:r>
            <a:r>
              <a:rPr lang="en-US" b="0" dirty="0"/>
              <a:t> </a:t>
            </a:r>
            <a:r>
              <a:rPr lang="en-US" b="0" dirty="0" err="1"/>
              <a:t>LList</a:t>
            </a:r>
            <a:r>
              <a:rPr lang="en-US" b="0" dirty="0"/>
              <a:t>:: </a:t>
            </a:r>
            <a:r>
              <a:rPr lang="en-US" b="0" dirty="0" err="1"/>
              <a:t>getValue</a:t>
            </a:r>
            <a:r>
              <a:rPr lang="en-US" b="0" dirty="0"/>
              <a:t>(Elem &amp;e) { //</a:t>
            </a:r>
            <a:r>
              <a:rPr lang="zh-CN" altLang="en-US" b="0" dirty="0"/>
              <a:t>读取当前位置</a:t>
            </a:r>
            <a:r>
              <a:rPr lang="en-US" b="0" dirty="0" err="1"/>
              <a:t>curr</a:t>
            </a:r>
            <a:r>
              <a:rPr lang="zh-CN" altLang="en-US" b="0" dirty="0"/>
              <a:t>的值</a:t>
            </a:r>
          </a:p>
          <a:p>
            <a:r>
              <a:rPr lang="en-US" b="0" dirty="0"/>
              <a:t>	if ( </a:t>
            </a:r>
            <a:r>
              <a:rPr lang="en-US" b="0" dirty="0" err="1"/>
              <a:t>curr</a:t>
            </a:r>
            <a:r>
              <a:rPr lang="en-US" b="0" dirty="0"/>
              <a:t>==NULL || head -&gt; next = = NULL) return false; </a:t>
            </a:r>
            <a:endParaRPr lang="zh-CN" altLang="en-US" b="0" dirty="0"/>
          </a:p>
          <a:p>
            <a:r>
              <a:rPr lang="en-US" b="0" dirty="0"/>
              <a:t>	e = </a:t>
            </a:r>
            <a:r>
              <a:rPr lang="en-US" b="0" dirty="0" err="1"/>
              <a:t>curr</a:t>
            </a:r>
            <a:r>
              <a:rPr lang="en-US" b="0" dirty="0"/>
              <a:t>-&gt;element;</a:t>
            </a:r>
            <a:endParaRPr lang="zh-CN" altLang="en-US" b="0" dirty="0"/>
          </a:p>
          <a:p>
            <a:r>
              <a:rPr lang="en-US" b="0" dirty="0"/>
              <a:t>	return true;</a:t>
            </a:r>
            <a:endParaRPr lang="zh-CN" altLang="en-US" b="0" dirty="0"/>
          </a:p>
          <a:p>
            <a:r>
              <a:rPr lang="en-US" b="0" dirty="0"/>
              <a:t>}</a:t>
            </a:r>
            <a:endParaRPr lang="zh-CN" altLang="en-US" b="0" dirty="0"/>
          </a:p>
          <a:p>
            <a:pPr>
              <a:spcBef>
                <a:spcPts val="0"/>
              </a:spcBef>
            </a:pPr>
            <a:endParaRPr lang="en-US" altLang="zh-CN" b="0" dirty="0"/>
          </a:p>
          <a:p>
            <a:pPr>
              <a:spcBef>
                <a:spcPts val="0"/>
              </a:spcBef>
            </a:pPr>
            <a:r>
              <a:rPr lang="en-US" altLang="zh-CN" dirty="0"/>
              <a:t>	</a:t>
            </a:r>
            <a:r>
              <a:rPr lang="zh-CN" altLang="zh-CN" dirty="0"/>
              <a:t>这个算法的时间复杂度为</a:t>
            </a:r>
            <a:r>
              <a:rPr lang="en-US" altLang="zh-CN" dirty="0"/>
              <a:t>O(1)</a:t>
            </a:r>
            <a:r>
              <a:rPr lang="zh-CN" altLang="zh-CN" dirty="0"/>
              <a:t>。</a:t>
            </a:r>
          </a:p>
        </p:txBody>
      </p:sp>
    </p:spTree>
    <p:extLst>
      <p:ext uri="{BB962C8B-B14F-4D97-AF65-F5344CB8AC3E}">
        <p14:creationId xmlns:p14="http://schemas.microsoft.com/office/powerpoint/2010/main" val="31996545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E94CEA-98CE-4696-92E4-33B08D1C041C}"/>
              </a:ext>
            </a:extLst>
          </p:cNvPr>
          <p:cNvSpPr>
            <a:spLocks noGrp="1"/>
          </p:cNvSpPr>
          <p:nvPr>
            <p:ph type="title"/>
          </p:nvPr>
        </p:nvSpPr>
        <p:spPr>
          <a:xfrm>
            <a:off x="827584" y="895706"/>
            <a:ext cx="7992888" cy="733093"/>
          </a:xfrm>
        </p:spPr>
        <p:txBody>
          <a:bodyPr/>
          <a:lstStyle/>
          <a:p>
            <a:r>
              <a:rPr kumimoji="1" lang="zh-CN" altLang="en-US" sz="2400" cap="none" dirty="0">
                <a:latin typeface="楷体" panose="02010609060101010101" pitchFamily="49" charset="-122"/>
                <a:ea typeface="楷体" panose="02010609060101010101" pitchFamily="49" charset="-122"/>
                <a:cs typeface="Consolas" pitchFamily="49" charset="0"/>
              </a:rPr>
              <a:t>在单链表</a:t>
            </a:r>
            <a:r>
              <a:rPr kumimoji="1" lang="en-US" altLang="zh-CN" sz="2400" cap="none" dirty="0">
                <a:latin typeface="楷体" panose="02010609060101010101" pitchFamily="49" charset="-122"/>
                <a:ea typeface="楷体" panose="02010609060101010101" pitchFamily="49" charset="-122"/>
                <a:cs typeface="Consolas" pitchFamily="49" charset="0"/>
              </a:rPr>
              <a:t>L</a:t>
            </a:r>
            <a:r>
              <a:rPr kumimoji="1" lang="zh-CN" altLang="en-US" sz="2400" cap="none" dirty="0">
                <a:latin typeface="楷体" panose="02010609060101010101" pitchFamily="49" charset="-122"/>
                <a:ea typeface="楷体" panose="02010609060101010101" pitchFamily="49" charset="-122"/>
                <a:cs typeface="Consolas" pitchFamily="49" charset="0"/>
              </a:rPr>
              <a:t>中从头开始找到第</a:t>
            </a:r>
            <a:r>
              <a:rPr kumimoji="1" lang="en-US" altLang="zh-CN" sz="2400" i="1" cap="none" dirty="0" err="1">
                <a:latin typeface="楷体" panose="02010609060101010101" pitchFamily="49" charset="-122"/>
                <a:ea typeface="楷体" panose="02010609060101010101" pitchFamily="49" charset="-122"/>
                <a:cs typeface="Consolas" pitchFamily="49" charset="0"/>
              </a:rPr>
              <a:t>i</a:t>
            </a:r>
            <a:r>
              <a:rPr kumimoji="1" lang="zh-CN" altLang="en-US" sz="2400" cap="none" dirty="0">
                <a:latin typeface="楷体" panose="02010609060101010101" pitchFamily="49" charset="-122"/>
                <a:ea typeface="楷体" panose="02010609060101010101" pitchFamily="49" charset="-122"/>
                <a:cs typeface="Consolas" pitchFamily="49" charset="0"/>
              </a:rPr>
              <a:t>个结点，若存在第</a:t>
            </a:r>
            <a:r>
              <a:rPr kumimoji="1" lang="en-US" altLang="zh-CN" sz="2400" i="1" cap="none" dirty="0" err="1">
                <a:latin typeface="楷体" panose="02010609060101010101" pitchFamily="49" charset="-122"/>
                <a:ea typeface="楷体" panose="02010609060101010101" pitchFamily="49" charset="-122"/>
                <a:cs typeface="Consolas" pitchFamily="49" charset="0"/>
              </a:rPr>
              <a:t>i</a:t>
            </a:r>
            <a:r>
              <a:rPr kumimoji="1" lang="zh-CN" altLang="en-US" sz="2400" cap="none" dirty="0">
                <a:latin typeface="楷体" panose="02010609060101010101" pitchFamily="49" charset="-122"/>
                <a:ea typeface="楷体" panose="02010609060101010101" pitchFamily="49" charset="-122"/>
                <a:cs typeface="Consolas" pitchFamily="49" charset="0"/>
              </a:rPr>
              <a:t>个数据结点，则将其</a:t>
            </a:r>
            <a:r>
              <a:rPr kumimoji="1" lang="en-US" altLang="zh-CN" sz="2400" cap="none" dirty="0">
                <a:latin typeface="楷体" panose="02010609060101010101" pitchFamily="49" charset="-122"/>
                <a:ea typeface="楷体" panose="02010609060101010101" pitchFamily="49" charset="-122"/>
                <a:cs typeface="Consolas" pitchFamily="49" charset="0"/>
              </a:rPr>
              <a:t>data</a:t>
            </a:r>
            <a:r>
              <a:rPr kumimoji="1" lang="zh-CN" altLang="en-US" sz="2400" cap="none" dirty="0">
                <a:latin typeface="楷体" panose="02010609060101010101" pitchFamily="49" charset="-122"/>
                <a:ea typeface="楷体" panose="02010609060101010101" pitchFamily="49" charset="-122"/>
                <a:cs typeface="Consolas" pitchFamily="49" charset="0"/>
              </a:rPr>
              <a:t>域值赋给变量</a:t>
            </a:r>
            <a:r>
              <a:rPr kumimoji="1" lang="en-US" altLang="zh-CN" sz="2400" i="1" cap="none" dirty="0">
                <a:latin typeface="楷体" panose="02010609060101010101" pitchFamily="49" charset="-122"/>
                <a:ea typeface="楷体" panose="02010609060101010101" pitchFamily="49" charset="-122"/>
                <a:cs typeface="Consolas" pitchFamily="49" charset="0"/>
              </a:rPr>
              <a:t>e</a:t>
            </a:r>
            <a:r>
              <a:rPr kumimoji="1" lang="zh-CN" altLang="en-US" sz="2400" cap="none" dirty="0">
                <a:latin typeface="楷体" panose="02010609060101010101" pitchFamily="49" charset="-122"/>
                <a:ea typeface="楷体" panose="02010609060101010101" pitchFamily="49" charset="-122"/>
                <a:cs typeface="Consolas" pitchFamily="49" charset="0"/>
              </a:rPr>
              <a:t>。</a:t>
            </a:r>
            <a:endParaRPr lang="zh-CN" altLang="en-US" sz="2400" cap="none" dirty="0">
              <a:latin typeface="楷体" panose="02010609060101010101" pitchFamily="49" charset="-122"/>
              <a:ea typeface="楷体" panose="02010609060101010101" pitchFamily="49" charset="-122"/>
            </a:endParaRPr>
          </a:p>
        </p:txBody>
      </p:sp>
      <p:sp>
        <p:nvSpPr>
          <p:cNvPr id="4" name="矩形 3">
            <a:extLst>
              <a:ext uri="{FF2B5EF4-FFF2-40B4-BE49-F238E27FC236}">
                <a16:creationId xmlns:a16="http://schemas.microsoft.com/office/drawing/2014/main" id="{A0ED7410-2D9D-4C2F-88E2-5FB8DD91920E}"/>
              </a:ext>
            </a:extLst>
          </p:cNvPr>
          <p:cNvSpPr/>
          <p:nvPr/>
        </p:nvSpPr>
        <p:spPr>
          <a:xfrm>
            <a:off x="987186" y="1700808"/>
            <a:ext cx="7833286" cy="4678204"/>
          </a:xfrm>
          <a:prstGeom prst="rect">
            <a:avLst/>
          </a:prstGeom>
        </p:spPr>
        <p:txBody>
          <a:bodyPr wrap="square">
            <a:spAutoFit/>
          </a:bodyPr>
          <a:lstStyle/>
          <a:p>
            <a:r>
              <a:rPr kumimoji="1" lang="en-US" altLang="zh-CN" sz="1400" dirty="0">
                <a:solidFill>
                  <a:srgbClr val="0000FF"/>
                </a:solidFill>
                <a:latin typeface="Consolas" pitchFamily="49" charset="0"/>
                <a:ea typeface="仿宋" pitchFamily="49" charset="-122"/>
                <a:cs typeface="Consolas" pitchFamily="49" charset="0"/>
              </a:rPr>
              <a:t>bool </a:t>
            </a:r>
            <a:r>
              <a:rPr kumimoji="1" lang="en-US" altLang="zh-CN" sz="1400" dirty="0" err="1">
                <a:solidFill>
                  <a:srgbClr val="FF0000"/>
                </a:solidFill>
                <a:latin typeface="Consolas" pitchFamily="49" charset="0"/>
                <a:ea typeface="仿宋" pitchFamily="49" charset="-122"/>
                <a:cs typeface="Consolas" pitchFamily="49" charset="0"/>
              </a:rPr>
              <a:t>GetElem</a:t>
            </a:r>
            <a:r>
              <a:rPr kumimoji="1" lang="en-US" altLang="zh-CN" sz="1400" dirty="0">
                <a:solidFill>
                  <a:srgbClr val="0000FF"/>
                </a:solidFill>
                <a:latin typeface="Consolas" pitchFamily="49" charset="0"/>
                <a:ea typeface="仿宋" pitchFamily="49" charset="-122"/>
                <a:cs typeface="Consolas" pitchFamily="49" charset="0"/>
              </a:rPr>
              <a:t>(</a:t>
            </a:r>
            <a:r>
              <a:rPr kumimoji="1" lang="en-US" altLang="zh-CN" sz="1400" dirty="0" err="1">
                <a:solidFill>
                  <a:srgbClr val="0000FF"/>
                </a:solidFill>
                <a:latin typeface="Consolas" pitchFamily="49" charset="0"/>
                <a:ea typeface="仿宋" pitchFamily="49" charset="-122"/>
                <a:cs typeface="Consolas" pitchFamily="49" charset="0"/>
              </a:rPr>
              <a:t>LinkNode</a:t>
            </a:r>
            <a:r>
              <a:rPr kumimoji="1" lang="en-US" altLang="zh-CN" sz="1400" dirty="0">
                <a:solidFill>
                  <a:srgbClr val="0000FF"/>
                </a:solidFill>
                <a:latin typeface="Consolas" pitchFamily="49" charset="0"/>
                <a:ea typeface="仿宋" pitchFamily="49" charset="-122"/>
                <a:cs typeface="Consolas" pitchFamily="49" charset="0"/>
              </a:rPr>
              <a:t> *L</a:t>
            </a:r>
            <a:r>
              <a:rPr kumimoji="1" lang="zh-CN" altLang="en-US" sz="1400" dirty="0">
                <a:solidFill>
                  <a:srgbClr val="0000FF"/>
                </a:solidFill>
                <a:latin typeface="Consolas" pitchFamily="49" charset="0"/>
                <a:ea typeface="仿宋" pitchFamily="49" charset="-122"/>
                <a:cs typeface="Consolas" pitchFamily="49" charset="0"/>
              </a:rPr>
              <a:t>，</a:t>
            </a:r>
            <a:r>
              <a:rPr kumimoji="1" lang="en-US" altLang="zh-CN" sz="1400" dirty="0">
                <a:solidFill>
                  <a:srgbClr val="0000FF"/>
                </a:solidFill>
                <a:latin typeface="Consolas" pitchFamily="49" charset="0"/>
                <a:ea typeface="仿宋" pitchFamily="49" charset="-122"/>
                <a:cs typeface="Consolas" pitchFamily="49" charset="0"/>
              </a:rPr>
              <a:t>int </a:t>
            </a:r>
            <a:r>
              <a:rPr kumimoji="1" lang="en-US" altLang="zh-CN" sz="1400" dirty="0" err="1">
                <a:solidFill>
                  <a:srgbClr val="0000FF"/>
                </a:solidFill>
                <a:latin typeface="Consolas" pitchFamily="49" charset="0"/>
                <a:ea typeface="仿宋" pitchFamily="49" charset="-122"/>
                <a:cs typeface="Consolas" pitchFamily="49" charset="0"/>
              </a:rPr>
              <a:t>i</a:t>
            </a:r>
            <a:r>
              <a:rPr kumimoji="1" lang="zh-CN" altLang="en-US" sz="1400" dirty="0">
                <a:solidFill>
                  <a:srgbClr val="0000FF"/>
                </a:solidFill>
                <a:latin typeface="Consolas" pitchFamily="49" charset="0"/>
                <a:ea typeface="仿宋" pitchFamily="49" charset="-122"/>
                <a:cs typeface="Consolas" pitchFamily="49" charset="0"/>
              </a:rPr>
              <a:t>，</a:t>
            </a:r>
            <a:r>
              <a:rPr kumimoji="1" lang="en-US" altLang="zh-CN" sz="1400" dirty="0" err="1">
                <a:solidFill>
                  <a:srgbClr val="0000FF"/>
                </a:solidFill>
                <a:latin typeface="Consolas" pitchFamily="49" charset="0"/>
                <a:ea typeface="仿宋" pitchFamily="49" charset="-122"/>
                <a:cs typeface="Consolas" pitchFamily="49" charset="0"/>
              </a:rPr>
              <a:t>ElemType</a:t>
            </a:r>
            <a:r>
              <a:rPr kumimoji="1" lang="en-US" altLang="zh-CN" sz="1400" dirty="0">
                <a:solidFill>
                  <a:srgbClr val="0000FF"/>
                </a:solidFill>
                <a:latin typeface="Consolas" pitchFamily="49" charset="0"/>
                <a:ea typeface="仿宋" pitchFamily="49" charset="-122"/>
                <a:cs typeface="Consolas" pitchFamily="49" charset="0"/>
              </a:rPr>
              <a:t> &amp;e)</a:t>
            </a:r>
          </a:p>
          <a:p>
            <a:r>
              <a:rPr kumimoji="1" lang="en-US" altLang="zh-CN" sz="1400" dirty="0">
                <a:solidFill>
                  <a:srgbClr val="0000FF"/>
                </a:solidFill>
                <a:latin typeface="Consolas" pitchFamily="49" charset="0"/>
                <a:ea typeface="仿宋" pitchFamily="49" charset="-122"/>
                <a:cs typeface="Consolas" pitchFamily="49" charset="0"/>
              </a:rPr>
              <a:t>{  </a:t>
            </a:r>
          </a:p>
          <a:p>
            <a:r>
              <a:rPr kumimoji="1" lang="en-US" altLang="zh-CN" sz="1400" dirty="0">
                <a:solidFill>
                  <a:srgbClr val="0000FF"/>
                </a:solidFill>
                <a:latin typeface="Consolas" pitchFamily="49" charset="0"/>
                <a:ea typeface="仿宋" pitchFamily="49" charset="-122"/>
                <a:cs typeface="Consolas" pitchFamily="49" charset="0"/>
              </a:rPr>
              <a:t>   int j=0;</a:t>
            </a:r>
          </a:p>
          <a:p>
            <a:r>
              <a:rPr kumimoji="1" lang="en-US" altLang="zh-CN" sz="1400" dirty="0">
                <a:solidFill>
                  <a:srgbClr val="0000FF"/>
                </a:solidFill>
                <a:latin typeface="Consolas" pitchFamily="49" charset="0"/>
                <a:ea typeface="仿宋" pitchFamily="49" charset="-122"/>
                <a:cs typeface="Consolas" pitchFamily="49" charset="0"/>
              </a:rPr>
              <a:t>   </a:t>
            </a:r>
            <a:r>
              <a:rPr kumimoji="1" lang="en-US" altLang="zh-CN" sz="1400" dirty="0" err="1">
                <a:solidFill>
                  <a:srgbClr val="0000FF"/>
                </a:solidFill>
                <a:latin typeface="Consolas" pitchFamily="49" charset="0"/>
                <a:ea typeface="仿宋" pitchFamily="49" charset="-122"/>
                <a:cs typeface="Consolas" pitchFamily="49" charset="0"/>
              </a:rPr>
              <a:t>LinkNode</a:t>
            </a:r>
            <a:r>
              <a:rPr kumimoji="1" lang="en-US" altLang="zh-CN" sz="1400" dirty="0">
                <a:solidFill>
                  <a:srgbClr val="0000FF"/>
                </a:solidFill>
                <a:latin typeface="Consolas" pitchFamily="49" charset="0"/>
                <a:ea typeface="仿宋" pitchFamily="49" charset="-122"/>
                <a:cs typeface="Consolas" pitchFamily="49" charset="0"/>
              </a:rPr>
              <a:t> *p=L;	       </a:t>
            </a:r>
            <a:r>
              <a:rPr kumimoji="1" lang="en-US" altLang="zh-CN" sz="1400" dirty="0">
                <a:solidFill>
                  <a:srgbClr val="00B0F0"/>
                </a:solidFill>
                <a:latin typeface="Consolas" pitchFamily="49" charset="0"/>
                <a:ea typeface="仿宋" pitchFamily="49" charset="-122"/>
                <a:cs typeface="Consolas" pitchFamily="49" charset="0"/>
              </a:rPr>
              <a:t>//p</a:t>
            </a:r>
            <a:r>
              <a:rPr kumimoji="1" lang="zh-CN" altLang="en-US" sz="1400" dirty="0">
                <a:solidFill>
                  <a:srgbClr val="00B0F0"/>
                </a:solidFill>
                <a:latin typeface="Consolas" pitchFamily="49" charset="0"/>
                <a:ea typeface="仿宋" pitchFamily="49" charset="-122"/>
                <a:cs typeface="Consolas" pitchFamily="49" charset="0"/>
              </a:rPr>
              <a:t>指向头结点，</a:t>
            </a:r>
            <a:r>
              <a:rPr kumimoji="1" lang="en-US" altLang="zh-CN" sz="1400" dirty="0">
                <a:solidFill>
                  <a:srgbClr val="00B0F0"/>
                </a:solidFill>
                <a:latin typeface="Consolas" pitchFamily="49" charset="0"/>
                <a:ea typeface="仿宋" pitchFamily="49" charset="-122"/>
                <a:cs typeface="Consolas" pitchFamily="49" charset="0"/>
              </a:rPr>
              <a:t>j</a:t>
            </a:r>
            <a:r>
              <a:rPr kumimoji="1" lang="zh-CN" altLang="en-US" sz="1400" dirty="0">
                <a:solidFill>
                  <a:srgbClr val="00B0F0"/>
                </a:solidFill>
                <a:latin typeface="Consolas" pitchFamily="49" charset="0"/>
                <a:ea typeface="仿宋" pitchFamily="49" charset="-122"/>
                <a:cs typeface="Consolas" pitchFamily="49" charset="0"/>
              </a:rPr>
              <a:t>置为</a:t>
            </a:r>
            <a:r>
              <a:rPr kumimoji="1" lang="en-US" altLang="zh-CN" sz="1400" dirty="0">
                <a:solidFill>
                  <a:srgbClr val="00B0F0"/>
                </a:solidFill>
                <a:latin typeface="Consolas" pitchFamily="49" charset="0"/>
                <a:ea typeface="仿宋" pitchFamily="49" charset="-122"/>
                <a:cs typeface="Consolas" pitchFamily="49" charset="0"/>
              </a:rPr>
              <a:t>0</a:t>
            </a:r>
            <a:r>
              <a:rPr kumimoji="1" lang="zh-CN" altLang="en-US" sz="1400" dirty="0">
                <a:solidFill>
                  <a:srgbClr val="00B0F0"/>
                </a:solidFill>
                <a:latin typeface="Consolas" pitchFamily="49" charset="0"/>
                <a:ea typeface="仿宋" pitchFamily="49" charset="-122"/>
                <a:cs typeface="Consolas" pitchFamily="49" charset="0"/>
              </a:rPr>
              <a:t>（即头结点的序号为</a:t>
            </a:r>
            <a:r>
              <a:rPr kumimoji="1" lang="en-US" altLang="zh-CN" sz="1400" dirty="0">
                <a:solidFill>
                  <a:srgbClr val="00B0F0"/>
                </a:solidFill>
                <a:latin typeface="Consolas" pitchFamily="49" charset="0"/>
                <a:ea typeface="仿宋" pitchFamily="49" charset="-122"/>
                <a:cs typeface="Consolas" pitchFamily="49" charset="0"/>
              </a:rPr>
              <a:t>0</a:t>
            </a:r>
            <a:r>
              <a:rPr kumimoji="1" lang="zh-CN" altLang="en-US" sz="1400" dirty="0">
                <a:solidFill>
                  <a:srgbClr val="0070C0"/>
                </a:solidFill>
                <a:latin typeface="Consolas" pitchFamily="49" charset="0"/>
                <a:ea typeface="仿宋" pitchFamily="49" charset="-122"/>
                <a:cs typeface="Consolas" pitchFamily="49" charset="0"/>
              </a:rPr>
              <a:t>）</a:t>
            </a:r>
            <a:endParaRPr kumimoji="1" lang="en-US" altLang="zh-CN" sz="1400" dirty="0">
              <a:solidFill>
                <a:srgbClr val="0070C0"/>
              </a:solidFill>
              <a:latin typeface="Consolas" pitchFamily="49" charset="0"/>
              <a:ea typeface="仿宋" pitchFamily="49" charset="-122"/>
              <a:cs typeface="Consolas" pitchFamily="49" charset="0"/>
            </a:endParaRPr>
          </a:p>
          <a:p>
            <a:endParaRPr kumimoji="1" lang="en-US" altLang="zh-CN" sz="1400" dirty="0">
              <a:solidFill>
                <a:srgbClr val="0000FF"/>
              </a:solidFill>
              <a:latin typeface="Consolas" pitchFamily="49" charset="0"/>
              <a:ea typeface="仿宋" pitchFamily="49" charset="-122"/>
              <a:cs typeface="Consolas" pitchFamily="49" charset="0"/>
            </a:endParaRPr>
          </a:p>
          <a:p>
            <a:r>
              <a:rPr kumimoji="1" lang="en-US" altLang="zh-CN" sz="1400" dirty="0">
                <a:solidFill>
                  <a:srgbClr val="0000FF"/>
                </a:solidFill>
                <a:latin typeface="Consolas" pitchFamily="49" charset="0"/>
                <a:ea typeface="仿宋" pitchFamily="49" charset="-122"/>
                <a:cs typeface="Consolas" pitchFamily="49" charset="0"/>
              </a:rPr>
              <a:t>   while (j&lt;</a:t>
            </a:r>
            <a:r>
              <a:rPr kumimoji="1" lang="en-US" altLang="zh-CN" sz="1400" dirty="0" err="1">
                <a:solidFill>
                  <a:srgbClr val="0000FF"/>
                </a:solidFill>
                <a:latin typeface="Consolas" pitchFamily="49" charset="0"/>
                <a:ea typeface="仿宋" pitchFamily="49" charset="-122"/>
                <a:cs typeface="Consolas" pitchFamily="49" charset="0"/>
              </a:rPr>
              <a:t>i</a:t>
            </a:r>
            <a:r>
              <a:rPr kumimoji="1" lang="en-US" altLang="zh-CN" sz="1400" dirty="0">
                <a:solidFill>
                  <a:srgbClr val="0000FF"/>
                </a:solidFill>
                <a:latin typeface="Consolas" pitchFamily="49" charset="0"/>
                <a:ea typeface="仿宋" pitchFamily="49" charset="-122"/>
                <a:cs typeface="Consolas" pitchFamily="49" charset="0"/>
              </a:rPr>
              <a:t> &amp;&amp; p!=NULL)</a:t>
            </a:r>
            <a:endParaRPr kumimoji="1" lang="zh-CN" altLang="en-US" sz="1400" dirty="0">
              <a:solidFill>
                <a:srgbClr val="0000FF"/>
              </a:solidFill>
              <a:latin typeface="Consolas" pitchFamily="49" charset="0"/>
              <a:ea typeface="仿宋" pitchFamily="49" charset="-122"/>
              <a:cs typeface="Consolas" pitchFamily="49" charset="0"/>
            </a:endParaRPr>
          </a:p>
          <a:p>
            <a:r>
              <a:rPr kumimoji="1" lang="zh-CN" altLang="en-US" sz="1400" dirty="0">
                <a:solidFill>
                  <a:srgbClr val="0000FF"/>
                </a:solidFill>
                <a:latin typeface="Consolas" pitchFamily="49" charset="0"/>
                <a:ea typeface="仿宋" pitchFamily="49" charset="-122"/>
                <a:cs typeface="Consolas" pitchFamily="49" charset="0"/>
              </a:rPr>
              <a:t>   </a:t>
            </a:r>
            <a:r>
              <a:rPr kumimoji="1" lang="en-US" altLang="zh-CN" sz="1400" dirty="0">
                <a:solidFill>
                  <a:srgbClr val="0000FF"/>
                </a:solidFill>
                <a:latin typeface="Consolas" pitchFamily="49" charset="0"/>
                <a:ea typeface="仿宋" pitchFamily="49" charset="-122"/>
                <a:cs typeface="Consolas" pitchFamily="49" charset="0"/>
              </a:rPr>
              <a:t>{</a:t>
            </a:r>
          </a:p>
          <a:p>
            <a:r>
              <a:rPr kumimoji="1" lang="en-US" altLang="zh-CN" sz="1400" dirty="0">
                <a:solidFill>
                  <a:srgbClr val="0000FF"/>
                </a:solidFill>
                <a:latin typeface="Consolas" pitchFamily="49" charset="0"/>
                <a:ea typeface="仿宋" pitchFamily="49" charset="-122"/>
                <a:cs typeface="Consolas" pitchFamily="49" charset="0"/>
              </a:rPr>
              <a:t>	</a:t>
            </a:r>
            <a:r>
              <a:rPr kumimoji="1" lang="en-US" altLang="zh-CN" sz="1400" dirty="0" err="1">
                <a:solidFill>
                  <a:srgbClr val="0000FF"/>
                </a:solidFill>
                <a:latin typeface="Consolas" pitchFamily="49" charset="0"/>
                <a:ea typeface="仿宋" pitchFamily="49" charset="-122"/>
                <a:cs typeface="Consolas" pitchFamily="49" charset="0"/>
              </a:rPr>
              <a:t>j++</a:t>
            </a:r>
            <a:r>
              <a:rPr kumimoji="1" lang="en-US" altLang="zh-CN" sz="1400" dirty="0">
                <a:solidFill>
                  <a:srgbClr val="0000FF"/>
                </a:solidFill>
                <a:latin typeface="Consolas" pitchFamily="49" charset="0"/>
                <a:ea typeface="仿宋" pitchFamily="49" charset="-122"/>
                <a:cs typeface="Consolas" pitchFamily="49" charset="0"/>
              </a:rPr>
              <a:t>;</a:t>
            </a:r>
          </a:p>
          <a:p>
            <a:r>
              <a:rPr kumimoji="1" lang="en-US" altLang="zh-CN" sz="1400" dirty="0">
                <a:solidFill>
                  <a:srgbClr val="0000FF"/>
                </a:solidFill>
                <a:latin typeface="Consolas" pitchFamily="49" charset="0"/>
                <a:ea typeface="仿宋" pitchFamily="49" charset="-122"/>
                <a:cs typeface="Consolas" pitchFamily="49" charset="0"/>
              </a:rPr>
              <a:t>	p=p-&gt;next;</a:t>
            </a:r>
          </a:p>
          <a:p>
            <a:r>
              <a:rPr kumimoji="1" lang="en-US" altLang="zh-CN" sz="1400" dirty="0">
                <a:solidFill>
                  <a:srgbClr val="0000FF"/>
                </a:solidFill>
                <a:latin typeface="Consolas" pitchFamily="49" charset="0"/>
                <a:ea typeface="仿宋" pitchFamily="49" charset="-122"/>
                <a:cs typeface="Consolas" pitchFamily="49" charset="0"/>
              </a:rPr>
              <a:t>   }</a:t>
            </a:r>
          </a:p>
          <a:p>
            <a:pPr>
              <a:lnSpc>
                <a:spcPts val="2400"/>
              </a:lnSpc>
            </a:pPr>
            <a:r>
              <a:rPr kumimoji="1" lang="en-US" altLang="zh-CN" sz="1400" dirty="0">
                <a:solidFill>
                  <a:srgbClr val="0000FF"/>
                </a:solidFill>
                <a:latin typeface="Consolas" pitchFamily="49" charset="0"/>
                <a:ea typeface="仿宋" pitchFamily="49" charset="-122"/>
                <a:cs typeface="Consolas" pitchFamily="49" charset="0"/>
              </a:rPr>
              <a:t>   if (p==NULL)	       </a:t>
            </a:r>
            <a:r>
              <a:rPr kumimoji="1" lang="en-US" altLang="zh-CN" sz="1400" dirty="0">
                <a:solidFill>
                  <a:srgbClr val="00B0F0"/>
                </a:solidFill>
                <a:latin typeface="Consolas" pitchFamily="49" charset="0"/>
                <a:ea typeface="仿宋" pitchFamily="49" charset="-122"/>
                <a:cs typeface="Consolas" pitchFamily="49" charset="0"/>
              </a:rPr>
              <a:t>//</a:t>
            </a:r>
            <a:r>
              <a:rPr kumimoji="1" lang="zh-CN" altLang="en-US" sz="1400" dirty="0">
                <a:solidFill>
                  <a:srgbClr val="00B0F0"/>
                </a:solidFill>
                <a:latin typeface="Consolas" pitchFamily="49" charset="0"/>
                <a:ea typeface="仿宋" pitchFamily="49" charset="-122"/>
                <a:cs typeface="Consolas" pitchFamily="49" charset="0"/>
              </a:rPr>
              <a:t>不存在第</a:t>
            </a:r>
            <a:r>
              <a:rPr kumimoji="1" lang="en-US" altLang="zh-CN" sz="1400" i="1" dirty="0" err="1">
                <a:solidFill>
                  <a:srgbClr val="00B0F0"/>
                </a:solidFill>
                <a:latin typeface="Consolas" pitchFamily="49" charset="0"/>
                <a:ea typeface="仿宋" pitchFamily="49" charset="-122"/>
                <a:cs typeface="Consolas" pitchFamily="49" charset="0"/>
              </a:rPr>
              <a:t>i</a:t>
            </a:r>
            <a:r>
              <a:rPr kumimoji="1" lang="zh-CN" altLang="en-US" sz="1400" dirty="0">
                <a:solidFill>
                  <a:srgbClr val="00B0F0"/>
                </a:solidFill>
                <a:latin typeface="Consolas" pitchFamily="49" charset="0"/>
                <a:ea typeface="仿宋" pitchFamily="49" charset="-122"/>
                <a:cs typeface="Consolas" pitchFamily="49" charset="0"/>
              </a:rPr>
              <a:t>个数据结点，返回</a:t>
            </a:r>
            <a:r>
              <a:rPr kumimoji="1" lang="en-US" altLang="zh-CN" sz="1400" dirty="0">
                <a:solidFill>
                  <a:srgbClr val="00B0F0"/>
                </a:solidFill>
                <a:latin typeface="Consolas" pitchFamily="49" charset="0"/>
                <a:ea typeface="仿宋" pitchFamily="49" charset="-122"/>
                <a:cs typeface="Consolas" pitchFamily="49" charset="0"/>
              </a:rPr>
              <a:t>false</a:t>
            </a:r>
          </a:p>
          <a:p>
            <a:pPr>
              <a:lnSpc>
                <a:spcPts val="2400"/>
              </a:lnSpc>
            </a:pPr>
            <a:r>
              <a:rPr kumimoji="1" lang="en-US" altLang="zh-CN" sz="1400" dirty="0">
                <a:solidFill>
                  <a:srgbClr val="0000FF"/>
                </a:solidFill>
                <a:latin typeface="Consolas" pitchFamily="49" charset="0"/>
                <a:ea typeface="仿宋" pitchFamily="49" charset="-122"/>
                <a:cs typeface="Consolas" pitchFamily="49" charset="0"/>
              </a:rPr>
              <a:t>      return false;</a:t>
            </a:r>
          </a:p>
          <a:p>
            <a:pPr>
              <a:lnSpc>
                <a:spcPts val="2400"/>
              </a:lnSpc>
            </a:pPr>
            <a:r>
              <a:rPr kumimoji="1" lang="en-US" altLang="zh-CN" sz="1400" dirty="0">
                <a:solidFill>
                  <a:srgbClr val="0000FF"/>
                </a:solidFill>
                <a:latin typeface="Consolas" pitchFamily="49" charset="0"/>
                <a:ea typeface="仿宋" pitchFamily="49" charset="-122"/>
                <a:cs typeface="Consolas" pitchFamily="49" charset="0"/>
              </a:rPr>
              <a:t>   else		       </a:t>
            </a:r>
            <a:r>
              <a:rPr kumimoji="1" lang="en-US" altLang="zh-CN" sz="1400" dirty="0">
                <a:solidFill>
                  <a:srgbClr val="00B0F0"/>
                </a:solidFill>
                <a:latin typeface="Consolas" pitchFamily="49" charset="0"/>
                <a:ea typeface="仿宋" pitchFamily="49" charset="-122"/>
                <a:cs typeface="Consolas" pitchFamily="49" charset="0"/>
              </a:rPr>
              <a:t>//</a:t>
            </a:r>
            <a:r>
              <a:rPr kumimoji="1" lang="zh-CN" altLang="en-US" sz="1400" dirty="0">
                <a:solidFill>
                  <a:srgbClr val="00B0F0"/>
                </a:solidFill>
                <a:latin typeface="Consolas" pitchFamily="49" charset="0"/>
                <a:ea typeface="仿宋" pitchFamily="49" charset="-122"/>
                <a:cs typeface="Consolas" pitchFamily="49" charset="0"/>
              </a:rPr>
              <a:t>存在第</a:t>
            </a:r>
            <a:r>
              <a:rPr kumimoji="1" lang="en-US" altLang="zh-CN" sz="1400" i="1" dirty="0" err="1">
                <a:solidFill>
                  <a:srgbClr val="00B0F0"/>
                </a:solidFill>
                <a:latin typeface="Consolas" pitchFamily="49" charset="0"/>
                <a:ea typeface="仿宋" pitchFamily="49" charset="-122"/>
                <a:cs typeface="Consolas" pitchFamily="49" charset="0"/>
              </a:rPr>
              <a:t>i</a:t>
            </a:r>
            <a:r>
              <a:rPr kumimoji="1" lang="zh-CN" altLang="en-US" sz="1400" dirty="0">
                <a:solidFill>
                  <a:srgbClr val="00B0F0"/>
                </a:solidFill>
                <a:latin typeface="Consolas" pitchFamily="49" charset="0"/>
                <a:ea typeface="仿宋" pitchFamily="49" charset="-122"/>
                <a:cs typeface="Consolas" pitchFamily="49" charset="0"/>
              </a:rPr>
              <a:t>个数据结点，返回</a:t>
            </a:r>
            <a:r>
              <a:rPr kumimoji="1" lang="en-US" altLang="zh-CN" sz="1400" dirty="0">
                <a:solidFill>
                  <a:srgbClr val="00B0F0"/>
                </a:solidFill>
                <a:latin typeface="Consolas" pitchFamily="49" charset="0"/>
                <a:ea typeface="仿宋" pitchFamily="49" charset="-122"/>
                <a:cs typeface="Consolas" pitchFamily="49" charset="0"/>
              </a:rPr>
              <a:t>true</a:t>
            </a:r>
          </a:p>
          <a:p>
            <a:pPr>
              <a:lnSpc>
                <a:spcPts val="2400"/>
              </a:lnSpc>
            </a:pPr>
            <a:r>
              <a:rPr kumimoji="1" lang="en-US" altLang="zh-CN" sz="1400" dirty="0">
                <a:solidFill>
                  <a:srgbClr val="0000FF"/>
                </a:solidFill>
                <a:latin typeface="Consolas" pitchFamily="49" charset="0"/>
                <a:ea typeface="仿宋" pitchFamily="49" charset="-122"/>
                <a:cs typeface="Consolas" pitchFamily="49" charset="0"/>
              </a:rPr>
              <a:t>   {</a:t>
            </a:r>
          </a:p>
          <a:p>
            <a:pPr>
              <a:lnSpc>
                <a:spcPts val="2400"/>
              </a:lnSpc>
            </a:pPr>
            <a:r>
              <a:rPr kumimoji="1" lang="en-US" altLang="zh-CN" sz="1400" dirty="0">
                <a:solidFill>
                  <a:srgbClr val="0000FF"/>
                </a:solidFill>
                <a:latin typeface="Consolas" pitchFamily="49" charset="0"/>
                <a:ea typeface="仿宋" pitchFamily="49" charset="-122"/>
                <a:cs typeface="Consolas" pitchFamily="49" charset="0"/>
              </a:rPr>
              <a:t>      e=p-&gt;data;</a:t>
            </a:r>
          </a:p>
          <a:p>
            <a:pPr>
              <a:lnSpc>
                <a:spcPts val="2400"/>
              </a:lnSpc>
            </a:pPr>
            <a:r>
              <a:rPr kumimoji="1" lang="en-US" altLang="zh-CN" sz="1400" dirty="0">
                <a:solidFill>
                  <a:srgbClr val="0000FF"/>
                </a:solidFill>
                <a:latin typeface="Consolas" pitchFamily="49" charset="0"/>
                <a:ea typeface="仿宋" pitchFamily="49" charset="-122"/>
                <a:cs typeface="Consolas" pitchFamily="49" charset="0"/>
              </a:rPr>
              <a:t>      return true;</a:t>
            </a:r>
          </a:p>
          <a:p>
            <a:pPr>
              <a:lnSpc>
                <a:spcPts val="2400"/>
              </a:lnSpc>
            </a:pPr>
            <a:r>
              <a:rPr kumimoji="1" lang="en-US" altLang="zh-CN" sz="1400" dirty="0">
                <a:solidFill>
                  <a:srgbClr val="0000FF"/>
                </a:solidFill>
                <a:latin typeface="Consolas" pitchFamily="49" charset="0"/>
                <a:ea typeface="仿宋" pitchFamily="49" charset="-122"/>
                <a:cs typeface="Consolas" pitchFamily="49" charset="0"/>
              </a:rPr>
              <a:t>   }</a:t>
            </a:r>
          </a:p>
          <a:p>
            <a:pPr>
              <a:lnSpc>
                <a:spcPts val="2400"/>
              </a:lnSpc>
            </a:pPr>
            <a:r>
              <a:rPr kumimoji="1" lang="en-US" altLang="zh-CN" sz="1400" dirty="0">
                <a:solidFill>
                  <a:srgbClr val="0000FF"/>
                </a:solidFill>
                <a:latin typeface="Consolas" pitchFamily="49" charset="0"/>
                <a:ea typeface="仿宋" pitchFamily="49" charset="-122"/>
                <a:cs typeface="Consolas" pitchFamily="49" charset="0"/>
              </a:rPr>
              <a:t>}</a:t>
            </a:r>
          </a:p>
        </p:txBody>
      </p:sp>
    </p:spTree>
    <p:extLst>
      <p:ext uri="{BB962C8B-B14F-4D97-AF65-F5344CB8AC3E}">
        <p14:creationId xmlns:p14="http://schemas.microsoft.com/office/powerpoint/2010/main" val="36403893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1600" y="692696"/>
            <a:ext cx="7520940" cy="2160240"/>
          </a:xfrm>
        </p:spPr>
        <p:txBody>
          <a:bodyPr/>
          <a:lstStyle/>
          <a:p>
            <a:r>
              <a:rPr lang="zh-CN" altLang="zh-CN" dirty="0"/>
              <a:t>2. </a:t>
            </a:r>
            <a:r>
              <a:rPr lang="zh-CN" altLang="zh-CN" dirty="0">
                <a:solidFill>
                  <a:srgbClr val="FF0000"/>
                </a:solidFill>
              </a:rPr>
              <a:t>单链表的插入</a:t>
            </a:r>
          </a:p>
          <a:p>
            <a:r>
              <a:rPr lang="en-US" altLang="zh-CN" b="0" dirty="0"/>
              <a:t>	</a:t>
            </a:r>
            <a:r>
              <a:rPr lang="zh-CN" altLang="zh-CN" b="0" dirty="0"/>
              <a:t>假设在</a:t>
            </a:r>
            <a:r>
              <a:rPr lang="zh-CN" altLang="zh-CN" dirty="0"/>
              <a:t>不带头结点</a:t>
            </a:r>
            <a:r>
              <a:rPr lang="zh-CN" altLang="zh-CN" b="0" dirty="0"/>
              <a:t>的单链表中插入结点d，s为指向结点d的指针，则有以下</a:t>
            </a:r>
            <a:r>
              <a:rPr lang="zh-CN" altLang="zh-CN" b="0" dirty="0">
                <a:solidFill>
                  <a:srgbClr val="FF0000"/>
                </a:solidFill>
              </a:rPr>
              <a:t>两种</a:t>
            </a:r>
            <a:r>
              <a:rPr lang="zh-CN" altLang="zh-CN" b="0" dirty="0"/>
              <a:t>情况：</a:t>
            </a:r>
          </a:p>
          <a:p>
            <a:r>
              <a:rPr lang="zh-CN" altLang="zh-CN" dirty="0"/>
              <a:t>（1）将结点d插入到链表的头部。</a:t>
            </a:r>
          </a:p>
          <a:p>
            <a:endParaRPr lang="zh-CN" altLang="en-US" dirty="0"/>
          </a:p>
        </p:txBody>
      </p:sp>
      <p:sp>
        <p:nvSpPr>
          <p:cNvPr id="4" name="矩形 3"/>
          <p:cNvSpPr/>
          <p:nvPr/>
        </p:nvSpPr>
        <p:spPr>
          <a:xfrm>
            <a:off x="1691680" y="4941168"/>
            <a:ext cx="4572000" cy="1200329"/>
          </a:xfrm>
          <a:prstGeom prst="rect">
            <a:avLst/>
          </a:prstGeom>
        </p:spPr>
        <p:txBody>
          <a:bodyPr>
            <a:spAutoFit/>
          </a:bodyPr>
          <a:lstStyle/>
          <a:p>
            <a:r>
              <a:rPr lang="zh-CN" altLang="zh-CN" sz="2400" b="1" dirty="0">
                <a:latin typeface="Times New Roman" panose="02020603050405020304" pitchFamily="18" charset="0"/>
                <a:ea typeface="楷体" panose="02010609060101010101" pitchFamily="49" charset="-122"/>
                <a:cs typeface="Times New Roman" panose="02020603050405020304" pitchFamily="18" charset="0"/>
              </a:rPr>
              <a:t>指针的修改用语句描述为：</a:t>
            </a:r>
          </a:p>
          <a:p>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s-&gt;next = head</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p>
          <a:p>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head= s</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p>
        </p:txBody>
      </p:sp>
      <p:sp>
        <p:nvSpPr>
          <p:cNvPr id="1467" name="Rectangle 241"/>
          <p:cNvSpPr>
            <a:spLocks noChangeArrowheads="1"/>
          </p:cNvSpPr>
          <p:nvPr/>
        </p:nvSpPr>
        <p:spPr bwMode="auto">
          <a:xfrm>
            <a:off x="2555776" y="3648445"/>
            <a:ext cx="499816" cy="475492"/>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宋体" pitchFamily="2" charset="-122"/>
                <a:ea typeface="宋体" pitchFamily="2" charset="-122"/>
                <a:cs typeface="宋体" pitchFamily="2" charset="-122"/>
              </a:rPr>
              <a:t>d</a:t>
            </a:r>
            <a:endParaRPr kumimoji="0" lang="zh-CN" alt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468" name="Rectangle 242"/>
          <p:cNvSpPr>
            <a:spLocks noChangeArrowheads="1"/>
          </p:cNvSpPr>
          <p:nvPr/>
        </p:nvSpPr>
        <p:spPr bwMode="auto">
          <a:xfrm>
            <a:off x="3055593" y="3648445"/>
            <a:ext cx="249908" cy="475492"/>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469" name="Rectangle 243"/>
          <p:cNvSpPr>
            <a:spLocks noChangeArrowheads="1"/>
          </p:cNvSpPr>
          <p:nvPr/>
        </p:nvSpPr>
        <p:spPr bwMode="auto">
          <a:xfrm>
            <a:off x="2517344" y="3007043"/>
            <a:ext cx="499816" cy="475492"/>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宋体" pitchFamily="2" charset="-122"/>
                <a:ea typeface="宋体" pitchFamily="2" charset="-122"/>
                <a:cs typeface="宋体" pitchFamily="2" charset="-122"/>
              </a:rPr>
              <a:t>a</a:t>
            </a:r>
            <a:endParaRPr kumimoji="0" lang="zh-CN" alt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470" name="Rectangle 244"/>
          <p:cNvSpPr>
            <a:spLocks noChangeArrowheads="1"/>
          </p:cNvSpPr>
          <p:nvPr/>
        </p:nvSpPr>
        <p:spPr bwMode="auto">
          <a:xfrm>
            <a:off x="3017161" y="3007043"/>
            <a:ext cx="249908" cy="475492"/>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471" name="Rectangle 245"/>
          <p:cNvSpPr>
            <a:spLocks noChangeArrowheads="1"/>
          </p:cNvSpPr>
          <p:nvPr/>
        </p:nvSpPr>
        <p:spPr bwMode="auto">
          <a:xfrm>
            <a:off x="3516977" y="3007043"/>
            <a:ext cx="499816" cy="475492"/>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宋体" pitchFamily="2" charset="-122"/>
                <a:ea typeface="宋体" pitchFamily="2" charset="-122"/>
                <a:cs typeface="宋体" pitchFamily="2" charset="-122"/>
              </a:rPr>
              <a:t>b</a:t>
            </a:r>
            <a:endParaRPr kumimoji="0" lang="zh-CN" alt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472" name="Rectangle 246"/>
          <p:cNvSpPr>
            <a:spLocks noChangeArrowheads="1"/>
          </p:cNvSpPr>
          <p:nvPr/>
        </p:nvSpPr>
        <p:spPr bwMode="auto">
          <a:xfrm>
            <a:off x="4016794" y="3007043"/>
            <a:ext cx="249908" cy="475492"/>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473" name="Line 247"/>
          <p:cNvSpPr>
            <a:spLocks noChangeShapeType="1"/>
          </p:cNvSpPr>
          <p:nvPr/>
        </p:nvSpPr>
        <p:spPr bwMode="auto">
          <a:xfrm flipV="1">
            <a:off x="1736381" y="3212292"/>
            <a:ext cx="780963" cy="3421"/>
          </a:xfrm>
          <a:prstGeom prst="line">
            <a:avLst/>
          </a:prstGeom>
          <a:noFill/>
          <a:ln w="9525">
            <a:solidFill>
              <a:srgbClr val="000000"/>
            </a:solidFill>
            <a:round/>
            <a:headEnd/>
            <a:tailEnd type="triangle" w="sm" len="sm"/>
          </a:ln>
        </p:spPr>
        <p:txBody>
          <a:bodyPr vert="horz" wrap="square" lIns="91440" tIns="45720" rIns="91440" bIns="45720" numCol="1" anchor="t" anchorCtr="0" compatLnSpc="1">
            <a:prstTxWarp prst="textNoShape">
              <a:avLst/>
            </a:prstTxWarp>
          </a:bodyPr>
          <a:lstStyle/>
          <a:p>
            <a:endParaRPr lang="zh-CN" altLang="en-US" sz="2000"/>
          </a:p>
        </p:txBody>
      </p:sp>
      <p:sp>
        <p:nvSpPr>
          <p:cNvPr id="1474" name="Line 248"/>
          <p:cNvSpPr>
            <a:spLocks noChangeShapeType="1"/>
          </p:cNvSpPr>
          <p:nvPr/>
        </p:nvSpPr>
        <p:spPr bwMode="auto">
          <a:xfrm>
            <a:off x="3142115" y="3246500"/>
            <a:ext cx="374862" cy="1710"/>
          </a:xfrm>
          <a:prstGeom prst="line">
            <a:avLst/>
          </a:prstGeom>
          <a:noFill/>
          <a:ln w="9525">
            <a:solidFill>
              <a:srgbClr val="000000"/>
            </a:solidFill>
            <a:round/>
            <a:headEnd/>
            <a:tailEnd type="triangle" w="sm" len="sm"/>
          </a:ln>
        </p:spPr>
        <p:txBody>
          <a:bodyPr vert="horz" wrap="square" lIns="91440" tIns="45720" rIns="91440" bIns="45720" numCol="1" anchor="t" anchorCtr="0" compatLnSpc="1">
            <a:prstTxWarp prst="textNoShape">
              <a:avLst/>
            </a:prstTxWarp>
          </a:bodyPr>
          <a:lstStyle/>
          <a:p>
            <a:endParaRPr lang="zh-CN" altLang="en-US" sz="2000"/>
          </a:p>
        </p:txBody>
      </p:sp>
      <p:sp>
        <p:nvSpPr>
          <p:cNvPr id="1477" name="Rectangle 251"/>
          <p:cNvSpPr>
            <a:spLocks noChangeArrowheads="1"/>
          </p:cNvSpPr>
          <p:nvPr/>
        </p:nvSpPr>
        <p:spPr bwMode="auto">
          <a:xfrm>
            <a:off x="7265601" y="3007043"/>
            <a:ext cx="499816" cy="475492"/>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宋体" pitchFamily="2" charset="-122"/>
                <a:ea typeface="宋体" pitchFamily="2" charset="-122"/>
                <a:cs typeface="宋体" pitchFamily="2" charset="-122"/>
              </a:rPr>
              <a:t>b</a:t>
            </a:r>
            <a:endParaRPr kumimoji="0" lang="zh-CN" alt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478" name="Rectangle 252"/>
          <p:cNvSpPr>
            <a:spLocks noChangeArrowheads="1"/>
          </p:cNvSpPr>
          <p:nvPr/>
        </p:nvSpPr>
        <p:spPr bwMode="auto">
          <a:xfrm>
            <a:off x="7765417" y="3007043"/>
            <a:ext cx="249908" cy="475492"/>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479" name="Rectangle 253"/>
          <p:cNvSpPr>
            <a:spLocks noChangeArrowheads="1"/>
          </p:cNvSpPr>
          <p:nvPr/>
        </p:nvSpPr>
        <p:spPr bwMode="auto">
          <a:xfrm>
            <a:off x="6265968" y="3007043"/>
            <a:ext cx="499816" cy="475492"/>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宋体" pitchFamily="2" charset="-122"/>
                <a:ea typeface="宋体" pitchFamily="2" charset="-122"/>
                <a:cs typeface="宋体" pitchFamily="2" charset="-122"/>
              </a:rPr>
              <a:t>a</a:t>
            </a:r>
            <a:endParaRPr kumimoji="0" lang="zh-CN" alt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480" name="Rectangle 254"/>
          <p:cNvSpPr>
            <a:spLocks noChangeArrowheads="1"/>
          </p:cNvSpPr>
          <p:nvPr/>
        </p:nvSpPr>
        <p:spPr bwMode="auto">
          <a:xfrm>
            <a:off x="6765784" y="3007043"/>
            <a:ext cx="249908" cy="475492"/>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481" name="Line 255"/>
          <p:cNvSpPr>
            <a:spLocks noChangeShapeType="1"/>
          </p:cNvSpPr>
          <p:nvPr/>
        </p:nvSpPr>
        <p:spPr bwMode="auto">
          <a:xfrm flipV="1">
            <a:off x="6890738" y="3246500"/>
            <a:ext cx="374862" cy="5131"/>
          </a:xfrm>
          <a:prstGeom prst="line">
            <a:avLst/>
          </a:prstGeom>
          <a:noFill/>
          <a:ln w="9525">
            <a:solidFill>
              <a:srgbClr val="000000"/>
            </a:solidFill>
            <a:round/>
            <a:headEnd/>
            <a:tailEnd type="triangle" w="sm" len="sm"/>
          </a:ln>
        </p:spPr>
        <p:txBody>
          <a:bodyPr vert="horz" wrap="square" lIns="91440" tIns="45720" rIns="91440" bIns="45720" numCol="1" anchor="t" anchorCtr="0" compatLnSpc="1">
            <a:prstTxWarp prst="textNoShape">
              <a:avLst/>
            </a:prstTxWarp>
          </a:bodyPr>
          <a:lstStyle/>
          <a:p>
            <a:endParaRPr lang="zh-CN" altLang="en-US" sz="2000"/>
          </a:p>
        </p:txBody>
      </p:sp>
      <p:sp>
        <p:nvSpPr>
          <p:cNvPr id="1483" name="Rectangle 257"/>
          <p:cNvSpPr>
            <a:spLocks noChangeArrowheads="1"/>
          </p:cNvSpPr>
          <p:nvPr/>
        </p:nvSpPr>
        <p:spPr bwMode="auto">
          <a:xfrm>
            <a:off x="5516243" y="3843431"/>
            <a:ext cx="499816" cy="475492"/>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宋体" pitchFamily="2" charset="-122"/>
                <a:ea typeface="宋体" pitchFamily="2" charset="-122"/>
                <a:cs typeface="宋体" pitchFamily="2" charset="-122"/>
              </a:rPr>
              <a:t>d</a:t>
            </a:r>
            <a:endParaRPr kumimoji="0" lang="zh-CN" alt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484" name="Rectangle 258"/>
          <p:cNvSpPr>
            <a:spLocks noChangeArrowheads="1"/>
          </p:cNvSpPr>
          <p:nvPr/>
        </p:nvSpPr>
        <p:spPr bwMode="auto">
          <a:xfrm>
            <a:off x="6016060" y="3843431"/>
            <a:ext cx="249908" cy="475492"/>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485" name="Freeform 259"/>
          <p:cNvSpPr>
            <a:spLocks/>
          </p:cNvSpPr>
          <p:nvPr/>
        </p:nvSpPr>
        <p:spPr bwMode="auto">
          <a:xfrm>
            <a:off x="6057711" y="3280708"/>
            <a:ext cx="437339" cy="820994"/>
          </a:xfrm>
          <a:custGeom>
            <a:avLst/>
            <a:gdLst>
              <a:gd name="T0" fmla="*/ 160 w 420"/>
              <a:gd name="T1" fmla="*/ 480 h 489"/>
              <a:gd name="T2" fmla="*/ 400 w 420"/>
              <a:gd name="T3" fmla="*/ 320 h 489"/>
              <a:gd name="T4" fmla="*/ 40 w 420"/>
              <a:gd name="T5" fmla="*/ 160 h 489"/>
              <a:gd name="T6" fmla="*/ 160 w 420"/>
              <a:gd name="T7" fmla="*/ 0 h 4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20" h="489">
                <a:moveTo>
                  <a:pt x="160" y="489"/>
                </a:moveTo>
                <a:cubicBezTo>
                  <a:pt x="290" y="434"/>
                  <a:pt x="420" y="380"/>
                  <a:pt x="400" y="326"/>
                </a:cubicBezTo>
                <a:cubicBezTo>
                  <a:pt x="380" y="272"/>
                  <a:pt x="80" y="217"/>
                  <a:pt x="40" y="163"/>
                </a:cubicBezTo>
                <a:cubicBezTo>
                  <a:pt x="0" y="109"/>
                  <a:pt x="140" y="27"/>
                  <a:pt x="160" y="0"/>
                </a:cubicBezTo>
              </a:path>
            </a:pathLst>
          </a:custGeom>
          <a:noFill/>
          <a:ln w="9525">
            <a:solidFill>
              <a:srgbClr val="000000"/>
            </a:solidFill>
            <a:prstDash val="dash"/>
            <a:round/>
            <a:headEnd/>
            <a:tailEnd type="triangle" w="sm" len="sm"/>
          </a:ln>
        </p:spPr>
        <p:txBody>
          <a:bodyPr vert="horz" wrap="square" lIns="91440" tIns="45720" rIns="91440" bIns="45720" numCol="1" anchor="t" anchorCtr="0" compatLnSpc="1">
            <a:prstTxWarp prst="textNoShape">
              <a:avLst/>
            </a:prstTxWarp>
          </a:bodyPr>
          <a:lstStyle/>
          <a:p>
            <a:endParaRPr lang="zh-CN" altLang="en-US" sz="2000"/>
          </a:p>
        </p:txBody>
      </p:sp>
      <p:sp>
        <p:nvSpPr>
          <p:cNvPr id="1486" name="Line 260"/>
          <p:cNvSpPr>
            <a:spLocks noChangeShapeType="1"/>
          </p:cNvSpPr>
          <p:nvPr/>
        </p:nvSpPr>
        <p:spPr bwMode="auto">
          <a:xfrm>
            <a:off x="2123728" y="3861048"/>
            <a:ext cx="432048" cy="28560"/>
          </a:xfrm>
          <a:prstGeom prst="line">
            <a:avLst/>
          </a:prstGeom>
          <a:noFill/>
          <a:ln w="9525">
            <a:solidFill>
              <a:srgbClr val="000000"/>
            </a:solidFill>
            <a:round/>
            <a:headEnd/>
            <a:tailEnd type="triangle" w="sm" len="sm"/>
          </a:ln>
        </p:spPr>
        <p:txBody>
          <a:bodyPr vert="horz" wrap="square" lIns="91440" tIns="45720" rIns="91440" bIns="45720" numCol="1" anchor="t" anchorCtr="0" compatLnSpc="1">
            <a:prstTxWarp prst="textNoShape">
              <a:avLst/>
            </a:prstTxWarp>
          </a:bodyPr>
          <a:lstStyle/>
          <a:p>
            <a:endParaRPr lang="zh-CN" altLang="en-US" sz="2000"/>
          </a:p>
        </p:txBody>
      </p:sp>
      <p:sp>
        <p:nvSpPr>
          <p:cNvPr id="1487" name="Line 261"/>
          <p:cNvSpPr>
            <a:spLocks noChangeShapeType="1"/>
          </p:cNvSpPr>
          <p:nvPr/>
        </p:nvSpPr>
        <p:spPr bwMode="auto">
          <a:xfrm>
            <a:off x="4141748" y="3280708"/>
            <a:ext cx="374862" cy="0"/>
          </a:xfrm>
          <a:prstGeom prst="line">
            <a:avLst/>
          </a:prstGeom>
          <a:noFill/>
          <a:ln w="9525">
            <a:solidFill>
              <a:srgbClr val="000000"/>
            </a:solidFill>
            <a:round/>
            <a:headEnd/>
            <a:tailEnd type="triangle" w="sm" len="sm"/>
          </a:ln>
        </p:spPr>
        <p:txBody>
          <a:bodyPr vert="horz" wrap="square" lIns="91440" tIns="45720" rIns="91440" bIns="45720" numCol="1" anchor="t" anchorCtr="0" compatLnSpc="1">
            <a:prstTxWarp prst="textNoShape">
              <a:avLst/>
            </a:prstTxWarp>
          </a:bodyPr>
          <a:lstStyle/>
          <a:p>
            <a:endParaRPr lang="zh-CN" altLang="en-US" sz="2000"/>
          </a:p>
        </p:txBody>
      </p:sp>
      <p:sp>
        <p:nvSpPr>
          <p:cNvPr id="1488" name="Line 262"/>
          <p:cNvSpPr>
            <a:spLocks noChangeShapeType="1"/>
          </p:cNvSpPr>
          <p:nvPr/>
        </p:nvSpPr>
        <p:spPr bwMode="auto">
          <a:xfrm>
            <a:off x="7869546" y="3246500"/>
            <a:ext cx="374862" cy="0"/>
          </a:xfrm>
          <a:prstGeom prst="line">
            <a:avLst/>
          </a:prstGeom>
          <a:noFill/>
          <a:ln w="9525">
            <a:solidFill>
              <a:srgbClr val="000000"/>
            </a:solidFill>
            <a:round/>
            <a:headEnd/>
            <a:tailEnd type="triangle" w="sm" len="sm"/>
          </a:ln>
        </p:spPr>
        <p:txBody>
          <a:bodyPr vert="horz" wrap="square" lIns="91440" tIns="45720" rIns="91440" bIns="45720" numCol="1" anchor="t" anchorCtr="0" compatLnSpc="1">
            <a:prstTxWarp prst="textNoShape">
              <a:avLst/>
            </a:prstTxWarp>
          </a:bodyPr>
          <a:lstStyle/>
          <a:p>
            <a:endParaRPr lang="zh-CN" altLang="en-US" sz="2000"/>
          </a:p>
        </p:txBody>
      </p:sp>
      <p:sp>
        <p:nvSpPr>
          <p:cNvPr id="1489" name="Text Box 263"/>
          <p:cNvSpPr txBox="1">
            <a:spLocks noChangeArrowheads="1"/>
          </p:cNvSpPr>
          <p:nvPr/>
        </p:nvSpPr>
        <p:spPr bwMode="auto">
          <a:xfrm>
            <a:off x="1187624" y="2924944"/>
            <a:ext cx="709115" cy="46180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Calibri" pitchFamily="34" charset="0"/>
                <a:ea typeface="宋体" pitchFamily="2" charset="-122"/>
                <a:cs typeface="宋体" pitchFamily="2" charset="-122"/>
              </a:rPr>
              <a:t>head</a:t>
            </a:r>
            <a:endParaRPr kumimoji="0" lang="zh-CN" alt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490" name="Text Box 264"/>
          <p:cNvSpPr txBox="1">
            <a:spLocks noChangeArrowheads="1"/>
          </p:cNvSpPr>
          <p:nvPr/>
        </p:nvSpPr>
        <p:spPr bwMode="auto">
          <a:xfrm>
            <a:off x="1907704" y="3717032"/>
            <a:ext cx="187431" cy="46180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Calibri" pitchFamily="34" charset="0"/>
                <a:ea typeface="宋体" pitchFamily="2" charset="-122"/>
                <a:cs typeface="宋体" pitchFamily="2" charset="-122"/>
              </a:rPr>
              <a:t>s</a:t>
            </a:r>
            <a:endParaRPr kumimoji="0" lang="zh-CN" altLang="zh-CN" sz="2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1491" name="Line 265"/>
          <p:cNvSpPr>
            <a:spLocks noChangeShapeType="1"/>
          </p:cNvSpPr>
          <p:nvPr/>
        </p:nvSpPr>
        <p:spPr bwMode="auto">
          <a:xfrm>
            <a:off x="5251757" y="4146172"/>
            <a:ext cx="249908" cy="1710"/>
          </a:xfrm>
          <a:prstGeom prst="line">
            <a:avLst/>
          </a:prstGeom>
          <a:noFill/>
          <a:ln w="9525">
            <a:solidFill>
              <a:srgbClr val="000000"/>
            </a:solidFill>
            <a:round/>
            <a:headEnd/>
            <a:tailEnd type="triangle" w="sm" len="sm"/>
          </a:ln>
        </p:spPr>
        <p:txBody>
          <a:bodyPr vert="horz" wrap="square" lIns="91440" tIns="45720" rIns="91440" bIns="45720" numCol="1" anchor="t" anchorCtr="0" compatLnSpc="1">
            <a:prstTxWarp prst="textNoShape">
              <a:avLst/>
            </a:prstTxWarp>
          </a:bodyPr>
          <a:lstStyle/>
          <a:p>
            <a:endParaRPr lang="zh-CN" altLang="en-US" sz="2000"/>
          </a:p>
        </p:txBody>
      </p:sp>
      <p:sp>
        <p:nvSpPr>
          <p:cNvPr id="1492" name="Text Box 266"/>
          <p:cNvSpPr txBox="1">
            <a:spLocks noChangeArrowheads="1"/>
          </p:cNvSpPr>
          <p:nvPr/>
        </p:nvSpPr>
        <p:spPr bwMode="auto">
          <a:xfrm>
            <a:off x="4716016" y="2996952"/>
            <a:ext cx="711314" cy="46180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Calibri" pitchFamily="34" charset="0"/>
                <a:ea typeface="宋体" pitchFamily="2" charset="-122"/>
                <a:cs typeface="宋体" pitchFamily="2" charset="-122"/>
              </a:rPr>
              <a:t>head</a:t>
            </a:r>
            <a:endParaRPr kumimoji="0" lang="zh-CN" altLang="zh-CN" sz="2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1493" name="Text Box 267"/>
          <p:cNvSpPr txBox="1">
            <a:spLocks noChangeArrowheads="1"/>
          </p:cNvSpPr>
          <p:nvPr/>
        </p:nvSpPr>
        <p:spPr bwMode="auto">
          <a:xfrm>
            <a:off x="5014344" y="3903295"/>
            <a:ext cx="187431" cy="46180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Calibri" pitchFamily="34" charset="0"/>
                <a:ea typeface="宋体" pitchFamily="2" charset="-122"/>
                <a:cs typeface="宋体" pitchFamily="2" charset="-122"/>
              </a:rPr>
              <a:t>s</a:t>
            </a:r>
            <a:endParaRPr kumimoji="0" lang="zh-CN" alt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494" name="Freeform 268"/>
          <p:cNvSpPr>
            <a:spLocks/>
          </p:cNvSpPr>
          <p:nvPr/>
        </p:nvSpPr>
        <p:spPr bwMode="auto">
          <a:xfrm rot="3081732">
            <a:off x="5109483" y="3303045"/>
            <a:ext cx="663669" cy="517146"/>
          </a:xfrm>
          <a:custGeom>
            <a:avLst/>
            <a:gdLst>
              <a:gd name="T0" fmla="*/ 0 w 164"/>
              <a:gd name="T1" fmla="*/ 0 h 436"/>
              <a:gd name="T2" fmla="*/ 252 w 164"/>
              <a:gd name="T3" fmla="*/ 47 h 436"/>
              <a:gd name="T4" fmla="*/ 218 w 164"/>
              <a:gd name="T5" fmla="*/ 217 h 436"/>
              <a:gd name="T6" fmla="*/ 92 w 164"/>
              <a:gd name="T7" fmla="*/ 372 h 436"/>
              <a:gd name="T8" fmla="*/ 344 w 164"/>
              <a:gd name="T9" fmla="*/ 450 h 436"/>
              <a:gd name="T10" fmla="*/ 0 60000 65536"/>
              <a:gd name="T11" fmla="*/ 0 60000 65536"/>
              <a:gd name="T12" fmla="*/ 0 60000 65536"/>
              <a:gd name="T13" fmla="*/ 0 60000 65536"/>
              <a:gd name="T14" fmla="*/ 0 60000 65536"/>
              <a:gd name="connsiteX0" fmla="*/ 0 w 10000"/>
              <a:gd name="connsiteY0" fmla="*/ 0 h 10000"/>
              <a:gd name="connsiteX1" fmla="*/ 4067 w 10000"/>
              <a:gd name="connsiteY1" fmla="*/ 2659 h 10000"/>
              <a:gd name="connsiteX2" fmla="*/ 6341 w 10000"/>
              <a:gd name="connsiteY2" fmla="*/ 4817 h 10000"/>
              <a:gd name="connsiteX3" fmla="*/ 2683 w 10000"/>
              <a:gd name="connsiteY3" fmla="*/ 8257 h 10000"/>
              <a:gd name="connsiteX4" fmla="*/ 10000 w 10000"/>
              <a:gd name="connsiteY4" fmla="*/ 10000 h 10000"/>
              <a:gd name="connsiteX0" fmla="*/ 0 w 10000"/>
              <a:gd name="connsiteY0" fmla="*/ 0 h 11541"/>
              <a:gd name="connsiteX1" fmla="*/ 4067 w 10000"/>
              <a:gd name="connsiteY1" fmla="*/ 2659 h 11541"/>
              <a:gd name="connsiteX2" fmla="*/ 6341 w 10000"/>
              <a:gd name="connsiteY2" fmla="*/ 4817 h 11541"/>
              <a:gd name="connsiteX3" fmla="*/ 4835 w 10000"/>
              <a:gd name="connsiteY3" fmla="*/ 10670 h 11541"/>
              <a:gd name="connsiteX4" fmla="*/ 10000 w 10000"/>
              <a:gd name="connsiteY4" fmla="*/ 10000 h 11541"/>
              <a:gd name="connsiteX0" fmla="*/ 0 w 10000"/>
              <a:gd name="connsiteY0" fmla="*/ 0 h 10855"/>
              <a:gd name="connsiteX1" fmla="*/ 4067 w 10000"/>
              <a:gd name="connsiteY1" fmla="*/ 2659 h 10855"/>
              <a:gd name="connsiteX2" fmla="*/ 2921 w 10000"/>
              <a:gd name="connsiteY2" fmla="*/ 8890 h 10855"/>
              <a:gd name="connsiteX3" fmla="*/ 4835 w 10000"/>
              <a:gd name="connsiteY3" fmla="*/ 10670 h 10855"/>
              <a:gd name="connsiteX4" fmla="*/ 10000 w 10000"/>
              <a:gd name="connsiteY4" fmla="*/ 10000 h 10855"/>
              <a:gd name="connsiteX0" fmla="*/ 0 w 10000"/>
              <a:gd name="connsiteY0" fmla="*/ 0 h 10855"/>
              <a:gd name="connsiteX1" fmla="*/ 4067 w 10000"/>
              <a:gd name="connsiteY1" fmla="*/ 2659 h 10855"/>
              <a:gd name="connsiteX2" fmla="*/ 2921 w 10000"/>
              <a:gd name="connsiteY2" fmla="*/ 8890 h 10855"/>
              <a:gd name="connsiteX3" fmla="*/ 4835 w 10000"/>
              <a:gd name="connsiteY3" fmla="*/ 10670 h 10855"/>
              <a:gd name="connsiteX4" fmla="*/ 10000 w 10000"/>
              <a:gd name="connsiteY4" fmla="*/ 10000 h 10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855">
                <a:moveTo>
                  <a:pt x="0" y="0"/>
                </a:moveTo>
                <a:cubicBezTo>
                  <a:pt x="3110" y="115"/>
                  <a:pt x="3580" y="1177"/>
                  <a:pt x="4067" y="2659"/>
                </a:cubicBezTo>
                <a:cubicBezTo>
                  <a:pt x="4554" y="4141"/>
                  <a:pt x="2793" y="7555"/>
                  <a:pt x="2921" y="8890"/>
                </a:cubicBezTo>
                <a:cubicBezTo>
                  <a:pt x="3049" y="10225"/>
                  <a:pt x="3655" y="10485"/>
                  <a:pt x="4835" y="10670"/>
                </a:cubicBezTo>
                <a:cubicBezTo>
                  <a:pt x="6015" y="10855"/>
                  <a:pt x="8780" y="9702"/>
                  <a:pt x="10000" y="10000"/>
                </a:cubicBezTo>
              </a:path>
            </a:pathLst>
          </a:custGeom>
          <a:noFill/>
          <a:ln w="9525">
            <a:solidFill>
              <a:srgbClr val="000000"/>
            </a:solidFill>
            <a:prstDash val="sysDash"/>
            <a:round/>
            <a:headEnd/>
            <a:tailEnd type="triangle" w="sm" len="sm"/>
          </a:ln>
        </p:spPr>
        <p:txBody>
          <a:bodyPr vert="horz" wrap="square" lIns="91440" tIns="45720" rIns="91440" bIns="45720" numCol="1" anchor="t" anchorCtr="0" compatLnSpc="1">
            <a:prstTxWarp prst="textNoShape">
              <a:avLst/>
            </a:prstTxWarp>
          </a:bodyPr>
          <a:lstStyle/>
          <a:p>
            <a:endParaRPr lang="zh-CN" altLang="en-US" sz="2000"/>
          </a:p>
        </p:txBody>
      </p:sp>
      <p:sp>
        <p:nvSpPr>
          <p:cNvPr id="51227" name="Rectangle 27"/>
          <p:cNvSpPr>
            <a:spLocks noChangeArrowheads="1"/>
          </p:cNvSpPr>
          <p:nvPr/>
        </p:nvSpPr>
        <p:spPr bwMode="auto">
          <a:xfrm>
            <a:off x="1691680" y="4365104"/>
            <a:ext cx="5940152"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b="0" i="0" u="none" strike="noStrike" cap="none" normalizeH="0" baseline="0" dirty="0">
                <a:ln>
                  <a:noFill/>
                </a:ln>
                <a:solidFill>
                  <a:srgbClr val="000000"/>
                </a:solidFill>
                <a:effectLst/>
                <a:latin typeface="Calibri" pitchFamily="34" charset="0"/>
                <a:ea typeface="宋体" pitchFamily="2" charset="-122"/>
                <a:cs typeface="Times New Roman" pitchFamily="18" charset="0"/>
              </a:rPr>
              <a:t> </a:t>
            </a:r>
            <a:r>
              <a:rPr kumimoji="0" lang="en-US" altLang="zh-CN" b="0" i="0" u="none" strike="noStrike" cap="none" normalizeH="0" baseline="0" dirty="0">
                <a:ln>
                  <a:noFill/>
                </a:ln>
                <a:solidFill>
                  <a:srgbClr val="000000"/>
                </a:solidFill>
                <a:effectLst/>
                <a:latin typeface="Calibri" pitchFamily="34" charset="0"/>
                <a:ea typeface="宋体" pitchFamily="2" charset="-122"/>
                <a:cs typeface="Times New Roman" pitchFamily="18" charset="0"/>
              </a:rPr>
              <a:t>(a) </a:t>
            </a:r>
            <a:r>
              <a:rPr kumimoji="0" lang="zh-CN" altLang="en-US"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插入前的单链表</a:t>
            </a:r>
            <a:r>
              <a:rPr kumimoji="0" lang="zh-CN" altLang="en-US" b="0" i="0" u="none" strike="noStrike" cap="none" normalizeH="0" baseline="0" dirty="0">
                <a:ln>
                  <a:noFill/>
                </a:ln>
                <a:solidFill>
                  <a:srgbClr val="000000"/>
                </a:solidFill>
                <a:effectLst/>
                <a:latin typeface="Calibri" pitchFamily="34" charset="0"/>
                <a:ea typeface="宋体" pitchFamily="2" charset="-122"/>
                <a:cs typeface="Times New Roman" pitchFamily="18" charset="0"/>
              </a:rPr>
              <a:t>                          </a:t>
            </a:r>
            <a:r>
              <a:rPr kumimoji="0" lang="en-US" altLang="zh-CN" b="0" i="0" u="none" strike="noStrike" cap="none" normalizeH="0" baseline="0" dirty="0">
                <a:ln>
                  <a:noFill/>
                </a:ln>
                <a:solidFill>
                  <a:srgbClr val="000000"/>
                </a:solidFill>
                <a:effectLst/>
                <a:latin typeface="Calibri" pitchFamily="34" charset="0"/>
                <a:ea typeface="宋体" pitchFamily="2" charset="-122"/>
                <a:cs typeface="Times New Roman" pitchFamily="18" charset="0"/>
              </a:rPr>
              <a:t>(b) </a:t>
            </a:r>
            <a:r>
              <a:rPr kumimoji="0" lang="zh-CN" altLang="en-US"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插入后的单链表</a:t>
            </a:r>
            <a:endParaRPr kumimoji="0" lang="zh-CN" altLang="en-US"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Tree>
    <p:extLst>
      <p:ext uri="{BB962C8B-B14F-4D97-AF65-F5344CB8AC3E}">
        <p14:creationId xmlns:p14="http://schemas.microsoft.com/office/powerpoint/2010/main" val="655157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1268760"/>
            <a:ext cx="7520940" cy="3579849"/>
          </a:xfrm>
        </p:spPr>
        <p:txBody>
          <a:bodyPr/>
          <a:lstStyle/>
          <a:p>
            <a:r>
              <a:rPr lang="zh-CN" altLang="zh-CN" dirty="0"/>
              <a:t> （2）将结点d插入到某个结点之后，如插在b和c两个结点之间。</a:t>
            </a:r>
            <a:endParaRPr lang="zh-CN" altLang="en-US" dirty="0"/>
          </a:p>
        </p:txBody>
      </p:sp>
      <p:sp>
        <p:nvSpPr>
          <p:cNvPr id="4" name="矩形 3"/>
          <p:cNvSpPr/>
          <p:nvPr/>
        </p:nvSpPr>
        <p:spPr>
          <a:xfrm>
            <a:off x="1907704" y="5013176"/>
            <a:ext cx="4680520" cy="1200329"/>
          </a:xfrm>
          <a:prstGeom prst="rect">
            <a:avLst/>
          </a:prstGeom>
        </p:spPr>
        <p:txBody>
          <a:bodyPr wrap="square">
            <a:spAutoFit/>
          </a:bodyPr>
          <a:lstStyle/>
          <a:p>
            <a:r>
              <a:rPr lang="zh-CN" altLang="zh-CN" sz="2400" b="1" dirty="0">
                <a:latin typeface="Times New Roman" panose="02020603050405020304" pitchFamily="18" charset="0"/>
                <a:ea typeface="楷体" panose="02010609060101010101" pitchFamily="49" charset="-122"/>
                <a:cs typeface="Times New Roman" panose="02020603050405020304" pitchFamily="18" charset="0"/>
              </a:rPr>
              <a:t>指针的修改用语句描述为：</a:t>
            </a:r>
          </a:p>
          <a:p>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s -&gt; next = p -&gt; next</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p>
          <a:p>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p-&gt;next = s</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921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 y="2324100"/>
            <a:ext cx="8686800"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39013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3568" y="980728"/>
            <a:ext cx="8136904" cy="5400600"/>
          </a:xfrm>
        </p:spPr>
        <p:txBody>
          <a:bodyPr>
            <a:noAutofit/>
          </a:bodyPr>
          <a:lstStyle/>
          <a:p>
            <a:pPr>
              <a:lnSpc>
                <a:spcPct val="130000"/>
              </a:lnSpc>
              <a:spcBef>
                <a:spcPts val="0"/>
              </a:spcBef>
            </a:pPr>
            <a:r>
              <a:rPr lang="zh-CN" altLang="zh-CN" dirty="0"/>
              <a:t>插入算法的实现如下：</a:t>
            </a:r>
            <a:endParaRPr lang="en-US" altLang="zh-CN" dirty="0"/>
          </a:p>
          <a:p>
            <a:pPr>
              <a:lnSpc>
                <a:spcPct val="130000"/>
              </a:lnSpc>
              <a:spcBef>
                <a:spcPts val="0"/>
              </a:spcBef>
            </a:pPr>
            <a:r>
              <a:rPr lang="zh-CN" altLang="zh-CN" dirty="0"/>
              <a:t>算法</a:t>
            </a:r>
            <a:r>
              <a:rPr lang="en-US" altLang="zh-CN" dirty="0"/>
              <a:t>2.9</a:t>
            </a:r>
            <a:r>
              <a:rPr lang="zh-CN" altLang="zh-CN" dirty="0"/>
              <a:t>：</a:t>
            </a:r>
            <a:r>
              <a:rPr lang="zh-CN" altLang="zh-CN" dirty="0">
                <a:solidFill>
                  <a:srgbClr val="FF0000"/>
                </a:solidFill>
              </a:rPr>
              <a:t>插入算法</a:t>
            </a:r>
            <a:r>
              <a:rPr lang="en-US" altLang="zh-CN" dirty="0">
                <a:solidFill>
                  <a:srgbClr val="FF0000"/>
                </a:solidFill>
              </a:rPr>
              <a:t> </a:t>
            </a:r>
          </a:p>
          <a:p>
            <a:pPr>
              <a:lnSpc>
                <a:spcPct val="130000"/>
              </a:lnSpc>
              <a:spcBef>
                <a:spcPts val="0"/>
              </a:spcBef>
            </a:pPr>
            <a:r>
              <a:rPr lang="en-US" b="0" dirty="0"/>
              <a:t>void </a:t>
            </a:r>
            <a:r>
              <a:rPr lang="en-US" b="0" dirty="0" err="1"/>
              <a:t>LList</a:t>
            </a:r>
            <a:r>
              <a:rPr lang="en-US" b="0" dirty="0"/>
              <a:t> :: Insert ( Elem x) {//</a:t>
            </a:r>
            <a:r>
              <a:rPr lang="zh-CN" altLang="en-US" b="0" dirty="0">
                <a:solidFill>
                  <a:srgbClr val="FF0000"/>
                </a:solidFill>
              </a:rPr>
              <a:t>在当前结点之后插入结点</a:t>
            </a:r>
            <a:r>
              <a:rPr lang="en-US" b="0" dirty="0">
                <a:solidFill>
                  <a:srgbClr val="FF0000"/>
                </a:solidFill>
              </a:rPr>
              <a:t>x</a:t>
            </a:r>
            <a:endParaRPr lang="zh-CN" altLang="en-US" b="0" dirty="0">
              <a:solidFill>
                <a:srgbClr val="FF0000"/>
              </a:solidFill>
            </a:endParaRPr>
          </a:p>
          <a:p>
            <a:r>
              <a:rPr lang="en-US" b="0" dirty="0"/>
              <a:t>	Link *s = new Link;</a:t>
            </a:r>
            <a:endParaRPr lang="zh-CN" altLang="en-US" b="0" dirty="0"/>
          </a:p>
          <a:p>
            <a:r>
              <a:rPr lang="en-US" b="0" dirty="0"/>
              <a:t>  	if(!s) { count&lt;&lt;"</a:t>
            </a:r>
            <a:r>
              <a:rPr lang="zh-CN" altLang="en-US" b="0" dirty="0"/>
              <a:t>空间分配失败</a:t>
            </a:r>
            <a:r>
              <a:rPr lang="en-US" b="0" dirty="0"/>
              <a:t>"&lt;&lt; end1</a:t>
            </a:r>
            <a:r>
              <a:rPr lang="zh-CN" altLang="en-US" b="0" dirty="0"/>
              <a:t>；</a:t>
            </a:r>
            <a:r>
              <a:rPr lang="en-US" b="0" dirty="0"/>
              <a:t>return false; }</a:t>
            </a:r>
            <a:endParaRPr lang="zh-CN" altLang="en-US" b="0" dirty="0"/>
          </a:p>
          <a:p>
            <a:r>
              <a:rPr lang="en-US" b="0" dirty="0"/>
              <a:t>  	s-&gt;element = x;</a:t>
            </a:r>
            <a:endParaRPr lang="zh-CN" altLang="en-US" b="0" dirty="0"/>
          </a:p>
          <a:p>
            <a:r>
              <a:rPr lang="en-US" b="0" dirty="0"/>
              <a:t>  	s-&gt; next = </a:t>
            </a:r>
            <a:r>
              <a:rPr lang="en-US" b="0" dirty="0" err="1"/>
              <a:t>curr</a:t>
            </a:r>
            <a:r>
              <a:rPr lang="en-US" b="0" dirty="0"/>
              <a:t>-&gt; next;</a:t>
            </a:r>
            <a:endParaRPr lang="zh-CN" altLang="en-US" b="0" dirty="0"/>
          </a:p>
          <a:p>
            <a:r>
              <a:rPr lang="en-US" b="0" dirty="0"/>
              <a:t>  	</a:t>
            </a:r>
            <a:r>
              <a:rPr lang="en-US" b="0" dirty="0" err="1"/>
              <a:t>curr</a:t>
            </a:r>
            <a:r>
              <a:rPr lang="en-US" b="0" dirty="0"/>
              <a:t>-&gt; next = s;</a:t>
            </a:r>
            <a:endParaRPr lang="zh-CN" altLang="en-US" b="0" dirty="0"/>
          </a:p>
          <a:p>
            <a:r>
              <a:rPr lang="en-US" b="0" dirty="0"/>
              <a:t>	return true;</a:t>
            </a:r>
            <a:endParaRPr lang="zh-CN" altLang="en-US" b="0" dirty="0"/>
          </a:p>
          <a:p>
            <a:r>
              <a:rPr lang="en-US" b="0" dirty="0"/>
              <a:t>}</a:t>
            </a:r>
            <a:endParaRPr lang="zh-CN" altLang="zh-CN" b="0" dirty="0"/>
          </a:p>
        </p:txBody>
      </p:sp>
    </p:spTree>
    <p:extLst>
      <p:ext uri="{BB962C8B-B14F-4D97-AF65-F5344CB8AC3E}">
        <p14:creationId xmlns:p14="http://schemas.microsoft.com/office/powerpoint/2010/main" val="391310879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a:extLst>
              <a:ext uri="{FF2B5EF4-FFF2-40B4-BE49-F238E27FC236}">
                <a16:creationId xmlns:a16="http://schemas.microsoft.com/office/drawing/2014/main" id="{8AD20670-5C6D-4844-8C0E-70EC16310B01}"/>
              </a:ext>
            </a:extLst>
          </p:cNvPr>
          <p:cNvSpPr txBox="1">
            <a:spLocks noChangeArrowheads="1"/>
          </p:cNvSpPr>
          <p:nvPr/>
        </p:nvSpPr>
        <p:spPr bwMode="auto">
          <a:xfrm>
            <a:off x="251520" y="980728"/>
            <a:ext cx="8801894" cy="5234867"/>
          </a:xfrm>
          <a:prstGeom prst="rect">
            <a:avLst/>
          </a:prstGeom>
          <a:ln>
            <a:noFill/>
            <a:headEnd/>
            <a:tailEnd/>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a:spAutoFit/>
          </a:bodyPr>
          <a:lstStyle/>
          <a:p>
            <a:pPr>
              <a:lnSpc>
                <a:spcPct val="110000"/>
              </a:lnSpc>
            </a:pPr>
            <a:r>
              <a:rPr lang="en-US" altLang="zh-CN" sz="2000" dirty="0">
                <a:solidFill>
                  <a:srgbClr val="0000FF"/>
                </a:solidFill>
                <a:latin typeface="Consolas" pitchFamily="49" charset="0"/>
                <a:ea typeface="仿宋" pitchFamily="49" charset="-122"/>
                <a:cs typeface="Consolas" pitchFamily="49" charset="0"/>
              </a:rPr>
              <a:t>bool </a:t>
            </a:r>
            <a:r>
              <a:rPr lang="en-US" altLang="zh-CN" sz="2000" dirty="0" err="1">
                <a:solidFill>
                  <a:srgbClr val="FF3300"/>
                </a:solidFill>
                <a:latin typeface="Consolas" pitchFamily="49" charset="0"/>
                <a:ea typeface="仿宋" pitchFamily="49" charset="-122"/>
                <a:cs typeface="Consolas" pitchFamily="49" charset="0"/>
              </a:rPr>
              <a:t>ListInsert</a:t>
            </a:r>
            <a:r>
              <a:rPr lang="en-US" altLang="zh-CN" sz="2000" dirty="0">
                <a:solidFill>
                  <a:srgbClr val="0000FF"/>
                </a:solidFill>
                <a:latin typeface="Consolas" pitchFamily="49" charset="0"/>
                <a:ea typeface="仿宋" pitchFamily="49" charset="-122"/>
                <a:cs typeface="Consolas" pitchFamily="49" charset="0"/>
              </a:rPr>
              <a:t>(</a:t>
            </a:r>
            <a:r>
              <a:rPr lang="en-US" altLang="zh-CN" sz="2000" dirty="0" err="1">
                <a:solidFill>
                  <a:srgbClr val="0000FF"/>
                </a:solidFill>
                <a:latin typeface="Consolas" pitchFamily="49" charset="0"/>
                <a:ea typeface="仿宋" pitchFamily="49" charset="-122"/>
                <a:cs typeface="Consolas" pitchFamily="49" charset="0"/>
              </a:rPr>
              <a:t>LinkNode</a:t>
            </a:r>
            <a:r>
              <a:rPr lang="en-US" altLang="zh-CN" sz="2000" dirty="0">
                <a:solidFill>
                  <a:srgbClr val="0000FF"/>
                </a:solidFill>
                <a:latin typeface="Consolas" pitchFamily="49" charset="0"/>
                <a:ea typeface="仿宋" pitchFamily="49" charset="-122"/>
                <a:cs typeface="Consolas" pitchFamily="49" charset="0"/>
              </a:rPr>
              <a:t> *&amp;L</a:t>
            </a:r>
            <a:r>
              <a:rPr lang="zh-CN" altLang="en-US" sz="2000" dirty="0">
                <a:solidFill>
                  <a:srgbClr val="0000FF"/>
                </a:solidFill>
                <a:latin typeface="Consolas" pitchFamily="49" charset="0"/>
                <a:ea typeface="仿宋" pitchFamily="49" charset="-122"/>
                <a:cs typeface="Consolas" pitchFamily="49" charset="0"/>
              </a:rPr>
              <a:t>，</a:t>
            </a:r>
            <a:r>
              <a:rPr lang="en-US" altLang="zh-CN" sz="2000" dirty="0">
                <a:solidFill>
                  <a:srgbClr val="0000FF"/>
                </a:solidFill>
                <a:latin typeface="Consolas" pitchFamily="49" charset="0"/>
                <a:ea typeface="仿宋" pitchFamily="49" charset="-122"/>
                <a:cs typeface="Consolas" pitchFamily="49" charset="0"/>
              </a:rPr>
              <a:t> </a:t>
            </a:r>
            <a:r>
              <a:rPr lang="en-US" altLang="zh-CN" sz="2000" dirty="0" err="1">
                <a:solidFill>
                  <a:srgbClr val="0000FF"/>
                </a:solidFill>
                <a:latin typeface="Consolas" pitchFamily="49" charset="0"/>
                <a:ea typeface="仿宋" pitchFamily="49" charset="-122"/>
                <a:cs typeface="Consolas" pitchFamily="49" charset="0"/>
              </a:rPr>
              <a:t>LinkNode</a:t>
            </a:r>
            <a:r>
              <a:rPr lang="en-US" altLang="zh-CN" sz="2000" dirty="0">
                <a:solidFill>
                  <a:srgbClr val="0000FF"/>
                </a:solidFill>
                <a:latin typeface="Consolas" pitchFamily="49" charset="0"/>
                <a:ea typeface="仿宋" pitchFamily="49" charset="-122"/>
                <a:cs typeface="Consolas" pitchFamily="49" charset="0"/>
              </a:rPr>
              <a:t> *</a:t>
            </a:r>
            <a:r>
              <a:rPr lang="en-US" altLang="zh-CN" sz="2000" dirty="0" err="1">
                <a:solidFill>
                  <a:srgbClr val="0000FF"/>
                </a:solidFill>
                <a:latin typeface="Consolas" pitchFamily="49" charset="0"/>
                <a:ea typeface="仿宋" pitchFamily="49" charset="-122"/>
                <a:cs typeface="Consolas" pitchFamily="49" charset="0"/>
              </a:rPr>
              <a:t>curr</a:t>
            </a:r>
            <a:r>
              <a:rPr lang="zh-CN" altLang="en-US" sz="2000" dirty="0">
                <a:solidFill>
                  <a:srgbClr val="0000FF"/>
                </a:solidFill>
                <a:latin typeface="Consolas" pitchFamily="49" charset="0"/>
                <a:ea typeface="仿宋" pitchFamily="49" charset="-122"/>
                <a:cs typeface="Consolas" pitchFamily="49" charset="0"/>
              </a:rPr>
              <a:t>，</a:t>
            </a:r>
            <a:r>
              <a:rPr lang="en-US" altLang="zh-CN" sz="2000" dirty="0" err="1">
                <a:solidFill>
                  <a:srgbClr val="0000FF"/>
                </a:solidFill>
                <a:latin typeface="Consolas" pitchFamily="49" charset="0"/>
                <a:ea typeface="仿宋" pitchFamily="49" charset="-122"/>
                <a:cs typeface="Consolas" pitchFamily="49" charset="0"/>
              </a:rPr>
              <a:t>ElemType</a:t>
            </a:r>
            <a:r>
              <a:rPr lang="en-US" altLang="zh-CN" sz="2000" dirty="0">
                <a:solidFill>
                  <a:srgbClr val="0000FF"/>
                </a:solidFill>
                <a:latin typeface="Consolas" pitchFamily="49" charset="0"/>
                <a:ea typeface="仿宋" pitchFamily="49" charset="-122"/>
                <a:cs typeface="Consolas" pitchFamily="49" charset="0"/>
              </a:rPr>
              <a:t> e)</a:t>
            </a:r>
          </a:p>
          <a:p>
            <a:pPr algn="l">
              <a:lnSpc>
                <a:spcPct val="110000"/>
              </a:lnSpc>
            </a:pPr>
            <a:r>
              <a:rPr lang="en-US" altLang="zh-CN" sz="2000" dirty="0">
                <a:solidFill>
                  <a:srgbClr val="0000FF"/>
                </a:solidFill>
                <a:latin typeface="Consolas" pitchFamily="49" charset="0"/>
                <a:ea typeface="仿宋" pitchFamily="49" charset="-122"/>
                <a:cs typeface="Consolas" pitchFamily="49" charset="0"/>
              </a:rPr>
              <a:t>{</a:t>
            </a:r>
          </a:p>
          <a:p>
            <a:pPr algn="l">
              <a:lnSpc>
                <a:spcPct val="110000"/>
              </a:lnSpc>
            </a:pPr>
            <a:r>
              <a:rPr lang="en-US" altLang="zh-CN" sz="2000" dirty="0">
                <a:solidFill>
                  <a:srgbClr val="0000FF"/>
                </a:solidFill>
                <a:latin typeface="Consolas" pitchFamily="49" charset="0"/>
                <a:ea typeface="仿宋" pitchFamily="49" charset="-122"/>
                <a:cs typeface="Consolas" pitchFamily="49" charset="0"/>
              </a:rPr>
              <a:t>   </a:t>
            </a:r>
            <a:r>
              <a:rPr lang="en-US" altLang="zh-CN" sz="2000" dirty="0" err="1">
                <a:solidFill>
                  <a:srgbClr val="0000FF"/>
                </a:solidFill>
                <a:latin typeface="Consolas" pitchFamily="49" charset="0"/>
                <a:ea typeface="仿宋" pitchFamily="49" charset="-122"/>
                <a:cs typeface="Consolas" pitchFamily="49" charset="0"/>
              </a:rPr>
              <a:t>LinkNode</a:t>
            </a:r>
            <a:r>
              <a:rPr lang="en-US" altLang="zh-CN" sz="2000" dirty="0">
                <a:solidFill>
                  <a:srgbClr val="0000FF"/>
                </a:solidFill>
                <a:latin typeface="Consolas" pitchFamily="49" charset="0"/>
                <a:ea typeface="仿宋" pitchFamily="49" charset="-122"/>
                <a:cs typeface="Consolas" pitchFamily="49" charset="0"/>
              </a:rPr>
              <a:t> *p=</a:t>
            </a:r>
            <a:r>
              <a:rPr lang="en-US" altLang="zh-CN" sz="2000" dirty="0" err="1">
                <a:solidFill>
                  <a:srgbClr val="0000FF"/>
                </a:solidFill>
                <a:latin typeface="Consolas" pitchFamily="49" charset="0"/>
                <a:ea typeface="仿宋" pitchFamily="49" charset="-122"/>
                <a:cs typeface="Consolas" pitchFamily="49" charset="0"/>
              </a:rPr>
              <a:t>curr</a:t>
            </a:r>
            <a:r>
              <a:rPr lang="en-US" altLang="zh-CN" sz="2000" dirty="0">
                <a:solidFill>
                  <a:srgbClr val="0000FF"/>
                </a:solidFill>
                <a:latin typeface="Consolas" pitchFamily="49" charset="0"/>
                <a:ea typeface="仿宋" pitchFamily="49" charset="-122"/>
                <a:cs typeface="Consolas" pitchFamily="49" charset="0"/>
              </a:rPr>
              <a:t>;       </a:t>
            </a:r>
            <a:r>
              <a:rPr lang="en-US" altLang="zh-CN" sz="2000" dirty="0">
                <a:solidFill>
                  <a:srgbClr val="00B0F0"/>
                </a:solidFill>
                <a:latin typeface="Consolas" pitchFamily="49" charset="0"/>
                <a:ea typeface="仿宋" pitchFamily="49" charset="-122"/>
                <a:cs typeface="Consolas" pitchFamily="49" charset="0"/>
              </a:rPr>
              <a:t>//p</a:t>
            </a:r>
            <a:r>
              <a:rPr lang="zh-CN" altLang="en-US" sz="2000" dirty="0">
                <a:solidFill>
                  <a:srgbClr val="00B0F0"/>
                </a:solidFill>
                <a:latin typeface="Consolas" pitchFamily="49" charset="0"/>
                <a:ea typeface="仿宋" pitchFamily="49" charset="-122"/>
                <a:cs typeface="Consolas" pitchFamily="49" charset="0"/>
              </a:rPr>
              <a:t>指向当前节点结点</a:t>
            </a:r>
            <a:endParaRPr lang="en-US" altLang="zh-CN" sz="2000" dirty="0">
              <a:solidFill>
                <a:srgbClr val="00B0F0"/>
              </a:solidFill>
              <a:latin typeface="Consolas" pitchFamily="49" charset="0"/>
              <a:ea typeface="仿宋" pitchFamily="49" charset="-122"/>
              <a:cs typeface="Consolas" pitchFamily="49" charset="0"/>
            </a:endParaRPr>
          </a:p>
          <a:p>
            <a:r>
              <a:rPr lang="en-US" altLang="zh-CN" sz="2000" dirty="0">
                <a:solidFill>
                  <a:srgbClr val="0000FF"/>
                </a:solidFill>
                <a:latin typeface="Consolas" pitchFamily="49" charset="0"/>
                <a:ea typeface="仿宋" pitchFamily="49" charset="-122"/>
                <a:cs typeface="Consolas" pitchFamily="49" charset="0"/>
              </a:rPr>
              <a:t>   </a:t>
            </a:r>
            <a:r>
              <a:rPr kumimoji="1" lang="en-US" altLang="zh-CN" sz="2000" dirty="0">
                <a:solidFill>
                  <a:srgbClr val="0000FF"/>
                </a:solidFill>
                <a:latin typeface="Consolas" pitchFamily="49" charset="0"/>
                <a:ea typeface="仿宋" pitchFamily="49" charset="-122"/>
                <a:cs typeface="Consolas" pitchFamily="49" charset="0"/>
              </a:rPr>
              <a:t>if (p==NULL)	       </a:t>
            </a:r>
            <a:r>
              <a:rPr kumimoji="1" lang="en-US" altLang="zh-CN" sz="2000" dirty="0">
                <a:solidFill>
                  <a:srgbClr val="00B0F0"/>
                </a:solidFill>
                <a:latin typeface="Consolas" pitchFamily="49" charset="0"/>
                <a:ea typeface="仿宋" pitchFamily="49" charset="-122"/>
                <a:cs typeface="Consolas" pitchFamily="49" charset="0"/>
              </a:rPr>
              <a:t>//</a:t>
            </a:r>
            <a:r>
              <a:rPr kumimoji="1" lang="zh-CN" altLang="en-US" sz="2000" dirty="0">
                <a:solidFill>
                  <a:srgbClr val="00B0F0"/>
                </a:solidFill>
                <a:latin typeface="Consolas" pitchFamily="49" charset="0"/>
                <a:ea typeface="仿宋" pitchFamily="49" charset="-122"/>
                <a:cs typeface="Consolas" pitchFamily="49" charset="0"/>
              </a:rPr>
              <a:t>未找到结点</a:t>
            </a:r>
            <a:r>
              <a:rPr kumimoji="1" lang="en-US" altLang="zh-CN" sz="2000" dirty="0">
                <a:solidFill>
                  <a:srgbClr val="00B0F0"/>
                </a:solidFill>
                <a:latin typeface="Consolas" pitchFamily="49" charset="0"/>
                <a:ea typeface="仿宋" pitchFamily="49" charset="-122"/>
                <a:cs typeface="Consolas" pitchFamily="49" charset="0"/>
              </a:rPr>
              <a:t>p</a:t>
            </a:r>
            <a:r>
              <a:rPr kumimoji="1" lang="zh-CN" altLang="en-US" sz="2000" dirty="0">
                <a:solidFill>
                  <a:srgbClr val="00B0F0"/>
                </a:solidFill>
                <a:latin typeface="Consolas" pitchFamily="49" charset="0"/>
                <a:ea typeface="仿宋" pitchFamily="49" charset="-122"/>
                <a:cs typeface="Consolas" pitchFamily="49" charset="0"/>
              </a:rPr>
              <a:t>，返回</a:t>
            </a:r>
            <a:r>
              <a:rPr kumimoji="1" lang="en-US" altLang="zh-CN" sz="2000" dirty="0">
                <a:solidFill>
                  <a:srgbClr val="00B0F0"/>
                </a:solidFill>
                <a:latin typeface="Consolas" pitchFamily="49" charset="0"/>
                <a:ea typeface="仿宋" pitchFamily="49" charset="-122"/>
                <a:cs typeface="Consolas" pitchFamily="49" charset="0"/>
              </a:rPr>
              <a:t>false</a:t>
            </a:r>
          </a:p>
          <a:p>
            <a:r>
              <a:rPr kumimoji="1" lang="en-US" altLang="zh-CN" sz="2000" dirty="0">
                <a:solidFill>
                  <a:srgbClr val="0000FF"/>
                </a:solidFill>
                <a:latin typeface="Consolas" pitchFamily="49" charset="0"/>
                <a:ea typeface="仿宋" pitchFamily="49" charset="-122"/>
                <a:cs typeface="Consolas" pitchFamily="49" charset="0"/>
              </a:rPr>
              <a:t>       return false;</a:t>
            </a:r>
          </a:p>
          <a:p>
            <a:r>
              <a:rPr kumimoji="1" lang="en-US" altLang="zh-CN" sz="2000" dirty="0">
                <a:solidFill>
                  <a:srgbClr val="0000FF"/>
                </a:solidFill>
                <a:latin typeface="Consolas" pitchFamily="49" charset="0"/>
                <a:ea typeface="仿宋" pitchFamily="49" charset="-122"/>
                <a:cs typeface="Consolas" pitchFamily="49" charset="0"/>
              </a:rPr>
              <a:t>   else		       </a:t>
            </a:r>
            <a:r>
              <a:rPr kumimoji="1" lang="en-US" altLang="zh-CN" sz="2000" dirty="0">
                <a:solidFill>
                  <a:srgbClr val="00B0F0"/>
                </a:solidFill>
                <a:latin typeface="Consolas" pitchFamily="49" charset="0"/>
                <a:ea typeface="仿宋" pitchFamily="49" charset="-122"/>
                <a:cs typeface="Consolas" pitchFamily="49" charset="0"/>
              </a:rPr>
              <a:t>//</a:t>
            </a:r>
            <a:r>
              <a:rPr kumimoji="1" lang="zh-CN" altLang="en-US" sz="2000" dirty="0">
                <a:solidFill>
                  <a:srgbClr val="00B0F0"/>
                </a:solidFill>
                <a:latin typeface="Consolas" pitchFamily="49" charset="0"/>
                <a:ea typeface="仿宋" pitchFamily="49" charset="-122"/>
                <a:cs typeface="Consolas" pitchFamily="49" charset="0"/>
              </a:rPr>
              <a:t>找到结点</a:t>
            </a:r>
            <a:r>
              <a:rPr kumimoji="1" lang="en-US" altLang="zh-CN" sz="2000" dirty="0">
                <a:solidFill>
                  <a:srgbClr val="00B0F0"/>
                </a:solidFill>
                <a:latin typeface="Consolas" pitchFamily="49" charset="0"/>
                <a:ea typeface="仿宋" pitchFamily="49" charset="-122"/>
                <a:cs typeface="Consolas" pitchFamily="49" charset="0"/>
              </a:rPr>
              <a:t>p</a:t>
            </a:r>
            <a:r>
              <a:rPr kumimoji="1" lang="zh-CN" altLang="en-US" sz="2000" dirty="0">
                <a:solidFill>
                  <a:srgbClr val="00B0F0"/>
                </a:solidFill>
                <a:latin typeface="Consolas" pitchFamily="49" charset="0"/>
                <a:ea typeface="仿宋" pitchFamily="49" charset="-122"/>
                <a:cs typeface="Consolas" pitchFamily="49" charset="0"/>
              </a:rPr>
              <a:t>，插入新结点并返回</a:t>
            </a:r>
            <a:r>
              <a:rPr kumimoji="1" lang="en-US" altLang="zh-CN" sz="2000" dirty="0">
                <a:solidFill>
                  <a:srgbClr val="00B0F0"/>
                </a:solidFill>
                <a:latin typeface="Consolas" pitchFamily="49" charset="0"/>
                <a:ea typeface="仿宋" pitchFamily="49" charset="-122"/>
                <a:cs typeface="Consolas" pitchFamily="49" charset="0"/>
              </a:rPr>
              <a:t>true</a:t>
            </a:r>
          </a:p>
          <a:p>
            <a:r>
              <a:rPr kumimoji="1" lang="en-US" altLang="zh-CN" sz="2000" dirty="0">
                <a:solidFill>
                  <a:srgbClr val="0000FF"/>
                </a:solidFill>
                <a:latin typeface="Consolas" pitchFamily="49" charset="0"/>
                <a:ea typeface="仿宋" pitchFamily="49" charset="-122"/>
                <a:cs typeface="Consolas" pitchFamily="49" charset="0"/>
              </a:rPr>
              <a:t>   {</a:t>
            </a:r>
          </a:p>
          <a:p>
            <a:r>
              <a:rPr kumimoji="1" lang="en-US" altLang="zh-CN" sz="2000" dirty="0">
                <a:solidFill>
                  <a:srgbClr val="0000FF"/>
                </a:solidFill>
                <a:latin typeface="Consolas" pitchFamily="49" charset="0"/>
                <a:ea typeface="仿宋" pitchFamily="49" charset="-122"/>
                <a:cs typeface="Consolas" pitchFamily="49" charset="0"/>
              </a:rPr>
              <a:t>	s=(</a:t>
            </a:r>
            <a:r>
              <a:rPr kumimoji="1" lang="en-US" altLang="zh-CN" sz="2000" dirty="0" err="1">
                <a:solidFill>
                  <a:srgbClr val="0000FF"/>
                </a:solidFill>
                <a:latin typeface="Consolas" pitchFamily="49" charset="0"/>
                <a:ea typeface="仿宋" pitchFamily="49" charset="-122"/>
                <a:cs typeface="Consolas" pitchFamily="49" charset="0"/>
              </a:rPr>
              <a:t>LinkNode</a:t>
            </a:r>
            <a:r>
              <a:rPr kumimoji="1" lang="en-US" altLang="zh-CN" sz="2000" dirty="0">
                <a:solidFill>
                  <a:srgbClr val="0000FF"/>
                </a:solidFill>
                <a:latin typeface="Consolas" pitchFamily="49" charset="0"/>
                <a:ea typeface="仿宋" pitchFamily="49" charset="-122"/>
                <a:cs typeface="Consolas" pitchFamily="49" charset="0"/>
              </a:rPr>
              <a:t> *)malloc(</a:t>
            </a:r>
            <a:r>
              <a:rPr kumimoji="1" lang="en-US" altLang="zh-CN" sz="2000" dirty="0" err="1">
                <a:solidFill>
                  <a:srgbClr val="0000FF"/>
                </a:solidFill>
                <a:latin typeface="Consolas" pitchFamily="49" charset="0"/>
                <a:ea typeface="仿宋" pitchFamily="49" charset="-122"/>
                <a:cs typeface="Consolas" pitchFamily="49" charset="0"/>
              </a:rPr>
              <a:t>sizeof</a:t>
            </a:r>
            <a:r>
              <a:rPr kumimoji="1" lang="en-US" altLang="zh-CN" sz="2000" dirty="0">
                <a:solidFill>
                  <a:srgbClr val="0000FF"/>
                </a:solidFill>
                <a:latin typeface="Consolas" pitchFamily="49" charset="0"/>
                <a:ea typeface="仿宋" pitchFamily="49" charset="-122"/>
                <a:cs typeface="Consolas" pitchFamily="49" charset="0"/>
              </a:rPr>
              <a:t>(</a:t>
            </a:r>
            <a:r>
              <a:rPr kumimoji="1" lang="en-US" altLang="zh-CN" sz="2000" dirty="0" err="1">
                <a:solidFill>
                  <a:srgbClr val="0000FF"/>
                </a:solidFill>
                <a:latin typeface="Consolas" pitchFamily="49" charset="0"/>
                <a:ea typeface="仿宋" pitchFamily="49" charset="-122"/>
                <a:cs typeface="Consolas" pitchFamily="49" charset="0"/>
              </a:rPr>
              <a:t>LinkNode</a:t>
            </a:r>
            <a:r>
              <a:rPr kumimoji="1" lang="en-US" altLang="zh-CN" sz="2000" dirty="0">
                <a:solidFill>
                  <a:srgbClr val="0000FF"/>
                </a:solidFill>
                <a:latin typeface="Consolas" pitchFamily="49" charset="0"/>
                <a:ea typeface="仿宋" pitchFamily="49" charset="-122"/>
                <a:cs typeface="Consolas" pitchFamily="49" charset="0"/>
              </a:rPr>
              <a:t>));</a:t>
            </a:r>
          </a:p>
          <a:p>
            <a:r>
              <a:rPr kumimoji="1" lang="en-US" altLang="zh-CN" sz="2000" dirty="0">
                <a:solidFill>
                  <a:srgbClr val="0000FF"/>
                </a:solidFill>
                <a:latin typeface="Consolas" pitchFamily="49" charset="0"/>
                <a:ea typeface="仿宋" pitchFamily="49" charset="-122"/>
                <a:cs typeface="Consolas" pitchFamily="49" charset="0"/>
              </a:rPr>
              <a:t>       if (s==NULL) return false;</a:t>
            </a:r>
          </a:p>
          <a:p>
            <a:r>
              <a:rPr kumimoji="1" lang="en-US" altLang="zh-CN" sz="2000" dirty="0">
                <a:solidFill>
                  <a:srgbClr val="0000FF"/>
                </a:solidFill>
                <a:latin typeface="Consolas" pitchFamily="49" charset="0"/>
                <a:ea typeface="仿宋" pitchFamily="49" charset="-122"/>
                <a:cs typeface="Consolas" pitchFamily="49" charset="0"/>
              </a:rPr>
              <a:t>	                    </a:t>
            </a:r>
            <a:r>
              <a:rPr kumimoji="1" lang="en-US" altLang="zh-CN" sz="2000" dirty="0">
                <a:solidFill>
                  <a:srgbClr val="00B0F0"/>
                </a:solidFill>
                <a:latin typeface="Consolas" pitchFamily="49" charset="0"/>
                <a:ea typeface="仿宋" pitchFamily="49" charset="-122"/>
                <a:cs typeface="Consolas" pitchFamily="49" charset="0"/>
              </a:rPr>
              <a:t>//</a:t>
            </a:r>
            <a:r>
              <a:rPr kumimoji="1" lang="zh-CN" altLang="en-US" sz="2000" dirty="0">
                <a:solidFill>
                  <a:srgbClr val="00B0F0"/>
                </a:solidFill>
                <a:latin typeface="Consolas" pitchFamily="49" charset="0"/>
                <a:ea typeface="仿宋" pitchFamily="49" charset="-122"/>
                <a:cs typeface="Consolas" pitchFamily="49" charset="0"/>
              </a:rPr>
              <a:t>节点创建失败，返回</a:t>
            </a:r>
            <a:r>
              <a:rPr kumimoji="1" lang="en-US" altLang="zh-CN" sz="2000" dirty="0">
                <a:solidFill>
                  <a:srgbClr val="00B0F0"/>
                </a:solidFill>
                <a:latin typeface="Consolas" pitchFamily="49" charset="0"/>
                <a:ea typeface="仿宋" pitchFamily="49" charset="-122"/>
                <a:cs typeface="Consolas" pitchFamily="49" charset="0"/>
              </a:rPr>
              <a:t>false</a:t>
            </a:r>
          </a:p>
          <a:p>
            <a:r>
              <a:rPr kumimoji="1" lang="en-US" altLang="zh-CN" sz="2000" dirty="0">
                <a:solidFill>
                  <a:srgbClr val="0000FF"/>
                </a:solidFill>
                <a:latin typeface="Consolas" pitchFamily="49" charset="0"/>
                <a:ea typeface="仿宋" pitchFamily="49" charset="-122"/>
                <a:cs typeface="Consolas" pitchFamily="49" charset="0"/>
              </a:rPr>
              <a:t>	s-&gt;data=e;		</a:t>
            </a:r>
            <a:r>
              <a:rPr kumimoji="1" lang="en-US" altLang="zh-CN" sz="2000" dirty="0">
                <a:solidFill>
                  <a:srgbClr val="00B0F0"/>
                </a:solidFill>
                <a:latin typeface="Consolas" pitchFamily="49" charset="0"/>
                <a:ea typeface="仿宋" pitchFamily="49" charset="-122"/>
                <a:cs typeface="Consolas" pitchFamily="49" charset="0"/>
              </a:rPr>
              <a:t>//</a:t>
            </a:r>
            <a:r>
              <a:rPr kumimoji="1" lang="zh-CN" altLang="en-US" sz="2000" dirty="0">
                <a:solidFill>
                  <a:srgbClr val="00B0F0"/>
                </a:solidFill>
                <a:latin typeface="Consolas" pitchFamily="49" charset="0"/>
                <a:ea typeface="仿宋" pitchFamily="49" charset="-122"/>
                <a:cs typeface="Consolas" pitchFamily="49" charset="0"/>
              </a:rPr>
              <a:t>创建新结点</a:t>
            </a:r>
            <a:r>
              <a:rPr kumimoji="1" lang="en-US" altLang="zh-CN" sz="2000" dirty="0">
                <a:solidFill>
                  <a:srgbClr val="00B0F0"/>
                </a:solidFill>
                <a:latin typeface="Consolas" pitchFamily="49" charset="0"/>
                <a:ea typeface="仿宋" pitchFamily="49" charset="-122"/>
                <a:cs typeface="Consolas" pitchFamily="49" charset="0"/>
              </a:rPr>
              <a:t>s</a:t>
            </a:r>
            <a:r>
              <a:rPr kumimoji="1" lang="zh-CN" altLang="en-US" sz="2000" dirty="0">
                <a:solidFill>
                  <a:srgbClr val="00B0F0"/>
                </a:solidFill>
                <a:latin typeface="Consolas" pitchFamily="49" charset="0"/>
                <a:ea typeface="仿宋" pitchFamily="49" charset="-122"/>
                <a:cs typeface="Consolas" pitchFamily="49" charset="0"/>
              </a:rPr>
              <a:t>，其</a:t>
            </a:r>
            <a:r>
              <a:rPr kumimoji="1" lang="en-US" altLang="zh-CN" sz="2000" dirty="0">
                <a:solidFill>
                  <a:srgbClr val="00B0F0"/>
                </a:solidFill>
                <a:latin typeface="Consolas" pitchFamily="49" charset="0"/>
                <a:ea typeface="仿宋" pitchFamily="49" charset="-122"/>
                <a:cs typeface="Consolas" pitchFamily="49" charset="0"/>
              </a:rPr>
              <a:t>data</a:t>
            </a:r>
            <a:r>
              <a:rPr kumimoji="1" lang="zh-CN" altLang="en-US" sz="2000" dirty="0">
                <a:solidFill>
                  <a:srgbClr val="00B0F0"/>
                </a:solidFill>
                <a:latin typeface="Consolas" pitchFamily="49" charset="0"/>
                <a:ea typeface="仿宋" pitchFamily="49" charset="-122"/>
                <a:cs typeface="Consolas" pitchFamily="49" charset="0"/>
              </a:rPr>
              <a:t>域置为</a:t>
            </a:r>
            <a:r>
              <a:rPr kumimoji="1" lang="en-US" altLang="zh-CN" sz="2000" dirty="0">
                <a:solidFill>
                  <a:srgbClr val="00B0F0"/>
                </a:solidFill>
                <a:latin typeface="Consolas" pitchFamily="49" charset="0"/>
                <a:ea typeface="仿宋" pitchFamily="49" charset="-122"/>
                <a:cs typeface="Consolas" pitchFamily="49" charset="0"/>
              </a:rPr>
              <a:t>e</a:t>
            </a:r>
          </a:p>
          <a:p>
            <a:r>
              <a:rPr kumimoji="1" lang="en-US" altLang="zh-CN" sz="2000" dirty="0">
                <a:solidFill>
                  <a:srgbClr val="0000FF"/>
                </a:solidFill>
                <a:latin typeface="Consolas" pitchFamily="49" charset="0"/>
                <a:ea typeface="仿宋" pitchFamily="49" charset="-122"/>
                <a:cs typeface="Consolas" pitchFamily="49" charset="0"/>
              </a:rPr>
              <a:t>	s-&gt;next=p-&gt;next;	</a:t>
            </a:r>
            <a:r>
              <a:rPr kumimoji="1" lang="en-US" altLang="zh-CN" sz="2000" dirty="0">
                <a:solidFill>
                  <a:srgbClr val="00B0F0"/>
                </a:solidFill>
                <a:latin typeface="Consolas" pitchFamily="49" charset="0"/>
                <a:ea typeface="仿宋" pitchFamily="49" charset="-122"/>
                <a:cs typeface="Consolas" pitchFamily="49" charset="0"/>
              </a:rPr>
              <a:t>//</a:t>
            </a:r>
            <a:r>
              <a:rPr kumimoji="1" lang="zh-CN" altLang="en-US" sz="2000" dirty="0">
                <a:solidFill>
                  <a:srgbClr val="00B0F0"/>
                </a:solidFill>
                <a:latin typeface="Consolas" pitchFamily="49" charset="0"/>
                <a:ea typeface="仿宋" pitchFamily="49" charset="-122"/>
                <a:cs typeface="Consolas" pitchFamily="49" charset="0"/>
              </a:rPr>
              <a:t>将</a:t>
            </a:r>
            <a:r>
              <a:rPr kumimoji="1" lang="en-US" altLang="zh-CN" sz="2000" dirty="0">
                <a:solidFill>
                  <a:srgbClr val="00B0F0"/>
                </a:solidFill>
                <a:latin typeface="Consolas" pitchFamily="49" charset="0"/>
                <a:ea typeface="仿宋" pitchFamily="49" charset="-122"/>
                <a:cs typeface="Consolas" pitchFamily="49" charset="0"/>
              </a:rPr>
              <a:t>s</a:t>
            </a:r>
            <a:r>
              <a:rPr kumimoji="1" lang="zh-CN" altLang="en-US" sz="2000" dirty="0">
                <a:solidFill>
                  <a:srgbClr val="00B0F0"/>
                </a:solidFill>
                <a:latin typeface="Consolas" pitchFamily="49" charset="0"/>
                <a:ea typeface="仿宋" pitchFamily="49" charset="-122"/>
                <a:cs typeface="Consolas" pitchFamily="49" charset="0"/>
              </a:rPr>
              <a:t>插入到</a:t>
            </a:r>
            <a:r>
              <a:rPr kumimoji="1" lang="en-US" altLang="zh-CN" sz="2000" dirty="0">
                <a:solidFill>
                  <a:srgbClr val="00B0F0"/>
                </a:solidFill>
                <a:latin typeface="Consolas" pitchFamily="49" charset="0"/>
                <a:ea typeface="仿宋" pitchFamily="49" charset="-122"/>
                <a:cs typeface="Consolas" pitchFamily="49" charset="0"/>
              </a:rPr>
              <a:t>p</a:t>
            </a:r>
            <a:r>
              <a:rPr kumimoji="1" lang="zh-CN" altLang="en-US" sz="2000" dirty="0">
                <a:solidFill>
                  <a:srgbClr val="00B0F0"/>
                </a:solidFill>
                <a:latin typeface="Consolas" pitchFamily="49" charset="0"/>
                <a:ea typeface="仿宋" pitchFamily="49" charset="-122"/>
                <a:cs typeface="Consolas" pitchFamily="49" charset="0"/>
              </a:rPr>
              <a:t>之后</a:t>
            </a:r>
          </a:p>
          <a:p>
            <a:r>
              <a:rPr kumimoji="1" lang="zh-CN" altLang="en-US" sz="2000" dirty="0">
                <a:solidFill>
                  <a:srgbClr val="0000FF"/>
                </a:solidFill>
                <a:latin typeface="Consolas" pitchFamily="49" charset="0"/>
                <a:ea typeface="仿宋" pitchFamily="49" charset="-122"/>
                <a:cs typeface="Consolas" pitchFamily="49" charset="0"/>
              </a:rPr>
              <a:t>	</a:t>
            </a:r>
            <a:r>
              <a:rPr kumimoji="1" lang="en-US" altLang="zh-CN" sz="2000" dirty="0">
                <a:solidFill>
                  <a:srgbClr val="0000FF"/>
                </a:solidFill>
                <a:latin typeface="Consolas" pitchFamily="49" charset="0"/>
                <a:ea typeface="仿宋" pitchFamily="49" charset="-122"/>
                <a:cs typeface="Consolas" pitchFamily="49" charset="0"/>
              </a:rPr>
              <a:t>p-&gt;next=s;</a:t>
            </a:r>
          </a:p>
          <a:p>
            <a:r>
              <a:rPr kumimoji="1" lang="en-US" altLang="zh-CN" sz="2000" dirty="0">
                <a:solidFill>
                  <a:srgbClr val="0000FF"/>
                </a:solidFill>
                <a:latin typeface="Consolas" pitchFamily="49" charset="0"/>
                <a:ea typeface="仿宋" pitchFamily="49" charset="-122"/>
                <a:cs typeface="Consolas" pitchFamily="49" charset="0"/>
              </a:rPr>
              <a:t>	return true;</a:t>
            </a:r>
          </a:p>
          <a:p>
            <a:r>
              <a:rPr kumimoji="1" lang="en-US" altLang="zh-CN" sz="2000" dirty="0">
                <a:solidFill>
                  <a:srgbClr val="0000FF"/>
                </a:solidFill>
                <a:latin typeface="Consolas" pitchFamily="49" charset="0"/>
                <a:ea typeface="仿宋" pitchFamily="49" charset="-122"/>
                <a:cs typeface="Consolas" pitchFamily="49" charset="0"/>
              </a:rPr>
              <a:t>   }</a:t>
            </a:r>
          </a:p>
          <a:p>
            <a:r>
              <a:rPr kumimoji="1" lang="en-US" altLang="zh-CN" sz="2000" dirty="0">
                <a:solidFill>
                  <a:srgbClr val="0000FF"/>
                </a:solidFill>
                <a:latin typeface="Consolas" pitchFamily="49" charset="0"/>
                <a:ea typeface="仿宋" pitchFamily="49" charset="-122"/>
                <a:cs typeface="Consolas" pitchFamily="49" charset="0"/>
              </a:rPr>
              <a:t>}</a:t>
            </a:r>
            <a:endParaRPr lang="en-US" altLang="zh-CN" sz="2000" dirty="0">
              <a:solidFill>
                <a:srgbClr val="0000FF"/>
              </a:solidFill>
              <a:latin typeface="Consolas" pitchFamily="49" charset="0"/>
              <a:ea typeface="仿宋" pitchFamily="49" charset="-122"/>
              <a:cs typeface="Consolas" pitchFamily="49" charset="0"/>
            </a:endParaRPr>
          </a:p>
        </p:txBody>
      </p:sp>
      <p:sp>
        <p:nvSpPr>
          <p:cNvPr id="5" name="矩形 4">
            <a:extLst>
              <a:ext uri="{FF2B5EF4-FFF2-40B4-BE49-F238E27FC236}">
                <a16:creationId xmlns:a16="http://schemas.microsoft.com/office/drawing/2014/main" id="{4E739ABD-52AA-44E5-B494-5E6D3D7C8469}"/>
              </a:ext>
            </a:extLst>
          </p:cNvPr>
          <p:cNvSpPr/>
          <p:nvPr/>
        </p:nvSpPr>
        <p:spPr>
          <a:xfrm>
            <a:off x="539552" y="116632"/>
            <a:ext cx="7784269" cy="763992"/>
          </a:xfrm>
          <a:prstGeom prst="rect">
            <a:avLst/>
          </a:prstGeom>
        </p:spPr>
        <p:txBody>
          <a:bodyPr wrap="square">
            <a:spAutoFit/>
          </a:bodyPr>
          <a:lstStyle/>
          <a:p>
            <a:pPr algn="just">
              <a:lnSpc>
                <a:spcPts val="2800"/>
              </a:lnSpc>
              <a:spcBef>
                <a:spcPct val="50000"/>
              </a:spcBef>
            </a:pPr>
            <a:r>
              <a:rPr kumimoji="1" lang="zh-CN" altLang="en-US" sz="2000" dirty="0">
                <a:latin typeface="楷体" panose="02010609060101010101" pitchFamily="49" charset="-122"/>
                <a:ea typeface="楷体" panose="02010609060101010101" pitchFamily="49" charset="-122"/>
                <a:cs typeface="Consolas" pitchFamily="49" charset="0"/>
              </a:rPr>
              <a:t>当前节点</a:t>
            </a:r>
            <a:r>
              <a:rPr kumimoji="1" lang="en-US" altLang="zh-CN" sz="2000" dirty="0">
                <a:latin typeface="楷体" panose="02010609060101010101" pitchFamily="49" charset="-122"/>
                <a:ea typeface="楷体" panose="02010609060101010101" pitchFamily="49" charset="-122"/>
                <a:cs typeface="Consolas" pitchFamily="49" charset="0"/>
              </a:rPr>
              <a:t>p</a:t>
            </a:r>
            <a:r>
              <a:rPr kumimoji="1" lang="zh-CN" altLang="en-US" sz="2000" dirty="0">
                <a:latin typeface="楷体" panose="02010609060101010101" pitchFamily="49" charset="-122"/>
                <a:ea typeface="楷体" panose="02010609060101010101" pitchFamily="49" charset="-122"/>
                <a:cs typeface="Consolas" pitchFamily="49" charset="0"/>
              </a:rPr>
              <a:t>之后插入一个新的</a:t>
            </a:r>
            <a:r>
              <a:rPr kumimoji="1" lang="zh-CN" altLang="en-US" sz="2000" i="1" dirty="0">
                <a:latin typeface="楷体" panose="02010609060101010101" pitchFamily="49" charset="-122"/>
                <a:ea typeface="楷体" panose="02010609060101010101" pitchFamily="49" charset="-122"/>
                <a:cs typeface="Consolas" pitchFamily="49" charset="0"/>
              </a:rPr>
              <a:t>元素</a:t>
            </a:r>
            <a:r>
              <a:rPr kumimoji="1" lang="en-US" altLang="zh-CN" sz="2000" i="1" dirty="0">
                <a:latin typeface="楷体" panose="02010609060101010101" pitchFamily="49" charset="-122"/>
                <a:ea typeface="楷体" panose="02010609060101010101" pitchFamily="49" charset="-122"/>
                <a:cs typeface="Consolas" pitchFamily="49" charset="0"/>
              </a:rPr>
              <a:t>e</a:t>
            </a:r>
            <a:r>
              <a:rPr kumimoji="1" lang="zh-CN" altLang="en-US" sz="2000" dirty="0">
                <a:latin typeface="楷体" panose="02010609060101010101" pitchFamily="49" charset="-122"/>
                <a:ea typeface="楷体" panose="02010609060101010101" pitchFamily="49" charset="-122"/>
                <a:cs typeface="Consolas" pitchFamily="49" charset="0"/>
              </a:rPr>
              <a:t>，先判断是否存在这样的结点，若存在</a:t>
            </a:r>
            <a:r>
              <a:rPr kumimoji="1" lang="en-US" altLang="zh-CN" sz="2000" dirty="0">
                <a:latin typeface="楷体" panose="02010609060101010101" pitchFamily="49" charset="-122"/>
                <a:ea typeface="楷体" panose="02010609060101010101" pitchFamily="49" charset="-122"/>
                <a:cs typeface="Consolas" pitchFamily="49" charset="0"/>
              </a:rPr>
              <a:t>p</a:t>
            </a:r>
            <a:r>
              <a:rPr kumimoji="1" lang="zh-CN" altLang="en-US" sz="2000" dirty="0">
                <a:latin typeface="楷体" panose="02010609060101010101" pitchFamily="49" charset="-122"/>
                <a:ea typeface="楷体" panose="02010609060101010101" pitchFamily="49" charset="-122"/>
                <a:cs typeface="Consolas" pitchFamily="49" charset="0"/>
              </a:rPr>
              <a:t>将值为</a:t>
            </a:r>
            <a:r>
              <a:rPr kumimoji="1" lang="en-US" altLang="zh-CN" sz="2000" i="1" dirty="0">
                <a:latin typeface="楷体" panose="02010609060101010101" pitchFamily="49" charset="-122"/>
                <a:ea typeface="楷体" panose="02010609060101010101" pitchFamily="49" charset="-122"/>
                <a:cs typeface="Consolas" pitchFamily="49" charset="0"/>
              </a:rPr>
              <a:t>e</a:t>
            </a:r>
            <a:r>
              <a:rPr kumimoji="1" lang="zh-CN" altLang="en-US" sz="2000" dirty="0">
                <a:latin typeface="楷体" panose="02010609060101010101" pitchFamily="49" charset="-122"/>
                <a:ea typeface="楷体" panose="02010609060101010101" pitchFamily="49" charset="-122"/>
                <a:cs typeface="Consolas" pitchFamily="49" charset="0"/>
              </a:rPr>
              <a:t>的结点结点</a:t>
            </a:r>
            <a:r>
              <a:rPr kumimoji="1" lang="en-US" altLang="zh-CN" sz="2000" i="1" dirty="0">
                <a:latin typeface="楷体" panose="02010609060101010101" pitchFamily="49" charset="-122"/>
                <a:ea typeface="楷体" panose="02010609060101010101" pitchFamily="49" charset="-122"/>
                <a:cs typeface="Consolas" pitchFamily="49" charset="0"/>
              </a:rPr>
              <a:t>s</a:t>
            </a:r>
            <a:r>
              <a:rPr kumimoji="1" lang="zh-CN" altLang="en-US" sz="2000" dirty="0">
                <a:latin typeface="楷体" panose="02010609060101010101" pitchFamily="49" charset="-122"/>
                <a:ea typeface="楷体" panose="02010609060101010101" pitchFamily="49" charset="-122"/>
                <a:cs typeface="Consolas" pitchFamily="49" charset="0"/>
              </a:rPr>
              <a:t>插入到其后。</a:t>
            </a:r>
            <a:endParaRPr kumimoji="1" lang="zh-CN" altLang="en-US" dirty="0">
              <a:latin typeface="楷体" panose="02010609060101010101" pitchFamily="49" charset="-122"/>
              <a:ea typeface="楷体" panose="02010609060101010101" pitchFamily="49" charset="-122"/>
              <a:cs typeface="Consolas" pitchFamily="49" charset="0"/>
            </a:endParaRPr>
          </a:p>
        </p:txBody>
      </p:sp>
    </p:spTree>
    <p:extLst>
      <p:ext uri="{BB962C8B-B14F-4D97-AF65-F5344CB8AC3E}">
        <p14:creationId xmlns:p14="http://schemas.microsoft.com/office/powerpoint/2010/main" val="6878083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908720"/>
            <a:ext cx="7520940" cy="548640"/>
          </a:xfrm>
        </p:spPr>
        <p:txBody>
          <a:bodyPr/>
          <a:lstStyle/>
          <a:p>
            <a:r>
              <a:rPr lang="zh-CN" altLang="zh-CN" dirty="0"/>
              <a:t>3. </a:t>
            </a:r>
            <a:r>
              <a:rPr lang="zh-CN" altLang="zh-CN" dirty="0">
                <a:solidFill>
                  <a:srgbClr val="FF0000"/>
                </a:solidFill>
              </a:rPr>
              <a:t>单链表的删除</a:t>
            </a:r>
            <a:endParaRPr lang="zh-CN" altLang="en-US" dirty="0">
              <a:solidFill>
                <a:srgbClr val="FF0000"/>
              </a:solidFill>
            </a:endParaRPr>
          </a:p>
        </p:txBody>
      </p:sp>
      <p:sp>
        <p:nvSpPr>
          <p:cNvPr id="3" name="内容占位符 2"/>
          <p:cNvSpPr>
            <a:spLocks noGrp="1"/>
          </p:cNvSpPr>
          <p:nvPr>
            <p:ph idx="1"/>
          </p:nvPr>
        </p:nvSpPr>
        <p:spPr>
          <a:xfrm>
            <a:off x="179512" y="1556792"/>
            <a:ext cx="4392488" cy="4248472"/>
          </a:xfrm>
        </p:spPr>
        <p:txBody>
          <a:bodyPr>
            <a:noAutofit/>
          </a:bodyPr>
          <a:lstStyle/>
          <a:p>
            <a:pPr>
              <a:buFont typeface="Arial" pitchFamily="34" charset="0"/>
              <a:buChar char="•"/>
            </a:pPr>
            <a:r>
              <a:rPr lang="zh-CN" altLang="zh-CN" b="0" dirty="0"/>
              <a:t>如要删除图中结点b，仅需修改结点a中的指针域即可。</a:t>
            </a:r>
            <a:endParaRPr lang="en-US" altLang="zh-CN" b="0" dirty="0"/>
          </a:p>
          <a:p>
            <a:pPr>
              <a:buFont typeface="Arial" pitchFamily="34" charset="0"/>
              <a:buChar char="•"/>
            </a:pPr>
            <a:r>
              <a:rPr lang="zh-CN" altLang="zh-CN" b="0" dirty="0"/>
              <a:t>如果指针p指向元素值为a的结点，则修改指针的语句为：</a:t>
            </a:r>
            <a:endParaRPr lang="en-US" altLang="zh-CN" b="0" dirty="0"/>
          </a:p>
          <a:p>
            <a:r>
              <a:rPr lang="en-US" altLang="zh-CN" b="0" dirty="0"/>
              <a:t>	</a:t>
            </a:r>
            <a:r>
              <a:rPr lang="en-US" altLang="zh-CN" dirty="0"/>
              <a:t>q = p-&gt; next;</a:t>
            </a:r>
          </a:p>
          <a:p>
            <a:r>
              <a:rPr lang="en-US" altLang="zh-CN" dirty="0"/>
              <a:t>     p-&gt; next = p-&gt; next-&gt; next</a:t>
            </a:r>
            <a:r>
              <a:rPr lang="zh-CN" altLang="zh-CN" dirty="0"/>
              <a:t>；</a:t>
            </a:r>
            <a:endParaRPr lang="en-US" altLang="zh-CN" dirty="0"/>
          </a:p>
          <a:p>
            <a:r>
              <a:rPr lang="en-US" altLang="zh-CN" dirty="0"/>
              <a:t>	</a:t>
            </a:r>
            <a:r>
              <a:rPr lang="zh-CN" altLang="en-US" dirty="0"/>
              <a:t>或</a:t>
            </a:r>
            <a:r>
              <a:rPr lang="en-US" altLang="zh-CN" dirty="0"/>
              <a:t>p-&gt; next = q-&gt; next</a:t>
            </a:r>
            <a:r>
              <a:rPr lang="zh-CN" altLang="zh-CN" dirty="0"/>
              <a:t>； </a:t>
            </a:r>
            <a:r>
              <a:rPr lang="en-US" altLang="zh-CN" dirty="0"/>
              <a:t>	 </a:t>
            </a:r>
          </a:p>
          <a:p>
            <a:r>
              <a:rPr lang="en-US" altLang="zh-CN" dirty="0"/>
              <a:t>	free(q);</a:t>
            </a:r>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48129" name="Object 1"/>
          <p:cNvGraphicFramePr>
            <a:graphicFrameLocks noChangeAspect="1"/>
          </p:cNvGraphicFramePr>
          <p:nvPr/>
        </p:nvGraphicFramePr>
        <p:xfrm>
          <a:off x="3884590" y="1793123"/>
          <a:ext cx="5223913" cy="1419853"/>
        </p:xfrm>
        <a:graphic>
          <a:graphicData uri="http://schemas.openxmlformats.org/presentationml/2006/ole">
            <mc:AlternateContent xmlns:mc="http://schemas.openxmlformats.org/markup-compatibility/2006">
              <mc:Choice xmlns:v="urn:schemas-microsoft-com:vml" Requires="v">
                <p:oleObj spid="_x0000_s2280" r:id="rId3" imgW="4654685" imgH="1063745" progId="">
                  <p:embed/>
                </p:oleObj>
              </mc:Choice>
              <mc:Fallback>
                <p:oleObj r:id="rId3" imgW="4654685" imgH="1063745"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4590" y="1793123"/>
                        <a:ext cx="5223913" cy="141985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8131" name="Rectangle 3"/>
          <p:cNvSpPr>
            <a:spLocks noChangeArrowheads="1"/>
          </p:cNvSpPr>
          <p:nvPr/>
        </p:nvSpPr>
        <p:spPr bwMode="auto">
          <a:xfrm>
            <a:off x="5148064" y="2855694"/>
            <a:ext cx="3995936"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 </a:t>
            </a:r>
            <a:r>
              <a:rPr kumimoji="0" lang="zh-CN"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删除前的单链表</a:t>
            </a:r>
            <a:endParaRPr kumimoji="0" lang="zh-CN"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48133"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48132" name="Object 4"/>
          <p:cNvGraphicFramePr>
            <a:graphicFrameLocks noChangeAspect="1"/>
          </p:cNvGraphicFramePr>
          <p:nvPr/>
        </p:nvGraphicFramePr>
        <p:xfrm>
          <a:off x="4496704" y="4077072"/>
          <a:ext cx="4647296" cy="1296144"/>
        </p:xfrm>
        <a:graphic>
          <a:graphicData uri="http://schemas.openxmlformats.org/presentationml/2006/ole">
            <mc:AlternateContent xmlns:mc="http://schemas.openxmlformats.org/markup-compatibility/2006">
              <mc:Choice xmlns:v="urn:schemas-microsoft-com:vml" Requires="v">
                <p:oleObj spid="_x0000_s2281" r:id="rId5" imgW="3921328" imgH="1099868" progId="">
                  <p:embed/>
                </p:oleObj>
              </mc:Choice>
              <mc:Fallback>
                <p:oleObj r:id="rId5" imgW="3921328" imgH="1099868" progId="">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96704" y="4077072"/>
                        <a:ext cx="4647296" cy="12961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8134" name="Rectangle 6"/>
          <p:cNvSpPr>
            <a:spLocks noChangeArrowheads="1"/>
          </p:cNvSpPr>
          <p:nvPr/>
        </p:nvSpPr>
        <p:spPr bwMode="auto">
          <a:xfrm>
            <a:off x="4716016" y="5015934"/>
            <a:ext cx="421196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(b) </a:t>
            </a:r>
            <a:r>
              <a:rPr kumimoji="0" lang="zh-CN"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删除后的单链表</a:t>
            </a:r>
            <a:endParaRPr kumimoji="0" lang="zh-CN"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Tree>
    <p:extLst>
      <p:ext uri="{BB962C8B-B14F-4D97-AF65-F5344CB8AC3E}">
        <p14:creationId xmlns:p14="http://schemas.microsoft.com/office/powerpoint/2010/main" val="157008259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57224" y="785794"/>
            <a:ext cx="8143932" cy="4878874"/>
          </a:xfrm>
        </p:spPr>
        <p:txBody>
          <a:bodyPr>
            <a:noAutofit/>
          </a:bodyPr>
          <a:lstStyle/>
          <a:p>
            <a:pPr>
              <a:spcBef>
                <a:spcPts val="0"/>
              </a:spcBef>
            </a:pPr>
            <a:r>
              <a:rPr lang="zh-CN" altLang="zh-CN" dirty="0"/>
              <a:t>单链表的删除算法如下：</a:t>
            </a:r>
            <a:endParaRPr lang="en-US" altLang="zh-CN" dirty="0"/>
          </a:p>
          <a:p>
            <a:pPr>
              <a:spcBef>
                <a:spcPts val="0"/>
              </a:spcBef>
            </a:pPr>
            <a:endParaRPr lang="en-US" altLang="zh-CN" dirty="0"/>
          </a:p>
          <a:p>
            <a:pPr>
              <a:spcBef>
                <a:spcPts val="0"/>
              </a:spcBef>
            </a:pPr>
            <a:r>
              <a:rPr lang="zh-CN" altLang="zh-CN" dirty="0"/>
              <a:t>算法</a:t>
            </a:r>
            <a:r>
              <a:rPr lang="en-US" altLang="zh-CN" dirty="0"/>
              <a:t>2.10</a:t>
            </a:r>
            <a:r>
              <a:rPr lang="zh-CN" altLang="zh-CN" dirty="0"/>
              <a:t>：</a:t>
            </a:r>
            <a:r>
              <a:rPr lang="zh-CN" altLang="zh-CN" dirty="0">
                <a:solidFill>
                  <a:srgbClr val="FF0000"/>
                </a:solidFill>
              </a:rPr>
              <a:t>单链表的删除</a:t>
            </a:r>
            <a:endParaRPr lang="en-US" altLang="zh-CN" dirty="0">
              <a:solidFill>
                <a:srgbClr val="FF0000"/>
              </a:solidFill>
            </a:endParaRPr>
          </a:p>
          <a:p>
            <a:pPr>
              <a:spcBef>
                <a:spcPts val="0"/>
              </a:spcBef>
            </a:pPr>
            <a:r>
              <a:rPr lang="en-US" b="0" dirty="0"/>
              <a:t>bool </a:t>
            </a:r>
            <a:r>
              <a:rPr lang="en-US" b="0" dirty="0" err="1"/>
              <a:t>LList</a:t>
            </a:r>
            <a:r>
              <a:rPr lang="en-US" b="0" dirty="0"/>
              <a:t> :: remove( Elem &amp;e ) {//</a:t>
            </a:r>
            <a:r>
              <a:rPr lang="zh-CN" altLang="en-US" b="0" dirty="0"/>
              <a:t>删除当前结点之后的元素</a:t>
            </a:r>
          </a:p>
          <a:p>
            <a:pPr>
              <a:spcBef>
                <a:spcPts val="0"/>
              </a:spcBef>
            </a:pPr>
            <a:r>
              <a:rPr lang="en-US" b="0" dirty="0"/>
              <a:t>	if ( </a:t>
            </a:r>
            <a:r>
              <a:rPr lang="en-US" b="0" dirty="0" err="1"/>
              <a:t>curr</a:t>
            </a:r>
            <a:r>
              <a:rPr lang="en-US" b="0" dirty="0"/>
              <a:t>-&gt;next == NULL) return false;	//</a:t>
            </a:r>
            <a:r>
              <a:rPr lang="zh-CN" altLang="en-US" b="0" dirty="0"/>
              <a:t>返回失败</a:t>
            </a:r>
          </a:p>
          <a:p>
            <a:pPr>
              <a:spcBef>
                <a:spcPts val="0"/>
              </a:spcBef>
            </a:pPr>
            <a:r>
              <a:rPr lang="en-US" b="0" dirty="0"/>
              <a:t>	Link *q = </a:t>
            </a:r>
            <a:r>
              <a:rPr lang="en-US" b="0" dirty="0" err="1"/>
              <a:t>curr</a:t>
            </a:r>
            <a:r>
              <a:rPr lang="en-US" b="0" dirty="0"/>
              <a:t>-&gt;next;                   //</a:t>
            </a:r>
            <a:r>
              <a:rPr lang="zh-CN" altLang="en-US" b="0" dirty="0"/>
              <a:t>暂存删除节点指针</a:t>
            </a:r>
          </a:p>
          <a:p>
            <a:pPr>
              <a:spcBef>
                <a:spcPts val="0"/>
              </a:spcBef>
            </a:pPr>
            <a:r>
              <a:rPr lang="en-US" b="0" dirty="0"/>
              <a:t> 	</a:t>
            </a:r>
            <a:r>
              <a:rPr lang="en-US" b="0" dirty="0" err="1"/>
              <a:t>curr</a:t>
            </a:r>
            <a:r>
              <a:rPr lang="en-US" b="0" dirty="0"/>
              <a:t>-&gt;next = q-&gt;next;                   //</a:t>
            </a:r>
            <a:r>
              <a:rPr lang="zh-CN" altLang="en-US" b="0" dirty="0"/>
              <a:t>删除结点链表关系</a:t>
            </a:r>
          </a:p>
          <a:p>
            <a:pPr>
              <a:spcBef>
                <a:spcPts val="0"/>
              </a:spcBef>
            </a:pPr>
            <a:r>
              <a:rPr lang="en-US" b="0" dirty="0"/>
              <a:t>  	e = q-&gt;element;</a:t>
            </a:r>
            <a:endParaRPr lang="zh-CN" altLang="en-US" b="0" dirty="0"/>
          </a:p>
          <a:p>
            <a:pPr>
              <a:spcBef>
                <a:spcPts val="0"/>
              </a:spcBef>
            </a:pPr>
            <a:r>
              <a:rPr lang="en-US" b="0" dirty="0"/>
              <a:t>  	delete q;</a:t>
            </a:r>
            <a:endParaRPr lang="zh-CN" altLang="en-US" b="0" dirty="0"/>
          </a:p>
          <a:p>
            <a:pPr>
              <a:spcBef>
                <a:spcPts val="0"/>
              </a:spcBef>
            </a:pPr>
            <a:r>
              <a:rPr lang="en-US" b="0" dirty="0"/>
              <a:t>  	return true;</a:t>
            </a:r>
            <a:endParaRPr lang="zh-CN" altLang="en-US" b="0" dirty="0"/>
          </a:p>
          <a:p>
            <a:pPr>
              <a:spcBef>
                <a:spcPts val="0"/>
              </a:spcBef>
            </a:pPr>
            <a:r>
              <a:rPr lang="en-US" b="0" dirty="0"/>
              <a:t>}</a:t>
            </a:r>
            <a:endParaRPr lang="zh-CN" altLang="en-US" b="0" dirty="0"/>
          </a:p>
          <a:p>
            <a:pPr>
              <a:spcBef>
                <a:spcPts val="0"/>
              </a:spcBef>
            </a:pPr>
            <a:endParaRPr lang="zh-CN" altLang="en-US" dirty="0"/>
          </a:p>
        </p:txBody>
      </p:sp>
    </p:spTree>
    <p:extLst>
      <p:ext uri="{BB962C8B-B14F-4D97-AF65-F5344CB8AC3E}">
        <p14:creationId xmlns:p14="http://schemas.microsoft.com/office/powerpoint/2010/main" val="293508541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D97758A7-533D-4CFB-9627-D615AA640EFC}"/>
              </a:ext>
            </a:extLst>
          </p:cNvPr>
          <p:cNvSpPr/>
          <p:nvPr/>
        </p:nvSpPr>
        <p:spPr>
          <a:xfrm>
            <a:off x="395536" y="1412776"/>
            <a:ext cx="8640452" cy="4413516"/>
          </a:xfrm>
          <a:prstGeom prst="rect">
            <a:avLst/>
          </a:prstGeom>
        </p:spPr>
        <p:txBody>
          <a:bodyPr wrap="square">
            <a:spAutoFit/>
          </a:bodyPr>
          <a:lstStyle/>
          <a:p>
            <a:r>
              <a:rPr lang="en-US" altLang="zh-CN" dirty="0">
                <a:solidFill>
                  <a:srgbClr val="0000FF"/>
                </a:solidFill>
                <a:latin typeface="Consolas" pitchFamily="49" charset="0"/>
                <a:ea typeface="仿宋" pitchFamily="49" charset="-122"/>
                <a:cs typeface="Consolas" pitchFamily="49" charset="0"/>
              </a:rPr>
              <a:t>bool </a:t>
            </a:r>
            <a:r>
              <a:rPr lang="en-US" altLang="zh-CN" dirty="0" err="1">
                <a:solidFill>
                  <a:srgbClr val="FF3300"/>
                </a:solidFill>
                <a:latin typeface="Consolas" pitchFamily="49" charset="0"/>
                <a:ea typeface="仿宋" pitchFamily="49" charset="-122"/>
                <a:cs typeface="Consolas" pitchFamily="49" charset="0"/>
              </a:rPr>
              <a:t>ListDele</a:t>
            </a:r>
            <a:r>
              <a:rPr lang="en-US" altLang="zh-CN" dirty="0" err="1">
                <a:solidFill>
                  <a:srgbClr val="FF3300"/>
                </a:solidFill>
                <a:latin typeface="Consolas" pitchFamily="49" charset="0"/>
                <a:ea typeface="仿宋" pitchFamily="49" charset="-122"/>
              </a:rPr>
              <a:t>te</a:t>
            </a:r>
            <a:r>
              <a:rPr lang="en-US" altLang="zh-CN" dirty="0">
                <a:solidFill>
                  <a:srgbClr val="0000FF"/>
                </a:solidFill>
                <a:latin typeface="Consolas" pitchFamily="49" charset="0"/>
                <a:ea typeface="仿宋" pitchFamily="49" charset="-122"/>
                <a:cs typeface="Consolas" pitchFamily="49" charset="0"/>
              </a:rPr>
              <a:t>(</a:t>
            </a:r>
            <a:r>
              <a:rPr lang="en-US" altLang="zh-CN" dirty="0" err="1">
                <a:solidFill>
                  <a:srgbClr val="0000FF"/>
                </a:solidFill>
                <a:latin typeface="Consolas" pitchFamily="49" charset="0"/>
                <a:ea typeface="仿宋" pitchFamily="49" charset="-122"/>
                <a:cs typeface="Consolas" pitchFamily="49" charset="0"/>
              </a:rPr>
              <a:t>LinkNode</a:t>
            </a:r>
            <a:r>
              <a:rPr lang="en-US" altLang="zh-CN" dirty="0">
                <a:solidFill>
                  <a:srgbClr val="0000FF"/>
                </a:solidFill>
                <a:latin typeface="Consolas" pitchFamily="49" charset="0"/>
                <a:ea typeface="仿宋" pitchFamily="49" charset="-122"/>
                <a:cs typeface="Consolas" pitchFamily="49" charset="0"/>
              </a:rPr>
              <a:t> *&amp;L</a:t>
            </a:r>
            <a:r>
              <a:rPr lang="zh-CN" altLang="en-US" dirty="0">
                <a:solidFill>
                  <a:srgbClr val="0000FF"/>
                </a:solidFill>
                <a:latin typeface="Consolas" pitchFamily="49" charset="0"/>
                <a:ea typeface="仿宋" pitchFamily="49" charset="-122"/>
                <a:cs typeface="Consolas" pitchFamily="49" charset="0"/>
              </a:rPr>
              <a:t>，</a:t>
            </a:r>
            <a:r>
              <a:rPr lang="en-US" altLang="zh-CN" dirty="0">
                <a:solidFill>
                  <a:srgbClr val="0000FF"/>
                </a:solidFill>
                <a:latin typeface="Consolas" pitchFamily="49" charset="0"/>
                <a:ea typeface="仿宋" pitchFamily="49" charset="-122"/>
                <a:cs typeface="Consolas" pitchFamily="49" charset="0"/>
              </a:rPr>
              <a:t> </a:t>
            </a:r>
            <a:r>
              <a:rPr lang="en-US" altLang="zh-CN" dirty="0" err="1">
                <a:solidFill>
                  <a:srgbClr val="0000FF"/>
                </a:solidFill>
                <a:latin typeface="Consolas" pitchFamily="49" charset="0"/>
                <a:ea typeface="仿宋" pitchFamily="49" charset="-122"/>
                <a:cs typeface="Consolas" pitchFamily="49" charset="0"/>
              </a:rPr>
              <a:t>LinkNode</a:t>
            </a:r>
            <a:r>
              <a:rPr lang="en-US" altLang="zh-CN" dirty="0">
                <a:solidFill>
                  <a:srgbClr val="0000FF"/>
                </a:solidFill>
                <a:latin typeface="Consolas" pitchFamily="49" charset="0"/>
                <a:ea typeface="仿宋" pitchFamily="49" charset="-122"/>
                <a:cs typeface="Consolas" pitchFamily="49" charset="0"/>
              </a:rPr>
              <a:t> *</a:t>
            </a:r>
            <a:r>
              <a:rPr lang="en-US" altLang="zh-CN" dirty="0" err="1">
                <a:solidFill>
                  <a:srgbClr val="0000FF"/>
                </a:solidFill>
                <a:latin typeface="Consolas" pitchFamily="49" charset="0"/>
                <a:ea typeface="仿宋" pitchFamily="49" charset="-122"/>
                <a:cs typeface="Consolas" pitchFamily="49" charset="0"/>
              </a:rPr>
              <a:t>curr</a:t>
            </a:r>
            <a:r>
              <a:rPr lang="zh-CN" altLang="en-US" dirty="0">
                <a:solidFill>
                  <a:srgbClr val="0000FF"/>
                </a:solidFill>
                <a:latin typeface="Consolas" pitchFamily="49" charset="0"/>
                <a:ea typeface="仿宋" pitchFamily="49" charset="-122"/>
                <a:cs typeface="Consolas" pitchFamily="49" charset="0"/>
              </a:rPr>
              <a:t>，</a:t>
            </a:r>
            <a:r>
              <a:rPr lang="en-US" altLang="zh-CN" dirty="0" err="1">
                <a:solidFill>
                  <a:srgbClr val="0000FF"/>
                </a:solidFill>
                <a:latin typeface="Consolas" pitchFamily="49" charset="0"/>
                <a:ea typeface="仿宋" pitchFamily="49" charset="-122"/>
                <a:cs typeface="Consolas" pitchFamily="49" charset="0"/>
              </a:rPr>
              <a:t>ElemType</a:t>
            </a:r>
            <a:r>
              <a:rPr lang="en-US" altLang="zh-CN" dirty="0">
                <a:solidFill>
                  <a:srgbClr val="0000FF"/>
                </a:solidFill>
                <a:latin typeface="Consolas" pitchFamily="49" charset="0"/>
                <a:ea typeface="仿宋" pitchFamily="49" charset="-122"/>
                <a:cs typeface="Consolas" pitchFamily="49" charset="0"/>
              </a:rPr>
              <a:t> &amp;e) {</a:t>
            </a:r>
          </a:p>
          <a:p>
            <a:pPr>
              <a:lnSpc>
                <a:spcPct val="110000"/>
              </a:lnSpc>
            </a:pPr>
            <a:r>
              <a:rPr lang="en-US" altLang="zh-CN" dirty="0">
                <a:solidFill>
                  <a:srgbClr val="0000FF"/>
                </a:solidFill>
                <a:latin typeface="Consolas" pitchFamily="49" charset="0"/>
                <a:ea typeface="仿宋" pitchFamily="49" charset="-122"/>
                <a:cs typeface="Consolas" pitchFamily="49" charset="0"/>
              </a:rPr>
              <a:t>   </a:t>
            </a:r>
            <a:r>
              <a:rPr lang="en-US" altLang="zh-CN" dirty="0" err="1">
                <a:solidFill>
                  <a:srgbClr val="0000FF"/>
                </a:solidFill>
                <a:latin typeface="Consolas" pitchFamily="49" charset="0"/>
                <a:ea typeface="仿宋" pitchFamily="49" charset="-122"/>
                <a:cs typeface="Consolas" pitchFamily="49" charset="0"/>
              </a:rPr>
              <a:t>LinkNode</a:t>
            </a:r>
            <a:r>
              <a:rPr lang="en-US" altLang="zh-CN" dirty="0">
                <a:solidFill>
                  <a:srgbClr val="0000FF"/>
                </a:solidFill>
                <a:latin typeface="Consolas" pitchFamily="49" charset="0"/>
                <a:ea typeface="仿宋" pitchFamily="49" charset="-122"/>
                <a:cs typeface="Consolas" pitchFamily="49" charset="0"/>
              </a:rPr>
              <a:t> *p=</a:t>
            </a:r>
            <a:r>
              <a:rPr lang="en-US" altLang="zh-CN" dirty="0" err="1">
                <a:solidFill>
                  <a:srgbClr val="0000FF"/>
                </a:solidFill>
                <a:latin typeface="Consolas" pitchFamily="49" charset="0"/>
                <a:ea typeface="仿宋" pitchFamily="49" charset="-122"/>
                <a:cs typeface="Consolas" pitchFamily="49" charset="0"/>
              </a:rPr>
              <a:t>curr</a:t>
            </a:r>
            <a:r>
              <a:rPr lang="en-US" altLang="zh-CN" dirty="0">
                <a:solidFill>
                  <a:srgbClr val="0000FF"/>
                </a:solidFill>
                <a:latin typeface="Consolas" pitchFamily="49" charset="0"/>
                <a:ea typeface="仿宋" pitchFamily="49" charset="-122"/>
                <a:cs typeface="Consolas" pitchFamily="49" charset="0"/>
              </a:rPr>
              <a:t>;         </a:t>
            </a:r>
            <a:r>
              <a:rPr lang="en-US" altLang="zh-CN" dirty="0">
                <a:solidFill>
                  <a:srgbClr val="00B0F0"/>
                </a:solidFill>
                <a:latin typeface="Consolas" pitchFamily="49" charset="0"/>
                <a:ea typeface="仿宋" pitchFamily="49" charset="-122"/>
                <a:cs typeface="Consolas" pitchFamily="49" charset="0"/>
              </a:rPr>
              <a:t>//p</a:t>
            </a:r>
            <a:r>
              <a:rPr lang="zh-CN" altLang="en-US" dirty="0">
                <a:solidFill>
                  <a:srgbClr val="00B0F0"/>
                </a:solidFill>
                <a:latin typeface="Consolas" pitchFamily="49" charset="0"/>
                <a:ea typeface="仿宋" pitchFamily="49" charset="-122"/>
                <a:cs typeface="Consolas" pitchFamily="49" charset="0"/>
              </a:rPr>
              <a:t>指向当前节点结点</a:t>
            </a:r>
            <a:endParaRPr lang="en-US" altLang="zh-CN" dirty="0">
              <a:solidFill>
                <a:srgbClr val="00B0F0"/>
              </a:solidFill>
              <a:latin typeface="Consolas" pitchFamily="49" charset="0"/>
              <a:ea typeface="仿宋" pitchFamily="49" charset="-122"/>
              <a:cs typeface="Consolas" pitchFamily="49" charset="0"/>
            </a:endParaRPr>
          </a:p>
          <a:p>
            <a:r>
              <a:rPr lang="en-US" altLang="zh-CN" dirty="0">
                <a:solidFill>
                  <a:srgbClr val="0000FF"/>
                </a:solidFill>
                <a:latin typeface="Consolas" pitchFamily="49" charset="0"/>
                <a:ea typeface="仿宋" pitchFamily="49" charset="-122"/>
                <a:cs typeface="Consolas" pitchFamily="49" charset="0"/>
              </a:rPr>
              <a:t>   </a:t>
            </a:r>
            <a:r>
              <a:rPr kumimoji="1" lang="en-US" altLang="zh-CN" dirty="0">
                <a:solidFill>
                  <a:srgbClr val="0000FF"/>
                </a:solidFill>
                <a:latin typeface="Consolas" pitchFamily="49" charset="0"/>
                <a:ea typeface="仿宋" pitchFamily="49" charset="-122"/>
                <a:cs typeface="Consolas" pitchFamily="49" charset="0"/>
              </a:rPr>
              <a:t>if (p==NULL)	       </a:t>
            </a:r>
            <a:r>
              <a:rPr kumimoji="1" lang="en-US" altLang="zh-CN" dirty="0">
                <a:solidFill>
                  <a:srgbClr val="00B0F0"/>
                </a:solidFill>
                <a:latin typeface="Consolas" pitchFamily="49" charset="0"/>
                <a:ea typeface="仿宋" pitchFamily="49" charset="-122"/>
                <a:cs typeface="Consolas" pitchFamily="49" charset="0"/>
              </a:rPr>
              <a:t>//</a:t>
            </a:r>
            <a:r>
              <a:rPr kumimoji="1" lang="zh-CN" altLang="en-US" dirty="0">
                <a:solidFill>
                  <a:srgbClr val="00B0F0"/>
                </a:solidFill>
                <a:latin typeface="Consolas" pitchFamily="49" charset="0"/>
                <a:ea typeface="仿宋" pitchFamily="49" charset="-122"/>
                <a:cs typeface="Consolas" pitchFamily="49" charset="0"/>
              </a:rPr>
              <a:t>未找到结点</a:t>
            </a:r>
            <a:r>
              <a:rPr kumimoji="1" lang="en-US" altLang="zh-CN" dirty="0">
                <a:solidFill>
                  <a:srgbClr val="00B0F0"/>
                </a:solidFill>
                <a:latin typeface="Consolas" pitchFamily="49" charset="0"/>
                <a:ea typeface="仿宋" pitchFamily="49" charset="-122"/>
                <a:cs typeface="Consolas" pitchFamily="49" charset="0"/>
              </a:rPr>
              <a:t>p</a:t>
            </a:r>
            <a:r>
              <a:rPr kumimoji="1" lang="zh-CN" altLang="en-US" dirty="0">
                <a:solidFill>
                  <a:srgbClr val="00B0F0"/>
                </a:solidFill>
                <a:latin typeface="Consolas" pitchFamily="49" charset="0"/>
                <a:ea typeface="仿宋" pitchFamily="49" charset="-122"/>
                <a:cs typeface="Consolas" pitchFamily="49" charset="0"/>
              </a:rPr>
              <a:t>，返回</a:t>
            </a:r>
            <a:r>
              <a:rPr kumimoji="1" lang="en-US" altLang="zh-CN" dirty="0">
                <a:solidFill>
                  <a:srgbClr val="00B0F0"/>
                </a:solidFill>
                <a:latin typeface="Consolas" pitchFamily="49" charset="0"/>
                <a:ea typeface="仿宋" pitchFamily="49" charset="-122"/>
                <a:cs typeface="Consolas" pitchFamily="49" charset="0"/>
              </a:rPr>
              <a:t>false</a:t>
            </a:r>
          </a:p>
          <a:p>
            <a:r>
              <a:rPr kumimoji="1" lang="en-US" altLang="zh-CN" dirty="0">
                <a:solidFill>
                  <a:srgbClr val="0000FF"/>
                </a:solidFill>
                <a:latin typeface="Consolas" pitchFamily="49" charset="0"/>
                <a:ea typeface="仿宋" pitchFamily="49" charset="-122"/>
                <a:cs typeface="Consolas" pitchFamily="49" charset="0"/>
              </a:rPr>
              <a:t>       return false;</a:t>
            </a:r>
          </a:p>
          <a:p>
            <a:r>
              <a:rPr lang="en-US" altLang="zh-CN" dirty="0">
                <a:solidFill>
                  <a:srgbClr val="0000FF"/>
                </a:solidFill>
                <a:latin typeface="Consolas" pitchFamily="49" charset="0"/>
                <a:ea typeface="仿宋" pitchFamily="49" charset="-122"/>
                <a:cs typeface="Consolas" pitchFamily="49" charset="0"/>
              </a:rPr>
              <a:t>   </a:t>
            </a:r>
            <a:r>
              <a:rPr kumimoji="1" lang="en-US" altLang="zh-CN" dirty="0">
                <a:solidFill>
                  <a:srgbClr val="0000FF"/>
                </a:solidFill>
                <a:latin typeface="Consolas" pitchFamily="49" charset="0"/>
                <a:ea typeface="仿宋" pitchFamily="49" charset="-122"/>
                <a:cs typeface="Consolas" pitchFamily="49" charset="0"/>
              </a:rPr>
              <a:t>else			       </a:t>
            </a:r>
            <a:r>
              <a:rPr kumimoji="1" lang="en-US" altLang="zh-CN" dirty="0">
                <a:solidFill>
                  <a:srgbClr val="00B0F0"/>
                </a:solidFill>
                <a:latin typeface="Consolas" pitchFamily="49" charset="0"/>
                <a:ea typeface="仿宋" pitchFamily="49" charset="-122"/>
                <a:cs typeface="Consolas" pitchFamily="49" charset="0"/>
              </a:rPr>
              <a:t>//</a:t>
            </a:r>
            <a:r>
              <a:rPr kumimoji="1" lang="zh-CN" altLang="en-US" dirty="0">
                <a:solidFill>
                  <a:srgbClr val="00B0F0"/>
                </a:solidFill>
                <a:latin typeface="Consolas" pitchFamily="49" charset="0"/>
                <a:ea typeface="仿宋" pitchFamily="49" charset="-122"/>
                <a:cs typeface="Consolas" pitchFamily="49" charset="0"/>
              </a:rPr>
              <a:t>找到结点</a:t>
            </a:r>
            <a:r>
              <a:rPr kumimoji="1" lang="en-US" altLang="zh-CN" dirty="0">
                <a:solidFill>
                  <a:srgbClr val="00B0F0"/>
                </a:solidFill>
                <a:latin typeface="Consolas" pitchFamily="49" charset="0"/>
                <a:ea typeface="仿宋" pitchFamily="49" charset="-122"/>
                <a:cs typeface="Consolas" pitchFamily="49" charset="0"/>
              </a:rPr>
              <a:t>p</a:t>
            </a:r>
          </a:p>
          <a:p>
            <a:r>
              <a:rPr kumimoji="1" lang="en-US" altLang="zh-CN" dirty="0">
                <a:solidFill>
                  <a:srgbClr val="0000FF"/>
                </a:solidFill>
                <a:latin typeface="Consolas" pitchFamily="49" charset="0"/>
                <a:ea typeface="仿宋" pitchFamily="49" charset="-122"/>
                <a:cs typeface="Consolas" pitchFamily="49" charset="0"/>
              </a:rPr>
              <a:t>    {</a:t>
            </a:r>
          </a:p>
          <a:p>
            <a:r>
              <a:rPr kumimoji="1" lang="en-US" altLang="zh-CN" dirty="0">
                <a:solidFill>
                  <a:srgbClr val="0000FF"/>
                </a:solidFill>
                <a:latin typeface="Consolas" pitchFamily="49" charset="0"/>
                <a:ea typeface="仿宋" pitchFamily="49" charset="-122"/>
                <a:cs typeface="Consolas" pitchFamily="49" charset="0"/>
              </a:rPr>
              <a:t>      q=p-&gt;next;		</a:t>
            </a:r>
            <a:r>
              <a:rPr kumimoji="1" lang="en-US" altLang="zh-CN" dirty="0">
                <a:solidFill>
                  <a:srgbClr val="00B0F0"/>
                </a:solidFill>
                <a:latin typeface="Consolas" pitchFamily="49" charset="0"/>
                <a:ea typeface="仿宋" pitchFamily="49" charset="-122"/>
                <a:cs typeface="Consolas" pitchFamily="49" charset="0"/>
              </a:rPr>
              <a:t>//q</a:t>
            </a:r>
            <a:r>
              <a:rPr kumimoji="1" lang="zh-CN" altLang="en-US" dirty="0">
                <a:solidFill>
                  <a:srgbClr val="00B0F0"/>
                </a:solidFill>
                <a:latin typeface="Consolas" pitchFamily="49" charset="0"/>
                <a:ea typeface="仿宋" pitchFamily="49" charset="-122"/>
                <a:cs typeface="Consolas" pitchFamily="49" charset="0"/>
              </a:rPr>
              <a:t>指向后继结点</a:t>
            </a:r>
          </a:p>
          <a:p>
            <a:r>
              <a:rPr kumimoji="1" lang="zh-CN" altLang="en-US" dirty="0">
                <a:solidFill>
                  <a:srgbClr val="0000FF"/>
                </a:solidFill>
                <a:latin typeface="Consolas" pitchFamily="49" charset="0"/>
                <a:ea typeface="仿宋" pitchFamily="49" charset="-122"/>
                <a:cs typeface="Consolas" pitchFamily="49" charset="0"/>
              </a:rPr>
              <a:t>      </a:t>
            </a:r>
            <a:r>
              <a:rPr kumimoji="1" lang="en-US" altLang="zh-CN" dirty="0">
                <a:solidFill>
                  <a:srgbClr val="0000FF"/>
                </a:solidFill>
                <a:latin typeface="Consolas" pitchFamily="49" charset="0"/>
                <a:ea typeface="仿宋" pitchFamily="49" charset="-122"/>
                <a:cs typeface="Consolas" pitchFamily="49" charset="0"/>
              </a:rPr>
              <a:t>if (</a:t>
            </a:r>
            <a:r>
              <a:rPr kumimoji="1" lang="en-US" altLang="zh-CN" dirty="0">
                <a:solidFill>
                  <a:srgbClr val="FF00FF"/>
                </a:solidFill>
                <a:latin typeface="Consolas" pitchFamily="49" charset="0"/>
                <a:ea typeface="仿宋" pitchFamily="49" charset="-122"/>
                <a:cs typeface="Consolas" pitchFamily="49" charset="0"/>
              </a:rPr>
              <a:t>q==NULL</a:t>
            </a:r>
            <a:r>
              <a:rPr kumimoji="1" lang="en-US" altLang="zh-CN" dirty="0">
                <a:solidFill>
                  <a:srgbClr val="0000FF"/>
                </a:solidFill>
                <a:latin typeface="Consolas" pitchFamily="49" charset="0"/>
                <a:ea typeface="仿宋" pitchFamily="49" charset="-122"/>
                <a:cs typeface="Consolas" pitchFamily="49" charset="0"/>
              </a:rPr>
              <a:t>)		</a:t>
            </a:r>
            <a:r>
              <a:rPr kumimoji="1" lang="en-US" altLang="zh-CN" dirty="0">
                <a:solidFill>
                  <a:srgbClr val="00B0F0"/>
                </a:solidFill>
                <a:latin typeface="Consolas" pitchFamily="49" charset="0"/>
                <a:ea typeface="仿宋" pitchFamily="49" charset="-122"/>
                <a:cs typeface="Consolas" pitchFamily="49" charset="0"/>
              </a:rPr>
              <a:t>//</a:t>
            </a:r>
            <a:r>
              <a:rPr kumimoji="1" lang="zh-CN" altLang="en-US" dirty="0">
                <a:solidFill>
                  <a:srgbClr val="00B0F0"/>
                </a:solidFill>
                <a:latin typeface="Consolas" pitchFamily="49" charset="0"/>
                <a:ea typeface="仿宋" pitchFamily="49" charset="-122"/>
                <a:cs typeface="Consolas" pitchFamily="49" charset="0"/>
              </a:rPr>
              <a:t>若不存在后继结点，返回</a:t>
            </a:r>
            <a:r>
              <a:rPr kumimoji="1" lang="en-US" altLang="zh-CN" dirty="0">
                <a:solidFill>
                  <a:srgbClr val="00B0F0"/>
                </a:solidFill>
                <a:latin typeface="Consolas" pitchFamily="49" charset="0"/>
                <a:ea typeface="仿宋" pitchFamily="49" charset="-122"/>
                <a:cs typeface="Consolas" pitchFamily="49" charset="0"/>
              </a:rPr>
              <a:t>false</a:t>
            </a:r>
          </a:p>
          <a:p>
            <a:r>
              <a:rPr kumimoji="1" lang="en-US" altLang="zh-CN" dirty="0">
                <a:solidFill>
                  <a:srgbClr val="0000FF"/>
                </a:solidFill>
                <a:latin typeface="Consolas" pitchFamily="49" charset="0"/>
                <a:ea typeface="仿宋" pitchFamily="49" charset="-122"/>
                <a:cs typeface="Consolas" pitchFamily="49" charset="0"/>
              </a:rPr>
              <a:t>	 return false;</a:t>
            </a:r>
          </a:p>
          <a:p>
            <a:r>
              <a:rPr kumimoji="1" lang="en-US" altLang="zh-CN" dirty="0">
                <a:solidFill>
                  <a:srgbClr val="0000FF"/>
                </a:solidFill>
                <a:latin typeface="Consolas" pitchFamily="49" charset="0"/>
                <a:ea typeface="仿宋" pitchFamily="49" charset="-122"/>
                <a:cs typeface="Consolas" pitchFamily="49" charset="0"/>
              </a:rPr>
              <a:t>      e=q-&gt;data;</a:t>
            </a:r>
          </a:p>
          <a:p>
            <a:pPr>
              <a:lnSpc>
                <a:spcPct val="150000"/>
              </a:lnSpc>
            </a:pPr>
            <a:r>
              <a:rPr kumimoji="1" lang="en-US" altLang="zh-CN" dirty="0">
                <a:solidFill>
                  <a:srgbClr val="0000FF"/>
                </a:solidFill>
                <a:latin typeface="Consolas" pitchFamily="49" charset="0"/>
                <a:ea typeface="仿宋" pitchFamily="49" charset="-122"/>
                <a:cs typeface="Consolas" pitchFamily="49" charset="0"/>
              </a:rPr>
              <a:t>      p-&gt;next=q-&gt;next;	</a:t>
            </a:r>
            <a:r>
              <a:rPr kumimoji="1" lang="en-US" altLang="zh-CN" dirty="0">
                <a:solidFill>
                  <a:srgbClr val="00B0F0"/>
                </a:solidFill>
                <a:latin typeface="Consolas" pitchFamily="49" charset="0"/>
                <a:ea typeface="仿宋" pitchFamily="49" charset="-122"/>
                <a:cs typeface="Consolas" pitchFamily="49" charset="0"/>
              </a:rPr>
              <a:t>//</a:t>
            </a:r>
            <a:r>
              <a:rPr kumimoji="1" lang="zh-CN" altLang="en-US" dirty="0">
                <a:solidFill>
                  <a:srgbClr val="00B0F0"/>
                </a:solidFill>
                <a:latin typeface="Consolas" pitchFamily="49" charset="0"/>
                <a:ea typeface="仿宋" pitchFamily="49" charset="-122"/>
                <a:cs typeface="Consolas" pitchFamily="49" charset="0"/>
              </a:rPr>
              <a:t>从单链表中删除</a:t>
            </a:r>
            <a:r>
              <a:rPr kumimoji="1" lang="en-US" altLang="zh-CN" dirty="0">
                <a:solidFill>
                  <a:srgbClr val="00B0F0"/>
                </a:solidFill>
                <a:latin typeface="Consolas" pitchFamily="49" charset="0"/>
                <a:ea typeface="仿宋" pitchFamily="49" charset="-122"/>
                <a:cs typeface="Consolas" pitchFamily="49" charset="0"/>
              </a:rPr>
              <a:t>q</a:t>
            </a:r>
            <a:r>
              <a:rPr kumimoji="1" lang="zh-CN" altLang="en-US" dirty="0">
                <a:solidFill>
                  <a:srgbClr val="00B0F0"/>
                </a:solidFill>
                <a:latin typeface="Consolas" pitchFamily="49" charset="0"/>
                <a:ea typeface="仿宋" pitchFamily="49" charset="-122"/>
                <a:cs typeface="Consolas" pitchFamily="49" charset="0"/>
              </a:rPr>
              <a:t>结点</a:t>
            </a:r>
          </a:p>
          <a:p>
            <a:r>
              <a:rPr kumimoji="1" lang="zh-CN" altLang="en-US" dirty="0">
                <a:solidFill>
                  <a:srgbClr val="0000FF"/>
                </a:solidFill>
                <a:latin typeface="Consolas" pitchFamily="49" charset="0"/>
                <a:ea typeface="仿宋" pitchFamily="49" charset="-122"/>
                <a:cs typeface="Consolas" pitchFamily="49" charset="0"/>
              </a:rPr>
              <a:t>      </a:t>
            </a:r>
            <a:r>
              <a:rPr kumimoji="1" lang="en-US" altLang="zh-CN" dirty="0">
                <a:solidFill>
                  <a:srgbClr val="0000FF"/>
                </a:solidFill>
                <a:latin typeface="Consolas" pitchFamily="49" charset="0"/>
                <a:ea typeface="仿宋" pitchFamily="49" charset="-122"/>
                <a:cs typeface="Consolas" pitchFamily="49" charset="0"/>
              </a:rPr>
              <a:t>free(q);		       </a:t>
            </a:r>
            <a:r>
              <a:rPr kumimoji="1" lang="en-US" altLang="zh-CN" dirty="0">
                <a:solidFill>
                  <a:srgbClr val="00B0F0"/>
                </a:solidFill>
                <a:latin typeface="Consolas" pitchFamily="49" charset="0"/>
                <a:ea typeface="仿宋" pitchFamily="49" charset="-122"/>
                <a:cs typeface="Consolas" pitchFamily="49" charset="0"/>
              </a:rPr>
              <a:t>//</a:t>
            </a:r>
            <a:r>
              <a:rPr kumimoji="1" lang="zh-CN" altLang="en-US" dirty="0">
                <a:solidFill>
                  <a:srgbClr val="00B0F0"/>
                </a:solidFill>
                <a:latin typeface="Consolas" pitchFamily="49" charset="0"/>
                <a:ea typeface="仿宋" pitchFamily="49" charset="-122"/>
                <a:cs typeface="Consolas" pitchFamily="49" charset="0"/>
              </a:rPr>
              <a:t>释放</a:t>
            </a:r>
            <a:r>
              <a:rPr kumimoji="1" lang="en-US" altLang="zh-CN" dirty="0">
                <a:solidFill>
                  <a:srgbClr val="00B0F0"/>
                </a:solidFill>
                <a:latin typeface="Consolas" pitchFamily="49" charset="0"/>
                <a:ea typeface="仿宋" pitchFamily="49" charset="-122"/>
                <a:cs typeface="Consolas" pitchFamily="49" charset="0"/>
              </a:rPr>
              <a:t>q</a:t>
            </a:r>
            <a:r>
              <a:rPr kumimoji="1" lang="zh-CN" altLang="en-US" dirty="0">
                <a:solidFill>
                  <a:srgbClr val="00B0F0"/>
                </a:solidFill>
                <a:latin typeface="Consolas" pitchFamily="49" charset="0"/>
                <a:ea typeface="仿宋" pitchFamily="49" charset="-122"/>
                <a:cs typeface="Consolas" pitchFamily="49" charset="0"/>
              </a:rPr>
              <a:t>结点</a:t>
            </a:r>
          </a:p>
          <a:p>
            <a:r>
              <a:rPr kumimoji="1" lang="zh-CN" altLang="en-US" dirty="0">
                <a:solidFill>
                  <a:srgbClr val="0000FF"/>
                </a:solidFill>
                <a:latin typeface="Consolas" pitchFamily="49" charset="0"/>
                <a:ea typeface="仿宋" pitchFamily="49" charset="-122"/>
                <a:cs typeface="Consolas" pitchFamily="49" charset="0"/>
              </a:rPr>
              <a:t>      </a:t>
            </a:r>
            <a:r>
              <a:rPr kumimoji="1" lang="en-US" altLang="zh-CN" dirty="0">
                <a:solidFill>
                  <a:srgbClr val="0000FF"/>
                </a:solidFill>
                <a:latin typeface="Consolas" pitchFamily="49" charset="0"/>
                <a:ea typeface="仿宋" pitchFamily="49" charset="-122"/>
                <a:cs typeface="Consolas" pitchFamily="49" charset="0"/>
              </a:rPr>
              <a:t>return true;		</a:t>
            </a:r>
            <a:r>
              <a:rPr kumimoji="1" lang="en-US" altLang="zh-CN" dirty="0">
                <a:solidFill>
                  <a:srgbClr val="00B0F0"/>
                </a:solidFill>
                <a:latin typeface="Consolas" pitchFamily="49" charset="0"/>
                <a:ea typeface="仿宋" pitchFamily="49" charset="-122"/>
                <a:cs typeface="Consolas" pitchFamily="49" charset="0"/>
              </a:rPr>
              <a:t>//</a:t>
            </a:r>
            <a:r>
              <a:rPr kumimoji="1" lang="zh-CN" altLang="en-US" dirty="0">
                <a:solidFill>
                  <a:srgbClr val="00B0F0"/>
                </a:solidFill>
                <a:latin typeface="Consolas" pitchFamily="49" charset="0"/>
                <a:ea typeface="仿宋" pitchFamily="49" charset="-122"/>
                <a:cs typeface="Consolas" pitchFamily="49" charset="0"/>
              </a:rPr>
              <a:t>返回</a:t>
            </a:r>
            <a:r>
              <a:rPr kumimoji="1" lang="en-US" altLang="zh-CN" dirty="0">
                <a:solidFill>
                  <a:srgbClr val="00B0F0"/>
                </a:solidFill>
                <a:latin typeface="Consolas" pitchFamily="49" charset="0"/>
                <a:ea typeface="仿宋" pitchFamily="49" charset="-122"/>
                <a:cs typeface="Consolas" pitchFamily="49" charset="0"/>
              </a:rPr>
              <a:t>true</a:t>
            </a:r>
            <a:r>
              <a:rPr kumimoji="1" lang="zh-CN" altLang="en-US" dirty="0">
                <a:solidFill>
                  <a:srgbClr val="00B0F0"/>
                </a:solidFill>
                <a:latin typeface="Consolas" pitchFamily="49" charset="0"/>
                <a:ea typeface="仿宋" pitchFamily="49" charset="-122"/>
                <a:cs typeface="Consolas" pitchFamily="49" charset="0"/>
              </a:rPr>
              <a:t>表示成功删除当前节点的后继结点</a:t>
            </a:r>
          </a:p>
          <a:p>
            <a:r>
              <a:rPr kumimoji="1" lang="zh-CN" altLang="en-US" dirty="0">
                <a:solidFill>
                  <a:srgbClr val="0000FF"/>
                </a:solidFill>
                <a:latin typeface="Consolas" pitchFamily="49" charset="0"/>
                <a:ea typeface="仿宋" pitchFamily="49" charset="-122"/>
                <a:cs typeface="Consolas" pitchFamily="49" charset="0"/>
              </a:rPr>
              <a:t>    </a:t>
            </a:r>
            <a:r>
              <a:rPr kumimoji="1" lang="en-US" altLang="zh-CN" dirty="0">
                <a:solidFill>
                  <a:srgbClr val="0000FF"/>
                </a:solidFill>
                <a:latin typeface="Consolas" pitchFamily="49" charset="0"/>
                <a:ea typeface="仿宋" pitchFamily="49" charset="-122"/>
                <a:cs typeface="Consolas" pitchFamily="49" charset="0"/>
              </a:rPr>
              <a:t>}</a:t>
            </a:r>
          </a:p>
          <a:p>
            <a:r>
              <a:rPr kumimoji="1" lang="en-US" altLang="zh-CN" dirty="0">
                <a:solidFill>
                  <a:srgbClr val="0000FF"/>
                </a:solidFill>
                <a:latin typeface="Consolas" pitchFamily="49" charset="0"/>
                <a:ea typeface="仿宋" pitchFamily="49" charset="-122"/>
                <a:cs typeface="Consolas" pitchFamily="49" charset="0"/>
              </a:rPr>
              <a:t>}</a:t>
            </a:r>
            <a:endParaRPr lang="en-US" altLang="zh-CN" dirty="0">
              <a:solidFill>
                <a:srgbClr val="0000FF"/>
              </a:solidFill>
              <a:latin typeface="Consolas" pitchFamily="49" charset="0"/>
              <a:ea typeface="仿宋" pitchFamily="49" charset="-122"/>
              <a:cs typeface="Consolas" pitchFamily="49" charset="0"/>
            </a:endParaRPr>
          </a:p>
        </p:txBody>
      </p:sp>
      <p:sp>
        <p:nvSpPr>
          <p:cNvPr id="7" name="矩形 6">
            <a:extLst>
              <a:ext uri="{FF2B5EF4-FFF2-40B4-BE49-F238E27FC236}">
                <a16:creationId xmlns:a16="http://schemas.microsoft.com/office/drawing/2014/main" id="{185A2024-8765-4CC0-9321-CF1E3CEA14A9}"/>
              </a:ext>
            </a:extLst>
          </p:cNvPr>
          <p:cNvSpPr/>
          <p:nvPr/>
        </p:nvSpPr>
        <p:spPr>
          <a:xfrm>
            <a:off x="539552" y="116632"/>
            <a:ext cx="7784269" cy="763992"/>
          </a:xfrm>
          <a:prstGeom prst="rect">
            <a:avLst/>
          </a:prstGeom>
        </p:spPr>
        <p:txBody>
          <a:bodyPr wrap="square">
            <a:spAutoFit/>
          </a:bodyPr>
          <a:lstStyle/>
          <a:p>
            <a:pPr algn="just">
              <a:lnSpc>
                <a:spcPts val="2800"/>
              </a:lnSpc>
              <a:spcBef>
                <a:spcPct val="50000"/>
              </a:spcBef>
            </a:pPr>
            <a:r>
              <a:rPr kumimoji="1" lang="zh-CN" altLang="en-US" sz="2000" dirty="0">
                <a:latin typeface="楷体" panose="02010609060101010101" pitchFamily="49" charset="-122"/>
                <a:ea typeface="楷体" panose="02010609060101010101" pitchFamily="49" charset="-122"/>
                <a:cs typeface="Consolas" pitchFamily="49" charset="0"/>
              </a:rPr>
              <a:t>删除当前节点</a:t>
            </a:r>
            <a:r>
              <a:rPr kumimoji="1" lang="en-US" altLang="zh-CN" sz="2000" dirty="0">
                <a:latin typeface="楷体" panose="02010609060101010101" pitchFamily="49" charset="-122"/>
                <a:ea typeface="楷体" panose="02010609060101010101" pitchFamily="49" charset="-122"/>
                <a:cs typeface="Consolas" pitchFamily="49" charset="0"/>
              </a:rPr>
              <a:t>p</a:t>
            </a:r>
            <a:r>
              <a:rPr kumimoji="1" lang="zh-CN" altLang="en-US" sz="2000" dirty="0">
                <a:latin typeface="楷体" panose="02010609060101010101" pitchFamily="49" charset="-122"/>
                <a:ea typeface="楷体" panose="02010609060101010101" pitchFamily="49" charset="-122"/>
                <a:cs typeface="Consolas" pitchFamily="49" charset="0"/>
              </a:rPr>
              <a:t>之后的</a:t>
            </a:r>
            <a:r>
              <a:rPr kumimoji="1" lang="zh-CN" altLang="en-US" sz="2000" i="1" dirty="0">
                <a:latin typeface="楷体" panose="02010609060101010101" pitchFamily="49" charset="-122"/>
                <a:ea typeface="楷体" panose="02010609060101010101" pitchFamily="49" charset="-122"/>
                <a:cs typeface="Consolas" pitchFamily="49" charset="0"/>
              </a:rPr>
              <a:t>节点</a:t>
            </a:r>
            <a:r>
              <a:rPr kumimoji="1" lang="zh-CN" altLang="en-US" sz="2000" dirty="0">
                <a:latin typeface="楷体" panose="02010609060101010101" pitchFamily="49" charset="-122"/>
                <a:ea typeface="楷体" panose="02010609060101010101" pitchFamily="49" charset="-122"/>
                <a:cs typeface="Consolas" pitchFamily="49" charset="0"/>
              </a:rPr>
              <a:t>，先判断是否存在这样的结点，若存在</a:t>
            </a:r>
            <a:r>
              <a:rPr kumimoji="1" lang="en-US" altLang="zh-CN" sz="2000" dirty="0">
                <a:latin typeface="楷体" panose="02010609060101010101" pitchFamily="49" charset="-122"/>
                <a:ea typeface="楷体" panose="02010609060101010101" pitchFamily="49" charset="-122"/>
                <a:cs typeface="Consolas" pitchFamily="49" charset="0"/>
              </a:rPr>
              <a:t>p</a:t>
            </a:r>
            <a:r>
              <a:rPr kumimoji="1" lang="zh-CN" altLang="en-US" sz="2000" dirty="0">
                <a:latin typeface="楷体" panose="02010609060101010101" pitchFamily="49" charset="-122"/>
                <a:ea typeface="楷体" panose="02010609060101010101" pitchFamily="49" charset="-122"/>
                <a:cs typeface="Consolas" pitchFamily="49" charset="0"/>
              </a:rPr>
              <a:t>且也存在后继则删除后继节点。</a:t>
            </a:r>
            <a:endParaRPr kumimoji="1" lang="zh-CN" altLang="en-US" dirty="0">
              <a:latin typeface="楷体" panose="02010609060101010101" pitchFamily="49" charset="-122"/>
              <a:ea typeface="楷体" panose="02010609060101010101" pitchFamily="49" charset="-122"/>
              <a:cs typeface="Consolas" pitchFamily="49" charset="0"/>
            </a:endParaRPr>
          </a:p>
        </p:txBody>
      </p:sp>
    </p:spTree>
    <p:extLst>
      <p:ext uri="{BB962C8B-B14F-4D97-AF65-F5344CB8AC3E}">
        <p14:creationId xmlns:p14="http://schemas.microsoft.com/office/powerpoint/2010/main" val="18831770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836712"/>
            <a:ext cx="7776864" cy="5328592"/>
          </a:xfrm>
        </p:spPr>
        <p:txBody>
          <a:bodyPr>
            <a:normAutofit lnSpcReduction="10000"/>
          </a:bodyPr>
          <a:lstStyle/>
          <a:p>
            <a:pPr>
              <a:lnSpc>
                <a:spcPct val="130000"/>
              </a:lnSpc>
            </a:pPr>
            <a:r>
              <a:rPr lang="en-US" altLang="zh-CN" dirty="0"/>
              <a:t>4. </a:t>
            </a:r>
            <a:r>
              <a:rPr lang="zh-CN" altLang="zh-CN" dirty="0"/>
              <a:t>线性表</a:t>
            </a:r>
            <a:r>
              <a:rPr lang="zh-CN" altLang="zh-CN" dirty="0">
                <a:solidFill>
                  <a:srgbClr val="FF0000"/>
                </a:solidFill>
              </a:rPr>
              <a:t>实现方法的比较</a:t>
            </a:r>
          </a:p>
          <a:p>
            <a:pPr>
              <a:lnSpc>
                <a:spcPct val="130000"/>
              </a:lnSpc>
            </a:pPr>
            <a:r>
              <a:rPr lang="en-US" altLang="zh-CN" b="0" dirty="0"/>
              <a:t>	</a:t>
            </a:r>
            <a:r>
              <a:rPr lang="zh-CN" altLang="zh-CN" b="0" dirty="0"/>
              <a:t>（1）在空间上</a:t>
            </a:r>
            <a:endParaRPr lang="en-US" altLang="zh-CN" b="0" dirty="0"/>
          </a:p>
          <a:p>
            <a:pPr algn="just">
              <a:lnSpc>
                <a:spcPct val="130000"/>
              </a:lnSpc>
            </a:pPr>
            <a:r>
              <a:rPr lang="en-US" altLang="zh-CN" b="0" dirty="0"/>
              <a:t>		</a:t>
            </a:r>
            <a:r>
              <a:rPr lang="zh-CN" altLang="zh-CN" dirty="0"/>
              <a:t>顺序表的优点是对于表中的每一个元素没有浪费空间，而链表需要在每个结点上附加一个指针。</a:t>
            </a:r>
            <a:endParaRPr lang="en-US" altLang="zh-CN" dirty="0"/>
          </a:p>
          <a:p>
            <a:pPr algn="just">
              <a:lnSpc>
                <a:spcPct val="130000"/>
              </a:lnSpc>
            </a:pPr>
            <a:r>
              <a:rPr lang="en-US" altLang="zh-CN" b="0" dirty="0"/>
              <a:t>           </a:t>
            </a:r>
            <a:r>
              <a:rPr lang="zh-CN" altLang="zh-CN" b="0" dirty="0"/>
              <a:t>如果结点的数据域占据的空间较小，则链表的结构性开销就占去了整个存储空间的大部分。当顺序表被填满时，存储上没有结构性开销。在这种情况下，顺序表有更高的空间效率。</a:t>
            </a:r>
            <a:endParaRPr lang="en-US" altLang="zh-CN" b="0" dirty="0"/>
          </a:p>
          <a:p>
            <a:pPr algn="just">
              <a:lnSpc>
                <a:spcPct val="130000"/>
              </a:lnSpc>
            </a:pPr>
            <a:r>
              <a:rPr lang="en-US" altLang="zh-CN" b="0" dirty="0"/>
              <a:t>		</a:t>
            </a:r>
            <a:r>
              <a:rPr lang="zh-CN" altLang="zh-CN" dirty="0"/>
              <a:t>当线性表元素数目变化较大或者未知时，最好使用链表实现。</a:t>
            </a:r>
            <a:r>
              <a:rPr lang="zh-CN" altLang="zh-CN" b="0" dirty="0"/>
              <a:t>而如果用户事先知道线性表的大致长度，使用顺序表的空间效率会更高。</a:t>
            </a:r>
          </a:p>
        </p:txBody>
      </p:sp>
    </p:spTree>
    <p:extLst>
      <p:ext uri="{BB962C8B-B14F-4D97-AF65-F5344CB8AC3E}">
        <p14:creationId xmlns:p14="http://schemas.microsoft.com/office/powerpoint/2010/main" val="150039376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124744"/>
            <a:ext cx="7776864" cy="5112568"/>
          </a:xfrm>
        </p:spPr>
        <p:txBody>
          <a:bodyPr>
            <a:normAutofit/>
          </a:bodyPr>
          <a:lstStyle/>
          <a:p>
            <a:pPr algn="just">
              <a:lnSpc>
                <a:spcPct val="130000"/>
              </a:lnSpc>
            </a:pPr>
            <a:r>
              <a:rPr lang="en-US" altLang="zh-CN" b="0" dirty="0"/>
              <a:t>	</a:t>
            </a:r>
            <a:r>
              <a:rPr lang="zh-CN" altLang="zh-CN" b="0" dirty="0"/>
              <a:t>（2）在访问上</a:t>
            </a:r>
            <a:endParaRPr lang="en-US" altLang="zh-CN" b="0" dirty="0"/>
          </a:p>
          <a:p>
            <a:pPr algn="just">
              <a:lnSpc>
                <a:spcPct val="130000"/>
              </a:lnSpc>
            </a:pPr>
            <a:r>
              <a:rPr lang="en-US" altLang="zh-CN" b="0" dirty="0"/>
              <a:t>		</a:t>
            </a:r>
            <a:r>
              <a:rPr lang="zh-CN" altLang="zh-CN" b="0" dirty="0"/>
              <a:t>像取出线性表中第i个元素这样的按位置的随机访问，使用</a:t>
            </a:r>
            <a:r>
              <a:rPr lang="zh-CN" altLang="zh-CN" b="0" dirty="0">
                <a:solidFill>
                  <a:srgbClr val="FF0000"/>
                </a:solidFill>
              </a:rPr>
              <a:t>顺序表</a:t>
            </a:r>
            <a:r>
              <a:rPr lang="zh-CN" altLang="zh-CN" b="0" dirty="0"/>
              <a:t>更快一些；通过前驱和后继可以很容易调整当前位置向前或者向后，这两种操作需要的时间</a:t>
            </a:r>
            <a:r>
              <a:rPr lang="zh-CN" altLang="zh-CN" b="0" dirty="0">
                <a:solidFill>
                  <a:srgbClr val="FF0000"/>
                </a:solidFill>
              </a:rPr>
              <a:t>复杂度为O(1)</a:t>
            </a:r>
            <a:r>
              <a:rPr lang="zh-CN" altLang="zh-CN" b="0" dirty="0"/>
              <a:t>。</a:t>
            </a:r>
            <a:endParaRPr lang="en-US" altLang="zh-CN" b="0" dirty="0"/>
          </a:p>
          <a:p>
            <a:pPr algn="just">
              <a:lnSpc>
                <a:spcPct val="130000"/>
              </a:lnSpc>
            </a:pPr>
            <a:r>
              <a:rPr lang="en-US" altLang="zh-CN" b="0" dirty="0"/>
              <a:t>		</a:t>
            </a:r>
            <a:r>
              <a:rPr lang="zh-CN" altLang="zh-CN" b="0" dirty="0"/>
              <a:t>相比之下， </a:t>
            </a:r>
            <a:r>
              <a:rPr lang="zh-CN" altLang="zh-CN" b="0" dirty="0">
                <a:solidFill>
                  <a:srgbClr val="FF0000"/>
                </a:solidFill>
              </a:rPr>
              <a:t>单链表</a:t>
            </a:r>
            <a:r>
              <a:rPr lang="zh-CN" altLang="zh-CN" b="0" dirty="0"/>
              <a:t>不能直接访问表中任意的第i个元素，按位置访问只能从表头开始，直到找到指定的位置。这两种操作需要的平均时间复杂度和最差时间</a:t>
            </a:r>
            <a:r>
              <a:rPr lang="zh-CN" altLang="zh-CN" b="0" dirty="0">
                <a:solidFill>
                  <a:srgbClr val="FF0000"/>
                </a:solidFill>
              </a:rPr>
              <a:t>复杂度均为O(n)</a:t>
            </a:r>
            <a:r>
              <a:rPr lang="zh-CN" altLang="zh-CN" b="0" dirty="0"/>
              <a:t>。</a:t>
            </a:r>
          </a:p>
          <a:p>
            <a:endParaRPr lang="zh-CN" altLang="en-US" b="0" dirty="0"/>
          </a:p>
        </p:txBody>
      </p:sp>
    </p:spTree>
    <p:extLst>
      <p:ext uri="{BB962C8B-B14F-4D97-AF65-F5344CB8AC3E}">
        <p14:creationId xmlns:p14="http://schemas.microsoft.com/office/powerpoint/2010/main" val="357456722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124744"/>
            <a:ext cx="8136904" cy="4824536"/>
          </a:xfrm>
        </p:spPr>
        <p:txBody>
          <a:bodyPr>
            <a:normAutofit/>
          </a:bodyPr>
          <a:lstStyle/>
          <a:p>
            <a:pPr algn="just">
              <a:lnSpc>
                <a:spcPct val="130000"/>
              </a:lnSpc>
            </a:pPr>
            <a:r>
              <a:rPr lang="en-US" altLang="zh-CN" b="0" dirty="0"/>
              <a:t>	</a:t>
            </a:r>
            <a:r>
              <a:rPr lang="zh-CN" altLang="zh-CN" b="0" dirty="0"/>
              <a:t>（3）插入和删除操作上</a:t>
            </a:r>
            <a:endParaRPr lang="en-US" altLang="zh-CN" b="0" dirty="0"/>
          </a:p>
          <a:p>
            <a:pPr algn="just">
              <a:lnSpc>
                <a:spcPct val="130000"/>
              </a:lnSpc>
            </a:pPr>
            <a:r>
              <a:rPr lang="en-US" altLang="zh-CN" b="0" dirty="0"/>
              <a:t>		</a:t>
            </a:r>
            <a:r>
              <a:rPr lang="zh-CN" altLang="zh-CN" b="0" dirty="0"/>
              <a:t>给出指向</a:t>
            </a:r>
            <a:r>
              <a:rPr lang="zh-CN" altLang="zh-CN" b="0" dirty="0">
                <a:solidFill>
                  <a:srgbClr val="FF0000"/>
                </a:solidFill>
              </a:rPr>
              <a:t>链表</a:t>
            </a:r>
            <a:r>
              <a:rPr lang="zh-CN" altLang="zh-CN" b="0" dirty="0"/>
              <a:t>中合适位置的指针后，只是对部分结点</a:t>
            </a:r>
            <a:r>
              <a:rPr lang="zh-CN" altLang="en-US" b="0" dirty="0"/>
              <a:t>指针</a:t>
            </a:r>
            <a:r>
              <a:rPr lang="zh-CN" altLang="zh-CN" b="0" dirty="0"/>
              <a:t>进行更新，插入和删除函数所需要的时间仅为</a:t>
            </a:r>
            <a:r>
              <a:rPr lang="zh-CN" altLang="zh-CN" b="0" dirty="0">
                <a:solidFill>
                  <a:srgbClr val="FF0000"/>
                </a:solidFill>
              </a:rPr>
              <a:t>O(1)</a:t>
            </a:r>
            <a:r>
              <a:rPr lang="zh-CN" altLang="zh-CN" b="0" dirty="0"/>
              <a:t> 。而</a:t>
            </a:r>
            <a:r>
              <a:rPr lang="zh-CN" altLang="zh-CN" b="0" dirty="0">
                <a:solidFill>
                  <a:srgbClr val="FF0000"/>
                </a:solidFill>
              </a:rPr>
              <a:t>顺序表</a:t>
            </a:r>
            <a:r>
              <a:rPr lang="zh-CN" altLang="zh-CN" b="0" dirty="0"/>
              <a:t>必须在数组内将其余的元素向前或者向后移动，这种方法所需要的平均时间和最差时间均为</a:t>
            </a:r>
            <a:r>
              <a:rPr lang="zh-CN" altLang="zh-CN" b="0" dirty="0">
                <a:solidFill>
                  <a:srgbClr val="FF0000"/>
                </a:solidFill>
              </a:rPr>
              <a:t>O(n)</a:t>
            </a:r>
            <a:r>
              <a:rPr lang="zh-CN" altLang="zh-CN" b="0" dirty="0"/>
              <a:t>。</a:t>
            </a:r>
            <a:endParaRPr lang="en-US" altLang="zh-CN" b="0" dirty="0"/>
          </a:p>
          <a:p>
            <a:pPr algn="just">
              <a:lnSpc>
                <a:spcPct val="130000"/>
              </a:lnSpc>
            </a:pPr>
            <a:r>
              <a:rPr lang="en-US" altLang="zh-CN" b="0" dirty="0"/>
              <a:t>		</a:t>
            </a:r>
            <a:r>
              <a:rPr lang="zh-CN" altLang="zh-CN" b="0" dirty="0"/>
              <a:t>对于许多应用，插入和删除是最主要的操作，因此它们的时间效率是很重要的。仅就这个原因而言，链表经常比顺序表效率更高。</a:t>
            </a:r>
          </a:p>
          <a:p>
            <a:endParaRPr lang="zh-CN" altLang="en-US" b="0" dirty="0"/>
          </a:p>
        </p:txBody>
      </p:sp>
    </p:spTree>
    <p:extLst>
      <p:ext uri="{BB962C8B-B14F-4D97-AF65-F5344CB8AC3E}">
        <p14:creationId xmlns:p14="http://schemas.microsoft.com/office/powerpoint/2010/main" val="14370564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4875BC24-206F-4569-AD77-AD6BC0E9E51C}"/>
              </a:ext>
            </a:extLst>
          </p:cNvPr>
          <p:cNvSpPr txBox="1">
            <a:spLocks noChangeArrowheads="1"/>
          </p:cNvSpPr>
          <p:nvPr/>
        </p:nvSpPr>
        <p:spPr bwMode="auto">
          <a:xfrm>
            <a:off x="412889" y="1045005"/>
            <a:ext cx="8137525" cy="817531"/>
          </a:xfrm>
          <a:prstGeom prst="rect">
            <a:avLst/>
          </a:prstGeom>
          <a:noFill/>
          <a:ln w="9525">
            <a:noFill/>
            <a:miter lim="800000"/>
            <a:headEnd/>
            <a:tailEnd/>
          </a:ln>
          <a:effectLst/>
        </p:spPr>
        <p:txBody>
          <a:bodyPr>
            <a:spAutoFit/>
          </a:bodyPr>
          <a:lstStyle/>
          <a:p>
            <a:pPr algn="just">
              <a:lnSpc>
                <a:spcPts val="3000"/>
              </a:lnSpc>
              <a:spcBef>
                <a:spcPts val="0"/>
              </a:spcBef>
            </a:pPr>
            <a:r>
              <a:rPr kumimoji="1" lang="en-US" altLang="zh-CN" sz="2400" dirty="0">
                <a:solidFill>
                  <a:srgbClr val="FF3300"/>
                </a:solidFill>
                <a:latin typeface="楷体" panose="02010609060101010101" pitchFamily="49" charset="-122"/>
                <a:ea typeface="楷体" panose="02010609060101010101" pitchFamily="49" charset="-122"/>
                <a:cs typeface="Consolas" pitchFamily="49" charset="0"/>
              </a:rPr>
              <a:t>【</a:t>
            </a:r>
            <a:r>
              <a:rPr kumimoji="1" lang="zh-CN" altLang="en-US" sz="2400" dirty="0">
                <a:solidFill>
                  <a:srgbClr val="FF3300"/>
                </a:solidFill>
                <a:latin typeface="楷体" panose="02010609060101010101" pitchFamily="49" charset="-122"/>
                <a:ea typeface="楷体" panose="02010609060101010101" pitchFamily="49" charset="-122"/>
                <a:cs typeface="Consolas" pitchFamily="49" charset="0"/>
              </a:rPr>
              <a:t>例</a:t>
            </a:r>
            <a:r>
              <a:rPr kumimoji="1" lang="en-US" altLang="zh-CN" sz="2400" dirty="0">
                <a:solidFill>
                  <a:srgbClr val="FF3300"/>
                </a:solidFill>
                <a:latin typeface="楷体" panose="02010609060101010101" pitchFamily="49" charset="-122"/>
                <a:ea typeface="楷体" panose="02010609060101010101" pitchFamily="49" charset="-122"/>
                <a:cs typeface="Consolas" pitchFamily="49" charset="0"/>
              </a:rPr>
              <a:t>】</a:t>
            </a:r>
            <a:r>
              <a:rPr kumimoji="1" lang="zh-CN" altLang="en-US" sz="2400" dirty="0">
                <a:latin typeface="楷体" panose="02010609060101010101" pitchFamily="49" charset="-122"/>
                <a:ea typeface="楷体" panose="02010609060101010101" pitchFamily="49" charset="-122"/>
                <a:cs typeface="Consolas" pitchFamily="49" charset="0"/>
              </a:rPr>
              <a:t>设计算法，删除单链表</a:t>
            </a:r>
            <a:r>
              <a:rPr kumimoji="1" lang="en-US" altLang="zh-CN" sz="2400" dirty="0">
                <a:latin typeface="楷体" panose="02010609060101010101" pitchFamily="49" charset="-122"/>
                <a:ea typeface="楷体" panose="02010609060101010101" pitchFamily="49" charset="-122"/>
                <a:cs typeface="Consolas" pitchFamily="49" charset="0"/>
              </a:rPr>
              <a:t>L</a:t>
            </a:r>
            <a:r>
              <a:rPr kumimoji="1" lang="zh-CN" altLang="en-US" sz="2400" dirty="0">
                <a:latin typeface="楷体" panose="02010609060101010101" pitchFamily="49" charset="-122"/>
                <a:ea typeface="楷体" panose="02010609060101010101" pitchFamily="49" charset="-122"/>
                <a:cs typeface="Consolas" pitchFamily="49" charset="0"/>
              </a:rPr>
              <a:t>中元素值最大的结点（假设最大值结点是唯一的）。</a:t>
            </a:r>
          </a:p>
        </p:txBody>
      </p:sp>
      <p:sp>
        <p:nvSpPr>
          <p:cNvPr id="5" name="Text Box 69">
            <a:extLst>
              <a:ext uri="{FF2B5EF4-FFF2-40B4-BE49-F238E27FC236}">
                <a16:creationId xmlns:a16="http://schemas.microsoft.com/office/drawing/2014/main" id="{B4C8985D-CCC6-4A30-946F-010DCD32C155}"/>
              </a:ext>
            </a:extLst>
          </p:cNvPr>
          <p:cNvSpPr txBox="1">
            <a:spLocks noChangeArrowheads="1"/>
          </p:cNvSpPr>
          <p:nvPr/>
        </p:nvSpPr>
        <p:spPr bwMode="auto">
          <a:xfrm>
            <a:off x="106611" y="3147219"/>
            <a:ext cx="433387" cy="400110"/>
          </a:xfrm>
          <a:prstGeom prst="rect">
            <a:avLst/>
          </a:prstGeom>
          <a:noFill/>
          <a:ln w="9525">
            <a:noFill/>
            <a:miter lim="800000"/>
            <a:headEnd/>
            <a:tailEnd/>
          </a:ln>
          <a:effectLst/>
        </p:spPr>
        <p:txBody>
          <a:bodyPr>
            <a:spAutoFit/>
          </a:bodyPr>
          <a:lstStyle/>
          <a:p>
            <a:pPr algn="l">
              <a:spcBef>
                <a:spcPct val="50000"/>
              </a:spcBef>
            </a:pPr>
            <a:r>
              <a:rPr lang="en-US" altLang="zh-CN" sz="2000" dirty="0">
                <a:latin typeface="Consolas" pitchFamily="49" charset="0"/>
                <a:cs typeface="Consolas" pitchFamily="49" charset="0"/>
              </a:rPr>
              <a:t>L</a:t>
            </a:r>
          </a:p>
        </p:txBody>
      </p:sp>
      <p:sp>
        <p:nvSpPr>
          <p:cNvPr id="6" name="Line 31">
            <a:extLst>
              <a:ext uri="{FF2B5EF4-FFF2-40B4-BE49-F238E27FC236}">
                <a16:creationId xmlns:a16="http://schemas.microsoft.com/office/drawing/2014/main" id="{335C6A08-52E5-43E6-BFCC-1CE63EB88919}"/>
              </a:ext>
            </a:extLst>
          </p:cNvPr>
          <p:cNvSpPr>
            <a:spLocks noChangeShapeType="1"/>
          </p:cNvSpPr>
          <p:nvPr/>
        </p:nvSpPr>
        <p:spPr bwMode="auto">
          <a:xfrm>
            <a:off x="406648" y="3652044"/>
            <a:ext cx="360000" cy="0"/>
          </a:xfrm>
          <a:prstGeom prst="line">
            <a:avLst/>
          </a:prstGeom>
          <a:ln>
            <a:headEnd/>
            <a:tailEnd type="arrow" w="med" len="lg"/>
          </a:ln>
        </p:spPr>
        <p:style>
          <a:lnRef idx="2">
            <a:schemeClr val="accent5"/>
          </a:lnRef>
          <a:fillRef idx="0">
            <a:schemeClr val="accent5"/>
          </a:fillRef>
          <a:effectRef idx="1">
            <a:schemeClr val="accent5"/>
          </a:effectRef>
          <a:fontRef idx="minor">
            <a:schemeClr val="tx1"/>
          </a:fontRef>
        </p:style>
        <p:txBody>
          <a:bodyPr/>
          <a:lstStyle/>
          <a:p>
            <a:endParaRPr lang="zh-CN" altLang="en-US">
              <a:latin typeface="Consolas" pitchFamily="49" charset="0"/>
              <a:cs typeface="Consolas" pitchFamily="49" charset="0"/>
            </a:endParaRPr>
          </a:p>
        </p:txBody>
      </p:sp>
      <p:grpSp>
        <p:nvGrpSpPr>
          <p:cNvPr id="7" name="Group 34">
            <a:extLst>
              <a:ext uri="{FF2B5EF4-FFF2-40B4-BE49-F238E27FC236}">
                <a16:creationId xmlns:a16="http://schemas.microsoft.com/office/drawing/2014/main" id="{C67BBC22-4F3C-438B-90F6-A555D9A547DD}"/>
              </a:ext>
            </a:extLst>
          </p:cNvPr>
          <p:cNvGrpSpPr>
            <a:grpSpLocks/>
          </p:cNvGrpSpPr>
          <p:nvPr/>
        </p:nvGrpSpPr>
        <p:grpSpPr bwMode="auto">
          <a:xfrm>
            <a:off x="7327837" y="3439319"/>
            <a:ext cx="838200" cy="517525"/>
            <a:chOff x="4752" y="2691"/>
            <a:chExt cx="528" cy="326"/>
          </a:xfrm>
        </p:grpSpPr>
        <p:sp>
          <p:nvSpPr>
            <p:cNvPr id="8" name="Rectangle 35">
              <a:extLst>
                <a:ext uri="{FF2B5EF4-FFF2-40B4-BE49-F238E27FC236}">
                  <a16:creationId xmlns:a16="http://schemas.microsoft.com/office/drawing/2014/main" id="{2309D8B6-C7E0-403B-9D61-B33A5E87D405}"/>
                </a:ext>
              </a:extLst>
            </p:cNvPr>
            <p:cNvSpPr>
              <a:spLocks noChangeArrowheads="1"/>
            </p:cNvSpPr>
            <p:nvPr/>
          </p:nvSpPr>
          <p:spPr bwMode="auto">
            <a:xfrm>
              <a:off x="4992" y="2691"/>
              <a:ext cx="288" cy="326"/>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a:lstStyle/>
            <a:p>
              <a:pPr algn="l">
                <a:spcBef>
                  <a:spcPct val="20000"/>
                </a:spcBef>
              </a:pPr>
              <a:endParaRPr lang="zh-CN" altLang="zh-CN">
                <a:solidFill>
                  <a:schemeClr val="tx1"/>
                </a:solidFill>
                <a:latin typeface="Consolas" pitchFamily="49" charset="0"/>
                <a:ea typeface="宋体" pitchFamily="2" charset="-122"/>
                <a:cs typeface="Consolas" pitchFamily="49" charset="0"/>
              </a:endParaRPr>
            </a:p>
          </p:txBody>
        </p:sp>
        <p:sp>
          <p:nvSpPr>
            <p:cNvPr id="9" name="Rectangle 36">
              <a:extLst>
                <a:ext uri="{FF2B5EF4-FFF2-40B4-BE49-F238E27FC236}">
                  <a16:creationId xmlns:a16="http://schemas.microsoft.com/office/drawing/2014/main" id="{25C073F4-00E6-4D5C-A04C-A67CF6A3A790}"/>
                </a:ext>
              </a:extLst>
            </p:cNvPr>
            <p:cNvSpPr>
              <a:spLocks noChangeArrowheads="1"/>
            </p:cNvSpPr>
            <p:nvPr/>
          </p:nvSpPr>
          <p:spPr bwMode="auto">
            <a:xfrm>
              <a:off x="4752" y="2691"/>
              <a:ext cx="240" cy="326"/>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a:lstStyle/>
            <a:p>
              <a:pPr algn="l">
                <a:spcBef>
                  <a:spcPct val="20000"/>
                </a:spcBef>
              </a:pPr>
              <a:endParaRPr lang="zh-CN" altLang="zh-CN">
                <a:solidFill>
                  <a:schemeClr val="tx1"/>
                </a:solidFill>
                <a:latin typeface="Consolas" pitchFamily="49" charset="0"/>
                <a:ea typeface="宋体" pitchFamily="2" charset="-122"/>
                <a:cs typeface="Consolas" pitchFamily="49" charset="0"/>
              </a:endParaRPr>
            </a:p>
          </p:txBody>
        </p:sp>
        <p:sp>
          <p:nvSpPr>
            <p:cNvPr id="10" name="Line 37">
              <a:extLst>
                <a:ext uri="{FF2B5EF4-FFF2-40B4-BE49-F238E27FC236}">
                  <a16:creationId xmlns:a16="http://schemas.microsoft.com/office/drawing/2014/main" id="{7DE88D1F-C62B-40C6-A0AE-159151B286D6}"/>
                </a:ext>
              </a:extLst>
            </p:cNvPr>
            <p:cNvSpPr>
              <a:spLocks noChangeShapeType="1"/>
            </p:cNvSpPr>
            <p:nvPr/>
          </p:nvSpPr>
          <p:spPr bwMode="auto">
            <a:xfrm>
              <a:off x="4752" y="2691"/>
              <a:ext cx="528" cy="0"/>
            </a:xfrm>
            <a:prstGeom prst="line">
              <a:avLst/>
            </a:prstGeom>
            <a:ln>
              <a:headEnd/>
              <a:tailEnd/>
            </a:ln>
          </p:spPr>
          <p:style>
            <a:lnRef idx="1">
              <a:schemeClr val="accent3"/>
            </a:lnRef>
            <a:fillRef idx="2">
              <a:schemeClr val="accent3"/>
            </a:fillRef>
            <a:effectRef idx="1">
              <a:schemeClr val="accent3"/>
            </a:effectRef>
            <a:fontRef idx="minor">
              <a:schemeClr val="dk1"/>
            </a:fontRef>
          </p:style>
          <p:txBody>
            <a:bodyPr/>
            <a:lstStyle/>
            <a:p>
              <a:endParaRPr lang="zh-CN" altLang="en-US">
                <a:latin typeface="Consolas" pitchFamily="49" charset="0"/>
                <a:cs typeface="Consolas" pitchFamily="49" charset="0"/>
              </a:endParaRPr>
            </a:p>
          </p:txBody>
        </p:sp>
        <p:sp>
          <p:nvSpPr>
            <p:cNvPr id="11" name="Line 38">
              <a:extLst>
                <a:ext uri="{FF2B5EF4-FFF2-40B4-BE49-F238E27FC236}">
                  <a16:creationId xmlns:a16="http://schemas.microsoft.com/office/drawing/2014/main" id="{3ED8E8B9-9EB8-48A7-878E-8E007D04CDDE}"/>
                </a:ext>
              </a:extLst>
            </p:cNvPr>
            <p:cNvSpPr>
              <a:spLocks noChangeShapeType="1"/>
            </p:cNvSpPr>
            <p:nvPr/>
          </p:nvSpPr>
          <p:spPr bwMode="auto">
            <a:xfrm>
              <a:off x="4752" y="3017"/>
              <a:ext cx="528" cy="0"/>
            </a:xfrm>
            <a:prstGeom prst="line">
              <a:avLst/>
            </a:prstGeom>
            <a:ln>
              <a:headEnd/>
              <a:tailEnd/>
            </a:ln>
          </p:spPr>
          <p:style>
            <a:lnRef idx="1">
              <a:schemeClr val="accent3"/>
            </a:lnRef>
            <a:fillRef idx="2">
              <a:schemeClr val="accent3"/>
            </a:fillRef>
            <a:effectRef idx="1">
              <a:schemeClr val="accent3"/>
            </a:effectRef>
            <a:fontRef idx="minor">
              <a:schemeClr val="dk1"/>
            </a:fontRef>
          </p:style>
          <p:txBody>
            <a:bodyPr/>
            <a:lstStyle/>
            <a:p>
              <a:endParaRPr lang="zh-CN" altLang="en-US">
                <a:latin typeface="Consolas" pitchFamily="49" charset="0"/>
                <a:cs typeface="Consolas" pitchFamily="49" charset="0"/>
              </a:endParaRPr>
            </a:p>
          </p:txBody>
        </p:sp>
        <p:sp>
          <p:nvSpPr>
            <p:cNvPr id="12" name="Line 39">
              <a:extLst>
                <a:ext uri="{FF2B5EF4-FFF2-40B4-BE49-F238E27FC236}">
                  <a16:creationId xmlns:a16="http://schemas.microsoft.com/office/drawing/2014/main" id="{AB8E21D2-9B37-4A11-95D5-9679DAF8CAE9}"/>
                </a:ext>
              </a:extLst>
            </p:cNvPr>
            <p:cNvSpPr>
              <a:spLocks noChangeShapeType="1"/>
            </p:cNvSpPr>
            <p:nvPr/>
          </p:nvSpPr>
          <p:spPr bwMode="auto">
            <a:xfrm>
              <a:off x="4752" y="2691"/>
              <a:ext cx="0" cy="326"/>
            </a:xfrm>
            <a:prstGeom prst="line">
              <a:avLst/>
            </a:prstGeom>
            <a:ln>
              <a:headEnd/>
              <a:tailEnd/>
            </a:ln>
          </p:spPr>
          <p:style>
            <a:lnRef idx="1">
              <a:schemeClr val="accent3"/>
            </a:lnRef>
            <a:fillRef idx="2">
              <a:schemeClr val="accent3"/>
            </a:fillRef>
            <a:effectRef idx="1">
              <a:schemeClr val="accent3"/>
            </a:effectRef>
            <a:fontRef idx="minor">
              <a:schemeClr val="dk1"/>
            </a:fontRef>
          </p:style>
          <p:txBody>
            <a:bodyPr/>
            <a:lstStyle/>
            <a:p>
              <a:endParaRPr lang="zh-CN" altLang="en-US">
                <a:latin typeface="Consolas" pitchFamily="49" charset="0"/>
                <a:cs typeface="Consolas" pitchFamily="49" charset="0"/>
              </a:endParaRPr>
            </a:p>
          </p:txBody>
        </p:sp>
        <p:sp>
          <p:nvSpPr>
            <p:cNvPr id="13" name="Line 40">
              <a:extLst>
                <a:ext uri="{FF2B5EF4-FFF2-40B4-BE49-F238E27FC236}">
                  <a16:creationId xmlns:a16="http://schemas.microsoft.com/office/drawing/2014/main" id="{A1E878D8-A14B-48A4-A325-400CD232B6C8}"/>
                </a:ext>
              </a:extLst>
            </p:cNvPr>
            <p:cNvSpPr>
              <a:spLocks noChangeShapeType="1"/>
            </p:cNvSpPr>
            <p:nvPr/>
          </p:nvSpPr>
          <p:spPr bwMode="auto">
            <a:xfrm>
              <a:off x="4992" y="2691"/>
              <a:ext cx="0" cy="326"/>
            </a:xfrm>
            <a:prstGeom prst="line">
              <a:avLst/>
            </a:prstGeom>
            <a:ln>
              <a:headEnd/>
              <a:tailEnd/>
            </a:ln>
          </p:spPr>
          <p:style>
            <a:lnRef idx="1">
              <a:schemeClr val="accent3"/>
            </a:lnRef>
            <a:fillRef idx="2">
              <a:schemeClr val="accent3"/>
            </a:fillRef>
            <a:effectRef idx="1">
              <a:schemeClr val="accent3"/>
            </a:effectRef>
            <a:fontRef idx="minor">
              <a:schemeClr val="dk1"/>
            </a:fontRef>
          </p:style>
          <p:txBody>
            <a:bodyPr/>
            <a:lstStyle/>
            <a:p>
              <a:endParaRPr lang="zh-CN" altLang="en-US">
                <a:latin typeface="Consolas" pitchFamily="49" charset="0"/>
                <a:cs typeface="Consolas" pitchFamily="49" charset="0"/>
              </a:endParaRPr>
            </a:p>
          </p:txBody>
        </p:sp>
        <p:sp>
          <p:nvSpPr>
            <p:cNvPr id="14" name="Line 41">
              <a:extLst>
                <a:ext uri="{FF2B5EF4-FFF2-40B4-BE49-F238E27FC236}">
                  <a16:creationId xmlns:a16="http://schemas.microsoft.com/office/drawing/2014/main" id="{0485255D-2FA8-4D0C-8122-A4A41CDCEF9B}"/>
                </a:ext>
              </a:extLst>
            </p:cNvPr>
            <p:cNvSpPr>
              <a:spLocks noChangeShapeType="1"/>
            </p:cNvSpPr>
            <p:nvPr/>
          </p:nvSpPr>
          <p:spPr bwMode="auto">
            <a:xfrm>
              <a:off x="5280" y="2691"/>
              <a:ext cx="0" cy="326"/>
            </a:xfrm>
            <a:prstGeom prst="line">
              <a:avLst/>
            </a:prstGeom>
            <a:ln>
              <a:headEnd/>
              <a:tailEnd/>
            </a:ln>
          </p:spPr>
          <p:style>
            <a:lnRef idx="1">
              <a:schemeClr val="accent3"/>
            </a:lnRef>
            <a:fillRef idx="2">
              <a:schemeClr val="accent3"/>
            </a:fillRef>
            <a:effectRef idx="1">
              <a:schemeClr val="accent3"/>
            </a:effectRef>
            <a:fontRef idx="minor">
              <a:schemeClr val="dk1"/>
            </a:fontRef>
          </p:style>
          <p:txBody>
            <a:bodyPr/>
            <a:lstStyle/>
            <a:p>
              <a:endParaRPr lang="zh-CN" altLang="en-US">
                <a:latin typeface="Consolas" pitchFamily="49" charset="0"/>
                <a:cs typeface="Consolas" pitchFamily="49" charset="0"/>
              </a:endParaRPr>
            </a:p>
          </p:txBody>
        </p:sp>
      </p:grpSp>
      <p:grpSp>
        <p:nvGrpSpPr>
          <p:cNvPr id="15" name="Group 42">
            <a:extLst>
              <a:ext uri="{FF2B5EF4-FFF2-40B4-BE49-F238E27FC236}">
                <a16:creationId xmlns:a16="http://schemas.microsoft.com/office/drawing/2014/main" id="{B8E4B226-6BFF-4182-A278-AB963C8941B0}"/>
              </a:ext>
            </a:extLst>
          </p:cNvPr>
          <p:cNvGrpSpPr>
            <a:grpSpLocks/>
          </p:cNvGrpSpPr>
          <p:nvPr/>
        </p:nvGrpSpPr>
        <p:grpSpPr bwMode="auto">
          <a:xfrm>
            <a:off x="2043361" y="3447257"/>
            <a:ext cx="838200" cy="517525"/>
            <a:chOff x="4752" y="2691"/>
            <a:chExt cx="528" cy="326"/>
          </a:xfrm>
        </p:grpSpPr>
        <p:sp>
          <p:nvSpPr>
            <p:cNvPr id="16" name="Rectangle 43">
              <a:extLst>
                <a:ext uri="{FF2B5EF4-FFF2-40B4-BE49-F238E27FC236}">
                  <a16:creationId xmlns:a16="http://schemas.microsoft.com/office/drawing/2014/main" id="{46F8FF82-DD4C-4C91-B45E-A3DAAF755488}"/>
                </a:ext>
              </a:extLst>
            </p:cNvPr>
            <p:cNvSpPr>
              <a:spLocks noChangeArrowheads="1"/>
            </p:cNvSpPr>
            <p:nvPr/>
          </p:nvSpPr>
          <p:spPr bwMode="auto">
            <a:xfrm>
              <a:off x="4992" y="2691"/>
              <a:ext cx="288" cy="326"/>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a:lstStyle/>
            <a:p>
              <a:pPr algn="l">
                <a:spcBef>
                  <a:spcPct val="20000"/>
                </a:spcBef>
              </a:pPr>
              <a:endParaRPr lang="zh-CN" altLang="zh-CN">
                <a:solidFill>
                  <a:schemeClr val="tx1"/>
                </a:solidFill>
                <a:latin typeface="Consolas" pitchFamily="49" charset="0"/>
                <a:ea typeface="宋体" pitchFamily="2" charset="-122"/>
                <a:cs typeface="Consolas" pitchFamily="49" charset="0"/>
              </a:endParaRPr>
            </a:p>
          </p:txBody>
        </p:sp>
        <p:sp>
          <p:nvSpPr>
            <p:cNvPr id="17" name="Rectangle 44">
              <a:extLst>
                <a:ext uri="{FF2B5EF4-FFF2-40B4-BE49-F238E27FC236}">
                  <a16:creationId xmlns:a16="http://schemas.microsoft.com/office/drawing/2014/main" id="{93D950C1-12BC-4D39-AE9F-CA4B9D888199}"/>
                </a:ext>
              </a:extLst>
            </p:cNvPr>
            <p:cNvSpPr>
              <a:spLocks noChangeArrowheads="1"/>
            </p:cNvSpPr>
            <p:nvPr/>
          </p:nvSpPr>
          <p:spPr bwMode="auto">
            <a:xfrm>
              <a:off x="4752" y="2691"/>
              <a:ext cx="240" cy="326"/>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a:lstStyle/>
            <a:p>
              <a:pPr algn="l">
                <a:spcBef>
                  <a:spcPct val="20000"/>
                </a:spcBef>
              </a:pPr>
              <a:endParaRPr lang="zh-CN" altLang="zh-CN">
                <a:solidFill>
                  <a:schemeClr val="tx1"/>
                </a:solidFill>
                <a:latin typeface="Consolas" pitchFamily="49" charset="0"/>
                <a:ea typeface="宋体" pitchFamily="2" charset="-122"/>
                <a:cs typeface="Consolas" pitchFamily="49" charset="0"/>
              </a:endParaRPr>
            </a:p>
          </p:txBody>
        </p:sp>
        <p:sp>
          <p:nvSpPr>
            <p:cNvPr id="18" name="Line 45">
              <a:extLst>
                <a:ext uri="{FF2B5EF4-FFF2-40B4-BE49-F238E27FC236}">
                  <a16:creationId xmlns:a16="http://schemas.microsoft.com/office/drawing/2014/main" id="{9EA36AFF-ED4C-4D04-AF4D-3445B73AAD1D}"/>
                </a:ext>
              </a:extLst>
            </p:cNvPr>
            <p:cNvSpPr>
              <a:spLocks noChangeShapeType="1"/>
            </p:cNvSpPr>
            <p:nvPr/>
          </p:nvSpPr>
          <p:spPr bwMode="auto">
            <a:xfrm>
              <a:off x="4752" y="2691"/>
              <a:ext cx="528" cy="0"/>
            </a:xfrm>
            <a:prstGeom prst="line">
              <a:avLst/>
            </a:prstGeom>
            <a:ln>
              <a:headEnd/>
              <a:tailEnd/>
            </a:ln>
          </p:spPr>
          <p:style>
            <a:lnRef idx="1">
              <a:schemeClr val="accent3"/>
            </a:lnRef>
            <a:fillRef idx="2">
              <a:schemeClr val="accent3"/>
            </a:fillRef>
            <a:effectRef idx="1">
              <a:schemeClr val="accent3"/>
            </a:effectRef>
            <a:fontRef idx="minor">
              <a:schemeClr val="dk1"/>
            </a:fontRef>
          </p:style>
          <p:txBody>
            <a:bodyPr/>
            <a:lstStyle/>
            <a:p>
              <a:endParaRPr lang="zh-CN" altLang="en-US">
                <a:latin typeface="Consolas" pitchFamily="49" charset="0"/>
                <a:cs typeface="Consolas" pitchFamily="49" charset="0"/>
              </a:endParaRPr>
            </a:p>
          </p:txBody>
        </p:sp>
        <p:sp>
          <p:nvSpPr>
            <p:cNvPr id="19" name="Line 46">
              <a:extLst>
                <a:ext uri="{FF2B5EF4-FFF2-40B4-BE49-F238E27FC236}">
                  <a16:creationId xmlns:a16="http://schemas.microsoft.com/office/drawing/2014/main" id="{E7EF0D98-F60F-4629-B0E0-1B8947DA8A00}"/>
                </a:ext>
              </a:extLst>
            </p:cNvPr>
            <p:cNvSpPr>
              <a:spLocks noChangeShapeType="1"/>
            </p:cNvSpPr>
            <p:nvPr/>
          </p:nvSpPr>
          <p:spPr bwMode="auto">
            <a:xfrm>
              <a:off x="4752" y="3017"/>
              <a:ext cx="528" cy="0"/>
            </a:xfrm>
            <a:prstGeom prst="line">
              <a:avLst/>
            </a:prstGeom>
            <a:ln>
              <a:headEnd/>
              <a:tailEnd/>
            </a:ln>
          </p:spPr>
          <p:style>
            <a:lnRef idx="1">
              <a:schemeClr val="accent3"/>
            </a:lnRef>
            <a:fillRef idx="2">
              <a:schemeClr val="accent3"/>
            </a:fillRef>
            <a:effectRef idx="1">
              <a:schemeClr val="accent3"/>
            </a:effectRef>
            <a:fontRef idx="minor">
              <a:schemeClr val="dk1"/>
            </a:fontRef>
          </p:style>
          <p:txBody>
            <a:bodyPr/>
            <a:lstStyle/>
            <a:p>
              <a:endParaRPr lang="zh-CN" altLang="en-US">
                <a:latin typeface="Consolas" pitchFamily="49" charset="0"/>
                <a:cs typeface="Consolas" pitchFamily="49" charset="0"/>
              </a:endParaRPr>
            </a:p>
          </p:txBody>
        </p:sp>
        <p:sp>
          <p:nvSpPr>
            <p:cNvPr id="20" name="Line 47">
              <a:extLst>
                <a:ext uri="{FF2B5EF4-FFF2-40B4-BE49-F238E27FC236}">
                  <a16:creationId xmlns:a16="http://schemas.microsoft.com/office/drawing/2014/main" id="{657D3B03-26F9-4F89-B7E2-6548F3D71A7B}"/>
                </a:ext>
              </a:extLst>
            </p:cNvPr>
            <p:cNvSpPr>
              <a:spLocks noChangeShapeType="1"/>
            </p:cNvSpPr>
            <p:nvPr/>
          </p:nvSpPr>
          <p:spPr bwMode="auto">
            <a:xfrm>
              <a:off x="4752" y="2691"/>
              <a:ext cx="0" cy="326"/>
            </a:xfrm>
            <a:prstGeom prst="line">
              <a:avLst/>
            </a:prstGeom>
            <a:ln>
              <a:headEnd/>
              <a:tailEnd/>
            </a:ln>
          </p:spPr>
          <p:style>
            <a:lnRef idx="1">
              <a:schemeClr val="accent3"/>
            </a:lnRef>
            <a:fillRef idx="2">
              <a:schemeClr val="accent3"/>
            </a:fillRef>
            <a:effectRef idx="1">
              <a:schemeClr val="accent3"/>
            </a:effectRef>
            <a:fontRef idx="minor">
              <a:schemeClr val="dk1"/>
            </a:fontRef>
          </p:style>
          <p:txBody>
            <a:bodyPr/>
            <a:lstStyle/>
            <a:p>
              <a:endParaRPr lang="zh-CN" altLang="en-US">
                <a:latin typeface="Consolas" pitchFamily="49" charset="0"/>
                <a:cs typeface="Consolas" pitchFamily="49" charset="0"/>
              </a:endParaRPr>
            </a:p>
          </p:txBody>
        </p:sp>
        <p:sp>
          <p:nvSpPr>
            <p:cNvPr id="21" name="Line 48">
              <a:extLst>
                <a:ext uri="{FF2B5EF4-FFF2-40B4-BE49-F238E27FC236}">
                  <a16:creationId xmlns:a16="http://schemas.microsoft.com/office/drawing/2014/main" id="{44BEAF4B-4FA3-4E2E-B32E-E869C73660F4}"/>
                </a:ext>
              </a:extLst>
            </p:cNvPr>
            <p:cNvSpPr>
              <a:spLocks noChangeShapeType="1"/>
            </p:cNvSpPr>
            <p:nvPr/>
          </p:nvSpPr>
          <p:spPr bwMode="auto">
            <a:xfrm>
              <a:off x="4992" y="2691"/>
              <a:ext cx="0" cy="326"/>
            </a:xfrm>
            <a:prstGeom prst="line">
              <a:avLst/>
            </a:prstGeom>
            <a:ln>
              <a:headEnd/>
              <a:tailEnd/>
            </a:ln>
          </p:spPr>
          <p:style>
            <a:lnRef idx="1">
              <a:schemeClr val="accent3"/>
            </a:lnRef>
            <a:fillRef idx="2">
              <a:schemeClr val="accent3"/>
            </a:fillRef>
            <a:effectRef idx="1">
              <a:schemeClr val="accent3"/>
            </a:effectRef>
            <a:fontRef idx="minor">
              <a:schemeClr val="dk1"/>
            </a:fontRef>
          </p:style>
          <p:txBody>
            <a:bodyPr/>
            <a:lstStyle/>
            <a:p>
              <a:endParaRPr lang="zh-CN" altLang="en-US">
                <a:latin typeface="Consolas" pitchFamily="49" charset="0"/>
                <a:cs typeface="Consolas" pitchFamily="49" charset="0"/>
              </a:endParaRPr>
            </a:p>
          </p:txBody>
        </p:sp>
        <p:sp>
          <p:nvSpPr>
            <p:cNvPr id="22" name="Line 49">
              <a:extLst>
                <a:ext uri="{FF2B5EF4-FFF2-40B4-BE49-F238E27FC236}">
                  <a16:creationId xmlns:a16="http://schemas.microsoft.com/office/drawing/2014/main" id="{913C8858-D6DB-49EF-875B-065EA4F9E147}"/>
                </a:ext>
              </a:extLst>
            </p:cNvPr>
            <p:cNvSpPr>
              <a:spLocks noChangeShapeType="1"/>
            </p:cNvSpPr>
            <p:nvPr/>
          </p:nvSpPr>
          <p:spPr bwMode="auto">
            <a:xfrm>
              <a:off x="5280" y="2691"/>
              <a:ext cx="0" cy="326"/>
            </a:xfrm>
            <a:prstGeom prst="line">
              <a:avLst/>
            </a:prstGeom>
            <a:ln>
              <a:headEnd/>
              <a:tailEnd/>
            </a:ln>
          </p:spPr>
          <p:style>
            <a:lnRef idx="1">
              <a:schemeClr val="accent3"/>
            </a:lnRef>
            <a:fillRef idx="2">
              <a:schemeClr val="accent3"/>
            </a:fillRef>
            <a:effectRef idx="1">
              <a:schemeClr val="accent3"/>
            </a:effectRef>
            <a:fontRef idx="minor">
              <a:schemeClr val="dk1"/>
            </a:fontRef>
          </p:style>
          <p:txBody>
            <a:bodyPr/>
            <a:lstStyle/>
            <a:p>
              <a:endParaRPr lang="zh-CN" altLang="en-US">
                <a:latin typeface="Consolas" pitchFamily="49" charset="0"/>
                <a:cs typeface="Consolas" pitchFamily="49" charset="0"/>
              </a:endParaRPr>
            </a:p>
          </p:txBody>
        </p:sp>
      </p:grpSp>
      <p:sp>
        <p:nvSpPr>
          <p:cNvPr id="23" name="Line 58">
            <a:extLst>
              <a:ext uri="{FF2B5EF4-FFF2-40B4-BE49-F238E27FC236}">
                <a16:creationId xmlns:a16="http://schemas.microsoft.com/office/drawing/2014/main" id="{7DB8332C-A0B6-46A1-A793-FF2185B47A29}"/>
              </a:ext>
            </a:extLst>
          </p:cNvPr>
          <p:cNvSpPr>
            <a:spLocks noChangeShapeType="1"/>
          </p:cNvSpPr>
          <p:nvPr/>
        </p:nvSpPr>
        <p:spPr bwMode="auto">
          <a:xfrm>
            <a:off x="2764086" y="3675857"/>
            <a:ext cx="557212" cy="0"/>
          </a:xfrm>
          <a:prstGeom prst="line">
            <a:avLst/>
          </a:prstGeom>
          <a:ln>
            <a:headEnd/>
            <a:tailEnd type="arrow" w="sm" len="lg"/>
          </a:ln>
        </p:spPr>
        <p:style>
          <a:lnRef idx="2">
            <a:schemeClr val="accent5"/>
          </a:lnRef>
          <a:fillRef idx="0">
            <a:schemeClr val="accent5"/>
          </a:fillRef>
          <a:effectRef idx="1">
            <a:schemeClr val="accent5"/>
          </a:effectRef>
          <a:fontRef idx="minor">
            <a:schemeClr val="tx1"/>
          </a:fontRef>
        </p:style>
        <p:txBody>
          <a:bodyPr/>
          <a:lstStyle/>
          <a:p>
            <a:endParaRPr lang="zh-CN" altLang="en-US">
              <a:latin typeface="Consolas" pitchFamily="49" charset="0"/>
              <a:cs typeface="Consolas" pitchFamily="49" charset="0"/>
            </a:endParaRPr>
          </a:p>
        </p:txBody>
      </p:sp>
      <p:grpSp>
        <p:nvGrpSpPr>
          <p:cNvPr id="24" name="Group 60">
            <a:extLst>
              <a:ext uri="{FF2B5EF4-FFF2-40B4-BE49-F238E27FC236}">
                <a16:creationId xmlns:a16="http://schemas.microsoft.com/office/drawing/2014/main" id="{7A239CD0-FF44-4A12-A4C3-89C60A7AD558}"/>
              </a:ext>
            </a:extLst>
          </p:cNvPr>
          <p:cNvGrpSpPr>
            <a:grpSpLocks/>
          </p:cNvGrpSpPr>
          <p:nvPr/>
        </p:nvGrpSpPr>
        <p:grpSpPr bwMode="auto">
          <a:xfrm>
            <a:off x="5335213" y="3439319"/>
            <a:ext cx="838200" cy="517525"/>
            <a:chOff x="4752" y="2691"/>
            <a:chExt cx="528" cy="326"/>
          </a:xfrm>
        </p:grpSpPr>
        <p:sp>
          <p:nvSpPr>
            <p:cNvPr id="25" name="Rectangle 61">
              <a:extLst>
                <a:ext uri="{FF2B5EF4-FFF2-40B4-BE49-F238E27FC236}">
                  <a16:creationId xmlns:a16="http://schemas.microsoft.com/office/drawing/2014/main" id="{4859EE63-0A38-45EE-88DB-C29C553BEC5F}"/>
                </a:ext>
              </a:extLst>
            </p:cNvPr>
            <p:cNvSpPr>
              <a:spLocks noChangeArrowheads="1"/>
            </p:cNvSpPr>
            <p:nvPr/>
          </p:nvSpPr>
          <p:spPr bwMode="auto">
            <a:xfrm>
              <a:off x="4992" y="2691"/>
              <a:ext cx="288" cy="326"/>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a:lstStyle/>
            <a:p>
              <a:pPr algn="l">
                <a:spcBef>
                  <a:spcPct val="20000"/>
                </a:spcBef>
              </a:pPr>
              <a:endParaRPr lang="zh-CN" altLang="zh-CN">
                <a:solidFill>
                  <a:schemeClr val="tx1"/>
                </a:solidFill>
                <a:latin typeface="Consolas" pitchFamily="49" charset="0"/>
                <a:ea typeface="宋体" pitchFamily="2" charset="-122"/>
                <a:cs typeface="Consolas" pitchFamily="49" charset="0"/>
              </a:endParaRPr>
            </a:p>
          </p:txBody>
        </p:sp>
        <p:sp>
          <p:nvSpPr>
            <p:cNvPr id="26" name="Rectangle 62">
              <a:extLst>
                <a:ext uri="{FF2B5EF4-FFF2-40B4-BE49-F238E27FC236}">
                  <a16:creationId xmlns:a16="http://schemas.microsoft.com/office/drawing/2014/main" id="{508C44A8-0C84-4A85-B185-C1F5C3826CDC}"/>
                </a:ext>
              </a:extLst>
            </p:cNvPr>
            <p:cNvSpPr>
              <a:spLocks noChangeArrowheads="1"/>
            </p:cNvSpPr>
            <p:nvPr/>
          </p:nvSpPr>
          <p:spPr bwMode="auto">
            <a:xfrm>
              <a:off x="4752" y="2691"/>
              <a:ext cx="240" cy="326"/>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a:lstStyle/>
            <a:p>
              <a:pPr algn="l">
                <a:spcBef>
                  <a:spcPct val="20000"/>
                </a:spcBef>
              </a:pPr>
              <a:endParaRPr lang="zh-CN" altLang="zh-CN">
                <a:solidFill>
                  <a:schemeClr val="tx1"/>
                </a:solidFill>
                <a:latin typeface="Consolas" pitchFamily="49" charset="0"/>
                <a:ea typeface="宋体" pitchFamily="2" charset="-122"/>
                <a:cs typeface="Consolas" pitchFamily="49" charset="0"/>
              </a:endParaRPr>
            </a:p>
          </p:txBody>
        </p:sp>
        <p:sp>
          <p:nvSpPr>
            <p:cNvPr id="27" name="Line 63">
              <a:extLst>
                <a:ext uri="{FF2B5EF4-FFF2-40B4-BE49-F238E27FC236}">
                  <a16:creationId xmlns:a16="http://schemas.microsoft.com/office/drawing/2014/main" id="{785312E8-9181-4629-BEE7-7411B77A9BCE}"/>
                </a:ext>
              </a:extLst>
            </p:cNvPr>
            <p:cNvSpPr>
              <a:spLocks noChangeShapeType="1"/>
            </p:cNvSpPr>
            <p:nvPr/>
          </p:nvSpPr>
          <p:spPr bwMode="auto">
            <a:xfrm>
              <a:off x="4752" y="2691"/>
              <a:ext cx="528" cy="0"/>
            </a:xfrm>
            <a:prstGeom prst="line">
              <a:avLst/>
            </a:prstGeom>
            <a:ln>
              <a:headEnd/>
              <a:tailEnd/>
            </a:ln>
          </p:spPr>
          <p:style>
            <a:lnRef idx="1">
              <a:schemeClr val="accent3"/>
            </a:lnRef>
            <a:fillRef idx="2">
              <a:schemeClr val="accent3"/>
            </a:fillRef>
            <a:effectRef idx="1">
              <a:schemeClr val="accent3"/>
            </a:effectRef>
            <a:fontRef idx="minor">
              <a:schemeClr val="dk1"/>
            </a:fontRef>
          </p:style>
          <p:txBody>
            <a:bodyPr/>
            <a:lstStyle/>
            <a:p>
              <a:endParaRPr lang="zh-CN" altLang="en-US">
                <a:latin typeface="Consolas" pitchFamily="49" charset="0"/>
                <a:cs typeface="Consolas" pitchFamily="49" charset="0"/>
              </a:endParaRPr>
            </a:p>
          </p:txBody>
        </p:sp>
        <p:sp>
          <p:nvSpPr>
            <p:cNvPr id="28" name="Line 64">
              <a:extLst>
                <a:ext uri="{FF2B5EF4-FFF2-40B4-BE49-F238E27FC236}">
                  <a16:creationId xmlns:a16="http://schemas.microsoft.com/office/drawing/2014/main" id="{8E42C9E6-2386-4E01-9A4B-06EC818DC086}"/>
                </a:ext>
              </a:extLst>
            </p:cNvPr>
            <p:cNvSpPr>
              <a:spLocks noChangeShapeType="1"/>
            </p:cNvSpPr>
            <p:nvPr/>
          </p:nvSpPr>
          <p:spPr bwMode="auto">
            <a:xfrm>
              <a:off x="4752" y="3017"/>
              <a:ext cx="528" cy="0"/>
            </a:xfrm>
            <a:prstGeom prst="line">
              <a:avLst/>
            </a:prstGeom>
            <a:ln>
              <a:headEnd/>
              <a:tailEnd/>
            </a:ln>
          </p:spPr>
          <p:style>
            <a:lnRef idx="1">
              <a:schemeClr val="accent3"/>
            </a:lnRef>
            <a:fillRef idx="2">
              <a:schemeClr val="accent3"/>
            </a:fillRef>
            <a:effectRef idx="1">
              <a:schemeClr val="accent3"/>
            </a:effectRef>
            <a:fontRef idx="minor">
              <a:schemeClr val="dk1"/>
            </a:fontRef>
          </p:style>
          <p:txBody>
            <a:bodyPr/>
            <a:lstStyle/>
            <a:p>
              <a:endParaRPr lang="zh-CN" altLang="en-US">
                <a:latin typeface="Consolas" pitchFamily="49" charset="0"/>
                <a:cs typeface="Consolas" pitchFamily="49" charset="0"/>
              </a:endParaRPr>
            </a:p>
          </p:txBody>
        </p:sp>
        <p:sp>
          <p:nvSpPr>
            <p:cNvPr id="29" name="Line 65">
              <a:extLst>
                <a:ext uri="{FF2B5EF4-FFF2-40B4-BE49-F238E27FC236}">
                  <a16:creationId xmlns:a16="http://schemas.microsoft.com/office/drawing/2014/main" id="{67038421-D8BD-4121-8374-5C1449D17CCF}"/>
                </a:ext>
              </a:extLst>
            </p:cNvPr>
            <p:cNvSpPr>
              <a:spLocks noChangeShapeType="1"/>
            </p:cNvSpPr>
            <p:nvPr/>
          </p:nvSpPr>
          <p:spPr bwMode="auto">
            <a:xfrm>
              <a:off x="4752" y="2691"/>
              <a:ext cx="0" cy="326"/>
            </a:xfrm>
            <a:prstGeom prst="line">
              <a:avLst/>
            </a:prstGeom>
            <a:ln>
              <a:headEnd/>
              <a:tailEnd/>
            </a:ln>
          </p:spPr>
          <p:style>
            <a:lnRef idx="1">
              <a:schemeClr val="accent3"/>
            </a:lnRef>
            <a:fillRef idx="2">
              <a:schemeClr val="accent3"/>
            </a:fillRef>
            <a:effectRef idx="1">
              <a:schemeClr val="accent3"/>
            </a:effectRef>
            <a:fontRef idx="minor">
              <a:schemeClr val="dk1"/>
            </a:fontRef>
          </p:style>
          <p:txBody>
            <a:bodyPr/>
            <a:lstStyle/>
            <a:p>
              <a:endParaRPr lang="zh-CN" altLang="en-US">
                <a:latin typeface="Consolas" pitchFamily="49" charset="0"/>
                <a:cs typeface="Consolas" pitchFamily="49" charset="0"/>
              </a:endParaRPr>
            </a:p>
          </p:txBody>
        </p:sp>
        <p:sp>
          <p:nvSpPr>
            <p:cNvPr id="30" name="Line 66">
              <a:extLst>
                <a:ext uri="{FF2B5EF4-FFF2-40B4-BE49-F238E27FC236}">
                  <a16:creationId xmlns:a16="http://schemas.microsoft.com/office/drawing/2014/main" id="{8324F761-36AB-469F-9CA0-1FD022CEEBBF}"/>
                </a:ext>
              </a:extLst>
            </p:cNvPr>
            <p:cNvSpPr>
              <a:spLocks noChangeShapeType="1"/>
            </p:cNvSpPr>
            <p:nvPr/>
          </p:nvSpPr>
          <p:spPr bwMode="auto">
            <a:xfrm>
              <a:off x="4992" y="2691"/>
              <a:ext cx="0" cy="326"/>
            </a:xfrm>
            <a:prstGeom prst="line">
              <a:avLst/>
            </a:prstGeom>
            <a:ln>
              <a:headEnd/>
              <a:tailEnd/>
            </a:ln>
          </p:spPr>
          <p:style>
            <a:lnRef idx="1">
              <a:schemeClr val="accent3"/>
            </a:lnRef>
            <a:fillRef idx="2">
              <a:schemeClr val="accent3"/>
            </a:fillRef>
            <a:effectRef idx="1">
              <a:schemeClr val="accent3"/>
            </a:effectRef>
            <a:fontRef idx="minor">
              <a:schemeClr val="dk1"/>
            </a:fontRef>
          </p:style>
          <p:txBody>
            <a:bodyPr/>
            <a:lstStyle/>
            <a:p>
              <a:endParaRPr lang="zh-CN" altLang="en-US">
                <a:latin typeface="Consolas" pitchFamily="49" charset="0"/>
                <a:cs typeface="Consolas" pitchFamily="49" charset="0"/>
              </a:endParaRPr>
            </a:p>
          </p:txBody>
        </p:sp>
        <p:sp>
          <p:nvSpPr>
            <p:cNvPr id="31" name="Line 67">
              <a:extLst>
                <a:ext uri="{FF2B5EF4-FFF2-40B4-BE49-F238E27FC236}">
                  <a16:creationId xmlns:a16="http://schemas.microsoft.com/office/drawing/2014/main" id="{5EE7DF76-9643-4BFE-8D63-71813F307D4D}"/>
                </a:ext>
              </a:extLst>
            </p:cNvPr>
            <p:cNvSpPr>
              <a:spLocks noChangeShapeType="1"/>
            </p:cNvSpPr>
            <p:nvPr/>
          </p:nvSpPr>
          <p:spPr bwMode="auto">
            <a:xfrm>
              <a:off x="5280" y="2691"/>
              <a:ext cx="0" cy="326"/>
            </a:xfrm>
            <a:prstGeom prst="line">
              <a:avLst/>
            </a:prstGeom>
            <a:ln>
              <a:headEnd/>
              <a:tailEnd/>
            </a:ln>
          </p:spPr>
          <p:style>
            <a:lnRef idx="1">
              <a:schemeClr val="accent3"/>
            </a:lnRef>
            <a:fillRef idx="2">
              <a:schemeClr val="accent3"/>
            </a:fillRef>
            <a:effectRef idx="1">
              <a:schemeClr val="accent3"/>
            </a:effectRef>
            <a:fontRef idx="minor">
              <a:schemeClr val="dk1"/>
            </a:fontRef>
          </p:style>
          <p:txBody>
            <a:bodyPr/>
            <a:lstStyle/>
            <a:p>
              <a:endParaRPr lang="zh-CN" altLang="en-US">
                <a:latin typeface="Consolas" pitchFamily="49" charset="0"/>
                <a:cs typeface="Consolas" pitchFamily="49" charset="0"/>
              </a:endParaRPr>
            </a:p>
          </p:txBody>
        </p:sp>
      </p:grpSp>
      <p:sp>
        <p:nvSpPr>
          <p:cNvPr id="32" name="Text Box 68">
            <a:extLst>
              <a:ext uri="{FF2B5EF4-FFF2-40B4-BE49-F238E27FC236}">
                <a16:creationId xmlns:a16="http://schemas.microsoft.com/office/drawing/2014/main" id="{6B353CE2-44B9-480A-81B7-1FBC8A34C665}"/>
              </a:ext>
            </a:extLst>
          </p:cNvPr>
          <p:cNvSpPr txBox="1">
            <a:spLocks noChangeArrowheads="1"/>
          </p:cNvSpPr>
          <p:nvPr/>
        </p:nvSpPr>
        <p:spPr bwMode="auto">
          <a:xfrm>
            <a:off x="7713933" y="3525044"/>
            <a:ext cx="360362" cy="366713"/>
          </a:xfrm>
          <a:prstGeom prst="rect">
            <a:avLst/>
          </a:prstGeom>
          <a:noFill/>
          <a:ln w="9525">
            <a:noFill/>
            <a:miter lim="800000"/>
            <a:headEnd/>
            <a:tailEnd/>
          </a:ln>
          <a:effectLst/>
        </p:spPr>
        <p:txBody>
          <a:bodyPr>
            <a:spAutoFit/>
          </a:bodyPr>
          <a:lstStyle/>
          <a:p>
            <a:pPr algn="l">
              <a:spcBef>
                <a:spcPct val="50000"/>
              </a:spcBef>
            </a:pPr>
            <a:r>
              <a:rPr lang="en-US" altLang="zh-CN" sz="1800" dirty="0">
                <a:solidFill>
                  <a:schemeClr val="tx1"/>
                </a:solidFill>
                <a:latin typeface="Consolas" pitchFamily="49" charset="0"/>
                <a:ea typeface="宋体" pitchFamily="2" charset="-122"/>
                <a:cs typeface="Consolas" pitchFamily="49" charset="0"/>
              </a:rPr>
              <a:t>∧</a:t>
            </a:r>
          </a:p>
        </p:txBody>
      </p:sp>
      <p:sp>
        <p:nvSpPr>
          <p:cNvPr id="33" name="Line 70">
            <a:extLst>
              <a:ext uri="{FF2B5EF4-FFF2-40B4-BE49-F238E27FC236}">
                <a16:creationId xmlns:a16="http://schemas.microsoft.com/office/drawing/2014/main" id="{DD097F1C-5B31-40A4-ABDF-9538F2398D03}"/>
              </a:ext>
            </a:extLst>
          </p:cNvPr>
          <p:cNvSpPr>
            <a:spLocks noChangeShapeType="1"/>
          </p:cNvSpPr>
          <p:nvPr/>
        </p:nvSpPr>
        <p:spPr bwMode="auto">
          <a:xfrm>
            <a:off x="6856677" y="3655219"/>
            <a:ext cx="504000" cy="0"/>
          </a:xfrm>
          <a:prstGeom prst="line">
            <a:avLst/>
          </a:prstGeom>
          <a:ln>
            <a:headEnd/>
            <a:tailEnd type="arrow" w="sm" len="lg"/>
          </a:ln>
        </p:spPr>
        <p:style>
          <a:lnRef idx="2">
            <a:schemeClr val="accent5"/>
          </a:lnRef>
          <a:fillRef idx="0">
            <a:schemeClr val="accent5"/>
          </a:fillRef>
          <a:effectRef idx="1">
            <a:schemeClr val="accent5"/>
          </a:effectRef>
          <a:fontRef idx="minor">
            <a:schemeClr val="tx1"/>
          </a:fontRef>
        </p:style>
        <p:txBody>
          <a:bodyPr/>
          <a:lstStyle/>
          <a:p>
            <a:endParaRPr lang="zh-CN" altLang="en-US">
              <a:latin typeface="Consolas" pitchFamily="49" charset="0"/>
              <a:cs typeface="Consolas" pitchFamily="49" charset="0"/>
            </a:endParaRPr>
          </a:p>
        </p:txBody>
      </p:sp>
      <p:sp>
        <p:nvSpPr>
          <p:cNvPr id="34" name="Text Box 72">
            <a:extLst>
              <a:ext uri="{FF2B5EF4-FFF2-40B4-BE49-F238E27FC236}">
                <a16:creationId xmlns:a16="http://schemas.microsoft.com/office/drawing/2014/main" id="{5088E955-BCBA-4155-87B9-A16FCA73E5CF}"/>
              </a:ext>
            </a:extLst>
          </p:cNvPr>
          <p:cNvSpPr txBox="1">
            <a:spLocks noChangeArrowheads="1"/>
          </p:cNvSpPr>
          <p:nvPr/>
        </p:nvSpPr>
        <p:spPr bwMode="auto">
          <a:xfrm>
            <a:off x="6455257" y="3370726"/>
            <a:ext cx="720725" cy="457200"/>
          </a:xfrm>
          <a:prstGeom prst="rect">
            <a:avLst/>
          </a:prstGeom>
          <a:noFill/>
          <a:ln w="9525">
            <a:noFill/>
            <a:miter lim="800000"/>
            <a:headEnd/>
            <a:tailEnd/>
          </a:ln>
          <a:effectLst/>
        </p:spPr>
        <p:txBody>
          <a:bodyPr>
            <a:spAutoFit/>
          </a:bodyPr>
          <a:lstStyle/>
          <a:p>
            <a:pPr algn="l">
              <a:spcBef>
                <a:spcPct val="50000"/>
              </a:spcBef>
            </a:pPr>
            <a:r>
              <a:rPr lang="en-US" altLang="zh-CN">
                <a:latin typeface="Consolas" pitchFamily="49" charset="0"/>
                <a:cs typeface="Consolas" pitchFamily="49" charset="0"/>
              </a:rPr>
              <a:t>…</a:t>
            </a:r>
          </a:p>
        </p:txBody>
      </p:sp>
      <p:grpSp>
        <p:nvGrpSpPr>
          <p:cNvPr id="35" name="Group 74">
            <a:extLst>
              <a:ext uri="{FF2B5EF4-FFF2-40B4-BE49-F238E27FC236}">
                <a16:creationId xmlns:a16="http://schemas.microsoft.com/office/drawing/2014/main" id="{C8011BD4-4F84-4A48-9157-6E226F9925FA}"/>
              </a:ext>
            </a:extLst>
          </p:cNvPr>
          <p:cNvGrpSpPr>
            <a:grpSpLocks/>
          </p:cNvGrpSpPr>
          <p:nvPr/>
        </p:nvGrpSpPr>
        <p:grpSpPr bwMode="auto">
          <a:xfrm>
            <a:off x="4215688" y="3442494"/>
            <a:ext cx="838200" cy="517525"/>
            <a:chOff x="4752" y="2691"/>
            <a:chExt cx="528" cy="326"/>
          </a:xfrm>
        </p:grpSpPr>
        <p:sp>
          <p:nvSpPr>
            <p:cNvPr id="36" name="Rectangle 75">
              <a:extLst>
                <a:ext uri="{FF2B5EF4-FFF2-40B4-BE49-F238E27FC236}">
                  <a16:creationId xmlns:a16="http://schemas.microsoft.com/office/drawing/2014/main" id="{ED234E53-1AC0-4829-9C79-71064D134DB2}"/>
                </a:ext>
              </a:extLst>
            </p:cNvPr>
            <p:cNvSpPr>
              <a:spLocks noChangeArrowheads="1"/>
            </p:cNvSpPr>
            <p:nvPr/>
          </p:nvSpPr>
          <p:spPr bwMode="auto">
            <a:xfrm>
              <a:off x="4992" y="2691"/>
              <a:ext cx="288" cy="326"/>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a:lstStyle/>
            <a:p>
              <a:pPr algn="l">
                <a:spcBef>
                  <a:spcPct val="20000"/>
                </a:spcBef>
              </a:pPr>
              <a:endParaRPr lang="zh-CN" altLang="zh-CN">
                <a:solidFill>
                  <a:schemeClr val="tx1"/>
                </a:solidFill>
                <a:latin typeface="Consolas" pitchFamily="49" charset="0"/>
                <a:ea typeface="宋体" pitchFamily="2" charset="-122"/>
                <a:cs typeface="Consolas" pitchFamily="49" charset="0"/>
              </a:endParaRPr>
            </a:p>
          </p:txBody>
        </p:sp>
        <p:sp>
          <p:nvSpPr>
            <p:cNvPr id="37" name="Rectangle 76">
              <a:extLst>
                <a:ext uri="{FF2B5EF4-FFF2-40B4-BE49-F238E27FC236}">
                  <a16:creationId xmlns:a16="http://schemas.microsoft.com/office/drawing/2014/main" id="{A7225E03-7DEC-474B-A9D5-24FAB9613B45}"/>
                </a:ext>
              </a:extLst>
            </p:cNvPr>
            <p:cNvSpPr>
              <a:spLocks noChangeArrowheads="1"/>
            </p:cNvSpPr>
            <p:nvPr/>
          </p:nvSpPr>
          <p:spPr bwMode="auto">
            <a:xfrm>
              <a:off x="4752" y="2691"/>
              <a:ext cx="240" cy="326"/>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a:lstStyle/>
            <a:p>
              <a:pPr algn="l">
                <a:spcBef>
                  <a:spcPct val="20000"/>
                </a:spcBef>
              </a:pPr>
              <a:endParaRPr lang="zh-CN" altLang="zh-CN">
                <a:solidFill>
                  <a:schemeClr val="tx1"/>
                </a:solidFill>
                <a:latin typeface="Consolas" pitchFamily="49" charset="0"/>
                <a:ea typeface="宋体" pitchFamily="2" charset="-122"/>
                <a:cs typeface="Consolas" pitchFamily="49" charset="0"/>
              </a:endParaRPr>
            </a:p>
          </p:txBody>
        </p:sp>
        <p:sp>
          <p:nvSpPr>
            <p:cNvPr id="38" name="Line 77">
              <a:extLst>
                <a:ext uri="{FF2B5EF4-FFF2-40B4-BE49-F238E27FC236}">
                  <a16:creationId xmlns:a16="http://schemas.microsoft.com/office/drawing/2014/main" id="{2574BF55-E4DF-43CC-ADED-F9F95CF6DC02}"/>
                </a:ext>
              </a:extLst>
            </p:cNvPr>
            <p:cNvSpPr>
              <a:spLocks noChangeShapeType="1"/>
            </p:cNvSpPr>
            <p:nvPr/>
          </p:nvSpPr>
          <p:spPr bwMode="auto">
            <a:xfrm>
              <a:off x="4752" y="2691"/>
              <a:ext cx="528" cy="0"/>
            </a:xfrm>
            <a:prstGeom prst="line">
              <a:avLst/>
            </a:prstGeom>
            <a:ln>
              <a:headEnd/>
              <a:tailEnd/>
            </a:ln>
          </p:spPr>
          <p:style>
            <a:lnRef idx="1">
              <a:schemeClr val="accent3"/>
            </a:lnRef>
            <a:fillRef idx="2">
              <a:schemeClr val="accent3"/>
            </a:fillRef>
            <a:effectRef idx="1">
              <a:schemeClr val="accent3"/>
            </a:effectRef>
            <a:fontRef idx="minor">
              <a:schemeClr val="dk1"/>
            </a:fontRef>
          </p:style>
          <p:txBody>
            <a:bodyPr/>
            <a:lstStyle/>
            <a:p>
              <a:endParaRPr lang="zh-CN" altLang="en-US">
                <a:latin typeface="Consolas" pitchFamily="49" charset="0"/>
                <a:cs typeface="Consolas" pitchFamily="49" charset="0"/>
              </a:endParaRPr>
            </a:p>
          </p:txBody>
        </p:sp>
        <p:sp>
          <p:nvSpPr>
            <p:cNvPr id="39" name="Line 78">
              <a:extLst>
                <a:ext uri="{FF2B5EF4-FFF2-40B4-BE49-F238E27FC236}">
                  <a16:creationId xmlns:a16="http://schemas.microsoft.com/office/drawing/2014/main" id="{F8DD5EC5-FC82-4B72-95F7-426A0541EE80}"/>
                </a:ext>
              </a:extLst>
            </p:cNvPr>
            <p:cNvSpPr>
              <a:spLocks noChangeShapeType="1"/>
            </p:cNvSpPr>
            <p:nvPr/>
          </p:nvSpPr>
          <p:spPr bwMode="auto">
            <a:xfrm>
              <a:off x="4752" y="3017"/>
              <a:ext cx="528" cy="0"/>
            </a:xfrm>
            <a:prstGeom prst="line">
              <a:avLst/>
            </a:prstGeom>
            <a:ln>
              <a:headEnd/>
              <a:tailEnd/>
            </a:ln>
          </p:spPr>
          <p:style>
            <a:lnRef idx="1">
              <a:schemeClr val="accent3"/>
            </a:lnRef>
            <a:fillRef idx="2">
              <a:schemeClr val="accent3"/>
            </a:fillRef>
            <a:effectRef idx="1">
              <a:schemeClr val="accent3"/>
            </a:effectRef>
            <a:fontRef idx="minor">
              <a:schemeClr val="dk1"/>
            </a:fontRef>
          </p:style>
          <p:txBody>
            <a:bodyPr/>
            <a:lstStyle/>
            <a:p>
              <a:endParaRPr lang="zh-CN" altLang="en-US">
                <a:latin typeface="Consolas" pitchFamily="49" charset="0"/>
                <a:cs typeface="Consolas" pitchFamily="49" charset="0"/>
              </a:endParaRPr>
            </a:p>
          </p:txBody>
        </p:sp>
        <p:sp>
          <p:nvSpPr>
            <p:cNvPr id="40" name="Line 79">
              <a:extLst>
                <a:ext uri="{FF2B5EF4-FFF2-40B4-BE49-F238E27FC236}">
                  <a16:creationId xmlns:a16="http://schemas.microsoft.com/office/drawing/2014/main" id="{E3241347-C22D-4F88-9D72-7ABE7BC78E9C}"/>
                </a:ext>
              </a:extLst>
            </p:cNvPr>
            <p:cNvSpPr>
              <a:spLocks noChangeShapeType="1"/>
            </p:cNvSpPr>
            <p:nvPr/>
          </p:nvSpPr>
          <p:spPr bwMode="auto">
            <a:xfrm>
              <a:off x="4752" y="2691"/>
              <a:ext cx="0" cy="326"/>
            </a:xfrm>
            <a:prstGeom prst="line">
              <a:avLst/>
            </a:prstGeom>
            <a:ln>
              <a:headEnd/>
              <a:tailEnd/>
            </a:ln>
          </p:spPr>
          <p:style>
            <a:lnRef idx="1">
              <a:schemeClr val="accent3"/>
            </a:lnRef>
            <a:fillRef idx="2">
              <a:schemeClr val="accent3"/>
            </a:fillRef>
            <a:effectRef idx="1">
              <a:schemeClr val="accent3"/>
            </a:effectRef>
            <a:fontRef idx="minor">
              <a:schemeClr val="dk1"/>
            </a:fontRef>
          </p:style>
          <p:txBody>
            <a:bodyPr/>
            <a:lstStyle/>
            <a:p>
              <a:endParaRPr lang="zh-CN" altLang="en-US">
                <a:latin typeface="Consolas" pitchFamily="49" charset="0"/>
                <a:cs typeface="Consolas" pitchFamily="49" charset="0"/>
              </a:endParaRPr>
            </a:p>
          </p:txBody>
        </p:sp>
        <p:sp>
          <p:nvSpPr>
            <p:cNvPr id="41" name="Line 80">
              <a:extLst>
                <a:ext uri="{FF2B5EF4-FFF2-40B4-BE49-F238E27FC236}">
                  <a16:creationId xmlns:a16="http://schemas.microsoft.com/office/drawing/2014/main" id="{855C9162-0B88-46AA-9A24-2329FC20ED20}"/>
                </a:ext>
              </a:extLst>
            </p:cNvPr>
            <p:cNvSpPr>
              <a:spLocks noChangeShapeType="1"/>
            </p:cNvSpPr>
            <p:nvPr/>
          </p:nvSpPr>
          <p:spPr bwMode="auto">
            <a:xfrm>
              <a:off x="4992" y="2691"/>
              <a:ext cx="0" cy="326"/>
            </a:xfrm>
            <a:prstGeom prst="line">
              <a:avLst/>
            </a:prstGeom>
            <a:ln>
              <a:headEnd/>
              <a:tailEnd/>
            </a:ln>
          </p:spPr>
          <p:style>
            <a:lnRef idx="1">
              <a:schemeClr val="accent3"/>
            </a:lnRef>
            <a:fillRef idx="2">
              <a:schemeClr val="accent3"/>
            </a:fillRef>
            <a:effectRef idx="1">
              <a:schemeClr val="accent3"/>
            </a:effectRef>
            <a:fontRef idx="minor">
              <a:schemeClr val="dk1"/>
            </a:fontRef>
          </p:style>
          <p:txBody>
            <a:bodyPr/>
            <a:lstStyle/>
            <a:p>
              <a:endParaRPr lang="zh-CN" altLang="en-US">
                <a:latin typeface="Consolas" pitchFamily="49" charset="0"/>
                <a:cs typeface="Consolas" pitchFamily="49" charset="0"/>
              </a:endParaRPr>
            </a:p>
          </p:txBody>
        </p:sp>
        <p:sp>
          <p:nvSpPr>
            <p:cNvPr id="42" name="Line 81">
              <a:extLst>
                <a:ext uri="{FF2B5EF4-FFF2-40B4-BE49-F238E27FC236}">
                  <a16:creationId xmlns:a16="http://schemas.microsoft.com/office/drawing/2014/main" id="{F3B4960C-EC09-4856-BFEA-68244FE8343A}"/>
                </a:ext>
              </a:extLst>
            </p:cNvPr>
            <p:cNvSpPr>
              <a:spLocks noChangeShapeType="1"/>
            </p:cNvSpPr>
            <p:nvPr/>
          </p:nvSpPr>
          <p:spPr bwMode="auto">
            <a:xfrm>
              <a:off x="5280" y="2691"/>
              <a:ext cx="0" cy="326"/>
            </a:xfrm>
            <a:prstGeom prst="line">
              <a:avLst/>
            </a:prstGeom>
            <a:ln>
              <a:headEnd/>
              <a:tailEnd/>
            </a:ln>
          </p:spPr>
          <p:style>
            <a:lnRef idx="1">
              <a:schemeClr val="accent3"/>
            </a:lnRef>
            <a:fillRef idx="2">
              <a:schemeClr val="accent3"/>
            </a:fillRef>
            <a:effectRef idx="1">
              <a:schemeClr val="accent3"/>
            </a:effectRef>
            <a:fontRef idx="minor">
              <a:schemeClr val="dk1"/>
            </a:fontRef>
          </p:style>
          <p:txBody>
            <a:bodyPr/>
            <a:lstStyle/>
            <a:p>
              <a:endParaRPr lang="zh-CN" altLang="en-US">
                <a:latin typeface="Consolas" pitchFamily="49" charset="0"/>
                <a:cs typeface="Consolas" pitchFamily="49" charset="0"/>
              </a:endParaRPr>
            </a:p>
          </p:txBody>
        </p:sp>
      </p:grpSp>
      <p:sp>
        <p:nvSpPr>
          <p:cNvPr id="43" name="Line 82">
            <a:extLst>
              <a:ext uri="{FF2B5EF4-FFF2-40B4-BE49-F238E27FC236}">
                <a16:creationId xmlns:a16="http://schemas.microsoft.com/office/drawing/2014/main" id="{80CAD871-9D6A-4360-88A2-B7C615C6DE4D}"/>
              </a:ext>
            </a:extLst>
          </p:cNvPr>
          <p:cNvSpPr>
            <a:spLocks noChangeShapeType="1"/>
          </p:cNvSpPr>
          <p:nvPr/>
        </p:nvSpPr>
        <p:spPr bwMode="auto">
          <a:xfrm>
            <a:off x="3763577" y="3690293"/>
            <a:ext cx="431800" cy="0"/>
          </a:xfrm>
          <a:prstGeom prst="line">
            <a:avLst/>
          </a:prstGeom>
          <a:ln>
            <a:headEnd/>
            <a:tailEnd type="arrow" w="sm" len="lg"/>
          </a:ln>
        </p:spPr>
        <p:style>
          <a:lnRef idx="2">
            <a:schemeClr val="accent5"/>
          </a:lnRef>
          <a:fillRef idx="0">
            <a:schemeClr val="accent5"/>
          </a:fillRef>
          <a:effectRef idx="1">
            <a:schemeClr val="accent5"/>
          </a:effectRef>
          <a:fontRef idx="minor">
            <a:schemeClr val="tx1"/>
          </a:fontRef>
        </p:style>
        <p:txBody>
          <a:bodyPr/>
          <a:lstStyle/>
          <a:p>
            <a:endParaRPr lang="zh-CN" altLang="en-US">
              <a:latin typeface="Consolas" pitchFamily="49" charset="0"/>
              <a:cs typeface="Consolas" pitchFamily="49" charset="0"/>
            </a:endParaRPr>
          </a:p>
        </p:txBody>
      </p:sp>
      <p:sp>
        <p:nvSpPr>
          <p:cNvPr id="44" name="Text Box 83">
            <a:extLst>
              <a:ext uri="{FF2B5EF4-FFF2-40B4-BE49-F238E27FC236}">
                <a16:creationId xmlns:a16="http://schemas.microsoft.com/office/drawing/2014/main" id="{E7F4CEA0-4F0D-4B78-931C-74B52B3DB6BC}"/>
              </a:ext>
            </a:extLst>
          </p:cNvPr>
          <p:cNvSpPr txBox="1">
            <a:spLocks noChangeArrowheads="1"/>
          </p:cNvSpPr>
          <p:nvPr/>
        </p:nvSpPr>
        <p:spPr bwMode="auto">
          <a:xfrm>
            <a:off x="3284777" y="3384714"/>
            <a:ext cx="720725" cy="457200"/>
          </a:xfrm>
          <a:prstGeom prst="rect">
            <a:avLst/>
          </a:prstGeom>
          <a:noFill/>
          <a:ln w="9525">
            <a:noFill/>
            <a:miter lim="800000"/>
            <a:headEnd/>
            <a:tailEnd/>
          </a:ln>
          <a:effectLst/>
        </p:spPr>
        <p:txBody>
          <a:bodyPr>
            <a:spAutoFit/>
          </a:bodyPr>
          <a:lstStyle/>
          <a:p>
            <a:pPr algn="l">
              <a:spcBef>
                <a:spcPct val="50000"/>
              </a:spcBef>
            </a:pPr>
            <a:r>
              <a:rPr lang="en-US" altLang="zh-CN">
                <a:latin typeface="Consolas" pitchFamily="49" charset="0"/>
                <a:cs typeface="Consolas" pitchFamily="49" charset="0"/>
              </a:rPr>
              <a:t>…</a:t>
            </a:r>
          </a:p>
        </p:txBody>
      </p:sp>
      <p:grpSp>
        <p:nvGrpSpPr>
          <p:cNvPr id="45" name="Group 101">
            <a:extLst>
              <a:ext uri="{FF2B5EF4-FFF2-40B4-BE49-F238E27FC236}">
                <a16:creationId xmlns:a16="http://schemas.microsoft.com/office/drawing/2014/main" id="{19685F56-00CC-435F-B158-17D485F43D5A}"/>
              </a:ext>
            </a:extLst>
          </p:cNvPr>
          <p:cNvGrpSpPr>
            <a:grpSpLocks/>
          </p:cNvGrpSpPr>
          <p:nvPr/>
        </p:nvGrpSpPr>
        <p:grpSpPr bwMode="auto">
          <a:xfrm>
            <a:off x="4020425" y="3104361"/>
            <a:ext cx="2336801" cy="1793879"/>
            <a:chOff x="2699" y="1531"/>
            <a:chExt cx="1472" cy="1130"/>
          </a:xfrm>
        </p:grpSpPr>
        <p:sp>
          <p:nvSpPr>
            <p:cNvPr id="46" name="Line 84">
              <a:extLst>
                <a:ext uri="{FF2B5EF4-FFF2-40B4-BE49-F238E27FC236}">
                  <a16:creationId xmlns:a16="http://schemas.microsoft.com/office/drawing/2014/main" id="{689A21B4-C76C-4087-99ED-646094325530}"/>
                </a:ext>
              </a:extLst>
            </p:cNvPr>
            <p:cNvSpPr>
              <a:spLocks noChangeShapeType="1"/>
            </p:cNvSpPr>
            <p:nvPr/>
          </p:nvSpPr>
          <p:spPr bwMode="auto">
            <a:xfrm flipV="1">
              <a:off x="3877" y="2091"/>
              <a:ext cx="0" cy="363"/>
            </a:xfrm>
            <a:prstGeom prst="line">
              <a:avLst/>
            </a:prstGeom>
            <a:noFill/>
            <a:ln w="28575">
              <a:solidFill>
                <a:srgbClr val="FF3300"/>
              </a:solidFill>
              <a:miter lim="800000"/>
              <a:headEnd/>
              <a:tailEnd type="triangle" w="med" len="med"/>
            </a:ln>
            <a:effectLst/>
          </p:spPr>
          <p:txBody>
            <a:bodyPr wrap="none"/>
            <a:lstStyle/>
            <a:p>
              <a:endParaRPr lang="zh-CN" altLang="en-US">
                <a:latin typeface="Consolas" pitchFamily="49" charset="0"/>
                <a:cs typeface="Consolas" pitchFamily="49" charset="0"/>
              </a:endParaRPr>
            </a:p>
          </p:txBody>
        </p:sp>
        <p:sp>
          <p:nvSpPr>
            <p:cNvPr id="47" name="Text Box 85">
              <a:extLst>
                <a:ext uri="{FF2B5EF4-FFF2-40B4-BE49-F238E27FC236}">
                  <a16:creationId xmlns:a16="http://schemas.microsoft.com/office/drawing/2014/main" id="{A6E560D7-3897-4F87-A704-4BBA2B301169}"/>
                </a:ext>
              </a:extLst>
            </p:cNvPr>
            <p:cNvSpPr txBox="1">
              <a:spLocks noChangeArrowheads="1"/>
            </p:cNvSpPr>
            <p:nvPr/>
          </p:nvSpPr>
          <p:spPr bwMode="auto">
            <a:xfrm>
              <a:off x="3605" y="2409"/>
              <a:ext cx="545" cy="250"/>
            </a:xfrm>
            <a:prstGeom prst="rect">
              <a:avLst/>
            </a:prstGeom>
            <a:noFill/>
            <a:ln w="9525">
              <a:noFill/>
              <a:miter lim="800000"/>
              <a:headEnd/>
              <a:tailEnd/>
            </a:ln>
            <a:effectLst/>
          </p:spPr>
          <p:txBody>
            <a:bodyPr>
              <a:spAutoFit/>
            </a:bodyPr>
            <a:lstStyle/>
            <a:p>
              <a:pPr algn="l">
                <a:spcBef>
                  <a:spcPct val="50000"/>
                </a:spcBef>
              </a:pPr>
              <a:r>
                <a:rPr lang="en-US" altLang="zh-CN" sz="2000" dirty="0" err="1">
                  <a:latin typeface="Consolas" pitchFamily="49" charset="0"/>
                  <a:cs typeface="Consolas" pitchFamily="49" charset="0"/>
                </a:rPr>
                <a:t>maxp</a:t>
              </a:r>
              <a:endParaRPr lang="en-US" altLang="zh-CN" sz="2000" dirty="0">
                <a:latin typeface="Consolas" pitchFamily="49" charset="0"/>
                <a:cs typeface="Consolas" pitchFamily="49" charset="0"/>
              </a:endParaRPr>
            </a:p>
          </p:txBody>
        </p:sp>
        <p:sp>
          <p:nvSpPr>
            <p:cNvPr id="48" name="Line 86">
              <a:extLst>
                <a:ext uri="{FF2B5EF4-FFF2-40B4-BE49-F238E27FC236}">
                  <a16:creationId xmlns:a16="http://schemas.microsoft.com/office/drawing/2014/main" id="{9BC118EA-88EF-4DED-A086-CFDFB998C146}"/>
                </a:ext>
              </a:extLst>
            </p:cNvPr>
            <p:cNvSpPr>
              <a:spLocks noChangeShapeType="1"/>
            </p:cNvSpPr>
            <p:nvPr/>
          </p:nvSpPr>
          <p:spPr bwMode="auto">
            <a:xfrm flipV="1">
              <a:off x="2971" y="2093"/>
              <a:ext cx="0" cy="363"/>
            </a:xfrm>
            <a:prstGeom prst="line">
              <a:avLst/>
            </a:prstGeom>
            <a:noFill/>
            <a:ln w="28575">
              <a:solidFill>
                <a:srgbClr val="FF3300"/>
              </a:solidFill>
              <a:miter lim="800000"/>
              <a:headEnd/>
              <a:tailEnd type="triangle" w="med" len="med"/>
            </a:ln>
            <a:effectLst/>
          </p:spPr>
          <p:txBody>
            <a:bodyPr wrap="none"/>
            <a:lstStyle/>
            <a:p>
              <a:endParaRPr lang="zh-CN" altLang="en-US">
                <a:latin typeface="Consolas" pitchFamily="49" charset="0"/>
                <a:cs typeface="Consolas" pitchFamily="49" charset="0"/>
              </a:endParaRPr>
            </a:p>
          </p:txBody>
        </p:sp>
        <p:sp>
          <p:nvSpPr>
            <p:cNvPr id="49" name="Text Box 87">
              <a:extLst>
                <a:ext uri="{FF2B5EF4-FFF2-40B4-BE49-F238E27FC236}">
                  <a16:creationId xmlns:a16="http://schemas.microsoft.com/office/drawing/2014/main" id="{24D01A93-2315-4091-AAA5-907E90860BC7}"/>
                </a:ext>
              </a:extLst>
            </p:cNvPr>
            <p:cNvSpPr txBox="1">
              <a:spLocks noChangeArrowheads="1"/>
            </p:cNvSpPr>
            <p:nvPr/>
          </p:nvSpPr>
          <p:spPr bwMode="auto">
            <a:xfrm>
              <a:off x="2699" y="2411"/>
              <a:ext cx="726" cy="250"/>
            </a:xfrm>
            <a:prstGeom prst="rect">
              <a:avLst/>
            </a:prstGeom>
            <a:noFill/>
            <a:ln w="9525">
              <a:noFill/>
              <a:miter lim="800000"/>
              <a:headEnd/>
              <a:tailEnd/>
            </a:ln>
            <a:effectLst/>
          </p:spPr>
          <p:txBody>
            <a:bodyPr>
              <a:spAutoFit/>
            </a:bodyPr>
            <a:lstStyle/>
            <a:p>
              <a:pPr algn="l">
                <a:spcBef>
                  <a:spcPct val="50000"/>
                </a:spcBef>
              </a:pPr>
              <a:r>
                <a:rPr lang="en-US" altLang="zh-CN" sz="2000" dirty="0" err="1">
                  <a:latin typeface="Consolas" pitchFamily="49" charset="0"/>
                  <a:cs typeface="Consolas" pitchFamily="49" charset="0"/>
                </a:rPr>
                <a:t>maxpre</a:t>
              </a:r>
              <a:endParaRPr lang="en-US" altLang="zh-CN" sz="2000" dirty="0">
                <a:latin typeface="Consolas" pitchFamily="49" charset="0"/>
                <a:cs typeface="Consolas" pitchFamily="49" charset="0"/>
              </a:endParaRPr>
            </a:p>
          </p:txBody>
        </p:sp>
        <p:sp>
          <p:nvSpPr>
            <p:cNvPr id="50" name="Oval 88">
              <a:extLst>
                <a:ext uri="{FF2B5EF4-FFF2-40B4-BE49-F238E27FC236}">
                  <a16:creationId xmlns:a16="http://schemas.microsoft.com/office/drawing/2014/main" id="{BA29A0E6-8F10-4F3B-8A1C-7F4783717F9F}"/>
                </a:ext>
              </a:extLst>
            </p:cNvPr>
            <p:cNvSpPr>
              <a:spLocks noChangeArrowheads="1"/>
            </p:cNvSpPr>
            <p:nvPr/>
          </p:nvSpPr>
          <p:spPr bwMode="auto">
            <a:xfrm>
              <a:off x="3446" y="1531"/>
              <a:ext cx="725" cy="748"/>
            </a:xfrm>
            <a:prstGeom prst="ellipse">
              <a:avLst/>
            </a:prstGeom>
            <a:solidFill>
              <a:schemeClr val="accent1">
                <a:alpha val="0"/>
              </a:schemeClr>
            </a:solidFill>
            <a:ln w="28575" cap="rnd">
              <a:solidFill>
                <a:srgbClr val="33CC33"/>
              </a:solidFill>
              <a:prstDash val="sysDot"/>
              <a:miter lim="800000"/>
              <a:headEnd/>
              <a:tailEnd/>
            </a:ln>
            <a:effectLst/>
          </p:spPr>
          <p:txBody>
            <a:bodyPr wrap="none" anchor="ctr"/>
            <a:lstStyle/>
            <a:p>
              <a:endParaRPr lang="zh-CN" altLang="en-US">
                <a:latin typeface="Consolas" pitchFamily="49" charset="0"/>
                <a:cs typeface="Consolas" pitchFamily="49" charset="0"/>
              </a:endParaRPr>
            </a:p>
          </p:txBody>
        </p:sp>
      </p:grpSp>
      <p:sp>
        <p:nvSpPr>
          <p:cNvPr id="51" name="Text Box 91">
            <a:extLst>
              <a:ext uri="{FF2B5EF4-FFF2-40B4-BE49-F238E27FC236}">
                <a16:creationId xmlns:a16="http://schemas.microsoft.com/office/drawing/2014/main" id="{F0E86A12-AA4A-443F-87E1-B84630A15496}"/>
              </a:ext>
            </a:extLst>
          </p:cNvPr>
          <p:cNvSpPr txBox="1">
            <a:spLocks noChangeArrowheads="1"/>
          </p:cNvSpPr>
          <p:nvPr/>
        </p:nvSpPr>
        <p:spPr bwMode="auto">
          <a:xfrm>
            <a:off x="827336" y="2277269"/>
            <a:ext cx="2808287" cy="400110"/>
          </a:xfrm>
          <a:prstGeom prst="rect">
            <a:avLst/>
          </a:prstGeom>
          <a:noFill/>
          <a:ln w="38100" algn="ctr">
            <a:noFill/>
            <a:miter lim="800000"/>
            <a:headEnd/>
            <a:tailEnd/>
          </a:ln>
          <a:effectLst/>
        </p:spPr>
        <p:txBody>
          <a:bodyPr>
            <a:spAutoFit/>
          </a:bodyPr>
          <a:lstStyle/>
          <a:p>
            <a:pPr algn="l">
              <a:spcBef>
                <a:spcPct val="50000"/>
              </a:spcBef>
            </a:pPr>
            <a:r>
              <a:rPr lang="zh-CN" altLang="en-US" sz="2000" dirty="0">
                <a:solidFill>
                  <a:srgbClr val="FF0000"/>
                </a:solidFill>
                <a:latin typeface="微软雅黑" pitchFamily="34" charset="-122"/>
                <a:ea typeface="微软雅黑" pitchFamily="34" charset="-122"/>
                <a:cs typeface="Consolas" pitchFamily="49" charset="0"/>
              </a:rPr>
              <a:t>算法设计思路</a:t>
            </a:r>
          </a:p>
        </p:txBody>
      </p:sp>
      <p:grpSp>
        <p:nvGrpSpPr>
          <p:cNvPr id="52" name="Group 100">
            <a:extLst>
              <a:ext uri="{FF2B5EF4-FFF2-40B4-BE49-F238E27FC236}">
                <a16:creationId xmlns:a16="http://schemas.microsoft.com/office/drawing/2014/main" id="{C6985DB7-49EF-4D14-BF8B-F37237C81CC0}"/>
              </a:ext>
            </a:extLst>
          </p:cNvPr>
          <p:cNvGrpSpPr>
            <a:grpSpLocks/>
          </p:cNvGrpSpPr>
          <p:nvPr/>
        </p:nvGrpSpPr>
        <p:grpSpPr bwMode="auto">
          <a:xfrm>
            <a:off x="4265861" y="2467769"/>
            <a:ext cx="3376634" cy="1203325"/>
            <a:chOff x="2733" y="1146"/>
            <a:chExt cx="1905" cy="758"/>
          </a:xfrm>
        </p:grpSpPr>
        <p:sp>
          <p:nvSpPr>
            <p:cNvPr id="53" name="Freeform 97">
              <a:extLst>
                <a:ext uri="{FF2B5EF4-FFF2-40B4-BE49-F238E27FC236}">
                  <a16:creationId xmlns:a16="http://schemas.microsoft.com/office/drawing/2014/main" id="{C5CCB048-8D71-435F-B5DF-7FAD7788864B}"/>
                </a:ext>
              </a:extLst>
            </p:cNvPr>
            <p:cNvSpPr>
              <a:spLocks/>
            </p:cNvSpPr>
            <p:nvPr/>
          </p:nvSpPr>
          <p:spPr bwMode="auto">
            <a:xfrm>
              <a:off x="3066" y="1396"/>
              <a:ext cx="1114" cy="508"/>
            </a:xfrm>
            <a:custGeom>
              <a:avLst/>
              <a:gdLst/>
              <a:ahLst/>
              <a:cxnLst>
                <a:cxn ang="0">
                  <a:pos x="2" y="508"/>
                </a:cxn>
                <a:cxn ang="0">
                  <a:pos x="138" y="76"/>
                </a:cxn>
                <a:cxn ang="0">
                  <a:pos x="834" y="52"/>
                </a:cxn>
                <a:cxn ang="0">
                  <a:pos x="1114" y="388"/>
                </a:cxn>
              </a:cxnLst>
              <a:rect l="0" t="0" r="r" b="b"/>
              <a:pathLst>
                <a:path w="1114" h="508">
                  <a:moveTo>
                    <a:pt x="2" y="508"/>
                  </a:moveTo>
                  <a:cubicBezTo>
                    <a:pt x="26" y="436"/>
                    <a:pt x="0" y="152"/>
                    <a:pt x="138" y="76"/>
                  </a:cubicBezTo>
                  <a:cubicBezTo>
                    <a:pt x="268" y="8"/>
                    <a:pt x="671" y="0"/>
                    <a:pt x="834" y="52"/>
                  </a:cubicBezTo>
                  <a:cubicBezTo>
                    <a:pt x="997" y="104"/>
                    <a:pt x="1056" y="318"/>
                    <a:pt x="1114" y="388"/>
                  </a:cubicBezTo>
                </a:path>
              </a:pathLst>
            </a:custGeom>
            <a:noFill/>
            <a:ln w="38100" cap="flat" cmpd="sng">
              <a:solidFill>
                <a:srgbClr val="FF00FF"/>
              </a:solidFill>
              <a:prstDash val="solid"/>
              <a:round/>
              <a:headEnd type="none" w="med" len="med"/>
              <a:tailEnd type="triangle" w="med" len="med"/>
            </a:ln>
            <a:effectLst/>
          </p:spPr>
          <p:txBody>
            <a:bodyPr wrap="none"/>
            <a:lstStyle/>
            <a:p>
              <a:endParaRPr lang="zh-CN" altLang="en-US">
                <a:latin typeface="Consolas" pitchFamily="49" charset="0"/>
                <a:cs typeface="Consolas" pitchFamily="49" charset="0"/>
              </a:endParaRPr>
            </a:p>
          </p:txBody>
        </p:sp>
        <p:sp>
          <p:nvSpPr>
            <p:cNvPr id="54" name="Text Box 98">
              <a:extLst>
                <a:ext uri="{FF2B5EF4-FFF2-40B4-BE49-F238E27FC236}">
                  <a16:creationId xmlns:a16="http://schemas.microsoft.com/office/drawing/2014/main" id="{43D1F4F7-3087-446E-8521-360725B6DD1A}"/>
                </a:ext>
              </a:extLst>
            </p:cNvPr>
            <p:cNvSpPr txBox="1">
              <a:spLocks noChangeArrowheads="1"/>
            </p:cNvSpPr>
            <p:nvPr/>
          </p:nvSpPr>
          <p:spPr bwMode="auto">
            <a:xfrm>
              <a:off x="2733" y="1146"/>
              <a:ext cx="1905" cy="174"/>
            </a:xfrm>
            <a:prstGeom prst="rect">
              <a:avLst/>
            </a:prstGeom>
            <a:noFill/>
            <a:ln w="38100" algn="ctr">
              <a:noFill/>
              <a:miter lim="800000"/>
              <a:headEnd/>
              <a:tailEnd/>
            </a:ln>
            <a:effectLst/>
          </p:spPr>
          <p:txBody>
            <a:bodyPr lIns="0" tIns="0" rIns="0" bIns="0">
              <a:spAutoFit/>
            </a:bodyPr>
            <a:lstStyle/>
            <a:p>
              <a:pPr>
                <a:spcBef>
                  <a:spcPct val="50000"/>
                </a:spcBef>
              </a:pPr>
              <a:r>
                <a:rPr lang="en-US" altLang="zh-CN" sz="1800" dirty="0" err="1">
                  <a:latin typeface="Consolas" pitchFamily="49" charset="0"/>
                  <a:cs typeface="Consolas" pitchFamily="49" charset="0"/>
                </a:rPr>
                <a:t>maxpre</a:t>
              </a:r>
              <a:r>
                <a:rPr lang="en-US" altLang="zh-CN" sz="1800" dirty="0">
                  <a:latin typeface="Consolas" pitchFamily="49" charset="0"/>
                  <a:ea typeface="+mn-ea"/>
                  <a:cs typeface="Consolas" pitchFamily="49" charset="0"/>
                </a:rPr>
                <a:t>-</a:t>
              </a:r>
              <a:r>
                <a:rPr lang="en-US" altLang="zh-CN" sz="1800" dirty="0">
                  <a:latin typeface="Consolas" pitchFamily="49" charset="0"/>
                  <a:cs typeface="Consolas" pitchFamily="49" charset="0"/>
                </a:rPr>
                <a:t>&gt;next = </a:t>
              </a:r>
              <a:r>
                <a:rPr lang="en-US" altLang="zh-CN" sz="1800" dirty="0" err="1">
                  <a:latin typeface="Consolas" pitchFamily="49" charset="0"/>
                  <a:cs typeface="Consolas" pitchFamily="49" charset="0"/>
                </a:rPr>
                <a:t>maxp</a:t>
              </a:r>
              <a:r>
                <a:rPr lang="en-US" altLang="zh-CN" sz="1800" dirty="0">
                  <a:latin typeface="Consolas" pitchFamily="49" charset="0"/>
                  <a:ea typeface="+mn-ea"/>
                  <a:cs typeface="Consolas" pitchFamily="49" charset="0"/>
                </a:rPr>
                <a:t>-</a:t>
              </a:r>
              <a:r>
                <a:rPr lang="en-US" altLang="zh-CN" sz="1800" dirty="0">
                  <a:latin typeface="Consolas" pitchFamily="49" charset="0"/>
                  <a:cs typeface="Consolas" pitchFamily="49" charset="0"/>
                </a:rPr>
                <a:t>&gt;next</a:t>
              </a:r>
            </a:p>
          </p:txBody>
        </p:sp>
      </p:grpSp>
      <p:grpSp>
        <p:nvGrpSpPr>
          <p:cNvPr id="55" name="组合 70">
            <a:extLst>
              <a:ext uri="{FF2B5EF4-FFF2-40B4-BE49-F238E27FC236}">
                <a16:creationId xmlns:a16="http://schemas.microsoft.com/office/drawing/2014/main" id="{ECC15A6B-A92B-45D2-8880-26CC8DCD6986}"/>
              </a:ext>
            </a:extLst>
          </p:cNvPr>
          <p:cNvGrpSpPr/>
          <p:nvPr/>
        </p:nvGrpSpPr>
        <p:grpSpPr>
          <a:xfrm>
            <a:off x="1141637" y="3977150"/>
            <a:ext cx="1785950" cy="1621877"/>
            <a:chOff x="1000100" y="3319463"/>
            <a:chExt cx="1785950" cy="1621877"/>
          </a:xfrm>
        </p:grpSpPr>
        <p:sp>
          <p:nvSpPr>
            <p:cNvPr id="56" name="Line 92">
              <a:extLst>
                <a:ext uri="{FF2B5EF4-FFF2-40B4-BE49-F238E27FC236}">
                  <a16:creationId xmlns:a16="http://schemas.microsoft.com/office/drawing/2014/main" id="{B9207D54-C86C-4E8A-A3D0-33847AA69DC9}"/>
                </a:ext>
              </a:extLst>
            </p:cNvPr>
            <p:cNvSpPr>
              <a:spLocks noChangeShapeType="1"/>
            </p:cNvSpPr>
            <p:nvPr/>
          </p:nvSpPr>
          <p:spPr bwMode="auto">
            <a:xfrm flipV="1">
              <a:off x="2554288" y="3319463"/>
              <a:ext cx="0" cy="576263"/>
            </a:xfrm>
            <a:prstGeom prst="line">
              <a:avLst/>
            </a:prstGeom>
            <a:noFill/>
            <a:ln w="28575">
              <a:solidFill>
                <a:srgbClr val="FF3300"/>
              </a:solidFill>
              <a:miter lim="800000"/>
              <a:headEnd/>
              <a:tailEnd type="triangle" w="med" len="med"/>
            </a:ln>
            <a:effectLst/>
          </p:spPr>
          <p:txBody>
            <a:bodyPr wrap="none"/>
            <a:lstStyle/>
            <a:p>
              <a:endParaRPr lang="zh-CN" altLang="en-US">
                <a:latin typeface="Consolas" pitchFamily="49" charset="0"/>
                <a:cs typeface="Consolas" pitchFamily="49" charset="0"/>
              </a:endParaRPr>
            </a:p>
          </p:txBody>
        </p:sp>
        <p:sp>
          <p:nvSpPr>
            <p:cNvPr id="57" name="Text Box 93">
              <a:extLst>
                <a:ext uri="{FF2B5EF4-FFF2-40B4-BE49-F238E27FC236}">
                  <a16:creationId xmlns:a16="http://schemas.microsoft.com/office/drawing/2014/main" id="{4D320059-A285-41FD-80E7-340FB1F451FF}"/>
                </a:ext>
              </a:extLst>
            </p:cNvPr>
            <p:cNvSpPr txBox="1">
              <a:spLocks noChangeArrowheads="1"/>
            </p:cNvSpPr>
            <p:nvPr/>
          </p:nvSpPr>
          <p:spPr bwMode="auto">
            <a:xfrm>
              <a:off x="2409825" y="3824288"/>
              <a:ext cx="361950" cy="396875"/>
            </a:xfrm>
            <a:prstGeom prst="rect">
              <a:avLst/>
            </a:prstGeom>
            <a:noFill/>
            <a:ln w="9525">
              <a:noFill/>
              <a:miter lim="800000"/>
              <a:headEnd/>
              <a:tailEnd/>
            </a:ln>
            <a:effectLst/>
          </p:spPr>
          <p:txBody>
            <a:bodyPr>
              <a:spAutoFit/>
            </a:bodyPr>
            <a:lstStyle/>
            <a:p>
              <a:pPr algn="l">
                <a:spcBef>
                  <a:spcPct val="50000"/>
                </a:spcBef>
              </a:pPr>
              <a:r>
                <a:rPr lang="en-US" altLang="zh-CN" sz="2000" dirty="0">
                  <a:latin typeface="Consolas" pitchFamily="49" charset="0"/>
                  <a:cs typeface="Consolas" pitchFamily="49" charset="0"/>
                </a:rPr>
                <a:t>p</a:t>
              </a:r>
            </a:p>
          </p:txBody>
        </p:sp>
        <p:sp>
          <p:nvSpPr>
            <p:cNvPr id="58" name="Line 94">
              <a:extLst>
                <a:ext uri="{FF2B5EF4-FFF2-40B4-BE49-F238E27FC236}">
                  <a16:creationId xmlns:a16="http://schemas.microsoft.com/office/drawing/2014/main" id="{8D8E2A1B-6949-4DC2-B1B0-8FED30E20BD3}"/>
                </a:ext>
              </a:extLst>
            </p:cNvPr>
            <p:cNvSpPr>
              <a:spLocks noChangeShapeType="1"/>
            </p:cNvSpPr>
            <p:nvPr/>
          </p:nvSpPr>
          <p:spPr bwMode="auto">
            <a:xfrm flipV="1">
              <a:off x="1258888" y="3319463"/>
              <a:ext cx="0" cy="576263"/>
            </a:xfrm>
            <a:prstGeom prst="line">
              <a:avLst/>
            </a:prstGeom>
            <a:noFill/>
            <a:ln w="28575">
              <a:solidFill>
                <a:srgbClr val="FF3300"/>
              </a:solidFill>
              <a:miter lim="800000"/>
              <a:headEnd/>
              <a:tailEnd type="triangle" w="med" len="med"/>
            </a:ln>
            <a:effectLst/>
          </p:spPr>
          <p:txBody>
            <a:bodyPr wrap="none"/>
            <a:lstStyle/>
            <a:p>
              <a:endParaRPr lang="zh-CN" altLang="en-US">
                <a:latin typeface="Consolas" pitchFamily="49" charset="0"/>
                <a:cs typeface="Consolas" pitchFamily="49" charset="0"/>
              </a:endParaRPr>
            </a:p>
          </p:txBody>
        </p:sp>
        <p:sp>
          <p:nvSpPr>
            <p:cNvPr id="59" name="Text Box 95">
              <a:extLst>
                <a:ext uri="{FF2B5EF4-FFF2-40B4-BE49-F238E27FC236}">
                  <a16:creationId xmlns:a16="http://schemas.microsoft.com/office/drawing/2014/main" id="{A6A52AAB-BEF1-4421-9DFF-E31BABE839E2}"/>
                </a:ext>
              </a:extLst>
            </p:cNvPr>
            <p:cNvSpPr txBox="1">
              <a:spLocks noChangeArrowheads="1"/>
            </p:cNvSpPr>
            <p:nvPr/>
          </p:nvSpPr>
          <p:spPr bwMode="auto">
            <a:xfrm>
              <a:off x="1004888" y="3824288"/>
              <a:ext cx="649287" cy="396875"/>
            </a:xfrm>
            <a:prstGeom prst="rect">
              <a:avLst/>
            </a:prstGeom>
            <a:noFill/>
            <a:ln w="9525">
              <a:noFill/>
              <a:miter lim="800000"/>
              <a:headEnd/>
              <a:tailEnd/>
            </a:ln>
            <a:effectLst/>
          </p:spPr>
          <p:txBody>
            <a:bodyPr>
              <a:spAutoFit/>
            </a:bodyPr>
            <a:lstStyle/>
            <a:p>
              <a:pPr algn="l">
                <a:spcBef>
                  <a:spcPct val="50000"/>
                </a:spcBef>
              </a:pPr>
              <a:r>
                <a:rPr lang="en-US" altLang="zh-CN" sz="2000">
                  <a:latin typeface="Consolas" pitchFamily="49" charset="0"/>
                  <a:cs typeface="Consolas" pitchFamily="49" charset="0"/>
                </a:rPr>
                <a:t>pre</a:t>
              </a:r>
            </a:p>
          </p:txBody>
        </p:sp>
        <p:sp>
          <p:nvSpPr>
            <p:cNvPr id="60" name="左大括号 59">
              <a:extLst>
                <a:ext uri="{FF2B5EF4-FFF2-40B4-BE49-F238E27FC236}">
                  <a16:creationId xmlns:a16="http://schemas.microsoft.com/office/drawing/2014/main" id="{5B51A0A7-0349-4FB3-9C5F-A0186894EA97}"/>
                </a:ext>
              </a:extLst>
            </p:cNvPr>
            <p:cNvSpPr/>
            <p:nvPr/>
          </p:nvSpPr>
          <p:spPr>
            <a:xfrm rot="16200000">
              <a:off x="1803075" y="3697595"/>
              <a:ext cx="180000" cy="1357322"/>
            </a:xfrm>
            <a:prstGeom prst="leftBrace">
              <a:avLst/>
            </a:prstGeom>
            <a:ln w="28575">
              <a:solidFill>
                <a:srgbClr val="0000FF"/>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Consolas" pitchFamily="49" charset="0"/>
                <a:cs typeface="Consolas" pitchFamily="49" charset="0"/>
              </a:endParaRPr>
            </a:p>
          </p:txBody>
        </p:sp>
        <p:sp>
          <p:nvSpPr>
            <p:cNvPr id="61" name="TextBox 69">
              <a:extLst>
                <a:ext uri="{FF2B5EF4-FFF2-40B4-BE49-F238E27FC236}">
                  <a16:creationId xmlns:a16="http://schemas.microsoft.com/office/drawing/2014/main" id="{F865E88D-0B7B-4FAF-A685-2EB2809BC3A6}"/>
                </a:ext>
              </a:extLst>
            </p:cNvPr>
            <p:cNvSpPr txBox="1"/>
            <p:nvPr/>
          </p:nvSpPr>
          <p:spPr>
            <a:xfrm>
              <a:off x="1000100" y="4572008"/>
              <a:ext cx="1785950" cy="369332"/>
            </a:xfrm>
            <a:prstGeom prst="rect">
              <a:avLst/>
            </a:prstGeom>
            <a:noFill/>
          </p:spPr>
          <p:txBody>
            <a:bodyPr wrap="square" rtlCol="0">
              <a:spAutoFit/>
            </a:bodyPr>
            <a:lstStyle/>
            <a:p>
              <a:pPr algn="l"/>
              <a:r>
                <a:rPr lang="zh-CN" altLang="en-US" sz="1800" dirty="0">
                  <a:latin typeface="仿宋" pitchFamily="49" charset="-122"/>
                  <a:ea typeface="仿宋" pitchFamily="49" charset="-122"/>
                  <a:cs typeface="Consolas" pitchFamily="49" charset="0"/>
                </a:rPr>
                <a:t>一对同步指针</a:t>
              </a:r>
            </a:p>
          </p:txBody>
        </p:sp>
      </p:grpSp>
      <p:sp>
        <p:nvSpPr>
          <p:cNvPr id="62" name="Line 71">
            <a:extLst>
              <a:ext uri="{FF2B5EF4-FFF2-40B4-BE49-F238E27FC236}">
                <a16:creationId xmlns:a16="http://schemas.microsoft.com/office/drawing/2014/main" id="{6994D53A-21BD-4995-B52A-9146AC83EF2A}"/>
              </a:ext>
            </a:extLst>
          </p:cNvPr>
          <p:cNvSpPr>
            <a:spLocks noChangeShapeType="1"/>
          </p:cNvSpPr>
          <p:nvPr/>
        </p:nvSpPr>
        <p:spPr bwMode="auto">
          <a:xfrm>
            <a:off x="4904663" y="3655219"/>
            <a:ext cx="431800" cy="0"/>
          </a:xfrm>
          <a:prstGeom prst="line">
            <a:avLst/>
          </a:prstGeom>
          <a:ln>
            <a:headEnd/>
            <a:tailEnd type="arrow" w="sm" len="lg"/>
          </a:ln>
        </p:spPr>
        <p:style>
          <a:lnRef idx="2">
            <a:schemeClr val="accent5"/>
          </a:lnRef>
          <a:fillRef idx="0">
            <a:schemeClr val="accent5"/>
          </a:fillRef>
          <a:effectRef idx="1">
            <a:schemeClr val="accent5"/>
          </a:effectRef>
          <a:fontRef idx="minor">
            <a:schemeClr val="tx1"/>
          </a:fontRef>
        </p:style>
        <p:txBody>
          <a:bodyPr/>
          <a:lstStyle/>
          <a:p>
            <a:endParaRPr lang="zh-CN" altLang="en-US">
              <a:latin typeface="Consolas" pitchFamily="49" charset="0"/>
              <a:cs typeface="Consolas" pitchFamily="49" charset="0"/>
            </a:endParaRPr>
          </a:p>
        </p:txBody>
      </p:sp>
      <p:sp>
        <p:nvSpPr>
          <p:cNvPr id="63" name="Line 33">
            <a:extLst>
              <a:ext uri="{FF2B5EF4-FFF2-40B4-BE49-F238E27FC236}">
                <a16:creationId xmlns:a16="http://schemas.microsoft.com/office/drawing/2014/main" id="{83D5C117-6FC5-40FA-ACCB-ED78AA21AB7F}"/>
              </a:ext>
            </a:extLst>
          </p:cNvPr>
          <p:cNvSpPr>
            <a:spLocks noChangeShapeType="1"/>
          </p:cNvSpPr>
          <p:nvPr/>
        </p:nvSpPr>
        <p:spPr bwMode="auto">
          <a:xfrm>
            <a:off x="5909550" y="3663157"/>
            <a:ext cx="557213" cy="0"/>
          </a:xfrm>
          <a:prstGeom prst="line">
            <a:avLst/>
          </a:prstGeom>
          <a:ln>
            <a:headEnd/>
            <a:tailEnd type="arrow" w="sm" len="lg"/>
          </a:ln>
        </p:spPr>
        <p:style>
          <a:lnRef idx="2">
            <a:schemeClr val="accent5"/>
          </a:lnRef>
          <a:fillRef idx="0">
            <a:schemeClr val="accent5"/>
          </a:fillRef>
          <a:effectRef idx="1">
            <a:schemeClr val="accent5"/>
          </a:effectRef>
          <a:fontRef idx="minor">
            <a:schemeClr val="tx1"/>
          </a:fontRef>
        </p:style>
        <p:txBody>
          <a:bodyPr/>
          <a:lstStyle/>
          <a:p>
            <a:endParaRPr lang="zh-CN" altLang="en-US">
              <a:latin typeface="Consolas" pitchFamily="49" charset="0"/>
              <a:cs typeface="Consolas" pitchFamily="49" charset="0"/>
            </a:endParaRPr>
          </a:p>
        </p:txBody>
      </p:sp>
      <p:grpSp>
        <p:nvGrpSpPr>
          <p:cNvPr id="64" name="Group 42">
            <a:extLst>
              <a:ext uri="{FF2B5EF4-FFF2-40B4-BE49-F238E27FC236}">
                <a16:creationId xmlns:a16="http://schemas.microsoft.com/office/drawing/2014/main" id="{EFAE443D-EA12-4E94-820B-24B57DA19257}"/>
              </a:ext>
            </a:extLst>
          </p:cNvPr>
          <p:cNvGrpSpPr>
            <a:grpSpLocks/>
          </p:cNvGrpSpPr>
          <p:nvPr/>
        </p:nvGrpSpPr>
        <p:grpSpPr bwMode="auto">
          <a:xfrm>
            <a:off x="784447" y="3434552"/>
            <a:ext cx="838200" cy="517525"/>
            <a:chOff x="4752" y="2691"/>
            <a:chExt cx="528" cy="326"/>
          </a:xfrm>
        </p:grpSpPr>
        <p:sp>
          <p:nvSpPr>
            <p:cNvPr id="65" name="Rectangle 43">
              <a:extLst>
                <a:ext uri="{FF2B5EF4-FFF2-40B4-BE49-F238E27FC236}">
                  <a16:creationId xmlns:a16="http://schemas.microsoft.com/office/drawing/2014/main" id="{81B85EF6-9AE2-4230-A5E9-C905F0D59AD9}"/>
                </a:ext>
              </a:extLst>
            </p:cNvPr>
            <p:cNvSpPr>
              <a:spLocks noChangeArrowheads="1"/>
            </p:cNvSpPr>
            <p:nvPr/>
          </p:nvSpPr>
          <p:spPr bwMode="auto">
            <a:xfrm>
              <a:off x="4992" y="2691"/>
              <a:ext cx="288" cy="32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a:lstStyle/>
            <a:p>
              <a:pPr algn="l">
                <a:spcBef>
                  <a:spcPct val="20000"/>
                </a:spcBef>
              </a:pPr>
              <a:endParaRPr lang="zh-CN" altLang="zh-CN">
                <a:solidFill>
                  <a:schemeClr val="tx1"/>
                </a:solidFill>
                <a:latin typeface="Consolas" pitchFamily="49" charset="0"/>
                <a:ea typeface="宋体" pitchFamily="2" charset="-122"/>
                <a:cs typeface="Consolas" pitchFamily="49" charset="0"/>
              </a:endParaRPr>
            </a:p>
          </p:txBody>
        </p:sp>
        <p:sp>
          <p:nvSpPr>
            <p:cNvPr id="66" name="Rectangle 44">
              <a:extLst>
                <a:ext uri="{FF2B5EF4-FFF2-40B4-BE49-F238E27FC236}">
                  <a16:creationId xmlns:a16="http://schemas.microsoft.com/office/drawing/2014/main" id="{CBBA3C8E-CE24-47B6-92F9-8920CF1A21D6}"/>
                </a:ext>
              </a:extLst>
            </p:cNvPr>
            <p:cNvSpPr>
              <a:spLocks noChangeArrowheads="1"/>
            </p:cNvSpPr>
            <p:nvPr/>
          </p:nvSpPr>
          <p:spPr bwMode="auto">
            <a:xfrm>
              <a:off x="4752" y="2691"/>
              <a:ext cx="240" cy="32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a:lstStyle/>
            <a:p>
              <a:pPr algn="l">
                <a:spcBef>
                  <a:spcPct val="20000"/>
                </a:spcBef>
              </a:pPr>
              <a:endParaRPr lang="zh-CN" altLang="zh-CN">
                <a:solidFill>
                  <a:schemeClr val="tx1"/>
                </a:solidFill>
                <a:latin typeface="Consolas" pitchFamily="49" charset="0"/>
                <a:ea typeface="宋体" pitchFamily="2" charset="-122"/>
                <a:cs typeface="Consolas" pitchFamily="49" charset="0"/>
              </a:endParaRPr>
            </a:p>
          </p:txBody>
        </p:sp>
        <p:sp>
          <p:nvSpPr>
            <p:cNvPr id="67" name="Line 45">
              <a:extLst>
                <a:ext uri="{FF2B5EF4-FFF2-40B4-BE49-F238E27FC236}">
                  <a16:creationId xmlns:a16="http://schemas.microsoft.com/office/drawing/2014/main" id="{0631617E-CD40-4A4A-BA30-270760EF411F}"/>
                </a:ext>
              </a:extLst>
            </p:cNvPr>
            <p:cNvSpPr>
              <a:spLocks noChangeShapeType="1"/>
            </p:cNvSpPr>
            <p:nvPr/>
          </p:nvSpPr>
          <p:spPr bwMode="auto">
            <a:xfrm>
              <a:off x="4752" y="2691"/>
              <a:ext cx="528" cy="0"/>
            </a:xfrm>
            <a:prstGeom prst="line">
              <a:avLst/>
            </a:prstGeom>
            <a:ln>
              <a:headEnd/>
              <a:tailEnd/>
            </a:ln>
          </p:spPr>
          <p:style>
            <a:lnRef idx="1">
              <a:schemeClr val="accent5"/>
            </a:lnRef>
            <a:fillRef idx="2">
              <a:schemeClr val="accent5"/>
            </a:fillRef>
            <a:effectRef idx="1">
              <a:schemeClr val="accent5"/>
            </a:effectRef>
            <a:fontRef idx="minor">
              <a:schemeClr val="dk1"/>
            </a:fontRef>
          </p:style>
          <p:txBody>
            <a:bodyPr/>
            <a:lstStyle/>
            <a:p>
              <a:endParaRPr lang="zh-CN" altLang="en-US">
                <a:latin typeface="Consolas" pitchFamily="49" charset="0"/>
                <a:cs typeface="Consolas" pitchFamily="49" charset="0"/>
              </a:endParaRPr>
            </a:p>
          </p:txBody>
        </p:sp>
        <p:sp>
          <p:nvSpPr>
            <p:cNvPr id="68" name="Line 46">
              <a:extLst>
                <a:ext uri="{FF2B5EF4-FFF2-40B4-BE49-F238E27FC236}">
                  <a16:creationId xmlns:a16="http://schemas.microsoft.com/office/drawing/2014/main" id="{D853DEE1-E756-4D80-BC06-E44DCB9D6886}"/>
                </a:ext>
              </a:extLst>
            </p:cNvPr>
            <p:cNvSpPr>
              <a:spLocks noChangeShapeType="1"/>
            </p:cNvSpPr>
            <p:nvPr/>
          </p:nvSpPr>
          <p:spPr bwMode="auto">
            <a:xfrm>
              <a:off x="4752" y="3017"/>
              <a:ext cx="528" cy="0"/>
            </a:xfrm>
            <a:prstGeom prst="line">
              <a:avLst/>
            </a:prstGeom>
            <a:ln>
              <a:headEnd/>
              <a:tailEnd/>
            </a:ln>
          </p:spPr>
          <p:style>
            <a:lnRef idx="1">
              <a:schemeClr val="accent5"/>
            </a:lnRef>
            <a:fillRef idx="2">
              <a:schemeClr val="accent5"/>
            </a:fillRef>
            <a:effectRef idx="1">
              <a:schemeClr val="accent5"/>
            </a:effectRef>
            <a:fontRef idx="minor">
              <a:schemeClr val="dk1"/>
            </a:fontRef>
          </p:style>
          <p:txBody>
            <a:bodyPr/>
            <a:lstStyle/>
            <a:p>
              <a:endParaRPr lang="zh-CN" altLang="en-US">
                <a:latin typeface="Consolas" pitchFamily="49" charset="0"/>
                <a:cs typeface="Consolas" pitchFamily="49" charset="0"/>
              </a:endParaRPr>
            </a:p>
          </p:txBody>
        </p:sp>
        <p:sp>
          <p:nvSpPr>
            <p:cNvPr id="69" name="Line 47">
              <a:extLst>
                <a:ext uri="{FF2B5EF4-FFF2-40B4-BE49-F238E27FC236}">
                  <a16:creationId xmlns:a16="http://schemas.microsoft.com/office/drawing/2014/main" id="{50A7F2FD-D290-4DEB-AE4B-6ACDD828A8A5}"/>
                </a:ext>
              </a:extLst>
            </p:cNvPr>
            <p:cNvSpPr>
              <a:spLocks noChangeShapeType="1"/>
            </p:cNvSpPr>
            <p:nvPr/>
          </p:nvSpPr>
          <p:spPr bwMode="auto">
            <a:xfrm>
              <a:off x="4752" y="2691"/>
              <a:ext cx="0" cy="326"/>
            </a:xfrm>
            <a:prstGeom prst="line">
              <a:avLst/>
            </a:prstGeom>
            <a:ln>
              <a:headEnd/>
              <a:tailEnd/>
            </a:ln>
          </p:spPr>
          <p:style>
            <a:lnRef idx="1">
              <a:schemeClr val="accent5"/>
            </a:lnRef>
            <a:fillRef idx="2">
              <a:schemeClr val="accent5"/>
            </a:fillRef>
            <a:effectRef idx="1">
              <a:schemeClr val="accent5"/>
            </a:effectRef>
            <a:fontRef idx="minor">
              <a:schemeClr val="dk1"/>
            </a:fontRef>
          </p:style>
          <p:txBody>
            <a:bodyPr/>
            <a:lstStyle/>
            <a:p>
              <a:endParaRPr lang="zh-CN" altLang="en-US">
                <a:latin typeface="Consolas" pitchFamily="49" charset="0"/>
                <a:cs typeface="Consolas" pitchFamily="49" charset="0"/>
              </a:endParaRPr>
            </a:p>
          </p:txBody>
        </p:sp>
        <p:sp>
          <p:nvSpPr>
            <p:cNvPr id="70" name="Line 48">
              <a:extLst>
                <a:ext uri="{FF2B5EF4-FFF2-40B4-BE49-F238E27FC236}">
                  <a16:creationId xmlns:a16="http://schemas.microsoft.com/office/drawing/2014/main" id="{2A2D5173-6C3B-439E-B782-E2221594BC94}"/>
                </a:ext>
              </a:extLst>
            </p:cNvPr>
            <p:cNvSpPr>
              <a:spLocks noChangeShapeType="1"/>
            </p:cNvSpPr>
            <p:nvPr/>
          </p:nvSpPr>
          <p:spPr bwMode="auto">
            <a:xfrm>
              <a:off x="4992" y="2691"/>
              <a:ext cx="0" cy="326"/>
            </a:xfrm>
            <a:prstGeom prst="line">
              <a:avLst/>
            </a:prstGeom>
            <a:ln>
              <a:headEnd/>
              <a:tailEnd/>
            </a:ln>
          </p:spPr>
          <p:style>
            <a:lnRef idx="1">
              <a:schemeClr val="accent5"/>
            </a:lnRef>
            <a:fillRef idx="2">
              <a:schemeClr val="accent5"/>
            </a:fillRef>
            <a:effectRef idx="1">
              <a:schemeClr val="accent5"/>
            </a:effectRef>
            <a:fontRef idx="minor">
              <a:schemeClr val="dk1"/>
            </a:fontRef>
          </p:style>
          <p:txBody>
            <a:bodyPr/>
            <a:lstStyle/>
            <a:p>
              <a:endParaRPr lang="zh-CN" altLang="en-US">
                <a:latin typeface="Consolas" pitchFamily="49" charset="0"/>
                <a:cs typeface="Consolas" pitchFamily="49" charset="0"/>
              </a:endParaRPr>
            </a:p>
          </p:txBody>
        </p:sp>
        <p:sp>
          <p:nvSpPr>
            <p:cNvPr id="71" name="Line 49">
              <a:extLst>
                <a:ext uri="{FF2B5EF4-FFF2-40B4-BE49-F238E27FC236}">
                  <a16:creationId xmlns:a16="http://schemas.microsoft.com/office/drawing/2014/main" id="{090334EB-AF4B-4540-A4DD-EB4F5317D929}"/>
                </a:ext>
              </a:extLst>
            </p:cNvPr>
            <p:cNvSpPr>
              <a:spLocks noChangeShapeType="1"/>
            </p:cNvSpPr>
            <p:nvPr/>
          </p:nvSpPr>
          <p:spPr bwMode="auto">
            <a:xfrm>
              <a:off x="5280" y="2691"/>
              <a:ext cx="0" cy="326"/>
            </a:xfrm>
            <a:prstGeom prst="line">
              <a:avLst/>
            </a:prstGeom>
            <a:ln>
              <a:headEnd/>
              <a:tailEnd/>
            </a:ln>
          </p:spPr>
          <p:style>
            <a:lnRef idx="1">
              <a:schemeClr val="accent5"/>
            </a:lnRef>
            <a:fillRef idx="2">
              <a:schemeClr val="accent5"/>
            </a:fillRef>
            <a:effectRef idx="1">
              <a:schemeClr val="accent5"/>
            </a:effectRef>
            <a:fontRef idx="minor">
              <a:schemeClr val="dk1"/>
            </a:fontRef>
          </p:style>
          <p:txBody>
            <a:bodyPr/>
            <a:lstStyle/>
            <a:p>
              <a:endParaRPr lang="zh-CN" altLang="en-US">
                <a:latin typeface="Consolas" pitchFamily="49" charset="0"/>
                <a:cs typeface="Consolas" pitchFamily="49" charset="0"/>
              </a:endParaRPr>
            </a:p>
          </p:txBody>
        </p:sp>
      </p:grpSp>
      <p:sp>
        <p:nvSpPr>
          <p:cNvPr id="72" name="Line 32">
            <a:extLst>
              <a:ext uri="{FF2B5EF4-FFF2-40B4-BE49-F238E27FC236}">
                <a16:creationId xmlns:a16="http://schemas.microsoft.com/office/drawing/2014/main" id="{69134135-0D52-4B3B-83B8-8244AD02C919}"/>
              </a:ext>
            </a:extLst>
          </p:cNvPr>
          <p:cNvSpPr>
            <a:spLocks noChangeShapeType="1"/>
          </p:cNvSpPr>
          <p:nvPr/>
        </p:nvSpPr>
        <p:spPr bwMode="auto">
          <a:xfrm>
            <a:off x="1484561" y="3667919"/>
            <a:ext cx="557212" cy="0"/>
          </a:xfrm>
          <a:prstGeom prst="line">
            <a:avLst/>
          </a:prstGeom>
          <a:ln>
            <a:headEnd/>
            <a:tailEnd type="arrow" w="sm" len="lg"/>
          </a:ln>
        </p:spPr>
        <p:style>
          <a:lnRef idx="2">
            <a:schemeClr val="accent5"/>
          </a:lnRef>
          <a:fillRef idx="0">
            <a:schemeClr val="accent5"/>
          </a:fillRef>
          <a:effectRef idx="1">
            <a:schemeClr val="accent5"/>
          </a:effectRef>
          <a:fontRef idx="minor">
            <a:schemeClr val="tx1"/>
          </a:fontRef>
        </p:style>
        <p:txBody>
          <a:bodyPr/>
          <a:lstStyle/>
          <a:p>
            <a:endParaRPr lang="zh-CN" altLang="en-US">
              <a:latin typeface="Consolas" pitchFamily="49" charset="0"/>
              <a:cs typeface="Consolas" pitchFamily="49" charset="0"/>
            </a:endParaRPr>
          </a:p>
        </p:txBody>
      </p:sp>
    </p:spTree>
    <p:extLst>
      <p:ext uri="{BB962C8B-B14F-4D97-AF65-F5344CB8AC3E}">
        <p14:creationId xmlns:p14="http://schemas.microsoft.com/office/powerpoint/2010/main" val="101169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childTnLst>
                          </p:cTn>
                        </p:par>
                        <p:par>
                          <p:cTn id="7" fill="hold">
                            <p:stCondLst>
                              <p:cond delay="0"/>
                            </p:stCondLst>
                            <p:childTnLst>
                              <p:par>
                                <p:cTn id="8" presetID="63" presetClass="path" presetSubtype="0" accel="50000" decel="50000" fill="hold" nodeType="afterEffect">
                                  <p:stCondLst>
                                    <p:cond delay="0"/>
                                  </p:stCondLst>
                                  <p:childTnLst>
                                    <p:animMotion origin="layout" path="M 3.05556E-6 1.85185E-6 L 0.65208 0.00069 " pathEditMode="relative" rAng="0" ptsTypes="AA">
                                      <p:cBhvr>
                                        <p:cTn id="9" dur="2000" fill="hold"/>
                                        <p:tgtEl>
                                          <p:spTgt spid="55"/>
                                        </p:tgtEl>
                                        <p:attrNameLst>
                                          <p:attrName>ppt_x</p:attrName>
                                          <p:attrName>ppt_y</p:attrName>
                                        </p:attrNameLst>
                                      </p:cBhvr>
                                      <p:rCtr x="326" y="0"/>
                                    </p:animMotion>
                                  </p:childTnLst>
                                </p:cTn>
                              </p:par>
                            </p:childTnLst>
                          </p:cTn>
                        </p:par>
                      </p:childTnLst>
                    </p:cTn>
                  </p:par>
                  <p:par>
                    <p:cTn id="10" fill="hold">
                      <p:stCondLst>
                        <p:cond delay="indefinite"/>
                      </p:stCondLst>
                      <p:childTnLst>
                        <p:par>
                          <p:cTn id="11" fill="hold">
                            <p:stCondLst>
                              <p:cond delay="0"/>
                            </p:stCondLst>
                            <p:childTnLst>
                              <p:par>
                                <p:cTn id="12" presetID="22" presetClass="exit" presetSubtype="4" fill="hold" nodeType="clickEffect">
                                  <p:stCondLst>
                                    <p:cond delay="0"/>
                                  </p:stCondLst>
                                  <p:childTnLst>
                                    <p:animEffect transition="out" filter="wipe(down)">
                                      <p:cBhvr>
                                        <p:cTn id="13" dur="500"/>
                                        <p:tgtEl>
                                          <p:spTgt spid="55"/>
                                        </p:tgtEl>
                                      </p:cBhvr>
                                    </p:animEffect>
                                    <p:set>
                                      <p:cBhvr>
                                        <p:cTn id="14" dur="1" fill="hold">
                                          <p:stCondLst>
                                            <p:cond delay="499"/>
                                          </p:stCondLst>
                                        </p:cTn>
                                        <p:tgtEl>
                                          <p:spTgt spid="55"/>
                                        </p:tgtEl>
                                        <p:attrNameLst>
                                          <p:attrName>style.visibility</p:attrName>
                                        </p:attrNameLst>
                                      </p:cBhvr>
                                      <p:to>
                                        <p:strVal val="hidden"/>
                                      </p:to>
                                    </p:set>
                                  </p:childTnLst>
                                </p:cTn>
                              </p:par>
                            </p:childTnLst>
                          </p:cTn>
                        </p:par>
                        <p:par>
                          <p:cTn id="15" fill="hold">
                            <p:stCondLst>
                              <p:cond delay="500"/>
                            </p:stCondLst>
                            <p:childTnLst>
                              <p:par>
                                <p:cTn id="16" presetID="1" presetClass="entr" presetSubtype="0" fill="hold" nodeType="afterEffect">
                                  <p:stCondLst>
                                    <p:cond delay="0"/>
                                  </p:stCondLst>
                                  <p:childTnLst>
                                    <p:set>
                                      <p:cBhvr>
                                        <p:cTn id="17" dur="1" fill="hold">
                                          <p:stCondLst>
                                            <p:cond delay="0"/>
                                          </p:stCondLst>
                                        </p:cTn>
                                        <p:tgtEl>
                                          <p:spTgt spid="45"/>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a:extLst>
              <a:ext uri="{FF2B5EF4-FFF2-40B4-BE49-F238E27FC236}">
                <a16:creationId xmlns:a16="http://schemas.microsoft.com/office/drawing/2014/main" id="{7C8B2284-DEBA-457D-A44A-F8AD9B03DBD4}"/>
              </a:ext>
            </a:extLst>
          </p:cNvPr>
          <p:cNvPicPr>
            <a:picLocks noChangeAspect="1"/>
          </p:cNvPicPr>
          <p:nvPr/>
        </p:nvPicPr>
        <p:blipFill>
          <a:blip r:embed="rId2"/>
          <a:stretch>
            <a:fillRect/>
          </a:stretch>
        </p:blipFill>
        <p:spPr>
          <a:xfrm>
            <a:off x="827584" y="980728"/>
            <a:ext cx="7704856" cy="5272029"/>
          </a:xfrm>
          <a:prstGeom prst="rect">
            <a:avLst/>
          </a:prstGeom>
        </p:spPr>
      </p:pic>
    </p:spTree>
    <p:extLst>
      <p:ext uri="{BB962C8B-B14F-4D97-AF65-F5344CB8AC3E}">
        <p14:creationId xmlns:p14="http://schemas.microsoft.com/office/powerpoint/2010/main" val="22176648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60" y="1196752"/>
            <a:ext cx="8136904" cy="4752528"/>
          </a:xfrm>
        </p:spPr>
        <p:txBody>
          <a:bodyPr>
            <a:normAutofit fontScale="92500"/>
          </a:bodyPr>
          <a:lstStyle/>
          <a:p>
            <a:pPr algn="just"/>
            <a:r>
              <a:rPr lang="zh-CN" altLang="zh-CN" dirty="0"/>
              <a:t>5．</a:t>
            </a:r>
            <a:r>
              <a:rPr lang="zh-CN" altLang="zh-CN" dirty="0">
                <a:solidFill>
                  <a:srgbClr val="FF0000"/>
                </a:solidFill>
              </a:rPr>
              <a:t>单链表的改进方法</a:t>
            </a:r>
          </a:p>
          <a:p>
            <a:pPr algn="just"/>
            <a:r>
              <a:rPr lang="zh-CN" altLang="zh-CN" b="0" dirty="0"/>
              <a:t>（1）空闲链（</a:t>
            </a:r>
            <a:r>
              <a:rPr lang="en-US" altLang="zh-CN" b="0" dirty="0" err="1"/>
              <a:t>Freelists</a:t>
            </a:r>
            <a:r>
              <a:rPr lang="zh-CN" altLang="zh-CN" b="0" dirty="0"/>
              <a:t>），设立一个空闲链管理空闲的结点空间。</a:t>
            </a:r>
          </a:p>
          <a:p>
            <a:pPr algn="just"/>
            <a:r>
              <a:rPr lang="zh-CN" altLang="zh-CN" b="0" dirty="0"/>
              <a:t>（2）静态链表（Static Linked List），利用一组地址连续的内存空间来描述线性链表，是顺序表和链表两者的结合，把数组元素作为存储结点，数组元素包含数值域data和游标指示器cur。游标定义为整型，指示结点在数组中的相对位置。</a:t>
            </a:r>
            <a:endParaRPr lang="en-US" altLang="zh-CN" b="0" dirty="0"/>
          </a:p>
          <a:p>
            <a:pPr algn="just"/>
            <a:r>
              <a:rPr lang="en-US" altLang="zh-CN" b="0" dirty="0"/>
              <a:t>	</a:t>
            </a:r>
            <a:r>
              <a:rPr lang="zh-CN" altLang="zh-CN" b="0" dirty="0"/>
              <a:t>在静态链表中，与单链表中要通过修改指针实现插入与删除操作不同的是</a:t>
            </a:r>
            <a:r>
              <a:rPr lang="zh-CN" altLang="en-US" b="0" dirty="0"/>
              <a:t>，</a:t>
            </a:r>
            <a:r>
              <a:rPr lang="zh-CN" altLang="zh-CN" b="0" dirty="0"/>
              <a:t>插入与删除元素的算法为修改游标</a:t>
            </a:r>
            <a:r>
              <a:rPr lang="zh-CN" altLang="en-US" b="0" dirty="0"/>
              <a:t>。</a:t>
            </a:r>
            <a:r>
              <a:rPr lang="en-US" altLang="zh-CN" b="0" dirty="0"/>
              <a:t>new</a:t>
            </a:r>
            <a:r>
              <a:rPr lang="zh-CN" altLang="zh-CN" b="0" dirty="0"/>
              <a:t>和</a:t>
            </a:r>
            <a:r>
              <a:rPr lang="en-US" altLang="zh-CN" b="0" dirty="0"/>
              <a:t>delete</a:t>
            </a:r>
            <a:r>
              <a:rPr lang="zh-CN" altLang="zh-CN" b="0" dirty="0"/>
              <a:t>两个函数使用的是静态链表本身的已声明的空间，即静态链表中未使用的部分，静态链表的这个部分称为“</a:t>
            </a:r>
            <a:r>
              <a:rPr lang="zh-CN" altLang="zh-CN" b="0" dirty="0">
                <a:solidFill>
                  <a:srgbClr val="FF0000"/>
                </a:solidFill>
              </a:rPr>
              <a:t>备用链表</a:t>
            </a:r>
            <a:r>
              <a:rPr lang="zh-CN" altLang="zh-CN" b="0" dirty="0"/>
              <a:t>”。</a:t>
            </a:r>
          </a:p>
          <a:p>
            <a:endParaRPr lang="zh-CN" altLang="en-US" b="0" dirty="0"/>
          </a:p>
        </p:txBody>
      </p:sp>
    </p:spTree>
    <p:extLst>
      <p:ext uri="{BB962C8B-B14F-4D97-AF65-F5344CB8AC3E}">
        <p14:creationId xmlns:p14="http://schemas.microsoft.com/office/powerpoint/2010/main" val="151076447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268760"/>
            <a:ext cx="8136904" cy="3579849"/>
          </a:xfrm>
        </p:spPr>
        <p:txBody>
          <a:bodyPr/>
          <a:lstStyle/>
          <a:p>
            <a:r>
              <a:rPr lang="zh-CN" altLang="zh-CN" dirty="0">
                <a:solidFill>
                  <a:srgbClr val="FF0000"/>
                </a:solidFill>
              </a:rPr>
              <a:t>静态链表的方法</a:t>
            </a:r>
            <a:r>
              <a:rPr lang="zh-CN" altLang="zh-CN" dirty="0"/>
              <a:t>：</a:t>
            </a:r>
            <a:endParaRPr lang="en-US" altLang="zh-CN" dirty="0"/>
          </a:p>
          <a:p>
            <a:r>
              <a:rPr lang="zh-CN" altLang="zh-CN" b="0" dirty="0"/>
              <a:t>（1）结点空间必须预先分配；</a:t>
            </a:r>
            <a:endParaRPr lang="en-US" altLang="zh-CN" b="0" dirty="0"/>
          </a:p>
          <a:p>
            <a:r>
              <a:rPr lang="zh-CN" altLang="zh-CN" b="0" dirty="0"/>
              <a:t>（</a:t>
            </a:r>
            <a:r>
              <a:rPr lang="en-US" altLang="zh-CN" b="0" dirty="0"/>
              <a:t>2</a:t>
            </a:r>
            <a:r>
              <a:rPr lang="zh-CN" altLang="zh-CN" b="0" dirty="0"/>
              <a:t>）元素之间的位置变化反映在表示关系的</a:t>
            </a:r>
            <a:r>
              <a:rPr lang="zh-CN" altLang="zh-CN" b="0" dirty="0">
                <a:solidFill>
                  <a:srgbClr val="FF0000"/>
                </a:solidFill>
              </a:rPr>
              <a:t>游标值</a:t>
            </a:r>
            <a:r>
              <a:rPr lang="zh-CN" altLang="zh-CN" b="0" dirty="0"/>
              <a:t>的变化。</a:t>
            </a:r>
            <a:endParaRPr lang="en-US" altLang="zh-CN" b="0" dirty="0"/>
          </a:p>
          <a:p>
            <a:r>
              <a:rPr lang="en-US" altLang="zh-CN" b="0" dirty="0"/>
              <a:t>		next</a:t>
            </a:r>
            <a:r>
              <a:rPr lang="zh-CN" altLang="zh-CN" b="0" dirty="0"/>
              <a:t>指针是数组中元素的</a:t>
            </a:r>
            <a:r>
              <a:rPr lang="zh-CN" altLang="en-US" b="0" dirty="0"/>
              <a:t>下标</a:t>
            </a:r>
            <a:r>
              <a:rPr lang="zh-CN" altLang="zh-CN" b="0" dirty="0"/>
              <a:t>索引号</a:t>
            </a:r>
            <a:r>
              <a:rPr lang="zh-CN" altLang="en-US" b="0" dirty="0"/>
              <a:t>；</a:t>
            </a:r>
            <a:endParaRPr lang="en-US" altLang="zh-CN" b="0" dirty="0"/>
          </a:p>
          <a:p>
            <a:r>
              <a:rPr lang="zh-CN" altLang="zh-CN" b="0" dirty="0"/>
              <a:t>（</a:t>
            </a:r>
            <a:r>
              <a:rPr lang="en-US" altLang="zh-CN" b="0" dirty="0"/>
              <a:t>3</a:t>
            </a:r>
            <a:r>
              <a:rPr lang="zh-CN" altLang="zh-CN" b="0" dirty="0"/>
              <a:t>）要同时管理已建立的</a:t>
            </a:r>
            <a:r>
              <a:rPr lang="zh-CN" altLang="zh-CN" b="0" dirty="0">
                <a:solidFill>
                  <a:srgbClr val="FF0000"/>
                </a:solidFill>
              </a:rPr>
              <a:t>链表和空闲链</a:t>
            </a:r>
            <a:r>
              <a:rPr lang="zh-CN" altLang="zh-CN" b="0" dirty="0"/>
              <a:t>。</a:t>
            </a:r>
          </a:p>
          <a:p>
            <a:endParaRPr lang="zh-CN" altLang="en-US" dirty="0"/>
          </a:p>
        </p:txBody>
      </p:sp>
    </p:spTree>
    <p:extLst>
      <p:ext uri="{BB962C8B-B14F-4D97-AF65-F5344CB8AC3E}">
        <p14:creationId xmlns:p14="http://schemas.microsoft.com/office/powerpoint/2010/main" val="165316615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55776" y="980728"/>
            <a:ext cx="5832648" cy="4968552"/>
          </a:xfrm>
        </p:spPr>
        <p:txBody>
          <a:bodyPr>
            <a:normAutofit/>
          </a:bodyPr>
          <a:lstStyle/>
          <a:p>
            <a:pPr>
              <a:lnSpc>
                <a:spcPct val="140000"/>
              </a:lnSpc>
            </a:pPr>
            <a:r>
              <a:rPr lang="zh-CN" altLang="zh-CN" b="0" dirty="0"/>
              <a:t>例：有一组连续的内存空间，用</a:t>
            </a:r>
            <a:r>
              <a:rPr lang="en-US" altLang="zh-CN" b="0" dirty="0"/>
              <a:t>Array[0..10]</a:t>
            </a:r>
            <a:r>
              <a:rPr lang="zh-CN" altLang="zh-CN" b="0" dirty="0"/>
              <a:t>来表示。</a:t>
            </a:r>
            <a:endParaRPr lang="en-US" altLang="zh-CN" b="0" dirty="0"/>
          </a:p>
          <a:p>
            <a:pPr>
              <a:lnSpc>
                <a:spcPct val="140000"/>
              </a:lnSpc>
            </a:pPr>
            <a:r>
              <a:rPr lang="zh-CN" altLang="zh-CN" b="0" dirty="0"/>
              <a:t>①</a:t>
            </a:r>
            <a:r>
              <a:rPr lang="en-US" altLang="zh-CN" b="0" dirty="0">
                <a:solidFill>
                  <a:srgbClr val="FF0000"/>
                </a:solidFill>
              </a:rPr>
              <a:t>Array[0]</a:t>
            </a:r>
            <a:r>
              <a:rPr lang="zh-CN" altLang="zh-CN" b="0" dirty="0">
                <a:solidFill>
                  <a:srgbClr val="FF0000"/>
                </a:solidFill>
              </a:rPr>
              <a:t>为头结点</a:t>
            </a:r>
            <a:r>
              <a:rPr lang="zh-CN" altLang="zh-CN" b="0" dirty="0"/>
              <a:t>，其游标指示器指示空闲链的第一个结点，游标值为7，</a:t>
            </a:r>
            <a:endParaRPr lang="en-US" altLang="zh-CN" b="0" dirty="0"/>
          </a:p>
          <a:p>
            <a:pPr>
              <a:lnSpc>
                <a:spcPct val="140000"/>
              </a:lnSpc>
            </a:pPr>
            <a:r>
              <a:rPr lang="en-US" altLang="zh-CN" b="0" dirty="0">
                <a:solidFill>
                  <a:srgbClr val="FF0000"/>
                </a:solidFill>
              </a:rPr>
              <a:t>    Array[1]</a:t>
            </a:r>
            <a:r>
              <a:rPr lang="zh-CN" altLang="zh-CN" b="0" dirty="0"/>
              <a:t>为已建立的线性链表的头结点，</a:t>
            </a:r>
            <a:r>
              <a:rPr lang="en-US" altLang="zh-CN" b="0" dirty="0"/>
              <a:t>Array[2..6]</a:t>
            </a:r>
            <a:r>
              <a:rPr lang="zh-CN" altLang="zh-CN" b="0" dirty="0"/>
              <a:t>分放了</a:t>
            </a:r>
            <a:r>
              <a:rPr lang="en-US" altLang="zh-CN" b="0" dirty="0"/>
              <a:t>5</a:t>
            </a:r>
            <a:r>
              <a:rPr lang="zh-CN" altLang="zh-CN" b="0" dirty="0"/>
              <a:t>个数据元素，如图</a:t>
            </a:r>
            <a:r>
              <a:rPr lang="en-US" altLang="zh-CN" b="0" dirty="0"/>
              <a:t>(a)</a:t>
            </a:r>
            <a:r>
              <a:rPr lang="zh-CN" altLang="zh-CN" b="0" dirty="0"/>
              <a:t>所示。</a:t>
            </a:r>
            <a:endParaRPr lang="en-US" altLang="zh-CN" b="0" dirty="0"/>
          </a:p>
          <a:p>
            <a:pPr>
              <a:lnSpc>
                <a:spcPct val="140000"/>
              </a:lnSpc>
            </a:pPr>
            <a:r>
              <a:rPr lang="en-US" altLang="zh-CN" b="0" dirty="0"/>
              <a:t>	</a:t>
            </a:r>
            <a:endParaRPr lang="zh-CN" altLang="en-US" b="0" dirty="0"/>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552" y="836712"/>
            <a:ext cx="1684166" cy="4831499"/>
          </a:xfrm>
          <a:prstGeom prst="rect">
            <a:avLst/>
          </a:prstGeom>
        </p:spPr>
      </p:pic>
    </p:spTree>
    <p:extLst>
      <p:ext uri="{BB962C8B-B14F-4D97-AF65-F5344CB8AC3E}">
        <p14:creationId xmlns:p14="http://schemas.microsoft.com/office/powerpoint/2010/main" val="51159593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91670" y="1412776"/>
            <a:ext cx="4940570" cy="3384376"/>
          </a:xfrm>
        </p:spPr>
        <p:txBody>
          <a:bodyPr>
            <a:normAutofit/>
          </a:bodyPr>
          <a:lstStyle/>
          <a:p>
            <a:pPr>
              <a:lnSpc>
                <a:spcPct val="140000"/>
              </a:lnSpc>
            </a:pPr>
            <a:r>
              <a:rPr lang="en-US" altLang="zh-CN" b="0" dirty="0"/>
              <a:t>	</a:t>
            </a:r>
            <a:r>
              <a:rPr lang="zh-CN" altLang="zh-CN" b="0" dirty="0"/>
              <a:t>②在静态链表末尾插入数据元素</a:t>
            </a:r>
            <a:r>
              <a:rPr lang="en-US" altLang="zh-CN" b="0" dirty="0"/>
              <a:t>F</a:t>
            </a:r>
            <a:r>
              <a:rPr lang="zh-CN" altLang="zh-CN" b="0" dirty="0"/>
              <a:t>，将</a:t>
            </a:r>
            <a:r>
              <a:rPr lang="en-US" altLang="zh-CN" b="0" dirty="0"/>
              <a:t>Array[0]</a:t>
            </a:r>
            <a:r>
              <a:rPr lang="zh-CN" altLang="zh-CN" b="0" dirty="0"/>
              <a:t>所指的空闲链的第一个结点的游标值修改为</a:t>
            </a:r>
            <a:r>
              <a:rPr lang="en-US" altLang="zh-CN" b="0" dirty="0"/>
              <a:t>8</a:t>
            </a:r>
            <a:r>
              <a:rPr lang="zh-CN" altLang="zh-CN" b="0" dirty="0"/>
              <a:t>，其存储变化情况如图</a:t>
            </a:r>
            <a:r>
              <a:rPr lang="en-US" altLang="zh-CN" b="0" dirty="0"/>
              <a:t>(b)</a:t>
            </a:r>
            <a:r>
              <a:rPr lang="zh-CN" altLang="zh-CN" b="0" dirty="0"/>
              <a:t>所示。</a:t>
            </a:r>
            <a:endParaRPr lang="en-US" altLang="zh-CN" b="0" dirty="0"/>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25577" y="1052736"/>
            <a:ext cx="2232853" cy="4778154"/>
          </a:xfrm>
          <a:prstGeom prst="rect">
            <a:avLst/>
          </a:prstGeom>
        </p:spPr>
      </p:pic>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504" y="1052736"/>
            <a:ext cx="1684166" cy="4831499"/>
          </a:xfrm>
          <a:prstGeom prst="rect">
            <a:avLst/>
          </a:prstGeom>
        </p:spPr>
      </p:pic>
    </p:spTree>
    <p:extLst>
      <p:ext uri="{BB962C8B-B14F-4D97-AF65-F5344CB8AC3E}">
        <p14:creationId xmlns:p14="http://schemas.microsoft.com/office/powerpoint/2010/main" val="358132378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267744" y="1189540"/>
            <a:ext cx="3816424" cy="2671508"/>
          </a:xfrm>
        </p:spPr>
        <p:txBody>
          <a:bodyPr>
            <a:normAutofit/>
          </a:bodyPr>
          <a:lstStyle/>
          <a:p>
            <a:pPr>
              <a:lnSpc>
                <a:spcPct val="140000"/>
              </a:lnSpc>
            </a:pPr>
            <a:r>
              <a:rPr lang="en-US" altLang="zh-CN" b="0" dirty="0"/>
              <a:t>	</a:t>
            </a:r>
            <a:r>
              <a:rPr lang="zh-CN" altLang="zh-CN" b="0" dirty="0"/>
              <a:t>③将静态链表中的数据元素</a:t>
            </a:r>
            <a:r>
              <a:rPr lang="en-US" altLang="zh-CN" b="0" dirty="0"/>
              <a:t>C</a:t>
            </a:r>
            <a:r>
              <a:rPr lang="zh-CN" altLang="zh-CN" b="0" dirty="0"/>
              <a:t>删除，</a:t>
            </a:r>
            <a:r>
              <a:rPr lang="en-US" altLang="zh-CN" b="0" dirty="0"/>
              <a:t>Array[0]</a:t>
            </a:r>
            <a:r>
              <a:rPr lang="zh-CN" altLang="zh-CN" b="0" dirty="0"/>
              <a:t>的游标值修改为</a:t>
            </a:r>
            <a:r>
              <a:rPr lang="en-US" altLang="zh-CN" b="0" dirty="0"/>
              <a:t>4</a:t>
            </a:r>
            <a:r>
              <a:rPr lang="zh-CN" altLang="zh-CN" b="0" dirty="0"/>
              <a:t>，其存储变化情况如图</a:t>
            </a:r>
            <a:r>
              <a:rPr lang="en-US" altLang="zh-CN" b="0" dirty="0"/>
              <a:t>(c)</a:t>
            </a:r>
            <a:r>
              <a:rPr lang="zh-CN" altLang="zh-CN" b="0" dirty="0"/>
              <a:t>所示。</a:t>
            </a:r>
            <a:endParaRPr lang="en-US" altLang="zh-CN" b="0" dirty="0"/>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32240" y="906951"/>
            <a:ext cx="1996613" cy="4846740"/>
          </a:xfrm>
          <a:prstGeom prst="rect">
            <a:avLst/>
          </a:prstGeom>
        </p:spPr>
      </p:pic>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5874" y="871005"/>
            <a:ext cx="2232853" cy="4778154"/>
          </a:xfrm>
          <a:prstGeom prst="rect">
            <a:avLst/>
          </a:prstGeom>
        </p:spPr>
      </p:pic>
    </p:spTree>
    <p:extLst>
      <p:ext uri="{BB962C8B-B14F-4D97-AF65-F5344CB8AC3E}">
        <p14:creationId xmlns:p14="http://schemas.microsoft.com/office/powerpoint/2010/main" val="319982648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411760" y="1196752"/>
            <a:ext cx="4320480" cy="2592289"/>
          </a:xfrm>
        </p:spPr>
        <p:txBody>
          <a:bodyPr>
            <a:normAutofit/>
          </a:bodyPr>
          <a:lstStyle/>
          <a:p>
            <a:pPr>
              <a:lnSpc>
                <a:spcPct val="140000"/>
              </a:lnSpc>
            </a:pPr>
            <a:r>
              <a:rPr lang="en-US" altLang="zh-CN" b="0" dirty="0"/>
              <a:t>	</a:t>
            </a:r>
            <a:r>
              <a:rPr lang="zh-CN" altLang="zh-CN" b="0" dirty="0"/>
              <a:t>④在静态链表中的插入数据元素</a:t>
            </a:r>
            <a:r>
              <a:rPr lang="en-US" altLang="zh-CN" b="0" dirty="0"/>
              <a:t>G</a:t>
            </a:r>
            <a:r>
              <a:rPr lang="zh-CN" altLang="zh-CN" b="0" dirty="0"/>
              <a:t>，</a:t>
            </a:r>
            <a:r>
              <a:rPr lang="en-US" altLang="zh-CN" b="0" dirty="0"/>
              <a:t>Array[0]</a:t>
            </a:r>
            <a:r>
              <a:rPr lang="zh-CN" altLang="zh-CN" b="0" dirty="0"/>
              <a:t>的游标值修改为</a:t>
            </a:r>
            <a:r>
              <a:rPr lang="en-US" altLang="zh-CN" b="0" dirty="0"/>
              <a:t>8</a:t>
            </a:r>
            <a:r>
              <a:rPr lang="zh-CN" altLang="zh-CN" b="0" dirty="0"/>
              <a:t>，其存储变化情况如图</a:t>
            </a:r>
            <a:r>
              <a:rPr lang="en-US" altLang="zh-CN" b="0" dirty="0"/>
              <a:t>(d)</a:t>
            </a:r>
            <a:r>
              <a:rPr lang="zh-CN" altLang="zh-CN" b="0" dirty="0"/>
              <a:t>所示。</a:t>
            </a:r>
          </a:p>
          <a:p>
            <a:endParaRPr lang="zh-CN" altLang="en-US" b="0" dirty="0"/>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64288" y="1000324"/>
            <a:ext cx="1501270" cy="4808637"/>
          </a:xfrm>
          <a:prstGeom prst="rect">
            <a:avLst/>
          </a:prstGeom>
        </p:spPr>
      </p:pic>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1560" y="962221"/>
            <a:ext cx="1996613" cy="4846740"/>
          </a:xfrm>
          <a:prstGeom prst="rect">
            <a:avLst/>
          </a:prstGeom>
        </p:spPr>
      </p:pic>
    </p:spTree>
    <p:extLst>
      <p:ext uri="{BB962C8B-B14F-4D97-AF65-F5344CB8AC3E}">
        <p14:creationId xmlns:p14="http://schemas.microsoft.com/office/powerpoint/2010/main" val="34669527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7863" y="996950"/>
            <a:ext cx="7788275" cy="4862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3388132" y="5884736"/>
            <a:ext cx="2319866" cy="369332"/>
          </a:xfrm>
          <a:prstGeom prst="rect">
            <a:avLst/>
          </a:prstGeom>
        </p:spPr>
        <p:txBody>
          <a:bodyPr wrap="none">
            <a:spAutoFit/>
          </a:bodyPr>
          <a:lstStyle/>
          <a:p>
            <a:r>
              <a:rPr lang="zh-CN" altLang="en-US" dirty="0"/>
              <a:t>图</a:t>
            </a:r>
            <a:r>
              <a:rPr lang="en-US" altLang="zh-CN" dirty="0"/>
              <a:t>2-12 </a:t>
            </a:r>
            <a:r>
              <a:rPr lang="zh-CN" altLang="en-US" dirty="0"/>
              <a:t>静态链表示例</a:t>
            </a:r>
          </a:p>
        </p:txBody>
      </p:sp>
    </p:spTree>
    <p:extLst>
      <p:ext uri="{BB962C8B-B14F-4D97-AF65-F5344CB8AC3E}">
        <p14:creationId xmlns:p14="http://schemas.microsoft.com/office/powerpoint/2010/main" val="241148705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2.3.2  </a:t>
            </a:r>
            <a:r>
              <a:rPr lang="zh-CN" altLang="zh-CN" b="1" dirty="0"/>
              <a:t>双向链表</a:t>
            </a:r>
            <a:endParaRPr lang="zh-CN" altLang="en-US" dirty="0"/>
          </a:p>
        </p:txBody>
      </p:sp>
      <p:sp>
        <p:nvSpPr>
          <p:cNvPr id="3" name="内容占位符 2"/>
          <p:cNvSpPr>
            <a:spLocks noGrp="1"/>
          </p:cNvSpPr>
          <p:nvPr>
            <p:ph idx="1"/>
          </p:nvPr>
        </p:nvSpPr>
        <p:spPr/>
        <p:txBody>
          <a:bodyPr/>
          <a:lstStyle/>
          <a:p>
            <a:pPr algn="just"/>
            <a:r>
              <a:rPr lang="en-US" altLang="zh-CN" b="0" dirty="0"/>
              <a:t>	</a:t>
            </a:r>
            <a:r>
              <a:rPr lang="zh-CN" altLang="zh-CN" dirty="0">
                <a:solidFill>
                  <a:srgbClr val="FF0000"/>
                </a:solidFill>
              </a:rPr>
              <a:t>双向链表</a:t>
            </a:r>
            <a:r>
              <a:rPr lang="zh-CN" altLang="zh-CN" b="0" dirty="0"/>
              <a:t>的每个结点包含</a:t>
            </a:r>
            <a:r>
              <a:rPr lang="zh-CN" altLang="zh-CN" dirty="0">
                <a:solidFill>
                  <a:srgbClr val="FF0000"/>
                </a:solidFill>
              </a:rPr>
              <a:t>一个数据域和两个指针域</a:t>
            </a:r>
            <a:r>
              <a:rPr lang="zh-CN" altLang="zh-CN" b="0" dirty="0"/>
              <a:t>，其中一个指针为前驱指针p</a:t>
            </a:r>
            <a:r>
              <a:rPr lang="en-US" altLang="zh-CN" b="0" dirty="0"/>
              <a:t>rev</a:t>
            </a:r>
            <a:r>
              <a:rPr lang="zh-CN" altLang="zh-CN" b="0" dirty="0"/>
              <a:t>，指向它的前驱结点；另一个指针为后继指针next，指向它的后继结点。如图</a:t>
            </a:r>
            <a:r>
              <a:rPr lang="en-US" altLang="zh-CN" b="0" dirty="0"/>
              <a:t>2</a:t>
            </a:r>
            <a:r>
              <a:rPr lang="zh-CN" altLang="zh-CN" b="0" dirty="0"/>
              <a:t>-13所示。</a:t>
            </a:r>
          </a:p>
          <a:p>
            <a:endParaRPr lang="zh-CN" altLang="en-US"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548394395"/>
              </p:ext>
            </p:extLst>
          </p:nvPr>
        </p:nvGraphicFramePr>
        <p:xfrm>
          <a:off x="2123728" y="3861048"/>
          <a:ext cx="4536505" cy="812388"/>
        </p:xfrm>
        <a:graphic>
          <a:graphicData uri="http://schemas.openxmlformats.org/presentationml/2006/ole">
            <mc:AlternateContent xmlns:mc="http://schemas.openxmlformats.org/markup-compatibility/2006">
              <mc:Choice xmlns:v="urn:schemas-microsoft-com:vml" Requires="v">
                <p:oleObj spid="_x0000_s3189" r:id="rId3" imgW="2856149" imgH="502758" progId="">
                  <p:embed/>
                </p:oleObj>
              </mc:Choice>
              <mc:Fallback>
                <p:oleObj r:id="rId3" imgW="2856149" imgH="502758" progId="">
                  <p:embed/>
                  <p:pic>
                    <p:nvPicPr>
                      <p:cNvPr id="0"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3728" y="3861048"/>
                        <a:ext cx="4536505" cy="812388"/>
                      </a:xfrm>
                      <a:prstGeom prst="rect">
                        <a:avLst/>
                      </a:prstGeom>
                      <a:noFill/>
                    </p:spPr>
                  </p:pic>
                </p:oleObj>
              </mc:Fallback>
            </mc:AlternateContent>
          </a:graphicData>
        </a:graphic>
      </p:graphicFrame>
      <p:sp>
        <p:nvSpPr>
          <p:cNvPr id="6" name="矩形 5"/>
          <p:cNvSpPr/>
          <p:nvPr/>
        </p:nvSpPr>
        <p:spPr>
          <a:xfrm>
            <a:off x="2835976" y="4941168"/>
            <a:ext cx="3816424" cy="400110"/>
          </a:xfrm>
          <a:prstGeom prst="rect">
            <a:avLst/>
          </a:prstGeom>
        </p:spPr>
        <p:txBody>
          <a:bodyPr wrap="square">
            <a:spAutoFit/>
          </a:bodyPr>
          <a:lstStyle/>
          <a:p>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图</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2-13  </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双向链表结点结构</a:t>
            </a:r>
          </a:p>
        </p:txBody>
      </p:sp>
    </p:spTree>
    <p:extLst>
      <p:ext uri="{BB962C8B-B14F-4D97-AF65-F5344CB8AC3E}">
        <p14:creationId xmlns:p14="http://schemas.microsoft.com/office/powerpoint/2010/main" val="18110515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1052737"/>
            <a:ext cx="7520940" cy="2448272"/>
          </a:xfrm>
        </p:spPr>
        <p:txBody>
          <a:bodyPr>
            <a:normAutofit fontScale="92500"/>
          </a:bodyPr>
          <a:lstStyle/>
          <a:p>
            <a:r>
              <a:rPr lang="en-US" altLang="zh-CN" b="0" dirty="0"/>
              <a:t>	</a:t>
            </a:r>
            <a:r>
              <a:rPr lang="zh-CN" altLang="zh-CN" b="0" dirty="0"/>
              <a:t>对于双向链表，若要查找一个结点的前驱结点，可以很容易通过前驱指针</a:t>
            </a:r>
            <a:r>
              <a:rPr lang="en-US" altLang="zh-CN" b="0" dirty="0" err="1"/>
              <a:t>prev</a:t>
            </a:r>
            <a:r>
              <a:rPr lang="zh-CN" altLang="zh-CN" b="0" dirty="0"/>
              <a:t>找到。双向链表通常为双向循环链表。这样，无论是插入还是删除，对链表中的第一个结点、最后一个结点和中间任意结点的操作过程相同。</a:t>
            </a:r>
            <a:endParaRPr lang="en-US" altLang="zh-CN" b="0" dirty="0"/>
          </a:p>
          <a:p>
            <a:r>
              <a:rPr lang="en-US" altLang="zh-CN" b="0" dirty="0"/>
              <a:t>     </a:t>
            </a:r>
            <a:r>
              <a:rPr lang="zh-CN" altLang="zh-CN" b="0" dirty="0"/>
              <a:t>图</a:t>
            </a:r>
            <a:r>
              <a:rPr lang="en-US" altLang="zh-CN" b="0" dirty="0"/>
              <a:t>2-14</a:t>
            </a:r>
            <a:r>
              <a:rPr lang="zh-CN" altLang="zh-CN" b="0" dirty="0"/>
              <a:t>是带头结点的双向链表。</a:t>
            </a:r>
            <a:endParaRPr lang="zh-CN" altLang="en-US" b="0" dirty="0"/>
          </a:p>
        </p:txBody>
      </p:sp>
      <p:pic>
        <p:nvPicPr>
          <p:cNvPr id="1331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1950" y="3455589"/>
            <a:ext cx="8420100" cy="1852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2930364" y="5517232"/>
            <a:ext cx="3283271" cy="400110"/>
          </a:xfrm>
          <a:prstGeom prst="rect">
            <a:avLst/>
          </a:prstGeom>
        </p:spPr>
        <p:txBody>
          <a:bodyPr wrap="none">
            <a:spAutoFit/>
          </a:bodyPr>
          <a:lstStyle/>
          <a:p>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图</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2-14 </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带头结点的双向链表</a:t>
            </a:r>
          </a:p>
        </p:txBody>
      </p:sp>
    </p:spTree>
    <p:extLst>
      <p:ext uri="{BB962C8B-B14F-4D97-AF65-F5344CB8AC3E}">
        <p14:creationId xmlns:p14="http://schemas.microsoft.com/office/powerpoint/2010/main" val="293786134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85786" y="692696"/>
            <a:ext cx="8215370" cy="5616624"/>
          </a:xfrm>
        </p:spPr>
        <p:txBody>
          <a:bodyPr>
            <a:noAutofit/>
          </a:bodyPr>
          <a:lstStyle/>
          <a:p>
            <a:pPr>
              <a:lnSpc>
                <a:spcPct val="110000"/>
              </a:lnSpc>
              <a:spcBef>
                <a:spcPts val="0"/>
              </a:spcBef>
            </a:pPr>
            <a:r>
              <a:rPr lang="zh-CN" altLang="zh-CN" sz="2200" dirty="0"/>
              <a:t>算法</a:t>
            </a:r>
            <a:r>
              <a:rPr lang="en-US" altLang="zh-CN" sz="2200" dirty="0"/>
              <a:t>2.11</a:t>
            </a:r>
            <a:r>
              <a:rPr lang="zh-CN" altLang="zh-CN" sz="2200" dirty="0"/>
              <a:t>：</a:t>
            </a:r>
            <a:r>
              <a:rPr lang="zh-CN" altLang="zh-CN" sz="2200" dirty="0">
                <a:solidFill>
                  <a:srgbClr val="FF0000"/>
                </a:solidFill>
              </a:rPr>
              <a:t>双向链表的类定义</a:t>
            </a:r>
          </a:p>
          <a:p>
            <a:pPr>
              <a:lnSpc>
                <a:spcPct val="110000"/>
              </a:lnSpc>
              <a:spcBef>
                <a:spcPts val="0"/>
              </a:spcBef>
            </a:pPr>
            <a:r>
              <a:rPr lang="en-US" altLang="zh-CN" sz="2200" b="0" dirty="0"/>
              <a:t>template &lt;class Elem&gt; </a:t>
            </a:r>
          </a:p>
          <a:p>
            <a:pPr>
              <a:lnSpc>
                <a:spcPct val="110000"/>
              </a:lnSpc>
              <a:spcBef>
                <a:spcPts val="0"/>
              </a:spcBef>
            </a:pPr>
            <a:r>
              <a:rPr lang="en-US" altLang="zh-CN" sz="2200" b="0" dirty="0"/>
              <a:t>class </a:t>
            </a:r>
            <a:r>
              <a:rPr lang="en-US" altLang="zh-CN" sz="2200" b="0" dirty="0" err="1"/>
              <a:t>DLink</a:t>
            </a:r>
            <a:r>
              <a:rPr lang="en-US" altLang="zh-CN" sz="2200" b="0" dirty="0"/>
              <a:t> {		//</a:t>
            </a:r>
            <a:r>
              <a:rPr lang="zh-CN" altLang="en-US" sz="2200" b="0" dirty="0"/>
              <a:t>双向链表的</a:t>
            </a:r>
            <a:r>
              <a:rPr lang="zh-CN" altLang="en-US" sz="2200" dirty="0">
                <a:solidFill>
                  <a:srgbClr val="FF0000"/>
                </a:solidFill>
              </a:rPr>
              <a:t>结点类</a:t>
            </a:r>
            <a:r>
              <a:rPr lang="zh-CN" altLang="en-US" sz="2200" b="0" dirty="0"/>
              <a:t>定义</a:t>
            </a:r>
            <a:endParaRPr lang="en-US" altLang="zh-CN" sz="2200" b="0" dirty="0"/>
          </a:p>
          <a:p>
            <a:pPr>
              <a:lnSpc>
                <a:spcPct val="110000"/>
              </a:lnSpc>
              <a:spcBef>
                <a:spcPts val="0"/>
              </a:spcBef>
            </a:pPr>
            <a:r>
              <a:rPr lang="en-US" altLang="zh-CN" sz="2200" b="0" dirty="0"/>
              <a:t>public:</a:t>
            </a:r>
            <a:endParaRPr lang="zh-CN" altLang="zh-CN" sz="2200" b="0" dirty="0"/>
          </a:p>
          <a:p>
            <a:pPr>
              <a:lnSpc>
                <a:spcPct val="110000"/>
              </a:lnSpc>
              <a:spcBef>
                <a:spcPts val="0"/>
              </a:spcBef>
            </a:pPr>
            <a:r>
              <a:rPr lang="en-US" altLang="zh-CN" sz="2200" b="0" dirty="0"/>
              <a:t>	Elem element;</a:t>
            </a:r>
            <a:endParaRPr lang="zh-CN" altLang="zh-CN" sz="2200" b="0" dirty="0"/>
          </a:p>
          <a:p>
            <a:pPr>
              <a:lnSpc>
                <a:spcPct val="110000"/>
              </a:lnSpc>
              <a:spcBef>
                <a:spcPts val="0"/>
              </a:spcBef>
            </a:pPr>
            <a:r>
              <a:rPr lang="en-US" altLang="zh-CN" sz="2200" b="0" dirty="0"/>
              <a:t>	</a:t>
            </a:r>
            <a:r>
              <a:rPr lang="en-US" altLang="zh-CN" sz="2200" b="0" dirty="0" err="1"/>
              <a:t>DLink</a:t>
            </a:r>
            <a:r>
              <a:rPr lang="en-US" altLang="zh-CN" sz="2200" b="0" dirty="0"/>
              <a:t> *</a:t>
            </a:r>
            <a:r>
              <a:rPr lang="en-US" altLang="zh-CN" sz="2200" b="0" dirty="0" err="1"/>
              <a:t>prev</a:t>
            </a:r>
            <a:r>
              <a:rPr lang="en-US" altLang="zh-CN" sz="2200" b="0" dirty="0"/>
              <a:t>; </a:t>
            </a:r>
            <a:endParaRPr lang="zh-CN" altLang="zh-CN" sz="2200" b="0" dirty="0"/>
          </a:p>
          <a:p>
            <a:pPr>
              <a:lnSpc>
                <a:spcPct val="110000"/>
              </a:lnSpc>
              <a:spcBef>
                <a:spcPts val="0"/>
              </a:spcBef>
            </a:pPr>
            <a:r>
              <a:rPr lang="en-US" altLang="zh-CN" sz="2200" b="0" dirty="0"/>
              <a:t>	</a:t>
            </a:r>
            <a:r>
              <a:rPr lang="en-US" altLang="zh-CN" sz="2200" b="0" dirty="0" err="1"/>
              <a:t>DLink</a:t>
            </a:r>
            <a:r>
              <a:rPr lang="en-US" altLang="zh-CN" sz="2200" b="0" dirty="0"/>
              <a:t> *next;</a:t>
            </a:r>
          </a:p>
          <a:p>
            <a:pPr>
              <a:lnSpc>
                <a:spcPct val="110000"/>
              </a:lnSpc>
              <a:spcBef>
                <a:spcPts val="0"/>
              </a:spcBef>
            </a:pPr>
            <a:endParaRPr lang="zh-CN" altLang="zh-CN" sz="2200" b="0" dirty="0"/>
          </a:p>
          <a:p>
            <a:pPr>
              <a:lnSpc>
                <a:spcPct val="110000"/>
              </a:lnSpc>
              <a:spcBef>
                <a:spcPts val="0"/>
              </a:spcBef>
            </a:pPr>
            <a:r>
              <a:rPr lang="en-US" altLang="zh-CN" sz="2200" b="0" dirty="0"/>
              <a:t>	</a:t>
            </a:r>
            <a:r>
              <a:rPr lang="en-US" altLang="zh-CN" sz="2200" b="0" dirty="0" err="1"/>
              <a:t>DLink</a:t>
            </a:r>
            <a:r>
              <a:rPr lang="en-US" altLang="zh-CN" sz="2200" b="0" dirty="0"/>
              <a:t> (const Elem&amp; it, </a:t>
            </a:r>
            <a:r>
              <a:rPr lang="en-US" altLang="zh-CN" sz="2200" b="0" dirty="0" err="1"/>
              <a:t>DLink</a:t>
            </a:r>
            <a:r>
              <a:rPr lang="en-US" altLang="zh-CN" sz="2200" b="0" dirty="0"/>
              <a:t> *p=NULL, </a:t>
            </a:r>
            <a:r>
              <a:rPr lang="en-US" altLang="zh-CN" sz="2200" b="0" dirty="0" err="1"/>
              <a:t>DLink</a:t>
            </a:r>
            <a:r>
              <a:rPr lang="en-US" altLang="zh-CN" sz="2200" b="0" dirty="0"/>
              <a:t> *n=NULL) </a:t>
            </a:r>
            <a:endParaRPr lang="zh-CN" altLang="zh-CN" sz="2200" b="0" dirty="0"/>
          </a:p>
          <a:p>
            <a:pPr>
              <a:lnSpc>
                <a:spcPct val="110000"/>
              </a:lnSpc>
              <a:spcBef>
                <a:spcPts val="0"/>
              </a:spcBef>
            </a:pPr>
            <a:r>
              <a:rPr lang="en-US" altLang="zh-CN" sz="2200" b="0" dirty="0"/>
              <a:t>       	 { element = it; </a:t>
            </a:r>
            <a:r>
              <a:rPr lang="en-US" altLang="zh-CN" sz="2200" b="0" dirty="0" err="1"/>
              <a:t>prev</a:t>
            </a:r>
            <a:r>
              <a:rPr lang="en-US" altLang="zh-CN" sz="2200" b="0" dirty="0"/>
              <a:t> = p; next = n;}</a:t>
            </a:r>
            <a:endParaRPr lang="zh-CN" altLang="zh-CN" sz="2200" b="0" dirty="0"/>
          </a:p>
          <a:p>
            <a:pPr>
              <a:lnSpc>
                <a:spcPct val="110000"/>
              </a:lnSpc>
              <a:spcBef>
                <a:spcPts val="0"/>
              </a:spcBef>
            </a:pPr>
            <a:r>
              <a:rPr lang="en-US" altLang="zh-CN" sz="2200" b="0" dirty="0"/>
              <a:t>	</a:t>
            </a:r>
            <a:r>
              <a:rPr lang="en-US" altLang="zh-CN" sz="2200" b="0" dirty="0" err="1"/>
              <a:t>DLink</a:t>
            </a:r>
            <a:r>
              <a:rPr lang="en-US" altLang="zh-CN" sz="2200" b="0" dirty="0"/>
              <a:t> (</a:t>
            </a:r>
            <a:r>
              <a:rPr lang="en-US" altLang="zh-CN" sz="2200" b="0" dirty="0" err="1"/>
              <a:t>DLink</a:t>
            </a:r>
            <a:r>
              <a:rPr lang="en-US" altLang="zh-CN" sz="2200" b="0" dirty="0"/>
              <a:t> *p=NULL ,</a:t>
            </a:r>
            <a:r>
              <a:rPr lang="en-US" altLang="zh-CN" sz="2200" b="0" dirty="0" err="1"/>
              <a:t>DLink</a:t>
            </a:r>
            <a:r>
              <a:rPr lang="en-US" altLang="zh-CN" sz="2200" b="0" dirty="0"/>
              <a:t> *n=NULL) </a:t>
            </a:r>
            <a:endParaRPr lang="zh-CN" altLang="zh-CN" sz="2200" b="0" dirty="0"/>
          </a:p>
          <a:p>
            <a:pPr>
              <a:lnSpc>
                <a:spcPct val="110000"/>
              </a:lnSpc>
              <a:spcBef>
                <a:spcPts val="0"/>
              </a:spcBef>
            </a:pPr>
            <a:r>
              <a:rPr lang="en-US" altLang="zh-CN" sz="2200" b="0" dirty="0"/>
              <a:t>		 {</a:t>
            </a:r>
            <a:r>
              <a:rPr lang="en-US" altLang="zh-CN" sz="2200" b="0" dirty="0" err="1"/>
              <a:t>prev</a:t>
            </a:r>
            <a:r>
              <a:rPr lang="en-US" altLang="zh-CN" sz="2200" b="0" dirty="0"/>
              <a:t> = p; next = n;}</a:t>
            </a:r>
            <a:endParaRPr lang="zh-CN" altLang="zh-CN" sz="2200" b="0" dirty="0"/>
          </a:p>
          <a:p>
            <a:pPr>
              <a:lnSpc>
                <a:spcPct val="110000"/>
              </a:lnSpc>
              <a:spcBef>
                <a:spcPts val="0"/>
              </a:spcBef>
            </a:pPr>
            <a:r>
              <a:rPr lang="en-US" altLang="zh-CN" sz="2200" b="0" dirty="0"/>
              <a:t>	~ </a:t>
            </a:r>
            <a:r>
              <a:rPr lang="en-US" altLang="zh-CN" sz="2200" b="0" dirty="0" err="1"/>
              <a:t>DLink</a:t>
            </a:r>
            <a:r>
              <a:rPr lang="en-US" altLang="zh-CN" sz="2200" b="0" dirty="0"/>
              <a:t>();</a:t>
            </a:r>
            <a:endParaRPr lang="zh-CN" altLang="zh-CN" sz="2200" b="0" dirty="0"/>
          </a:p>
          <a:p>
            <a:pPr>
              <a:lnSpc>
                <a:spcPct val="110000"/>
              </a:lnSpc>
              <a:spcBef>
                <a:spcPts val="0"/>
              </a:spcBef>
            </a:pPr>
            <a:r>
              <a:rPr lang="en-US" altLang="zh-CN" sz="2200" b="0" dirty="0"/>
              <a:t>}</a:t>
            </a:r>
            <a:endParaRPr lang="zh-CN" altLang="zh-CN" sz="2200" b="0" dirty="0"/>
          </a:p>
          <a:p>
            <a:pPr>
              <a:lnSpc>
                <a:spcPct val="110000"/>
              </a:lnSpc>
              <a:spcBef>
                <a:spcPts val="0"/>
              </a:spcBef>
            </a:pPr>
            <a:endParaRPr lang="zh-CN" altLang="en-US" sz="2200" dirty="0"/>
          </a:p>
        </p:txBody>
      </p:sp>
    </p:spTree>
    <p:extLst>
      <p:ext uri="{BB962C8B-B14F-4D97-AF65-F5344CB8AC3E}">
        <p14:creationId xmlns:p14="http://schemas.microsoft.com/office/powerpoint/2010/main" val="223294249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a:extLst>
              <a:ext uri="{FF2B5EF4-FFF2-40B4-BE49-F238E27FC236}">
                <a16:creationId xmlns:a16="http://schemas.microsoft.com/office/drawing/2014/main" id="{F00A43DE-5C18-4DB5-A996-AC4B3145C9CD}"/>
              </a:ext>
            </a:extLst>
          </p:cNvPr>
          <p:cNvSpPr txBox="1">
            <a:spLocks noChangeArrowheads="1"/>
          </p:cNvSpPr>
          <p:nvPr/>
        </p:nvSpPr>
        <p:spPr bwMode="auto">
          <a:xfrm>
            <a:off x="1619672" y="1988840"/>
            <a:ext cx="6215106" cy="2680322"/>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lIns="180000" tIns="108000" bIns="108000">
            <a:spAutoFit/>
          </a:bodyPr>
          <a:lstStyle/>
          <a:p>
            <a:pPr algn="l">
              <a:spcBef>
                <a:spcPct val="50000"/>
              </a:spcBef>
            </a:pPr>
            <a:r>
              <a:rPr kumimoji="1" lang="en-US" altLang="zh-CN" sz="2000" dirty="0">
                <a:solidFill>
                  <a:srgbClr val="0000FF"/>
                </a:solidFill>
                <a:latin typeface="Consolas" pitchFamily="49" charset="0"/>
                <a:ea typeface="仿宋" pitchFamily="49" charset="-122"/>
                <a:cs typeface="Consolas" pitchFamily="49" charset="0"/>
              </a:rPr>
              <a:t>typedef struct </a:t>
            </a:r>
            <a:r>
              <a:rPr kumimoji="1" lang="en-US" altLang="zh-CN" sz="2000" dirty="0" err="1">
                <a:solidFill>
                  <a:srgbClr val="0000FF"/>
                </a:solidFill>
                <a:latin typeface="Consolas" pitchFamily="49" charset="0"/>
                <a:ea typeface="仿宋" pitchFamily="49" charset="-122"/>
                <a:cs typeface="Consolas" pitchFamily="49" charset="0"/>
              </a:rPr>
              <a:t>DNode</a:t>
            </a:r>
            <a:r>
              <a:rPr kumimoji="1" lang="en-US" altLang="zh-CN" sz="2000" dirty="0">
                <a:solidFill>
                  <a:srgbClr val="0000FF"/>
                </a:solidFill>
                <a:latin typeface="Consolas" pitchFamily="49" charset="0"/>
                <a:ea typeface="仿宋" pitchFamily="49" charset="-122"/>
                <a:cs typeface="Consolas" pitchFamily="49" charset="0"/>
              </a:rPr>
              <a:t>       </a:t>
            </a:r>
            <a:r>
              <a:rPr kumimoji="1" lang="en-US" altLang="zh-CN" sz="2000" dirty="0">
                <a:solidFill>
                  <a:srgbClr val="00B0F0"/>
                </a:solidFill>
                <a:latin typeface="Consolas" pitchFamily="49" charset="0"/>
                <a:ea typeface="仿宋" pitchFamily="49" charset="-122"/>
                <a:cs typeface="Consolas" pitchFamily="49" charset="0"/>
              </a:rPr>
              <a:t>//</a:t>
            </a:r>
            <a:r>
              <a:rPr kumimoji="1" lang="zh-CN" altLang="en-US" sz="2000" dirty="0">
                <a:solidFill>
                  <a:srgbClr val="00B0F0"/>
                </a:solidFill>
                <a:latin typeface="Consolas" pitchFamily="49" charset="0"/>
                <a:ea typeface="仿宋" pitchFamily="49" charset="-122"/>
                <a:cs typeface="Consolas" pitchFamily="49" charset="0"/>
              </a:rPr>
              <a:t>双链表结点类型</a:t>
            </a:r>
          </a:p>
          <a:p>
            <a:pPr algn="just">
              <a:lnSpc>
                <a:spcPct val="90000"/>
              </a:lnSpc>
              <a:spcBef>
                <a:spcPct val="50000"/>
              </a:spcBef>
            </a:pPr>
            <a:r>
              <a:rPr kumimoji="1" lang="en-US" altLang="zh-CN" sz="2000" dirty="0">
                <a:solidFill>
                  <a:srgbClr val="0000FF"/>
                </a:solidFill>
                <a:latin typeface="Consolas" pitchFamily="49" charset="0"/>
                <a:ea typeface="仿宋" pitchFamily="49" charset="-122"/>
                <a:cs typeface="Consolas" pitchFamily="49" charset="0"/>
              </a:rPr>
              <a:t>{</a:t>
            </a:r>
          </a:p>
          <a:p>
            <a:pPr algn="just">
              <a:lnSpc>
                <a:spcPct val="90000"/>
              </a:lnSpc>
              <a:spcBef>
                <a:spcPct val="50000"/>
              </a:spcBef>
            </a:pPr>
            <a:r>
              <a:rPr kumimoji="1" lang="en-US" altLang="zh-CN" sz="2000" dirty="0">
                <a:solidFill>
                  <a:srgbClr val="0000FF"/>
                </a:solidFill>
                <a:latin typeface="Consolas" pitchFamily="49" charset="0"/>
                <a:ea typeface="仿宋" pitchFamily="49" charset="-122"/>
                <a:cs typeface="Consolas" pitchFamily="49" charset="0"/>
              </a:rPr>
              <a:t>   </a:t>
            </a:r>
            <a:r>
              <a:rPr kumimoji="1" lang="en-US" altLang="zh-CN" sz="2000" dirty="0" err="1">
                <a:solidFill>
                  <a:srgbClr val="0000FF"/>
                </a:solidFill>
                <a:latin typeface="Consolas" pitchFamily="49" charset="0"/>
                <a:ea typeface="仿宋" pitchFamily="49" charset="-122"/>
                <a:cs typeface="Consolas" pitchFamily="49" charset="0"/>
              </a:rPr>
              <a:t>ElemType</a:t>
            </a:r>
            <a:r>
              <a:rPr kumimoji="1" lang="en-US" altLang="zh-CN" sz="2000" dirty="0">
                <a:solidFill>
                  <a:srgbClr val="0000FF"/>
                </a:solidFill>
                <a:latin typeface="Consolas" pitchFamily="49" charset="0"/>
                <a:ea typeface="仿宋" pitchFamily="49" charset="-122"/>
                <a:cs typeface="Consolas" pitchFamily="49" charset="0"/>
              </a:rPr>
              <a:t> data;</a:t>
            </a:r>
          </a:p>
          <a:p>
            <a:pPr algn="just">
              <a:lnSpc>
                <a:spcPct val="90000"/>
              </a:lnSpc>
              <a:spcBef>
                <a:spcPct val="50000"/>
              </a:spcBef>
            </a:pPr>
            <a:r>
              <a:rPr kumimoji="1" lang="en-US" altLang="zh-CN" sz="2000" dirty="0">
                <a:solidFill>
                  <a:srgbClr val="0000FF"/>
                </a:solidFill>
                <a:latin typeface="Consolas" pitchFamily="49" charset="0"/>
                <a:ea typeface="仿宋" pitchFamily="49" charset="-122"/>
                <a:cs typeface="Consolas" pitchFamily="49" charset="0"/>
              </a:rPr>
              <a:t>   struct </a:t>
            </a:r>
            <a:r>
              <a:rPr kumimoji="1" lang="en-US" altLang="zh-CN" sz="2000" dirty="0" err="1">
                <a:solidFill>
                  <a:srgbClr val="0000FF"/>
                </a:solidFill>
                <a:latin typeface="Consolas" pitchFamily="49" charset="0"/>
                <a:ea typeface="仿宋" pitchFamily="49" charset="-122"/>
                <a:cs typeface="Consolas" pitchFamily="49" charset="0"/>
              </a:rPr>
              <a:t>DNode</a:t>
            </a:r>
            <a:r>
              <a:rPr kumimoji="1" lang="en-US" altLang="zh-CN" sz="2000" dirty="0">
                <a:solidFill>
                  <a:srgbClr val="0000FF"/>
                </a:solidFill>
                <a:latin typeface="Consolas" pitchFamily="49" charset="0"/>
                <a:ea typeface="仿宋" pitchFamily="49" charset="-122"/>
                <a:cs typeface="Consolas" pitchFamily="49" charset="0"/>
              </a:rPr>
              <a:t> *prior;    </a:t>
            </a:r>
            <a:r>
              <a:rPr kumimoji="1" lang="en-US" altLang="zh-CN" sz="2000" dirty="0">
                <a:solidFill>
                  <a:srgbClr val="00B0F0"/>
                </a:solidFill>
                <a:latin typeface="Consolas" pitchFamily="49" charset="0"/>
                <a:ea typeface="仿宋" pitchFamily="49" charset="-122"/>
                <a:cs typeface="Consolas" pitchFamily="49" charset="0"/>
              </a:rPr>
              <a:t>//</a:t>
            </a:r>
            <a:r>
              <a:rPr kumimoji="1" lang="zh-CN" altLang="en-US" sz="2000" dirty="0">
                <a:solidFill>
                  <a:srgbClr val="00B0F0"/>
                </a:solidFill>
                <a:latin typeface="Consolas" pitchFamily="49" charset="0"/>
                <a:ea typeface="仿宋" pitchFamily="49" charset="-122"/>
                <a:cs typeface="Consolas" pitchFamily="49" charset="0"/>
              </a:rPr>
              <a:t>指向前驱结点</a:t>
            </a:r>
          </a:p>
          <a:p>
            <a:pPr algn="just">
              <a:lnSpc>
                <a:spcPct val="90000"/>
              </a:lnSpc>
              <a:spcBef>
                <a:spcPct val="50000"/>
              </a:spcBef>
            </a:pPr>
            <a:r>
              <a:rPr kumimoji="1" lang="zh-CN" altLang="en-US" sz="2000" dirty="0">
                <a:solidFill>
                  <a:srgbClr val="0000FF"/>
                </a:solidFill>
                <a:latin typeface="Consolas" pitchFamily="49" charset="0"/>
                <a:ea typeface="仿宋" pitchFamily="49" charset="-122"/>
                <a:cs typeface="Consolas" pitchFamily="49" charset="0"/>
              </a:rPr>
              <a:t>   </a:t>
            </a:r>
            <a:r>
              <a:rPr kumimoji="1" lang="en-US" altLang="zh-CN" sz="2000" dirty="0">
                <a:solidFill>
                  <a:srgbClr val="0000FF"/>
                </a:solidFill>
                <a:latin typeface="Consolas" pitchFamily="49" charset="0"/>
                <a:ea typeface="仿宋" pitchFamily="49" charset="-122"/>
                <a:cs typeface="Consolas" pitchFamily="49" charset="0"/>
              </a:rPr>
              <a:t>struct </a:t>
            </a:r>
            <a:r>
              <a:rPr kumimoji="1" lang="en-US" altLang="zh-CN" sz="2000" dirty="0" err="1">
                <a:solidFill>
                  <a:srgbClr val="0000FF"/>
                </a:solidFill>
                <a:latin typeface="Consolas" pitchFamily="49" charset="0"/>
                <a:ea typeface="仿宋" pitchFamily="49" charset="-122"/>
                <a:cs typeface="Consolas" pitchFamily="49" charset="0"/>
              </a:rPr>
              <a:t>DNode</a:t>
            </a:r>
            <a:r>
              <a:rPr kumimoji="1" lang="en-US" altLang="zh-CN" sz="2000" dirty="0">
                <a:solidFill>
                  <a:srgbClr val="0000FF"/>
                </a:solidFill>
                <a:latin typeface="Consolas" pitchFamily="49" charset="0"/>
                <a:ea typeface="仿宋" pitchFamily="49" charset="-122"/>
                <a:cs typeface="Consolas" pitchFamily="49" charset="0"/>
              </a:rPr>
              <a:t> *next;     </a:t>
            </a:r>
            <a:r>
              <a:rPr kumimoji="1" lang="en-US" altLang="zh-CN" sz="2000" dirty="0">
                <a:solidFill>
                  <a:srgbClr val="00B0F0"/>
                </a:solidFill>
                <a:latin typeface="Consolas" pitchFamily="49" charset="0"/>
                <a:ea typeface="仿宋" pitchFamily="49" charset="-122"/>
                <a:cs typeface="Consolas" pitchFamily="49" charset="0"/>
              </a:rPr>
              <a:t>//</a:t>
            </a:r>
            <a:r>
              <a:rPr kumimoji="1" lang="zh-CN" altLang="en-US" sz="2000" dirty="0">
                <a:solidFill>
                  <a:srgbClr val="00B0F0"/>
                </a:solidFill>
                <a:latin typeface="Consolas" pitchFamily="49" charset="0"/>
                <a:ea typeface="仿宋" pitchFamily="49" charset="-122"/>
                <a:cs typeface="Consolas" pitchFamily="49" charset="0"/>
              </a:rPr>
              <a:t>指向后继结点</a:t>
            </a:r>
            <a:endParaRPr kumimoji="1" lang="en-US" altLang="zh-CN" sz="2000" dirty="0">
              <a:solidFill>
                <a:srgbClr val="00B0F0"/>
              </a:solidFill>
              <a:latin typeface="Consolas" pitchFamily="49" charset="0"/>
              <a:ea typeface="仿宋" pitchFamily="49" charset="-122"/>
              <a:cs typeface="Consolas" pitchFamily="49" charset="0"/>
            </a:endParaRPr>
          </a:p>
          <a:p>
            <a:pPr algn="just">
              <a:lnSpc>
                <a:spcPct val="90000"/>
              </a:lnSpc>
              <a:spcBef>
                <a:spcPct val="50000"/>
              </a:spcBef>
            </a:pPr>
            <a:r>
              <a:rPr kumimoji="1" lang="en-US" altLang="zh-CN" sz="2000" dirty="0">
                <a:solidFill>
                  <a:srgbClr val="0000FF"/>
                </a:solidFill>
                <a:latin typeface="Consolas" pitchFamily="49" charset="0"/>
                <a:ea typeface="仿宋" pitchFamily="49" charset="-122"/>
                <a:cs typeface="Consolas" pitchFamily="49" charset="0"/>
              </a:rPr>
              <a:t>} </a:t>
            </a:r>
            <a:r>
              <a:rPr kumimoji="1" lang="en-US" altLang="zh-CN" sz="2000" dirty="0" err="1">
                <a:solidFill>
                  <a:srgbClr val="FF0000"/>
                </a:solidFill>
                <a:latin typeface="Consolas" pitchFamily="49" charset="0"/>
                <a:ea typeface="仿宋" pitchFamily="49" charset="-122"/>
                <a:cs typeface="Consolas" pitchFamily="49" charset="0"/>
              </a:rPr>
              <a:t>DLinkNode</a:t>
            </a:r>
            <a:r>
              <a:rPr kumimoji="1" lang="en-US" altLang="zh-CN" sz="2000" dirty="0">
                <a:solidFill>
                  <a:srgbClr val="0000FF"/>
                </a:solidFill>
                <a:latin typeface="Consolas" pitchFamily="49" charset="0"/>
                <a:ea typeface="仿宋" pitchFamily="49" charset="-122"/>
                <a:cs typeface="Consolas" pitchFamily="49" charset="0"/>
              </a:rPr>
              <a:t>;</a:t>
            </a:r>
          </a:p>
        </p:txBody>
      </p:sp>
      <p:grpSp>
        <p:nvGrpSpPr>
          <p:cNvPr id="5" name="组合 15">
            <a:extLst>
              <a:ext uri="{FF2B5EF4-FFF2-40B4-BE49-F238E27FC236}">
                <a16:creationId xmlns:a16="http://schemas.microsoft.com/office/drawing/2014/main" id="{D61BBD94-869A-48E7-B751-6C7D1D0DD47F}"/>
              </a:ext>
            </a:extLst>
          </p:cNvPr>
          <p:cNvGrpSpPr/>
          <p:nvPr/>
        </p:nvGrpSpPr>
        <p:grpSpPr>
          <a:xfrm>
            <a:off x="3007038" y="3305378"/>
            <a:ext cx="1611320" cy="2355870"/>
            <a:chOff x="2714612" y="2500305"/>
            <a:chExt cx="1611320" cy="2355870"/>
          </a:xfrm>
        </p:grpSpPr>
        <p:sp>
          <p:nvSpPr>
            <p:cNvPr id="6" name="Rectangle 28">
              <a:extLst>
                <a:ext uri="{FF2B5EF4-FFF2-40B4-BE49-F238E27FC236}">
                  <a16:creationId xmlns:a16="http://schemas.microsoft.com/office/drawing/2014/main" id="{F5131F84-80C8-4B3C-A660-30B5C86996D4}"/>
                </a:ext>
              </a:extLst>
            </p:cNvPr>
            <p:cNvSpPr>
              <a:spLocks noChangeArrowheads="1"/>
            </p:cNvSpPr>
            <p:nvPr/>
          </p:nvSpPr>
          <p:spPr bwMode="auto">
            <a:xfrm>
              <a:off x="3244845" y="4424375"/>
              <a:ext cx="539750" cy="431800"/>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p>
              <a:endParaRPr lang="en-US" altLang="zh-CN" sz="2800" baseline="-25000" dirty="0">
                <a:solidFill>
                  <a:srgbClr val="3333FF"/>
                </a:solidFill>
                <a:latin typeface="Consolas" pitchFamily="49" charset="0"/>
                <a:cs typeface="Consolas" pitchFamily="49" charset="0"/>
              </a:endParaRPr>
            </a:p>
          </p:txBody>
        </p:sp>
        <p:sp>
          <p:nvSpPr>
            <p:cNvPr id="7" name="Rectangle 29">
              <a:extLst>
                <a:ext uri="{FF2B5EF4-FFF2-40B4-BE49-F238E27FC236}">
                  <a16:creationId xmlns:a16="http://schemas.microsoft.com/office/drawing/2014/main" id="{4672FAEB-B119-4C8B-AE36-9ECC8343A4DA}"/>
                </a:ext>
              </a:extLst>
            </p:cNvPr>
            <p:cNvSpPr>
              <a:spLocks noChangeArrowheads="1"/>
            </p:cNvSpPr>
            <p:nvPr/>
          </p:nvSpPr>
          <p:spPr bwMode="auto">
            <a:xfrm>
              <a:off x="3786182" y="4424375"/>
              <a:ext cx="539750" cy="431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zh-CN" altLang="zh-CN" sz="2800" baseline="-25000">
                <a:solidFill>
                  <a:srgbClr val="3333FF"/>
                </a:solidFill>
                <a:latin typeface="Consolas" pitchFamily="49" charset="0"/>
                <a:cs typeface="Consolas" pitchFamily="49" charset="0"/>
              </a:endParaRPr>
            </a:p>
          </p:txBody>
        </p:sp>
        <p:sp>
          <p:nvSpPr>
            <p:cNvPr id="8" name="Rectangle 6">
              <a:extLst>
                <a:ext uri="{FF2B5EF4-FFF2-40B4-BE49-F238E27FC236}">
                  <a16:creationId xmlns:a16="http://schemas.microsoft.com/office/drawing/2014/main" id="{358BD864-D9C3-433D-94A8-85509A305938}"/>
                </a:ext>
              </a:extLst>
            </p:cNvPr>
            <p:cNvSpPr>
              <a:spLocks noChangeArrowheads="1"/>
            </p:cNvSpPr>
            <p:nvPr/>
          </p:nvSpPr>
          <p:spPr bwMode="auto">
            <a:xfrm>
              <a:off x="2714612" y="4424375"/>
              <a:ext cx="539750" cy="431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zh-CN" altLang="zh-CN" sz="2800" baseline="-25000" dirty="0">
                <a:solidFill>
                  <a:srgbClr val="3333FF"/>
                </a:solidFill>
                <a:latin typeface="Consolas" pitchFamily="49" charset="0"/>
                <a:cs typeface="Consolas" pitchFamily="49" charset="0"/>
              </a:endParaRPr>
            </a:p>
          </p:txBody>
        </p:sp>
        <p:cxnSp>
          <p:nvCxnSpPr>
            <p:cNvPr id="9" name="直接箭头连接符 8">
              <a:extLst>
                <a:ext uri="{FF2B5EF4-FFF2-40B4-BE49-F238E27FC236}">
                  <a16:creationId xmlns:a16="http://schemas.microsoft.com/office/drawing/2014/main" id="{D3DFA344-C26D-4ACF-928E-67A20539A46A}"/>
                </a:ext>
              </a:extLst>
            </p:cNvPr>
            <p:cNvCxnSpPr>
              <a:endCxn id="6" idx="0"/>
            </p:cNvCxnSpPr>
            <p:nvPr/>
          </p:nvCxnSpPr>
          <p:spPr>
            <a:xfrm rot="16200000" flipH="1">
              <a:off x="2509823" y="3419477"/>
              <a:ext cx="1924069" cy="85726"/>
            </a:xfrm>
            <a:prstGeom prst="straightConnector1">
              <a:avLst/>
            </a:prstGeom>
            <a:ln>
              <a:tailEnd type="arrow"/>
            </a:ln>
          </p:spPr>
          <p:style>
            <a:lnRef idx="2">
              <a:schemeClr val="accent5"/>
            </a:lnRef>
            <a:fillRef idx="0">
              <a:schemeClr val="accent5"/>
            </a:fillRef>
            <a:effectRef idx="1">
              <a:schemeClr val="accent5"/>
            </a:effectRef>
            <a:fontRef idx="minor">
              <a:schemeClr val="tx1"/>
            </a:fontRef>
          </p:style>
        </p:cxnSp>
        <p:cxnSp>
          <p:nvCxnSpPr>
            <p:cNvPr id="10" name="直接箭头连接符 9">
              <a:extLst>
                <a:ext uri="{FF2B5EF4-FFF2-40B4-BE49-F238E27FC236}">
                  <a16:creationId xmlns:a16="http://schemas.microsoft.com/office/drawing/2014/main" id="{B1685836-2A10-4C8F-AAD0-CEC82D590853}"/>
                </a:ext>
              </a:extLst>
            </p:cNvPr>
            <p:cNvCxnSpPr>
              <a:endCxn id="8" idx="0"/>
            </p:cNvCxnSpPr>
            <p:nvPr/>
          </p:nvCxnSpPr>
          <p:spPr>
            <a:xfrm rot="5400000">
              <a:off x="2744773" y="3168649"/>
              <a:ext cx="1495441" cy="1016011"/>
            </a:xfrm>
            <a:prstGeom prst="straightConnector1">
              <a:avLst/>
            </a:prstGeom>
            <a:ln>
              <a:tailEnd type="arrow"/>
            </a:ln>
          </p:spPr>
          <p:style>
            <a:lnRef idx="2">
              <a:schemeClr val="accent5"/>
            </a:lnRef>
            <a:fillRef idx="0">
              <a:schemeClr val="accent5"/>
            </a:fillRef>
            <a:effectRef idx="1">
              <a:schemeClr val="accent5"/>
            </a:effectRef>
            <a:fontRef idx="minor">
              <a:schemeClr val="tx1"/>
            </a:fontRef>
          </p:style>
        </p:cxnSp>
        <p:cxnSp>
          <p:nvCxnSpPr>
            <p:cNvPr id="11" name="直接箭头连接符 10">
              <a:extLst>
                <a:ext uri="{FF2B5EF4-FFF2-40B4-BE49-F238E27FC236}">
                  <a16:creationId xmlns:a16="http://schemas.microsoft.com/office/drawing/2014/main" id="{31421323-4A50-403D-936D-586D6B8BF45E}"/>
                </a:ext>
              </a:extLst>
            </p:cNvPr>
            <p:cNvCxnSpPr>
              <a:endCxn id="7" idx="0"/>
            </p:cNvCxnSpPr>
            <p:nvPr/>
          </p:nvCxnSpPr>
          <p:spPr>
            <a:xfrm rot="16200000" flipH="1">
              <a:off x="3459151" y="3827468"/>
              <a:ext cx="1138251" cy="55562"/>
            </a:xfrm>
            <a:prstGeom prst="straightConnector1">
              <a:avLst/>
            </a:prstGeom>
            <a:ln>
              <a:tailEnd type="arrow"/>
            </a:ln>
          </p:spPr>
          <p:style>
            <a:lnRef idx="2">
              <a:schemeClr val="accent5"/>
            </a:lnRef>
            <a:fillRef idx="0">
              <a:schemeClr val="accent5"/>
            </a:fillRef>
            <a:effectRef idx="1">
              <a:schemeClr val="accent5"/>
            </a:effectRef>
            <a:fontRef idx="minor">
              <a:schemeClr val="tx1"/>
            </a:fontRef>
          </p:style>
        </p:cxnSp>
      </p:grpSp>
    </p:spTree>
    <p:extLst>
      <p:ext uri="{BB962C8B-B14F-4D97-AF65-F5344CB8AC3E}">
        <p14:creationId xmlns:p14="http://schemas.microsoft.com/office/powerpoint/2010/main" val="64528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71538" y="642918"/>
            <a:ext cx="7929618" cy="5786478"/>
          </a:xfrm>
        </p:spPr>
        <p:txBody>
          <a:bodyPr>
            <a:noAutofit/>
          </a:bodyPr>
          <a:lstStyle/>
          <a:p>
            <a:pPr>
              <a:lnSpc>
                <a:spcPct val="100000"/>
              </a:lnSpc>
              <a:spcBef>
                <a:spcPts val="0"/>
              </a:spcBef>
            </a:pPr>
            <a:r>
              <a:rPr lang="en-US" sz="1800" b="0" dirty="0"/>
              <a:t>template &lt;class Elem&gt;</a:t>
            </a:r>
            <a:endParaRPr lang="zh-CN" altLang="en-US" sz="1800" b="0" dirty="0"/>
          </a:p>
          <a:p>
            <a:pPr>
              <a:lnSpc>
                <a:spcPct val="100000"/>
              </a:lnSpc>
              <a:spcBef>
                <a:spcPts val="0"/>
              </a:spcBef>
            </a:pPr>
            <a:r>
              <a:rPr lang="en-US" sz="1800" b="0" dirty="0"/>
              <a:t>class </a:t>
            </a:r>
            <a:r>
              <a:rPr lang="en-US" sz="1800" b="0" dirty="0" err="1"/>
              <a:t>DList</a:t>
            </a:r>
            <a:r>
              <a:rPr lang="en-US" sz="1800" b="0" dirty="0"/>
              <a:t> : public List&lt;Elem&gt; {	//</a:t>
            </a:r>
            <a:r>
              <a:rPr lang="zh-CN" altLang="en-US" sz="1800" dirty="0">
                <a:solidFill>
                  <a:srgbClr val="FF0000"/>
                </a:solidFill>
              </a:rPr>
              <a:t>双向链表类</a:t>
            </a:r>
            <a:r>
              <a:rPr lang="zh-CN" altLang="en-US" sz="1800" b="0" dirty="0"/>
              <a:t>的定义</a:t>
            </a:r>
          </a:p>
          <a:p>
            <a:pPr>
              <a:lnSpc>
                <a:spcPct val="100000"/>
              </a:lnSpc>
              <a:spcBef>
                <a:spcPts val="0"/>
              </a:spcBef>
            </a:pPr>
            <a:r>
              <a:rPr lang="en-US" sz="1800" b="0" dirty="0"/>
              <a:t>private:</a:t>
            </a:r>
            <a:endParaRPr lang="zh-CN" altLang="en-US" sz="1800" b="0" dirty="0"/>
          </a:p>
          <a:p>
            <a:pPr>
              <a:lnSpc>
                <a:spcPct val="100000"/>
              </a:lnSpc>
              <a:spcBef>
                <a:spcPts val="0"/>
              </a:spcBef>
            </a:pPr>
            <a:r>
              <a:rPr lang="en-US" sz="1800" b="0" dirty="0"/>
              <a:t>	</a:t>
            </a:r>
            <a:r>
              <a:rPr lang="en-US" sz="1800" b="0" dirty="0" err="1"/>
              <a:t>DLink</a:t>
            </a:r>
            <a:r>
              <a:rPr lang="en-US" sz="1800" b="0" dirty="0"/>
              <a:t> *head, *tail, *</a:t>
            </a:r>
            <a:r>
              <a:rPr lang="en-US" sz="1800" b="0" dirty="0" err="1"/>
              <a:t>curr</a:t>
            </a:r>
            <a:r>
              <a:rPr lang="en-US" sz="1800" b="0" dirty="0"/>
              <a:t>;</a:t>
            </a:r>
            <a:r>
              <a:rPr lang="en-US" altLang="zh-CN" sz="1800" b="0" dirty="0"/>
              <a:t>  // </a:t>
            </a:r>
            <a:r>
              <a:rPr lang="zh-CN" altLang="en-US" sz="1800" b="0" dirty="0"/>
              <a:t>双向链表的</a:t>
            </a:r>
            <a:r>
              <a:rPr lang="zh-CN" altLang="zh-CN" sz="1800" b="0" dirty="0"/>
              <a:t>头指针</a:t>
            </a:r>
            <a:r>
              <a:rPr lang="zh-CN" altLang="en-US" sz="1800" b="0" dirty="0"/>
              <a:t>、尾指针、当前结点</a:t>
            </a:r>
          </a:p>
          <a:p>
            <a:pPr>
              <a:lnSpc>
                <a:spcPct val="100000"/>
              </a:lnSpc>
              <a:spcBef>
                <a:spcPts val="0"/>
              </a:spcBef>
            </a:pPr>
            <a:r>
              <a:rPr lang="en-US" sz="1800" b="0" dirty="0"/>
              <a:t>public:</a:t>
            </a:r>
            <a:endParaRPr lang="zh-CN" altLang="en-US" sz="1800" b="0" dirty="0"/>
          </a:p>
          <a:p>
            <a:pPr>
              <a:lnSpc>
                <a:spcPct val="100000"/>
              </a:lnSpc>
              <a:spcBef>
                <a:spcPts val="0"/>
              </a:spcBef>
            </a:pPr>
            <a:r>
              <a:rPr lang="en-US" sz="1800" b="0" dirty="0"/>
              <a:t>	</a:t>
            </a:r>
            <a:r>
              <a:rPr lang="en-US" sz="1800" b="0" dirty="0" err="1"/>
              <a:t>DList</a:t>
            </a:r>
            <a:r>
              <a:rPr lang="en-US" sz="1800" b="0" dirty="0"/>
              <a:t> ( ) { </a:t>
            </a:r>
            <a:r>
              <a:rPr lang="en-US" sz="1800" b="0" dirty="0" err="1"/>
              <a:t>curr</a:t>
            </a:r>
            <a:r>
              <a:rPr lang="en-US" sz="1800" b="0" dirty="0"/>
              <a:t>= tail = head = new </a:t>
            </a:r>
            <a:r>
              <a:rPr lang="en-US" sz="1800" b="0" dirty="0" err="1"/>
              <a:t>DLink</a:t>
            </a:r>
            <a:r>
              <a:rPr lang="en-US" sz="1800" b="0" dirty="0"/>
              <a:t>&lt;Elem&gt;; //</a:t>
            </a:r>
            <a:r>
              <a:rPr lang="zh-CN" altLang="en-US" sz="1800" b="0" dirty="0"/>
              <a:t>创建一个头结点</a:t>
            </a:r>
            <a:endParaRPr lang="en-US" altLang="zh-CN" sz="1800" b="0" dirty="0"/>
          </a:p>
          <a:p>
            <a:pPr>
              <a:lnSpc>
                <a:spcPct val="100000"/>
              </a:lnSpc>
              <a:spcBef>
                <a:spcPts val="0"/>
              </a:spcBef>
            </a:pPr>
            <a:r>
              <a:rPr lang="en-US" altLang="zh-CN" sz="1800" b="0" dirty="0"/>
              <a:t>	}</a:t>
            </a:r>
            <a:endParaRPr lang="zh-CN" altLang="en-US" sz="1800" b="0" dirty="0"/>
          </a:p>
          <a:p>
            <a:pPr>
              <a:lnSpc>
                <a:spcPct val="100000"/>
              </a:lnSpc>
              <a:spcBef>
                <a:spcPts val="0"/>
              </a:spcBef>
            </a:pPr>
            <a:r>
              <a:rPr lang="en-US" sz="1800" b="0" dirty="0"/>
              <a:t>	~ </a:t>
            </a:r>
            <a:r>
              <a:rPr lang="en-US" sz="1800" b="0" dirty="0" err="1"/>
              <a:t>DList</a:t>
            </a:r>
            <a:r>
              <a:rPr lang="en-US" sz="1800" b="0" dirty="0"/>
              <a:t>(){</a:t>
            </a:r>
            <a:endParaRPr lang="zh-CN" altLang="en-US" sz="1800" b="0" dirty="0"/>
          </a:p>
          <a:p>
            <a:pPr>
              <a:lnSpc>
                <a:spcPct val="100000"/>
              </a:lnSpc>
              <a:spcBef>
                <a:spcPts val="0"/>
              </a:spcBef>
            </a:pPr>
            <a:r>
              <a:rPr lang="en-US" sz="1800" b="0" dirty="0"/>
              <a:t>		while(head != NULL){ 	// </a:t>
            </a:r>
            <a:r>
              <a:rPr lang="zh-CN" altLang="en-US" sz="1800" b="0" dirty="0"/>
              <a:t>释放所有的结点</a:t>
            </a:r>
          </a:p>
          <a:p>
            <a:pPr>
              <a:lnSpc>
                <a:spcPct val="100000"/>
              </a:lnSpc>
              <a:spcBef>
                <a:spcPts val="0"/>
              </a:spcBef>
            </a:pPr>
            <a:r>
              <a:rPr lang="en-US" sz="1800" b="0" dirty="0"/>
              <a:t>			</a:t>
            </a:r>
            <a:r>
              <a:rPr lang="en-US" sz="1800" b="0" dirty="0" err="1"/>
              <a:t>curr</a:t>
            </a:r>
            <a:r>
              <a:rPr lang="en-US" sz="1800" b="0" dirty="0"/>
              <a:t>=head;  head=head-&gt;next; delete </a:t>
            </a:r>
            <a:r>
              <a:rPr lang="en-US" sz="1800" b="0" dirty="0" err="1"/>
              <a:t>curr</a:t>
            </a:r>
            <a:r>
              <a:rPr lang="en-US" sz="1800" b="0" dirty="0"/>
              <a:t>;</a:t>
            </a:r>
            <a:endParaRPr lang="zh-CN" altLang="en-US" sz="1800" b="0" dirty="0"/>
          </a:p>
          <a:p>
            <a:pPr>
              <a:lnSpc>
                <a:spcPct val="100000"/>
              </a:lnSpc>
              <a:spcBef>
                <a:spcPts val="0"/>
              </a:spcBef>
            </a:pPr>
            <a:r>
              <a:rPr lang="en-US" sz="1800" b="0" dirty="0"/>
              <a:t>		}</a:t>
            </a:r>
            <a:endParaRPr lang="zh-CN" altLang="en-US" sz="1800" b="0" dirty="0"/>
          </a:p>
          <a:p>
            <a:pPr>
              <a:lnSpc>
                <a:spcPct val="100000"/>
              </a:lnSpc>
              <a:spcBef>
                <a:spcPts val="0"/>
              </a:spcBef>
            </a:pPr>
            <a:r>
              <a:rPr lang="en-US" sz="1800" b="0" dirty="0"/>
              <a:t>	} </a:t>
            </a:r>
            <a:endParaRPr lang="zh-CN" altLang="en-US" sz="1800" b="0" dirty="0"/>
          </a:p>
          <a:p>
            <a:pPr>
              <a:lnSpc>
                <a:spcPct val="100000"/>
              </a:lnSpc>
              <a:spcBef>
                <a:spcPts val="0"/>
              </a:spcBef>
            </a:pPr>
            <a:r>
              <a:rPr lang="en-US" sz="1800" b="0" dirty="0"/>
              <a:t>	void </a:t>
            </a:r>
            <a:r>
              <a:rPr lang="en-US" sz="1800" b="0" dirty="0" err="1"/>
              <a:t>Prev</a:t>
            </a:r>
            <a:r>
              <a:rPr lang="en-US" sz="1800" b="0" dirty="0"/>
              <a:t>( );	 		//</a:t>
            </a:r>
            <a:r>
              <a:rPr lang="zh-CN" altLang="en-US" sz="1800" b="0" dirty="0"/>
              <a:t>当前位置指针</a:t>
            </a:r>
            <a:r>
              <a:rPr lang="en-US" sz="1800" b="0" dirty="0" err="1"/>
              <a:t>curr</a:t>
            </a:r>
            <a:r>
              <a:rPr lang="zh-CN" altLang="en-US" sz="1800" b="0" dirty="0"/>
              <a:t>前移到前驱</a:t>
            </a:r>
          </a:p>
          <a:p>
            <a:pPr>
              <a:lnSpc>
                <a:spcPct val="100000"/>
              </a:lnSpc>
              <a:spcBef>
                <a:spcPts val="0"/>
              </a:spcBef>
            </a:pPr>
            <a:r>
              <a:rPr lang="en-US" sz="1800" b="0" dirty="0"/>
              <a:t>	void Next( );			//</a:t>
            </a:r>
            <a:r>
              <a:rPr lang="zh-CN" altLang="en-US" sz="1800" b="0" dirty="0"/>
              <a:t>当前位置指针</a:t>
            </a:r>
            <a:r>
              <a:rPr lang="en-US" sz="1800" b="0" dirty="0" err="1"/>
              <a:t>curr</a:t>
            </a:r>
            <a:r>
              <a:rPr lang="zh-CN" altLang="en-US" sz="1800" b="0" dirty="0"/>
              <a:t>后移到后继</a:t>
            </a:r>
          </a:p>
          <a:p>
            <a:pPr>
              <a:lnSpc>
                <a:spcPct val="100000"/>
              </a:lnSpc>
              <a:spcBef>
                <a:spcPts val="0"/>
              </a:spcBef>
            </a:pPr>
            <a:r>
              <a:rPr lang="en-US" sz="1800" b="0" dirty="0"/>
              <a:t>	</a:t>
            </a:r>
            <a:r>
              <a:rPr lang="en-US" sz="1800" b="0" dirty="0" err="1"/>
              <a:t>bool</a:t>
            </a:r>
            <a:r>
              <a:rPr lang="en-US" sz="1800" b="0" dirty="0"/>
              <a:t> </a:t>
            </a:r>
            <a:r>
              <a:rPr lang="en-US" sz="1800" b="0" dirty="0" err="1"/>
              <a:t>setPos</a:t>
            </a:r>
            <a:r>
              <a:rPr lang="en-US" sz="1800" b="0" dirty="0"/>
              <a:t>(</a:t>
            </a:r>
            <a:r>
              <a:rPr lang="en-US" sz="1800" b="0" dirty="0" err="1"/>
              <a:t>int</a:t>
            </a:r>
            <a:r>
              <a:rPr lang="en-US" sz="1800" b="0" dirty="0"/>
              <a:t> pos);	  	//</a:t>
            </a:r>
            <a:r>
              <a:rPr lang="zh-CN" altLang="en-US" sz="1800" b="0" dirty="0"/>
              <a:t>任意指定当前数据元素的位置</a:t>
            </a:r>
          </a:p>
          <a:p>
            <a:pPr>
              <a:lnSpc>
                <a:spcPct val="100000"/>
              </a:lnSpc>
              <a:spcBef>
                <a:spcPts val="0"/>
              </a:spcBef>
            </a:pPr>
            <a:r>
              <a:rPr lang="en-US" sz="1800" b="0" dirty="0"/>
              <a:t>	void Create(</a:t>
            </a:r>
            <a:r>
              <a:rPr lang="en-US" sz="1800" b="0" dirty="0" err="1"/>
              <a:t>int</a:t>
            </a:r>
            <a:r>
              <a:rPr lang="en-US" sz="1800" b="0" dirty="0"/>
              <a:t> n);     		//</a:t>
            </a:r>
            <a:r>
              <a:rPr lang="zh-CN" altLang="en-US" sz="1800" b="0" dirty="0"/>
              <a:t>创建长度为</a:t>
            </a:r>
            <a:r>
              <a:rPr lang="en-US" sz="1800" b="0" dirty="0"/>
              <a:t>n</a:t>
            </a:r>
            <a:r>
              <a:rPr lang="zh-CN" altLang="en-US" sz="1800" b="0" dirty="0"/>
              <a:t>的双链表</a:t>
            </a:r>
          </a:p>
          <a:p>
            <a:pPr>
              <a:lnSpc>
                <a:spcPct val="100000"/>
              </a:lnSpc>
              <a:spcBef>
                <a:spcPts val="0"/>
              </a:spcBef>
            </a:pPr>
            <a:r>
              <a:rPr lang="en-US" sz="1800" b="0" dirty="0"/>
              <a:t>	</a:t>
            </a:r>
            <a:r>
              <a:rPr lang="en-US" sz="1800" b="0" dirty="0" err="1"/>
              <a:t>bool</a:t>
            </a:r>
            <a:r>
              <a:rPr lang="en-US" sz="1800" b="0" dirty="0"/>
              <a:t> </a:t>
            </a:r>
            <a:r>
              <a:rPr lang="en-US" sz="1800" b="0" dirty="0" err="1"/>
              <a:t>getValue</a:t>
            </a:r>
            <a:r>
              <a:rPr lang="en-US" sz="1800" b="0" dirty="0"/>
              <a:t>(Elem &amp;x);		//</a:t>
            </a:r>
            <a:r>
              <a:rPr lang="zh-CN" altLang="en-US" sz="1800" b="0" dirty="0"/>
              <a:t>取表中当前位置元素的值</a:t>
            </a:r>
          </a:p>
          <a:p>
            <a:pPr>
              <a:lnSpc>
                <a:spcPct val="100000"/>
              </a:lnSpc>
              <a:spcBef>
                <a:spcPts val="0"/>
              </a:spcBef>
            </a:pPr>
            <a:r>
              <a:rPr lang="en-US" sz="1800" b="0" dirty="0"/>
              <a:t>	</a:t>
            </a:r>
            <a:r>
              <a:rPr lang="en-US" sz="1800" b="0" dirty="0" err="1"/>
              <a:t>bool</a:t>
            </a:r>
            <a:r>
              <a:rPr lang="en-US" sz="1800" b="0" dirty="0"/>
              <a:t> </a:t>
            </a:r>
            <a:r>
              <a:rPr lang="en-US" sz="1800" b="0" dirty="0">
                <a:solidFill>
                  <a:srgbClr val="FF0000"/>
                </a:solidFill>
              </a:rPr>
              <a:t>insert</a:t>
            </a:r>
            <a:r>
              <a:rPr lang="en-US" sz="1800" b="0" dirty="0"/>
              <a:t>( const Elem x);	//</a:t>
            </a:r>
            <a:r>
              <a:rPr lang="zh-CN" altLang="en-US" sz="1800" b="0" dirty="0"/>
              <a:t>在当前结点之后插入元素</a:t>
            </a:r>
          </a:p>
          <a:p>
            <a:pPr>
              <a:lnSpc>
                <a:spcPct val="100000"/>
              </a:lnSpc>
              <a:spcBef>
                <a:spcPts val="0"/>
              </a:spcBef>
            </a:pPr>
            <a:r>
              <a:rPr lang="en-US" sz="1800" b="0" dirty="0"/>
              <a:t>	</a:t>
            </a:r>
            <a:r>
              <a:rPr lang="en-US" sz="1800" b="0" dirty="0" err="1"/>
              <a:t>bool</a:t>
            </a:r>
            <a:r>
              <a:rPr lang="en-US" sz="1800" b="0" dirty="0"/>
              <a:t> </a:t>
            </a:r>
            <a:r>
              <a:rPr lang="en-US" sz="1800" b="0" dirty="0">
                <a:solidFill>
                  <a:srgbClr val="FF0000"/>
                </a:solidFill>
              </a:rPr>
              <a:t>remove</a:t>
            </a:r>
            <a:r>
              <a:rPr lang="en-US" sz="1800" b="0" dirty="0"/>
              <a:t>( Elem &amp;x)</a:t>
            </a:r>
            <a:r>
              <a:rPr lang="zh-CN" altLang="en-US" sz="1800" b="0" dirty="0"/>
              <a:t>；</a:t>
            </a:r>
            <a:r>
              <a:rPr lang="en-US" sz="1800" b="0" dirty="0"/>
              <a:t>  	//</a:t>
            </a:r>
            <a:r>
              <a:rPr lang="zh-CN" altLang="en-US" sz="1800" b="0" dirty="0"/>
              <a:t>删除当前结点之后的元素</a:t>
            </a:r>
          </a:p>
          <a:p>
            <a:pPr>
              <a:lnSpc>
                <a:spcPct val="100000"/>
              </a:lnSpc>
              <a:spcBef>
                <a:spcPts val="0"/>
              </a:spcBef>
            </a:pPr>
            <a:r>
              <a:rPr lang="en-US" sz="1800" b="0" dirty="0"/>
              <a:t>}</a:t>
            </a:r>
            <a:endParaRPr lang="zh-CN" altLang="en-US" sz="1800" b="0" dirty="0"/>
          </a:p>
          <a:p>
            <a:pPr>
              <a:lnSpc>
                <a:spcPct val="100000"/>
              </a:lnSpc>
              <a:spcBef>
                <a:spcPts val="0"/>
              </a:spcBef>
            </a:pPr>
            <a:endParaRPr lang="zh-CN" altLang="en-US" sz="1800" b="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628800"/>
            <a:ext cx="7520940" cy="3960440"/>
          </a:xfrm>
        </p:spPr>
        <p:txBody>
          <a:bodyPr/>
          <a:lstStyle/>
          <a:p>
            <a:pPr algn="just"/>
            <a:r>
              <a:rPr lang="en-US" altLang="zh-CN" dirty="0"/>
              <a:t>	</a:t>
            </a:r>
            <a:r>
              <a:rPr lang="zh-CN" altLang="zh-CN" b="0" dirty="0"/>
              <a:t>双向链表是一种</a:t>
            </a:r>
            <a:r>
              <a:rPr lang="zh-CN" altLang="zh-CN" b="0" dirty="0">
                <a:solidFill>
                  <a:srgbClr val="FF0000"/>
                </a:solidFill>
              </a:rPr>
              <a:t>对称结构</a:t>
            </a:r>
            <a:r>
              <a:rPr lang="zh-CN" altLang="zh-CN" b="0" dirty="0"/>
              <a:t>，若</a:t>
            </a:r>
            <a:r>
              <a:rPr lang="en-US" altLang="zh-CN" b="0" dirty="0"/>
              <a:t>p</a:t>
            </a:r>
            <a:r>
              <a:rPr lang="zh-CN" altLang="zh-CN" b="0" dirty="0"/>
              <a:t>为指向表中某一结点的指针，则有：</a:t>
            </a:r>
          </a:p>
          <a:p>
            <a:pPr algn="ctr"/>
            <a:r>
              <a:rPr lang="en-US" altLang="zh-CN" b="0" dirty="0"/>
              <a:t>p-&gt;next-&gt;</a:t>
            </a:r>
            <a:r>
              <a:rPr lang="en-US" altLang="zh-CN" b="0" dirty="0" err="1"/>
              <a:t>prev</a:t>
            </a:r>
            <a:r>
              <a:rPr lang="en-US" altLang="zh-CN" b="0" dirty="0"/>
              <a:t> = p-&gt;</a:t>
            </a:r>
            <a:r>
              <a:rPr lang="en-US" altLang="zh-CN" b="0" dirty="0" err="1"/>
              <a:t>prev</a:t>
            </a:r>
            <a:r>
              <a:rPr lang="en-US" altLang="zh-CN" b="0" dirty="0"/>
              <a:t>-&gt;next = p</a:t>
            </a:r>
            <a:endParaRPr lang="zh-CN" altLang="zh-CN" b="0" dirty="0"/>
          </a:p>
          <a:p>
            <a:pPr algn="just"/>
            <a:r>
              <a:rPr lang="en-US" altLang="zh-CN" b="0" dirty="0"/>
              <a:t>	</a:t>
            </a:r>
            <a:r>
              <a:rPr lang="zh-CN" altLang="zh-CN" b="0" dirty="0"/>
              <a:t>双向链表与单链表在实现插入或删除操作时有很大的不同，因为在双向链表中实施插入或删除操作时，不但要修改指向其直接后继的指针</a:t>
            </a:r>
            <a:r>
              <a:rPr lang="en-US" altLang="zh-CN" b="0" dirty="0"/>
              <a:t>next</a:t>
            </a:r>
            <a:r>
              <a:rPr lang="zh-CN" altLang="zh-CN" b="0" dirty="0"/>
              <a:t>，而且还要修改指向其直接前驱的指针</a:t>
            </a:r>
            <a:r>
              <a:rPr lang="en-US" altLang="zh-CN" b="0" dirty="0" err="1"/>
              <a:t>prev</a:t>
            </a:r>
            <a:r>
              <a:rPr lang="zh-CN" altLang="zh-CN" b="0" dirty="0"/>
              <a:t>。</a:t>
            </a:r>
          </a:p>
          <a:p>
            <a:endParaRPr lang="zh-CN" altLang="en-US" dirty="0"/>
          </a:p>
        </p:txBody>
      </p:sp>
    </p:spTree>
    <p:extLst>
      <p:ext uri="{BB962C8B-B14F-4D97-AF65-F5344CB8AC3E}">
        <p14:creationId xmlns:p14="http://schemas.microsoft.com/office/powerpoint/2010/main" val="373263439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836713"/>
            <a:ext cx="7920880" cy="648072"/>
          </a:xfrm>
        </p:spPr>
        <p:txBody>
          <a:bodyPr/>
          <a:lstStyle/>
          <a:p>
            <a:r>
              <a:rPr lang="zh-CN" altLang="zh-CN" dirty="0"/>
              <a:t>（</a:t>
            </a:r>
            <a:r>
              <a:rPr lang="en-US" altLang="zh-CN" dirty="0"/>
              <a:t>1</a:t>
            </a:r>
            <a:r>
              <a:rPr lang="zh-CN" altLang="zh-CN" dirty="0"/>
              <a:t>）</a:t>
            </a:r>
            <a:r>
              <a:rPr lang="zh-CN" altLang="zh-CN" dirty="0">
                <a:solidFill>
                  <a:srgbClr val="FF0000"/>
                </a:solidFill>
              </a:rPr>
              <a:t>在当前结点之后插入一个新结点</a:t>
            </a:r>
            <a:r>
              <a:rPr lang="zh-CN" altLang="zh-CN" dirty="0"/>
              <a:t>，如图</a:t>
            </a:r>
            <a:r>
              <a:rPr lang="en-US" altLang="zh-CN" dirty="0"/>
              <a:t>2-15</a:t>
            </a:r>
            <a:r>
              <a:rPr lang="zh-CN" altLang="zh-CN" dirty="0"/>
              <a:t>所示。</a:t>
            </a:r>
          </a:p>
          <a:p>
            <a:endParaRPr lang="zh-CN" altLang="en-US" dirty="0"/>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4" name="对象 3"/>
          <p:cNvGraphicFramePr>
            <a:graphicFrameLocks noChangeAspect="1"/>
          </p:cNvGraphicFramePr>
          <p:nvPr>
            <p:extLst>
              <p:ext uri="{D42A27DB-BD31-4B8C-83A1-F6EECF244321}">
                <p14:modId xmlns:p14="http://schemas.microsoft.com/office/powerpoint/2010/main" val="1977019280"/>
              </p:ext>
            </p:extLst>
          </p:nvPr>
        </p:nvGraphicFramePr>
        <p:xfrm>
          <a:off x="899592" y="1340768"/>
          <a:ext cx="7459603" cy="2088232"/>
        </p:xfrm>
        <a:graphic>
          <a:graphicData uri="http://schemas.openxmlformats.org/presentationml/2006/ole">
            <mc:AlternateContent xmlns:mc="http://schemas.openxmlformats.org/markup-compatibility/2006">
              <mc:Choice xmlns:v="urn:schemas-microsoft-com:vml" Requires="v">
                <p:oleObj spid="_x0000_s4213" r:id="rId3" imgW="5847404" imgH="1638480" progId="">
                  <p:embed/>
                </p:oleObj>
              </mc:Choice>
              <mc:Fallback>
                <p:oleObj r:id="rId3" imgW="5847404" imgH="163848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9592" y="1340768"/>
                        <a:ext cx="7459603" cy="20882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矩形 4"/>
          <p:cNvSpPr/>
          <p:nvPr/>
        </p:nvSpPr>
        <p:spPr>
          <a:xfrm>
            <a:off x="2267744" y="3501008"/>
            <a:ext cx="4309193" cy="400110"/>
          </a:xfrm>
          <a:prstGeom prst="rect">
            <a:avLst/>
          </a:prstGeom>
        </p:spPr>
        <p:txBody>
          <a:bodyPr wrap="none">
            <a:spAutoFit/>
          </a:bodyPr>
          <a:lstStyle/>
          <a:p>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图</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2-15 </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当前结点之后插入一个新结点</a:t>
            </a:r>
          </a:p>
        </p:txBody>
      </p:sp>
      <p:sp>
        <p:nvSpPr>
          <p:cNvPr id="6" name="矩形 5"/>
          <p:cNvSpPr/>
          <p:nvPr/>
        </p:nvSpPr>
        <p:spPr>
          <a:xfrm>
            <a:off x="1331640" y="4005064"/>
            <a:ext cx="4572000" cy="2308324"/>
          </a:xfrm>
          <a:prstGeom prst="rect">
            <a:avLst/>
          </a:prstGeom>
        </p:spPr>
        <p:txBody>
          <a:bodyPr>
            <a:spAutoFit/>
          </a:bodyPr>
          <a:lstStyle/>
          <a:p>
            <a:pPr>
              <a:spcBef>
                <a:spcPts val="0"/>
              </a:spcBef>
            </a:pPr>
            <a:r>
              <a:rPr lang="zh-CN" altLang="zh-CN" sz="2400" b="1" dirty="0">
                <a:latin typeface="Times New Roman" pitchFamily="18" charset="0"/>
                <a:ea typeface="楷体" panose="02010609060101010101" pitchFamily="49" charset="-122"/>
                <a:cs typeface="Times New Roman" pitchFamily="18" charset="0"/>
              </a:rPr>
              <a:t>指针的修改用语句描述为： </a:t>
            </a:r>
            <a:endParaRPr lang="en-US" altLang="zh-CN" sz="2400" b="1" dirty="0">
              <a:latin typeface="Times New Roman" pitchFamily="18" charset="0"/>
              <a:ea typeface="楷体" panose="02010609060101010101" pitchFamily="49" charset="-122"/>
              <a:cs typeface="Times New Roman" pitchFamily="18" charset="0"/>
            </a:endParaRPr>
          </a:p>
          <a:p>
            <a:pPr>
              <a:spcBef>
                <a:spcPts val="0"/>
              </a:spcBef>
            </a:pPr>
            <a:r>
              <a:rPr lang="en-US" altLang="zh-CN" sz="2400" dirty="0" err="1">
                <a:latin typeface="Times New Roman" pitchFamily="18" charset="0"/>
                <a:cs typeface="Times New Roman" pitchFamily="18" charset="0"/>
              </a:rPr>
              <a:t>nextptr</a:t>
            </a:r>
            <a:r>
              <a:rPr lang="en-US" altLang="zh-CN" sz="2400" dirty="0">
                <a:latin typeface="Times New Roman" pitchFamily="18" charset="0"/>
                <a:cs typeface="Times New Roman" pitchFamily="18" charset="0"/>
              </a:rPr>
              <a:t>  = </a:t>
            </a:r>
            <a:r>
              <a:rPr lang="en-US" altLang="zh-CN" sz="2400" dirty="0" err="1">
                <a:latin typeface="Times New Roman" pitchFamily="18" charset="0"/>
                <a:cs typeface="Times New Roman" pitchFamily="18" charset="0"/>
              </a:rPr>
              <a:t>curr</a:t>
            </a:r>
            <a:r>
              <a:rPr lang="en-US" altLang="zh-CN" sz="2400" dirty="0">
                <a:latin typeface="Times New Roman" pitchFamily="18" charset="0"/>
                <a:cs typeface="Times New Roman" pitchFamily="18" charset="0"/>
              </a:rPr>
              <a:t>-&gt;next;</a:t>
            </a:r>
          </a:p>
          <a:p>
            <a:pPr>
              <a:spcBef>
                <a:spcPts val="0"/>
              </a:spcBef>
            </a:pPr>
            <a:r>
              <a:rPr lang="en-US" altLang="zh-CN" sz="2400" dirty="0" err="1">
                <a:latin typeface="Times New Roman" pitchFamily="18" charset="0"/>
                <a:cs typeface="Times New Roman" pitchFamily="18" charset="0"/>
              </a:rPr>
              <a:t>newptr</a:t>
            </a:r>
            <a:r>
              <a:rPr lang="en-US" altLang="zh-CN" sz="2400" dirty="0">
                <a:latin typeface="Times New Roman" pitchFamily="18" charset="0"/>
                <a:cs typeface="Times New Roman" pitchFamily="18" charset="0"/>
              </a:rPr>
              <a:t> -&gt;next = </a:t>
            </a:r>
            <a:r>
              <a:rPr lang="en-US" altLang="zh-CN" sz="2400" dirty="0" err="1">
                <a:latin typeface="Times New Roman" pitchFamily="18" charset="0"/>
                <a:cs typeface="Times New Roman" pitchFamily="18" charset="0"/>
              </a:rPr>
              <a:t>nextptr</a:t>
            </a:r>
            <a:r>
              <a:rPr lang="en-US" altLang="zh-CN" sz="2400" dirty="0">
                <a:latin typeface="Times New Roman" pitchFamily="18" charset="0"/>
                <a:cs typeface="Times New Roman" pitchFamily="18" charset="0"/>
              </a:rPr>
              <a:t>;</a:t>
            </a:r>
            <a:endParaRPr lang="zh-CN" altLang="zh-CN" sz="2400" dirty="0">
              <a:latin typeface="Times New Roman" pitchFamily="18" charset="0"/>
              <a:cs typeface="Times New Roman" pitchFamily="18" charset="0"/>
            </a:endParaRPr>
          </a:p>
          <a:p>
            <a:pPr>
              <a:spcBef>
                <a:spcPts val="0"/>
              </a:spcBef>
            </a:pPr>
            <a:r>
              <a:rPr lang="en-US" altLang="zh-CN" sz="2400" dirty="0" err="1">
                <a:latin typeface="Times New Roman" pitchFamily="18" charset="0"/>
                <a:cs typeface="Times New Roman" pitchFamily="18" charset="0"/>
              </a:rPr>
              <a:t>newptr</a:t>
            </a:r>
            <a:r>
              <a:rPr lang="en-US" altLang="zh-CN" sz="2400" dirty="0">
                <a:latin typeface="Times New Roman" pitchFamily="18" charset="0"/>
                <a:cs typeface="Times New Roman" pitchFamily="18" charset="0"/>
              </a:rPr>
              <a:t> -&gt;</a:t>
            </a:r>
            <a:r>
              <a:rPr lang="en-US" altLang="zh-CN" sz="2400" dirty="0" err="1">
                <a:latin typeface="Times New Roman" pitchFamily="18" charset="0"/>
                <a:cs typeface="Times New Roman" pitchFamily="18" charset="0"/>
              </a:rPr>
              <a:t>prev</a:t>
            </a:r>
            <a:r>
              <a:rPr lang="en-US" altLang="zh-CN" sz="2400" dirty="0">
                <a:latin typeface="Times New Roman" pitchFamily="18" charset="0"/>
                <a:cs typeface="Times New Roman" pitchFamily="18" charset="0"/>
              </a:rPr>
              <a:t> = </a:t>
            </a:r>
            <a:r>
              <a:rPr lang="en-US" altLang="zh-CN" sz="2400" dirty="0" err="1">
                <a:latin typeface="Times New Roman" pitchFamily="18" charset="0"/>
                <a:cs typeface="Times New Roman" pitchFamily="18" charset="0"/>
              </a:rPr>
              <a:t>curr</a:t>
            </a:r>
            <a:r>
              <a:rPr lang="en-US" altLang="zh-CN" sz="2400" dirty="0">
                <a:latin typeface="Times New Roman" pitchFamily="18" charset="0"/>
                <a:cs typeface="Times New Roman" pitchFamily="18" charset="0"/>
              </a:rPr>
              <a:t>;</a:t>
            </a:r>
            <a:endParaRPr lang="zh-CN" altLang="zh-CN" sz="2400" dirty="0">
              <a:latin typeface="Times New Roman" pitchFamily="18" charset="0"/>
              <a:cs typeface="Times New Roman" pitchFamily="18" charset="0"/>
            </a:endParaRPr>
          </a:p>
          <a:p>
            <a:pPr>
              <a:spcBef>
                <a:spcPts val="0"/>
              </a:spcBef>
            </a:pPr>
            <a:r>
              <a:rPr lang="en-US" altLang="zh-CN" sz="2400" dirty="0" err="1">
                <a:latin typeface="Times New Roman" pitchFamily="18" charset="0"/>
                <a:cs typeface="Times New Roman" pitchFamily="18" charset="0"/>
              </a:rPr>
              <a:t>curr</a:t>
            </a:r>
            <a:r>
              <a:rPr lang="en-US" altLang="zh-CN" sz="2400" dirty="0">
                <a:latin typeface="Times New Roman" pitchFamily="18" charset="0"/>
                <a:cs typeface="Times New Roman" pitchFamily="18" charset="0"/>
              </a:rPr>
              <a:t>-&gt;next       = </a:t>
            </a:r>
            <a:r>
              <a:rPr lang="en-US" altLang="zh-CN" sz="2400" dirty="0" err="1">
                <a:latin typeface="Times New Roman" pitchFamily="18" charset="0"/>
                <a:cs typeface="Times New Roman" pitchFamily="18" charset="0"/>
              </a:rPr>
              <a:t>newptr</a:t>
            </a:r>
            <a:r>
              <a:rPr lang="en-US" altLang="zh-CN" sz="2400" dirty="0">
                <a:latin typeface="Times New Roman" pitchFamily="18" charset="0"/>
                <a:cs typeface="Times New Roman" pitchFamily="18" charset="0"/>
              </a:rPr>
              <a:t>;</a:t>
            </a:r>
            <a:endParaRPr lang="zh-CN" altLang="zh-CN" sz="2400" dirty="0">
              <a:latin typeface="Times New Roman" pitchFamily="18" charset="0"/>
              <a:cs typeface="Times New Roman" pitchFamily="18" charset="0"/>
            </a:endParaRPr>
          </a:p>
          <a:p>
            <a:pPr>
              <a:spcBef>
                <a:spcPts val="0"/>
              </a:spcBef>
            </a:pPr>
            <a:r>
              <a:rPr lang="en-US" altLang="zh-CN" sz="2400" dirty="0" err="1">
                <a:latin typeface="Times New Roman" pitchFamily="18" charset="0"/>
                <a:cs typeface="Times New Roman" pitchFamily="18" charset="0"/>
              </a:rPr>
              <a:t>nextptr</a:t>
            </a:r>
            <a:r>
              <a:rPr lang="en-US" altLang="zh-CN" sz="2400" dirty="0">
                <a:latin typeface="Times New Roman" pitchFamily="18" charset="0"/>
                <a:cs typeface="Times New Roman" pitchFamily="18" charset="0"/>
              </a:rPr>
              <a:t>-&gt;</a:t>
            </a:r>
            <a:r>
              <a:rPr lang="en-US" altLang="zh-CN" sz="2400" dirty="0" err="1">
                <a:latin typeface="Times New Roman" pitchFamily="18" charset="0"/>
                <a:cs typeface="Times New Roman" pitchFamily="18" charset="0"/>
              </a:rPr>
              <a:t>prev</a:t>
            </a:r>
            <a:r>
              <a:rPr lang="en-US" altLang="zh-CN" sz="2400" dirty="0">
                <a:latin typeface="Times New Roman" pitchFamily="18" charset="0"/>
                <a:cs typeface="Times New Roman" pitchFamily="18" charset="0"/>
              </a:rPr>
              <a:t>  = </a:t>
            </a:r>
            <a:r>
              <a:rPr lang="en-US" altLang="zh-CN" sz="2400" dirty="0" err="1">
                <a:latin typeface="Times New Roman" pitchFamily="18" charset="0"/>
                <a:cs typeface="Times New Roman" pitchFamily="18" charset="0"/>
              </a:rPr>
              <a:t>newptr</a:t>
            </a:r>
            <a:r>
              <a:rPr lang="en-US" altLang="zh-CN" sz="2400" dirty="0">
                <a:latin typeface="Times New Roman" pitchFamily="18" charset="0"/>
                <a:cs typeface="Times New Roman" pitchFamily="18" charset="0"/>
              </a:rPr>
              <a:t>;</a:t>
            </a:r>
            <a:endParaRPr lang="zh-CN" altLang="zh-CN" sz="2400" dirty="0">
              <a:latin typeface="Times New Roman" pitchFamily="18" charset="0"/>
              <a:cs typeface="Times New Roman" pitchFamily="18" charset="0"/>
            </a:endParaRPr>
          </a:p>
        </p:txBody>
      </p:sp>
    </p:spTree>
    <p:extLst>
      <p:ext uri="{BB962C8B-B14F-4D97-AF65-F5344CB8AC3E}">
        <p14:creationId xmlns:p14="http://schemas.microsoft.com/office/powerpoint/2010/main" val="37543791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714356"/>
            <a:ext cx="8102134" cy="5929354"/>
          </a:xfrm>
        </p:spPr>
        <p:txBody>
          <a:bodyPr>
            <a:noAutofit/>
          </a:bodyPr>
          <a:lstStyle/>
          <a:p>
            <a:pPr>
              <a:lnSpc>
                <a:spcPct val="130000"/>
              </a:lnSpc>
              <a:spcBef>
                <a:spcPts val="0"/>
              </a:spcBef>
            </a:pPr>
            <a:r>
              <a:rPr lang="zh-CN" altLang="zh-CN" dirty="0"/>
              <a:t>算法</a:t>
            </a:r>
            <a:r>
              <a:rPr lang="en-US" altLang="zh-CN" dirty="0"/>
              <a:t>2.12</a:t>
            </a:r>
            <a:r>
              <a:rPr lang="zh-CN" altLang="zh-CN" dirty="0"/>
              <a:t>：</a:t>
            </a:r>
            <a:r>
              <a:rPr lang="zh-CN" altLang="zh-CN" dirty="0">
                <a:solidFill>
                  <a:srgbClr val="FF0000"/>
                </a:solidFill>
              </a:rPr>
              <a:t>双向链表的插入算法</a:t>
            </a:r>
          </a:p>
          <a:p>
            <a:pPr>
              <a:lnSpc>
                <a:spcPct val="130000"/>
              </a:lnSpc>
              <a:spcBef>
                <a:spcPts val="0"/>
              </a:spcBef>
            </a:pPr>
            <a:r>
              <a:rPr lang="en-US" b="0" dirty="0"/>
              <a:t>template &lt;class Elem&gt; //</a:t>
            </a:r>
            <a:r>
              <a:rPr lang="zh-CN" altLang="en-US" b="0" dirty="0"/>
              <a:t>双向链表在当前结点之后插入元素</a:t>
            </a:r>
          </a:p>
          <a:p>
            <a:pPr>
              <a:lnSpc>
                <a:spcPct val="130000"/>
              </a:lnSpc>
              <a:spcBef>
                <a:spcPts val="0"/>
              </a:spcBef>
            </a:pPr>
            <a:r>
              <a:rPr lang="en-US" b="0" dirty="0" err="1"/>
              <a:t>bool</a:t>
            </a:r>
            <a:r>
              <a:rPr lang="en-US" b="0" dirty="0"/>
              <a:t> </a:t>
            </a:r>
            <a:r>
              <a:rPr lang="en-US" b="0" dirty="0" err="1"/>
              <a:t>DList</a:t>
            </a:r>
            <a:r>
              <a:rPr lang="en-US" b="0" dirty="0"/>
              <a:t>&lt;Elem&gt;::Insert( const Elem x){ </a:t>
            </a:r>
          </a:p>
          <a:p>
            <a:pPr>
              <a:lnSpc>
                <a:spcPct val="130000"/>
              </a:lnSpc>
              <a:spcBef>
                <a:spcPts val="0"/>
              </a:spcBef>
            </a:pPr>
            <a:r>
              <a:rPr lang="en-US" b="0" dirty="0"/>
              <a:t>	</a:t>
            </a:r>
            <a:r>
              <a:rPr lang="en-US" b="0" dirty="0" err="1"/>
              <a:t>DLink</a:t>
            </a:r>
            <a:r>
              <a:rPr lang="en-US" b="0" dirty="0"/>
              <a:t> *</a:t>
            </a:r>
            <a:r>
              <a:rPr lang="en-US" b="0" dirty="0" err="1"/>
              <a:t>nextptr</a:t>
            </a:r>
            <a:r>
              <a:rPr lang="en-US" b="0" dirty="0"/>
              <a:t>, *</a:t>
            </a:r>
            <a:r>
              <a:rPr lang="en-US" b="0" dirty="0" err="1"/>
              <a:t>newptr</a:t>
            </a:r>
            <a:r>
              <a:rPr lang="en-US" b="0" dirty="0"/>
              <a:t>;</a:t>
            </a:r>
            <a:endParaRPr lang="zh-CN" altLang="en-US" b="0" dirty="0"/>
          </a:p>
          <a:p>
            <a:pPr>
              <a:lnSpc>
                <a:spcPct val="130000"/>
              </a:lnSpc>
              <a:spcBef>
                <a:spcPts val="0"/>
              </a:spcBef>
            </a:pPr>
            <a:r>
              <a:rPr lang="en-US" b="0" dirty="0"/>
              <a:t>	</a:t>
            </a:r>
            <a:r>
              <a:rPr lang="en-US" b="0" dirty="0" err="1"/>
              <a:t>nextptr</a:t>
            </a:r>
            <a:r>
              <a:rPr lang="en-US" b="0" dirty="0"/>
              <a:t> = </a:t>
            </a:r>
            <a:r>
              <a:rPr lang="en-US" b="0" dirty="0" err="1"/>
              <a:t>curr</a:t>
            </a:r>
            <a:r>
              <a:rPr lang="en-US" b="0" dirty="0"/>
              <a:t>-&gt;next;</a:t>
            </a:r>
            <a:endParaRPr lang="zh-CN" altLang="en-US" b="0" dirty="0"/>
          </a:p>
          <a:p>
            <a:pPr>
              <a:lnSpc>
                <a:spcPct val="130000"/>
              </a:lnSpc>
              <a:spcBef>
                <a:spcPts val="0"/>
              </a:spcBef>
            </a:pPr>
            <a:r>
              <a:rPr lang="en-US" b="0" dirty="0"/>
              <a:t>	</a:t>
            </a:r>
            <a:r>
              <a:rPr lang="en-US" b="0" dirty="0" err="1"/>
              <a:t>newptr</a:t>
            </a:r>
            <a:r>
              <a:rPr lang="en-US" b="0" dirty="0"/>
              <a:t> = new </a:t>
            </a:r>
            <a:r>
              <a:rPr lang="en-US" b="0" dirty="0" err="1"/>
              <a:t>DLink</a:t>
            </a:r>
            <a:r>
              <a:rPr lang="en-US" b="0" dirty="0"/>
              <a:t>&lt;Elem&gt;(x, </a:t>
            </a:r>
            <a:r>
              <a:rPr lang="en-US" b="0" dirty="0" err="1"/>
              <a:t>curr</a:t>
            </a:r>
            <a:r>
              <a:rPr lang="en-US" b="0" dirty="0"/>
              <a:t>, </a:t>
            </a:r>
            <a:r>
              <a:rPr lang="en-US" b="0" dirty="0" err="1"/>
              <a:t>nextptr</a:t>
            </a:r>
            <a:r>
              <a:rPr lang="en-US" b="0" dirty="0"/>
              <a:t>);</a:t>
            </a:r>
            <a:endParaRPr lang="zh-CN" altLang="en-US" b="0" dirty="0"/>
          </a:p>
          <a:p>
            <a:pPr>
              <a:lnSpc>
                <a:spcPct val="130000"/>
              </a:lnSpc>
              <a:spcBef>
                <a:spcPts val="0"/>
              </a:spcBef>
            </a:pPr>
            <a:r>
              <a:rPr lang="en-US" b="0" dirty="0"/>
              <a:t>	if (</a:t>
            </a:r>
            <a:r>
              <a:rPr lang="en-US" b="0" dirty="0" err="1"/>
              <a:t>newptr</a:t>
            </a:r>
            <a:r>
              <a:rPr lang="en-US" b="0" dirty="0"/>
              <a:t> == NULL) return false;</a:t>
            </a:r>
            <a:endParaRPr lang="zh-CN" altLang="en-US" b="0" dirty="0"/>
          </a:p>
          <a:p>
            <a:pPr>
              <a:lnSpc>
                <a:spcPct val="130000"/>
              </a:lnSpc>
              <a:spcBef>
                <a:spcPts val="0"/>
              </a:spcBef>
            </a:pPr>
            <a:r>
              <a:rPr lang="en-US" b="0" dirty="0"/>
              <a:t>	</a:t>
            </a:r>
            <a:r>
              <a:rPr lang="en-US" b="0" dirty="0" err="1"/>
              <a:t>curr</a:t>
            </a:r>
            <a:r>
              <a:rPr lang="en-US" b="0" dirty="0"/>
              <a:t>-&gt;next = </a:t>
            </a:r>
            <a:r>
              <a:rPr lang="en-US" b="0" dirty="0" err="1"/>
              <a:t>newptr</a:t>
            </a:r>
            <a:r>
              <a:rPr lang="en-US" b="0" dirty="0"/>
              <a:t>;</a:t>
            </a:r>
            <a:endParaRPr lang="zh-CN" altLang="en-US" b="0" dirty="0"/>
          </a:p>
          <a:p>
            <a:pPr>
              <a:lnSpc>
                <a:spcPct val="130000"/>
              </a:lnSpc>
              <a:spcBef>
                <a:spcPts val="0"/>
              </a:spcBef>
            </a:pPr>
            <a:r>
              <a:rPr lang="en-US" b="0" dirty="0"/>
              <a:t>	</a:t>
            </a:r>
            <a:r>
              <a:rPr lang="en-US" b="0" dirty="0" err="1"/>
              <a:t>nextptr</a:t>
            </a:r>
            <a:r>
              <a:rPr lang="en-US" b="0" dirty="0"/>
              <a:t>-&gt;</a:t>
            </a:r>
            <a:r>
              <a:rPr lang="en-US" b="0" dirty="0" err="1"/>
              <a:t>prev</a:t>
            </a:r>
            <a:r>
              <a:rPr lang="en-US" b="0" dirty="0"/>
              <a:t> = </a:t>
            </a:r>
            <a:r>
              <a:rPr lang="en-US" b="0" dirty="0" err="1"/>
              <a:t>newptr</a:t>
            </a:r>
            <a:r>
              <a:rPr lang="en-US" b="0" dirty="0"/>
              <a:t>;</a:t>
            </a:r>
            <a:endParaRPr lang="zh-CN" altLang="en-US" b="0" dirty="0"/>
          </a:p>
          <a:p>
            <a:pPr>
              <a:lnSpc>
                <a:spcPct val="130000"/>
              </a:lnSpc>
              <a:spcBef>
                <a:spcPts val="0"/>
              </a:spcBef>
            </a:pPr>
            <a:r>
              <a:rPr lang="en-US" b="0" dirty="0"/>
              <a:t>	return true;</a:t>
            </a:r>
            <a:endParaRPr lang="zh-CN" altLang="en-US" b="0" dirty="0"/>
          </a:p>
          <a:p>
            <a:pPr>
              <a:lnSpc>
                <a:spcPct val="130000"/>
              </a:lnSpc>
              <a:spcBef>
                <a:spcPts val="0"/>
              </a:spcBef>
            </a:pPr>
            <a:r>
              <a:rPr lang="en-US" b="0" dirty="0"/>
              <a:t>}</a:t>
            </a:r>
            <a:endParaRPr lang="zh-CN" altLang="zh-CN" b="0" dirty="0"/>
          </a:p>
          <a:p>
            <a:pPr>
              <a:lnSpc>
                <a:spcPct val="130000"/>
              </a:lnSpc>
              <a:spcBef>
                <a:spcPts val="0"/>
              </a:spcBef>
            </a:pPr>
            <a:endParaRPr lang="zh-CN" altLang="en-US" dirty="0"/>
          </a:p>
        </p:txBody>
      </p:sp>
    </p:spTree>
    <p:extLst>
      <p:ext uri="{BB962C8B-B14F-4D97-AF65-F5344CB8AC3E}">
        <p14:creationId xmlns:p14="http://schemas.microsoft.com/office/powerpoint/2010/main" val="250914050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1600" y="836713"/>
            <a:ext cx="7992888" cy="648071"/>
          </a:xfrm>
        </p:spPr>
        <p:txBody>
          <a:bodyPr/>
          <a:lstStyle/>
          <a:p>
            <a:r>
              <a:rPr lang="zh-CN" altLang="zh-CN" dirty="0"/>
              <a:t>（</a:t>
            </a:r>
            <a:r>
              <a:rPr lang="en-US" altLang="zh-CN" dirty="0"/>
              <a:t>2</a:t>
            </a:r>
            <a:r>
              <a:rPr lang="zh-CN" altLang="zh-CN" dirty="0"/>
              <a:t>）</a:t>
            </a:r>
            <a:r>
              <a:rPr lang="zh-CN" altLang="zh-CN" dirty="0">
                <a:solidFill>
                  <a:srgbClr val="FF0000"/>
                </a:solidFill>
              </a:rPr>
              <a:t>在当前结点之前插入一个新结点</a:t>
            </a:r>
            <a:r>
              <a:rPr lang="zh-CN" altLang="zh-CN" dirty="0"/>
              <a:t>，如图</a:t>
            </a:r>
            <a:r>
              <a:rPr lang="en-US" altLang="zh-CN" dirty="0"/>
              <a:t>2-16</a:t>
            </a:r>
            <a:r>
              <a:rPr lang="zh-CN" altLang="zh-CN" dirty="0"/>
              <a:t>所示。</a:t>
            </a:r>
          </a:p>
          <a:p>
            <a:endParaRPr lang="zh-CN" altLang="en-US" dirty="0"/>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4" name="对象 3"/>
          <p:cNvGraphicFramePr>
            <a:graphicFrameLocks noChangeAspect="1"/>
          </p:cNvGraphicFramePr>
          <p:nvPr>
            <p:extLst>
              <p:ext uri="{D42A27DB-BD31-4B8C-83A1-F6EECF244321}">
                <p14:modId xmlns:p14="http://schemas.microsoft.com/office/powerpoint/2010/main" val="2788588637"/>
              </p:ext>
            </p:extLst>
          </p:nvPr>
        </p:nvGraphicFramePr>
        <p:xfrm>
          <a:off x="899592" y="1628800"/>
          <a:ext cx="7164985" cy="1368152"/>
        </p:xfrm>
        <a:graphic>
          <a:graphicData uri="http://schemas.openxmlformats.org/presentationml/2006/ole">
            <mc:AlternateContent xmlns:mc="http://schemas.openxmlformats.org/markup-compatibility/2006">
              <mc:Choice xmlns:v="urn:schemas-microsoft-com:vml" Requires="v">
                <p:oleObj spid="_x0000_s5237" r:id="rId3" imgW="5917930" imgH="1106338" progId="">
                  <p:embed/>
                </p:oleObj>
              </mc:Choice>
              <mc:Fallback>
                <p:oleObj r:id="rId3" imgW="5917930" imgH="1106338"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9592" y="1628800"/>
                        <a:ext cx="7164985" cy="136815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矩形 4"/>
          <p:cNvSpPr/>
          <p:nvPr/>
        </p:nvSpPr>
        <p:spPr>
          <a:xfrm>
            <a:off x="2051720" y="3068960"/>
            <a:ext cx="5134739" cy="461665"/>
          </a:xfrm>
          <a:prstGeom prst="rect">
            <a:avLst/>
          </a:prstGeom>
        </p:spPr>
        <p:txBody>
          <a:bodyPr wrap="none">
            <a:spAutoFit/>
          </a:bodyPr>
          <a:lstStyle/>
          <a:p>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图</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2-16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当前结点之前插入一个新结点</a:t>
            </a:r>
          </a:p>
        </p:txBody>
      </p:sp>
      <p:sp>
        <p:nvSpPr>
          <p:cNvPr id="6" name="矩形 5"/>
          <p:cNvSpPr/>
          <p:nvPr/>
        </p:nvSpPr>
        <p:spPr>
          <a:xfrm>
            <a:off x="2267744" y="3835320"/>
            <a:ext cx="4572000" cy="2308324"/>
          </a:xfrm>
          <a:prstGeom prst="rect">
            <a:avLst/>
          </a:prstGeom>
        </p:spPr>
        <p:txBody>
          <a:bodyPr>
            <a:spAutoFit/>
          </a:bodyPr>
          <a:lstStyle/>
          <a:p>
            <a:pPr>
              <a:spcBef>
                <a:spcPts val="0"/>
              </a:spcBef>
            </a:pPr>
            <a:r>
              <a:rPr lang="zh-CN" altLang="zh-CN" sz="2400" b="1" dirty="0">
                <a:latin typeface="Times New Roman" pitchFamily="18" charset="0"/>
                <a:ea typeface="楷体" panose="02010609060101010101" pitchFamily="49" charset="-122"/>
                <a:cs typeface="Times New Roman" pitchFamily="18" charset="0"/>
              </a:rPr>
              <a:t>指针的修改用语句描述为： </a:t>
            </a:r>
            <a:endParaRPr lang="en-US" altLang="zh-CN" sz="2400" b="1" dirty="0">
              <a:latin typeface="Times New Roman" pitchFamily="18" charset="0"/>
              <a:ea typeface="楷体" panose="02010609060101010101" pitchFamily="49" charset="-122"/>
              <a:cs typeface="Times New Roman" pitchFamily="18" charset="0"/>
            </a:endParaRPr>
          </a:p>
          <a:p>
            <a:pPr>
              <a:spcBef>
                <a:spcPts val="0"/>
              </a:spcBef>
            </a:pPr>
            <a:r>
              <a:rPr lang="en-US" altLang="zh-CN" sz="2400" dirty="0">
                <a:latin typeface="Times New Roman" pitchFamily="18" charset="0"/>
                <a:cs typeface="Times New Roman" pitchFamily="18" charset="0"/>
              </a:rPr>
              <a:t>p = </a:t>
            </a:r>
            <a:r>
              <a:rPr lang="en-US" altLang="zh-CN" sz="2400" dirty="0" err="1">
                <a:latin typeface="Times New Roman" pitchFamily="18" charset="0"/>
                <a:cs typeface="Times New Roman" pitchFamily="18" charset="0"/>
              </a:rPr>
              <a:t>curr</a:t>
            </a:r>
            <a:r>
              <a:rPr lang="en-US" altLang="zh-CN" sz="2400" dirty="0">
                <a:latin typeface="Times New Roman" pitchFamily="18" charset="0"/>
                <a:cs typeface="Times New Roman" pitchFamily="18" charset="0"/>
              </a:rPr>
              <a:t>-&gt;</a:t>
            </a:r>
            <a:r>
              <a:rPr lang="en-US" altLang="zh-CN" sz="2400" dirty="0" err="1">
                <a:latin typeface="Times New Roman" pitchFamily="18" charset="0"/>
                <a:cs typeface="Times New Roman" pitchFamily="18" charset="0"/>
              </a:rPr>
              <a:t>prev</a:t>
            </a:r>
            <a:r>
              <a:rPr lang="en-US" altLang="zh-CN" sz="2400" dirty="0">
                <a:latin typeface="Times New Roman" pitchFamily="18" charset="0"/>
                <a:cs typeface="Times New Roman" pitchFamily="18" charset="0"/>
              </a:rPr>
              <a:t>;</a:t>
            </a:r>
          </a:p>
          <a:p>
            <a:pPr>
              <a:spcBef>
                <a:spcPts val="0"/>
              </a:spcBef>
            </a:pPr>
            <a:r>
              <a:rPr lang="en-US" altLang="zh-CN" sz="2400" dirty="0" err="1">
                <a:latin typeface="Times New Roman" pitchFamily="18" charset="0"/>
                <a:cs typeface="Times New Roman" pitchFamily="18" charset="0"/>
              </a:rPr>
              <a:t>newptr</a:t>
            </a:r>
            <a:r>
              <a:rPr lang="en-US" altLang="zh-CN" sz="2400" dirty="0">
                <a:latin typeface="Times New Roman" pitchFamily="18" charset="0"/>
                <a:cs typeface="Times New Roman" pitchFamily="18" charset="0"/>
              </a:rPr>
              <a:t> -&gt;next = </a:t>
            </a:r>
            <a:r>
              <a:rPr lang="en-US" altLang="zh-CN" sz="2400" dirty="0" err="1">
                <a:latin typeface="Times New Roman" pitchFamily="18" charset="0"/>
                <a:cs typeface="Times New Roman" pitchFamily="18" charset="0"/>
              </a:rPr>
              <a:t>curr</a:t>
            </a:r>
            <a:r>
              <a:rPr lang="en-US" altLang="zh-CN" sz="2400" dirty="0">
                <a:latin typeface="Times New Roman" pitchFamily="18" charset="0"/>
                <a:cs typeface="Times New Roman" pitchFamily="18" charset="0"/>
              </a:rPr>
              <a:t>;</a:t>
            </a:r>
            <a:endParaRPr lang="zh-CN" altLang="zh-CN" sz="2400" dirty="0">
              <a:latin typeface="Times New Roman" pitchFamily="18" charset="0"/>
              <a:cs typeface="Times New Roman" pitchFamily="18" charset="0"/>
            </a:endParaRPr>
          </a:p>
          <a:p>
            <a:pPr>
              <a:spcBef>
                <a:spcPts val="0"/>
              </a:spcBef>
            </a:pPr>
            <a:r>
              <a:rPr lang="en-US" altLang="zh-CN" sz="2400" dirty="0" err="1">
                <a:latin typeface="Times New Roman" pitchFamily="18" charset="0"/>
                <a:cs typeface="Times New Roman" pitchFamily="18" charset="0"/>
              </a:rPr>
              <a:t>newptr</a:t>
            </a:r>
            <a:r>
              <a:rPr lang="en-US" altLang="zh-CN" sz="2400" dirty="0">
                <a:latin typeface="Times New Roman" pitchFamily="18" charset="0"/>
                <a:cs typeface="Times New Roman" pitchFamily="18" charset="0"/>
              </a:rPr>
              <a:t> -&gt;</a:t>
            </a:r>
            <a:r>
              <a:rPr lang="en-US" altLang="zh-CN" sz="2400" dirty="0" err="1">
                <a:latin typeface="Times New Roman" pitchFamily="18" charset="0"/>
                <a:cs typeface="Times New Roman" pitchFamily="18" charset="0"/>
              </a:rPr>
              <a:t>prev</a:t>
            </a:r>
            <a:r>
              <a:rPr lang="en-US" altLang="zh-CN" sz="2400" dirty="0">
                <a:latin typeface="Times New Roman" pitchFamily="18" charset="0"/>
                <a:cs typeface="Times New Roman" pitchFamily="18" charset="0"/>
              </a:rPr>
              <a:t> = p;</a:t>
            </a:r>
            <a:endParaRPr lang="zh-CN" altLang="zh-CN" sz="2400" dirty="0">
              <a:latin typeface="Times New Roman" pitchFamily="18" charset="0"/>
              <a:cs typeface="Times New Roman" pitchFamily="18" charset="0"/>
            </a:endParaRPr>
          </a:p>
          <a:p>
            <a:pPr>
              <a:spcBef>
                <a:spcPts val="0"/>
              </a:spcBef>
            </a:pPr>
            <a:r>
              <a:rPr lang="en-US" altLang="zh-CN" sz="2400" dirty="0">
                <a:latin typeface="Times New Roman" pitchFamily="18" charset="0"/>
                <a:cs typeface="Times New Roman" pitchFamily="18" charset="0"/>
              </a:rPr>
              <a:t>p-&gt;next      = </a:t>
            </a:r>
            <a:r>
              <a:rPr lang="en-US" altLang="zh-CN" sz="2400" dirty="0" err="1">
                <a:latin typeface="Times New Roman" pitchFamily="18" charset="0"/>
                <a:cs typeface="Times New Roman" pitchFamily="18" charset="0"/>
              </a:rPr>
              <a:t>newptr</a:t>
            </a:r>
            <a:r>
              <a:rPr lang="en-US" altLang="zh-CN" sz="2400" dirty="0">
                <a:latin typeface="Times New Roman" pitchFamily="18" charset="0"/>
                <a:cs typeface="Times New Roman" pitchFamily="18" charset="0"/>
              </a:rPr>
              <a:t>;</a:t>
            </a:r>
            <a:endParaRPr lang="zh-CN" altLang="zh-CN" sz="2400" dirty="0">
              <a:latin typeface="Times New Roman" pitchFamily="18" charset="0"/>
              <a:cs typeface="Times New Roman" pitchFamily="18" charset="0"/>
            </a:endParaRPr>
          </a:p>
          <a:p>
            <a:pPr>
              <a:spcBef>
                <a:spcPts val="0"/>
              </a:spcBef>
            </a:pPr>
            <a:r>
              <a:rPr lang="en-US" altLang="zh-CN" sz="2400" dirty="0" err="1">
                <a:latin typeface="Times New Roman" pitchFamily="18" charset="0"/>
                <a:cs typeface="Times New Roman" pitchFamily="18" charset="0"/>
              </a:rPr>
              <a:t>curr</a:t>
            </a:r>
            <a:r>
              <a:rPr lang="en-US" altLang="zh-CN" sz="2400" dirty="0">
                <a:latin typeface="Times New Roman" pitchFamily="18" charset="0"/>
                <a:cs typeface="Times New Roman" pitchFamily="18" charset="0"/>
              </a:rPr>
              <a:t>-&gt;</a:t>
            </a:r>
            <a:r>
              <a:rPr lang="en-US" altLang="zh-CN" sz="2400" dirty="0" err="1">
                <a:latin typeface="Times New Roman" pitchFamily="18" charset="0"/>
                <a:cs typeface="Times New Roman" pitchFamily="18" charset="0"/>
              </a:rPr>
              <a:t>prev</a:t>
            </a:r>
            <a:r>
              <a:rPr lang="en-US" altLang="zh-CN" sz="2400" dirty="0">
                <a:latin typeface="Times New Roman" pitchFamily="18" charset="0"/>
                <a:cs typeface="Times New Roman" pitchFamily="18" charset="0"/>
              </a:rPr>
              <a:t> = </a:t>
            </a:r>
            <a:r>
              <a:rPr lang="en-US" altLang="zh-CN" sz="2400" dirty="0" err="1">
                <a:latin typeface="Times New Roman" pitchFamily="18" charset="0"/>
                <a:cs typeface="Times New Roman" pitchFamily="18" charset="0"/>
              </a:rPr>
              <a:t>newptr</a:t>
            </a:r>
            <a:r>
              <a:rPr lang="en-US" altLang="zh-CN" sz="2400" dirty="0">
                <a:latin typeface="Times New Roman" pitchFamily="18" charset="0"/>
                <a:cs typeface="Times New Roman" pitchFamily="18" charset="0"/>
              </a:rPr>
              <a:t>;</a:t>
            </a:r>
            <a:endParaRPr lang="zh-CN" altLang="zh-CN" sz="2400" dirty="0">
              <a:latin typeface="Times New Roman" pitchFamily="18" charset="0"/>
              <a:cs typeface="Times New Roman" pitchFamily="18" charset="0"/>
            </a:endParaRPr>
          </a:p>
        </p:txBody>
      </p:sp>
      <p:sp>
        <p:nvSpPr>
          <p:cNvPr id="7" name="矩形 6"/>
          <p:cNvSpPr/>
          <p:nvPr/>
        </p:nvSpPr>
        <p:spPr>
          <a:xfrm>
            <a:off x="1585893" y="1412776"/>
            <a:ext cx="825867" cy="369332"/>
          </a:xfrm>
          <a:prstGeom prst="rect">
            <a:avLst/>
          </a:prstGeom>
        </p:spPr>
        <p:txBody>
          <a:bodyPr wrap="none">
            <a:spAutoFit/>
          </a:bodyPr>
          <a:lstStyle/>
          <a:p>
            <a:r>
              <a:rPr lang="en-US" altLang="zh-CN" dirty="0" err="1">
                <a:latin typeface="Times New Roman" pitchFamily="18" charset="0"/>
                <a:cs typeface="Times New Roman" pitchFamily="18" charset="0"/>
              </a:rPr>
              <a:t>newptr</a:t>
            </a:r>
            <a:endParaRPr lang="zh-CN" altLang="en-US" dirty="0"/>
          </a:p>
        </p:txBody>
      </p:sp>
      <p:cxnSp>
        <p:nvCxnSpPr>
          <p:cNvPr id="9" name="曲线连接符 8"/>
          <p:cNvCxnSpPr/>
          <p:nvPr/>
        </p:nvCxnSpPr>
        <p:spPr>
          <a:xfrm>
            <a:off x="2411760" y="1628800"/>
            <a:ext cx="648072" cy="144016"/>
          </a:xfrm>
          <a:prstGeom prst="curved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059932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836712"/>
            <a:ext cx="7520940" cy="648072"/>
          </a:xfrm>
        </p:spPr>
        <p:txBody>
          <a:bodyPr/>
          <a:lstStyle/>
          <a:p>
            <a:r>
              <a:rPr lang="zh-CN" altLang="zh-CN" dirty="0"/>
              <a:t>（</a:t>
            </a:r>
            <a:r>
              <a:rPr lang="en-US" altLang="zh-CN" dirty="0"/>
              <a:t>3</a:t>
            </a:r>
            <a:r>
              <a:rPr lang="zh-CN" altLang="zh-CN" dirty="0"/>
              <a:t>）删除当前结点，如图</a:t>
            </a:r>
            <a:r>
              <a:rPr lang="en-US" altLang="zh-CN" dirty="0"/>
              <a:t>2-17</a:t>
            </a:r>
            <a:r>
              <a:rPr lang="zh-CN" altLang="zh-CN" dirty="0"/>
              <a:t>所示。</a:t>
            </a:r>
          </a:p>
          <a:p>
            <a:endParaRPr lang="zh-CN" altLang="en-US" dirty="0"/>
          </a:p>
        </p:txBody>
      </p:sp>
      <p:sp>
        <p:nvSpPr>
          <p:cNvPr id="2"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4" name="对象 3"/>
          <p:cNvGraphicFramePr>
            <a:graphicFrameLocks noChangeAspect="1"/>
          </p:cNvGraphicFramePr>
          <p:nvPr>
            <p:extLst>
              <p:ext uri="{D42A27DB-BD31-4B8C-83A1-F6EECF244321}">
                <p14:modId xmlns:p14="http://schemas.microsoft.com/office/powerpoint/2010/main" val="47786183"/>
              </p:ext>
            </p:extLst>
          </p:nvPr>
        </p:nvGraphicFramePr>
        <p:xfrm>
          <a:off x="1043608" y="1340768"/>
          <a:ext cx="7204073" cy="2016224"/>
        </p:xfrm>
        <a:graphic>
          <a:graphicData uri="http://schemas.openxmlformats.org/presentationml/2006/ole">
            <mc:AlternateContent xmlns:mc="http://schemas.openxmlformats.org/markup-compatibility/2006">
              <mc:Choice xmlns:v="urn:schemas-microsoft-com:vml" Requires="v">
                <p:oleObj spid="_x0000_s6261" r:id="rId3" imgW="4544709" imgH="1392357" progId="">
                  <p:embed/>
                </p:oleObj>
              </mc:Choice>
              <mc:Fallback>
                <p:oleObj r:id="rId3" imgW="4544709" imgH="1392357"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3608" y="1340768"/>
                        <a:ext cx="7204073" cy="2016224"/>
                      </a:xfrm>
                      <a:prstGeom prst="rect">
                        <a:avLst/>
                      </a:prstGeom>
                      <a:noFill/>
                    </p:spPr>
                  </p:pic>
                </p:oleObj>
              </mc:Fallback>
            </mc:AlternateContent>
          </a:graphicData>
        </a:graphic>
      </p:graphicFrame>
      <p:sp>
        <p:nvSpPr>
          <p:cNvPr id="5" name="矩形 4"/>
          <p:cNvSpPr/>
          <p:nvPr/>
        </p:nvSpPr>
        <p:spPr>
          <a:xfrm>
            <a:off x="3131840" y="3501008"/>
            <a:ext cx="2513830" cy="400110"/>
          </a:xfrm>
          <a:prstGeom prst="rect">
            <a:avLst/>
          </a:prstGeom>
        </p:spPr>
        <p:txBody>
          <a:bodyPr wrap="none">
            <a:spAutoFit/>
          </a:bodyPr>
          <a:lstStyle/>
          <a:p>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图</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2-17 </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删除当前结点</a:t>
            </a:r>
          </a:p>
        </p:txBody>
      </p:sp>
      <p:sp>
        <p:nvSpPr>
          <p:cNvPr id="6" name="矩形 5"/>
          <p:cNvSpPr/>
          <p:nvPr/>
        </p:nvSpPr>
        <p:spPr>
          <a:xfrm>
            <a:off x="2339752" y="4073004"/>
            <a:ext cx="4572000" cy="2308324"/>
          </a:xfrm>
          <a:prstGeom prst="rect">
            <a:avLst/>
          </a:prstGeom>
        </p:spPr>
        <p:txBody>
          <a:bodyPr>
            <a:spAutoFit/>
          </a:bodyPr>
          <a:lstStyle/>
          <a:p>
            <a:pPr>
              <a:spcBef>
                <a:spcPts val="0"/>
              </a:spcBef>
            </a:pPr>
            <a:r>
              <a:rPr lang="zh-CN" altLang="zh-CN" sz="2400" b="1" dirty="0">
                <a:latin typeface="Times New Roman" pitchFamily="18" charset="0"/>
                <a:ea typeface="楷体" panose="02010609060101010101" pitchFamily="49" charset="-122"/>
                <a:cs typeface="Times New Roman" pitchFamily="18" charset="0"/>
              </a:rPr>
              <a:t>指针的修改用语句描述为： </a:t>
            </a:r>
            <a:endParaRPr lang="en-US" altLang="zh-CN" sz="2400" b="1" dirty="0">
              <a:latin typeface="Times New Roman" pitchFamily="18" charset="0"/>
              <a:ea typeface="楷体" panose="02010609060101010101" pitchFamily="49" charset="-122"/>
              <a:cs typeface="Times New Roman" pitchFamily="18" charset="0"/>
            </a:endParaRPr>
          </a:p>
          <a:p>
            <a:pPr>
              <a:spcBef>
                <a:spcPts val="0"/>
              </a:spcBef>
            </a:pPr>
            <a:r>
              <a:rPr lang="en-US" altLang="zh-CN" sz="2400" dirty="0">
                <a:latin typeface="Times New Roman" pitchFamily="18" charset="0"/>
                <a:cs typeface="Times New Roman" pitchFamily="18" charset="0"/>
              </a:rPr>
              <a:t>p = </a:t>
            </a:r>
            <a:r>
              <a:rPr lang="en-US" altLang="zh-CN" sz="2400" dirty="0" err="1">
                <a:latin typeface="Times New Roman" pitchFamily="18" charset="0"/>
                <a:cs typeface="Times New Roman" pitchFamily="18" charset="0"/>
              </a:rPr>
              <a:t>curr</a:t>
            </a:r>
            <a:r>
              <a:rPr lang="en-US" altLang="zh-CN" sz="2400" dirty="0">
                <a:latin typeface="Times New Roman" pitchFamily="18" charset="0"/>
                <a:cs typeface="Times New Roman" pitchFamily="18" charset="0"/>
              </a:rPr>
              <a:t>;</a:t>
            </a:r>
          </a:p>
          <a:p>
            <a:pPr>
              <a:spcBef>
                <a:spcPts val="0"/>
              </a:spcBef>
            </a:pPr>
            <a:r>
              <a:rPr lang="en-US" altLang="zh-CN" sz="2400" dirty="0" err="1">
                <a:latin typeface="Times New Roman" pitchFamily="18" charset="0"/>
                <a:cs typeface="Times New Roman" pitchFamily="18" charset="0"/>
              </a:rPr>
              <a:t>curr</a:t>
            </a:r>
            <a:r>
              <a:rPr lang="en-US" altLang="zh-CN" sz="2400" dirty="0">
                <a:latin typeface="Times New Roman" pitchFamily="18" charset="0"/>
                <a:cs typeface="Times New Roman" pitchFamily="18" charset="0"/>
              </a:rPr>
              <a:t>-&gt;</a:t>
            </a:r>
            <a:r>
              <a:rPr lang="en-US" altLang="zh-CN" sz="2400" dirty="0" err="1">
                <a:latin typeface="Times New Roman" pitchFamily="18" charset="0"/>
                <a:cs typeface="Times New Roman" pitchFamily="18" charset="0"/>
              </a:rPr>
              <a:t>prev</a:t>
            </a:r>
            <a:r>
              <a:rPr lang="en-US" altLang="zh-CN" sz="2400" dirty="0">
                <a:latin typeface="Times New Roman" pitchFamily="18" charset="0"/>
                <a:cs typeface="Times New Roman" pitchFamily="18" charset="0"/>
              </a:rPr>
              <a:t>-&gt;next = </a:t>
            </a:r>
            <a:r>
              <a:rPr lang="en-US" altLang="zh-CN" sz="2400" dirty="0" err="1">
                <a:latin typeface="Times New Roman" pitchFamily="18" charset="0"/>
                <a:cs typeface="Times New Roman" pitchFamily="18" charset="0"/>
              </a:rPr>
              <a:t>curr</a:t>
            </a:r>
            <a:r>
              <a:rPr lang="en-US" altLang="zh-CN" sz="2400" dirty="0">
                <a:latin typeface="Times New Roman" pitchFamily="18" charset="0"/>
                <a:cs typeface="Times New Roman" pitchFamily="18" charset="0"/>
              </a:rPr>
              <a:t>-&gt;next;</a:t>
            </a:r>
            <a:endParaRPr lang="zh-CN" altLang="zh-CN" sz="2400" dirty="0">
              <a:latin typeface="Times New Roman" pitchFamily="18" charset="0"/>
              <a:cs typeface="Times New Roman" pitchFamily="18" charset="0"/>
            </a:endParaRPr>
          </a:p>
          <a:p>
            <a:pPr>
              <a:spcBef>
                <a:spcPts val="0"/>
              </a:spcBef>
            </a:pPr>
            <a:r>
              <a:rPr lang="en-US" altLang="zh-CN" sz="2400" dirty="0" err="1">
                <a:latin typeface="Times New Roman" pitchFamily="18" charset="0"/>
                <a:cs typeface="Times New Roman" pitchFamily="18" charset="0"/>
              </a:rPr>
              <a:t>curr</a:t>
            </a:r>
            <a:r>
              <a:rPr lang="en-US" altLang="zh-CN" sz="2400" dirty="0">
                <a:latin typeface="Times New Roman" pitchFamily="18" charset="0"/>
                <a:cs typeface="Times New Roman" pitchFamily="18" charset="0"/>
              </a:rPr>
              <a:t>-&gt;next-&gt;</a:t>
            </a:r>
            <a:r>
              <a:rPr lang="en-US" altLang="zh-CN" sz="2400" dirty="0" err="1">
                <a:latin typeface="Times New Roman" pitchFamily="18" charset="0"/>
                <a:cs typeface="Times New Roman" pitchFamily="18" charset="0"/>
              </a:rPr>
              <a:t>prev</a:t>
            </a:r>
            <a:r>
              <a:rPr lang="en-US" altLang="zh-CN" sz="2400" dirty="0">
                <a:latin typeface="Times New Roman" pitchFamily="18" charset="0"/>
                <a:cs typeface="Times New Roman" pitchFamily="18" charset="0"/>
              </a:rPr>
              <a:t> = </a:t>
            </a:r>
            <a:r>
              <a:rPr lang="en-US" altLang="zh-CN" sz="2400" dirty="0" err="1">
                <a:latin typeface="Times New Roman" pitchFamily="18" charset="0"/>
                <a:cs typeface="Times New Roman" pitchFamily="18" charset="0"/>
              </a:rPr>
              <a:t>curr</a:t>
            </a:r>
            <a:r>
              <a:rPr lang="en-US" altLang="zh-CN" sz="2400" dirty="0">
                <a:latin typeface="Times New Roman" pitchFamily="18" charset="0"/>
                <a:cs typeface="Times New Roman" pitchFamily="18" charset="0"/>
              </a:rPr>
              <a:t>-&gt;</a:t>
            </a:r>
            <a:r>
              <a:rPr lang="en-US" altLang="zh-CN" sz="2400" dirty="0" err="1">
                <a:latin typeface="Times New Roman" pitchFamily="18" charset="0"/>
                <a:cs typeface="Times New Roman" pitchFamily="18" charset="0"/>
              </a:rPr>
              <a:t>prev</a:t>
            </a:r>
            <a:r>
              <a:rPr lang="en-US" altLang="zh-CN" sz="2400" dirty="0">
                <a:latin typeface="Times New Roman" pitchFamily="18" charset="0"/>
                <a:cs typeface="Times New Roman" pitchFamily="18" charset="0"/>
              </a:rPr>
              <a:t>;</a:t>
            </a:r>
          </a:p>
          <a:p>
            <a:pPr>
              <a:spcBef>
                <a:spcPts val="0"/>
              </a:spcBef>
            </a:pPr>
            <a:r>
              <a:rPr lang="en-US" altLang="zh-CN" sz="2400" dirty="0" err="1">
                <a:latin typeface="Times New Roman" pitchFamily="18" charset="0"/>
                <a:cs typeface="Times New Roman" pitchFamily="18" charset="0"/>
              </a:rPr>
              <a:t>curr</a:t>
            </a:r>
            <a:r>
              <a:rPr lang="en-US" altLang="zh-CN" sz="2400" dirty="0">
                <a:latin typeface="Times New Roman" pitchFamily="18" charset="0"/>
                <a:cs typeface="Times New Roman" pitchFamily="18" charset="0"/>
              </a:rPr>
              <a:t> = </a:t>
            </a:r>
            <a:r>
              <a:rPr lang="en-US" altLang="zh-CN" sz="2400" dirty="0" err="1">
                <a:latin typeface="Times New Roman" pitchFamily="18" charset="0"/>
                <a:cs typeface="Times New Roman" pitchFamily="18" charset="0"/>
              </a:rPr>
              <a:t>curr</a:t>
            </a:r>
            <a:r>
              <a:rPr lang="en-US" altLang="zh-CN" sz="2400" dirty="0">
                <a:latin typeface="Times New Roman" pitchFamily="18" charset="0"/>
                <a:cs typeface="Times New Roman" pitchFamily="18" charset="0"/>
              </a:rPr>
              <a:t>-&gt;next;</a:t>
            </a:r>
          </a:p>
          <a:p>
            <a:pPr>
              <a:spcBef>
                <a:spcPts val="0"/>
              </a:spcBef>
            </a:pPr>
            <a:r>
              <a:rPr lang="en-US" altLang="zh-CN" sz="2400" dirty="0">
                <a:latin typeface="Times New Roman" pitchFamily="18" charset="0"/>
                <a:cs typeface="Times New Roman" pitchFamily="18" charset="0"/>
              </a:rPr>
              <a:t>free(p);</a:t>
            </a:r>
            <a:endParaRPr lang="zh-CN" altLang="zh-CN" sz="2400" dirty="0">
              <a:latin typeface="Times New Roman" pitchFamily="18" charset="0"/>
              <a:cs typeface="Times New Roman" pitchFamily="18" charset="0"/>
            </a:endParaRPr>
          </a:p>
        </p:txBody>
      </p:sp>
    </p:spTree>
    <p:extLst>
      <p:ext uri="{BB962C8B-B14F-4D97-AF65-F5344CB8AC3E}">
        <p14:creationId xmlns:p14="http://schemas.microsoft.com/office/powerpoint/2010/main" val="356441959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836712"/>
            <a:ext cx="7744374" cy="5664122"/>
          </a:xfrm>
        </p:spPr>
        <p:txBody>
          <a:bodyPr>
            <a:noAutofit/>
          </a:bodyPr>
          <a:lstStyle/>
          <a:p>
            <a:pPr>
              <a:spcBef>
                <a:spcPts val="0"/>
              </a:spcBef>
            </a:pPr>
            <a:r>
              <a:rPr lang="zh-CN" altLang="zh-CN" dirty="0"/>
              <a:t>算法</a:t>
            </a:r>
            <a:r>
              <a:rPr lang="en-US" altLang="zh-CN" dirty="0"/>
              <a:t>2.13</a:t>
            </a:r>
            <a:r>
              <a:rPr lang="zh-CN" altLang="zh-CN" dirty="0"/>
              <a:t>：</a:t>
            </a:r>
            <a:r>
              <a:rPr lang="zh-CN" altLang="zh-CN" dirty="0">
                <a:solidFill>
                  <a:srgbClr val="FF0000"/>
                </a:solidFill>
              </a:rPr>
              <a:t>双向链表的删除</a:t>
            </a:r>
          </a:p>
          <a:p>
            <a:pPr>
              <a:spcBef>
                <a:spcPts val="0"/>
              </a:spcBef>
            </a:pPr>
            <a:r>
              <a:rPr lang="en-US" b="0" dirty="0"/>
              <a:t>template &lt;class Elem&gt;  //</a:t>
            </a:r>
            <a:r>
              <a:rPr lang="zh-CN" altLang="en-US" b="0" dirty="0"/>
              <a:t>双链表中</a:t>
            </a:r>
            <a:r>
              <a:rPr lang="zh-CN" altLang="en-US" b="0" dirty="0">
                <a:solidFill>
                  <a:srgbClr val="FF0000"/>
                </a:solidFill>
              </a:rPr>
              <a:t>删除当前结点</a:t>
            </a:r>
            <a:r>
              <a:rPr lang="zh-CN" altLang="en-US" b="0" dirty="0"/>
              <a:t>元素</a:t>
            </a:r>
          </a:p>
          <a:p>
            <a:pPr>
              <a:spcBef>
                <a:spcPts val="0"/>
              </a:spcBef>
            </a:pPr>
            <a:r>
              <a:rPr lang="en-US" b="0" dirty="0" err="1"/>
              <a:t>bool</a:t>
            </a:r>
            <a:r>
              <a:rPr lang="en-US" b="0" dirty="0"/>
              <a:t> </a:t>
            </a:r>
            <a:r>
              <a:rPr lang="en-US" b="0" dirty="0" err="1"/>
              <a:t>DList</a:t>
            </a:r>
            <a:r>
              <a:rPr lang="en-US" b="0" dirty="0"/>
              <a:t>&lt;Elem&gt; :: remove( Elem &amp;x ){	</a:t>
            </a:r>
            <a:endParaRPr lang="zh-CN" altLang="en-US" b="0" dirty="0"/>
          </a:p>
          <a:p>
            <a:pPr>
              <a:spcBef>
                <a:spcPts val="0"/>
              </a:spcBef>
            </a:pPr>
            <a:r>
              <a:rPr lang="en-US" b="0" dirty="0"/>
              <a:t>	if ( </a:t>
            </a:r>
            <a:r>
              <a:rPr lang="en-US" b="0" dirty="0" err="1"/>
              <a:t>curr</a:t>
            </a:r>
            <a:r>
              <a:rPr lang="en-US" b="0" dirty="0"/>
              <a:t>==NULL || head-&gt;next == NULL) return false;</a:t>
            </a:r>
            <a:endParaRPr lang="zh-CN" altLang="en-US" b="0" dirty="0"/>
          </a:p>
          <a:p>
            <a:pPr>
              <a:spcBef>
                <a:spcPts val="0"/>
              </a:spcBef>
            </a:pPr>
            <a:r>
              <a:rPr lang="en-US" b="0" dirty="0"/>
              <a:t>	</a:t>
            </a:r>
            <a:r>
              <a:rPr lang="en-US" b="0" dirty="0" err="1"/>
              <a:t>DLink</a:t>
            </a:r>
            <a:r>
              <a:rPr lang="en-US" b="0" dirty="0"/>
              <a:t> *temp=</a:t>
            </a:r>
            <a:r>
              <a:rPr lang="en-US" b="0" dirty="0" err="1"/>
              <a:t>curr</a:t>
            </a:r>
            <a:r>
              <a:rPr lang="en-US" b="0" dirty="0"/>
              <a:t>;</a:t>
            </a:r>
            <a:endParaRPr lang="zh-CN" altLang="en-US" b="0" dirty="0"/>
          </a:p>
          <a:p>
            <a:pPr>
              <a:spcBef>
                <a:spcPts val="0"/>
              </a:spcBef>
            </a:pPr>
            <a:r>
              <a:rPr lang="en-US" b="0" dirty="0"/>
              <a:t>	</a:t>
            </a:r>
            <a:r>
              <a:rPr lang="en-US" b="0" dirty="0" err="1"/>
              <a:t>curr</a:t>
            </a:r>
            <a:r>
              <a:rPr lang="en-US" b="0" dirty="0"/>
              <a:t>-&gt;</a:t>
            </a:r>
            <a:r>
              <a:rPr lang="en-US" b="0" dirty="0" err="1"/>
              <a:t>prev</a:t>
            </a:r>
            <a:r>
              <a:rPr lang="en-US" b="0" dirty="0"/>
              <a:t>-&gt;next = </a:t>
            </a:r>
            <a:r>
              <a:rPr lang="en-US" b="0" dirty="0" err="1"/>
              <a:t>curr</a:t>
            </a:r>
            <a:r>
              <a:rPr lang="en-US" b="0" dirty="0"/>
              <a:t>-&gt;next;</a:t>
            </a:r>
            <a:endParaRPr lang="zh-CN" altLang="en-US" b="0" dirty="0"/>
          </a:p>
          <a:p>
            <a:pPr>
              <a:spcBef>
                <a:spcPts val="0"/>
              </a:spcBef>
            </a:pPr>
            <a:r>
              <a:rPr lang="en-US" b="0" dirty="0"/>
              <a:t>	</a:t>
            </a:r>
            <a:r>
              <a:rPr lang="en-US" b="0" dirty="0" err="1"/>
              <a:t>curr</a:t>
            </a:r>
            <a:r>
              <a:rPr lang="en-US" b="0" dirty="0"/>
              <a:t>-&gt;next-&gt;</a:t>
            </a:r>
            <a:r>
              <a:rPr lang="en-US" b="0" dirty="0" err="1"/>
              <a:t>prev</a:t>
            </a:r>
            <a:r>
              <a:rPr lang="en-US" b="0" dirty="0"/>
              <a:t> = </a:t>
            </a:r>
            <a:r>
              <a:rPr lang="en-US" b="0" dirty="0" err="1"/>
              <a:t>curr</a:t>
            </a:r>
            <a:r>
              <a:rPr lang="en-US" b="0" dirty="0"/>
              <a:t>-&gt;</a:t>
            </a:r>
            <a:r>
              <a:rPr lang="en-US" b="0" dirty="0" err="1"/>
              <a:t>prev</a:t>
            </a:r>
            <a:r>
              <a:rPr lang="en-US" b="0" dirty="0"/>
              <a:t>;</a:t>
            </a:r>
            <a:endParaRPr lang="zh-CN" altLang="en-US" b="0" dirty="0"/>
          </a:p>
          <a:p>
            <a:pPr>
              <a:spcBef>
                <a:spcPts val="0"/>
              </a:spcBef>
            </a:pPr>
            <a:r>
              <a:rPr lang="en-US" b="0" dirty="0"/>
              <a:t>	</a:t>
            </a:r>
            <a:r>
              <a:rPr lang="en-US" b="0" dirty="0" err="1"/>
              <a:t>curr</a:t>
            </a:r>
            <a:r>
              <a:rPr lang="en-US" b="0" dirty="0"/>
              <a:t> = </a:t>
            </a:r>
            <a:r>
              <a:rPr lang="en-US" b="0" dirty="0" err="1"/>
              <a:t>curr</a:t>
            </a:r>
            <a:r>
              <a:rPr lang="en-US" b="0" dirty="0"/>
              <a:t>-&gt;next;</a:t>
            </a:r>
            <a:endParaRPr lang="zh-CN" altLang="en-US" b="0" dirty="0"/>
          </a:p>
          <a:p>
            <a:pPr>
              <a:spcBef>
                <a:spcPts val="0"/>
              </a:spcBef>
            </a:pPr>
            <a:r>
              <a:rPr lang="en-US" b="0" dirty="0"/>
              <a:t>	x=temp-&gt;element;</a:t>
            </a:r>
            <a:endParaRPr lang="zh-CN" altLang="en-US" b="0" dirty="0"/>
          </a:p>
          <a:p>
            <a:pPr>
              <a:spcBef>
                <a:spcPts val="0"/>
              </a:spcBef>
            </a:pPr>
            <a:r>
              <a:rPr lang="en-US" b="0" dirty="0"/>
              <a:t>	delete temp;</a:t>
            </a:r>
            <a:endParaRPr lang="zh-CN" altLang="en-US" b="0" dirty="0"/>
          </a:p>
          <a:p>
            <a:pPr>
              <a:spcBef>
                <a:spcPts val="0"/>
              </a:spcBef>
            </a:pPr>
            <a:r>
              <a:rPr lang="en-US" b="0" dirty="0"/>
              <a:t>	return true;</a:t>
            </a:r>
            <a:endParaRPr lang="zh-CN" altLang="en-US" b="0" dirty="0"/>
          </a:p>
          <a:p>
            <a:pPr>
              <a:spcBef>
                <a:spcPts val="0"/>
              </a:spcBef>
            </a:pPr>
            <a:r>
              <a:rPr lang="en-US" b="0" dirty="0"/>
              <a:t>}</a:t>
            </a:r>
            <a:endParaRPr lang="zh-CN" altLang="en-US" b="0" dirty="0"/>
          </a:p>
          <a:p>
            <a:pPr>
              <a:spcBef>
                <a:spcPts val="0"/>
              </a:spcBef>
            </a:pPr>
            <a:endParaRPr lang="zh-CN" altLang="en-US" sz="2000" dirty="0"/>
          </a:p>
        </p:txBody>
      </p:sp>
    </p:spTree>
    <p:extLst>
      <p:ext uri="{BB962C8B-B14F-4D97-AF65-F5344CB8AC3E}">
        <p14:creationId xmlns:p14="http://schemas.microsoft.com/office/powerpoint/2010/main" val="84573131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2.3.3   </a:t>
            </a:r>
            <a:r>
              <a:rPr lang="zh-CN" altLang="zh-CN" b="1" dirty="0"/>
              <a:t>循环链表</a:t>
            </a:r>
            <a:endParaRPr lang="zh-CN" altLang="en-US" dirty="0"/>
          </a:p>
        </p:txBody>
      </p:sp>
      <p:sp>
        <p:nvSpPr>
          <p:cNvPr id="3" name="内容占位符 2"/>
          <p:cNvSpPr>
            <a:spLocks noGrp="1"/>
          </p:cNvSpPr>
          <p:nvPr>
            <p:ph idx="1"/>
          </p:nvPr>
        </p:nvSpPr>
        <p:spPr>
          <a:xfrm>
            <a:off x="467544" y="1578881"/>
            <a:ext cx="7970917" cy="2570199"/>
          </a:xfrm>
        </p:spPr>
        <p:txBody>
          <a:bodyPr>
            <a:normAutofit lnSpcReduction="10000"/>
          </a:bodyPr>
          <a:lstStyle/>
          <a:p>
            <a:pPr algn="just"/>
            <a:r>
              <a:rPr lang="en-US" altLang="zh-CN" b="0" dirty="0"/>
              <a:t>		</a:t>
            </a:r>
            <a:r>
              <a:rPr lang="zh-CN" altLang="zh-CN" dirty="0">
                <a:solidFill>
                  <a:srgbClr val="FF0000"/>
                </a:solidFill>
              </a:rPr>
              <a:t>循环链表</a:t>
            </a:r>
            <a:r>
              <a:rPr lang="zh-CN" altLang="zh-CN" b="0" dirty="0"/>
              <a:t>是线性链表的一种变形。在线性链表中，每个结点的指针都指向它的下一个结点，最后一个结点的指针域为空，表示链表结束。而循环链表则将表中最后一个结点的指针域指向头结点，整个链表形成一个环。由此，从表中任一结点出发均可找到表中其它结点。如图</a:t>
            </a:r>
            <a:r>
              <a:rPr lang="en-US" altLang="zh-CN" b="0" dirty="0"/>
              <a:t>2</a:t>
            </a:r>
            <a:r>
              <a:rPr lang="zh-CN" altLang="zh-CN" b="0" dirty="0"/>
              <a:t>-18所示为单向循环链表</a:t>
            </a:r>
            <a:r>
              <a:rPr lang="zh-CN" altLang="en-US" b="0" dirty="0"/>
              <a:t>。</a:t>
            </a:r>
          </a:p>
        </p:txBody>
      </p:sp>
      <p:graphicFrame>
        <p:nvGraphicFramePr>
          <p:cNvPr id="5" name="对象 4"/>
          <p:cNvGraphicFramePr>
            <a:graphicFrameLocks noChangeAspect="1"/>
          </p:cNvGraphicFramePr>
          <p:nvPr>
            <p:extLst>
              <p:ext uri="{D42A27DB-BD31-4B8C-83A1-F6EECF244321}">
                <p14:modId xmlns:p14="http://schemas.microsoft.com/office/powerpoint/2010/main" val="1323475973"/>
              </p:ext>
            </p:extLst>
          </p:nvPr>
        </p:nvGraphicFramePr>
        <p:xfrm>
          <a:off x="1231510" y="4293096"/>
          <a:ext cx="7602488" cy="936104"/>
        </p:xfrm>
        <a:graphic>
          <a:graphicData uri="http://schemas.openxmlformats.org/presentationml/2006/ole">
            <mc:AlternateContent xmlns:mc="http://schemas.openxmlformats.org/markup-compatibility/2006">
              <mc:Choice xmlns:v="urn:schemas-microsoft-com:vml" Requires="v">
                <p:oleObj spid="_x0000_s7400" r:id="rId3" imgW="6292985" imgH="775838" progId="">
                  <p:embed/>
                </p:oleObj>
              </mc:Choice>
              <mc:Fallback>
                <p:oleObj r:id="rId3" imgW="6292985" imgH="775838" progId="">
                  <p:embed/>
                  <p:pic>
                    <p:nvPicPr>
                      <p:cNvPr id="0" name="Picture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31510" y="4293096"/>
                        <a:ext cx="7602488" cy="9361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821816354"/>
              </p:ext>
            </p:extLst>
          </p:nvPr>
        </p:nvGraphicFramePr>
        <p:xfrm>
          <a:off x="-756592" y="4293096"/>
          <a:ext cx="2751734" cy="936104"/>
        </p:xfrm>
        <a:graphic>
          <a:graphicData uri="http://schemas.openxmlformats.org/presentationml/2006/ole">
            <mc:AlternateContent xmlns:mc="http://schemas.openxmlformats.org/markup-compatibility/2006">
              <mc:Choice xmlns:v="urn:schemas-microsoft-com:vml" Requires="v">
                <p:oleObj spid="_x0000_s7401" r:id="rId5" imgW="2299240" imgH="779612" progId="">
                  <p:embed/>
                </p:oleObj>
              </mc:Choice>
              <mc:Fallback>
                <p:oleObj r:id="rId5" imgW="2299240" imgH="779612" progId="">
                  <p:embed/>
                  <p:pic>
                    <p:nvPicPr>
                      <p:cNvPr id="0" name="Picture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6592" y="4293096"/>
                        <a:ext cx="2751734" cy="9361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矩形 6"/>
          <p:cNvSpPr/>
          <p:nvPr/>
        </p:nvSpPr>
        <p:spPr>
          <a:xfrm>
            <a:off x="899592" y="5373216"/>
            <a:ext cx="6242726" cy="707886"/>
          </a:xfrm>
          <a:prstGeom prst="rect">
            <a:avLst/>
          </a:prstGeom>
        </p:spPr>
        <p:txBody>
          <a:bodyPr wrap="square">
            <a:spAutoFit/>
          </a:bodyPr>
          <a:lstStyle/>
          <a:p>
            <a:r>
              <a:rPr lang="zh-CN" altLang="en-US" dirty="0"/>
              <a:t> </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(a) </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空表                                                </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(b) </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非空表</a:t>
            </a:r>
          </a:p>
          <a:p>
            <a:pPr algn="ct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图</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2-18 </a:t>
            </a:r>
            <a:r>
              <a:rPr lang="zh-CN" altLang="en-US"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单向循环链表</a:t>
            </a:r>
          </a:p>
        </p:txBody>
      </p:sp>
    </p:spTree>
    <p:extLst>
      <p:ext uri="{BB962C8B-B14F-4D97-AF65-F5344CB8AC3E}">
        <p14:creationId xmlns:p14="http://schemas.microsoft.com/office/powerpoint/2010/main" val="291220711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683568" y="1196752"/>
            <a:ext cx="7128792" cy="648072"/>
          </a:xfrm>
        </p:spPr>
        <p:txBody>
          <a:bodyPr/>
          <a:lstStyle/>
          <a:p>
            <a:r>
              <a:rPr lang="zh-CN" altLang="zh-CN" dirty="0"/>
              <a:t>图</a:t>
            </a:r>
            <a:r>
              <a:rPr lang="en-US" altLang="zh-CN" dirty="0"/>
              <a:t>2</a:t>
            </a:r>
            <a:r>
              <a:rPr lang="zh-CN" altLang="zh-CN" dirty="0"/>
              <a:t>-19所示为</a:t>
            </a:r>
            <a:r>
              <a:rPr lang="zh-CN" altLang="zh-CN" dirty="0">
                <a:solidFill>
                  <a:srgbClr val="FF0000"/>
                </a:solidFill>
              </a:rPr>
              <a:t>双向循环链表</a:t>
            </a:r>
            <a:r>
              <a:rPr lang="zh-CN" altLang="zh-CN" dirty="0"/>
              <a:t>。</a:t>
            </a:r>
            <a:endParaRPr lang="zh-CN" altLang="en-US" dirty="0"/>
          </a:p>
          <a:p>
            <a:endParaRPr lang="zh-CN" altLang="en-US" dirty="0"/>
          </a:p>
        </p:txBody>
      </p:sp>
      <p:sp>
        <p:nvSpPr>
          <p:cNvPr id="6" name="矩形 5"/>
          <p:cNvSpPr/>
          <p:nvPr/>
        </p:nvSpPr>
        <p:spPr>
          <a:xfrm>
            <a:off x="899592" y="4077072"/>
            <a:ext cx="7344816" cy="1865126"/>
          </a:xfrm>
          <a:prstGeom prst="rect">
            <a:avLst/>
          </a:prstGeom>
        </p:spPr>
        <p:txBody>
          <a:bodyPr wrap="square">
            <a:spAutoFit/>
          </a:bodyPr>
          <a:lstStyle/>
          <a:p>
            <a:pPr>
              <a:lnSpc>
                <a:spcPct val="120000"/>
              </a:lnSpc>
            </a:pPr>
            <a:r>
              <a:rPr lang="zh-CN" altLang="en-US" sz="2400" dirty="0">
                <a:latin typeface="楷体" panose="02010609060101010101" pitchFamily="49" charset="-122"/>
                <a:ea typeface="楷体" panose="02010609060101010101" pitchFamily="49" charset="-122"/>
              </a:rPr>
              <a:t>注：</a:t>
            </a:r>
            <a:r>
              <a:rPr lang="zh-CN" altLang="zh-CN" sz="2400" dirty="0">
                <a:latin typeface="楷体" panose="02010609060101010101" pitchFamily="49" charset="-122"/>
                <a:ea typeface="楷体" panose="02010609060101010101" pitchFamily="49" charset="-122"/>
              </a:rPr>
              <a:t>循环链表的定义和操作与单链表相似，只是循环结束条件有所不同，单链表中算法的循环条件是判定p或p-&gt;next是否为空，而在循环链表算法中的循环条件是判定p或p-&gt;next是否等于头指针</a:t>
            </a:r>
            <a:r>
              <a:rPr lang="en-US" altLang="zh-CN" sz="2400" dirty="0">
                <a:latin typeface="楷体" panose="02010609060101010101" pitchFamily="49" charset="-122"/>
                <a:ea typeface="楷体" panose="02010609060101010101" pitchFamily="49" charset="-122"/>
              </a:rPr>
              <a:t>head</a:t>
            </a:r>
            <a:r>
              <a:rPr lang="zh-CN" altLang="zh-CN" sz="2400" dirty="0">
                <a:latin typeface="楷体" panose="02010609060101010101" pitchFamily="49" charset="-122"/>
                <a:ea typeface="楷体" panose="02010609060101010101" pitchFamily="49" charset="-122"/>
              </a:rPr>
              <a:t>。</a:t>
            </a:r>
          </a:p>
        </p:txBody>
      </p:sp>
      <p:pic>
        <p:nvPicPr>
          <p:cNvPr id="1843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1520" y="1772816"/>
            <a:ext cx="8702675" cy="1973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6751926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57224" y="785794"/>
            <a:ext cx="8107264" cy="5500726"/>
          </a:xfrm>
        </p:spPr>
        <p:txBody>
          <a:bodyPr>
            <a:normAutofit/>
          </a:bodyPr>
          <a:lstStyle/>
          <a:p>
            <a:r>
              <a:rPr lang="zh-CN" altLang="zh-CN" dirty="0"/>
              <a:t>算法</a:t>
            </a:r>
            <a:r>
              <a:rPr lang="en-US" altLang="zh-CN" dirty="0"/>
              <a:t>2.14</a:t>
            </a:r>
            <a:r>
              <a:rPr lang="zh-CN" altLang="zh-CN" dirty="0"/>
              <a:t>：</a:t>
            </a:r>
            <a:r>
              <a:rPr lang="zh-CN" altLang="en-US" dirty="0">
                <a:solidFill>
                  <a:srgbClr val="FF0000"/>
                </a:solidFill>
              </a:rPr>
              <a:t>单</a:t>
            </a:r>
            <a:r>
              <a:rPr lang="zh-CN" altLang="zh-CN" dirty="0">
                <a:solidFill>
                  <a:srgbClr val="FF0000"/>
                </a:solidFill>
              </a:rPr>
              <a:t>循环链表的类定义</a:t>
            </a:r>
          </a:p>
          <a:p>
            <a:r>
              <a:rPr lang="en-US" b="0" dirty="0"/>
              <a:t>template &lt;class Elem&gt;</a:t>
            </a:r>
            <a:endParaRPr lang="zh-CN" altLang="en-US" b="0" dirty="0"/>
          </a:p>
          <a:p>
            <a:r>
              <a:rPr lang="en-US" b="0" dirty="0"/>
              <a:t>class </a:t>
            </a:r>
            <a:r>
              <a:rPr lang="en-US" b="0" dirty="0" err="1"/>
              <a:t>CLinkNode</a:t>
            </a:r>
            <a:r>
              <a:rPr lang="en-US" b="0" dirty="0"/>
              <a:t> {	 //</a:t>
            </a:r>
            <a:r>
              <a:rPr lang="zh-CN" altLang="en-US" b="0" dirty="0"/>
              <a:t>单循环链表的</a:t>
            </a:r>
            <a:r>
              <a:rPr lang="zh-CN" altLang="en-US" dirty="0">
                <a:solidFill>
                  <a:srgbClr val="FF0000"/>
                </a:solidFill>
              </a:rPr>
              <a:t>结点类</a:t>
            </a:r>
            <a:r>
              <a:rPr lang="zh-CN" altLang="en-US" b="0" dirty="0"/>
              <a:t>定义</a:t>
            </a:r>
          </a:p>
          <a:p>
            <a:r>
              <a:rPr lang="en-US" b="0" dirty="0"/>
              <a:t>	Elem element</a:t>
            </a:r>
            <a:r>
              <a:rPr lang="zh-CN" altLang="en-US" b="0" dirty="0"/>
              <a:t>；</a:t>
            </a:r>
          </a:p>
          <a:p>
            <a:r>
              <a:rPr lang="en-US" b="0" dirty="0"/>
              <a:t>	</a:t>
            </a:r>
            <a:r>
              <a:rPr lang="en-US" b="0" dirty="0" err="1"/>
              <a:t>CLinkNode</a:t>
            </a:r>
            <a:r>
              <a:rPr lang="en-US" b="0" dirty="0"/>
              <a:t>&lt;Elem&gt; *link</a:t>
            </a:r>
            <a:r>
              <a:rPr lang="zh-CN" altLang="en-US" b="0" dirty="0"/>
              <a:t>；</a:t>
            </a:r>
            <a:endParaRPr lang="en-US" altLang="zh-CN" b="0" dirty="0"/>
          </a:p>
          <a:p>
            <a:endParaRPr lang="zh-CN" altLang="en-US" b="0" dirty="0"/>
          </a:p>
          <a:p>
            <a:r>
              <a:rPr lang="en-US" b="0" dirty="0"/>
              <a:t>	</a:t>
            </a:r>
            <a:r>
              <a:rPr lang="en-US" b="0" dirty="0" err="1"/>
              <a:t>CLinkNode</a:t>
            </a:r>
            <a:r>
              <a:rPr lang="en-US" b="0" dirty="0"/>
              <a:t>(</a:t>
            </a:r>
            <a:r>
              <a:rPr lang="en-US" b="0" dirty="0" err="1"/>
              <a:t>CLinkNode</a:t>
            </a:r>
            <a:r>
              <a:rPr lang="en-US" b="0" dirty="0"/>
              <a:t>&lt;Elem&gt; *next = NULL) {link=next;}</a:t>
            </a:r>
            <a:endParaRPr lang="zh-CN" altLang="en-US" b="0" dirty="0"/>
          </a:p>
          <a:p>
            <a:r>
              <a:rPr lang="en-US" b="0" dirty="0"/>
              <a:t>	</a:t>
            </a:r>
            <a:r>
              <a:rPr lang="en-US" b="0" dirty="0" err="1"/>
              <a:t>CLinkNode</a:t>
            </a:r>
            <a:r>
              <a:rPr lang="en-US" b="0" dirty="0"/>
              <a:t>(Elem d, </a:t>
            </a:r>
            <a:r>
              <a:rPr lang="en-US" b="0" dirty="0" err="1"/>
              <a:t>CLinkNode</a:t>
            </a:r>
            <a:r>
              <a:rPr lang="en-US" b="0" dirty="0"/>
              <a:t>&lt;Elem&gt; *next = NULL) :element(d), link(next){ } </a:t>
            </a:r>
            <a:endParaRPr lang="zh-CN" altLang="en-US" b="0" dirty="0"/>
          </a:p>
          <a:p>
            <a:r>
              <a:rPr lang="en-US" b="0" dirty="0"/>
              <a:t>}</a:t>
            </a:r>
            <a:r>
              <a:rPr lang="zh-CN" altLang="en-US" b="0" dirty="0"/>
              <a:t>；</a:t>
            </a:r>
          </a:p>
        </p:txBody>
      </p:sp>
    </p:spTree>
    <p:extLst>
      <p:ext uri="{BB962C8B-B14F-4D97-AF65-F5344CB8AC3E}">
        <p14:creationId xmlns:p14="http://schemas.microsoft.com/office/powerpoint/2010/main" val="191149050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28662" y="500042"/>
            <a:ext cx="8035826" cy="6072230"/>
          </a:xfrm>
        </p:spPr>
        <p:txBody>
          <a:bodyPr>
            <a:noAutofit/>
          </a:bodyPr>
          <a:lstStyle/>
          <a:p>
            <a:pPr>
              <a:lnSpc>
                <a:spcPct val="100000"/>
              </a:lnSpc>
              <a:spcBef>
                <a:spcPts val="0"/>
              </a:spcBef>
            </a:pPr>
            <a:r>
              <a:rPr lang="en-US" sz="1800" b="0" dirty="0"/>
              <a:t>template &lt;class Elem&gt;</a:t>
            </a:r>
            <a:endParaRPr lang="zh-CN" altLang="en-US" sz="1800" b="0" dirty="0"/>
          </a:p>
          <a:p>
            <a:pPr>
              <a:lnSpc>
                <a:spcPct val="100000"/>
              </a:lnSpc>
              <a:spcBef>
                <a:spcPts val="0"/>
              </a:spcBef>
            </a:pPr>
            <a:r>
              <a:rPr lang="en-US" sz="1800" b="0" dirty="0"/>
              <a:t>class </a:t>
            </a:r>
            <a:r>
              <a:rPr lang="en-US" sz="1800" b="0" dirty="0" err="1"/>
              <a:t>CList</a:t>
            </a:r>
            <a:r>
              <a:rPr lang="en-US" sz="1800" b="0" dirty="0"/>
              <a:t> : public List&lt;Elem&gt; { 	//</a:t>
            </a:r>
            <a:r>
              <a:rPr lang="zh-CN" altLang="en-US" sz="1800" dirty="0">
                <a:solidFill>
                  <a:srgbClr val="FF0000"/>
                </a:solidFill>
              </a:rPr>
              <a:t>带头结点的单循环链表类</a:t>
            </a:r>
            <a:r>
              <a:rPr lang="zh-CN" altLang="en-US" sz="1800" b="0" dirty="0"/>
              <a:t>的定义</a:t>
            </a:r>
          </a:p>
          <a:p>
            <a:pPr>
              <a:lnSpc>
                <a:spcPct val="100000"/>
              </a:lnSpc>
              <a:spcBef>
                <a:spcPts val="0"/>
              </a:spcBef>
            </a:pPr>
            <a:r>
              <a:rPr lang="en-US" sz="1800" b="0" dirty="0"/>
              <a:t>private:</a:t>
            </a:r>
            <a:endParaRPr lang="zh-CN" altLang="en-US" sz="1800" b="0" dirty="0"/>
          </a:p>
          <a:p>
            <a:pPr>
              <a:lnSpc>
                <a:spcPct val="100000"/>
              </a:lnSpc>
              <a:spcBef>
                <a:spcPts val="0"/>
              </a:spcBef>
            </a:pPr>
            <a:r>
              <a:rPr lang="en-US" sz="1800" b="0" dirty="0"/>
              <a:t>	</a:t>
            </a:r>
            <a:r>
              <a:rPr lang="en-US" sz="1800" b="0" dirty="0" err="1"/>
              <a:t>CLinkNode</a:t>
            </a:r>
            <a:r>
              <a:rPr lang="en-US" sz="1800" b="0" dirty="0"/>
              <a:t>&lt;Elem&gt; *head, *tail, *</a:t>
            </a:r>
            <a:r>
              <a:rPr lang="en-US" sz="1800" b="0" dirty="0" err="1"/>
              <a:t>curr</a:t>
            </a:r>
            <a:r>
              <a:rPr lang="zh-CN" altLang="en-US" sz="1800" b="0" dirty="0"/>
              <a:t>；</a:t>
            </a:r>
            <a:r>
              <a:rPr lang="en-US" sz="1800" b="0" dirty="0"/>
              <a:t> //</a:t>
            </a:r>
            <a:r>
              <a:rPr lang="zh-CN" altLang="en-US" sz="1800" b="0" dirty="0"/>
              <a:t>头指针</a:t>
            </a:r>
            <a:r>
              <a:rPr lang="en-US" sz="1800" b="0" dirty="0"/>
              <a:t>, </a:t>
            </a:r>
            <a:r>
              <a:rPr lang="zh-CN" altLang="en-US" sz="1800" b="0" dirty="0"/>
              <a:t>尾指针，当前位置</a:t>
            </a:r>
          </a:p>
          <a:p>
            <a:pPr>
              <a:lnSpc>
                <a:spcPct val="100000"/>
              </a:lnSpc>
              <a:spcBef>
                <a:spcPts val="0"/>
              </a:spcBef>
            </a:pPr>
            <a:r>
              <a:rPr lang="en-US" sz="1800" b="0" dirty="0"/>
              <a:t>public:</a:t>
            </a:r>
            <a:endParaRPr lang="zh-CN" altLang="en-US" sz="1800" b="0" dirty="0"/>
          </a:p>
          <a:p>
            <a:pPr>
              <a:lnSpc>
                <a:spcPct val="100000"/>
              </a:lnSpc>
              <a:spcBef>
                <a:spcPts val="0"/>
              </a:spcBef>
            </a:pPr>
            <a:r>
              <a:rPr lang="en-US" sz="1800" b="0" dirty="0"/>
              <a:t>	CList(){	                                               //</a:t>
            </a:r>
            <a:r>
              <a:rPr lang="zh-CN" altLang="en-US" sz="1800" b="0" dirty="0"/>
              <a:t>构造函数</a:t>
            </a:r>
          </a:p>
          <a:p>
            <a:pPr>
              <a:lnSpc>
                <a:spcPct val="100000"/>
              </a:lnSpc>
              <a:spcBef>
                <a:spcPts val="0"/>
              </a:spcBef>
            </a:pPr>
            <a:r>
              <a:rPr lang="en-US" sz="1800" b="0" dirty="0"/>
              <a:t>		</a:t>
            </a:r>
            <a:r>
              <a:rPr lang="en-US" sz="1800" b="0" dirty="0" err="1"/>
              <a:t>curr</a:t>
            </a:r>
            <a:r>
              <a:rPr lang="en-US" sz="1800" b="0" dirty="0"/>
              <a:t>= tail = head = new </a:t>
            </a:r>
            <a:r>
              <a:rPr lang="en-US" sz="1800" b="0" dirty="0" err="1"/>
              <a:t>DLink</a:t>
            </a:r>
            <a:r>
              <a:rPr lang="en-US" sz="1800" b="0" dirty="0"/>
              <a:t>&lt;Elem&gt;; //</a:t>
            </a:r>
            <a:r>
              <a:rPr lang="zh-CN" altLang="en-US" sz="1800" b="0" dirty="0"/>
              <a:t>创建一个头结点</a:t>
            </a:r>
          </a:p>
          <a:p>
            <a:pPr>
              <a:lnSpc>
                <a:spcPct val="100000"/>
              </a:lnSpc>
              <a:spcBef>
                <a:spcPts val="0"/>
              </a:spcBef>
            </a:pPr>
            <a:r>
              <a:rPr lang="en-US" sz="1800" b="0" dirty="0"/>
              <a:t>		head-&gt;link = head</a:t>
            </a:r>
            <a:endParaRPr lang="zh-CN" altLang="en-US" sz="1800" b="0" dirty="0"/>
          </a:p>
          <a:p>
            <a:pPr>
              <a:lnSpc>
                <a:spcPct val="100000"/>
              </a:lnSpc>
              <a:spcBef>
                <a:spcPts val="0"/>
              </a:spcBef>
            </a:pPr>
            <a:r>
              <a:rPr lang="en-US" sz="1800" b="0" dirty="0"/>
              <a:t>	}</a:t>
            </a:r>
            <a:endParaRPr lang="zh-CN" altLang="en-US" sz="1800" b="0" dirty="0"/>
          </a:p>
          <a:p>
            <a:pPr>
              <a:lnSpc>
                <a:spcPct val="100000"/>
              </a:lnSpc>
              <a:spcBef>
                <a:spcPts val="0"/>
              </a:spcBef>
            </a:pPr>
            <a:r>
              <a:rPr lang="en-US" sz="1800" b="0" dirty="0"/>
              <a:t>	</a:t>
            </a:r>
            <a:r>
              <a:rPr lang="en-US" sz="1800" b="0" dirty="0" err="1"/>
              <a:t>CList</a:t>
            </a:r>
            <a:r>
              <a:rPr lang="en-US" sz="1800" b="0" dirty="0"/>
              <a:t>(</a:t>
            </a:r>
            <a:r>
              <a:rPr lang="en-US" sz="1800" b="0" dirty="0" err="1"/>
              <a:t>CList</a:t>
            </a:r>
            <a:r>
              <a:rPr lang="en-US" sz="1800" b="0" dirty="0"/>
              <a:t>&lt;Elem&gt; &amp;L)</a:t>
            </a:r>
            <a:r>
              <a:rPr lang="zh-CN" altLang="en-US" sz="1800" b="0" dirty="0"/>
              <a:t>； </a:t>
            </a:r>
            <a:r>
              <a:rPr lang="en-US" sz="1800" b="0" dirty="0"/>
              <a:t>	//</a:t>
            </a:r>
            <a:r>
              <a:rPr lang="zh-CN" altLang="en-US" sz="1800" b="0" dirty="0"/>
              <a:t>复制构造函数</a:t>
            </a:r>
          </a:p>
          <a:p>
            <a:pPr>
              <a:lnSpc>
                <a:spcPct val="100000"/>
              </a:lnSpc>
              <a:spcBef>
                <a:spcPts val="0"/>
              </a:spcBef>
            </a:pPr>
            <a:r>
              <a:rPr lang="en-US" sz="1800" b="0" dirty="0"/>
              <a:t>	~</a:t>
            </a:r>
            <a:r>
              <a:rPr lang="en-US" sz="1800" b="0" dirty="0" err="1"/>
              <a:t>CList</a:t>
            </a:r>
            <a:r>
              <a:rPr lang="en-US" sz="1800" b="0" dirty="0"/>
              <a:t>()</a:t>
            </a:r>
            <a:r>
              <a:rPr lang="zh-CN" altLang="en-US" sz="1800" b="0" dirty="0"/>
              <a:t>； </a:t>
            </a:r>
            <a:r>
              <a:rPr lang="en-US" sz="1800" b="0" dirty="0"/>
              <a:t>			//</a:t>
            </a:r>
            <a:r>
              <a:rPr lang="zh-CN" altLang="en-US" sz="1800" b="0" dirty="0"/>
              <a:t>析构函数</a:t>
            </a:r>
          </a:p>
          <a:p>
            <a:pPr>
              <a:lnSpc>
                <a:spcPct val="100000"/>
              </a:lnSpc>
              <a:spcBef>
                <a:spcPts val="0"/>
              </a:spcBef>
            </a:pPr>
            <a:r>
              <a:rPr lang="en-US" sz="1800" b="0" dirty="0"/>
              <a:t>	</a:t>
            </a:r>
            <a:r>
              <a:rPr lang="en-US" sz="1800" b="0" dirty="0" err="1"/>
              <a:t>int</a:t>
            </a:r>
            <a:r>
              <a:rPr lang="en-US" sz="1800" b="0" dirty="0"/>
              <a:t> Length()</a:t>
            </a:r>
            <a:r>
              <a:rPr lang="zh-CN" altLang="en-US" sz="1800" b="0" dirty="0"/>
              <a:t>； </a:t>
            </a:r>
            <a:r>
              <a:rPr lang="en-US" sz="1800" b="0" dirty="0"/>
              <a:t>			//</a:t>
            </a:r>
            <a:r>
              <a:rPr lang="zh-CN" altLang="en-US" sz="1800" b="0" dirty="0"/>
              <a:t>计算循环链表长度</a:t>
            </a:r>
          </a:p>
          <a:p>
            <a:pPr>
              <a:lnSpc>
                <a:spcPct val="100000"/>
              </a:lnSpc>
              <a:spcBef>
                <a:spcPts val="0"/>
              </a:spcBef>
            </a:pPr>
            <a:r>
              <a:rPr lang="en-US" sz="1800" b="0" dirty="0"/>
              <a:t>	</a:t>
            </a:r>
            <a:r>
              <a:rPr lang="en-US" sz="1800" b="0" dirty="0" err="1"/>
              <a:t>bool</a:t>
            </a:r>
            <a:r>
              <a:rPr lang="en-US" sz="1800" b="0" dirty="0"/>
              <a:t> </a:t>
            </a:r>
            <a:r>
              <a:rPr lang="en-US" sz="1800" b="0" dirty="0" err="1"/>
              <a:t>IsEmpty</a:t>
            </a:r>
            <a:r>
              <a:rPr lang="en-US" sz="1800" b="0" dirty="0"/>
              <a:t>() {return head-&gt;link == head ? true : false</a:t>
            </a:r>
            <a:r>
              <a:rPr lang="zh-CN" altLang="en-US" sz="1800" b="0" dirty="0"/>
              <a:t>；</a:t>
            </a:r>
            <a:r>
              <a:rPr lang="en-US" sz="1800" b="0" dirty="0"/>
              <a:t>}//</a:t>
            </a:r>
            <a:r>
              <a:rPr lang="zh-CN" altLang="en-US" sz="1800" b="0" dirty="0"/>
              <a:t>判表空否</a:t>
            </a:r>
          </a:p>
          <a:p>
            <a:pPr>
              <a:lnSpc>
                <a:spcPct val="100000"/>
              </a:lnSpc>
              <a:spcBef>
                <a:spcPts val="0"/>
              </a:spcBef>
            </a:pPr>
            <a:r>
              <a:rPr lang="en-US" sz="1800" b="0" dirty="0"/>
              <a:t>	void </a:t>
            </a:r>
            <a:r>
              <a:rPr lang="en-US" sz="1800" b="0" dirty="0" err="1"/>
              <a:t>Prev</a:t>
            </a:r>
            <a:r>
              <a:rPr lang="en-US" sz="1800" b="0" dirty="0"/>
              <a:t>( );	 		//</a:t>
            </a:r>
            <a:r>
              <a:rPr lang="zh-CN" altLang="en-US" sz="1800" b="0" dirty="0"/>
              <a:t>当前位置指针</a:t>
            </a:r>
            <a:r>
              <a:rPr lang="en-US" sz="1800" b="0" dirty="0" err="1"/>
              <a:t>curr</a:t>
            </a:r>
            <a:r>
              <a:rPr lang="zh-CN" altLang="en-US" sz="1800" b="0" dirty="0"/>
              <a:t>前移到前驱</a:t>
            </a:r>
          </a:p>
          <a:p>
            <a:pPr>
              <a:lnSpc>
                <a:spcPct val="100000"/>
              </a:lnSpc>
              <a:spcBef>
                <a:spcPts val="0"/>
              </a:spcBef>
            </a:pPr>
            <a:r>
              <a:rPr lang="en-US" sz="1800" b="0" dirty="0"/>
              <a:t>	void Next( );			//</a:t>
            </a:r>
            <a:r>
              <a:rPr lang="zh-CN" altLang="en-US" sz="1800" b="0" dirty="0"/>
              <a:t>当前位置指针</a:t>
            </a:r>
            <a:r>
              <a:rPr lang="en-US" sz="1800" b="0" dirty="0" err="1"/>
              <a:t>curr</a:t>
            </a:r>
            <a:r>
              <a:rPr lang="zh-CN" altLang="en-US" sz="1800" b="0" dirty="0"/>
              <a:t>后移到后继</a:t>
            </a:r>
          </a:p>
          <a:p>
            <a:pPr>
              <a:lnSpc>
                <a:spcPct val="100000"/>
              </a:lnSpc>
              <a:spcBef>
                <a:spcPts val="0"/>
              </a:spcBef>
            </a:pPr>
            <a:r>
              <a:rPr lang="en-US" sz="1800" b="0" dirty="0"/>
              <a:t>	</a:t>
            </a:r>
            <a:r>
              <a:rPr lang="en-US" sz="1800" b="0" dirty="0" err="1"/>
              <a:t>bool</a:t>
            </a:r>
            <a:r>
              <a:rPr lang="en-US" sz="1800" b="0" dirty="0"/>
              <a:t> </a:t>
            </a:r>
            <a:r>
              <a:rPr lang="en-US" sz="1800" b="0" dirty="0" err="1"/>
              <a:t>setPos</a:t>
            </a:r>
            <a:r>
              <a:rPr lang="en-US" sz="1800" b="0" dirty="0"/>
              <a:t>(</a:t>
            </a:r>
            <a:r>
              <a:rPr lang="en-US" sz="1800" b="0" dirty="0" err="1"/>
              <a:t>int</a:t>
            </a:r>
            <a:r>
              <a:rPr lang="en-US" sz="1800" b="0" dirty="0"/>
              <a:t> pos);		//</a:t>
            </a:r>
            <a:r>
              <a:rPr lang="zh-CN" altLang="en-US" sz="1800" b="0" dirty="0"/>
              <a:t>任意设定当前数据元素的位置</a:t>
            </a:r>
          </a:p>
          <a:p>
            <a:pPr>
              <a:lnSpc>
                <a:spcPct val="100000"/>
              </a:lnSpc>
              <a:spcBef>
                <a:spcPts val="0"/>
              </a:spcBef>
            </a:pPr>
            <a:r>
              <a:rPr lang="en-US" sz="1800" b="0" dirty="0"/>
              <a:t>	</a:t>
            </a:r>
            <a:r>
              <a:rPr lang="en-US" sz="1800" b="0" dirty="0" err="1"/>
              <a:t>bool</a:t>
            </a:r>
            <a:r>
              <a:rPr lang="en-US" sz="1800" b="0" dirty="0"/>
              <a:t> </a:t>
            </a:r>
            <a:r>
              <a:rPr lang="en-US" sz="1800" b="0" dirty="0" err="1"/>
              <a:t>getValue</a:t>
            </a:r>
            <a:r>
              <a:rPr lang="en-US" sz="1800" b="0" dirty="0"/>
              <a:t>(Elem &amp;x)</a:t>
            </a:r>
            <a:r>
              <a:rPr lang="zh-CN" altLang="en-US" sz="1800" b="0" dirty="0"/>
              <a:t>； </a:t>
            </a:r>
            <a:r>
              <a:rPr lang="en-US" sz="1800" b="0" dirty="0"/>
              <a:t>	//</a:t>
            </a:r>
            <a:r>
              <a:rPr lang="zh-CN" altLang="en-US" sz="1800" b="0" dirty="0"/>
              <a:t>取出当前位置元素的值</a:t>
            </a:r>
          </a:p>
          <a:p>
            <a:pPr>
              <a:lnSpc>
                <a:spcPct val="100000"/>
              </a:lnSpc>
              <a:spcBef>
                <a:spcPts val="0"/>
              </a:spcBef>
            </a:pPr>
            <a:r>
              <a:rPr lang="en-US" sz="1800" b="0" dirty="0"/>
              <a:t>	</a:t>
            </a:r>
            <a:r>
              <a:rPr lang="en-US" sz="1800" b="0" dirty="0" err="1"/>
              <a:t>bool</a:t>
            </a:r>
            <a:r>
              <a:rPr lang="en-US" sz="1800" b="0" dirty="0"/>
              <a:t> insert( Elem x)</a:t>
            </a:r>
            <a:r>
              <a:rPr lang="zh-CN" altLang="en-US" sz="1800" b="0" dirty="0"/>
              <a:t>； </a:t>
            </a:r>
            <a:r>
              <a:rPr lang="en-US" sz="1800" b="0" dirty="0"/>
              <a:t>		//</a:t>
            </a:r>
            <a:r>
              <a:rPr lang="zh-CN" altLang="en-US" sz="1800" b="0" dirty="0"/>
              <a:t>在当前位置之后插入元素</a:t>
            </a:r>
          </a:p>
          <a:p>
            <a:pPr>
              <a:lnSpc>
                <a:spcPct val="100000"/>
              </a:lnSpc>
              <a:spcBef>
                <a:spcPts val="0"/>
              </a:spcBef>
            </a:pPr>
            <a:r>
              <a:rPr lang="en-US" sz="1800" b="0" dirty="0"/>
              <a:t>	</a:t>
            </a:r>
            <a:r>
              <a:rPr lang="en-US" sz="1800" b="0" dirty="0" err="1"/>
              <a:t>bool</a:t>
            </a:r>
            <a:r>
              <a:rPr lang="en-US" sz="1800" b="0" dirty="0"/>
              <a:t> remove( Elem &amp;x)</a:t>
            </a:r>
            <a:r>
              <a:rPr lang="zh-CN" altLang="en-US" sz="1800" b="0" dirty="0"/>
              <a:t>； </a:t>
            </a:r>
            <a:r>
              <a:rPr lang="en-US" sz="1800" b="0" dirty="0"/>
              <a:t>	//</a:t>
            </a:r>
            <a:r>
              <a:rPr lang="zh-CN" altLang="en-US" sz="1800" b="0" dirty="0"/>
              <a:t>删除当前位置之后的元素，并返回其值</a:t>
            </a:r>
          </a:p>
          <a:p>
            <a:pPr>
              <a:lnSpc>
                <a:spcPct val="100000"/>
              </a:lnSpc>
              <a:spcBef>
                <a:spcPts val="0"/>
              </a:spcBef>
            </a:pPr>
            <a:r>
              <a:rPr lang="en-US" sz="1800" b="0" dirty="0"/>
              <a:t>	</a:t>
            </a:r>
            <a:r>
              <a:rPr lang="en-US" sz="1800" b="0" dirty="0" err="1"/>
              <a:t>CLinkNode</a:t>
            </a:r>
            <a:r>
              <a:rPr lang="en-US" sz="1800" b="0" dirty="0"/>
              <a:t>&lt;Elem&gt; * Search(Elem x)</a:t>
            </a:r>
            <a:r>
              <a:rPr lang="zh-CN" altLang="en-US" sz="1800" b="0" dirty="0"/>
              <a:t>；</a:t>
            </a:r>
            <a:r>
              <a:rPr lang="en-US" sz="1800" b="0" dirty="0"/>
              <a:t>//</a:t>
            </a:r>
            <a:r>
              <a:rPr lang="zh-CN" altLang="en-US" sz="1800" b="0" dirty="0"/>
              <a:t>搜索含数据</a:t>
            </a:r>
            <a:r>
              <a:rPr lang="en-US" sz="1800" b="0" dirty="0"/>
              <a:t>x </a:t>
            </a:r>
            <a:r>
              <a:rPr lang="zh-CN" altLang="en-US" sz="1800" b="0" dirty="0"/>
              <a:t>的元素</a:t>
            </a:r>
          </a:p>
          <a:p>
            <a:pPr>
              <a:lnSpc>
                <a:spcPct val="100000"/>
              </a:lnSpc>
              <a:spcBef>
                <a:spcPts val="0"/>
              </a:spcBef>
            </a:pPr>
            <a:r>
              <a:rPr lang="en-US" sz="1800" b="0" dirty="0"/>
              <a:t>}</a:t>
            </a:r>
            <a:r>
              <a:rPr lang="zh-CN" altLang="en-US" sz="1800" b="0" dirty="0"/>
              <a:t>；</a:t>
            </a:r>
          </a:p>
          <a:p>
            <a:pPr>
              <a:lnSpc>
                <a:spcPct val="100000"/>
              </a:lnSpc>
              <a:spcBef>
                <a:spcPts val="0"/>
              </a:spcBef>
            </a:pPr>
            <a:endParaRPr lang="zh-CN" altLang="en-US" sz="1800" b="0" dirty="0"/>
          </a:p>
        </p:txBody>
      </p:sp>
    </p:spTree>
    <p:extLst>
      <p:ext uri="{BB962C8B-B14F-4D97-AF65-F5344CB8AC3E}">
        <p14:creationId xmlns:p14="http://schemas.microsoft.com/office/powerpoint/2010/main" val="65059447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980728"/>
            <a:ext cx="7992888" cy="5112568"/>
          </a:xfrm>
        </p:spPr>
        <p:txBody>
          <a:bodyPr>
            <a:normAutofit/>
          </a:bodyPr>
          <a:lstStyle/>
          <a:p>
            <a:r>
              <a:rPr lang="en-US" altLang="zh-CN" b="0" dirty="0"/>
              <a:t>	</a:t>
            </a:r>
            <a:r>
              <a:rPr lang="zh-CN" altLang="zh-CN" dirty="0"/>
              <a:t>约瑟夫问题</a:t>
            </a:r>
            <a:r>
              <a:rPr lang="zh-CN" altLang="zh-CN" b="0" dirty="0"/>
              <a:t>是循环链表实际应用的一个典型例子。</a:t>
            </a:r>
            <a:endParaRPr lang="en-US" altLang="zh-CN" b="0" dirty="0"/>
          </a:p>
          <a:p>
            <a:endParaRPr lang="zh-CN" altLang="zh-CN" sz="1000" b="0" dirty="0"/>
          </a:p>
          <a:p>
            <a:pPr algn="just"/>
            <a:r>
              <a:rPr lang="en-US" altLang="zh-CN" dirty="0"/>
              <a:t>	</a:t>
            </a:r>
            <a:r>
              <a:rPr lang="en-US" altLang="zh-CN" sz="2000" dirty="0">
                <a:latin typeface="微软雅黑" panose="020B0503020204020204" pitchFamily="34" charset="-122"/>
                <a:ea typeface="微软雅黑" panose="020B0503020204020204" pitchFamily="34" charset="-122"/>
              </a:rPr>
              <a:t>	</a:t>
            </a:r>
            <a:r>
              <a:rPr lang="zh-CN" altLang="zh-CN" sz="2000" dirty="0">
                <a:solidFill>
                  <a:srgbClr val="FF0000"/>
                </a:solidFill>
                <a:latin typeface="微软雅黑" panose="020B0503020204020204" pitchFamily="34" charset="-122"/>
                <a:ea typeface="微软雅黑" panose="020B0503020204020204" pitchFamily="34" charset="-122"/>
              </a:rPr>
              <a:t>约瑟夫问题</a:t>
            </a:r>
            <a:r>
              <a:rPr lang="zh-CN" altLang="en-US" sz="2000" dirty="0">
                <a:solidFill>
                  <a:srgbClr val="FF0000"/>
                </a:solidFill>
                <a:latin typeface="微软雅黑" panose="020B0503020204020204" pitchFamily="34" charset="-122"/>
                <a:ea typeface="微软雅黑" panose="020B0503020204020204" pitchFamily="34" charset="-122"/>
              </a:rPr>
              <a:t>来历</a:t>
            </a:r>
            <a:r>
              <a:rPr lang="zh-CN" altLang="zh-CN" sz="2000" dirty="0">
                <a:latin typeface="微软雅黑" panose="020B0503020204020204" pitchFamily="34" charset="-122"/>
                <a:ea typeface="微软雅黑" panose="020B0503020204020204" pitchFamily="34" charset="-122"/>
              </a:rPr>
              <a:t>：</a:t>
            </a:r>
            <a:r>
              <a:rPr lang="zh-CN" altLang="en-US" sz="2000" b="0" dirty="0">
                <a:latin typeface="微软雅黑" panose="020B0503020204020204" pitchFamily="34" charset="-122"/>
                <a:ea typeface="微软雅黑" panose="020B0503020204020204" pitchFamily="34" charset="-122"/>
              </a:rPr>
              <a:t>据说著名犹太历史学家 </a:t>
            </a:r>
            <a:r>
              <a:rPr lang="en-US" altLang="zh-CN" sz="2000" b="0" dirty="0">
                <a:latin typeface="微软雅黑" panose="020B0503020204020204" pitchFamily="34" charset="-122"/>
                <a:ea typeface="微软雅黑" panose="020B0503020204020204" pitchFamily="34" charset="-122"/>
              </a:rPr>
              <a:t>Josephus</a:t>
            </a:r>
            <a:r>
              <a:rPr lang="zh-CN" altLang="en-US" sz="2000" b="0" dirty="0">
                <a:latin typeface="微软雅黑" panose="020B0503020204020204" pitchFamily="34" charset="-122"/>
                <a:ea typeface="微软雅黑" panose="020B0503020204020204" pitchFamily="34" charset="-122"/>
              </a:rPr>
              <a:t>有过以下的故事：在罗马人占领乔塔帕特后，</a:t>
            </a:r>
            <a:r>
              <a:rPr lang="en-US" altLang="zh-CN" sz="2000" b="0" dirty="0">
                <a:latin typeface="微软雅黑" panose="020B0503020204020204" pitchFamily="34" charset="-122"/>
                <a:ea typeface="微软雅黑" panose="020B0503020204020204" pitchFamily="34" charset="-122"/>
              </a:rPr>
              <a:t>39 </a:t>
            </a:r>
            <a:r>
              <a:rPr lang="zh-CN" altLang="en-US" sz="2000" b="0" dirty="0">
                <a:latin typeface="微软雅黑" panose="020B0503020204020204" pitchFamily="34" charset="-122"/>
                <a:ea typeface="微软雅黑" panose="020B0503020204020204" pitchFamily="34" charset="-122"/>
              </a:rPr>
              <a:t>个犹太人与</a:t>
            </a:r>
            <a:r>
              <a:rPr lang="en-US" altLang="zh-CN" sz="2000" b="0" dirty="0">
                <a:latin typeface="微软雅黑" panose="020B0503020204020204" pitchFamily="34" charset="-122"/>
                <a:ea typeface="微软雅黑" panose="020B0503020204020204" pitchFamily="34" charset="-122"/>
              </a:rPr>
              <a:t>Josephus</a:t>
            </a:r>
            <a:r>
              <a:rPr lang="zh-CN" altLang="en-US" sz="2000" b="0" dirty="0">
                <a:latin typeface="微软雅黑" panose="020B0503020204020204" pitchFamily="34" charset="-122"/>
                <a:ea typeface="微软雅黑" panose="020B0503020204020204" pitchFamily="34" charset="-122"/>
              </a:rPr>
              <a:t>及他的朋友躲到一个洞中，</a:t>
            </a:r>
            <a:r>
              <a:rPr lang="en-US" altLang="zh-CN" sz="2000" b="0" dirty="0">
                <a:latin typeface="微软雅黑" panose="020B0503020204020204" pitchFamily="34" charset="-122"/>
                <a:ea typeface="微软雅黑" panose="020B0503020204020204" pitchFamily="34" charset="-122"/>
              </a:rPr>
              <a:t>39</a:t>
            </a:r>
            <a:r>
              <a:rPr lang="zh-CN" altLang="en-US" sz="2000" b="0" dirty="0">
                <a:latin typeface="微软雅黑" panose="020B0503020204020204" pitchFamily="34" charset="-122"/>
                <a:ea typeface="微软雅黑" panose="020B0503020204020204" pitchFamily="34" charset="-122"/>
              </a:rPr>
              <a:t>个犹太人决定宁愿死也不要被敌人抓到，于是决定了一个自杀方式，</a:t>
            </a:r>
            <a:r>
              <a:rPr lang="en-US" altLang="zh-CN" sz="2000" b="0" dirty="0">
                <a:latin typeface="微软雅黑" panose="020B0503020204020204" pitchFamily="34" charset="-122"/>
                <a:ea typeface="微软雅黑" panose="020B0503020204020204" pitchFamily="34" charset="-122"/>
              </a:rPr>
              <a:t>41</a:t>
            </a:r>
            <a:r>
              <a:rPr lang="zh-CN" altLang="en-US" sz="2000" b="0" dirty="0">
                <a:latin typeface="微软雅黑" panose="020B0503020204020204" pitchFamily="34" charset="-122"/>
                <a:ea typeface="微软雅黑" panose="020B0503020204020204" pitchFamily="34" charset="-122"/>
              </a:rPr>
              <a:t>个人排成一个圆圈，由第</a:t>
            </a:r>
            <a:r>
              <a:rPr lang="en-US" altLang="zh-CN" sz="2000" b="0" dirty="0">
                <a:latin typeface="微软雅黑" panose="020B0503020204020204" pitchFamily="34" charset="-122"/>
                <a:ea typeface="微软雅黑" panose="020B0503020204020204" pitchFamily="34" charset="-122"/>
              </a:rPr>
              <a:t>1</a:t>
            </a:r>
            <a:r>
              <a:rPr lang="zh-CN" altLang="en-US" sz="2000" b="0" dirty="0">
                <a:latin typeface="微软雅黑" panose="020B0503020204020204" pitchFamily="34" charset="-122"/>
                <a:ea typeface="微软雅黑" panose="020B0503020204020204" pitchFamily="34" charset="-122"/>
              </a:rPr>
              <a:t>个人开始报数，每报数到第</a:t>
            </a:r>
            <a:r>
              <a:rPr lang="en-US" altLang="zh-CN" sz="2000" b="0" dirty="0">
                <a:latin typeface="微软雅黑" panose="020B0503020204020204" pitchFamily="34" charset="-122"/>
                <a:ea typeface="微软雅黑" panose="020B0503020204020204" pitchFamily="34" charset="-122"/>
              </a:rPr>
              <a:t>3</a:t>
            </a:r>
            <a:r>
              <a:rPr lang="zh-CN" altLang="en-US" sz="2000" b="0" dirty="0">
                <a:latin typeface="微软雅黑" panose="020B0503020204020204" pitchFamily="34" charset="-122"/>
                <a:ea typeface="微软雅黑" panose="020B0503020204020204" pitchFamily="34" charset="-122"/>
              </a:rPr>
              <a:t>人该人就必须自杀，然后再由下一个重新报数，直到所有人都自杀身亡为止。然而</a:t>
            </a:r>
            <a:r>
              <a:rPr lang="en-US" altLang="zh-CN" sz="2000" b="0" dirty="0">
                <a:latin typeface="微软雅黑" panose="020B0503020204020204" pitchFamily="34" charset="-122"/>
                <a:ea typeface="微软雅黑" panose="020B0503020204020204" pitchFamily="34" charset="-122"/>
              </a:rPr>
              <a:t>Josephus </a:t>
            </a:r>
            <a:r>
              <a:rPr lang="zh-CN" altLang="en-US" sz="2000" b="0" dirty="0">
                <a:latin typeface="微软雅黑" panose="020B0503020204020204" pitchFamily="34" charset="-122"/>
                <a:ea typeface="微软雅黑" panose="020B0503020204020204" pitchFamily="34" charset="-122"/>
              </a:rPr>
              <a:t>和他的朋友并不想遵从。问题是，给定了规则，一开始要站在什么地方才能避免被处决？</a:t>
            </a:r>
            <a:r>
              <a:rPr lang="en-US" altLang="zh-CN" sz="2000" b="0" dirty="0">
                <a:latin typeface="微软雅黑" panose="020B0503020204020204" pitchFamily="34" charset="-122"/>
                <a:ea typeface="微软雅黑" panose="020B0503020204020204" pitchFamily="34" charset="-122"/>
              </a:rPr>
              <a:t>Josephus</a:t>
            </a:r>
            <a:r>
              <a:rPr lang="zh-CN" altLang="en-US" sz="2000" b="0" dirty="0">
                <a:latin typeface="微软雅黑" panose="020B0503020204020204" pitchFamily="34" charset="-122"/>
                <a:ea typeface="微软雅黑" panose="020B0503020204020204" pitchFamily="34" charset="-122"/>
              </a:rPr>
              <a:t>要他的朋友先假装遵从，他将朋友与自己安排在第</a:t>
            </a:r>
            <a:r>
              <a:rPr lang="en-US" altLang="zh-CN" sz="2000" b="0" dirty="0">
                <a:latin typeface="微软雅黑" panose="020B0503020204020204" pitchFamily="34" charset="-122"/>
                <a:ea typeface="微软雅黑" panose="020B0503020204020204" pitchFamily="34" charset="-122"/>
              </a:rPr>
              <a:t>16</a:t>
            </a:r>
            <a:r>
              <a:rPr lang="zh-CN" altLang="en-US" sz="2000" b="0" dirty="0">
                <a:latin typeface="微软雅黑" panose="020B0503020204020204" pitchFamily="34" charset="-122"/>
                <a:ea typeface="微软雅黑" panose="020B0503020204020204" pitchFamily="34" charset="-122"/>
              </a:rPr>
              <a:t>个与第</a:t>
            </a:r>
            <a:r>
              <a:rPr lang="en-US" altLang="zh-CN" sz="2000" b="0" dirty="0">
                <a:latin typeface="微软雅黑" panose="020B0503020204020204" pitchFamily="34" charset="-122"/>
                <a:ea typeface="微软雅黑" panose="020B0503020204020204" pitchFamily="34" charset="-122"/>
              </a:rPr>
              <a:t>31</a:t>
            </a:r>
            <a:r>
              <a:rPr lang="zh-CN" altLang="en-US" sz="2000" b="0" dirty="0">
                <a:latin typeface="微软雅黑" panose="020B0503020204020204" pitchFamily="34" charset="-122"/>
                <a:ea typeface="微软雅黑" panose="020B0503020204020204" pitchFamily="34" charset="-122"/>
              </a:rPr>
              <a:t>个位置，于是逃过了这场死亡游戏。</a:t>
            </a:r>
            <a:endParaRPr lang="zh-CN" altLang="zh-CN" sz="2000" b="0" dirty="0">
              <a:latin typeface="微软雅黑" panose="020B0503020204020204" pitchFamily="34" charset="-122"/>
              <a:ea typeface="微软雅黑" panose="020B0503020204020204" pitchFamily="34" charset="-122"/>
            </a:endParaRPr>
          </a:p>
          <a:p>
            <a:endParaRPr lang="zh-CN" altLang="en-US" b="0" dirty="0"/>
          </a:p>
        </p:txBody>
      </p:sp>
    </p:spTree>
    <p:extLst>
      <p:ext uri="{BB962C8B-B14F-4D97-AF65-F5344CB8AC3E}">
        <p14:creationId xmlns:p14="http://schemas.microsoft.com/office/powerpoint/2010/main" val="149410278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980728"/>
            <a:ext cx="7992888" cy="5112568"/>
          </a:xfrm>
        </p:spPr>
        <p:txBody>
          <a:bodyPr>
            <a:normAutofit/>
          </a:bodyPr>
          <a:lstStyle/>
          <a:p>
            <a:pPr algn="just"/>
            <a:r>
              <a:rPr lang="en-US" altLang="zh-CN" dirty="0"/>
              <a:t>		</a:t>
            </a:r>
            <a:r>
              <a:rPr lang="zh-CN" altLang="zh-CN" dirty="0">
                <a:solidFill>
                  <a:srgbClr val="FF0000"/>
                </a:solidFill>
              </a:rPr>
              <a:t>约瑟夫问题</a:t>
            </a:r>
            <a:r>
              <a:rPr lang="zh-CN" altLang="zh-CN" dirty="0"/>
              <a:t>：</a:t>
            </a:r>
            <a:r>
              <a:rPr lang="zh-CN" altLang="zh-CN" b="0" dirty="0"/>
              <a:t>假设编号为</a:t>
            </a:r>
            <a:r>
              <a:rPr lang="en-US" altLang="zh-CN" b="0" dirty="0"/>
              <a:t>1</a:t>
            </a:r>
            <a:r>
              <a:rPr lang="zh-CN" altLang="zh-CN" b="0" dirty="0"/>
              <a:t>，</a:t>
            </a:r>
            <a:r>
              <a:rPr lang="en-US" altLang="zh-CN" b="0" dirty="0"/>
              <a:t>2</a:t>
            </a:r>
            <a:r>
              <a:rPr lang="zh-CN" altLang="zh-CN" b="0" dirty="0"/>
              <a:t>，</a:t>
            </a:r>
            <a:r>
              <a:rPr lang="en-US" altLang="zh-CN" b="0" dirty="0"/>
              <a:t>…</a:t>
            </a:r>
            <a:r>
              <a:rPr lang="zh-CN" altLang="zh-CN" b="0" dirty="0"/>
              <a:t>，</a:t>
            </a:r>
            <a:r>
              <a:rPr lang="en-US" altLang="zh-CN" b="0" dirty="0"/>
              <a:t>n(n</a:t>
            </a:r>
            <a:r>
              <a:rPr lang="zh-CN" altLang="zh-CN" b="0" dirty="0"/>
              <a:t>＞</a:t>
            </a:r>
            <a:r>
              <a:rPr lang="en-US" altLang="zh-CN" b="0" dirty="0"/>
              <a:t>0)</a:t>
            </a:r>
            <a:r>
              <a:rPr lang="zh-CN" altLang="zh-CN" b="0" dirty="0"/>
              <a:t>的</a:t>
            </a:r>
            <a:r>
              <a:rPr lang="en-US" altLang="zh-CN" b="0" dirty="0"/>
              <a:t>n</a:t>
            </a:r>
            <a:r>
              <a:rPr lang="zh-CN" altLang="zh-CN" b="0" dirty="0"/>
              <a:t>个人，按顺时针方向围坐一圈，每人持有一个正整数密码。开始时先选一个正整数</a:t>
            </a:r>
            <a:r>
              <a:rPr lang="en-US" altLang="zh-CN" b="0" dirty="0"/>
              <a:t>m</a:t>
            </a:r>
            <a:r>
              <a:rPr lang="zh-CN" altLang="zh-CN" b="0" dirty="0"/>
              <a:t>，从第</a:t>
            </a:r>
            <a:r>
              <a:rPr lang="en-US" altLang="zh-CN" b="0" dirty="0"/>
              <a:t>1</a:t>
            </a:r>
            <a:r>
              <a:rPr lang="zh-CN" altLang="zh-CN" b="0" dirty="0"/>
              <a:t>个人开始，自</a:t>
            </a:r>
            <a:r>
              <a:rPr lang="en-US" altLang="zh-CN" b="0" dirty="0"/>
              <a:t>1</a:t>
            </a:r>
            <a:r>
              <a:rPr lang="zh-CN" altLang="zh-CN" b="0" dirty="0"/>
              <a:t>起顺序报数，报到</a:t>
            </a:r>
            <a:r>
              <a:rPr lang="en-US" altLang="zh-CN" b="0" dirty="0"/>
              <a:t>m</a:t>
            </a:r>
            <a:r>
              <a:rPr lang="zh-CN" altLang="zh-CN" b="0" dirty="0"/>
              <a:t>时停止报数，报到</a:t>
            </a:r>
            <a:r>
              <a:rPr lang="en-US" altLang="zh-CN" b="0" dirty="0"/>
              <a:t>m</a:t>
            </a:r>
            <a:r>
              <a:rPr lang="zh-CN" altLang="zh-CN" b="0" dirty="0"/>
              <a:t>的人出列，将他的密码作为新的</a:t>
            </a:r>
            <a:r>
              <a:rPr lang="en-US" altLang="zh-CN" b="0" dirty="0"/>
              <a:t>m</a:t>
            </a:r>
            <a:r>
              <a:rPr lang="zh-CN" altLang="zh-CN" b="0" dirty="0"/>
              <a:t>值，然后从出列人的下一个人重新从</a:t>
            </a:r>
            <a:r>
              <a:rPr lang="en-US" altLang="zh-CN" b="0" dirty="0"/>
              <a:t>1</a:t>
            </a:r>
            <a:r>
              <a:rPr lang="zh-CN" altLang="zh-CN" b="0" dirty="0"/>
              <a:t>顺序报数。如此下去，直到所有人全部出列为止。</a:t>
            </a:r>
            <a:endParaRPr lang="en-US" altLang="zh-CN" b="0" dirty="0"/>
          </a:p>
          <a:p>
            <a:pPr algn="just"/>
            <a:r>
              <a:rPr lang="en-US" altLang="zh-CN" b="0" dirty="0"/>
              <a:t>		</a:t>
            </a:r>
            <a:r>
              <a:rPr lang="zh-CN" altLang="zh-CN" b="0" dirty="0"/>
              <a:t>根据问题的描述，采用循环链表结构来表示约瑟夫问题，结点的定义如图</a:t>
            </a:r>
            <a:r>
              <a:rPr lang="en-US" altLang="zh-CN" b="0" dirty="0"/>
              <a:t>2-20</a:t>
            </a:r>
            <a:r>
              <a:rPr lang="zh-CN" altLang="zh-CN" b="0" dirty="0"/>
              <a:t>所示。</a:t>
            </a:r>
          </a:p>
          <a:p>
            <a:endParaRPr lang="zh-CN" altLang="zh-CN" b="0" dirty="0"/>
          </a:p>
          <a:p>
            <a:endParaRPr lang="zh-CN" altLang="en-US" b="0" dirty="0"/>
          </a:p>
        </p:txBody>
      </p:sp>
    </p:spTree>
    <p:extLst>
      <p:ext uri="{BB962C8B-B14F-4D97-AF65-F5344CB8AC3E}">
        <p14:creationId xmlns:p14="http://schemas.microsoft.com/office/powerpoint/2010/main" val="78545911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99592" y="2492896"/>
            <a:ext cx="7698959" cy="3416320"/>
          </a:xfrm>
          <a:prstGeom prst="rect">
            <a:avLst/>
          </a:prstGeom>
        </p:spPr>
        <p:txBody>
          <a:bodyPr wrap="square">
            <a:spAutoFit/>
          </a:bodyPr>
          <a:lstStyle/>
          <a:p>
            <a:pPr algn="just">
              <a:lnSpc>
                <a:spcPct val="120000"/>
              </a:lnSpc>
            </a:pP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其中：</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No</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表示每个人的编号；</a:t>
            </a:r>
          </a:p>
          <a:p>
            <a:pPr algn="just">
              <a:lnSpc>
                <a:spcPct val="120000"/>
              </a:lnSpc>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dirty="0" err="1">
                <a:latin typeface="Times New Roman" panose="02020603050405020304" pitchFamily="18" charset="0"/>
                <a:ea typeface="楷体" panose="02010609060101010101" pitchFamily="49" charset="-122"/>
                <a:cs typeface="Times New Roman" panose="02020603050405020304" pitchFamily="18" charset="0"/>
              </a:rPr>
              <a:t>pwd</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表示每个人的密码；</a:t>
            </a:r>
          </a:p>
          <a:p>
            <a:pPr algn="just">
              <a:lnSpc>
                <a:spcPct val="120000"/>
              </a:lnSpc>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next</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为指向下一个结点的指针。</a:t>
            </a:r>
          </a:p>
          <a:p>
            <a:pPr algn="just">
              <a:lnSpc>
                <a:spcPct val="120000"/>
              </a:lnSpc>
            </a:pP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解决约瑟夫问题的步骤如下：</a:t>
            </a:r>
          </a:p>
          <a:p>
            <a:pPr algn="just">
              <a:lnSpc>
                <a:spcPct val="120000"/>
              </a:lnSpc>
            </a:pP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1</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）建立一个具有</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n</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个结点的约瑟夫问题循环链表；</a:t>
            </a:r>
          </a:p>
          <a:p>
            <a:pPr algn="just">
              <a:lnSpc>
                <a:spcPct val="120000"/>
              </a:lnSpc>
            </a:pP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2</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）在循环链表中查找、输出和删除</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第</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m</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个</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结点。具体来说，在循环链表中，循环查找</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第</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m</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个</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结点，将其输出，并取出该接点的密码赋值给</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m</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，最后将该结点从约瑟夫问题循环链表中删除。直到输出循环链表中的所有元素为止。</a:t>
            </a: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859083981"/>
              </p:ext>
            </p:extLst>
          </p:nvPr>
        </p:nvGraphicFramePr>
        <p:xfrm>
          <a:off x="1547664" y="1112430"/>
          <a:ext cx="5273086" cy="536815"/>
        </p:xfrm>
        <a:graphic>
          <a:graphicData uri="http://schemas.openxmlformats.org/presentationml/2006/ole">
            <mc:AlternateContent xmlns:mc="http://schemas.openxmlformats.org/markup-compatibility/2006">
              <mc:Choice xmlns:v="urn:schemas-microsoft-com:vml" Requires="v">
                <p:oleObj spid="_x0000_s8309" r:id="rId3" imgW="3678136" imgH="394658" progId="">
                  <p:embed/>
                </p:oleObj>
              </mc:Choice>
              <mc:Fallback>
                <p:oleObj r:id="rId3" imgW="3678136" imgH="394658" progId="">
                  <p:embed/>
                  <p:pic>
                    <p:nvPicPr>
                      <p:cNvPr id="0"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664" y="1112430"/>
                        <a:ext cx="5273086" cy="536815"/>
                      </a:xfrm>
                      <a:prstGeom prst="rect">
                        <a:avLst/>
                      </a:prstGeom>
                      <a:noFill/>
                    </p:spPr>
                  </p:pic>
                </p:oleObj>
              </mc:Fallback>
            </mc:AlternateContent>
          </a:graphicData>
        </a:graphic>
      </p:graphicFrame>
      <p:sp>
        <p:nvSpPr>
          <p:cNvPr id="6" name="矩形 5"/>
          <p:cNvSpPr/>
          <p:nvPr/>
        </p:nvSpPr>
        <p:spPr>
          <a:xfrm>
            <a:off x="2483768" y="1772816"/>
            <a:ext cx="3603872" cy="400110"/>
          </a:xfrm>
          <a:prstGeom prst="rect">
            <a:avLst/>
          </a:prstGeom>
        </p:spPr>
        <p:txBody>
          <a:bodyPr wrap="none">
            <a:spAutoFit/>
          </a:bodyPr>
          <a:lstStyle/>
          <a:p>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图</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2-20  </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约瑟夫问题的结点结构</a:t>
            </a:r>
          </a:p>
        </p:txBody>
      </p:sp>
    </p:spTree>
    <p:extLst>
      <p:ext uri="{BB962C8B-B14F-4D97-AF65-F5344CB8AC3E}">
        <p14:creationId xmlns:p14="http://schemas.microsoft.com/office/powerpoint/2010/main" val="210583245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1600" y="836712"/>
            <a:ext cx="7992888" cy="5400600"/>
          </a:xfrm>
        </p:spPr>
        <p:txBody>
          <a:bodyPr>
            <a:noAutofit/>
          </a:bodyPr>
          <a:lstStyle/>
          <a:p>
            <a:pPr>
              <a:lnSpc>
                <a:spcPct val="100000"/>
              </a:lnSpc>
              <a:spcBef>
                <a:spcPts val="0"/>
              </a:spcBef>
            </a:pPr>
            <a:r>
              <a:rPr lang="zh-CN" altLang="zh-CN" sz="1800" dirty="0"/>
              <a:t>创建约瑟夫问题的循环链表的具体实现算法如下。</a:t>
            </a:r>
          </a:p>
          <a:p>
            <a:pPr>
              <a:lnSpc>
                <a:spcPct val="100000"/>
              </a:lnSpc>
              <a:spcBef>
                <a:spcPts val="0"/>
              </a:spcBef>
            </a:pPr>
            <a:r>
              <a:rPr lang="zh-CN" altLang="zh-CN" sz="1800" dirty="0"/>
              <a:t>算法</a:t>
            </a:r>
            <a:r>
              <a:rPr lang="en-US" altLang="zh-CN" sz="1800" dirty="0"/>
              <a:t>2.15</a:t>
            </a:r>
            <a:r>
              <a:rPr lang="zh-CN" altLang="zh-CN" sz="1800" dirty="0"/>
              <a:t>：</a:t>
            </a:r>
            <a:r>
              <a:rPr lang="zh-CN" altLang="zh-CN" sz="1800" dirty="0">
                <a:solidFill>
                  <a:srgbClr val="FF0000"/>
                </a:solidFill>
              </a:rPr>
              <a:t>约瑟夫问题的循环链表</a:t>
            </a:r>
          </a:p>
          <a:p>
            <a:pPr>
              <a:lnSpc>
                <a:spcPct val="100000"/>
              </a:lnSpc>
              <a:spcBef>
                <a:spcPts val="0"/>
              </a:spcBef>
            </a:pPr>
            <a:r>
              <a:rPr lang="en-US" altLang="zh-CN" sz="1800" b="0" dirty="0"/>
              <a:t>#include &lt;</a:t>
            </a:r>
            <a:r>
              <a:rPr lang="en-US" altLang="zh-CN" sz="1800" b="0" dirty="0" err="1"/>
              <a:t>iostream.h</a:t>
            </a:r>
            <a:r>
              <a:rPr lang="en-US" altLang="zh-CN" sz="1800" b="0" dirty="0"/>
              <a:t>&gt;</a:t>
            </a:r>
            <a:endParaRPr lang="zh-CN" altLang="zh-CN" sz="1800" b="0" dirty="0"/>
          </a:p>
          <a:p>
            <a:pPr>
              <a:lnSpc>
                <a:spcPct val="100000"/>
              </a:lnSpc>
              <a:spcBef>
                <a:spcPts val="0"/>
              </a:spcBef>
            </a:pPr>
            <a:r>
              <a:rPr lang="en-US" altLang="zh-CN" sz="1800" b="0" dirty="0"/>
              <a:t>#include “</a:t>
            </a:r>
            <a:r>
              <a:rPr lang="en-US" altLang="zh-CN" sz="1800" b="0" dirty="0" err="1"/>
              <a:t>CList.h</a:t>
            </a:r>
            <a:r>
              <a:rPr lang="en-US" altLang="zh-CN" sz="1800" b="0" dirty="0"/>
              <a:t>”</a:t>
            </a:r>
            <a:endParaRPr lang="zh-CN" altLang="zh-CN" sz="1800" b="0" dirty="0"/>
          </a:p>
          <a:p>
            <a:pPr>
              <a:lnSpc>
                <a:spcPct val="100000"/>
              </a:lnSpc>
              <a:spcBef>
                <a:spcPts val="0"/>
              </a:spcBef>
            </a:pPr>
            <a:r>
              <a:rPr lang="en-US" altLang="zh-CN" sz="1800" b="0" dirty="0"/>
              <a:t>template &lt;T&gt;</a:t>
            </a:r>
            <a:endParaRPr lang="zh-CN" altLang="zh-CN" sz="1800" b="0" dirty="0"/>
          </a:p>
          <a:p>
            <a:pPr>
              <a:lnSpc>
                <a:spcPct val="100000"/>
              </a:lnSpc>
              <a:spcBef>
                <a:spcPts val="0"/>
              </a:spcBef>
            </a:pPr>
            <a:r>
              <a:rPr lang="en-US" altLang="zh-CN" sz="1800" b="0" dirty="0"/>
              <a:t>void Josephus(</a:t>
            </a:r>
            <a:r>
              <a:rPr lang="en-US" altLang="zh-CN" sz="1800" b="0" dirty="0" err="1"/>
              <a:t>CList</a:t>
            </a:r>
            <a:r>
              <a:rPr lang="en-US" altLang="zh-CN" sz="1800" b="0" dirty="0"/>
              <a:t>&lt;T&gt;&amp; </a:t>
            </a:r>
            <a:r>
              <a:rPr lang="en-US" altLang="zh-CN" sz="1800" b="0" dirty="0" err="1"/>
              <a:t>Js</a:t>
            </a:r>
            <a:r>
              <a:rPr lang="en-US" altLang="zh-CN" sz="1800" b="0" dirty="0"/>
              <a:t>, </a:t>
            </a:r>
            <a:r>
              <a:rPr lang="en-US" altLang="zh-CN" sz="1800" b="0" dirty="0" err="1"/>
              <a:t>int</a:t>
            </a:r>
            <a:r>
              <a:rPr lang="en-US" altLang="zh-CN" sz="1800" b="0" dirty="0"/>
              <a:t> n, </a:t>
            </a:r>
            <a:r>
              <a:rPr lang="en-US" altLang="zh-CN" sz="1800" b="0" dirty="0" err="1"/>
              <a:t>int</a:t>
            </a:r>
            <a:r>
              <a:rPr lang="en-US" altLang="zh-CN" sz="1800" b="0" dirty="0"/>
              <a:t> m) {</a:t>
            </a:r>
            <a:endParaRPr lang="zh-CN" altLang="zh-CN" sz="1800" b="0" dirty="0"/>
          </a:p>
          <a:p>
            <a:pPr>
              <a:lnSpc>
                <a:spcPct val="100000"/>
              </a:lnSpc>
              <a:spcBef>
                <a:spcPts val="0"/>
              </a:spcBef>
            </a:pPr>
            <a:r>
              <a:rPr lang="en-US" altLang="zh-CN" sz="1800" b="0" dirty="0"/>
              <a:t>	</a:t>
            </a:r>
            <a:r>
              <a:rPr lang="en-US" altLang="zh-CN" sz="1800" b="0" dirty="0" err="1"/>
              <a:t>CLinkNode</a:t>
            </a:r>
            <a:r>
              <a:rPr lang="en-US" altLang="zh-CN" sz="1800" b="0" dirty="0"/>
              <a:t>&lt;T&gt; *p = </a:t>
            </a:r>
            <a:r>
              <a:rPr lang="en-US" altLang="zh-CN" sz="1800" b="0" dirty="0" err="1"/>
              <a:t>Js.getHead</a:t>
            </a:r>
            <a:r>
              <a:rPr lang="en-US" altLang="zh-CN" sz="1800" b="0" dirty="0"/>
              <a:t>(), *pre = NULL</a:t>
            </a:r>
            <a:r>
              <a:rPr lang="zh-CN" altLang="zh-CN" sz="1800" b="0" dirty="0"/>
              <a:t>；</a:t>
            </a:r>
          </a:p>
          <a:p>
            <a:pPr>
              <a:lnSpc>
                <a:spcPct val="100000"/>
              </a:lnSpc>
              <a:spcBef>
                <a:spcPts val="0"/>
              </a:spcBef>
            </a:pPr>
            <a:r>
              <a:rPr lang="en-US" altLang="zh-CN" sz="1800" b="0" dirty="0"/>
              <a:t>	</a:t>
            </a:r>
            <a:r>
              <a:rPr lang="en-US" altLang="zh-CN" sz="1800" b="0" dirty="0" err="1"/>
              <a:t>int</a:t>
            </a:r>
            <a:r>
              <a:rPr lang="en-US" altLang="zh-CN" sz="1800" b="0" dirty="0"/>
              <a:t> </a:t>
            </a:r>
            <a:r>
              <a:rPr lang="en-US" altLang="zh-CN" sz="1800" b="0" dirty="0" err="1"/>
              <a:t>i</a:t>
            </a:r>
            <a:r>
              <a:rPr lang="en-US" altLang="zh-CN" sz="1800" b="0" dirty="0"/>
              <a:t>, j</a:t>
            </a:r>
            <a:r>
              <a:rPr lang="zh-CN" altLang="zh-CN" sz="1800" b="0" dirty="0"/>
              <a:t>；</a:t>
            </a:r>
          </a:p>
          <a:p>
            <a:pPr>
              <a:lnSpc>
                <a:spcPct val="100000"/>
              </a:lnSpc>
              <a:spcBef>
                <a:spcPts val="0"/>
              </a:spcBef>
            </a:pPr>
            <a:r>
              <a:rPr lang="en-US" altLang="zh-CN" sz="1800" b="0" dirty="0"/>
              <a:t>	for (</a:t>
            </a:r>
            <a:r>
              <a:rPr lang="en-US" altLang="zh-CN" sz="1800" b="0" dirty="0" err="1"/>
              <a:t>i</a:t>
            </a:r>
            <a:r>
              <a:rPr lang="en-US" altLang="zh-CN" sz="1800" b="0" dirty="0"/>
              <a:t> = 0</a:t>
            </a:r>
            <a:r>
              <a:rPr lang="zh-CN" altLang="zh-CN" sz="1800" b="0" dirty="0"/>
              <a:t>；</a:t>
            </a:r>
            <a:r>
              <a:rPr lang="en-US" altLang="zh-CN" sz="1800" b="0" dirty="0"/>
              <a:t> </a:t>
            </a:r>
            <a:r>
              <a:rPr lang="en-US" altLang="zh-CN" sz="1800" b="0" dirty="0" err="1"/>
              <a:t>i</a:t>
            </a:r>
            <a:r>
              <a:rPr lang="en-US" altLang="zh-CN" sz="1800" b="0" dirty="0"/>
              <a:t> &lt; n</a:t>
            </a:r>
            <a:r>
              <a:rPr lang="zh-CN" altLang="zh-CN" sz="1800" b="0" dirty="0"/>
              <a:t>；</a:t>
            </a:r>
            <a:r>
              <a:rPr lang="en-US" altLang="zh-CN" sz="1800" b="0" dirty="0"/>
              <a:t> </a:t>
            </a:r>
            <a:r>
              <a:rPr lang="en-US" altLang="zh-CN" sz="1800" b="0" dirty="0" err="1"/>
              <a:t>i</a:t>
            </a:r>
            <a:r>
              <a:rPr lang="en-US" altLang="zh-CN" sz="1800" b="0" dirty="0"/>
              <a:t>++ ) {                                      //</a:t>
            </a:r>
            <a:r>
              <a:rPr lang="zh-CN" altLang="zh-CN" sz="1800" b="0" dirty="0"/>
              <a:t>执行</a:t>
            </a:r>
            <a:r>
              <a:rPr lang="en-US" altLang="zh-CN" sz="1800" b="0" dirty="0"/>
              <a:t>n </a:t>
            </a:r>
            <a:r>
              <a:rPr lang="zh-CN" altLang="zh-CN" sz="1800" b="0" dirty="0"/>
              <a:t>次</a:t>
            </a:r>
          </a:p>
          <a:p>
            <a:pPr>
              <a:lnSpc>
                <a:spcPct val="100000"/>
              </a:lnSpc>
              <a:spcBef>
                <a:spcPts val="0"/>
              </a:spcBef>
            </a:pPr>
            <a:r>
              <a:rPr lang="en-US" altLang="zh-CN" sz="1800" b="0" dirty="0"/>
              <a:t>		for (j = 1</a:t>
            </a:r>
            <a:r>
              <a:rPr lang="zh-CN" altLang="zh-CN" sz="1800" b="0" dirty="0"/>
              <a:t>；</a:t>
            </a:r>
            <a:r>
              <a:rPr lang="en-US" altLang="zh-CN" sz="1800" b="0" dirty="0"/>
              <a:t> j &lt; m</a:t>
            </a:r>
            <a:r>
              <a:rPr lang="zh-CN" altLang="zh-CN" sz="1800" b="0" dirty="0"/>
              <a:t>；</a:t>
            </a:r>
            <a:r>
              <a:rPr lang="en-US" altLang="zh-CN" sz="1800" b="0" dirty="0"/>
              <a:t> </a:t>
            </a:r>
            <a:r>
              <a:rPr lang="en-US" altLang="zh-CN" sz="1800" b="0" dirty="0" err="1"/>
              <a:t>j++</a:t>
            </a:r>
            <a:r>
              <a:rPr lang="en-US" altLang="zh-CN" sz="1800" b="0" dirty="0"/>
              <a:t>){                             //</a:t>
            </a:r>
            <a:r>
              <a:rPr lang="zh-CN" altLang="zh-CN" sz="1800" b="0" dirty="0"/>
              <a:t>数</a:t>
            </a:r>
            <a:r>
              <a:rPr lang="en-US" altLang="zh-CN" sz="1800" b="0" dirty="0"/>
              <a:t>m-1 </a:t>
            </a:r>
            <a:r>
              <a:rPr lang="zh-CN" altLang="zh-CN" sz="1800" b="0" dirty="0"/>
              <a:t>个人</a:t>
            </a:r>
          </a:p>
          <a:p>
            <a:pPr>
              <a:lnSpc>
                <a:spcPct val="100000"/>
              </a:lnSpc>
              <a:spcBef>
                <a:spcPts val="0"/>
              </a:spcBef>
            </a:pPr>
            <a:r>
              <a:rPr lang="en-US" altLang="zh-CN" sz="1800" b="0" dirty="0"/>
              <a:t>			pre = p</a:t>
            </a:r>
            <a:r>
              <a:rPr lang="zh-CN" altLang="zh-CN" sz="1800" b="0" dirty="0"/>
              <a:t>；</a:t>
            </a:r>
          </a:p>
          <a:p>
            <a:pPr>
              <a:lnSpc>
                <a:spcPct val="100000"/>
              </a:lnSpc>
              <a:spcBef>
                <a:spcPts val="0"/>
              </a:spcBef>
            </a:pPr>
            <a:r>
              <a:rPr lang="en-US" altLang="zh-CN" sz="1800" b="0" dirty="0"/>
              <a:t>			p = p-&gt; next</a:t>
            </a:r>
            <a:r>
              <a:rPr lang="zh-CN" altLang="zh-CN" sz="1800" b="0" dirty="0"/>
              <a:t>；</a:t>
            </a:r>
          </a:p>
          <a:p>
            <a:pPr>
              <a:lnSpc>
                <a:spcPct val="100000"/>
              </a:lnSpc>
              <a:spcBef>
                <a:spcPts val="0"/>
              </a:spcBef>
            </a:pPr>
            <a:r>
              <a:rPr lang="en-US" altLang="zh-CN" sz="1800" b="0" dirty="0"/>
              <a:t>		}</a:t>
            </a:r>
            <a:endParaRPr lang="zh-CN" altLang="zh-CN" sz="1800" b="0" dirty="0"/>
          </a:p>
          <a:p>
            <a:pPr>
              <a:lnSpc>
                <a:spcPct val="100000"/>
              </a:lnSpc>
              <a:spcBef>
                <a:spcPts val="0"/>
              </a:spcBef>
            </a:pPr>
            <a:r>
              <a:rPr lang="en-US" altLang="zh-CN" sz="1800" b="0" dirty="0"/>
              <a:t>		</a:t>
            </a:r>
            <a:r>
              <a:rPr lang="en-US" altLang="zh-CN" sz="1800" b="0" dirty="0" err="1"/>
              <a:t>cout</a:t>
            </a:r>
            <a:r>
              <a:rPr lang="en-US" altLang="zh-CN" sz="1800" b="0" dirty="0"/>
              <a:t> &lt;&lt; “</a:t>
            </a:r>
            <a:r>
              <a:rPr lang="zh-CN" altLang="zh-CN" sz="1800" b="0" dirty="0"/>
              <a:t>出列的人是</a:t>
            </a:r>
            <a:r>
              <a:rPr lang="en-US" altLang="zh-CN" sz="1800" b="0" dirty="0"/>
              <a:t>” &lt;&lt; p -&gt; no &lt;&lt; </a:t>
            </a:r>
            <a:r>
              <a:rPr lang="en-US" altLang="zh-CN" sz="1800" b="0" dirty="0" err="1"/>
              <a:t>endl</a:t>
            </a:r>
            <a:r>
              <a:rPr lang="zh-CN" altLang="zh-CN" sz="1800" b="0" dirty="0"/>
              <a:t>；</a:t>
            </a:r>
            <a:r>
              <a:rPr lang="en-US" altLang="zh-CN" sz="1800" b="0" dirty="0"/>
              <a:t> //</a:t>
            </a:r>
            <a:r>
              <a:rPr lang="zh-CN" altLang="zh-CN" sz="1800" b="0" dirty="0"/>
              <a:t>输出出列人的编号</a:t>
            </a:r>
          </a:p>
          <a:p>
            <a:pPr>
              <a:lnSpc>
                <a:spcPct val="100000"/>
              </a:lnSpc>
              <a:spcBef>
                <a:spcPts val="0"/>
              </a:spcBef>
            </a:pPr>
            <a:r>
              <a:rPr lang="en-US" altLang="zh-CN" sz="1800" b="0" dirty="0"/>
              <a:t>		m = p -&gt; </a:t>
            </a:r>
            <a:r>
              <a:rPr lang="en-US" altLang="zh-CN" sz="1800" b="0" dirty="0" err="1"/>
              <a:t>pwd</a:t>
            </a:r>
            <a:r>
              <a:rPr lang="en-US" altLang="zh-CN" sz="1800" b="0" dirty="0"/>
              <a:t>;                                                  //</a:t>
            </a:r>
            <a:r>
              <a:rPr lang="zh-CN" altLang="zh-CN" sz="1800" b="0" dirty="0"/>
              <a:t>将出列人的编号赋给</a:t>
            </a:r>
            <a:r>
              <a:rPr lang="en-US" altLang="zh-CN" sz="1800" b="0" dirty="0"/>
              <a:t>m</a:t>
            </a:r>
            <a:endParaRPr lang="zh-CN" altLang="zh-CN" sz="1800" b="0" dirty="0"/>
          </a:p>
          <a:p>
            <a:pPr>
              <a:lnSpc>
                <a:spcPct val="100000"/>
              </a:lnSpc>
              <a:spcBef>
                <a:spcPts val="0"/>
              </a:spcBef>
            </a:pPr>
            <a:r>
              <a:rPr lang="en-US" altLang="zh-CN" sz="1800" b="0" dirty="0"/>
              <a:t>		pre-&gt;next = p-&gt;next</a:t>
            </a:r>
            <a:r>
              <a:rPr lang="zh-CN" altLang="zh-CN" sz="1800" b="0" dirty="0"/>
              <a:t>；</a:t>
            </a:r>
            <a:r>
              <a:rPr lang="en-US" altLang="zh-CN" sz="1800" b="0" dirty="0"/>
              <a:t> delete p</a:t>
            </a:r>
            <a:r>
              <a:rPr lang="zh-CN" altLang="zh-CN" sz="1800" b="0" dirty="0"/>
              <a:t>；</a:t>
            </a:r>
            <a:r>
              <a:rPr lang="en-US" altLang="zh-CN" sz="1800" b="0" dirty="0"/>
              <a:t>                   //</a:t>
            </a:r>
            <a:r>
              <a:rPr lang="zh-CN" altLang="zh-CN" sz="1800" b="0" dirty="0"/>
              <a:t>删去</a:t>
            </a:r>
          </a:p>
          <a:p>
            <a:pPr>
              <a:lnSpc>
                <a:spcPct val="100000"/>
              </a:lnSpc>
              <a:spcBef>
                <a:spcPts val="0"/>
              </a:spcBef>
            </a:pPr>
            <a:r>
              <a:rPr lang="en-US" altLang="zh-CN" sz="1800" b="0" dirty="0"/>
              <a:t>		p = pre-&gt;next</a:t>
            </a:r>
            <a:r>
              <a:rPr lang="zh-CN" altLang="zh-CN" sz="1800" b="0" dirty="0"/>
              <a:t>；</a:t>
            </a:r>
          </a:p>
          <a:p>
            <a:pPr>
              <a:lnSpc>
                <a:spcPct val="100000"/>
              </a:lnSpc>
              <a:spcBef>
                <a:spcPts val="0"/>
              </a:spcBef>
            </a:pPr>
            <a:r>
              <a:rPr lang="en-US" altLang="zh-CN" sz="1800" b="0" dirty="0"/>
              <a:t>	}</a:t>
            </a:r>
            <a:endParaRPr lang="zh-CN" altLang="zh-CN" sz="1800" b="0" dirty="0"/>
          </a:p>
          <a:p>
            <a:pPr>
              <a:lnSpc>
                <a:spcPct val="100000"/>
              </a:lnSpc>
              <a:spcBef>
                <a:spcPts val="0"/>
              </a:spcBef>
            </a:pPr>
            <a:r>
              <a:rPr lang="en-US" altLang="zh-CN" sz="1800" b="0" dirty="0"/>
              <a:t>}</a:t>
            </a:r>
            <a:endParaRPr lang="zh-CN" altLang="en-US" sz="1800" dirty="0"/>
          </a:p>
        </p:txBody>
      </p:sp>
    </p:spTree>
    <p:extLst>
      <p:ext uri="{BB962C8B-B14F-4D97-AF65-F5344CB8AC3E}">
        <p14:creationId xmlns:p14="http://schemas.microsoft.com/office/powerpoint/2010/main" val="194836433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520940" cy="5184576"/>
          </a:xfrm>
        </p:spPr>
        <p:txBody>
          <a:bodyPr>
            <a:normAutofit fontScale="92500" lnSpcReduction="20000"/>
          </a:bodyPr>
          <a:lstStyle/>
          <a:p>
            <a:r>
              <a:rPr lang="en-US" altLang="zh-CN" b="0" dirty="0"/>
              <a:t>void main() {</a:t>
            </a:r>
            <a:endParaRPr lang="zh-CN" altLang="zh-CN" b="0" dirty="0"/>
          </a:p>
          <a:p>
            <a:r>
              <a:rPr lang="en-US" altLang="zh-CN" b="0" dirty="0"/>
              <a:t>	</a:t>
            </a:r>
            <a:r>
              <a:rPr lang="en-US" altLang="zh-CN" b="0" dirty="0" err="1"/>
              <a:t>CList</a:t>
            </a:r>
            <a:r>
              <a:rPr lang="en-US" altLang="zh-CN" b="0" dirty="0"/>
              <a:t>&lt;</a:t>
            </a:r>
            <a:r>
              <a:rPr lang="en-US" altLang="zh-CN" b="0" dirty="0" err="1"/>
              <a:t>int</a:t>
            </a:r>
            <a:r>
              <a:rPr lang="en-US" altLang="zh-CN" b="0" dirty="0"/>
              <a:t>&gt; </a:t>
            </a:r>
            <a:r>
              <a:rPr lang="en-US" altLang="zh-CN" b="0" dirty="0" err="1"/>
              <a:t>clist</a:t>
            </a:r>
            <a:r>
              <a:rPr lang="zh-CN" altLang="zh-CN" b="0" dirty="0"/>
              <a:t>；</a:t>
            </a:r>
          </a:p>
          <a:p>
            <a:r>
              <a:rPr lang="en-US" altLang="zh-CN" b="0" dirty="0"/>
              <a:t>	</a:t>
            </a:r>
            <a:r>
              <a:rPr lang="en-US" altLang="zh-CN" b="0" dirty="0" err="1"/>
              <a:t>int</a:t>
            </a:r>
            <a:r>
              <a:rPr lang="en-US" altLang="zh-CN" b="0" dirty="0"/>
              <a:t> </a:t>
            </a:r>
            <a:r>
              <a:rPr lang="en-US" altLang="zh-CN" b="0" dirty="0" err="1"/>
              <a:t>i</a:t>
            </a:r>
            <a:r>
              <a:rPr lang="en-US" altLang="zh-CN" b="0" dirty="0"/>
              <a:t>, n, m</a:t>
            </a:r>
            <a:r>
              <a:rPr lang="zh-CN" altLang="zh-CN" b="0" dirty="0"/>
              <a:t>；</a:t>
            </a:r>
          </a:p>
          <a:p>
            <a:r>
              <a:rPr lang="en-US" altLang="zh-CN" b="0" dirty="0"/>
              <a:t>	</a:t>
            </a:r>
            <a:r>
              <a:rPr lang="en-US" altLang="zh-CN" b="0" dirty="0" err="1"/>
              <a:t>cout</a:t>
            </a:r>
            <a:r>
              <a:rPr lang="en-US" altLang="zh-CN" b="0" dirty="0"/>
              <a:t> &lt;&lt; “</a:t>
            </a:r>
            <a:r>
              <a:rPr lang="zh-CN" altLang="zh-CN" b="0" dirty="0"/>
              <a:t>输入游戏者人数和报数间隔</a:t>
            </a:r>
            <a:r>
              <a:rPr lang="en-US" altLang="zh-CN" b="0" dirty="0"/>
              <a:t>: ”</a:t>
            </a:r>
            <a:r>
              <a:rPr lang="zh-CN" altLang="zh-CN" b="0" dirty="0"/>
              <a:t>；</a:t>
            </a:r>
            <a:r>
              <a:rPr lang="en-US" altLang="zh-CN" b="0" dirty="0"/>
              <a:t> </a:t>
            </a:r>
            <a:r>
              <a:rPr lang="en-US" altLang="zh-CN" b="0" dirty="0" err="1"/>
              <a:t>cin</a:t>
            </a:r>
            <a:r>
              <a:rPr lang="en-US" altLang="zh-CN" b="0" dirty="0"/>
              <a:t> &gt;&gt; n &gt;&gt; m</a:t>
            </a:r>
            <a:r>
              <a:rPr lang="zh-CN" altLang="zh-CN" b="0" dirty="0"/>
              <a:t>；</a:t>
            </a:r>
          </a:p>
          <a:p>
            <a:r>
              <a:rPr lang="en-US" altLang="zh-CN" b="0" dirty="0"/>
              <a:t>	for (</a:t>
            </a:r>
            <a:r>
              <a:rPr lang="en-US" altLang="zh-CN" b="0" dirty="0" err="1"/>
              <a:t>i</a:t>
            </a:r>
            <a:r>
              <a:rPr lang="en-US" altLang="zh-CN" b="0" dirty="0"/>
              <a:t> = 1</a:t>
            </a:r>
            <a:r>
              <a:rPr lang="zh-CN" altLang="zh-CN" b="0" dirty="0"/>
              <a:t>；</a:t>
            </a:r>
            <a:r>
              <a:rPr lang="en-US" altLang="zh-CN" b="0" dirty="0"/>
              <a:t> </a:t>
            </a:r>
            <a:r>
              <a:rPr lang="en-US" altLang="zh-CN" b="0" dirty="0" err="1"/>
              <a:t>i</a:t>
            </a:r>
            <a:r>
              <a:rPr lang="en-US" altLang="zh-CN" b="0" dirty="0"/>
              <a:t> &lt;= n</a:t>
            </a:r>
            <a:r>
              <a:rPr lang="zh-CN" altLang="zh-CN" b="0" dirty="0"/>
              <a:t>；</a:t>
            </a:r>
            <a:r>
              <a:rPr lang="en-US" altLang="zh-CN" b="0" dirty="0"/>
              <a:t> </a:t>
            </a:r>
            <a:r>
              <a:rPr lang="en-US" altLang="zh-CN" b="0" dirty="0" err="1"/>
              <a:t>i</a:t>
            </a:r>
            <a:r>
              <a:rPr lang="en-US" altLang="zh-CN" b="0" dirty="0"/>
              <a:t>++ ) </a:t>
            </a:r>
            <a:r>
              <a:rPr lang="en-US" altLang="zh-CN" b="0" dirty="0" err="1"/>
              <a:t>clist.insert</a:t>
            </a:r>
            <a:r>
              <a:rPr lang="en-US" altLang="zh-CN" b="0" dirty="0"/>
              <a:t>(</a:t>
            </a:r>
            <a:r>
              <a:rPr lang="en-US" altLang="zh-CN" b="0" dirty="0" err="1"/>
              <a:t>i</a:t>
            </a:r>
            <a:r>
              <a:rPr lang="en-US" altLang="zh-CN" b="0" dirty="0"/>
              <a:t>)</a:t>
            </a:r>
            <a:r>
              <a:rPr lang="zh-CN" altLang="zh-CN" b="0" dirty="0"/>
              <a:t>；</a:t>
            </a:r>
            <a:r>
              <a:rPr lang="en-US" altLang="zh-CN" b="0" dirty="0"/>
              <a:t> //</a:t>
            </a:r>
            <a:r>
              <a:rPr lang="zh-CN" altLang="zh-CN" b="0" dirty="0"/>
              <a:t>形成约瑟夫环</a:t>
            </a:r>
          </a:p>
          <a:p>
            <a:r>
              <a:rPr lang="en-US" altLang="zh-CN" b="0" dirty="0"/>
              <a:t>	Josephus(</a:t>
            </a:r>
            <a:r>
              <a:rPr lang="en-US" altLang="zh-CN" b="0" dirty="0" err="1"/>
              <a:t>clist</a:t>
            </a:r>
            <a:r>
              <a:rPr lang="en-US" altLang="zh-CN" b="0" dirty="0"/>
              <a:t>, n, m)</a:t>
            </a:r>
            <a:r>
              <a:rPr lang="zh-CN" altLang="zh-CN" b="0" dirty="0"/>
              <a:t>；</a:t>
            </a:r>
            <a:r>
              <a:rPr lang="en-US" altLang="zh-CN" b="0" dirty="0"/>
              <a:t>                               //</a:t>
            </a:r>
            <a:r>
              <a:rPr lang="zh-CN" altLang="zh-CN" b="0" dirty="0"/>
              <a:t>解决约瑟夫问题</a:t>
            </a:r>
          </a:p>
          <a:p>
            <a:r>
              <a:rPr lang="en-US" altLang="zh-CN" b="0" dirty="0"/>
              <a:t>}</a:t>
            </a:r>
            <a:endParaRPr lang="zh-CN" altLang="zh-CN" dirty="0"/>
          </a:p>
          <a:p>
            <a:pPr algn="just"/>
            <a:r>
              <a:rPr lang="zh-CN" altLang="zh-CN" b="0" dirty="0"/>
              <a:t>循环链表的优点：</a:t>
            </a:r>
            <a:endParaRPr lang="en-US" altLang="zh-CN" b="0" dirty="0"/>
          </a:p>
          <a:p>
            <a:pPr algn="just"/>
            <a:r>
              <a:rPr lang="zh-CN" altLang="zh-CN" b="0" dirty="0"/>
              <a:t>（1）从表中任一结点出发均可访问到表中其它结点，这使得某些操作在循环链表上容易实现；</a:t>
            </a:r>
            <a:endParaRPr lang="en-US" altLang="zh-CN" b="0" dirty="0"/>
          </a:p>
          <a:p>
            <a:pPr algn="just"/>
            <a:r>
              <a:rPr lang="zh-CN" altLang="zh-CN" b="0" dirty="0"/>
              <a:t>（2）插入、删除操作中不需区分尾结点还是中间结点，使操作简化。</a:t>
            </a:r>
          </a:p>
          <a:p>
            <a:endParaRPr lang="zh-CN" altLang="en-US" dirty="0"/>
          </a:p>
        </p:txBody>
      </p:sp>
    </p:spTree>
    <p:extLst>
      <p:ext uri="{BB962C8B-B14F-4D97-AF65-F5344CB8AC3E}">
        <p14:creationId xmlns:p14="http://schemas.microsoft.com/office/powerpoint/2010/main" val="4937818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2 .4  </a:t>
            </a:r>
            <a:r>
              <a:rPr lang="zh-CN" altLang="zh-CN" b="1" dirty="0">
                <a:solidFill>
                  <a:srgbClr val="FF0000"/>
                </a:solidFill>
              </a:rPr>
              <a:t>线性表应用举例</a:t>
            </a:r>
            <a:endParaRPr lang="zh-CN" altLang="en-US" dirty="0">
              <a:solidFill>
                <a:srgbClr val="FF0000"/>
              </a:solidFill>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en-US" altLang="zh-CN" dirty="0"/>
                  <a:t>2.4.1 </a:t>
                </a:r>
                <a:r>
                  <a:rPr lang="zh-CN" altLang="en-US" dirty="0"/>
                  <a:t>一</a:t>
                </a:r>
                <a:r>
                  <a:rPr lang="zh-CN" altLang="zh-CN" dirty="0"/>
                  <a:t>元多项式的表示</a:t>
                </a:r>
              </a:p>
              <a:p>
                <a:pPr algn="just"/>
                <a:r>
                  <a:rPr lang="zh-CN" altLang="zh-CN" b="0" dirty="0"/>
                  <a:t>多项式的表示和求和是线性表应用的典型实例。在数学上，一元多项式的书写形式为：</a:t>
                </a:r>
                <a:endParaRPr lang="en-US" altLang="zh-CN" b="0" dirty="0"/>
              </a:p>
              <a:p>
                <a:pPr algn="just"/>
                <a14:m>
                  <m:oMathPara xmlns:m="http://schemas.openxmlformats.org/officeDocument/2006/math">
                    <m:oMathParaPr>
                      <m:jc m:val="centerGroup"/>
                    </m:oMathParaPr>
                    <m:oMath xmlns:m="http://schemas.openxmlformats.org/officeDocument/2006/math">
                      <m:sSub>
                        <m:sSubPr>
                          <m:ctrlPr>
                            <a:rPr lang="zh-CN" altLang="zh-CN" b="0" i="1">
                              <a:latin typeface="Cambria Math" panose="02040503050406030204" pitchFamily="18" charset="0"/>
                            </a:rPr>
                          </m:ctrlPr>
                        </m:sSubPr>
                        <m:e>
                          <m:r>
                            <m:rPr>
                              <m:sty m:val="p"/>
                            </m:rPr>
                            <a:rPr lang="zh-CN" altLang="zh-CN" b="0">
                              <a:latin typeface="Cambria Math"/>
                            </a:rPr>
                            <m:t>P</m:t>
                          </m:r>
                        </m:e>
                        <m:sub>
                          <m:r>
                            <m:rPr>
                              <m:sty m:val="p"/>
                            </m:rPr>
                            <a:rPr lang="zh-CN" altLang="zh-CN" b="0">
                              <a:latin typeface="Cambria Math"/>
                            </a:rPr>
                            <m:t>n</m:t>
                          </m:r>
                        </m:sub>
                      </m:sSub>
                      <m:d>
                        <m:dPr>
                          <m:ctrlPr>
                            <a:rPr lang="zh-CN" altLang="zh-CN" b="0" i="1">
                              <a:latin typeface="Cambria Math" panose="02040503050406030204" pitchFamily="18" charset="0"/>
                            </a:rPr>
                          </m:ctrlPr>
                        </m:dPr>
                        <m:e>
                          <m:r>
                            <m:rPr>
                              <m:sty m:val="p"/>
                            </m:rPr>
                            <a:rPr lang="zh-CN" altLang="zh-CN" b="0">
                              <a:latin typeface="Cambria Math"/>
                            </a:rPr>
                            <m:t>x</m:t>
                          </m:r>
                        </m:e>
                      </m:d>
                      <m:r>
                        <a:rPr lang="zh-CN" altLang="zh-CN" b="0">
                          <a:latin typeface="Cambria Math"/>
                        </a:rPr>
                        <m:t>=</m:t>
                      </m:r>
                      <m:sSub>
                        <m:sSubPr>
                          <m:ctrlPr>
                            <a:rPr lang="zh-CN" altLang="zh-CN" b="0" i="1">
                              <a:latin typeface="Cambria Math" panose="02040503050406030204" pitchFamily="18" charset="0"/>
                            </a:rPr>
                          </m:ctrlPr>
                        </m:sSubPr>
                        <m:e>
                          <m:r>
                            <m:rPr>
                              <m:sty m:val="p"/>
                            </m:rPr>
                            <a:rPr lang="zh-CN" altLang="zh-CN" b="0">
                              <a:latin typeface="Cambria Math"/>
                            </a:rPr>
                            <m:t>P</m:t>
                          </m:r>
                        </m:e>
                        <m:sub>
                          <m:r>
                            <a:rPr lang="zh-CN" altLang="zh-CN" b="0">
                              <a:latin typeface="Cambria Math"/>
                            </a:rPr>
                            <m:t>0</m:t>
                          </m:r>
                        </m:sub>
                      </m:sSub>
                      <m:r>
                        <a:rPr lang="en-US" altLang="zh-CN" b="0" i="1" smtClean="0">
                          <a:latin typeface="Cambria Math"/>
                        </a:rPr>
                        <m:t>(</m:t>
                      </m:r>
                      <m:r>
                        <a:rPr lang="en-US" altLang="zh-CN" b="0" i="1" smtClean="0">
                          <a:latin typeface="Cambria Math"/>
                        </a:rPr>
                        <m:t>𝑥</m:t>
                      </m:r>
                      <m:r>
                        <a:rPr lang="en-US" altLang="zh-CN" b="0" i="1" baseline="30000" smtClean="0">
                          <a:latin typeface="Cambria Math"/>
                        </a:rPr>
                        <m:t>0</m:t>
                      </m:r>
                      <m:r>
                        <a:rPr lang="en-US" altLang="zh-CN" b="0" i="1" smtClean="0">
                          <a:latin typeface="Cambria Math"/>
                        </a:rPr>
                        <m:t>)</m:t>
                      </m:r>
                      <m:r>
                        <a:rPr lang="zh-CN" altLang="zh-CN" b="0">
                          <a:latin typeface="Cambria Math"/>
                        </a:rPr>
                        <m:t>+</m:t>
                      </m:r>
                      <m:sSub>
                        <m:sSubPr>
                          <m:ctrlPr>
                            <a:rPr lang="zh-CN" altLang="zh-CN" b="0" i="1">
                              <a:latin typeface="Cambria Math" panose="02040503050406030204" pitchFamily="18" charset="0"/>
                            </a:rPr>
                          </m:ctrlPr>
                        </m:sSubPr>
                        <m:e>
                          <m:r>
                            <m:rPr>
                              <m:sty m:val="p"/>
                            </m:rPr>
                            <a:rPr lang="zh-CN" altLang="zh-CN" b="0">
                              <a:latin typeface="Cambria Math"/>
                            </a:rPr>
                            <m:t>P</m:t>
                          </m:r>
                        </m:e>
                        <m:sub>
                          <m:r>
                            <a:rPr lang="zh-CN" altLang="zh-CN" b="0">
                              <a:latin typeface="Cambria Math"/>
                            </a:rPr>
                            <m:t>1</m:t>
                          </m:r>
                        </m:sub>
                      </m:sSub>
                      <m:d>
                        <m:dPr>
                          <m:ctrlPr>
                            <a:rPr lang="zh-CN" altLang="zh-CN" b="0" i="1">
                              <a:latin typeface="Cambria Math" panose="02040503050406030204" pitchFamily="18" charset="0"/>
                            </a:rPr>
                          </m:ctrlPr>
                        </m:dPr>
                        <m:e>
                          <m:r>
                            <m:rPr>
                              <m:sty m:val="p"/>
                            </m:rPr>
                            <a:rPr lang="zh-CN" altLang="zh-CN" b="0">
                              <a:latin typeface="Cambria Math"/>
                            </a:rPr>
                            <m:t>x</m:t>
                          </m:r>
                          <m:r>
                            <a:rPr lang="en-US" altLang="zh-CN" b="0" i="0" baseline="30000" smtClean="0">
                              <a:latin typeface="Cambria Math"/>
                            </a:rPr>
                            <m:t>1</m:t>
                          </m:r>
                        </m:e>
                      </m:d>
                      <m:r>
                        <a:rPr lang="zh-CN" altLang="zh-CN" b="0">
                          <a:latin typeface="Cambria Math"/>
                        </a:rPr>
                        <m:t>+</m:t>
                      </m:r>
                      <m:sSub>
                        <m:sSubPr>
                          <m:ctrlPr>
                            <a:rPr lang="zh-CN" altLang="zh-CN" b="0" i="1">
                              <a:latin typeface="Cambria Math" panose="02040503050406030204" pitchFamily="18" charset="0"/>
                            </a:rPr>
                          </m:ctrlPr>
                        </m:sSubPr>
                        <m:e>
                          <m:r>
                            <m:rPr>
                              <m:sty m:val="p"/>
                            </m:rPr>
                            <a:rPr lang="zh-CN" altLang="zh-CN" b="0">
                              <a:latin typeface="Cambria Math"/>
                            </a:rPr>
                            <m:t>P</m:t>
                          </m:r>
                        </m:e>
                        <m:sub>
                          <m:r>
                            <a:rPr lang="zh-CN" altLang="zh-CN" b="0">
                              <a:latin typeface="Cambria Math"/>
                            </a:rPr>
                            <m:t>2</m:t>
                          </m:r>
                        </m:sub>
                      </m:sSub>
                      <m:d>
                        <m:dPr>
                          <m:ctrlPr>
                            <a:rPr lang="zh-CN" altLang="zh-CN" b="0" i="1">
                              <a:latin typeface="Cambria Math" panose="02040503050406030204" pitchFamily="18" charset="0"/>
                            </a:rPr>
                          </m:ctrlPr>
                        </m:dPr>
                        <m:e>
                          <m:sSup>
                            <m:sSupPr>
                              <m:ctrlPr>
                                <a:rPr lang="zh-CN" altLang="zh-CN" b="0" i="1">
                                  <a:latin typeface="Cambria Math" panose="02040503050406030204" pitchFamily="18" charset="0"/>
                                </a:rPr>
                              </m:ctrlPr>
                            </m:sSupPr>
                            <m:e>
                              <m:r>
                                <m:rPr>
                                  <m:sty m:val="p"/>
                                </m:rPr>
                                <a:rPr lang="zh-CN" altLang="zh-CN" b="0">
                                  <a:latin typeface="Cambria Math"/>
                                </a:rPr>
                                <m:t>x</m:t>
                              </m:r>
                            </m:e>
                            <m:sup>
                              <m:r>
                                <a:rPr lang="zh-CN" altLang="zh-CN" b="0">
                                  <a:latin typeface="Cambria Math"/>
                                </a:rPr>
                                <m:t>2</m:t>
                              </m:r>
                            </m:sup>
                          </m:sSup>
                        </m:e>
                      </m:d>
                      <m:r>
                        <a:rPr lang="zh-CN" altLang="zh-CN" b="0">
                          <a:latin typeface="Cambria Math"/>
                        </a:rPr>
                        <m:t>…+</m:t>
                      </m:r>
                      <m:sSub>
                        <m:sSubPr>
                          <m:ctrlPr>
                            <a:rPr lang="zh-CN" altLang="zh-CN" b="0" i="1">
                              <a:latin typeface="Cambria Math" panose="02040503050406030204" pitchFamily="18" charset="0"/>
                            </a:rPr>
                          </m:ctrlPr>
                        </m:sSubPr>
                        <m:e>
                          <m:r>
                            <m:rPr>
                              <m:sty m:val="p"/>
                            </m:rPr>
                            <a:rPr lang="zh-CN" altLang="zh-CN" b="0">
                              <a:latin typeface="Cambria Math"/>
                            </a:rPr>
                            <m:t>P</m:t>
                          </m:r>
                        </m:e>
                        <m:sub>
                          <m:r>
                            <m:rPr>
                              <m:sty m:val="p"/>
                            </m:rPr>
                            <a:rPr lang="zh-CN" altLang="zh-CN" b="0">
                              <a:latin typeface="Cambria Math"/>
                            </a:rPr>
                            <m:t>n</m:t>
                          </m:r>
                        </m:sub>
                      </m:sSub>
                      <m:d>
                        <m:dPr>
                          <m:ctrlPr>
                            <a:rPr lang="zh-CN" altLang="zh-CN" b="0" i="1">
                              <a:latin typeface="Cambria Math" panose="02040503050406030204" pitchFamily="18" charset="0"/>
                            </a:rPr>
                          </m:ctrlPr>
                        </m:dPr>
                        <m:e>
                          <m:sSup>
                            <m:sSupPr>
                              <m:ctrlPr>
                                <a:rPr lang="zh-CN" altLang="zh-CN" b="0" i="1">
                                  <a:latin typeface="Cambria Math" panose="02040503050406030204" pitchFamily="18" charset="0"/>
                                </a:rPr>
                              </m:ctrlPr>
                            </m:sSupPr>
                            <m:e>
                              <m:r>
                                <m:rPr>
                                  <m:sty m:val="p"/>
                                </m:rPr>
                                <a:rPr lang="zh-CN" altLang="zh-CN" b="0">
                                  <a:latin typeface="Cambria Math"/>
                                </a:rPr>
                                <m:t>x</m:t>
                              </m:r>
                            </m:e>
                            <m:sup>
                              <m:r>
                                <m:rPr>
                                  <m:sty m:val="p"/>
                                </m:rPr>
                                <a:rPr lang="zh-CN" altLang="zh-CN" b="0">
                                  <a:latin typeface="Cambria Math"/>
                                </a:rPr>
                                <m:t>n</m:t>
                              </m:r>
                            </m:sup>
                          </m:sSup>
                        </m:e>
                      </m:d>
                    </m:oMath>
                  </m:oMathPara>
                </a14:m>
                <a:endParaRPr lang="zh-CN" altLang="zh-CN" b="0" dirty="0"/>
              </a:p>
              <a:p>
                <a:pPr algn="just"/>
                <a:r>
                  <a:rPr lang="zh-CN" altLang="zh-CN" b="0" dirty="0"/>
                  <a:t>对于多项式中所有项的系数可用一个线性表来表示：</a:t>
                </a:r>
              </a:p>
              <a:p>
                <a:pPr algn="just"/>
                <a14:m>
                  <m:oMathPara xmlns:m="http://schemas.openxmlformats.org/officeDocument/2006/math">
                    <m:oMathParaPr>
                      <m:jc m:val="centerGroup"/>
                    </m:oMathParaPr>
                    <m:oMath xmlns:m="http://schemas.openxmlformats.org/officeDocument/2006/math">
                      <m:sSub>
                        <m:sSubPr>
                          <m:ctrlPr>
                            <a:rPr lang="zh-CN" altLang="zh-CN" b="0" i="1">
                              <a:latin typeface="Cambria Math" panose="02040503050406030204" pitchFamily="18" charset="0"/>
                            </a:rPr>
                          </m:ctrlPr>
                        </m:sSubPr>
                        <m:e>
                          <m:r>
                            <m:rPr>
                              <m:sty m:val="p"/>
                            </m:rPr>
                            <a:rPr lang="zh-CN" altLang="zh-CN" b="0">
                              <a:latin typeface="Cambria Math"/>
                            </a:rPr>
                            <m:t>L</m:t>
                          </m:r>
                          <m:r>
                            <a:rPr lang="zh-CN" altLang="zh-CN" b="0">
                              <a:latin typeface="Cambria Math"/>
                            </a:rPr>
                            <m:t>={</m:t>
                          </m:r>
                          <m:r>
                            <m:rPr>
                              <m:sty m:val="p"/>
                            </m:rPr>
                            <a:rPr lang="zh-CN" altLang="zh-CN" b="0">
                              <a:latin typeface="Cambria Math"/>
                            </a:rPr>
                            <m:t>p</m:t>
                          </m:r>
                        </m:e>
                        <m:sub>
                          <m:r>
                            <a:rPr lang="zh-CN" altLang="zh-CN" b="0">
                              <a:latin typeface="Cambria Math"/>
                            </a:rPr>
                            <m:t>0</m:t>
                          </m:r>
                        </m:sub>
                      </m:sSub>
                      <m:r>
                        <a:rPr lang="zh-CN" altLang="zh-CN" b="0">
                          <a:latin typeface="Cambria Math"/>
                        </a:rPr>
                        <m:t>,</m:t>
                      </m:r>
                      <m:sSub>
                        <m:sSubPr>
                          <m:ctrlPr>
                            <a:rPr lang="zh-CN" altLang="zh-CN" b="0" i="1">
                              <a:latin typeface="Cambria Math" panose="02040503050406030204" pitchFamily="18" charset="0"/>
                            </a:rPr>
                          </m:ctrlPr>
                        </m:sSubPr>
                        <m:e>
                          <m:r>
                            <m:rPr>
                              <m:sty m:val="p"/>
                            </m:rPr>
                            <a:rPr lang="zh-CN" altLang="zh-CN" b="0">
                              <a:latin typeface="Cambria Math"/>
                            </a:rPr>
                            <m:t>p</m:t>
                          </m:r>
                        </m:e>
                        <m:sub>
                          <m:r>
                            <a:rPr lang="zh-CN" altLang="zh-CN" b="0">
                              <a:latin typeface="Cambria Math"/>
                            </a:rPr>
                            <m:t>1</m:t>
                          </m:r>
                        </m:sub>
                      </m:sSub>
                      <m:r>
                        <a:rPr lang="zh-CN" altLang="zh-CN" b="0">
                          <a:latin typeface="Cambria Math"/>
                        </a:rPr>
                        <m:t>,</m:t>
                      </m:r>
                      <m:sSub>
                        <m:sSubPr>
                          <m:ctrlPr>
                            <a:rPr lang="zh-CN" altLang="zh-CN" b="0" i="1">
                              <a:latin typeface="Cambria Math" panose="02040503050406030204" pitchFamily="18" charset="0"/>
                            </a:rPr>
                          </m:ctrlPr>
                        </m:sSubPr>
                        <m:e>
                          <m:r>
                            <m:rPr>
                              <m:sty m:val="p"/>
                            </m:rPr>
                            <a:rPr lang="zh-CN" altLang="zh-CN" b="0">
                              <a:latin typeface="Cambria Math"/>
                            </a:rPr>
                            <m:t>p</m:t>
                          </m:r>
                        </m:e>
                        <m:sub>
                          <m:r>
                            <a:rPr lang="zh-CN" altLang="zh-CN" b="0">
                              <a:latin typeface="Cambria Math"/>
                            </a:rPr>
                            <m:t>2</m:t>
                          </m:r>
                        </m:sub>
                      </m:sSub>
                      <m:r>
                        <a:rPr lang="zh-CN" altLang="zh-CN" b="0">
                          <a:latin typeface="Cambria Math"/>
                        </a:rPr>
                        <m:t>,…</m:t>
                      </m:r>
                      <m:sSub>
                        <m:sSubPr>
                          <m:ctrlPr>
                            <a:rPr lang="zh-CN" altLang="zh-CN" b="0" i="1">
                              <a:latin typeface="Cambria Math" panose="02040503050406030204" pitchFamily="18" charset="0"/>
                            </a:rPr>
                          </m:ctrlPr>
                        </m:sSubPr>
                        <m:e>
                          <m:r>
                            <m:rPr>
                              <m:sty m:val="p"/>
                            </m:rPr>
                            <a:rPr lang="zh-CN" altLang="zh-CN" b="0">
                              <a:latin typeface="Cambria Math"/>
                            </a:rPr>
                            <m:t>p</m:t>
                          </m:r>
                        </m:e>
                        <m:sub>
                          <m:r>
                            <m:rPr>
                              <m:sty m:val="p"/>
                            </m:rPr>
                            <a:rPr lang="zh-CN" altLang="zh-CN" b="0">
                              <a:latin typeface="Cambria Math"/>
                            </a:rPr>
                            <m:t>n</m:t>
                          </m:r>
                        </m:sub>
                      </m:sSub>
                      <m:r>
                        <a:rPr lang="zh-CN" altLang="zh-CN" b="0">
                          <a:latin typeface="Cambria Math"/>
                        </a:rPr>
                        <m:t>}</m:t>
                      </m:r>
                    </m:oMath>
                  </m:oMathPara>
                </a14:m>
                <a:endParaRPr lang="zh-CN" altLang="zh-CN" b="0"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1297" t="-1022" r="-121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5081085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p:cNvSpPr>
                <a:spLocks noGrp="1"/>
              </p:cNvSpPr>
              <p:nvPr>
                <p:ph idx="1"/>
              </p:nvPr>
            </p:nvSpPr>
            <p:spPr>
              <a:xfrm>
                <a:off x="827584" y="692696"/>
                <a:ext cx="7920880" cy="4104456"/>
              </a:xfrm>
            </p:spPr>
            <p:txBody>
              <a:bodyPr>
                <a:normAutofit/>
              </a:bodyPr>
              <a:lstStyle/>
              <a:p>
                <a:pPr algn="just"/>
                <a:r>
                  <a:rPr lang="zh-CN" altLang="zh-CN" sz="2000" b="0" dirty="0"/>
                  <a:t>将n次多项式的次数考虑进去，则可采用</a:t>
                </a:r>
                <a:r>
                  <a:rPr lang="zh-CN" altLang="zh-CN" sz="2000" b="0" dirty="0">
                    <a:solidFill>
                      <a:srgbClr val="FF0000"/>
                    </a:solidFill>
                  </a:rPr>
                  <a:t>两种线性表表示方</a:t>
                </a:r>
                <a:r>
                  <a:rPr lang="zh-CN" altLang="en-US" sz="2000" b="0" dirty="0">
                    <a:solidFill>
                      <a:srgbClr val="FF0000"/>
                    </a:solidFill>
                  </a:rPr>
                  <a:t>法：</a:t>
                </a:r>
                <a:endParaRPr lang="en-US" altLang="zh-CN" sz="2000" b="0" dirty="0">
                  <a:solidFill>
                    <a:srgbClr val="FF0000"/>
                  </a:solidFill>
                </a:endParaRPr>
              </a:p>
              <a:p>
                <a:pPr algn="just"/>
                <a:r>
                  <a:rPr lang="zh-CN" altLang="zh-CN" sz="2000" b="0" dirty="0"/>
                  <a:t>（1）把变量x的指数i隐含在系数</a:t>
                </a:r>
                <a14:m>
                  <m:oMath xmlns:m="http://schemas.openxmlformats.org/officeDocument/2006/math">
                    <m:sSub>
                      <m:sSubPr>
                        <m:ctrlPr>
                          <a:rPr lang="zh-CN" altLang="zh-CN" sz="2000" b="0" i="1">
                            <a:latin typeface="Cambria Math" panose="02040503050406030204" pitchFamily="18" charset="0"/>
                          </a:rPr>
                        </m:ctrlPr>
                      </m:sSubPr>
                      <m:e>
                        <m:r>
                          <m:rPr>
                            <m:sty m:val="p"/>
                          </m:rPr>
                          <a:rPr lang="zh-CN" altLang="zh-CN" sz="2000" b="0">
                            <a:latin typeface="Cambria Math"/>
                          </a:rPr>
                          <m:t>p</m:t>
                        </m:r>
                      </m:e>
                      <m:sub>
                        <m:r>
                          <m:rPr>
                            <m:sty m:val="p"/>
                          </m:rPr>
                          <a:rPr lang="zh-CN" altLang="zh-CN" sz="2000" b="0">
                            <a:latin typeface="Cambria Math"/>
                          </a:rPr>
                          <m:t>i</m:t>
                        </m:r>
                      </m:sub>
                    </m:sSub>
                  </m:oMath>
                </a14:m>
                <a:r>
                  <a:rPr lang="zh-CN" altLang="zh-CN" sz="2000" b="0" dirty="0"/>
                  <a:t>中，设</a:t>
                </a:r>
                <a14:m>
                  <m:oMath xmlns:m="http://schemas.openxmlformats.org/officeDocument/2006/math">
                    <m:sSub>
                      <m:sSubPr>
                        <m:ctrlPr>
                          <a:rPr lang="zh-CN" altLang="zh-CN" sz="2000" b="0" i="1">
                            <a:latin typeface="Cambria Math" panose="02040503050406030204" pitchFamily="18" charset="0"/>
                          </a:rPr>
                        </m:ctrlPr>
                      </m:sSubPr>
                      <m:e>
                        <m:r>
                          <m:rPr>
                            <m:sty m:val="p"/>
                          </m:rPr>
                          <a:rPr lang="zh-CN" altLang="zh-CN" sz="2000" b="0">
                            <a:latin typeface="Cambria Math"/>
                          </a:rPr>
                          <m:t>Q</m:t>
                        </m:r>
                      </m:e>
                      <m:sub>
                        <m:r>
                          <a:rPr lang="zh-CN" altLang="zh-CN" sz="2000" b="0">
                            <a:latin typeface="Cambria Math"/>
                          </a:rPr>
                          <m:t>1</m:t>
                        </m:r>
                      </m:sub>
                    </m:sSub>
                    <m:r>
                      <a:rPr lang="zh-CN" altLang="zh-CN" sz="2000" b="0">
                        <a:latin typeface="Cambria Math"/>
                      </a:rPr>
                      <m:t>=</m:t>
                    </m:r>
                    <m:sSub>
                      <m:sSubPr>
                        <m:ctrlPr>
                          <a:rPr lang="zh-CN" altLang="zh-CN" sz="2000" b="0" i="1">
                            <a:latin typeface="Cambria Math" panose="02040503050406030204" pitchFamily="18" charset="0"/>
                          </a:rPr>
                        </m:ctrlPr>
                      </m:sSubPr>
                      <m:e>
                        <m:r>
                          <a:rPr lang="zh-CN" altLang="zh-CN" sz="2000" b="0">
                            <a:latin typeface="Cambria Math"/>
                          </a:rPr>
                          <m:t>{</m:t>
                        </m:r>
                        <m:r>
                          <m:rPr>
                            <m:sty m:val="p"/>
                          </m:rPr>
                          <a:rPr lang="zh-CN" altLang="zh-CN" sz="2000" b="0">
                            <a:latin typeface="Cambria Math"/>
                          </a:rPr>
                          <m:t>p</m:t>
                        </m:r>
                      </m:e>
                      <m:sub>
                        <m:r>
                          <a:rPr lang="zh-CN" altLang="zh-CN" sz="2000" b="0">
                            <a:latin typeface="Cambria Math"/>
                          </a:rPr>
                          <m:t>0</m:t>
                        </m:r>
                      </m:sub>
                    </m:sSub>
                    <m:r>
                      <a:rPr lang="zh-CN" altLang="zh-CN" sz="2000" b="0">
                        <a:latin typeface="Cambria Math"/>
                      </a:rPr>
                      <m:t>,</m:t>
                    </m:r>
                    <m:sSub>
                      <m:sSubPr>
                        <m:ctrlPr>
                          <a:rPr lang="zh-CN" altLang="zh-CN" sz="2000" b="0" i="1">
                            <a:latin typeface="Cambria Math" panose="02040503050406030204" pitchFamily="18" charset="0"/>
                          </a:rPr>
                        </m:ctrlPr>
                      </m:sSubPr>
                      <m:e>
                        <m:r>
                          <m:rPr>
                            <m:sty m:val="p"/>
                          </m:rPr>
                          <a:rPr lang="zh-CN" altLang="zh-CN" sz="2000" b="0">
                            <a:latin typeface="Cambria Math"/>
                          </a:rPr>
                          <m:t>p</m:t>
                        </m:r>
                      </m:e>
                      <m:sub>
                        <m:r>
                          <a:rPr lang="zh-CN" altLang="zh-CN" sz="2000" b="0">
                            <a:latin typeface="Cambria Math"/>
                          </a:rPr>
                          <m:t>1</m:t>
                        </m:r>
                      </m:sub>
                    </m:sSub>
                    <m:r>
                      <a:rPr lang="zh-CN" altLang="zh-CN" sz="2000" b="0">
                        <a:latin typeface="Cambria Math"/>
                      </a:rPr>
                      <m:t>,</m:t>
                    </m:r>
                    <m:sSub>
                      <m:sSubPr>
                        <m:ctrlPr>
                          <a:rPr lang="zh-CN" altLang="zh-CN" sz="2000" b="0" i="1">
                            <a:latin typeface="Cambria Math" panose="02040503050406030204" pitchFamily="18" charset="0"/>
                          </a:rPr>
                        </m:ctrlPr>
                      </m:sSubPr>
                      <m:e>
                        <m:r>
                          <m:rPr>
                            <m:sty m:val="p"/>
                          </m:rPr>
                          <a:rPr lang="zh-CN" altLang="zh-CN" sz="2000" b="0">
                            <a:latin typeface="Cambria Math"/>
                          </a:rPr>
                          <m:t>p</m:t>
                        </m:r>
                      </m:e>
                      <m:sub>
                        <m:r>
                          <a:rPr lang="zh-CN" altLang="zh-CN" sz="2000" b="0">
                            <a:latin typeface="Cambria Math"/>
                          </a:rPr>
                          <m:t>2</m:t>
                        </m:r>
                      </m:sub>
                    </m:sSub>
                    <m:r>
                      <a:rPr lang="zh-CN" altLang="zh-CN" sz="2000" b="0">
                        <a:latin typeface="Cambria Math"/>
                      </a:rPr>
                      <m:t>,…</m:t>
                    </m:r>
                    <m:sSub>
                      <m:sSubPr>
                        <m:ctrlPr>
                          <a:rPr lang="zh-CN" altLang="zh-CN" sz="2000" b="0" i="1">
                            <a:latin typeface="Cambria Math" panose="02040503050406030204" pitchFamily="18" charset="0"/>
                          </a:rPr>
                        </m:ctrlPr>
                      </m:sSubPr>
                      <m:e>
                        <m:r>
                          <m:rPr>
                            <m:sty m:val="p"/>
                          </m:rPr>
                          <a:rPr lang="zh-CN" altLang="zh-CN" sz="2000" b="0">
                            <a:latin typeface="Cambria Math"/>
                          </a:rPr>
                          <m:t>p</m:t>
                        </m:r>
                      </m:e>
                      <m:sub>
                        <m:r>
                          <m:rPr>
                            <m:sty m:val="p"/>
                          </m:rPr>
                          <a:rPr lang="zh-CN" altLang="zh-CN" sz="2000" b="0">
                            <a:latin typeface="Cambria Math"/>
                          </a:rPr>
                          <m:t>n</m:t>
                        </m:r>
                      </m:sub>
                    </m:sSub>
                    <m:r>
                      <a:rPr lang="zh-CN" altLang="zh-CN" sz="2000" b="0">
                        <a:latin typeface="Cambria Math"/>
                      </a:rPr>
                      <m:t>}</m:t>
                    </m:r>
                  </m:oMath>
                </a14:m>
                <a:r>
                  <a:rPr lang="zh-CN" altLang="zh-CN" sz="2000" b="0" dirty="0"/>
                  <a:t>；</a:t>
                </a:r>
                <a:endParaRPr lang="en-US" altLang="zh-CN" sz="2000" b="0" dirty="0"/>
              </a:p>
              <a:p>
                <a:pPr algn="just"/>
                <a:r>
                  <a:rPr lang="zh-CN" altLang="zh-CN" sz="2000" b="0" dirty="0"/>
                  <a:t>（2）把变量x的指数</a:t>
                </a:r>
                <a14:m>
                  <m:oMath xmlns:m="http://schemas.openxmlformats.org/officeDocument/2006/math">
                    <m:sSub>
                      <m:sSubPr>
                        <m:ctrlPr>
                          <a:rPr lang="zh-CN" altLang="zh-CN" sz="2000" b="0" i="1">
                            <a:latin typeface="Cambria Math" panose="02040503050406030204" pitchFamily="18" charset="0"/>
                          </a:rPr>
                        </m:ctrlPr>
                      </m:sSubPr>
                      <m:e>
                        <m:r>
                          <m:rPr>
                            <m:sty m:val="p"/>
                          </m:rPr>
                          <a:rPr lang="zh-CN" altLang="zh-CN" sz="2000" b="0">
                            <a:latin typeface="Cambria Math"/>
                          </a:rPr>
                          <m:t>e</m:t>
                        </m:r>
                      </m:e>
                      <m:sub>
                        <m:r>
                          <m:rPr>
                            <m:sty m:val="p"/>
                          </m:rPr>
                          <a:rPr lang="zh-CN" altLang="zh-CN" sz="2000" b="0">
                            <a:latin typeface="Cambria Math"/>
                          </a:rPr>
                          <m:t>i</m:t>
                        </m:r>
                      </m:sub>
                    </m:sSub>
                  </m:oMath>
                </a14:m>
                <a:r>
                  <a:rPr lang="zh-CN" altLang="zh-CN" sz="2000" b="0" dirty="0"/>
                  <a:t>和系数</a:t>
                </a:r>
                <a14:m>
                  <m:oMath xmlns:m="http://schemas.openxmlformats.org/officeDocument/2006/math">
                    <m:sSub>
                      <m:sSubPr>
                        <m:ctrlPr>
                          <a:rPr lang="zh-CN" altLang="zh-CN" sz="2000" b="0" i="1">
                            <a:latin typeface="Cambria Math" panose="02040503050406030204" pitchFamily="18" charset="0"/>
                          </a:rPr>
                        </m:ctrlPr>
                      </m:sSubPr>
                      <m:e>
                        <m:r>
                          <m:rPr>
                            <m:sty m:val="p"/>
                          </m:rPr>
                          <a:rPr lang="zh-CN" altLang="zh-CN" sz="2000" b="0">
                            <a:latin typeface="Cambria Math"/>
                          </a:rPr>
                          <m:t>p</m:t>
                        </m:r>
                      </m:e>
                      <m:sub>
                        <m:r>
                          <m:rPr>
                            <m:sty m:val="p"/>
                          </m:rPr>
                          <a:rPr lang="zh-CN" altLang="zh-CN" sz="2000" b="0">
                            <a:latin typeface="Cambria Math"/>
                          </a:rPr>
                          <m:t>i</m:t>
                        </m:r>
                      </m:sub>
                    </m:sSub>
                  </m:oMath>
                </a14:m>
                <a:r>
                  <a:rPr lang="zh-CN" altLang="zh-CN" sz="2000" b="0" dirty="0"/>
                  <a:t>分开来描述，设</a:t>
                </a:r>
                <a14:m>
                  <m:oMath xmlns:m="http://schemas.openxmlformats.org/officeDocument/2006/math">
                    <m:sSub>
                      <m:sSubPr>
                        <m:ctrlPr>
                          <a:rPr lang="zh-CN" altLang="zh-CN" sz="2000" b="0" i="1">
                            <a:latin typeface="Cambria Math" panose="02040503050406030204" pitchFamily="18" charset="0"/>
                          </a:rPr>
                        </m:ctrlPr>
                      </m:sSubPr>
                      <m:e>
                        <m:r>
                          <m:rPr>
                            <m:sty m:val="p"/>
                          </m:rPr>
                          <a:rPr lang="zh-CN" altLang="zh-CN" sz="2000" b="0">
                            <a:latin typeface="Cambria Math"/>
                          </a:rPr>
                          <m:t>Q</m:t>
                        </m:r>
                      </m:e>
                      <m:sub>
                        <m:r>
                          <a:rPr lang="zh-CN" altLang="zh-CN" sz="2000" b="0">
                            <a:latin typeface="Cambria Math"/>
                          </a:rPr>
                          <m:t>2</m:t>
                        </m:r>
                      </m:sub>
                    </m:sSub>
                    <m:r>
                      <a:rPr lang="zh-CN" altLang="zh-CN" sz="2000" b="0">
                        <a:latin typeface="Cambria Math"/>
                      </a:rPr>
                      <m:t>=</m:t>
                    </m:r>
                    <m:sSub>
                      <m:sSubPr>
                        <m:ctrlPr>
                          <a:rPr lang="zh-CN" altLang="zh-CN" sz="2000" b="0" i="1">
                            <a:latin typeface="Cambria Math" panose="02040503050406030204" pitchFamily="18" charset="0"/>
                          </a:rPr>
                        </m:ctrlPr>
                      </m:sSubPr>
                      <m:e>
                        <m:r>
                          <a:rPr lang="zh-CN" altLang="zh-CN" sz="2000" b="0">
                            <a:latin typeface="Cambria Math"/>
                          </a:rPr>
                          <m:t>{(</m:t>
                        </m:r>
                        <m:r>
                          <m:rPr>
                            <m:sty m:val="p"/>
                          </m:rPr>
                          <a:rPr lang="zh-CN" altLang="zh-CN" sz="2000" b="0">
                            <a:latin typeface="Cambria Math"/>
                          </a:rPr>
                          <m:t>p</m:t>
                        </m:r>
                      </m:e>
                      <m:sub>
                        <m:r>
                          <a:rPr lang="zh-CN" altLang="zh-CN" sz="2000" b="0">
                            <a:latin typeface="Cambria Math"/>
                          </a:rPr>
                          <m:t>0</m:t>
                        </m:r>
                      </m:sub>
                    </m:sSub>
                    <m:r>
                      <a:rPr lang="zh-CN" altLang="zh-CN" sz="2000" b="0">
                        <a:latin typeface="Cambria Math"/>
                      </a:rPr>
                      <m:t>,</m:t>
                    </m:r>
                    <m:sSub>
                      <m:sSubPr>
                        <m:ctrlPr>
                          <a:rPr lang="zh-CN" altLang="zh-CN" sz="2000" b="0" i="1">
                            <a:latin typeface="Cambria Math" panose="02040503050406030204" pitchFamily="18" charset="0"/>
                          </a:rPr>
                        </m:ctrlPr>
                      </m:sSubPr>
                      <m:e>
                        <m:r>
                          <m:rPr>
                            <m:sty m:val="p"/>
                          </m:rPr>
                          <a:rPr lang="zh-CN" altLang="zh-CN" sz="2000" b="0">
                            <a:latin typeface="Cambria Math"/>
                          </a:rPr>
                          <m:t>e</m:t>
                        </m:r>
                      </m:e>
                      <m:sub>
                        <m:r>
                          <a:rPr lang="zh-CN" altLang="zh-CN" sz="2000" b="0">
                            <a:latin typeface="Cambria Math"/>
                          </a:rPr>
                          <m:t>0</m:t>
                        </m:r>
                      </m:sub>
                    </m:sSub>
                    <m:r>
                      <a:rPr lang="zh-CN" altLang="zh-CN" sz="2000" b="0">
                        <a:latin typeface="Cambria Math"/>
                      </a:rPr>
                      <m:t>),</m:t>
                    </m:r>
                    <m:sSub>
                      <m:sSubPr>
                        <m:ctrlPr>
                          <a:rPr lang="zh-CN" altLang="zh-CN" sz="2000" b="0" i="1">
                            <a:latin typeface="Cambria Math" panose="02040503050406030204" pitchFamily="18" charset="0"/>
                          </a:rPr>
                        </m:ctrlPr>
                      </m:sSubPr>
                      <m:e>
                        <m:r>
                          <a:rPr lang="zh-CN" altLang="zh-CN" sz="2000" b="0">
                            <a:latin typeface="Cambria Math"/>
                          </a:rPr>
                          <m:t>(</m:t>
                        </m:r>
                        <m:r>
                          <m:rPr>
                            <m:sty m:val="p"/>
                          </m:rPr>
                          <a:rPr lang="zh-CN" altLang="zh-CN" sz="2000" b="0">
                            <a:latin typeface="Cambria Math"/>
                          </a:rPr>
                          <m:t>p</m:t>
                        </m:r>
                      </m:e>
                      <m:sub>
                        <m:r>
                          <a:rPr lang="zh-CN" altLang="zh-CN" sz="2000" b="0">
                            <a:latin typeface="Cambria Math"/>
                          </a:rPr>
                          <m:t>1</m:t>
                        </m:r>
                      </m:sub>
                    </m:sSub>
                    <m:r>
                      <a:rPr lang="zh-CN" altLang="zh-CN" sz="2000" b="0">
                        <a:latin typeface="Cambria Math"/>
                      </a:rPr>
                      <m:t>,</m:t>
                    </m:r>
                    <m:sSub>
                      <m:sSubPr>
                        <m:ctrlPr>
                          <a:rPr lang="zh-CN" altLang="zh-CN" sz="2000" b="0" i="1">
                            <a:latin typeface="Cambria Math" panose="02040503050406030204" pitchFamily="18" charset="0"/>
                          </a:rPr>
                        </m:ctrlPr>
                      </m:sSubPr>
                      <m:e>
                        <m:r>
                          <m:rPr>
                            <m:sty m:val="p"/>
                          </m:rPr>
                          <a:rPr lang="zh-CN" altLang="zh-CN" sz="2000" b="0">
                            <a:latin typeface="Cambria Math"/>
                          </a:rPr>
                          <m:t>e</m:t>
                        </m:r>
                      </m:e>
                      <m:sub>
                        <m:r>
                          <a:rPr lang="zh-CN" altLang="zh-CN" sz="2000" b="0">
                            <a:latin typeface="Cambria Math"/>
                          </a:rPr>
                          <m:t>1</m:t>
                        </m:r>
                      </m:sub>
                    </m:sSub>
                    <m:r>
                      <a:rPr lang="zh-CN" altLang="zh-CN" sz="2000" b="0">
                        <a:latin typeface="Cambria Math"/>
                      </a:rPr>
                      <m:t>),</m:t>
                    </m:r>
                    <m:sSub>
                      <m:sSubPr>
                        <m:ctrlPr>
                          <a:rPr lang="zh-CN" altLang="zh-CN" sz="2000" b="0" i="1">
                            <a:latin typeface="Cambria Math" panose="02040503050406030204" pitchFamily="18" charset="0"/>
                          </a:rPr>
                        </m:ctrlPr>
                      </m:sSubPr>
                      <m:e>
                        <m:r>
                          <a:rPr lang="zh-CN" altLang="zh-CN" sz="2000" b="0">
                            <a:latin typeface="Cambria Math"/>
                          </a:rPr>
                          <m:t>(</m:t>
                        </m:r>
                        <m:r>
                          <m:rPr>
                            <m:sty m:val="p"/>
                          </m:rPr>
                          <a:rPr lang="zh-CN" altLang="zh-CN" sz="2000" b="0">
                            <a:latin typeface="Cambria Math"/>
                          </a:rPr>
                          <m:t>p</m:t>
                        </m:r>
                      </m:e>
                      <m:sub>
                        <m:r>
                          <a:rPr lang="zh-CN" altLang="zh-CN" sz="2000" b="0">
                            <a:latin typeface="Cambria Math"/>
                          </a:rPr>
                          <m:t>2</m:t>
                        </m:r>
                      </m:sub>
                    </m:sSub>
                    <m:r>
                      <a:rPr lang="zh-CN" altLang="zh-CN" sz="2000" b="0">
                        <a:latin typeface="Cambria Math"/>
                      </a:rPr>
                      <m:t>,</m:t>
                    </m:r>
                    <m:sSub>
                      <m:sSubPr>
                        <m:ctrlPr>
                          <a:rPr lang="zh-CN" altLang="zh-CN" sz="2000" b="0" i="1">
                            <a:latin typeface="Cambria Math" panose="02040503050406030204" pitchFamily="18" charset="0"/>
                          </a:rPr>
                        </m:ctrlPr>
                      </m:sSubPr>
                      <m:e>
                        <m:r>
                          <m:rPr>
                            <m:sty m:val="p"/>
                          </m:rPr>
                          <a:rPr lang="zh-CN" altLang="zh-CN" sz="2000" b="0">
                            <a:latin typeface="Cambria Math"/>
                          </a:rPr>
                          <m:t>e</m:t>
                        </m:r>
                      </m:e>
                      <m:sub>
                        <m:r>
                          <a:rPr lang="zh-CN" altLang="zh-CN" sz="2000" b="0">
                            <a:latin typeface="Cambria Math"/>
                          </a:rPr>
                          <m:t>2</m:t>
                        </m:r>
                      </m:sub>
                    </m:sSub>
                    <m:r>
                      <a:rPr lang="zh-CN" altLang="zh-CN" sz="2000" b="0">
                        <a:latin typeface="Cambria Math"/>
                      </a:rPr>
                      <m:t>),…</m:t>
                    </m:r>
                    <m:sSub>
                      <m:sSubPr>
                        <m:ctrlPr>
                          <a:rPr lang="zh-CN" altLang="zh-CN" sz="2000" b="0" i="1">
                            <a:latin typeface="Cambria Math" panose="02040503050406030204" pitchFamily="18" charset="0"/>
                          </a:rPr>
                        </m:ctrlPr>
                      </m:sSubPr>
                      <m:e>
                        <m:r>
                          <a:rPr lang="zh-CN" altLang="zh-CN" sz="2000" b="0">
                            <a:latin typeface="Cambria Math"/>
                          </a:rPr>
                          <m:t>(</m:t>
                        </m:r>
                        <m:r>
                          <m:rPr>
                            <m:sty m:val="p"/>
                          </m:rPr>
                          <a:rPr lang="zh-CN" altLang="zh-CN" sz="2000" b="0">
                            <a:latin typeface="Cambria Math"/>
                          </a:rPr>
                          <m:t>p</m:t>
                        </m:r>
                      </m:e>
                      <m:sub>
                        <m:r>
                          <m:rPr>
                            <m:sty m:val="p"/>
                          </m:rPr>
                          <a:rPr lang="zh-CN" altLang="zh-CN" sz="2000" b="0">
                            <a:latin typeface="Cambria Math"/>
                          </a:rPr>
                          <m:t>m</m:t>
                        </m:r>
                      </m:sub>
                    </m:sSub>
                    <m:r>
                      <a:rPr lang="zh-CN" altLang="zh-CN" sz="2000" b="0">
                        <a:latin typeface="Cambria Math"/>
                      </a:rPr>
                      <m:t>,</m:t>
                    </m:r>
                    <m:sSub>
                      <m:sSubPr>
                        <m:ctrlPr>
                          <a:rPr lang="zh-CN" altLang="zh-CN" sz="2000" b="0" i="1">
                            <a:latin typeface="Cambria Math" panose="02040503050406030204" pitchFamily="18" charset="0"/>
                          </a:rPr>
                        </m:ctrlPr>
                      </m:sSubPr>
                      <m:e>
                        <m:r>
                          <m:rPr>
                            <m:sty m:val="p"/>
                          </m:rPr>
                          <a:rPr lang="zh-CN" altLang="zh-CN" sz="2000" b="0">
                            <a:latin typeface="Cambria Math"/>
                          </a:rPr>
                          <m:t>e</m:t>
                        </m:r>
                      </m:e>
                      <m:sub>
                        <m:r>
                          <m:rPr>
                            <m:sty m:val="p"/>
                          </m:rPr>
                          <a:rPr lang="zh-CN" altLang="zh-CN" sz="2000" b="0">
                            <a:latin typeface="Cambria Math"/>
                          </a:rPr>
                          <m:t>m</m:t>
                        </m:r>
                      </m:sub>
                    </m:sSub>
                    <m:r>
                      <a:rPr lang="zh-CN" altLang="zh-CN" sz="2000" b="0">
                        <a:latin typeface="Cambria Math"/>
                      </a:rPr>
                      <m:t>)}</m:t>
                    </m:r>
                  </m:oMath>
                </a14:m>
                <a:r>
                  <a:rPr lang="zh-CN" altLang="zh-CN" sz="2000" b="0" dirty="0"/>
                  <a:t>，其中m≤n。</a:t>
                </a:r>
                <a:endParaRPr lang="en-US" altLang="zh-CN" sz="2000" b="0" dirty="0"/>
              </a:p>
              <a:p>
                <a:pPr algn="just"/>
                <a:r>
                  <a:rPr lang="zh-CN" altLang="zh-CN" sz="2000" b="0" dirty="0"/>
                  <a:t>线性表可以使用顺序存储结构或链式存储结构来存储，从而进行多项式的相关运算。</a:t>
                </a:r>
              </a:p>
              <a:p>
                <a:pPr algn="just"/>
                <a:r>
                  <a:rPr lang="zh-CN" altLang="zh-CN" sz="2000" b="0" dirty="0"/>
                  <a:t>若采用顺序存储结构，可使用一个一维数组存储线性表</a:t>
                </a:r>
                <a:r>
                  <a:rPr lang="en-US" altLang="zh-CN" sz="2000" b="0" dirty="0"/>
                  <a:t>Q</a:t>
                </a:r>
                <a:r>
                  <a:rPr lang="en-US" altLang="zh-CN" sz="2000" b="0" baseline="-25000" dirty="0"/>
                  <a:t>1</a:t>
                </a:r>
                <a:r>
                  <a:rPr lang="zh-CN" altLang="zh-CN" sz="2000" b="0" dirty="0"/>
                  <a:t>，数组中存储的数据元素为多项式的系数，数组下标表示相应的次数。多项式</a:t>
                </a:r>
                <a:r>
                  <a:rPr lang="en-US" altLang="zh-CN" sz="2000" b="0" dirty="0" err="1"/>
                  <a:t>P</a:t>
                </a:r>
                <a:r>
                  <a:rPr lang="en-US" altLang="zh-CN" sz="2000" b="0" baseline="-25000" dirty="0" err="1"/>
                  <a:t>n</a:t>
                </a:r>
                <a:r>
                  <a:rPr lang="en-US" altLang="zh-CN" sz="2000" b="0" dirty="0"/>
                  <a:t>(x)</a:t>
                </a:r>
                <a:r>
                  <a:rPr lang="zh-CN" altLang="zh-CN" sz="2000" b="0" dirty="0"/>
                  <a:t>的顺序存储结构如图</a:t>
                </a:r>
                <a:r>
                  <a:rPr lang="en-US" altLang="zh-CN" sz="2000" b="0" dirty="0"/>
                  <a:t>2-21</a:t>
                </a:r>
                <a:r>
                  <a:rPr lang="zh-CN" altLang="zh-CN" sz="2000" b="0" dirty="0"/>
                  <a:t>所示</a:t>
                </a:r>
                <a:r>
                  <a:rPr lang="zh-CN" altLang="zh-CN" sz="2000" dirty="0"/>
                  <a:t>。</a:t>
                </a:r>
              </a:p>
              <a:p>
                <a:endParaRPr lang="zh-CN" altLang="en-US" sz="2000"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827584" y="692696"/>
                <a:ext cx="7920880" cy="4104456"/>
              </a:xfrm>
              <a:blipFill>
                <a:blip r:embed="rId3"/>
                <a:stretch>
                  <a:fillRect l="-847" t="-594" r="-770"/>
                </a:stretch>
              </a:blipFill>
            </p:spPr>
            <p:txBody>
              <a:bodyPr/>
              <a:lstStyle/>
              <a:p>
                <a:r>
                  <a:rPr lang="zh-CN" altLang="en-US">
                    <a:noFill/>
                  </a:rPr>
                  <a:t> </a:t>
                </a:r>
              </a:p>
            </p:txBody>
          </p:sp>
        </mc:Fallback>
      </mc:AlternateContent>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4" name="对象 3"/>
          <p:cNvGraphicFramePr>
            <a:graphicFrameLocks noChangeAspect="1"/>
          </p:cNvGraphicFramePr>
          <p:nvPr>
            <p:extLst>
              <p:ext uri="{D42A27DB-BD31-4B8C-83A1-F6EECF244321}">
                <p14:modId xmlns:p14="http://schemas.microsoft.com/office/powerpoint/2010/main" val="1555177801"/>
              </p:ext>
            </p:extLst>
          </p:nvPr>
        </p:nvGraphicFramePr>
        <p:xfrm>
          <a:off x="1475656" y="4653136"/>
          <a:ext cx="5832648" cy="950975"/>
        </p:xfrm>
        <a:graphic>
          <a:graphicData uri="http://schemas.openxmlformats.org/presentationml/2006/ole">
            <mc:AlternateContent xmlns:mc="http://schemas.openxmlformats.org/markup-compatibility/2006">
              <mc:Choice xmlns:v="urn:schemas-microsoft-com:vml" Requires="v">
                <p:oleObj spid="_x0000_s9333" r:id="rId4" imgW="4130472" imgH="671782" progId="">
                  <p:embed/>
                </p:oleObj>
              </mc:Choice>
              <mc:Fallback>
                <p:oleObj r:id="rId4" imgW="4130472" imgH="671782" progId="">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5656" y="4653136"/>
                        <a:ext cx="5832648" cy="950975"/>
                      </a:xfrm>
                      <a:prstGeom prst="rect">
                        <a:avLst/>
                      </a:prstGeom>
                      <a:noFill/>
                    </p:spPr>
                  </p:pic>
                </p:oleObj>
              </mc:Fallback>
            </mc:AlternateContent>
          </a:graphicData>
        </a:graphic>
      </p:graphicFrame>
      <p:sp>
        <p:nvSpPr>
          <p:cNvPr id="5" name="矩形 4"/>
          <p:cNvSpPr/>
          <p:nvPr/>
        </p:nvSpPr>
        <p:spPr>
          <a:xfrm>
            <a:off x="2555776" y="5795972"/>
            <a:ext cx="3816423" cy="369332"/>
          </a:xfrm>
          <a:prstGeom prst="rect">
            <a:avLst/>
          </a:prstGeom>
        </p:spPr>
        <p:txBody>
          <a:bodyPr wrap="square">
            <a:spAutoFit/>
          </a:bodyPr>
          <a:lstStyle/>
          <a:p>
            <a:r>
              <a:rPr lang="zh-CN" altLang="zh-CN" dirty="0">
                <a:latin typeface="Times New Roman" panose="02020603050405020304" pitchFamily="18" charset="0"/>
                <a:ea typeface="楷体" panose="02010609060101010101" pitchFamily="49" charset="-122"/>
                <a:cs typeface="Times New Roman" panose="02020603050405020304" pitchFamily="18" charset="0"/>
              </a:rPr>
              <a:t>图2-21 多项式Pn(x)的顺序存储结构</a:t>
            </a:r>
          </a:p>
        </p:txBody>
      </p:sp>
    </p:spTree>
    <p:extLst>
      <p:ext uri="{BB962C8B-B14F-4D97-AF65-F5344CB8AC3E}">
        <p14:creationId xmlns:p14="http://schemas.microsoft.com/office/powerpoint/2010/main" val="74885877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124744"/>
            <a:ext cx="7632848" cy="5040560"/>
          </a:xfrm>
        </p:spPr>
        <p:txBody>
          <a:bodyPr>
            <a:normAutofit fontScale="85000" lnSpcReduction="20000"/>
          </a:bodyPr>
          <a:lstStyle/>
          <a:p>
            <a:r>
              <a:rPr lang="zh-CN" altLang="zh-CN" dirty="0"/>
              <a:t>算法</a:t>
            </a:r>
            <a:r>
              <a:rPr lang="en-US" altLang="zh-CN" dirty="0"/>
              <a:t>2.16</a:t>
            </a:r>
            <a:r>
              <a:rPr lang="zh-CN" altLang="zh-CN" dirty="0"/>
              <a:t>：</a:t>
            </a:r>
            <a:r>
              <a:rPr lang="zh-CN" altLang="zh-CN" dirty="0">
                <a:solidFill>
                  <a:srgbClr val="FF0000"/>
                </a:solidFill>
              </a:rPr>
              <a:t>多项式的顺序存储结构类定义</a:t>
            </a:r>
          </a:p>
          <a:p>
            <a:r>
              <a:rPr lang="en-US" altLang="zh-CN" b="0" dirty="0" err="1"/>
              <a:t>Const</a:t>
            </a:r>
            <a:r>
              <a:rPr lang="en-US" altLang="zh-CN" b="0" dirty="0"/>
              <a:t> </a:t>
            </a:r>
            <a:r>
              <a:rPr lang="en-US" altLang="zh-CN" b="0" dirty="0" err="1"/>
              <a:t>int</a:t>
            </a:r>
            <a:r>
              <a:rPr lang="en-US" altLang="zh-CN" b="0" dirty="0"/>
              <a:t> </a:t>
            </a:r>
            <a:r>
              <a:rPr lang="en-US" altLang="zh-CN" b="0" dirty="0" err="1"/>
              <a:t>PolySize</a:t>
            </a:r>
            <a:r>
              <a:rPr lang="en-US" altLang="zh-CN" b="0" dirty="0"/>
              <a:t> = 100;</a:t>
            </a:r>
            <a:endParaRPr lang="zh-CN" altLang="zh-CN" b="0" dirty="0"/>
          </a:p>
          <a:p>
            <a:r>
              <a:rPr lang="en-US" altLang="zh-CN" b="0" dirty="0"/>
              <a:t>Class Poly{</a:t>
            </a:r>
            <a:endParaRPr lang="zh-CN" altLang="zh-CN" b="0" dirty="0"/>
          </a:p>
          <a:p>
            <a:r>
              <a:rPr lang="en-US" altLang="zh-CN" b="0" dirty="0"/>
              <a:t>	Elem  element[</a:t>
            </a:r>
            <a:r>
              <a:rPr lang="en-US" altLang="zh-CN" b="0" dirty="0" err="1"/>
              <a:t>PolySize</a:t>
            </a:r>
            <a:r>
              <a:rPr lang="en-US" altLang="zh-CN" b="0" dirty="0"/>
              <a:t>];</a:t>
            </a:r>
            <a:endParaRPr lang="zh-CN" altLang="zh-CN" b="0" dirty="0"/>
          </a:p>
          <a:p>
            <a:r>
              <a:rPr lang="en-US" altLang="zh-CN" b="0" dirty="0"/>
              <a:t>	</a:t>
            </a:r>
            <a:r>
              <a:rPr lang="en-US" altLang="zh-CN" b="0" dirty="0" err="1"/>
              <a:t>int</a:t>
            </a:r>
            <a:r>
              <a:rPr lang="en-US" altLang="zh-CN" b="0" dirty="0"/>
              <a:t> size; </a:t>
            </a:r>
            <a:endParaRPr lang="zh-CN" altLang="zh-CN" b="0" dirty="0"/>
          </a:p>
          <a:p>
            <a:r>
              <a:rPr lang="en-US" altLang="zh-CN" b="0" dirty="0"/>
              <a:t>	public:</a:t>
            </a:r>
            <a:endParaRPr lang="zh-CN" altLang="zh-CN" b="0" dirty="0"/>
          </a:p>
          <a:p>
            <a:r>
              <a:rPr lang="en-US" altLang="zh-CN" b="0" dirty="0"/>
              <a:t>		Poly(){size = 0;} //</a:t>
            </a:r>
            <a:r>
              <a:rPr lang="zh-CN" altLang="zh-CN" b="0" dirty="0"/>
              <a:t>构造一个空多项式</a:t>
            </a:r>
          </a:p>
          <a:p>
            <a:r>
              <a:rPr lang="en-US" altLang="zh-CN" b="0" dirty="0"/>
              <a:t>		~Poly();</a:t>
            </a:r>
            <a:endParaRPr lang="zh-CN" altLang="zh-CN" b="0" dirty="0"/>
          </a:p>
          <a:p>
            <a:r>
              <a:rPr lang="en-US" altLang="zh-CN" b="0" dirty="0"/>
              <a:t>		void Clear() {size = 0;}//</a:t>
            </a:r>
            <a:r>
              <a:rPr lang="zh-CN" altLang="zh-CN" b="0" dirty="0"/>
              <a:t>清空</a:t>
            </a:r>
          </a:p>
          <a:p>
            <a:r>
              <a:rPr lang="en-US" altLang="zh-CN" b="0" dirty="0"/>
              <a:t>		Poly sum(Poly  p); //</a:t>
            </a:r>
            <a:r>
              <a:rPr lang="zh-CN" altLang="zh-CN" b="0" dirty="0"/>
              <a:t>多项式相加</a:t>
            </a:r>
          </a:p>
          <a:p>
            <a:r>
              <a:rPr lang="en-US" altLang="zh-CN" b="0" dirty="0"/>
              <a:t>		Poly sub(Poly  p); //</a:t>
            </a:r>
            <a:r>
              <a:rPr lang="zh-CN" altLang="zh-CN" b="0" dirty="0"/>
              <a:t>多项式相减</a:t>
            </a:r>
          </a:p>
          <a:p>
            <a:r>
              <a:rPr lang="en-US" altLang="zh-CN" b="0" dirty="0"/>
              <a:t>}</a:t>
            </a:r>
            <a:endParaRPr lang="zh-CN" altLang="zh-CN" b="0" dirty="0"/>
          </a:p>
          <a:p>
            <a:endParaRPr lang="zh-CN" altLang="en-US" dirty="0"/>
          </a:p>
        </p:txBody>
      </p:sp>
    </p:spTree>
    <p:extLst>
      <p:ext uri="{BB962C8B-B14F-4D97-AF65-F5344CB8AC3E}">
        <p14:creationId xmlns:p14="http://schemas.microsoft.com/office/powerpoint/2010/main" val="142450385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1052736"/>
            <a:ext cx="8280920" cy="4032448"/>
          </a:xfrm>
        </p:spPr>
        <p:txBody>
          <a:bodyPr>
            <a:normAutofit fontScale="92500"/>
          </a:bodyPr>
          <a:lstStyle/>
          <a:p>
            <a:pPr algn="just"/>
            <a:r>
              <a:rPr lang="en-US" altLang="zh-CN" b="0" dirty="0"/>
              <a:t>	</a:t>
            </a:r>
            <a:r>
              <a:rPr lang="zh-CN" altLang="zh-CN" b="0" dirty="0"/>
              <a:t>通常多项式的次数可能很高，非零项数目却很少，如多项式：</a:t>
            </a:r>
          </a:p>
          <a:p>
            <a:pPr algn="just"/>
            <a:r>
              <a:rPr lang="en-US" altLang="zh-CN" b="0" dirty="0"/>
              <a:t>			P(x) = 1+3x</a:t>
            </a:r>
            <a:r>
              <a:rPr lang="en-US" altLang="zh-CN" b="0" baseline="30000" dirty="0"/>
              <a:t>10</a:t>
            </a:r>
            <a:r>
              <a:rPr lang="en-US" altLang="zh-CN" b="0" dirty="0"/>
              <a:t>+6x</a:t>
            </a:r>
            <a:r>
              <a:rPr lang="en-US" altLang="zh-CN" b="0" baseline="30000" dirty="0"/>
              <a:t>1000</a:t>
            </a:r>
            <a:r>
              <a:rPr lang="en-US" altLang="zh-CN" b="0" dirty="0"/>
              <a:t>+9x</a:t>
            </a:r>
            <a:r>
              <a:rPr lang="en-US" altLang="zh-CN" b="0" baseline="30000" dirty="0"/>
              <a:t>100000</a:t>
            </a:r>
            <a:endParaRPr lang="zh-CN" altLang="zh-CN" b="0" dirty="0"/>
          </a:p>
          <a:p>
            <a:pPr algn="just"/>
            <a:r>
              <a:rPr lang="en-US" altLang="zh-CN" b="0" dirty="0"/>
              <a:t>	</a:t>
            </a:r>
            <a:r>
              <a:rPr lang="zh-CN" altLang="zh-CN" b="0" dirty="0"/>
              <a:t>如用一维数组来存放，只有四个非零项，其余均为</a:t>
            </a:r>
            <a:r>
              <a:rPr lang="en-US" altLang="zh-CN" b="0" dirty="0"/>
              <a:t>0</a:t>
            </a:r>
            <a:r>
              <a:rPr lang="zh-CN" altLang="zh-CN" b="0" dirty="0"/>
              <a:t>，因此导致存储空间的极大浪费。因此，一般采用链式存储结构来描述一元多项式，将线性表用</a:t>
            </a:r>
            <a:r>
              <a:rPr lang="en-US" altLang="zh-CN" b="0" dirty="0"/>
              <a:t>Q</a:t>
            </a:r>
            <a:r>
              <a:rPr lang="en-US" altLang="zh-CN" b="0" baseline="-25000" dirty="0"/>
              <a:t>2</a:t>
            </a:r>
            <a:r>
              <a:rPr lang="zh-CN" altLang="zh-CN" b="0" dirty="0"/>
              <a:t>表示。线性表的每个元素包括两个数据成员：</a:t>
            </a:r>
            <a:r>
              <a:rPr lang="en-US" altLang="zh-CN" b="0" dirty="0" err="1"/>
              <a:t>coef</a:t>
            </a:r>
            <a:r>
              <a:rPr lang="zh-CN" altLang="zh-CN" b="0" dirty="0"/>
              <a:t>（系数）和</a:t>
            </a:r>
            <a:r>
              <a:rPr lang="en-US" altLang="zh-CN" b="0" dirty="0" err="1"/>
              <a:t>exp</a:t>
            </a:r>
            <a:r>
              <a:rPr lang="zh-CN" altLang="zh-CN" b="0" dirty="0"/>
              <a:t>（指数）。对于稀疏多项式（次数较大，非零项个数较少）的多项式通常采用这种链式存储结构。上述多项式</a:t>
            </a:r>
            <a:r>
              <a:rPr lang="en-US" altLang="zh-CN" b="0" dirty="0"/>
              <a:t>P(x)</a:t>
            </a:r>
            <a:r>
              <a:rPr lang="zh-CN" altLang="zh-CN" b="0" dirty="0"/>
              <a:t>用线性链表表示如图</a:t>
            </a:r>
            <a:r>
              <a:rPr lang="en-US" altLang="zh-CN" b="0" dirty="0"/>
              <a:t>2-22</a:t>
            </a:r>
            <a:r>
              <a:rPr lang="zh-CN" altLang="zh-CN" b="0" dirty="0"/>
              <a:t>所示。</a:t>
            </a:r>
          </a:p>
          <a:p>
            <a:endParaRPr lang="zh-CN" altLang="en-US" b="0" dirty="0"/>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4" name="对象 3"/>
          <p:cNvGraphicFramePr>
            <a:graphicFrameLocks noChangeAspect="1"/>
          </p:cNvGraphicFramePr>
          <p:nvPr>
            <p:extLst>
              <p:ext uri="{D42A27DB-BD31-4B8C-83A1-F6EECF244321}">
                <p14:modId xmlns:p14="http://schemas.microsoft.com/office/powerpoint/2010/main" val="3083881612"/>
              </p:ext>
            </p:extLst>
          </p:nvPr>
        </p:nvGraphicFramePr>
        <p:xfrm>
          <a:off x="-324544" y="5013176"/>
          <a:ext cx="9967107" cy="504056"/>
        </p:xfrm>
        <a:graphic>
          <a:graphicData uri="http://schemas.openxmlformats.org/presentationml/2006/ole">
            <mc:AlternateContent xmlns:mc="http://schemas.openxmlformats.org/markup-compatibility/2006">
              <mc:Choice xmlns:v="urn:schemas-microsoft-com:vml" Requires="v">
                <p:oleObj spid="_x0000_s10357" r:id="rId3" imgW="8299585" imgH="408137" progId="">
                  <p:embed/>
                </p:oleObj>
              </mc:Choice>
              <mc:Fallback>
                <p:oleObj r:id="rId3" imgW="8299585" imgH="408137" progId="">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4544" y="5013176"/>
                        <a:ext cx="9967107" cy="5040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矩形 4"/>
          <p:cNvSpPr/>
          <p:nvPr/>
        </p:nvSpPr>
        <p:spPr>
          <a:xfrm>
            <a:off x="2411760" y="5877272"/>
            <a:ext cx="4363695" cy="430887"/>
          </a:xfrm>
          <a:prstGeom prst="rect">
            <a:avLst/>
          </a:prstGeom>
        </p:spPr>
        <p:txBody>
          <a:bodyPr wrap="none">
            <a:spAutoFit/>
          </a:bodyPr>
          <a:lstStyle/>
          <a:p>
            <a:r>
              <a:rPr lang="zh-CN" altLang="en-US" sz="2200" dirty="0">
                <a:latin typeface="Times New Roman" panose="02020603050405020304" pitchFamily="18" charset="0"/>
                <a:ea typeface="楷体" panose="02010609060101010101" pitchFamily="49" charset="-122"/>
                <a:cs typeface="Times New Roman" panose="02020603050405020304" pitchFamily="18" charset="0"/>
              </a:rPr>
              <a:t>图</a:t>
            </a:r>
            <a:r>
              <a:rPr lang="en-US" altLang="zh-CN" sz="2200" dirty="0">
                <a:latin typeface="Times New Roman" panose="02020603050405020304" pitchFamily="18" charset="0"/>
                <a:ea typeface="楷体" panose="02010609060101010101" pitchFamily="49" charset="-122"/>
                <a:cs typeface="Times New Roman" panose="02020603050405020304" pitchFamily="18" charset="0"/>
              </a:rPr>
              <a:t>2-22 </a:t>
            </a:r>
            <a:r>
              <a:rPr lang="zh-CN" altLang="en-US" sz="2200" dirty="0">
                <a:latin typeface="Times New Roman" panose="02020603050405020304" pitchFamily="18" charset="0"/>
                <a:ea typeface="楷体" panose="02010609060101010101" pitchFamily="49" charset="-122"/>
                <a:cs typeface="Times New Roman" panose="02020603050405020304" pitchFamily="18" charset="0"/>
              </a:rPr>
              <a:t>多项式</a:t>
            </a:r>
            <a:r>
              <a:rPr lang="en-US" altLang="zh-CN" sz="2200" dirty="0">
                <a:latin typeface="Times New Roman" panose="02020603050405020304" pitchFamily="18" charset="0"/>
                <a:ea typeface="楷体" panose="02010609060101010101" pitchFamily="49" charset="-122"/>
                <a:cs typeface="Times New Roman" panose="02020603050405020304" pitchFamily="18" charset="0"/>
              </a:rPr>
              <a:t>P(x)</a:t>
            </a:r>
            <a:r>
              <a:rPr lang="zh-CN" altLang="en-US" sz="2200" dirty="0">
                <a:latin typeface="Times New Roman" panose="02020603050405020304" pitchFamily="18" charset="0"/>
                <a:ea typeface="楷体" panose="02010609060101010101" pitchFamily="49" charset="-122"/>
                <a:cs typeface="Times New Roman" panose="02020603050405020304" pitchFamily="18" charset="0"/>
              </a:rPr>
              <a:t>的链式存储结构</a:t>
            </a:r>
          </a:p>
        </p:txBody>
      </p:sp>
    </p:spTree>
    <p:extLst>
      <p:ext uri="{BB962C8B-B14F-4D97-AF65-F5344CB8AC3E}">
        <p14:creationId xmlns:p14="http://schemas.microsoft.com/office/powerpoint/2010/main" val="411901390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259632" y="692696"/>
            <a:ext cx="6840760" cy="5616624"/>
          </a:xfrm>
        </p:spPr>
        <p:txBody>
          <a:bodyPr>
            <a:normAutofit fontScale="62500" lnSpcReduction="20000"/>
          </a:bodyPr>
          <a:lstStyle/>
          <a:p>
            <a:pPr>
              <a:spcBef>
                <a:spcPts val="0"/>
              </a:spcBef>
            </a:pPr>
            <a:r>
              <a:rPr lang="zh-CN" altLang="zh-CN" sz="3200" dirty="0"/>
              <a:t>算法</a:t>
            </a:r>
            <a:r>
              <a:rPr lang="en-US" altLang="zh-CN" sz="3200" dirty="0"/>
              <a:t>2.17</a:t>
            </a:r>
            <a:r>
              <a:rPr lang="zh-CN" altLang="zh-CN" sz="3200" dirty="0"/>
              <a:t>：</a:t>
            </a:r>
            <a:r>
              <a:rPr lang="zh-CN" altLang="zh-CN" sz="3200" dirty="0">
                <a:solidFill>
                  <a:srgbClr val="FF0000"/>
                </a:solidFill>
              </a:rPr>
              <a:t>多项式</a:t>
            </a:r>
            <a:r>
              <a:rPr lang="en-US" altLang="zh-CN" sz="3200" dirty="0">
                <a:solidFill>
                  <a:srgbClr val="FF0000"/>
                </a:solidFill>
              </a:rPr>
              <a:t>P(x)</a:t>
            </a:r>
            <a:r>
              <a:rPr lang="zh-CN" altLang="zh-CN" sz="3200" dirty="0">
                <a:solidFill>
                  <a:srgbClr val="FF0000"/>
                </a:solidFill>
              </a:rPr>
              <a:t>用线性链表</a:t>
            </a:r>
          </a:p>
          <a:p>
            <a:pPr>
              <a:spcBef>
                <a:spcPts val="0"/>
              </a:spcBef>
            </a:pPr>
            <a:r>
              <a:rPr lang="en-US" altLang="zh-CN" sz="3200" b="0" dirty="0" err="1"/>
              <a:t>struct</a:t>
            </a:r>
            <a:r>
              <a:rPr lang="en-US" altLang="zh-CN" sz="3200" b="0" dirty="0"/>
              <a:t> term{  //</a:t>
            </a:r>
            <a:r>
              <a:rPr lang="zh-CN" altLang="en-US" sz="3200" b="0" dirty="0"/>
              <a:t>数据部分定义</a:t>
            </a:r>
            <a:endParaRPr lang="zh-CN" altLang="zh-CN" sz="3200" b="0" dirty="0"/>
          </a:p>
          <a:p>
            <a:pPr>
              <a:spcBef>
                <a:spcPts val="0"/>
              </a:spcBef>
            </a:pPr>
            <a:r>
              <a:rPr lang="en-US" altLang="zh-CN" sz="3200" b="0" dirty="0"/>
              <a:t>		double  </a:t>
            </a:r>
            <a:r>
              <a:rPr lang="en-US" altLang="zh-CN" sz="3200" b="0" dirty="0" err="1"/>
              <a:t>coef</a:t>
            </a:r>
            <a:r>
              <a:rPr lang="en-US" altLang="zh-CN" sz="3200" b="0" dirty="0"/>
              <a:t>;</a:t>
            </a:r>
            <a:endParaRPr lang="zh-CN" altLang="zh-CN" sz="3200" b="0" dirty="0"/>
          </a:p>
          <a:p>
            <a:pPr>
              <a:spcBef>
                <a:spcPts val="0"/>
              </a:spcBef>
            </a:pPr>
            <a:r>
              <a:rPr lang="en-US" altLang="zh-CN" sz="3200" b="0" dirty="0"/>
              <a:t>		</a:t>
            </a:r>
            <a:r>
              <a:rPr lang="en-US" altLang="zh-CN" sz="3200" b="0" dirty="0" err="1"/>
              <a:t>int</a:t>
            </a:r>
            <a:r>
              <a:rPr lang="en-US" altLang="zh-CN" sz="3200" b="0" dirty="0"/>
              <a:t>  </a:t>
            </a:r>
            <a:r>
              <a:rPr lang="en-US" altLang="zh-CN" sz="3200" b="0" dirty="0" err="1"/>
              <a:t>exp</a:t>
            </a:r>
            <a:r>
              <a:rPr lang="en-US" altLang="zh-CN" sz="3200" b="0" dirty="0"/>
              <a:t>;</a:t>
            </a:r>
            <a:endParaRPr lang="zh-CN" altLang="zh-CN" sz="3200" b="0" dirty="0"/>
          </a:p>
          <a:p>
            <a:pPr>
              <a:spcBef>
                <a:spcPts val="0"/>
              </a:spcBef>
            </a:pPr>
            <a:r>
              <a:rPr lang="en-US" altLang="zh-CN" sz="3200" b="0" dirty="0"/>
              <a:t>};</a:t>
            </a:r>
            <a:endParaRPr lang="zh-CN" altLang="zh-CN" sz="3200" b="0" dirty="0"/>
          </a:p>
          <a:p>
            <a:pPr>
              <a:spcBef>
                <a:spcPts val="0"/>
              </a:spcBef>
            </a:pPr>
            <a:r>
              <a:rPr lang="en-US" altLang="zh-CN" sz="3200" b="0" dirty="0" err="1"/>
              <a:t>struct</a:t>
            </a:r>
            <a:r>
              <a:rPr lang="en-US" altLang="zh-CN" sz="3200" b="0" dirty="0"/>
              <a:t> </a:t>
            </a:r>
            <a:r>
              <a:rPr lang="en-US" altLang="zh-CN" sz="3200" b="0" dirty="0" err="1"/>
              <a:t>PNode</a:t>
            </a:r>
            <a:r>
              <a:rPr lang="en-US" altLang="zh-CN" sz="3200" b="0" dirty="0"/>
              <a:t>{    // </a:t>
            </a:r>
            <a:r>
              <a:rPr lang="zh-CN" altLang="en-US" sz="3200" b="0" dirty="0"/>
              <a:t>链表结构定义</a:t>
            </a:r>
            <a:endParaRPr lang="zh-CN" altLang="zh-CN" sz="3200" b="0" dirty="0"/>
          </a:p>
          <a:p>
            <a:pPr>
              <a:spcBef>
                <a:spcPts val="0"/>
              </a:spcBef>
            </a:pPr>
            <a:r>
              <a:rPr lang="en-US" altLang="zh-CN" sz="3200" b="0" dirty="0"/>
              <a:t>		term data;</a:t>
            </a:r>
            <a:endParaRPr lang="zh-CN" altLang="zh-CN" sz="3200" b="0" dirty="0"/>
          </a:p>
          <a:p>
            <a:pPr>
              <a:spcBef>
                <a:spcPts val="0"/>
              </a:spcBef>
            </a:pPr>
            <a:r>
              <a:rPr lang="en-US" altLang="zh-CN" sz="3200" b="0" dirty="0"/>
              <a:t>		</a:t>
            </a:r>
            <a:r>
              <a:rPr lang="en-US" altLang="zh-CN" sz="3200" b="0" dirty="0" err="1"/>
              <a:t>PNode</a:t>
            </a:r>
            <a:r>
              <a:rPr lang="en-US" altLang="zh-CN" sz="3200" b="0" dirty="0"/>
              <a:t> *next;</a:t>
            </a:r>
            <a:endParaRPr lang="zh-CN" altLang="zh-CN" sz="3200" b="0" dirty="0"/>
          </a:p>
          <a:p>
            <a:pPr>
              <a:spcBef>
                <a:spcPts val="0"/>
              </a:spcBef>
            </a:pPr>
            <a:r>
              <a:rPr lang="en-US" altLang="zh-CN" sz="3200" b="0" dirty="0"/>
              <a:t>};</a:t>
            </a:r>
            <a:endParaRPr lang="zh-CN" altLang="zh-CN" sz="3200" b="0" dirty="0"/>
          </a:p>
          <a:p>
            <a:pPr>
              <a:spcBef>
                <a:spcPts val="0"/>
              </a:spcBef>
            </a:pPr>
            <a:r>
              <a:rPr lang="en-US" altLang="zh-CN" sz="3200" b="0" dirty="0"/>
              <a:t>class  Poly{</a:t>
            </a:r>
            <a:endParaRPr lang="zh-CN" altLang="zh-CN" sz="3200" b="0" dirty="0"/>
          </a:p>
          <a:p>
            <a:pPr>
              <a:spcBef>
                <a:spcPts val="0"/>
              </a:spcBef>
            </a:pPr>
            <a:r>
              <a:rPr lang="en-US" altLang="zh-CN" sz="3200" b="0" dirty="0" err="1"/>
              <a:t>PNode</a:t>
            </a:r>
            <a:r>
              <a:rPr lang="en-US" altLang="zh-CN" sz="3200" b="0" dirty="0"/>
              <a:t> * </a:t>
            </a:r>
            <a:r>
              <a:rPr lang="en-US" altLang="zh-CN" sz="3200" b="0" dirty="0" err="1"/>
              <a:t>phead</a:t>
            </a:r>
            <a:r>
              <a:rPr lang="en-US" altLang="zh-CN" sz="3200" b="0" dirty="0"/>
              <a:t>;</a:t>
            </a:r>
            <a:endParaRPr lang="zh-CN" altLang="zh-CN" sz="3200" b="0" dirty="0"/>
          </a:p>
          <a:p>
            <a:pPr>
              <a:spcBef>
                <a:spcPts val="0"/>
              </a:spcBef>
            </a:pPr>
            <a:r>
              <a:rPr lang="en-US" altLang="zh-CN" sz="3200" b="0" dirty="0"/>
              <a:t>public:</a:t>
            </a:r>
            <a:endParaRPr lang="zh-CN" altLang="zh-CN" sz="3200" b="0" dirty="0"/>
          </a:p>
          <a:p>
            <a:pPr>
              <a:spcBef>
                <a:spcPts val="0"/>
              </a:spcBef>
            </a:pPr>
            <a:r>
              <a:rPr lang="en-US" altLang="zh-CN" sz="3200" b="0" dirty="0"/>
              <a:t>		Poly(){</a:t>
            </a:r>
            <a:r>
              <a:rPr lang="en-US" altLang="zh-CN" sz="3200" b="0" dirty="0" err="1"/>
              <a:t>phead</a:t>
            </a:r>
            <a:r>
              <a:rPr lang="en-US" altLang="zh-CN" sz="3200" b="0" dirty="0"/>
              <a:t> = new </a:t>
            </a:r>
            <a:r>
              <a:rPr lang="en-US" altLang="zh-CN" sz="3200" b="0" dirty="0" err="1"/>
              <a:t>PNode</a:t>
            </a:r>
            <a:r>
              <a:rPr lang="en-US" altLang="zh-CN" sz="3200" b="0" dirty="0"/>
              <a:t>;  </a:t>
            </a:r>
            <a:r>
              <a:rPr lang="en-US" altLang="zh-CN" sz="3200" b="0" dirty="0" err="1"/>
              <a:t>phead</a:t>
            </a:r>
            <a:r>
              <a:rPr lang="en-US" altLang="zh-CN" sz="3200" b="0" dirty="0"/>
              <a:t>-&gt;next=NULL;}</a:t>
            </a:r>
            <a:endParaRPr lang="zh-CN" altLang="zh-CN" sz="3200" b="0" dirty="0"/>
          </a:p>
          <a:p>
            <a:pPr>
              <a:spcBef>
                <a:spcPts val="0"/>
              </a:spcBef>
            </a:pPr>
            <a:r>
              <a:rPr lang="en-US" altLang="zh-CN" sz="3200" b="0" dirty="0"/>
              <a:t>		~Poly(){delete </a:t>
            </a:r>
            <a:r>
              <a:rPr lang="en-US" altLang="zh-CN" sz="3200" b="0" dirty="0" err="1"/>
              <a:t>phead</a:t>
            </a:r>
            <a:r>
              <a:rPr lang="en-US" altLang="zh-CN" sz="3200" b="0" dirty="0"/>
              <a:t>;}</a:t>
            </a:r>
            <a:endParaRPr lang="zh-CN" altLang="zh-CN" sz="3200" b="0" dirty="0"/>
          </a:p>
          <a:p>
            <a:pPr>
              <a:spcBef>
                <a:spcPts val="0"/>
              </a:spcBef>
            </a:pPr>
            <a:r>
              <a:rPr lang="en-US" altLang="zh-CN" sz="3200" b="0" dirty="0"/>
              <a:t>		void clear(){</a:t>
            </a:r>
            <a:r>
              <a:rPr lang="en-US" altLang="zh-CN" sz="3200" b="0" dirty="0" err="1"/>
              <a:t>phead</a:t>
            </a:r>
            <a:r>
              <a:rPr lang="en-US" altLang="zh-CN" sz="3200" b="0" dirty="0"/>
              <a:t>-&gt;next =NULL;}</a:t>
            </a:r>
            <a:endParaRPr lang="zh-CN" altLang="zh-CN" sz="3200" b="0" dirty="0"/>
          </a:p>
          <a:p>
            <a:pPr>
              <a:spcBef>
                <a:spcPts val="0"/>
              </a:spcBef>
            </a:pPr>
            <a:r>
              <a:rPr lang="en-US" altLang="zh-CN" sz="3200" b="0" dirty="0"/>
              <a:t>		Poly </a:t>
            </a:r>
            <a:r>
              <a:rPr lang="en-US" altLang="zh-CN" sz="3200" b="0" dirty="0" err="1"/>
              <a:t>PolyAdd</a:t>
            </a:r>
            <a:r>
              <a:rPr lang="en-US" altLang="zh-CN" sz="3200" b="0" dirty="0"/>
              <a:t>(Poly </a:t>
            </a:r>
            <a:r>
              <a:rPr lang="en-US" altLang="zh-CN" sz="3200" b="0" dirty="0" err="1"/>
              <a:t>Pb</a:t>
            </a:r>
            <a:r>
              <a:rPr lang="en-US" altLang="zh-CN" sz="3200" b="0" dirty="0"/>
              <a:t>);</a:t>
            </a:r>
            <a:endParaRPr lang="zh-CN" altLang="zh-CN" sz="3200" b="0" dirty="0"/>
          </a:p>
          <a:p>
            <a:pPr>
              <a:spcBef>
                <a:spcPts val="0"/>
              </a:spcBef>
            </a:pPr>
            <a:r>
              <a:rPr lang="en-US" altLang="zh-CN" sz="3200" b="0" dirty="0"/>
              <a:t>		void print();</a:t>
            </a:r>
            <a:endParaRPr lang="zh-CN" altLang="zh-CN" sz="3200" b="0" dirty="0"/>
          </a:p>
          <a:p>
            <a:pPr>
              <a:spcBef>
                <a:spcPts val="0"/>
              </a:spcBef>
            </a:pPr>
            <a:r>
              <a:rPr lang="en-US" altLang="zh-CN" sz="3200" b="0" dirty="0"/>
              <a:t>};</a:t>
            </a:r>
            <a:endParaRPr lang="zh-CN" altLang="zh-CN" sz="3200" b="0" dirty="0"/>
          </a:p>
        </p:txBody>
      </p:sp>
    </p:spTree>
    <p:extLst>
      <p:ext uri="{BB962C8B-B14F-4D97-AF65-F5344CB8AC3E}">
        <p14:creationId xmlns:p14="http://schemas.microsoft.com/office/powerpoint/2010/main" val="269183848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2.4.2 </a:t>
            </a:r>
            <a:r>
              <a:rPr lang="zh-CN" altLang="zh-CN" b="1" dirty="0">
                <a:solidFill>
                  <a:srgbClr val="FF0000"/>
                </a:solidFill>
              </a:rPr>
              <a:t>商品链更新</a:t>
            </a:r>
            <a:endParaRPr lang="zh-CN" altLang="en-US" dirty="0">
              <a:solidFill>
                <a:srgbClr val="FF0000"/>
              </a:solidFill>
            </a:endParaRPr>
          </a:p>
        </p:txBody>
      </p:sp>
      <p:sp>
        <p:nvSpPr>
          <p:cNvPr id="3" name="内容占位符 2"/>
          <p:cNvSpPr>
            <a:spLocks noGrp="1"/>
          </p:cNvSpPr>
          <p:nvPr>
            <p:ph idx="1"/>
          </p:nvPr>
        </p:nvSpPr>
        <p:spPr>
          <a:xfrm>
            <a:off x="827584" y="1628800"/>
            <a:ext cx="7704856" cy="4536504"/>
          </a:xfrm>
        </p:spPr>
        <p:txBody>
          <a:bodyPr>
            <a:normAutofit lnSpcReduction="10000"/>
          </a:bodyPr>
          <a:lstStyle/>
          <a:p>
            <a:r>
              <a:rPr lang="en-US" altLang="zh-CN" b="0" dirty="0"/>
              <a:t>	</a:t>
            </a:r>
            <a:r>
              <a:rPr lang="zh-CN" altLang="zh-CN" b="0" dirty="0"/>
              <a:t>某仓库中各商品的库存数量按商品编号从小到大存储在一个带头结点的单链表中。链表的结点由商品编号</a:t>
            </a:r>
            <a:r>
              <a:rPr lang="en-US" altLang="zh-CN" b="0" dirty="0"/>
              <a:t>(No)</a:t>
            </a:r>
            <a:r>
              <a:rPr lang="zh-CN" altLang="zh-CN" b="0" dirty="0"/>
              <a:t>、数量</a:t>
            </a:r>
            <a:r>
              <a:rPr lang="en-US" altLang="zh-CN" b="0" dirty="0"/>
              <a:t>(</a:t>
            </a:r>
            <a:r>
              <a:rPr lang="en-US" altLang="zh-CN" b="0" dirty="0" err="1"/>
              <a:t>Num</a:t>
            </a:r>
            <a:r>
              <a:rPr lang="en-US" altLang="zh-CN" b="0" dirty="0"/>
              <a:t>)</a:t>
            </a:r>
            <a:r>
              <a:rPr lang="zh-CN" altLang="zh-CN" b="0" dirty="0"/>
              <a:t>和链指针</a:t>
            </a:r>
            <a:r>
              <a:rPr lang="en-US" altLang="zh-CN" b="0" dirty="0"/>
              <a:t>(next)</a:t>
            </a:r>
            <a:r>
              <a:rPr lang="zh-CN" altLang="zh-CN" b="0" dirty="0"/>
              <a:t>三个域组成如下</a:t>
            </a:r>
            <a:r>
              <a:rPr lang="zh-CN" altLang="zh-CN" dirty="0"/>
              <a:t>：</a:t>
            </a:r>
            <a:endParaRPr lang="en-US" altLang="zh-CN" dirty="0"/>
          </a:p>
          <a:p>
            <a:endParaRPr lang="en-US" altLang="zh-CN" dirty="0"/>
          </a:p>
          <a:p>
            <a:endParaRPr lang="en-US" altLang="zh-CN" dirty="0"/>
          </a:p>
          <a:p>
            <a:r>
              <a:rPr lang="en-US" altLang="zh-CN" b="0" dirty="0"/>
              <a:t>	</a:t>
            </a:r>
            <a:r>
              <a:rPr lang="zh-CN" altLang="zh-CN" b="0" dirty="0"/>
              <a:t>现新进一批商品需要入库。在这些入库商品中，有部分商品是库存中已有商品，其</a:t>
            </a:r>
            <a:r>
              <a:rPr lang="zh-CN" altLang="en-US" b="0" dirty="0"/>
              <a:t>余</a:t>
            </a:r>
            <a:r>
              <a:rPr lang="zh-CN" altLang="zh-CN" b="0" dirty="0"/>
              <a:t>商品是新增商品。若各入库商品的数量也是按商品编号从小到</a:t>
            </a:r>
            <a:r>
              <a:rPr lang="zh-CN" altLang="en-US" b="0" dirty="0"/>
              <a:t>大</a:t>
            </a:r>
            <a:r>
              <a:rPr lang="zh-CN" altLang="zh-CN" b="0" dirty="0"/>
              <a:t>存储在一个带头结点的单链表中，根据入库商品的数量更新各库存商品的数量。</a:t>
            </a:r>
          </a:p>
          <a:p>
            <a:endParaRPr lang="zh-CN" altLang="en-US" dirty="0"/>
          </a:p>
        </p:txBody>
      </p:sp>
      <p:pic>
        <p:nvPicPr>
          <p:cNvPr id="3277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56276" y="3079385"/>
            <a:ext cx="3305175" cy="781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3610611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1196752"/>
            <a:ext cx="7520940" cy="4536504"/>
          </a:xfrm>
        </p:spPr>
        <p:txBody>
          <a:bodyPr/>
          <a:lstStyle/>
          <a:p>
            <a:r>
              <a:rPr lang="zh-CN" altLang="zh-CN" b="0" dirty="0"/>
              <a:t>已有商品用单链表</a:t>
            </a:r>
            <a:r>
              <a:rPr lang="en-US" altLang="zh-CN" b="0" dirty="0"/>
              <a:t>L</a:t>
            </a:r>
            <a:r>
              <a:rPr lang="zh-CN" altLang="zh-CN" b="0" dirty="0"/>
              <a:t>表示，其结构如图</a:t>
            </a:r>
            <a:r>
              <a:rPr lang="en-US" altLang="zh-CN" b="0" dirty="0"/>
              <a:t>2-23</a:t>
            </a:r>
            <a:r>
              <a:rPr lang="zh-CN" altLang="zh-CN" b="0" dirty="0"/>
              <a:t>所示：</a:t>
            </a:r>
            <a:endParaRPr lang="en-US" altLang="zh-CN" b="0" dirty="0"/>
          </a:p>
          <a:p>
            <a:endParaRPr lang="en-US" altLang="zh-CN" b="0" dirty="0"/>
          </a:p>
          <a:p>
            <a:endParaRPr lang="en-US" altLang="zh-CN" b="0" dirty="0"/>
          </a:p>
          <a:p>
            <a:endParaRPr lang="en-US" altLang="zh-CN" b="0" dirty="0"/>
          </a:p>
          <a:p>
            <a:r>
              <a:rPr lang="zh-CN" altLang="zh-CN" b="0" dirty="0"/>
              <a:t>新进商品用单链表</a:t>
            </a:r>
            <a:r>
              <a:rPr lang="en-US" altLang="zh-CN" b="0" dirty="0"/>
              <a:t>Lin</a:t>
            </a:r>
            <a:r>
              <a:rPr lang="zh-CN" altLang="zh-CN" b="0" dirty="0"/>
              <a:t>表示，其结构如图</a:t>
            </a:r>
            <a:r>
              <a:rPr lang="en-US" altLang="zh-CN" b="0" dirty="0"/>
              <a:t>2-24</a:t>
            </a:r>
            <a:r>
              <a:rPr lang="zh-CN" altLang="zh-CN" b="0" dirty="0"/>
              <a:t>所示：</a:t>
            </a:r>
          </a:p>
          <a:p>
            <a:endParaRPr lang="zh-CN" altLang="zh-CN" b="0" dirty="0"/>
          </a:p>
          <a:p>
            <a:endParaRPr lang="zh-CN" altLang="en-US" dirty="0"/>
          </a:p>
        </p:txBody>
      </p:sp>
      <p:pic>
        <p:nvPicPr>
          <p:cNvPr id="2253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3528" y="2204864"/>
            <a:ext cx="8702675" cy="7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53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4950" y="4293096"/>
            <a:ext cx="8672513"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474737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340768"/>
            <a:ext cx="7992888" cy="3579849"/>
          </a:xfrm>
        </p:spPr>
        <p:txBody>
          <a:bodyPr/>
          <a:lstStyle/>
          <a:p>
            <a:r>
              <a:rPr lang="zh-CN" altLang="zh-CN" b="0" dirty="0"/>
              <a:t>则入库</a:t>
            </a:r>
            <a:r>
              <a:rPr lang="zh-CN" altLang="zh-CN" b="0"/>
              <a:t>后商品</a:t>
            </a:r>
            <a:r>
              <a:rPr lang="zh-CN" altLang="en-US" b="0"/>
              <a:t>用</a:t>
            </a:r>
            <a:r>
              <a:rPr lang="zh-CN" altLang="zh-CN" b="0"/>
              <a:t>更新</a:t>
            </a:r>
            <a:r>
              <a:rPr lang="zh-CN" altLang="zh-CN" b="0" dirty="0"/>
              <a:t>链表</a:t>
            </a:r>
            <a:r>
              <a:rPr lang="en-US" altLang="zh-CN" b="0" dirty="0" err="1"/>
              <a:t>Lnew</a:t>
            </a:r>
            <a:r>
              <a:rPr lang="zh-CN" altLang="zh-CN" b="0" dirty="0"/>
              <a:t>表示，其结构如图</a:t>
            </a:r>
            <a:r>
              <a:rPr lang="en-US" altLang="zh-CN" b="0" dirty="0"/>
              <a:t>2-25</a:t>
            </a:r>
            <a:r>
              <a:rPr lang="zh-CN" altLang="zh-CN" b="0" dirty="0"/>
              <a:t>所示：</a:t>
            </a:r>
          </a:p>
          <a:p>
            <a:endParaRPr lang="zh-CN" altLang="en-US" dirty="0"/>
          </a:p>
        </p:txBody>
      </p:sp>
      <p:pic>
        <p:nvPicPr>
          <p:cNvPr id="2355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300" y="2457450"/>
            <a:ext cx="8915400" cy="194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a:extLst>
              <a:ext uri="{FF2B5EF4-FFF2-40B4-BE49-F238E27FC236}">
                <a16:creationId xmlns:a16="http://schemas.microsoft.com/office/drawing/2014/main" id="{B14B6EEE-FF6F-4669-87CA-C562F273DCC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41675" y="620688"/>
            <a:ext cx="6834781"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2319766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43608" y="836712"/>
            <a:ext cx="7560840" cy="5472608"/>
          </a:xfrm>
        </p:spPr>
        <p:txBody>
          <a:bodyPr>
            <a:noAutofit/>
          </a:bodyPr>
          <a:lstStyle/>
          <a:p>
            <a:pPr>
              <a:lnSpc>
                <a:spcPct val="100000"/>
              </a:lnSpc>
              <a:spcBef>
                <a:spcPts val="0"/>
              </a:spcBef>
            </a:pPr>
            <a:r>
              <a:rPr lang="zh-CN" altLang="zh-CN" sz="1800" dirty="0"/>
              <a:t>算法</a:t>
            </a:r>
            <a:r>
              <a:rPr lang="en-US" altLang="zh-CN" sz="1800" dirty="0"/>
              <a:t>2.18</a:t>
            </a:r>
            <a:r>
              <a:rPr lang="zh-CN" altLang="zh-CN" sz="1800" dirty="0"/>
              <a:t>：</a:t>
            </a:r>
            <a:r>
              <a:rPr lang="zh-CN" altLang="zh-CN" sz="1800" dirty="0">
                <a:solidFill>
                  <a:srgbClr val="FF0000"/>
                </a:solidFill>
              </a:rPr>
              <a:t>商品更新链表</a:t>
            </a:r>
          </a:p>
          <a:p>
            <a:pPr>
              <a:lnSpc>
                <a:spcPct val="100000"/>
              </a:lnSpc>
              <a:spcBef>
                <a:spcPts val="0"/>
              </a:spcBef>
            </a:pPr>
            <a:r>
              <a:rPr lang="en-US" altLang="zh-CN" sz="1800" b="0" dirty="0" err="1"/>
              <a:t>typedef</a:t>
            </a:r>
            <a:r>
              <a:rPr lang="en-US" altLang="zh-CN" sz="1800" b="0" dirty="0"/>
              <a:t> </a:t>
            </a:r>
            <a:r>
              <a:rPr lang="en-US" altLang="zh-CN" sz="1800" b="0" dirty="0" err="1"/>
              <a:t>struct</a:t>
            </a:r>
            <a:r>
              <a:rPr lang="en-US" altLang="zh-CN" sz="1800" b="0" dirty="0"/>
              <a:t> Node {</a:t>
            </a:r>
            <a:endParaRPr lang="zh-CN" altLang="zh-CN" sz="1800" b="0" dirty="0"/>
          </a:p>
          <a:p>
            <a:pPr>
              <a:lnSpc>
                <a:spcPct val="100000"/>
              </a:lnSpc>
              <a:spcBef>
                <a:spcPts val="0"/>
              </a:spcBef>
            </a:pPr>
            <a:r>
              <a:rPr lang="en-US" altLang="zh-CN" sz="1800" b="0" dirty="0"/>
              <a:t>	</a:t>
            </a:r>
            <a:r>
              <a:rPr lang="en-US" altLang="zh-CN" sz="1800" b="0" dirty="0" err="1"/>
              <a:t>int</a:t>
            </a:r>
            <a:r>
              <a:rPr lang="en-US" altLang="zh-CN" sz="1800" b="0" dirty="0"/>
              <a:t> No, </a:t>
            </a:r>
            <a:r>
              <a:rPr lang="en-US" altLang="zh-CN" sz="1800" b="0" dirty="0" err="1"/>
              <a:t>Num</a:t>
            </a:r>
            <a:r>
              <a:rPr lang="en-US" altLang="zh-CN" sz="1800" b="0" dirty="0"/>
              <a:t>;</a:t>
            </a:r>
            <a:endParaRPr lang="zh-CN" altLang="zh-CN" sz="1800" b="0" dirty="0"/>
          </a:p>
          <a:p>
            <a:pPr>
              <a:lnSpc>
                <a:spcPct val="100000"/>
              </a:lnSpc>
              <a:spcBef>
                <a:spcPts val="0"/>
              </a:spcBef>
            </a:pPr>
            <a:r>
              <a:rPr lang="en-US" altLang="zh-CN" sz="1800" b="0" dirty="0"/>
              <a:t>	</a:t>
            </a:r>
            <a:r>
              <a:rPr lang="en-US" altLang="zh-CN" sz="1800" b="0" dirty="0" err="1"/>
              <a:t>struct</a:t>
            </a:r>
            <a:r>
              <a:rPr lang="en-US" altLang="zh-CN" sz="1800" b="0" dirty="0"/>
              <a:t> Node *next;</a:t>
            </a:r>
            <a:endParaRPr lang="zh-CN" altLang="zh-CN" sz="1800" b="0" dirty="0"/>
          </a:p>
          <a:p>
            <a:pPr>
              <a:lnSpc>
                <a:spcPct val="100000"/>
              </a:lnSpc>
              <a:spcBef>
                <a:spcPts val="0"/>
              </a:spcBef>
            </a:pPr>
            <a:r>
              <a:rPr lang="en-US" altLang="zh-CN" sz="1800" b="0" dirty="0"/>
              <a:t>}  Node, *</a:t>
            </a:r>
            <a:r>
              <a:rPr lang="en-US" altLang="zh-CN" sz="1800" b="0" dirty="0" err="1"/>
              <a:t>Llist</a:t>
            </a:r>
            <a:r>
              <a:rPr lang="en-US" altLang="zh-CN" sz="1800" b="0" dirty="0"/>
              <a:t>;</a:t>
            </a:r>
            <a:endParaRPr lang="zh-CN" altLang="zh-CN" sz="1800" b="0" dirty="0"/>
          </a:p>
          <a:p>
            <a:pPr>
              <a:lnSpc>
                <a:spcPct val="100000"/>
              </a:lnSpc>
              <a:spcBef>
                <a:spcPts val="0"/>
              </a:spcBef>
            </a:pPr>
            <a:r>
              <a:rPr lang="en-US" altLang="zh-CN" sz="1800" b="0" dirty="0"/>
              <a:t>void update(</a:t>
            </a:r>
            <a:r>
              <a:rPr lang="en-US" altLang="zh-CN" sz="1800" b="0" dirty="0" err="1"/>
              <a:t>Llist</a:t>
            </a:r>
            <a:r>
              <a:rPr lang="en-US" altLang="zh-CN" sz="1800" b="0" dirty="0"/>
              <a:t> L, </a:t>
            </a:r>
            <a:r>
              <a:rPr lang="en-US" altLang="zh-CN" sz="1800" b="0" dirty="0" err="1"/>
              <a:t>Llist</a:t>
            </a:r>
            <a:r>
              <a:rPr lang="en-US" altLang="zh-CN" sz="1800" b="0" dirty="0"/>
              <a:t> Lin ){ //L</a:t>
            </a:r>
            <a:r>
              <a:rPr lang="zh-CN" altLang="zh-CN" sz="1800" b="0" dirty="0"/>
              <a:t>为库存链表，</a:t>
            </a:r>
            <a:r>
              <a:rPr lang="en-US" altLang="zh-CN" sz="1800" b="0" dirty="0"/>
              <a:t>Lin</a:t>
            </a:r>
            <a:r>
              <a:rPr lang="zh-CN" altLang="zh-CN" sz="1800" b="0" dirty="0"/>
              <a:t>为入库链表</a:t>
            </a:r>
          </a:p>
          <a:p>
            <a:pPr>
              <a:lnSpc>
                <a:spcPct val="100000"/>
              </a:lnSpc>
              <a:spcBef>
                <a:spcPts val="0"/>
              </a:spcBef>
            </a:pPr>
            <a:r>
              <a:rPr lang="en-US" altLang="zh-CN" sz="1800" b="0" dirty="0"/>
              <a:t>	</a:t>
            </a:r>
            <a:r>
              <a:rPr lang="en-US" altLang="zh-CN" sz="1800" b="0" dirty="0" err="1"/>
              <a:t>Llist</a:t>
            </a:r>
            <a:r>
              <a:rPr lang="en-US" altLang="zh-CN" sz="1800" b="0" dirty="0"/>
              <a:t>  </a:t>
            </a:r>
            <a:r>
              <a:rPr lang="en-US" altLang="zh-CN" sz="1800" b="0" dirty="0" err="1"/>
              <a:t>p,q</a:t>
            </a:r>
            <a:r>
              <a:rPr lang="en-US" altLang="zh-CN" sz="1800" b="0" dirty="0"/>
              <a:t>;</a:t>
            </a:r>
            <a:endParaRPr lang="zh-CN" altLang="zh-CN" sz="1800" b="0" dirty="0"/>
          </a:p>
          <a:p>
            <a:pPr>
              <a:lnSpc>
                <a:spcPct val="100000"/>
              </a:lnSpc>
              <a:spcBef>
                <a:spcPts val="0"/>
              </a:spcBef>
            </a:pPr>
            <a:r>
              <a:rPr lang="en-US" altLang="zh-CN" sz="1800" b="0" dirty="0"/>
              <a:t>	p=L; </a:t>
            </a:r>
            <a:endParaRPr lang="zh-CN" altLang="zh-CN" sz="1800" b="0" dirty="0"/>
          </a:p>
          <a:p>
            <a:pPr>
              <a:lnSpc>
                <a:spcPct val="100000"/>
              </a:lnSpc>
              <a:spcBef>
                <a:spcPts val="0"/>
              </a:spcBef>
            </a:pPr>
            <a:r>
              <a:rPr lang="en-US" altLang="zh-CN" sz="1800" b="0" dirty="0"/>
              <a:t>	while (Lin-&gt;next!=NULL ){</a:t>
            </a:r>
            <a:endParaRPr lang="zh-CN" altLang="zh-CN" sz="1800" b="0" dirty="0"/>
          </a:p>
          <a:p>
            <a:pPr>
              <a:lnSpc>
                <a:spcPct val="100000"/>
              </a:lnSpc>
              <a:spcBef>
                <a:spcPts val="0"/>
              </a:spcBef>
            </a:pPr>
            <a:r>
              <a:rPr lang="en-US" altLang="zh-CN" sz="1800" b="0" dirty="0"/>
              <a:t>		q=Lin-&gt;next; </a:t>
            </a:r>
            <a:endParaRPr lang="zh-CN" altLang="zh-CN" sz="1800" b="0" dirty="0"/>
          </a:p>
          <a:p>
            <a:pPr>
              <a:lnSpc>
                <a:spcPct val="100000"/>
              </a:lnSpc>
              <a:spcBef>
                <a:spcPts val="0"/>
              </a:spcBef>
            </a:pPr>
            <a:r>
              <a:rPr lang="en-US" altLang="zh-CN" sz="1800" b="0" dirty="0"/>
              <a:t>		while (p-&gt;next!=NULL &amp;&amp; p-&gt;next-&gt;NO&lt;q-&gt;NO) p=p-&gt;next;</a:t>
            </a:r>
            <a:endParaRPr lang="zh-CN" altLang="zh-CN" sz="1800" b="0" dirty="0"/>
          </a:p>
          <a:p>
            <a:pPr>
              <a:lnSpc>
                <a:spcPct val="100000"/>
              </a:lnSpc>
              <a:spcBef>
                <a:spcPts val="0"/>
              </a:spcBef>
            </a:pPr>
            <a:r>
              <a:rPr lang="en-US" altLang="zh-CN" sz="1800" b="0" dirty="0"/>
              <a:t>		if (p-&gt;next==NULL) { p-&gt;next=q; free(Lin); return; }</a:t>
            </a:r>
            <a:endParaRPr lang="zh-CN" altLang="zh-CN" sz="1800" b="0" dirty="0"/>
          </a:p>
          <a:p>
            <a:pPr>
              <a:lnSpc>
                <a:spcPct val="100000"/>
              </a:lnSpc>
              <a:spcBef>
                <a:spcPts val="0"/>
              </a:spcBef>
            </a:pPr>
            <a:r>
              <a:rPr lang="en-US" altLang="zh-CN" sz="1800" b="0" dirty="0"/>
              <a:t>     		if (p-&gt;next-&gt;NO==q-&gt;NO) { </a:t>
            </a:r>
          </a:p>
          <a:p>
            <a:pPr>
              <a:lnSpc>
                <a:spcPct val="100000"/>
              </a:lnSpc>
              <a:spcBef>
                <a:spcPts val="0"/>
              </a:spcBef>
            </a:pPr>
            <a:r>
              <a:rPr lang="en-US" altLang="zh-CN" sz="1800" b="0" dirty="0"/>
              <a:t>                     p-&gt;next-&gt;Num+=q-&gt;Num;  Lin-&gt;next=q-&gt;next; free(q); }  </a:t>
            </a:r>
            <a:endParaRPr lang="zh-CN" altLang="zh-CN" sz="1800" b="0" dirty="0"/>
          </a:p>
          <a:p>
            <a:pPr>
              <a:lnSpc>
                <a:spcPct val="100000"/>
              </a:lnSpc>
              <a:spcBef>
                <a:spcPts val="0"/>
              </a:spcBef>
            </a:pPr>
            <a:r>
              <a:rPr lang="en-US" altLang="zh-CN" sz="1800" b="0" dirty="0"/>
              <a:t>     		else {Lin-&gt;next=q-&gt;</a:t>
            </a:r>
            <a:r>
              <a:rPr lang="en-US" altLang="zh-CN" sz="1800" b="0"/>
              <a:t>next; q-</a:t>
            </a:r>
            <a:r>
              <a:rPr lang="en-US" altLang="zh-CN" sz="1800" b="0" dirty="0"/>
              <a:t>&gt;next=p-&gt;next; p-&gt;next=q; p=q;}</a:t>
            </a:r>
            <a:endParaRPr lang="zh-CN" altLang="zh-CN" sz="1800" b="0" dirty="0"/>
          </a:p>
          <a:p>
            <a:pPr>
              <a:lnSpc>
                <a:spcPct val="100000"/>
              </a:lnSpc>
              <a:spcBef>
                <a:spcPts val="0"/>
              </a:spcBef>
            </a:pPr>
            <a:r>
              <a:rPr lang="en-US" altLang="zh-CN" sz="1800" b="0" dirty="0"/>
              <a:t>	}</a:t>
            </a:r>
            <a:endParaRPr lang="zh-CN" altLang="zh-CN" sz="1800" b="0" dirty="0"/>
          </a:p>
          <a:p>
            <a:pPr>
              <a:lnSpc>
                <a:spcPct val="100000"/>
              </a:lnSpc>
              <a:spcBef>
                <a:spcPts val="0"/>
              </a:spcBef>
            </a:pPr>
            <a:r>
              <a:rPr lang="en-US" altLang="zh-CN" sz="1800" b="0" dirty="0"/>
              <a:t>	free(Lin);</a:t>
            </a:r>
            <a:endParaRPr lang="zh-CN" altLang="zh-CN" sz="1800" b="0" dirty="0"/>
          </a:p>
          <a:p>
            <a:pPr>
              <a:lnSpc>
                <a:spcPct val="100000"/>
              </a:lnSpc>
              <a:spcBef>
                <a:spcPts val="0"/>
              </a:spcBef>
            </a:pPr>
            <a:r>
              <a:rPr lang="en-US" altLang="zh-CN" sz="1800" b="0" dirty="0"/>
              <a:t>	return;</a:t>
            </a:r>
            <a:endParaRPr lang="zh-CN" altLang="zh-CN" sz="1800" b="0" dirty="0"/>
          </a:p>
          <a:p>
            <a:pPr>
              <a:lnSpc>
                <a:spcPct val="100000"/>
              </a:lnSpc>
              <a:spcBef>
                <a:spcPts val="0"/>
              </a:spcBef>
            </a:pPr>
            <a:r>
              <a:rPr lang="en-US" altLang="zh-CN" sz="1800" b="0" dirty="0"/>
              <a:t>}	//</a:t>
            </a:r>
            <a:r>
              <a:rPr lang="zh-CN" altLang="zh-CN" sz="1800" b="0" dirty="0"/>
              <a:t>结束</a:t>
            </a:r>
            <a:r>
              <a:rPr lang="en-US" altLang="zh-CN" sz="1800" b="0" dirty="0"/>
              <a:t>update()</a:t>
            </a:r>
            <a:endParaRPr lang="zh-CN" altLang="zh-CN" sz="1800" b="0" dirty="0"/>
          </a:p>
          <a:p>
            <a:pPr>
              <a:lnSpc>
                <a:spcPct val="100000"/>
              </a:lnSpc>
              <a:spcBef>
                <a:spcPts val="0"/>
              </a:spcBef>
            </a:pPr>
            <a:endParaRPr lang="zh-CN" altLang="en-US" sz="1800" b="0" dirty="0"/>
          </a:p>
        </p:txBody>
      </p:sp>
      <p:pic>
        <p:nvPicPr>
          <p:cNvPr id="4" name="Picture 2">
            <a:extLst>
              <a:ext uri="{FF2B5EF4-FFF2-40B4-BE49-F238E27FC236}">
                <a16:creationId xmlns:a16="http://schemas.microsoft.com/office/drawing/2014/main" id="{91B6940F-12AB-491B-ACB6-14FCF1C9711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31085" y="476672"/>
            <a:ext cx="5286234" cy="1152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43758534"/>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角度">
  <a:themeElements>
    <a:clrScheme name="角度">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角度">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角度">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blipFill rotWithShape="1">
          <a:blip xmlns:r="http://schemas.openxmlformats.org/officeDocument/2006/relationships" r:embed="rId1">
            <a:duotone>
              <a:schemeClr val="phClr">
                <a:tint val="90000"/>
                <a:shade val="85000"/>
              </a:schemeClr>
              <a:schemeClr val="phClr">
                <a:tint val="95000"/>
                <a:shade val="99000"/>
              </a:schemeClr>
            </a:duotone>
          </a:blip>
          <a:tile tx="0" ty="0" sx="100000" sy="100000" flip="none" algn="tl"/>
        </a:blipFill>
        <a:blipFill rotWithShape="1">
          <a:blip xmlns:r="http://schemas.openxmlformats.org/officeDocument/2006/relationships" r:embed="rId2">
            <a:duotone>
              <a:schemeClr val="phClr">
                <a:tint val="93000"/>
                <a:shade val="85000"/>
              </a:schemeClr>
              <a:schemeClr val="phClr">
                <a:tint val="96000"/>
                <a:shade val="99000"/>
              </a:schemeClr>
            </a:duotone>
          </a:blip>
          <a:tile tx="0" ty="0" sx="90000" sy="9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Angles</Template>
  <TotalTime>3015</TotalTime>
  <Words>10165</Words>
  <Application>Microsoft Office PowerPoint</Application>
  <PresentationFormat>全屏显示(4:3)</PresentationFormat>
  <Paragraphs>812</Paragraphs>
  <Slides>97</Slides>
  <Notes>1</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0</vt:i4>
      </vt:variant>
      <vt:variant>
        <vt:lpstr>幻灯片标题</vt:lpstr>
      </vt:variant>
      <vt:variant>
        <vt:i4>97</vt:i4>
      </vt:variant>
    </vt:vector>
  </HeadingPairs>
  <TitlesOfParts>
    <vt:vector size="114" baseType="lpstr">
      <vt:lpstr>方正启体简体</vt:lpstr>
      <vt:lpstr>方正舒体</vt:lpstr>
      <vt:lpstr>仿宋</vt:lpstr>
      <vt:lpstr>黑体</vt:lpstr>
      <vt:lpstr>华文行楷</vt:lpstr>
      <vt:lpstr>楷体</vt:lpstr>
      <vt:lpstr>宋体</vt:lpstr>
      <vt:lpstr>微软雅黑</vt:lpstr>
      <vt:lpstr>Arial</vt:lpstr>
      <vt:lpstr>Calibri</vt:lpstr>
      <vt:lpstr>Cambria Math</vt:lpstr>
      <vt:lpstr>Consolas</vt:lpstr>
      <vt:lpstr>Franklin Gothic Book</vt:lpstr>
      <vt:lpstr>Franklin Gothic Medium</vt:lpstr>
      <vt:lpstr>Times New Roman</vt:lpstr>
      <vt:lpstr>Wingdings</vt:lpstr>
      <vt:lpstr>角度</vt:lpstr>
      <vt:lpstr>第2章  线性表</vt:lpstr>
      <vt:lpstr>线性表定义</vt:lpstr>
      <vt:lpstr>PowerPoint 演示文稿</vt:lpstr>
      <vt:lpstr>2.1  线性表的定义</vt:lpstr>
      <vt:lpstr>PowerPoint 演示文稿</vt:lpstr>
      <vt:lpstr>PowerPoint 演示文稿</vt:lpstr>
      <vt:lpstr>PowerPoint 演示文稿</vt:lpstr>
      <vt:lpstr>PowerPoint 演示文稿</vt:lpstr>
      <vt:lpstr>2.2  线性表的顺序存储结构</vt:lpstr>
      <vt:lpstr>PowerPoint 演示文稿</vt:lpstr>
      <vt:lpstr>PowerPoint 演示文稿</vt:lpstr>
      <vt:lpstr>线性表顺序存储结构的形式定义如下：</vt:lpstr>
      <vt:lpstr>PowerPoint 演示文稿</vt:lpstr>
      <vt:lpstr>PowerPoint 演示文稿</vt:lpstr>
      <vt:lpstr>2.2.2  顺序存储结构的实现</vt:lpstr>
      <vt:lpstr>PowerPoint 演示文稿</vt:lpstr>
      <vt:lpstr>顺序表的插入操作算法实现：</vt:lpstr>
      <vt:lpstr>PowerPoint 演示文稿</vt:lpstr>
      <vt:lpstr>PowerPoint 演示文稿</vt:lpstr>
      <vt:lpstr>PowerPoint 演示文稿</vt:lpstr>
      <vt:lpstr>PowerPoint 演示文稿</vt:lpstr>
      <vt:lpstr>PowerPoint 演示文稿</vt:lpstr>
      <vt:lpstr>PowerPoint 演示文稿</vt:lpstr>
      <vt:lpstr>删除顺序表L位置i上的元素</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2.3  线性表的链式存储结构</vt:lpstr>
      <vt:lpstr>2.3.1  单链表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单链表上所实现的基本操作：</vt:lpstr>
      <vt:lpstr>PowerPoint 演示文稿</vt:lpstr>
      <vt:lpstr>在单链表L中从头开始找到第i个结点，若存在第i个数据结点，则将其data域值赋给变量e。</vt:lpstr>
      <vt:lpstr>PowerPoint 演示文稿</vt:lpstr>
      <vt:lpstr>PowerPoint 演示文稿</vt:lpstr>
      <vt:lpstr>PowerPoint 演示文稿</vt:lpstr>
      <vt:lpstr>PowerPoint 演示文稿</vt:lpstr>
      <vt:lpstr>3. 单链表的删除</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2.3.2  双向链表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2.3.3   循环链表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 .4  线性表应用举例</vt:lpstr>
      <vt:lpstr>PowerPoint 演示文稿</vt:lpstr>
      <vt:lpstr>PowerPoint 演示文稿</vt:lpstr>
      <vt:lpstr>PowerPoint 演示文稿</vt:lpstr>
      <vt:lpstr>PowerPoint 演示文稿</vt:lpstr>
      <vt:lpstr>2.4.2 商品链更新</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第2章 　算法分析</dc:title>
  <dc:creator>Admin</dc:creator>
  <cp:lastModifiedBy>xy yang</cp:lastModifiedBy>
  <cp:revision>476</cp:revision>
  <dcterms:created xsi:type="dcterms:W3CDTF">2016-02-05T07:36:15Z</dcterms:created>
  <dcterms:modified xsi:type="dcterms:W3CDTF">2025-09-23T01:52:47Z</dcterms:modified>
</cp:coreProperties>
</file>