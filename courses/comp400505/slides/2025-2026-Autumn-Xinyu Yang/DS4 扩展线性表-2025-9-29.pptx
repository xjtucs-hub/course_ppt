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0"/>
  </p:notesMasterIdLst>
  <p:handoutMasterIdLst>
    <p:handoutMasterId r:id="rId31"/>
  </p:handoutMasterIdLst>
  <p:sldIdLst>
    <p:sldId id="256" r:id="rId2"/>
    <p:sldId id="362" r:id="rId3"/>
    <p:sldId id="363" r:id="rId4"/>
    <p:sldId id="364" r:id="rId5"/>
    <p:sldId id="365" r:id="rId6"/>
    <p:sldId id="366" r:id="rId7"/>
    <p:sldId id="367" r:id="rId8"/>
    <p:sldId id="344" r:id="rId9"/>
    <p:sldId id="345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68" r:id="rId18"/>
    <p:sldId id="369" r:id="rId19"/>
    <p:sldId id="370" r:id="rId20"/>
    <p:sldId id="371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19" autoAdjust="0"/>
  </p:normalViewPr>
  <p:slideViewPr>
    <p:cSldViewPr>
      <p:cViewPr varScale="1">
        <p:scale>
          <a:sx n="135" d="100"/>
          <a:sy n="135" d="100"/>
        </p:scale>
        <p:origin x="91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9793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7" d="100"/>
          <a:sy n="107" d="100"/>
        </p:scale>
        <p:origin x="34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8B7C626-EF61-40C7-9EF5-31C0F04426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08935C-BFC1-4247-AFAC-0D817ADB7B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06CA3-A58C-4074-91B6-119C2E255BAC}" type="datetimeFigureOut">
              <a:rPr lang="zh-CN" altLang="en-US" smtClean="0"/>
              <a:t>2025/9/29 Monday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66E132-C75F-4C72-B43F-2A4A5ECEFE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CBCDEE-EFAC-4073-A7E2-9295EB954E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F2331-E01B-445A-8AB1-1E6B50220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318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5A02B-D9D6-4BC7-BD1A-0C439226DE41}" type="datetimeFigureOut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D460B-FCBF-4F68-A559-8E415D1DDE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02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2869" y="5517232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7EC6-CB47-4768-9811-6E3B54093484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895707"/>
            <a:ext cx="7520940" cy="548640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628800"/>
            <a:ext cx="7520940" cy="3579849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33802" y="146299"/>
            <a:ext cx="4267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3779912" y="645333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西安交通大学计算机科学与技术学院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028384" y="644121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6FB1EF2-4E04-428D-9A98-735957314976}" type="slidenum">
              <a:rPr lang="zh-CN" alt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altLang="zh-CN" dirty="0">
                <a:solidFill>
                  <a:schemeClr val="bg1"/>
                </a:solidFill>
              </a:rPr>
              <a:t>/28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BD687A0-94C4-449C-94FB-1115162DEAA9}"/>
              </a:ext>
            </a:extLst>
          </p:cNvPr>
          <p:cNvSpPr txBox="1"/>
          <p:nvPr userDrawn="1"/>
        </p:nvSpPr>
        <p:spPr>
          <a:xfrm>
            <a:off x="179512" y="623731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475632-B7DE-4367-8D94-F65220BCA26A}" type="datetime1">
              <a:rPr lang="zh-CN" altLang="en-US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/>
              <a:t>2025/9/29 Monday</a:t>
            </a:fld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9C47-783F-4BA3-8F44-C651CC1C7843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4DB96-0AE5-4520-9185-F689CCFB8160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1D45-E3BC-449A-A2CA-DC7EEC7FF1AB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6B2F-325E-4DB5-B672-90AD506B448C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2991-BBE5-4E69-A281-1A8B0AE9CDD7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D44D8-17C8-4EF3-AEA6-26CE6DA18EE0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6A5A-BD99-4717-BAC1-7A32521A6EAD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C93F-9B3C-4EE7-9870-3D016680E837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CA2C-5ACD-411C-BC33-FE293CBE3AB9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6309319"/>
            <a:ext cx="3574257" cy="548681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6309319"/>
            <a:ext cx="9146380" cy="548682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451667"/>
            <a:ext cx="1533226" cy="263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2F99069-F18D-4F57-97B5-E5E224D09DA9}" type="datetime1">
              <a:rPr lang="zh-CN" altLang="en-US" smtClean="0"/>
              <a:pPr/>
              <a:t>2025/9/29 Monday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1570" y="6446499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332199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6556" y="1428736"/>
            <a:ext cx="6565774" cy="1204306"/>
          </a:xfrm>
        </p:spPr>
        <p:txBody>
          <a:bodyPr/>
          <a:lstStyle/>
          <a:p>
            <a:pPr algn="just"/>
            <a:r>
              <a:rPr lang="zh-CN" altLang="zh-CN" sz="4400" b="1" dirty="0"/>
              <a:t>第</a:t>
            </a:r>
            <a:r>
              <a:rPr lang="en-US" altLang="zh-CN" sz="4400" b="1" dirty="0"/>
              <a:t>4</a:t>
            </a:r>
            <a:r>
              <a:rPr lang="zh-CN" altLang="zh-CN" sz="4400" b="1" dirty="0"/>
              <a:t>章</a:t>
            </a:r>
            <a:r>
              <a:rPr lang="en-US" altLang="zh-CN" sz="4400" b="1" dirty="0"/>
              <a:t>  </a:t>
            </a:r>
            <a:r>
              <a:rPr lang="zh-CN" altLang="en-US" sz="4400" b="1" dirty="0"/>
              <a:t>扩展</a:t>
            </a:r>
            <a:r>
              <a:rPr lang="zh-CN" altLang="zh-CN" sz="4400" b="1" dirty="0"/>
              <a:t>线性表</a:t>
            </a:r>
            <a:r>
              <a:rPr lang="en-US" altLang="zh-CN" sz="4400" b="1" dirty="0"/>
              <a:t>——			</a:t>
            </a:r>
            <a:r>
              <a:rPr lang="zh-CN" altLang="en-US" sz="4400" b="1" dirty="0"/>
              <a:t>数组与广义表</a:t>
            </a:r>
            <a:endParaRPr lang="zh-CN" altLang="zh-CN" sz="4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3802" y="146299"/>
            <a:ext cx="4267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576696" y="2928934"/>
            <a:ext cx="6353022" cy="3020346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知识要点</a:t>
            </a:r>
            <a:endParaRPr lang="en-US" altLang="zh-CN" sz="2400" dirty="0"/>
          </a:p>
          <a:p>
            <a:pPr algn="just"/>
            <a:r>
              <a:rPr lang="en-US" sz="2000" dirty="0"/>
              <a:t>(1) </a:t>
            </a:r>
            <a:r>
              <a:rPr lang="zh-CN" altLang="en-US" sz="2000" dirty="0"/>
              <a:t>熟悉多维定长线性表</a:t>
            </a:r>
            <a:r>
              <a:rPr lang="en-US" sz="2000" dirty="0"/>
              <a:t>---</a:t>
            </a:r>
            <a:r>
              <a:rPr lang="zh-CN" altLang="en-US" sz="2000" dirty="0"/>
              <a:t>数组的基本概念，数组的顺序存储、链式存储。多维数组与多维线性表的关系。</a:t>
            </a:r>
          </a:p>
          <a:p>
            <a:pPr algn="just"/>
            <a:r>
              <a:rPr lang="en-US" sz="2000" dirty="0"/>
              <a:t>(2) </a:t>
            </a:r>
            <a:r>
              <a:rPr lang="zh-CN" altLang="en-US" sz="2000" dirty="0"/>
              <a:t>掌握常见特殊数组的压缩存储，了解稀疏矩阵的压缩存储方法。</a:t>
            </a:r>
          </a:p>
          <a:p>
            <a:pPr algn="just"/>
            <a:r>
              <a:rPr lang="en-US" sz="2000" dirty="0"/>
              <a:t>(3) </a:t>
            </a:r>
            <a:r>
              <a:rPr lang="zh-CN" altLang="en-US" sz="2000" dirty="0"/>
              <a:t>熟悉多层推广线性表</a:t>
            </a:r>
            <a:r>
              <a:rPr lang="en-US" sz="2000" dirty="0"/>
              <a:t>---</a:t>
            </a:r>
            <a:r>
              <a:rPr lang="zh-CN" altLang="en-US" sz="2000" dirty="0"/>
              <a:t>广义表的基本概念，初步掌握广义表的连式存储结构。</a:t>
            </a:r>
          </a:p>
          <a:p>
            <a:pPr algn="just"/>
            <a:r>
              <a:rPr lang="en-US" sz="2000" dirty="0"/>
              <a:t>(4) </a:t>
            </a:r>
            <a:r>
              <a:rPr lang="zh-CN" altLang="en-US" sz="2000" dirty="0"/>
              <a:t>了解数组和广义表的应用。</a:t>
            </a:r>
          </a:p>
          <a:p>
            <a:pPr algn="ctr"/>
            <a:endParaRPr lang="zh-CN" altLang="en-US" sz="2000" dirty="0"/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2987824" y="6381328"/>
            <a:ext cx="5976664" cy="443001"/>
          </a:xfrm>
          <a:prstGeom prst="rect">
            <a:avLst/>
          </a:prstGeom>
        </p:spPr>
        <p:txBody>
          <a:bodyPr vert="horz" lIns="91440" tIns="9144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i="1" dirty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西安交通大学计算机科学与技术学院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0"/>
          </p:nvPr>
        </p:nvSpPr>
        <p:spPr>
          <a:xfrm>
            <a:off x="-36512" y="6485577"/>
            <a:ext cx="1123132" cy="227149"/>
          </a:xfrm>
        </p:spPr>
        <p:txBody>
          <a:bodyPr/>
          <a:lstStyle/>
          <a:p>
            <a:fld id="{FE3E9456-702B-478D-AFB3-A22B853B09FE}" type="datetime1">
              <a:rPr lang="zh-CN" altLang="en-US" smtClean="0"/>
              <a:pPr/>
              <a:t>2025/9/29 Monday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741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hangingPunct="0"/>
            <a:r>
              <a:rPr lang="en-US" b="1" dirty="0"/>
              <a:t>4.1 </a:t>
            </a:r>
            <a:r>
              <a:rPr lang="zh-CN" altLang="en-US" b="1" dirty="0"/>
              <a:t>扩展线性表</a:t>
            </a:r>
            <a:r>
              <a:rPr lang="en-US" b="1" dirty="0"/>
              <a:t>---</a:t>
            </a:r>
            <a:r>
              <a:rPr lang="zh-CN" altLang="en-US" b="1" dirty="0">
                <a:solidFill>
                  <a:srgbClr val="FF0000"/>
                </a:solidFill>
              </a:rPr>
              <a:t>数组</a:t>
            </a:r>
            <a:r>
              <a:rPr lang="en-US" b="1" dirty="0">
                <a:solidFill>
                  <a:srgbClr val="FF0000"/>
                </a:solidFill>
              </a:rPr>
              <a:t>*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628800"/>
            <a:ext cx="7776864" cy="444340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4.1.1 </a:t>
            </a:r>
            <a:r>
              <a:rPr lang="zh-CN" altLang="en-US" dirty="0"/>
              <a:t>数组的定义</a:t>
            </a:r>
          </a:p>
          <a:p>
            <a:pPr algn="just"/>
            <a:r>
              <a:rPr lang="en-US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数组</a:t>
            </a:r>
            <a:r>
              <a:rPr lang="en-US" dirty="0">
                <a:solidFill>
                  <a:srgbClr val="FF0000"/>
                </a:solidFill>
              </a:rPr>
              <a:t>(Array)</a:t>
            </a:r>
            <a:r>
              <a:rPr lang="zh-CN" altLang="en-US" b="0" dirty="0"/>
              <a:t>是由</a:t>
            </a:r>
            <a:r>
              <a:rPr lang="en-US" b="0" dirty="0"/>
              <a:t>n(n &gt;1)</a:t>
            </a:r>
            <a:r>
              <a:rPr lang="zh-CN" altLang="en-US" b="0" dirty="0"/>
              <a:t>个具有相同数据类型的数据元素</a:t>
            </a:r>
            <a:r>
              <a:rPr lang="en-US" b="0" dirty="0"/>
              <a:t>a</a:t>
            </a:r>
            <a:r>
              <a:rPr lang="en-US" b="0" baseline="-25000" dirty="0"/>
              <a:t>0</a:t>
            </a:r>
            <a:r>
              <a:rPr lang="zh-CN" altLang="en-US" b="0" dirty="0"/>
              <a:t>，</a:t>
            </a:r>
            <a:r>
              <a:rPr lang="en-US" b="0" dirty="0"/>
              <a:t>a</a:t>
            </a:r>
            <a:r>
              <a:rPr lang="en-US" b="0" baseline="-25000" dirty="0"/>
              <a:t>1</a:t>
            </a:r>
            <a:r>
              <a:rPr lang="zh-CN" altLang="en-US" b="0" dirty="0"/>
              <a:t>，</a:t>
            </a:r>
            <a:r>
              <a:rPr lang="en-US" b="0" dirty="0"/>
              <a:t>…</a:t>
            </a:r>
            <a:r>
              <a:rPr lang="zh-CN" altLang="en-US" b="0" dirty="0"/>
              <a:t>，</a:t>
            </a:r>
            <a:r>
              <a:rPr lang="en-US" b="0" dirty="0"/>
              <a:t>a</a:t>
            </a:r>
            <a:r>
              <a:rPr lang="en-US" b="0" baseline="-25000" dirty="0"/>
              <a:t>n-1</a:t>
            </a:r>
            <a:r>
              <a:rPr lang="zh-CN" altLang="en-US" b="0" dirty="0"/>
              <a:t>组成的有序序列，且该有序序列必须存储在一块地址连续的存储单元中。</a:t>
            </a:r>
            <a:endParaRPr lang="en-US" altLang="zh-CN" b="0" dirty="0"/>
          </a:p>
          <a:p>
            <a:pPr algn="just"/>
            <a:r>
              <a:rPr lang="zh-CN" altLang="en-US" dirty="0">
                <a:solidFill>
                  <a:srgbClr val="FF0000"/>
                </a:solidFill>
              </a:rPr>
              <a:t>数组的特点</a:t>
            </a:r>
            <a:r>
              <a:rPr lang="zh-CN" altLang="en-US" dirty="0"/>
              <a:t>：</a:t>
            </a:r>
          </a:p>
          <a:p>
            <a:pPr algn="just" fontAlgn="base"/>
            <a:r>
              <a:rPr lang="en-US" dirty="0"/>
              <a:t>	</a:t>
            </a:r>
            <a:r>
              <a:rPr lang="en-US" b="0" dirty="0"/>
              <a:t>(1)</a:t>
            </a:r>
            <a:r>
              <a:rPr lang="zh-CN" altLang="en-US" dirty="0">
                <a:solidFill>
                  <a:srgbClr val="0033CC"/>
                </a:solidFill>
              </a:rPr>
              <a:t>数组是一种</a:t>
            </a:r>
            <a:r>
              <a:rPr lang="en-US" dirty="0">
                <a:solidFill>
                  <a:srgbClr val="0033CC"/>
                </a:solidFill>
              </a:rPr>
              <a:t>“</a:t>
            </a:r>
            <a:r>
              <a:rPr lang="zh-CN" altLang="en-US" dirty="0">
                <a:solidFill>
                  <a:srgbClr val="0033CC"/>
                </a:solidFill>
              </a:rPr>
              <a:t>均匀</a:t>
            </a:r>
            <a:r>
              <a:rPr lang="en-US" dirty="0">
                <a:solidFill>
                  <a:srgbClr val="0033CC"/>
                </a:solidFill>
              </a:rPr>
              <a:t>”</a:t>
            </a:r>
            <a:r>
              <a:rPr lang="zh-CN" altLang="en-US" dirty="0">
                <a:solidFill>
                  <a:srgbClr val="0033CC"/>
                </a:solidFill>
              </a:rPr>
              <a:t>结构</a:t>
            </a:r>
            <a:r>
              <a:rPr lang="zh-CN" altLang="en-US" b="0" dirty="0"/>
              <a:t>，同一数组中各个数据元素必须是同一类型的；</a:t>
            </a:r>
          </a:p>
          <a:p>
            <a:pPr algn="just" fontAlgn="base"/>
            <a:r>
              <a:rPr lang="en-US" b="0" dirty="0"/>
              <a:t>	(2)</a:t>
            </a:r>
            <a:r>
              <a:rPr lang="zh-CN" altLang="en-US" dirty="0">
                <a:solidFill>
                  <a:srgbClr val="0033CC"/>
                </a:solidFill>
              </a:rPr>
              <a:t>数组是一种随机存取结构</a:t>
            </a:r>
            <a:r>
              <a:rPr lang="zh-CN" altLang="en-US" b="0" dirty="0"/>
              <a:t>，只要给定一组下标，就可以访问与其对应的单元。</a:t>
            </a:r>
          </a:p>
          <a:p>
            <a:pPr algn="just" fontAlgn="base"/>
            <a:r>
              <a:rPr lang="en-US" b="0" dirty="0"/>
              <a:t>	(3)</a:t>
            </a:r>
            <a:r>
              <a:rPr lang="zh-CN" altLang="en-US" dirty="0">
                <a:solidFill>
                  <a:srgbClr val="0033CC"/>
                </a:solidFill>
              </a:rPr>
              <a:t>数组中的数据元素个数是固定的</a:t>
            </a:r>
            <a:r>
              <a:rPr lang="zh-CN" altLang="en-US" b="0" dirty="0"/>
              <a:t>。一旦定义好了一个数组，其数据元素总数就不得有任何变化。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071546"/>
            <a:ext cx="7520940" cy="4137103"/>
          </a:xfrm>
        </p:spPr>
        <p:txBody>
          <a:bodyPr/>
          <a:lstStyle/>
          <a:p>
            <a:pPr algn="just"/>
            <a:r>
              <a:rPr lang="en-US" dirty="0"/>
              <a:t>4.1.2 </a:t>
            </a:r>
            <a:r>
              <a:rPr lang="zh-CN" altLang="en-US" dirty="0"/>
              <a:t>数组的</a:t>
            </a:r>
            <a:r>
              <a:rPr lang="zh-CN" altLang="en-US" dirty="0">
                <a:solidFill>
                  <a:srgbClr val="FF0000"/>
                </a:solidFill>
              </a:rPr>
              <a:t>基本操作</a:t>
            </a:r>
          </a:p>
          <a:p>
            <a:pPr algn="just"/>
            <a:endParaRPr lang="zh-CN" altLang="en-US" dirty="0"/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285720" y="1643050"/>
            <a:ext cx="8643998" cy="432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随机存取操作：</a:t>
            </a:r>
            <a:r>
              <a:rPr lang="en-US" altLang="zh-CN" sz="2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GetArrayElement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2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2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200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初始条件：数组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是一组没有越界的下标；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操作结果：通过给定的这组下标，在数组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中存取对应下标的数据元素。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随机修改操作：</a:t>
            </a:r>
            <a:r>
              <a:rPr lang="en-US" altLang="zh-CN" sz="2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ModifyArrayElement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2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2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200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初始条件：数组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是一组没有越界的下标；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操作结果：通过给定的这组下标，修改数组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中对应下标的数据元素。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数组初始化：</a:t>
            </a:r>
            <a:r>
              <a:rPr lang="en-US" altLang="zh-CN" sz="2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InitialArray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初始条件：无；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操作结果：在数组的维数和维长都合法的情况下，构造一个数组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142984"/>
            <a:ext cx="7887820" cy="507209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4.1.3 </a:t>
            </a:r>
            <a:r>
              <a:rPr lang="zh-CN" altLang="en-US" dirty="0"/>
              <a:t>数组的存储结构</a:t>
            </a:r>
            <a:endParaRPr lang="en-US" altLang="zh-CN" dirty="0"/>
          </a:p>
          <a:p>
            <a:pPr algn="just"/>
            <a:r>
              <a:rPr lang="zh-CN" altLang="en-US" dirty="0">
                <a:solidFill>
                  <a:srgbClr val="FF0000"/>
                </a:solidFill>
              </a:rPr>
              <a:t>静态数组（定义数组）和动态数组（指针数组）</a:t>
            </a:r>
          </a:p>
          <a:p>
            <a:pPr algn="just">
              <a:buFont typeface="Arial" pitchFamily="34" charset="0"/>
              <a:buChar char="•"/>
            </a:pPr>
            <a:r>
              <a:rPr lang="zh-CN" altLang="en-US" sz="2000" b="0" dirty="0"/>
              <a:t>对于下界为</a:t>
            </a:r>
            <a:r>
              <a:rPr lang="en-US" sz="2000" b="0" dirty="0"/>
              <a:t>0</a:t>
            </a:r>
            <a:r>
              <a:rPr lang="zh-CN" altLang="en-US" sz="2000" b="0" dirty="0"/>
              <a:t>的一个</a:t>
            </a:r>
            <a:r>
              <a:rPr lang="zh-CN" altLang="en-US" sz="2000" dirty="0">
                <a:solidFill>
                  <a:srgbClr val="0033CC"/>
                </a:solidFill>
              </a:rPr>
              <a:t>一维数组</a:t>
            </a:r>
            <a:r>
              <a:rPr lang="en-US" sz="2000" dirty="0">
                <a:solidFill>
                  <a:srgbClr val="0033CC"/>
                </a:solidFill>
              </a:rPr>
              <a:t>a[n]</a:t>
            </a:r>
            <a:r>
              <a:rPr lang="zh-CN" altLang="en-US" sz="2000" b="0" dirty="0"/>
              <a:t>，给定第一个</a:t>
            </a:r>
            <a:r>
              <a:rPr lang="zh-CN" altLang="en-US" sz="2000" b="0" dirty="0">
                <a:solidFill>
                  <a:srgbClr val="0033CC"/>
                </a:solidFill>
              </a:rPr>
              <a:t>数组元素</a:t>
            </a:r>
            <a:r>
              <a:rPr lang="en-US" sz="2000" b="0" dirty="0">
                <a:solidFill>
                  <a:srgbClr val="0033CC"/>
                </a:solidFill>
              </a:rPr>
              <a:t>a</a:t>
            </a:r>
            <a:r>
              <a:rPr lang="en-US" sz="2000" b="0" baseline="-25000" dirty="0">
                <a:solidFill>
                  <a:srgbClr val="0033CC"/>
                </a:solidFill>
              </a:rPr>
              <a:t>0</a:t>
            </a:r>
            <a:r>
              <a:rPr lang="zh-CN" altLang="en-US" sz="2000" b="0" dirty="0">
                <a:solidFill>
                  <a:srgbClr val="0033CC"/>
                </a:solidFill>
              </a:rPr>
              <a:t>的存储地址是</a:t>
            </a:r>
            <a:r>
              <a:rPr lang="en-US" sz="2000" b="0" dirty="0">
                <a:solidFill>
                  <a:srgbClr val="0033CC"/>
                </a:solidFill>
              </a:rPr>
              <a:t>Loc(a</a:t>
            </a:r>
            <a:r>
              <a:rPr lang="en-US" sz="2000" b="0" baseline="-25000" dirty="0">
                <a:solidFill>
                  <a:srgbClr val="0033CC"/>
                </a:solidFill>
              </a:rPr>
              <a:t>0</a:t>
            </a:r>
            <a:r>
              <a:rPr lang="en-US" sz="2000" b="0" dirty="0">
                <a:solidFill>
                  <a:srgbClr val="0033CC"/>
                </a:solidFill>
              </a:rPr>
              <a:t>)</a:t>
            </a:r>
            <a:r>
              <a:rPr lang="zh-CN" altLang="en-US" sz="2000" b="0" dirty="0"/>
              <a:t>，每个数据元素所占的</a:t>
            </a:r>
            <a:r>
              <a:rPr lang="zh-CN" altLang="en-US" sz="2000" b="0" dirty="0">
                <a:solidFill>
                  <a:srgbClr val="0033CC"/>
                </a:solidFill>
              </a:rPr>
              <a:t>存储单元为</a:t>
            </a:r>
            <a:r>
              <a:rPr lang="en-US" sz="2000" b="0" dirty="0">
                <a:solidFill>
                  <a:srgbClr val="0033CC"/>
                </a:solidFill>
              </a:rPr>
              <a:t>k</a:t>
            </a:r>
            <a:r>
              <a:rPr lang="zh-CN" altLang="en-US" sz="2000" b="0" dirty="0"/>
              <a:t>，则任意数据元素</a:t>
            </a:r>
            <a:r>
              <a:rPr lang="en-US" sz="2000" b="0" dirty="0" err="1"/>
              <a:t>a</a:t>
            </a:r>
            <a:r>
              <a:rPr lang="en-US" sz="2000" b="0" baseline="-25000" dirty="0" err="1"/>
              <a:t>i</a:t>
            </a:r>
            <a:r>
              <a:rPr lang="zh-CN" altLang="en-US" sz="2000" b="0" dirty="0"/>
              <a:t>的存储单元地址：</a:t>
            </a:r>
            <a:endParaRPr lang="en-US" altLang="zh-CN" sz="2000" b="0" dirty="0"/>
          </a:p>
          <a:p>
            <a:pPr algn="just"/>
            <a:r>
              <a:rPr lang="en-US" sz="2000" b="0" dirty="0"/>
              <a:t>			</a:t>
            </a:r>
            <a:r>
              <a:rPr lang="en-US" sz="2000" b="0" dirty="0">
                <a:solidFill>
                  <a:srgbClr val="FF0000"/>
                </a:solidFill>
              </a:rPr>
              <a:t>Loc(</a:t>
            </a:r>
            <a:r>
              <a:rPr lang="en-US" sz="2000" b="0" dirty="0" err="1">
                <a:solidFill>
                  <a:srgbClr val="FF0000"/>
                </a:solidFill>
              </a:rPr>
              <a:t>a</a:t>
            </a:r>
            <a:r>
              <a:rPr lang="en-US" sz="2000" b="0" baseline="-25000" dirty="0" err="1">
                <a:solidFill>
                  <a:srgbClr val="FF0000"/>
                </a:solidFill>
              </a:rPr>
              <a:t>i</a:t>
            </a:r>
            <a:r>
              <a:rPr lang="en-US" sz="2000" b="0" dirty="0">
                <a:solidFill>
                  <a:srgbClr val="FF0000"/>
                </a:solidFill>
              </a:rPr>
              <a:t>)= Loc(a</a:t>
            </a:r>
            <a:r>
              <a:rPr lang="en-US" sz="2000" b="0" baseline="-25000" dirty="0">
                <a:solidFill>
                  <a:srgbClr val="FF0000"/>
                </a:solidFill>
              </a:rPr>
              <a:t>0</a:t>
            </a:r>
            <a:r>
              <a:rPr lang="en-US" sz="2000" b="0" dirty="0">
                <a:solidFill>
                  <a:srgbClr val="FF0000"/>
                </a:solidFill>
              </a:rPr>
              <a:t>) + </a:t>
            </a:r>
            <a:r>
              <a:rPr lang="en-US" sz="2000" b="0" dirty="0" err="1">
                <a:solidFill>
                  <a:srgbClr val="FF0000"/>
                </a:solidFill>
              </a:rPr>
              <a:t>i</a:t>
            </a:r>
            <a:r>
              <a:rPr lang="en-US" sz="2000" b="0" dirty="0">
                <a:solidFill>
                  <a:srgbClr val="FF0000"/>
                </a:solidFill>
              </a:rPr>
              <a:t> * k    </a:t>
            </a:r>
            <a:r>
              <a:rPr lang="en-US" sz="2000" b="0" dirty="0"/>
              <a:t>(0≤i</a:t>
            </a:r>
            <a:r>
              <a:rPr lang="zh-CN" altLang="en-US" sz="2000" b="0" dirty="0"/>
              <a:t>＜</a:t>
            </a:r>
            <a:r>
              <a:rPr lang="en-US" sz="2000" b="0" dirty="0"/>
              <a:t>n) </a:t>
            </a:r>
          </a:p>
          <a:p>
            <a:pPr marL="342900" lvl="3" indent="-342900" algn="just">
              <a:spcBef>
                <a:spcPts val="800"/>
              </a:spcBef>
              <a:buClrTx/>
              <a:buFont typeface="Arial" pitchFamily="34" charset="0"/>
              <a:buChar char="•"/>
            </a:pPr>
            <a:r>
              <a:rPr lang="zh-CN" altLang="en-US" sz="2000" b="1" dirty="0">
                <a:solidFill>
                  <a:srgbClr val="0033CC"/>
                </a:solidFill>
              </a:rPr>
              <a:t>二维数组推广到一般情况</a:t>
            </a:r>
            <a:r>
              <a:rPr lang="zh-CN" altLang="en-US" sz="2000" dirty="0"/>
              <a:t>：设二维数组的行下标的取值范围为</a:t>
            </a:r>
            <a:r>
              <a:rPr lang="en-US" sz="2000" dirty="0"/>
              <a:t>r1</a:t>
            </a:r>
            <a:r>
              <a:rPr lang="zh-CN" altLang="en-US" sz="2000" dirty="0"/>
              <a:t>到</a:t>
            </a:r>
            <a:r>
              <a:rPr lang="en-US" sz="2000" dirty="0" err="1"/>
              <a:t>ru</a:t>
            </a:r>
            <a:r>
              <a:rPr lang="zh-CN" altLang="en-US" sz="2000" dirty="0"/>
              <a:t>，列下标取值范围为</a:t>
            </a:r>
            <a:r>
              <a:rPr lang="en-US" sz="2000" dirty="0"/>
              <a:t>c1</a:t>
            </a:r>
            <a:r>
              <a:rPr lang="zh-CN" altLang="en-US" sz="2000" dirty="0"/>
              <a:t>到</a:t>
            </a:r>
            <a:r>
              <a:rPr lang="en-US" sz="2000" dirty="0"/>
              <a:t>c</a:t>
            </a:r>
            <a:r>
              <a:rPr lang="en-US" altLang="zh-CN" sz="2000" dirty="0"/>
              <a:t>v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342900" lvl="3" indent="-342900" algn="just">
              <a:spcBef>
                <a:spcPts val="800"/>
              </a:spcBef>
              <a:buClrTx/>
              <a:buFont typeface="Arial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以行序为</a:t>
            </a:r>
            <a:r>
              <a:rPr lang="zh-CN" altLang="en-US" sz="2100" b="1" dirty="0">
                <a:solidFill>
                  <a:srgbClr val="FF0000"/>
                </a:solidFill>
              </a:rPr>
              <a:t>主序的存储方式</a:t>
            </a:r>
            <a:r>
              <a:rPr lang="zh-CN" altLang="en-US" sz="2000" dirty="0"/>
              <a:t>，则任意数据元素</a:t>
            </a:r>
            <a:r>
              <a:rPr lang="en-US" sz="2000" dirty="0" err="1"/>
              <a:t>a</a:t>
            </a:r>
            <a:r>
              <a:rPr lang="en-US" sz="2000" baseline="-25000" dirty="0" err="1"/>
              <a:t>i,j</a:t>
            </a:r>
            <a:r>
              <a:rPr lang="zh-CN" altLang="en-US" sz="2000" dirty="0"/>
              <a:t>的存储单元地址：</a:t>
            </a:r>
            <a:endParaRPr lang="en-US" altLang="zh-CN" sz="2000" dirty="0"/>
          </a:p>
          <a:p>
            <a:pPr marL="342900" lvl="3" indent="-342900" algn="just">
              <a:spcBef>
                <a:spcPts val="800"/>
              </a:spcBef>
              <a:buClrTx/>
              <a:buNone/>
            </a:pPr>
            <a:r>
              <a:rPr lang="en-US" sz="2000" dirty="0"/>
              <a:t>             Loc(</a:t>
            </a:r>
            <a:r>
              <a:rPr lang="en-US" sz="2000" dirty="0" err="1"/>
              <a:t>a</a:t>
            </a:r>
            <a:r>
              <a:rPr lang="en-US" sz="2000" baseline="-25000" dirty="0" err="1"/>
              <a:t>i,j</a:t>
            </a:r>
            <a:r>
              <a:rPr lang="en-US" sz="2000" dirty="0"/>
              <a:t>)= Loc(a</a:t>
            </a:r>
            <a:r>
              <a:rPr lang="en-US" sz="2000" baseline="-25000" dirty="0"/>
              <a:t>r1,c1</a:t>
            </a:r>
            <a:r>
              <a:rPr lang="en-US" sz="2000" dirty="0"/>
              <a:t>) + ((</a:t>
            </a:r>
            <a:r>
              <a:rPr lang="en-US" sz="2000" dirty="0" err="1"/>
              <a:t>i</a:t>
            </a:r>
            <a:r>
              <a:rPr lang="en-US" sz="2000" dirty="0"/>
              <a:t> – r</a:t>
            </a:r>
            <a:r>
              <a:rPr lang="en-US" sz="2100" dirty="0"/>
              <a:t>1</a:t>
            </a:r>
            <a:r>
              <a:rPr lang="en-US" sz="2000" dirty="0"/>
              <a:t>) * (c</a:t>
            </a:r>
            <a:r>
              <a:rPr lang="en-US" altLang="zh-CN" sz="2000" dirty="0"/>
              <a:t>v</a:t>
            </a:r>
            <a:r>
              <a:rPr lang="en-US" sz="2000" dirty="0"/>
              <a:t> – c</a:t>
            </a:r>
            <a:r>
              <a:rPr lang="en-US" sz="2100" dirty="0"/>
              <a:t>1</a:t>
            </a:r>
            <a:r>
              <a:rPr lang="en-US" sz="2000" dirty="0"/>
              <a:t> + 1) + (j – c</a:t>
            </a:r>
            <a:r>
              <a:rPr lang="en-US" altLang="zh-CN" sz="2000" dirty="0"/>
              <a:t>v</a:t>
            </a:r>
            <a:r>
              <a:rPr lang="en-US" sz="2000" dirty="0"/>
              <a:t>)) * k </a:t>
            </a:r>
          </a:p>
          <a:p>
            <a:pPr marL="342900" lvl="3" indent="-342900" algn="just">
              <a:spcBef>
                <a:spcPts val="800"/>
              </a:spcBef>
              <a:buClrTx/>
              <a:buFont typeface="Arial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以列序为主序的存储方式</a:t>
            </a:r>
            <a:r>
              <a:rPr lang="zh-CN" altLang="en-US" sz="2000" dirty="0"/>
              <a:t>，则任意数据元素</a:t>
            </a:r>
            <a:r>
              <a:rPr lang="en-US" sz="2000" dirty="0" err="1"/>
              <a:t>a</a:t>
            </a:r>
            <a:r>
              <a:rPr lang="en-US" sz="2000" baseline="-25000" dirty="0" err="1"/>
              <a:t>i,j</a:t>
            </a:r>
            <a:r>
              <a:rPr lang="zh-CN" altLang="en-US" sz="2000" dirty="0"/>
              <a:t>的存储单元地址：</a:t>
            </a:r>
            <a:endParaRPr lang="en-US" altLang="zh-CN" sz="2000" dirty="0"/>
          </a:p>
          <a:p>
            <a:pPr marL="342900" lvl="3" indent="-342900" algn="just">
              <a:spcBef>
                <a:spcPts val="800"/>
              </a:spcBef>
              <a:buClrTx/>
              <a:buNone/>
            </a:pPr>
            <a:r>
              <a:rPr lang="en-US" sz="2000" dirty="0"/>
              <a:t>            Loc(</a:t>
            </a:r>
            <a:r>
              <a:rPr lang="en-US" sz="2000" dirty="0" err="1"/>
              <a:t>a</a:t>
            </a:r>
            <a:r>
              <a:rPr lang="en-US" sz="2000" baseline="-25000" dirty="0" err="1"/>
              <a:t>i,j</a:t>
            </a:r>
            <a:r>
              <a:rPr lang="en-US" sz="2000" dirty="0"/>
              <a:t>)= Loc(a</a:t>
            </a:r>
            <a:r>
              <a:rPr lang="en-US" sz="2000" baseline="-25000" dirty="0"/>
              <a:t>r1,c1</a:t>
            </a:r>
            <a:r>
              <a:rPr lang="en-US" sz="2000" dirty="0"/>
              <a:t>) + ((j – c</a:t>
            </a:r>
            <a:r>
              <a:rPr lang="en-US" sz="2100" dirty="0"/>
              <a:t>1</a:t>
            </a:r>
            <a:r>
              <a:rPr lang="en-US" sz="2000" dirty="0"/>
              <a:t>) * (</a:t>
            </a:r>
            <a:r>
              <a:rPr lang="en-US" sz="2000" dirty="0" err="1"/>
              <a:t>ru</a:t>
            </a:r>
            <a:r>
              <a:rPr lang="en-US" sz="2000" dirty="0"/>
              <a:t> – r</a:t>
            </a:r>
            <a:r>
              <a:rPr lang="en-US" sz="2100" dirty="0"/>
              <a:t>1</a:t>
            </a:r>
            <a:r>
              <a:rPr lang="en-US" sz="2000" dirty="0"/>
              <a:t> + 1) + (</a:t>
            </a:r>
            <a:r>
              <a:rPr lang="en-US" sz="2000" dirty="0" err="1"/>
              <a:t>i</a:t>
            </a:r>
            <a:r>
              <a:rPr lang="en-US" sz="2000" dirty="0"/>
              <a:t> – r</a:t>
            </a:r>
            <a:r>
              <a:rPr lang="en-US" sz="2100" dirty="0"/>
              <a:t>1</a:t>
            </a:r>
            <a:r>
              <a:rPr lang="en-US" sz="2000" dirty="0"/>
              <a:t>)) * k</a:t>
            </a:r>
            <a:endParaRPr lang="zh-CN" altLang="en-US" sz="20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071546"/>
            <a:ext cx="7520940" cy="4137103"/>
          </a:xfrm>
        </p:spPr>
        <p:txBody>
          <a:bodyPr/>
          <a:lstStyle/>
          <a:p>
            <a:pPr algn="just"/>
            <a:r>
              <a:rPr lang="en-US" dirty="0"/>
              <a:t>4.1.4 </a:t>
            </a:r>
            <a:r>
              <a:rPr lang="zh-CN" altLang="en-US" dirty="0"/>
              <a:t>矩阵的压缩存储</a:t>
            </a:r>
            <a:endParaRPr lang="en-US" altLang="zh-CN" dirty="0"/>
          </a:p>
          <a:p>
            <a:pPr algn="just">
              <a:buFont typeface="Arial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压缩存储</a:t>
            </a:r>
            <a:r>
              <a:rPr lang="zh-CN" altLang="en-US" b="0" dirty="0"/>
              <a:t>是指为多个值相同的矩阵元素分配一个存储空间，值为</a:t>
            </a:r>
            <a:r>
              <a:rPr lang="en-US" b="0" dirty="0"/>
              <a:t>0</a:t>
            </a:r>
            <a:r>
              <a:rPr lang="zh-CN" altLang="en-US" b="0" dirty="0"/>
              <a:t>的矩阵元素不分配空间的存储方式。</a:t>
            </a:r>
            <a:endParaRPr lang="en-US" altLang="zh-CN" b="0" dirty="0"/>
          </a:p>
          <a:p>
            <a:pPr algn="just">
              <a:buFont typeface="Arial" pitchFamily="34" charset="0"/>
              <a:buChar char="•"/>
            </a:pPr>
            <a:r>
              <a:rPr lang="zh-CN" altLang="en-US" b="0" dirty="0"/>
              <a:t>把矩阵元素值相同的或者的</a:t>
            </a:r>
            <a:r>
              <a:rPr lang="en-US" b="0" dirty="0"/>
              <a:t>0</a:t>
            </a:r>
            <a:r>
              <a:rPr lang="zh-CN" altLang="en-US" b="0" dirty="0"/>
              <a:t>元素分布有一定规律的矩阵，则称之为</a:t>
            </a:r>
            <a:r>
              <a:rPr lang="zh-CN" altLang="en-US" b="0" dirty="0">
                <a:solidFill>
                  <a:srgbClr val="FF0000"/>
                </a:solidFill>
              </a:rPr>
              <a:t>特殊矩阵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algn="just">
              <a:buFont typeface="Arial" pitchFamily="34" charset="0"/>
              <a:buChar char="•"/>
            </a:pPr>
            <a:r>
              <a:rPr lang="zh-CN" altLang="en-US" b="0" dirty="0"/>
              <a:t>如果矩阵中的</a:t>
            </a:r>
            <a:r>
              <a:rPr lang="en-US" b="0" dirty="0"/>
              <a:t>0</a:t>
            </a:r>
            <a:r>
              <a:rPr lang="zh-CN" altLang="en-US" b="0" dirty="0"/>
              <a:t>元素占绝大部分，则称此类矩阵为</a:t>
            </a:r>
            <a:r>
              <a:rPr lang="zh-CN" altLang="en-US" b="0" dirty="0">
                <a:solidFill>
                  <a:srgbClr val="FF0000"/>
                </a:solidFill>
              </a:rPr>
              <a:t>稀疏矩阵</a:t>
            </a:r>
            <a:r>
              <a:rPr lang="zh-CN" altLang="en-US" b="0" dirty="0"/>
              <a:t>。</a:t>
            </a:r>
          </a:p>
          <a:p>
            <a:pPr algn="just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142984"/>
            <a:ext cx="7520940" cy="500066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1.</a:t>
            </a:r>
            <a:r>
              <a:rPr lang="zh-CN" altLang="en-US" dirty="0"/>
              <a:t>特殊矩阵</a:t>
            </a:r>
            <a:endParaRPr lang="en-US" altLang="zh-CN" dirty="0"/>
          </a:p>
          <a:p>
            <a:pPr algn="just"/>
            <a:r>
              <a:rPr lang="zh-CN" altLang="en-US" b="0" dirty="0"/>
              <a:t>若</a:t>
            </a:r>
            <a:r>
              <a:rPr lang="en-US" b="0" dirty="0"/>
              <a:t>n</a:t>
            </a:r>
            <a:r>
              <a:rPr lang="zh-CN" altLang="en-US" b="0" dirty="0"/>
              <a:t>阶方阵</a:t>
            </a:r>
            <a:r>
              <a:rPr lang="en-US" b="0" dirty="0"/>
              <a:t>A</a:t>
            </a:r>
            <a:r>
              <a:rPr lang="zh-CN" altLang="en-US" b="0" dirty="0"/>
              <a:t>中的数据元素满足下列性质：</a:t>
            </a:r>
          </a:p>
          <a:p>
            <a:pPr algn="just"/>
            <a:r>
              <a:rPr lang="en-US" b="0" dirty="0"/>
              <a:t>		</a:t>
            </a:r>
            <a:r>
              <a:rPr lang="en-US" b="0" dirty="0" err="1"/>
              <a:t>a</a:t>
            </a:r>
            <a:r>
              <a:rPr lang="en-US" b="0" baseline="-25000" dirty="0" err="1"/>
              <a:t>i,j</a:t>
            </a:r>
            <a:r>
              <a:rPr lang="en-US" b="0" dirty="0"/>
              <a:t> = </a:t>
            </a:r>
            <a:r>
              <a:rPr lang="en-US" b="0" dirty="0" err="1"/>
              <a:t>a</a:t>
            </a:r>
            <a:r>
              <a:rPr lang="en-US" b="0" baseline="-25000" dirty="0" err="1"/>
              <a:t>j,i</a:t>
            </a:r>
            <a:r>
              <a:rPr lang="en-US" b="0" dirty="0"/>
              <a:t>   </a:t>
            </a:r>
            <a:r>
              <a:rPr lang="zh-CN" altLang="en-US" b="0" dirty="0"/>
              <a:t>（</a:t>
            </a:r>
            <a:r>
              <a:rPr lang="en-US" b="0" dirty="0"/>
              <a:t>0 ≤ </a:t>
            </a:r>
            <a:r>
              <a:rPr lang="en-US" b="0" dirty="0" err="1"/>
              <a:t>i</a:t>
            </a:r>
            <a:r>
              <a:rPr lang="zh-CN" altLang="en-US" b="0" dirty="0"/>
              <a:t>，</a:t>
            </a:r>
            <a:r>
              <a:rPr lang="en-US" b="0" dirty="0"/>
              <a:t>j </a:t>
            </a:r>
            <a:r>
              <a:rPr lang="zh-CN" altLang="en-US" b="0" dirty="0"/>
              <a:t>＜</a:t>
            </a:r>
            <a:r>
              <a:rPr lang="en-US" b="0" dirty="0"/>
              <a:t> n</a:t>
            </a:r>
            <a:r>
              <a:rPr lang="zh-CN" altLang="en-US" b="0" dirty="0"/>
              <a:t>）</a:t>
            </a:r>
          </a:p>
          <a:p>
            <a:pPr algn="just"/>
            <a:r>
              <a:rPr lang="zh-CN" altLang="en-US" b="0" dirty="0"/>
              <a:t>则称矩阵</a:t>
            </a:r>
            <a:r>
              <a:rPr lang="en-US" b="0" dirty="0"/>
              <a:t>A</a:t>
            </a:r>
            <a:r>
              <a:rPr lang="zh-CN" altLang="en-US" b="0" dirty="0"/>
              <a:t>为</a:t>
            </a:r>
            <a:r>
              <a:rPr lang="en-US" b="0" dirty="0"/>
              <a:t>n</a:t>
            </a:r>
            <a:r>
              <a:rPr lang="zh-CN" altLang="en-US" b="0" dirty="0"/>
              <a:t>阶</a:t>
            </a:r>
            <a:r>
              <a:rPr lang="zh-CN" altLang="en-US" dirty="0">
                <a:solidFill>
                  <a:srgbClr val="FF0000"/>
                </a:solidFill>
              </a:rPr>
              <a:t>对称矩阵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r>
              <a:rPr lang="zh-CN" altLang="en-US" b="0" dirty="0"/>
              <a:t>假设以一维数组</a:t>
            </a:r>
            <a:r>
              <a:rPr lang="en-US" b="0" dirty="0"/>
              <a:t>SC[0</a:t>
            </a:r>
            <a:r>
              <a:rPr lang="zh-CN" altLang="en-US" b="0" dirty="0"/>
              <a:t>～</a:t>
            </a:r>
            <a:r>
              <a:rPr lang="en-US" b="0" dirty="0"/>
              <a:t>n(n+1)/2</a:t>
            </a:r>
            <a:r>
              <a:rPr lang="en-US" altLang="zh-CN" b="0" dirty="0"/>
              <a:t>-1</a:t>
            </a:r>
            <a:r>
              <a:rPr lang="en-US" b="0" dirty="0"/>
              <a:t>]</a:t>
            </a:r>
            <a:r>
              <a:rPr lang="zh-CN" altLang="en-US" b="0" dirty="0"/>
              <a:t>来存储对阵矩阵</a:t>
            </a:r>
            <a:r>
              <a:rPr lang="en-US" b="0" dirty="0"/>
              <a:t>A[n][n]</a:t>
            </a:r>
            <a:r>
              <a:rPr lang="zh-CN" altLang="en-US" b="0" dirty="0"/>
              <a:t>，则</a:t>
            </a:r>
            <a:r>
              <a:rPr lang="en-US" b="0" dirty="0"/>
              <a:t>SC[k]</a:t>
            </a:r>
            <a:r>
              <a:rPr lang="zh-CN" altLang="en-US" b="0" dirty="0"/>
              <a:t>与矩阵元素</a:t>
            </a:r>
            <a:r>
              <a:rPr lang="en-US" b="0" dirty="0" err="1"/>
              <a:t>a</a:t>
            </a:r>
            <a:r>
              <a:rPr lang="en-US" b="0" baseline="-25000" dirty="0" err="1"/>
              <a:t>ij</a:t>
            </a:r>
            <a:r>
              <a:rPr lang="zh-CN" altLang="en-US" b="0" dirty="0"/>
              <a:t>之间存在着一一对应关系：</a:t>
            </a:r>
          </a:p>
          <a:p>
            <a:pPr algn="just"/>
            <a:r>
              <a:rPr lang="en-US" b="0" dirty="0"/>
              <a:t>                     k = </a:t>
            </a:r>
            <a:r>
              <a:rPr lang="en-US" b="0" dirty="0" err="1"/>
              <a:t>i</a:t>
            </a:r>
            <a:r>
              <a:rPr lang="en-US" b="0" dirty="0"/>
              <a:t>*(i+1)/2 + j       </a:t>
            </a:r>
            <a:r>
              <a:rPr lang="zh-CN" altLang="en-US" b="0" dirty="0"/>
              <a:t>当</a:t>
            </a:r>
            <a:r>
              <a:rPr lang="en-US" b="0" dirty="0" err="1"/>
              <a:t>i≥j</a:t>
            </a:r>
            <a:endParaRPr lang="zh-CN" altLang="en-US" b="0" dirty="0"/>
          </a:p>
          <a:p>
            <a:pPr algn="just"/>
            <a:r>
              <a:rPr lang="en-US" b="0" dirty="0"/>
              <a:t>                     k = j*(j+1)/2 + </a:t>
            </a:r>
            <a:r>
              <a:rPr lang="en-US" b="0" dirty="0" err="1"/>
              <a:t>i</a:t>
            </a:r>
            <a:r>
              <a:rPr lang="en-US" b="0" dirty="0"/>
              <a:t>       </a:t>
            </a:r>
            <a:r>
              <a:rPr lang="zh-CN" altLang="en-US" b="0" dirty="0"/>
              <a:t>当</a:t>
            </a:r>
            <a:r>
              <a:rPr lang="en-US" altLang="zh-CN" b="0" dirty="0" err="1"/>
              <a:t>i</a:t>
            </a:r>
            <a:r>
              <a:rPr lang="en-US" b="0" dirty="0"/>
              <a:t>&lt;=j</a:t>
            </a:r>
            <a:endParaRPr lang="zh-CN" altLang="en-US" dirty="0"/>
          </a:p>
          <a:p>
            <a:pPr algn="just"/>
            <a:endParaRPr lang="zh-CN" altLang="en-US" dirty="0"/>
          </a:p>
          <a:p>
            <a:pPr algn="just"/>
            <a:endParaRPr lang="zh-CN" altLang="en-US" dirty="0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2786058"/>
            <a:ext cx="18573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7224" y="1000108"/>
            <a:ext cx="7520940" cy="3579849"/>
          </a:xfrm>
        </p:spPr>
        <p:txBody>
          <a:bodyPr/>
          <a:lstStyle/>
          <a:p>
            <a:pPr algn="just"/>
            <a:r>
              <a:rPr lang="en-US" dirty="0"/>
              <a:t>2.</a:t>
            </a:r>
            <a:r>
              <a:rPr lang="zh-CN" altLang="en-US" dirty="0"/>
              <a:t>稀疏矩阵的压缩存储</a:t>
            </a:r>
            <a:endParaRPr lang="en-US" altLang="zh-CN" dirty="0"/>
          </a:p>
          <a:p>
            <a:pPr algn="just"/>
            <a:r>
              <a:rPr lang="zh-CN" altLang="en-US" b="0" dirty="0"/>
              <a:t>假设在</a:t>
            </a:r>
            <a:r>
              <a:rPr lang="en-US" b="0" dirty="0"/>
              <a:t>n*m</a:t>
            </a:r>
            <a:r>
              <a:rPr lang="zh-CN" altLang="en-US" b="0" dirty="0"/>
              <a:t>的矩阵中，有</a:t>
            </a:r>
            <a:r>
              <a:rPr lang="en-US" b="0" dirty="0"/>
              <a:t>x</a:t>
            </a:r>
            <a:r>
              <a:rPr lang="zh-CN" altLang="en-US" b="0" dirty="0"/>
              <a:t>个数据元素的值不为</a:t>
            </a:r>
            <a:r>
              <a:rPr lang="en-US" b="0" dirty="0"/>
              <a:t>0</a:t>
            </a:r>
            <a:r>
              <a:rPr lang="zh-CN" altLang="en-US" b="0" dirty="0"/>
              <a:t>，设</a:t>
            </a:r>
          </a:p>
          <a:p>
            <a:pPr algn="just"/>
            <a:r>
              <a:rPr lang="en-US" b="0" dirty="0"/>
              <a:t>               </a:t>
            </a:r>
            <a:endParaRPr lang="zh-CN" altLang="en-US" b="0" dirty="0"/>
          </a:p>
          <a:p>
            <a:pPr algn="just"/>
            <a:r>
              <a:rPr lang="zh-CN" altLang="en-US" b="0" dirty="0"/>
              <a:t>则称</a:t>
            </a:r>
            <a:r>
              <a:rPr lang="en-US" b="0" dirty="0"/>
              <a:t>Γ</a:t>
            </a:r>
            <a:r>
              <a:rPr lang="zh-CN" altLang="en-US" b="0" dirty="0"/>
              <a:t>（</a:t>
            </a:r>
            <a:r>
              <a:rPr lang="en-US" altLang="zh-CN" b="0" dirty="0"/>
              <a:t>gamma</a:t>
            </a:r>
            <a:r>
              <a:rPr lang="zh-CN" altLang="en-US" b="0" dirty="0"/>
              <a:t>，伽马）为稀疏因子，如果某一矩阵的稀疏因子</a:t>
            </a:r>
            <a:r>
              <a:rPr lang="en-US" b="0" dirty="0"/>
              <a:t>Γ≤ 0.05</a:t>
            </a:r>
            <a:r>
              <a:rPr lang="zh-CN" altLang="en-US" b="0" dirty="0"/>
              <a:t>时，则称该矩阵为稀疏矩阵。</a:t>
            </a:r>
          </a:p>
          <a:p>
            <a:pPr algn="just"/>
            <a:endParaRPr lang="zh-CN" altLang="en-US" dirty="0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2071678"/>
            <a:ext cx="11430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3643314"/>
            <a:ext cx="3571900" cy="1778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357158" y="5357826"/>
            <a:ext cx="83582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的三元组线性表为：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		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((0,1,2),(0,2,-1),(2,0,-1),(2,5,4),(4,1,8),(5,0,5),(6,5,9))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zh-CN" b="1" dirty="0"/>
              <a:t>4.2 </a:t>
            </a:r>
            <a:r>
              <a:rPr lang="zh-CN" altLang="zh-CN" b="1" dirty="0"/>
              <a:t>扩展线性表</a:t>
            </a:r>
            <a:r>
              <a:rPr lang="en-US" altLang="zh-CN" b="1" dirty="0"/>
              <a:t>---</a:t>
            </a:r>
            <a:r>
              <a:rPr lang="zh-CN" altLang="zh-CN" b="1" dirty="0">
                <a:solidFill>
                  <a:srgbClr val="FF0000"/>
                </a:solidFill>
              </a:rPr>
              <a:t>广义表</a:t>
            </a:r>
            <a:r>
              <a:rPr lang="en-US" altLang="zh-CN" b="1" dirty="0"/>
              <a:t>*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500174"/>
            <a:ext cx="7673506" cy="485778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zh-CN" dirty="0"/>
              <a:t>4.2.1</a:t>
            </a:r>
            <a:r>
              <a:rPr lang="zh-CN" altLang="zh-CN" dirty="0"/>
              <a:t>广义表的定义及性质</a:t>
            </a:r>
            <a:endParaRPr lang="en-US" altLang="zh-CN" dirty="0"/>
          </a:p>
          <a:p>
            <a:pPr algn="just"/>
            <a:r>
              <a:rPr lang="zh-CN" altLang="zh-CN" b="0" dirty="0">
                <a:solidFill>
                  <a:srgbClr val="FF0000"/>
                </a:solidFill>
              </a:rPr>
              <a:t>广义表</a:t>
            </a:r>
            <a:r>
              <a:rPr lang="en-US" altLang="zh-CN" b="0" dirty="0">
                <a:solidFill>
                  <a:srgbClr val="FF0000"/>
                </a:solidFill>
              </a:rPr>
              <a:t>L</a:t>
            </a:r>
            <a:r>
              <a:rPr lang="zh-CN" altLang="zh-CN" b="0" dirty="0"/>
              <a:t>是由</a:t>
            </a:r>
            <a:r>
              <a:rPr lang="en-US" altLang="zh-CN" b="0" dirty="0"/>
              <a:t>n≥0</a:t>
            </a:r>
            <a:r>
              <a:rPr lang="zh-CN" altLang="zh-CN" b="0" dirty="0"/>
              <a:t>个元素组成的有穷序列，即：</a:t>
            </a:r>
          </a:p>
          <a:p>
            <a:pPr algn="just"/>
            <a:r>
              <a:rPr lang="en-US" altLang="zh-CN" b="0" dirty="0"/>
              <a:t>            L = (a</a:t>
            </a:r>
            <a:r>
              <a:rPr lang="en-US" altLang="zh-CN" b="0" baseline="-25000" dirty="0"/>
              <a:t>1</a:t>
            </a:r>
            <a:r>
              <a:rPr lang="en-US" altLang="zh-CN" b="0" dirty="0"/>
              <a:t>,a</a:t>
            </a:r>
            <a:r>
              <a:rPr lang="en-US" altLang="zh-CN" b="0" baseline="-25000" dirty="0"/>
              <a:t>2</a:t>
            </a:r>
            <a:r>
              <a:rPr lang="en-US" altLang="zh-CN" b="0" dirty="0"/>
              <a:t>,…,a</a:t>
            </a:r>
            <a:r>
              <a:rPr lang="en-US" altLang="zh-CN" b="0" baseline="-25000" dirty="0"/>
              <a:t>i</a:t>
            </a:r>
            <a:r>
              <a:rPr lang="en-US" altLang="zh-CN" b="0" dirty="0"/>
              <a:t>,…,a</a:t>
            </a:r>
            <a:r>
              <a:rPr lang="en-US" altLang="zh-CN" b="0" baseline="-25000" dirty="0"/>
              <a:t>n</a:t>
            </a:r>
            <a:r>
              <a:rPr lang="en-US" altLang="zh-CN" b="0" dirty="0"/>
              <a:t>)</a:t>
            </a:r>
            <a:endParaRPr lang="zh-CN" altLang="zh-CN" b="0" dirty="0"/>
          </a:p>
          <a:p>
            <a:pPr algn="just"/>
            <a:r>
              <a:rPr lang="zh-CN" altLang="zh-CN" b="0" dirty="0"/>
              <a:t>其中：</a:t>
            </a:r>
            <a:r>
              <a:rPr lang="en-US" altLang="zh-CN" b="0" dirty="0"/>
              <a:t> 1) </a:t>
            </a:r>
            <a:r>
              <a:rPr lang="zh-CN" altLang="zh-CN" b="0" dirty="0"/>
              <a:t>广义表中的元素</a:t>
            </a:r>
            <a:r>
              <a:rPr lang="en-US" altLang="zh-CN" b="0" dirty="0" err="1"/>
              <a:t>a</a:t>
            </a:r>
            <a:r>
              <a:rPr lang="en-US" altLang="zh-CN" b="0" baseline="-25000" dirty="0" err="1"/>
              <a:t>i</a:t>
            </a:r>
            <a:r>
              <a:rPr lang="zh-CN" altLang="zh-CN" b="0" dirty="0"/>
              <a:t>要么是</a:t>
            </a:r>
            <a:r>
              <a:rPr lang="zh-CN" altLang="zh-CN" dirty="0">
                <a:solidFill>
                  <a:srgbClr val="FF0000"/>
                </a:solidFill>
              </a:rPr>
              <a:t>原子</a:t>
            </a:r>
            <a:r>
              <a:rPr lang="zh-CN" altLang="zh-CN" b="0" dirty="0"/>
              <a:t>，要么是</a:t>
            </a:r>
            <a:r>
              <a:rPr lang="zh-CN" altLang="zh-CN" dirty="0">
                <a:solidFill>
                  <a:srgbClr val="FF0000"/>
                </a:solidFill>
              </a:rPr>
              <a:t>广义表</a:t>
            </a:r>
            <a:r>
              <a:rPr lang="zh-CN" altLang="zh-CN" b="0" dirty="0"/>
              <a:t>。元素</a:t>
            </a:r>
            <a:r>
              <a:rPr lang="en-US" altLang="zh-CN" b="0" dirty="0" err="1"/>
              <a:t>a</a:t>
            </a:r>
            <a:r>
              <a:rPr lang="en-US" altLang="zh-CN" b="0" baseline="-25000" dirty="0" err="1"/>
              <a:t>i</a:t>
            </a:r>
            <a:r>
              <a:rPr lang="zh-CN" altLang="zh-CN" b="0" dirty="0"/>
              <a:t>可以是原子项，也可以是广义表，分别称为广义表</a:t>
            </a:r>
            <a:r>
              <a:rPr lang="en-US" altLang="zh-CN" b="0" dirty="0"/>
              <a:t>L</a:t>
            </a:r>
            <a:r>
              <a:rPr lang="zh-CN" altLang="zh-CN" b="0" dirty="0"/>
              <a:t>的</a:t>
            </a:r>
            <a:r>
              <a:rPr lang="zh-CN" altLang="zh-CN" dirty="0">
                <a:solidFill>
                  <a:srgbClr val="FF0000"/>
                </a:solidFill>
              </a:rPr>
              <a:t>原子</a:t>
            </a:r>
            <a:r>
              <a:rPr lang="zh-CN" altLang="zh-CN" b="0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子表</a:t>
            </a:r>
            <a:r>
              <a:rPr lang="zh-CN" altLang="zh-CN" b="0" dirty="0"/>
              <a:t>。</a:t>
            </a:r>
            <a:endParaRPr lang="en-US" altLang="zh-CN" b="0" dirty="0"/>
          </a:p>
          <a:p>
            <a:pPr algn="just"/>
            <a:r>
              <a:rPr lang="en-US" altLang="zh-CN" b="0" dirty="0"/>
              <a:t>		2) L</a:t>
            </a:r>
            <a:r>
              <a:rPr lang="zh-CN" altLang="zh-CN" b="0" dirty="0"/>
              <a:t>被称为</a:t>
            </a:r>
            <a:r>
              <a:rPr lang="zh-CN" altLang="zh-CN" b="0" dirty="0">
                <a:solidFill>
                  <a:srgbClr val="FF0000"/>
                </a:solidFill>
              </a:rPr>
              <a:t>广义表的名称</a:t>
            </a:r>
            <a:r>
              <a:rPr lang="zh-CN" altLang="zh-CN" b="0" dirty="0"/>
              <a:t>。</a:t>
            </a:r>
          </a:p>
          <a:p>
            <a:pPr algn="just"/>
            <a:r>
              <a:rPr lang="en-US" altLang="zh-CN" b="0" dirty="0"/>
              <a:t>		3) </a:t>
            </a:r>
            <a:r>
              <a:rPr lang="zh-CN" altLang="zh-CN" b="0" dirty="0"/>
              <a:t>在广义表的定义中，</a:t>
            </a:r>
            <a:r>
              <a:rPr lang="en-US" altLang="zh-CN" b="0" dirty="0"/>
              <a:t>n</a:t>
            </a:r>
            <a:r>
              <a:rPr lang="zh-CN" altLang="zh-CN" b="0" dirty="0"/>
              <a:t>是</a:t>
            </a:r>
            <a:r>
              <a:rPr lang="zh-CN" altLang="zh-CN" b="0" dirty="0">
                <a:solidFill>
                  <a:srgbClr val="FF0000"/>
                </a:solidFill>
              </a:rPr>
              <a:t>广义表的长度</a:t>
            </a:r>
            <a:endParaRPr lang="en-US" altLang="zh-CN" b="0" dirty="0">
              <a:solidFill>
                <a:srgbClr val="FF0000"/>
              </a:solidFill>
            </a:endParaRPr>
          </a:p>
          <a:p>
            <a:pPr algn="just"/>
            <a:r>
              <a:rPr lang="en-US" altLang="zh-CN" b="0" dirty="0">
                <a:solidFill>
                  <a:srgbClr val="FF0000"/>
                </a:solidFill>
              </a:rPr>
              <a:t>		</a:t>
            </a:r>
            <a:r>
              <a:rPr lang="en-US" altLang="zh-CN" b="0" dirty="0"/>
              <a:t>4) </a:t>
            </a:r>
            <a:r>
              <a:rPr lang="zh-CN" altLang="zh-CN" b="0" dirty="0"/>
              <a:t>当</a:t>
            </a:r>
            <a:r>
              <a:rPr lang="en-US" altLang="zh-CN" b="0" dirty="0"/>
              <a:t>L</a:t>
            </a:r>
            <a:r>
              <a:rPr lang="zh-CN" altLang="zh-CN" b="0" dirty="0"/>
              <a:t>非空时，称第一个元素为</a:t>
            </a:r>
            <a:r>
              <a:rPr lang="en-US" altLang="zh-CN" b="0" dirty="0"/>
              <a:t>a</a:t>
            </a:r>
            <a:r>
              <a:rPr lang="en-US" altLang="zh-CN" b="0" baseline="-25000" dirty="0"/>
              <a:t>1</a:t>
            </a:r>
            <a:r>
              <a:rPr lang="zh-CN" altLang="zh-CN" b="0" dirty="0"/>
              <a:t>为</a:t>
            </a:r>
            <a:r>
              <a:rPr lang="en-US" altLang="zh-CN" b="0" dirty="0"/>
              <a:t>L</a:t>
            </a:r>
            <a:r>
              <a:rPr lang="zh-CN" altLang="zh-CN" b="0" dirty="0"/>
              <a:t>的</a:t>
            </a:r>
            <a:r>
              <a:rPr lang="zh-CN" altLang="zh-CN" dirty="0">
                <a:solidFill>
                  <a:srgbClr val="FF0000"/>
                </a:solidFill>
              </a:rPr>
              <a:t>表头</a:t>
            </a:r>
            <a:r>
              <a:rPr lang="en-US" altLang="zh-CN" dirty="0">
                <a:solidFill>
                  <a:srgbClr val="FF0000"/>
                </a:solidFill>
              </a:rPr>
              <a:t>(Head)</a:t>
            </a:r>
            <a:r>
              <a:rPr lang="zh-CN" altLang="zh-CN" b="0" dirty="0"/>
              <a:t>，其余元素组成的表（</a:t>
            </a:r>
            <a:r>
              <a:rPr lang="en-US" altLang="zh-CN" b="0" dirty="0"/>
              <a:t>a</a:t>
            </a:r>
            <a:r>
              <a:rPr lang="en-US" altLang="zh-CN" b="0" baseline="-25000" dirty="0"/>
              <a:t>2</a:t>
            </a:r>
            <a:r>
              <a:rPr lang="zh-CN" altLang="zh-CN" b="0" dirty="0"/>
              <a:t>，</a:t>
            </a:r>
            <a:r>
              <a:rPr lang="en-US" altLang="zh-CN" b="0" dirty="0"/>
              <a:t>a</a:t>
            </a:r>
            <a:r>
              <a:rPr lang="en-US" altLang="zh-CN" b="0" baseline="-25000" dirty="0"/>
              <a:t>3</a:t>
            </a:r>
            <a:r>
              <a:rPr lang="zh-CN" altLang="zh-CN" b="0" dirty="0"/>
              <a:t>，</a:t>
            </a:r>
            <a:r>
              <a:rPr lang="en-US" altLang="zh-CN" b="0" dirty="0"/>
              <a:t>…</a:t>
            </a:r>
            <a:r>
              <a:rPr lang="zh-CN" altLang="zh-CN" b="0" dirty="0"/>
              <a:t>，</a:t>
            </a:r>
            <a:r>
              <a:rPr lang="en-US" altLang="zh-CN" b="0" dirty="0"/>
              <a:t>a</a:t>
            </a:r>
            <a:r>
              <a:rPr lang="en-US" altLang="zh-CN" b="0" baseline="-25000" dirty="0"/>
              <a:t>n</a:t>
            </a:r>
            <a:r>
              <a:rPr lang="en-US" altLang="zh-CN" b="0" dirty="0"/>
              <a:t>)</a:t>
            </a:r>
            <a:r>
              <a:rPr lang="zh-CN" altLang="zh-CN" b="0" dirty="0"/>
              <a:t>为</a:t>
            </a:r>
            <a:r>
              <a:rPr lang="zh-CN" altLang="zh-CN" dirty="0">
                <a:solidFill>
                  <a:srgbClr val="FF0000"/>
                </a:solidFill>
              </a:rPr>
              <a:t>表尾</a:t>
            </a:r>
            <a:r>
              <a:rPr lang="en-US" altLang="zh-CN" dirty="0">
                <a:solidFill>
                  <a:srgbClr val="FF0000"/>
                </a:solidFill>
              </a:rPr>
              <a:t>(tail)</a:t>
            </a:r>
            <a:r>
              <a:rPr lang="zh-CN" altLang="zh-CN" b="0" dirty="0"/>
              <a:t>。</a:t>
            </a:r>
            <a:endParaRPr lang="en-US" altLang="zh-CN" b="0" dirty="0"/>
          </a:p>
          <a:p>
            <a:pPr algn="just"/>
            <a:r>
              <a:rPr lang="en-US" altLang="zh-CN" b="0" dirty="0"/>
              <a:t>		</a:t>
            </a:r>
            <a:r>
              <a:rPr lang="zh-CN" altLang="zh-CN" b="0" dirty="0"/>
              <a:t>很显然，在广义表的定义中又用到了广义表的概念，所以广义表是一个递归定义。</a:t>
            </a:r>
          </a:p>
          <a:p>
            <a:pPr algn="just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546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71546"/>
            <a:ext cx="5357850" cy="4886854"/>
          </a:xfrm>
        </p:spPr>
        <p:txBody>
          <a:bodyPr>
            <a:normAutofit fontScale="92500"/>
          </a:bodyPr>
          <a:lstStyle/>
          <a:p>
            <a:pPr algn="just"/>
            <a:r>
              <a:rPr lang="zh-CN" altLang="zh-CN" sz="1900" dirty="0"/>
              <a:t>四个重要结论：</a:t>
            </a:r>
          </a:p>
          <a:p>
            <a:pPr algn="just"/>
            <a:r>
              <a:rPr lang="en-US" altLang="zh-CN" sz="1900" b="0" dirty="0"/>
              <a:t>    </a:t>
            </a:r>
            <a:r>
              <a:rPr lang="zh-CN" altLang="zh-CN" sz="1900" b="0" dirty="0"/>
              <a:t>（</a:t>
            </a:r>
            <a:r>
              <a:rPr lang="en-US" altLang="zh-CN" sz="1900" b="0" dirty="0"/>
              <a:t>1</a:t>
            </a:r>
            <a:r>
              <a:rPr lang="zh-CN" altLang="zh-CN" sz="1900" b="0" dirty="0"/>
              <a:t>）</a:t>
            </a:r>
            <a:r>
              <a:rPr lang="zh-CN" altLang="zh-CN" sz="1900" dirty="0">
                <a:solidFill>
                  <a:srgbClr val="FF0000"/>
                </a:solidFill>
              </a:rPr>
              <a:t>层次性</a:t>
            </a:r>
            <a:r>
              <a:rPr lang="zh-CN" altLang="zh-CN" sz="1900" b="0" dirty="0"/>
              <a:t>。广义表中的元素是不</a:t>
            </a:r>
            <a:r>
              <a:rPr lang="en-US" altLang="zh-CN" sz="1900" b="0" dirty="0"/>
              <a:t>“</a:t>
            </a:r>
            <a:r>
              <a:rPr lang="zh-CN" altLang="zh-CN" sz="1900" b="0" dirty="0"/>
              <a:t>均匀</a:t>
            </a:r>
            <a:r>
              <a:rPr lang="en-US" altLang="zh-CN" sz="1900" b="0" dirty="0"/>
              <a:t>”</a:t>
            </a:r>
            <a:r>
              <a:rPr lang="zh-CN" altLang="zh-CN" sz="1900" b="0" dirty="0"/>
              <a:t>的</a:t>
            </a:r>
            <a:r>
              <a:rPr lang="en-US" altLang="zh-CN" sz="1900" b="0" dirty="0"/>
              <a:t>(</a:t>
            </a:r>
            <a:r>
              <a:rPr lang="zh-CN" altLang="zh-CN" sz="1900" b="0" dirty="0"/>
              <a:t>元素类型不同</a:t>
            </a:r>
            <a:r>
              <a:rPr lang="en-US" altLang="zh-CN" sz="1900" b="0" dirty="0"/>
              <a:t>)</a:t>
            </a:r>
            <a:r>
              <a:rPr lang="zh-CN" altLang="zh-CN" sz="1900" b="0" dirty="0"/>
              <a:t>，是一个多层次的结构。</a:t>
            </a:r>
            <a:r>
              <a:rPr lang="zh-CN" altLang="en-US" sz="1900" b="0" dirty="0"/>
              <a:t>右</a:t>
            </a:r>
            <a:r>
              <a:rPr lang="zh-CN" altLang="zh-CN" sz="1900" b="0" dirty="0"/>
              <a:t>图表示的是广义表</a:t>
            </a:r>
            <a:r>
              <a:rPr lang="en-US" altLang="zh-CN" sz="1900" b="0" dirty="0"/>
              <a:t>E</a:t>
            </a:r>
            <a:r>
              <a:rPr lang="zh-CN" altLang="en-US" sz="1900" b="0" dirty="0"/>
              <a:t>，</a:t>
            </a:r>
            <a:r>
              <a:rPr lang="zh-CN" altLang="zh-CN" sz="1900" b="0" dirty="0"/>
              <a:t>图中</a:t>
            </a:r>
            <a:r>
              <a:rPr lang="en-US" altLang="zh-CN" sz="1900" b="0" dirty="0"/>
              <a:t>○</a:t>
            </a:r>
            <a:r>
              <a:rPr lang="zh-CN" altLang="zh-CN" sz="1900" b="0" dirty="0"/>
              <a:t>表示广义表，</a:t>
            </a:r>
            <a:r>
              <a:rPr lang="en-US" altLang="zh-CN" sz="1900" b="0" dirty="0"/>
              <a:t>□</a:t>
            </a:r>
            <a:r>
              <a:rPr lang="zh-CN" altLang="zh-CN" sz="1900" b="0" dirty="0"/>
              <a:t>表示原子。其中</a:t>
            </a:r>
            <a:r>
              <a:rPr lang="en-US" altLang="zh-CN" sz="1900" b="0" dirty="0"/>
              <a:t>○</a:t>
            </a:r>
            <a:r>
              <a:rPr lang="zh-CN" altLang="zh-CN" sz="1900" b="0" dirty="0"/>
              <a:t>有几层，广义表的深度就为几层。</a:t>
            </a:r>
            <a:endParaRPr lang="en-US" altLang="zh-CN" sz="1900" b="0" dirty="0"/>
          </a:p>
          <a:p>
            <a:pPr algn="just"/>
            <a:endParaRPr lang="zh-CN" altLang="zh-CN" sz="1900" b="0" dirty="0"/>
          </a:p>
          <a:p>
            <a:pPr algn="just"/>
            <a:r>
              <a:rPr lang="en-US" altLang="zh-CN" sz="1900" b="0" dirty="0"/>
              <a:t>    </a:t>
            </a:r>
            <a:r>
              <a:rPr lang="zh-CN" altLang="zh-CN" sz="1900" b="0" dirty="0"/>
              <a:t>（</a:t>
            </a:r>
            <a:r>
              <a:rPr lang="en-US" altLang="zh-CN" sz="1900" b="0" dirty="0"/>
              <a:t>2</a:t>
            </a:r>
            <a:r>
              <a:rPr lang="zh-CN" altLang="zh-CN" sz="1900" b="0" dirty="0"/>
              <a:t>）</a:t>
            </a:r>
            <a:r>
              <a:rPr lang="zh-CN" altLang="zh-CN" sz="1900" dirty="0">
                <a:solidFill>
                  <a:srgbClr val="FF0000"/>
                </a:solidFill>
              </a:rPr>
              <a:t>共享性</a:t>
            </a:r>
            <a:r>
              <a:rPr lang="zh-CN" altLang="zh-CN" sz="1900" b="0" dirty="0"/>
              <a:t>。如</a:t>
            </a:r>
            <a:r>
              <a:rPr lang="zh-CN" altLang="en-US" sz="1900" b="0" dirty="0"/>
              <a:t>右</a:t>
            </a:r>
            <a:r>
              <a:rPr lang="zh-CN" altLang="zh-CN" sz="1900" b="0" dirty="0"/>
              <a:t>例中，广义表</a:t>
            </a:r>
            <a:r>
              <a:rPr lang="en-US" altLang="zh-CN" sz="1900" b="0" dirty="0"/>
              <a:t>A</a:t>
            </a:r>
            <a:r>
              <a:rPr lang="zh-CN" altLang="zh-CN" sz="1900" b="0" dirty="0"/>
              <a:t>、</a:t>
            </a:r>
            <a:r>
              <a:rPr lang="en-US" altLang="zh-CN" sz="1900" b="0" dirty="0"/>
              <a:t>B</a:t>
            </a:r>
            <a:r>
              <a:rPr lang="zh-CN" altLang="zh-CN" sz="1900" b="0" dirty="0"/>
              <a:t>和</a:t>
            </a:r>
            <a:r>
              <a:rPr lang="en-US" altLang="zh-CN" sz="1900" b="0" dirty="0"/>
              <a:t>C</a:t>
            </a:r>
            <a:r>
              <a:rPr lang="zh-CN" altLang="zh-CN" sz="1900" b="0" dirty="0"/>
              <a:t>为广义表</a:t>
            </a:r>
            <a:r>
              <a:rPr lang="en-US" altLang="zh-CN" sz="1900" b="0" dirty="0"/>
              <a:t>E</a:t>
            </a:r>
            <a:r>
              <a:rPr lang="zh-CN" altLang="zh-CN" sz="1900" b="0" dirty="0"/>
              <a:t>的子表，那么，在广义表</a:t>
            </a:r>
            <a:r>
              <a:rPr lang="en-US" altLang="zh-CN" sz="1900" b="0" dirty="0"/>
              <a:t>E</a:t>
            </a:r>
            <a:r>
              <a:rPr lang="zh-CN" altLang="zh-CN" sz="1900" b="0" dirty="0"/>
              <a:t>中就不必列出子表的值，可以通过广义表的名称来引用。</a:t>
            </a:r>
          </a:p>
          <a:p>
            <a:pPr algn="just"/>
            <a:r>
              <a:rPr lang="en-US" altLang="zh-CN" sz="1900" b="0" dirty="0"/>
              <a:t>    </a:t>
            </a:r>
            <a:r>
              <a:rPr lang="zh-CN" altLang="zh-CN" sz="1900" b="0" dirty="0"/>
              <a:t>（</a:t>
            </a:r>
            <a:r>
              <a:rPr lang="en-US" altLang="zh-CN" sz="1900" b="0" dirty="0"/>
              <a:t>3</a:t>
            </a:r>
            <a:r>
              <a:rPr lang="zh-CN" altLang="zh-CN" sz="1900" b="0" dirty="0"/>
              <a:t>）</a:t>
            </a:r>
            <a:r>
              <a:rPr lang="zh-CN" altLang="zh-CN" sz="1900" dirty="0">
                <a:solidFill>
                  <a:srgbClr val="FF0000"/>
                </a:solidFill>
              </a:rPr>
              <a:t>递归性</a:t>
            </a:r>
            <a:r>
              <a:rPr lang="zh-CN" altLang="zh-CN" sz="1900" b="0" dirty="0"/>
              <a:t>。如</a:t>
            </a:r>
            <a:r>
              <a:rPr lang="zh-CN" altLang="en-US" sz="1900" b="0" dirty="0"/>
              <a:t>右</a:t>
            </a:r>
            <a:r>
              <a:rPr lang="zh-CN" altLang="zh-CN" sz="1900" b="0" dirty="0"/>
              <a:t>例中的广义表</a:t>
            </a:r>
            <a:r>
              <a:rPr lang="en-US" altLang="zh-CN" sz="1900" b="0" dirty="0"/>
              <a:t>F</a:t>
            </a:r>
            <a:r>
              <a:rPr lang="zh-CN" altLang="zh-CN" sz="1900" b="0" dirty="0"/>
              <a:t>可以得知，广义表可以是其本身的一个子表。</a:t>
            </a:r>
          </a:p>
          <a:p>
            <a:pPr algn="just"/>
            <a:r>
              <a:rPr lang="en-US" altLang="zh-CN" sz="1900" b="0" dirty="0"/>
              <a:t>   </a:t>
            </a:r>
            <a:r>
              <a:rPr lang="zh-CN" altLang="zh-CN" sz="1900" b="0" dirty="0"/>
              <a:t>（</a:t>
            </a:r>
            <a:r>
              <a:rPr lang="en-US" altLang="zh-CN" sz="1900" b="0" dirty="0"/>
              <a:t>4</a:t>
            </a:r>
            <a:r>
              <a:rPr lang="zh-CN" altLang="zh-CN" sz="1900" b="0" dirty="0"/>
              <a:t>）任何非空广义表的表头可以是原子，也可以是广义表，但其</a:t>
            </a:r>
            <a:r>
              <a:rPr lang="zh-CN" altLang="zh-CN" sz="1900" dirty="0">
                <a:solidFill>
                  <a:srgbClr val="FF0000"/>
                </a:solidFill>
              </a:rPr>
              <a:t>表尾必定是广义表</a:t>
            </a:r>
            <a:r>
              <a:rPr lang="zh-CN" altLang="zh-CN" sz="1900" b="0" dirty="0"/>
              <a:t>。</a:t>
            </a:r>
          </a:p>
          <a:p>
            <a:pPr algn="just"/>
            <a:endParaRPr lang="zh-CN" altLang="en-US" dirty="0"/>
          </a:p>
        </p:txBody>
      </p:sp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6215074" y="3645024"/>
            <a:ext cx="2428892" cy="15696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()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(e)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d))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())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058" name="Picture 3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64636"/>
            <a:ext cx="3081344" cy="218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19260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zh-CN" b="1" dirty="0"/>
              <a:t>4.2.2 </a:t>
            </a:r>
            <a:r>
              <a:rPr lang="zh-CN" altLang="zh-CN" b="1" dirty="0"/>
              <a:t>广义表的存储表示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5786" y="1571612"/>
            <a:ext cx="8030696" cy="3086084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1</a:t>
            </a:r>
            <a:r>
              <a:rPr lang="zh-CN" altLang="zh-CN" dirty="0"/>
              <a:t>．</a:t>
            </a:r>
            <a:r>
              <a:rPr lang="zh-CN" altLang="zh-CN" dirty="0">
                <a:solidFill>
                  <a:srgbClr val="FF0000"/>
                </a:solidFill>
              </a:rPr>
              <a:t>广义表的头尾链表存储方式</a:t>
            </a:r>
            <a:endParaRPr lang="en-US" altLang="zh-CN" dirty="0">
              <a:solidFill>
                <a:srgbClr val="FF0000"/>
              </a:solidFill>
            </a:endParaRPr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根据种类不同，广义表中的元素可以分为两类：原子结点和表结点。</a:t>
            </a:r>
            <a:endParaRPr lang="en-US" altLang="zh-CN" b="0" dirty="0"/>
          </a:p>
          <a:p>
            <a:pPr algn="just">
              <a:buFont typeface="Arial" pitchFamily="34" charset="0"/>
              <a:buChar char="•"/>
            </a:pPr>
            <a:r>
              <a:rPr lang="zh-CN" altLang="zh-CN" dirty="0">
                <a:solidFill>
                  <a:srgbClr val="FF0000"/>
                </a:solidFill>
              </a:rPr>
              <a:t>表结点</a:t>
            </a:r>
            <a:r>
              <a:rPr lang="zh-CN" altLang="zh-CN" b="0" dirty="0"/>
              <a:t>可由三个域组成：</a:t>
            </a:r>
            <a:r>
              <a:rPr lang="zh-CN" altLang="zh-CN" dirty="0">
                <a:solidFill>
                  <a:srgbClr val="0033CC"/>
                </a:solidFill>
              </a:rPr>
              <a:t>标识域、指示头结点的指针域和指示尾节点的指针域</a:t>
            </a:r>
            <a:r>
              <a:rPr lang="zh-CN" altLang="zh-CN" b="0" dirty="0"/>
              <a:t>；</a:t>
            </a:r>
            <a:endParaRPr lang="en-US" altLang="zh-CN" b="0" dirty="0"/>
          </a:p>
          <a:p>
            <a:pPr algn="just">
              <a:buFont typeface="Arial" pitchFamily="34" charset="0"/>
              <a:buChar char="•"/>
            </a:pPr>
            <a:r>
              <a:rPr lang="zh-CN" altLang="zh-CN" dirty="0">
                <a:solidFill>
                  <a:srgbClr val="FF0000"/>
                </a:solidFill>
              </a:rPr>
              <a:t>原子结点</a:t>
            </a:r>
            <a:r>
              <a:rPr lang="zh-CN" altLang="zh-CN" b="0" dirty="0"/>
              <a:t>只需两个域：</a:t>
            </a:r>
            <a:r>
              <a:rPr lang="zh-CN" altLang="zh-CN" dirty="0">
                <a:solidFill>
                  <a:srgbClr val="0033CC"/>
                </a:solidFill>
              </a:rPr>
              <a:t>标识域和值域</a:t>
            </a:r>
            <a:r>
              <a:rPr lang="zh-CN" altLang="zh-CN" b="0" dirty="0"/>
              <a:t>。</a:t>
            </a:r>
          </a:p>
          <a:p>
            <a:pPr algn="just"/>
            <a:endParaRPr lang="zh-CN" altLang="en-US" dirty="0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4526885"/>
            <a:ext cx="3857652" cy="1721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41258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692696"/>
            <a:ext cx="7520940" cy="576064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zh-CN" altLang="zh-CN" dirty="0"/>
              <a:t>算法</a:t>
            </a:r>
            <a:r>
              <a:rPr lang="en-US" altLang="zh-CN" dirty="0"/>
              <a:t>4.2</a:t>
            </a:r>
            <a:r>
              <a:rPr lang="zh-CN" altLang="zh-CN" dirty="0"/>
              <a:t>：广义表头尾链表存储表示方式的结点类</a:t>
            </a:r>
          </a:p>
          <a:p>
            <a:pPr algn="just"/>
            <a:r>
              <a:rPr lang="en-US" altLang="zh-CN" b="0" dirty="0" err="1"/>
              <a:t>struct</a:t>
            </a:r>
            <a:r>
              <a:rPr lang="en-US" altLang="zh-CN" b="0" dirty="0"/>
              <a:t> 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 { //</a:t>
            </a:r>
            <a:r>
              <a:rPr lang="zh-CN" altLang="zh-CN" b="0" dirty="0"/>
              <a:t>广义表结点类定义</a:t>
            </a:r>
          </a:p>
          <a:p>
            <a:pPr algn="just"/>
            <a:r>
              <a:rPr lang="en-US" altLang="zh-CN" b="0" dirty="0"/>
              <a:t>public:</a:t>
            </a:r>
            <a:endParaRPr lang="zh-CN" altLang="zh-CN" b="0" dirty="0"/>
          </a:p>
          <a:p>
            <a:pPr algn="just"/>
            <a:r>
              <a:rPr lang="en-US" altLang="zh-CN" b="0" dirty="0"/>
              <a:t>	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() : </a:t>
            </a:r>
            <a:r>
              <a:rPr lang="en-US" altLang="zh-CN" b="0" dirty="0" err="1"/>
              <a:t>utype</a:t>
            </a:r>
            <a:r>
              <a:rPr lang="en-US" altLang="zh-CN" b="0" dirty="0"/>
              <a:t>(0), </a:t>
            </a:r>
            <a:r>
              <a:rPr lang="en-US" altLang="zh-CN" b="0" dirty="0" err="1"/>
              <a:t>tlink</a:t>
            </a:r>
            <a:r>
              <a:rPr lang="en-US" altLang="zh-CN" b="0" dirty="0"/>
              <a:t>(NULL), info.ref(0) {}         //</a:t>
            </a:r>
            <a:r>
              <a:rPr lang="zh-CN" altLang="zh-CN" b="0" dirty="0"/>
              <a:t>构造函数</a:t>
            </a:r>
          </a:p>
          <a:p>
            <a:pPr algn="just"/>
            <a:r>
              <a:rPr lang="en-US" altLang="zh-CN" b="0" dirty="0"/>
              <a:t>	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(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&lt;T&gt;&amp; RL) {                               //</a:t>
            </a:r>
            <a:r>
              <a:rPr lang="zh-CN" altLang="zh-CN" b="0" dirty="0"/>
              <a:t>复制构造函数</a:t>
            </a:r>
          </a:p>
          <a:p>
            <a:pPr algn="just"/>
            <a:r>
              <a:rPr lang="en-US" altLang="zh-CN" b="0" dirty="0"/>
              <a:t>		</a:t>
            </a:r>
            <a:r>
              <a:rPr lang="en-US" altLang="zh-CN" b="0" dirty="0" err="1"/>
              <a:t>utype</a:t>
            </a:r>
            <a:r>
              <a:rPr lang="en-US" altLang="zh-CN" b="0" dirty="0"/>
              <a:t> = </a:t>
            </a:r>
            <a:r>
              <a:rPr lang="en-US" altLang="zh-CN" b="0" dirty="0" err="1"/>
              <a:t>RL.utype</a:t>
            </a:r>
            <a:r>
              <a:rPr lang="en-US" altLang="zh-CN" b="0" dirty="0"/>
              <a:t>; info = RL.info;</a:t>
            </a:r>
            <a:endParaRPr lang="zh-CN" altLang="zh-CN" b="0" dirty="0"/>
          </a:p>
          <a:p>
            <a:pPr algn="just"/>
            <a:r>
              <a:rPr lang="en-US" altLang="zh-CN" b="0" dirty="0"/>
              <a:t>	}</a:t>
            </a:r>
            <a:endParaRPr lang="zh-CN" altLang="zh-CN" b="0" dirty="0"/>
          </a:p>
          <a:p>
            <a:pPr algn="just"/>
            <a:r>
              <a:rPr lang="en-US" altLang="zh-CN" b="0" dirty="0"/>
              <a:t>private:</a:t>
            </a:r>
            <a:endParaRPr lang="zh-CN" altLang="zh-CN" b="0" dirty="0"/>
          </a:p>
          <a:p>
            <a:pPr algn="just"/>
            <a:r>
              <a:rPr lang="en-US" altLang="zh-CN" b="0" dirty="0"/>
              <a:t>	int </a:t>
            </a:r>
            <a:r>
              <a:rPr lang="en-US" altLang="zh-CN" b="0" dirty="0" err="1"/>
              <a:t>utype</a:t>
            </a:r>
            <a:r>
              <a:rPr lang="en-US" altLang="zh-CN" b="0" dirty="0"/>
              <a:t>;                                                                              //</a:t>
            </a:r>
            <a:r>
              <a:rPr lang="zh-CN" altLang="zh-CN" b="0" dirty="0"/>
              <a:t>＝</a:t>
            </a:r>
            <a:r>
              <a:rPr lang="en-US" altLang="zh-CN" b="0" dirty="0"/>
              <a:t>0 / 1 </a:t>
            </a:r>
            <a:endParaRPr lang="zh-CN" altLang="zh-CN" b="0" dirty="0"/>
          </a:p>
          <a:p>
            <a:pPr algn="just"/>
            <a:r>
              <a:rPr lang="en-US" altLang="zh-CN" b="0" dirty="0"/>
              <a:t>	union {                                                                                 //</a:t>
            </a:r>
            <a:r>
              <a:rPr lang="zh-CN" altLang="zh-CN" b="0" dirty="0"/>
              <a:t>联合</a:t>
            </a:r>
          </a:p>
          <a:p>
            <a:pPr algn="just"/>
            <a:r>
              <a:rPr lang="en-US" altLang="zh-CN" b="0" dirty="0"/>
              <a:t>		T value;                                                                   //</a:t>
            </a:r>
            <a:r>
              <a:rPr lang="en-US" altLang="zh-CN" b="0" dirty="0" err="1"/>
              <a:t>utype</a:t>
            </a:r>
            <a:r>
              <a:rPr lang="en-US" altLang="zh-CN" b="0" dirty="0"/>
              <a:t>=0,</a:t>
            </a:r>
            <a:r>
              <a:rPr lang="zh-CN" altLang="zh-CN" b="0" dirty="0"/>
              <a:t>存放数值</a:t>
            </a:r>
          </a:p>
          <a:p>
            <a:pPr algn="just"/>
            <a:r>
              <a:rPr lang="en-US" altLang="zh-CN" b="0" dirty="0"/>
              <a:t>		</a:t>
            </a:r>
            <a:r>
              <a:rPr lang="en-US" altLang="zh-CN" b="0" dirty="0" err="1"/>
              <a:t>struct</a:t>
            </a:r>
            <a:r>
              <a:rPr lang="en-US" altLang="zh-CN" b="0" dirty="0"/>
              <a:t>{</a:t>
            </a:r>
            <a:endParaRPr lang="zh-CN" altLang="zh-CN" b="0" dirty="0"/>
          </a:p>
          <a:p>
            <a:pPr algn="just"/>
            <a:r>
              <a:rPr lang="en-US" altLang="zh-CN" b="0" dirty="0"/>
              <a:t>			 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 *hp;</a:t>
            </a:r>
            <a:endParaRPr lang="zh-CN" altLang="zh-CN" b="0" dirty="0"/>
          </a:p>
          <a:p>
            <a:pPr algn="just"/>
            <a:r>
              <a:rPr lang="en-US" altLang="zh-CN" b="0" dirty="0"/>
              <a:t>			 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 *</a:t>
            </a:r>
            <a:r>
              <a:rPr lang="en-US" altLang="zh-CN" b="0" dirty="0" err="1"/>
              <a:t>tp</a:t>
            </a:r>
            <a:r>
              <a:rPr lang="en-US" altLang="zh-CN" b="0" dirty="0"/>
              <a:t>;</a:t>
            </a:r>
            <a:endParaRPr lang="zh-CN" altLang="zh-CN" b="0" dirty="0"/>
          </a:p>
          <a:p>
            <a:pPr algn="just"/>
            <a:r>
              <a:rPr lang="en-US" altLang="zh-CN" b="0" dirty="0"/>
              <a:t>		}</a:t>
            </a:r>
            <a:r>
              <a:rPr lang="en-US" altLang="zh-CN" b="0" dirty="0" err="1"/>
              <a:t>ptr</a:t>
            </a:r>
            <a:r>
              <a:rPr lang="en-US" altLang="zh-CN" b="0" dirty="0"/>
              <a:t>;</a:t>
            </a:r>
            <a:endParaRPr lang="zh-CN" altLang="zh-CN" b="0" dirty="0"/>
          </a:p>
          <a:p>
            <a:pPr algn="just"/>
            <a:r>
              <a:rPr lang="en-US" altLang="zh-CN" b="0" dirty="0"/>
              <a:t>	} info;</a:t>
            </a:r>
            <a:endParaRPr lang="zh-CN" altLang="zh-CN" b="0" dirty="0"/>
          </a:p>
          <a:p>
            <a:pPr algn="just"/>
            <a:r>
              <a:rPr lang="en-US" altLang="zh-CN" b="0" dirty="0"/>
              <a:t>};</a:t>
            </a:r>
            <a:endParaRPr lang="zh-CN" altLang="zh-CN" b="0" dirty="0"/>
          </a:p>
          <a:p>
            <a:pPr algn="just"/>
            <a:endParaRPr lang="zh-CN" alt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17701F5-0B21-4497-8797-7900A8661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8184" y="374451"/>
            <a:ext cx="2071702" cy="924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9132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5" name="Rectangle 1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3497" name="Picture 18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822301"/>
            <a:ext cx="750570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498" name="Rectangle 186"/>
          <p:cNvSpPr>
            <a:spLocks noChangeArrowheads="1"/>
          </p:cNvSpPr>
          <p:nvPr/>
        </p:nvSpPr>
        <p:spPr bwMode="auto">
          <a:xfrm>
            <a:off x="2714612" y="5214950"/>
            <a:ext cx="40719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图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4-9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广义表的存储结构示例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Rectangle 33"/>
          <p:cNvSpPr>
            <a:spLocks noChangeArrowheads="1"/>
          </p:cNvSpPr>
          <p:nvPr/>
        </p:nvSpPr>
        <p:spPr bwMode="auto">
          <a:xfrm>
            <a:off x="6286512" y="142852"/>
            <a:ext cx="2428892" cy="15696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()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(e)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d))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())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833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785794"/>
            <a:ext cx="7887820" cy="5448668"/>
          </a:xfrm>
        </p:spPr>
        <p:txBody>
          <a:bodyPr>
            <a:normAutofit/>
          </a:bodyPr>
          <a:lstStyle/>
          <a:p>
            <a:pPr algn="just"/>
            <a:r>
              <a:rPr lang="zh-CN" altLang="zh-CN" b="0" dirty="0"/>
              <a:t>在这种存储结构中</a:t>
            </a:r>
            <a:r>
              <a:rPr lang="zh-CN" altLang="en-US" b="0" dirty="0"/>
              <a:t>有</a:t>
            </a:r>
            <a:r>
              <a:rPr lang="zh-CN" altLang="zh-CN" b="0" dirty="0"/>
              <a:t>几种情况：</a:t>
            </a:r>
            <a:endParaRPr lang="en-US" altLang="zh-CN" b="0" dirty="0"/>
          </a:p>
          <a:p>
            <a:pPr algn="just"/>
            <a:r>
              <a:rPr lang="zh-CN" altLang="zh-CN" b="0" dirty="0"/>
              <a:t>（</a:t>
            </a:r>
            <a:r>
              <a:rPr lang="en-US" altLang="zh-CN" b="0" dirty="0"/>
              <a:t>1</a:t>
            </a:r>
            <a:r>
              <a:rPr lang="zh-CN" altLang="zh-CN" b="0" dirty="0"/>
              <a:t>）</a:t>
            </a:r>
            <a:r>
              <a:rPr lang="zh-CN" altLang="zh-CN" b="0" dirty="0">
                <a:solidFill>
                  <a:srgbClr val="0033CC"/>
                </a:solidFill>
              </a:rPr>
              <a:t>除空表的头指针</a:t>
            </a:r>
            <a:r>
              <a:rPr lang="zh-CN" altLang="en-US" b="0" dirty="0">
                <a:solidFill>
                  <a:srgbClr val="0033CC"/>
                </a:solidFill>
              </a:rPr>
              <a:t>为</a:t>
            </a:r>
            <a:r>
              <a:rPr lang="zh-CN" altLang="zh-CN" b="0" dirty="0">
                <a:solidFill>
                  <a:srgbClr val="0033CC"/>
                </a:solidFill>
              </a:rPr>
              <a:t>空外，对任何非空列表，其头指针均指向广义表表结点</a:t>
            </a:r>
            <a:r>
              <a:rPr lang="zh-CN" altLang="zh-CN" b="0" dirty="0"/>
              <a:t>，且该结点中的</a:t>
            </a:r>
            <a:r>
              <a:rPr lang="en-US" altLang="zh-CN" b="0" dirty="0" err="1"/>
              <a:t>hp</a:t>
            </a:r>
            <a:r>
              <a:rPr lang="zh-CN" altLang="zh-CN" b="0" dirty="0"/>
              <a:t>指向表头（或为原子结点，或为表结点），</a:t>
            </a:r>
            <a:r>
              <a:rPr lang="en-US" altLang="zh-CN" b="0" dirty="0" err="1"/>
              <a:t>tp</a:t>
            </a:r>
            <a:r>
              <a:rPr lang="zh-CN" altLang="zh-CN" b="0" dirty="0"/>
              <a:t>指向表尾（除非表尾为空，否则必为表结点）；</a:t>
            </a:r>
            <a:endParaRPr lang="en-US" altLang="zh-CN" b="0" dirty="0"/>
          </a:p>
          <a:p>
            <a:pPr algn="just"/>
            <a:r>
              <a:rPr lang="zh-CN" altLang="zh-CN" b="0" dirty="0"/>
              <a:t>（</a:t>
            </a:r>
            <a:r>
              <a:rPr lang="en-US" altLang="zh-CN" b="0" dirty="0"/>
              <a:t>2</a:t>
            </a:r>
            <a:r>
              <a:rPr lang="zh-CN" altLang="zh-CN" b="0" dirty="0"/>
              <a:t>）</a:t>
            </a:r>
            <a:r>
              <a:rPr lang="zh-CN" altLang="zh-CN" b="0" dirty="0">
                <a:solidFill>
                  <a:srgbClr val="0033CC"/>
                </a:solidFill>
              </a:rPr>
              <a:t>容易分清列表中原子和子表所在的层次</a:t>
            </a:r>
            <a:r>
              <a:rPr lang="zh-CN" altLang="zh-CN" b="0" dirty="0"/>
              <a:t>。如在列表</a:t>
            </a:r>
            <a:r>
              <a:rPr lang="en-US" altLang="zh-CN" b="0" dirty="0"/>
              <a:t>D</a:t>
            </a:r>
            <a:r>
              <a:rPr lang="zh-CN" altLang="zh-CN" b="0" dirty="0"/>
              <a:t>中，原子</a:t>
            </a:r>
            <a:r>
              <a:rPr lang="en-US" altLang="zh-CN" b="0" dirty="0"/>
              <a:t>a</a:t>
            </a:r>
            <a:r>
              <a:rPr lang="zh-CN" altLang="zh-CN" b="0" dirty="0"/>
              <a:t>和</a:t>
            </a:r>
            <a:r>
              <a:rPr lang="en-US" altLang="zh-CN" b="0" dirty="0"/>
              <a:t>e</a:t>
            </a:r>
            <a:r>
              <a:rPr lang="zh-CN" altLang="zh-CN" b="0" dirty="0"/>
              <a:t>在同一层次上，而</a:t>
            </a:r>
            <a:r>
              <a:rPr lang="en-US" altLang="zh-CN" b="0" dirty="0"/>
              <a:t>b</a:t>
            </a:r>
            <a:r>
              <a:rPr lang="zh-CN" altLang="zh-CN" b="0" dirty="0"/>
              <a:t>、</a:t>
            </a:r>
            <a:r>
              <a:rPr lang="en-US" altLang="zh-CN" b="0" dirty="0"/>
              <a:t>c</a:t>
            </a:r>
            <a:r>
              <a:rPr lang="zh-CN" altLang="zh-CN" b="0" dirty="0"/>
              <a:t>和</a:t>
            </a:r>
            <a:r>
              <a:rPr lang="en-US" altLang="zh-CN" b="0" dirty="0"/>
              <a:t>d</a:t>
            </a:r>
            <a:r>
              <a:rPr lang="zh-CN" altLang="zh-CN" b="0" dirty="0"/>
              <a:t>在同一层次上且比</a:t>
            </a:r>
            <a:r>
              <a:rPr lang="en-US" altLang="zh-CN" b="0" dirty="0"/>
              <a:t>a</a:t>
            </a:r>
            <a:r>
              <a:rPr lang="zh-CN" altLang="zh-CN" b="0" dirty="0"/>
              <a:t>和</a:t>
            </a:r>
            <a:r>
              <a:rPr lang="en-US" altLang="zh-CN" b="0" dirty="0"/>
              <a:t>e</a:t>
            </a:r>
            <a:r>
              <a:rPr lang="zh-CN" altLang="zh-CN" b="0" dirty="0"/>
              <a:t>低一层，</a:t>
            </a:r>
            <a:r>
              <a:rPr lang="en-US" altLang="zh-CN" b="0" dirty="0"/>
              <a:t>B</a:t>
            </a:r>
            <a:r>
              <a:rPr lang="zh-CN" altLang="zh-CN" b="0" dirty="0"/>
              <a:t>和</a:t>
            </a:r>
            <a:r>
              <a:rPr lang="en-US" altLang="zh-CN" b="0" dirty="0"/>
              <a:t>C</a:t>
            </a:r>
            <a:r>
              <a:rPr lang="zh-CN" altLang="zh-CN" b="0" dirty="0"/>
              <a:t>是同一层次的子表；</a:t>
            </a:r>
            <a:endParaRPr lang="en-US" altLang="zh-CN" b="0" dirty="0"/>
          </a:p>
          <a:p>
            <a:pPr algn="just"/>
            <a:r>
              <a:rPr lang="zh-CN" altLang="zh-CN" b="0" dirty="0"/>
              <a:t>（</a:t>
            </a:r>
            <a:r>
              <a:rPr lang="en-US" altLang="zh-CN" b="0" dirty="0"/>
              <a:t>3</a:t>
            </a:r>
            <a:r>
              <a:rPr lang="zh-CN" altLang="zh-CN" b="0" dirty="0"/>
              <a:t>）</a:t>
            </a:r>
            <a:r>
              <a:rPr lang="zh-CN" altLang="zh-CN" b="0" dirty="0">
                <a:solidFill>
                  <a:srgbClr val="0033CC"/>
                </a:solidFill>
              </a:rPr>
              <a:t>最高层的表结点个数为列表的长度。</a:t>
            </a:r>
            <a:endParaRPr lang="en-US" altLang="zh-CN" b="0" dirty="0">
              <a:solidFill>
                <a:srgbClr val="0033CC"/>
              </a:solidFill>
            </a:endParaRPr>
          </a:p>
          <a:p>
            <a:pPr algn="just"/>
            <a:r>
              <a:rPr lang="en-US" altLang="zh-CN" b="0" dirty="0">
                <a:solidFill>
                  <a:srgbClr val="0033CC"/>
                </a:solidFill>
              </a:rPr>
              <a:t>	</a:t>
            </a:r>
            <a:r>
              <a:rPr lang="zh-CN" altLang="zh-CN" b="0" dirty="0"/>
              <a:t>以上三个特点在某种程度上给列表的操作带来了方便。</a:t>
            </a:r>
            <a:endParaRPr lang="en-US" altLang="zh-CN" b="0" dirty="0"/>
          </a:p>
          <a:p>
            <a:pPr algn="just"/>
            <a:r>
              <a:rPr lang="zh-CN" altLang="zh-CN" b="0" dirty="0"/>
              <a:t>其</a:t>
            </a:r>
            <a:r>
              <a:rPr lang="zh-CN" altLang="zh-CN" dirty="0">
                <a:solidFill>
                  <a:srgbClr val="0033CC"/>
                </a:solidFill>
              </a:rPr>
              <a:t>主要缺点</a:t>
            </a:r>
            <a:r>
              <a:rPr lang="zh-CN" altLang="zh-CN" b="0" dirty="0"/>
              <a:t>是：表结点过多，容易造成空间浪费。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973547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52736"/>
            <a:ext cx="8352928" cy="525658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altLang="zh-CN" dirty="0"/>
              <a:t>2</a:t>
            </a:r>
            <a:r>
              <a:rPr lang="zh-CN" altLang="zh-CN" dirty="0"/>
              <a:t>．广义表的扩展线性链表存储方式</a:t>
            </a:r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在这种存储结构中，</a:t>
            </a:r>
            <a:r>
              <a:rPr lang="zh-CN" altLang="zh-CN" dirty="0">
                <a:solidFill>
                  <a:srgbClr val="0033CC"/>
                </a:solidFill>
              </a:rPr>
              <a:t>表结点由三个域组成</a:t>
            </a:r>
            <a:r>
              <a:rPr lang="zh-CN" altLang="zh-CN" b="0" dirty="0"/>
              <a:t>：</a:t>
            </a:r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（</a:t>
            </a:r>
            <a:r>
              <a:rPr lang="en-US" altLang="zh-CN" b="0" dirty="0"/>
              <a:t>1</a:t>
            </a:r>
            <a:r>
              <a:rPr lang="zh-CN" altLang="zh-CN" b="0" dirty="0"/>
              <a:t>）标志域</a:t>
            </a:r>
            <a:r>
              <a:rPr lang="en-US" altLang="zh-CN" b="0" dirty="0" err="1"/>
              <a:t>utype</a:t>
            </a:r>
            <a:endParaRPr lang="zh-CN" altLang="zh-CN" b="0" dirty="0"/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它用来标明该结点是什么类型的结点。</a:t>
            </a:r>
            <a:r>
              <a:rPr lang="en-US" altLang="zh-CN" b="0" dirty="0"/>
              <a:t>=0</a:t>
            </a:r>
            <a:r>
              <a:rPr lang="zh-CN" altLang="zh-CN" b="0" dirty="0"/>
              <a:t>，是广义表专用的附加头结点；</a:t>
            </a:r>
            <a:r>
              <a:rPr lang="en-US" altLang="zh-CN" b="0" dirty="0"/>
              <a:t>=1</a:t>
            </a:r>
            <a:r>
              <a:rPr lang="zh-CN" altLang="zh-CN" b="0" dirty="0"/>
              <a:t>，是原子结点（为简化讨论，不考虑原子结点数据的不同类型）；</a:t>
            </a:r>
            <a:r>
              <a:rPr lang="en-US" altLang="zh-CN" b="0" dirty="0"/>
              <a:t>=2</a:t>
            </a:r>
            <a:r>
              <a:rPr lang="zh-CN" altLang="zh-CN" b="0" dirty="0"/>
              <a:t>，是子表结点。</a:t>
            </a:r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（</a:t>
            </a:r>
            <a:r>
              <a:rPr lang="en-US" altLang="zh-CN" b="0" dirty="0"/>
              <a:t>2</a:t>
            </a:r>
            <a:r>
              <a:rPr lang="zh-CN" altLang="zh-CN" b="0" dirty="0"/>
              <a:t>）信息域</a:t>
            </a:r>
            <a:r>
              <a:rPr lang="en-US" altLang="zh-CN" b="0" dirty="0"/>
              <a:t>info</a:t>
            </a:r>
            <a:endParaRPr lang="zh-CN" altLang="zh-CN" b="0" dirty="0"/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不同类型的结点在这个域中存放的内容不同。当</a:t>
            </a:r>
            <a:r>
              <a:rPr lang="en-US" altLang="zh-CN" b="0" dirty="0" err="1"/>
              <a:t>utype</a:t>
            </a:r>
            <a:r>
              <a:rPr lang="en-US" altLang="zh-CN" b="0" dirty="0"/>
              <a:t>=0</a:t>
            </a:r>
            <a:r>
              <a:rPr lang="zh-CN" altLang="zh-CN" b="0" dirty="0"/>
              <a:t>时，该信息域存放引用计数（</a:t>
            </a:r>
            <a:r>
              <a:rPr lang="en-US" altLang="zh-CN" b="0" dirty="0"/>
              <a:t>ref</a:t>
            </a:r>
            <a:r>
              <a:rPr lang="zh-CN" altLang="zh-CN" b="0" dirty="0"/>
              <a:t>）；当</a:t>
            </a:r>
            <a:r>
              <a:rPr lang="en-US" altLang="zh-CN" b="0" dirty="0" err="1"/>
              <a:t>utype</a:t>
            </a:r>
            <a:r>
              <a:rPr lang="en-US" altLang="zh-CN" b="0" dirty="0"/>
              <a:t>=1</a:t>
            </a:r>
            <a:r>
              <a:rPr lang="zh-CN" altLang="zh-CN" b="0" dirty="0"/>
              <a:t>时，该信息域存放元素数据值（</a:t>
            </a:r>
            <a:r>
              <a:rPr lang="en-US" altLang="zh-CN" b="0" dirty="0"/>
              <a:t>value</a:t>
            </a:r>
            <a:r>
              <a:rPr lang="zh-CN" altLang="zh-CN" b="0" dirty="0"/>
              <a:t>）；当</a:t>
            </a:r>
            <a:r>
              <a:rPr lang="en-US" altLang="zh-CN" b="0" dirty="0" err="1"/>
              <a:t>utype</a:t>
            </a:r>
            <a:r>
              <a:rPr lang="en-US" altLang="zh-CN" b="0" dirty="0"/>
              <a:t>=2</a:t>
            </a:r>
            <a:r>
              <a:rPr lang="zh-CN" altLang="zh-CN" b="0" dirty="0"/>
              <a:t>时，该信息域存放指向子表表头的指针（</a:t>
            </a:r>
            <a:r>
              <a:rPr lang="en-US" altLang="zh-CN" b="0" dirty="0" err="1"/>
              <a:t>hlink</a:t>
            </a:r>
            <a:r>
              <a:rPr lang="zh-CN" altLang="zh-CN" b="0" dirty="0"/>
              <a:t>）。</a:t>
            </a:r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（</a:t>
            </a:r>
            <a:r>
              <a:rPr lang="en-US" altLang="zh-CN" b="0" dirty="0"/>
              <a:t>3</a:t>
            </a:r>
            <a:r>
              <a:rPr lang="zh-CN" altLang="zh-CN" b="0" dirty="0"/>
              <a:t>）尾指针域</a:t>
            </a:r>
            <a:r>
              <a:rPr lang="en-US" altLang="zh-CN" b="0" dirty="0" err="1"/>
              <a:t>tlink</a:t>
            </a:r>
            <a:endParaRPr lang="zh-CN" altLang="zh-CN" b="0" dirty="0"/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当</a:t>
            </a:r>
            <a:r>
              <a:rPr lang="en-US" altLang="zh-CN" b="0" dirty="0" err="1"/>
              <a:t>utype</a:t>
            </a:r>
            <a:r>
              <a:rPr lang="en-US" altLang="zh-CN" b="0" dirty="0"/>
              <a:t>=0</a:t>
            </a:r>
            <a:r>
              <a:rPr lang="zh-CN" altLang="zh-CN" b="0" dirty="0"/>
              <a:t>时，该指针域存放指向该表表头元素结点的指针；</a:t>
            </a:r>
            <a:endParaRPr lang="en-US" altLang="zh-CN" b="0" dirty="0"/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当</a:t>
            </a:r>
            <a:r>
              <a:rPr lang="en-US" altLang="zh-CN" b="0" dirty="0"/>
              <a:t>utype≠0</a:t>
            </a:r>
            <a:r>
              <a:rPr lang="zh-CN" altLang="zh-CN" b="0" dirty="0"/>
              <a:t>时，该指针域存放同一层下一个表结点的地址。</a:t>
            </a:r>
          </a:p>
          <a:p>
            <a:pPr algn="just"/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142852"/>
            <a:ext cx="3929069" cy="1141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88000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357290" y="5786454"/>
            <a:ext cx="68580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图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4-11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带附加头结点的广义表存储表示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Rectangle 33">
            <a:extLst>
              <a:ext uri="{FF2B5EF4-FFF2-40B4-BE49-F238E27FC236}">
                <a16:creationId xmlns:a16="http://schemas.microsoft.com/office/drawing/2014/main" id="{05FBF53E-9413-491B-8F77-6B2F038A9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596" y="142852"/>
            <a:ext cx="2428892" cy="15696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()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(e)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d))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())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9560862-63A4-48FF-8DA9-2CCF69F70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9592" y="0"/>
            <a:ext cx="3929069" cy="1141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44F727-16F2-4277-8E60-8F96344DBC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285356"/>
            <a:ext cx="5268181" cy="441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59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908720"/>
            <a:ext cx="7520940" cy="5256584"/>
          </a:xfrm>
        </p:spPr>
        <p:txBody>
          <a:bodyPr>
            <a:normAutofit fontScale="92500"/>
          </a:bodyPr>
          <a:lstStyle/>
          <a:p>
            <a:pPr algn="just"/>
            <a:r>
              <a:rPr lang="zh-CN" altLang="zh-CN" dirty="0"/>
              <a:t>存储表有几个特点：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zh-CN" altLang="zh-CN" dirty="0"/>
              <a:t>广义表中的所有子表，不论是哪一层的子表，都带有一个附加头结点，空表也不例外。</a:t>
            </a:r>
            <a:r>
              <a:rPr lang="zh-CN" altLang="zh-CN" b="0" dirty="0"/>
              <a:t>其优点是便于操作。特别是在共享表的情形，如果想要删除表中第一个元素所在结点，且表中不带附加头结点的话，必须检测所有的子表结点，逐一修改可能的指向被删结点的指针。这样修改工作量极大，很容易发生遗漏现象。如果所有子表都带有附加头结点，在删除表中第一个表元素所在结点时，不用修改任何指向该子表的指针。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zh-CN" altLang="zh-CN" dirty="0"/>
              <a:t>表中结点的层次分明。</a:t>
            </a:r>
            <a:r>
              <a:rPr lang="zh-CN" altLang="zh-CN" b="0" dirty="0"/>
              <a:t>所有位于同一层的表元素，在其存储表示中也在同一层。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zh-CN" altLang="zh-CN" dirty="0"/>
              <a:t>最高一层的表结点个数</a:t>
            </a:r>
            <a:r>
              <a:rPr lang="en-US" altLang="zh-CN" b="0" dirty="0"/>
              <a:t>(</a:t>
            </a:r>
            <a:r>
              <a:rPr lang="zh-CN" altLang="zh-CN" b="0" dirty="0"/>
              <a:t>除附加头结点外</a:t>
            </a:r>
            <a:r>
              <a:rPr lang="en-US" altLang="zh-CN" b="0" dirty="0"/>
              <a:t>)</a:t>
            </a:r>
            <a:r>
              <a:rPr lang="zh-CN" altLang="zh-CN" b="0" dirty="0"/>
              <a:t>即为表的长度。</a:t>
            </a:r>
          </a:p>
          <a:p>
            <a:pPr algn="just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0352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124744"/>
            <a:ext cx="8358246" cy="3579849"/>
          </a:xfrm>
        </p:spPr>
        <p:txBody>
          <a:bodyPr>
            <a:normAutofit/>
          </a:bodyPr>
          <a:lstStyle/>
          <a:p>
            <a:pPr algn="just"/>
            <a:r>
              <a:rPr lang="zh-CN" altLang="en-US" b="0" dirty="0"/>
              <a:t>广义表的主要操作：</a:t>
            </a:r>
            <a:r>
              <a:rPr lang="zh-CN" altLang="en-US" dirty="0">
                <a:solidFill>
                  <a:srgbClr val="FF0000"/>
                </a:solidFill>
              </a:rPr>
              <a:t>取表头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GetHead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b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644BBC-EFA5-47E6-8118-EF07F81EC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30" y="1988840"/>
            <a:ext cx="7262489" cy="362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16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124744"/>
            <a:ext cx="8358246" cy="3579849"/>
          </a:xfrm>
        </p:spPr>
        <p:txBody>
          <a:bodyPr>
            <a:normAutofit/>
          </a:bodyPr>
          <a:lstStyle/>
          <a:p>
            <a:pPr algn="just"/>
            <a:r>
              <a:rPr lang="zh-CN" altLang="en-US" b="0" dirty="0"/>
              <a:t>广义表的主要操作：</a:t>
            </a:r>
            <a:r>
              <a:rPr lang="zh-CN" altLang="en-US" dirty="0">
                <a:solidFill>
                  <a:srgbClr val="FF0000"/>
                </a:solidFill>
              </a:rPr>
              <a:t>取表尾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GetTail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algn="just"/>
            <a:endParaRPr lang="zh-CN" altLang="en-US" b="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455D03-DF1B-4D1F-8173-5D4B0627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80310"/>
            <a:ext cx="8640960" cy="30973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A48E775-0AAF-4C61-81E9-ED22B0BFB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5061642"/>
            <a:ext cx="8316416" cy="79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58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124744"/>
            <a:ext cx="8358246" cy="3579849"/>
          </a:xfrm>
        </p:spPr>
        <p:txBody>
          <a:bodyPr>
            <a:normAutofit/>
          </a:bodyPr>
          <a:lstStyle/>
          <a:p>
            <a:pPr algn="just"/>
            <a:r>
              <a:rPr lang="zh-CN" altLang="en-US" b="0" dirty="0"/>
              <a:t>广义表的主要操作：</a:t>
            </a:r>
            <a:r>
              <a:rPr lang="zh-CN" altLang="en-US" dirty="0">
                <a:solidFill>
                  <a:srgbClr val="FF0000"/>
                </a:solidFill>
              </a:rPr>
              <a:t>返回第一个元素。</a:t>
            </a:r>
            <a:endParaRPr lang="en-US" altLang="zh-CN" dirty="0">
              <a:solidFill>
                <a:srgbClr val="FF0000"/>
              </a:solidFill>
            </a:endParaRPr>
          </a:p>
          <a:p>
            <a:pPr algn="just"/>
            <a:endParaRPr lang="zh-CN" altLang="en-US" b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998F2F-EDCF-413C-9BA4-6799ACABB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89" y="2362107"/>
            <a:ext cx="7163421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27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124744"/>
            <a:ext cx="8358246" cy="3579849"/>
          </a:xfrm>
        </p:spPr>
        <p:txBody>
          <a:bodyPr>
            <a:normAutofit/>
          </a:bodyPr>
          <a:lstStyle/>
          <a:p>
            <a:pPr algn="just"/>
            <a:r>
              <a:rPr lang="zh-CN" altLang="en-US" b="0" dirty="0"/>
              <a:t>广义表的主要操作：</a:t>
            </a:r>
            <a:r>
              <a:rPr lang="zh-CN" altLang="en-US" dirty="0">
                <a:solidFill>
                  <a:srgbClr val="FF0000"/>
                </a:solidFill>
              </a:rPr>
              <a:t>返回元素</a:t>
            </a:r>
            <a:r>
              <a:rPr lang="en-US" altLang="zh-CN" dirty="0" err="1">
                <a:solidFill>
                  <a:srgbClr val="FF0000"/>
                </a:solidFill>
              </a:rPr>
              <a:t>elem</a:t>
            </a:r>
            <a:r>
              <a:rPr lang="zh-CN" altLang="en-US" dirty="0">
                <a:solidFill>
                  <a:srgbClr val="FF0000"/>
                </a:solidFill>
              </a:rPr>
              <a:t>的直接后继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9B0FD6-25C4-47E7-8133-B4AA7D68A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204864"/>
            <a:ext cx="5829805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40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zh-CN" b="1" dirty="0"/>
              <a:t>4.2.3 </a:t>
            </a:r>
            <a:r>
              <a:rPr lang="zh-CN" altLang="zh-CN" b="1" dirty="0"/>
              <a:t>广义表的递归操作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1628800"/>
            <a:ext cx="8104984" cy="3579849"/>
          </a:xfrm>
        </p:spPr>
        <p:txBody>
          <a:bodyPr>
            <a:normAutofit/>
          </a:bodyPr>
          <a:lstStyle/>
          <a:p>
            <a:pPr algn="just"/>
            <a:r>
              <a:rPr lang="zh-CN" altLang="zh-CN" b="0" dirty="0"/>
              <a:t>（</a:t>
            </a:r>
            <a:r>
              <a:rPr lang="en-US" altLang="zh-CN" b="0" dirty="0"/>
              <a:t>1</a:t>
            </a:r>
            <a:r>
              <a:rPr lang="zh-CN" altLang="zh-CN" b="0" dirty="0"/>
              <a:t>）</a:t>
            </a:r>
            <a:r>
              <a:rPr lang="zh-CN" altLang="zh-CN" dirty="0">
                <a:solidFill>
                  <a:srgbClr val="FF0000"/>
                </a:solidFill>
              </a:rPr>
              <a:t>广义表的复制算法</a:t>
            </a:r>
          </a:p>
          <a:p>
            <a:pPr algn="just"/>
            <a:r>
              <a:rPr lang="en-US" altLang="zh-CN" b="0" dirty="0"/>
              <a:t>	</a:t>
            </a:r>
            <a:r>
              <a:rPr lang="zh-CN" altLang="zh-CN" b="0" dirty="0"/>
              <a:t>任何一个非空的广义表均可分为表头、表尾两个部分。因此，“一对”确定的表头和表尾可唯一地确定一个广义表。这样，复制一个广义表时，只要分别复制它的表头和表尾，然后合成就可以了。其前提是复制和被复制的广义表存在且不是共享表或递归表。</a:t>
            </a:r>
          </a:p>
          <a:p>
            <a:pPr algn="just"/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033509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692696"/>
            <a:ext cx="8064896" cy="5688632"/>
          </a:xfrm>
        </p:spPr>
        <p:txBody>
          <a:bodyPr>
            <a:normAutofit fontScale="70000" lnSpcReduction="20000"/>
          </a:bodyPr>
          <a:lstStyle/>
          <a:p>
            <a:pPr algn="just">
              <a:spcBef>
                <a:spcPts val="0"/>
              </a:spcBef>
            </a:pPr>
            <a:r>
              <a:rPr lang="zh-CN" altLang="zh-CN" dirty="0"/>
              <a:t>算法</a:t>
            </a:r>
            <a:r>
              <a:rPr lang="en-US" altLang="zh-CN" dirty="0"/>
              <a:t>4.5</a:t>
            </a:r>
            <a:r>
              <a:rPr lang="zh-CN" altLang="zh-CN" dirty="0"/>
              <a:t>：广义表的复制算法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template &lt;class T&gt;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void </a:t>
            </a:r>
            <a:r>
              <a:rPr lang="en-US" altLang="zh-CN" b="0" dirty="0" err="1"/>
              <a:t>GenList</a:t>
            </a:r>
            <a:r>
              <a:rPr lang="en-US" altLang="zh-CN" b="0" dirty="0"/>
              <a:t>&lt;T&gt;::Copy(</a:t>
            </a:r>
            <a:r>
              <a:rPr lang="en-US" altLang="zh-CN" b="0" dirty="0" err="1"/>
              <a:t>const</a:t>
            </a:r>
            <a:r>
              <a:rPr lang="en-US" altLang="zh-CN" b="0" dirty="0"/>
              <a:t> </a:t>
            </a:r>
            <a:r>
              <a:rPr lang="en-US" altLang="zh-CN" b="0" dirty="0" err="1"/>
              <a:t>GenList</a:t>
            </a:r>
            <a:r>
              <a:rPr lang="en-US" altLang="zh-CN" b="0" dirty="0"/>
              <a:t>&lt;T&gt;&amp; R) {	 //</a:t>
            </a:r>
            <a:r>
              <a:rPr lang="zh-CN" altLang="zh-CN" b="0" dirty="0"/>
              <a:t>公有函数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first = Copy(</a:t>
            </a:r>
            <a:r>
              <a:rPr lang="en-US" altLang="zh-CN" b="0" dirty="0" err="1"/>
              <a:t>R.first</a:t>
            </a:r>
            <a:r>
              <a:rPr lang="en-US" altLang="zh-CN" b="0" dirty="0"/>
              <a:t>); 	                                   //</a:t>
            </a:r>
            <a:r>
              <a:rPr lang="zh-CN" altLang="zh-CN" b="0" dirty="0"/>
              <a:t>调用私有函数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};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template &lt;class T&gt;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 err="1"/>
              <a:t>GenListNode</a:t>
            </a:r>
            <a:r>
              <a:rPr lang="en-US" altLang="zh-CN" b="0" dirty="0"/>
              <a:t>&lt;T&gt;* </a:t>
            </a:r>
            <a:r>
              <a:rPr lang="en-US" altLang="zh-CN" b="0" dirty="0" err="1"/>
              <a:t>GenList</a:t>
            </a:r>
            <a:r>
              <a:rPr lang="en-US" altLang="zh-CN" b="0" dirty="0"/>
              <a:t>&lt;T&gt;::Copy(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 *ls) {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                                          //</a:t>
            </a:r>
            <a:r>
              <a:rPr lang="zh-CN" altLang="zh-CN" b="0" dirty="0"/>
              <a:t>私有函数，复制一个</a:t>
            </a:r>
            <a:r>
              <a:rPr lang="en-US" altLang="zh-CN" b="0" dirty="0"/>
              <a:t>ls </a:t>
            </a:r>
            <a:r>
              <a:rPr lang="zh-CN" altLang="zh-CN" b="0" dirty="0"/>
              <a:t>指示的无共享子表的非递归表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 *q = NULL;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if (ls != NULL) {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q = new 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&lt;T&gt;; 	                 //</a:t>
            </a:r>
            <a:r>
              <a:rPr lang="zh-CN" altLang="zh-CN" b="0" dirty="0"/>
              <a:t>处理当前的结点</a:t>
            </a:r>
            <a:r>
              <a:rPr lang="en-US" altLang="zh-CN" b="0" dirty="0"/>
              <a:t>q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q-&gt;</a:t>
            </a:r>
            <a:r>
              <a:rPr lang="en-US" altLang="zh-CN" b="0" dirty="0" err="1"/>
              <a:t>utype</a:t>
            </a:r>
            <a:r>
              <a:rPr lang="en-US" altLang="zh-CN" b="0" dirty="0"/>
              <a:t> = ls-&gt;</a:t>
            </a:r>
            <a:r>
              <a:rPr lang="en-US" altLang="zh-CN" b="0" dirty="0" err="1"/>
              <a:t>utype</a:t>
            </a:r>
            <a:r>
              <a:rPr lang="en-US" altLang="zh-CN" b="0" dirty="0"/>
              <a:t>; 		//</a:t>
            </a:r>
            <a:r>
              <a:rPr lang="zh-CN" altLang="zh-CN" b="0" dirty="0"/>
              <a:t>复制结点类型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switch (ls-&gt;</a:t>
            </a:r>
            <a:r>
              <a:rPr lang="en-US" altLang="zh-CN" b="0" dirty="0" err="1"/>
              <a:t>utype</a:t>
            </a:r>
            <a:r>
              <a:rPr lang="en-US" altLang="zh-CN" b="0" dirty="0"/>
              <a:t>) {	 	                 //</a:t>
            </a:r>
            <a:r>
              <a:rPr lang="zh-CN" altLang="zh-CN" b="0" dirty="0"/>
              <a:t>根据</a:t>
            </a:r>
            <a:r>
              <a:rPr lang="en-US" altLang="zh-CN" b="0" dirty="0" err="1"/>
              <a:t>utype</a:t>
            </a:r>
            <a:r>
              <a:rPr lang="en-US" altLang="zh-CN" b="0" dirty="0"/>
              <a:t> </a:t>
            </a:r>
            <a:r>
              <a:rPr lang="zh-CN" altLang="zh-CN" b="0" dirty="0"/>
              <a:t>传送信息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	case 0: q-&gt;</a:t>
            </a:r>
            <a:r>
              <a:rPr lang="en-US" altLang="zh-CN" b="0" dirty="0" err="1"/>
              <a:t>info.ref</a:t>
            </a:r>
            <a:r>
              <a:rPr lang="en-US" altLang="zh-CN" b="0" dirty="0"/>
              <a:t> = ls-&gt;</a:t>
            </a:r>
            <a:r>
              <a:rPr lang="en-US" altLang="zh-CN" b="0" dirty="0" err="1"/>
              <a:t>info.ref</a:t>
            </a:r>
            <a:r>
              <a:rPr lang="en-US" altLang="zh-CN" b="0" dirty="0"/>
              <a:t>; break; 	                 //</a:t>
            </a:r>
            <a:r>
              <a:rPr lang="zh-CN" altLang="zh-CN" b="0" dirty="0"/>
              <a:t>附加头结点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	case 1: q-&gt;</a:t>
            </a:r>
            <a:r>
              <a:rPr lang="en-US" altLang="zh-CN" b="0" dirty="0" err="1"/>
              <a:t>info.value</a:t>
            </a:r>
            <a:r>
              <a:rPr lang="en-US" altLang="zh-CN" b="0" dirty="0"/>
              <a:t> = ls-&gt;</a:t>
            </a:r>
            <a:r>
              <a:rPr lang="en-US" altLang="zh-CN" b="0" dirty="0" err="1"/>
              <a:t>info.value</a:t>
            </a:r>
            <a:r>
              <a:rPr lang="en-US" altLang="zh-CN" b="0" dirty="0"/>
              <a:t>; break; 	//</a:t>
            </a:r>
            <a:r>
              <a:rPr lang="zh-CN" altLang="zh-CN" b="0" dirty="0"/>
              <a:t>原子结点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	case 2: q-&gt;</a:t>
            </a:r>
            <a:r>
              <a:rPr lang="en-US" altLang="zh-CN" b="0" dirty="0" err="1"/>
              <a:t>info.hlink</a:t>
            </a:r>
            <a:r>
              <a:rPr lang="en-US" altLang="zh-CN" b="0" dirty="0"/>
              <a:t> = Copy(ls-&gt;</a:t>
            </a:r>
            <a:r>
              <a:rPr lang="en-US" altLang="zh-CN" b="0" dirty="0" err="1"/>
              <a:t>info.hlink</a:t>
            </a:r>
            <a:r>
              <a:rPr lang="en-US" altLang="zh-CN" b="0" dirty="0"/>
              <a:t>); break;	//</a:t>
            </a:r>
            <a:r>
              <a:rPr lang="zh-CN" altLang="zh-CN" b="0" dirty="0"/>
              <a:t>表结点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}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q-&gt;</a:t>
            </a:r>
            <a:r>
              <a:rPr lang="en-US" altLang="zh-CN" b="0" dirty="0" err="1"/>
              <a:t>tlink</a:t>
            </a:r>
            <a:r>
              <a:rPr lang="en-US" altLang="zh-CN" b="0" dirty="0"/>
              <a:t> = Copy(ls-&gt;</a:t>
            </a:r>
            <a:r>
              <a:rPr lang="en-US" altLang="zh-CN" b="0" dirty="0" err="1"/>
              <a:t>tlink</a:t>
            </a:r>
            <a:r>
              <a:rPr lang="en-US" altLang="zh-CN" b="0" dirty="0"/>
              <a:t>); 		 //</a:t>
            </a:r>
            <a:r>
              <a:rPr lang="zh-CN" altLang="zh-CN" b="0" dirty="0"/>
              <a:t>处理同一层下一结点为头的表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}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return q;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}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4595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908720"/>
            <a:ext cx="7880980" cy="3579849"/>
          </a:xfrm>
        </p:spPr>
        <p:txBody>
          <a:bodyPr/>
          <a:lstStyle/>
          <a:p>
            <a:pPr algn="just"/>
            <a:r>
              <a:rPr lang="en-US" altLang="zh-CN" dirty="0"/>
              <a:t>	</a:t>
            </a:r>
            <a:r>
              <a:rPr lang="zh-CN" altLang="zh-CN" b="0" dirty="0"/>
              <a:t>算法有三层考虑。首先，如果被复制结点为空，表明被复制广义表为空表，返回为空；其次，被复制结点非空，处理该结点的复制；最后，复制广义表中位于该结点之后的结点。考虑此算法的计算时间。对于空表，所花费的时间为常数值。下面分析非空表。考虑表</a:t>
            </a:r>
            <a:r>
              <a:rPr lang="en-US" altLang="zh-CN" b="0" dirty="0"/>
              <a:t>ls = ((a, b),((c, d),e))</a:t>
            </a:r>
            <a:r>
              <a:rPr lang="zh-CN" altLang="zh-CN" b="0" dirty="0"/>
              <a:t>，设其中的</a:t>
            </a:r>
            <a:r>
              <a:rPr lang="en-US" altLang="zh-CN" b="0" dirty="0" err="1"/>
              <a:t>a,b,c,d,e</a:t>
            </a:r>
            <a:r>
              <a:rPr lang="zh-CN" altLang="zh-CN" b="0" dirty="0"/>
              <a:t>是字符型数据。</a:t>
            </a:r>
          </a:p>
          <a:p>
            <a:pPr algn="just"/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3573016"/>
            <a:ext cx="648072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420DE24-FD13-48C1-85D6-42B4BD991151}"/>
              </a:ext>
            </a:extLst>
          </p:cNvPr>
          <p:cNvSpPr txBox="1"/>
          <p:nvPr/>
        </p:nvSpPr>
        <p:spPr>
          <a:xfrm>
            <a:off x="33752" y="5293657"/>
            <a:ext cx="48982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200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用虚线箭头表示复制时所走的路线。在沿着表尾指针复制结点的过程中，一旦遇到表结点时先复制子表，然后递归复制同一层的后继结点开始的表。假设包括附加头结点在内，总共有</a:t>
            </a:r>
            <a:r>
              <a:rPr lang="en-US" altLang="zh-CN" sz="1200" kern="0" dirty="0">
                <a:solidFill>
                  <a:srgbClr val="000000"/>
                </a:solidFill>
                <a:effectLst/>
                <a:latin typeface="+mn-ea"/>
              </a:rPr>
              <a:t>m</a:t>
            </a:r>
            <a:r>
              <a:rPr lang="zh-CN" altLang="zh-CN" sz="1200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个结点，则总的时间复杂度为</a:t>
            </a:r>
            <a:r>
              <a:rPr lang="en-US" altLang="zh-CN" sz="1200" kern="0" dirty="0">
                <a:solidFill>
                  <a:srgbClr val="000000"/>
                </a:solidFill>
                <a:effectLst/>
                <a:latin typeface="+mn-ea"/>
              </a:rPr>
              <a:t>O(m)</a:t>
            </a:r>
            <a:r>
              <a:rPr lang="zh-CN" altLang="zh-CN" sz="1200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。递归工作栈的深度不超过所有子链表的长度和深度的组合，其上界为</a:t>
            </a:r>
            <a:r>
              <a:rPr lang="en-US" altLang="zh-CN" sz="1200" kern="0" dirty="0">
                <a:solidFill>
                  <a:srgbClr val="000000"/>
                </a:solidFill>
                <a:effectLst/>
                <a:latin typeface="+mn-ea"/>
              </a:rPr>
              <a:t>m</a:t>
            </a:r>
            <a:r>
              <a:rPr lang="zh-CN" altLang="zh-CN" sz="1200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55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908720"/>
            <a:ext cx="7520940" cy="5328592"/>
          </a:xfrm>
        </p:spPr>
        <p:txBody>
          <a:bodyPr>
            <a:normAutofit lnSpcReduction="10000"/>
          </a:bodyPr>
          <a:lstStyle/>
          <a:p>
            <a:pPr algn="just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zh-CN" altLang="zh-CN" dirty="0">
                <a:solidFill>
                  <a:srgbClr val="FF0000"/>
                </a:solidFill>
              </a:rPr>
              <a:t>求广义表的长度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zh-CN" b="0" dirty="0"/>
              <a:t>在广义表中，同一层次的每个结点是通过</a:t>
            </a:r>
            <a:r>
              <a:rPr lang="en-US" altLang="zh-CN" b="0" dirty="0" err="1"/>
              <a:t>tlink</a:t>
            </a:r>
            <a:r>
              <a:rPr lang="zh-CN" altLang="zh-CN" b="0" dirty="0"/>
              <a:t>指针链接起来的，所以可以把它看作为是由</a:t>
            </a:r>
            <a:r>
              <a:rPr lang="en-US" altLang="zh-CN" b="0" dirty="0" err="1"/>
              <a:t>tlink</a:t>
            </a:r>
            <a:r>
              <a:rPr lang="zh-CN" altLang="zh-CN" b="0" dirty="0"/>
              <a:t>链接起来的单链表。</a:t>
            </a:r>
            <a:endParaRPr lang="en-US" altLang="zh-CN" b="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zh-CN" b="0" dirty="0"/>
              <a:t>求广义表的长度就是求单链表的长度</a:t>
            </a:r>
            <a:endParaRPr lang="en-US" altLang="zh-CN" b="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zh-CN" b="0" dirty="0"/>
              <a:t>由于单链表的结构也是一种递归结构，即每个结点的指针域均指向一个单链表（称为该结点的后继单链表），它所指向的结点为该单链表的第一个结点（即表头结点），所以求单链表的长度也可以采用递归算法，即若单链表非空的话，其长度等于</a:t>
            </a:r>
            <a:r>
              <a:rPr lang="en-US" altLang="zh-CN" b="0" dirty="0"/>
              <a:t>1</a:t>
            </a:r>
            <a:r>
              <a:rPr lang="zh-CN" altLang="zh-CN" b="0" dirty="0"/>
              <a:t>加上表头结点的后继单链表长度，若单链表为空，则长度为</a:t>
            </a:r>
            <a:r>
              <a:rPr lang="en-US" altLang="zh-CN" b="0" dirty="0"/>
              <a:t>0</a:t>
            </a:r>
            <a:r>
              <a:rPr lang="zh-CN" altLang="zh-CN" b="0" dirty="0"/>
              <a:t>，这是递归的终止条件。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70729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836712"/>
            <a:ext cx="7520940" cy="532859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zh-CN" altLang="zh-CN" dirty="0"/>
              <a:t>算法</a:t>
            </a:r>
            <a:r>
              <a:rPr lang="en-US" altLang="zh-CN" dirty="0"/>
              <a:t>4.6</a:t>
            </a:r>
            <a:r>
              <a:rPr lang="zh-CN" altLang="zh-CN" dirty="0"/>
              <a:t>：求广义表长度的算法</a:t>
            </a:r>
          </a:p>
          <a:p>
            <a:pPr algn="just"/>
            <a:r>
              <a:rPr lang="en-US" altLang="zh-CN" b="0" dirty="0"/>
              <a:t>template &lt;class T&gt;</a:t>
            </a:r>
            <a:endParaRPr lang="zh-CN" altLang="zh-CN" b="0" dirty="0"/>
          </a:p>
          <a:p>
            <a:pPr algn="just"/>
            <a:r>
              <a:rPr lang="en-US" altLang="zh-CN" b="0" dirty="0" err="1"/>
              <a:t>int</a:t>
            </a:r>
            <a:r>
              <a:rPr lang="en-US" altLang="zh-CN" b="0" dirty="0"/>
              <a:t> </a:t>
            </a:r>
            <a:r>
              <a:rPr lang="en-US" altLang="zh-CN" b="0" dirty="0" err="1"/>
              <a:t>GenList</a:t>
            </a:r>
            <a:r>
              <a:rPr lang="en-US" altLang="zh-CN" b="0" dirty="0"/>
              <a:t>&lt;T&gt;::Length() {</a:t>
            </a:r>
            <a:endParaRPr lang="zh-CN" altLang="zh-CN" b="0" dirty="0"/>
          </a:p>
          <a:p>
            <a:pPr algn="just"/>
            <a:r>
              <a:rPr lang="en-US" altLang="zh-CN" b="0" dirty="0"/>
              <a:t>	//</a:t>
            </a:r>
            <a:r>
              <a:rPr lang="zh-CN" altLang="zh-CN" b="0" dirty="0"/>
              <a:t>共有函数，求当前广义表的长度</a:t>
            </a:r>
          </a:p>
          <a:p>
            <a:pPr algn="just"/>
            <a:r>
              <a:rPr lang="en-US" altLang="zh-CN" b="0" dirty="0"/>
              <a:t>	return Length(first);</a:t>
            </a:r>
            <a:endParaRPr lang="zh-CN" altLang="zh-CN" b="0" dirty="0"/>
          </a:p>
          <a:p>
            <a:pPr algn="just"/>
            <a:r>
              <a:rPr lang="en-US" altLang="zh-CN" b="0" dirty="0"/>
              <a:t>}</a:t>
            </a:r>
            <a:endParaRPr lang="zh-CN" altLang="zh-CN" b="0" dirty="0"/>
          </a:p>
          <a:p>
            <a:pPr algn="just"/>
            <a:r>
              <a:rPr lang="en-US" altLang="zh-CN" b="0" dirty="0"/>
              <a:t>template &lt;class T&gt;</a:t>
            </a:r>
            <a:endParaRPr lang="zh-CN" altLang="zh-CN" b="0" dirty="0"/>
          </a:p>
          <a:p>
            <a:pPr algn="just"/>
            <a:r>
              <a:rPr lang="en-US" altLang="zh-CN" b="0" dirty="0" err="1"/>
              <a:t>int</a:t>
            </a:r>
            <a:r>
              <a:rPr lang="en-US" altLang="zh-CN" b="0" dirty="0"/>
              <a:t> </a:t>
            </a:r>
            <a:r>
              <a:rPr lang="en-US" altLang="zh-CN" b="0" dirty="0" err="1"/>
              <a:t>GenList</a:t>
            </a:r>
            <a:r>
              <a:rPr lang="en-US" altLang="zh-CN" b="0" dirty="0"/>
              <a:t>&lt;T&gt;::Length(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 *ls) {</a:t>
            </a:r>
          </a:p>
          <a:p>
            <a:pPr algn="just"/>
            <a:r>
              <a:rPr lang="en-US" altLang="zh-CN" b="0" dirty="0"/>
              <a:t>	 //</a:t>
            </a:r>
            <a:r>
              <a:rPr lang="zh-CN" altLang="zh-CN" b="0" dirty="0"/>
              <a:t>私有函数，求以</a:t>
            </a:r>
            <a:r>
              <a:rPr lang="en-US" altLang="zh-CN" b="0" dirty="0"/>
              <a:t>ls </a:t>
            </a:r>
            <a:r>
              <a:rPr lang="zh-CN" altLang="zh-CN" b="0" dirty="0"/>
              <a:t>为头指针的广义表的长度</a:t>
            </a:r>
          </a:p>
          <a:p>
            <a:pPr algn="just"/>
            <a:r>
              <a:rPr lang="en-US" altLang="zh-CN" b="0" dirty="0"/>
              <a:t>	if (ls != NULL) return 1+Length(ls-&gt;</a:t>
            </a:r>
            <a:r>
              <a:rPr lang="en-US" altLang="zh-CN" b="0" dirty="0" err="1"/>
              <a:t>tlink</a:t>
            </a:r>
            <a:r>
              <a:rPr lang="en-US" altLang="zh-CN" b="0" dirty="0"/>
              <a:t>);</a:t>
            </a:r>
            <a:endParaRPr lang="zh-CN" altLang="zh-CN" b="0" dirty="0"/>
          </a:p>
          <a:p>
            <a:pPr algn="just"/>
            <a:r>
              <a:rPr lang="en-US" altLang="zh-CN" b="0" dirty="0"/>
              <a:t>	else	 return 0;</a:t>
            </a:r>
            <a:endParaRPr lang="zh-CN" altLang="zh-CN" b="0" dirty="0"/>
          </a:p>
          <a:p>
            <a:pPr algn="just"/>
            <a:r>
              <a:rPr lang="en-US" altLang="zh-CN" b="0" dirty="0"/>
              <a:t>}</a:t>
            </a:r>
            <a:endParaRPr lang="zh-CN" altLang="zh-CN" b="0" dirty="0"/>
          </a:p>
          <a:p>
            <a:pPr algn="just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5524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2828" y="692696"/>
            <a:ext cx="7609611" cy="429992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zh-CN" altLang="zh-CN" sz="2800" dirty="0">
                <a:solidFill>
                  <a:srgbClr val="FF0000"/>
                </a:solidFill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zh-CN" sz="2800" dirty="0">
                <a:solidFill>
                  <a:srgbClr val="FF0000"/>
                </a:solidFill>
              </a:rPr>
              <a:t>）求广义表的深度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zh-CN" b="0" dirty="0"/>
              <a:t>广义表的深度定义为广义表中括号的重数。设非空广义表为</a:t>
            </a:r>
            <a:r>
              <a:rPr lang="en-US" altLang="zh-CN" b="0" dirty="0"/>
              <a:t>LS=(α</a:t>
            </a:r>
            <a:r>
              <a:rPr lang="en-US" altLang="zh-CN" b="0" baseline="-25000" dirty="0"/>
              <a:t>0</a:t>
            </a:r>
            <a:r>
              <a:rPr lang="en-US" altLang="zh-CN" b="0" dirty="0"/>
              <a:t>,α</a:t>
            </a:r>
            <a:r>
              <a:rPr lang="en-US" altLang="zh-CN" b="0" baseline="-25000" dirty="0"/>
              <a:t>1</a:t>
            </a:r>
            <a:r>
              <a:rPr lang="en-US" altLang="zh-CN" b="0" dirty="0"/>
              <a:t>,α</a:t>
            </a:r>
            <a:r>
              <a:rPr lang="en-US" altLang="zh-CN" b="0" baseline="-25000" dirty="0"/>
              <a:t>2</a:t>
            </a:r>
            <a:r>
              <a:rPr lang="en-US" altLang="zh-CN" b="0" dirty="0"/>
              <a:t>,...,α</a:t>
            </a:r>
            <a:r>
              <a:rPr lang="en-US" altLang="zh-CN" b="0" baseline="-25000" dirty="0"/>
              <a:t>n-1</a:t>
            </a:r>
            <a:r>
              <a:rPr lang="en-US" altLang="zh-CN" b="0" dirty="0"/>
              <a:t>)</a:t>
            </a:r>
            <a:r>
              <a:rPr lang="zh-CN" altLang="zh-CN" b="0" dirty="0"/>
              <a:t>，其中，每个</a:t>
            </a:r>
            <a:r>
              <a:rPr lang="en-US" altLang="zh-CN" b="0" dirty="0"/>
              <a:t>α</a:t>
            </a:r>
            <a:r>
              <a:rPr lang="en-US" altLang="zh-CN" b="0" baseline="-25000" dirty="0" err="1"/>
              <a:t>i</a:t>
            </a:r>
            <a:r>
              <a:rPr lang="zh-CN" altLang="zh-CN" b="0" dirty="0"/>
              <a:t>（</a:t>
            </a:r>
            <a:r>
              <a:rPr lang="en-US" altLang="zh-CN" b="0" dirty="0"/>
              <a:t>0≤i≤n-1</a:t>
            </a:r>
            <a:r>
              <a:rPr lang="zh-CN" altLang="zh-CN" b="0" dirty="0"/>
              <a:t>）或者是原子，或者是子表。这样，求</a:t>
            </a:r>
            <a:r>
              <a:rPr lang="en-US" altLang="zh-CN" b="0" dirty="0"/>
              <a:t>LS</a:t>
            </a:r>
            <a:r>
              <a:rPr lang="zh-CN" altLang="zh-CN" b="0" dirty="0"/>
              <a:t>的深度可分解为</a:t>
            </a:r>
            <a:r>
              <a:rPr lang="en-US" altLang="zh-CN" b="0" dirty="0"/>
              <a:t>n</a:t>
            </a:r>
            <a:r>
              <a:rPr lang="zh-CN" altLang="zh-CN" b="0" dirty="0"/>
              <a:t>个子问题，每个子问题为求</a:t>
            </a:r>
            <a:r>
              <a:rPr lang="en-US" altLang="zh-CN" b="0" dirty="0"/>
              <a:t>α</a:t>
            </a:r>
            <a:r>
              <a:rPr lang="en-US" altLang="zh-CN" b="0" baseline="-25000" dirty="0" err="1"/>
              <a:t>i</a:t>
            </a:r>
            <a:r>
              <a:rPr lang="en-US" altLang="zh-CN" b="0" dirty="0"/>
              <a:t> </a:t>
            </a:r>
            <a:r>
              <a:rPr lang="zh-CN" altLang="zh-CN" b="0" dirty="0"/>
              <a:t>的深度。</a:t>
            </a:r>
            <a:endParaRPr lang="en-US" altLang="zh-CN" b="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zh-CN" b="0" dirty="0"/>
              <a:t>若</a:t>
            </a:r>
            <a:r>
              <a:rPr lang="en-US" altLang="zh-CN" b="0" dirty="0"/>
              <a:t>α</a:t>
            </a:r>
            <a:r>
              <a:rPr lang="en-US" altLang="zh-CN" b="0" baseline="-25000" dirty="0" err="1"/>
              <a:t>i</a:t>
            </a:r>
            <a:r>
              <a:rPr lang="en-US" altLang="zh-CN" b="0" dirty="0"/>
              <a:t> </a:t>
            </a:r>
            <a:r>
              <a:rPr lang="zh-CN" altLang="zh-CN" b="0" dirty="0"/>
              <a:t>是原子，则</a:t>
            </a:r>
            <a:r>
              <a:rPr lang="en-US" altLang="zh-CN" b="0" dirty="0"/>
              <a:t>α</a:t>
            </a:r>
            <a:r>
              <a:rPr lang="en-US" altLang="zh-CN" b="0" baseline="-25000" dirty="0" err="1"/>
              <a:t>i</a:t>
            </a:r>
            <a:r>
              <a:rPr lang="en-US" altLang="zh-CN" b="0" dirty="0"/>
              <a:t> </a:t>
            </a:r>
            <a:r>
              <a:rPr lang="zh-CN" altLang="zh-CN" b="0" dirty="0"/>
              <a:t>的深度为</a:t>
            </a:r>
            <a:r>
              <a:rPr lang="en-US" altLang="zh-CN" b="0" dirty="0"/>
              <a:t>0</a:t>
            </a:r>
            <a:r>
              <a:rPr lang="zh-CN" altLang="zh-CN" b="0" dirty="0"/>
              <a:t>（没有括号）；若</a:t>
            </a:r>
            <a:r>
              <a:rPr lang="en-US" altLang="zh-CN" b="0" dirty="0"/>
              <a:t>α</a:t>
            </a:r>
            <a:r>
              <a:rPr lang="en-US" altLang="zh-CN" b="0" baseline="-25000" dirty="0" err="1"/>
              <a:t>i</a:t>
            </a:r>
            <a:r>
              <a:rPr lang="en-US" altLang="zh-CN" b="0" dirty="0"/>
              <a:t> </a:t>
            </a:r>
            <a:r>
              <a:rPr lang="zh-CN" altLang="zh-CN" b="0" dirty="0"/>
              <a:t>是子表，则可继续对</a:t>
            </a:r>
            <a:r>
              <a:rPr lang="en-US" altLang="zh-CN" b="0" dirty="0"/>
              <a:t>α</a:t>
            </a:r>
            <a:r>
              <a:rPr lang="en-US" altLang="zh-CN" b="0" baseline="-25000" dirty="0" err="1"/>
              <a:t>i</a:t>
            </a:r>
            <a:r>
              <a:rPr lang="en-US" altLang="zh-CN" b="0" dirty="0"/>
              <a:t> </a:t>
            </a:r>
            <a:r>
              <a:rPr lang="zh-CN" altLang="zh-CN" b="0" dirty="0"/>
              <a:t>进行分解、求解。而</a:t>
            </a:r>
            <a:r>
              <a:rPr lang="en-US" altLang="zh-CN" b="0" dirty="0"/>
              <a:t>LS</a:t>
            </a:r>
            <a:r>
              <a:rPr lang="zh-CN" altLang="zh-CN" b="0" dirty="0"/>
              <a:t>的深度为各</a:t>
            </a:r>
            <a:r>
              <a:rPr lang="en-US" altLang="zh-CN" b="0" dirty="0"/>
              <a:t>α</a:t>
            </a:r>
            <a:r>
              <a:rPr lang="en-US" altLang="zh-CN" b="0" baseline="-25000" dirty="0" err="1"/>
              <a:t>i</a:t>
            </a:r>
            <a:r>
              <a:rPr lang="en-US" altLang="zh-CN" b="0" baseline="-25000" dirty="0"/>
              <a:t> </a:t>
            </a:r>
            <a:r>
              <a:rPr lang="zh-CN" altLang="zh-CN" b="0" dirty="0"/>
              <a:t>的深度的最大值加</a:t>
            </a:r>
            <a:r>
              <a:rPr lang="en-US" altLang="zh-CN" b="0" dirty="0"/>
              <a:t>1</a:t>
            </a:r>
            <a:r>
              <a:rPr lang="zh-CN" altLang="zh-CN" b="0" dirty="0"/>
              <a:t>。空表也是广义表，其深度为</a:t>
            </a:r>
            <a:r>
              <a:rPr lang="en-US" altLang="zh-CN" b="0" dirty="0"/>
              <a:t>1</a:t>
            </a:r>
            <a:r>
              <a:rPr lang="zh-CN" altLang="zh-CN" b="0" dirty="0"/>
              <a:t>。由此可知，求广义表深度的递归过程有两个递归结束条件：原子和空表。只要能够求得各个</a:t>
            </a:r>
            <a:r>
              <a:rPr lang="en-US" altLang="zh-CN" b="0" dirty="0"/>
              <a:t>α</a:t>
            </a:r>
            <a:r>
              <a:rPr lang="en-US" altLang="zh-CN" b="0" baseline="-25000" dirty="0" err="1"/>
              <a:t>i</a:t>
            </a:r>
            <a:r>
              <a:rPr lang="en-US" altLang="zh-CN" b="0" dirty="0"/>
              <a:t> </a:t>
            </a:r>
            <a:r>
              <a:rPr lang="zh-CN" altLang="zh-CN" b="0" dirty="0"/>
              <a:t>的深度，就能求得广义表</a:t>
            </a:r>
            <a:r>
              <a:rPr lang="en-US" altLang="zh-CN" b="0" dirty="0"/>
              <a:t>LS</a:t>
            </a:r>
            <a:r>
              <a:rPr lang="zh-CN" altLang="zh-CN" b="0" dirty="0"/>
              <a:t>的深度。因此，求广义表</a:t>
            </a:r>
            <a:r>
              <a:rPr lang="en-US" altLang="zh-CN" b="0" dirty="0"/>
              <a:t>LS=(α</a:t>
            </a:r>
            <a:r>
              <a:rPr lang="en-US" altLang="zh-CN" b="0" baseline="-25000" dirty="0"/>
              <a:t>0</a:t>
            </a:r>
            <a:r>
              <a:rPr lang="en-US" altLang="zh-CN" b="0" dirty="0"/>
              <a:t>,α</a:t>
            </a:r>
            <a:r>
              <a:rPr lang="en-US" altLang="zh-CN" b="0" baseline="-25000" dirty="0"/>
              <a:t>1</a:t>
            </a:r>
            <a:r>
              <a:rPr lang="en-US" altLang="zh-CN" b="0" dirty="0"/>
              <a:t>,α</a:t>
            </a:r>
            <a:r>
              <a:rPr lang="en-US" altLang="zh-CN" b="0" baseline="-25000" dirty="0"/>
              <a:t>2</a:t>
            </a:r>
            <a:r>
              <a:rPr lang="en-US" altLang="zh-CN" b="0" dirty="0"/>
              <a:t>,…,α</a:t>
            </a:r>
            <a:r>
              <a:rPr lang="en-US" altLang="zh-CN" b="0" baseline="-25000" dirty="0"/>
              <a:t>n-1</a:t>
            </a:r>
            <a:r>
              <a:rPr lang="en-US" altLang="zh-CN" b="0" dirty="0"/>
              <a:t>)</a:t>
            </a:r>
            <a:r>
              <a:rPr lang="zh-CN" altLang="zh-CN" b="0" dirty="0"/>
              <a:t>深度</a:t>
            </a:r>
            <a:r>
              <a:rPr lang="en-US" altLang="zh-CN" b="0" dirty="0"/>
              <a:t>Depth(LS)</a:t>
            </a:r>
            <a:r>
              <a:rPr lang="zh-CN" altLang="zh-CN" b="0" dirty="0"/>
              <a:t>的递归定义为：</a:t>
            </a:r>
          </a:p>
          <a:p>
            <a:pPr algn="just"/>
            <a:endParaRPr lang="zh-CN" altLang="zh-CN" dirty="0"/>
          </a:p>
          <a:p>
            <a:pPr algn="just"/>
            <a:endParaRPr lang="zh-CN" altLang="en-US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837" y="4797016"/>
            <a:ext cx="6120680" cy="151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446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268760"/>
            <a:ext cx="8208912" cy="4896544"/>
          </a:xfrm>
        </p:spPr>
        <p:txBody>
          <a:bodyPr>
            <a:normAutofit fontScale="70000" lnSpcReduction="20000"/>
          </a:bodyPr>
          <a:lstStyle/>
          <a:p>
            <a:pPr algn="just">
              <a:spcBef>
                <a:spcPts val="0"/>
              </a:spcBef>
            </a:pPr>
            <a:r>
              <a:rPr lang="zh-CN" altLang="zh-CN" dirty="0"/>
              <a:t>算法</a:t>
            </a:r>
            <a:r>
              <a:rPr lang="en-US" altLang="zh-CN" dirty="0"/>
              <a:t>4.7</a:t>
            </a:r>
            <a:r>
              <a:rPr lang="zh-CN" altLang="zh-CN" dirty="0"/>
              <a:t>：求广义表深度的算法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template &lt;class T&gt;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int </a:t>
            </a:r>
            <a:r>
              <a:rPr lang="en-US" altLang="zh-CN" b="0" dirty="0" err="1"/>
              <a:t>GenList</a:t>
            </a:r>
            <a:r>
              <a:rPr lang="en-US" altLang="zh-CN" b="0" dirty="0"/>
              <a:t>&lt;T&gt;::depth() { 	                             //</a:t>
            </a:r>
            <a:r>
              <a:rPr lang="zh-CN" altLang="zh-CN" b="0" dirty="0"/>
              <a:t>公有函数：计算一个非递归表的深度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return depth(first);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}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template &lt;class T&gt;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 err="1"/>
              <a:t>int</a:t>
            </a:r>
            <a:r>
              <a:rPr lang="en-US" altLang="zh-CN" b="0" dirty="0"/>
              <a:t> </a:t>
            </a:r>
            <a:r>
              <a:rPr lang="en-US" altLang="zh-CN" b="0" dirty="0" err="1"/>
              <a:t>GenList</a:t>
            </a:r>
            <a:r>
              <a:rPr lang="en-US" altLang="zh-CN" b="0" dirty="0"/>
              <a:t>&lt;T&gt;::depth(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 *ls) {	//</a:t>
            </a:r>
            <a:r>
              <a:rPr lang="zh-CN" altLang="zh-CN" b="0" dirty="0"/>
              <a:t>私有函数：计算非递归广义表深度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if (ls-&gt;</a:t>
            </a:r>
            <a:r>
              <a:rPr lang="en-US" altLang="zh-CN" b="0" dirty="0" err="1"/>
              <a:t>tlink</a:t>
            </a:r>
            <a:r>
              <a:rPr lang="en-US" altLang="zh-CN" b="0" dirty="0"/>
              <a:t> == NULL) return 1;	                 // ls-&gt;</a:t>
            </a:r>
            <a:r>
              <a:rPr lang="en-US" altLang="zh-CN" b="0" dirty="0" err="1"/>
              <a:t>tlink</a:t>
            </a:r>
            <a:r>
              <a:rPr lang="en-US" altLang="zh-CN" b="0" dirty="0"/>
              <a:t> ==NULL, </a:t>
            </a:r>
            <a:r>
              <a:rPr lang="zh-CN" altLang="zh-CN" b="0" dirty="0"/>
              <a:t>空表，深度为</a:t>
            </a:r>
            <a:r>
              <a:rPr lang="en-US" altLang="zh-CN" b="0" dirty="0"/>
              <a:t>1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</a:t>
            </a:r>
            <a:r>
              <a:rPr lang="en-US" altLang="zh-CN" b="0" dirty="0" err="1"/>
              <a:t>GenListNode</a:t>
            </a:r>
            <a:r>
              <a:rPr lang="en-US" altLang="zh-CN" b="0" dirty="0"/>
              <a:t>&lt;T&gt; *temp = ls-&gt;</a:t>
            </a:r>
            <a:r>
              <a:rPr lang="en-US" altLang="zh-CN" b="0" dirty="0" err="1"/>
              <a:t>tlink</a:t>
            </a:r>
            <a:r>
              <a:rPr lang="en-US" altLang="zh-CN" b="0" dirty="0"/>
              <a:t>; </a:t>
            </a:r>
            <a:r>
              <a:rPr lang="en-US" altLang="zh-CN" b="0" dirty="0" err="1"/>
              <a:t>int</a:t>
            </a:r>
            <a:r>
              <a:rPr lang="en-US" altLang="zh-CN" b="0" dirty="0"/>
              <a:t> m = 0, n;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while (temp != NULL) {	 	                 // temp </a:t>
            </a:r>
            <a:r>
              <a:rPr lang="zh-CN" altLang="zh-CN" b="0" dirty="0"/>
              <a:t>在广义表顶层横扫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if (temp-&gt;</a:t>
            </a:r>
            <a:r>
              <a:rPr lang="en-US" altLang="zh-CN" b="0" dirty="0" err="1"/>
              <a:t>utype</a:t>
            </a:r>
            <a:r>
              <a:rPr lang="en-US" altLang="zh-CN" b="0" dirty="0"/>
              <a:t> == 2) { 	                 //</a:t>
            </a:r>
            <a:r>
              <a:rPr lang="zh-CN" altLang="zh-CN" b="0" dirty="0"/>
              <a:t>扫描到的结点</a:t>
            </a:r>
            <a:r>
              <a:rPr lang="en-US" altLang="zh-CN" b="0" dirty="0" err="1"/>
              <a:t>utype</a:t>
            </a:r>
            <a:r>
              <a:rPr lang="en-US" altLang="zh-CN" b="0" dirty="0"/>
              <a:t> </a:t>
            </a:r>
            <a:r>
              <a:rPr lang="zh-CN" altLang="zh-CN" b="0" dirty="0"/>
              <a:t>为表结点时</a:t>
            </a:r>
            <a:r>
              <a:rPr lang="en-US" altLang="zh-CN" b="0" dirty="0"/>
              <a:t>,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	n = depth(temp-&gt;</a:t>
            </a:r>
            <a:r>
              <a:rPr lang="en-US" altLang="zh-CN" b="0" dirty="0" err="1"/>
              <a:t>info.hlink</a:t>
            </a:r>
            <a:r>
              <a:rPr lang="en-US" altLang="zh-CN" b="0" dirty="0"/>
              <a:t>);     //</a:t>
            </a:r>
            <a:r>
              <a:rPr lang="zh-CN" altLang="zh-CN" b="0" dirty="0"/>
              <a:t>计算以该结点为头的广义表深度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	if (m &lt; n) m = n; 	                 //</a:t>
            </a:r>
            <a:r>
              <a:rPr lang="zh-CN" altLang="zh-CN" b="0" dirty="0"/>
              <a:t>取最大深度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}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	temp = temp-&gt;</a:t>
            </a:r>
            <a:r>
              <a:rPr lang="en-US" altLang="zh-CN" b="0" dirty="0" err="1"/>
              <a:t>tlink</a:t>
            </a:r>
            <a:r>
              <a:rPr lang="en-US" altLang="zh-CN" b="0" dirty="0"/>
              <a:t>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}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	return m+1;                                                            //</a:t>
            </a:r>
            <a:r>
              <a:rPr lang="zh-CN" altLang="zh-CN" b="0" dirty="0"/>
              <a:t>返回深度</a:t>
            </a:r>
          </a:p>
          <a:p>
            <a:pPr algn="just">
              <a:spcBef>
                <a:spcPts val="0"/>
              </a:spcBef>
            </a:pPr>
            <a:r>
              <a:rPr lang="en-US" altLang="zh-CN" b="0" dirty="0"/>
              <a:t>};</a:t>
            </a:r>
            <a:endParaRPr lang="zh-CN" altLang="zh-CN" b="0" dirty="0"/>
          </a:p>
          <a:p>
            <a:pPr algn="just">
              <a:spcBef>
                <a:spcPts val="0"/>
              </a:spcBef>
            </a:pP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DF47BF5-CB62-4A7C-9ED4-D3FCB04DC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142852"/>
            <a:ext cx="3929069" cy="1141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15243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0100" y="1071546"/>
            <a:ext cx="7520940" cy="3579849"/>
          </a:xfrm>
        </p:spPr>
        <p:txBody>
          <a:bodyPr/>
          <a:lstStyle/>
          <a:p>
            <a:pPr algn="just"/>
            <a:r>
              <a:rPr lang="zh-CN" altLang="en-US" dirty="0"/>
              <a:t>广义表</a:t>
            </a:r>
            <a:r>
              <a:rPr lang="en-US" dirty="0"/>
              <a:t>D(B(</a:t>
            </a:r>
            <a:r>
              <a:rPr lang="en-US" dirty="0" err="1"/>
              <a:t>a,b</a:t>
            </a:r>
            <a:r>
              <a:rPr lang="en-US" dirty="0"/>
              <a:t>),C(u,(</a:t>
            </a:r>
            <a:r>
              <a:rPr lang="en-US" dirty="0" err="1"/>
              <a:t>x,y,z</a:t>
            </a:r>
            <a:r>
              <a:rPr lang="en-US" dirty="0"/>
              <a:t>)),A())</a:t>
            </a:r>
            <a:r>
              <a:rPr lang="zh-CN" altLang="en-US" dirty="0"/>
              <a:t>，链表结构：</a:t>
            </a:r>
            <a:endParaRPr lang="en-US" altLang="zh-CN" dirty="0"/>
          </a:p>
          <a:p>
            <a:pPr algn="just"/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6878" y="1484784"/>
            <a:ext cx="7102002" cy="2652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E4E0F64-D701-4274-B073-3DD0650C1376}"/>
              </a:ext>
            </a:extLst>
          </p:cNvPr>
          <p:cNvSpPr txBox="1"/>
          <p:nvPr/>
        </p:nvSpPr>
        <p:spPr>
          <a:xfrm>
            <a:off x="323528" y="4509120"/>
            <a:ext cx="6192688" cy="1621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按递归算法分析过程如图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4-24</a:t>
            </a:r>
            <a:r>
              <a:rPr lang="zh-CN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所示，分析结果如下：</a:t>
            </a:r>
            <a:endParaRPr lang="zh-CN" altLang="zh-CN" sz="1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Depth(D)=1+Max{Depth(B),Depth(C),Depth(A)}</a:t>
            </a:r>
            <a:endParaRPr lang="zh-CN" altLang="zh-CN" sz="1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Depth(B)=1+Max{Depth(a),Depth(b)}=1+Max{0,0}=1</a:t>
            </a:r>
            <a:endParaRPr lang="zh-CN" altLang="zh-CN" sz="1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Depth(C)=1+Max{Depth(u),Depth((</a:t>
            </a:r>
            <a:r>
              <a:rPr lang="en-US" altLang="zh-CN" sz="1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))}=1+Max{0,1}=2</a:t>
            </a:r>
            <a:endParaRPr lang="zh-CN" altLang="zh-CN" sz="1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Depth(A)=1</a:t>
            </a:r>
            <a:endParaRPr lang="zh-CN" altLang="zh-CN" sz="1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Depth(D)=1+Max{1,2,1}=3</a:t>
            </a:r>
            <a:endParaRPr lang="zh-CN" altLang="zh-CN" sz="1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22CC85DB-9D26-4D9F-BC8F-FFF0B9999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795" y="4501230"/>
            <a:ext cx="2925667" cy="7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899</TotalTime>
  <Words>3682</Words>
  <Application>Microsoft Office PowerPoint</Application>
  <PresentationFormat>全屏显示(4:3)</PresentationFormat>
  <Paragraphs>205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等线</vt:lpstr>
      <vt:lpstr>方正舒体</vt:lpstr>
      <vt:lpstr>黑体</vt:lpstr>
      <vt:lpstr>华文行楷</vt:lpstr>
      <vt:lpstr>隶书</vt:lpstr>
      <vt:lpstr>Arial</vt:lpstr>
      <vt:lpstr>Calibri</vt:lpstr>
      <vt:lpstr>Franklin Gothic Book</vt:lpstr>
      <vt:lpstr>Franklin Gothic Medium</vt:lpstr>
      <vt:lpstr>Times New Roman</vt:lpstr>
      <vt:lpstr>Wingdings</vt:lpstr>
      <vt:lpstr>角度</vt:lpstr>
      <vt:lpstr>第4章  扩展线性表——   数组与广义表</vt:lpstr>
      <vt:lpstr>4.1 扩展线性表---数组*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扩展线性表---广义表*</vt:lpstr>
      <vt:lpstr>PowerPoint 演示文稿</vt:lpstr>
      <vt:lpstr>4.2.2 广义表的存储表示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4.2.3 广义表的递归操作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　算法分析</dc:title>
  <dc:creator>Admin</dc:creator>
  <cp:lastModifiedBy>xy yang</cp:lastModifiedBy>
  <cp:revision>210</cp:revision>
  <dcterms:created xsi:type="dcterms:W3CDTF">2016-02-05T07:36:15Z</dcterms:created>
  <dcterms:modified xsi:type="dcterms:W3CDTF">2025-09-29T02:02:46Z</dcterms:modified>
</cp:coreProperties>
</file>